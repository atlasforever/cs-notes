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1"/>
  </p:notesMasterIdLst>
  <p:handoutMasterIdLst>
    <p:handoutMasterId r:id="rId82"/>
  </p:handoutMasterIdLst>
  <p:sldIdLst>
    <p:sldId id="1306" r:id="rId2"/>
    <p:sldId id="1359" r:id="rId3"/>
    <p:sldId id="2239" r:id="rId4"/>
    <p:sldId id="366" r:id="rId5"/>
    <p:sldId id="396" r:id="rId6"/>
    <p:sldId id="2274" r:id="rId7"/>
    <p:sldId id="2275" r:id="rId8"/>
    <p:sldId id="2276" r:id="rId9"/>
    <p:sldId id="2242" r:id="rId10"/>
    <p:sldId id="2241" r:id="rId11"/>
    <p:sldId id="2255" r:id="rId12"/>
    <p:sldId id="2254" r:id="rId13"/>
    <p:sldId id="2668" r:id="rId14"/>
    <p:sldId id="1371" r:id="rId15"/>
    <p:sldId id="2838" r:id="rId16"/>
    <p:sldId id="2884" r:id="rId17"/>
    <p:sldId id="2885" r:id="rId18"/>
    <p:sldId id="2913" r:id="rId19"/>
    <p:sldId id="2857" r:id="rId20"/>
    <p:sldId id="2853" r:id="rId21"/>
    <p:sldId id="2914" r:id="rId22"/>
    <p:sldId id="2915" r:id="rId23"/>
    <p:sldId id="2880" r:id="rId24"/>
    <p:sldId id="2881" r:id="rId25"/>
    <p:sldId id="2890" r:id="rId26"/>
    <p:sldId id="2883" r:id="rId27"/>
    <p:sldId id="2839" r:id="rId28"/>
    <p:sldId id="2855" r:id="rId29"/>
    <p:sldId id="2842" r:id="rId30"/>
    <p:sldId id="2891" r:id="rId31"/>
    <p:sldId id="2877" r:id="rId32"/>
    <p:sldId id="2776" r:id="rId33"/>
    <p:sldId id="2867" r:id="rId34"/>
    <p:sldId id="2717" r:id="rId35"/>
    <p:sldId id="2843" r:id="rId36"/>
    <p:sldId id="2859" r:id="rId37"/>
    <p:sldId id="2845" r:id="rId38"/>
    <p:sldId id="2860" r:id="rId39"/>
    <p:sldId id="2861" r:id="rId40"/>
    <p:sldId id="2864" r:id="rId41"/>
    <p:sldId id="2893" r:id="rId42"/>
    <p:sldId id="2783" r:id="rId43"/>
    <p:sldId id="2892" r:id="rId44"/>
    <p:sldId id="2846" r:id="rId45"/>
    <p:sldId id="2868" r:id="rId46"/>
    <p:sldId id="2863" r:id="rId47"/>
    <p:sldId id="2847" r:id="rId48"/>
    <p:sldId id="2870" r:id="rId49"/>
    <p:sldId id="2894" r:id="rId50"/>
    <p:sldId id="2866" r:id="rId51"/>
    <p:sldId id="2869" r:id="rId52"/>
    <p:sldId id="2871" r:id="rId53"/>
    <p:sldId id="2895" r:id="rId54"/>
    <p:sldId id="2782" r:id="rId55"/>
    <p:sldId id="2854" r:id="rId56"/>
    <p:sldId id="2850" r:id="rId57"/>
    <p:sldId id="2900" r:id="rId58"/>
    <p:sldId id="2917" r:id="rId59"/>
    <p:sldId id="2872" r:id="rId60"/>
    <p:sldId id="2897" r:id="rId61"/>
    <p:sldId id="2896" r:id="rId62"/>
    <p:sldId id="2912" r:id="rId63"/>
    <p:sldId id="2875" r:id="rId64"/>
    <p:sldId id="2901" r:id="rId65"/>
    <p:sldId id="2851" r:id="rId66"/>
    <p:sldId id="2898" r:id="rId67"/>
    <p:sldId id="2874" r:id="rId68"/>
    <p:sldId id="2902" r:id="rId69"/>
    <p:sldId id="2873" r:id="rId70"/>
    <p:sldId id="2911" r:id="rId71"/>
    <p:sldId id="2876" r:id="rId72"/>
    <p:sldId id="1368" r:id="rId73"/>
    <p:sldId id="1361" r:id="rId74"/>
    <p:sldId id="1362" r:id="rId75"/>
    <p:sldId id="1366" r:id="rId76"/>
    <p:sldId id="1367" r:id="rId77"/>
    <p:sldId id="1363" r:id="rId78"/>
    <p:sldId id="1369" r:id="rId79"/>
    <p:sldId id="1365" r:id="rId8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2635"/>
    <a:srgbClr val="BE384B"/>
    <a:srgbClr val="404040"/>
    <a:srgbClr val="FFFF99"/>
    <a:srgbClr val="515151"/>
    <a:srgbClr val="941100"/>
    <a:srgbClr val="FF2F92"/>
    <a:srgbClr val="0432FF"/>
    <a:srgbClr val="FF9300"/>
    <a:srgbClr val="00F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0" autoAdjust="0"/>
    <p:restoredTop sz="86418" autoAdjust="0"/>
  </p:normalViewPr>
  <p:slideViewPr>
    <p:cSldViewPr>
      <p:cViewPr varScale="1">
        <p:scale>
          <a:sx n="130" d="100"/>
          <a:sy n="130" d="100"/>
        </p:scale>
        <p:origin x="1672" y="176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-173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2022/5/26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990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028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667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591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494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 展开为动画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610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 展开为动画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763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736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Non-stop Multi-threaded Debugging in GDB</a:t>
            </a:r>
            <a:r>
              <a:rPr lang="zh-CN" altLang="en-US" dirty="0"/>
              <a:t>讲不讲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235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 展开为动画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38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 展开为动画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38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69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Naive2</a:t>
            </a:r>
            <a:r>
              <a:rPr lang="zh-CN" altLang="en-US" dirty="0"/>
              <a:t> 单步调试所有指令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519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664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775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87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885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7687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38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2192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212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8914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1654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7364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9177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8496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3534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Linux</a:t>
            </a:r>
            <a:r>
              <a:rPr lang="zh-CN" altLang="en-US" dirty="0"/>
              <a:t>：</a:t>
            </a:r>
            <a:r>
              <a:rPr lang="en-US" altLang="zh-CN" dirty="0"/>
              <a:t> LTP</a:t>
            </a:r>
            <a:r>
              <a:rPr lang="zh-CN" altLang="en-US" dirty="0"/>
              <a:t>（</a:t>
            </a:r>
            <a:r>
              <a:rPr lang="en-US" altLang="zh-CN" dirty="0"/>
              <a:t>Linux Test Project</a:t>
            </a:r>
            <a:r>
              <a:rPr lang="zh-CN" altLang="en-US" dirty="0"/>
              <a:t>）针对大部分系统调用进行测试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5427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Linux</a:t>
            </a:r>
            <a:r>
              <a:rPr lang="zh-CN" altLang="en-US" dirty="0"/>
              <a:t>：</a:t>
            </a:r>
            <a:r>
              <a:rPr lang="en-US" altLang="zh-CN" dirty="0"/>
              <a:t> LTP</a:t>
            </a:r>
            <a:r>
              <a:rPr lang="zh-CN" altLang="en-US" dirty="0"/>
              <a:t>（</a:t>
            </a:r>
            <a:r>
              <a:rPr lang="en-US" altLang="zh-CN" dirty="0"/>
              <a:t>Linux Test Project</a:t>
            </a:r>
            <a:r>
              <a:rPr lang="zh-CN" altLang="en-US" dirty="0"/>
              <a:t>）针对大部分系统调用进行测试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3934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更加实际的例子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5965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更加实际的例子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3499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6201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9501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扩展持续集成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53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penglai-enclave.system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kernelci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调试与测试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>
                <a:latin typeface="+mn-lt"/>
              </a:rPr>
              <a:t>本内容版权归</a:t>
            </a:r>
            <a:r>
              <a:rPr lang="zh-CN" altLang="en-US" sz="2000" dirty="0">
                <a:latin typeface="+mn-lt"/>
              </a:rPr>
              <a:t>上海交通大学并行与分布式系统研究所</a:t>
            </a:r>
            <a:r>
              <a:rPr lang="zh-CN" altLang="en-US" sz="2000" b="0" dirty="0">
                <a:latin typeface="+mn-lt"/>
              </a:rPr>
              <a:t>所有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使用者可以将全部或部分本内容免费用于非商业用途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使用者在使用全部或部分本内容时请注明来源：</a:t>
            </a:r>
            <a:endParaRPr lang="en-US" altLang="zh-CN" sz="2000" b="0" dirty="0">
              <a:latin typeface="+mn-lt"/>
            </a:endParaRPr>
          </a:p>
          <a:p>
            <a:pPr lvl="1"/>
            <a:r>
              <a:rPr lang="zh-CN" altLang="en-US" sz="1600" dirty="0"/>
              <a:t>内容来自：上海交通大学并行与分布式系统研究所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dirty="0"/>
          </a:p>
          <a:p>
            <a:r>
              <a:rPr lang="zh-CN" altLang="en-US" sz="2000" b="0" dirty="0">
                <a:latin typeface="+mn-lt"/>
              </a:rPr>
              <a:t>对于不遵守此声明或者其他违法使用本内容者，将依法保留追究权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本内容的发布采用 </a:t>
            </a:r>
            <a:r>
              <a:rPr lang="en-US" altLang="zh-CN" sz="2000" b="0" dirty="0">
                <a:latin typeface="+mn-lt"/>
              </a:rPr>
              <a:t>Creative Commons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Attribution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4.0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License</a:t>
            </a:r>
            <a:endParaRPr lang="en-US" altLang="zh-CN" sz="2400" b="0" dirty="0">
              <a:latin typeface="+mn-lt"/>
            </a:endParaRPr>
          </a:p>
          <a:p>
            <a:pPr lvl="1"/>
            <a:r>
              <a:rPr lang="zh-CN" altLang="en-US" sz="1600" dirty="0">
                <a:latin typeface="+mn-lt"/>
              </a:rPr>
              <a:t>完整文本：</a:t>
            </a:r>
            <a:r>
              <a:rPr lang="en-US" altLang="zh-CN" sz="1600" dirty="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 dirty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A3A7078-2947-A24E-B9C1-3D06E1AC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其他平台的 </a:t>
            </a:r>
            <a:r>
              <a:rPr kumimoji="1" lang="en-US" altLang="zh-CN" dirty="0"/>
              <a:t>Enclave/TEE</a:t>
            </a:r>
            <a:endParaRPr kumimoji="1"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81737A5-FDCC-284D-B0C7-6EB7B3597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45FD7-1C84-7645-BE3D-7B151973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40AAE6-A750-7D4E-8766-741E58EEE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346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 TrustZone </a:t>
            </a:r>
            <a:r>
              <a:rPr lang="zh-CN" altLang="en-US" dirty="0"/>
              <a:t>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31742"/>
            <a:ext cx="8596115" cy="3394472"/>
          </a:xfrm>
        </p:spPr>
        <p:txBody>
          <a:bodyPr>
            <a:noAutofit/>
          </a:bodyPr>
          <a:lstStyle/>
          <a:p>
            <a:r>
              <a:rPr kumimoji="1" lang="en-US" altLang="zh-CN" sz="1950" dirty="0"/>
              <a:t>ARMv6</a:t>
            </a:r>
            <a:r>
              <a:rPr kumimoji="1" lang="zh-CN" altLang="en-US" sz="1950" dirty="0"/>
              <a:t>版本开始的安全硬件特性</a:t>
            </a:r>
            <a:endParaRPr kumimoji="1" lang="en-US" altLang="zh-CN" sz="1950" dirty="0"/>
          </a:p>
          <a:p>
            <a:pPr lvl="1"/>
            <a:r>
              <a:rPr kumimoji="1" lang="zh-CN" altLang="en-US" sz="1575" dirty="0"/>
              <a:t>包括</a:t>
            </a:r>
            <a:r>
              <a:rPr kumimoji="1" lang="en-US" altLang="zh-CN" sz="1575" dirty="0"/>
              <a:t>ARM11</a:t>
            </a:r>
            <a:r>
              <a:rPr kumimoji="1" lang="zh-CN" altLang="en-US" sz="1575" dirty="0"/>
              <a:t>及</a:t>
            </a:r>
            <a:r>
              <a:rPr kumimoji="1" lang="en-US" altLang="zh-CN" sz="1575" dirty="0"/>
              <a:t>Cortex A</a:t>
            </a:r>
            <a:r>
              <a:rPr kumimoji="1" lang="zh-CN" altLang="en-US" sz="1575" dirty="0"/>
              <a:t>系列</a:t>
            </a:r>
            <a:endParaRPr kumimoji="1" lang="en-US" altLang="zh-CN" sz="1575" dirty="0"/>
          </a:p>
          <a:p>
            <a:pPr lvl="1"/>
            <a:r>
              <a:rPr kumimoji="1" lang="zh-CN" altLang="en-US" sz="1575" dirty="0"/>
              <a:t>目前大部分手机芯片均有该硬件特性</a:t>
            </a:r>
            <a:endParaRPr kumimoji="1" lang="en-US" altLang="zh-CN" sz="1575" dirty="0"/>
          </a:p>
          <a:p>
            <a:r>
              <a:rPr kumimoji="1" lang="zh-CN" altLang="en-US" sz="1950" dirty="0"/>
              <a:t>同时运行一个安全的</a:t>
            </a:r>
            <a:r>
              <a:rPr kumimoji="1" lang="en-US" altLang="zh-CN" sz="1950" dirty="0"/>
              <a:t>OS</a:t>
            </a:r>
            <a:r>
              <a:rPr kumimoji="1" lang="zh-CN" altLang="en-US" sz="1950" dirty="0"/>
              <a:t>和一个普通的</a:t>
            </a:r>
            <a:r>
              <a:rPr kumimoji="1" lang="en-US" altLang="zh-CN" sz="1950" dirty="0"/>
              <a:t>OS</a:t>
            </a:r>
          </a:p>
          <a:p>
            <a:pPr lvl="1"/>
            <a:r>
              <a:rPr kumimoji="1" lang="zh-CN" altLang="en-US" sz="1575" dirty="0"/>
              <a:t>两个系统之间互相隔离运行</a:t>
            </a:r>
            <a:endParaRPr kumimoji="1" lang="en-US" altLang="zh-CN" sz="1575" dirty="0"/>
          </a:p>
          <a:p>
            <a:pPr lvl="1"/>
            <a:r>
              <a:rPr kumimoji="1" lang="zh-CN" altLang="en-US" sz="1575" dirty="0"/>
              <a:t>安全的</a:t>
            </a:r>
            <a:r>
              <a:rPr kumimoji="1" lang="en-US" altLang="zh-CN" sz="1575" dirty="0"/>
              <a:t>OS</a:t>
            </a:r>
            <a:r>
              <a:rPr kumimoji="1" lang="zh-CN" altLang="en-US" sz="1575" dirty="0"/>
              <a:t>具有更多的权限</a:t>
            </a:r>
            <a:endParaRPr kumimoji="1" lang="en-US" altLang="zh-CN" sz="1575" dirty="0"/>
          </a:p>
          <a:p>
            <a:r>
              <a:rPr kumimoji="1" lang="en-US" altLang="zh-CN" sz="1950" dirty="0" err="1"/>
              <a:t>TrustZone</a:t>
            </a:r>
            <a:r>
              <a:rPr kumimoji="1" lang="zh-CN" altLang="en-US" sz="1950" dirty="0"/>
              <a:t>是一个全系统级别的安全架构</a:t>
            </a:r>
            <a:endParaRPr kumimoji="1" lang="en-US" altLang="zh-CN" sz="1950" dirty="0"/>
          </a:p>
          <a:p>
            <a:pPr lvl="1"/>
            <a:r>
              <a:rPr kumimoji="1" lang="zh-CN" altLang="en-US" sz="1575" dirty="0"/>
              <a:t>处理器、内存和外设的安全隔离</a:t>
            </a:r>
            <a:endParaRPr kumimoji="1" lang="en-US" altLang="zh-CN" sz="1575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8491" y1="4576" x2="58491" y2="4576"/>
                        <a14:backgroundMark x1="91824" y1="22373" x2="91824" y2="223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94072" y="1659465"/>
            <a:ext cx="3649928" cy="304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3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TEE</a:t>
            </a:r>
            <a:r>
              <a:rPr lang="zh-CN" altLang="en-US" dirty="0"/>
              <a:t>硬件状态与软件架构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4762872" cy="3771636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TEE</a:t>
            </a:r>
            <a:r>
              <a:rPr lang="zh-CN" altLang="en-US" sz="1800" dirty="0"/>
              <a:t>内部运行一个完整的操作系统</a:t>
            </a:r>
            <a:endParaRPr lang="en-US" altLang="zh-CN" sz="1800" dirty="0"/>
          </a:p>
          <a:p>
            <a:pPr lvl="1"/>
            <a:r>
              <a:rPr lang="zh-CN" altLang="en-US" sz="1500" dirty="0"/>
              <a:t>与</a:t>
            </a:r>
            <a:r>
              <a:rPr lang="en-US" altLang="zh-CN" sz="1500" dirty="0"/>
              <a:t>Android</a:t>
            </a:r>
            <a:r>
              <a:rPr lang="zh-CN" altLang="en-US" sz="1500" dirty="0"/>
              <a:t>版本无关，也无需适配</a:t>
            </a:r>
            <a:endParaRPr lang="en-US" altLang="zh-CN" sz="1500" dirty="0"/>
          </a:p>
          <a:p>
            <a:pPr lvl="1"/>
            <a:r>
              <a:rPr lang="en-US" altLang="zh-CN" sz="1500" dirty="0"/>
              <a:t>TEE</a:t>
            </a:r>
            <a:r>
              <a:rPr lang="zh-CN" altLang="en-US" sz="1500" dirty="0"/>
              <a:t>与</a:t>
            </a:r>
            <a:r>
              <a:rPr lang="en-US" altLang="zh-CN" sz="1500" dirty="0"/>
              <a:t>Android</a:t>
            </a:r>
            <a:r>
              <a:rPr lang="zh-CN" altLang="en-US" sz="1500" dirty="0"/>
              <a:t>通过共享内存进行交互</a:t>
            </a:r>
            <a:endParaRPr lang="en-US" altLang="zh-CN" sz="1500" dirty="0"/>
          </a:p>
          <a:p>
            <a:r>
              <a:rPr lang="en-US" altLang="zh-CN" sz="1800" dirty="0"/>
              <a:t>TEE</a:t>
            </a:r>
            <a:r>
              <a:rPr lang="zh-CN" altLang="en-US" sz="1800" dirty="0"/>
              <a:t>内部也分内核态与用户态</a:t>
            </a:r>
            <a:endParaRPr lang="en-US" altLang="zh-CN" sz="1800" dirty="0"/>
          </a:p>
          <a:p>
            <a:pPr lvl="1"/>
            <a:r>
              <a:rPr lang="en-US" altLang="zh-CN" sz="1500" dirty="0"/>
              <a:t>TEE</a:t>
            </a:r>
            <a:r>
              <a:rPr lang="zh-CN" altLang="en-US" sz="1500" dirty="0"/>
              <a:t>用户态可运行多个安全应用（</a:t>
            </a:r>
            <a:r>
              <a:rPr lang="en-US" altLang="zh-CN" sz="1500" dirty="0"/>
              <a:t>TA</a:t>
            </a:r>
            <a:r>
              <a:rPr lang="zh-CN" altLang="en-US" sz="1500" dirty="0"/>
              <a:t>）</a:t>
            </a:r>
            <a:endParaRPr lang="en-US" altLang="zh-CN" sz="1500" dirty="0"/>
          </a:p>
          <a:p>
            <a:pPr lvl="1"/>
            <a:r>
              <a:rPr lang="zh-CN" altLang="en-US" sz="1500" dirty="0"/>
              <a:t>安全应用可支持动态下载和动态更新</a:t>
            </a:r>
            <a:endParaRPr lang="en-US" altLang="zh-CN" sz="1500" dirty="0"/>
          </a:p>
          <a:p>
            <a:r>
              <a:rPr lang="en-US" altLang="zh-CN" sz="1800" dirty="0"/>
              <a:t>TEE</a:t>
            </a:r>
            <a:r>
              <a:rPr lang="zh-CN" altLang="en-US" sz="1800" dirty="0"/>
              <a:t>内部结构</a:t>
            </a:r>
            <a:endParaRPr lang="en-US" altLang="zh-CN" sz="1800" dirty="0"/>
          </a:p>
          <a:p>
            <a:pPr lvl="1"/>
            <a:r>
              <a:rPr lang="en-US" altLang="zh-CN" sz="1500" dirty="0"/>
              <a:t>Secure OS + </a:t>
            </a:r>
            <a:r>
              <a:rPr lang="zh-CN" altLang="en-US" sz="1500" dirty="0"/>
              <a:t>中间件 </a:t>
            </a:r>
            <a:r>
              <a:rPr lang="en-US" altLang="zh-CN" sz="1500" dirty="0"/>
              <a:t>+ </a:t>
            </a:r>
            <a:r>
              <a:rPr lang="zh-CN" altLang="en-US" sz="1500" dirty="0"/>
              <a:t>安全应用 </a:t>
            </a:r>
            <a:r>
              <a:rPr lang="en-US" altLang="zh-CN" sz="1500" dirty="0"/>
              <a:t>+ </a:t>
            </a:r>
            <a:r>
              <a:rPr lang="zh-CN" altLang="en-US" sz="1500" dirty="0"/>
              <a:t>外部交互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BEDC84E8-B833-D44D-94DE-AA747647B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333501"/>
            <a:ext cx="3847210" cy="28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71D76-DFF8-ED44-826D-01F66A0A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用</a:t>
            </a:r>
            <a:r>
              <a:rPr kumimoji="1" lang="en-US" altLang="zh-CN" dirty="0" err="1"/>
              <a:t>TrustZone</a:t>
            </a:r>
            <a:r>
              <a:rPr kumimoji="1" lang="zh-CN" altLang="en-US" dirty="0"/>
              <a:t>保护指纹的录入和识别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812B68-E4FA-9244-94B9-BD95C73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4FD3A-FC99-BD40-983B-DD83098B1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0D590F6-AD3F-CC4B-8C78-EC61DAD0A57F}"/>
              </a:ext>
            </a:extLst>
          </p:cNvPr>
          <p:cNvCxnSpPr>
            <a:cxnSpLocks/>
          </p:cNvCxnSpPr>
          <p:nvPr/>
        </p:nvCxnSpPr>
        <p:spPr>
          <a:xfrm>
            <a:off x="3851920" y="1129308"/>
            <a:ext cx="0" cy="34563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FA3997C9-A64B-5543-B675-6E0487C4C6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644" y="1896407"/>
            <a:ext cx="1470090" cy="5168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E96E9E0-85E6-4D42-8BD8-B29A80912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599" y="4585692"/>
            <a:ext cx="1565777" cy="73246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1EF94A8-654C-7549-972E-FF8E044DD136}"/>
              </a:ext>
            </a:extLst>
          </p:cNvPr>
          <p:cNvSpPr/>
          <p:nvPr/>
        </p:nvSpPr>
        <p:spPr>
          <a:xfrm>
            <a:off x="6381304" y="3202093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指纹设备驱动</a:t>
            </a: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BBB5FADD-295F-D34E-A50B-2050C9CCA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5629" y="3900430"/>
            <a:ext cx="484723" cy="48472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0E6F0DC-69AB-8D49-9E76-592ACA4810D1}"/>
              </a:ext>
            </a:extLst>
          </p:cNvPr>
          <p:cNvSpPr/>
          <p:nvPr/>
        </p:nvSpPr>
        <p:spPr>
          <a:xfrm>
            <a:off x="6381304" y="1844589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指纹匹配算法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B864BB-5F88-344F-AD31-8F15F1539DF5}"/>
              </a:ext>
            </a:extLst>
          </p:cNvPr>
          <p:cNvSpPr/>
          <p:nvPr/>
        </p:nvSpPr>
        <p:spPr>
          <a:xfrm>
            <a:off x="4286002" y="1844589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支付安全应用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BB074803-C4F2-934A-9E0C-EF5C4FB60F9A}"/>
              </a:ext>
            </a:extLst>
          </p:cNvPr>
          <p:cNvCxnSpPr>
            <a:cxnSpLocks/>
          </p:cNvCxnSpPr>
          <p:nvPr/>
        </p:nvCxnSpPr>
        <p:spPr>
          <a:xfrm>
            <a:off x="683568" y="2826566"/>
            <a:ext cx="748883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18">
            <a:extLst>
              <a:ext uri="{FF2B5EF4-FFF2-40B4-BE49-F238E27FC236}">
                <a16:creationId xmlns:a16="http://schemas.microsoft.com/office/drawing/2014/main" id="{0055950C-57AA-6143-BDDD-A312A0867E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5629" y="2580759"/>
            <a:ext cx="484723" cy="484723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4986EB0B-FE48-C34B-ABFE-2ADA04838B65}"/>
              </a:ext>
            </a:extLst>
          </p:cNvPr>
          <p:cNvSpPr/>
          <p:nvPr/>
        </p:nvSpPr>
        <p:spPr>
          <a:xfrm>
            <a:off x="4286002" y="3202093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交互代理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451E77-68D0-F544-A112-069F2679CBAD}"/>
              </a:ext>
            </a:extLst>
          </p:cNvPr>
          <p:cNvSpPr/>
          <p:nvPr/>
        </p:nvSpPr>
        <p:spPr>
          <a:xfrm>
            <a:off x="1841153" y="3202093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TEE</a:t>
            </a:r>
            <a:r>
              <a:rPr kumimoji="1" lang="zh-CN" altLang="en-US" dirty="0"/>
              <a:t>驱动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CAFA5AC3-76BA-DA4A-B629-9EF48FEA936B}"/>
              </a:ext>
            </a:extLst>
          </p:cNvPr>
          <p:cNvCxnSpPr>
            <a:stCxn id="9" idx="2"/>
            <a:endCxn id="21" idx="0"/>
          </p:cNvCxnSpPr>
          <p:nvPr/>
        </p:nvCxnSpPr>
        <p:spPr>
          <a:xfrm>
            <a:off x="2628689" y="2413236"/>
            <a:ext cx="0" cy="788857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AA684BD7-51FE-9240-B85A-714FAD400798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>
            <a:off x="3416225" y="3490125"/>
            <a:ext cx="869777" cy="0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A924EBF-4DAE-4F4E-BBA6-3F6A9C52AC29}"/>
              </a:ext>
            </a:extLst>
          </p:cNvPr>
          <p:cNvCxnSpPr>
            <a:cxnSpLocks/>
            <a:stCxn id="20" idx="0"/>
            <a:endCxn id="14" idx="2"/>
          </p:cNvCxnSpPr>
          <p:nvPr/>
        </p:nvCxnSpPr>
        <p:spPr>
          <a:xfrm flipV="1">
            <a:off x="5073538" y="2420653"/>
            <a:ext cx="0" cy="781440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1122075-8899-B74E-B63C-530D9911497D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5861074" y="2132621"/>
            <a:ext cx="520230" cy="0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AD09031B-70AF-374C-9675-5DCBBABFA891}"/>
              </a:ext>
            </a:extLst>
          </p:cNvPr>
          <p:cNvCxnSpPr>
            <a:cxnSpLocks/>
          </p:cNvCxnSpPr>
          <p:nvPr/>
        </p:nvCxnSpPr>
        <p:spPr>
          <a:xfrm>
            <a:off x="7176561" y="2451066"/>
            <a:ext cx="0" cy="713195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AE583626-AAE6-B44E-8D60-9A3726E727A7}"/>
              </a:ext>
            </a:extLst>
          </p:cNvPr>
          <p:cNvCxnSpPr>
            <a:cxnSpLocks/>
          </p:cNvCxnSpPr>
          <p:nvPr/>
        </p:nvCxnSpPr>
        <p:spPr>
          <a:xfrm>
            <a:off x="7168837" y="3825327"/>
            <a:ext cx="0" cy="713195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8165A50-6415-554B-AC85-BE370BFB0471}"/>
              </a:ext>
            </a:extLst>
          </p:cNvPr>
          <p:cNvSpPr txBox="1"/>
          <p:nvPr/>
        </p:nvSpPr>
        <p:spPr>
          <a:xfrm>
            <a:off x="2093798" y="1129308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非安全世界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827C141-0CB6-B34F-AB9F-929A1EFCC82B}"/>
              </a:ext>
            </a:extLst>
          </p:cNvPr>
          <p:cNvSpPr txBox="1"/>
          <p:nvPr/>
        </p:nvSpPr>
        <p:spPr>
          <a:xfrm>
            <a:off x="4286002" y="1123093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安全世界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97F720B-86A4-8342-854E-E20A88413541}"/>
              </a:ext>
            </a:extLst>
          </p:cNvPr>
          <p:cNvSpPr txBox="1"/>
          <p:nvPr/>
        </p:nvSpPr>
        <p:spPr>
          <a:xfrm>
            <a:off x="631228" y="2334331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0814487-DA4B-0049-958B-AF6B0201A58A}"/>
              </a:ext>
            </a:extLst>
          </p:cNvPr>
          <p:cNvSpPr txBox="1"/>
          <p:nvPr/>
        </p:nvSpPr>
        <p:spPr>
          <a:xfrm>
            <a:off x="611560" y="2920216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</p:spTree>
    <p:extLst>
      <p:ext uri="{BB962C8B-B14F-4D97-AF65-F5344CB8AC3E}">
        <p14:creationId xmlns:p14="http://schemas.microsoft.com/office/powerpoint/2010/main" val="1239080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69653-F29A-0C49-BEE5-6B84A561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AMD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SEV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A86C4-F372-144B-8073-B11DDA8C1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以虚拟机为粒度的</a:t>
            </a:r>
            <a:r>
              <a:rPr kumimoji="1" lang="en-US" altLang="zh-CN" dirty="0"/>
              <a:t>Enclave</a:t>
            </a:r>
          </a:p>
          <a:p>
            <a:pPr lvl="1"/>
            <a:r>
              <a:rPr kumimoji="1" lang="zh-CN" altLang="en-US" dirty="0"/>
              <a:t>对不同的虚拟机进行加密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每个虚拟机的密钥均不相同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Hypervisor</a:t>
            </a:r>
            <a:r>
              <a:rPr kumimoji="1" lang="zh-CN" altLang="en-US" dirty="0"/>
              <a:t>有自己的密钥</a:t>
            </a:r>
            <a:endParaRPr kumimoji="1" lang="en-US" altLang="zh-CN" dirty="0"/>
          </a:p>
          <a:p>
            <a:r>
              <a:rPr kumimoji="1" lang="zh-CN" altLang="en-US" dirty="0"/>
              <a:t>安全模型的缺陷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依然部分依赖</a:t>
            </a:r>
            <a:r>
              <a:rPr kumimoji="1" lang="en-US" altLang="zh-CN" dirty="0"/>
              <a:t>Hypervisor</a:t>
            </a:r>
          </a:p>
          <a:p>
            <a:pPr lvl="2"/>
            <a:r>
              <a:rPr kumimoji="1" lang="zh-CN" altLang="en-US" sz="1800" dirty="0"/>
              <a:t>如：为</a:t>
            </a:r>
            <a:r>
              <a:rPr kumimoji="1" lang="en-US" altLang="zh-CN" sz="1800" dirty="0"/>
              <a:t>VM</a:t>
            </a:r>
            <a:r>
              <a:rPr kumimoji="1" lang="zh-CN" altLang="en-US" sz="1800" dirty="0"/>
              <a:t>设置正确的密钥</a:t>
            </a:r>
            <a:endParaRPr kumimoji="1" lang="en-US" altLang="zh-CN" sz="1800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DE7F66-B936-EE41-8721-D03497DD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F2220E-FCF4-1E42-BEC6-2E38E10CF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25C5AD-0420-5C4C-88A9-DDEDFDA04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336376"/>
            <a:ext cx="3804716" cy="344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98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C760D-133F-F748-B75A-A4725FEF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RISC-V</a:t>
            </a:r>
            <a:r>
              <a:rPr kumimoji="1" lang="zh-CN" altLang="en-US" dirty="0"/>
              <a:t>平台的</a:t>
            </a:r>
            <a:r>
              <a:rPr kumimoji="1" lang="en-US" altLang="zh-CN" dirty="0"/>
              <a:t>Enclave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F926CB-FC99-A345-9921-9E1CC2038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RISC-V</a:t>
            </a:r>
            <a:r>
              <a:rPr kumimoji="1" lang="zh-CN" altLang="en-US" dirty="0"/>
              <a:t>具有一个新的模式：</a:t>
            </a:r>
            <a:r>
              <a:rPr kumimoji="1" lang="en-US" altLang="zh-CN" dirty="0"/>
              <a:t>Machine-Mode</a:t>
            </a:r>
          </a:p>
          <a:p>
            <a:pPr lvl="1"/>
            <a:r>
              <a:rPr kumimoji="1" lang="zh-CN" altLang="en-US" dirty="0"/>
              <a:t>位于操作系统和</a:t>
            </a:r>
            <a:r>
              <a:rPr kumimoji="1" lang="en-US" altLang="zh-CN" dirty="0"/>
              <a:t>Hypervisor</a:t>
            </a:r>
            <a:r>
              <a:rPr kumimoji="1" lang="zh-CN" altLang="en-US" dirty="0"/>
              <a:t>之下，直接访问物理地址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具有最高权限，可访问所有的计算资源，并提供新的功能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M-Mode</a:t>
            </a:r>
            <a:r>
              <a:rPr kumimoji="1" lang="zh-CN" altLang="en-US" dirty="0"/>
              <a:t>下实现的软件</a:t>
            </a:r>
            <a:r>
              <a:rPr kumimoji="1" lang="en-US" altLang="zh-CN" dirty="0"/>
              <a:t>monitor</a:t>
            </a:r>
            <a:r>
              <a:rPr kumimoji="1" lang="zh-CN" altLang="en-US" dirty="0"/>
              <a:t>，可实现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的接口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A4FD5D-CC62-EC4A-A124-4723DD52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8A197-DF96-964B-B022-BCC18628C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B75D0A-BEC9-A647-B6A9-123BC78916E8}"/>
              </a:ext>
            </a:extLst>
          </p:cNvPr>
          <p:cNvSpPr/>
          <p:nvPr/>
        </p:nvSpPr>
        <p:spPr>
          <a:xfrm>
            <a:off x="4546848" y="3508474"/>
            <a:ext cx="936104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1"/>
                </a:solidFill>
              </a:rPr>
              <a:t>App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34A825-DE3C-8F40-A2E6-BD9C992A300F}"/>
              </a:ext>
            </a:extLst>
          </p:cNvPr>
          <p:cNvSpPr/>
          <p:nvPr/>
        </p:nvSpPr>
        <p:spPr>
          <a:xfrm>
            <a:off x="5868144" y="3508474"/>
            <a:ext cx="936104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1"/>
                </a:solidFill>
              </a:rPr>
              <a:t>App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CBC9DB-229A-DB44-AE22-0EB54E300030}"/>
              </a:ext>
            </a:extLst>
          </p:cNvPr>
          <p:cNvSpPr/>
          <p:nvPr/>
        </p:nvSpPr>
        <p:spPr>
          <a:xfrm>
            <a:off x="4546848" y="4092232"/>
            <a:ext cx="2257400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1"/>
                </a:solidFill>
              </a:rPr>
              <a:t>操作系统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E75D0D-2A46-5544-8583-127DBAF12F75}"/>
              </a:ext>
            </a:extLst>
          </p:cNvPr>
          <p:cNvSpPr/>
          <p:nvPr/>
        </p:nvSpPr>
        <p:spPr>
          <a:xfrm>
            <a:off x="4546848" y="4652907"/>
            <a:ext cx="2257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Monitor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33E7F8-A6DD-E64C-8D5D-AF305C3EBE13}"/>
              </a:ext>
            </a:extLst>
          </p:cNvPr>
          <p:cNvSpPr txBox="1"/>
          <p:nvPr/>
        </p:nvSpPr>
        <p:spPr>
          <a:xfrm>
            <a:off x="2818656" y="350847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/>
              <a:t>User-mode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D1F313-9112-4044-9B4D-DE1FCE2F1111}"/>
              </a:ext>
            </a:extLst>
          </p:cNvPr>
          <p:cNvSpPr txBox="1"/>
          <p:nvPr/>
        </p:nvSpPr>
        <p:spPr>
          <a:xfrm>
            <a:off x="1594520" y="4078441"/>
            <a:ext cx="259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/>
              <a:t>Supervisor-mode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D63981-6D2F-0044-BF23-4DFAD732EF74}"/>
              </a:ext>
            </a:extLst>
          </p:cNvPr>
          <p:cNvSpPr txBox="1"/>
          <p:nvPr/>
        </p:nvSpPr>
        <p:spPr>
          <a:xfrm>
            <a:off x="1594520" y="4648408"/>
            <a:ext cx="259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/>
              <a:t>Machine-mode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774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417B4-3C64-ED46-8F39-1C14B0E7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蓬莱 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：诞生自 </a:t>
            </a:r>
            <a:r>
              <a:rPr kumimoji="1" lang="en-US" altLang="zh-CN" dirty="0"/>
              <a:t>SJTU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0A1E7-B1D0-0843-831D-0D059452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47396-56DB-C242-8FA2-454D6E552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246EA3-B886-894B-9046-6FFCD6D121A0}"/>
              </a:ext>
            </a:extLst>
          </p:cNvPr>
          <p:cNvSpPr/>
          <p:nvPr/>
        </p:nvSpPr>
        <p:spPr>
          <a:xfrm>
            <a:off x="5049180" y="4893014"/>
            <a:ext cx="36541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hlinkClick r:id="rId3"/>
              </a:rPr>
              <a:t>http://penglai-enclave.systems/</a:t>
            </a:r>
            <a:endParaRPr lang="zh-CN" alt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C2D6C7-5824-E349-B5A5-9BDB6A39C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353"/>
          <a:stretch/>
        </p:blipFill>
        <p:spPr>
          <a:xfrm>
            <a:off x="4932040" y="1170230"/>
            <a:ext cx="3888432" cy="259776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AF7C6C-0A99-7042-82C7-E2F040DD1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003306"/>
            <a:ext cx="787733" cy="784727"/>
          </a:xfrm>
          <a:prstGeom prst="rect">
            <a:avLst/>
          </a:prstGeom>
        </p:spPr>
      </p:pic>
      <p:sp>
        <p:nvSpPr>
          <p:cNvPr id="10" name="右箭头 9">
            <a:extLst>
              <a:ext uri="{FF2B5EF4-FFF2-40B4-BE49-F238E27FC236}">
                <a16:creationId xmlns:a16="http://schemas.microsoft.com/office/drawing/2014/main" id="{DECBCE54-77DC-4644-996D-DD9684B7C864}"/>
              </a:ext>
            </a:extLst>
          </p:cNvPr>
          <p:cNvSpPr/>
          <p:nvPr/>
        </p:nvSpPr>
        <p:spPr>
          <a:xfrm>
            <a:off x="5652120" y="3423714"/>
            <a:ext cx="216024" cy="15386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1BEEC0-07BA-3F41-B3F0-03699343E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58" y="1153482"/>
            <a:ext cx="3177385" cy="390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24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330D812-33BC-5944-98FC-CC01F373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B949800-3B0E-F648-896A-09908CDB5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5C0C93-42B8-9D47-B65B-FFF9863D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1CCE84-3448-BA41-BEE2-8D9562EE0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818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3576D5E-EE0D-FD43-8ABD-B9DF19F7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控制系统复杂性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7F65AFD-8F66-DA43-9011-E4C8DC9B4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Enclave</a:t>
            </a:r>
            <a:r>
              <a:rPr lang="zh-CN" altLang="en-US" dirty="0"/>
              <a:t>的抽象是一种简化</a:t>
            </a:r>
            <a:endParaRPr lang="en-US" altLang="zh-CN" dirty="0"/>
          </a:p>
          <a:p>
            <a:pPr lvl="1"/>
            <a:r>
              <a:rPr lang="zh-CN" altLang="en-US" dirty="0"/>
              <a:t>对威胁模型和信任关系的简化</a:t>
            </a:r>
            <a:endParaRPr lang="en-US" altLang="zh-CN" dirty="0"/>
          </a:p>
          <a:p>
            <a:pPr lvl="2"/>
            <a:r>
              <a:rPr lang="zh-CN" altLang="en-US" sz="1800" dirty="0"/>
              <a:t>例如：</a:t>
            </a:r>
            <a:r>
              <a:rPr lang="en-US" altLang="zh-CN" sz="1800" dirty="0"/>
              <a:t>Intel</a:t>
            </a:r>
            <a:r>
              <a:rPr lang="zh-CN" altLang="en-US" sz="1800" dirty="0"/>
              <a:t> </a:t>
            </a:r>
            <a:r>
              <a:rPr lang="en-US" altLang="zh-CN" sz="1800" dirty="0"/>
              <a:t>SGX</a:t>
            </a:r>
            <a:r>
              <a:rPr lang="zh-CN" altLang="en-US" sz="1800" dirty="0"/>
              <a:t>将对软硬件环境的信任规约到对</a:t>
            </a:r>
            <a:r>
              <a:rPr lang="en-US" altLang="zh-CN" sz="1800" dirty="0"/>
              <a:t>Intel</a:t>
            </a:r>
            <a:r>
              <a:rPr lang="zh-CN" altLang="en-US" sz="1800" dirty="0"/>
              <a:t>的信任</a:t>
            </a:r>
            <a:endParaRPr lang="en-US" altLang="zh-CN" sz="1800" dirty="0"/>
          </a:p>
          <a:p>
            <a:pPr lvl="1"/>
            <a:r>
              <a:rPr lang="zh-CN" altLang="en-US" dirty="0"/>
              <a:t>这种简化有可能带来新的问题：</a:t>
            </a:r>
            <a:r>
              <a:rPr lang="en-US" altLang="zh-CN" dirty="0"/>
              <a:t>Single-point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Failure</a:t>
            </a:r>
          </a:p>
          <a:p>
            <a:r>
              <a:rPr lang="en-US" altLang="zh-CN" dirty="0"/>
              <a:t>Enclave</a:t>
            </a:r>
            <a:r>
              <a:rPr lang="zh-CN" altLang="en-US" dirty="0"/>
              <a:t>的主要技术</a:t>
            </a:r>
            <a:endParaRPr lang="en-US" altLang="zh-CN" dirty="0"/>
          </a:p>
          <a:p>
            <a:pPr lvl="1"/>
            <a:r>
              <a:rPr lang="zh-CN" altLang="en-US" dirty="0"/>
              <a:t>保护技术：基于权限的隔离与基于加密的控制</a:t>
            </a:r>
            <a:endParaRPr lang="en-US" altLang="zh-CN" dirty="0"/>
          </a:p>
          <a:p>
            <a:pPr lvl="1"/>
            <a:r>
              <a:rPr lang="zh-CN" altLang="en-US" dirty="0"/>
              <a:t>远程验证：对密钥的管理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42EA19-395D-9D4F-95D9-B53E459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752954-CCC8-A844-B3B8-32D7A45DD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853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719DD7B-D308-2542-85B7-66D9084C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Enclave</a:t>
            </a:r>
            <a:r>
              <a:rPr lang="zh-CN" altLang="en-US" dirty="0"/>
              <a:t>的不足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DED6339-4A25-A245-BD81-C72772065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仅靠隔离是不够的，还需要考虑交互安全</a:t>
            </a:r>
            <a:endParaRPr lang="en-US" altLang="zh-CN" dirty="0"/>
          </a:p>
          <a:p>
            <a:pPr lvl="1"/>
            <a:r>
              <a:rPr lang="en-US" altLang="zh-CN" dirty="0"/>
              <a:t>Enclave</a:t>
            </a:r>
            <a:r>
              <a:rPr lang="zh-CN" altLang="en-US" dirty="0"/>
              <a:t>依然需要</a:t>
            </a:r>
            <a:r>
              <a:rPr lang="en-US" altLang="zh-CN" dirty="0"/>
              <a:t>OS</a:t>
            </a:r>
            <a:r>
              <a:rPr lang="zh-CN" altLang="en-US" dirty="0"/>
              <a:t>提供服务：调度、系统调用、资源分配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即使隔离，</a:t>
            </a:r>
            <a:r>
              <a:rPr lang="en-US" altLang="zh-CN" dirty="0"/>
              <a:t>OS</a:t>
            </a:r>
            <a:r>
              <a:rPr lang="zh-CN" altLang="en-US" dirty="0"/>
              <a:t>依然可能发起的攻击包括</a:t>
            </a:r>
            <a:endParaRPr lang="en-US" altLang="zh-CN" dirty="0"/>
          </a:p>
          <a:p>
            <a:pPr lvl="2"/>
            <a:r>
              <a:rPr lang="zh-CN" altLang="en-US" dirty="0"/>
              <a:t>接口攻击：合法的系统调用返回错误的值</a:t>
            </a:r>
            <a:endParaRPr lang="en-US" altLang="zh-CN" dirty="0"/>
          </a:p>
          <a:p>
            <a:pPr lvl="3"/>
            <a:r>
              <a:rPr lang="zh-CN" altLang="en-US" dirty="0"/>
              <a:t>例：</a:t>
            </a:r>
            <a:r>
              <a:rPr lang="en-US" altLang="zh-CN" dirty="0"/>
              <a:t>malloc</a:t>
            </a:r>
            <a:r>
              <a:rPr lang="zh-CN" altLang="en-US" dirty="0"/>
              <a:t>返回指向栈的地址，导致内部自己破坏掉栈</a:t>
            </a:r>
            <a:endParaRPr lang="en-US" altLang="zh-CN" dirty="0"/>
          </a:p>
          <a:p>
            <a:pPr lvl="2"/>
            <a:r>
              <a:rPr lang="en-US" altLang="zh-CN" dirty="0"/>
              <a:t>DoS</a:t>
            </a:r>
            <a:r>
              <a:rPr lang="zh-CN" altLang="en-US" dirty="0"/>
              <a:t>攻击：拒绝分配计算资源（恶意调度）</a:t>
            </a:r>
            <a:endParaRPr lang="en-US" altLang="zh-CN" dirty="0"/>
          </a:p>
          <a:p>
            <a:r>
              <a:rPr lang="zh-CN" altLang="en-US" dirty="0"/>
              <a:t>依然受到侧信道等攻击的威胁</a:t>
            </a:r>
            <a:endParaRPr lang="en-US" altLang="zh-CN" dirty="0"/>
          </a:p>
          <a:p>
            <a:pPr lvl="1"/>
            <a:r>
              <a:rPr lang="en-US" altLang="zh-CN" dirty="0" err="1"/>
              <a:t>Spectre</a:t>
            </a:r>
            <a:r>
              <a:rPr lang="zh-CN" altLang="en-US" dirty="0"/>
              <a:t>、</a:t>
            </a:r>
            <a:r>
              <a:rPr lang="en-US" altLang="zh-CN" dirty="0"/>
              <a:t>L1TF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B98FEF-2FD1-2C47-AAAF-B8403646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DA1B4-CE88-264E-B5A7-241252C7B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3082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24B83-A61A-1E4C-8AD1-8D266EB62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FECEE-93E6-0F4F-933B-5CAA756AF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操作系统对调试器的相关支持</a:t>
            </a:r>
            <a:endParaRPr kumimoji="1" lang="en-US" altLang="zh-CN" dirty="0"/>
          </a:p>
          <a:p>
            <a:r>
              <a:rPr kumimoji="1" lang="zh-CN" altLang="en-US" dirty="0"/>
              <a:t>如何对操作系统进行调试</a:t>
            </a:r>
            <a:endParaRPr kumimoji="1" lang="en-US" altLang="zh-CN" dirty="0"/>
          </a:p>
          <a:p>
            <a:r>
              <a:rPr kumimoji="1" lang="zh-CN" altLang="en-US" dirty="0"/>
              <a:t>性能调试及代码追踪</a:t>
            </a:r>
            <a:endParaRPr kumimoji="1" lang="en-US" altLang="zh-CN" dirty="0"/>
          </a:p>
          <a:p>
            <a:r>
              <a:rPr kumimoji="1" lang="zh-CN" altLang="en-US" dirty="0"/>
              <a:t>测试的基本原则和方法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77125-C933-EC40-8F0B-B17BEDC0F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4927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调试器的基本原理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6381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为什么需要调试器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定位和修复</a:t>
            </a:r>
            <a:r>
              <a:rPr kumimoji="1" lang="en-US" altLang="zh-CN" dirty="0"/>
              <a:t>BUG</a:t>
            </a:r>
            <a:r>
              <a:rPr kumimoji="1" lang="zh-CN" altLang="en-US" dirty="0"/>
              <a:t>，帮助程序员理解程序行为</a:t>
            </a:r>
            <a:endParaRPr kumimoji="1" lang="en-US" altLang="zh-CN" dirty="0"/>
          </a:p>
          <a:p>
            <a:r>
              <a:rPr kumimoji="1" lang="zh-CN" altLang="en-US" dirty="0"/>
              <a:t>基本功能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中断程序运行读取内部状态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获取程序异常退出原因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动态修改软件状态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控制流追踪</a:t>
            </a:r>
            <a:endParaRPr kumimoji="1" lang="en-US" altLang="zh-CN" dirty="0"/>
          </a:p>
          <a:p>
            <a:r>
              <a:rPr kumimoji="1" lang="zh-CN" altLang="en-US" dirty="0"/>
              <a:t>以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GDB</a:t>
            </a:r>
            <a:r>
              <a:rPr kumimoji="1" lang="zh-CN" altLang="en-US" dirty="0"/>
              <a:t>为例介绍操作系统如何提供调试功能</a:t>
            </a:r>
            <a:endParaRPr kumimoji="1" lang="en-US" altLang="zh-CN" dirty="0"/>
          </a:p>
          <a:p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4108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调试器 </a:t>
            </a:r>
            <a:r>
              <a:rPr lang="en-US" altLang="zh-CN" dirty="0"/>
              <a:t>–</a:t>
            </a:r>
            <a:r>
              <a:rPr lang="zh-CN" altLang="en-US" dirty="0"/>
              <a:t> 建立调试关系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8" y="1068394"/>
            <a:ext cx="8229600" cy="3771636"/>
          </a:xfrm>
        </p:spPr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en-US" dirty="0"/>
              <a:t>的调试支持：</a:t>
            </a:r>
            <a:r>
              <a:rPr lang="en-US" altLang="zh-CN" dirty="0" err="1"/>
              <a:t>ptrace</a:t>
            </a:r>
            <a:r>
              <a:rPr lang="zh-CN" altLang="en-US" dirty="0"/>
              <a:t>系统调用</a:t>
            </a:r>
            <a:endParaRPr lang="en-US" altLang="zh-CN" dirty="0"/>
          </a:p>
          <a:p>
            <a:pPr lvl="1"/>
            <a:r>
              <a:rPr lang="en-US" altLang="zh-CN" dirty="0"/>
              <a:t>GDB</a:t>
            </a:r>
            <a:r>
              <a:rPr lang="zh-CN" altLang="en-US" dirty="0"/>
              <a:t>建立调试控制关系</a:t>
            </a:r>
            <a:endParaRPr lang="en-US" altLang="zh-CN" dirty="0"/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/>
              <a:t>子进程通过</a:t>
            </a:r>
            <a:r>
              <a:rPr lang="en-US" altLang="zh-CN" dirty="0"/>
              <a:t>PTRACE_TRACEME</a:t>
            </a:r>
            <a:r>
              <a:rPr lang="zh-CN" altLang="en-US" dirty="0"/>
              <a:t>将调试权交给父进程</a:t>
            </a:r>
            <a:endParaRPr lang="en-US" altLang="zh-CN" dirty="0"/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/>
              <a:t>通过</a:t>
            </a:r>
            <a:r>
              <a:rPr lang="en-US" altLang="zh-CN" dirty="0"/>
              <a:t>PTRACE_ATTACH</a:t>
            </a:r>
            <a:r>
              <a:rPr lang="zh-CN" altLang="en-US" dirty="0"/>
              <a:t>调试指定</a:t>
            </a:r>
            <a:r>
              <a:rPr lang="en-US" altLang="zh-CN" dirty="0" err="1"/>
              <a:t>pid</a:t>
            </a:r>
            <a:r>
              <a:rPr lang="zh-CN" altLang="en-US" dirty="0"/>
              <a:t>的进程</a:t>
            </a:r>
            <a:endParaRPr lang="en-US" altLang="zh-CN" dirty="0"/>
          </a:p>
          <a:p>
            <a:pPr lvl="1"/>
            <a:r>
              <a:rPr lang="zh-CN" altLang="en-US" dirty="0"/>
              <a:t>如何调试下述触发除零错误程序</a:t>
            </a:r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C9089BD-A401-A64D-BCC5-DC8C21D5F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66033"/>
            <a:ext cx="2946400" cy="2235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209AF5C-FE1F-B447-B173-A9B37DF08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649060"/>
            <a:ext cx="5486400" cy="5207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FE8EA0F-A7FD-3847-9728-14FCB884014A}"/>
              </a:ext>
            </a:extLst>
          </p:cNvPr>
          <p:cNvSpPr/>
          <p:nvPr/>
        </p:nvSpPr>
        <p:spPr>
          <a:xfrm>
            <a:off x="3312160" y="3721622"/>
            <a:ext cx="3552576" cy="833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/>
              <a:t>需求</a:t>
            </a:r>
            <a:r>
              <a:rPr lang="en-US" altLang="zh-CN" dirty="0"/>
              <a:t>1</a:t>
            </a:r>
            <a:r>
              <a:rPr lang="zh-CN" altLang="en-US" dirty="0"/>
              <a:t>：捕捉到进程除零错误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sz="1600" dirty="0"/>
              <a:t>GDB</a:t>
            </a:r>
            <a:r>
              <a:rPr lang="zh-CN" altLang="en-US" sz="1600" dirty="0"/>
              <a:t>捕捉除零错误产生的输出：</a:t>
            </a:r>
          </a:p>
        </p:txBody>
      </p:sp>
    </p:spTree>
    <p:extLst>
      <p:ext uri="{BB962C8B-B14F-4D97-AF65-F5344CB8AC3E}">
        <p14:creationId xmlns:p14="http://schemas.microsoft.com/office/powerpoint/2010/main" val="879989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F381789-B05B-A948-8C51-6F0FDF4ACC89}"/>
              </a:ext>
            </a:extLst>
          </p:cNvPr>
          <p:cNvSpPr/>
          <p:nvPr/>
        </p:nvSpPr>
        <p:spPr>
          <a:xfrm>
            <a:off x="2563313" y="1129308"/>
            <a:ext cx="100811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GDB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r>
              <a:rPr lang="zh-CN" altLang="en-US" dirty="0"/>
              <a:t>捕捉异常信号流程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BE3486-B221-944C-BB24-B6EFCCD01C4D}"/>
              </a:ext>
            </a:extLst>
          </p:cNvPr>
          <p:cNvSpPr/>
          <p:nvPr/>
        </p:nvSpPr>
        <p:spPr>
          <a:xfrm>
            <a:off x="5192295" y="1144683"/>
            <a:ext cx="145981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被调试进程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4E8F46A-B576-9944-B103-16775541D916}"/>
              </a:ext>
            </a:extLst>
          </p:cNvPr>
          <p:cNvSpPr/>
          <p:nvPr/>
        </p:nvSpPr>
        <p:spPr>
          <a:xfrm>
            <a:off x="1272432" y="1523443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 err="1"/>
              <a:t>waitpid</a:t>
            </a:r>
            <a:endParaRPr lang="en-US" altLang="zh-CN" dirty="0"/>
          </a:p>
          <a:p>
            <a:pPr algn="ctr"/>
            <a:r>
              <a:rPr lang="zh-CN" altLang="en-US" dirty="0"/>
              <a:t>等待应用事件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9986BA0-3880-194A-8F0C-7B84977F7CDA}"/>
              </a:ext>
            </a:extLst>
          </p:cNvPr>
          <p:cNvSpPr/>
          <p:nvPr/>
        </p:nvSpPr>
        <p:spPr>
          <a:xfrm>
            <a:off x="3235433" y="2902559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产生</a:t>
            </a:r>
            <a:r>
              <a:rPr lang="en-US" altLang="zh-CN" dirty="0"/>
              <a:t>signal</a:t>
            </a:r>
            <a:r>
              <a:rPr lang="zh-CN" altLang="en-US" dirty="0"/>
              <a:t>后通知</a:t>
            </a:r>
            <a:r>
              <a:rPr lang="en-US" altLang="zh-CN" dirty="0"/>
              <a:t>GDB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C9C5F8F-E40E-A144-81C7-B18CF2CE898A}"/>
              </a:ext>
            </a:extLst>
          </p:cNvPr>
          <p:cNvSpPr/>
          <p:nvPr/>
        </p:nvSpPr>
        <p:spPr>
          <a:xfrm>
            <a:off x="6003896" y="2027749"/>
            <a:ext cx="1024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b = 0 / 0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7ED8CF-7B73-8244-8771-913FE78D3995}"/>
              </a:ext>
            </a:extLst>
          </p:cNvPr>
          <p:cNvSpPr/>
          <p:nvPr/>
        </p:nvSpPr>
        <p:spPr>
          <a:xfrm>
            <a:off x="5988616" y="2378855"/>
            <a:ext cx="21595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除零错误陷入内核</a:t>
            </a:r>
            <a:endParaRPr lang="en-US" altLang="zh-CN" dirty="0"/>
          </a:p>
          <a:p>
            <a:r>
              <a:rPr lang="zh-CN" altLang="en-US" dirty="0"/>
              <a:t>产生</a:t>
            </a:r>
            <a:r>
              <a:rPr lang="en-US" altLang="zh-CN" dirty="0"/>
              <a:t>SIGFPE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endParaRPr lang="zh-CN" altLang="en-US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3B106024-45DA-2045-BC7B-20FB76F7B74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5922202" y="1514015"/>
            <a:ext cx="1" cy="1895879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C3291E2D-BE21-294A-9455-F6D88CCA3291}"/>
              </a:ext>
            </a:extLst>
          </p:cNvPr>
          <p:cNvCxnSpPr>
            <a:cxnSpLocks/>
          </p:cNvCxnSpPr>
          <p:nvPr/>
        </p:nvCxnSpPr>
        <p:spPr>
          <a:xfrm flipH="1" flipV="1">
            <a:off x="3183292" y="3319211"/>
            <a:ext cx="2640748" cy="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5C29018-13B5-F042-AC0F-6988E9D73A5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067369" y="1498640"/>
            <a:ext cx="0" cy="351910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805A467D-229C-F24B-9A06-B7869D8DEC30}"/>
              </a:ext>
            </a:extLst>
          </p:cNvPr>
          <p:cNvSpPr/>
          <p:nvPr/>
        </p:nvSpPr>
        <p:spPr>
          <a:xfrm>
            <a:off x="361722" y="4108516"/>
            <a:ext cx="26468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PTRACE_</a:t>
            </a:r>
            <a:r>
              <a:rPr lang="en-US" altLang="zh-CN" dirty="0">
                <a:solidFill>
                  <a:srgbClr val="0070C0"/>
                </a:solidFill>
              </a:rPr>
              <a:t>GETREGS</a:t>
            </a:r>
          </a:p>
          <a:p>
            <a:pPr algn="ctr"/>
            <a:r>
              <a:rPr lang="zh-CN" altLang="en-US" dirty="0"/>
              <a:t>获取被调试进程</a:t>
            </a:r>
            <a:r>
              <a:rPr lang="en-US" altLang="zh-CN" dirty="0"/>
              <a:t>RIP</a:t>
            </a:r>
            <a:r>
              <a:rPr lang="zh-CN" altLang="en-US" dirty="0"/>
              <a:t>地址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D68FB0-5AC7-754A-8FF6-EC76C2CD5EC8}"/>
              </a:ext>
            </a:extLst>
          </p:cNvPr>
          <p:cNvSpPr/>
          <p:nvPr/>
        </p:nvSpPr>
        <p:spPr>
          <a:xfrm>
            <a:off x="360138" y="3466759"/>
            <a:ext cx="26725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PTRACE_</a:t>
            </a:r>
            <a:r>
              <a:rPr lang="en-US" altLang="zh-CN" dirty="0">
                <a:solidFill>
                  <a:srgbClr val="0070C0"/>
                </a:solidFill>
              </a:rPr>
              <a:t>GETSIGINFO</a:t>
            </a:r>
          </a:p>
          <a:p>
            <a:pPr algn="ctr"/>
            <a:r>
              <a:rPr lang="zh-CN" altLang="en-US" dirty="0"/>
              <a:t>获取被调试进程</a:t>
            </a:r>
            <a:r>
              <a:rPr lang="en-US" altLang="zh-CN" dirty="0"/>
              <a:t>signal</a:t>
            </a:r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BE45D4-00BB-9D45-81A7-98C6C2161E97}"/>
              </a:ext>
            </a:extLst>
          </p:cNvPr>
          <p:cNvGrpSpPr/>
          <p:nvPr/>
        </p:nvGrpSpPr>
        <p:grpSpPr>
          <a:xfrm>
            <a:off x="3347542" y="3981592"/>
            <a:ext cx="5472605" cy="734863"/>
            <a:chOff x="3267593" y="1746285"/>
            <a:chExt cx="5472605" cy="734863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5F01958B-23B8-C044-B0E9-BAAFBA5126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2770" b="63145"/>
            <a:stretch/>
          </p:blipFill>
          <p:spPr>
            <a:xfrm>
              <a:off x="3267593" y="1746285"/>
              <a:ext cx="5472605" cy="734863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5EDC8F7-AC4B-8E43-AA07-79ACC577E753}"/>
                </a:ext>
              </a:extLst>
            </p:cNvPr>
            <p:cNvSpPr/>
            <p:nvPr/>
          </p:nvSpPr>
          <p:spPr>
            <a:xfrm>
              <a:off x="3267593" y="1753382"/>
              <a:ext cx="3176615" cy="52805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5291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F381789-B05B-A948-8C51-6F0FDF4ACC89}"/>
              </a:ext>
            </a:extLst>
          </p:cNvPr>
          <p:cNvSpPr/>
          <p:nvPr/>
        </p:nvSpPr>
        <p:spPr>
          <a:xfrm>
            <a:off x="2563313" y="1129308"/>
            <a:ext cx="100811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GDB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r>
              <a:rPr lang="zh-CN" altLang="en-US" dirty="0"/>
              <a:t>捕捉异常信号流程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BE3486-B221-944C-BB24-B6EFCCD01C4D}"/>
              </a:ext>
            </a:extLst>
          </p:cNvPr>
          <p:cNvSpPr/>
          <p:nvPr/>
        </p:nvSpPr>
        <p:spPr>
          <a:xfrm>
            <a:off x="5192295" y="1144683"/>
            <a:ext cx="145981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被调试进程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7ED8CF-7B73-8244-8771-913FE78D3995}"/>
              </a:ext>
            </a:extLst>
          </p:cNvPr>
          <p:cNvSpPr/>
          <p:nvPr/>
        </p:nvSpPr>
        <p:spPr>
          <a:xfrm>
            <a:off x="5968084" y="2549260"/>
            <a:ext cx="28520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无</a:t>
            </a:r>
            <a:r>
              <a:rPr lang="en-US" altLang="zh-CN" dirty="0"/>
              <a:t>SIGFPE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处理函数</a:t>
            </a:r>
            <a:endParaRPr lang="en-US" altLang="zh-CN" dirty="0"/>
          </a:p>
          <a:p>
            <a:r>
              <a:rPr lang="zh-CN" altLang="en-US" dirty="0"/>
              <a:t>进程退出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3B106024-45DA-2045-BC7B-20FB76F7B74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5922202" y="1514015"/>
            <a:ext cx="1" cy="1895879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C3291E2D-BE21-294A-9455-F6D88CCA3291}"/>
              </a:ext>
            </a:extLst>
          </p:cNvPr>
          <p:cNvCxnSpPr>
            <a:cxnSpLocks/>
          </p:cNvCxnSpPr>
          <p:nvPr/>
        </p:nvCxnSpPr>
        <p:spPr>
          <a:xfrm>
            <a:off x="3239233" y="2520047"/>
            <a:ext cx="2556903" cy="4658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5C29018-13B5-F042-AC0F-6988E9D73A5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067369" y="1498640"/>
            <a:ext cx="0" cy="351910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8F19F993-F57E-9841-8FCD-D7A07D4E8064}"/>
              </a:ext>
            </a:extLst>
          </p:cNvPr>
          <p:cNvSpPr/>
          <p:nvPr/>
        </p:nvSpPr>
        <p:spPr>
          <a:xfrm>
            <a:off x="638323" y="1659984"/>
            <a:ext cx="28793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PTRACE_</a:t>
            </a:r>
            <a:r>
              <a:rPr lang="en-US" altLang="zh-CN" dirty="0">
                <a:solidFill>
                  <a:srgbClr val="0070C0"/>
                </a:solidFill>
              </a:rPr>
              <a:t>CONT</a:t>
            </a:r>
          </a:p>
          <a:p>
            <a:r>
              <a:rPr lang="zh-CN" altLang="en-US" dirty="0"/>
              <a:t>通知进程继续运行</a:t>
            </a:r>
            <a:endParaRPr lang="en-US" altLang="zh-CN" dirty="0"/>
          </a:p>
          <a:p>
            <a:r>
              <a:rPr lang="zh-CN" altLang="en-US" dirty="0"/>
              <a:t>并注入</a:t>
            </a:r>
            <a:r>
              <a:rPr lang="en-US" altLang="zh-CN" dirty="0"/>
              <a:t>SIGFPE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endParaRPr lang="zh-CN" altLang="en-US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CF0E7CA5-E83F-1445-973E-5033DA67481A}"/>
              </a:ext>
            </a:extLst>
          </p:cNvPr>
          <p:cNvCxnSpPr>
            <a:cxnSpLocks/>
          </p:cNvCxnSpPr>
          <p:nvPr/>
        </p:nvCxnSpPr>
        <p:spPr>
          <a:xfrm flipH="1">
            <a:off x="3239234" y="3361556"/>
            <a:ext cx="2556902" cy="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3A2CBC5B-1F1C-084E-98BD-0C1DEFA8EEF5}"/>
              </a:ext>
            </a:extLst>
          </p:cNvPr>
          <p:cNvSpPr/>
          <p:nvPr/>
        </p:nvSpPr>
        <p:spPr>
          <a:xfrm>
            <a:off x="3981018" y="216877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继续运行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D2D133C-BBFC-874B-BBD8-DB67075923F7}"/>
              </a:ext>
            </a:extLst>
          </p:cNvPr>
          <p:cNvSpPr/>
          <p:nvPr/>
        </p:nvSpPr>
        <p:spPr>
          <a:xfrm>
            <a:off x="3963686" y="299398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退出通知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8AEE267-FC3C-B949-8DA6-2A1F68C4B321}"/>
              </a:ext>
            </a:extLst>
          </p:cNvPr>
          <p:cNvGrpSpPr/>
          <p:nvPr/>
        </p:nvGrpSpPr>
        <p:grpSpPr>
          <a:xfrm>
            <a:off x="3236798" y="3639316"/>
            <a:ext cx="5945211" cy="1889470"/>
            <a:chOff x="3131840" y="1533753"/>
            <a:chExt cx="6273800" cy="1993900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261A0B86-2615-A34C-A834-74C160AE7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1840" y="1533753"/>
              <a:ext cx="6273800" cy="1993900"/>
            </a:xfrm>
            <a:prstGeom prst="rect">
              <a:avLst/>
            </a:prstGeom>
          </p:spPr>
        </p:pic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BA407C8-3025-2549-B35A-BACE6335F4E5}"/>
                </a:ext>
              </a:extLst>
            </p:cNvPr>
            <p:cNvSpPr/>
            <p:nvPr/>
          </p:nvSpPr>
          <p:spPr>
            <a:xfrm>
              <a:off x="3995937" y="2987356"/>
              <a:ext cx="3024336" cy="30219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175EA7A0-1AD8-A84E-94CB-BD0DDD51B102}"/>
              </a:ext>
            </a:extLst>
          </p:cNvPr>
          <p:cNvSpPr/>
          <p:nvPr/>
        </p:nvSpPr>
        <p:spPr>
          <a:xfrm>
            <a:off x="758368" y="4192260"/>
            <a:ext cx="20569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通过</a:t>
            </a:r>
            <a:r>
              <a:rPr lang="en-US" altLang="zh-CN" dirty="0" err="1"/>
              <a:t>waitpid</a:t>
            </a:r>
            <a:r>
              <a:rPr lang="zh-CN" altLang="en-US" dirty="0"/>
              <a:t>返回值</a:t>
            </a:r>
            <a:endParaRPr lang="en-US" altLang="zh-CN" dirty="0"/>
          </a:p>
          <a:p>
            <a:r>
              <a:rPr lang="zh-CN" altLang="en-US" dirty="0"/>
              <a:t>获取退出原因</a:t>
            </a:r>
          </a:p>
        </p:txBody>
      </p:sp>
    </p:spTree>
    <p:extLst>
      <p:ext uri="{BB962C8B-B14F-4D97-AF65-F5344CB8AC3E}">
        <p14:creationId xmlns:p14="http://schemas.microsoft.com/office/powerpoint/2010/main" val="2417651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调试器 </a:t>
            </a:r>
            <a:r>
              <a:rPr lang="en-US" altLang="zh-CN" dirty="0"/>
              <a:t>–</a:t>
            </a:r>
            <a:r>
              <a:rPr lang="zh-CN" altLang="en-US" dirty="0"/>
              <a:t> 配置断点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需求</a:t>
            </a:r>
            <a:r>
              <a:rPr lang="en-US" altLang="zh-CN" dirty="0"/>
              <a:t>2:</a:t>
            </a:r>
            <a:r>
              <a:rPr lang="zh-CN" altLang="en-US" dirty="0"/>
              <a:t> 停止进程运行，用以观察进程状态</a:t>
            </a:r>
            <a:endParaRPr lang="en-US" altLang="zh-CN" dirty="0"/>
          </a:p>
          <a:p>
            <a:pPr lvl="1"/>
            <a:r>
              <a:rPr lang="zh-CN" altLang="en-US" dirty="0"/>
              <a:t>发送</a:t>
            </a:r>
            <a:r>
              <a:rPr lang="en-US" altLang="zh-CN" dirty="0"/>
              <a:t>SIGINT</a:t>
            </a:r>
            <a:r>
              <a:rPr lang="zh-CN" altLang="en-US" dirty="0"/>
              <a:t>至进程</a:t>
            </a:r>
            <a:endParaRPr lang="en-US" altLang="zh-CN" dirty="0"/>
          </a:p>
          <a:p>
            <a:pPr lvl="1"/>
            <a:r>
              <a:rPr lang="zh-CN" altLang="en-US" dirty="0"/>
              <a:t>或断点：在执行到特定指令地址时停止运行</a:t>
            </a:r>
            <a:endParaRPr lang="en-US" altLang="zh-CN" dirty="0"/>
          </a:p>
          <a:p>
            <a:r>
              <a:rPr lang="zh-CN" altLang="en-US" dirty="0"/>
              <a:t>使用断点调试</a:t>
            </a:r>
            <a:endParaRPr lang="en-US" altLang="zh-CN" dirty="0"/>
          </a:p>
          <a:p>
            <a:pPr lvl="1"/>
            <a:r>
              <a:rPr lang="zh-CN" altLang="en-US" dirty="0"/>
              <a:t>在第</a:t>
            </a:r>
            <a:r>
              <a:rPr lang="en-US" altLang="zh-CN" dirty="0"/>
              <a:t>4</a:t>
            </a:r>
            <a:r>
              <a:rPr lang="zh-CN" altLang="en-US" dirty="0"/>
              <a:t>行插入断点</a:t>
            </a:r>
            <a:endParaRPr lang="en-US" altLang="zh-CN" dirty="0"/>
          </a:p>
          <a:p>
            <a:pPr lvl="1"/>
            <a:r>
              <a:rPr lang="zh-CN" altLang="en-US" dirty="0"/>
              <a:t>观察变量</a:t>
            </a:r>
            <a:r>
              <a:rPr lang="en-US" altLang="zh-CN" dirty="0"/>
              <a:t>a</a:t>
            </a:r>
            <a:r>
              <a:rPr lang="zh-CN" altLang="en-US" dirty="0"/>
              <a:t>的值是否为</a:t>
            </a:r>
            <a:r>
              <a:rPr lang="en-US" altLang="zh-CN" dirty="0"/>
              <a:t>0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37098C-EA8E-184B-A628-2D8ABA380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85492"/>
            <a:ext cx="2946400" cy="2235200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2C60B95A-E045-A14B-AC65-7D775DD8422A}"/>
              </a:ext>
            </a:extLst>
          </p:cNvPr>
          <p:cNvCxnSpPr>
            <a:cxnSpLocks/>
          </p:cNvCxnSpPr>
          <p:nvPr/>
        </p:nvCxnSpPr>
        <p:spPr>
          <a:xfrm>
            <a:off x="4321695" y="3895720"/>
            <a:ext cx="250305" cy="0"/>
          </a:xfrm>
          <a:prstGeom prst="straightConnector1">
            <a:avLst/>
          </a:prstGeom>
          <a:ln w="412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308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断点的硬件支持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断点异常指令</a:t>
            </a:r>
            <a:endParaRPr lang="en-US" altLang="zh-CN" dirty="0"/>
          </a:p>
          <a:p>
            <a:pPr lvl="1"/>
            <a:r>
              <a:rPr lang="zh-CN" altLang="en-US" dirty="0"/>
              <a:t>在执行到特定指令时，触发断点异常陷入内核</a:t>
            </a:r>
            <a:endParaRPr lang="en-US" altLang="zh-CN" dirty="0"/>
          </a:p>
          <a:p>
            <a:pPr lvl="1"/>
            <a:r>
              <a:rPr lang="en-US" altLang="zh-CN" dirty="0"/>
              <a:t>x86</a:t>
            </a:r>
            <a:r>
              <a:rPr lang="zh-CN" altLang="en-US" dirty="0"/>
              <a:t>的</a:t>
            </a: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指令，</a:t>
            </a:r>
            <a:r>
              <a:rPr lang="en-US" altLang="zh-CN" dirty="0"/>
              <a:t>AArch64</a:t>
            </a:r>
            <a:r>
              <a:rPr lang="zh-CN" altLang="en-US" dirty="0"/>
              <a:t>的</a:t>
            </a:r>
            <a:r>
              <a:rPr lang="en-US" altLang="zh-CN" dirty="0"/>
              <a:t>BKP</a:t>
            </a:r>
            <a:r>
              <a:rPr lang="zh-CN" altLang="en-US" dirty="0"/>
              <a:t>指令</a:t>
            </a:r>
            <a:endParaRPr lang="en-US" altLang="zh-CN" dirty="0"/>
          </a:p>
          <a:p>
            <a:r>
              <a:rPr lang="zh-CN" altLang="en-US" dirty="0"/>
              <a:t>单步调试</a:t>
            </a:r>
            <a:endParaRPr lang="en-US" altLang="zh-CN" dirty="0"/>
          </a:p>
          <a:p>
            <a:pPr lvl="1"/>
            <a:r>
              <a:rPr lang="zh-CN" altLang="en-US" dirty="0"/>
              <a:t>程序在用户态执行一条指令后立即陷入内核</a:t>
            </a:r>
            <a:endParaRPr lang="en-US" altLang="zh-CN" dirty="0"/>
          </a:p>
          <a:p>
            <a:pPr lvl="1"/>
            <a:r>
              <a:rPr lang="zh-CN" altLang="en-US" dirty="0"/>
              <a:t>通过特殊寄存器配置：</a:t>
            </a:r>
            <a:r>
              <a:rPr lang="en-US" altLang="zh-CN" dirty="0"/>
              <a:t>x86</a:t>
            </a:r>
            <a:r>
              <a:rPr lang="zh-CN" altLang="en-US" dirty="0"/>
              <a:t>的</a:t>
            </a:r>
            <a:r>
              <a:rPr lang="en-US" altLang="zh-CN" dirty="0"/>
              <a:t>Trap</a:t>
            </a:r>
            <a:r>
              <a:rPr lang="zh-CN" altLang="en-US" dirty="0"/>
              <a:t> </a:t>
            </a:r>
            <a:r>
              <a:rPr lang="en-US" altLang="zh-CN" dirty="0"/>
              <a:t>Flag</a:t>
            </a:r>
            <a:r>
              <a:rPr lang="zh-CN" altLang="en-US" dirty="0"/>
              <a:t>，</a:t>
            </a:r>
            <a:r>
              <a:rPr lang="en-US" altLang="zh-CN" dirty="0"/>
              <a:t>AArch64</a:t>
            </a:r>
            <a:r>
              <a:rPr lang="zh-CN" altLang="en-US" dirty="0"/>
              <a:t>的</a:t>
            </a:r>
            <a:r>
              <a:rPr lang="en-US" altLang="zh-CN" dirty="0"/>
              <a:t>Software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970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F381789-B05B-A948-8C51-6F0FDF4ACC89}"/>
              </a:ext>
            </a:extLst>
          </p:cNvPr>
          <p:cNvSpPr/>
          <p:nvPr/>
        </p:nvSpPr>
        <p:spPr>
          <a:xfrm>
            <a:off x="2563313" y="1129308"/>
            <a:ext cx="100811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GDB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r>
              <a:rPr lang="zh-CN" altLang="en-US" dirty="0"/>
              <a:t>配置断点及断点触发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BE3486-B221-944C-BB24-B6EFCCD01C4D}"/>
              </a:ext>
            </a:extLst>
          </p:cNvPr>
          <p:cNvSpPr/>
          <p:nvPr/>
        </p:nvSpPr>
        <p:spPr>
          <a:xfrm>
            <a:off x="5192295" y="1144683"/>
            <a:ext cx="145981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被调试进程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9986BA0-3880-194A-8F0C-7B84977F7CDA}"/>
              </a:ext>
            </a:extLst>
          </p:cNvPr>
          <p:cNvSpPr/>
          <p:nvPr/>
        </p:nvSpPr>
        <p:spPr>
          <a:xfrm>
            <a:off x="3184259" y="3796937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产生</a:t>
            </a:r>
            <a:r>
              <a:rPr lang="en-US" altLang="zh-CN" dirty="0"/>
              <a:t>signal</a:t>
            </a:r>
            <a:r>
              <a:rPr lang="zh-CN" altLang="en-US" dirty="0"/>
              <a:t>后通知</a:t>
            </a:r>
            <a:r>
              <a:rPr lang="en-US" altLang="zh-CN" dirty="0"/>
              <a:t>GDB</a:t>
            </a:r>
            <a:endParaRPr lang="zh-CN" altLang="en-US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3B106024-45DA-2045-BC7B-20FB76F7B745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922203" y="1514015"/>
            <a:ext cx="0" cy="2687435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C3291E2D-BE21-294A-9455-F6D88CCA3291}"/>
              </a:ext>
            </a:extLst>
          </p:cNvPr>
          <p:cNvCxnSpPr>
            <a:cxnSpLocks/>
          </p:cNvCxnSpPr>
          <p:nvPr/>
        </p:nvCxnSpPr>
        <p:spPr>
          <a:xfrm flipH="1" flipV="1">
            <a:off x="3124063" y="4202799"/>
            <a:ext cx="2640748" cy="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5C29018-13B5-F042-AC0F-6988E9D73A5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067369" y="1498640"/>
            <a:ext cx="0" cy="351910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7970E6A1-CB7F-284A-9C56-B479C8E1CE0E}"/>
              </a:ext>
            </a:extLst>
          </p:cNvPr>
          <p:cNvGrpSpPr/>
          <p:nvPr/>
        </p:nvGrpSpPr>
        <p:grpSpPr>
          <a:xfrm>
            <a:off x="6160956" y="1618078"/>
            <a:ext cx="1338828" cy="1323439"/>
            <a:chOff x="6567016" y="1733408"/>
            <a:chExt cx="1338828" cy="1323439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8F49A73-1509-584A-B405-A0C432CF52F7}"/>
                </a:ext>
              </a:extLst>
            </p:cNvPr>
            <p:cNvSpPr/>
            <p:nvPr/>
          </p:nvSpPr>
          <p:spPr>
            <a:xfrm>
              <a:off x="6567016" y="1733408"/>
              <a:ext cx="1338828" cy="1323439"/>
            </a:xfrm>
            <a:prstGeom prst="rect">
              <a:avLst/>
            </a:prstGeom>
            <a:ln>
              <a:solidFill>
                <a:srgbClr val="C00000"/>
              </a:solidFill>
              <a:prstDash val="sysDot"/>
            </a:ln>
          </p:spPr>
          <p:txBody>
            <a:bodyPr wrap="none">
              <a:spAutoFit/>
            </a:bodyPr>
            <a:lstStyle/>
            <a:p>
              <a:r>
                <a:rPr lang="zh-CN" altLang="en-US" sz="1600" dirty="0"/>
                <a:t>代码：</a:t>
              </a:r>
              <a:endParaRPr lang="en-US" altLang="zh-CN" sz="1600" dirty="0"/>
            </a:p>
            <a:p>
              <a:r>
                <a:rPr lang="en-US" altLang="zh-CN" sz="1600" dirty="0"/>
                <a:t>while (1) {</a:t>
              </a:r>
            </a:p>
            <a:p>
              <a:r>
                <a:rPr lang="en-US" altLang="zh-CN" sz="1600" dirty="0"/>
                <a:t>      b = a / a;</a:t>
              </a:r>
            </a:p>
            <a:p>
              <a:r>
                <a:rPr lang="en-US" altLang="zh-CN" sz="1600" dirty="0"/>
                <a:t>      a = a / 2;</a:t>
              </a:r>
            </a:p>
            <a:p>
              <a:r>
                <a:rPr lang="en-US" altLang="zh-CN" sz="1600" dirty="0"/>
                <a:t>} 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FBF12CB-2535-9648-98F1-9779B3D4AA87}"/>
                </a:ext>
              </a:extLst>
            </p:cNvPr>
            <p:cNvSpPr/>
            <p:nvPr/>
          </p:nvSpPr>
          <p:spPr>
            <a:xfrm>
              <a:off x="6917246" y="2275411"/>
              <a:ext cx="901847" cy="216024"/>
            </a:xfrm>
            <a:prstGeom prst="rect">
              <a:avLst/>
            </a:prstGeom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断点指令</a:t>
              </a:r>
              <a:endParaRPr kumimoji="1" lang="zh-CN" altLang="en-US" sz="1400" dirty="0"/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5EBB5456-383B-044F-AA2F-CBFDA88131BC}"/>
              </a:ext>
            </a:extLst>
          </p:cNvPr>
          <p:cNvSpPr/>
          <p:nvPr/>
        </p:nvSpPr>
        <p:spPr>
          <a:xfrm>
            <a:off x="0" y="1956631"/>
            <a:ext cx="33466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dirty="0"/>
              <a:t>PTRACE_</a:t>
            </a:r>
            <a:r>
              <a:rPr lang="en-US" altLang="zh-CN" dirty="0">
                <a:solidFill>
                  <a:srgbClr val="0070C0"/>
                </a:solidFill>
              </a:rPr>
              <a:t>POKETEXT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zh-CN" altLang="en-US" dirty="0"/>
              <a:t>修改进程代码为断点指令</a:t>
            </a:r>
            <a:endParaRPr lang="en-US" altLang="zh-CN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72C1518-AB90-E246-9220-28E189FA6975}"/>
              </a:ext>
            </a:extLst>
          </p:cNvPr>
          <p:cNvCxnSpPr>
            <a:cxnSpLocks/>
          </p:cNvCxnSpPr>
          <p:nvPr/>
        </p:nvCxnSpPr>
        <p:spPr>
          <a:xfrm>
            <a:off x="3093775" y="2249581"/>
            <a:ext cx="3371641" cy="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822E99AB-FBA2-DF49-9374-66237F47A806}"/>
              </a:ext>
            </a:extLst>
          </p:cNvPr>
          <p:cNvSpPr/>
          <p:nvPr/>
        </p:nvSpPr>
        <p:spPr>
          <a:xfrm>
            <a:off x="6018278" y="3519509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执行到断点，触发断点异常</a:t>
            </a:r>
            <a:endParaRPr lang="en-US" altLang="zh-CN" dirty="0"/>
          </a:p>
          <a:p>
            <a:r>
              <a:rPr lang="zh-CN" altLang="en-US" dirty="0"/>
              <a:t>产生</a:t>
            </a:r>
            <a:r>
              <a:rPr lang="en-US" altLang="zh-CN" dirty="0"/>
              <a:t>SIGTRAP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FABDFD7-CF08-E54F-9FE5-62F425DAA08D}"/>
              </a:ext>
            </a:extLst>
          </p:cNvPr>
          <p:cNvSpPr/>
          <p:nvPr/>
        </p:nvSpPr>
        <p:spPr>
          <a:xfrm>
            <a:off x="1596933" y="4382330"/>
            <a:ext cx="15873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断点已触发</a:t>
            </a:r>
            <a:endParaRPr lang="en-US" altLang="zh-CN" dirty="0"/>
          </a:p>
          <a:p>
            <a:r>
              <a:rPr lang="zh-CN" altLang="en-US" dirty="0"/>
              <a:t>程序员处理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3723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F381789-B05B-A948-8C51-6F0FDF4ACC89}"/>
              </a:ext>
            </a:extLst>
          </p:cNvPr>
          <p:cNvSpPr/>
          <p:nvPr/>
        </p:nvSpPr>
        <p:spPr>
          <a:xfrm>
            <a:off x="3419872" y="977173"/>
            <a:ext cx="100811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GDB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r>
              <a:rPr lang="zh-CN" altLang="en-US" dirty="0"/>
              <a:t>断点恢复运行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BE3486-B221-944C-BB24-B6EFCCD01C4D}"/>
              </a:ext>
            </a:extLst>
          </p:cNvPr>
          <p:cNvSpPr/>
          <p:nvPr/>
        </p:nvSpPr>
        <p:spPr>
          <a:xfrm>
            <a:off x="6048854" y="992548"/>
            <a:ext cx="145981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被调试进程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9986BA0-3880-194A-8F0C-7B84977F7CDA}"/>
              </a:ext>
            </a:extLst>
          </p:cNvPr>
          <p:cNvSpPr/>
          <p:nvPr/>
        </p:nvSpPr>
        <p:spPr>
          <a:xfrm>
            <a:off x="4765048" y="3169462"/>
            <a:ext cx="11464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返回</a:t>
            </a:r>
            <a:r>
              <a:rPr lang="en-US" altLang="zh-CN" sz="1600" dirty="0"/>
              <a:t>GDB</a:t>
            </a:r>
            <a:endParaRPr lang="zh-CN" altLang="en-US" sz="16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3B106024-45DA-2045-BC7B-20FB76F7B74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778761" y="1361880"/>
            <a:ext cx="1" cy="3943892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C3291E2D-BE21-294A-9455-F6D88CCA3291}"/>
              </a:ext>
            </a:extLst>
          </p:cNvPr>
          <p:cNvCxnSpPr>
            <a:cxnSpLocks/>
          </p:cNvCxnSpPr>
          <p:nvPr/>
        </p:nvCxnSpPr>
        <p:spPr>
          <a:xfrm flipH="1" flipV="1">
            <a:off x="3962932" y="3476509"/>
            <a:ext cx="2735430" cy="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5C29018-13B5-F042-AC0F-6988E9D73A5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923928" y="1346505"/>
            <a:ext cx="8381" cy="3950457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72C1518-AB90-E246-9220-28E189FA6975}"/>
              </a:ext>
            </a:extLst>
          </p:cNvPr>
          <p:cNvCxnSpPr>
            <a:cxnSpLocks/>
          </p:cNvCxnSpPr>
          <p:nvPr/>
        </p:nvCxnSpPr>
        <p:spPr>
          <a:xfrm>
            <a:off x="3932309" y="2123654"/>
            <a:ext cx="3371641" cy="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822E99AB-FBA2-DF49-9374-66237F47A806}"/>
              </a:ext>
            </a:extLst>
          </p:cNvPr>
          <p:cNvSpPr/>
          <p:nvPr/>
        </p:nvSpPr>
        <p:spPr>
          <a:xfrm>
            <a:off x="6844802" y="2948665"/>
            <a:ext cx="2371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执行</a:t>
            </a:r>
            <a:r>
              <a:rPr lang="en-US" altLang="zh-CN" sz="1600" dirty="0"/>
              <a:t>b = a / a</a:t>
            </a:r>
            <a:r>
              <a:rPr lang="zh-CN" altLang="en-US" sz="1600" dirty="0"/>
              <a:t>一条指令后</a:t>
            </a:r>
            <a:endParaRPr lang="en-US" altLang="zh-CN" sz="1600" dirty="0"/>
          </a:p>
          <a:p>
            <a:r>
              <a:rPr lang="zh-CN" altLang="en-US" sz="1600" dirty="0"/>
              <a:t>触发单步调试异常</a:t>
            </a:r>
            <a:endParaRPr lang="en-US" altLang="zh-CN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99BFC0-77FC-614F-AB8A-5856DC5B68AD}"/>
              </a:ext>
            </a:extLst>
          </p:cNvPr>
          <p:cNvSpPr/>
          <p:nvPr/>
        </p:nvSpPr>
        <p:spPr>
          <a:xfrm>
            <a:off x="731731" y="1867389"/>
            <a:ext cx="33466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600" dirty="0"/>
              <a:t>PTRACE_</a:t>
            </a:r>
            <a:r>
              <a:rPr lang="en-US" altLang="zh-CN" sz="1600" dirty="0">
                <a:solidFill>
                  <a:srgbClr val="0070C0"/>
                </a:solidFill>
              </a:rPr>
              <a:t>POKETEXT</a:t>
            </a:r>
            <a:r>
              <a:rPr lang="zh-CN" altLang="en-US" sz="1600" dirty="0">
                <a:solidFill>
                  <a:srgbClr val="0070C0"/>
                </a:solidFill>
              </a:rPr>
              <a:t> </a:t>
            </a:r>
            <a:endParaRPr lang="en-US" altLang="zh-CN" sz="1600" dirty="0">
              <a:solidFill>
                <a:srgbClr val="0070C0"/>
              </a:solidFill>
            </a:endParaRPr>
          </a:p>
          <a:p>
            <a:pPr lvl="1"/>
            <a:r>
              <a:rPr lang="zh-CN" altLang="en-US" sz="1600" dirty="0"/>
              <a:t>修改代码为原有指令</a:t>
            </a:r>
            <a:endParaRPr lang="en-US" altLang="zh-CN" sz="16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84F5E5-7431-AA4F-AFE8-229A1FC4B30F}"/>
              </a:ext>
            </a:extLst>
          </p:cNvPr>
          <p:cNvSpPr/>
          <p:nvPr/>
        </p:nvSpPr>
        <p:spPr>
          <a:xfrm>
            <a:off x="7313210" y="1979639"/>
            <a:ext cx="1043133" cy="288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D02B45-C49D-5C49-95E8-E7840B8C800F}"/>
              </a:ext>
            </a:extLst>
          </p:cNvPr>
          <p:cNvSpPr/>
          <p:nvPr/>
        </p:nvSpPr>
        <p:spPr>
          <a:xfrm>
            <a:off x="1197145" y="2785492"/>
            <a:ext cx="28520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PTRACE_</a:t>
            </a:r>
            <a:r>
              <a:rPr lang="en-US" altLang="zh-CN" sz="1600" dirty="0">
                <a:solidFill>
                  <a:srgbClr val="0070C0"/>
                </a:solidFill>
              </a:rPr>
              <a:t>SINGLESTEP</a:t>
            </a:r>
            <a:r>
              <a:rPr lang="zh-CN" altLang="en-US" sz="1600" dirty="0">
                <a:solidFill>
                  <a:srgbClr val="0070C0"/>
                </a:solidFill>
              </a:rPr>
              <a:t> </a:t>
            </a:r>
            <a:endParaRPr lang="en-US" altLang="zh-CN" sz="1600" dirty="0">
              <a:solidFill>
                <a:srgbClr val="0070C0"/>
              </a:solidFill>
            </a:endParaRPr>
          </a:p>
          <a:p>
            <a:r>
              <a:rPr lang="zh-CN" altLang="en-US" sz="1600" dirty="0"/>
              <a:t>切换线程为单步调试模式执行</a:t>
            </a:r>
            <a:endParaRPr lang="en-US" altLang="zh-CN" sz="1600" dirty="0"/>
          </a:p>
          <a:p>
            <a:endParaRPr lang="en-US" altLang="zh-CN" sz="1600" dirty="0"/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A022177-5E66-084D-91A6-064C22B7BDF7}"/>
              </a:ext>
            </a:extLst>
          </p:cNvPr>
          <p:cNvCxnSpPr>
            <a:cxnSpLocks/>
          </p:cNvCxnSpPr>
          <p:nvPr/>
        </p:nvCxnSpPr>
        <p:spPr>
          <a:xfrm flipV="1">
            <a:off x="3962932" y="3129693"/>
            <a:ext cx="2787267" cy="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C6DB6994-7310-BC4C-877F-DE906A6488CA}"/>
              </a:ext>
            </a:extLst>
          </p:cNvPr>
          <p:cNvSpPr/>
          <p:nvPr/>
        </p:nvSpPr>
        <p:spPr>
          <a:xfrm>
            <a:off x="4425212" y="2789317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单步模式继续运行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F000D6-5E95-DC46-94B4-DCF01F66E006}"/>
              </a:ext>
            </a:extLst>
          </p:cNvPr>
          <p:cNvSpPr/>
          <p:nvPr/>
        </p:nvSpPr>
        <p:spPr>
          <a:xfrm>
            <a:off x="7017515" y="1465943"/>
            <a:ext cx="1338828" cy="1323439"/>
          </a:xfrm>
          <a:prstGeom prst="rect">
            <a:avLst/>
          </a:prstGeom>
          <a:ln>
            <a:solidFill>
              <a:srgbClr val="C00000"/>
            </a:solidFill>
            <a:prstDash val="sysDot"/>
          </a:ln>
        </p:spPr>
        <p:txBody>
          <a:bodyPr wrap="none">
            <a:spAutoFit/>
          </a:bodyPr>
          <a:lstStyle/>
          <a:p>
            <a:r>
              <a:rPr lang="zh-CN" altLang="en-US" sz="1600" dirty="0"/>
              <a:t>代码：</a:t>
            </a:r>
            <a:endParaRPr lang="en-US" altLang="zh-CN" sz="1600" dirty="0"/>
          </a:p>
          <a:p>
            <a:r>
              <a:rPr lang="en-US" altLang="zh-CN" sz="1600" dirty="0"/>
              <a:t>while (1) {</a:t>
            </a:r>
          </a:p>
          <a:p>
            <a:r>
              <a:rPr lang="en-US" altLang="zh-CN" sz="1600" dirty="0"/>
              <a:t>      b = a / a;</a:t>
            </a:r>
          </a:p>
          <a:p>
            <a:r>
              <a:rPr lang="en-US" altLang="zh-CN" sz="1600" dirty="0"/>
              <a:t>      a = a / 2;</a:t>
            </a:r>
          </a:p>
          <a:p>
            <a:r>
              <a:rPr lang="en-US" altLang="zh-CN" sz="1600" dirty="0"/>
              <a:t>} 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D0AB71-ECD1-8340-AEEE-007E95902CC4}"/>
              </a:ext>
            </a:extLst>
          </p:cNvPr>
          <p:cNvSpPr/>
          <p:nvPr/>
        </p:nvSpPr>
        <p:spPr>
          <a:xfrm>
            <a:off x="731731" y="4139621"/>
            <a:ext cx="33466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600" dirty="0"/>
              <a:t>PTRACE_</a:t>
            </a:r>
            <a:r>
              <a:rPr lang="en-US" altLang="zh-CN" sz="1600" dirty="0">
                <a:solidFill>
                  <a:srgbClr val="0070C0"/>
                </a:solidFill>
              </a:rPr>
              <a:t>POKETEXT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lvl="1"/>
            <a:r>
              <a:rPr lang="zh-CN" altLang="en-US" sz="1600" dirty="0"/>
              <a:t>再次修改进程代码为断点指令</a:t>
            </a:r>
            <a:endParaRPr lang="en-US" altLang="zh-CN" sz="1600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C450B49-801E-2D49-89EF-B70B2C35184F}"/>
              </a:ext>
            </a:extLst>
          </p:cNvPr>
          <p:cNvGrpSpPr/>
          <p:nvPr/>
        </p:nvGrpSpPr>
        <p:grpSpPr>
          <a:xfrm>
            <a:off x="7017515" y="3847245"/>
            <a:ext cx="1338828" cy="1323439"/>
            <a:chOff x="6567016" y="1733408"/>
            <a:chExt cx="1338828" cy="1323439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346A229-C8A9-E24B-AE98-D8CA7E8E79BF}"/>
                </a:ext>
              </a:extLst>
            </p:cNvPr>
            <p:cNvSpPr/>
            <p:nvPr/>
          </p:nvSpPr>
          <p:spPr>
            <a:xfrm>
              <a:off x="6567016" y="1733408"/>
              <a:ext cx="1338828" cy="1323439"/>
            </a:xfrm>
            <a:prstGeom prst="rect">
              <a:avLst/>
            </a:prstGeom>
            <a:ln>
              <a:solidFill>
                <a:srgbClr val="C00000"/>
              </a:solidFill>
              <a:prstDash val="sysDot"/>
            </a:ln>
          </p:spPr>
          <p:txBody>
            <a:bodyPr wrap="none">
              <a:spAutoFit/>
            </a:bodyPr>
            <a:lstStyle/>
            <a:p>
              <a:r>
                <a:rPr lang="zh-CN" altLang="en-US" sz="1600" dirty="0"/>
                <a:t>代码：</a:t>
              </a:r>
              <a:endParaRPr lang="en-US" altLang="zh-CN" sz="1600" dirty="0"/>
            </a:p>
            <a:p>
              <a:r>
                <a:rPr lang="en-US" altLang="zh-CN" sz="1600" dirty="0"/>
                <a:t>while (1) {</a:t>
              </a:r>
            </a:p>
            <a:p>
              <a:r>
                <a:rPr lang="en-US" altLang="zh-CN" sz="1600" dirty="0"/>
                <a:t>      b = a / a;</a:t>
              </a:r>
            </a:p>
            <a:p>
              <a:r>
                <a:rPr lang="en-US" altLang="zh-CN" sz="1600" dirty="0"/>
                <a:t>      a = a / 2;</a:t>
              </a:r>
            </a:p>
            <a:p>
              <a:r>
                <a:rPr lang="en-US" altLang="zh-CN" sz="1600" dirty="0"/>
                <a:t>} 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503A17C-8B41-6A4A-8FE7-29A41C9AE308}"/>
                </a:ext>
              </a:extLst>
            </p:cNvPr>
            <p:cNvSpPr/>
            <p:nvPr/>
          </p:nvSpPr>
          <p:spPr>
            <a:xfrm>
              <a:off x="6917246" y="2275411"/>
              <a:ext cx="901847" cy="216024"/>
            </a:xfrm>
            <a:prstGeom prst="rect">
              <a:avLst/>
            </a:prstGeom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断点指令</a:t>
              </a:r>
              <a:endParaRPr kumimoji="1" lang="zh-CN" altLang="en-US" sz="1400" dirty="0"/>
            </a:p>
          </p:txBody>
        </p:sp>
      </p:grp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D28CF3C6-63AC-0C4F-99B4-8814FD5A2581}"/>
              </a:ext>
            </a:extLst>
          </p:cNvPr>
          <p:cNvCxnSpPr>
            <a:cxnSpLocks/>
          </p:cNvCxnSpPr>
          <p:nvPr/>
        </p:nvCxnSpPr>
        <p:spPr>
          <a:xfrm>
            <a:off x="3962932" y="4481820"/>
            <a:ext cx="3371641" cy="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408CB93-1D1A-A646-AAB9-EB0BFBD3E593}"/>
              </a:ext>
            </a:extLst>
          </p:cNvPr>
          <p:cNvSpPr/>
          <p:nvPr/>
        </p:nvSpPr>
        <p:spPr>
          <a:xfrm>
            <a:off x="1197145" y="4730029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PTRACE_</a:t>
            </a:r>
            <a:r>
              <a:rPr lang="en-US" altLang="zh-CN" sz="1600" dirty="0">
                <a:solidFill>
                  <a:srgbClr val="0070C0"/>
                </a:solidFill>
              </a:rPr>
              <a:t>CONT</a:t>
            </a:r>
          </a:p>
          <a:p>
            <a:r>
              <a:rPr lang="zh-CN" altLang="en-US" sz="1600" dirty="0"/>
              <a:t>通知进程继续运行</a:t>
            </a:r>
            <a:endParaRPr lang="en-US" altLang="zh-CN" sz="1600" dirty="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15CEA50B-2A6D-4249-9C6E-5DF9F271C720}"/>
              </a:ext>
            </a:extLst>
          </p:cNvPr>
          <p:cNvCxnSpPr>
            <a:cxnSpLocks/>
          </p:cNvCxnSpPr>
          <p:nvPr/>
        </p:nvCxnSpPr>
        <p:spPr>
          <a:xfrm>
            <a:off x="3962932" y="5055163"/>
            <a:ext cx="2787267" cy="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231B872-C682-8244-A2DE-2AEB241D9E46}"/>
              </a:ext>
            </a:extLst>
          </p:cNvPr>
          <p:cNvSpPr/>
          <p:nvPr/>
        </p:nvSpPr>
        <p:spPr>
          <a:xfrm>
            <a:off x="4808080" y="4726091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继续运行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0E622D92-A523-2F49-A924-D55007BB5209}"/>
              </a:ext>
            </a:extLst>
          </p:cNvPr>
          <p:cNvCxnSpPr/>
          <p:nvPr/>
        </p:nvCxnSpPr>
        <p:spPr>
          <a:xfrm>
            <a:off x="0" y="3724333"/>
            <a:ext cx="9108504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4A9AA1A1-964B-0045-8FF8-9FFB97CAA365}"/>
              </a:ext>
            </a:extLst>
          </p:cNvPr>
          <p:cNvSpPr/>
          <p:nvPr/>
        </p:nvSpPr>
        <p:spPr>
          <a:xfrm>
            <a:off x="38268" y="2350120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重新执行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原有指令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D4EC475-200F-EF47-935A-D330E9709EC2}"/>
              </a:ext>
            </a:extLst>
          </p:cNvPr>
          <p:cNvSpPr/>
          <p:nvPr/>
        </p:nvSpPr>
        <p:spPr>
          <a:xfrm>
            <a:off x="15209" y="453973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继续执行</a:t>
            </a:r>
          </a:p>
        </p:txBody>
      </p:sp>
    </p:spTree>
    <p:extLst>
      <p:ext uri="{BB962C8B-B14F-4D97-AF65-F5344CB8AC3E}">
        <p14:creationId xmlns:p14="http://schemas.microsoft.com/office/powerpoint/2010/main" val="3751957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调试器 </a:t>
            </a:r>
            <a:r>
              <a:rPr lang="en-US" altLang="zh-CN" dirty="0"/>
              <a:t>–</a:t>
            </a:r>
            <a:r>
              <a:rPr lang="zh-CN" altLang="en-US" dirty="0"/>
              <a:t> 配置内存断点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需求</a:t>
            </a:r>
            <a:r>
              <a:rPr lang="en-US" altLang="zh-CN" dirty="0"/>
              <a:t>3:</a:t>
            </a:r>
            <a:r>
              <a:rPr lang="zh-CN" altLang="en-US" dirty="0"/>
              <a:t> 变量遭到异常修改时中断运行</a:t>
            </a:r>
            <a:endParaRPr lang="en-US" altLang="zh-CN" dirty="0"/>
          </a:p>
          <a:p>
            <a:r>
              <a:rPr lang="zh-CN" altLang="en-US" dirty="0"/>
              <a:t>内存断点</a:t>
            </a:r>
            <a:endParaRPr lang="en-US" altLang="zh-CN" dirty="0"/>
          </a:p>
          <a:p>
            <a:pPr lvl="1"/>
            <a:r>
              <a:rPr lang="zh-CN" altLang="en-US" dirty="0"/>
              <a:t>在变量</a:t>
            </a:r>
            <a:r>
              <a:rPr lang="en-US" altLang="zh-CN" dirty="0"/>
              <a:t>a</a:t>
            </a:r>
            <a:r>
              <a:rPr lang="zh-CN" altLang="en-US" dirty="0"/>
              <a:t>被修改时中断运行，观察是否为</a:t>
            </a:r>
            <a:r>
              <a:rPr lang="en-US" altLang="zh-CN" dirty="0"/>
              <a:t>0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EC04D3-A210-1641-9285-B32345036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965850"/>
            <a:ext cx="2946400" cy="2235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EA0C735-2B57-364C-905B-0B997B355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50" y="3960855"/>
            <a:ext cx="2628900" cy="12446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7DD3422-5687-C743-AD09-E693D7B9F528}"/>
              </a:ext>
            </a:extLst>
          </p:cNvPr>
          <p:cNvSpPr/>
          <p:nvPr/>
        </p:nvSpPr>
        <p:spPr>
          <a:xfrm>
            <a:off x="4535016" y="3122699"/>
            <a:ext cx="29161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在调用</a:t>
            </a:r>
            <a:r>
              <a:rPr lang="en-US" altLang="zh-CN" dirty="0"/>
              <a:t>watch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命令后</a:t>
            </a:r>
            <a:endParaRPr lang="en-US" altLang="zh-CN" dirty="0"/>
          </a:p>
          <a:p>
            <a:r>
              <a:rPr lang="en-US" altLang="zh-CN" dirty="0"/>
              <a:t>GDB</a:t>
            </a:r>
            <a:r>
              <a:rPr lang="zh-CN" altLang="en-US" dirty="0"/>
              <a:t>捕捉到</a:t>
            </a:r>
            <a:r>
              <a:rPr lang="en-US" altLang="zh-CN" dirty="0"/>
              <a:t>a</a:t>
            </a:r>
            <a:r>
              <a:rPr lang="zh-CN" altLang="en-US" dirty="0"/>
              <a:t>的值由</a:t>
            </a:r>
            <a:r>
              <a:rPr lang="en-US" altLang="zh-CN" dirty="0"/>
              <a:t>5</a:t>
            </a:r>
            <a:r>
              <a:rPr lang="zh-CN" altLang="en-US" dirty="0"/>
              <a:t>变为</a:t>
            </a:r>
            <a:r>
              <a:rPr lang="en-US" altLang="zh-C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6651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内存断点的硬件支持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Naïve</a:t>
            </a:r>
            <a:r>
              <a:rPr lang="zh-CN" altLang="en-US" dirty="0"/>
              <a:t>实现</a:t>
            </a:r>
            <a:endParaRPr lang="en-US" altLang="zh-CN" dirty="0"/>
          </a:p>
          <a:p>
            <a:pPr lvl="1"/>
            <a:r>
              <a:rPr lang="zh-CN" altLang="en-US" dirty="0"/>
              <a:t>把内存地址所在页设为只可读</a:t>
            </a:r>
            <a:endParaRPr lang="en-US" altLang="zh-CN" dirty="0"/>
          </a:p>
          <a:p>
            <a:pPr lvl="1"/>
            <a:r>
              <a:rPr lang="zh-CN" altLang="en-US" dirty="0"/>
              <a:t>访问时触发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fault</a:t>
            </a:r>
          </a:p>
          <a:p>
            <a:pPr lvl="1"/>
            <a:r>
              <a:rPr lang="zh-CN" altLang="en-US" dirty="0"/>
              <a:t>缺点：对该页所有写操作均导致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fault</a:t>
            </a:r>
            <a:r>
              <a:rPr lang="zh-CN" altLang="en-US" dirty="0"/>
              <a:t>，性能较差</a:t>
            </a:r>
            <a:endParaRPr lang="en-US" altLang="zh-CN" dirty="0"/>
          </a:p>
          <a:p>
            <a:r>
              <a:rPr lang="zh-CN" altLang="en-US" dirty="0"/>
              <a:t>断点寄存器</a:t>
            </a:r>
            <a:endParaRPr lang="en-US" altLang="zh-CN" dirty="0"/>
          </a:p>
          <a:p>
            <a:pPr lvl="1"/>
            <a:r>
              <a:rPr lang="zh-CN" altLang="en-US" dirty="0"/>
              <a:t>当访存地址为寄存器中的值时，触发断点异常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286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断点寄存器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x86</a:t>
            </a:r>
            <a:r>
              <a:rPr lang="zh-CN" altLang="en-US" dirty="0"/>
              <a:t>断点寄存器</a:t>
            </a:r>
            <a:endParaRPr lang="en-US" altLang="zh-CN" dirty="0"/>
          </a:p>
          <a:p>
            <a:pPr lvl="1"/>
            <a:r>
              <a:rPr lang="zh-CN" altLang="en-US" dirty="0"/>
              <a:t>访存地址等于断点寄存器触发中断</a:t>
            </a:r>
            <a:endParaRPr lang="en-US" altLang="zh-CN" dirty="0"/>
          </a:p>
          <a:p>
            <a:pPr lvl="1"/>
            <a:r>
              <a:rPr lang="zh-CN" altLang="en-US" dirty="0"/>
              <a:t>访存条件可配置</a:t>
            </a:r>
            <a:endParaRPr lang="en-US" altLang="zh-CN" dirty="0"/>
          </a:p>
          <a:p>
            <a:pPr lvl="2"/>
            <a:r>
              <a:rPr lang="zh-CN" altLang="en-US" dirty="0"/>
              <a:t>数据写 （内存断点）</a:t>
            </a:r>
            <a:endParaRPr lang="en-US" altLang="zh-CN" dirty="0"/>
          </a:p>
          <a:p>
            <a:pPr lvl="2"/>
            <a:r>
              <a:rPr lang="zh-CN" altLang="en-US" dirty="0"/>
              <a:t>数据读和写 </a:t>
            </a:r>
            <a:endParaRPr lang="en-US" altLang="zh-CN" dirty="0"/>
          </a:p>
          <a:p>
            <a:pPr lvl="2"/>
            <a:r>
              <a:rPr lang="zh-CN" altLang="en-US" dirty="0"/>
              <a:t>指令地址（断点）</a:t>
            </a:r>
            <a:endParaRPr lang="en-US" altLang="zh-CN" dirty="0"/>
          </a:p>
          <a:p>
            <a:r>
              <a:rPr lang="en-US" altLang="zh-CN" dirty="0"/>
              <a:t>GDB</a:t>
            </a:r>
            <a:r>
              <a:rPr lang="zh-CN" altLang="en-US" dirty="0"/>
              <a:t>配置被调试应用的断点寄存器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PTRACE_POKEUSER</a:t>
            </a:r>
            <a:r>
              <a:rPr lang="zh-CN" altLang="en-US" dirty="0"/>
              <a:t>设置</a:t>
            </a:r>
            <a:endParaRPr lang="en-US" altLang="zh-CN" dirty="0"/>
          </a:p>
          <a:p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CFEBA-DC7E-D147-8ACC-08F3AEA0489B}"/>
              </a:ext>
            </a:extLst>
          </p:cNvPr>
          <p:cNvSpPr/>
          <p:nvPr/>
        </p:nvSpPr>
        <p:spPr>
          <a:xfrm>
            <a:off x="5835733" y="3474114"/>
            <a:ext cx="1947156" cy="3963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DR7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6D997D-2145-9446-B207-9D7E59448531}"/>
              </a:ext>
            </a:extLst>
          </p:cNvPr>
          <p:cNvSpPr/>
          <p:nvPr/>
        </p:nvSpPr>
        <p:spPr>
          <a:xfrm>
            <a:off x="4138635" y="232201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断点寄存器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4AC72F-C0EF-9547-A22D-AE67E9D79542}"/>
              </a:ext>
            </a:extLst>
          </p:cNvPr>
          <p:cNvSpPr/>
          <p:nvPr/>
        </p:nvSpPr>
        <p:spPr>
          <a:xfrm>
            <a:off x="4035240" y="356561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调试控制寄存器</a:t>
            </a:r>
            <a:endParaRPr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CD26405-365A-E842-89E5-DECC74E97590}"/>
              </a:ext>
            </a:extLst>
          </p:cNvPr>
          <p:cNvGrpSpPr/>
          <p:nvPr/>
        </p:nvGrpSpPr>
        <p:grpSpPr>
          <a:xfrm>
            <a:off x="5477463" y="2281436"/>
            <a:ext cx="2596208" cy="396387"/>
            <a:chOff x="1258652" y="6272645"/>
            <a:chExt cx="2596208" cy="39638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0A89A50-3D6F-CC4C-97D7-F2DECD68BD4D}"/>
                </a:ext>
              </a:extLst>
            </p:cNvPr>
            <p:cNvSpPr/>
            <p:nvPr/>
          </p:nvSpPr>
          <p:spPr>
            <a:xfrm>
              <a:off x="1258652" y="6272646"/>
              <a:ext cx="649052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DR0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E31C5E3-F3BD-714D-95A8-B25914FCAA89}"/>
                </a:ext>
              </a:extLst>
            </p:cNvPr>
            <p:cNvSpPr/>
            <p:nvPr/>
          </p:nvSpPr>
          <p:spPr>
            <a:xfrm>
              <a:off x="1907704" y="6272646"/>
              <a:ext cx="649052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DR1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0EBEB16-FDBB-104D-A55E-303CE837F634}"/>
                </a:ext>
              </a:extLst>
            </p:cNvPr>
            <p:cNvSpPr/>
            <p:nvPr/>
          </p:nvSpPr>
          <p:spPr>
            <a:xfrm>
              <a:off x="2556756" y="6272645"/>
              <a:ext cx="649052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DR2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3B1D213-D031-A843-B16F-1AFBBE9F9050}"/>
                </a:ext>
              </a:extLst>
            </p:cNvPr>
            <p:cNvSpPr/>
            <p:nvPr/>
          </p:nvSpPr>
          <p:spPr>
            <a:xfrm>
              <a:off x="3205808" y="6272645"/>
              <a:ext cx="649052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DR3</a:t>
              </a:r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903810C-E9D8-2741-A5D2-F295340BC575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5801989" y="2677823"/>
            <a:ext cx="485810" cy="7962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B6FF685-6670-6645-A1FD-CB9BDA2B3219}"/>
              </a:ext>
            </a:extLst>
          </p:cNvPr>
          <p:cNvCxnSpPr>
            <a:cxnSpLocks/>
          </p:cNvCxnSpPr>
          <p:nvPr/>
        </p:nvCxnSpPr>
        <p:spPr>
          <a:xfrm flipH="1" flipV="1">
            <a:off x="6447234" y="2677823"/>
            <a:ext cx="165091" cy="7962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86AF87D-5112-4049-A0E5-12F5617C6DF3}"/>
              </a:ext>
            </a:extLst>
          </p:cNvPr>
          <p:cNvCxnSpPr>
            <a:cxnSpLocks/>
          </p:cNvCxnSpPr>
          <p:nvPr/>
        </p:nvCxnSpPr>
        <p:spPr>
          <a:xfrm flipV="1">
            <a:off x="6978421" y="2671580"/>
            <a:ext cx="136088" cy="8025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4DA7FFFA-AE1F-944A-A92C-538D6D026993}"/>
              </a:ext>
            </a:extLst>
          </p:cNvPr>
          <p:cNvCxnSpPr>
            <a:cxnSpLocks/>
          </p:cNvCxnSpPr>
          <p:nvPr/>
        </p:nvCxnSpPr>
        <p:spPr>
          <a:xfrm flipV="1">
            <a:off x="7238198" y="2691351"/>
            <a:ext cx="504640" cy="7962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8D7278A0-E2FA-2B4E-848F-0D1B1E213887}"/>
              </a:ext>
            </a:extLst>
          </p:cNvPr>
          <p:cNvSpPr/>
          <p:nvPr/>
        </p:nvSpPr>
        <p:spPr>
          <a:xfrm>
            <a:off x="7583881" y="297546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配置中断条件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8839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7161D-0F0D-8849-8381-0403C45E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远程调试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D72BA5-1E8A-0B49-BF42-74B4ED663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93" y="3020424"/>
            <a:ext cx="8229600" cy="1669794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GDB</a:t>
            </a:r>
            <a:r>
              <a:rPr kumimoji="1" lang="zh-CN" altLang="en-US" dirty="0"/>
              <a:t>客户端负责指令发送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GDB</a:t>
            </a:r>
            <a:r>
              <a:rPr kumimoji="1" lang="zh-CN" altLang="en-US" dirty="0"/>
              <a:t>远端串行协议（</a:t>
            </a:r>
            <a:r>
              <a:rPr lang="en-US" altLang="zh-CN" b="0" dirty="0"/>
              <a:t>GDB Remote</a:t>
            </a:r>
            <a:r>
              <a:rPr lang="zh-CN" altLang="en-US" b="0" dirty="0"/>
              <a:t> </a:t>
            </a:r>
            <a:r>
              <a:rPr lang="en-US" altLang="zh-CN" b="0" dirty="0"/>
              <a:t>Serial Protocol</a:t>
            </a:r>
            <a:r>
              <a:rPr lang="zh-CN" altLang="en-US" b="0" dirty="0"/>
              <a:t>，</a:t>
            </a:r>
            <a:r>
              <a:rPr lang="en-US" altLang="zh-CN" b="0" dirty="0"/>
              <a:t>RSP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通过串口线、网络等连接传输控制指令</a:t>
            </a:r>
            <a:endParaRPr kumimoji="1" lang="en-US" altLang="zh-CN" dirty="0"/>
          </a:p>
          <a:p>
            <a:r>
              <a:rPr kumimoji="1" lang="en-US" altLang="zh-CN" dirty="0"/>
              <a:t>GDB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stub</a:t>
            </a:r>
            <a:r>
              <a:rPr kumimoji="1" lang="zh-CN" altLang="en-US" dirty="0"/>
              <a:t> 负责实际调试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F85BB1-A6B6-3D4E-8F79-26F2C14E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FE2328-2FC2-7C49-AF84-522CC8766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8BBB5E-7595-3F43-9204-0EF30CDF0232}"/>
              </a:ext>
            </a:extLst>
          </p:cNvPr>
          <p:cNvGrpSpPr/>
          <p:nvPr/>
        </p:nvGrpSpPr>
        <p:grpSpPr>
          <a:xfrm>
            <a:off x="1160266" y="1169062"/>
            <a:ext cx="6488007" cy="1693556"/>
            <a:chOff x="1159025" y="1546404"/>
            <a:chExt cx="6488007" cy="169355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1EDAD14-9F0A-7D4B-B752-51ADF0EC99AC}"/>
                </a:ext>
              </a:extLst>
            </p:cNvPr>
            <p:cNvSpPr/>
            <p:nvPr/>
          </p:nvSpPr>
          <p:spPr>
            <a:xfrm>
              <a:off x="1159025" y="1561356"/>
              <a:ext cx="1368152" cy="9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GDB</a:t>
              </a:r>
            </a:p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客户端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6E7FED4-9C12-1E41-9D14-C215B7749D28}"/>
                </a:ext>
              </a:extLst>
            </p:cNvPr>
            <p:cNvSpPr/>
            <p:nvPr/>
          </p:nvSpPr>
          <p:spPr>
            <a:xfrm>
              <a:off x="4654352" y="1547912"/>
              <a:ext cx="1368152" cy="9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GDB</a:t>
              </a:r>
            </a:p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stub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33BE27C-9FC3-B34A-B8CF-EA8364209B98}"/>
                </a:ext>
              </a:extLst>
            </p:cNvPr>
            <p:cNvSpPr/>
            <p:nvPr/>
          </p:nvSpPr>
          <p:spPr>
            <a:xfrm>
              <a:off x="6278880" y="1546404"/>
              <a:ext cx="1368152" cy="9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待调试</a:t>
              </a:r>
              <a:endParaRPr kumimoji="1"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应用</a:t>
              </a:r>
            </a:p>
          </p:txBody>
        </p: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6633836D-E8A1-BA48-BEF5-BD61214F6FC0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2527177" y="1993404"/>
              <a:ext cx="2127175" cy="4729"/>
            </a:xfrm>
            <a:prstGeom prst="straightConnector1">
              <a:avLst/>
            </a:prstGeom>
            <a:ln w="254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59F3376-ABB1-E94F-BA5A-DF1BF43220BC}"/>
                </a:ext>
              </a:extLst>
            </p:cNvPr>
            <p:cNvSpPr/>
            <p:nvPr/>
          </p:nvSpPr>
          <p:spPr>
            <a:xfrm>
              <a:off x="3036766" y="2015881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指令传输</a:t>
              </a:r>
            </a:p>
          </p:txBody>
        </p:sp>
        <p:cxnSp>
          <p:nvCxnSpPr>
            <p:cNvPr id="14" name="肘形连接符 13">
              <a:extLst>
                <a:ext uri="{FF2B5EF4-FFF2-40B4-BE49-F238E27FC236}">
                  <a16:creationId xmlns:a16="http://schemas.microsoft.com/office/drawing/2014/main" id="{243DC27A-A66A-F745-B4FE-E9F460978496}"/>
                </a:ext>
              </a:extLst>
            </p:cNvPr>
            <p:cNvCxnSpPr>
              <a:stCxn id="7" idx="2"/>
              <a:endCxn id="8" idx="2"/>
            </p:cNvCxnSpPr>
            <p:nvPr/>
          </p:nvCxnSpPr>
          <p:spPr>
            <a:xfrm rot="5400000" flipH="1" flipV="1">
              <a:off x="6149938" y="1635336"/>
              <a:ext cx="1508" cy="1624528"/>
            </a:xfrm>
            <a:prstGeom prst="bentConnector3">
              <a:avLst>
                <a:gd name="adj1" fmla="val -23244032"/>
              </a:avLst>
            </a:prstGeom>
            <a:ln w="254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C07F5D9-5F91-F54B-8079-A9240BF9AF50}"/>
                </a:ext>
              </a:extLst>
            </p:cNvPr>
            <p:cNvSpPr/>
            <p:nvPr/>
          </p:nvSpPr>
          <p:spPr>
            <a:xfrm>
              <a:off x="5596694" y="2870628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调试控制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38EA087-9DD1-CE4F-8C0D-DCF360BBCCAF}"/>
                </a:ext>
              </a:extLst>
            </p:cNvPr>
            <p:cNvSpPr/>
            <p:nvPr/>
          </p:nvSpPr>
          <p:spPr>
            <a:xfrm>
              <a:off x="3261186" y="1574800"/>
              <a:ext cx="6591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RSP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0308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操作系统的调试器支持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48617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操作系统调试器常见实现方法</a:t>
            </a:r>
            <a:endParaRPr lang="en-US" altLang="ja-JP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调试操作系统调试支持的难点</a:t>
            </a:r>
            <a:endParaRPr lang="en-US" altLang="zh-CN" dirty="0"/>
          </a:p>
          <a:p>
            <a:pPr lvl="1"/>
            <a:r>
              <a:rPr lang="zh-CN" altLang="en-US" dirty="0"/>
              <a:t>缺乏操作系统提供给用户态的调试功能支持</a:t>
            </a:r>
            <a:endParaRPr lang="en-US" altLang="zh-CN" dirty="0"/>
          </a:p>
          <a:p>
            <a:pPr lvl="1"/>
            <a:r>
              <a:rPr lang="zh-CN" altLang="en-US" dirty="0"/>
              <a:t>硬件相关问题，如外部设备、页表等</a:t>
            </a:r>
            <a:endParaRPr lang="en-US" altLang="zh-CN" dirty="0"/>
          </a:p>
          <a:p>
            <a:r>
              <a:rPr lang="zh-CN" altLang="en-US" dirty="0"/>
              <a:t>模拟器</a:t>
            </a:r>
            <a:endParaRPr lang="en-US" altLang="zh-CN" dirty="0"/>
          </a:p>
          <a:p>
            <a:pPr lvl="1"/>
            <a:r>
              <a:rPr lang="zh-CN" altLang="en-US" dirty="0"/>
              <a:t>虚拟机：完整模拟底层硬件，在模拟器中提供</a:t>
            </a:r>
            <a:r>
              <a:rPr lang="en-US" altLang="zh-CN" dirty="0"/>
              <a:t>GDB</a:t>
            </a:r>
            <a:r>
              <a:rPr lang="zh-CN" altLang="en-US" dirty="0"/>
              <a:t> </a:t>
            </a:r>
            <a:r>
              <a:rPr lang="en-US" altLang="zh-CN" dirty="0"/>
              <a:t>stub</a:t>
            </a:r>
          </a:p>
          <a:p>
            <a:pPr lvl="1"/>
            <a:r>
              <a:rPr lang="zh-CN" altLang="en-US" dirty="0"/>
              <a:t>用户态模拟：例如</a:t>
            </a:r>
            <a:r>
              <a:rPr lang="en-US" altLang="zh-CN" dirty="0"/>
              <a:t> User-mode Linux</a:t>
            </a:r>
            <a:r>
              <a:rPr lang="zh-CN" altLang="en-US" dirty="0"/>
              <a:t>，忽略硬件相关的实现，使</a:t>
            </a:r>
            <a:r>
              <a:rPr lang="en-US" altLang="zh-CN" dirty="0"/>
              <a:t>Linux</a:t>
            </a:r>
            <a:r>
              <a:rPr lang="zh-CN" altLang="en-US" dirty="0"/>
              <a:t>内核以普通进程的方式运行</a:t>
            </a:r>
            <a:endParaRPr lang="en-US" altLang="zh-CN" dirty="0"/>
          </a:p>
          <a:p>
            <a:r>
              <a:rPr lang="zh-CN" altLang="en-US" dirty="0"/>
              <a:t>内核自身实现的调试器</a:t>
            </a:r>
            <a:endParaRPr lang="en-US" altLang="zh-CN" dirty="0"/>
          </a:p>
          <a:p>
            <a:pPr lvl="1"/>
            <a:r>
              <a:rPr lang="zh-CN" altLang="en-US" dirty="0"/>
              <a:t>操作系统内部实现</a:t>
            </a:r>
            <a:r>
              <a:rPr lang="en-US" altLang="zh-CN" dirty="0"/>
              <a:t>GDB</a:t>
            </a:r>
            <a:r>
              <a:rPr lang="zh-CN" altLang="en-US" dirty="0"/>
              <a:t> </a:t>
            </a:r>
            <a:r>
              <a:rPr lang="en-US" altLang="zh-CN" dirty="0"/>
              <a:t>stub</a:t>
            </a:r>
            <a:r>
              <a:rPr lang="zh-CN" altLang="en-US" dirty="0"/>
              <a:t>，如</a:t>
            </a:r>
            <a:r>
              <a:rPr lang="en-US" altLang="zh-CN" dirty="0"/>
              <a:t>Linux</a:t>
            </a:r>
            <a:r>
              <a:rPr lang="zh-CN" altLang="en-US" dirty="0"/>
              <a:t>的</a:t>
            </a:r>
            <a:r>
              <a:rPr lang="en-US" altLang="zh-CN" dirty="0"/>
              <a:t>KGDB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561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</a:t>
            </a:r>
            <a:r>
              <a:rPr lang="en-US" altLang="zh-CN" dirty="0"/>
              <a:t>QEMU</a:t>
            </a:r>
            <a:r>
              <a:rPr lang="zh-CN" altLang="en-US" dirty="0"/>
              <a:t>的</a:t>
            </a:r>
            <a:r>
              <a:rPr lang="en-US" altLang="zh-CN" dirty="0"/>
              <a:t>GDB</a:t>
            </a:r>
            <a:r>
              <a:rPr lang="zh-CN" altLang="en-US" dirty="0"/>
              <a:t>支持</a:t>
            </a:r>
            <a:endParaRPr lang="en-US" altLang="ja-JP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E2234D97-91A2-DE4D-BF96-8A9744B8D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与调试普通进程对比</a:t>
            </a:r>
            <a:endParaRPr lang="en-US" altLang="zh-CN" dirty="0"/>
          </a:p>
          <a:p>
            <a:pPr lvl="1"/>
            <a:r>
              <a:rPr lang="zh-CN" altLang="en-US" dirty="0"/>
              <a:t>不再有进程抽象相关的支持（如</a:t>
            </a:r>
            <a:r>
              <a:rPr lang="en-US" altLang="zh-CN" dirty="0"/>
              <a:t>signal</a:t>
            </a:r>
            <a:r>
              <a:rPr lang="zh-CN" altLang="en-US" dirty="0"/>
              <a:t>和系统调用跟踪）</a:t>
            </a:r>
            <a:endParaRPr lang="en-US" altLang="zh-CN" dirty="0"/>
          </a:p>
          <a:p>
            <a:pPr lvl="1"/>
            <a:r>
              <a:rPr lang="en-US" altLang="zh-CN" dirty="0" err="1"/>
              <a:t>ptrace</a:t>
            </a:r>
            <a:r>
              <a:rPr lang="zh-CN" altLang="en-US" dirty="0"/>
              <a:t>相关接口替换为虚拟机管理接口</a:t>
            </a:r>
            <a:endParaRPr lang="en-US" altLang="zh-CN" dirty="0"/>
          </a:p>
          <a:p>
            <a:pPr lvl="2"/>
            <a:r>
              <a:rPr lang="zh-CN" altLang="en-US" dirty="0"/>
              <a:t>如内存读写由</a:t>
            </a:r>
            <a:r>
              <a:rPr lang="en-US" altLang="zh-CN" dirty="0"/>
              <a:t>PTRACE_POKETEXT</a:t>
            </a:r>
            <a:r>
              <a:rPr lang="zh-CN" altLang="en-US" dirty="0"/>
              <a:t>替换为直接读写虚拟机内存（假设</a:t>
            </a:r>
            <a:r>
              <a:rPr lang="en-US" altLang="zh-CN" dirty="0"/>
              <a:t>hypervisor</a:t>
            </a:r>
            <a:r>
              <a:rPr lang="zh-CN" altLang="en-US" dirty="0"/>
              <a:t>能直接访问虚拟机内存）</a:t>
            </a:r>
            <a:endParaRPr lang="en-US" altLang="zh-CN" dirty="0"/>
          </a:p>
          <a:p>
            <a:r>
              <a:rPr lang="zh-CN" altLang="en-US" dirty="0"/>
              <a:t>挑战</a:t>
            </a:r>
            <a:endParaRPr lang="en-US" altLang="zh-CN" dirty="0"/>
          </a:p>
          <a:p>
            <a:pPr lvl="1"/>
            <a:r>
              <a:rPr lang="zh-CN" altLang="en-US" dirty="0"/>
              <a:t>不能干扰客户机操作系统内部使用调试功能</a:t>
            </a:r>
            <a:endParaRPr lang="en-US" altLang="zh-CN" dirty="0"/>
          </a:p>
          <a:p>
            <a:pPr lvl="1"/>
            <a:r>
              <a:rPr lang="zh-CN" altLang="en-US" dirty="0"/>
              <a:t>断点指令失效</a:t>
            </a:r>
            <a:endParaRPr lang="en-US" altLang="zh-CN" dirty="0"/>
          </a:p>
          <a:p>
            <a:pPr lvl="2"/>
            <a:r>
              <a:rPr lang="zh-CN" altLang="en-US" dirty="0"/>
              <a:t>动态代码装载覆写断点指令使断点失效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9292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</a:t>
            </a:r>
            <a:r>
              <a:rPr lang="en-US" altLang="zh-CN" dirty="0"/>
              <a:t>QEMU</a:t>
            </a:r>
            <a:r>
              <a:rPr lang="zh-CN" altLang="en-US" dirty="0"/>
              <a:t> </a:t>
            </a:r>
            <a:r>
              <a:rPr lang="en-US" altLang="zh-CN" dirty="0"/>
              <a:t>GDB</a:t>
            </a:r>
            <a:r>
              <a:rPr lang="zh-CN" altLang="en-US" dirty="0"/>
              <a:t>的断点支持</a:t>
            </a:r>
            <a:endParaRPr lang="en-US" altLang="ja-JP" dirty="0"/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4CCEF1F1-85CC-F744-90D8-45F8FEAF4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335401"/>
            <a:ext cx="7746262" cy="2970371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E8F102-EEC8-E040-955E-2E77B1D3E1C3}"/>
              </a:ext>
            </a:extLst>
          </p:cNvPr>
          <p:cNvSpPr/>
          <p:nvPr/>
        </p:nvSpPr>
        <p:spPr>
          <a:xfrm>
            <a:off x="1059284" y="1270689"/>
            <a:ext cx="573746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断点调试</a:t>
            </a:r>
            <a:endParaRPr lang="en-US" altLang="zh-CN" dirty="0"/>
          </a:p>
          <a:p>
            <a:r>
              <a:rPr lang="zh-CN" altLang="en-US" dirty="0"/>
              <a:t>步骤</a:t>
            </a:r>
            <a:r>
              <a:rPr lang="en-US" altLang="zh-CN" dirty="0"/>
              <a:t>2:</a:t>
            </a:r>
            <a:r>
              <a:rPr lang="zh-CN" altLang="en-US" dirty="0"/>
              <a:t> 配置虚拟机内部产生断点异常时，退出虚拟机</a:t>
            </a:r>
            <a:endParaRPr lang="en-US" altLang="zh-CN" dirty="0"/>
          </a:p>
          <a:p>
            <a:r>
              <a:rPr lang="zh-CN" altLang="en-US" dirty="0"/>
              <a:t>步骤</a:t>
            </a:r>
            <a:r>
              <a:rPr lang="en-US" altLang="zh-CN" dirty="0"/>
              <a:t>4</a:t>
            </a:r>
            <a:r>
              <a:rPr lang="zh-CN" altLang="en-US" dirty="0"/>
              <a:t>和</a:t>
            </a:r>
            <a:r>
              <a:rPr lang="en-US" altLang="zh-CN" dirty="0"/>
              <a:t>5:</a:t>
            </a:r>
            <a:r>
              <a:rPr lang="zh-CN" altLang="en-US" dirty="0"/>
              <a:t> </a:t>
            </a:r>
            <a:r>
              <a:rPr lang="en-US" altLang="zh-CN" dirty="0"/>
              <a:t>QEMU</a:t>
            </a:r>
            <a:r>
              <a:rPr lang="zh-CN" altLang="en-US" dirty="0"/>
              <a:t>判断断点是否是虚拟机内部断点</a:t>
            </a:r>
          </a:p>
        </p:txBody>
      </p:sp>
    </p:spTree>
    <p:extLst>
      <p:ext uri="{BB962C8B-B14F-4D97-AF65-F5344CB8AC3E}">
        <p14:creationId xmlns:p14="http://schemas.microsoft.com/office/powerpoint/2010/main" val="418004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断点指令相关问题</a:t>
            </a:r>
            <a:endParaRPr lang="en-US" altLang="ja-JP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使用断点指令在操作系统调试中的困难</a:t>
            </a:r>
            <a:endParaRPr lang="en-US" altLang="zh-CN" dirty="0"/>
          </a:p>
          <a:p>
            <a:pPr lvl="1"/>
            <a:r>
              <a:rPr lang="zh-CN" altLang="en-US" dirty="0"/>
              <a:t>动态代码装载复写断点指令使断点失效</a:t>
            </a:r>
            <a:endParaRPr lang="en-US" altLang="zh-CN" dirty="0"/>
          </a:p>
          <a:p>
            <a:r>
              <a:rPr lang="zh-CN" altLang="en-US" dirty="0"/>
              <a:t>解决方法：硬件断点</a:t>
            </a:r>
            <a:endParaRPr lang="en-US" altLang="zh-CN" dirty="0"/>
          </a:p>
          <a:p>
            <a:pPr lvl="1"/>
            <a:r>
              <a:rPr lang="zh-CN" altLang="en-US" dirty="0"/>
              <a:t>指令地址等于断点寄存器即触发中断</a:t>
            </a:r>
            <a:endParaRPr lang="en-US" altLang="zh-CN" dirty="0"/>
          </a:p>
          <a:p>
            <a:pPr lvl="1"/>
            <a:r>
              <a:rPr lang="zh-CN" altLang="en-US" dirty="0"/>
              <a:t>缺点：影响虚拟机内部使用硬件断点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2512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性能调试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66334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为什么需要性能调试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程序功能性正确，但性能未达到理想情况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分析程序性能瓶颈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程序运行时哪部分代码耗时较长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哪部分内存发生较多缓存缺失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跳转指令是否发生大量错误预测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3530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实际性能调试样例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分析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hackbench</a:t>
            </a:r>
            <a:r>
              <a:rPr kumimoji="1" lang="zh-CN" altLang="en-US" dirty="0"/>
              <a:t> 测试用例执行时的性能瓶颈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Hackbench</a:t>
            </a:r>
            <a:r>
              <a:rPr kumimoji="1" lang="en-US" altLang="zh-CN" dirty="0"/>
              <a:t>: Linux Test Project </a:t>
            </a:r>
            <a:r>
              <a:rPr kumimoji="1" lang="zh-CN" altLang="en-US" dirty="0"/>
              <a:t>中的调度测试之一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多个进程相互使用</a:t>
            </a:r>
            <a:r>
              <a:rPr kumimoji="1" lang="en-US" altLang="zh-CN" dirty="0"/>
              <a:t>socket</a:t>
            </a:r>
            <a:r>
              <a:rPr kumimoji="1" lang="zh-CN" altLang="en-US" dirty="0"/>
              <a:t>读写进行同步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步骤一：确定内核执行中耗时较长的函数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在可能的代码路径上插桩获取时间，统计时间占比最长的部分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缺点：大量修改内核代码，统计复杂，通用性极低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8316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322912"/>
            <a:ext cx="864096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监控程序执行过程中处理器发生某些事件的次数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</a:t>
            </a:r>
            <a:r>
              <a:rPr kumimoji="1" lang="zh-CN" altLang="en-US" dirty="0"/>
              <a:t>执行指令数量，各级缓存缺失（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  <a:r>
              <a:rPr kumimoji="1" lang="zh-CN" altLang="en-US" dirty="0"/>
              <a:t>）次数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使用方法</a:t>
            </a:r>
            <a:r>
              <a:rPr kumimoji="1" lang="en-US" altLang="zh-CN" dirty="0"/>
              <a:t>1:</a:t>
            </a:r>
            <a:r>
              <a:rPr kumimoji="1" lang="zh-CN" altLang="en-US" dirty="0"/>
              <a:t>  获取事件发生次数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设置事件类型，打开计数器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一段时间后读取计数器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用户态通过特定指令或系统调用读取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使用该方法分析 </a:t>
            </a:r>
            <a:r>
              <a:rPr kumimoji="1" lang="en-US" altLang="zh-CN" dirty="0" err="1"/>
              <a:t>hackbench</a:t>
            </a:r>
            <a:r>
              <a:rPr kumimoji="1" lang="zh-CN" altLang="en-US" dirty="0"/>
              <a:t> 性能瓶颈仍需大量插桩，意义不大</a:t>
            </a:r>
            <a:endParaRPr kumimoji="1" lang="en-US" alt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硬件计数器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624B938-F0F8-5240-AE02-53971612DD80}"/>
              </a:ext>
            </a:extLst>
          </p:cNvPr>
          <p:cNvGrpSpPr/>
          <p:nvPr/>
        </p:nvGrpSpPr>
        <p:grpSpPr>
          <a:xfrm>
            <a:off x="4715036" y="2569468"/>
            <a:ext cx="4321460" cy="1375493"/>
            <a:chOff x="4572000" y="2889928"/>
            <a:chExt cx="4321460" cy="137549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B396177-18CE-4C41-9EFE-33E2504EA0DF}"/>
                </a:ext>
              </a:extLst>
            </p:cNvPr>
            <p:cNvSpPr/>
            <p:nvPr/>
          </p:nvSpPr>
          <p:spPr>
            <a:xfrm>
              <a:off x="5617096" y="3208730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solidFill>
                    <a:schemeClr val="tx1"/>
                  </a:solidFill>
                </a:rPr>
                <a:t>指令数</a:t>
              </a:r>
              <a:endParaRPr kumimoji="1"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C9E9F8C-1274-4548-B741-8974F664A8AA}"/>
                </a:ext>
              </a:extLst>
            </p:cNvPr>
            <p:cNvSpPr/>
            <p:nvPr/>
          </p:nvSpPr>
          <p:spPr>
            <a:xfrm>
              <a:off x="6553200" y="3208730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L3</a:t>
              </a:r>
              <a:r>
                <a:rPr kumimoji="1" lang="zh-CN" altLang="en-US" sz="1100" dirty="0">
                  <a:solidFill>
                    <a:schemeClr val="tx1"/>
                  </a:solidFill>
                </a:rPr>
                <a:t>缓存缺失</a:t>
              </a:r>
              <a:endParaRPr kumimoji="1" lang="en-US" altLang="zh-CN" sz="1100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581F132-2B50-8841-8F8C-C7D6D2E0EE6C}"/>
                </a:ext>
              </a:extLst>
            </p:cNvPr>
            <p:cNvSpPr/>
            <p:nvPr/>
          </p:nvSpPr>
          <p:spPr>
            <a:xfrm>
              <a:off x="7957356" y="3208730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无效</a:t>
              </a:r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26468476-E94C-2F4B-B690-AEC661B35682}"/>
                </a:ext>
              </a:extLst>
            </p:cNvPr>
            <p:cNvCxnSpPr/>
            <p:nvPr/>
          </p:nvCxnSpPr>
          <p:spPr>
            <a:xfrm>
              <a:off x="7489304" y="3208730"/>
              <a:ext cx="468052" cy="0"/>
            </a:xfrm>
            <a:prstGeom prst="line">
              <a:avLst/>
            </a:prstGeom>
            <a:ln w="19050">
              <a:solidFill>
                <a:srgbClr val="8B263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80000AEC-8A21-5347-A710-9C3CE9AAEA33}"/>
                </a:ext>
              </a:extLst>
            </p:cNvPr>
            <p:cNvCxnSpPr/>
            <p:nvPr/>
          </p:nvCxnSpPr>
          <p:spPr>
            <a:xfrm>
              <a:off x="7512741" y="3608923"/>
              <a:ext cx="468052" cy="0"/>
            </a:xfrm>
            <a:prstGeom prst="line">
              <a:avLst/>
            </a:prstGeom>
            <a:ln w="19050">
              <a:solidFill>
                <a:srgbClr val="8B263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C353A67-0A5E-164C-8D98-D672384AD703}"/>
                </a:ext>
              </a:extLst>
            </p:cNvPr>
            <p:cNvSpPr/>
            <p:nvPr/>
          </p:nvSpPr>
          <p:spPr>
            <a:xfrm>
              <a:off x="5617096" y="3865228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2333</a:t>
              </a:r>
              <a:endParaRPr kumimoji="1"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B310B07-38CB-3E4A-B10E-81907E17CB39}"/>
                </a:ext>
              </a:extLst>
            </p:cNvPr>
            <p:cNvSpPr/>
            <p:nvPr/>
          </p:nvSpPr>
          <p:spPr>
            <a:xfrm>
              <a:off x="6553200" y="3865228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1314</a:t>
              </a:r>
              <a:endParaRPr kumimoji="1" lang="zh-CN" altLang="en-US" sz="1400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B50E8A4-DD42-6A4A-A5FD-D90DD7293CB1}"/>
                </a:ext>
              </a:extLst>
            </p:cNvPr>
            <p:cNvSpPr/>
            <p:nvPr/>
          </p:nvSpPr>
          <p:spPr>
            <a:xfrm>
              <a:off x="7957356" y="3865228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BBCEFDEB-BFF7-764F-AE36-62E14E28FC59}"/>
                </a:ext>
              </a:extLst>
            </p:cNvPr>
            <p:cNvCxnSpPr/>
            <p:nvPr/>
          </p:nvCxnSpPr>
          <p:spPr>
            <a:xfrm>
              <a:off x="7489304" y="3865228"/>
              <a:ext cx="468052" cy="0"/>
            </a:xfrm>
            <a:prstGeom prst="line">
              <a:avLst/>
            </a:prstGeom>
            <a:ln w="19050">
              <a:solidFill>
                <a:srgbClr val="8B263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6120A881-64BA-4144-9544-05B56756AE5C}"/>
                </a:ext>
              </a:extLst>
            </p:cNvPr>
            <p:cNvCxnSpPr/>
            <p:nvPr/>
          </p:nvCxnSpPr>
          <p:spPr>
            <a:xfrm>
              <a:off x="7512741" y="4265421"/>
              <a:ext cx="468052" cy="0"/>
            </a:xfrm>
            <a:prstGeom prst="line">
              <a:avLst/>
            </a:prstGeom>
            <a:ln w="19050">
              <a:solidFill>
                <a:srgbClr val="8B263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9D67D9D-89F8-8648-87F5-69DCF2654FE0}"/>
                </a:ext>
              </a:extLst>
            </p:cNvPr>
            <p:cNvSpPr/>
            <p:nvPr/>
          </p:nvSpPr>
          <p:spPr>
            <a:xfrm>
              <a:off x="5714270" y="2889928"/>
              <a:ext cx="82266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dirty="0"/>
                <a:t>计数器</a:t>
              </a:r>
              <a:r>
                <a:rPr kumimoji="1" lang="en-US" altLang="zh-CN" sz="1400" dirty="0"/>
                <a:t>0</a:t>
              </a:r>
              <a:endParaRPr lang="zh-CN" altLang="en-US" sz="1400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329DE09-CEF5-7C49-809D-006D1E0FDEEB}"/>
                </a:ext>
              </a:extLst>
            </p:cNvPr>
            <p:cNvSpPr/>
            <p:nvPr/>
          </p:nvSpPr>
          <p:spPr>
            <a:xfrm>
              <a:off x="6586484" y="2889928"/>
              <a:ext cx="82266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dirty="0"/>
                <a:t>计数器</a:t>
              </a:r>
              <a:r>
                <a:rPr kumimoji="1" lang="en-US" altLang="zh-CN" sz="1400" dirty="0"/>
                <a:t>1</a:t>
              </a:r>
              <a:endParaRPr lang="zh-CN" altLang="en-US" sz="1400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01A2AA3-BFD7-1F49-8208-DEA396E0C1EF}"/>
                </a:ext>
              </a:extLst>
            </p:cNvPr>
            <p:cNvSpPr/>
            <p:nvPr/>
          </p:nvSpPr>
          <p:spPr>
            <a:xfrm>
              <a:off x="7990640" y="2905806"/>
              <a:ext cx="82266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dirty="0"/>
                <a:t>计数器</a:t>
              </a:r>
              <a:r>
                <a:rPr kumimoji="1" lang="en-US" altLang="zh-CN" sz="1400" dirty="0"/>
                <a:t>n</a:t>
              </a:r>
              <a:endParaRPr lang="zh-CN" altLang="en-US" sz="14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C36CCA0-3527-A641-BA93-5D5B32EDF7D1}"/>
                </a:ext>
              </a:extLst>
            </p:cNvPr>
            <p:cNvSpPr/>
            <p:nvPr/>
          </p:nvSpPr>
          <p:spPr>
            <a:xfrm>
              <a:off x="4572000" y="3253034"/>
              <a:ext cx="10823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dirty="0"/>
                <a:t>选择寄存器</a:t>
              </a:r>
              <a:endParaRPr lang="zh-CN" altLang="en-US" sz="1400" dirty="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DA8C173-2429-C44A-BED3-B31CABC906D0}"/>
                </a:ext>
              </a:extLst>
            </p:cNvPr>
            <p:cNvSpPr/>
            <p:nvPr/>
          </p:nvSpPr>
          <p:spPr>
            <a:xfrm>
              <a:off x="4575321" y="3910358"/>
              <a:ext cx="10823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dirty="0"/>
                <a:t>计数寄存器</a:t>
              </a:r>
              <a:endParaRPr lang="zh-CN" altLang="en-US" sz="14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949CA6F-D683-0E4A-816C-FF885C14DA9A}"/>
                </a:ext>
              </a:extLst>
            </p:cNvPr>
            <p:cNvCxnSpPr/>
            <p:nvPr/>
          </p:nvCxnSpPr>
          <p:spPr>
            <a:xfrm>
              <a:off x="7957356" y="3865228"/>
              <a:ext cx="936104" cy="39638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65516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322912"/>
            <a:ext cx="8229600" cy="3771636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直接读取计数缺点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缺点：可能涉及对原有代码修改（插桩）</a:t>
            </a:r>
            <a:endParaRPr kumimoji="1" lang="en-US" altLang="zh-CN" dirty="0"/>
          </a:p>
          <a:p>
            <a:r>
              <a:rPr kumimoji="1" lang="zh-CN" altLang="en-US" dirty="0"/>
              <a:t>使用方法</a:t>
            </a:r>
            <a:r>
              <a:rPr kumimoji="1" lang="en-US" altLang="zh-CN" dirty="0"/>
              <a:t>2:</a:t>
            </a:r>
            <a:r>
              <a:rPr kumimoji="1" lang="zh-CN" altLang="en-US" dirty="0"/>
              <a:t> 采样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设置事件类型，打开计数器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当计数器溢出时，产生中断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在中断处理中获取地址信息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清空计数器，等待下一次中断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分析 </a:t>
            </a:r>
            <a:r>
              <a:rPr kumimoji="1" lang="en-US" altLang="zh-CN" dirty="0" err="1"/>
              <a:t>hackbench</a:t>
            </a:r>
            <a:r>
              <a:rPr kumimoji="1" lang="zh-CN" altLang="en-US" dirty="0"/>
              <a:t> 性能瓶颈：每经过一定</a:t>
            </a:r>
            <a:r>
              <a:rPr kumimoji="1" lang="en-US" altLang="zh-CN" dirty="0"/>
              <a:t>cycle</a:t>
            </a:r>
            <a:r>
              <a:rPr kumimoji="1" lang="zh-CN" altLang="en-US" dirty="0"/>
              <a:t>数触发一次中断，统计中断时指令地址，观察这些地址属于哪些函数</a:t>
            </a:r>
            <a:endParaRPr kumimoji="1" lang="en-US" altLang="zh-CN" dirty="0"/>
          </a:p>
          <a:p>
            <a:pPr lvl="2"/>
            <a:endParaRPr kumimoji="1" lang="en-US" alt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硬件计数器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采样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A1209D3-F806-3649-94D3-7BAF4B147B43}"/>
              </a:ext>
            </a:extLst>
          </p:cNvPr>
          <p:cNvGrpSpPr/>
          <p:nvPr/>
        </p:nvGrpSpPr>
        <p:grpSpPr>
          <a:xfrm>
            <a:off x="4572000" y="2065412"/>
            <a:ext cx="4321460" cy="2162303"/>
            <a:chOff x="4715036" y="2169753"/>
            <a:chExt cx="4321460" cy="2162303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A54D22C-ACA2-5147-94D2-51509CFDC639}"/>
                </a:ext>
              </a:extLst>
            </p:cNvPr>
            <p:cNvGrpSpPr/>
            <p:nvPr/>
          </p:nvGrpSpPr>
          <p:grpSpPr>
            <a:xfrm>
              <a:off x="4715036" y="2169753"/>
              <a:ext cx="4321460" cy="1375493"/>
              <a:chOff x="4572000" y="2889928"/>
              <a:chExt cx="4321460" cy="1375493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3EAF926-6E50-8848-830F-B6F1E53DFE3B}"/>
                  </a:ext>
                </a:extLst>
              </p:cNvPr>
              <p:cNvSpPr/>
              <p:nvPr/>
            </p:nvSpPr>
            <p:spPr>
              <a:xfrm>
                <a:off x="5617096" y="3208730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dirty="0">
                    <a:solidFill>
                      <a:schemeClr val="tx1"/>
                    </a:solidFill>
                  </a:rPr>
                  <a:t>指令数</a:t>
                </a:r>
                <a:endParaRPr kumimoji="1"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49CFC06-D3D6-7D46-881E-BCE4AA81CDE9}"/>
                  </a:ext>
                </a:extLst>
              </p:cNvPr>
              <p:cNvSpPr/>
              <p:nvPr/>
            </p:nvSpPr>
            <p:spPr>
              <a:xfrm>
                <a:off x="6553200" y="3208730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100" dirty="0">
                    <a:solidFill>
                      <a:schemeClr val="tx1"/>
                    </a:solidFill>
                  </a:rPr>
                  <a:t>L3</a:t>
                </a:r>
                <a:r>
                  <a:rPr kumimoji="1" lang="zh-CN" altLang="en-US" sz="1100" dirty="0">
                    <a:solidFill>
                      <a:schemeClr val="tx1"/>
                    </a:solidFill>
                  </a:rPr>
                  <a:t>缓存缺失</a:t>
                </a:r>
                <a:endParaRPr kumimoji="1" lang="en-US" altLang="zh-C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3E79EB5-CDA4-324A-9A7F-A2F026C4ED80}"/>
                  </a:ext>
                </a:extLst>
              </p:cNvPr>
              <p:cNvSpPr/>
              <p:nvPr/>
            </p:nvSpPr>
            <p:spPr>
              <a:xfrm>
                <a:off x="7957356" y="3208730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无效</a:t>
                </a:r>
              </a:p>
            </p:txBody>
          </p: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C27737B7-7F97-AD4D-8B76-FA3AC52ADCA8}"/>
                  </a:ext>
                </a:extLst>
              </p:cNvPr>
              <p:cNvCxnSpPr/>
              <p:nvPr/>
            </p:nvCxnSpPr>
            <p:spPr>
              <a:xfrm>
                <a:off x="7489304" y="3208730"/>
                <a:ext cx="468052" cy="0"/>
              </a:xfrm>
              <a:prstGeom prst="line">
                <a:avLst/>
              </a:prstGeom>
              <a:ln w="19050">
                <a:solidFill>
                  <a:srgbClr val="8B263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9293175A-6E59-4A4B-AB67-A315E192E613}"/>
                  </a:ext>
                </a:extLst>
              </p:cNvPr>
              <p:cNvCxnSpPr/>
              <p:nvPr/>
            </p:nvCxnSpPr>
            <p:spPr>
              <a:xfrm>
                <a:off x="7512741" y="3608923"/>
                <a:ext cx="468052" cy="0"/>
              </a:xfrm>
              <a:prstGeom prst="line">
                <a:avLst/>
              </a:prstGeom>
              <a:ln w="19050">
                <a:solidFill>
                  <a:srgbClr val="8B263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A2BE78B-9E7F-EE46-BAB4-20620F179E2C}"/>
                  </a:ext>
                </a:extLst>
              </p:cNvPr>
              <p:cNvSpPr/>
              <p:nvPr/>
            </p:nvSpPr>
            <p:spPr>
              <a:xfrm>
                <a:off x="5617096" y="3865228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</a:rPr>
                  <a:t>0xff…</a:t>
                </a:r>
                <a:r>
                  <a:rPr kumimoji="1" lang="en-US" altLang="zh-CN" sz="1400" dirty="0" err="1">
                    <a:solidFill>
                      <a:srgbClr val="FF0000"/>
                    </a:solidFill>
                  </a:rPr>
                  <a:t>fff</a:t>
                </a:r>
                <a:endParaRPr kumimoji="1" lang="zh-CN" altLang="en-US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37E2149-65A2-6640-AF2A-9918831342B8}"/>
                  </a:ext>
                </a:extLst>
              </p:cNvPr>
              <p:cNvSpPr/>
              <p:nvPr/>
            </p:nvSpPr>
            <p:spPr>
              <a:xfrm>
                <a:off x="6553200" y="3865228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dirty="0">
                    <a:solidFill>
                      <a:schemeClr val="tx1"/>
                    </a:solidFill>
                  </a:rPr>
                  <a:t>1314</a:t>
                </a:r>
                <a:endParaRPr kumimoji="1" lang="zh-CN" altLang="en-US" sz="1400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398945B-B10A-A441-87B9-354C17290BEC}"/>
                  </a:ext>
                </a:extLst>
              </p:cNvPr>
              <p:cNvSpPr/>
              <p:nvPr/>
            </p:nvSpPr>
            <p:spPr>
              <a:xfrm>
                <a:off x="7957356" y="3865228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0FD684A1-50EB-E742-B6F4-A2D612E6D8E1}"/>
                  </a:ext>
                </a:extLst>
              </p:cNvPr>
              <p:cNvCxnSpPr/>
              <p:nvPr/>
            </p:nvCxnSpPr>
            <p:spPr>
              <a:xfrm>
                <a:off x="7489304" y="3865228"/>
                <a:ext cx="468052" cy="0"/>
              </a:xfrm>
              <a:prstGeom prst="line">
                <a:avLst/>
              </a:prstGeom>
              <a:ln w="19050">
                <a:solidFill>
                  <a:srgbClr val="8B263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A4DC550C-CEE6-964B-9261-837082281272}"/>
                  </a:ext>
                </a:extLst>
              </p:cNvPr>
              <p:cNvCxnSpPr/>
              <p:nvPr/>
            </p:nvCxnSpPr>
            <p:spPr>
              <a:xfrm>
                <a:off x="7512741" y="4265421"/>
                <a:ext cx="468052" cy="0"/>
              </a:xfrm>
              <a:prstGeom prst="line">
                <a:avLst/>
              </a:prstGeom>
              <a:ln w="19050">
                <a:solidFill>
                  <a:srgbClr val="8B263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96C2412-975C-9E43-A759-4068383C4336}"/>
                  </a:ext>
                </a:extLst>
              </p:cNvPr>
              <p:cNvSpPr/>
              <p:nvPr/>
            </p:nvSpPr>
            <p:spPr>
              <a:xfrm>
                <a:off x="5714270" y="2889928"/>
                <a:ext cx="8226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400" dirty="0"/>
                  <a:t>计数器</a:t>
                </a:r>
                <a:r>
                  <a:rPr kumimoji="1" lang="en-US" altLang="zh-CN" sz="1400" dirty="0"/>
                  <a:t>0</a:t>
                </a:r>
                <a:endParaRPr lang="zh-CN" altLang="en-US" sz="1400" dirty="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ADEEDF0-81B7-9846-A36B-AC86F426A9F2}"/>
                  </a:ext>
                </a:extLst>
              </p:cNvPr>
              <p:cNvSpPr/>
              <p:nvPr/>
            </p:nvSpPr>
            <p:spPr>
              <a:xfrm>
                <a:off x="6586484" y="2889928"/>
                <a:ext cx="8226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400" dirty="0"/>
                  <a:t>计数器</a:t>
                </a:r>
                <a:r>
                  <a:rPr kumimoji="1" lang="en-US" altLang="zh-CN" sz="1400" dirty="0"/>
                  <a:t>1</a:t>
                </a:r>
                <a:endParaRPr lang="zh-CN" altLang="en-US" sz="1400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04B34CE-A0B7-8846-A56B-31E4869C27A0}"/>
                  </a:ext>
                </a:extLst>
              </p:cNvPr>
              <p:cNvSpPr/>
              <p:nvPr/>
            </p:nvSpPr>
            <p:spPr>
              <a:xfrm>
                <a:off x="7990640" y="2905806"/>
                <a:ext cx="8226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400" dirty="0"/>
                  <a:t>计数器</a:t>
                </a:r>
                <a:r>
                  <a:rPr kumimoji="1" lang="en-US" altLang="zh-CN" sz="1400" dirty="0"/>
                  <a:t>n</a:t>
                </a:r>
                <a:endParaRPr lang="zh-CN" altLang="en-US" sz="1400" dirty="0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6C3B3BC-1D04-554B-BAE8-8696E5E5722C}"/>
                  </a:ext>
                </a:extLst>
              </p:cNvPr>
              <p:cNvSpPr/>
              <p:nvPr/>
            </p:nvSpPr>
            <p:spPr>
              <a:xfrm>
                <a:off x="4572000" y="3253034"/>
                <a:ext cx="108234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400" dirty="0"/>
                  <a:t>选择寄存器</a:t>
                </a:r>
                <a:endParaRPr lang="zh-CN" altLang="en-US" sz="1400" dirty="0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4EA48D6-50C8-E64A-97C2-336265803685}"/>
                  </a:ext>
                </a:extLst>
              </p:cNvPr>
              <p:cNvSpPr/>
              <p:nvPr/>
            </p:nvSpPr>
            <p:spPr>
              <a:xfrm>
                <a:off x="4575321" y="3910358"/>
                <a:ext cx="108234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400" dirty="0"/>
                  <a:t>计数寄存器</a:t>
                </a:r>
                <a:endParaRPr lang="zh-CN" altLang="en-US" sz="1400" dirty="0"/>
              </a:p>
            </p:txBody>
          </p:sp>
          <p:cxnSp>
            <p:nvCxnSpPr>
              <p:cNvPr id="22" name="直线连接符 21">
                <a:extLst>
                  <a:ext uri="{FF2B5EF4-FFF2-40B4-BE49-F238E27FC236}">
                    <a16:creationId xmlns:a16="http://schemas.microsoft.com/office/drawing/2014/main" id="{3745D1B0-8C43-3944-A019-27508F6AAE2F}"/>
                  </a:ext>
                </a:extLst>
              </p:cNvPr>
              <p:cNvCxnSpPr/>
              <p:nvPr/>
            </p:nvCxnSpPr>
            <p:spPr>
              <a:xfrm>
                <a:off x="7957356" y="3865228"/>
                <a:ext cx="936104" cy="396386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93798D2-675A-3747-9389-5685F802E855}"/>
                </a:ext>
              </a:extLst>
            </p:cNvPr>
            <p:cNvSpPr/>
            <p:nvPr/>
          </p:nvSpPr>
          <p:spPr>
            <a:xfrm>
              <a:off x="5726040" y="3993502"/>
              <a:ext cx="223651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600" dirty="0"/>
                <a:t>溢出产生</a:t>
              </a:r>
              <a:r>
                <a:rPr kumimoji="1" lang="zh-CN" altLang="en-US" sz="1600" dirty="0">
                  <a:solidFill>
                    <a:srgbClr val="C00000"/>
                  </a:solidFill>
                </a:rPr>
                <a:t>性能调试中断</a:t>
              </a:r>
              <a:endParaRPr lang="zh-CN" altLang="en-US" sz="1600" dirty="0">
                <a:solidFill>
                  <a:srgbClr val="C00000"/>
                </a:solidFill>
              </a:endParaRPr>
            </a:p>
          </p:txBody>
        </p: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99DE0AD6-BC56-6B4F-B7CE-56F06F19ADC0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6228184" y="3541439"/>
              <a:ext cx="0" cy="45206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9694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性能计数器采样支持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性能相关事件</a:t>
            </a:r>
            <a:r>
              <a:rPr kumimoji="1" lang="en-US" altLang="zh-CN" dirty="0"/>
              <a:t> perf</a:t>
            </a:r>
            <a:r>
              <a:rPr kumimoji="1" lang="zh-CN" altLang="en-US" dirty="0"/>
              <a:t> </a:t>
            </a:r>
            <a:r>
              <a:rPr kumimoji="1" lang="en-US" altLang="zh-CN" dirty="0"/>
              <a:t>events</a:t>
            </a:r>
          </a:p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event</a:t>
            </a:r>
            <a:r>
              <a:rPr kumimoji="1" lang="zh-CN" altLang="en-US" dirty="0"/>
              <a:t>的抽象暴露性能计数器（以及一些其它性能调试方法）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perf_event_open</a:t>
            </a:r>
            <a:r>
              <a:rPr kumimoji="1" lang="zh-CN" altLang="en-US" dirty="0"/>
              <a:t>通知内核需要使用哪些计数器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采样过程由内核完成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采样结果放入内核与用户态共享的内存中，减少读取大量采样信息时的开销</a:t>
            </a:r>
            <a:endParaRPr kumimoji="1" lang="en-US" altLang="zh-CN" dirty="0"/>
          </a:p>
          <a:p>
            <a:r>
              <a:rPr kumimoji="1" lang="zh-CN" altLang="en-US" dirty="0"/>
              <a:t>前端工具</a:t>
            </a:r>
            <a:r>
              <a:rPr kumimoji="1" lang="en-US" altLang="zh-CN" dirty="0"/>
              <a:t>perf</a:t>
            </a:r>
          </a:p>
          <a:p>
            <a:pPr lvl="1"/>
            <a:r>
              <a:rPr kumimoji="1" lang="zh-CN" altLang="en-US" dirty="0"/>
              <a:t>直接使用</a:t>
            </a:r>
            <a:r>
              <a:rPr kumimoji="1" lang="en-US" altLang="zh-CN" dirty="0"/>
              <a:t>perf</a:t>
            </a:r>
            <a:r>
              <a:rPr kumimoji="1" lang="zh-CN" altLang="en-US" dirty="0"/>
              <a:t> </a:t>
            </a:r>
            <a:r>
              <a:rPr kumimoji="1" lang="en-US" altLang="zh-CN" dirty="0"/>
              <a:t>events</a:t>
            </a:r>
            <a:r>
              <a:rPr kumimoji="1" lang="zh-CN" altLang="en-US" dirty="0"/>
              <a:t>相关系统调用仍然较复杂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</a:t>
            </a:r>
            <a:r>
              <a:rPr kumimoji="1" lang="zh-CN" altLang="en-US" dirty="0"/>
              <a:t>工具包装常见的性能分析方法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33278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采样分析</a:t>
            </a:r>
            <a:r>
              <a:rPr kumimoji="1" lang="en-US" altLang="zh-CN" dirty="0" err="1"/>
              <a:t>hackbench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针对</a:t>
            </a:r>
            <a:r>
              <a:rPr kumimoji="1" lang="en-US" altLang="zh-CN" dirty="0"/>
              <a:t>cycle</a:t>
            </a:r>
            <a:r>
              <a:rPr kumimoji="1" lang="zh-CN" altLang="en-US" dirty="0"/>
              <a:t>数进行采样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 record </a:t>
            </a:r>
            <a:r>
              <a:rPr kumimoji="1" lang="en-US" altLang="zh-CN" dirty="0">
                <a:solidFill>
                  <a:srgbClr val="C00000"/>
                </a:solidFill>
              </a:rPr>
              <a:t>-e cycles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hackbench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report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EC58C5-FAA8-E84C-B024-238D4C73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62355"/>
            <a:ext cx="7772400" cy="19431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A2966D3-372F-E445-9D24-3367F65B974B}"/>
              </a:ext>
            </a:extLst>
          </p:cNvPr>
          <p:cNvSpPr txBox="1"/>
          <p:nvPr/>
        </p:nvSpPr>
        <p:spPr>
          <a:xfrm>
            <a:off x="971600" y="26026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收集到的采样次数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388AE797-5AF9-3649-8A84-992729D5B7DA}"/>
              </a:ext>
            </a:extLst>
          </p:cNvPr>
          <p:cNvCxnSpPr>
            <a:cxnSpLocks/>
          </p:cNvCxnSpPr>
          <p:nvPr/>
        </p:nvCxnSpPr>
        <p:spPr>
          <a:xfrm flipV="1">
            <a:off x="1835696" y="2929508"/>
            <a:ext cx="79558" cy="3529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E4EC352-CA8E-DA45-892F-6A03E8265FB9}"/>
              </a:ext>
            </a:extLst>
          </p:cNvPr>
          <p:cNvSpPr txBox="1"/>
          <p:nvPr/>
        </p:nvSpPr>
        <p:spPr>
          <a:xfrm>
            <a:off x="3515971" y="256643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预估的</a:t>
            </a:r>
            <a:r>
              <a:rPr kumimoji="1" lang="en-US" altLang="zh-CN" dirty="0"/>
              <a:t>event</a:t>
            </a:r>
            <a:r>
              <a:rPr kumimoji="1" lang="zh-CN" altLang="en-US" dirty="0"/>
              <a:t>次数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9A69616A-1B42-F141-B121-B3A26606AC68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4467514" y="2935763"/>
            <a:ext cx="1832678" cy="3265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1AADCE2-2A15-9343-83D3-2B6A9A664815}"/>
              </a:ext>
            </a:extLst>
          </p:cNvPr>
          <p:cNvSpPr/>
          <p:nvPr/>
        </p:nvSpPr>
        <p:spPr>
          <a:xfrm>
            <a:off x="4882683" y="3721596"/>
            <a:ext cx="3073693" cy="5123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83C418B-4C0E-2A4C-A02B-3E3D8FFC84D1}"/>
              </a:ext>
            </a:extLst>
          </p:cNvPr>
          <p:cNvCxnSpPr>
            <a:cxnSpLocks/>
          </p:cNvCxnSpPr>
          <p:nvPr/>
        </p:nvCxnSpPr>
        <p:spPr>
          <a:xfrm flipH="1" flipV="1">
            <a:off x="7524329" y="2797954"/>
            <a:ext cx="1" cy="9236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7B8DAA46-0346-0B40-B95B-6091BB47D8FF}"/>
              </a:ext>
            </a:extLst>
          </p:cNvPr>
          <p:cNvSpPr/>
          <p:nvPr/>
        </p:nvSpPr>
        <p:spPr>
          <a:xfrm>
            <a:off x="4883454" y="4225652"/>
            <a:ext cx="3574727" cy="2986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69C3A3-498F-234D-B055-F91D427EAD45}"/>
              </a:ext>
            </a:extLst>
          </p:cNvPr>
          <p:cNvSpPr txBox="1"/>
          <p:nvPr/>
        </p:nvSpPr>
        <p:spPr>
          <a:xfrm>
            <a:off x="5660642" y="1588549"/>
            <a:ext cx="3466726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确定两个影响性能因素</a:t>
            </a:r>
            <a:endParaRPr kumimoji="1"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dirty="0"/>
              <a:t>socket</a:t>
            </a:r>
            <a:r>
              <a:rPr kumimoji="1" lang="zh-CN" altLang="en-US" dirty="0"/>
              <a:t>读写用户态数据</a:t>
            </a:r>
            <a:endParaRPr kumimoji="1" lang="en-US" altLang="zh-CN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kumimoji="1" lang="zh-CN" altLang="en-US" dirty="0"/>
              <a:t>系统调用产生的上下文切换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635BAEDD-94E8-FC4F-9BF7-337517F39CDB}"/>
              </a:ext>
            </a:extLst>
          </p:cNvPr>
          <p:cNvCxnSpPr>
            <a:cxnSpLocks/>
          </p:cNvCxnSpPr>
          <p:nvPr/>
        </p:nvCxnSpPr>
        <p:spPr>
          <a:xfrm flipH="1" flipV="1">
            <a:off x="8316419" y="2452645"/>
            <a:ext cx="1" cy="17812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706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基于中断采样的缺点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中断时收集信息的缺陷</a:t>
            </a:r>
            <a:endParaRPr lang="en-US" altLang="zh-CN" dirty="0"/>
          </a:p>
          <a:p>
            <a:pPr lvl="1"/>
            <a:r>
              <a:rPr lang="zh-CN" altLang="en-US" dirty="0"/>
              <a:t>采样获取的指令地址不准确</a:t>
            </a:r>
            <a:endParaRPr lang="en-US" altLang="zh-CN" dirty="0"/>
          </a:p>
          <a:p>
            <a:pPr lvl="2"/>
            <a:r>
              <a:rPr lang="zh-CN" altLang="en-US" dirty="0"/>
              <a:t>中断发送需要时间，</a:t>
            </a:r>
            <a:r>
              <a:rPr lang="en-US" altLang="ja-JP" dirty="0"/>
              <a:t>CPU</a:t>
            </a:r>
            <a:r>
              <a:rPr lang="zh-CN" altLang="en-US" dirty="0"/>
              <a:t>收到中断时的指令地址，与产生采样点指令地址可能存在偏移 （</a:t>
            </a:r>
            <a:r>
              <a:rPr lang="en-US" altLang="zh-CN" dirty="0"/>
              <a:t>skid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乱序执行</a:t>
            </a:r>
            <a:endParaRPr lang="en-US" altLang="zh-CN" dirty="0"/>
          </a:p>
          <a:p>
            <a:pPr lvl="1"/>
            <a:r>
              <a:rPr lang="zh-CN" altLang="en-US" dirty="0"/>
              <a:t>中断时无法收集完整的采样信息</a:t>
            </a:r>
            <a:endParaRPr lang="en-US" altLang="zh-CN" dirty="0"/>
          </a:p>
          <a:p>
            <a:pPr lvl="2"/>
            <a:r>
              <a:rPr lang="en-US" altLang="zh-CN" dirty="0"/>
              <a:t>E.g.,</a:t>
            </a:r>
            <a:r>
              <a:rPr lang="zh-CN" altLang="en-US" dirty="0"/>
              <a:t> 缓存缺失时，对应的内存地址未知</a:t>
            </a:r>
            <a:endParaRPr lang="en-US" altLang="ja-JP" dirty="0"/>
          </a:p>
          <a:p>
            <a:r>
              <a:rPr lang="zh-CN" altLang="en-US" dirty="0"/>
              <a:t>更精确的采样支持需要：</a:t>
            </a:r>
            <a:endParaRPr lang="en-US" altLang="zh-CN" dirty="0"/>
          </a:p>
          <a:p>
            <a:pPr lvl="1"/>
            <a:r>
              <a:rPr lang="zh-CN" altLang="en-US" dirty="0"/>
              <a:t>计数器溢出时马上收集信息</a:t>
            </a:r>
            <a:endParaRPr lang="en-US" altLang="zh-CN" dirty="0"/>
          </a:p>
          <a:p>
            <a:pPr lvl="1"/>
            <a:r>
              <a:rPr lang="zh-CN" altLang="en-US" dirty="0"/>
              <a:t>能够收集更广泛的信息</a:t>
            </a:r>
            <a:endParaRPr lang="en-US" altLang="zh-CN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8114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精确采样硬件支持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5" y="1198002"/>
            <a:ext cx="7930917" cy="377163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例如</a:t>
            </a:r>
            <a:r>
              <a:rPr lang="en-US" altLang="zh-CN" sz="2000" dirty="0"/>
              <a:t>x86</a:t>
            </a:r>
            <a:r>
              <a:rPr lang="zh-CN" altLang="en-US" sz="2000" dirty="0"/>
              <a:t>的</a:t>
            </a:r>
            <a:r>
              <a:rPr lang="en-US" altLang="zh-CN" sz="2000" dirty="0"/>
              <a:t>PEBS</a:t>
            </a:r>
            <a:r>
              <a:rPr lang="zh-CN" altLang="en-US" sz="2000" dirty="0"/>
              <a:t> </a:t>
            </a:r>
            <a:r>
              <a:rPr lang="en-US" altLang="zh-CN" sz="2000" dirty="0"/>
              <a:t>(Processor/Precise Event Based Sampling)</a:t>
            </a:r>
            <a:endParaRPr lang="en-US" altLang="ja-JP" sz="2000" dirty="0"/>
          </a:p>
          <a:p>
            <a:pPr lvl="1"/>
            <a:r>
              <a:rPr lang="zh-CN" altLang="en-US" sz="1800" dirty="0"/>
              <a:t>计数器溢出时，立即记录相关信息至内存</a:t>
            </a:r>
            <a:endParaRPr lang="en-US" altLang="ja-JP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718642-7CBE-DA44-9615-426145BD8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226391"/>
            <a:ext cx="6016972" cy="261235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5D7D65C-4259-134E-A1E4-663D5E74270D}"/>
              </a:ext>
            </a:extLst>
          </p:cNvPr>
          <p:cNvSpPr/>
          <p:nvPr/>
        </p:nvSpPr>
        <p:spPr>
          <a:xfrm>
            <a:off x="6503163" y="3395268"/>
            <a:ext cx="24162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solidFill>
                  <a:srgbClr val="C00000"/>
                </a:solidFill>
              </a:rPr>
              <a:t>可按需配置记录的信息内容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E9136D-EFD6-5D4A-A9B8-F754D13DF802}"/>
              </a:ext>
            </a:extLst>
          </p:cNvPr>
          <p:cNvSpPr/>
          <p:nvPr/>
        </p:nvSpPr>
        <p:spPr>
          <a:xfrm>
            <a:off x="2038649" y="4683362"/>
            <a:ext cx="25202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zh-CN" altLang="en-US" dirty="0">
                <a:solidFill>
                  <a:srgbClr val="C00000"/>
                </a:solidFill>
              </a:rPr>
              <a:t>指定内存区域用于存储采样信息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129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精确采样硬件支持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5" y="1198002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dirty="0"/>
              <a:t>有无必要启用精确采样分析 </a:t>
            </a:r>
            <a:r>
              <a:rPr kumimoji="1" lang="en-US" altLang="zh-CN" dirty="0" err="1"/>
              <a:t>hackbench</a:t>
            </a:r>
            <a:endParaRPr lang="en-US" altLang="zh-CN" dirty="0"/>
          </a:p>
          <a:p>
            <a:pPr lvl="1"/>
            <a:r>
              <a:rPr kumimoji="1" lang="en-US" altLang="zh-CN" dirty="0"/>
              <a:t>perf record -e </a:t>
            </a:r>
            <a:r>
              <a:rPr kumimoji="1" lang="en-US" altLang="zh-CN" dirty="0" err="1"/>
              <a:t>cycles</a:t>
            </a:r>
            <a:r>
              <a:rPr kumimoji="1" lang="en-US" altLang="zh-CN" dirty="0" err="1">
                <a:solidFill>
                  <a:srgbClr val="C00000"/>
                </a:solidFill>
              </a:rPr>
              <a:t>:ppp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hackbench</a:t>
            </a:r>
            <a:endParaRPr kumimoji="1" lang="en-US" altLang="zh-CN" dirty="0"/>
          </a:p>
          <a:p>
            <a:pPr lvl="1"/>
            <a:r>
              <a:rPr lang="zh-CN" altLang="en-US" dirty="0"/>
              <a:t>不具备必要性：即使指令地址有偏移，针对</a:t>
            </a:r>
            <a:r>
              <a:rPr lang="en-US" altLang="zh-CN" dirty="0"/>
              <a:t>cycle</a:t>
            </a:r>
            <a:r>
              <a:rPr lang="zh-CN" altLang="en-US" dirty="0"/>
              <a:t>数采样情况下，各函数收到中断的概率大致不变</a:t>
            </a:r>
            <a:endParaRPr lang="en-US" altLang="zh-CN" dirty="0"/>
          </a:p>
          <a:p>
            <a:r>
              <a:rPr lang="zh-CN" altLang="en-US" dirty="0"/>
              <a:t>何时需要启用精确采样</a:t>
            </a:r>
            <a:endParaRPr lang="en-US" altLang="zh-CN" dirty="0"/>
          </a:p>
          <a:p>
            <a:pPr lvl="1"/>
            <a:r>
              <a:rPr lang="zh-CN" altLang="en-US" dirty="0"/>
              <a:t>需要确定发生特定事件（缓存缺失、跳转预测失败）时指令地址</a:t>
            </a:r>
            <a:endParaRPr lang="en-US" altLang="zh-CN" dirty="0"/>
          </a:p>
          <a:p>
            <a:pPr lvl="1"/>
            <a:r>
              <a:rPr lang="zh-CN" altLang="en-US" dirty="0"/>
              <a:t>需要除了指令地址外的其他采样信息</a:t>
            </a:r>
            <a:endParaRPr lang="en-US" altLang="zh-CN" dirty="0"/>
          </a:p>
          <a:p>
            <a:pPr lvl="2"/>
            <a:r>
              <a:rPr lang="en-US" altLang="zh-CN" dirty="0"/>
              <a:t>E.g., </a:t>
            </a:r>
            <a:r>
              <a:rPr lang="zh-CN" altLang="en-US" dirty="0"/>
              <a:t>获取缓存缺失地址：</a:t>
            </a:r>
            <a:r>
              <a:rPr lang="en-US" altLang="zh-CN" dirty="0"/>
              <a:t>perf mem record</a:t>
            </a: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2757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控制流追踪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步骤一：确定哪些函数占用了较长执行时间 </a:t>
            </a:r>
            <a:r>
              <a:rPr lang="en-US" altLang="zh-CN" dirty="0"/>
              <a:t>-</a:t>
            </a:r>
            <a:r>
              <a:rPr lang="zh-CN" altLang="en-US" dirty="0"/>
              <a:t> 采样</a:t>
            </a:r>
            <a:endParaRPr lang="en-US" altLang="zh-CN" dirty="0"/>
          </a:p>
          <a:p>
            <a:r>
              <a:rPr lang="zh-CN" altLang="en-US" dirty="0"/>
              <a:t>步骤二：确定是如何执行到该函数的？</a:t>
            </a:r>
            <a:endParaRPr lang="en-US" altLang="zh-CN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99B099D-DA4D-534E-9201-F79ACF28077F}"/>
              </a:ext>
            </a:extLst>
          </p:cNvPr>
          <p:cNvGrpSpPr/>
          <p:nvPr/>
        </p:nvGrpSpPr>
        <p:grpSpPr>
          <a:xfrm>
            <a:off x="555246" y="3162037"/>
            <a:ext cx="7772400" cy="1943100"/>
            <a:chOff x="685800" y="2836750"/>
            <a:chExt cx="7772400" cy="1943100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061715F-DD92-764F-9526-C1D6329DB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2836750"/>
              <a:ext cx="7772400" cy="1943100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0CA8377-971A-1947-A5CE-FFC1084AF07B}"/>
                </a:ext>
              </a:extLst>
            </p:cNvPr>
            <p:cNvSpPr/>
            <p:nvPr/>
          </p:nvSpPr>
          <p:spPr>
            <a:xfrm>
              <a:off x="4863191" y="3808301"/>
              <a:ext cx="3525234" cy="27333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180007CE-9AB1-CC40-BC51-3E13CF47AAE4}"/>
              </a:ext>
            </a:extLst>
          </p:cNvPr>
          <p:cNvSpPr txBox="1"/>
          <p:nvPr/>
        </p:nvSpPr>
        <p:spPr>
          <a:xfrm>
            <a:off x="6598568" y="2552963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谁调用了该函数？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4C6B9116-8C9D-E541-8BB6-21A4A79AB4C3}"/>
              </a:ext>
            </a:extLst>
          </p:cNvPr>
          <p:cNvCxnSpPr>
            <a:cxnSpLocks/>
          </p:cNvCxnSpPr>
          <p:nvPr/>
        </p:nvCxnSpPr>
        <p:spPr>
          <a:xfrm flipV="1">
            <a:off x="7885366" y="2957844"/>
            <a:ext cx="0" cy="11828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L 形 6">
            <a:extLst>
              <a:ext uri="{FF2B5EF4-FFF2-40B4-BE49-F238E27FC236}">
                <a16:creationId xmlns:a16="http://schemas.microsoft.com/office/drawing/2014/main" id="{8F0F0C50-087B-E644-9522-2A833ED8E77A}"/>
              </a:ext>
            </a:extLst>
          </p:cNvPr>
          <p:cNvSpPr/>
          <p:nvPr/>
        </p:nvSpPr>
        <p:spPr>
          <a:xfrm rot="18819095">
            <a:off x="7645478" y="1450949"/>
            <a:ext cx="314083" cy="204873"/>
          </a:xfrm>
          <a:prstGeom prst="corner">
            <a:avLst>
              <a:gd name="adj1" fmla="val 21781"/>
              <a:gd name="adj2" fmla="val 2381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9169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控制流追踪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基于软件的控制流追踪</a:t>
            </a:r>
            <a:endParaRPr lang="en-US" altLang="zh-CN" dirty="0"/>
          </a:p>
          <a:p>
            <a:pPr lvl="1"/>
            <a:r>
              <a:rPr lang="en-US" altLang="zh-CN" dirty="0" err="1"/>
              <a:t>backtrace</a:t>
            </a:r>
            <a:r>
              <a:rPr lang="zh-CN" altLang="en-US" dirty="0"/>
              <a:t>：根据调用栈递归获取上层调用者</a:t>
            </a:r>
            <a:endParaRPr lang="en-US" altLang="ja-JP" dirty="0"/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/>
              <a:t>编译器优化可能去除栈指针存储</a:t>
            </a:r>
            <a:endParaRPr lang="en-US" altLang="zh-CN" dirty="0"/>
          </a:p>
          <a:p>
            <a:pPr lvl="1"/>
            <a:r>
              <a:rPr lang="zh-CN" altLang="en-US" dirty="0"/>
              <a:t>只能处理函数调用</a:t>
            </a:r>
            <a:endParaRPr lang="en-US" altLang="zh-CN" dirty="0"/>
          </a:p>
          <a:p>
            <a:pPr lvl="2"/>
            <a:r>
              <a:rPr lang="zh-CN" altLang="en-US" dirty="0"/>
              <a:t>无法应对</a:t>
            </a:r>
            <a:r>
              <a:rPr lang="en-US" altLang="zh-CN" dirty="0" err="1"/>
              <a:t>jmp</a:t>
            </a:r>
            <a:r>
              <a:rPr lang="zh-CN" altLang="en-US" dirty="0"/>
              <a:t>、中断等导致的控制流变化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5788C85-33C3-A440-9328-3305AE6B4340}"/>
              </a:ext>
            </a:extLst>
          </p:cNvPr>
          <p:cNvGrpSpPr/>
          <p:nvPr/>
        </p:nvGrpSpPr>
        <p:grpSpPr>
          <a:xfrm>
            <a:off x="6804248" y="1201316"/>
            <a:ext cx="1403176" cy="721859"/>
            <a:chOff x="6553200" y="2677480"/>
            <a:chExt cx="1403176" cy="72185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98AF7CB-683C-C640-B4C6-62236635FD23}"/>
                </a:ext>
              </a:extLst>
            </p:cNvPr>
            <p:cNvSpPr/>
            <p:nvPr/>
          </p:nvSpPr>
          <p:spPr>
            <a:xfrm>
              <a:off x="6553200" y="3039299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saved FP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D584E53-C27F-2B42-8ECF-E660238436D4}"/>
                </a:ext>
              </a:extLst>
            </p:cNvPr>
            <p:cNvSpPr/>
            <p:nvPr/>
          </p:nvSpPr>
          <p:spPr>
            <a:xfrm>
              <a:off x="6553200" y="2677480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ret </a:t>
              </a:r>
              <a:r>
                <a:rPr kumimoji="1" lang="en-US" altLang="zh-CN" dirty="0" err="1">
                  <a:solidFill>
                    <a:schemeClr val="tx1"/>
                  </a:solidFill>
                </a:rPr>
                <a:t>addr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A340B41-C6DD-E642-971C-7166D546D9E6}"/>
              </a:ext>
            </a:extLst>
          </p:cNvPr>
          <p:cNvGrpSpPr/>
          <p:nvPr/>
        </p:nvGrpSpPr>
        <p:grpSpPr>
          <a:xfrm>
            <a:off x="6804248" y="4023238"/>
            <a:ext cx="1403176" cy="721859"/>
            <a:chOff x="6553200" y="2677480"/>
            <a:chExt cx="1403176" cy="72185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8C31994-4697-7C4E-8DE9-89BCC0C6F018}"/>
                </a:ext>
              </a:extLst>
            </p:cNvPr>
            <p:cNvSpPr/>
            <p:nvPr/>
          </p:nvSpPr>
          <p:spPr>
            <a:xfrm>
              <a:off x="6553200" y="3039299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saved FP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B44E150-D4D4-2540-AED6-D76C8796DC69}"/>
                </a:ext>
              </a:extLst>
            </p:cNvPr>
            <p:cNvSpPr/>
            <p:nvPr/>
          </p:nvSpPr>
          <p:spPr>
            <a:xfrm>
              <a:off x="6553200" y="2677480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ret </a:t>
              </a:r>
              <a:r>
                <a:rPr kumimoji="1" lang="en-US" altLang="zh-CN" dirty="0" err="1">
                  <a:solidFill>
                    <a:schemeClr val="tx1"/>
                  </a:solidFill>
                </a:rPr>
                <a:t>addr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4F0BFC0-AFDB-D34E-8199-B6ABD4E6EA4C}"/>
              </a:ext>
            </a:extLst>
          </p:cNvPr>
          <p:cNvGrpSpPr/>
          <p:nvPr/>
        </p:nvGrpSpPr>
        <p:grpSpPr>
          <a:xfrm>
            <a:off x="6804248" y="2851727"/>
            <a:ext cx="1403176" cy="721859"/>
            <a:chOff x="6553200" y="2677480"/>
            <a:chExt cx="1403176" cy="72185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6AE3451-7AB9-F547-A13C-4FA76B663593}"/>
                </a:ext>
              </a:extLst>
            </p:cNvPr>
            <p:cNvSpPr/>
            <p:nvPr/>
          </p:nvSpPr>
          <p:spPr>
            <a:xfrm>
              <a:off x="6553200" y="3039299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saved FP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AF5AF56-4F0F-A945-A4A3-9D29A053B602}"/>
                </a:ext>
              </a:extLst>
            </p:cNvPr>
            <p:cNvSpPr/>
            <p:nvPr/>
          </p:nvSpPr>
          <p:spPr>
            <a:xfrm>
              <a:off x="6553200" y="2677480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ret </a:t>
              </a:r>
              <a:r>
                <a:rPr kumimoji="1" lang="en-US" altLang="zh-CN" dirty="0" err="1">
                  <a:solidFill>
                    <a:schemeClr val="tx1"/>
                  </a:solidFill>
                </a:rPr>
                <a:t>addr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F6EE4EA7-4B58-934B-9838-B03276DAE56D}"/>
              </a:ext>
            </a:extLst>
          </p:cNvPr>
          <p:cNvCxnSpPr/>
          <p:nvPr/>
        </p:nvCxnSpPr>
        <p:spPr>
          <a:xfrm>
            <a:off x="6804248" y="1923175"/>
            <a:ext cx="0" cy="928552"/>
          </a:xfrm>
          <a:prstGeom prst="line">
            <a:avLst/>
          </a:prstGeom>
          <a:ln w="19050">
            <a:solidFill>
              <a:srgbClr val="8B263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8F2D5FD2-9492-6B44-94D3-E7898B8C84DF}"/>
              </a:ext>
            </a:extLst>
          </p:cNvPr>
          <p:cNvCxnSpPr/>
          <p:nvPr/>
        </p:nvCxnSpPr>
        <p:spPr>
          <a:xfrm>
            <a:off x="8207424" y="1923175"/>
            <a:ext cx="0" cy="928552"/>
          </a:xfrm>
          <a:prstGeom prst="line">
            <a:avLst/>
          </a:prstGeom>
          <a:ln w="19050">
            <a:solidFill>
              <a:srgbClr val="8B263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BE3CFD89-333C-0442-B4DD-032264E485FD}"/>
              </a:ext>
            </a:extLst>
          </p:cNvPr>
          <p:cNvCxnSpPr>
            <a:cxnSpLocks/>
          </p:cNvCxnSpPr>
          <p:nvPr/>
        </p:nvCxnSpPr>
        <p:spPr>
          <a:xfrm>
            <a:off x="6804248" y="3573586"/>
            <a:ext cx="0" cy="449652"/>
          </a:xfrm>
          <a:prstGeom prst="line">
            <a:avLst/>
          </a:prstGeom>
          <a:ln w="19050">
            <a:solidFill>
              <a:srgbClr val="8B263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D894726D-BFF8-7542-8021-4F1E142DDEE8}"/>
              </a:ext>
            </a:extLst>
          </p:cNvPr>
          <p:cNvCxnSpPr>
            <a:cxnSpLocks/>
          </p:cNvCxnSpPr>
          <p:nvPr/>
        </p:nvCxnSpPr>
        <p:spPr>
          <a:xfrm>
            <a:off x="8207424" y="3573586"/>
            <a:ext cx="0" cy="449652"/>
          </a:xfrm>
          <a:prstGeom prst="line">
            <a:avLst/>
          </a:prstGeom>
          <a:ln w="19050">
            <a:solidFill>
              <a:srgbClr val="8B263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C616D042-D138-E148-85BF-22A633BEDC6B}"/>
              </a:ext>
            </a:extLst>
          </p:cNvPr>
          <p:cNvSpPr/>
          <p:nvPr/>
        </p:nvSpPr>
        <p:spPr>
          <a:xfrm>
            <a:off x="5436096" y="4504392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dirty="0"/>
              <a:t>当前</a:t>
            </a:r>
            <a:r>
              <a:rPr kumimoji="1" lang="en-US" altLang="zh-CN" dirty="0"/>
              <a:t>FP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29EEEC94-F687-1E4D-8722-FD7B27FA48B0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6377379" y="4675271"/>
            <a:ext cx="426869" cy="13787"/>
          </a:xfrm>
          <a:prstGeom prst="straightConnector1">
            <a:avLst/>
          </a:prstGeom>
          <a:ln w="28575">
            <a:solidFill>
              <a:schemeClr val="accent1">
                <a:shade val="95000"/>
                <a:satMod val="105000"/>
                <a:alpha val="6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曲线连接符 27">
            <a:extLst>
              <a:ext uri="{FF2B5EF4-FFF2-40B4-BE49-F238E27FC236}">
                <a16:creationId xmlns:a16="http://schemas.microsoft.com/office/drawing/2014/main" id="{E22EEF43-170F-AE47-AB83-8C39DC08A6B6}"/>
              </a:ext>
            </a:extLst>
          </p:cNvPr>
          <p:cNvCxnSpPr>
            <a:stCxn id="12" idx="1"/>
            <a:endCxn id="15" idx="1"/>
          </p:cNvCxnSpPr>
          <p:nvPr/>
        </p:nvCxnSpPr>
        <p:spPr>
          <a:xfrm rot="10800000">
            <a:off x="6804248" y="3393567"/>
            <a:ext cx="12700" cy="1171511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1">
                <a:shade val="95000"/>
                <a:satMod val="105000"/>
                <a:alpha val="64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曲线连接符 28">
            <a:extLst>
              <a:ext uri="{FF2B5EF4-FFF2-40B4-BE49-F238E27FC236}">
                <a16:creationId xmlns:a16="http://schemas.microsoft.com/office/drawing/2014/main" id="{FF53630A-384A-2D4E-B827-F4B31912343E}"/>
              </a:ext>
            </a:extLst>
          </p:cNvPr>
          <p:cNvCxnSpPr>
            <a:cxnSpLocks/>
            <a:stCxn id="15" idx="1"/>
            <a:endCxn id="6" idx="1"/>
          </p:cNvCxnSpPr>
          <p:nvPr/>
        </p:nvCxnSpPr>
        <p:spPr>
          <a:xfrm rot="10800000">
            <a:off x="6804248" y="1743156"/>
            <a:ext cx="12700" cy="1650411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1">
                <a:shade val="95000"/>
                <a:satMod val="105000"/>
                <a:alpha val="64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358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控制流追踪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76" y="1201316"/>
            <a:ext cx="8229600" cy="354200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基于硬件的控制流追踪</a:t>
            </a:r>
            <a:endParaRPr lang="en-US" altLang="zh-CN" sz="2000" dirty="0"/>
          </a:p>
          <a:p>
            <a:pPr lvl="1"/>
            <a:r>
              <a:rPr lang="zh-CN" altLang="en-US" sz="1800" dirty="0"/>
              <a:t>记录</a:t>
            </a:r>
            <a:r>
              <a:rPr lang="en-US" altLang="zh-CN" sz="1800" dirty="0" err="1"/>
              <a:t>jmp</a:t>
            </a:r>
            <a:r>
              <a:rPr lang="zh-CN" altLang="en-US" sz="1800" dirty="0"/>
              <a:t>、</a:t>
            </a:r>
            <a:r>
              <a:rPr lang="en-US" altLang="zh-CN" sz="1800" dirty="0"/>
              <a:t>call</a:t>
            </a:r>
            <a:r>
              <a:rPr lang="zh-CN" altLang="en-US" sz="1800" dirty="0"/>
              <a:t>、中断等导致跳转的前后位置，构建完整控制流</a:t>
            </a:r>
            <a:endParaRPr lang="en-US" altLang="ja-JP" sz="1800" dirty="0"/>
          </a:p>
          <a:p>
            <a:pPr lvl="1"/>
            <a:r>
              <a:rPr lang="en-US" altLang="ja-JP" sz="1800" dirty="0"/>
              <a:t>e.g., </a:t>
            </a:r>
            <a:r>
              <a:rPr lang="en-US" altLang="zh-CN" sz="1800" dirty="0"/>
              <a:t>Last</a:t>
            </a:r>
            <a:r>
              <a:rPr lang="zh-CN" altLang="en-US" sz="1800" dirty="0"/>
              <a:t> </a:t>
            </a:r>
            <a:r>
              <a:rPr lang="en-US" altLang="zh-CN" sz="1800" dirty="0"/>
              <a:t>Branch</a:t>
            </a:r>
            <a:r>
              <a:rPr lang="zh-CN" altLang="en-US" sz="1800" dirty="0"/>
              <a:t> </a:t>
            </a:r>
            <a:r>
              <a:rPr lang="en-US" altLang="zh-CN" sz="1800" dirty="0"/>
              <a:t>Record (Intel)</a:t>
            </a:r>
          </a:p>
          <a:p>
            <a:pPr lvl="2"/>
            <a:r>
              <a:rPr lang="zh-CN" altLang="en-US" sz="1800" dirty="0"/>
              <a:t>两组寄存器分别构成栈，记录最近</a:t>
            </a:r>
            <a:r>
              <a:rPr lang="en-US" altLang="zh-CN" sz="1800" dirty="0"/>
              <a:t>N</a:t>
            </a:r>
            <a:r>
              <a:rPr lang="zh-CN" altLang="en-US" sz="1800" dirty="0"/>
              <a:t>次跳转的信息</a:t>
            </a:r>
            <a:endParaRPr lang="en-US" altLang="ja-JP" sz="1800" dirty="0"/>
          </a:p>
          <a:p>
            <a:endParaRPr lang="en-US" altLang="ja-JP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3D7520-1403-2343-91A0-DBEE4CC01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00" y="3018529"/>
            <a:ext cx="7557025" cy="206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855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追踪</a:t>
            </a:r>
            <a:r>
              <a:rPr kumimoji="1" lang="en-US" altLang="zh-CN" dirty="0" err="1"/>
              <a:t>hackbench</a:t>
            </a:r>
            <a:r>
              <a:rPr kumimoji="1" lang="zh-CN" altLang="en-US" dirty="0"/>
              <a:t>控制流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指示</a:t>
            </a:r>
            <a:r>
              <a:rPr kumimoji="1" lang="en-US" altLang="zh-CN" dirty="0"/>
              <a:t>perf</a:t>
            </a:r>
            <a:r>
              <a:rPr kumimoji="1" lang="zh-CN" altLang="en-US" dirty="0"/>
              <a:t>采样时记录控制流变化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 record -e cycles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-g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hackbench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report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F49D4CC-0F99-5641-ADB1-8B7F2703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56" y="2620047"/>
            <a:ext cx="5517344" cy="232251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7A69C3A3-498F-234D-B055-F91D427EAD45}"/>
              </a:ext>
            </a:extLst>
          </p:cNvPr>
          <p:cNvSpPr txBox="1"/>
          <p:nvPr/>
        </p:nvSpPr>
        <p:spPr>
          <a:xfrm>
            <a:off x="6751257" y="3642436"/>
            <a:ext cx="18163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确定了一条访问</a:t>
            </a:r>
            <a:r>
              <a:rPr kumimoji="1" lang="en-US" altLang="zh-CN" dirty="0" err="1"/>
              <a:t>copy_user_xxx</a:t>
            </a:r>
            <a:r>
              <a:rPr kumimoji="1" lang="zh-CN" altLang="en-US" dirty="0"/>
              <a:t>的代码路径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由</a:t>
            </a:r>
            <a:r>
              <a:rPr kumimoji="1" lang="en-US" altLang="zh-CN" dirty="0" err="1"/>
              <a:t>vfs_read</a:t>
            </a:r>
            <a:r>
              <a:rPr kumimoji="1" lang="zh-CN" altLang="en-US" dirty="0"/>
              <a:t>导致</a:t>
            </a:r>
          </a:p>
        </p:txBody>
      </p:sp>
    </p:spTree>
    <p:extLst>
      <p:ext uri="{BB962C8B-B14F-4D97-AF65-F5344CB8AC3E}">
        <p14:creationId xmlns:p14="http://schemas.microsoft.com/office/powerpoint/2010/main" val="20461433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程序执行追踪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步骤一：确定哪些函数占用了较长执行时间 </a:t>
            </a:r>
            <a:r>
              <a:rPr lang="en-US" altLang="zh-CN" dirty="0"/>
              <a:t>-</a:t>
            </a:r>
            <a:r>
              <a:rPr lang="zh-CN" altLang="en-US" dirty="0"/>
              <a:t> 采样</a:t>
            </a:r>
            <a:endParaRPr lang="en-US" altLang="zh-CN" dirty="0"/>
          </a:p>
          <a:p>
            <a:r>
              <a:rPr lang="zh-CN" altLang="en-US" dirty="0"/>
              <a:t>步骤二：确定是如何执行到该函数的</a:t>
            </a:r>
            <a:r>
              <a:rPr lang="en-US" altLang="zh-CN" dirty="0"/>
              <a:t> – </a:t>
            </a:r>
            <a:r>
              <a:rPr lang="zh-CN" altLang="en-US" dirty="0"/>
              <a:t>控制流跟踪</a:t>
            </a:r>
            <a:endParaRPr lang="en-US" altLang="zh-CN" dirty="0"/>
          </a:p>
          <a:p>
            <a:r>
              <a:rPr lang="zh-CN" altLang="en-US" dirty="0"/>
              <a:t>步骤三：理解程序行为，为什么会产生这种调用关系</a:t>
            </a:r>
            <a:endParaRPr lang="en-US" altLang="zh-CN" dirty="0"/>
          </a:p>
          <a:p>
            <a:pPr lvl="1"/>
            <a:r>
              <a:rPr lang="en-US" altLang="zh-CN" dirty="0" err="1"/>
              <a:t>hackbench</a:t>
            </a:r>
            <a:r>
              <a:rPr lang="zh-CN" altLang="en-US" dirty="0"/>
              <a:t> 中大量时间处理</a:t>
            </a:r>
            <a:r>
              <a:rPr lang="en-US" altLang="zh-CN" dirty="0"/>
              <a:t>socket</a:t>
            </a:r>
            <a:r>
              <a:rPr lang="zh-CN" altLang="en-US" dirty="0"/>
              <a:t>读写，读写数据规模有多大</a:t>
            </a:r>
            <a:endParaRPr lang="en-US" altLang="zh-CN" dirty="0"/>
          </a:p>
          <a:p>
            <a:pPr lvl="1"/>
            <a:r>
              <a:rPr lang="zh-CN" altLang="en-US" dirty="0"/>
              <a:t>作为调度测试，</a:t>
            </a:r>
            <a:r>
              <a:rPr lang="en-US" altLang="zh-CN" dirty="0" err="1"/>
              <a:t>hackbench</a:t>
            </a:r>
            <a:r>
              <a:rPr lang="en-US" altLang="zh-CN" dirty="0"/>
              <a:t> </a:t>
            </a:r>
            <a:r>
              <a:rPr lang="zh-CN" altLang="en-US" dirty="0"/>
              <a:t>是否对调度器产生了足够压力</a:t>
            </a:r>
            <a:endParaRPr lang="en-US" altLang="zh-CN" dirty="0"/>
          </a:p>
          <a:p>
            <a:r>
              <a:rPr lang="zh-CN" altLang="en-US" dirty="0"/>
              <a:t>需要具有更多程序语义的跟踪机制</a:t>
            </a:r>
            <a:endParaRPr lang="en-US" altLang="zh-CN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L 形 5">
            <a:extLst>
              <a:ext uri="{FF2B5EF4-FFF2-40B4-BE49-F238E27FC236}">
                <a16:creationId xmlns:a16="http://schemas.microsoft.com/office/drawing/2014/main" id="{C59C4413-C9F5-2D47-A2DD-B451C661C4AE}"/>
              </a:ext>
            </a:extLst>
          </p:cNvPr>
          <p:cNvSpPr/>
          <p:nvPr/>
        </p:nvSpPr>
        <p:spPr>
          <a:xfrm rot="18819095">
            <a:off x="7645478" y="1450949"/>
            <a:ext cx="314083" cy="204873"/>
          </a:xfrm>
          <a:prstGeom prst="corner">
            <a:avLst>
              <a:gd name="adj1" fmla="val 21781"/>
              <a:gd name="adj2" fmla="val 2381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L 形 6">
            <a:extLst>
              <a:ext uri="{FF2B5EF4-FFF2-40B4-BE49-F238E27FC236}">
                <a16:creationId xmlns:a16="http://schemas.microsoft.com/office/drawing/2014/main" id="{5EC4D1B2-D0FB-A244-BE42-AD3CE7050729}"/>
              </a:ext>
            </a:extLst>
          </p:cNvPr>
          <p:cNvSpPr/>
          <p:nvPr/>
        </p:nvSpPr>
        <p:spPr>
          <a:xfrm rot="18819095">
            <a:off x="7680647" y="2015674"/>
            <a:ext cx="314083" cy="204873"/>
          </a:xfrm>
          <a:prstGeom prst="corner">
            <a:avLst>
              <a:gd name="adj1" fmla="val 21781"/>
              <a:gd name="adj2" fmla="val 2381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1309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静态追踪方法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在代码编写时静态插桩获取信息的方法</a:t>
            </a:r>
            <a:endParaRPr lang="en-US" altLang="zh-CN" dirty="0"/>
          </a:p>
          <a:p>
            <a:pPr lvl="1"/>
            <a:r>
              <a:rPr lang="zh-CN" altLang="en-US" dirty="0"/>
              <a:t>简单可靠的方法：打印</a:t>
            </a:r>
            <a:endParaRPr lang="en-US" altLang="zh-CN" dirty="0"/>
          </a:p>
          <a:p>
            <a:pPr lvl="1"/>
            <a:endParaRPr lang="en-US" altLang="ja-JP" dirty="0"/>
          </a:p>
          <a:p>
            <a:r>
              <a:rPr lang="zh-CN" altLang="en-US" dirty="0"/>
              <a:t>在常用的函数中预置静态的跟踪函数</a:t>
            </a:r>
            <a:endParaRPr lang="en-US" altLang="zh-CN" dirty="0"/>
          </a:p>
          <a:p>
            <a:pPr lvl="1"/>
            <a:r>
              <a:rPr lang="zh-CN" altLang="en-US" dirty="0"/>
              <a:t>打印可能造成性能开销</a:t>
            </a:r>
            <a:endParaRPr lang="en-US" altLang="zh-CN" dirty="0"/>
          </a:p>
          <a:p>
            <a:pPr lvl="1"/>
            <a:r>
              <a:rPr lang="zh-CN" altLang="en-US" dirty="0"/>
              <a:t>提供打开或关闭选项，关闭时应几乎不产生性能开销</a:t>
            </a:r>
            <a:endParaRPr lang="en-US" altLang="zh-CN" dirty="0"/>
          </a:p>
          <a:p>
            <a:pPr lvl="2"/>
            <a:r>
              <a:rPr lang="en-US" altLang="ja-JP" dirty="0"/>
              <a:t>e.g., Linux</a:t>
            </a:r>
            <a:r>
              <a:rPr lang="zh-CN" altLang="en-US" dirty="0"/>
              <a:t> 的 </a:t>
            </a:r>
            <a:r>
              <a:rPr lang="en-US" altLang="ja-JP" dirty="0" err="1"/>
              <a:t>Tracepoint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37495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静态追踪方法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以 </a:t>
            </a:r>
            <a:r>
              <a:rPr lang="en-US" altLang="zh-CN" sz="2000" dirty="0" err="1"/>
              <a:t>hackbench</a:t>
            </a:r>
            <a:r>
              <a:rPr lang="zh-CN" altLang="en-US" sz="2000" dirty="0"/>
              <a:t> 为例，如何了解线程切换情况</a:t>
            </a:r>
            <a:endParaRPr lang="en-US" altLang="zh-CN" sz="2000" dirty="0"/>
          </a:p>
          <a:p>
            <a:pPr lvl="1"/>
            <a:r>
              <a:rPr lang="zh-CN" altLang="en-US" sz="1800" dirty="0"/>
              <a:t>分析调度是一种常见需求，因此</a:t>
            </a:r>
            <a:r>
              <a:rPr lang="en-US" altLang="zh-CN" sz="1800" dirty="0"/>
              <a:t>Linux</a:t>
            </a:r>
            <a:r>
              <a:rPr lang="zh-CN" altLang="en-US" sz="1800" dirty="0"/>
              <a:t>内核在</a:t>
            </a:r>
            <a:r>
              <a:rPr lang="en-US" altLang="zh-CN" sz="1800" dirty="0"/>
              <a:t>__schedule</a:t>
            </a:r>
            <a:r>
              <a:rPr lang="zh-CN" altLang="en-US" sz="1800" dirty="0"/>
              <a:t>函数中内置了</a:t>
            </a:r>
            <a:r>
              <a:rPr lang="en-US" altLang="zh-CN" sz="1800" dirty="0" err="1"/>
              <a:t>Tracepoint</a:t>
            </a:r>
            <a:endParaRPr lang="en-US" altLang="zh-CN" sz="1800" dirty="0"/>
          </a:p>
          <a:p>
            <a:pPr marL="457200" lvl="1" indent="0">
              <a:buNone/>
            </a:pPr>
            <a:endParaRPr lang="en-US" altLang="ja-JP" sz="1800" dirty="0"/>
          </a:p>
          <a:p>
            <a:pPr lvl="1"/>
            <a:endParaRPr lang="en-US" altLang="ja-JP" sz="1800" dirty="0"/>
          </a:p>
          <a:p>
            <a:pPr lvl="1"/>
            <a:endParaRPr lang="en-US" altLang="ja-JP" sz="1800" dirty="0"/>
          </a:p>
          <a:p>
            <a:pPr lvl="1"/>
            <a:endParaRPr lang="en-US" altLang="ja-JP" sz="1800" dirty="0"/>
          </a:p>
          <a:p>
            <a:endParaRPr lang="en-US" altLang="ja-JP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9AE2CA-C189-C145-8AAD-FEDED3662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36" y="2857500"/>
            <a:ext cx="4320480" cy="16419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98FC5C5-5380-2947-81A0-18FE59EFA3AC}"/>
              </a:ext>
            </a:extLst>
          </p:cNvPr>
          <p:cNvSpPr txBox="1"/>
          <p:nvPr/>
        </p:nvSpPr>
        <p:spPr>
          <a:xfrm>
            <a:off x="4859119" y="4465965"/>
            <a:ext cx="4070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if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(unlikely(</a:t>
            </a:r>
            <a:r>
              <a:rPr kumimoji="1" lang="en-US" altLang="zh-CN" sz="1600" dirty="0" err="1"/>
              <a:t>trace_sched_switch_enabled</a:t>
            </a:r>
            <a:r>
              <a:rPr kumimoji="1" lang="en-US" altLang="zh-CN" sz="1600" dirty="0"/>
              <a:t>)) {</a:t>
            </a:r>
          </a:p>
          <a:p>
            <a:r>
              <a:rPr kumimoji="1" lang="en-US" altLang="zh-CN" sz="1600" dirty="0"/>
              <a:t>	</a:t>
            </a:r>
            <a:r>
              <a:rPr kumimoji="1" lang="zh-CN" altLang="en-US" sz="1600" dirty="0"/>
              <a:t>调用打印方法</a:t>
            </a:r>
            <a:endParaRPr kumimoji="1" lang="en-US" altLang="zh-CN" sz="1600" dirty="0"/>
          </a:p>
          <a:p>
            <a:r>
              <a:rPr kumimoji="1" lang="en-US" altLang="zh-CN" sz="1600" dirty="0"/>
              <a:t>}</a:t>
            </a:r>
            <a:endParaRPr kumimoji="1" lang="zh-CN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676D8B-B9CF-454E-B516-5460D1F58E35}"/>
              </a:ext>
            </a:extLst>
          </p:cNvPr>
          <p:cNvSpPr/>
          <p:nvPr/>
        </p:nvSpPr>
        <p:spPr>
          <a:xfrm>
            <a:off x="5652120" y="3191345"/>
            <a:ext cx="282641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用户态应用通过接口修改</a:t>
            </a:r>
            <a:endParaRPr lang="en-US" altLang="zh-CN" sz="1600" dirty="0"/>
          </a:p>
          <a:p>
            <a:r>
              <a:rPr kumimoji="1" lang="en-US" altLang="zh-CN" sz="1600" dirty="0" err="1"/>
              <a:t>trace_sched_switch_enabled</a:t>
            </a:r>
            <a:endParaRPr kumimoji="1" lang="en-US" altLang="zh-CN" sz="1600" dirty="0"/>
          </a:p>
          <a:p>
            <a:r>
              <a:rPr kumimoji="1" lang="zh-CN" altLang="en-US" sz="1600" dirty="0"/>
              <a:t>控制</a:t>
            </a:r>
            <a:r>
              <a:rPr kumimoji="1" lang="en-US" altLang="zh-CN" sz="1600" dirty="0" err="1"/>
              <a:t>Tracepoint</a:t>
            </a:r>
            <a:r>
              <a:rPr kumimoji="1" lang="zh-CN" altLang="en-US" sz="1600" dirty="0"/>
              <a:t>开关</a:t>
            </a:r>
            <a:endParaRPr lang="zh-CN" altLang="en-US" sz="1600" dirty="0"/>
          </a:p>
        </p:txBody>
      </p:sp>
      <p:sp>
        <p:nvSpPr>
          <p:cNvPr id="15" name="圆角右箭头 14">
            <a:extLst>
              <a:ext uri="{FF2B5EF4-FFF2-40B4-BE49-F238E27FC236}">
                <a16:creationId xmlns:a16="http://schemas.microsoft.com/office/drawing/2014/main" id="{BFC4F164-E37D-BB45-9FAF-11B9762C3146}"/>
              </a:ext>
            </a:extLst>
          </p:cNvPr>
          <p:cNvSpPr/>
          <p:nvPr/>
        </p:nvSpPr>
        <p:spPr>
          <a:xfrm flipV="1">
            <a:off x="2843808" y="4137668"/>
            <a:ext cx="1933872" cy="808064"/>
          </a:xfrm>
          <a:prstGeom prst="bentArrow">
            <a:avLst>
              <a:gd name="adj1" fmla="val 5560"/>
              <a:gd name="adj2" fmla="val 1163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D1804A-D2F0-C741-BB1C-A10F3D04BE52}"/>
              </a:ext>
            </a:extLst>
          </p:cNvPr>
          <p:cNvSpPr/>
          <p:nvPr/>
        </p:nvSpPr>
        <p:spPr>
          <a:xfrm>
            <a:off x="3021146" y="495892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编译生成</a:t>
            </a:r>
          </a:p>
        </p:txBody>
      </p:sp>
    </p:spTree>
    <p:extLst>
      <p:ext uri="{BB962C8B-B14F-4D97-AF65-F5344CB8AC3E}">
        <p14:creationId xmlns:p14="http://schemas.microsoft.com/office/powerpoint/2010/main" val="2781710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  <a:r>
              <a:rPr lang="en-US" altLang="zh-CN" dirty="0" err="1"/>
              <a:t>hackbench</a:t>
            </a:r>
            <a:r>
              <a:rPr lang="zh-CN" altLang="en-US" dirty="0"/>
              <a:t>中线程切换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Tracepiont</a:t>
            </a:r>
            <a:r>
              <a:rPr lang="zh-CN" altLang="en-US" dirty="0"/>
              <a:t>作为</a:t>
            </a:r>
            <a:r>
              <a:rPr lang="en-US" altLang="zh-CN" dirty="0"/>
              <a:t>perf</a:t>
            </a:r>
            <a:r>
              <a:rPr lang="zh-CN" altLang="en-US" dirty="0"/>
              <a:t> </a:t>
            </a:r>
            <a:r>
              <a:rPr lang="en-US" altLang="zh-CN" dirty="0"/>
              <a:t>event</a:t>
            </a:r>
            <a:r>
              <a:rPr lang="zh-CN" altLang="en-US" dirty="0"/>
              <a:t>事件</a:t>
            </a:r>
            <a:endParaRPr lang="en-US" altLang="zh-CN" dirty="0"/>
          </a:p>
          <a:p>
            <a:pPr lvl="1"/>
            <a:r>
              <a:rPr lang="en-US" altLang="zh-CN" dirty="0"/>
              <a:t>perf record </a:t>
            </a:r>
            <a:r>
              <a:rPr lang="en-US" altLang="zh-CN" dirty="0">
                <a:solidFill>
                  <a:srgbClr val="C00000"/>
                </a:solidFill>
              </a:rPr>
              <a:t>-e </a:t>
            </a:r>
            <a:r>
              <a:rPr lang="en-US" altLang="zh-CN" dirty="0" err="1">
                <a:solidFill>
                  <a:srgbClr val="C00000"/>
                </a:solidFill>
              </a:rPr>
              <a:t>sched:sched_switch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/>
              <a:t>hackbench</a:t>
            </a:r>
            <a:endParaRPr lang="en-US" altLang="zh-CN" dirty="0"/>
          </a:p>
          <a:p>
            <a:pPr lvl="1"/>
            <a:r>
              <a:rPr lang="zh-CN" altLang="en-US" dirty="0"/>
              <a:t>作为调度测试，</a:t>
            </a:r>
            <a:r>
              <a:rPr lang="en-US" altLang="zh-CN" dirty="0" err="1"/>
              <a:t>hackbench</a:t>
            </a:r>
            <a:r>
              <a:rPr lang="zh-CN" altLang="en-US" dirty="0"/>
              <a:t>确实触发了大量调度</a:t>
            </a:r>
            <a:endParaRPr lang="en-US" altLang="zh-CN" dirty="0"/>
          </a:p>
          <a:p>
            <a:pPr lvl="1"/>
            <a:r>
              <a:rPr lang="zh-CN" altLang="en-US" dirty="0"/>
              <a:t>获取了调度前后进程名、</a:t>
            </a:r>
            <a:r>
              <a:rPr lang="en-US" altLang="zh-CN" dirty="0" err="1"/>
              <a:t>pid</a:t>
            </a:r>
            <a:r>
              <a:rPr lang="zh-CN" altLang="en-US" dirty="0"/>
              <a:t>、优先级等信息</a:t>
            </a:r>
            <a:endParaRPr lang="en-US" altLang="zh-CN" dirty="0"/>
          </a:p>
          <a:p>
            <a:pPr marL="457200" lvl="1" indent="0">
              <a:buNone/>
            </a:pP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endParaRPr lang="en-US" altLang="ja-JP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1D5C275-CB7C-9545-B565-AA1BD2C16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3564"/>
            <a:ext cx="9144000" cy="117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95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动态追踪方法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静态追踪方法缺陷</a:t>
            </a:r>
            <a:endParaRPr lang="en-US" altLang="zh-CN" dirty="0"/>
          </a:p>
          <a:p>
            <a:pPr lvl="1"/>
            <a:r>
              <a:rPr lang="zh-CN" altLang="en-US" dirty="0"/>
              <a:t>修改静态定义的跟踪点需要重新编写、部署内核</a:t>
            </a:r>
            <a:endParaRPr lang="en-US" altLang="zh-CN" dirty="0"/>
          </a:p>
          <a:p>
            <a:pPr lvl="1"/>
            <a:r>
              <a:rPr lang="en-US" altLang="zh-CN" dirty="0" err="1"/>
              <a:t>Hackbench</a:t>
            </a:r>
            <a:r>
              <a:rPr lang="zh-CN" altLang="en-US" dirty="0"/>
              <a:t>中，已知</a:t>
            </a:r>
            <a:r>
              <a:rPr lang="en-US" altLang="zh-CN" dirty="0"/>
              <a:t>socket</a:t>
            </a:r>
            <a:r>
              <a:rPr lang="zh-CN" altLang="en-US" dirty="0"/>
              <a:t>读操作耗时较长</a:t>
            </a:r>
            <a:endParaRPr lang="en-US" altLang="zh-CN" dirty="0"/>
          </a:p>
          <a:p>
            <a:pPr lvl="2"/>
            <a:r>
              <a:rPr lang="zh-CN" altLang="en-US" dirty="0"/>
              <a:t>是否是数据量较大导致的</a:t>
            </a:r>
            <a:endParaRPr lang="en-US" altLang="zh-CN" dirty="0"/>
          </a:p>
          <a:p>
            <a:pPr lvl="1"/>
            <a:r>
              <a:rPr lang="en-US" altLang="zh-CN" dirty="0" err="1"/>
              <a:t>vfs_read</a:t>
            </a:r>
            <a:r>
              <a:rPr lang="zh-CN" altLang="en-US" dirty="0"/>
              <a:t>没有预置静态</a:t>
            </a:r>
            <a:r>
              <a:rPr lang="en-US" altLang="zh-CN" dirty="0" err="1"/>
              <a:t>Tracepoint</a:t>
            </a:r>
            <a:endParaRPr lang="en-US" altLang="zh-CN" dirty="0"/>
          </a:p>
          <a:p>
            <a:r>
              <a:rPr lang="zh-CN" altLang="en-US" dirty="0"/>
              <a:t>动态方法</a:t>
            </a:r>
            <a:endParaRPr lang="en-US" altLang="zh-CN" dirty="0"/>
          </a:p>
          <a:p>
            <a:pPr lvl="1"/>
            <a:r>
              <a:rPr lang="zh-CN" altLang="en-US" dirty="0"/>
              <a:t>程序运行时，在不确定的代码位置插入一段动态指定的追踪函数</a:t>
            </a:r>
            <a:endParaRPr lang="en-US" altLang="zh-CN" dirty="0"/>
          </a:p>
          <a:p>
            <a:pPr lvl="1"/>
            <a:r>
              <a:rPr lang="en-US" altLang="zh-CN" dirty="0"/>
              <a:t>e.g., Linux</a:t>
            </a:r>
            <a:r>
              <a:rPr lang="zh-CN" altLang="en-US" dirty="0"/>
              <a:t> </a:t>
            </a:r>
            <a:r>
              <a:rPr lang="en-US" altLang="zh-CN" dirty="0" err="1"/>
              <a:t>kprobe</a:t>
            </a:r>
            <a:r>
              <a:rPr lang="zh-CN" altLang="en-US" dirty="0"/>
              <a:t>，实现方式类似于断点调试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D9848E-E039-6D42-A0AF-63A6AAC775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542" b="43447"/>
          <a:stretch/>
        </p:blipFill>
        <p:spPr>
          <a:xfrm>
            <a:off x="6300192" y="2353444"/>
            <a:ext cx="3651630" cy="1167517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F19E3CEE-863B-2D44-B47B-63A8308869EE}"/>
              </a:ext>
            </a:extLst>
          </p:cNvPr>
          <p:cNvSpPr/>
          <p:nvPr/>
        </p:nvSpPr>
        <p:spPr>
          <a:xfrm>
            <a:off x="6444208" y="2281436"/>
            <a:ext cx="136815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41579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动态追踪方法</a:t>
            </a:r>
            <a:r>
              <a:rPr lang="en-US" altLang="zh-CN" dirty="0" err="1"/>
              <a:t>kprobe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使用和调试器类似的原理动态插入代码</a:t>
            </a:r>
            <a:endParaRPr lang="en-US" altLang="zh-CN" dirty="0"/>
          </a:p>
          <a:p>
            <a:pPr lvl="1"/>
            <a:r>
              <a:rPr lang="en-US" altLang="zh-CN" dirty="0"/>
              <a:t>e.g., </a:t>
            </a:r>
            <a:r>
              <a:rPr lang="zh-CN" altLang="en-US" dirty="0"/>
              <a:t>配置</a:t>
            </a:r>
            <a:r>
              <a:rPr lang="en-US" altLang="zh-CN" dirty="0"/>
              <a:t>handler</a:t>
            </a:r>
            <a:r>
              <a:rPr lang="zh-CN" altLang="en-US" dirty="0"/>
              <a:t>函数在执行 </a:t>
            </a:r>
            <a:r>
              <a:rPr lang="zh-CN" altLang="en-US" dirty="0">
                <a:highlight>
                  <a:srgbClr val="FFFF00"/>
                </a:highlight>
              </a:rPr>
              <a:t>指令</a:t>
            </a:r>
            <a:r>
              <a:rPr lang="en-US" altLang="zh-CN" dirty="0">
                <a:highlight>
                  <a:srgbClr val="FFFF00"/>
                </a:highlight>
              </a:rPr>
              <a:t>2</a:t>
            </a:r>
            <a:r>
              <a:rPr lang="zh-CN" altLang="en-US" dirty="0"/>
              <a:t> 之前执行</a:t>
            </a: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8483AE-9700-2D44-B699-B0724B129C7A}"/>
              </a:ext>
            </a:extLst>
          </p:cNvPr>
          <p:cNvSpPr txBox="1"/>
          <p:nvPr/>
        </p:nvSpPr>
        <p:spPr>
          <a:xfrm>
            <a:off x="-515935" y="288795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47BCCA-34F5-8340-9BB3-321698B498FF}"/>
              </a:ext>
            </a:extLst>
          </p:cNvPr>
          <p:cNvSpPr txBox="1"/>
          <p:nvPr/>
        </p:nvSpPr>
        <p:spPr>
          <a:xfrm>
            <a:off x="634490" y="3064780"/>
            <a:ext cx="1080120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1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>
                <a:highlight>
                  <a:srgbClr val="FFFF00"/>
                </a:highlight>
              </a:rPr>
              <a:t>指令 </a:t>
            </a:r>
            <a:r>
              <a:rPr kumimoji="1" lang="en-US" altLang="zh-CN" dirty="0">
                <a:highlight>
                  <a:srgbClr val="FFFF00"/>
                </a:highlight>
              </a:rPr>
              <a:t>2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3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AD24B2-1212-6940-B149-10EB55DD9ABF}"/>
              </a:ext>
            </a:extLst>
          </p:cNvPr>
          <p:cNvSpPr txBox="1"/>
          <p:nvPr/>
        </p:nvSpPr>
        <p:spPr>
          <a:xfrm>
            <a:off x="3717141" y="3064780"/>
            <a:ext cx="1234407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1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C00000"/>
                </a:solidFill>
              </a:rPr>
              <a:t>断点指令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3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36DF5383-2C2B-B241-ABF9-33807BFA37EE}"/>
              </a:ext>
            </a:extLst>
          </p:cNvPr>
          <p:cNvCxnSpPr>
            <a:cxnSpLocks/>
          </p:cNvCxnSpPr>
          <p:nvPr/>
        </p:nvCxnSpPr>
        <p:spPr>
          <a:xfrm>
            <a:off x="1458583" y="3732591"/>
            <a:ext cx="2258559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C1D6905C-061D-5A4E-BFC8-03CDB9D96E19}"/>
              </a:ext>
            </a:extLst>
          </p:cNvPr>
          <p:cNvSpPr/>
          <p:nvPr/>
        </p:nvSpPr>
        <p:spPr>
          <a:xfrm>
            <a:off x="1555170" y="3073524"/>
            <a:ext cx="19287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/>
              <a:t>①</a:t>
            </a:r>
            <a:r>
              <a:rPr kumimoji="1" lang="zh-CN" altLang="en-US" dirty="0"/>
              <a:t> 使用断点指令替换指令</a:t>
            </a:r>
            <a:r>
              <a:rPr kumimoji="1" lang="en-US" altLang="zh-CN" dirty="0"/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A1906F-8340-0A45-911A-7A59343E6651}"/>
              </a:ext>
            </a:extLst>
          </p:cNvPr>
          <p:cNvSpPr/>
          <p:nvPr/>
        </p:nvSpPr>
        <p:spPr>
          <a:xfrm>
            <a:off x="5004048" y="2534334"/>
            <a:ext cx="11721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②</a:t>
            </a:r>
            <a:r>
              <a:rPr kumimoji="1" lang="zh-CN" altLang="en-US" dirty="0"/>
              <a:t> 执行时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调试异常</a:t>
            </a:r>
            <a:endParaRPr kumimoji="1" lang="en-US" altLang="zh-CN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CA635F70-4072-E64E-9377-876B7C16F02C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904244" y="2887950"/>
            <a:ext cx="1817333" cy="6384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6C7CEF92-D5E1-B840-8019-4386385B3846}"/>
              </a:ext>
            </a:extLst>
          </p:cNvPr>
          <p:cNvSpPr/>
          <p:nvPr/>
        </p:nvSpPr>
        <p:spPr>
          <a:xfrm>
            <a:off x="6721577" y="2703284"/>
            <a:ext cx="1646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③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handler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8F99CA-98A8-C744-AEDA-AB8B83D3ACED}"/>
              </a:ext>
            </a:extLst>
          </p:cNvPr>
          <p:cNvSpPr/>
          <p:nvPr/>
        </p:nvSpPr>
        <p:spPr>
          <a:xfrm>
            <a:off x="6349681" y="3386176"/>
            <a:ext cx="23903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④</a:t>
            </a:r>
            <a:r>
              <a:rPr kumimoji="1" lang="zh-CN" altLang="en-US" dirty="0"/>
              <a:t>将</a:t>
            </a:r>
            <a:r>
              <a:rPr kumimoji="1" lang="zh-CN" altLang="en-US" dirty="0">
                <a:highlight>
                  <a:srgbClr val="FFFF00"/>
                </a:highlight>
              </a:rPr>
              <a:t>指令</a:t>
            </a:r>
            <a:r>
              <a:rPr kumimoji="1" lang="en-US" altLang="zh-CN" dirty="0">
                <a:highlight>
                  <a:srgbClr val="FFFF00"/>
                </a:highlight>
              </a:rPr>
              <a:t>2</a:t>
            </a:r>
            <a:r>
              <a:rPr kumimoji="1" lang="zh-CN" altLang="en-US" dirty="0"/>
              <a:t>填回原位置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单步调试</a:t>
            </a:r>
            <a:endParaRPr kumimoji="1" lang="en-US" altLang="zh-CN" dirty="0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24E7E77-1D56-6741-8C09-BF5E661D999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7544880" y="3072616"/>
            <a:ext cx="1" cy="313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6F557AA3-C710-CD45-9AC0-832CA94DCF01}"/>
              </a:ext>
            </a:extLst>
          </p:cNvPr>
          <p:cNvCxnSpPr>
            <a:cxnSpLocks/>
          </p:cNvCxnSpPr>
          <p:nvPr/>
        </p:nvCxnSpPr>
        <p:spPr>
          <a:xfrm flipH="1" flipV="1">
            <a:off x="4912251" y="3636200"/>
            <a:ext cx="1384150" cy="360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298DD907-5850-724E-BE00-8FC3871A0FAC}"/>
              </a:ext>
            </a:extLst>
          </p:cNvPr>
          <p:cNvCxnSpPr>
            <a:cxnSpLocks/>
          </p:cNvCxnSpPr>
          <p:nvPr/>
        </p:nvCxnSpPr>
        <p:spPr>
          <a:xfrm>
            <a:off x="4904244" y="3727080"/>
            <a:ext cx="1594215" cy="6213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55D6DFC5-F862-F845-80FB-5D994F17F54B}"/>
              </a:ext>
            </a:extLst>
          </p:cNvPr>
          <p:cNvSpPr/>
          <p:nvPr/>
        </p:nvSpPr>
        <p:spPr>
          <a:xfrm>
            <a:off x="6413802" y="4171007"/>
            <a:ext cx="22621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⑤</a:t>
            </a:r>
            <a:r>
              <a:rPr kumimoji="1" lang="zh-CN" altLang="en-US" dirty="0"/>
              <a:t>重新设置断点指令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返回继续执行</a:t>
            </a:r>
            <a:endParaRPr kumimoji="1" lang="en-US" altLang="zh-CN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4D026CF7-2D45-AD47-BAE9-AF45BC14DE43}"/>
              </a:ext>
            </a:extLst>
          </p:cNvPr>
          <p:cNvCxnSpPr>
            <a:cxnSpLocks/>
          </p:cNvCxnSpPr>
          <p:nvPr/>
        </p:nvCxnSpPr>
        <p:spPr>
          <a:xfrm flipH="1" flipV="1">
            <a:off x="4836452" y="3970790"/>
            <a:ext cx="1611709" cy="669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0538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  <a:r>
              <a:rPr lang="en-US" altLang="zh-CN" dirty="0" err="1"/>
              <a:t>hackbench</a:t>
            </a:r>
            <a:r>
              <a:rPr lang="zh-CN" altLang="en-US" dirty="0"/>
              <a:t>数据读写大小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 </a:t>
            </a:r>
            <a:r>
              <a:rPr lang="en-US" altLang="zh-CN" dirty="0" err="1"/>
              <a:t>kprobe</a:t>
            </a:r>
            <a:r>
              <a:rPr lang="zh-CN" altLang="en-US" dirty="0"/>
              <a:t> 探究 </a:t>
            </a:r>
            <a:r>
              <a:rPr lang="en-US" altLang="zh-CN" dirty="0" err="1"/>
              <a:t>hackbench</a:t>
            </a:r>
            <a:r>
              <a:rPr lang="zh-CN" altLang="en-US" dirty="0"/>
              <a:t> 中数据读写大小</a:t>
            </a:r>
            <a:endParaRPr lang="en-US" altLang="zh-CN" dirty="0"/>
          </a:p>
          <a:p>
            <a:pPr lvl="1"/>
            <a:r>
              <a:rPr lang="zh-CN" altLang="en-US" dirty="0"/>
              <a:t>目标：获取</a:t>
            </a:r>
            <a:r>
              <a:rPr lang="en-US" altLang="zh-CN" dirty="0" err="1"/>
              <a:t>vfs_read</a:t>
            </a:r>
            <a:r>
              <a:rPr lang="zh-CN" altLang="en-US" dirty="0"/>
              <a:t>每次调用时</a:t>
            </a:r>
            <a:r>
              <a:rPr lang="en-US" altLang="zh-CN" dirty="0"/>
              <a:t>count</a:t>
            </a:r>
            <a:r>
              <a:rPr lang="zh-CN" altLang="en-US" dirty="0"/>
              <a:t>的大小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方法：在</a:t>
            </a:r>
            <a:r>
              <a:rPr lang="en-US" altLang="zh-CN" dirty="0" err="1"/>
              <a:t>vfs_read</a:t>
            </a:r>
            <a:r>
              <a:rPr lang="zh-CN" altLang="en-US" dirty="0"/>
              <a:t>执行前插入打印</a:t>
            </a:r>
            <a:r>
              <a:rPr lang="en-US" altLang="zh-CN" dirty="0"/>
              <a:t>count</a:t>
            </a:r>
            <a:r>
              <a:rPr lang="zh-CN" altLang="en-US" dirty="0"/>
              <a:t>值的函数</a:t>
            </a:r>
            <a:endParaRPr lang="en-US" altLang="zh-CN" dirty="0"/>
          </a:p>
          <a:p>
            <a:pPr lvl="1"/>
            <a:r>
              <a:rPr lang="zh-CN" altLang="en-US" dirty="0"/>
              <a:t>定义</a:t>
            </a:r>
            <a:r>
              <a:rPr lang="en-US" altLang="zh-CN" dirty="0"/>
              <a:t>probe</a:t>
            </a:r>
            <a:r>
              <a:rPr lang="zh-CN" altLang="en-US" dirty="0"/>
              <a:t>点</a:t>
            </a:r>
            <a:endParaRPr lang="en-US" altLang="zh-CN" dirty="0"/>
          </a:p>
          <a:p>
            <a:pPr lvl="2"/>
            <a:r>
              <a:rPr lang="en-US" altLang="zh-CN" dirty="0"/>
              <a:t>perf probe --add </a:t>
            </a:r>
            <a:r>
              <a:rPr lang="en-US" altLang="zh-CN" dirty="0">
                <a:solidFill>
                  <a:srgbClr val="C00000"/>
                </a:solidFill>
              </a:rPr>
              <a:t>'</a:t>
            </a:r>
            <a:r>
              <a:rPr lang="en-US" altLang="zh-CN" dirty="0" err="1">
                <a:solidFill>
                  <a:srgbClr val="C00000"/>
                </a:solidFill>
              </a:rPr>
              <a:t>vfs_read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count=%dx:u64'</a:t>
            </a:r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E47AC37-3D5B-FF4A-AD39-92E66C12DECE}"/>
              </a:ext>
            </a:extLst>
          </p:cNvPr>
          <p:cNvGrpSpPr/>
          <p:nvPr/>
        </p:nvGrpSpPr>
        <p:grpSpPr>
          <a:xfrm>
            <a:off x="412750" y="2407003"/>
            <a:ext cx="8318500" cy="521400"/>
            <a:chOff x="412750" y="2624132"/>
            <a:chExt cx="8318500" cy="52140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54CEC40-5BC4-1340-AAF2-7DB6E7C21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750" y="2724150"/>
              <a:ext cx="8318500" cy="266700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B2D5F51-0A2E-934B-BE7B-006B04FF5CEE}"/>
                </a:ext>
              </a:extLst>
            </p:cNvPr>
            <p:cNvSpPr/>
            <p:nvPr/>
          </p:nvSpPr>
          <p:spPr>
            <a:xfrm>
              <a:off x="5832140" y="2624132"/>
              <a:ext cx="1476164" cy="521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ED20B5E-4010-1247-B60B-0905A78ED388}"/>
              </a:ext>
            </a:extLst>
          </p:cNvPr>
          <p:cNvCxnSpPr>
            <a:cxnSpLocks/>
          </p:cNvCxnSpPr>
          <p:nvPr/>
        </p:nvCxnSpPr>
        <p:spPr>
          <a:xfrm flipV="1">
            <a:off x="3852504" y="4364804"/>
            <a:ext cx="0" cy="2841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5D8BFDD-D1BF-5D46-86BA-B386D315152E}"/>
              </a:ext>
            </a:extLst>
          </p:cNvPr>
          <p:cNvSpPr/>
          <p:nvPr/>
        </p:nvSpPr>
        <p:spPr>
          <a:xfrm>
            <a:off x="2543800" y="4692361"/>
            <a:ext cx="1697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定义</a:t>
            </a:r>
            <a:r>
              <a:rPr kumimoji="1" lang="en-US" altLang="zh-CN" dirty="0"/>
              <a:t>probe</a:t>
            </a:r>
            <a:r>
              <a:rPr kumimoji="1" lang="zh-CN" altLang="en-US" dirty="0"/>
              <a:t>位置</a:t>
            </a:r>
            <a:endParaRPr lang="zh-CN" altLang="en-US" dirty="0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30621ED-8D45-9243-B04F-8228E17B79D4}"/>
              </a:ext>
            </a:extLst>
          </p:cNvPr>
          <p:cNvCxnSpPr>
            <a:cxnSpLocks/>
          </p:cNvCxnSpPr>
          <p:nvPr/>
        </p:nvCxnSpPr>
        <p:spPr>
          <a:xfrm flipV="1">
            <a:off x="5652120" y="4364142"/>
            <a:ext cx="0" cy="2841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F4FED598-3A18-274F-B9D5-296256DF63AF}"/>
              </a:ext>
            </a:extLst>
          </p:cNvPr>
          <p:cNvSpPr/>
          <p:nvPr/>
        </p:nvSpPr>
        <p:spPr>
          <a:xfrm>
            <a:off x="4604699" y="4698279"/>
            <a:ext cx="4378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x86</a:t>
            </a:r>
            <a:r>
              <a:rPr kumimoji="1" lang="zh-CN" altLang="en-US" dirty="0"/>
              <a:t>上第三个参数位于</a:t>
            </a:r>
            <a:r>
              <a:rPr kumimoji="1" lang="en-US" altLang="zh-CN" dirty="0" err="1"/>
              <a:t>rdx</a:t>
            </a:r>
            <a:r>
              <a:rPr kumimoji="1" lang="zh-CN" altLang="en-US" dirty="0"/>
              <a:t>中，大小为</a:t>
            </a:r>
            <a:r>
              <a:rPr kumimoji="1" lang="en-US" altLang="zh-CN" dirty="0"/>
              <a:t>64bit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48083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  <a:r>
              <a:rPr lang="en-US" altLang="zh-CN" dirty="0" err="1"/>
              <a:t>hackbench</a:t>
            </a:r>
            <a:r>
              <a:rPr lang="zh-CN" altLang="en-US" dirty="0"/>
              <a:t>数据读写大小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 </a:t>
            </a:r>
            <a:r>
              <a:rPr lang="en-US" altLang="zh-CN" dirty="0" err="1"/>
              <a:t>kprobe</a:t>
            </a:r>
            <a:r>
              <a:rPr lang="zh-CN" altLang="en-US" dirty="0"/>
              <a:t> 探究 </a:t>
            </a:r>
            <a:r>
              <a:rPr lang="en-US" altLang="zh-CN" dirty="0" err="1"/>
              <a:t>hackbench</a:t>
            </a:r>
            <a:r>
              <a:rPr lang="zh-CN" altLang="en-US" dirty="0"/>
              <a:t> 中数据读写大小</a:t>
            </a:r>
            <a:endParaRPr lang="en-US" altLang="zh-CN" dirty="0"/>
          </a:p>
          <a:p>
            <a:pPr lvl="1"/>
            <a:r>
              <a:rPr lang="zh-CN" altLang="en-US" dirty="0"/>
              <a:t>新定义的</a:t>
            </a:r>
            <a:r>
              <a:rPr lang="en-US" altLang="zh-CN" dirty="0" err="1"/>
              <a:t>kprobe</a:t>
            </a:r>
            <a:r>
              <a:rPr lang="zh-CN" altLang="en-US" dirty="0"/>
              <a:t>点作为</a:t>
            </a:r>
            <a:r>
              <a:rPr lang="en-US" altLang="zh-CN" dirty="0"/>
              <a:t>perf</a:t>
            </a:r>
            <a:r>
              <a:rPr lang="zh-CN" altLang="en-US" dirty="0"/>
              <a:t> </a:t>
            </a:r>
            <a:r>
              <a:rPr lang="en-US" altLang="zh-CN" dirty="0"/>
              <a:t>event</a:t>
            </a:r>
            <a:r>
              <a:rPr lang="zh-CN" altLang="en-US" dirty="0"/>
              <a:t>采样</a:t>
            </a:r>
            <a:endParaRPr lang="en-US" altLang="zh-CN" dirty="0"/>
          </a:p>
          <a:p>
            <a:pPr lvl="1"/>
            <a:r>
              <a:rPr lang="en-US" altLang="zh-CN" dirty="0"/>
              <a:t>perf record </a:t>
            </a:r>
            <a:r>
              <a:rPr lang="en-US" altLang="zh-CN" dirty="0">
                <a:solidFill>
                  <a:srgbClr val="C00000"/>
                </a:solidFill>
              </a:rPr>
              <a:t>-e </a:t>
            </a:r>
            <a:r>
              <a:rPr lang="en-US" altLang="zh-CN" dirty="0" err="1">
                <a:solidFill>
                  <a:srgbClr val="C00000"/>
                </a:solidFill>
              </a:rPr>
              <a:t>probe:vfs_read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/>
              <a:t>hackbench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5A49ED-C232-4645-81B2-17D37978212F}"/>
              </a:ext>
            </a:extLst>
          </p:cNvPr>
          <p:cNvSpPr/>
          <p:nvPr/>
        </p:nvSpPr>
        <p:spPr>
          <a:xfrm>
            <a:off x="5373072" y="3464403"/>
            <a:ext cx="331372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单次读数据量不大为</a:t>
            </a:r>
            <a:r>
              <a:rPr lang="en-US" altLang="zh-CN" dirty="0"/>
              <a:t>100byte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但是读次数较多，</a:t>
            </a:r>
            <a:endParaRPr lang="en-US" altLang="zh-CN" dirty="0"/>
          </a:p>
          <a:p>
            <a:r>
              <a:rPr lang="zh-CN" altLang="en-US" dirty="0"/>
              <a:t>因此</a:t>
            </a:r>
            <a:r>
              <a:rPr lang="en-US" altLang="zh-CN" dirty="0" err="1"/>
              <a:t>vfs_read</a:t>
            </a:r>
            <a:r>
              <a:rPr lang="zh-CN" altLang="en-US" dirty="0"/>
              <a:t>时间占比较大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910B77-24BC-0F4F-9C2B-57F47AEA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948168"/>
            <a:ext cx="40513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866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测试的基本原则和方法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241834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测试的目的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验证程序功能正确性</a:t>
            </a:r>
            <a:endParaRPr lang="en-US" altLang="zh-CN" dirty="0"/>
          </a:p>
          <a:p>
            <a:pPr lvl="1"/>
            <a:r>
              <a:rPr lang="zh-CN" altLang="en-US" dirty="0"/>
              <a:t>程序是否会崩溃</a:t>
            </a:r>
            <a:endParaRPr lang="en-US" altLang="zh-CN" dirty="0"/>
          </a:p>
          <a:p>
            <a:pPr lvl="1"/>
            <a:r>
              <a:rPr lang="zh-CN" altLang="en-US" dirty="0"/>
              <a:t>功能是否与设计一致</a:t>
            </a:r>
            <a:endParaRPr lang="en-US" altLang="zh-CN" dirty="0"/>
          </a:p>
          <a:p>
            <a:r>
              <a:rPr lang="zh-CN" altLang="en-US" dirty="0"/>
              <a:t>基准测试</a:t>
            </a:r>
            <a:endParaRPr lang="en-US" altLang="zh-CN" dirty="0"/>
          </a:p>
          <a:p>
            <a:pPr lvl="1"/>
            <a:r>
              <a:rPr lang="zh-CN" altLang="en-US" dirty="0"/>
              <a:t>确定程序在特定运行环境下的性能指标</a:t>
            </a:r>
            <a:endParaRPr lang="en-US" altLang="ja-JP" dirty="0"/>
          </a:p>
          <a:p>
            <a:r>
              <a:rPr lang="zh-CN" altLang="en-US" dirty="0"/>
              <a:t>操作系统测试的必要性</a:t>
            </a:r>
            <a:endParaRPr lang="en-US" altLang="zh-CN" dirty="0"/>
          </a:p>
          <a:p>
            <a:pPr lvl="1"/>
            <a:r>
              <a:rPr lang="zh-CN" altLang="en-US" dirty="0"/>
              <a:t>作为基础设施，操作系统的正确性和性能直接影响上层应用</a:t>
            </a:r>
            <a:endParaRPr lang="en-US" altLang="zh-CN" dirty="0"/>
          </a:p>
          <a:p>
            <a:pPr lvl="1"/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03907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操作系统测试的基本方法与原则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1:</a:t>
            </a:r>
            <a:r>
              <a:rPr lang="zh-CN" altLang="en-US" dirty="0"/>
              <a:t> 如何快速使错误暴露？</a:t>
            </a:r>
            <a:endParaRPr lang="en-US" altLang="zh-CN" dirty="0"/>
          </a:p>
          <a:p>
            <a:r>
              <a:rPr lang="zh-CN" altLang="en-US" dirty="0"/>
              <a:t>测试规模由小至大：小规模测试中暴露的错误更方便定位</a:t>
            </a:r>
            <a:endParaRPr lang="en-US" altLang="zh-CN" dirty="0"/>
          </a:p>
          <a:p>
            <a:pPr lvl="1"/>
            <a:r>
              <a:rPr lang="zh-CN" altLang="en-US" dirty="0"/>
              <a:t>先对各功能模块做独立测试：单元测试</a:t>
            </a:r>
            <a:endParaRPr lang="en-US" altLang="zh-CN" dirty="0"/>
          </a:p>
          <a:p>
            <a:pPr lvl="2"/>
            <a:r>
              <a:rPr lang="zh-CN" altLang="en-US" dirty="0"/>
              <a:t>以细粒度方式进行测试：函数或功能模块粒度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4206D5-DE3D-DB4B-8503-655582C5C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3508635"/>
            <a:ext cx="5422900" cy="14859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EE63331-D411-564A-A114-98AE37E9BCD2}"/>
              </a:ext>
            </a:extLst>
          </p:cNvPr>
          <p:cNvSpPr/>
          <p:nvPr/>
        </p:nvSpPr>
        <p:spPr>
          <a:xfrm>
            <a:off x="1003053" y="3424580"/>
            <a:ext cx="18004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如测试顺序遍历</a:t>
            </a:r>
            <a:endParaRPr lang="en-US" altLang="zh-CN" dirty="0"/>
          </a:p>
          <a:p>
            <a:r>
              <a:rPr lang="zh-CN" altLang="en-US" dirty="0"/>
              <a:t>链表元素的方法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ECF67F-0A81-424E-BD5A-F970AFBB77D9}"/>
              </a:ext>
            </a:extLst>
          </p:cNvPr>
          <p:cNvSpPr/>
          <p:nvPr/>
        </p:nvSpPr>
        <p:spPr>
          <a:xfrm>
            <a:off x="887636" y="4381499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验证其中每个元素</a:t>
            </a:r>
            <a:endParaRPr lang="en-US" altLang="zh-CN" dirty="0"/>
          </a:p>
          <a:p>
            <a:pPr algn="ctr"/>
            <a:r>
              <a:rPr lang="zh-CN" altLang="en-US" dirty="0"/>
              <a:t>都为预期的值</a:t>
            </a:r>
          </a:p>
        </p:txBody>
      </p:sp>
    </p:spTree>
    <p:extLst>
      <p:ext uri="{BB962C8B-B14F-4D97-AF65-F5344CB8AC3E}">
        <p14:creationId xmlns:p14="http://schemas.microsoft.com/office/powerpoint/2010/main" val="845526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操作系统测试的基本方法与原则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348" y="1340622"/>
            <a:ext cx="8651304" cy="3965149"/>
          </a:xfrm>
        </p:spPr>
        <p:txBody>
          <a:bodyPr>
            <a:normAutofit/>
          </a:bodyPr>
          <a:lstStyle/>
          <a:p>
            <a:r>
              <a:rPr lang="zh-CN" altLang="en-US" dirty="0"/>
              <a:t>测试规模由小至大</a:t>
            </a:r>
            <a:endParaRPr lang="en-US" altLang="zh-CN" dirty="0"/>
          </a:p>
          <a:p>
            <a:pPr lvl="1"/>
            <a:r>
              <a:rPr lang="zh-CN" altLang="en-US" dirty="0"/>
              <a:t>单元测试：以函数或功能模块为粒度测试</a:t>
            </a:r>
            <a:endParaRPr lang="en-US" altLang="zh-CN" dirty="0"/>
          </a:p>
          <a:p>
            <a:pPr lvl="2"/>
            <a:r>
              <a:rPr lang="en-US" altLang="zh-CN" dirty="0" err="1"/>
              <a:t>ChCore</a:t>
            </a:r>
            <a:r>
              <a:rPr lang="zh-CN" altLang="en-US" dirty="0"/>
              <a:t>：单独编译内存管理、调度器等模块，在无需运行内核条件下测试</a:t>
            </a:r>
            <a:endParaRPr lang="en-US" altLang="zh-CN" dirty="0"/>
          </a:p>
          <a:p>
            <a:pPr lvl="2"/>
            <a:r>
              <a:rPr lang="en-US" altLang="zh-CN" dirty="0"/>
              <a:t>Linux</a:t>
            </a:r>
            <a:r>
              <a:rPr lang="zh-CN" altLang="en-US" dirty="0"/>
              <a:t>：</a:t>
            </a:r>
            <a:r>
              <a:rPr lang="en-US" altLang="zh-CN" dirty="0"/>
              <a:t>KUNIT</a:t>
            </a:r>
            <a:r>
              <a:rPr lang="zh-CN" altLang="en-US" dirty="0"/>
              <a:t>，仅编译部分代码，在</a:t>
            </a:r>
            <a:r>
              <a:rPr lang="en-US" altLang="zh-CN" dirty="0"/>
              <a:t>UML</a:t>
            </a:r>
            <a:r>
              <a:rPr lang="zh-CN" altLang="en-US" dirty="0"/>
              <a:t>模式下运行</a:t>
            </a:r>
            <a:endParaRPr lang="en-US" altLang="zh-CN" dirty="0"/>
          </a:p>
          <a:p>
            <a:pPr lvl="1"/>
            <a:r>
              <a:rPr lang="zh-CN" altLang="en-US" dirty="0"/>
              <a:t>单元测试完成后进行集成测试</a:t>
            </a:r>
            <a:endParaRPr lang="en-US" altLang="zh-CN" dirty="0"/>
          </a:p>
          <a:p>
            <a:pPr lvl="1"/>
            <a:r>
              <a:rPr lang="zh-CN" altLang="en-US" dirty="0"/>
              <a:t>集成测试：整合各个功能模块统一测试</a:t>
            </a:r>
            <a:endParaRPr lang="en-US" altLang="zh-CN" dirty="0"/>
          </a:p>
          <a:p>
            <a:pPr lvl="2"/>
            <a:r>
              <a:rPr lang="en-US" altLang="zh-CN" dirty="0" err="1"/>
              <a:t>ChCore</a:t>
            </a:r>
            <a:r>
              <a:rPr lang="zh-CN" altLang="en-US" dirty="0"/>
              <a:t>：完整部署内核并运行用户态应用，对网络、文件系统、同步原语等测试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10490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操作系统测试的基本方法与原则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348" y="1340622"/>
            <a:ext cx="8651304" cy="3965149"/>
          </a:xfrm>
        </p:spPr>
        <p:txBody>
          <a:bodyPr>
            <a:normAutofit/>
          </a:bodyPr>
          <a:lstStyle/>
          <a:p>
            <a:r>
              <a:rPr lang="zh-CN" altLang="en-US" dirty="0"/>
              <a:t>代码迭代中，尽早确认新修改是否引入</a:t>
            </a:r>
            <a:r>
              <a:rPr lang="en-US" altLang="zh-CN" dirty="0"/>
              <a:t>BUG</a:t>
            </a:r>
          </a:p>
          <a:p>
            <a:pPr lvl="1"/>
            <a:r>
              <a:rPr lang="zh-CN" altLang="en-US" dirty="0"/>
              <a:t>产生</a:t>
            </a:r>
            <a:r>
              <a:rPr lang="en-US" altLang="zh-CN" dirty="0"/>
              <a:t>BUG</a:t>
            </a:r>
            <a:r>
              <a:rPr lang="zh-CN" altLang="en-US" dirty="0"/>
              <a:t>的原因</a:t>
            </a:r>
            <a:endParaRPr lang="en-US" altLang="zh-CN" dirty="0"/>
          </a:p>
          <a:p>
            <a:pPr lvl="2"/>
            <a:r>
              <a:rPr lang="zh-CN" altLang="en-US" dirty="0"/>
              <a:t>新的修改本身异常</a:t>
            </a:r>
            <a:endParaRPr lang="en-US" altLang="zh-CN" dirty="0"/>
          </a:p>
          <a:p>
            <a:pPr lvl="2"/>
            <a:r>
              <a:rPr lang="zh-CN" altLang="en-US" dirty="0"/>
              <a:t>代码修改触发原有隐藏的异常</a:t>
            </a:r>
            <a:endParaRPr lang="en-US" altLang="zh-CN" dirty="0"/>
          </a:p>
          <a:p>
            <a:pPr lvl="1"/>
            <a:r>
              <a:rPr lang="zh-CN" altLang="en-US" dirty="0"/>
              <a:t>回归测试</a:t>
            </a:r>
            <a:endParaRPr lang="en-US" altLang="zh-CN" dirty="0"/>
          </a:p>
          <a:p>
            <a:pPr lvl="2"/>
            <a:r>
              <a:rPr lang="zh-CN" altLang="en-US" dirty="0"/>
              <a:t>小规模代码修改后马上运行测试，即使该测试与修改部分无直接关系</a:t>
            </a:r>
            <a:endParaRPr lang="en-US" altLang="zh-CN" dirty="0"/>
          </a:p>
          <a:p>
            <a:pPr lvl="2"/>
            <a:r>
              <a:rPr lang="en-US" altLang="zh-CN" dirty="0" err="1"/>
              <a:t>ChCore</a:t>
            </a:r>
            <a:r>
              <a:rPr lang="zh-CN" altLang="en-US" dirty="0"/>
              <a:t>：每次代码被</a:t>
            </a:r>
            <a:r>
              <a:rPr lang="en-US" altLang="zh-CN" dirty="0"/>
              <a:t>push</a:t>
            </a:r>
            <a:r>
              <a:rPr lang="zh-CN" altLang="en-US" dirty="0"/>
              <a:t>到远端，以及代码合并进主线前，都会运行完整的测试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99839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兼容性测试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2:</a:t>
            </a:r>
            <a:r>
              <a:rPr lang="zh-CN" altLang="en-US" dirty="0"/>
              <a:t> 如何确保操作系统能够运行在不同硬件平台，支持各类不同应用？</a:t>
            </a:r>
            <a:endParaRPr lang="en-US" altLang="zh-CN" dirty="0"/>
          </a:p>
          <a:p>
            <a:r>
              <a:rPr lang="zh-CN" altLang="en-US" dirty="0"/>
              <a:t>测试不同硬件环境下兼容性</a:t>
            </a:r>
            <a:endParaRPr lang="en-US" altLang="zh-CN" dirty="0"/>
          </a:p>
          <a:p>
            <a:pPr lvl="1"/>
            <a:r>
              <a:rPr lang="en-US" altLang="zh-CN" dirty="0" err="1"/>
              <a:t>ChCore</a:t>
            </a:r>
            <a:r>
              <a:rPr lang="zh-CN" altLang="en-US" dirty="0"/>
              <a:t>：各类测试在虚拟化的</a:t>
            </a:r>
            <a:r>
              <a:rPr lang="en-US" altLang="zh-CN" dirty="0"/>
              <a:t>x86</a:t>
            </a:r>
            <a:r>
              <a:rPr lang="zh-CN" altLang="en-US" dirty="0"/>
              <a:t>，虚拟化的</a:t>
            </a:r>
            <a:r>
              <a:rPr lang="en-US" altLang="zh-CN" dirty="0"/>
              <a:t>AArch64</a:t>
            </a:r>
            <a:r>
              <a:rPr lang="zh-CN" altLang="en-US" dirty="0"/>
              <a:t>，真实的</a:t>
            </a:r>
            <a:r>
              <a:rPr lang="en-US" altLang="zh-CN" dirty="0"/>
              <a:t>AArch64</a:t>
            </a:r>
            <a:r>
              <a:rPr lang="zh-CN" altLang="en-US" dirty="0"/>
              <a:t>硬件均部署运行</a:t>
            </a:r>
            <a:endParaRPr lang="en-US" altLang="zh-CN" dirty="0"/>
          </a:p>
          <a:p>
            <a:pPr lvl="1"/>
            <a:r>
              <a:rPr lang="en-US" altLang="zh-CN" dirty="0"/>
              <a:t>Linux</a:t>
            </a:r>
            <a:r>
              <a:rPr lang="zh-CN" altLang="en-US" dirty="0"/>
              <a:t>：</a:t>
            </a:r>
            <a:r>
              <a:rPr lang="en-US" altLang="zh-CN" dirty="0" err="1"/>
              <a:t>kernelci</a:t>
            </a:r>
            <a:r>
              <a:rPr lang="zh-CN" altLang="en-US" dirty="0"/>
              <a:t> 验证</a:t>
            </a:r>
            <a:r>
              <a:rPr lang="en-US" altLang="zh-CN" dirty="0"/>
              <a:t>Linux</a:t>
            </a:r>
            <a:r>
              <a:rPr lang="zh-CN" altLang="en-US" dirty="0"/>
              <a:t>在各类不同硬件上能否完成基本测试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9492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兼容性测试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5534E4-A3B0-B44C-A159-15CC6AB57085}"/>
              </a:ext>
            </a:extLst>
          </p:cNvPr>
          <p:cNvSpPr/>
          <p:nvPr/>
        </p:nvSpPr>
        <p:spPr>
          <a:xfrm>
            <a:off x="2987824" y="473378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2"/>
              </a:rPr>
              <a:t>https://kernelci.org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018AD4-5117-A644-8F5C-B1E256F72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37" y="1658357"/>
            <a:ext cx="8772443" cy="12967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D675EE8-8F49-1549-8A5A-FCAF0FEDF194}"/>
              </a:ext>
            </a:extLst>
          </p:cNvPr>
          <p:cNvSpPr txBox="1"/>
          <p:nvPr/>
        </p:nvSpPr>
        <p:spPr>
          <a:xfrm>
            <a:off x="5301197" y="1072087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最近主线代码在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个平台出现错误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EC34036-FE2F-784F-800C-790FED347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784" y="3106777"/>
            <a:ext cx="4298863" cy="140278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11BC081-3FBF-A342-8901-82C06E3D2B36}"/>
              </a:ext>
            </a:extLst>
          </p:cNvPr>
          <p:cNvSpPr txBox="1"/>
          <p:nvPr/>
        </p:nvSpPr>
        <p:spPr>
          <a:xfrm>
            <a:off x="4368352" y="4509564"/>
            <a:ext cx="3299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出现异常的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个平台及对应配置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60AA51-DE1D-1E4D-8724-6C4B2EA3E85B}"/>
              </a:ext>
            </a:extLst>
          </p:cNvPr>
          <p:cNvSpPr txBox="1"/>
          <p:nvPr/>
        </p:nvSpPr>
        <p:spPr>
          <a:xfrm>
            <a:off x="1743403" y="3380846"/>
            <a:ext cx="1244415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不同分支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不同平台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不同配置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138A2BBF-35D7-E44A-BB35-7B789499A416}"/>
              </a:ext>
            </a:extLst>
          </p:cNvPr>
          <p:cNvCxnSpPr>
            <a:cxnSpLocks/>
          </p:cNvCxnSpPr>
          <p:nvPr/>
        </p:nvCxnSpPr>
        <p:spPr>
          <a:xfrm flipV="1">
            <a:off x="2132845" y="2988796"/>
            <a:ext cx="0" cy="4606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E586C49-F834-3B4A-80C1-BEF52A399AD7}"/>
              </a:ext>
            </a:extLst>
          </p:cNvPr>
          <p:cNvCxnSpPr>
            <a:cxnSpLocks/>
          </p:cNvCxnSpPr>
          <p:nvPr/>
        </p:nvCxnSpPr>
        <p:spPr>
          <a:xfrm flipV="1">
            <a:off x="2780917" y="2955153"/>
            <a:ext cx="1080120" cy="9575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CA2F0C57-39E4-1747-B939-60071255F9C7}"/>
              </a:ext>
            </a:extLst>
          </p:cNvPr>
          <p:cNvSpPr/>
          <p:nvPr/>
        </p:nvSpPr>
        <p:spPr>
          <a:xfrm>
            <a:off x="5472099" y="1870042"/>
            <a:ext cx="1044116" cy="337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F7C9F999-0876-1C42-A7C0-B3D92EB36F5E}"/>
              </a:ext>
            </a:extLst>
          </p:cNvPr>
          <p:cNvCxnSpPr>
            <a:cxnSpLocks/>
          </p:cNvCxnSpPr>
          <p:nvPr/>
        </p:nvCxnSpPr>
        <p:spPr>
          <a:xfrm flipV="1">
            <a:off x="2780917" y="4088494"/>
            <a:ext cx="2871203" cy="4210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9447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兼容性测试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zh-CN" altLang="en-US" dirty="0"/>
              <a:t>测试向上能否兼容应用</a:t>
            </a:r>
            <a:endParaRPr lang="en-US" altLang="zh-CN" dirty="0"/>
          </a:p>
          <a:p>
            <a:pPr lvl="1"/>
            <a:r>
              <a:rPr lang="zh-CN" altLang="en-US" dirty="0"/>
              <a:t>向后兼容性，操作系统开发迭代后仍能运行较老的应用</a:t>
            </a:r>
            <a:endParaRPr lang="en-US" altLang="zh-CN" dirty="0"/>
          </a:p>
          <a:p>
            <a:pPr lvl="1"/>
            <a:r>
              <a:rPr lang="zh-CN" altLang="en-US" dirty="0"/>
              <a:t>不同操作系统间如何提供统一的接口</a:t>
            </a:r>
            <a:endParaRPr lang="en-US" altLang="zh-CN" dirty="0"/>
          </a:p>
          <a:p>
            <a:pPr lvl="2"/>
            <a:r>
              <a:rPr lang="zh-CN" altLang="en-US" dirty="0"/>
              <a:t>如针对</a:t>
            </a:r>
            <a:r>
              <a:rPr lang="en-US" altLang="zh-CN" dirty="0"/>
              <a:t>Linux</a:t>
            </a:r>
            <a:r>
              <a:rPr lang="zh-CN" altLang="en-US" dirty="0"/>
              <a:t>开发的应用能够部署在众多</a:t>
            </a:r>
            <a:r>
              <a:rPr lang="en-US" altLang="zh-CN" dirty="0"/>
              <a:t>Linux</a:t>
            </a:r>
            <a:r>
              <a:rPr lang="zh-CN" altLang="en-US" dirty="0"/>
              <a:t>发行版中</a:t>
            </a:r>
            <a:endParaRPr lang="en-US" altLang="zh-CN" dirty="0"/>
          </a:p>
          <a:p>
            <a:pPr lvl="1"/>
            <a:r>
              <a:rPr lang="zh-CN" altLang="en-US" dirty="0"/>
              <a:t>遵循各类标准</a:t>
            </a:r>
            <a:endParaRPr lang="en-US" altLang="zh-CN" dirty="0"/>
          </a:p>
          <a:p>
            <a:pPr lvl="2"/>
            <a:r>
              <a:rPr lang="zh-CN" altLang="en-US" dirty="0"/>
              <a:t>如</a:t>
            </a:r>
            <a:r>
              <a:rPr lang="en-US" altLang="zh-CN" dirty="0"/>
              <a:t>Linux</a:t>
            </a:r>
            <a:r>
              <a:rPr lang="zh-CN" altLang="en-US" dirty="0"/>
              <a:t>目录树标准</a:t>
            </a:r>
            <a:r>
              <a:rPr lang="en-US" altLang="zh-CN" dirty="0"/>
              <a:t> FHS</a:t>
            </a:r>
            <a:r>
              <a:rPr lang="zh-CN" altLang="en-US" dirty="0"/>
              <a:t> </a:t>
            </a:r>
            <a:r>
              <a:rPr lang="en-US" altLang="zh-CN" dirty="0"/>
              <a:t>(Filesystem Hierarchy Standard)</a:t>
            </a:r>
          </a:p>
          <a:p>
            <a:pPr lvl="2"/>
            <a:r>
              <a:rPr lang="zh-CN" altLang="en-US" dirty="0"/>
              <a:t>如</a:t>
            </a:r>
            <a:r>
              <a:rPr lang="en-US" altLang="zh-CN" dirty="0"/>
              <a:t>API </a:t>
            </a:r>
            <a:r>
              <a:rPr lang="zh-CN" altLang="en-US" dirty="0"/>
              <a:t>标准</a:t>
            </a:r>
            <a:r>
              <a:rPr lang="en-US" altLang="zh-CN" dirty="0"/>
              <a:t> POSIX (Portable Operating System Interface)</a:t>
            </a:r>
          </a:p>
          <a:p>
            <a:pPr lvl="1"/>
            <a:r>
              <a:rPr lang="zh-CN" altLang="en-US" dirty="0"/>
              <a:t>针对标准进行测试</a:t>
            </a:r>
            <a:endParaRPr lang="en-US" altLang="zh-CN" dirty="0"/>
          </a:p>
          <a:p>
            <a:pPr lvl="2"/>
            <a:r>
              <a:rPr lang="zh-CN" altLang="en-US" dirty="0"/>
              <a:t>使用 </a:t>
            </a:r>
            <a:r>
              <a:rPr lang="en-US" altLang="zh-CN" dirty="0"/>
              <a:t>POSIX Test Suite</a:t>
            </a:r>
            <a:r>
              <a:rPr lang="zh-CN" altLang="en-US" dirty="0"/>
              <a:t> 验证 </a:t>
            </a:r>
            <a:r>
              <a:rPr lang="en-US" altLang="zh-CN" dirty="0"/>
              <a:t>POSIX</a:t>
            </a:r>
            <a:r>
              <a:rPr lang="zh-CN" altLang="en-US" dirty="0"/>
              <a:t> 接口符合标准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827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兼容性测试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16" y="1057300"/>
            <a:ext cx="8229600" cy="4152633"/>
          </a:xfrm>
        </p:spPr>
        <p:txBody>
          <a:bodyPr>
            <a:normAutofit/>
          </a:bodyPr>
          <a:lstStyle/>
          <a:p>
            <a:r>
              <a:rPr lang="zh-CN" altLang="en-US" dirty="0"/>
              <a:t>测试向上能否兼容应用</a:t>
            </a:r>
            <a:endParaRPr lang="en-US" altLang="zh-CN" dirty="0"/>
          </a:p>
          <a:p>
            <a:pPr lvl="1"/>
            <a:r>
              <a:rPr lang="zh-CN" altLang="en-US" dirty="0"/>
              <a:t>案例：</a:t>
            </a:r>
            <a:r>
              <a:rPr lang="en-US" altLang="zh-CN" dirty="0"/>
              <a:t>POSIX Test Suite</a:t>
            </a:r>
            <a:r>
              <a:rPr lang="zh-CN" altLang="en-US" dirty="0"/>
              <a:t> 验证 </a:t>
            </a:r>
            <a:r>
              <a:rPr lang="en-US" altLang="zh-CN" dirty="0"/>
              <a:t>fork</a:t>
            </a:r>
            <a:r>
              <a:rPr lang="zh-CN" altLang="en-US" dirty="0"/>
              <a:t> 接口是否符合标准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84DD45-9A03-EA4C-AA1E-04850B646DD8}"/>
              </a:ext>
            </a:extLst>
          </p:cNvPr>
          <p:cNvSpPr/>
          <p:nvPr/>
        </p:nvSpPr>
        <p:spPr>
          <a:xfrm>
            <a:off x="179512" y="2159839"/>
            <a:ext cx="40318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fork</a:t>
            </a:r>
            <a:r>
              <a:rPr lang="zh-CN" altLang="en-US" dirty="0"/>
              <a:t>测试目录部分文件，罗列多项测试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8CE3ADF-ADE4-9D45-A1E0-D244337D1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529171"/>
            <a:ext cx="7859092" cy="4378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12DDD7-5A01-F646-8B53-AC7F45594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15" y="3636770"/>
            <a:ext cx="4105672" cy="170573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DDA717A-2FD9-5F48-80BA-251F7A701BEE}"/>
              </a:ext>
            </a:extLst>
          </p:cNvPr>
          <p:cNvSpPr/>
          <p:nvPr/>
        </p:nvSpPr>
        <p:spPr>
          <a:xfrm>
            <a:off x="251521" y="2760997"/>
            <a:ext cx="1368148" cy="2060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B10F67BB-911D-114F-8EF8-E41A4707666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35595" y="2967068"/>
            <a:ext cx="0" cy="6697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B21E022-DFD3-4A4A-90EE-D5762400461D}"/>
              </a:ext>
            </a:extLst>
          </p:cNvPr>
          <p:cNvSpPr/>
          <p:nvPr/>
        </p:nvSpPr>
        <p:spPr>
          <a:xfrm>
            <a:off x="995823" y="3096605"/>
            <a:ext cx="2185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fork</a:t>
            </a:r>
            <a:r>
              <a:rPr lang="zh-CN" altLang="en-US" dirty="0"/>
              <a:t>的各项接口标准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96163FF-87DC-EC4D-8422-A14882AF7A4D}"/>
              </a:ext>
            </a:extLst>
          </p:cNvPr>
          <p:cNvCxnSpPr>
            <a:cxnSpLocks/>
          </p:cNvCxnSpPr>
          <p:nvPr/>
        </p:nvCxnSpPr>
        <p:spPr>
          <a:xfrm>
            <a:off x="4383282" y="4731837"/>
            <a:ext cx="14128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0A0F9C60-0C11-2547-9C18-A3FDC375186F}"/>
              </a:ext>
            </a:extLst>
          </p:cNvPr>
          <p:cNvSpPr/>
          <p:nvPr/>
        </p:nvSpPr>
        <p:spPr>
          <a:xfrm>
            <a:off x="4525888" y="428836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具体测试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BD924B-1B9C-D441-8E38-BB866EA38D85}"/>
              </a:ext>
            </a:extLst>
          </p:cNvPr>
          <p:cNvSpPr/>
          <p:nvPr/>
        </p:nvSpPr>
        <p:spPr>
          <a:xfrm>
            <a:off x="5705737" y="3711739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4-1.c</a:t>
            </a:r>
            <a:r>
              <a:rPr lang="zh-CN" altLang="en-US" dirty="0"/>
              <a:t> 测试方法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0CA5868-6C9C-A045-8778-5F4A85568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136" y="4081636"/>
            <a:ext cx="3138765" cy="125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887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操作系统稳定性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3:</a:t>
            </a:r>
            <a:r>
              <a:rPr lang="zh-CN" altLang="en-US" dirty="0"/>
              <a:t> 如何验证操作系统的可靠性？</a:t>
            </a:r>
            <a:endParaRPr lang="en-US" altLang="zh-CN" dirty="0"/>
          </a:p>
          <a:p>
            <a:pPr lvl="1"/>
            <a:r>
              <a:rPr lang="zh-CN" altLang="en-US" dirty="0"/>
              <a:t>基本功能正常前提下，需要确保极端状况下操作系统的正常运行</a:t>
            </a:r>
            <a:endParaRPr lang="en-US" altLang="zh-CN" dirty="0"/>
          </a:p>
          <a:p>
            <a:r>
              <a:rPr lang="zh-CN" altLang="en-US" dirty="0"/>
              <a:t>压力测试</a:t>
            </a:r>
            <a:endParaRPr lang="en-US" altLang="zh-CN" dirty="0"/>
          </a:p>
          <a:p>
            <a:pPr lvl="1"/>
            <a:r>
              <a:rPr lang="zh-CN" altLang="en-US" dirty="0"/>
              <a:t>压榨处理器、内存、</a:t>
            </a:r>
            <a:r>
              <a:rPr lang="en-US" altLang="zh-CN" dirty="0"/>
              <a:t>I/O</a:t>
            </a:r>
            <a:r>
              <a:rPr lang="zh-CN" altLang="en-US" dirty="0"/>
              <a:t>等资源至极限</a:t>
            </a:r>
            <a:endParaRPr lang="en-US" altLang="zh-CN" dirty="0"/>
          </a:p>
          <a:p>
            <a:pPr lvl="1"/>
            <a:r>
              <a:rPr lang="zh-CN" altLang="en-US" dirty="0"/>
              <a:t>频繁进行系统调用</a:t>
            </a:r>
            <a:endParaRPr lang="en-US" altLang="zh-CN" dirty="0"/>
          </a:p>
          <a:p>
            <a:pPr lvl="1"/>
            <a:r>
              <a:rPr lang="zh-CN" altLang="en-US" dirty="0"/>
              <a:t>长时间测试</a:t>
            </a:r>
            <a:r>
              <a:rPr lang="en-US" altLang="zh-CN" dirty="0"/>
              <a:t> (</a:t>
            </a:r>
            <a:r>
              <a:rPr lang="zh-CN" altLang="en-US" dirty="0"/>
              <a:t>长稳测试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提高测试时的代码覆盖率</a:t>
            </a:r>
            <a:endParaRPr lang="en-US" altLang="zh-CN" dirty="0"/>
          </a:p>
          <a:p>
            <a:pPr lvl="1"/>
            <a:r>
              <a:rPr lang="zh-CN" altLang="en-US" dirty="0"/>
              <a:t>未测试代码出现异常概率更高</a:t>
            </a:r>
            <a:endParaRPr lang="en-US" altLang="zh-CN" dirty="0"/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39145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压力测试案例：</a:t>
            </a:r>
            <a:r>
              <a:rPr lang="en-US" altLang="zh-CN" dirty="0"/>
              <a:t> </a:t>
            </a:r>
            <a:r>
              <a:rPr lang="en-US" altLang="zh-CN" dirty="0" err="1"/>
              <a:t>syzkaller</a:t>
            </a:r>
            <a:r>
              <a:rPr lang="zh-CN" altLang="en-US" dirty="0"/>
              <a:t>模糊测试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模糊测试（</a:t>
            </a:r>
            <a:r>
              <a:rPr lang="en-US" altLang="zh-CN" dirty="0"/>
              <a:t>fuzzing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为操作系统构造大量随机系统调用并执行</a:t>
            </a:r>
            <a:endParaRPr lang="en-US" altLang="zh-CN" dirty="0"/>
          </a:p>
          <a:p>
            <a:pPr lvl="1"/>
            <a:r>
              <a:rPr lang="zh-CN" altLang="en-US" dirty="0"/>
              <a:t>系统调用参数随机变化，期望能覆盖更多代码</a:t>
            </a:r>
            <a:endParaRPr lang="en-US" altLang="zh-CN" dirty="0"/>
          </a:p>
          <a:p>
            <a:pPr lvl="2"/>
            <a:r>
              <a:rPr lang="zh-CN" altLang="en-US" dirty="0"/>
              <a:t>但是纯随机变化参数效果不佳</a:t>
            </a:r>
            <a:endParaRPr lang="en-US" altLang="zh-CN" dirty="0"/>
          </a:p>
          <a:p>
            <a:pPr lvl="3"/>
            <a:r>
              <a:rPr lang="zh-CN" altLang="en-US" dirty="0"/>
              <a:t>大量输入可能属于同一等价类，代码执行路径相同</a:t>
            </a:r>
            <a:endParaRPr lang="en-US" altLang="zh-CN" dirty="0"/>
          </a:p>
          <a:p>
            <a:pPr lvl="1"/>
            <a:r>
              <a:rPr lang="zh-CN" altLang="en-US" dirty="0"/>
              <a:t>基于变异（</a:t>
            </a:r>
            <a:r>
              <a:rPr lang="en-US" altLang="zh-CN" dirty="0"/>
              <a:t>mutation</a:t>
            </a:r>
            <a:r>
              <a:rPr lang="zh-CN" altLang="en-US" dirty="0"/>
              <a:t>）的参数生成</a:t>
            </a:r>
            <a:endParaRPr lang="en-US" altLang="zh-CN" dirty="0"/>
          </a:p>
          <a:p>
            <a:pPr lvl="2"/>
            <a:r>
              <a:rPr lang="zh-CN" altLang="en-US" dirty="0"/>
              <a:t>在已有参数基础上随机变化</a:t>
            </a:r>
            <a:endParaRPr lang="en-US" altLang="zh-CN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82D3E3-8FEC-2F4A-865A-6D388E7878DE}"/>
              </a:ext>
            </a:extLst>
          </p:cNvPr>
          <p:cNvSpPr/>
          <p:nvPr/>
        </p:nvSpPr>
        <p:spPr>
          <a:xfrm>
            <a:off x="179512" y="455471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3"/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/>
              <a:t>buf</a:t>
            </a:r>
            <a:r>
              <a:rPr lang="en-US" altLang="zh-CN" dirty="0"/>
              <a:t>, 1000)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8BA81-963F-7C41-8A06-F09AA5179E84}"/>
              </a:ext>
            </a:extLst>
          </p:cNvPr>
          <p:cNvSpPr/>
          <p:nvPr/>
        </p:nvSpPr>
        <p:spPr>
          <a:xfrm>
            <a:off x="5025752" y="4231967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1001</a:t>
            </a:r>
            <a:r>
              <a:rPr lang="en-US" altLang="zh-CN" dirty="0"/>
              <a:t>) 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AD15F5-B118-4B48-A2EA-DBC120150A57}"/>
              </a:ext>
            </a:extLst>
          </p:cNvPr>
          <p:cNvSpPr/>
          <p:nvPr/>
        </p:nvSpPr>
        <p:spPr>
          <a:xfrm>
            <a:off x="5025752" y="4836123"/>
            <a:ext cx="3063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C00000"/>
                </a:solidFill>
              </a:rPr>
              <a:t>buf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+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, 1000) </a:t>
            </a:r>
            <a:endParaRPr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FA6F83C-87C8-6347-ACE5-333B1CCCA558}"/>
              </a:ext>
            </a:extLst>
          </p:cNvPr>
          <p:cNvCxnSpPr>
            <a:cxnSpLocks/>
          </p:cNvCxnSpPr>
          <p:nvPr/>
        </p:nvCxnSpPr>
        <p:spPr>
          <a:xfrm flipV="1">
            <a:off x="4037230" y="4416633"/>
            <a:ext cx="1074830" cy="3227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26CF6BDA-77FF-8040-B8AF-8F6C454D533C}"/>
              </a:ext>
            </a:extLst>
          </p:cNvPr>
          <p:cNvCxnSpPr>
            <a:cxnSpLocks/>
          </p:cNvCxnSpPr>
          <p:nvPr/>
        </p:nvCxnSpPr>
        <p:spPr>
          <a:xfrm>
            <a:off x="4037230" y="4744616"/>
            <a:ext cx="1074830" cy="3129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907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压力测试案例：</a:t>
            </a:r>
            <a:r>
              <a:rPr lang="en-US" altLang="zh-CN" dirty="0"/>
              <a:t> </a:t>
            </a:r>
            <a:r>
              <a:rPr lang="en-US" altLang="zh-CN" dirty="0" err="1"/>
              <a:t>syzkaller</a:t>
            </a:r>
            <a:r>
              <a:rPr lang="zh-CN" altLang="en-US" dirty="0"/>
              <a:t>模糊测试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模糊测试（</a:t>
            </a:r>
            <a:r>
              <a:rPr lang="en-US" altLang="zh-CN" dirty="0"/>
              <a:t>fuzzing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基于</a:t>
            </a:r>
            <a:r>
              <a:rPr lang="zh-CN" altLang="en-US" dirty="0">
                <a:highlight>
                  <a:srgbClr val="FFFF00"/>
                </a:highlight>
              </a:rPr>
              <a:t>变异</a:t>
            </a:r>
            <a:r>
              <a:rPr lang="zh-CN" altLang="en-US" dirty="0"/>
              <a:t>（</a:t>
            </a:r>
            <a:r>
              <a:rPr lang="en-US" altLang="zh-CN" dirty="0"/>
              <a:t>mutation</a:t>
            </a:r>
            <a:r>
              <a:rPr lang="zh-CN" altLang="en-US" dirty="0"/>
              <a:t>）的参数生成</a:t>
            </a:r>
            <a:endParaRPr lang="en-US" altLang="zh-CN" dirty="0"/>
          </a:p>
          <a:p>
            <a:pPr lvl="2"/>
            <a:r>
              <a:rPr lang="zh-CN" altLang="en-US" dirty="0"/>
              <a:t>部分随机变化会引入新的代码覆盖</a:t>
            </a:r>
            <a:endParaRPr lang="en-US" altLang="zh-CN" dirty="0"/>
          </a:p>
          <a:p>
            <a:pPr lvl="3"/>
            <a:r>
              <a:rPr lang="zh-CN" altLang="en-US" dirty="0"/>
              <a:t>收集产生新代码覆盖的输入，作为新的等价类</a:t>
            </a:r>
            <a:endParaRPr lang="en-US" altLang="zh-CN" dirty="0"/>
          </a:p>
          <a:p>
            <a:pPr lvl="3"/>
            <a:r>
              <a:rPr lang="zh-CN" altLang="en-US" dirty="0"/>
              <a:t>在新输入基础上继续变异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850B93-02A3-6E43-ACED-E20FC0B0E1BB}"/>
              </a:ext>
            </a:extLst>
          </p:cNvPr>
          <p:cNvSpPr/>
          <p:nvPr/>
        </p:nvSpPr>
        <p:spPr>
          <a:xfrm>
            <a:off x="-1175080" y="413164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3"/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/>
              <a:t>buf</a:t>
            </a:r>
            <a:r>
              <a:rPr lang="en-US" altLang="zh-CN" dirty="0"/>
              <a:t>, 1000)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88889E-CA05-D248-86E5-16BCCDF21487}"/>
              </a:ext>
            </a:extLst>
          </p:cNvPr>
          <p:cNvSpPr/>
          <p:nvPr/>
        </p:nvSpPr>
        <p:spPr>
          <a:xfrm>
            <a:off x="3843690" y="3533727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1001</a:t>
            </a:r>
            <a:r>
              <a:rPr lang="en-US" altLang="zh-CN" dirty="0"/>
              <a:t>) 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3083A9-DF5D-2846-ADB1-3457DE1B8808}"/>
              </a:ext>
            </a:extLst>
          </p:cNvPr>
          <p:cNvSpPr/>
          <p:nvPr/>
        </p:nvSpPr>
        <p:spPr>
          <a:xfrm>
            <a:off x="3843690" y="4137883"/>
            <a:ext cx="3063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C00000"/>
                </a:solidFill>
              </a:rPr>
              <a:t>buf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+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, 1000) </a:t>
            </a:r>
            <a:endParaRPr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233D0270-ED47-FD40-BF91-C5A09308CD91}"/>
              </a:ext>
            </a:extLst>
          </p:cNvPr>
          <p:cNvCxnSpPr>
            <a:cxnSpLocks/>
          </p:cNvCxnSpPr>
          <p:nvPr/>
        </p:nvCxnSpPr>
        <p:spPr>
          <a:xfrm flipV="1">
            <a:off x="2771800" y="3718394"/>
            <a:ext cx="1158198" cy="5746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450661E-5337-0943-8C59-3336BB996DFB}"/>
              </a:ext>
            </a:extLst>
          </p:cNvPr>
          <p:cNvCxnSpPr>
            <a:cxnSpLocks/>
          </p:cNvCxnSpPr>
          <p:nvPr/>
        </p:nvCxnSpPr>
        <p:spPr>
          <a:xfrm flipV="1">
            <a:off x="2771800" y="4369130"/>
            <a:ext cx="1071890" cy="123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EE728EE-659C-D44C-A9EC-620CCC567904}"/>
              </a:ext>
            </a:extLst>
          </p:cNvPr>
          <p:cNvSpPr/>
          <p:nvPr/>
        </p:nvSpPr>
        <p:spPr>
          <a:xfrm>
            <a:off x="3843689" y="4742039"/>
            <a:ext cx="2313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write (</a:t>
            </a:r>
            <a:r>
              <a:rPr lang="en-US" altLang="zh-CN" dirty="0">
                <a:solidFill>
                  <a:srgbClr val="C00000"/>
                </a:solidFill>
              </a:rPr>
              <a:t>-1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buf</a:t>
            </a:r>
            <a:r>
              <a:rPr lang="zh-CN" altLang="en-US" dirty="0"/>
              <a:t> </a:t>
            </a:r>
            <a:r>
              <a:rPr lang="en-US" altLang="zh-CN" dirty="0"/>
              <a:t>, 1000) </a:t>
            </a:r>
            <a:endParaRPr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9D5FAD6A-39D1-934D-8DC9-BA004A71C4F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771800" y="4471506"/>
            <a:ext cx="1071889" cy="4551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287995FF-7013-9741-B2AC-A05585407232}"/>
              </a:ext>
            </a:extLst>
          </p:cNvPr>
          <p:cNvSpPr/>
          <p:nvPr/>
        </p:nvSpPr>
        <p:spPr>
          <a:xfrm>
            <a:off x="2874193" y="475177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变异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571E62-6D4D-EC48-8684-558BCE0450F4}"/>
              </a:ext>
            </a:extLst>
          </p:cNvPr>
          <p:cNvSpPr/>
          <p:nvPr/>
        </p:nvSpPr>
        <p:spPr>
          <a:xfrm>
            <a:off x="6372200" y="35479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无新代码覆盖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7EEE19-E7A0-AC41-8443-B3FAF9A2B610}"/>
              </a:ext>
            </a:extLst>
          </p:cNvPr>
          <p:cNvSpPr/>
          <p:nvPr/>
        </p:nvSpPr>
        <p:spPr>
          <a:xfrm>
            <a:off x="6732240" y="413164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无新代码覆盖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AE30E7-AA33-EA49-BC37-0BBCE61D026F}"/>
              </a:ext>
            </a:extLst>
          </p:cNvPr>
          <p:cNvSpPr/>
          <p:nvPr/>
        </p:nvSpPr>
        <p:spPr>
          <a:xfrm>
            <a:off x="6050340" y="477151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有新代码覆盖，继续变异</a:t>
            </a:r>
          </a:p>
        </p:txBody>
      </p:sp>
    </p:spTree>
    <p:extLst>
      <p:ext uri="{BB962C8B-B14F-4D97-AF65-F5344CB8AC3E}">
        <p14:creationId xmlns:p14="http://schemas.microsoft.com/office/powerpoint/2010/main" val="11202461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压力测试案例：</a:t>
            </a:r>
            <a:r>
              <a:rPr lang="en-US" altLang="zh-CN" dirty="0"/>
              <a:t> </a:t>
            </a:r>
            <a:r>
              <a:rPr lang="en-US" altLang="zh-CN" dirty="0" err="1"/>
              <a:t>syzkaller</a:t>
            </a:r>
            <a:r>
              <a:rPr lang="zh-CN" altLang="en-US" dirty="0"/>
              <a:t>模糊测试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730522"/>
            <a:ext cx="3538736" cy="377163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多个虚拟机运行操作系统</a:t>
            </a:r>
            <a:endParaRPr lang="en-US" altLang="zh-CN" sz="2000" dirty="0"/>
          </a:p>
          <a:p>
            <a:pPr lvl="1"/>
            <a:r>
              <a:rPr lang="zh-CN" altLang="en-US" sz="1800" dirty="0"/>
              <a:t>提升测试效率</a:t>
            </a:r>
            <a:endParaRPr lang="en-US" altLang="zh-CN" sz="1800" dirty="0"/>
          </a:p>
          <a:p>
            <a:pPr lvl="1"/>
            <a:r>
              <a:rPr lang="zh-CN" altLang="en-US" sz="1800" dirty="0"/>
              <a:t>虚拟机内部不断进行：</a:t>
            </a:r>
            <a:endParaRPr lang="en-US" altLang="zh-CN" sz="1800" dirty="0"/>
          </a:p>
          <a:p>
            <a:pPr lvl="2"/>
            <a:r>
              <a:rPr lang="zh-CN" altLang="en-US" sz="1800" dirty="0"/>
              <a:t>系统调用</a:t>
            </a:r>
            <a:endParaRPr lang="en-US" altLang="zh-CN" sz="1800" dirty="0"/>
          </a:p>
          <a:p>
            <a:pPr lvl="2"/>
            <a:r>
              <a:rPr lang="zh-CN" altLang="en-US" sz="1800" dirty="0"/>
              <a:t>系统调用参数变异</a:t>
            </a:r>
            <a:endParaRPr lang="en-US" altLang="zh-CN" sz="1800" dirty="0"/>
          </a:p>
          <a:p>
            <a:pPr lvl="2"/>
            <a:r>
              <a:rPr lang="zh-CN" altLang="en-US" sz="1800" dirty="0"/>
              <a:t>收集代码覆盖信息</a:t>
            </a:r>
            <a:endParaRPr lang="en-US" altLang="zh-CN" sz="1800" dirty="0"/>
          </a:p>
          <a:p>
            <a:r>
              <a:rPr lang="zh-CN" altLang="en-US" sz="2000" dirty="0"/>
              <a:t>共享语料库</a:t>
            </a:r>
            <a:endParaRPr lang="en-US" altLang="zh-CN" sz="2000" dirty="0"/>
          </a:p>
          <a:p>
            <a:pPr lvl="1"/>
            <a:r>
              <a:rPr lang="zh-CN" altLang="en-US" sz="1800" dirty="0"/>
              <a:t>提升变异的效率</a:t>
            </a:r>
            <a:endParaRPr lang="en-US" altLang="ja-JP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B756F5-BD4F-884D-A67A-D55BA0F1F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295" y="1273324"/>
            <a:ext cx="4901809" cy="35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634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4:</a:t>
            </a:r>
            <a:r>
              <a:rPr lang="zh-CN" altLang="en-US" dirty="0"/>
              <a:t> 如何定量比较不同软硬件配置下性能表现</a:t>
            </a:r>
            <a:endParaRPr lang="en-US" altLang="zh-CN" dirty="0"/>
          </a:p>
          <a:p>
            <a:pPr lvl="1"/>
            <a:r>
              <a:rPr lang="zh-CN" altLang="en-US" dirty="0"/>
              <a:t>性能测试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选择合适的测试程序</a:t>
            </a:r>
            <a:endParaRPr lang="en-US" altLang="zh-CN" dirty="0"/>
          </a:p>
          <a:p>
            <a:pPr lvl="1"/>
            <a:r>
              <a:rPr lang="zh-CN" altLang="en-US" dirty="0"/>
              <a:t>明确测试的性能指标（如吞吐量，延迟等）</a:t>
            </a:r>
            <a:endParaRPr lang="en-US" altLang="zh-CN" dirty="0"/>
          </a:p>
          <a:p>
            <a:pPr lvl="1"/>
            <a:r>
              <a:rPr lang="zh-CN" altLang="en-US" dirty="0"/>
              <a:t>明确测试的场景（如文件系统读写测试使用顺序还是随机）</a:t>
            </a:r>
            <a:endParaRPr lang="en-US" altLang="zh-CN" dirty="0"/>
          </a:p>
          <a:p>
            <a:pPr lvl="1"/>
            <a:r>
              <a:rPr lang="zh-CN" altLang="en-US" dirty="0"/>
              <a:t>已有测试不满足需求时可以自己实现测试程序</a:t>
            </a:r>
            <a:endParaRPr lang="en-US" altLang="zh-CN" dirty="0"/>
          </a:p>
          <a:p>
            <a:pPr lvl="2"/>
            <a:r>
              <a:rPr lang="zh-CN" altLang="en-US" dirty="0"/>
              <a:t>但必须确保测试符合真实场景，有代表性</a:t>
            </a:r>
            <a:endParaRPr lang="en-US" altLang="zh-CN" dirty="0"/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91618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控制无关变量</a:t>
            </a:r>
            <a:endParaRPr lang="en-US" altLang="zh-CN" dirty="0"/>
          </a:p>
          <a:p>
            <a:pPr lvl="1"/>
            <a:r>
              <a:rPr lang="zh-CN" altLang="en-US" dirty="0"/>
              <a:t>以文件系统测试为例</a:t>
            </a:r>
            <a:endParaRPr lang="en-US" altLang="zh-CN" dirty="0"/>
          </a:p>
          <a:p>
            <a:pPr lvl="1"/>
            <a:r>
              <a:rPr lang="zh-CN" altLang="en-US" dirty="0"/>
              <a:t>软件配置：文件系统类型，配置（日志级别，缓存）</a:t>
            </a:r>
            <a:endParaRPr lang="en-US" altLang="zh-CN" dirty="0"/>
          </a:p>
          <a:p>
            <a:pPr lvl="1"/>
            <a:r>
              <a:rPr lang="zh-CN" altLang="en-US" dirty="0"/>
              <a:t>硬件配置：硬盘种类和型号</a:t>
            </a:r>
            <a:endParaRPr lang="en-US" altLang="zh-CN" dirty="0"/>
          </a:p>
          <a:p>
            <a:pPr lvl="1"/>
            <a:r>
              <a:rPr lang="zh-CN" altLang="en-US" dirty="0"/>
              <a:t>其他无关因素：内核版本，时钟中断频率，无其它占用大量资源的应用</a:t>
            </a:r>
            <a:endParaRPr lang="en-US" altLang="zh-CN" dirty="0"/>
          </a:p>
          <a:p>
            <a:r>
              <a:rPr lang="zh-CN" altLang="en-US" dirty="0"/>
              <a:t>减少随机不稳定因素</a:t>
            </a:r>
            <a:endParaRPr lang="en-US" altLang="zh-CN" dirty="0"/>
          </a:p>
          <a:p>
            <a:pPr lvl="1"/>
            <a:r>
              <a:rPr lang="zh-CN" altLang="en-US" dirty="0"/>
              <a:t>考虑预热一段时间再测试</a:t>
            </a:r>
            <a:endParaRPr lang="en-US" altLang="zh-CN" dirty="0"/>
          </a:p>
          <a:p>
            <a:pPr lvl="1"/>
            <a:r>
              <a:rPr lang="zh-CN" altLang="en-US" dirty="0"/>
              <a:t>绑核心运行</a:t>
            </a:r>
            <a:endParaRPr lang="en-US" altLang="zh-CN" dirty="0"/>
          </a:p>
          <a:p>
            <a:pPr lvl="1"/>
            <a:r>
              <a:rPr lang="zh-CN" altLang="en-US" dirty="0"/>
              <a:t>避免跨</a:t>
            </a:r>
            <a:r>
              <a:rPr lang="en-US" altLang="zh-CN" dirty="0"/>
              <a:t>NUMA</a:t>
            </a:r>
            <a:r>
              <a:rPr lang="zh-CN" altLang="en-US" dirty="0"/>
              <a:t>节点的内存访问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48813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持续集成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13" y="1201316"/>
            <a:ext cx="8229600" cy="377163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5:</a:t>
            </a:r>
            <a:r>
              <a:rPr lang="zh-CN" altLang="en-US" dirty="0"/>
              <a:t> 如何有效地进行和管理测试？</a:t>
            </a:r>
            <a:endParaRPr lang="en-US" altLang="zh-CN" dirty="0"/>
          </a:p>
          <a:p>
            <a:pPr lvl="1"/>
            <a:r>
              <a:rPr lang="zh-CN" altLang="en-US" dirty="0"/>
              <a:t>测试考量因素众多，流程复杂</a:t>
            </a:r>
            <a:endParaRPr lang="en-US" altLang="zh-CN" dirty="0"/>
          </a:p>
          <a:p>
            <a:r>
              <a:rPr lang="zh-CN" altLang="en-US" dirty="0"/>
              <a:t>持续集成</a:t>
            </a:r>
            <a:r>
              <a:rPr lang="en-US" altLang="zh-CN" dirty="0"/>
              <a:t> ( CI, Continuous Integration )</a:t>
            </a:r>
          </a:p>
          <a:p>
            <a:pPr lvl="1"/>
            <a:r>
              <a:rPr lang="zh-CN" altLang="en-US" dirty="0"/>
              <a:t>开发者较频繁地将代码合并入主线，使用自动化测试保障代码正确性</a:t>
            </a:r>
            <a:endParaRPr lang="en-US" altLang="zh-CN" dirty="0"/>
          </a:p>
          <a:p>
            <a:pPr lvl="1"/>
            <a:r>
              <a:rPr lang="zh-CN" altLang="en-US" dirty="0"/>
              <a:t>自动化部署和回归测试</a:t>
            </a:r>
            <a:endParaRPr lang="en-US" altLang="zh-CN" dirty="0"/>
          </a:p>
          <a:p>
            <a:pPr lvl="2"/>
            <a:r>
              <a:rPr lang="en-US" altLang="zh-CN" dirty="0" err="1"/>
              <a:t>ChCore</a:t>
            </a:r>
            <a:r>
              <a:rPr lang="zh-CN" altLang="en-US" dirty="0"/>
              <a:t>：代码在</a:t>
            </a:r>
            <a:r>
              <a:rPr lang="en-US" altLang="zh-CN" dirty="0"/>
              <a:t>push</a:t>
            </a:r>
            <a:r>
              <a:rPr lang="zh-CN" altLang="en-US" dirty="0"/>
              <a:t>到远端分支时，自动开始进行如下流程</a:t>
            </a:r>
            <a:endParaRPr lang="en-US" altLang="zh-CN" dirty="0"/>
          </a:p>
          <a:p>
            <a:pPr lvl="3"/>
            <a:r>
              <a:rPr lang="zh-CN" altLang="en-US" dirty="0"/>
              <a:t>各个平台版本内核的</a:t>
            </a:r>
            <a:r>
              <a:rPr lang="zh-CN" altLang="en-US" dirty="0">
                <a:solidFill>
                  <a:srgbClr val="C00000"/>
                </a:solidFill>
              </a:rPr>
              <a:t>编译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dirty="0">
                <a:solidFill>
                  <a:srgbClr val="C00000"/>
                </a:solidFill>
              </a:rPr>
              <a:t>静态检查</a:t>
            </a:r>
            <a:r>
              <a:rPr lang="zh-CN" altLang="en-US" dirty="0"/>
              <a:t>工具分析</a:t>
            </a:r>
            <a:endParaRPr lang="en-US" altLang="zh-CN" dirty="0"/>
          </a:p>
          <a:p>
            <a:pPr lvl="3"/>
            <a:r>
              <a:rPr lang="zh-CN" altLang="en-US" dirty="0"/>
              <a:t>各模块</a:t>
            </a:r>
            <a:r>
              <a:rPr lang="zh-CN" altLang="en-US" dirty="0">
                <a:solidFill>
                  <a:srgbClr val="C00000"/>
                </a:solidFill>
              </a:rPr>
              <a:t>单元测试</a:t>
            </a:r>
            <a:r>
              <a:rPr lang="zh-CN" altLang="en-US" dirty="0"/>
              <a:t>和整体</a:t>
            </a:r>
            <a:r>
              <a:rPr lang="zh-CN" altLang="en-US" dirty="0">
                <a:solidFill>
                  <a:srgbClr val="C00000"/>
                </a:solidFill>
              </a:rPr>
              <a:t>集成测试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dirty="0"/>
              <a:t>针对</a:t>
            </a:r>
            <a:r>
              <a:rPr lang="en-US" altLang="zh-CN" dirty="0"/>
              <a:t>IPC</a:t>
            </a:r>
            <a:r>
              <a:rPr lang="zh-CN" altLang="en-US" dirty="0"/>
              <a:t>和系统调用的</a:t>
            </a:r>
            <a:r>
              <a:rPr lang="zh-CN" altLang="en-US" dirty="0">
                <a:solidFill>
                  <a:srgbClr val="C00000"/>
                </a:solidFill>
              </a:rPr>
              <a:t>性能测试</a:t>
            </a:r>
            <a:endParaRPr lang="en-US" altLang="zh-CN" dirty="0">
              <a:solidFill>
                <a:srgbClr val="C00000"/>
              </a:solidFill>
            </a:endParaRPr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4529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持续集成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812031"/>
          </a:xfrm>
        </p:spPr>
        <p:txBody>
          <a:bodyPr>
            <a:normAutofit/>
          </a:bodyPr>
          <a:lstStyle/>
          <a:p>
            <a:r>
              <a:rPr lang="zh-CN" altLang="en-US" dirty="0"/>
              <a:t>门禁系统：确保主线代码的可靠性</a:t>
            </a:r>
            <a:endParaRPr lang="en-US" altLang="zh-CN" dirty="0"/>
          </a:p>
          <a:p>
            <a:pPr lvl="1"/>
            <a:r>
              <a:rPr lang="zh-CN" altLang="en-US" dirty="0"/>
              <a:t>通过自动化测试才能合并进入主线</a:t>
            </a:r>
            <a:endParaRPr lang="en-US" altLang="zh-CN" dirty="0"/>
          </a:p>
          <a:p>
            <a:pPr lvl="1"/>
            <a:r>
              <a:rPr lang="en-US" altLang="zh-CN" dirty="0" err="1"/>
              <a:t>ChCore</a:t>
            </a:r>
            <a:r>
              <a:rPr lang="zh-CN" altLang="en-US" dirty="0"/>
              <a:t>的门禁设置：按顺序通过如下测试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01A3CD-672E-AB4A-99C8-B4009BD3B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57" y="3227937"/>
            <a:ext cx="5378109" cy="21677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0E9BCE-5AFF-8D4B-9CD3-C8470ABFE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648" y="3227937"/>
            <a:ext cx="3577532" cy="17514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59BF6D7-2606-8048-982B-5EAF006709D2}"/>
              </a:ext>
            </a:extLst>
          </p:cNvPr>
          <p:cNvSpPr/>
          <p:nvPr/>
        </p:nvSpPr>
        <p:spPr>
          <a:xfrm>
            <a:off x="152622" y="284654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静态分析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E40BA9-2303-2746-9D13-EB2C95F21804}"/>
              </a:ext>
            </a:extLst>
          </p:cNvPr>
          <p:cNvSpPr/>
          <p:nvPr/>
        </p:nvSpPr>
        <p:spPr>
          <a:xfrm>
            <a:off x="1941388" y="286159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单元测试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FE9D0B-90A9-4A45-9F61-554448A21AAD}"/>
              </a:ext>
            </a:extLst>
          </p:cNvPr>
          <p:cNvSpPr/>
          <p:nvPr/>
        </p:nvSpPr>
        <p:spPr>
          <a:xfrm>
            <a:off x="4128304" y="2858605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跨平台的集成测试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3511BA-BF75-554A-AB78-5021D80479B6}"/>
              </a:ext>
            </a:extLst>
          </p:cNvPr>
          <p:cNvSpPr/>
          <p:nvPr/>
        </p:nvSpPr>
        <p:spPr>
          <a:xfrm>
            <a:off x="7289940" y="285860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性能测试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6AF3EFFB-F7C4-814A-94C9-9372ECCCDAB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300062" y="3046263"/>
            <a:ext cx="64132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F18487D-2264-9149-8532-35C8248DD6BA}"/>
              </a:ext>
            </a:extLst>
          </p:cNvPr>
          <p:cNvCxnSpPr>
            <a:cxnSpLocks/>
          </p:cNvCxnSpPr>
          <p:nvPr/>
        </p:nvCxnSpPr>
        <p:spPr>
          <a:xfrm>
            <a:off x="3172270" y="3043271"/>
            <a:ext cx="864096" cy="29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F1501968-597E-744F-8D12-E0853330340E}"/>
              </a:ext>
            </a:extLst>
          </p:cNvPr>
          <p:cNvCxnSpPr>
            <a:cxnSpLocks/>
          </p:cNvCxnSpPr>
          <p:nvPr/>
        </p:nvCxnSpPr>
        <p:spPr>
          <a:xfrm>
            <a:off x="6190664" y="3026584"/>
            <a:ext cx="10456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6157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操作系统的调试器支持</a:t>
            </a:r>
            <a:endParaRPr lang="en-US" altLang="zh-CN" dirty="0"/>
          </a:p>
          <a:p>
            <a:pPr lvl="1"/>
            <a:r>
              <a:rPr lang="zh-CN" altLang="en-US" dirty="0"/>
              <a:t>操作系统提供的调试支持</a:t>
            </a:r>
            <a:endParaRPr lang="en-US" altLang="zh-CN" dirty="0"/>
          </a:p>
          <a:p>
            <a:pPr lvl="1"/>
            <a:r>
              <a:rPr lang="zh-CN" altLang="en-US" dirty="0"/>
              <a:t>如何对操作系统进行调试</a:t>
            </a:r>
            <a:endParaRPr lang="en-US" altLang="zh-CN" dirty="0"/>
          </a:p>
          <a:p>
            <a:r>
              <a:rPr lang="zh-CN" altLang="en-US" dirty="0"/>
              <a:t>性能调试</a:t>
            </a:r>
            <a:endParaRPr lang="en-US" altLang="zh-CN" dirty="0"/>
          </a:p>
          <a:p>
            <a:pPr lvl="1"/>
            <a:r>
              <a:rPr lang="zh-CN" altLang="en-US" dirty="0"/>
              <a:t>使用采样的方式分析性能</a:t>
            </a:r>
            <a:endParaRPr lang="en-US" altLang="zh-CN" dirty="0"/>
          </a:p>
          <a:p>
            <a:pPr lvl="1"/>
            <a:r>
              <a:rPr lang="zh-CN" altLang="en-US" dirty="0"/>
              <a:t>软件跟踪机制</a:t>
            </a:r>
            <a:endParaRPr lang="en-US" altLang="zh-CN" dirty="0"/>
          </a:p>
          <a:p>
            <a:r>
              <a:rPr lang="zh-CN" altLang="en-US" dirty="0"/>
              <a:t>测试环节的基本方法与原则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96679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8C29B-D6ED-0D4F-9F44-BB6ECBD0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安全漏洞修复流程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05E6A-3B39-EC43-826F-D9640ADB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基于真实的漏洞修复</a:t>
            </a:r>
            <a:r>
              <a:rPr kumimoji="1" lang="en-US" altLang="zh-CN" dirty="0"/>
              <a:t> (Credit: Fan Yang)</a:t>
            </a:r>
          </a:p>
          <a:p>
            <a:pPr lvl="1"/>
            <a:r>
              <a:rPr lang="en-US" altLang="zh-CN" dirty="0"/>
              <a:t>CVE-2020-10757</a:t>
            </a:r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 </a:t>
            </a:r>
            <a:r>
              <a:rPr lang="en-US" altLang="zh-CN" dirty="0"/>
              <a:t>5c7fb56e5e3f</a:t>
            </a:r>
            <a:endParaRPr kumimoji="1" lang="en-US" altLang="zh-CN" dirty="0"/>
          </a:p>
          <a:p>
            <a:r>
              <a:rPr kumimoji="1" lang="zh-CN" altLang="en-US" dirty="0"/>
              <a:t>阶段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：发现</a:t>
            </a:r>
            <a:r>
              <a:rPr kumimoji="1" lang="en-US" altLang="zh-CN" dirty="0"/>
              <a:t>bug</a:t>
            </a:r>
          </a:p>
          <a:p>
            <a:pPr lvl="1"/>
            <a:r>
              <a:rPr kumimoji="1" lang="zh-CN" altLang="en-US" dirty="0"/>
              <a:t>调研是否已被发现、是否已有解决方案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简化复现过程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严重性评估，若属于安全漏洞，可以提供</a:t>
            </a:r>
            <a:r>
              <a:rPr kumimoji="1" lang="en-US" altLang="zh-CN" dirty="0"/>
              <a:t>exploit</a:t>
            </a:r>
          </a:p>
          <a:p>
            <a:pPr lvl="1"/>
            <a:r>
              <a:rPr kumimoji="1" lang="zh-CN" altLang="en-US" dirty="0"/>
              <a:t>若有解决方案，可以提供</a:t>
            </a:r>
            <a:r>
              <a:rPr kumimoji="1" lang="en-US" altLang="zh-CN" dirty="0"/>
              <a:t>patch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1106F-9C20-634E-A49D-7FAB24FF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816FB4-C3B8-3342-A66E-9AD08F565D39}"/>
              </a:ext>
            </a:extLst>
          </p:cNvPr>
          <p:cNvSpPr/>
          <p:nvPr/>
        </p:nvSpPr>
        <p:spPr>
          <a:xfrm>
            <a:off x="6121152" y="454232"/>
            <a:ext cx="864096" cy="414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 </a:t>
            </a:r>
            <a:r>
              <a:rPr kumimoji="1" lang="zh-CN" altLang="en-US" dirty="0"/>
              <a:t>发现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37ED71-D01B-8B42-86AC-73804D715F7E}"/>
              </a:ext>
            </a:extLst>
          </p:cNvPr>
          <p:cNvSpPr/>
          <p:nvPr/>
        </p:nvSpPr>
        <p:spPr>
          <a:xfrm>
            <a:off x="7489304" y="454232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 </a:t>
            </a:r>
            <a:r>
              <a:rPr kumimoji="1" lang="zh-CN" altLang="en-US" dirty="0"/>
              <a:t>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F5ED77-5141-0642-BC22-D5DAE0F3E0A6}"/>
              </a:ext>
            </a:extLst>
          </p:cNvPr>
          <p:cNvSpPr/>
          <p:nvPr/>
        </p:nvSpPr>
        <p:spPr>
          <a:xfrm>
            <a:off x="7489304" y="1355933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 </a:t>
            </a:r>
            <a:r>
              <a:rPr kumimoji="1" lang="zh-CN" altLang="en-US" dirty="0"/>
              <a:t>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8824BA-A000-CF4E-828D-C34DD165EE40}"/>
              </a:ext>
            </a:extLst>
          </p:cNvPr>
          <p:cNvSpPr/>
          <p:nvPr/>
        </p:nvSpPr>
        <p:spPr>
          <a:xfrm>
            <a:off x="7489304" y="2276636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r>
              <a:rPr kumimoji="1" lang="zh-CN" altLang="en-US" dirty="0"/>
              <a:t> 公开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1F6C859-1E67-B344-8228-E8EA64BBDD9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985248" y="661341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7BC5988-AC1E-6A4A-A934-2D62459528C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7921352" y="1770150"/>
            <a:ext cx="0" cy="50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01DDFA0-A48C-A845-820A-3B47E8984B4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7921352" y="868449"/>
            <a:ext cx="0" cy="487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535D3DD-0DBF-394E-A736-43BF8C7FAB69}"/>
              </a:ext>
            </a:extLst>
          </p:cNvPr>
          <p:cNvSpPr/>
          <p:nvPr/>
        </p:nvSpPr>
        <p:spPr>
          <a:xfrm>
            <a:off x="3635896" y="5160271"/>
            <a:ext cx="1872208" cy="4409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知情范围：自己</a:t>
            </a:r>
          </a:p>
        </p:txBody>
      </p:sp>
    </p:spTree>
    <p:extLst>
      <p:ext uri="{BB962C8B-B14F-4D97-AF65-F5344CB8AC3E}">
        <p14:creationId xmlns:p14="http://schemas.microsoft.com/office/powerpoint/2010/main" val="21027343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0F297498-6A8D-DD42-8CDC-5C91C3D1A68A}"/>
              </a:ext>
            </a:extLst>
          </p:cNvPr>
          <p:cNvSpPr/>
          <p:nvPr/>
        </p:nvSpPr>
        <p:spPr>
          <a:xfrm>
            <a:off x="2521305" y="2324133"/>
            <a:ext cx="2914791" cy="479522"/>
          </a:xfrm>
          <a:prstGeom prst="rect">
            <a:avLst/>
          </a:prstGeom>
          <a:solidFill>
            <a:srgbClr val="E9F7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7FA226-A486-7E4A-9B81-5C5AEA2C10D2}"/>
              </a:ext>
            </a:extLst>
          </p:cNvPr>
          <p:cNvSpPr/>
          <p:nvPr/>
        </p:nvSpPr>
        <p:spPr>
          <a:xfrm>
            <a:off x="2746705" y="1830275"/>
            <a:ext cx="3528392" cy="479522"/>
          </a:xfrm>
          <a:prstGeom prst="rect">
            <a:avLst/>
          </a:prstGeom>
          <a:solidFill>
            <a:srgbClr val="E4EF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05E6A-3B39-EC43-826F-D9640ADB0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11" y="1336417"/>
            <a:ext cx="8493877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阶段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：汇报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非安全漏洞：</a:t>
            </a:r>
            <a:r>
              <a:rPr kumimoji="1" lang="en-US" altLang="zh-CN" dirty="0"/>
              <a:t>kernel</a:t>
            </a:r>
            <a:r>
              <a:rPr kumimoji="1" lang="zh-CN" altLang="en-US" dirty="0"/>
              <a:t>邮件列表，</a:t>
            </a:r>
            <a:r>
              <a:rPr kumimoji="1" lang="en-US" altLang="zh-CN" dirty="0" err="1"/>
              <a:t>bugzilla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安全漏洞：</a:t>
            </a:r>
            <a:r>
              <a:rPr kumimoji="1" lang="en" altLang="zh-CN" dirty="0"/>
              <a:t>security@kernel.org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申请</a:t>
            </a:r>
            <a:r>
              <a:rPr kumimoji="1" lang="en-US" altLang="zh-CN" dirty="0"/>
              <a:t>CVE id</a:t>
            </a:r>
            <a:r>
              <a:rPr kumimoji="1" lang="zh-CN" altLang="en-US" dirty="0"/>
              <a:t> </a:t>
            </a:r>
            <a:r>
              <a:rPr kumimoji="1" lang="en-US" altLang="zh-CN" dirty="0"/>
              <a:t>(Common Vulnerability and Exposures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List)</a:t>
            </a:r>
          </a:p>
          <a:p>
            <a:pPr lvl="2"/>
            <a:r>
              <a:rPr kumimoji="1" lang="zh-CN" altLang="en-US" dirty="0"/>
              <a:t>意味着公开？ 此时</a:t>
            </a:r>
            <a:r>
              <a:rPr kumimoji="1" lang="en-US" altLang="zh-CN" dirty="0"/>
              <a:t>CVE</a:t>
            </a:r>
            <a:r>
              <a:rPr kumimoji="1" lang="zh-CN" altLang="en-US" dirty="0"/>
              <a:t>处于</a:t>
            </a:r>
            <a:r>
              <a:rPr lang="en" altLang="zh-CN" dirty="0"/>
              <a:t>RESERVED</a:t>
            </a:r>
            <a:r>
              <a:rPr lang="zh-CN" altLang="en" dirty="0"/>
              <a:t>状态</a:t>
            </a:r>
            <a:r>
              <a:rPr lang="zh-CN" altLang="en-US" dirty="0"/>
              <a:t>，信息不公开</a:t>
            </a:r>
            <a:endParaRPr kumimoji="1" lang="en-US" alt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E8C29B-D6ED-0D4F-9F44-BB6ECBD0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漏洞修复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1106F-9C20-634E-A49D-7FAB24FF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816FB4-C3B8-3342-A66E-9AD08F565D39}"/>
              </a:ext>
            </a:extLst>
          </p:cNvPr>
          <p:cNvSpPr/>
          <p:nvPr/>
        </p:nvSpPr>
        <p:spPr>
          <a:xfrm>
            <a:off x="3203848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 </a:t>
            </a:r>
            <a:r>
              <a:rPr kumimoji="1" lang="zh-CN" altLang="en-US" dirty="0"/>
              <a:t>发现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37ED71-D01B-8B42-86AC-73804D715F7E}"/>
              </a:ext>
            </a:extLst>
          </p:cNvPr>
          <p:cNvSpPr/>
          <p:nvPr/>
        </p:nvSpPr>
        <p:spPr>
          <a:xfrm>
            <a:off x="4572000" y="499065"/>
            <a:ext cx="864096" cy="414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 </a:t>
            </a:r>
            <a:r>
              <a:rPr kumimoji="1" lang="zh-CN" altLang="en-US" dirty="0"/>
              <a:t>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F5ED77-5141-0642-BC22-D5DAE0F3E0A6}"/>
              </a:ext>
            </a:extLst>
          </p:cNvPr>
          <p:cNvSpPr/>
          <p:nvPr/>
        </p:nvSpPr>
        <p:spPr>
          <a:xfrm>
            <a:off x="5940152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 </a:t>
            </a:r>
            <a:r>
              <a:rPr kumimoji="1" lang="zh-CN" altLang="en-US" dirty="0"/>
              <a:t>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8824BA-A000-CF4E-828D-C34DD165EE40}"/>
              </a:ext>
            </a:extLst>
          </p:cNvPr>
          <p:cNvSpPr/>
          <p:nvPr/>
        </p:nvSpPr>
        <p:spPr>
          <a:xfrm>
            <a:off x="7308304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r>
              <a:rPr kumimoji="1" lang="zh-CN" altLang="en-US" dirty="0"/>
              <a:t> 公开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1F6C859-1E67-B344-8228-E8EA64BBDD9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067944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7BC5988-AC1E-6A4A-A934-2D62459528C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804248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01DDFA0-A48C-A845-820A-3B47E8984B4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436096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71588073-72AF-9447-AC7B-B6941B224341}"/>
              </a:ext>
            </a:extLst>
          </p:cNvPr>
          <p:cNvSpPr/>
          <p:nvPr/>
        </p:nvSpPr>
        <p:spPr>
          <a:xfrm>
            <a:off x="2807803" y="5155365"/>
            <a:ext cx="3528393" cy="4795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知情范围：邮件列表订阅者</a:t>
            </a:r>
            <a:r>
              <a:rPr kumimoji="1" lang="en-US" altLang="zh-CN" dirty="0">
                <a:solidFill>
                  <a:schemeClr val="tx1"/>
                </a:solidFill>
              </a:rPr>
              <a:t>+</a:t>
            </a:r>
            <a:r>
              <a:rPr kumimoji="1" lang="zh-CN" altLang="en-US" dirty="0">
                <a:solidFill>
                  <a:schemeClr val="tx1"/>
                </a:solidFill>
              </a:rPr>
              <a:t>自己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BB164F-AE76-BE42-871F-40076602E870}"/>
              </a:ext>
            </a:extLst>
          </p:cNvPr>
          <p:cNvSpPr txBox="1"/>
          <p:nvPr/>
        </p:nvSpPr>
        <p:spPr>
          <a:xfrm>
            <a:off x="6275097" y="2345970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i="1" dirty="0"/>
              <a:t>非公开渠道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43E8080-5DFB-3347-82C7-798D032860C1}"/>
              </a:ext>
            </a:extLst>
          </p:cNvPr>
          <p:cNvSpPr txBox="1"/>
          <p:nvPr/>
        </p:nvSpPr>
        <p:spPr>
          <a:xfrm>
            <a:off x="6275097" y="1885370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i="1" dirty="0"/>
              <a:t>公开渠道</a:t>
            </a:r>
          </a:p>
        </p:txBody>
      </p:sp>
    </p:spTree>
    <p:extLst>
      <p:ext uri="{BB962C8B-B14F-4D97-AF65-F5344CB8AC3E}">
        <p14:creationId xmlns:p14="http://schemas.microsoft.com/office/powerpoint/2010/main" val="32882507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8C29B-D6ED-0D4F-9F44-BB6ECBD0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漏洞修复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05E6A-3B39-EC43-826F-D9640ADB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阶段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：处理漏洞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相关子系统开发、维护人员加入讨论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1106F-9C20-634E-A49D-7FAB24FF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816FB4-C3B8-3342-A66E-9AD08F565D39}"/>
              </a:ext>
            </a:extLst>
          </p:cNvPr>
          <p:cNvSpPr/>
          <p:nvPr/>
        </p:nvSpPr>
        <p:spPr>
          <a:xfrm>
            <a:off x="3203848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 </a:t>
            </a:r>
            <a:r>
              <a:rPr kumimoji="1" lang="zh-CN" altLang="en-US" dirty="0"/>
              <a:t>发现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37ED71-D01B-8B42-86AC-73804D715F7E}"/>
              </a:ext>
            </a:extLst>
          </p:cNvPr>
          <p:cNvSpPr/>
          <p:nvPr/>
        </p:nvSpPr>
        <p:spPr>
          <a:xfrm>
            <a:off x="4572000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 </a:t>
            </a:r>
            <a:r>
              <a:rPr kumimoji="1" lang="zh-CN" altLang="en-US" dirty="0"/>
              <a:t>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F5ED77-5141-0642-BC22-D5DAE0F3E0A6}"/>
              </a:ext>
            </a:extLst>
          </p:cNvPr>
          <p:cNvSpPr/>
          <p:nvPr/>
        </p:nvSpPr>
        <p:spPr>
          <a:xfrm>
            <a:off x="5940152" y="499065"/>
            <a:ext cx="864096" cy="414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 </a:t>
            </a:r>
            <a:r>
              <a:rPr kumimoji="1" lang="zh-CN" altLang="en-US" dirty="0"/>
              <a:t>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8824BA-A000-CF4E-828D-C34DD165EE40}"/>
              </a:ext>
            </a:extLst>
          </p:cNvPr>
          <p:cNvSpPr/>
          <p:nvPr/>
        </p:nvSpPr>
        <p:spPr>
          <a:xfrm>
            <a:off x="7308304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r>
              <a:rPr kumimoji="1" lang="zh-CN" altLang="en-US" dirty="0"/>
              <a:t> 公开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1F6C859-1E67-B344-8228-E8EA64BBDD9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067944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7BC5988-AC1E-6A4A-A934-2D62459528C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804248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01DDFA0-A48C-A845-820A-3B47E8984B4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436096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43EC927-3EEC-2741-8B23-4C636C01E4E4}"/>
              </a:ext>
            </a:extLst>
          </p:cNvPr>
          <p:cNvSpPr/>
          <p:nvPr/>
        </p:nvSpPr>
        <p:spPr>
          <a:xfrm>
            <a:off x="2159732" y="5161756"/>
            <a:ext cx="4824535" cy="4346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知情范围：相关开发者</a:t>
            </a:r>
            <a:r>
              <a:rPr kumimoji="1" lang="en-US" altLang="zh-CN" dirty="0">
                <a:solidFill>
                  <a:schemeClr val="tx1"/>
                </a:solidFill>
              </a:rPr>
              <a:t>+</a:t>
            </a:r>
            <a:r>
              <a:rPr kumimoji="1" lang="zh-CN" altLang="en-US" dirty="0">
                <a:solidFill>
                  <a:schemeClr val="tx1"/>
                </a:solidFill>
              </a:rPr>
              <a:t>邮件列表订阅者</a:t>
            </a:r>
            <a:r>
              <a:rPr kumimoji="1" lang="en-US" altLang="zh-CN" dirty="0">
                <a:solidFill>
                  <a:schemeClr val="tx1"/>
                </a:solidFill>
              </a:rPr>
              <a:t>+</a:t>
            </a:r>
            <a:r>
              <a:rPr kumimoji="1" lang="zh-CN" altLang="en-US" dirty="0">
                <a:solidFill>
                  <a:schemeClr val="tx1"/>
                </a:solidFill>
              </a:rPr>
              <a:t>自己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1A2734-5A2A-854B-9BE6-24E78AAF6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479444"/>
            <a:ext cx="7452320" cy="180485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9043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8C29B-D6ED-0D4F-9F44-BB6ECBD0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漏洞修复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05E6A-3B39-EC43-826F-D9640ADB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阶段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：处理漏洞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Patch</a:t>
            </a:r>
            <a:r>
              <a:rPr kumimoji="1" lang="zh-CN" altLang="en-US" dirty="0"/>
              <a:t>提议与讨论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1106F-9C20-634E-A49D-7FAB24FF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816FB4-C3B8-3342-A66E-9AD08F565D39}"/>
              </a:ext>
            </a:extLst>
          </p:cNvPr>
          <p:cNvSpPr/>
          <p:nvPr/>
        </p:nvSpPr>
        <p:spPr>
          <a:xfrm>
            <a:off x="3203848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 </a:t>
            </a:r>
            <a:r>
              <a:rPr kumimoji="1" lang="zh-CN" altLang="en-US" dirty="0"/>
              <a:t>发现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37ED71-D01B-8B42-86AC-73804D715F7E}"/>
              </a:ext>
            </a:extLst>
          </p:cNvPr>
          <p:cNvSpPr/>
          <p:nvPr/>
        </p:nvSpPr>
        <p:spPr>
          <a:xfrm>
            <a:off x="4572000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 </a:t>
            </a:r>
            <a:r>
              <a:rPr kumimoji="1" lang="zh-CN" altLang="en-US" dirty="0"/>
              <a:t>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F5ED77-5141-0642-BC22-D5DAE0F3E0A6}"/>
              </a:ext>
            </a:extLst>
          </p:cNvPr>
          <p:cNvSpPr/>
          <p:nvPr/>
        </p:nvSpPr>
        <p:spPr>
          <a:xfrm>
            <a:off x="5940152" y="499065"/>
            <a:ext cx="864096" cy="414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 </a:t>
            </a:r>
            <a:r>
              <a:rPr kumimoji="1" lang="zh-CN" altLang="en-US" dirty="0"/>
              <a:t>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8824BA-A000-CF4E-828D-C34DD165EE40}"/>
              </a:ext>
            </a:extLst>
          </p:cNvPr>
          <p:cNvSpPr/>
          <p:nvPr/>
        </p:nvSpPr>
        <p:spPr>
          <a:xfrm>
            <a:off x="7308304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r>
              <a:rPr kumimoji="1" lang="zh-CN" altLang="en-US" dirty="0"/>
              <a:t> 公开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1F6C859-1E67-B344-8228-E8EA64BBDD9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067944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7BC5988-AC1E-6A4A-A934-2D62459528C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804248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01DDFA0-A48C-A845-820A-3B47E8984B4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436096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AAEB3CEB-4331-674C-B7E8-9AA89E40A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24" y="2454338"/>
            <a:ext cx="4901151" cy="302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798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8C29B-D6ED-0D4F-9F44-BB6ECBD0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漏洞修复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05E6A-3B39-EC43-826F-D9640ADB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阶段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：处理漏洞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测试与</a:t>
            </a:r>
            <a:r>
              <a:rPr kumimoji="1" lang="en-US" altLang="zh-CN" dirty="0"/>
              <a:t>patch review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1106F-9C20-634E-A49D-7FAB24FF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816FB4-C3B8-3342-A66E-9AD08F565D39}"/>
              </a:ext>
            </a:extLst>
          </p:cNvPr>
          <p:cNvSpPr/>
          <p:nvPr/>
        </p:nvSpPr>
        <p:spPr>
          <a:xfrm>
            <a:off x="3203848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 </a:t>
            </a:r>
            <a:r>
              <a:rPr kumimoji="1" lang="zh-CN" altLang="en-US" dirty="0"/>
              <a:t>发现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37ED71-D01B-8B42-86AC-73804D715F7E}"/>
              </a:ext>
            </a:extLst>
          </p:cNvPr>
          <p:cNvSpPr/>
          <p:nvPr/>
        </p:nvSpPr>
        <p:spPr>
          <a:xfrm>
            <a:off x="4572000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 </a:t>
            </a:r>
            <a:r>
              <a:rPr kumimoji="1" lang="zh-CN" altLang="en-US" dirty="0"/>
              <a:t>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F5ED77-5141-0642-BC22-D5DAE0F3E0A6}"/>
              </a:ext>
            </a:extLst>
          </p:cNvPr>
          <p:cNvSpPr/>
          <p:nvPr/>
        </p:nvSpPr>
        <p:spPr>
          <a:xfrm>
            <a:off x="5940152" y="499065"/>
            <a:ext cx="864096" cy="414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 </a:t>
            </a:r>
            <a:r>
              <a:rPr kumimoji="1" lang="zh-CN" altLang="en-US" dirty="0"/>
              <a:t>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8824BA-A000-CF4E-828D-C34DD165EE40}"/>
              </a:ext>
            </a:extLst>
          </p:cNvPr>
          <p:cNvSpPr/>
          <p:nvPr/>
        </p:nvSpPr>
        <p:spPr>
          <a:xfrm>
            <a:off x="7308304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r>
              <a:rPr kumimoji="1" lang="zh-CN" altLang="en-US" dirty="0"/>
              <a:t> 公开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1F6C859-1E67-B344-8228-E8EA64BBDD9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067944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7BC5988-AC1E-6A4A-A934-2D62459528C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804248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01DDFA0-A48C-A845-820A-3B47E8984B4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436096" y="70617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3C1CE21D-CCD1-804C-8F1A-0C00B122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425452"/>
            <a:ext cx="5500325" cy="21332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50C03F-DEE5-F14D-8D65-4DA39F7C0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060" y="3213711"/>
            <a:ext cx="7092280" cy="215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51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8C29B-D6ED-0D4F-9F44-BB6ECBD0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漏洞修复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05E6A-3B39-EC43-826F-D9640ADB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阶段</a:t>
            </a:r>
            <a:r>
              <a:rPr kumimoji="1" lang="en-US" altLang="zh-CN" dirty="0"/>
              <a:t>3.5</a:t>
            </a:r>
            <a:r>
              <a:rPr kumimoji="1" lang="zh-CN" altLang="en-US" dirty="0"/>
              <a:t>：</a:t>
            </a:r>
            <a:r>
              <a:rPr kumimoji="1" lang="en-US" altLang="zh-CN" dirty="0"/>
              <a:t>Embargo Period </a:t>
            </a:r>
            <a:r>
              <a:rPr kumimoji="1" lang="zh-CN" altLang="en-US" dirty="0"/>
              <a:t>（可选）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各大发行版加入讨论，准备修复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为什么不能直接修复？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在公开的邮件列表发</a:t>
            </a:r>
            <a:r>
              <a:rPr kumimoji="1" lang="en-US" altLang="zh-CN" dirty="0"/>
              <a:t>patch</a:t>
            </a:r>
            <a:r>
              <a:rPr kumimoji="1" lang="zh-CN" altLang="en-US" dirty="0"/>
              <a:t>、往主线</a:t>
            </a:r>
            <a:r>
              <a:rPr kumimoji="1" lang="en-US" altLang="zh-CN" dirty="0"/>
              <a:t>push</a:t>
            </a:r>
            <a:r>
              <a:rPr kumimoji="1" lang="zh-CN" altLang="en-US" dirty="0"/>
              <a:t>都属于公开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预防各发行版未及时修复已公开的漏洞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决定是否需要该阶段：评估危害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1106F-9C20-634E-A49D-7FAB24FF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816FB4-C3B8-3342-A66E-9AD08F565D39}"/>
              </a:ext>
            </a:extLst>
          </p:cNvPr>
          <p:cNvSpPr/>
          <p:nvPr/>
        </p:nvSpPr>
        <p:spPr>
          <a:xfrm>
            <a:off x="3203848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 </a:t>
            </a:r>
            <a:r>
              <a:rPr kumimoji="1" lang="zh-CN" altLang="en-US" dirty="0"/>
              <a:t>发现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37ED71-D01B-8B42-86AC-73804D715F7E}"/>
              </a:ext>
            </a:extLst>
          </p:cNvPr>
          <p:cNvSpPr/>
          <p:nvPr/>
        </p:nvSpPr>
        <p:spPr>
          <a:xfrm>
            <a:off x="4427984" y="499064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 </a:t>
            </a:r>
            <a:r>
              <a:rPr kumimoji="1" lang="zh-CN" altLang="en-US" dirty="0"/>
              <a:t>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F5ED77-5141-0642-BC22-D5DAE0F3E0A6}"/>
              </a:ext>
            </a:extLst>
          </p:cNvPr>
          <p:cNvSpPr/>
          <p:nvPr/>
        </p:nvSpPr>
        <p:spPr>
          <a:xfrm>
            <a:off x="5652120" y="499063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 </a:t>
            </a:r>
            <a:r>
              <a:rPr kumimoji="1" lang="zh-CN" altLang="en-US" dirty="0"/>
              <a:t>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8824BA-A000-CF4E-828D-C34DD165EE40}"/>
              </a:ext>
            </a:extLst>
          </p:cNvPr>
          <p:cNvSpPr/>
          <p:nvPr/>
        </p:nvSpPr>
        <p:spPr>
          <a:xfrm>
            <a:off x="6526560" y="1129569"/>
            <a:ext cx="1296144" cy="414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3.5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Embargo</a:t>
            </a:r>
            <a:endParaRPr kumimoji="1" lang="zh-CN" altLang="en-US" sz="1400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1F6C859-1E67-B344-8228-E8EA64BBDD9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067944" y="706173"/>
            <a:ext cx="3600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7BC5988-AC1E-6A4A-A934-2D62459528C2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6516216" y="706172"/>
            <a:ext cx="658416" cy="423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01DDFA0-A48C-A845-820A-3B47E8984B4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292080" y="706172"/>
            <a:ext cx="3600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2BB04BD-F0C6-AE4E-B592-1A6198AA42A1}"/>
              </a:ext>
            </a:extLst>
          </p:cNvPr>
          <p:cNvSpPr/>
          <p:nvPr/>
        </p:nvSpPr>
        <p:spPr>
          <a:xfrm>
            <a:off x="7822704" y="499062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r>
              <a:rPr kumimoji="1" lang="zh-CN" altLang="en-US" dirty="0"/>
              <a:t> 公开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F003629B-9572-D94A-80DE-B7EA9DDCE5D7}"/>
              </a:ext>
            </a:extLst>
          </p:cNvPr>
          <p:cNvCxnSpPr>
            <a:cxnSpLocks/>
            <a:stCxn id="9" idx="0"/>
            <a:endCxn id="14" idx="1"/>
          </p:cNvCxnSpPr>
          <p:nvPr/>
        </p:nvCxnSpPr>
        <p:spPr>
          <a:xfrm flipV="1">
            <a:off x="7174632" y="706171"/>
            <a:ext cx="648072" cy="423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4907B6D7-1E56-F749-9986-FE381CCDA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4073369"/>
            <a:ext cx="7181800" cy="616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09D52AA7-B575-594B-97A3-842FB77AA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858529"/>
            <a:ext cx="6253956" cy="5932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57863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8C29B-D6ED-0D4F-9F44-BB6ECBD0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漏洞修复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05E6A-3B39-EC43-826F-D9640ADB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阶段</a:t>
            </a:r>
            <a:r>
              <a:rPr kumimoji="1" lang="en-US" altLang="zh-CN" dirty="0"/>
              <a:t>3.5</a:t>
            </a:r>
            <a:r>
              <a:rPr kumimoji="1" lang="zh-CN" altLang="en-US" dirty="0"/>
              <a:t>：</a:t>
            </a:r>
            <a:r>
              <a:rPr kumimoji="1" lang="en-US" altLang="zh-CN" dirty="0"/>
              <a:t>Embargo Period</a:t>
            </a:r>
          </a:p>
          <a:p>
            <a:pPr lvl="1"/>
            <a:r>
              <a:rPr kumimoji="1" lang="zh-CN" altLang="en-US" dirty="0"/>
              <a:t>协商</a:t>
            </a:r>
            <a:r>
              <a:rPr kumimoji="1" lang="en-US" altLang="zh-CN" dirty="0"/>
              <a:t>Embargo Period</a:t>
            </a:r>
            <a:r>
              <a:rPr kumimoji="1" lang="zh-CN" altLang="en-US" dirty="0"/>
              <a:t>长短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1106F-9C20-634E-A49D-7FAB24FF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816FB4-C3B8-3342-A66E-9AD08F565D39}"/>
              </a:ext>
            </a:extLst>
          </p:cNvPr>
          <p:cNvSpPr/>
          <p:nvPr/>
        </p:nvSpPr>
        <p:spPr>
          <a:xfrm>
            <a:off x="3203848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 </a:t>
            </a:r>
            <a:r>
              <a:rPr kumimoji="1" lang="zh-CN" altLang="en-US" dirty="0"/>
              <a:t>发现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37ED71-D01B-8B42-86AC-73804D715F7E}"/>
              </a:ext>
            </a:extLst>
          </p:cNvPr>
          <p:cNvSpPr/>
          <p:nvPr/>
        </p:nvSpPr>
        <p:spPr>
          <a:xfrm>
            <a:off x="4427984" y="499064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 </a:t>
            </a:r>
            <a:r>
              <a:rPr kumimoji="1" lang="zh-CN" altLang="en-US" dirty="0"/>
              <a:t>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F5ED77-5141-0642-BC22-D5DAE0F3E0A6}"/>
              </a:ext>
            </a:extLst>
          </p:cNvPr>
          <p:cNvSpPr/>
          <p:nvPr/>
        </p:nvSpPr>
        <p:spPr>
          <a:xfrm>
            <a:off x="5652120" y="499063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 </a:t>
            </a:r>
            <a:r>
              <a:rPr kumimoji="1" lang="zh-CN" altLang="en-US" dirty="0"/>
              <a:t>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8824BA-A000-CF4E-828D-C34DD165EE40}"/>
              </a:ext>
            </a:extLst>
          </p:cNvPr>
          <p:cNvSpPr/>
          <p:nvPr/>
        </p:nvSpPr>
        <p:spPr>
          <a:xfrm>
            <a:off x="6526560" y="1129569"/>
            <a:ext cx="1296144" cy="414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3.5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Embargo</a:t>
            </a:r>
            <a:endParaRPr kumimoji="1" lang="zh-CN" altLang="en-US" sz="1400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1F6C859-1E67-B344-8228-E8EA64BBDD9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067944" y="706173"/>
            <a:ext cx="3600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7BC5988-AC1E-6A4A-A934-2D62459528C2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6516216" y="706172"/>
            <a:ext cx="658416" cy="423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01DDFA0-A48C-A845-820A-3B47E8984B4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292080" y="706172"/>
            <a:ext cx="3600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2BB04BD-F0C6-AE4E-B592-1A6198AA42A1}"/>
              </a:ext>
            </a:extLst>
          </p:cNvPr>
          <p:cNvSpPr/>
          <p:nvPr/>
        </p:nvSpPr>
        <p:spPr>
          <a:xfrm>
            <a:off x="7822704" y="499062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r>
              <a:rPr kumimoji="1" lang="zh-CN" altLang="en-US" dirty="0"/>
              <a:t> 公开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F003629B-9572-D94A-80DE-B7EA9DDCE5D7}"/>
              </a:ext>
            </a:extLst>
          </p:cNvPr>
          <p:cNvCxnSpPr>
            <a:cxnSpLocks/>
            <a:stCxn id="9" idx="0"/>
            <a:endCxn id="14" idx="1"/>
          </p:cNvCxnSpPr>
          <p:nvPr/>
        </p:nvCxnSpPr>
        <p:spPr>
          <a:xfrm flipV="1">
            <a:off x="7174632" y="706171"/>
            <a:ext cx="648072" cy="423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A8B4AC8-9ADC-0749-B528-CC91B7384BC9}"/>
              </a:ext>
            </a:extLst>
          </p:cNvPr>
          <p:cNvSpPr/>
          <p:nvPr/>
        </p:nvSpPr>
        <p:spPr>
          <a:xfrm>
            <a:off x="1506488" y="5276152"/>
            <a:ext cx="6131024" cy="3769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知情范围：各大发行版</a:t>
            </a:r>
            <a:r>
              <a:rPr kumimoji="1" lang="en-US" altLang="zh-CN" dirty="0">
                <a:solidFill>
                  <a:schemeClr val="tx1"/>
                </a:solidFill>
              </a:rPr>
              <a:t>+</a:t>
            </a:r>
            <a:r>
              <a:rPr kumimoji="1" lang="zh-CN" altLang="en-US" dirty="0">
                <a:solidFill>
                  <a:schemeClr val="tx1"/>
                </a:solidFill>
              </a:rPr>
              <a:t>相关开发者</a:t>
            </a:r>
            <a:r>
              <a:rPr kumimoji="1" lang="en-US" altLang="zh-CN" dirty="0">
                <a:solidFill>
                  <a:schemeClr val="tx1"/>
                </a:solidFill>
              </a:rPr>
              <a:t>+</a:t>
            </a:r>
            <a:r>
              <a:rPr kumimoji="1" lang="zh-CN" altLang="en-US" dirty="0">
                <a:solidFill>
                  <a:schemeClr val="tx1"/>
                </a:solidFill>
              </a:rPr>
              <a:t>邮件列表订阅者</a:t>
            </a:r>
            <a:r>
              <a:rPr kumimoji="1" lang="en-US" altLang="zh-CN" dirty="0">
                <a:solidFill>
                  <a:schemeClr val="tx1"/>
                </a:solidFill>
              </a:rPr>
              <a:t>+</a:t>
            </a:r>
            <a:r>
              <a:rPr kumimoji="1" lang="zh-CN" altLang="en-US" dirty="0">
                <a:solidFill>
                  <a:schemeClr val="tx1"/>
                </a:solidFill>
              </a:rPr>
              <a:t>自己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FFDDC921-E693-CA4E-BB2A-268FF61ED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105" y="2424976"/>
            <a:ext cx="7327853" cy="608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762BA3B9-3557-0F43-B660-867E7A5BB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933" y="3104937"/>
            <a:ext cx="5158216" cy="9228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A5E67E70-0C97-E747-B778-6E00DB9CB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105" y="4129879"/>
            <a:ext cx="5600605" cy="9111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70753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8C29B-D6ED-0D4F-9F44-BB6ECBD0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漏洞修复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05E6A-3B39-EC43-826F-D9640ADB0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38150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阶段</a:t>
            </a:r>
            <a:r>
              <a:rPr kumimoji="1" lang="en-US" altLang="zh-CN" dirty="0"/>
              <a:t>4</a:t>
            </a:r>
            <a:r>
              <a:rPr kumimoji="1" lang="zh-CN" altLang="en-US" dirty="0"/>
              <a:t>：公开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并入主线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/>
              <a:t>Backport</a:t>
            </a:r>
            <a:r>
              <a:rPr kumimoji="1" lang="zh-CN" altLang="en-US" dirty="0"/>
              <a:t>受影响的</a:t>
            </a:r>
            <a:r>
              <a:rPr kumimoji="1" lang="en-US" altLang="zh-CN" dirty="0"/>
              <a:t>stable</a:t>
            </a:r>
            <a:r>
              <a:rPr kumimoji="1" lang="zh-CN" altLang="en-US" dirty="0"/>
              <a:t>版本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公布至公开的邮件列表、安全话题社区，比如</a:t>
            </a:r>
            <a:r>
              <a:rPr kumimoji="1" lang="en" altLang="zh-CN" dirty="0" err="1"/>
              <a:t>oss-security@lists.openwall.com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更新</a:t>
            </a:r>
            <a:r>
              <a:rPr kumimoji="1" lang="en-US" altLang="zh-CN" dirty="0"/>
              <a:t>CVE</a:t>
            </a:r>
            <a:r>
              <a:rPr kumimoji="1" lang="zh-CN" altLang="en-US" dirty="0"/>
              <a:t>状态至公开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1106F-9C20-634E-A49D-7FAB24FF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816FB4-C3B8-3342-A66E-9AD08F565D39}"/>
              </a:ext>
            </a:extLst>
          </p:cNvPr>
          <p:cNvSpPr/>
          <p:nvPr/>
        </p:nvSpPr>
        <p:spPr>
          <a:xfrm>
            <a:off x="3203848" y="499065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 </a:t>
            </a:r>
            <a:r>
              <a:rPr kumimoji="1" lang="zh-CN" altLang="en-US" dirty="0"/>
              <a:t>发现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37ED71-D01B-8B42-86AC-73804D715F7E}"/>
              </a:ext>
            </a:extLst>
          </p:cNvPr>
          <p:cNvSpPr/>
          <p:nvPr/>
        </p:nvSpPr>
        <p:spPr>
          <a:xfrm>
            <a:off x="4427984" y="499064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 </a:t>
            </a:r>
            <a:r>
              <a:rPr kumimoji="1" lang="zh-CN" altLang="en-US" dirty="0"/>
              <a:t>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F5ED77-5141-0642-BC22-D5DAE0F3E0A6}"/>
              </a:ext>
            </a:extLst>
          </p:cNvPr>
          <p:cNvSpPr/>
          <p:nvPr/>
        </p:nvSpPr>
        <p:spPr>
          <a:xfrm>
            <a:off x="5652120" y="499063"/>
            <a:ext cx="864096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 </a:t>
            </a:r>
            <a:r>
              <a:rPr kumimoji="1" lang="zh-CN" altLang="en-US" dirty="0"/>
              <a:t>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8824BA-A000-CF4E-828D-C34DD165EE40}"/>
              </a:ext>
            </a:extLst>
          </p:cNvPr>
          <p:cNvSpPr/>
          <p:nvPr/>
        </p:nvSpPr>
        <p:spPr>
          <a:xfrm>
            <a:off x="6526560" y="1129569"/>
            <a:ext cx="1296144" cy="41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3.5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Embargo</a:t>
            </a:r>
            <a:endParaRPr kumimoji="1" lang="zh-CN" altLang="en-US" sz="1400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1F6C859-1E67-B344-8228-E8EA64BBDD9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067944" y="706173"/>
            <a:ext cx="3600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7BC5988-AC1E-6A4A-A934-2D62459528C2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6516216" y="706172"/>
            <a:ext cx="658416" cy="423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01DDFA0-A48C-A845-820A-3B47E8984B4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292080" y="706172"/>
            <a:ext cx="3600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2BB04BD-F0C6-AE4E-B592-1A6198AA42A1}"/>
              </a:ext>
            </a:extLst>
          </p:cNvPr>
          <p:cNvSpPr/>
          <p:nvPr/>
        </p:nvSpPr>
        <p:spPr>
          <a:xfrm>
            <a:off x="7822704" y="499062"/>
            <a:ext cx="864096" cy="414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r>
              <a:rPr kumimoji="1" lang="zh-CN" altLang="en-US" dirty="0"/>
              <a:t> 公开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F003629B-9572-D94A-80DE-B7EA9DDCE5D7}"/>
              </a:ext>
            </a:extLst>
          </p:cNvPr>
          <p:cNvCxnSpPr>
            <a:cxnSpLocks/>
            <a:stCxn id="9" idx="0"/>
            <a:endCxn id="14" idx="1"/>
          </p:cNvCxnSpPr>
          <p:nvPr/>
        </p:nvCxnSpPr>
        <p:spPr>
          <a:xfrm flipV="1">
            <a:off x="7174632" y="706171"/>
            <a:ext cx="648072" cy="423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824C8023-B0D4-0242-A6F6-585A8798A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20" y="1956596"/>
            <a:ext cx="4608512" cy="520627"/>
          </a:xfrm>
          <a:prstGeom prst="rect">
            <a:avLst/>
          </a:prstGeom>
          <a:ln>
            <a:noFill/>
          </a:ln>
          <a:effectLst>
            <a:outerShdw blurRad="165100" dist="76200" dir="3360000" sx="99000" sy="99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C9331C2C-D3E8-BC43-B411-6FEAF5B7D074}"/>
              </a:ext>
            </a:extLst>
          </p:cNvPr>
          <p:cNvSpPr/>
          <p:nvPr/>
        </p:nvSpPr>
        <p:spPr>
          <a:xfrm>
            <a:off x="1506488" y="5260612"/>
            <a:ext cx="6131024" cy="3769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知情范围：所有人！</a:t>
            </a:r>
          </a:p>
        </p:txBody>
      </p:sp>
    </p:spTree>
    <p:extLst>
      <p:ext uri="{BB962C8B-B14F-4D97-AF65-F5344CB8AC3E}">
        <p14:creationId xmlns:p14="http://schemas.microsoft.com/office/powerpoint/2010/main" val="1959883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57837</TotalTime>
  <Words>5448</Words>
  <Application>Microsoft Macintosh PowerPoint</Application>
  <PresentationFormat>全屏显示(16:10)</PresentationFormat>
  <Paragraphs>894</Paragraphs>
  <Slides>79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84" baseType="lpstr">
      <vt:lpstr>DengXian</vt:lpstr>
      <vt:lpstr>微软雅黑</vt:lpstr>
      <vt:lpstr>Arial</vt:lpstr>
      <vt:lpstr>Calibri</vt:lpstr>
      <vt:lpstr>Office 主题​​</vt:lpstr>
      <vt:lpstr>调试与测试</vt:lpstr>
      <vt:lpstr>版权声明</vt:lpstr>
      <vt:lpstr>其他平台的 Enclave/TEE</vt:lpstr>
      <vt:lpstr>ARM TrustZone 技术</vt:lpstr>
      <vt:lpstr>TEE硬件状态与软件架构</vt:lpstr>
      <vt:lpstr>用TrustZone保护指纹的录入和识别</vt:lpstr>
      <vt:lpstr>AMD SEV</vt:lpstr>
      <vt:lpstr>RISC-V平台的Enclave</vt:lpstr>
      <vt:lpstr>蓬莱 Enclave：诞生自 SJTU</vt:lpstr>
      <vt:lpstr>小结</vt:lpstr>
      <vt:lpstr>控制系统复杂性</vt:lpstr>
      <vt:lpstr>Enclave的不足</vt:lpstr>
      <vt:lpstr>大纲</vt:lpstr>
      <vt:lpstr>调试器的基本原理</vt:lpstr>
      <vt:lpstr>为什么需要调试器</vt:lpstr>
      <vt:lpstr>调试器 – 建立调试关系</vt:lpstr>
      <vt:lpstr>GDB捕捉异常信号流程</vt:lpstr>
      <vt:lpstr>GDB捕捉异常信号流程</vt:lpstr>
      <vt:lpstr>调试器 – 配置断点</vt:lpstr>
      <vt:lpstr>断点的硬件支持</vt:lpstr>
      <vt:lpstr>GDB配置断点及断点触发</vt:lpstr>
      <vt:lpstr>GDB断点恢复运行</vt:lpstr>
      <vt:lpstr>调试器 – 配置内存断点</vt:lpstr>
      <vt:lpstr>内存断点的硬件支持</vt:lpstr>
      <vt:lpstr>断点寄存器</vt:lpstr>
      <vt:lpstr>远程调试</vt:lpstr>
      <vt:lpstr>操作系统的调试器支持</vt:lpstr>
      <vt:lpstr>操作系统调试器常见实现方法</vt:lpstr>
      <vt:lpstr>案例：QEMU的GDB支持</vt:lpstr>
      <vt:lpstr>案例：QEMU GDB的断点支持</vt:lpstr>
      <vt:lpstr>断点指令相关问题</vt:lpstr>
      <vt:lpstr>性能调试</vt:lpstr>
      <vt:lpstr>为什么需要性能调试</vt:lpstr>
      <vt:lpstr>实际性能调试样例</vt:lpstr>
      <vt:lpstr>硬件计数器</vt:lpstr>
      <vt:lpstr>硬件计数器 – 采样</vt:lpstr>
      <vt:lpstr>Linux性能计数器采样支持</vt:lpstr>
      <vt:lpstr>采样分析hackbench</vt:lpstr>
      <vt:lpstr>基于中断采样的缺点</vt:lpstr>
      <vt:lpstr>精确采样硬件支持</vt:lpstr>
      <vt:lpstr>精确采样硬件支持</vt:lpstr>
      <vt:lpstr>控制流追踪</vt:lpstr>
      <vt:lpstr>控制流追踪</vt:lpstr>
      <vt:lpstr>控制流追踪</vt:lpstr>
      <vt:lpstr>追踪hackbench控制流</vt:lpstr>
      <vt:lpstr>程序执行追踪</vt:lpstr>
      <vt:lpstr>静态追踪方法</vt:lpstr>
      <vt:lpstr>静态追踪方法</vt:lpstr>
      <vt:lpstr>分析hackbench中线程切换</vt:lpstr>
      <vt:lpstr>动态追踪方法</vt:lpstr>
      <vt:lpstr>Linux动态追踪方法kprobe</vt:lpstr>
      <vt:lpstr>分析hackbench数据读写大小</vt:lpstr>
      <vt:lpstr>分析hackbench数据读写大小</vt:lpstr>
      <vt:lpstr>测试的基本原则和方法</vt:lpstr>
      <vt:lpstr>测试的目的</vt:lpstr>
      <vt:lpstr>操作系统测试的基本方法与原则</vt:lpstr>
      <vt:lpstr>操作系统测试的基本方法与原则</vt:lpstr>
      <vt:lpstr>操作系统测试的基本方法与原则</vt:lpstr>
      <vt:lpstr>兼容性测试</vt:lpstr>
      <vt:lpstr>兼容性测试</vt:lpstr>
      <vt:lpstr>兼容性测试</vt:lpstr>
      <vt:lpstr>兼容性测试</vt:lpstr>
      <vt:lpstr>操作系统稳定性</vt:lpstr>
      <vt:lpstr>压力测试案例： syzkaller模糊测试</vt:lpstr>
      <vt:lpstr>压力测试案例： syzkaller模糊测试</vt:lpstr>
      <vt:lpstr>压力测试案例： syzkaller模糊测试</vt:lpstr>
      <vt:lpstr>性能测试</vt:lpstr>
      <vt:lpstr>性能测试</vt:lpstr>
      <vt:lpstr>持续集成</vt:lpstr>
      <vt:lpstr>持续集成</vt:lpstr>
      <vt:lpstr>总结</vt:lpstr>
      <vt:lpstr>Linux安全漏洞修复流程</vt:lpstr>
      <vt:lpstr>漏洞修复</vt:lpstr>
      <vt:lpstr>漏洞修复</vt:lpstr>
      <vt:lpstr>漏洞修复</vt:lpstr>
      <vt:lpstr>漏洞修复</vt:lpstr>
      <vt:lpstr>漏洞修复</vt:lpstr>
      <vt:lpstr>漏洞修复</vt:lpstr>
      <vt:lpstr>漏洞修复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5573</cp:revision>
  <cp:lastPrinted>2016-06-13T07:55:34Z</cp:lastPrinted>
  <dcterms:created xsi:type="dcterms:W3CDTF">2017-11-24T09:35:45Z</dcterms:created>
  <dcterms:modified xsi:type="dcterms:W3CDTF">2022-05-26T05:56:02Z</dcterms:modified>
</cp:coreProperties>
</file>