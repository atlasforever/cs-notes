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6"/>
  </p:notesMasterIdLst>
  <p:handoutMasterIdLst>
    <p:handoutMasterId r:id="rId57"/>
  </p:handoutMasterIdLst>
  <p:sldIdLst>
    <p:sldId id="1306" r:id="rId2"/>
    <p:sldId id="1359" r:id="rId3"/>
    <p:sldId id="2856" r:id="rId4"/>
    <p:sldId id="2722" r:id="rId5"/>
    <p:sldId id="2727" r:id="rId6"/>
    <p:sldId id="512" r:id="rId7"/>
    <p:sldId id="516" r:id="rId8"/>
    <p:sldId id="2774" r:id="rId9"/>
    <p:sldId id="2826" r:id="rId10"/>
    <p:sldId id="2820" r:id="rId11"/>
    <p:sldId id="2821" r:id="rId12"/>
    <p:sldId id="2822" r:id="rId13"/>
    <p:sldId id="2776" r:id="rId14"/>
    <p:sldId id="2777" r:id="rId15"/>
    <p:sldId id="2840" r:id="rId16"/>
    <p:sldId id="2778" r:id="rId17"/>
    <p:sldId id="2827" r:id="rId18"/>
    <p:sldId id="2854" r:id="rId19"/>
    <p:sldId id="2855" r:id="rId20"/>
    <p:sldId id="2813" r:id="rId21"/>
    <p:sldId id="2781" r:id="rId22"/>
    <p:sldId id="2841" r:id="rId23"/>
    <p:sldId id="2842" r:id="rId24"/>
    <p:sldId id="2782" r:id="rId25"/>
    <p:sldId id="2783" r:id="rId26"/>
    <p:sldId id="2795" r:id="rId27"/>
    <p:sldId id="2843" r:id="rId28"/>
    <p:sldId id="2792" r:id="rId29"/>
    <p:sldId id="2784" r:id="rId30"/>
    <p:sldId id="2796" r:id="rId31"/>
    <p:sldId id="2830" r:id="rId32"/>
    <p:sldId id="2829" r:id="rId33"/>
    <p:sldId id="2828" r:id="rId34"/>
    <p:sldId id="2793" r:id="rId35"/>
    <p:sldId id="2785" r:id="rId36"/>
    <p:sldId id="2838" r:id="rId37"/>
    <p:sldId id="2786" r:id="rId38"/>
    <p:sldId id="2844" r:id="rId39"/>
    <p:sldId id="2834" r:id="rId40"/>
    <p:sldId id="2845" r:id="rId41"/>
    <p:sldId id="2833" r:id="rId42"/>
    <p:sldId id="2832" r:id="rId43"/>
    <p:sldId id="2835" r:id="rId44"/>
    <p:sldId id="2837" r:id="rId45"/>
    <p:sldId id="2794" r:id="rId46"/>
    <p:sldId id="2846" r:id="rId47"/>
    <p:sldId id="2788" r:id="rId48"/>
    <p:sldId id="2847" r:id="rId49"/>
    <p:sldId id="2848" r:id="rId50"/>
    <p:sldId id="2849" r:id="rId51"/>
    <p:sldId id="2850" r:id="rId52"/>
    <p:sldId id="2851" r:id="rId53"/>
    <p:sldId id="2852" r:id="rId54"/>
    <p:sldId id="2853" r:id="rId55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pos="3878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  <a:srgbClr val="BE384B"/>
    <a:srgbClr val="FFFF99"/>
    <a:srgbClr val="515151"/>
    <a:srgbClr val="941100"/>
    <a:srgbClr val="FF2F92"/>
    <a:srgbClr val="0432FF"/>
    <a:srgbClr val="FF9300"/>
    <a:srgbClr val="00FB92"/>
    <a:srgbClr val="212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979" autoAdjust="0"/>
    <p:restoredTop sz="85744" autoAdjust="0"/>
  </p:normalViewPr>
  <p:slideViewPr>
    <p:cSldViewPr>
      <p:cViewPr varScale="1">
        <p:scale>
          <a:sx n="129" d="100"/>
          <a:sy n="129" d="100"/>
        </p:scale>
        <p:origin x="448" y="192"/>
      </p:cViewPr>
      <p:guideLst>
        <p:guide orient="horz" pos="1800"/>
        <p:guide pos="3878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21" d="100"/>
          <a:sy n="121" d="100"/>
        </p:scale>
        <p:origin x="3864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2022/5/10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2022/5/10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90187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99780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64191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13272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92100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7742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重画一下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56080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52856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9FA25068-95BE-F84A-896E-9E89F9434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lvl1pPr algn="ctr">
              <a:defRPr sz="1100"/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1461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4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6608DAFC-F7CB-BF45-A12C-3E5B3C7488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defRPr sz="1100"/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94956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222B87CB-0BF3-3A40-9555-EFDE398401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614694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4DC863AB-1CA3-014A-96B6-C1A16FEA03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lvl1pPr>
              <a:defRPr sz="11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defRPr>
            </a:lvl1pPr>
          </a:lstStyle>
          <a:p>
            <a:pPr algn="ctr"/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89090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/4.0/legalcod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emf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C7C6228-E47F-EA4B-8DD8-28647C76D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720996"/>
            <a:ext cx="7772400" cy="1225021"/>
          </a:xfrm>
        </p:spPr>
        <p:txBody>
          <a:bodyPr>
            <a:normAutofit/>
          </a:bodyPr>
          <a:lstStyle/>
          <a:p>
            <a:pPr algn="ctr">
              <a:lnSpc>
                <a:spcPct val="110000"/>
              </a:lnSpc>
            </a:pPr>
            <a:r>
              <a:rPr kumimoji="1" lang="zh-CN" altLang="en-US" sz="4800" dirty="0"/>
              <a:t>系统虚拟化</a:t>
            </a:r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A89EB2B2-D46F-2643-A072-954E7921B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3412362"/>
            <a:ext cx="7772400" cy="12250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上海交通大学并行与分布式系统研究所</a:t>
            </a:r>
            <a:endParaRPr kumimoji="1" lang="en-US" altLang="zh-CN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</a:t>
            </a:r>
            <a:r>
              <a:rPr kumimoji="1" lang="en-US" altLang="zh-CN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ipads.se.sjtu.edu.cn</a:t>
            </a:r>
            <a:endParaRPr kumimoji="1" lang="en" altLang="zh-CN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sp>
        <p:nvSpPr>
          <p:cNvPr id="7" name="副标题 2">
            <a:extLst>
              <a:ext uri="{FF2B5EF4-FFF2-40B4-BE49-F238E27FC236}">
                <a16:creationId xmlns:a16="http://schemas.microsoft.com/office/drawing/2014/main" id="{E2120B98-7095-B94B-B13B-75606426BFB4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SE3357-1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·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操作系统（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2022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春）</a:t>
            </a:r>
          </a:p>
        </p:txBody>
      </p:sp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8067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+mn-lt"/>
              </a:rPr>
              <a:t>版权声明</a:t>
            </a:r>
            <a:endParaRPr kumimoji="1" lang="zh-CN" altLang="en-US" dirty="0">
              <a:latin typeface="+mn-lt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b="0">
                <a:latin typeface="+mn-lt"/>
              </a:rPr>
              <a:t>本内容版权归</a:t>
            </a:r>
            <a:r>
              <a:rPr lang="zh-CN" altLang="en-US" sz="2000">
                <a:latin typeface="+mn-lt"/>
              </a:rPr>
              <a:t>上海交通大学并行与分布式系统研究所</a:t>
            </a:r>
            <a:r>
              <a:rPr lang="zh-CN" altLang="en-US" sz="2000" b="0">
                <a:latin typeface="+mn-lt"/>
              </a:rPr>
              <a:t>所有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使用者可以将全部或部分本内容免费用于非商业用途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使用者在使用全部或部分本内容时请注明来源：</a:t>
            </a:r>
            <a:endParaRPr lang="en-US" altLang="zh-CN" sz="2000" b="0">
              <a:latin typeface="+mn-lt"/>
            </a:endParaRPr>
          </a:p>
          <a:p>
            <a:pPr lvl="1"/>
            <a:r>
              <a:rPr lang="zh-CN" altLang="en-US" sz="1600"/>
              <a:t>内容来自：上海交通大学并行与分布式系统研究所</a:t>
            </a:r>
            <a:r>
              <a:rPr lang="en-US" altLang="zh-CN" sz="1600"/>
              <a:t>+</a:t>
            </a:r>
            <a:r>
              <a:rPr lang="zh-CN" altLang="en-US" sz="1600"/>
              <a:t>材料名字</a:t>
            </a:r>
            <a:endParaRPr lang="en-US" altLang="zh-CN" sz="1600"/>
          </a:p>
          <a:p>
            <a:r>
              <a:rPr lang="zh-CN" altLang="en-US" sz="2000" b="0">
                <a:latin typeface="+mn-lt"/>
              </a:rPr>
              <a:t>对于不遵守此声明或者其他违法使用本内容者，将依法保留追究权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本内容的发布采用 </a:t>
            </a:r>
            <a:r>
              <a:rPr lang="en-US" altLang="zh-CN" sz="2000" b="0">
                <a:latin typeface="+mn-lt"/>
              </a:rPr>
              <a:t>Creative Commons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Attribution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4.0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License</a:t>
            </a:r>
            <a:endParaRPr lang="en-US" altLang="zh-CN" sz="2400" b="0">
              <a:latin typeface="+mn-lt"/>
            </a:endParaRPr>
          </a:p>
          <a:p>
            <a:pPr lvl="1"/>
            <a:r>
              <a:rPr lang="zh-CN" altLang="en-US" sz="1600">
                <a:latin typeface="+mn-lt"/>
              </a:rPr>
              <a:t>完整文本：</a:t>
            </a:r>
            <a:r>
              <a:rPr lang="en-US" altLang="zh-CN" sz="1600">
                <a:latin typeface="+mn-lt"/>
                <a:hlinkClick r:id="rId2"/>
              </a:rPr>
              <a:t>https://creativecommons.org/licenses/by/4.0/legalcode</a:t>
            </a:r>
            <a:endParaRPr lang="en-US" altLang="zh-CN" sz="1800" b="0">
              <a:latin typeface="+mn-lt"/>
            </a:endParaRPr>
          </a:p>
          <a:p>
            <a:endParaRPr kumimoji="1" lang="zh-CN" altLang="en-US" sz="2000" dirty="0">
              <a:latin typeface="+mn-lt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E75993-6B82-2A4E-883D-B9872C5016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74DB58-9478-0845-B9D0-F1002C2E0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5226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E0ACB-7DA4-F8B7-97A9-DFC970A24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Review</a:t>
            </a:r>
            <a:r>
              <a:rPr lang="zh-CN" altLang="en-US" dirty="0"/>
              <a:t>：虚拟机支持多个虚拟</a:t>
            </a:r>
            <a:r>
              <a:rPr lang="en-US" altLang="zh-CN" dirty="0"/>
              <a:t>CPU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93869-405D-F5C6-211C-D9CCF0D73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4114800" cy="3756247"/>
          </a:xfrm>
        </p:spPr>
        <p:txBody>
          <a:bodyPr>
            <a:normAutofit/>
          </a:bodyPr>
          <a:lstStyle/>
          <a:p>
            <a:r>
              <a:rPr lang="en-US" altLang="zh-CN" dirty="0"/>
              <a:t>VM</a:t>
            </a:r>
            <a:r>
              <a:rPr lang="zh-CN" altLang="en-US" dirty="0"/>
              <a:t>的</a:t>
            </a:r>
            <a:r>
              <a:rPr lang="zh-CN" altLang="en-CN" dirty="0"/>
              <a:t>能力</a:t>
            </a:r>
            <a:r>
              <a:rPr lang="zh-CN" altLang="en-US" dirty="0"/>
              <a:t>（与第六版的区别）</a:t>
            </a:r>
            <a:endParaRPr lang="en-CN" dirty="0"/>
          </a:p>
          <a:p>
            <a:pPr lvl="1"/>
            <a:r>
              <a:rPr lang="en-CN" b="1" dirty="0">
                <a:solidFill>
                  <a:srgbClr val="C00000"/>
                </a:solidFill>
              </a:rPr>
              <a:t>虚拟机</a:t>
            </a:r>
            <a:r>
              <a:rPr lang="en-US" b="1" dirty="0" err="1">
                <a:solidFill>
                  <a:srgbClr val="C00000"/>
                </a:solidFill>
              </a:rPr>
              <a:t>有多个</a:t>
            </a:r>
            <a:r>
              <a:rPr lang="en-US" altLang="zh-CN" b="1" dirty="0" err="1">
                <a:solidFill>
                  <a:srgbClr val="C00000"/>
                </a:solidFill>
              </a:rPr>
              <a:t>Virtual</a:t>
            </a:r>
            <a:r>
              <a:rPr lang="zh-CN" altLang="en-US" b="1" dirty="0">
                <a:solidFill>
                  <a:srgbClr val="C00000"/>
                </a:solidFill>
              </a:rPr>
              <a:t> </a:t>
            </a:r>
            <a:r>
              <a:rPr lang="en-US" altLang="zh-CN" b="1" dirty="0">
                <a:solidFill>
                  <a:srgbClr val="C00000"/>
                </a:solidFill>
              </a:rPr>
              <a:t>CPU</a:t>
            </a:r>
            <a:r>
              <a:rPr lang="zh-CN" altLang="en-US" b="1" dirty="0">
                <a:solidFill>
                  <a:srgbClr val="C00000"/>
                </a:solidFill>
              </a:rPr>
              <a:t> </a:t>
            </a:r>
            <a:r>
              <a:rPr lang="en-US" altLang="zh-CN" b="1" dirty="0">
                <a:solidFill>
                  <a:srgbClr val="C00000"/>
                </a:solidFill>
              </a:rPr>
              <a:t>(vCPU)</a:t>
            </a:r>
            <a:endParaRPr lang="en-CN" b="1" dirty="0">
              <a:solidFill>
                <a:srgbClr val="C00000"/>
              </a:solidFill>
            </a:endParaRPr>
          </a:p>
          <a:p>
            <a:r>
              <a:rPr lang="en-US" altLang="zh-CN" dirty="0"/>
              <a:t>VMM</a:t>
            </a:r>
            <a:r>
              <a:rPr lang="zh-CN" altLang="en-US" dirty="0"/>
              <a:t>的实现</a:t>
            </a:r>
            <a:endParaRPr lang="en-US" altLang="zh-CN" dirty="0"/>
          </a:p>
          <a:p>
            <a:pPr lvl="1"/>
            <a:r>
              <a:rPr lang="zh-CN" altLang="en-US" b="1" dirty="0">
                <a:solidFill>
                  <a:srgbClr val="C00000"/>
                </a:solidFill>
              </a:rPr>
              <a:t>在</a:t>
            </a:r>
            <a:r>
              <a:rPr lang="en-US" altLang="zh-CN" b="1" dirty="0" err="1">
                <a:solidFill>
                  <a:srgbClr val="C00000"/>
                </a:solidFill>
              </a:rPr>
              <a:t>VM_runqueue</a:t>
            </a:r>
            <a:r>
              <a:rPr lang="zh-CN" altLang="en-US" b="1" dirty="0">
                <a:solidFill>
                  <a:srgbClr val="C00000"/>
                </a:solidFill>
              </a:rPr>
              <a:t>中标记出</a:t>
            </a:r>
            <a:r>
              <a:rPr lang="en-US" altLang="zh-CN" b="1" dirty="0">
                <a:solidFill>
                  <a:srgbClr val="C00000"/>
                </a:solidFill>
              </a:rPr>
              <a:t>VM</a:t>
            </a:r>
            <a:r>
              <a:rPr lang="zh-CN" altLang="en-US" b="1" dirty="0">
                <a:solidFill>
                  <a:srgbClr val="C00000"/>
                </a:solidFill>
              </a:rPr>
              <a:t>和</a:t>
            </a:r>
            <a:r>
              <a:rPr lang="en-US" altLang="zh-CN" b="1" dirty="0">
                <a:solidFill>
                  <a:srgbClr val="C00000"/>
                </a:solidFill>
              </a:rPr>
              <a:t>vCPU</a:t>
            </a:r>
            <a:r>
              <a:rPr lang="zh-CN" altLang="en-US" b="1" dirty="0">
                <a:solidFill>
                  <a:srgbClr val="C00000"/>
                </a:solidFill>
              </a:rPr>
              <a:t>的类型</a:t>
            </a:r>
            <a:endParaRPr lang="en-US" altLang="zh-CN" b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B2A6C5-AEA0-CE67-7890-7736C0BE9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</a:t>
            </a:fld>
            <a:endParaRPr lang="zh-CN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E55D8-E5D2-4E1D-E774-C41AE3043B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9" name="Straight Connector 13">
            <a:extLst>
              <a:ext uri="{FF2B5EF4-FFF2-40B4-BE49-F238E27FC236}">
                <a16:creationId xmlns:a16="http://schemas.microsoft.com/office/drawing/2014/main" id="{C3FA715D-90D4-6779-D1C0-6B1C9B9C36C8}"/>
              </a:ext>
            </a:extLst>
          </p:cNvPr>
          <p:cNvCxnSpPr>
            <a:cxnSpLocks/>
          </p:cNvCxnSpPr>
          <p:nvPr/>
        </p:nvCxnSpPr>
        <p:spPr>
          <a:xfrm>
            <a:off x="4644008" y="2713484"/>
            <a:ext cx="4392488" cy="0"/>
          </a:xfrm>
          <a:prstGeom prst="line">
            <a:avLst/>
          </a:prstGeom>
          <a:ln>
            <a:solidFill>
              <a:srgbClr val="BE3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22">
            <a:extLst>
              <a:ext uri="{FF2B5EF4-FFF2-40B4-BE49-F238E27FC236}">
                <a16:creationId xmlns:a16="http://schemas.microsoft.com/office/drawing/2014/main" id="{1D76B81D-0A42-053D-E72D-9D780617F216}"/>
              </a:ext>
            </a:extLst>
          </p:cNvPr>
          <p:cNvSpPr/>
          <p:nvPr/>
        </p:nvSpPr>
        <p:spPr>
          <a:xfrm>
            <a:off x="5220072" y="2855617"/>
            <a:ext cx="1800200" cy="695073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r"/>
            <a:endParaRPr lang="en-US" altLang="zh-CN" sz="11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11" name="文本框 31">
            <a:extLst>
              <a:ext uri="{FF2B5EF4-FFF2-40B4-BE49-F238E27FC236}">
                <a16:creationId xmlns:a16="http://schemas.microsoft.com/office/drawing/2014/main" id="{BE7415BB-7E86-3F43-B38C-7B8493CE0DFF}"/>
              </a:ext>
            </a:extLst>
          </p:cNvPr>
          <p:cNvSpPr txBox="1"/>
          <p:nvPr/>
        </p:nvSpPr>
        <p:spPr>
          <a:xfrm>
            <a:off x="4355977" y="3046635"/>
            <a:ext cx="76174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CN" sz="1500" dirty="0"/>
              <a:t>内核态</a:t>
            </a:r>
            <a:endParaRPr kumimoji="1" lang="zh-CN" altLang="en-US" sz="1500" dirty="0"/>
          </a:p>
        </p:txBody>
      </p:sp>
      <p:sp>
        <p:nvSpPr>
          <p:cNvPr id="7" name="Rectangle 22">
            <a:extLst>
              <a:ext uri="{FF2B5EF4-FFF2-40B4-BE49-F238E27FC236}">
                <a16:creationId xmlns:a16="http://schemas.microsoft.com/office/drawing/2014/main" id="{662CFADA-0BAC-7BEA-294D-E22050121C28}"/>
              </a:ext>
            </a:extLst>
          </p:cNvPr>
          <p:cNvSpPr/>
          <p:nvPr/>
        </p:nvSpPr>
        <p:spPr>
          <a:xfrm>
            <a:off x="5148064" y="1849388"/>
            <a:ext cx="864096" cy="597135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500" dirty="0">
                <a:solidFill>
                  <a:schemeClr val="tx1"/>
                </a:solidFill>
                <a:cs typeface="Arial Narrow"/>
              </a:rPr>
              <a:t>VM-1</a:t>
            </a:r>
          </a:p>
          <a:p>
            <a:pPr algn="ctr"/>
            <a:r>
              <a:rPr lang="en-US" altLang="zh-CN" sz="1500" dirty="0">
                <a:solidFill>
                  <a:schemeClr val="tx1"/>
                </a:solidFill>
                <a:cs typeface="Arial Narrow"/>
              </a:rPr>
              <a:t>vCPU-1</a:t>
            </a:r>
            <a:endParaRPr lang="en-US" sz="1500" dirty="0">
              <a:solidFill>
                <a:schemeClr val="tx1"/>
              </a:solidFill>
              <a:cs typeface="Arial Narrow"/>
            </a:endParaRPr>
          </a:p>
        </p:txBody>
      </p:sp>
      <p:sp>
        <p:nvSpPr>
          <p:cNvPr id="18" name="文本框 38">
            <a:extLst>
              <a:ext uri="{FF2B5EF4-FFF2-40B4-BE49-F238E27FC236}">
                <a16:creationId xmlns:a16="http://schemas.microsoft.com/office/drawing/2014/main" id="{C2C0F4D3-8743-3819-495C-D60DDEC992D6}"/>
              </a:ext>
            </a:extLst>
          </p:cNvPr>
          <p:cNvSpPr txBox="1"/>
          <p:nvPr/>
        </p:nvSpPr>
        <p:spPr>
          <a:xfrm>
            <a:off x="4283968" y="2135537"/>
            <a:ext cx="76174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CN" sz="1500" dirty="0"/>
              <a:t>用户态</a:t>
            </a:r>
            <a:endParaRPr kumimoji="1" lang="zh-CN" altLang="en-US" sz="1500" dirty="0"/>
          </a:p>
        </p:txBody>
      </p:sp>
      <p:sp>
        <p:nvSpPr>
          <p:cNvPr id="21" name="文本框 22">
            <a:extLst>
              <a:ext uri="{FF2B5EF4-FFF2-40B4-BE49-F238E27FC236}">
                <a16:creationId xmlns:a16="http://schemas.microsoft.com/office/drawing/2014/main" id="{904D852B-030B-3BA9-1E03-76443653A066}"/>
              </a:ext>
            </a:extLst>
          </p:cNvPr>
          <p:cNvSpPr txBox="1"/>
          <p:nvPr/>
        </p:nvSpPr>
        <p:spPr>
          <a:xfrm>
            <a:off x="5639611" y="4731592"/>
            <a:ext cx="35272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500" dirty="0">
                <a:solidFill>
                  <a:schemeClr val="bg1"/>
                </a:solidFill>
              </a:rPr>
              <a:t>Vi</a:t>
            </a:r>
            <a:endParaRPr kumimoji="1" lang="zh-CN" altLang="en-US" sz="15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116239-E953-4906-332B-183DFF05BB31}"/>
              </a:ext>
            </a:extLst>
          </p:cNvPr>
          <p:cNvSpPr txBox="1"/>
          <p:nvPr/>
        </p:nvSpPr>
        <p:spPr>
          <a:xfrm>
            <a:off x="5580112" y="3503689"/>
            <a:ext cx="10054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VMM</a:t>
            </a:r>
          </a:p>
          <a:p>
            <a:pPr algn="ctr"/>
            <a:r>
              <a:rPr lang="en-US" altLang="zh-CN" dirty="0"/>
              <a:t>pCPU-1</a:t>
            </a:r>
            <a:endParaRPr lang="en-CN" dirty="0"/>
          </a:p>
        </p:txBody>
      </p:sp>
      <p:sp>
        <p:nvSpPr>
          <p:cNvPr id="33" name="Rectangle 22">
            <a:extLst>
              <a:ext uri="{FF2B5EF4-FFF2-40B4-BE49-F238E27FC236}">
                <a16:creationId xmlns:a16="http://schemas.microsoft.com/office/drawing/2014/main" id="{4D872CD0-2462-5264-2071-5D2F135FF49B}"/>
              </a:ext>
            </a:extLst>
          </p:cNvPr>
          <p:cNvSpPr/>
          <p:nvPr/>
        </p:nvSpPr>
        <p:spPr>
          <a:xfrm>
            <a:off x="5508104" y="2927625"/>
            <a:ext cx="1152128" cy="4633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cs typeface="Arial Narrow"/>
              </a:rPr>
              <a:t>VM</a:t>
            </a:r>
            <a:r>
              <a:rPr lang="zh-CN" altLang="en-US" sz="1100" dirty="0">
                <a:solidFill>
                  <a:schemeClr val="tx1"/>
                </a:solidFill>
                <a:cs typeface="Arial Narrow"/>
              </a:rPr>
              <a:t> </a:t>
            </a:r>
            <a:r>
              <a:rPr lang="en-US" altLang="zh-CN" sz="1100" dirty="0">
                <a:solidFill>
                  <a:schemeClr val="tx1"/>
                </a:solidFill>
                <a:cs typeface="Arial Narrow"/>
              </a:rPr>
              <a:t>Switch</a:t>
            </a:r>
            <a:r>
              <a:rPr lang="zh-CN" altLang="en-US" sz="1100" dirty="0">
                <a:solidFill>
                  <a:schemeClr val="tx1"/>
                </a:solidFill>
                <a:cs typeface="Arial Narrow"/>
              </a:rPr>
              <a:t> </a:t>
            </a:r>
            <a:r>
              <a:rPr lang="en-US" altLang="zh-CN" sz="1100" dirty="0">
                <a:solidFill>
                  <a:schemeClr val="tx1"/>
                </a:solidFill>
                <a:cs typeface="Arial Narrow"/>
              </a:rPr>
              <a:t>on</a:t>
            </a:r>
          </a:p>
          <a:p>
            <a:pPr algn="ctr"/>
            <a:r>
              <a:rPr lang="en-US" altLang="zh-CN" sz="1100" dirty="0">
                <a:solidFill>
                  <a:schemeClr val="tx1"/>
                </a:solidFill>
                <a:cs typeface="Arial Narrow"/>
              </a:rPr>
              <a:t>VM_runqueue0</a:t>
            </a:r>
          </a:p>
        </p:txBody>
      </p:sp>
      <p:cxnSp>
        <p:nvCxnSpPr>
          <p:cNvPr id="51" name="曲线连接符 53">
            <a:extLst>
              <a:ext uri="{FF2B5EF4-FFF2-40B4-BE49-F238E27FC236}">
                <a16:creationId xmlns:a16="http://schemas.microsoft.com/office/drawing/2014/main" id="{424C020D-398F-C0BB-0ED4-BA42E11D7C61}"/>
              </a:ext>
            </a:extLst>
          </p:cNvPr>
          <p:cNvCxnSpPr/>
          <p:nvPr/>
        </p:nvCxnSpPr>
        <p:spPr>
          <a:xfrm rot="16200000" flipH="1">
            <a:off x="6076928" y="2070769"/>
            <a:ext cx="14400" cy="720000"/>
          </a:xfrm>
          <a:prstGeom prst="curvedConnector3">
            <a:avLst>
              <a:gd name="adj1" fmla="val 3878729"/>
            </a:avLst>
          </a:prstGeom>
          <a:ln w="1905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22">
            <a:extLst>
              <a:ext uri="{FF2B5EF4-FFF2-40B4-BE49-F238E27FC236}">
                <a16:creationId xmlns:a16="http://schemas.microsoft.com/office/drawing/2014/main" id="{13432C07-E57A-E2B7-6C97-2B3E7EA39A24}"/>
              </a:ext>
            </a:extLst>
          </p:cNvPr>
          <p:cNvSpPr/>
          <p:nvPr/>
        </p:nvSpPr>
        <p:spPr>
          <a:xfrm>
            <a:off x="7236296" y="2855617"/>
            <a:ext cx="1800200" cy="695073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r"/>
            <a:endParaRPr lang="en-US" altLang="zh-CN" sz="11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BDFCB0C-6B3F-3C66-B28D-8CBAE7ABB2B5}"/>
              </a:ext>
            </a:extLst>
          </p:cNvPr>
          <p:cNvSpPr txBox="1"/>
          <p:nvPr/>
        </p:nvSpPr>
        <p:spPr>
          <a:xfrm>
            <a:off x="7596336" y="3503689"/>
            <a:ext cx="10054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VMM</a:t>
            </a:r>
          </a:p>
          <a:p>
            <a:pPr algn="ctr"/>
            <a:r>
              <a:rPr lang="en-US" altLang="zh-CN" dirty="0"/>
              <a:t>pCPU-2</a:t>
            </a:r>
            <a:endParaRPr lang="en-CN" dirty="0"/>
          </a:p>
        </p:txBody>
      </p:sp>
      <p:sp>
        <p:nvSpPr>
          <p:cNvPr id="57" name="Rectangle 22">
            <a:extLst>
              <a:ext uri="{FF2B5EF4-FFF2-40B4-BE49-F238E27FC236}">
                <a16:creationId xmlns:a16="http://schemas.microsoft.com/office/drawing/2014/main" id="{BCF4407E-13F4-DD1D-69A1-18EB7312FD43}"/>
              </a:ext>
            </a:extLst>
          </p:cNvPr>
          <p:cNvSpPr/>
          <p:nvPr/>
        </p:nvSpPr>
        <p:spPr>
          <a:xfrm>
            <a:off x="7524328" y="2927625"/>
            <a:ext cx="1152128" cy="4633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cs typeface="Arial Narrow"/>
              </a:rPr>
              <a:t>VM</a:t>
            </a:r>
            <a:r>
              <a:rPr lang="zh-CN" altLang="en-US" sz="1100" dirty="0">
                <a:solidFill>
                  <a:schemeClr val="tx1"/>
                </a:solidFill>
                <a:cs typeface="Arial Narrow"/>
              </a:rPr>
              <a:t> </a:t>
            </a:r>
            <a:r>
              <a:rPr lang="en-US" altLang="zh-CN" sz="1100" dirty="0">
                <a:solidFill>
                  <a:schemeClr val="tx1"/>
                </a:solidFill>
                <a:cs typeface="Arial Narrow"/>
              </a:rPr>
              <a:t>Switch</a:t>
            </a:r>
            <a:r>
              <a:rPr lang="zh-CN" altLang="en-US" sz="1100" dirty="0">
                <a:solidFill>
                  <a:schemeClr val="tx1"/>
                </a:solidFill>
                <a:cs typeface="Arial Narrow"/>
              </a:rPr>
              <a:t> </a:t>
            </a:r>
            <a:r>
              <a:rPr lang="en-US" altLang="zh-CN" sz="1100" dirty="0">
                <a:solidFill>
                  <a:schemeClr val="tx1"/>
                </a:solidFill>
                <a:cs typeface="Arial Narrow"/>
              </a:rPr>
              <a:t>on</a:t>
            </a:r>
          </a:p>
          <a:p>
            <a:pPr algn="ctr"/>
            <a:r>
              <a:rPr lang="en-US" altLang="zh-CN" sz="1100" dirty="0">
                <a:solidFill>
                  <a:schemeClr val="tx1"/>
                </a:solidFill>
                <a:cs typeface="Arial Narrow"/>
              </a:rPr>
              <a:t>VM_runqueue1</a:t>
            </a:r>
          </a:p>
        </p:txBody>
      </p:sp>
      <p:sp>
        <p:nvSpPr>
          <p:cNvPr id="30" name="Rectangle 22">
            <a:extLst>
              <a:ext uri="{FF2B5EF4-FFF2-40B4-BE49-F238E27FC236}">
                <a16:creationId xmlns:a16="http://schemas.microsoft.com/office/drawing/2014/main" id="{B0CA2583-67CC-8FA8-F699-2167F4FA1B21}"/>
              </a:ext>
            </a:extLst>
          </p:cNvPr>
          <p:cNvSpPr/>
          <p:nvPr/>
        </p:nvSpPr>
        <p:spPr>
          <a:xfrm>
            <a:off x="6156176" y="1849388"/>
            <a:ext cx="864096" cy="597135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500" dirty="0">
                <a:solidFill>
                  <a:schemeClr val="tx1"/>
                </a:solidFill>
                <a:cs typeface="Arial Narrow"/>
              </a:rPr>
              <a:t>VM-2</a:t>
            </a:r>
          </a:p>
          <a:p>
            <a:pPr algn="ctr"/>
            <a:r>
              <a:rPr lang="en-US" altLang="zh-CN" sz="1500" dirty="0">
                <a:solidFill>
                  <a:schemeClr val="tx1"/>
                </a:solidFill>
                <a:cs typeface="Arial Narrow"/>
              </a:rPr>
              <a:t>vCPU-1</a:t>
            </a:r>
            <a:endParaRPr lang="en-US" sz="1500" dirty="0">
              <a:solidFill>
                <a:schemeClr val="tx1"/>
              </a:solidFill>
              <a:cs typeface="Arial Narrow"/>
            </a:endParaRPr>
          </a:p>
        </p:txBody>
      </p:sp>
      <p:sp>
        <p:nvSpPr>
          <p:cNvPr id="31" name="Rectangle 22">
            <a:extLst>
              <a:ext uri="{FF2B5EF4-FFF2-40B4-BE49-F238E27FC236}">
                <a16:creationId xmlns:a16="http://schemas.microsoft.com/office/drawing/2014/main" id="{BDEC36D2-6A20-91F1-F657-4CFDC7D426EA}"/>
              </a:ext>
            </a:extLst>
          </p:cNvPr>
          <p:cNvSpPr/>
          <p:nvPr/>
        </p:nvSpPr>
        <p:spPr>
          <a:xfrm>
            <a:off x="7164288" y="1851271"/>
            <a:ext cx="864096" cy="597135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500" dirty="0">
                <a:solidFill>
                  <a:schemeClr val="tx1"/>
                </a:solidFill>
                <a:cs typeface="Arial Narrow"/>
              </a:rPr>
              <a:t>VM-1</a:t>
            </a:r>
          </a:p>
          <a:p>
            <a:pPr algn="ctr"/>
            <a:r>
              <a:rPr lang="en-US" altLang="zh-CN" sz="1500" dirty="0">
                <a:solidFill>
                  <a:schemeClr val="tx1"/>
                </a:solidFill>
                <a:cs typeface="Arial Narrow"/>
              </a:rPr>
              <a:t>vCPU-2</a:t>
            </a:r>
            <a:endParaRPr lang="en-US" sz="1500" dirty="0">
              <a:solidFill>
                <a:schemeClr val="tx1"/>
              </a:solidFill>
              <a:cs typeface="Arial Narrow"/>
            </a:endParaRPr>
          </a:p>
        </p:txBody>
      </p:sp>
      <p:cxnSp>
        <p:nvCxnSpPr>
          <p:cNvPr id="32" name="曲线连接符 53">
            <a:extLst>
              <a:ext uri="{FF2B5EF4-FFF2-40B4-BE49-F238E27FC236}">
                <a16:creationId xmlns:a16="http://schemas.microsoft.com/office/drawing/2014/main" id="{1077C4A1-7CB2-6C8A-ADA8-A3D09BBD8F62}"/>
              </a:ext>
            </a:extLst>
          </p:cNvPr>
          <p:cNvCxnSpPr/>
          <p:nvPr/>
        </p:nvCxnSpPr>
        <p:spPr>
          <a:xfrm rot="16200000" flipH="1">
            <a:off x="8093152" y="2072652"/>
            <a:ext cx="14400" cy="720000"/>
          </a:xfrm>
          <a:prstGeom prst="curvedConnector3">
            <a:avLst>
              <a:gd name="adj1" fmla="val 3878729"/>
            </a:avLst>
          </a:prstGeom>
          <a:ln w="1905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22">
            <a:extLst>
              <a:ext uri="{FF2B5EF4-FFF2-40B4-BE49-F238E27FC236}">
                <a16:creationId xmlns:a16="http://schemas.microsoft.com/office/drawing/2014/main" id="{2E6DB3EE-9C03-F20A-D150-6512A7D1B609}"/>
              </a:ext>
            </a:extLst>
          </p:cNvPr>
          <p:cNvSpPr/>
          <p:nvPr/>
        </p:nvSpPr>
        <p:spPr>
          <a:xfrm>
            <a:off x="8172400" y="1851271"/>
            <a:ext cx="864096" cy="597135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500" dirty="0">
                <a:solidFill>
                  <a:schemeClr val="tx1"/>
                </a:solidFill>
                <a:cs typeface="Arial Narrow"/>
              </a:rPr>
              <a:t>VM-2</a:t>
            </a:r>
          </a:p>
          <a:p>
            <a:pPr algn="ctr"/>
            <a:r>
              <a:rPr lang="en-US" altLang="zh-CN" sz="1500" dirty="0">
                <a:solidFill>
                  <a:schemeClr val="tx1"/>
                </a:solidFill>
                <a:cs typeface="Arial Narrow"/>
              </a:rPr>
              <a:t>vCPU-2</a:t>
            </a:r>
            <a:endParaRPr lang="en-US" sz="1500" dirty="0">
              <a:solidFill>
                <a:schemeClr val="tx1"/>
              </a:solidFill>
              <a:cs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363706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4B47C6-4FDC-F043-A41B-7A0F5516C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Review:</a:t>
            </a:r>
            <a:r>
              <a:rPr kumimoji="1" lang="zh-CN" altLang="en-US" dirty="0"/>
              <a:t> 系统虚拟化的流程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0A2158-E21D-824D-8BEC-157EE37805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第一步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捕捉所有系统</a:t>
            </a:r>
            <a:r>
              <a:rPr kumimoji="1" lang="en-US" altLang="zh-CN" sz="1800" dirty="0"/>
              <a:t>ISA</a:t>
            </a:r>
            <a:r>
              <a:rPr kumimoji="1" lang="zh-CN" altLang="en-US" sz="1800" dirty="0"/>
              <a:t>并陷入</a:t>
            </a:r>
            <a:r>
              <a:rPr kumimoji="1" lang="en-US" altLang="zh-CN" sz="1800" dirty="0"/>
              <a:t>(Trap)</a:t>
            </a:r>
          </a:p>
          <a:p>
            <a:r>
              <a:rPr kumimoji="1" lang="zh-CN" altLang="en-US" sz="2000" dirty="0"/>
              <a:t>第二步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由具体指令实现相应虚拟化</a:t>
            </a:r>
            <a:endParaRPr kumimoji="1" lang="en-US" altLang="zh-CN" sz="1800" dirty="0"/>
          </a:p>
          <a:p>
            <a:pPr lvl="2"/>
            <a:r>
              <a:rPr kumimoji="1" lang="zh-CN" altLang="en-US" sz="1800" dirty="0"/>
              <a:t>控制虚拟处理器行为</a:t>
            </a:r>
            <a:endParaRPr kumimoji="1" lang="en-US" altLang="zh-CN" sz="1800" dirty="0"/>
          </a:p>
          <a:p>
            <a:pPr lvl="2"/>
            <a:r>
              <a:rPr kumimoji="1" lang="zh-CN" altLang="en-US" sz="1800" dirty="0"/>
              <a:t>控制虚拟内存行为</a:t>
            </a:r>
            <a:endParaRPr kumimoji="1" lang="en-US" altLang="zh-CN" sz="1800" dirty="0"/>
          </a:p>
          <a:p>
            <a:pPr lvl="2"/>
            <a:r>
              <a:rPr kumimoji="1" lang="zh-CN" altLang="en-US" sz="1800" dirty="0"/>
              <a:t>控制虚拟设备行为</a:t>
            </a:r>
            <a:endParaRPr kumimoji="1" lang="en-US" altLang="zh-CN" sz="1800" dirty="0"/>
          </a:p>
          <a:p>
            <a:r>
              <a:rPr kumimoji="1" lang="zh-CN" altLang="en-US" sz="2000" dirty="0"/>
              <a:t>第三步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回到虚拟机继续执行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3C6FC0B-1666-3D45-B74E-B4EDC545F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DC638F-1CE1-8543-AEF2-D35C4235E7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37" name="Rectangle 22">
            <a:extLst>
              <a:ext uri="{FF2B5EF4-FFF2-40B4-BE49-F238E27FC236}">
                <a16:creationId xmlns:a16="http://schemas.microsoft.com/office/drawing/2014/main" id="{0B7744F1-D46A-384D-BC7B-5242B14016F6}"/>
              </a:ext>
            </a:extLst>
          </p:cNvPr>
          <p:cNvSpPr/>
          <p:nvPr/>
        </p:nvSpPr>
        <p:spPr>
          <a:xfrm>
            <a:off x="4536639" y="2274605"/>
            <a:ext cx="4524805" cy="1580817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VMM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39" name="Rectangle 24">
            <a:extLst>
              <a:ext uri="{FF2B5EF4-FFF2-40B4-BE49-F238E27FC236}">
                <a16:creationId xmlns:a16="http://schemas.microsoft.com/office/drawing/2014/main" id="{1AB87D7B-C715-574F-B068-5BB37DAF80FF}"/>
              </a:ext>
            </a:extLst>
          </p:cNvPr>
          <p:cNvSpPr/>
          <p:nvPr/>
        </p:nvSpPr>
        <p:spPr>
          <a:xfrm>
            <a:off x="4534988" y="4170675"/>
            <a:ext cx="4524805" cy="343940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rgbClr val="BE384B"/>
                </a:solidFill>
                <a:cs typeface="Arial Narrow"/>
              </a:rPr>
              <a:t>Hardware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40" name="Rectangle 27">
            <a:extLst>
              <a:ext uri="{FF2B5EF4-FFF2-40B4-BE49-F238E27FC236}">
                <a16:creationId xmlns:a16="http://schemas.microsoft.com/office/drawing/2014/main" id="{7D185C25-ADC0-A142-A161-66F21FBA8F7B}"/>
              </a:ext>
            </a:extLst>
          </p:cNvPr>
          <p:cNvSpPr/>
          <p:nvPr/>
        </p:nvSpPr>
        <p:spPr>
          <a:xfrm>
            <a:off x="4536638" y="1633364"/>
            <a:ext cx="4524806" cy="365405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VM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41" name="Straight Connector 13">
            <a:extLst>
              <a:ext uri="{FF2B5EF4-FFF2-40B4-BE49-F238E27FC236}">
                <a16:creationId xmlns:a16="http://schemas.microsoft.com/office/drawing/2014/main" id="{99CAE213-E38C-A442-AFFC-F30364961B77}"/>
              </a:ext>
            </a:extLst>
          </p:cNvPr>
          <p:cNvCxnSpPr>
            <a:cxnSpLocks/>
          </p:cNvCxnSpPr>
          <p:nvPr/>
        </p:nvCxnSpPr>
        <p:spPr>
          <a:xfrm>
            <a:off x="4211960" y="4030356"/>
            <a:ext cx="5012092" cy="0"/>
          </a:xfrm>
          <a:prstGeom prst="line">
            <a:avLst/>
          </a:prstGeom>
          <a:ln>
            <a:solidFill>
              <a:srgbClr val="BE3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A95602EE-5390-9045-BE45-57EEDF9CA4C3}"/>
              </a:ext>
            </a:extLst>
          </p:cNvPr>
          <p:cNvSpPr txBox="1"/>
          <p:nvPr/>
        </p:nvSpPr>
        <p:spPr>
          <a:xfrm>
            <a:off x="5043708" y="1950862"/>
            <a:ext cx="1045782" cy="357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系统</a:t>
            </a:r>
            <a:r>
              <a:rPr kumimoji="1" lang="en-US" altLang="zh-CN" dirty="0"/>
              <a:t>ISA</a:t>
            </a:r>
            <a:endParaRPr kumimoji="1" lang="zh-CN" altLang="en-US" dirty="0"/>
          </a:p>
        </p:txBody>
      </p:sp>
      <p:sp>
        <p:nvSpPr>
          <p:cNvPr id="56" name="Rectangle 27">
            <a:extLst>
              <a:ext uri="{FF2B5EF4-FFF2-40B4-BE49-F238E27FC236}">
                <a16:creationId xmlns:a16="http://schemas.microsoft.com/office/drawing/2014/main" id="{EC97DA4C-8220-3740-952B-E6C6491255F5}"/>
              </a:ext>
            </a:extLst>
          </p:cNvPr>
          <p:cNvSpPr/>
          <p:nvPr/>
        </p:nvSpPr>
        <p:spPr>
          <a:xfrm>
            <a:off x="6089489" y="2350707"/>
            <a:ext cx="1751530" cy="420070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cs typeface="Arial Narrow"/>
              </a:rPr>
              <a:t>虚拟处理器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57" name="Rectangle 27">
            <a:extLst>
              <a:ext uri="{FF2B5EF4-FFF2-40B4-BE49-F238E27FC236}">
                <a16:creationId xmlns:a16="http://schemas.microsoft.com/office/drawing/2014/main" id="{B426F52E-AAE6-AE49-972E-92572C9DEBC7}"/>
              </a:ext>
            </a:extLst>
          </p:cNvPr>
          <p:cNvSpPr/>
          <p:nvPr/>
        </p:nvSpPr>
        <p:spPr>
          <a:xfrm>
            <a:off x="6089489" y="2866015"/>
            <a:ext cx="1749525" cy="420070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cs typeface="Arial Narrow"/>
              </a:rPr>
              <a:t>虚拟</a:t>
            </a:r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(</a:t>
            </a:r>
            <a:r>
              <a:rPr lang="zh-CN" altLang="en-US" sz="1600" dirty="0">
                <a:solidFill>
                  <a:schemeClr val="bg1"/>
                </a:solidFill>
                <a:cs typeface="Arial Narrow"/>
              </a:rPr>
              <a:t>物理</a:t>
            </a:r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)</a:t>
            </a:r>
            <a:r>
              <a:rPr lang="zh-CN" altLang="en-US" sz="1600" dirty="0">
                <a:solidFill>
                  <a:schemeClr val="bg1"/>
                </a:solidFill>
                <a:cs typeface="Arial Narrow"/>
              </a:rPr>
              <a:t>内存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58" name="Rectangle 27">
            <a:extLst>
              <a:ext uri="{FF2B5EF4-FFF2-40B4-BE49-F238E27FC236}">
                <a16:creationId xmlns:a16="http://schemas.microsoft.com/office/drawing/2014/main" id="{C4C89E03-3154-184A-BA59-304607522B41}"/>
              </a:ext>
            </a:extLst>
          </p:cNvPr>
          <p:cNvSpPr/>
          <p:nvPr/>
        </p:nvSpPr>
        <p:spPr>
          <a:xfrm>
            <a:off x="6089489" y="3371686"/>
            <a:ext cx="1749524" cy="420070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cs typeface="Arial Narrow"/>
              </a:rPr>
              <a:t>虚拟设备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cxnSp>
        <p:nvCxnSpPr>
          <p:cNvPr id="79" name="肘形连接符 78">
            <a:extLst>
              <a:ext uri="{FF2B5EF4-FFF2-40B4-BE49-F238E27FC236}">
                <a16:creationId xmlns:a16="http://schemas.microsoft.com/office/drawing/2014/main" id="{53CDDE60-66CF-1C41-9263-C61A258ABB53}"/>
              </a:ext>
            </a:extLst>
          </p:cNvPr>
          <p:cNvCxnSpPr>
            <a:cxnSpLocks/>
            <a:stCxn id="58" idx="3"/>
          </p:cNvCxnSpPr>
          <p:nvPr/>
        </p:nvCxnSpPr>
        <p:spPr>
          <a:xfrm flipV="1">
            <a:off x="7839012" y="1830764"/>
            <a:ext cx="688916" cy="1750957"/>
          </a:xfrm>
          <a:prstGeom prst="bentConnector2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线连接符 83">
            <a:extLst>
              <a:ext uri="{FF2B5EF4-FFF2-40B4-BE49-F238E27FC236}">
                <a16:creationId xmlns:a16="http://schemas.microsoft.com/office/drawing/2014/main" id="{2389B498-6A64-E049-9347-FB2059991074}"/>
              </a:ext>
            </a:extLst>
          </p:cNvPr>
          <p:cNvCxnSpPr/>
          <p:nvPr/>
        </p:nvCxnSpPr>
        <p:spPr>
          <a:xfrm>
            <a:off x="7839012" y="2560742"/>
            <a:ext cx="68891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线连接符 84">
            <a:extLst>
              <a:ext uri="{FF2B5EF4-FFF2-40B4-BE49-F238E27FC236}">
                <a16:creationId xmlns:a16="http://schemas.microsoft.com/office/drawing/2014/main" id="{3E283653-475D-764F-908E-00CFE74D1FD9}"/>
              </a:ext>
            </a:extLst>
          </p:cNvPr>
          <p:cNvCxnSpPr/>
          <p:nvPr/>
        </p:nvCxnSpPr>
        <p:spPr>
          <a:xfrm>
            <a:off x="7839012" y="3076050"/>
            <a:ext cx="68891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肘形连接符 86">
            <a:extLst>
              <a:ext uri="{FF2B5EF4-FFF2-40B4-BE49-F238E27FC236}">
                <a16:creationId xmlns:a16="http://schemas.microsoft.com/office/drawing/2014/main" id="{11B87CC9-18EC-2644-90E1-45A904785D33}"/>
              </a:ext>
            </a:extLst>
          </p:cNvPr>
          <p:cNvCxnSpPr>
            <a:cxnSpLocks/>
            <a:stCxn id="58" idx="1"/>
          </p:cNvCxnSpPr>
          <p:nvPr/>
        </p:nvCxnSpPr>
        <p:spPr>
          <a:xfrm rot="10800000">
            <a:off x="5043708" y="1844513"/>
            <a:ext cx="1045782" cy="1737209"/>
          </a:xfrm>
          <a:prstGeom prst="bentConnector2">
            <a:avLst/>
          </a:prstGeom>
          <a:ln w="38100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88">
            <a:extLst>
              <a:ext uri="{FF2B5EF4-FFF2-40B4-BE49-F238E27FC236}">
                <a16:creationId xmlns:a16="http://schemas.microsoft.com/office/drawing/2014/main" id="{E8B82BEF-C0D4-7F41-B104-FE0A41EEB1DF}"/>
              </a:ext>
            </a:extLst>
          </p:cNvPr>
          <p:cNvCxnSpPr>
            <a:cxnSpLocks/>
          </p:cNvCxnSpPr>
          <p:nvPr/>
        </p:nvCxnSpPr>
        <p:spPr>
          <a:xfrm>
            <a:off x="5036436" y="3065013"/>
            <a:ext cx="1053053" cy="0"/>
          </a:xfrm>
          <a:prstGeom prst="line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线连接符 91">
            <a:extLst>
              <a:ext uri="{FF2B5EF4-FFF2-40B4-BE49-F238E27FC236}">
                <a16:creationId xmlns:a16="http://schemas.microsoft.com/office/drawing/2014/main" id="{6288B248-1ACA-C144-AFCB-F9240492EA4C}"/>
              </a:ext>
            </a:extLst>
          </p:cNvPr>
          <p:cNvCxnSpPr>
            <a:cxnSpLocks/>
          </p:cNvCxnSpPr>
          <p:nvPr/>
        </p:nvCxnSpPr>
        <p:spPr>
          <a:xfrm>
            <a:off x="5043707" y="2560742"/>
            <a:ext cx="1053053" cy="0"/>
          </a:xfrm>
          <a:prstGeom prst="line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0898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6" grpId="0" animBg="1"/>
      <p:bldP spid="57" grpId="0" animBg="1"/>
      <p:bldP spid="5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5ECF89-2338-6C4C-80E0-C9F9C3D0F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/>
              <a:t>Review:</a:t>
            </a:r>
            <a:r>
              <a:rPr kumimoji="1" lang="zh-CN" altLang="en-US" dirty="0"/>
              <a:t> 如何处理这些不会下陷的敏感指令？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D9BC47-B75F-DE4F-948A-6C8FB29993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25451"/>
            <a:ext cx="8229600" cy="2679685"/>
          </a:xfrm>
        </p:spPr>
        <p:txBody>
          <a:bodyPr/>
          <a:lstStyle/>
          <a:p>
            <a:r>
              <a:rPr kumimoji="1" lang="zh-CN" altLang="en-US" dirty="0"/>
              <a:t>方法</a:t>
            </a:r>
            <a:r>
              <a:rPr kumimoji="1" lang="en-US" altLang="zh-CN" dirty="0"/>
              <a:t>1</a:t>
            </a:r>
            <a:r>
              <a:rPr kumimoji="1" lang="zh-CN" altLang="en-US" dirty="0"/>
              <a:t>：解释执行</a:t>
            </a:r>
            <a:endParaRPr kumimoji="1" lang="en-US" altLang="zh-CN" dirty="0"/>
          </a:p>
          <a:p>
            <a:r>
              <a:rPr kumimoji="1" lang="zh-CN" altLang="en-US" dirty="0"/>
              <a:t>方法</a:t>
            </a:r>
            <a:r>
              <a:rPr kumimoji="1" lang="en-US" altLang="zh-CN" dirty="0"/>
              <a:t>2</a:t>
            </a:r>
            <a:r>
              <a:rPr kumimoji="1" lang="zh-CN" altLang="en-US" dirty="0"/>
              <a:t>：二进制翻译</a:t>
            </a:r>
            <a:endParaRPr kumimoji="1" lang="en-US" altLang="zh-CN" dirty="0"/>
          </a:p>
          <a:p>
            <a:r>
              <a:rPr kumimoji="1" lang="zh-CN" altLang="en-US" dirty="0"/>
              <a:t>方法</a:t>
            </a:r>
            <a:r>
              <a:rPr kumimoji="1" lang="en-US" altLang="zh-CN" dirty="0"/>
              <a:t>3</a:t>
            </a:r>
            <a:r>
              <a:rPr kumimoji="1" lang="zh-CN" altLang="en-US" dirty="0"/>
              <a:t>：半虚拟化</a:t>
            </a:r>
            <a:endParaRPr kumimoji="1" lang="en-US" altLang="zh-CN" dirty="0"/>
          </a:p>
          <a:p>
            <a:r>
              <a:rPr kumimoji="1" lang="zh-CN" altLang="en-US" dirty="0"/>
              <a:t>方法</a:t>
            </a:r>
            <a:r>
              <a:rPr kumimoji="1" lang="en-US" altLang="zh-CN" dirty="0"/>
              <a:t>4</a:t>
            </a:r>
            <a:r>
              <a:rPr kumimoji="1" lang="zh-CN" altLang="en-US" dirty="0"/>
              <a:t>：硬件虚拟化（改硬件）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AFE993-0C78-584B-8EAB-8381BF830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2F7CAC-E7D0-E942-9B58-11C1BE4B6D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2F3CC139-4210-F04D-A01B-1FFF678AB8EE}"/>
              </a:ext>
            </a:extLst>
          </p:cNvPr>
          <p:cNvSpPr txBox="1">
            <a:spLocks/>
          </p:cNvSpPr>
          <p:nvPr/>
        </p:nvSpPr>
        <p:spPr>
          <a:xfrm>
            <a:off x="457200" y="1333183"/>
            <a:ext cx="8229600" cy="9004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pPr>
              <a:lnSpc>
                <a:spcPct val="120000"/>
              </a:lnSpc>
            </a:pPr>
            <a:r>
              <a:rPr kumimoji="1" lang="zh-CN" altLang="en-US" sz="24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处理这些不会下陷的敏感指令，使得虚拟机中的操作系统能够运行在用户态（</a:t>
            </a:r>
            <a:r>
              <a:rPr kumimoji="1" lang="en-US" altLang="zh-CN" sz="24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EL-0</a:t>
            </a:r>
            <a:r>
              <a:rPr kumimoji="1" lang="zh-CN" altLang="en-US" sz="24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516240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Review</a:t>
            </a:r>
            <a:r>
              <a:rPr lang="zh-CN" altLang="en-US" dirty="0"/>
              <a:t>：影子页表</a:t>
            </a:r>
            <a:endParaRPr kumimoji="1" lang="zh-CN" altLang="en-US" dirty="0"/>
          </a:p>
        </p:txBody>
      </p:sp>
      <p:cxnSp>
        <p:nvCxnSpPr>
          <p:cNvPr id="106" name="直接连接符 55">
            <a:extLst>
              <a:ext uri="{FF2B5EF4-FFF2-40B4-BE49-F238E27FC236}">
                <a16:creationId xmlns:a16="http://schemas.microsoft.com/office/drawing/2014/main" id="{D9C24ABE-F1DB-5C46-A6D0-BAA49A913A46}"/>
              </a:ext>
            </a:extLst>
          </p:cNvPr>
          <p:cNvCxnSpPr/>
          <p:nvPr/>
        </p:nvCxnSpPr>
        <p:spPr>
          <a:xfrm>
            <a:off x="849982" y="3369615"/>
            <a:ext cx="7620000" cy="0"/>
          </a:xfrm>
          <a:prstGeom prst="line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dash"/>
          </a:ln>
          <a:effectLst/>
        </p:spPr>
      </p:cxnSp>
      <p:cxnSp>
        <p:nvCxnSpPr>
          <p:cNvPr id="107" name="直接连接符 2">
            <a:extLst>
              <a:ext uri="{FF2B5EF4-FFF2-40B4-BE49-F238E27FC236}">
                <a16:creationId xmlns:a16="http://schemas.microsoft.com/office/drawing/2014/main" id="{2E1C92AF-2199-1049-8E0D-5CA7D25674A3}"/>
              </a:ext>
            </a:extLst>
          </p:cNvPr>
          <p:cNvCxnSpPr/>
          <p:nvPr/>
        </p:nvCxnSpPr>
        <p:spPr>
          <a:xfrm>
            <a:off x="856409" y="2343502"/>
            <a:ext cx="7620000" cy="0"/>
          </a:xfrm>
          <a:prstGeom prst="line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dash"/>
          </a:ln>
          <a:effectLst/>
        </p:spPr>
      </p:cxnSp>
      <p:cxnSp>
        <p:nvCxnSpPr>
          <p:cNvPr id="108" name="Elbow Connector 116">
            <a:extLst>
              <a:ext uri="{FF2B5EF4-FFF2-40B4-BE49-F238E27FC236}">
                <a16:creationId xmlns:a16="http://schemas.microsoft.com/office/drawing/2014/main" id="{7C1290C7-B3EF-1540-B54E-44E1A7BC04CB}"/>
              </a:ext>
            </a:extLst>
          </p:cNvPr>
          <p:cNvCxnSpPr/>
          <p:nvPr/>
        </p:nvCxnSpPr>
        <p:spPr>
          <a:xfrm>
            <a:off x="2386156" y="1901246"/>
            <a:ext cx="12700" cy="2080471"/>
          </a:xfrm>
          <a:prstGeom prst="bentConnector3">
            <a:avLst>
              <a:gd name="adj1" fmla="val 1800000"/>
            </a:avLst>
          </a:prstGeom>
          <a:noFill/>
          <a:ln w="25400" cap="flat" cmpd="sng" algn="ctr">
            <a:solidFill>
              <a:srgbClr val="4F81BD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09" name="Elbow Connector 116">
            <a:extLst>
              <a:ext uri="{FF2B5EF4-FFF2-40B4-BE49-F238E27FC236}">
                <a16:creationId xmlns:a16="http://schemas.microsoft.com/office/drawing/2014/main" id="{F208DBC6-3CF1-454F-A841-08C5D8277891}"/>
              </a:ext>
            </a:extLst>
          </p:cNvPr>
          <p:cNvCxnSpPr/>
          <p:nvPr/>
        </p:nvCxnSpPr>
        <p:spPr>
          <a:xfrm rot="10800000" flipV="1">
            <a:off x="1606069" y="1901245"/>
            <a:ext cx="12700" cy="2080471"/>
          </a:xfrm>
          <a:prstGeom prst="bentConnector3">
            <a:avLst>
              <a:gd name="adj1" fmla="val 1800000"/>
            </a:avLst>
          </a:prstGeom>
          <a:noFill/>
          <a:ln w="25400" cap="flat" cmpd="sng" algn="ctr">
            <a:solidFill>
              <a:srgbClr val="4F81BD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10" name="Straight Connector 146">
            <a:extLst>
              <a:ext uri="{FF2B5EF4-FFF2-40B4-BE49-F238E27FC236}">
                <a16:creationId xmlns:a16="http://schemas.microsoft.com/office/drawing/2014/main" id="{551B0065-A65F-E341-A39F-B8F23CCE5DD7}"/>
              </a:ext>
            </a:extLst>
          </p:cNvPr>
          <p:cNvCxnSpPr/>
          <p:nvPr/>
        </p:nvCxnSpPr>
        <p:spPr>
          <a:xfrm>
            <a:off x="5986558" y="3031576"/>
            <a:ext cx="133038" cy="726390"/>
          </a:xfrm>
          <a:prstGeom prst="line">
            <a:avLst/>
          </a:prstGeom>
          <a:noFill/>
          <a:ln w="25400" cap="flat" cmpd="sng" algn="ctr">
            <a:solidFill>
              <a:srgbClr val="C0504D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pic>
        <p:nvPicPr>
          <p:cNvPr id="111" name="Picture 83">
            <a:extLst>
              <a:ext uri="{FF2B5EF4-FFF2-40B4-BE49-F238E27FC236}">
                <a16:creationId xmlns:a16="http://schemas.microsoft.com/office/drawing/2014/main" id="{9C643D37-29B0-FE4C-9D2A-4D68633BB1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0008" b="43755"/>
          <a:stretch/>
        </p:blipFill>
        <p:spPr>
          <a:xfrm>
            <a:off x="3706303" y="3781662"/>
            <a:ext cx="4320480" cy="598401"/>
          </a:xfrm>
          <a:prstGeom prst="rect">
            <a:avLst/>
          </a:prstGeom>
        </p:spPr>
      </p:pic>
      <p:sp>
        <p:nvSpPr>
          <p:cNvPr id="112" name="Rectangle 5">
            <a:extLst>
              <a:ext uri="{FF2B5EF4-FFF2-40B4-BE49-F238E27FC236}">
                <a16:creationId xmlns:a16="http://schemas.microsoft.com/office/drawing/2014/main" id="{6AFBBF83-64B0-7749-9A0D-2F4A5060B95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96343" y="3757969"/>
            <a:ext cx="546540" cy="294029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667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113" name="Rectangle 5">
            <a:extLst>
              <a:ext uri="{FF2B5EF4-FFF2-40B4-BE49-F238E27FC236}">
                <a16:creationId xmlns:a16="http://schemas.microsoft.com/office/drawing/2014/main" id="{61937217-FC8F-D248-AC52-2004F248CA7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47000" y="1734966"/>
            <a:ext cx="546540" cy="294029"/>
          </a:xfrm>
          <a:prstGeom prst="rect">
            <a:avLst/>
          </a:prstGeom>
          <a:solidFill>
            <a:srgbClr val="558ED5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333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114" name="Rectangle 5">
            <a:extLst>
              <a:ext uri="{FF2B5EF4-FFF2-40B4-BE49-F238E27FC236}">
                <a16:creationId xmlns:a16="http://schemas.microsoft.com/office/drawing/2014/main" id="{58D5F878-309F-9047-8E0C-A4903EEC145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93540" y="1734966"/>
            <a:ext cx="546540" cy="294029"/>
          </a:xfrm>
          <a:prstGeom prst="rect">
            <a:avLst/>
          </a:prstGeom>
          <a:solidFill>
            <a:srgbClr val="558ED5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333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115" name="Rectangle 5">
            <a:extLst>
              <a:ext uri="{FF2B5EF4-FFF2-40B4-BE49-F238E27FC236}">
                <a16:creationId xmlns:a16="http://schemas.microsoft.com/office/drawing/2014/main" id="{F039C4C5-A91D-7143-989F-C2EB34F9414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40080" y="1734966"/>
            <a:ext cx="546540" cy="294029"/>
          </a:xfrm>
          <a:prstGeom prst="rect">
            <a:avLst/>
          </a:prstGeom>
          <a:solidFill>
            <a:srgbClr val="558ED5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333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116" name="Rectangle 5">
            <a:extLst>
              <a:ext uri="{FF2B5EF4-FFF2-40B4-BE49-F238E27FC236}">
                <a16:creationId xmlns:a16="http://schemas.microsoft.com/office/drawing/2014/main" id="{7B3D778E-CADD-8346-AB50-336A0DEF7E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47000" y="2732166"/>
            <a:ext cx="546540" cy="294029"/>
          </a:xfrm>
          <a:prstGeom prst="rect">
            <a:avLst/>
          </a:prstGeom>
          <a:solidFill>
            <a:srgbClr val="558ED5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333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117" name="Rectangle 5">
            <a:extLst>
              <a:ext uri="{FF2B5EF4-FFF2-40B4-BE49-F238E27FC236}">
                <a16:creationId xmlns:a16="http://schemas.microsoft.com/office/drawing/2014/main" id="{23D67FD4-A3D1-B547-9446-0B0830CFCE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47000" y="2738567"/>
            <a:ext cx="546540" cy="294029"/>
          </a:xfrm>
          <a:prstGeom prst="rect">
            <a:avLst/>
          </a:prstGeom>
          <a:noFill/>
          <a:ln w="25400" cap="flat" cmpd="sng" algn="ctr">
            <a:solidFill>
              <a:srgbClr val="C0504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667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118" name="Rectangle 11">
            <a:extLst>
              <a:ext uri="{FF2B5EF4-FFF2-40B4-BE49-F238E27FC236}">
                <a16:creationId xmlns:a16="http://schemas.microsoft.com/office/drawing/2014/main" id="{9B6DE5DB-F48A-BB4C-93DB-FDE4CEA73CD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93540" y="2738567"/>
            <a:ext cx="546540" cy="294029"/>
          </a:xfrm>
          <a:prstGeom prst="rect">
            <a:avLst/>
          </a:prstGeom>
          <a:solidFill>
            <a:srgbClr val="558ED5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333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119" name="Rectangle 5">
            <a:extLst>
              <a:ext uri="{FF2B5EF4-FFF2-40B4-BE49-F238E27FC236}">
                <a16:creationId xmlns:a16="http://schemas.microsoft.com/office/drawing/2014/main" id="{6B4781DB-1D4B-AD44-9595-87AED704664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40080" y="2738567"/>
            <a:ext cx="546540" cy="294029"/>
          </a:xfrm>
          <a:prstGeom prst="rect">
            <a:avLst/>
          </a:prstGeom>
          <a:noFill/>
          <a:ln w="25400" cap="flat" cmpd="sng" algn="ctr">
            <a:solidFill>
              <a:srgbClr val="C0504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667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120" name="Rectangle 5">
            <a:extLst>
              <a:ext uri="{FF2B5EF4-FFF2-40B4-BE49-F238E27FC236}">
                <a16:creationId xmlns:a16="http://schemas.microsoft.com/office/drawing/2014/main" id="{B5C178E9-698E-4048-BFB0-A70D23FB16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86620" y="2738567"/>
            <a:ext cx="546540" cy="294029"/>
          </a:xfrm>
          <a:prstGeom prst="rect">
            <a:avLst/>
          </a:prstGeom>
          <a:solidFill>
            <a:srgbClr val="9BBB59"/>
          </a:solidFill>
          <a:ln w="25400" cap="flat" cmpd="sng" algn="ctr">
            <a:solidFill>
              <a:srgbClr val="9BBB5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667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 charset="0"/>
              <a:ea typeface="DengXian" charset="0"/>
              <a:cs typeface="DengXian" charset="0"/>
            </a:endParaRPr>
          </a:p>
        </p:txBody>
      </p:sp>
      <p:cxnSp>
        <p:nvCxnSpPr>
          <p:cNvPr id="121" name="Straight Connector 15">
            <a:extLst>
              <a:ext uri="{FF2B5EF4-FFF2-40B4-BE49-F238E27FC236}">
                <a16:creationId xmlns:a16="http://schemas.microsoft.com/office/drawing/2014/main" id="{A4118C66-C944-DC48-A518-DFF6FE629AB3}"/>
              </a:ext>
            </a:extLst>
          </p:cNvPr>
          <p:cNvCxnSpPr/>
          <p:nvPr/>
        </p:nvCxnSpPr>
        <p:spPr>
          <a:xfrm>
            <a:off x="4347000" y="2028993"/>
            <a:ext cx="546540" cy="709572"/>
          </a:xfrm>
          <a:prstGeom prst="line">
            <a:avLst/>
          </a:prstGeom>
          <a:noFill/>
          <a:ln w="25400" cap="flat" cmpd="sng" algn="ctr">
            <a:solidFill>
              <a:srgbClr val="4F81BD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22" name="Straight Connector 16">
            <a:extLst>
              <a:ext uri="{FF2B5EF4-FFF2-40B4-BE49-F238E27FC236}">
                <a16:creationId xmlns:a16="http://schemas.microsoft.com/office/drawing/2014/main" id="{0FB0964D-6D43-B548-8F3C-8D58FBA37BC1}"/>
              </a:ext>
            </a:extLst>
          </p:cNvPr>
          <p:cNvCxnSpPr/>
          <p:nvPr/>
        </p:nvCxnSpPr>
        <p:spPr>
          <a:xfrm>
            <a:off x="4893540" y="2028993"/>
            <a:ext cx="546540" cy="709572"/>
          </a:xfrm>
          <a:prstGeom prst="line">
            <a:avLst/>
          </a:prstGeom>
          <a:noFill/>
          <a:ln w="25400" cap="flat" cmpd="sng" algn="ctr">
            <a:solidFill>
              <a:srgbClr val="4F81BD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23" name="Straight Connector 17">
            <a:extLst>
              <a:ext uri="{FF2B5EF4-FFF2-40B4-BE49-F238E27FC236}">
                <a16:creationId xmlns:a16="http://schemas.microsoft.com/office/drawing/2014/main" id="{6508D21A-9BED-6645-A0BF-A3CC7D23B4C9}"/>
              </a:ext>
            </a:extLst>
          </p:cNvPr>
          <p:cNvCxnSpPr/>
          <p:nvPr/>
        </p:nvCxnSpPr>
        <p:spPr>
          <a:xfrm flipH="1">
            <a:off x="5986620" y="2028993"/>
            <a:ext cx="546540" cy="709572"/>
          </a:xfrm>
          <a:prstGeom prst="line">
            <a:avLst/>
          </a:prstGeom>
          <a:noFill/>
          <a:ln w="25400" cap="flat" cmpd="sng" algn="ctr">
            <a:solidFill>
              <a:srgbClr val="9BBB59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24" name="Straight Connector 20">
            <a:extLst>
              <a:ext uri="{FF2B5EF4-FFF2-40B4-BE49-F238E27FC236}">
                <a16:creationId xmlns:a16="http://schemas.microsoft.com/office/drawing/2014/main" id="{3C860F4C-68BD-EB4B-AB2E-83DFE105C00A}"/>
              </a:ext>
            </a:extLst>
          </p:cNvPr>
          <p:cNvCxnSpPr/>
          <p:nvPr/>
        </p:nvCxnSpPr>
        <p:spPr>
          <a:xfrm flipH="1">
            <a:off x="6533160" y="2028993"/>
            <a:ext cx="546540" cy="709572"/>
          </a:xfrm>
          <a:prstGeom prst="line">
            <a:avLst/>
          </a:prstGeom>
          <a:noFill/>
          <a:ln w="25400" cap="flat" cmpd="sng" algn="ctr">
            <a:solidFill>
              <a:srgbClr val="9BBB59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25" name="Rectangle 5">
            <a:extLst>
              <a:ext uri="{FF2B5EF4-FFF2-40B4-BE49-F238E27FC236}">
                <a16:creationId xmlns:a16="http://schemas.microsoft.com/office/drawing/2014/main" id="{3F266C12-3842-6A4B-9A93-CBC4BC8A4AD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33160" y="1734966"/>
            <a:ext cx="546540" cy="294029"/>
          </a:xfrm>
          <a:prstGeom prst="rect">
            <a:avLst/>
          </a:prstGeom>
          <a:solidFill>
            <a:srgbClr val="9BBB59"/>
          </a:solidFill>
          <a:ln w="25400" cap="flat" cmpd="sng" algn="ctr">
            <a:solidFill>
              <a:srgbClr val="9BBB5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667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126" name="Rectangle 5">
            <a:extLst>
              <a:ext uri="{FF2B5EF4-FFF2-40B4-BE49-F238E27FC236}">
                <a16:creationId xmlns:a16="http://schemas.microsoft.com/office/drawing/2014/main" id="{C9C3C58E-A3AE-5C4A-B11F-3D470359EC5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33160" y="2738567"/>
            <a:ext cx="546540" cy="294029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667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 charset="0"/>
              <a:ea typeface="DengXian" charset="0"/>
              <a:cs typeface="DengXian" charset="0"/>
            </a:endParaRPr>
          </a:p>
        </p:txBody>
      </p:sp>
      <p:cxnSp>
        <p:nvCxnSpPr>
          <p:cNvPr id="127" name="Straight Connector 25">
            <a:extLst>
              <a:ext uri="{FF2B5EF4-FFF2-40B4-BE49-F238E27FC236}">
                <a16:creationId xmlns:a16="http://schemas.microsoft.com/office/drawing/2014/main" id="{D0A965C9-8A78-FD49-9B73-B4BEF3ABD28C}"/>
              </a:ext>
            </a:extLst>
          </p:cNvPr>
          <p:cNvCxnSpPr/>
          <p:nvPr/>
        </p:nvCxnSpPr>
        <p:spPr>
          <a:xfrm flipH="1">
            <a:off x="4356450" y="2028993"/>
            <a:ext cx="1083630" cy="709572"/>
          </a:xfrm>
          <a:prstGeom prst="line">
            <a:avLst/>
          </a:prstGeom>
          <a:noFill/>
          <a:ln w="25400" cap="flat" cmpd="sng" algn="ctr">
            <a:solidFill>
              <a:srgbClr val="4F81BD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28" name="Straight Connector 27">
            <a:extLst>
              <a:ext uri="{FF2B5EF4-FFF2-40B4-BE49-F238E27FC236}">
                <a16:creationId xmlns:a16="http://schemas.microsoft.com/office/drawing/2014/main" id="{0BC431C6-648D-FD41-806A-F4D9BBC56D95}"/>
              </a:ext>
            </a:extLst>
          </p:cNvPr>
          <p:cNvCxnSpPr/>
          <p:nvPr/>
        </p:nvCxnSpPr>
        <p:spPr>
          <a:xfrm flipH="1">
            <a:off x="4893540" y="2028993"/>
            <a:ext cx="1093080" cy="709572"/>
          </a:xfrm>
          <a:prstGeom prst="line">
            <a:avLst/>
          </a:prstGeom>
          <a:noFill/>
          <a:ln w="25400" cap="flat" cmpd="sng" algn="ctr">
            <a:solidFill>
              <a:srgbClr val="4F81BD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29" name="Rectangle 5">
            <a:extLst>
              <a:ext uri="{FF2B5EF4-FFF2-40B4-BE49-F238E27FC236}">
                <a16:creationId xmlns:a16="http://schemas.microsoft.com/office/drawing/2014/main" id="{3D57A556-B427-8146-B856-C3004E84321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35963" y="3763519"/>
            <a:ext cx="546540" cy="294029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667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130" name="Rectangle 5">
            <a:extLst>
              <a:ext uri="{FF2B5EF4-FFF2-40B4-BE49-F238E27FC236}">
                <a16:creationId xmlns:a16="http://schemas.microsoft.com/office/drawing/2014/main" id="{857B3131-AD86-0048-A14F-3014CB400D7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73053" y="3763519"/>
            <a:ext cx="546540" cy="294029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667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131" name="Rectangle 31">
            <a:extLst>
              <a:ext uri="{FF2B5EF4-FFF2-40B4-BE49-F238E27FC236}">
                <a16:creationId xmlns:a16="http://schemas.microsoft.com/office/drawing/2014/main" id="{A08FAABD-E18E-D648-AFCC-178454EBB52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119593" y="3763519"/>
            <a:ext cx="546540" cy="294029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667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132" name="Rectangle 5">
            <a:extLst>
              <a:ext uri="{FF2B5EF4-FFF2-40B4-BE49-F238E27FC236}">
                <a16:creationId xmlns:a16="http://schemas.microsoft.com/office/drawing/2014/main" id="{7592F547-B819-BF4E-8254-7F1402D9605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666133" y="3763519"/>
            <a:ext cx="546540" cy="294029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667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133" name="Rectangle 5">
            <a:extLst>
              <a:ext uri="{FF2B5EF4-FFF2-40B4-BE49-F238E27FC236}">
                <a16:creationId xmlns:a16="http://schemas.microsoft.com/office/drawing/2014/main" id="{90B2792A-2F7E-0142-BC64-CD26C0B4C79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79700" y="1734966"/>
            <a:ext cx="546540" cy="294029"/>
          </a:xfrm>
          <a:prstGeom prst="rect">
            <a:avLst/>
          </a:prstGeom>
          <a:solidFill>
            <a:srgbClr val="9BBB59"/>
          </a:solidFill>
          <a:ln w="25400" cap="flat" cmpd="sng" algn="ctr">
            <a:solidFill>
              <a:srgbClr val="9BBB5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667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134" name="Rectangle 5">
            <a:extLst>
              <a:ext uri="{FF2B5EF4-FFF2-40B4-BE49-F238E27FC236}">
                <a16:creationId xmlns:a16="http://schemas.microsoft.com/office/drawing/2014/main" id="{90B1EC54-9F16-B747-A301-D184B756486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47000" y="2734956"/>
            <a:ext cx="2732700" cy="294029"/>
          </a:xfrm>
          <a:prstGeom prst="rect">
            <a:avLst/>
          </a:prstGeom>
          <a:noFill/>
          <a:ln w="38100" cap="flat" cmpd="sng" algn="ctr">
            <a:solidFill>
              <a:srgbClr val="C0504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667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135" name="Rectangle 5">
            <a:extLst>
              <a:ext uri="{FF2B5EF4-FFF2-40B4-BE49-F238E27FC236}">
                <a16:creationId xmlns:a16="http://schemas.microsoft.com/office/drawing/2014/main" id="{1BC60A9A-0F49-4E48-B8B1-D3DB8B14F9F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79973" y="3763519"/>
            <a:ext cx="546540" cy="294029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667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136" name="Rectangle 5">
            <a:extLst>
              <a:ext uri="{FF2B5EF4-FFF2-40B4-BE49-F238E27FC236}">
                <a16:creationId xmlns:a16="http://schemas.microsoft.com/office/drawing/2014/main" id="{A838FF0F-5E94-EB42-AC40-AD8D10701CE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33433" y="3763519"/>
            <a:ext cx="546540" cy="294029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667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 charset="0"/>
              <a:ea typeface="DengXian" charset="0"/>
              <a:cs typeface="DengXian" charset="0"/>
            </a:endParaRPr>
          </a:p>
        </p:txBody>
      </p:sp>
      <p:cxnSp>
        <p:nvCxnSpPr>
          <p:cNvPr id="137" name="Straight Connector 50">
            <a:extLst>
              <a:ext uri="{FF2B5EF4-FFF2-40B4-BE49-F238E27FC236}">
                <a16:creationId xmlns:a16="http://schemas.microsoft.com/office/drawing/2014/main" id="{A3D38E8E-5D7A-A744-900E-279A48619357}"/>
              </a:ext>
            </a:extLst>
          </p:cNvPr>
          <p:cNvCxnSpPr/>
          <p:nvPr/>
        </p:nvCxnSpPr>
        <p:spPr>
          <a:xfrm flipH="1">
            <a:off x="4479974" y="3031576"/>
            <a:ext cx="966522" cy="708160"/>
          </a:xfrm>
          <a:prstGeom prst="line">
            <a:avLst/>
          </a:prstGeom>
          <a:noFill/>
          <a:ln w="25400" cap="flat" cmpd="sng" algn="ctr">
            <a:solidFill>
              <a:srgbClr val="C0504D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38" name="Straight Connector 53">
            <a:extLst>
              <a:ext uri="{FF2B5EF4-FFF2-40B4-BE49-F238E27FC236}">
                <a16:creationId xmlns:a16="http://schemas.microsoft.com/office/drawing/2014/main" id="{778C20F3-1A60-D24B-B343-798F44ED8C15}"/>
              </a:ext>
            </a:extLst>
          </p:cNvPr>
          <p:cNvCxnSpPr/>
          <p:nvPr/>
        </p:nvCxnSpPr>
        <p:spPr>
          <a:xfrm flipH="1">
            <a:off x="3933434" y="3031578"/>
            <a:ext cx="973002" cy="723755"/>
          </a:xfrm>
          <a:prstGeom prst="line">
            <a:avLst/>
          </a:prstGeom>
          <a:noFill/>
          <a:ln w="25400" cap="flat" cmpd="sng" algn="ctr">
            <a:solidFill>
              <a:srgbClr val="C0504D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39" name="Rectangle 5">
            <a:extLst>
              <a:ext uri="{FF2B5EF4-FFF2-40B4-BE49-F238E27FC236}">
                <a16:creationId xmlns:a16="http://schemas.microsoft.com/office/drawing/2014/main" id="{1AE0B3D9-B713-D844-ADCC-DC598700F37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119593" y="3763519"/>
            <a:ext cx="546540" cy="294029"/>
          </a:xfrm>
          <a:prstGeom prst="rect">
            <a:avLst/>
          </a:prstGeom>
          <a:solidFill>
            <a:srgbClr val="C0504D"/>
          </a:solidFill>
          <a:ln w="25400" cap="flat" cmpd="sng" algn="ctr">
            <a:solidFill>
              <a:srgbClr val="C0504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667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140" name="TextBox 71">
            <a:extLst>
              <a:ext uri="{FF2B5EF4-FFF2-40B4-BE49-F238E27FC236}">
                <a16:creationId xmlns:a16="http://schemas.microsoft.com/office/drawing/2014/main" id="{576CC279-51EF-6C4E-A326-FBA53A8A2AA9}"/>
              </a:ext>
            </a:extLst>
          </p:cNvPr>
          <p:cNvSpPr txBox="1"/>
          <p:nvPr/>
        </p:nvSpPr>
        <p:spPr>
          <a:xfrm>
            <a:off x="1606070" y="3781661"/>
            <a:ext cx="7800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sz="2000" dirty="0">
                <a:solidFill>
                  <a:srgbClr val="000000"/>
                </a:solidFill>
                <a:latin typeface="DengXian" charset="0"/>
                <a:ea typeface="DengXian" charset="0"/>
                <a:cs typeface="DengXian" charset="0"/>
              </a:rPr>
              <a:t>HPA</a:t>
            </a:r>
          </a:p>
        </p:txBody>
      </p:sp>
      <p:sp>
        <p:nvSpPr>
          <p:cNvPr id="141" name="Rectangle 10">
            <a:extLst>
              <a:ext uri="{FF2B5EF4-FFF2-40B4-BE49-F238E27FC236}">
                <a16:creationId xmlns:a16="http://schemas.microsoft.com/office/drawing/2014/main" id="{DD731605-D5C3-7145-9B79-9E5807E9225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86356" y="1481404"/>
            <a:ext cx="3620552" cy="1887380"/>
          </a:xfrm>
          <a:prstGeom prst="rect">
            <a:avLst/>
          </a:prstGeom>
          <a:noFill/>
          <a:ln w="3175" cap="flat" cmpd="sng" algn="ctr">
            <a:solidFill>
              <a:srgbClr val="C0504D">
                <a:shade val="50000"/>
              </a:srgbClr>
            </a:solidFill>
            <a:prstDash val="solid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333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142" name="TextBox 74">
            <a:extLst>
              <a:ext uri="{FF2B5EF4-FFF2-40B4-BE49-F238E27FC236}">
                <a16:creationId xmlns:a16="http://schemas.microsoft.com/office/drawing/2014/main" id="{9F0CD2F9-F576-C940-AC27-55FDDDD13AF3}"/>
              </a:ext>
            </a:extLst>
          </p:cNvPr>
          <p:cNvSpPr txBox="1"/>
          <p:nvPr/>
        </p:nvSpPr>
        <p:spPr>
          <a:xfrm>
            <a:off x="4030338" y="1033110"/>
            <a:ext cx="14363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dirty="0">
                <a:solidFill>
                  <a:srgbClr val="000000"/>
                </a:solidFill>
                <a:latin typeface="DengXian" charset="0"/>
                <a:ea typeface="DengXian" charset="0"/>
                <a:cs typeface="DengXian" charset="0"/>
              </a:rPr>
              <a:t>Guest VM</a:t>
            </a:r>
            <a:endParaRPr kumimoji="1" lang="en-US" sz="2000" dirty="0">
              <a:solidFill>
                <a:srgbClr val="000000"/>
              </a:solidFill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143" name="Rectangle 106">
            <a:extLst>
              <a:ext uri="{FF2B5EF4-FFF2-40B4-BE49-F238E27FC236}">
                <a16:creationId xmlns:a16="http://schemas.microsoft.com/office/drawing/2014/main" id="{F7552869-5240-3F41-A1C5-A2C9A9BE11C9}"/>
              </a:ext>
            </a:extLst>
          </p:cNvPr>
          <p:cNvSpPr/>
          <p:nvPr/>
        </p:nvSpPr>
        <p:spPr>
          <a:xfrm>
            <a:off x="1006004" y="2208257"/>
            <a:ext cx="610468" cy="248663"/>
          </a:xfrm>
          <a:prstGeom prst="rect">
            <a:avLst/>
          </a:prstGeom>
          <a:solidFill>
            <a:srgbClr val="4F81BD"/>
          </a:solidFill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engXian" charset="0"/>
                <a:ea typeface="DengXian" charset="0"/>
                <a:cs typeface="DengXian" charset="0"/>
              </a:rPr>
              <a:t>GPT</a:t>
            </a:r>
          </a:p>
        </p:txBody>
      </p:sp>
      <p:pic>
        <p:nvPicPr>
          <p:cNvPr id="144" name="Picture 113">
            <a:extLst>
              <a:ext uri="{FF2B5EF4-FFF2-40B4-BE49-F238E27FC236}">
                <a16:creationId xmlns:a16="http://schemas.microsoft.com/office/drawing/2014/main" id="{B7E1E56D-2AC2-524A-A637-6896416F6E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2587" y="4643369"/>
            <a:ext cx="839219" cy="681778"/>
          </a:xfrm>
          <a:prstGeom prst="rect">
            <a:avLst/>
          </a:prstGeom>
        </p:spPr>
      </p:pic>
      <p:cxnSp>
        <p:nvCxnSpPr>
          <p:cNvPr id="145" name="Elbow Connector 116">
            <a:extLst>
              <a:ext uri="{FF2B5EF4-FFF2-40B4-BE49-F238E27FC236}">
                <a16:creationId xmlns:a16="http://schemas.microsoft.com/office/drawing/2014/main" id="{B4C6A4FB-32A2-9D4D-BA6C-BC94E423E683}"/>
              </a:ext>
            </a:extLst>
          </p:cNvPr>
          <p:cNvCxnSpPr/>
          <p:nvPr/>
        </p:nvCxnSpPr>
        <p:spPr>
          <a:xfrm rot="10800000">
            <a:off x="2806202" y="3341872"/>
            <a:ext cx="2576382" cy="1642387"/>
          </a:xfrm>
          <a:prstGeom prst="bentConnector3">
            <a:avLst>
              <a:gd name="adj1" fmla="val 87390"/>
            </a:avLst>
          </a:prstGeom>
          <a:noFill/>
          <a:ln w="25400" cap="flat" cmpd="sng" algn="ctr">
            <a:solidFill>
              <a:srgbClr val="C0504D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46" name="Straight Connector 143">
            <a:extLst>
              <a:ext uri="{FF2B5EF4-FFF2-40B4-BE49-F238E27FC236}">
                <a16:creationId xmlns:a16="http://schemas.microsoft.com/office/drawing/2014/main" id="{DFD78D38-D90A-5849-A1E4-36548A489BBE}"/>
              </a:ext>
            </a:extLst>
          </p:cNvPr>
          <p:cNvCxnSpPr/>
          <p:nvPr/>
        </p:nvCxnSpPr>
        <p:spPr>
          <a:xfrm>
            <a:off x="6526618" y="3031576"/>
            <a:ext cx="139518" cy="708160"/>
          </a:xfrm>
          <a:prstGeom prst="line">
            <a:avLst/>
          </a:prstGeom>
          <a:noFill/>
          <a:ln w="25400" cap="flat" cmpd="sng" algn="ctr">
            <a:solidFill>
              <a:srgbClr val="C0504D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47" name="TextBox 69">
            <a:extLst>
              <a:ext uri="{FF2B5EF4-FFF2-40B4-BE49-F238E27FC236}">
                <a16:creationId xmlns:a16="http://schemas.microsoft.com/office/drawing/2014/main" id="{1709BCEE-6D4D-B04F-8D34-F51DE24050D7}"/>
              </a:ext>
            </a:extLst>
          </p:cNvPr>
          <p:cNvSpPr txBox="1"/>
          <p:nvPr/>
        </p:nvSpPr>
        <p:spPr>
          <a:xfrm>
            <a:off x="1606070" y="1701190"/>
            <a:ext cx="7800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sz="2000" dirty="0">
                <a:solidFill>
                  <a:srgbClr val="000000"/>
                </a:solidFill>
                <a:latin typeface="DengXian" charset="0"/>
                <a:ea typeface="DengXian" charset="0"/>
                <a:cs typeface="DengXian" charset="0"/>
              </a:rPr>
              <a:t>GVA</a:t>
            </a:r>
          </a:p>
        </p:txBody>
      </p:sp>
      <p:sp>
        <p:nvSpPr>
          <p:cNvPr id="148" name="Rectangle 107">
            <a:extLst>
              <a:ext uri="{FF2B5EF4-FFF2-40B4-BE49-F238E27FC236}">
                <a16:creationId xmlns:a16="http://schemas.microsoft.com/office/drawing/2014/main" id="{D9FB6D75-5527-5042-81FC-65DD964258E5}"/>
              </a:ext>
            </a:extLst>
          </p:cNvPr>
          <p:cNvSpPr/>
          <p:nvPr/>
        </p:nvSpPr>
        <p:spPr>
          <a:xfrm>
            <a:off x="2195736" y="3217540"/>
            <a:ext cx="610468" cy="248663"/>
          </a:xfrm>
          <a:prstGeom prst="rect">
            <a:avLst/>
          </a:prstGeom>
          <a:solidFill>
            <a:srgbClr val="C0504D"/>
          </a:solidFill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engXian" charset="0"/>
                <a:ea typeface="DengXian" charset="0"/>
                <a:cs typeface="DengXian" charset="0"/>
              </a:rPr>
              <a:t>SPT</a:t>
            </a:r>
          </a:p>
        </p:txBody>
      </p:sp>
      <p:sp>
        <p:nvSpPr>
          <p:cNvPr id="149" name="Rectangle 107">
            <a:extLst>
              <a:ext uri="{FF2B5EF4-FFF2-40B4-BE49-F238E27FC236}">
                <a16:creationId xmlns:a16="http://schemas.microsoft.com/office/drawing/2014/main" id="{A4E6693C-C046-BF49-B165-E26F76741806}"/>
              </a:ext>
            </a:extLst>
          </p:cNvPr>
          <p:cNvSpPr/>
          <p:nvPr/>
        </p:nvSpPr>
        <p:spPr>
          <a:xfrm>
            <a:off x="1006004" y="3220295"/>
            <a:ext cx="610468" cy="248663"/>
          </a:xfrm>
          <a:prstGeom prst="rect">
            <a:avLst/>
          </a:prstGeom>
          <a:solidFill>
            <a:srgbClr val="8064A2"/>
          </a:solidFill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engXian" charset="0"/>
                <a:ea typeface="DengXian" charset="0"/>
                <a:cs typeface="DengXian" charset="0"/>
              </a:rPr>
              <a:t>HPT</a:t>
            </a:r>
          </a:p>
        </p:txBody>
      </p:sp>
      <p:sp>
        <p:nvSpPr>
          <p:cNvPr id="150" name="TextBox 70">
            <a:extLst>
              <a:ext uri="{FF2B5EF4-FFF2-40B4-BE49-F238E27FC236}">
                <a16:creationId xmlns:a16="http://schemas.microsoft.com/office/drawing/2014/main" id="{EEC0A0F8-3888-D14F-834E-83D4132E08E7}"/>
              </a:ext>
            </a:extLst>
          </p:cNvPr>
          <p:cNvSpPr txBox="1"/>
          <p:nvPr/>
        </p:nvSpPr>
        <p:spPr>
          <a:xfrm>
            <a:off x="945997" y="2731544"/>
            <a:ext cx="758053" cy="400110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sz="2000" dirty="0">
                <a:solidFill>
                  <a:srgbClr val="000000"/>
                </a:solidFill>
                <a:latin typeface="DengXian" charset="0"/>
                <a:ea typeface="DengXian" charset="0"/>
                <a:cs typeface="DengXian" charset="0"/>
              </a:rPr>
              <a:t>GPA</a:t>
            </a:r>
          </a:p>
        </p:txBody>
      </p:sp>
      <p:sp>
        <p:nvSpPr>
          <p:cNvPr id="151" name="Rectangle 5">
            <a:extLst>
              <a:ext uri="{FF2B5EF4-FFF2-40B4-BE49-F238E27FC236}">
                <a16:creationId xmlns:a16="http://schemas.microsoft.com/office/drawing/2014/main" id="{0E5F9935-0153-544D-BCC0-3DCDEEFE511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86689" y="3754267"/>
            <a:ext cx="1080120" cy="294029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667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152" name="Rectangle 5">
            <a:extLst>
              <a:ext uri="{FF2B5EF4-FFF2-40B4-BE49-F238E27FC236}">
                <a16:creationId xmlns:a16="http://schemas.microsoft.com/office/drawing/2014/main" id="{FDC14543-86FD-454A-808E-9DAE980A7CE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96343" y="3755333"/>
            <a:ext cx="4909410" cy="294029"/>
          </a:xfrm>
          <a:prstGeom prst="rect">
            <a:avLst/>
          </a:prstGeom>
          <a:noFill/>
          <a:ln w="571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667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 charset="0"/>
              <a:ea typeface="DengXian" charset="0"/>
              <a:cs typeface="DengXian" charset="0"/>
            </a:endParaRPr>
          </a:p>
        </p:txBody>
      </p:sp>
      <p:sp>
        <p:nvSpPr>
          <p:cNvPr id="153" name="TextBox 69">
            <a:extLst>
              <a:ext uri="{FF2B5EF4-FFF2-40B4-BE49-F238E27FC236}">
                <a16:creationId xmlns:a16="http://schemas.microsoft.com/office/drawing/2014/main" id="{BE50EDDD-5083-6C48-A7D3-CE523590F9E4}"/>
              </a:ext>
            </a:extLst>
          </p:cNvPr>
          <p:cNvSpPr txBox="1"/>
          <p:nvPr/>
        </p:nvSpPr>
        <p:spPr>
          <a:xfrm>
            <a:off x="7768682" y="1689618"/>
            <a:ext cx="7800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sz="2000" dirty="0">
                <a:solidFill>
                  <a:srgbClr val="000000"/>
                </a:solidFill>
                <a:latin typeface="DengXian" charset="0"/>
                <a:ea typeface="DengXian" charset="0"/>
                <a:cs typeface="DengXian" charset="0"/>
              </a:rPr>
              <a:t>GVA</a:t>
            </a:r>
          </a:p>
        </p:txBody>
      </p:sp>
      <p:sp>
        <p:nvSpPr>
          <p:cNvPr id="154" name="TextBox 70">
            <a:extLst>
              <a:ext uri="{FF2B5EF4-FFF2-40B4-BE49-F238E27FC236}">
                <a16:creationId xmlns:a16="http://schemas.microsoft.com/office/drawing/2014/main" id="{C39AFDFE-5855-C044-9ECD-1BB156CCE238}"/>
              </a:ext>
            </a:extLst>
          </p:cNvPr>
          <p:cNvSpPr txBox="1"/>
          <p:nvPr/>
        </p:nvSpPr>
        <p:spPr>
          <a:xfrm>
            <a:off x="7141458" y="2693218"/>
            <a:ext cx="7580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sz="2000" dirty="0">
                <a:solidFill>
                  <a:srgbClr val="000000"/>
                </a:solidFill>
                <a:latin typeface="DengXian" charset="0"/>
                <a:ea typeface="DengXian" charset="0"/>
                <a:cs typeface="DengXian" charset="0"/>
              </a:rPr>
              <a:t>GPA</a:t>
            </a:r>
          </a:p>
        </p:txBody>
      </p:sp>
      <p:sp>
        <p:nvSpPr>
          <p:cNvPr id="155" name="TextBox 71">
            <a:extLst>
              <a:ext uri="{FF2B5EF4-FFF2-40B4-BE49-F238E27FC236}">
                <a16:creationId xmlns:a16="http://schemas.microsoft.com/office/drawing/2014/main" id="{5FB4994A-3DED-F642-ACE8-5BA3C7413D20}"/>
              </a:ext>
            </a:extLst>
          </p:cNvPr>
          <p:cNvSpPr txBox="1"/>
          <p:nvPr/>
        </p:nvSpPr>
        <p:spPr>
          <a:xfrm>
            <a:off x="7574545" y="3706139"/>
            <a:ext cx="7800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sz="2000" dirty="0">
                <a:solidFill>
                  <a:srgbClr val="000000"/>
                </a:solidFill>
                <a:latin typeface="DengXian" charset="0"/>
                <a:ea typeface="DengXian" charset="0"/>
                <a:cs typeface="DengXian" charset="0"/>
              </a:rPr>
              <a:t>HPA</a:t>
            </a:r>
          </a:p>
        </p:txBody>
      </p:sp>
      <p:sp>
        <p:nvSpPr>
          <p:cNvPr id="156" name="文本框 155">
            <a:extLst>
              <a:ext uri="{FF2B5EF4-FFF2-40B4-BE49-F238E27FC236}">
                <a16:creationId xmlns:a16="http://schemas.microsoft.com/office/drawing/2014/main" id="{CCDDC9C8-A67F-BB41-A25A-28304DA3251C}"/>
              </a:ext>
            </a:extLst>
          </p:cNvPr>
          <p:cNvSpPr txBox="1"/>
          <p:nvPr/>
        </p:nvSpPr>
        <p:spPr>
          <a:xfrm>
            <a:off x="4697166" y="4984258"/>
            <a:ext cx="685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prstClr val="black"/>
                </a:solidFill>
                <a:latin typeface="DengXian" charset="0"/>
                <a:ea typeface="DengXian" charset="0"/>
                <a:cs typeface="DengXian" charset="0"/>
              </a:rPr>
              <a:t>CR3</a:t>
            </a:r>
            <a:endParaRPr kumimoji="1" lang="zh-CN" altLang="en-US" dirty="0">
              <a:solidFill>
                <a:prstClr val="black"/>
              </a:solidFill>
              <a:latin typeface="DengXian" charset="0"/>
              <a:ea typeface="DengXian" charset="0"/>
              <a:cs typeface="DengXi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7874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en-US" altLang="zh-CN" sz="2800" dirty="0"/>
              <a:t>Review</a:t>
            </a:r>
            <a:r>
              <a:rPr kumimoji="1" lang="zh-CN" altLang="en-US" sz="2800" dirty="0"/>
              <a:t>：</a:t>
            </a:r>
            <a:r>
              <a:rPr kumimoji="1" lang="en-US" altLang="zh-CN" sz="2800" dirty="0"/>
              <a:t>Direct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Paging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(Para-virtualization)</a:t>
            </a:r>
            <a:endParaRPr kumimoji="1" lang="zh-CN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Modify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guest</a:t>
            </a:r>
            <a:r>
              <a:rPr kumimoji="1" lang="zh-CN" altLang="en-US" dirty="0"/>
              <a:t> </a:t>
            </a:r>
            <a:r>
              <a:rPr kumimoji="1" lang="en-US" altLang="zh-CN" dirty="0"/>
              <a:t>OS</a:t>
            </a:r>
            <a:endParaRPr kumimoji="1" lang="zh-CN" altLang="en-US" dirty="0"/>
          </a:p>
          <a:p>
            <a:pPr lvl="1"/>
            <a:r>
              <a:rPr kumimoji="1" lang="en-US" altLang="zh-CN" dirty="0"/>
              <a:t>No</a:t>
            </a:r>
            <a:r>
              <a:rPr kumimoji="1" lang="zh-CN" altLang="en-US" dirty="0"/>
              <a:t> </a:t>
            </a:r>
            <a:r>
              <a:rPr kumimoji="1" lang="en-US" altLang="zh-CN" dirty="0"/>
              <a:t>GPA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needed,</a:t>
            </a:r>
            <a:r>
              <a:rPr kumimoji="1" lang="zh-CN" altLang="en-US" dirty="0"/>
              <a:t> </a:t>
            </a:r>
            <a:r>
              <a:rPr kumimoji="1" lang="en-US" altLang="zh-CN" dirty="0"/>
              <a:t>just</a:t>
            </a:r>
            <a:r>
              <a:rPr kumimoji="1" lang="zh-CN" altLang="en-US" dirty="0"/>
              <a:t> </a:t>
            </a:r>
            <a:r>
              <a:rPr kumimoji="1" lang="en-US" altLang="zh-CN" dirty="0"/>
              <a:t>GVA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HPA</a:t>
            </a:r>
            <a:endParaRPr kumimoji="1" lang="zh-CN" altLang="en-US" dirty="0"/>
          </a:p>
          <a:p>
            <a:pPr lvl="1"/>
            <a:r>
              <a:rPr kumimoji="1" lang="en-US" altLang="zh-CN" dirty="0"/>
              <a:t>Guest</a:t>
            </a:r>
            <a:r>
              <a:rPr kumimoji="1" lang="zh-CN" altLang="en-US" dirty="0"/>
              <a:t> </a:t>
            </a:r>
            <a:r>
              <a:rPr kumimoji="1" lang="en-US" altLang="zh-CN" dirty="0"/>
              <a:t>OS</a:t>
            </a:r>
            <a:r>
              <a:rPr kumimoji="1" lang="zh-CN" altLang="en-US" dirty="0"/>
              <a:t> </a:t>
            </a:r>
            <a:r>
              <a:rPr kumimoji="1" lang="en-US" altLang="zh-CN" dirty="0"/>
              <a:t>directly</a:t>
            </a:r>
            <a:r>
              <a:rPr kumimoji="1" lang="zh-CN" altLang="en-US" dirty="0"/>
              <a:t> </a:t>
            </a:r>
            <a:r>
              <a:rPr kumimoji="1" lang="en-US" altLang="zh-CN" dirty="0"/>
              <a:t>manages</a:t>
            </a:r>
            <a:r>
              <a:rPr kumimoji="1" lang="zh-CN" altLang="en-US" dirty="0"/>
              <a:t> </a:t>
            </a:r>
            <a:r>
              <a:rPr kumimoji="1" lang="en-US" altLang="zh-CN" dirty="0"/>
              <a:t>its</a:t>
            </a:r>
            <a:r>
              <a:rPr kumimoji="1" lang="zh-CN" altLang="en-US" dirty="0"/>
              <a:t> </a:t>
            </a:r>
            <a:r>
              <a:rPr kumimoji="1" lang="en-US" altLang="zh-CN" dirty="0"/>
              <a:t>HPA</a:t>
            </a:r>
            <a:r>
              <a:rPr kumimoji="1" lang="zh-CN" altLang="en-US" dirty="0"/>
              <a:t> </a:t>
            </a:r>
            <a:r>
              <a:rPr kumimoji="1" lang="en-US" altLang="zh-CN" dirty="0"/>
              <a:t>space</a:t>
            </a:r>
            <a:endParaRPr kumimoji="1" lang="zh-CN" altLang="en-US" dirty="0"/>
          </a:p>
          <a:p>
            <a:pPr lvl="1"/>
            <a:r>
              <a:rPr kumimoji="1" lang="en-US" altLang="zh-CN" dirty="0"/>
              <a:t>Use</a:t>
            </a:r>
            <a:r>
              <a:rPr kumimoji="1" lang="zh-CN" altLang="en-US" dirty="0"/>
              <a:t> </a:t>
            </a:r>
            <a:r>
              <a:rPr kumimoji="1" lang="en-US" altLang="zh-CN" i="1" dirty="0" err="1"/>
              <a:t>hypercall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let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VMM</a:t>
            </a:r>
            <a:r>
              <a:rPr kumimoji="1" lang="zh-CN" altLang="en-US" dirty="0"/>
              <a:t> </a:t>
            </a:r>
            <a:r>
              <a:rPr kumimoji="1" lang="en-US" altLang="zh-CN" dirty="0"/>
              <a:t>update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page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table</a:t>
            </a:r>
            <a:endParaRPr kumimoji="1" lang="zh-CN" altLang="en-US" dirty="0"/>
          </a:p>
          <a:p>
            <a:pPr lvl="1"/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hardware</a:t>
            </a:r>
            <a:r>
              <a:rPr kumimoji="1" lang="zh-CN" altLang="en-US" dirty="0"/>
              <a:t> </a:t>
            </a:r>
            <a:r>
              <a:rPr kumimoji="1" lang="en-US" altLang="zh-CN" dirty="0"/>
              <a:t>CR3</a:t>
            </a:r>
            <a:r>
              <a:rPr kumimoji="1" lang="zh-CN" altLang="en-US" dirty="0"/>
              <a:t> </a:t>
            </a:r>
            <a:r>
              <a:rPr kumimoji="1" lang="en-US" altLang="zh-CN" dirty="0"/>
              <a:t>will</a:t>
            </a:r>
            <a:r>
              <a:rPr kumimoji="1" lang="zh-CN" altLang="en-US" dirty="0"/>
              <a:t> </a:t>
            </a:r>
            <a:r>
              <a:rPr kumimoji="1" lang="en-US" altLang="zh-CN" dirty="0"/>
              <a:t>point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guest</a:t>
            </a:r>
            <a:r>
              <a:rPr kumimoji="1" lang="zh-CN" altLang="en-US" dirty="0"/>
              <a:t> </a:t>
            </a:r>
            <a:r>
              <a:rPr kumimoji="1" lang="en-US" altLang="zh-CN" dirty="0"/>
              <a:t>page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table</a:t>
            </a:r>
            <a:endParaRPr kumimoji="1" lang="zh-CN" altLang="en-US" dirty="0"/>
          </a:p>
          <a:p>
            <a:r>
              <a:rPr kumimoji="1" lang="en-US" altLang="zh-CN" dirty="0"/>
              <a:t>VMM</a:t>
            </a:r>
            <a:r>
              <a:rPr kumimoji="1" lang="zh-CN" altLang="en-US" dirty="0"/>
              <a:t> </a:t>
            </a:r>
            <a:r>
              <a:rPr kumimoji="1" lang="en-US" altLang="zh-CN" dirty="0"/>
              <a:t>will</a:t>
            </a:r>
            <a:r>
              <a:rPr kumimoji="1" lang="zh-CN" altLang="en-US" dirty="0"/>
              <a:t> </a:t>
            </a:r>
            <a:r>
              <a:rPr kumimoji="1" lang="en-US" altLang="zh-CN" dirty="0"/>
              <a:t>check</a:t>
            </a:r>
            <a:r>
              <a:rPr kumimoji="1" lang="zh-CN" altLang="en-US" dirty="0"/>
              <a:t> </a:t>
            </a:r>
            <a:r>
              <a:rPr kumimoji="1" lang="en-US" altLang="zh-CN" dirty="0"/>
              <a:t>all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page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table</a:t>
            </a:r>
            <a:r>
              <a:rPr kumimoji="1" lang="zh-CN" altLang="en-US" dirty="0"/>
              <a:t> </a:t>
            </a:r>
            <a:r>
              <a:rPr kumimoji="1" lang="en-US" altLang="zh-CN" dirty="0"/>
              <a:t>operations</a:t>
            </a:r>
            <a:endParaRPr kumimoji="1" lang="zh-CN" altLang="en-US" dirty="0"/>
          </a:p>
          <a:p>
            <a:pPr lvl="1"/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guest</a:t>
            </a:r>
            <a:r>
              <a:rPr kumimoji="1" lang="zh-CN" altLang="en-US" dirty="0"/>
              <a:t> </a:t>
            </a:r>
            <a:r>
              <a:rPr kumimoji="1" lang="en-US" altLang="zh-CN" dirty="0"/>
              <a:t>page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tables</a:t>
            </a:r>
            <a:r>
              <a:rPr kumimoji="1" lang="zh-CN" altLang="en-US" dirty="0"/>
              <a:t> </a:t>
            </a:r>
            <a:r>
              <a:rPr kumimoji="1" lang="en-US" altLang="zh-CN" dirty="0"/>
              <a:t>are</a:t>
            </a:r>
            <a:r>
              <a:rPr kumimoji="1" lang="zh-CN" altLang="en-US" dirty="0"/>
              <a:t> </a:t>
            </a:r>
            <a:r>
              <a:rPr kumimoji="1" lang="en-US" altLang="zh-CN" dirty="0"/>
              <a:t>read-only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guest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98200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40A6F1-E99C-2B48-8887-EF38D3A4C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硬件虚拟化对内存翻译的支持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2489A7-CC3D-6F4A-99FC-6828E52FC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Intel</a:t>
            </a:r>
            <a:r>
              <a:rPr kumimoji="1" lang="zh-CN" altLang="en-US" dirty="0"/>
              <a:t> </a:t>
            </a:r>
            <a:r>
              <a:rPr kumimoji="1" lang="en-US" altLang="zh-CN" dirty="0"/>
              <a:t>VT-x</a:t>
            </a:r>
            <a:r>
              <a:rPr kumimoji="1" lang="zh-CN" altLang="en-US" dirty="0"/>
              <a:t>和</a:t>
            </a:r>
            <a:r>
              <a:rPr kumimoji="1" lang="en-US" altLang="zh-CN" dirty="0"/>
              <a:t>ARM</a:t>
            </a:r>
            <a:r>
              <a:rPr kumimoji="1" lang="zh-CN" altLang="en-US" dirty="0"/>
              <a:t>硬件虚拟化都有对应的内存虚拟化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Intel</a:t>
            </a:r>
            <a:r>
              <a:rPr kumimoji="1" lang="zh-CN" altLang="en-US" dirty="0"/>
              <a:t> </a:t>
            </a:r>
            <a:r>
              <a:rPr kumimoji="1" lang="en-US" altLang="zh-CN" dirty="0"/>
              <a:t>Extended</a:t>
            </a:r>
            <a:r>
              <a:rPr kumimoji="1" lang="zh-CN" altLang="en-US" dirty="0"/>
              <a:t> </a:t>
            </a:r>
            <a:r>
              <a:rPr kumimoji="1" lang="en-US" altLang="zh-CN" dirty="0"/>
              <a:t>Page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Table</a:t>
            </a:r>
            <a:r>
              <a:rPr kumimoji="1" lang="zh-CN" altLang="en-US" dirty="0"/>
              <a:t> </a:t>
            </a:r>
            <a:r>
              <a:rPr kumimoji="1" lang="en-US" altLang="zh-CN" dirty="0"/>
              <a:t>(EPT)</a:t>
            </a:r>
          </a:p>
          <a:p>
            <a:pPr lvl="1"/>
            <a:r>
              <a:rPr kumimoji="1" lang="en-US" altLang="zh-CN" dirty="0"/>
              <a:t>ARM</a:t>
            </a:r>
            <a:r>
              <a:rPr kumimoji="1" lang="zh-CN" altLang="en-US" dirty="0"/>
              <a:t> </a:t>
            </a:r>
            <a:r>
              <a:rPr kumimoji="1" lang="en-US" altLang="zh-CN" dirty="0"/>
              <a:t>Stage-2</a:t>
            </a:r>
            <a:r>
              <a:rPr kumimoji="1" lang="zh-CN" altLang="en-US" dirty="0"/>
              <a:t> </a:t>
            </a:r>
            <a:r>
              <a:rPr kumimoji="1" lang="en-US" altLang="zh-CN" dirty="0"/>
              <a:t>Page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Table</a:t>
            </a:r>
            <a:r>
              <a:rPr kumimoji="1" lang="zh-CN" altLang="en-US" dirty="0"/>
              <a:t> </a:t>
            </a:r>
            <a:r>
              <a:rPr kumimoji="1" lang="en-US" altLang="zh-CN" dirty="0"/>
              <a:t>(</a:t>
            </a:r>
            <a:r>
              <a:rPr kumimoji="1" lang="zh-CN" altLang="en-US" dirty="0"/>
              <a:t>第二阶段页表</a:t>
            </a:r>
            <a:r>
              <a:rPr kumimoji="1" lang="en-US" altLang="zh-CN" dirty="0"/>
              <a:t>)</a:t>
            </a:r>
          </a:p>
          <a:p>
            <a:r>
              <a:rPr kumimoji="1" lang="zh-CN" altLang="en-US" dirty="0"/>
              <a:t>新的页表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将</a:t>
            </a:r>
            <a:r>
              <a:rPr kumimoji="1" lang="en-US" altLang="zh-CN" dirty="0"/>
              <a:t>GPA</a:t>
            </a:r>
            <a:r>
              <a:rPr kumimoji="1" lang="zh-CN" altLang="en-US" dirty="0"/>
              <a:t>翻译成</a:t>
            </a:r>
            <a:r>
              <a:rPr kumimoji="1" lang="en-US" altLang="zh-CN" dirty="0"/>
              <a:t>HPA</a:t>
            </a:r>
          </a:p>
          <a:p>
            <a:pPr lvl="1"/>
            <a:r>
              <a:rPr kumimoji="1" lang="zh-CN" altLang="en-US" dirty="0"/>
              <a:t>此表被</a:t>
            </a:r>
            <a:r>
              <a:rPr kumimoji="1" lang="en-US" altLang="zh-CN" dirty="0"/>
              <a:t>VMM</a:t>
            </a:r>
            <a:r>
              <a:rPr kumimoji="1" lang="zh-CN" altLang="en-US" dirty="0"/>
              <a:t>直接控制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每一个</a:t>
            </a:r>
            <a:r>
              <a:rPr kumimoji="1" lang="en-US" altLang="zh-CN" dirty="0"/>
              <a:t>VM</a:t>
            </a:r>
            <a:r>
              <a:rPr kumimoji="1" lang="zh-CN" altLang="en-US" dirty="0"/>
              <a:t>有一个对应的页表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64B11C-8D73-F543-AFC6-3DB21F8DC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D1F155-DB47-6D43-8FA4-D81908CF1E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430324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3E995C-D995-3E42-902C-0B671ED00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第二阶段页表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0997AA-B8E1-1048-9B62-60456A146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第一阶段页表：虚拟机内虚拟地址翻译（</a:t>
            </a:r>
            <a:r>
              <a:rPr kumimoji="1" lang="en-US" altLang="zh-CN" dirty="0"/>
              <a:t>GVA-&gt;GPA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r>
              <a:rPr kumimoji="1" lang="zh-CN" altLang="en-US" dirty="0"/>
              <a:t>第二阶段页表：虚拟机客户物理地址翻译（</a:t>
            </a:r>
            <a:r>
              <a:rPr kumimoji="1" lang="en-US" altLang="zh-CN" dirty="0"/>
              <a:t>GPA-&gt;HPA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FC9E3B4-D398-794B-BE5A-53933A034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99556D-1E09-F54B-A22F-C3D6B30A39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D920009B-105A-D04E-BD34-028B3CFA035E}"/>
              </a:ext>
            </a:extLst>
          </p:cNvPr>
          <p:cNvGrpSpPr/>
          <p:nvPr/>
        </p:nvGrpSpPr>
        <p:grpSpPr>
          <a:xfrm>
            <a:off x="755576" y="2281436"/>
            <a:ext cx="7488832" cy="3049100"/>
            <a:chOff x="475924" y="70274"/>
            <a:chExt cx="8360384" cy="5239165"/>
          </a:xfrm>
        </p:grpSpPr>
        <p:cxnSp>
          <p:nvCxnSpPr>
            <p:cNvPr id="7" name="Straight Connector 146">
              <a:extLst>
                <a:ext uri="{FF2B5EF4-FFF2-40B4-BE49-F238E27FC236}">
                  <a16:creationId xmlns:a16="http://schemas.microsoft.com/office/drawing/2014/main" id="{1AE110D6-C335-C740-9833-E0C28518777A}"/>
                </a:ext>
              </a:extLst>
            </p:cNvPr>
            <p:cNvCxnSpPr/>
            <p:nvPr/>
          </p:nvCxnSpPr>
          <p:spPr>
            <a:xfrm>
              <a:off x="3632968" y="2504742"/>
              <a:ext cx="1311696" cy="924083"/>
            </a:xfrm>
            <a:prstGeom prst="line">
              <a:avLst/>
            </a:prstGeom>
            <a:ln>
              <a:solidFill>
                <a:srgbClr val="BE38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8" name="Picture 83">
              <a:extLst>
                <a:ext uri="{FF2B5EF4-FFF2-40B4-BE49-F238E27FC236}">
                  <a16:creationId xmlns:a16="http://schemas.microsoft.com/office/drawing/2014/main" id="{081229DF-1E5B-5F48-96D1-5E6782A4EC5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72652" y="3457256"/>
              <a:ext cx="6318029" cy="718081"/>
            </a:xfrm>
            <a:prstGeom prst="rect">
              <a:avLst/>
            </a:prstGeom>
          </p:spPr>
        </p:pic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0E164BDA-81FD-DC4E-BF2A-279AA737D72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910355" y="3428824"/>
              <a:ext cx="655848" cy="3528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673A9FC0-24A0-2247-B933-9178EA47B47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76764" y="3428824"/>
              <a:ext cx="655848" cy="3528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FB7A246F-CB54-F14F-9140-30BA4404509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65424" y="979591"/>
              <a:ext cx="655848" cy="352835"/>
            </a:xfrm>
            <a:prstGeom prst="rect">
              <a:avLst/>
            </a:prstGeom>
            <a:solidFill>
              <a:srgbClr val="558ED5"/>
            </a:solidFill>
            <a:ln>
              <a:solidFill>
                <a:srgbClr val="385D8A"/>
              </a:solidFill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endParaRPr lang="en-US" altLang="zh-TW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2" name="Rectangle 5">
              <a:extLst>
                <a:ext uri="{FF2B5EF4-FFF2-40B4-BE49-F238E27FC236}">
                  <a16:creationId xmlns:a16="http://schemas.microsoft.com/office/drawing/2014/main" id="{039BCCAC-566A-E943-AE81-E3740FCD16D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21272" y="979591"/>
              <a:ext cx="655848" cy="352835"/>
            </a:xfrm>
            <a:prstGeom prst="rect">
              <a:avLst/>
            </a:prstGeom>
            <a:solidFill>
              <a:srgbClr val="558ED5"/>
            </a:solidFill>
            <a:ln>
              <a:solidFill>
                <a:srgbClr val="385D8A"/>
              </a:solidFill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endParaRPr lang="en-US" altLang="zh-TW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3" name="Rectangle 5">
              <a:extLst>
                <a:ext uri="{FF2B5EF4-FFF2-40B4-BE49-F238E27FC236}">
                  <a16:creationId xmlns:a16="http://schemas.microsoft.com/office/drawing/2014/main" id="{1F55AD9C-AAA1-5F4E-A725-5C76F18FB3D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77120" y="979591"/>
              <a:ext cx="655848" cy="352835"/>
            </a:xfrm>
            <a:prstGeom prst="rect">
              <a:avLst/>
            </a:prstGeom>
            <a:solidFill>
              <a:srgbClr val="558ED5"/>
            </a:solidFill>
            <a:ln>
              <a:solidFill>
                <a:srgbClr val="385D8A"/>
              </a:solidFill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endParaRPr lang="en-US" altLang="zh-TW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4" name="Rectangle 5">
              <a:extLst>
                <a:ext uri="{FF2B5EF4-FFF2-40B4-BE49-F238E27FC236}">
                  <a16:creationId xmlns:a16="http://schemas.microsoft.com/office/drawing/2014/main" id="{ACC4EE90-59BC-D744-8B57-C3B60F6F029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65424" y="2176230"/>
              <a:ext cx="655848" cy="352835"/>
            </a:xfrm>
            <a:prstGeom prst="rect">
              <a:avLst/>
            </a:prstGeom>
            <a:solidFill>
              <a:srgbClr val="558ED5"/>
            </a:solidFill>
            <a:ln>
              <a:solidFill>
                <a:srgbClr val="385D8A"/>
              </a:solidFill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endParaRPr lang="en-US" altLang="zh-TW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5" name="Rectangle 5">
              <a:extLst>
                <a:ext uri="{FF2B5EF4-FFF2-40B4-BE49-F238E27FC236}">
                  <a16:creationId xmlns:a16="http://schemas.microsoft.com/office/drawing/2014/main" id="{2FCFDE0B-DE4C-414B-909E-9E584E5C1C6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65424" y="2183912"/>
              <a:ext cx="655848" cy="352835"/>
            </a:xfrm>
            <a:prstGeom prst="rect">
              <a:avLst/>
            </a:prstGeom>
            <a:noFill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6" name="Rectangle 11">
              <a:extLst>
                <a:ext uri="{FF2B5EF4-FFF2-40B4-BE49-F238E27FC236}">
                  <a16:creationId xmlns:a16="http://schemas.microsoft.com/office/drawing/2014/main" id="{7C21F957-FC21-914F-9D3C-3B8912076CA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21272" y="2183912"/>
              <a:ext cx="655848" cy="352835"/>
            </a:xfrm>
            <a:prstGeom prst="rect">
              <a:avLst/>
            </a:prstGeom>
            <a:solidFill>
              <a:srgbClr val="558ED5"/>
            </a:solidFill>
            <a:ln>
              <a:solidFill>
                <a:srgbClr val="385D8A"/>
              </a:solidFill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endParaRPr lang="en-US" altLang="zh-TW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7" name="Rectangle 5">
              <a:extLst>
                <a:ext uri="{FF2B5EF4-FFF2-40B4-BE49-F238E27FC236}">
                  <a16:creationId xmlns:a16="http://schemas.microsoft.com/office/drawing/2014/main" id="{6546AB6F-130E-7C45-B24C-7CFD6BD4DB2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77120" y="2183912"/>
              <a:ext cx="655848" cy="352835"/>
            </a:xfrm>
            <a:prstGeom prst="rect">
              <a:avLst/>
            </a:prstGeom>
            <a:noFill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8" name="Rectangle 5">
              <a:extLst>
                <a:ext uri="{FF2B5EF4-FFF2-40B4-BE49-F238E27FC236}">
                  <a16:creationId xmlns:a16="http://schemas.microsoft.com/office/drawing/2014/main" id="{15B39B1A-8990-E041-B93E-9492E99ECDF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32968" y="2183912"/>
              <a:ext cx="655848" cy="352835"/>
            </a:xfrm>
            <a:prstGeom prst="rect">
              <a:avLst/>
            </a:prstGeom>
            <a:solidFill>
              <a:srgbClr val="9BBC59"/>
            </a:solidFill>
            <a:ln>
              <a:solidFill>
                <a:srgbClr val="72893E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cxnSp>
          <p:nvCxnSpPr>
            <p:cNvPr id="19" name="Straight Connector 15">
              <a:extLst>
                <a:ext uri="{FF2B5EF4-FFF2-40B4-BE49-F238E27FC236}">
                  <a16:creationId xmlns:a16="http://schemas.microsoft.com/office/drawing/2014/main" id="{9609828E-1781-BD44-969E-93DAB7F0C9D5}"/>
                </a:ext>
              </a:extLst>
            </p:cNvPr>
            <p:cNvCxnSpPr/>
            <p:nvPr/>
          </p:nvCxnSpPr>
          <p:spPr>
            <a:xfrm>
              <a:off x="1665424" y="1332426"/>
              <a:ext cx="655848" cy="851486"/>
            </a:xfrm>
            <a:prstGeom prst="line">
              <a:avLst/>
            </a:prstGeom>
            <a:ln>
              <a:solidFill>
                <a:srgbClr val="385D8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6">
              <a:extLst>
                <a:ext uri="{FF2B5EF4-FFF2-40B4-BE49-F238E27FC236}">
                  <a16:creationId xmlns:a16="http://schemas.microsoft.com/office/drawing/2014/main" id="{7F7D681C-A90A-674D-A1F9-9EE50B8AC3F2}"/>
                </a:ext>
              </a:extLst>
            </p:cNvPr>
            <p:cNvCxnSpPr/>
            <p:nvPr/>
          </p:nvCxnSpPr>
          <p:spPr>
            <a:xfrm>
              <a:off x="2321272" y="1332426"/>
              <a:ext cx="655848" cy="851486"/>
            </a:xfrm>
            <a:prstGeom prst="line">
              <a:avLst/>
            </a:prstGeom>
            <a:ln>
              <a:solidFill>
                <a:srgbClr val="385D8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17">
              <a:extLst>
                <a:ext uri="{FF2B5EF4-FFF2-40B4-BE49-F238E27FC236}">
                  <a16:creationId xmlns:a16="http://schemas.microsoft.com/office/drawing/2014/main" id="{F688F64A-8968-6A40-99B2-0E905EC301E0}"/>
                </a:ext>
              </a:extLst>
            </p:cNvPr>
            <p:cNvCxnSpPr/>
            <p:nvPr/>
          </p:nvCxnSpPr>
          <p:spPr>
            <a:xfrm flipH="1">
              <a:off x="3632968" y="1332426"/>
              <a:ext cx="655848" cy="851486"/>
            </a:xfrm>
            <a:prstGeom prst="line">
              <a:avLst/>
            </a:prstGeom>
            <a:ln>
              <a:solidFill>
                <a:srgbClr val="72893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0">
              <a:extLst>
                <a:ext uri="{FF2B5EF4-FFF2-40B4-BE49-F238E27FC236}">
                  <a16:creationId xmlns:a16="http://schemas.microsoft.com/office/drawing/2014/main" id="{AC889F1C-00A3-B640-8D6A-6E28B1B59093}"/>
                </a:ext>
              </a:extLst>
            </p:cNvPr>
            <p:cNvCxnSpPr/>
            <p:nvPr/>
          </p:nvCxnSpPr>
          <p:spPr>
            <a:xfrm flipH="1">
              <a:off x="4288816" y="1332426"/>
              <a:ext cx="655848" cy="851486"/>
            </a:xfrm>
            <a:prstGeom prst="line">
              <a:avLst/>
            </a:prstGeom>
            <a:ln>
              <a:solidFill>
                <a:srgbClr val="72893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5">
              <a:extLst>
                <a:ext uri="{FF2B5EF4-FFF2-40B4-BE49-F238E27FC236}">
                  <a16:creationId xmlns:a16="http://schemas.microsoft.com/office/drawing/2014/main" id="{6B0C7A8A-89AF-A94C-91DC-B4DABB97FC8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88816" y="979591"/>
              <a:ext cx="655848" cy="352835"/>
            </a:xfrm>
            <a:prstGeom prst="rect">
              <a:avLst/>
            </a:prstGeom>
            <a:solidFill>
              <a:srgbClr val="9BBC59"/>
            </a:solidFill>
            <a:ln>
              <a:solidFill>
                <a:srgbClr val="72893E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24" name="Rectangle 5">
              <a:extLst>
                <a:ext uri="{FF2B5EF4-FFF2-40B4-BE49-F238E27FC236}">
                  <a16:creationId xmlns:a16="http://schemas.microsoft.com/office/drawing/2014/main" id="{76AB5DCA-74F7-8E41-A274-3CC081501DA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88816" y="2183912"/>
              <a:ext cx="655848" cy="352835"/>
            </a:xfrm>
            <a:prstGeom prst="rect">
              <a:avLst/>
            </a:prstGeom>
            <a:solidFill>
              <a:srgbClr val="FFFFFF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cxnSp>
          <p:nvCxnSpPr>
            <p:cNvPr id="25" name="Straight Connector 25">
              <a:extLst>
                <a:ext uri="{FF2B5EF4-FFF2-40B4-BE49-F238E27FC236}">
                  <a16:creationId xmlns:a16="http://schemas.microsoft.com/office/drawing/2014/main" id="{1DFC766A-A04A-1241-AE9B-40DE08FDDADC}"/>
                </a:ext>
              </a:extLst>
            </p:cNvPr>
            <p:cNvCxnSpPr/>
            <p:nvPr/>
          </p:nvCxnSpPr>
          <p:spPr>
            <a:xfrm flipH="1">
              <a:off x="1676764" y="1332426"/>
              <a:ext cx="1300356" cy="851486"/>
            </a:xfrm>
            <a:prstGeom prst="line">
              <a:avLst/>
            </a:prstGeom>
            <a:ln>
              <a:solidFill>
                <a:srgbClr val="385D8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7">
              <a:extLst>
                <a:ext uri="{FF2B5EF4-FFF2-40B4-BE49-F238E27FC236}">
                  <a16:creationId xmlns:a16="http://schemas.microsoft.com/office/drawing/2014/main" id="{C69E5FF5-E0DF-C943-81F8-E2A4AB1BC248}"/>
                </a:ext>
              </a:extLst>
            </p:cNvPr>
            <p:cNvCxnSpPr/>
            <p:nvPr/>
          </p:nvCxnSpPr>
          <p:spPr>
            <a:xfrm flipH="1">
              <a:off x="2321272" y="1332426"/>
              <a:ext cx="1311696" cy="851486"/>
            </a:xfrm>
            <a:prstGeom prst="line">
              <a:avLst/>
            </a:prstGeom>
            <a:ln>
              <a:solidFill>
                <a:srgbClr val="385D8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ectangle 5">
              <a:extLst>
                <a:ext uri="{FF2B5EF4-FFF2-40B4-BE49-F238E27FC236}">
                  <a16:creationId xmlns:a16="http://schemas.microsoft.com/office/drawing/2014/main" id="{46CE1484-D1ED-3B40-8445-A26BF6BACB1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44308" y="3435484"/>
              <a:ext cx="655848" cy="3528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28" name="Rectangle 5">
              <a:extLst>
                <a:ext uri="{FF2B5EF4-FFF2-40B4-BE49-F238E27FC236}">
                  <a16:creationId xmlns:a16="http://schemas.microsoft.com/office/drawing/2014/main" id="{3E3E8DE0-DED1-E641-AFE9-DC37C19FE42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88816" y="3435484"/>
              <a:ext cx="655848" cy="352835"/>
            </a:xfrm>
            <a:prstGeom prst="rect">
              <a:avLst/>
            </a:prstGeom>
            <a:solidFill>
              <a:srgbClr val="BE384B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29" name="Rectangle 31">
              <a:extLst>
                <a:ext uri="{FF2B5EF4-FFF2-40B4-BE49-F238E27FC236}">
                  <a16:creationId xmlns:a16="http://schemas.microsoft.com/office/drawing/2014/main" id="{068F2896-6E3D-6944-848A-6E9080DE99A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944664" y="3435484"/>
              <a:ext cx="655848" cy="35283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30" name="Rectangle 5">
              <a:extLst>
                <a:ext uri="{FF2B5EF4-FFF2-40B4-BE49-F238E27FC236}">
                  <a16:creationId xmlns:a16="http://schemas.microsoft.com/office/drawing/2014/main" id="{B1601F76-99DC-E447-AF27-06FD3C1F53D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600512" y="3435484"/>
              <a:ext cx="655848" cy="3528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31" name="Rectangle 5">
              <a:extLst>
                <a:ext uri="{FF2B5EF4-FFF2-40B4-BE49-F238E27FC236}">
                  <a16:creationId xmlns:a16="http://schemas.microsoft.com/office/drawing/2014/main" id="{999B7A61-F08C-0347-90B1-BCEDC3B066A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256360" y="3435484"/>
              <a:ext cx="655848" cy="35283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32" name="Rectangle 5">
              <a:extLst>
                <a:ext uri="{FF2B5EF4-FFF2-40B4-BE49-F238E27FC236}">
                  <a16:creationId xmlns:a16="http://schemas.microsoft.com/office/drawing/2014/main" id="{0627418E-DE60-8D47-A105-A7E4810E366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256360" y="3435484"/>
              <a:ext cx="655848" cy="35283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33" name="Rectangle 5">
              <a:extLst>
                <a:ext uri="{FF2B5EF4-FFF2-40B4-BE49-F238E27FC236}">
                  <a16:creationId xmlns:a16="http://schemas.microsoft.com/office/drawing/2014/main" id="{7DB612F2-9650-C64C-8ADE-3121BBF4958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944664" y="979591"/>
              <a:ext cx="655848" cy="352835"/>
            </a:xfrm>
            <a:prstGeom prst="rect">
              <a:avLst/>
            </a:prstGeom>
            <a:solidFill>
              <a:srgbClr val="9BBC59"/>
            </a:solidFill>
            <a:ln>
              <a:solidFill>
                <a:srgbClr val="72893E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34" name="Rectangle 5">
              <a:extLst>
                <a:ext uri="{FF2B5EF4-FFF2-40B4-BE49-F238E27FC236}">
                  <a16:creationId xmlns:a16="http://schemas.microsoft.com/office/drawing/2014/main" id="{8835C851-6A80-574D-A319-7FE8A0215AC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256360" y="2183912"/>
              <a:ext cx="655848" cy="352835"/>
            </a:xfrm>
            <a:prstGeom prst="rect">
              <a:avLst/>
            </a:prstGeom>
            <a:noFill/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35" name="Rectangle 5">
              <a:extLst>
                <a:ext uri="{FF2B5EF4-FFF2-40B4-BE49-F238E27FC236}">
                  <a16:creationId xmlns:a16="http://schemas.microsoft.com/office/drawing/2014/main" id="{BC47905B-3858-1D4E-B962-16B33E85481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912208" y="2183912"/>
              <a:ext cx="655848" cy="35283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36" name="Rectangle 5">
              <a:extLst>
                <a:ext uri="{FF2B5EF4-FFF2-40B4-BE49-F238E27FC236}">
                  <a16:creationId xmlns:a16="http://schemas.microsoft.com/office/drawing/2014/main" id="{F125C589-BF92-974A-BB89-B67D7BA18AA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65424" y="2179579"/>
              <a:ext cx="3279240" cy="352835"/>
            </a:xfrm>
            <a:prstGeom prst="rect">
              <a:avLst/>
            </a:prstGeom>
            <a:noFill/>
            <a:ln w="38100" cmpd="sng">
              <a:solidFill>
                <a:srgbClr val="BE384B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37" name="Rectangle 5">
              <a:extLst>
                <a:ext uri="{FF2B5EF4-FFF2-40B4-BE49-F238E27FC236}">
                  <a16:creationId xmlns:a16="http://schemas.microsoft.com/office/drawing/2014/main" id="{5BB2A7DF-0B03-9A42-9B38-1C0AF90E9AF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77120" y="3435484"/>
              <a:ext cx="655848" cy="352835"/>
            </a:xfrm>
            <a:prstGeom prst="rect">
              <a:avLst/>
            </a:prstGeom>
            <a:solidFill>
              <a:srgbClr val="BE384B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38" name="Rectangle 5">
              <a:extLst>
                <a:ext uri="{FF2B5EF4-FFF2-40B4-BE49-F238E27FC236}">
                  <a16:creationId xmlns:a16="http://schemas.microsoft.com/office/drawing/2014/main" id="{DE182014-3C80-6646-B073-1BBEAB1B3C2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21272" y="3435484"/>
              <a:ext cx="655848" cy="352835"/>
            </a:xfrm>
            <a:prstGeom prst="rect">
              <a:avLst/>
            </a:prstGeom>
            <a:solidFill>
              <a:srgbClr val="BE384B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cxnSp>
          <p:nvCxnSpPr>
            <p:cNvPr id="39" name="Straight Connector 50">
              <a:extLst>
                <a:ext uri="{FF2B5EF4-FFF2-40B4-BE49-F238E27FC236}">
                  <a16:creationId xmlns:a16="http://schemas.microsoft.com/office/drawing/2014/main" id="{F3D65767-0B28-224C-9D5C-D195503A60AD}"/>
                </a:ext>
              </a:extLst>
            </p:cNvPr>
            <p:cNvCxnSpPr/>
            <p:nvPr/>
          </p:nvCxnSpPr>
          <p:spPr>
            <a:xfrm>
              <a:off x="2321272" y="2542542"/>
              <a:ext cx="655848" cy="864406"/>
            </a:xfrm>
            <a:prstGeom prst="line">
              <a:avLst/>
            </a:prstGeom>
            <a:ln>
              <a:solidFill>
                <a:srgbClr val="BE38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53">
              <a:extLst>
                <a:ext uri="{FF2B5EF4-FFF2-40B4-BE49-F238E27FC236}">
                  <a16:creationId xmlns:a16="http://schemas.microsoft.com/office/drawing/2014/main" id="{353B8BD4-A5EC-CE47-AC76-7255683C2905}"/>
                </a:ext>
              </a:extLst>
            </p:cNvPr>
            <p:cNvCxnSpPr/>
            <p:nvPr/>
          </p:nvCxnSpPr>
          <p:spPr>
            <a:xfrm>
              <a:off x="1665424" y="2529065"/>
              <a:ext cx="655848" cy="896597"/>
            </a:xfrm>
            <a:prstGeom prst="line">
              <a:avLst/>
            </a:prstGeom>
            <a:ln>
              <a:solidFill>
                <a:srgbClr val="BE38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62">
              <a:extLst>
                <a:ext uri="{FF2B5EF4-FFF2-40B4-BE49-F238E27FC236}">
                  <a16:creationId xmlns:a16="http://schemas.microsoft.com/office/drawing/2014/main" id="{6D72707E-A1C2-7349-BCAD-ADC1FDDFAE65}"/>
                </a:ext>
              </a:extLst>
            </p:cNvPr>
            <p:cNvCxnSpPr/>
            <p:nvPr/>
          </p:nvCxnSpPr>
          <p:spPr>
            <a:xfrm flipH="1">
              <a:off x="6256360" y="2536747"/>
              <a:ext cx="655848" cy="888915"/>
            </a:xfrm>
            <a:prstGeom prst="line">
              <a:avLst/>
            </a:prstGeom>
            <a:ln>
              <a:solidFill>
                <a:srgbClr val="D5C88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64">
              <a:extLst>
                <a:ext uri="{FF2B5EF4-FFF2-40B4-BE49-F238E27FC236}">
                  <a16:creationId xmlns:a16="http://schemas.microsoft.com/office/drawing/2014/main" id="{6E08895B-645A-B241-B957-D3EFED4DCA3E}"/>
                </a:ext>
              </a:extLst>
            </p:cNvPr>
            <p:cNvCxnSpPr/>
            <p:nvPr/>
          </p:nvCxnSpPr>
          <p:spPr>
            <a:xfrm flipH="1">
              <a:off x="6912208" y="2536747"/>
              <a:ext cx="655848" cy="870201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ectangle 5">
              <a:extLst>
                <a:ext uri="{FF2B5EF4-FFF2-40B4-BE49-F238E27FC236}">
                  <a16:creationId xmlns:a16="http://schemas.microsoft.com/office/drawing/2014/main" id="{A8E54B0C-92A3-1E42-9A5F-E9E4D5DA5B6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944664" y="3435484"/>
              <a:ext cx="655848" cy="352835"/>
            </a:xfrm>
            <a:prstGeom prst="rect">
              <a:avLst/>
            </a:prstGeom>
            <a:solidFill>
              <a:srgbClr val="BE384B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44" name="Rectangle 5">
              <a:extLst>
                <a:ext uri="{FF2B5EF4-FFF2-40B4-BE49-F238E27FC236}">
                  <a16:creationId xmlns:a16="http://schemas.microsoft.com/office/drawing/2014/main" id="{638B4A23-2102-1449-9B36-E2DDE42E2A0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76764" y="3425662"/>
              <a:ext cx="5891292" cy="352835"/>
            </a:xfrm>
            <a:prstGeom prst="rect">
              <a:avLst/>
            </a:prstGeom>
            <a:noFill/>
            <a:ln w="57150" cmpd="sng">
              <a:solidFill>
                <a:schemeClr val="tx1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45" name="TextBox 69">
              <a:extLst>
                <a:ext uri="{FF2B5EF4-FFF2-40B4-BE49-F238E27FC236}">
                  <a16:creationId xmlns:a16="http://schemas.microsoft.com/office/drawing/2014/main" id="{A717D2AB-0127-7F47-BFBF-5A52DA0D3079}"/>
                </a:ext>
              </a:extLst>
            </p:cNvPr>
            <p:cNvSpPr txBox="1"/>
            <p:nvPr/>
          </p:nvSpPr>
          <p:spPr>
            <a:xfrm>
              <a:off x="475924" y="317732"/>
              <a:ext cx="90966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GVA</a:t>
              </a:r>
            </a:p>
          </p:txBody>
        </p:sp>
        <p:sp>
          <p:nvSpPr>
            <p:cNvPr id="46" name="TextBox 70">
              <a:extLst>
                <a:ext uri="{FF2B5EF4-FFF2-40B4-BE49-F238E27FC236}">
                  <a16:creationId xmlns:a16="http://schemas.microsoft.com/office/drawing/2014/main" id="{BB737759-FE23-F045-ABAE-227ADB0AFD03}"/>
                </a:ext>
              </a:extLst>
            </p:cNvPr>
            <p:cNvSpPr txBox="1"/>
            <p:nvPr/>
          </p:nvSpPr>
          <p:spPr>
            <a:xfrm>
              <a:off x="475924" y="1926208"/>
              <a:ext cx="90966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GPA</a:t>
              </a:r>
            </a:p>
          </p:txBody>
        </p:sp>
        <p:sp>
          <p:nvSpPr>
            <p:cNvPr id="47" name="TextBox 71">
              <a:extLst>
                <a:ext uri="{FF2B5EF4-FFF2-40B4-BE49-F238E27FC236}">
                  <a16:creationId xmlns:a16="http://schemas.microsoft.com/office/drawing/2014/main" id="{BDFFAA24-AF18-CA4B-BFD1-ECFE07E8620F}"/>
                </a:ext>
              </a:extLst>
            </p:cNvPr>
            <p:cNvSpPr txBox="1"/>
            <p:nvPr/>
          </p:nvSpPr>
          <p:spPr>
            <a:xfrm>
              <a:off x="475924" y="3410954"/>
              <a:ext cx="90966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HPA</a:t>
              </a:r>
            </a:p>
          </p:txBody>
        </p:sp>
        <p:sp>
          <p:nvSpPr>
            <p:cNvPr id="48" name="Rectangle 10">
              <a:extLst>
                <a:ext uri="{FF2B5EF4-FFF2-40B4-BE49-F238E27FC236}">
                  <a16:creationId xmlns:a16="http://schemas.microsoft.com/office/drawing/2014/main" id="{C42984D7-4EF9-9A4F-8F44-567AD0657DE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72652" y="702453"/>
              <a:ext cx="4309061" cy="2264856"/>
            </a:xfrm>
            <a:prstGeom prst="rect">
              <a:avLst/>
            </a:prstGeom>
            <a:noFill/>
            <a:ln w="3175" cmpd="sng">
              <a:prstDash val="dash"/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endParaRPr lang="en-US" altLang="zh-TW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49" name="Rectangle 10">
              <a:extLst>
                <a:ext uri="{FF2B5EF4-FFF2-40B4-BE49-F238E27FC236}">
                  <a16:creationId xmlns:a16="http://schemas.microsoft.com/office/drawing/2014/main" id="{CA03A7BD-9F04-054F-8D10-13F641FCD07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053864" y="702453"/>
              <a:ext cx="1723625" cy="2264856"/>
            </a:xfrm>
            <a:prstGeom prst="rect">
              <a:avLst/>
            </a:prstGeom>
            <a:noFill/>
            <a:ln w="3175" cmpd="sng">
              <a:solidFill>
                <a:srgbClr val="8064A2"/>
              </a:solidFill>
              <a:prstDash val="dash"/>
              <a:headEnd/>
              <a:tailEnd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endParaRPr lang="en-US" altLang="zh-TW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50" name="TextBox 74">
              <a:extLst>
                <a:ext uri="{FF2B5EF4-FFF2-40B4-BE49-F238E27FC236}">
                  <a16:creationId xmlns:a16="http://schemas.microsoft.com/office/drawing/2014/main" id="{16B67F9C-0026-C040-8727-4EE7D3081C47}"/>
                </a:ext>
              </a:extLst>
            </p:cNvPr>
            <p:cNvSpPr txBox="1"/>
            <p:nvPr/>
          </p:nvSpPr>
          <p:spPr>
            <a:xfrm>
              <a:off x="2726797" y="70274"/>
              <a:ext cx="172362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Guest VM</a:t>
              </a:r>
              <a:endParaRPr lang="en-US" sz="20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51" name="TextBox 75">
              <a:extLst>
                <a:ext uri="{FF2B5EF4-FFF2-40B4-BE49-F238E27FC236}">
                  <a16:creationId xmlns:a16="http://schemas.microsoft.com/office/drawing/2014/main" id="{C7907F6F-86F4-A946-8694-BD53A5EA1B50}"/>
                </a:ext>
              </a:extLst>
            </p:cNvPr>
            <p:cNvSpPr txBox="1"/>
            <p:nvPr/>
          </p:nvSpPr>
          <p:spPr>
            <a:xfrm>
              <a:off x="6424659" y="70274"/>
              <a:ext cx="172362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VMM</a:t>
              </a:r>
              <a:endParaRPr lang="en-US" sz="20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52" name="TextBox 76">
              <a:extLst>
                <a:ext uri="{FF2B5EF4-FFF2-40B4-BE49-F238E27FC236}">
                  <a16:creationId xmlns:a16="http://schemas.microsoft.com/office/drawing/2014/main" id="{63E2CEC3-902C-A14C-8335-4869C972EA2F}"/>
                </a:ext>
              </a:extLst>
            </p:cNvPr>
            <p:cNvSpPr txBox="1"/>
            <p:nvPr/>
          </p:nvSpPr>
          <p:spPr>
            <a:xfrm>
              <a:off x="7871648" y="1678750"/>
              <a:ext cx="90966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VA</a:t>
              </a:r>
            </a:p>
          </p:txBody>
        </p:sp>
        <p:sp>
          <p:nvSpPr>
            <p:cNvPr id="53" name="TextBox 77">
              <a:extLst>
                <a:ext uri="{FF2B5EF4-FFF2-40B4-BE49-F238E27FC236}">
                  <a16:creationId xmlns:a16="http://schemas.microsoft.com/office/drawing/2014/main" id="{31C83834-B69A-1045-942A-3B286AD7BEB9}"/>
                </a:ext>
              </a:extLst>
            </p:cNvPr>
            <p:cNvSpPr txBox="1"/>
            <p:nvPr/>
          </p:nvSpPr>
          <p:spPr>
            <a:xfrm>
              <a:off x="7884368" y="3361556"/>
              <a:ext cx="9096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PA</a:t>
              </a:r>
            </a:p>
          </p:txBody>
        </p:sp>
        <p:cxnSp>
          <p:nvCxnSpPr>
            <p:cNvPr id="54" name="Straight Arrow Connector 79">
              <a:extLst>
                <a:ext uri="{FF2B5EF4-FFF2-40B4-BE49-F238E27FC236}">
                  <a16:creationId xmlns:a16="http://schemas.microsoft.com/office/drawing/2014/main" id="{71BE3C40-7744-0246-A5F2-129C6F88CC8D}"/>
                </a:ext>
              </a:extLst>
            </p:cNvPr>
            <p:cNvCxnSpPr>
              <a:cxnSpLocks/>
            </p:cNvCxnSpPr>
            <p:nvPr/>
          </p:nvCxnSpPr>
          <p:spPr>
            <a:xfrm>
              <a:off x="958254" y="936376"/>
              <a:ext cx="0" cy="111539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80">
              <a:extLst>
                <a:ext uri="{FF2B5EF4-FFF2-40B4-BE49-F238E27FC236}">
                  <a16:creationId xmlns:a16="http://schemas.microsoft.com/office/drawing/2014/main" id="{750E2F10-219D-F641-A3C5-B0B9A2298126}"/>
                </a:ext>
              </a:extLst>
            </p:cNvPr>
            <p:cNvCxnSpPr>
              <a:cxnSpLocks/>
            </p:cNvCxnSpPr>
            <p:nvPr/>
          </p:nvCxnSpPr>
          <p:spPr>
            <a:xfrm>
              <a:off x="958254" y="2544852"/>
              <a:ext cx="0" cy="100477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99">
              <a:extLst>
                <a:ext uri="{FF2B5EF4-FFF2-40B4-BE49-F238E27FC236}">
                  <a16:creationId xmlns:a16="http://schemas.microsoft.com/office/drawing/2014/main" id="{B3D30F1D-EFCC-F44D-9A24-086E6142CF9B}"/>
                </a:ext>
              </a:extLst>
            </p:cNvPr>
            <p:cNvCxnSpPr>
              <a:cxnSpLocks/>
            </p:cNvCxnSpPr>
            <p:nvPr/>
          </p:nvCxnSpPr>
          <p:spPr>
            <a:xfrm>
              <a:off x="8316416" y="2281436"/>
              <a:ext cx="0" cy="111063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Rectangle 106">
              <a:extLst>
                <a:ext uri="{FF2B5EF4-FFF2-40B4-BE49-F238E27FC236}">
                  <a16:creationId xmlns:a16="http://schemas.microsoft.com/office/drawing/2014/main" id="{7EFCF76C-E2D8-0842-BC0C-D3C913B256D3}"/>
                </a:ext>
              </a:extLst>
            </p:cNvPr>
            <p:cNvSpPr/>
            <p:nvPr/>
          </p:nvSpPr>
          <p:spPr>
            <a:xfrm>
              <a:off x="475924" y="1098768"/>
              <a:ext cx="964660" cy="594243"/>
            </a:xfrm>
            <a:prstGeom prst="rect">
              <a:avLst/>
            </a:prstGeom>
            <a:solidFill>
              <a:srgbClr val="558ED6"/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latin typeface="等线" panose="02010600030101010101" pitchFamily="2" charset="-122"/>
                  <a:ea typeface="等线" panose="02010600030101010101" pitchFamily="2" charset="-122"/>
                </a:rPr>
                <a:t>Stage1</a:t>
              </a:r>
            </a:p>
            <a:p>
              <a:pPr algn="ctr"/>
              <a:r>
                <a:rPr lang="en-US" sz="1200" dirty="0">
                  <a:latin typeface="等线" panose="02010600030101010101" pitchFamily="2" charset="-122"/>
                  <a:ea typeface="等线" panose="02010600030101010101" pitchFamily="2" charset="-122"/>
                </a:rPr>
                <a:t>PT</a:t>
              </a:r>
            </a:p>
          </p:txBody>
        </p:sp>
        <p:sp>
          <p:nvSpPr>
            <p:cNvPr id="58" name="Rectangle 107">
              <a:extLst>
                <a:ext uri="{FF2B5EF4-FFF2-40B4-BE49-F238E27FC236}">
                  <a16:creationId xmlns:a16="http://schemas.microsoft.com/office/drawing/2014/main" id="{244E8ADB-2F49-BD44-8CA0-7B23A4624DBA}"/>
                </a:ext>
              </a:extLst>
            </p:cNvPr>
            <p:cNvSpPr/>
            <p:nvPr/>
          </p:nvSpPr>
          <p:spPr>
            <a:xfrm>
              <a:off x="475924" y="2668581"/>
              <a:ext cx="964660" cy="576001"/>
            </a:xfrm>
            <a:prstGeom prst="rect">
              <a:avLst/>
            </a:prstGeom>
            <a:solidFill>
              <a:srgbClr val="BE384B"/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latin typeface="等线" panose="02010600030101010101" pitchFamily="2" charset="-122"/>
                  <a:ea typeface="等线" panose="02010600030101010101" pitchFamily="2" charset="-122"/>
                </a:rPr>
                <a:t>Stage2</a:t>
              </a:r>
              <a:r>
                <a:rPr lang="zh-CN" altLang="en-US" sz="1200" dirty="0">
                  <a:latin typeface="等线" panose="02010600030101010101" pitchFamily="2" charset="-122"/>
                  <a:ea typeface="等线" panose="02010600030101010101" pitchFamily="2" charset="-122"/>
                </a:rPr>
                <a:t> </a:t>
              </a:r>
              <a:endParaRPr lang="en-US" altLang="zh-CN" sz="12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  <a:p>
              <a:pPr algn="ctr"/>
              <a:r>
                <a:rPr lang="en-US" altLang="zh-CN" sz="1200" dirty="0">
                  <a:latin typeface="等线" panose="02010600030101010101" pitchFamily="2" charset="-122"/>
                  <a:ea typeface="等线" panose="02010600030101010101" pitchFamily="2" charset="-122"/>
                </a:rPr>
                <a:t>PT</a:t>
              </a:r>
              <a:endParaRPr lang="en-US" sz="12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59" name="Rectangle 108">
              <a:extLst>
                <a:ext uri="{FF2B5EF4-FFF2-40B4-BE49-F238E27FC236}">
                  <a16:creationId xmlns:a16="http://schemas.microsoft.com/office/drawing/2014/main" id="{3D7A4DE5-DA97-914A-A337-AFBCAB99D7A7}"/>
                </a:ext>
              </a:extLst>
            </p:cNvPr>
            <p:cNvSpPr/>
            <p:nvPr/>
          </p:nvSpPr>
          <p:spPr>
            <a:xfrm>
              <a:off x="7740352" y="2425452"/>
              <a:ext cx="1095956" cy="616475"/>
            </a:xfrm>
            <a:prstGeom prst="rect">
              <a:avLst/>
            </a:prstGeom>
            <a:solidFill>
              <a:schemeClr val="accent4"/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latin typeface="等线" panose="02010600030101010101" pitchFamily="2" charset="-122"/>
                  <a:ea typeface="等线" panose="02010600030101010101" pitchFamily="2" charset="-122"/>
                </a:rPr>
                <a:t>Stage1</a:t>
              </a:r>
            </a:p>
            <a:p>
              <a:pPr algn="ctr"/>
              <a:r>
                <a:rPr lang="en-US" sz="1200" dirty="0">
                  <a:latin typeface="等线" panose="02010600030101010101" pitchFamily="2" charset="-122"/>
                  <a:ea typeface="等线" panose="02010600030101010101" pitchFamily="2" charset="-122"/>
                </a:rPr>
                <a:t>PT</a:t>
              </a:r>
            </a:p>
          </p:txBody>
        </p:sp>
        <p:pic>
          <p:nvPicPr>
            <p:cNvPr id="60" name="Picture 113">
              <a:extLst>
                <a:ext uri="{FF2B5EF4-FFF2-40B4-BE49-F238E27FC236}">
                  <a16:creationId xmlns:a16="http://schemas.microsoft.com/office/drawing/2014/main" id="{F441721F-6A1D-A841-A4D2-553CB6B068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060254" y="4491306"/>
              <a:ext cx="1007063" cy="818133"/>
            </a:xfrm>
            <a:prstGeom prst="rect">
              <a:avLst/>
            </a:prstGeom>
          </p:spPr>
        </p:pic>
        <p:cxnSp>
          <p:nvCxnSpPr>
            <p:cNvPr id="61" name="Elbow Connector 115">
              <a:extLst>
                <a:ext uri="{FF2B5EF4-FFF2-40B4-BE49-F238E27FC236}">
                  <a16:creationId xmlns:a16="http://schemas.microsoft.com/office/drawing/2014/main" id="{A6C15E3A-1030-FE4D-AE48-FA0327EEE051}"/>
                </a:ext>
              </a:extLst>
            </p:cNvPr>
            <p:cNvCxnSpPr>
              <a:cxnSpLocks/>
              <a:stCxn id="60" idx="1"/>
              <a:endCxn id="57" idx="1"/>
            </p:cNvCxnSpPr>
            <p:nvPr/>
          </p:nvCxnSpPr>
          <p:spPr>
            <a:xfrm rot="10800000">
              <a:off x="475925" y="1395890"/>
              <a:ext cx="3584330" cy="3504483"/>
            </a:xfrm>
            <a:prstGeom prst="bentConnector3">
              <a:avLst>
                <a:gd name="adj1" fmla="val 107120"/>
              </a:avLst>
            </a:prstGeom>
            <a:ln>
              <a:solidFill>
                <a:srgbClr val="558ED6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Elbow Connector 116">
              <a:extLst>
                <a:ext uri="{FF2B5EF4-FFF2-40B4-BE49-F238E27FC236}">
                  <a16:creationId xmlns:a16="http://schemas.microsoft.com/office/drawing/2014/main" id="{2E36C8E3-2154-874A-9261-2C8396E12C45}"/>
                </a:ext>
              </a:extLst>
            </p:cNvPr>
            <p:cNvCxnSpPr>
              <a:cxnSpLocks/>
              <a:endCxn id="58" idx="1"/>
            </p:cNvCxnSpPr>
            <p:nvPr/>
          </p:nvCxnSpPr>
          <p:spPr>
            <a:xfrm rot="10800000">
              <a:off x="475924" y="2956581"/>
              <a:ext cx="3520713" cy="2014323"/>
            </a:xfrm>
            <a:prstGeom prst="bentConnector3">
              <a:avLst>
                <a:gd name="adj1" fmla="val 109479"/>
              </a:avLst>
            </a:prstGeom>
            <a:ln>
              <a:solidFill>
                <a:srgbClr val="BE384B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Elbow Connector 125">
              <a:extLst>
                <a:ext uri="{FF2B5EF4-FFF2-40B4-BE49-F238E27FC236}">
                  <a16:creationId xmlns:a16="http://schemas.microsoft.com/office/drawing/2014/main" id="{50B04859-A2C6-B147-950D-6B425AF94249}"/>
                </a:ext>
              </a:extLst>
            </p:cNvPr>
            <p:cNvCxnSpPr>
              <a:cxnSpLocks/>
              <a:stCxn id="60" idx="3"/>
              <a:endCxn id="59" idx="3"/>
            </p:cNvCxnSpPr>
            <p:nvPr/>
          </p:nvCxnSpPr>
          <p:spPr>
            <a:xfrm flipV="1">
              <a:off x="5067317" y="2733690"/>
              <a:ext cx="3768991" cy="2166683"/>
            </a:xfrm>
            <a:prstGeom prst="bentConnector3">
              <a:avLst>
                <a:gd name="adj1" fmla="val 106065"/>
              </a:avLst>
            </a:prstGeom>
            <a:ln>
              <a:solidFill>
                <a:schemeClr val="accent4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43">
              <a:extLst>
                <a:ext uri="{FF2B5EF4-FFF2-40B4-BE49-F238E27FC236}">
                  <a16:creationId xmlns:a16="http://schemas.microsoft.com/office/drawing/2014/main" id="{DEAB8A96-63D0-5942-A350-DA4FAB3B5729}"/>
                </a:ext>
              </a:extLst>
            </p:cNvPr>
            <p:cNvCxnSpPr/>
            <p:nvPr/>
          </p:nvCxnSpPr>
          <p:spPr>
            <a:xfrm>
              <a:off x="4300156" y="2531615"/>
              <a:ext cx="1300356" cy="875333"/>
            </a:xfrm>
            <a:prstGeom prst="line">
              <a:avLst/>
            </a:prstGeom>
            <a:ln>
              <a:solidFill>
                <a:srgbClr val="BE384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160">
              <a:extLst>
                <a:ext uri="{FF2B5EF4-FFF2-40B4-BE49-F238E27FC236}">
                  <a16:creationId xmlns:a16="http://schemas.microsoft.com/office/drawing/2014/main" id="{75985FBE-57E4-8D44-8643-93FC391794E9}"/>
                </a:ext>
              </a:extLst>
            </p:cNvPr>
            <p:cNvSpPr txBox="1"/>
            <p:nvPr/>
          </p:nvSpPr>
          <p:spPr>
            <a:xfrm>
              <a:off x="5520902" y="4522302"/>
              <a:ext cx="292562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EL2</a:t>
              </a:r>
              <a:endParaRPr lang="en-US" sz="20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66" name="TextBox 161">
              <a:extLst>
                <a:ext uri="{FF2B5EF4-FFF2-40B4-BE49-F238E27FC236}">
                  <a16:creationId xmlns:a16="http://schemas.microsoft.com/office/drawing/2014/main" id="{FCF9EF41-7247-2F4A-9316-550B8597CEFB}"/>
                </a:ext>
              </a:extLst>
            </p:cNvPr>
            <p:cNvSpPr txBox="1"/>
            <p:nvPr/>
          </p:nvSpPr>
          <p:spPr>
            <a:xfrm>
              <a:off x="877866" y="4277057"/>
              <a:ext cx="292562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EL0</a:t>
              </a:r>
              <a:r>
                <a:rPr lang="zh-CN" altLang="en-US" sz="200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 </a:t>
              </a:r>
              <a:r>
                <a:rPr lang="en-US" altLang="zh-CN" sz="200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&amp;</a:t>
              </a:r>
              <a:r>
                <a:rPr lang="zh-CN" altLang="en-US" sz="200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 </a:t>
              </a:r>
              <a:r>
                <a:rPr lang="en-US" altLang="zh-CN" sz="2000" dirty="0">
                  <a:solidFill>
                    <a:srgbClr val="000000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EL1</a:t>
              </a:r>
              <a:endParaRPr lang="en-US" sz="20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67" name="Rectangle 5">
              <a:extLst>
                <a:ext uri="{FF2B5EF4-FFF2-40B4-BE49-F238E27FC236}">
                  <a16:creationId xmlns:a16="http://schemas.microsoft.com/office/drawing/2014/main" id="{693584AD-1348-AE45-8A85-0C3C44D1B28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256360" y="2189707"/>
              <a:ext cx="655848" cy="35283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2800" dirty="0"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cxnSp>
          <p:nvCxnSpPr>
            <p:cNvPr id="68" name="Straight Connector 163">
              <a:extLst>
                <a:ext uri="{FF2B5EF4-FFF2-40B4-BE49-F238E27FC236}">
                  <a16:creationId xmlns:a16="http://schemas.microsoft.com/office/drawing/2014/main" id="{E49DBC03-F6CD-AD44-A85E-5C6D50A11909}"/>
                </a:ext>
              </a:extLst>
            </p:cNvPr>
            <p:cNvCxnSpPr/>
            <p:nvPr/>
          </p:nvCxnSpPr>
          <p:spPr>
            <a:xfrm flipH="1">
              <a:off x="4944664" y="2548953"/>
              <a:ext cx="1311696" cy="876709"/>
            </a:xfrm>
            <a:prstGeom prst="line">
              <a:avLst/>
            </a:prstGeom>
            <a:ln>
              <a:solidFill>
                <a:srgbClr val="D5C88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65">
              <a:extLst>
                <a:ext uri="{FF2B5EF4-FFF2-40B4-BE49-F238E27FC236}">
                  <a16:creationId xmlns:a16="http://schemas.microsoft.com/office/drawing/2014/main" id="{6423C01A-74C5-E249-882E-ED7F11D39571}"/>
                </a:ext>
              </a:extLst>
            </p:cNvPr>
            <p:cNvCxnSpPr/>
            <p:nvPr/>
          </p:nvCxnSpPr>
          <p:spPr>
            <a:xfrm flipH="1">
              <a:off x="5598659" y="2542542"/>
              <a:ext cx="1311696" cy="886283"/>
            </a:xfrm>
            <a:prstGeom prst="line">
              <a:avLst/>
            </a:prstGeom>
            <a:ln>
              <a:solidFill>
                <a:srgbClr val="D5C88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86322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89D8BC-CF51-D640-B33E-A035CD2A6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第二阶段</a:t>
            </a:r>
            <a:r>
              <a:rPr kumimoji="1" lang="en-US" altLang="zh-CN" dirty="0"/>
              <a:t>4</a:t>
            </a:r>
            <a:r>
              <a:rPr kumimoji="1" lang="zh-CN" altLang="en-US" dirty="0"/>
              <a:t>级页表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4270E39-FD5C-C94B-B36C-4037A2157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915C4C-322A-2C4C-AAD5-2638DA0D8A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F7AB3D3-7918-BF49-8CB7-30A9CCE81C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5616" y="1129308"/>
            <a:ext cx="6316146" cy="406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221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5228FB-B8D2-E948-8477-BC0475160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VTTBR_EL2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ACCEA8-49D4-2446-84CD-5ABE194B84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zh-CN" altLang="en-US" dirty="0"/>
              <a:t>存储虚拟机第二阶段页表基地址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只有</a:t>
            </a:r>
            <a:r>
              <a:rPr kumimoji="1" lang="en-US" altLang="zh-CN" dirty="0"/>
              <a:t>1</a:t>
            </a:r>
            <a:r>
              <a:rPr kumimoji="1" lang="zh-CN" altLang="en-US" dirty="0"/>
              <a:t>个寄存器：</a:t>
            </a:r>
            <a:r>
              <a:rPr kumimoji="1" lang="en-US" altLang="zh-CN" dirty="0"/>
              <a:t>VTTBR_EL2</a:t>
            </a:r>
          </a:p>
          <a:p>
            <a:r>
              <a:rPr kumimoji="1" lang="zh-CN" altLang="en-US" dirty="0"/>
              <a:t>对比第一阶段页表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有</a:t>
            </a:r>
            <a:r>
              <a:rPr kumimoji="1" lang="en-US" altLang="zh-CN" dirty="0"/>
              <a:t>2</a:t>
            </a:r>
            <a:r>
              <a:rPr kumimoji="1" lang="zh-CN" altLang="en-US" dirty="0"/>
              <a:t>个页表基地址寄存器：</a:t>
            </a:r>
            <a:r>
              <a:rPr kumimoji="1" lang="en-US" altLang="zh-CN" dirty="0"/>
              <a:t>TTBR0_EL1</a:t>
            </a:r>
            <a:r>
              <a:rPr kumimoji="1" lang="zh-CN" altLang="en-US" dirty="0"/>
              <a:t>、</a:t>
            </a:r>
            <a:r>
              <a:rPr kumimoji="1" lang="en-US" altLang="zh-CN" dirty="0"/>
              <a:t>TTBR1_EL1</a:t>
            </a:r>
          </a:p>
          <a:p>
            <a:r>
              <a:rPr kumimoji="1" lang="en-US" altLang="zh-CN" dirty="0"/>
              <a:t>VMM</a:t>
            </a:r>
            <a:r>
              <a:rPr kumimoji="1" lang="zh-CN" altLang="en-US" dirty="0"/>
              <a:t>在调度</a:t>
            </a:r>
            <a:r>
              <a:rPr kumimoji="1" lang="en-US" altLang="zh-CN" dirty="0"/>
              <a:t>VM</a:t>
            </a:r>
            <a:r>
              <a:rPr kumimoji="1" lang="zh-CN" altLang="en-US" dirty="0"/>
              <a:t>之前需要在</a:t>
            </a:r>
            <a:r>
              <a:rPr kumimoji="1" lang="en-US" altLang="zh-CN" dirty="0"/>
              <a:t>VTTBR_EL2</a:t>
            </a:r>
            <a:r>
              <a:rPr kumimoji="1" lang="zh-CN" altLang="en-US" dirty="0"/>
              <a:t>中写入此</a:t>
            </a:r>
            <a:r>
              <a:rPr kumimoji="1" lang="en-US" altLang="zh-CN" dirty="0"/>
              <a:t>VM</a:t>
            </a:r>
            <a:r>
              <a:rPr kumimoji="1" lang="zh-CN" altLang="en-US" dirty="0"/>
              <a:t>的第二阶段页表基地址</a:t>
            </a:r>
          </a:p>
          <a:p>
            <a:r>
              <a:rPr kumimoji="1" lang="zh-CN" altLang="en-US" dirty="0"/>
              <a:t>第二阶段页表使能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HCR_EL2</a:t>
            </a:r>
            <a:r>
              <a:rPr kumimoji="1" lang="zh-CN" altLang="en-US" dirty="0"/>
              <a:t>第</a:t>
            </a:r>
            <a:r>
              <a:rPr kumimoji="1" lang="en-US" altLang="zh-CN" dirty="0"/>
              <a:t>0</a:t>
            </a:r>
            <a:r>
              <a:rPr kumimoji="1" lang="zh-CN" altLang="en-US" dirty="0"/>
              <a:t>位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DBE1F36-A463-9B4B-85D3-14162DE09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7252B8-17A3-534E-B54A-276BA6DA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537913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8D4017-8BC0-D44C-BC88-EA8695142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第二阶段页表项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69AA50-5A9B-5D4B-8A47-E2E8604E4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第</a:t>
            </a:r>
            <a:r>
              <a:rPr kumimoji="1" lang="en-US" altLang="zh-CN" dirty="0"/>
              <a:t>3</a:t>
            </a:r>
            <a:r>
              <a:rPr kumimoji="1" lang="zh-CN" altLang="en-US" dirty="0"/>
              <a:t>级页表页中的页表项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与第一阶段页表完全一致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zh-CN" altLang="en-US" dirty="0"/>
              <a:t> 第</a:t>
            </a:r>
            <a:r>
              <a:rPr kumimoji="1" lang="en-US" altLang="zh-CN" dirty="0"/>
              <a:t>0-2</a:t>
            </a:r>
            <a:r>
              <a:rPr kumimoji="1" lang="zh-CN" altLang="en-US" dirty="0"/>
              <a:t>级页表页中的页表项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与第一阶段在高位有不同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0374C1-2E4A-F242-B945-4F3176EF2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950E68-C0C2-5843-839E-F259FEF4E5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812DEAC-EFA5-104C-939A-6F890DA5051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536" y="2209428"/>
            <a:ext cx="8326685" cy="65158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D7489CC-AD16-1C4F-AB82-15E66357A7F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544" y="3937620"/>
            <a:ext cx="7812360" cy="1384283"/>
          </a:xfrm>
          <a:prstGeom prst="rect">
            <a:avLst/>
          </a:prstGeom>
        </p:spPr>
      </p:pic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C05A11E6-D186-AD42-9DD9-9DEC1F167B88}"/>
              </a:ext>
            </a:extLst>
          </p:cNvPr>
          <p:cNvSpPr txBox="1">
            <a:spLocks/>
          </p:cNvSpPr>
          <p:nvPr/>
        </p:nvSpPr>
        <p:spPr>
          <a:xfrm>
            <a:off x="4860032" y="3001516"/>
            <a:ext cx="4104456" cy="1724536"/>
          </a:xfrm>
          <a:prstGeom prst="rect">
            <a:avLst/>
          </a:prstGeom>
          <a:ln w="25400">
            <a:solidFill>
              <a:srgbClr val="BE384B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1600" dirty="0" err="1"/>
              <a:t>NSTable</a:t>
            </a:r>
            <a:r>
              <a:rPr kumimoji="1" lang="en-US" altLang="zh-CN" sz="1600" dirty="0"/>
              <a:t>:</a:t>
            </a:r>
            <a:r>
              <a:rPr kumimoji="1" lang="zh-CN" altLang="en-US" sz="1600" dirty="0"/>
              <a:t> 与</a:t>
            </a:r>
            <a:r>
              <a:rPr kumimoji="1" lang="en-US" altLang="zh-CN" sz="1600" dirty="0" err="1"/>
              <a:t>TrustZone</a:t>
            </a:r>
            <a:r>
              <a:rPr kumimoji="1" lang="zh-CN" altLang="en-US" sz="1600" dirty="0"/>
              <a:t>有关</a:t>
            </a:r>
            <a:endParaRPr kumimoji="1" lang="en-US" altLang="zh-CN" sz="1600" dirty="0"/>
          </a:p>
          <a:p>
            <a:r>
              <a:rPr kumimoji="1" lang="en-US" altLang="zh-CN" sz="1600" dirty="0" err="1"/>
              <a:t>APTable</a:t>
            </a:r>
            <a:r>
              <a:rPr kumimoji="1" lang="zh-CN" altLang="en-US" sz="1600" dirty="0"/>
              <a:t>：读写权限</a:t>
            </a:r>
            <a:endParaRPr kumimoji="1" lang="en-US" altLang="zh-CN" sz="1600" dirty="0"/>
          </a:p>
          <a:p>
            <a:r>
              <a:rPr kumimoji="1" lang="en-US" altLang="zh-CN" sz="1600" dirty="0" err="1"/>
              <a:t>XNTable</a:t>
            </a:r>
            <a:r>
              <a:rPr kumimoji="1" lang="zh-CN" altLang="en-US" sz="1600" dirty="0"/>
              <a:t>：执行权限</a:t>
            </a:r>
            <a:endParaRPr kumimoji="1" lang="en-US" altLang="zh-CN" sz="1600" dirty="0"/>
          </a:p>
          <a:p>
            <a:r>
              <a:rPr kumimoji="1" lang="en-US" altLang="zh-CN" sz="1600" dirty="0" err="1"/>
              <a:t>PXNTable</a:t>
            </a:r>
            <a:r>
              <a:rPr kumimoji="1" lang="zh-CN" altLang="en-US" sz="1600" dirty="0"/>
              <a:t>：特权级别软件的执行权限</a:t>
            </a:r>
            <a:endParaRPr kumimoji="1" lang="en-US" altLang="zh-CN" sz="16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DF7483B-EE34-9448-9503-54FEEC4CECC6}"/>
              </a:ext>
            </a:extLst>
          </p:cNvPr>
          <p:cNvSpPr/>
          <p:nvPr/>
        </p:nvSpPr>
        <p:spPr>
          <a:xfrm>
            <a:off x="467544" y="3937620"/>
            <a:ext cx="2952328" cy="86409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201774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D7B1FD-EFD7-E946-88B5-FC12B0DEA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5AA4FE-518B-4F4D-8B90-724ECC5430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BD2028A8-E3F4-8F42-9102-A2F55771A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翻译过程</a:t>
            </a:r>
          </a:p>
        </p:txBody>
      </p: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4BB001F5-09F8-354C-9F0A-E5288ABC1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3034623" cy="3771636"/>
          </a:xfrm>
        </p:spPr>
        <p:txBody>
          <a:bodyPr/>
          <a:lstStyle/>
          <a:p>
            <a:r>
              <a:rPr kumimoji="1" lang="zh-CN" altLang="en-US" dirty="0"/>
              <a:t>总共</a:t>
            </a:r>
            <a:r>
              <a:rPr kumimoji="1" lang="en-US" altLang="zh-CN" dirty="0"/>
              <a:t>24</a:t>
            </a:r>
            <a:r>
              <a:rPr kumimoji="1" lang="zh-CN" altLang="en-US" dirty="0"/>
              <a:t>次内存访问</a:t>
            </a:r>
            <a:endParaRPr kumimoji="1" lang="en-US" altLang="zh-CN" dirty="0"/>
          </a:p>
          <a:p>
            <a:pPr lvl="1"/>
            <a:r>
              <a:rPr kumimoji="1" lang="zh-CN" altLang="en-US" dirty="0">
                <a:solidFill>
                  <a:srgbClr val="BE384B"/>
                </a:solidFill>
              </a:rPr>
              <a:t>为什么</a:t>
            </a:r>
            <a:r>
              <a:rPr kumimoji="1" lang="en-US" altLang="zh-CN" dirty="0">
                <a:solidFill>
                  <a:srgbClr val="BE384B"/>
                </a:solidFill>
              </a:rPr>
              <a:t>?</a:t>
            </a:r>
          </a:p>
          <a:p>
            <a:pPr lvl="1"/>
            <a:r>
              <a:rPr kumimoji="1" lang="en-US" altLang="zh-CN" dirty="0">
                <a:solidFill>
                  <a:srgbClr val="BE384B"/>
                </a:solidFill>
              </a:rPr>
              <a:t>25-1</a:t>
            </a:r>
          </a:p>
          <a:p>
            <a:pPr marL="457200" lvl="1" indent="0">
              <a:buNone/>
            </a:pPr>
            <a:endParaRPr kumimoji="1" lang="en-US" altLang="zh-CN" dirty="0">
              <a:solidFill>
                <a:srgbClr val="BE384B"/>
              </a:solidFill>
            </a:endParaRPr>
          </a:p>
          <a:p>
            <a:pPr lvl="1"/>
            <a:endParaRPr kumimoji="1" lang="zh-CN" altLang="en-US" dirty="0">
              <a:solidFill>
                <a:srgbClr val="BE384B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BCD20F9-02D4-654A-9D13-BD5AB1821D9C}"/>
              </a:ext>
            </a:extLst>
          </p:cNvPr>
          <p:cNvSpPr/>
          <p:nvPr/>
        </p:nvSpPr>
        <p:spPr>
          <a:xfrm>
            <a:off x="4211960" y="337220"/>
            <a:ext cx="576064" cy="21602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>
            <a:noAutofit/>
          </a:bodyPr>
          <a:lstStyle/>
          <a:p>
            <a:pPr algn="ctr"/>
            <a:r>
              <a:rPr kumimoji="1" lang="en-US" altLang="zh-CN" sz="700" dirty="0">
                <a:solidFill>
                  <a:schemeClr val="bg1"/>
                </a:solidFill>
                <a:cs typeface="Times New Roman" panose="02020603050405020304" pitchFamily="18" charset="0"/>
              </a:rPr>
              <a:t>TTBR0_EL1</a:t>
            </a:r>
            <a:endParaRPr kumimoji="1" lang="zh-CN" altLang="en-US" sz="7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EEE1833-46A8-0A41-9842-0E457FCB17DA}"/>
              </a:ext>
            </a:extLst>
          </p:cNvPr>
          <p:cNvSpPr/>
          <p:nvPr/>
        </p:nvSpPr>
        <p:spPr>
          <a:xfrm>
            <a:off x="5004048" y="337220"/>
            <a:ext cx="3168352" cy="14401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>
            <a:noAutofit/>
          </a:bodyPr>
          <a:lstStyle/>
          <a:p>
            <a:pPr algn="ctr"/>
            <a:r>
              <a:rPr kumimoji="1" lang="en-US" altLang="zh-CN" sz="700" dirty="0">
                <a:solidFill>
                  <a:schemeClr val="bg1"/>
                </a:solidFill>
                <a:cs typeface="Times New Roman" panose="02020603050405020304" pitchFamily="18" charset="0"/>
              </a:rPr>
              <a:t>L0</a:t>
            </a:r>
            <a:r>
              <a: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rPr>
              <a:t>页表页</a:t>
            </a:r>
            <a:r>
              <a:rPr kumimoji="1" lang="en-US" altLang="zh-CN" sz="700" dirty="0">
                <a:solidFill>
                  <a:schemeClr val="bg1"/>
                </a:solidFill>
                <a:cs typeface="Times New Roman" panose="02020603050405020304" pitchFamily="18" charset="0"/>
              </a:rPr>
              <a:t>GPA</a:t>
            </a:r>
            <a:endParaRPr kumimoji="1" lang="zh-CN" altLang="en-US" sz="7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3E14542-3DCB-194B-968D-304D5A533339}"/>
              </a:ext>
            </a:extLst>
          </p:cNvPr>
          <p:cNvSpPr/>
          <p:nvPr/>
        </p:nvSpPr>
        <p:spPr>
          <a:xfrm>
            <a:off x="4211960" y="625252"/>
            <a:ext cx="576064" cy="216024"/>
          </a:xfrm>
          <a:prstGeom prst="rect">
            <a:avLst/>
          </a:prstGeom>
          <a:solidFill>
            <a:srgbClr val="BE38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>
            <a:noAutofit/>
          </a:bodyPr>
          <a:lstStyle/>
          <a:p>
            <a:pPr algn="ctr"/>
            <a:r>
              <a:rPr kumimoji="1" lang="en-US" altLang="zh-CN" sz="700" dirty="0">
                <a:solidFill>
                  <a:schemeClr val="bg1"/>
                </a:solidFill>
                <a:cs typeface="Times New Roman" panose="02020603050405020304" pitchFamily="18" charset="0"/>
              </a:rPr>
              <a:t>VTTBR0_EL2</a:t>
            </a:r>
            <a:endParaRPr kumimoji="1" lang="zh-CN" altLang="en-US" sz="7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67C637FA-9B1A-964C-A619-B3295F690445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4788024" y="409228"/>
            <a:ext cx="216024" cy="0"/>
          </a:xfrm>
          <a:prstGeom prst="straightConnector1">
            <a:avLst/>
          </a:prstGeom>
          <a:ln>
            <a:solidFill>
              <a:schemeClr val="tx1"/>
            </a:solidFill>
            <a:headEnd w="sm" len="lg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A8078FA6-B981-CF42-9C60-C91BE0F34296}"/>
              </a:ext>
            </a:extLst>
          </p:cNvPr>
          <p:cNvGrpSpPr/>
          <p:nvPr/>
        </p:nvGrpSpPr>
        <p:grpSpPr>
          <a:xfrm>
            <a:off x="5292080" y="625252"/>
            <a:ext cx="503999" cy="432048"/>
            <a:chOff x="5580112" y="409228"/>
            <a:chExt cx="648072" cy="432048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0255503D-0069-AC4D-AA54-537E5F70CBFE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4BAB48D1-EF92-034E-9F54-DAB97E766721}"/>
                </a:ext>
              </a:extLst>
            </p:cNvPr>
            <p:cNvSpPr/>
            <p:nvPr/>
          </p:nvSpPr>
          <p:spPr>
            <a:xfrm>
              <a:off x="5580112" y="625252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L0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251284A-C74E-5C40-8EC6-09749C7D2E0B}"/>
              </a:ext>
            </a:extLst>
          </p:cNvPr>
          <p:cNvGrpSpPr/>
          <p:nvPr/>
        </p:nvGrpSpPr>
        <p:grpSpPr>
          <a:xfrm>
            <a:off x="6084168" y="625252"/>
            <a:ext cx="503999" cy="432048"/>
            <a:chOff x="5580112" y="409228"/>
            <a:chExt cx="648072" cy="432048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ECFA9B59-D1C4-974A-BD4F-4638495F0D72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2581C655-EED4-F149-9BAA-0AC2B24251B3}"/>
                </a:ext>
              </a:extLst>
            </p:cNvPr>
            <p:cNvSpPr/>
            <p:nvPr/>
          </p:nvSpPr>
          <p:spPr>
            <a:xfrm>
              <a:off x="5580112" y="481236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L1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707C91C-C448-D546-8675-6C5CEB785F72}"/>
              </a:ext>
            </a:extLst>
          </p:cNvPr>
          <p:cNvGrpSpPr/>
          <p:nvPr/>
        </p:nvGrpSpPr>
        <p:grpSpPr>
          <a:xfrm>
            <a:off x="6876256" y="625252"/>
            <a:ext cx="503999" cy="432048"/>
            <a:chOff x="5580112" y="409228"/>
            <a:chExt cx="648072" cy="432048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83704592-37A9-4C46-B42F-4566F4D0C4DD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43CB387C-3CDC-2045-B35A-A2310076838C}"/>
                </a:ext>
              </a:extLst>
            </p:cNvPr>
            <p:cNvSpPr/>
            <p:nvPr/>
          </p:nvSpPr>
          <p:spPr>
            <a:xfrm>
              <a:off x="5580112" y="553244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L2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A90DED42-6603-1F4D-B725-9BD1D1181A1E}"/>
              </a:ext>
            </a:extLst>
          </p:cNvPr>
          <p:cNvGrpSpPr/>
          <p:nvPr/>
        </p:nvGrpSpPr>
        <p:grpSpPr>
          <a:xfrm>
            <a:off x="7668344" y="625252"/>
            <a:ext cx="503999" cy="432048"/>
            <a:chOff x="5580112" y="409228"/>
            <a:chExt cx="648072" cy="432048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B2525842-D98D-D742-9179-C204D338700F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58F679D3-73E0-824C-9D2A-181CAA6D58FF}"/>
                </a:ext>
              </a:extLst>
            </p:cNvPr>
            <p:cNvSpPr/>
            <p:nvPr/>
          </p:nvSpPr>
          <p:spPr>
            <a:xfrm>
              <a:off x="5580112" y="625252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L3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04215EA3-D36D-0B42-A0FC-E501150A046E}"/>
              </a:ext>
            </a:extLst>
          </p:cNvPr>
          <p:cNvCxnSpPr>
            <a:cxnSpLocks/>
          </p:cNvCxnSpPr>
          <p:nvPr/>
        </p:nvCxnSpPr>
        <p:spPr>
          <a:xfrm>
            <a:off x="4788024" y="625252"/>
            <a:ext cx="504056" cy="0"/>
          </a:xfrm>
          <a:prstGeom prst="straightConnector1">
            <a:avLst/>
          </a:prstGeom>
          <a:ln>
            <a:solidFill>
              <a:schemeClr val="tx1"/>
            </a:solidFill>
            <a:headEnd w="sm" len="lg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肘形连接符 37">
            <a:extLst>
              <a:ext uri="{FF2B5EF4-FFF2-40B4-BE49-F238E27FC236}">
                <a16:creationId xmlns:a16="http://schemas.microsoft.com/office/drawing/2014/main" id="{B989095E-2A5D-E645-AB3A-E35D847DF145}"/>
              </a:ext>
            </a:extLst>
          </p:cNvPr>
          <p:cNvCxnSpPr>
            <a:cxnSpLocks/>
            <a:endCxn id="21" idx="1"/>
          </p:cNvCxnSpPr>
          <p:nvPr/>
        </p:nvCxnSpPr>
        <p:spPr>
          <a:xfrm rot="16200000" flipH="1">
            <a:off x="4965948" y="591344"/>
            <a:ext cx="436240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肘形连接符 40">
            <a:extLst>
              <a:ext uri="{FF2B5EF4-FFF2-40B4-BE49-F238E27FC236}">
                <a16:creationId xmlns:a16="http://schemas.microsoft.com/office/drawing/2014/main" id="{5B27ADEF-88BB-AF4B-9111-4145FA867AD6}"/>
              </a:ext>
            </a:extLst>
          </p:cNvPr>
          <p:cNvCxnSpPr>
            <a:cxnSpLocks/>
            <a:endCxn id="25" idx="1"/>
          </p:cNvCxnSpPr>
          <p:nvPr/>
        </p:nvCxnSpPr>
        <p:spPr>
          <a:xfrm rot="16200000" flipH="1">
            <a:off x="5830044" y="519336"/>
            <a:ext cx="292224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肘形连接符 44">
            <a:extLst>
              <a:ext uri="{FF2B5EF4-FFF2-40B4-BE49-F238E27FC236}">
                <a16:creationId xmlns:a16="http://schemas.microsoft.com/office/drawing/2014/main" id="{26A327E2-3652-A54F-B276-3CD9332A92BF}"/>
              </a:ext>
            </a:extLst>
          </p:cNvPr>
          <p:cNvCxnSpPr>
            <a:cxnSpLocks/>
            <a:endCxn id="28" idx="1"/>
          </p:cNvCxnSpPr>
          <p:nvPr/>
        </p:nvCxnSpPr>
        <p:spPr>
          <a:xfrm rot="16200000" flipH="1">
            <a:off x="6586128" y="555340"/>
            <a:ext cx="364232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肘形连接符 46">
            <a:extLst>
              <a:ext uri="{FF2B5EF4-FFF2-40B4-BE49-F238E27FC236}">
                <a16:creationId xmlns:a16="http://schemas.microsoft.com/office/drawing/2014/main" id="{1C22DE27-3451-124F-9AB6-9A5A9FD029C6}"/>
              </a:ext>
            </a:extLst>
          </p:cNvPr>
          <p:cNvCxnSpPr>
            <a:cxnSpLocks/>
            <a:endCxn id="32" idx="1"/>
          </p:cNvCxnSpPr>
          <p:nvPr/>
        </p:nvCxnSpPr>
        <p:spPr>
          <a:xfrm rot="16200000" flipH="1">
            <a:off x="7342212" y="591344"/>
            <a:ext cx="436240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肘形连接符 56">
            <a:extLst>
              <a:ext uri="{FF2B5EF4-FFF2-40B4-BE49-F238E27FC236}">
                <a16:creationId xmlns:a16="http://schemas.microsoft.com/office/drawing/2014/main" id="{604F46B9-DFB4-F845-A3B7-1F2E96E6EABA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5796079" y="625252"/>
            <a:ext cx="288089" cy="288000"/>
          </a:xfrm>
          <a:prstGeom prst="bentConnector3">
            <a:avLst>
              <a:gd name="adj1" fmla="val 37877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肘形连接符 61">
            <a:extLst>
              <a:ext uri="{FF2B5EF4-FFF2-40B4-BE49-F238E27FC236}">
                <a16:creationId xmlns:a16="http://schemas.microsoft.com/office/drawing/2014/main" id="{377112A0-5682-B44D-8AFD-3AAE48471DD1}"/>
              </a:ext>
            </a:extLst>
          </p:cNvPr>
          <p:cNvCxnSpPr>
            <a:cxnSpLocks/>
          </p:cNvCxnSpPr>
          <p:nvPr/>
        </p:nvCxnSpPr>
        <p:spPr>
          <a:xfrm flipV="1">
            <a:off x="6588224" y="625252"/>
            <a:ext cx="288032" cy="14398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肘形连接符 63">
            <a:extLst>
              <a:ext uri="{FF2B5EF4-FFF2-40B4-BE49-F238E27FC236}">
                <a16:creationId xmlns:a16="http://schemas.microsoft.com/office/drawing/2014/main" id="{E7FBFD27-4270-DF4A-87D2-D3A090EC2EAE}"/>
              </a:ext>
            </a:extLst>
          </p:cNvPr>
          <p:cNvCxnSpPr>
            <a:cxnSpLocks/>
          </p:cNvCxnSpPr>
          <p:nvPr/>
        </p:nvCxnSpPr>
        <p:spPr>
          <a:xfrm flipV="1">
            <a:off x="7380312" y="625252"/>
            <a:ext cx="288032" cy="21599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1B712964-05BD-DA4B-B9C9-EE88A13B2BAD}"/>
              </a:ext>
            </a:extLst>
          </p:cNvPr>
          <p:cNvGrpSpPr/>
          <p:nvPr/>
        </p:nvGrpSpPr>
        <p:grpSpPr>
          <a:xfrm>
            <a:off x="4211960" y="1201316"/>
            <a:ext cx="503999" cy="432048"/>
            <a:chOff x="5580112" y="409228"/>
            <a:chExt cx="648072" cy="432048"/>
          </a:xfrm>
        </p:grpSpPr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14DADE60-C5FF-D442-ACDE-73AB39960A4A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6AD2D79B-7C5B-C44B-871D-EA390F922DCD}"/>
                </a:ext>
              </a:extLst>
            </p:cNvPr>
            <p:cNvSpPr/>
            <p:nvPr/>
          </p:nvSpPr>
          <p:spPr>
            <a:xfrm>
              <a:off x="5580112" y="553244"/>
              <a:ext cx="648072" cy="1524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L0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cxnSp>
        <p:nvCxnSpPr>
          <p:cNvPr id="70" name="肘形连接符 69">
            <a:extLst>
              <a:ext uri="{FF2B5EF4-FFF2-40B4-BE49-F238E27FC236}">
                <a16:creationId xmlns:a16="http://schemas.microsoft.com/office/drawing/2014/main" id="{F907ABDA-15A1-0D4C-9C44-857D80236317}"/>
              </a:ext>
            </a:extLst>
          </p:cNvPr>
          <p:cNvCxnSpPr>
            <a:stCxn id="32" idx="3"/>
            <a:endCxn id="67" idx="1"/>
          </p:cNvCxnSpPr>
          <p:nvPr/>
        </p:nvCxnSpPr>
        <p:spPr>
          <a:xfrm flipH="1">
            <a:off x="4211960" y="917477"/>
            <a:ext cx="3960383" cy="288000"/>
          </a:xfrm>
          <a:prstGeom prst="bentConnector5">
            <a:avLst>
              <a:gd name="adj1" fmla="val -5772"/>
              <a:gd name="adj2" fmla="val 72933"/>
              <a:gd name="adj3" fmla="val 105772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矩形 71">
            <a:extLst>
              <a:ext uri="{FF2B5EF4-FFF2-40B4-BE49-F238E27FC236}">
                <a16:creationId xmlns:a16="http://schemas.microsoft.com/office/drawing/2014/main" id="{1DFB215F-3BEE-9648-9D56-35B885DB945C}"/>
              </a:ext>
            </a:extLst>
          </p:cNvPr>
          <p:cNvSpPr/>
          <p:nvPr/>
        </p:nvSpPr>
        <p:spPr>
          <a:xfrm>
            <a:off x="4211960" y="1705372"/>
            <a:ext cx="576064" cy="216024"/>
          </a:xfrm>
          <a:prstGeom prst="rect">
            <a:avLst/>
          </a:prstGeom>
          <a:solidFill>
            <a:srgbClr val="BE38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>
            <a:noAutofit/>
          </a:bodyPr>
          <a:lstStyle/>
          <a:p>
            <a:pPr algn="ctr"/>
            <a:r>
              <a:rPr kumimoji="1" lang="en-US" altLang="zh-CN" sz="700" dirty="0">
                <a:solidFill>
                  <a:schemeClr val="bg1"/>
                </a:solidFill>
                <a:cs typeface="Times New Roman" panose="02020603050405020304" pitchFamily="18" charset="0"/>
              </a:rPr>
              <a:t>VTTBR0_EL2</a:t>
            </a:r>
            <a:endParaRPr kumimoji="1" lang="zh-CN" altLang="en-US" sz="7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8F4E7A84-7129-BD46-B78B-D1D837AB725C}"/>
              </a:ext>
            </a:extLst>
          </p:cNvPr>
          <p:cNvSpPr/>
          <p:nvPr/>
        </p:nvSpPr>
        <p:spPr>
          <a:xfrm>
            <a:off x="5004048" y="1341139"/>
            <a:ext cx="3168352" cy="14401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>
            <a:noAutofit/>
          </a:bodyPr>
          <a:lstStyle/>
          <a:p>
            <a:pPr algn="ctr"/>
            <a:r>
              <a:rPr kumimoji="1" lang="en-US" altLang="zh-CN" sz="700" dirty="0">
                <a:solidFill>
                  <a:schemeClr val="bg1"/>
                </a:solidFill>
                <a:cs typeface="Times New Roman" panose="02020603050405020304" pitchFamily="18" charset="0"/>
              </a:rPr>
              <a:t>L1</a:t>
            </a:r>
            <a:r>
              <a: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rPr>
              <a:t>页表页</a:t>
            </a:r>
            <a:r>
              <a:rPr kumimoji="1" lang="en-US" altLang="zh-CN" sz="700" dirty="0">
                <a:solidFill>
                  <a:schemeClr val="bg1"/>
                </a:solidFill>
                <a:cs typeface="Times New Roman" panose="02020603050405020304" pitchFamily="18" charset="0"/>
              </a:rPr>
              <a:t>GPA</a:t>
            </a:r>
            <a:endParaRPr kumimoji="1" lang="zh-CN" altLang="en-US" sz="7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cxnSp>
        <p:nvCxnSpPr>
          <p:cNvPr id="74" name="直线箭头连接符 73">
            <a:extLst>
              <a:ext uri="{FF2B5EF4-FFF2-40B4-BE49-F238E27FC236}">
                <a16:creationId xmlns:a16="http://schemas.microsoft.com/office/drawing/2014/main" id="{E215D362-9E58-D14F-9E71-DB4CACF9CC4B}"/>
              </a:ext>
            </a:extLst>
          </p:cNvPr>
          <p:cNvCxnSpPr>
            <a:cxnSpLocks/>
            <a:stCxn id="67" idx="3"/>
            <a:endCxn id="73" idx="1"/>
          </p:cNvCxnSpPr>
          <p:nvPr/>
        </p:nvCxnSpPr>
        <p:spPr>
          <a:xfrm flipV="1">
            <a:off x="4715959" y="1413147"/>
            <a:ext cx="288089" cy="4193"/>
          </a:xfrm>
          <a:prstGeom prst="straightConnector1">
            <a:avLst/>
          </a:prstGeom>
          <a:ln>
            <a:solidFill>
              <a:schemeClr val="tx1"/>
            </a:solidFill>
            <a:headEnd w="sm" len="lg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BEE82469-73E6-774B-9365-374A03CB72D9}"/>
              </a:ext>
            </a:extLst>
          </p:cNvPr>
          <p:cNvGrpSpPr/>
          <p:nvPr/>
        </p:nvGrpSpPr>
        <p:grpSpPr>
          <a:xfrm>
            <a:off x="5292080" y="1629171"/>
            <a:ext cx="503999" cy="432048"/>
            <a:chOff x="5580112" y="409228"/>
            <a:chExt cx="648072" cy="432048"/>
          </a:xfrm>
        </p:grpSpPr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7A113F0C-56D9-6D4B-8364-F28DAA95650F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062FC814-2405-A841-B1AB-DF51F0BF376A}"/>
                </a:ext>
              </a:extLst>
            </p:cNvPr>
            <p:cNvSpPr/>
            <p:nvPr/>
          </p:nvSpPr>
          <p:spPr>
            <a:xfrm>
              <a:off x="5580112" y="625252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L0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B7B7C3E3-F60A-A04D-A222-C9BB180DE9FE}"/>
              </a:ext>
            </a:extLst>
          </p:cNvPr>
          <p:cNvGrpSpPr/>
          <p:nvPr/>
        </p:nvGrpSpPr>
        <p:grpSpPr>
          <a:xfrm>
            <a:off x="6084168" y="1629171"/>
            <a:ext cx="503999" cy="432048"/>
            <a:chOff x="5580112" y="409228"/>
            <a:chExt cx="648072" cy="432048"/>
          </a:xfrm>
        </p:grpSpPr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DF61364B-88A2-BF47-9F49-67C7CF3D6FD1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95E1E108-AFB4-BD42-840A-410E1E8031FF}"/>
                </a:ext>
              </a:extLst>
            </p:cNvPr>
            <p:cNvSpPr/>
            <p:nvPr/>
          </p:nvSpPr>
          <p:spPr>
            <a:xfrm>
              <a:off x="5580112" y="481236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L1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4ADCA1AD-5E29-8849-B427-1AFF3CF71431}"/>
              </a:ext>
            </a:extLst>
          </p:cNvPr>
          <p:cNvGrpSpPr/>
          <p:nvPr/>
        </p:nvGrpSpPr>
        <p:grpSpPr>
          <a:xfrm>
            <a:off x="6876256" y="1629171"/>
            <a:ext cx="503999" cy="432048"/>
            <a:chOff x="5580112" y="409228"/>
            <a:chExt cx="648072" cy="432048"/>
          </a:xfrm>
        </p:grpSpPr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14D525DE-E304-DE4E-A7E4-A41FE7023588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83" name="矩形 82">
              <a:extLst>
                <a:ext uri="{FF2B5EF4-FFF2-40B4-BE49-F238E27FC236}">
                  <a16:creationId xmlns:a16="http://schemas.microsoft.com/office/drawing/2014/main" id="{A1DFA44D-8770-DB4A-92A1-E3AB4939C57A}"/>
                </a:ext>
              </a:extLst>
            </p:cNvPr>
            <p:cNvSpPr/>
            <p:nvPr/>
          </p:nvSpPr>
          <p:spPr>
            <a:xfrm>
              <a:off x="5580112" y="553244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L2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4F5D9FFE-E3C1-F249-8904-63813BEA1C7C}"/>
              </a:ext>
            </a:extLst>
          </p:cNvPr>
          <p:cNvGrpSpPr/>
          <p:nvPr/>
        </p:nvGrpSpPr>
        <p:grpSpPr>
          <a:xfrm>
            <a:off x="7668344" y="1629171"/>
            <a:ext cx="503999" cy="432048"/>
            <a:chOff x="5580112" y="409228"/>
            <a:chExt cx="648072" cy="432048"/>
          </a:xfrm>
        </p:grpSpPr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5BCF681E-8666-9946-9EDF-9432901D8C40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86" name="矩形 85">
              <a:extLst>
                <a:ext uri="{FF2B5EF4-FFF2-40B4-BE49-F238E27FC236}">
                  <a16:creationId xmlns:a16="http://schemas.microsoft.com/office/drawing/2014/main" id="{A07593D2-6C0E-6949-84DD-A5BDA15245BB}"/>
                </a:ext>
              </a:extLst>
            </p:cNvPr>
            <p:cNvSpPr/>
            <p:nvPr/>
          </p:nvSpPr>
          <p:spPr>
            <a:xfrm>
              <a:off x="5580112" y="625252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L3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cxnSp>
        <p:nvCxnSpPr>
          <p:cNvPr id="88" name="肘形连接符 87">
            <a:extLst>
              <a:ext uri="{FF2B5EF4-FFF2-40B4-BE49-F238E27FC236}">
                <a16:creationId xmlns:a16="http://schemas.microsoft.com/office/drawing/2014/main" id="{47E43826-C61C-6747-84D8-1DE5978C69D4}"/>
              </a:ext>
            </a:extLst>
          </p:cNvPr>
          <p:cNvCxnSpPr>
            <a:cxnSpLocks/>
            <a:endCxn id="77" idx="1"/>
          </p:cNvCxnSpPr>
          <p:nvPr/>
        </p:nvCxnSpPr>
        <p:spPr>
          <a:xfrm rot="16200000" flipH="1">
            <a:off x="4965948" y="1595263"/>
            <a:ext cx="436240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肘形连接符 88">
            <a:extLst>
              <a:ext uri="{FF2B5EF4-FFF2-40B4-BE49-F238E27FC236}">
                <a16:creationId xmlns:a16="http://schemas.microsoft.com/office/drawing/2014/main" id="{44C950FD-144D-AD43-911F-C010E28CB4E3}"/>
              </a:ext>
            </a:extLst>
          </p:cNvPr>
          <p:cNvCxnSpPr>
            <a:cxnSpLocks/>
            <a:endCxn id="80" idx="1"/>
          </p:cNvCxnSpPr>
          <p:nvPr/>
        </p:nvCxnSpPr>
        <p:spPr>
          <a:xfrm rot="16200000" flipH="1">
            <a:off x="5830044" y="1523255"/>
            <a:ext cx="292224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肘形连接符 89">
            <a:extLst>
              <a:ext uri="{FF2B5EF4-FFF2-40B4-BE49-F238E27FC236}">
                <a16:creationId xmlns:a16="http://schemas.microsoft.com/office/drawing/2014/main" id="{94FFF14B-3AFF-FF4B-A0AD-2B4ED889CC61}"/>
              </a:ext>
            </a:extLst>
          </p:cNvPr>
          <p:cNvCxnSpPr>
            <a:cxnSpLocks/>
            <a:endCxn id="83" idx="1"/>
          </p:cNvCxnSpPr>
          <p:nvPr/>
        </p:nvCxnSpPr>
        <p:spPr>
          <a:xfrm rot="16200000" flipH="1">
            <a:off x="6586128" y="1559259"/>
            <a:ext cx="364232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肘形连接符 90">
            <a:extLst>
              <a:ext uri="{FF2B5EF4-FFF2-40B4-BE49-F238E27FC236}">
                <a16:creationId xmlns:a16="http://schemas.microsoft.com/office/drawing/2014/main" id="{26BD0D0E-8904-AF44-837D-A00C57E33AA9}"/>
              </a:ext>
            </a:extLst>
          </p:cNvPr>
          <p:cNvCxnSpPr>
            <a:cxnSpLocks/>
            <a:endCxn id="86" idx="1"/>
          </p:cNvCxnSpPr>
          <p:nvPr/>
        </p:nvCxnSpPr>
        <p:spPr>
          <a:xfrm rot="16200000" flipH="1">
            <a:off x="7342212" y="1595263"/>
            <a:ext cx="436240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肘形连接符 91">
            <a:extLst>
              <a:ext uri="{FF2B5EF4-FFF2-40B4-BE49-F238E27FC236}">
                <a16:creationId xmlns:a16="http://schemas.microsoft.com/office/drawing/2014/main" id="{8059CCD3-7040-CD4E-A913-0684A8AFEB98}"/>
              </a:ext>
            </a:extLst>
          </p:cNvPr>
          <p:cNvCxnSpPr>
            <a:cxnSpLocks/>
            <a:stCxn id="76" idx="3"/>
          </p:cNvCxnSpPr>
          <p:nvPr/>
        </p:nvCxnSpPr>
        <p:spPr>
          <a:xfrm flipV="1">
            <a:off x="5796079" y="1629171"/>
            <a:ext cx="288089" cy="288000"/>
          </a:xfrm>
          <a:prstGeom prst="bentConnector3">
            <a:avLst>
              <a:gd name="adj1" fmla="val 37877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肘形连接符 92">
            <a:extLst>
              <a:ext uri="{FF2B5EF4-FFF2-40B4-BE49-F238E27FC236}">
                <a16:creationId xmlns:a16="http://schemas.microsoft.com/office/drawing/2014/main" id="{C586D77E-105D-584A-A55E-C96F07880055}"/>
              </a:ext>
            </a:extLst>
          </p:cNvPr>
          <p:cNvCxnSpPr>
            <a:cxnSpLocks/>
          </p:cNvCxnSpPr>
          <p:nvPr/>
        </p:nvCxnSpPr>
        <p:spPr>
          <a:xfrm flipV="1">
            <a:off x="6588224" y="1629171"/>
            <a:ext cx="288032" cy="14398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肘形连接符 93">
            <a:extLst>
              <a:ext uri="{FF2B5EF4-FFF2-40B4-BE49-F238E27FC236}">
                <a16:creationId xmlns:a16="http://schemas.microsoft.com/office/drawing/2014/main" id="{CD364062-C0FB-6B44-84A3-2307A0D993F9}"/>
              </a:ext>
            </a:extLst>
          </p:cNvPr>
          <p:cNvCxnSpPr>
            <a:cxnSpLocks/>
          </p:cNvCxnSpPr>
          <p:nvPr/>
        </p:nvCxnSpPr>
        <p:spPr>
          <a:xfrm flipV="1">
            <a:off x="7380312" y="1629171"/>
            <a:ext cx="288032" cy="21599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肘形连接符 94">
            <a:extLst>
              <a:ext uri="{FF2B5EF4-FFF2-40B4-BE49-F238E27FC236}">
                <a16:creationId xmlns:a16="http://schemas.microsoft.com/office/drawing/2014/main" id="{584E9C09-5D8E-FF47-849C-BFB443E8B8A1}"/>
              </a:ext>
            </a:extLst>
          </p:cNvPr>
          <p:cNvCxnSpPr>
            <a:stCxn id="86" idx="3"/>
          </p:cNvCxnSpPr>
          <p:nvPr/>
        </p:nvCxnSpPr>
        <p:spPr>
          <a:xfrm flipH="1">
            <a:off x="4211960" y="1921396"/>
            <a:ext cx="3960383" cy="288000"/>
          </a:xfrm>
          <a:prstGeom prst="bentConnector5">
            <a:avLst>
              <a:gd name="adj1" fmla="val -5772"/>
              <a:gd name="adj2" fmla="val 72933"/>
              <a:gd name="adj3" fmla="val 105772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肘形连接符 98">
            <a:extLst>
              <a:ext uri="{FF2B5EF4-FFF2-40B4-BE49-F238E27FC236}">
                <a16:creationId xmlns:a16="http://schemas.microsoft.com/office/drawing/2014/main" id="{66F90C04-F79B-924F-B861-09C60792B142}"/>
              </a:ext>
            </a:extLst>
          </p:cNvPr>
          <p:cNvCxnSpPr>
            <a:cxnSpLocks/>
          </p:cNvCxnSpPr>
          <p:nvPr/>
        </p:nvCxnSpPr>
        <p:spPr>
          <a:xfrm flipV="1">
            <a:off x="4788024" y="1633364"/>
            <a:ext cx="504056" cy="215992"/>
          </a:xfrm>
          <a:prstGeom prst="bentConnector3">
            <a:avLst>
              <a:gd name="adj1" fmla="val 19211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7FC53931-0115-9442-9031-4F7C6DD384F9}"/>
              </a:ext>
            </a:extLst>
          </p:cNvPr>
          <p:cNvGrpSpPr/>
          <p:nvPr/>
        </p:nvGrpSpPr>
        <p:grpSpPr>
          <a:xfrm>
            <a:off x="4211960" y="2209428"/>
            <a:ext cx="503999" cy="432048"/>
            <a:chOff x="5580112" y="409228"/>
            <a:chExt cx="648072" cy="432048"/>
          </a:xfrm>
        </p:grpSpPr>
        <p:sp>
          <p:nvSpPr>
            <p:cNvPr id="103" name="矩形 102">
              <a:extLst>
                <a:ext uri="{FF2B5EF4-FFF2-40B4-BE49-F238E27FC236}">
                  <a16:creationId xmlns:a16="http://schemas.microsoft.com/office/drawing/2014/main" id="{D63B5644-ED09-9F4D-B160-866809F41DD7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04" name="矩形 103">
              <a:extLst>
                <a:ext uri="{FF2B5EF4-FFF2-40B4-BE49-F238E27FC236}">
                  <a16:creationId xmlns:a16="http://schemas.microsoft.com/office/drawing/2014/main" id="{99703D37-6934-AF46-933F-575E668070B1}"/>
                </a:ext>
              </a:extLst>
            </p:cNvPr>
            <p:cNvSpPr/>
            <p:nvPr/>
          </p:nvSpPr>
          <p:spPr>
            <a:xfrm>
              <a:off x="5580112" y="553244"/>
              <a:ext cx="648072" cy="1524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L1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sp>
        <p:nvSpPr>
          <p:cNvPr id="105" name="矩形 104">
            <a:extLst>
              <a:ext uri="{FF2B5EF4-FFF2-40B4-BE49-F238E27FC236}">
                <a16:creationId xmlns:a16="http://schemas.microsoft.com/office/drawing/2014/main" id="{A15D4458-4CF9-8C4B-869E-0A619FD2AACD}"/>
              </a:ext>
            </a:extLst>
          </p:cNvPr>
          <p:cNvSpPr/>
          <p:nvPr/>
        </p:nvSpPr>
        <p:spPr>
          <a:xfrm>
            <a:off x="4211960" y="2713484"/>
            <a:ext cx="576064" cy="216024"/>
          </a:xfrm>
          <a:prstGeom prst="rect">
            <a:avLst/>
          </a:prstGeom>
          <a:solidFill>
            <a:srgbClr val="BE38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>
            <a:noAutofit/>
          </a:bodyPr>
          <a:lstStyle/>
          <a:p>
            <a:pPr algn="ctr"/>
            <a:r>
              <a:rPr kumimoji="1" lang="en-US" altLang="zh-CN" sz="700" dirty="0">
                <a:solidFill>
                  <a:schemeClr val="bg1"/>
                </a:solidFill>
                <a:cs typeface="Times New Roman" panose="02020603050405020304" pitchFamily="18" charset="0"/>
              </a:rPr>
              <a:t>VTTBR0_EL2</a:t>
            </a:r>
            <a:endParaRPr kumimoji="1" lang="zh-CN" altLang="en-US" sz="7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E8F704CB-8669-A044-9E01-35DBD8DFDE92}"/>
              </a:ext>
            </a:extLst>
          </p:cNvPr>
          <p:cNvSpPr/>
          <p:nvPr/>
        </p:nvSpPr>
        <p:spPr>
          <a:xfrm>
            <a:off x="5004048" y="2349251"/>
            <a:ext cx="3168352" cy="14401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>
            <a:noAutofit/>
          </a:bodyPr>
          <a:lstStyle/>
          <a:p>
            <a:pPr algn="ctr"/>
            <a:r>
              <a:rPr kumimoji="1" lang="en-US" altLang="zh-CN" sz="700" dirty="0">
                <a:solidFill>
                  <a:schemeClr val="bg1"/>
                </a:solidFill>
                <a:cs typeface="Times New Roman" panose="02020603050405020304" pitchFamily="18" charset="0"/>
              </a:rPr>
              <a:t>L2</a:t>
            </a:r>
            <a:r>
              <a: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rPr>
              <a:t>页表页</a:t>
            </a:r>
            <a:r>
              <a:rPr kumimoji="1" lang="en-US" altLang="zh-CN" sz="700" dirty="0">
                <a:solidFill>
                  <a:schemeClr val="bg1"/>
                </a:solidFill>
                <a:cs typeface="Times New Roman" panose="02020603050405020304" pitchFamily="18" charset="0"/>
              </a:rPr>
              <a:t>GPA</a:t>
            </a:r>
            <a:endParaRPr kumimoji="1" lang="zh-CN" altLang="en-US" sz="7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cxnSp>
        <p:nvCxnSpPr>
          <p:cNvPr id="107" name="直线箭头连接符 106">
            <a:extLst>
              <a:ext uri="{FF2B5EF4-FFF2-40B4-BE49-F238E27FC236}">
                <a16:creationId xmlns:a16="http://schemas.microsoft.com/office/drawing/2014/main" id="{0B000466-29DD-7A4F-BB8F-C961B20C5A81}"/>
              </a:ext>
            </a:extLst>
          </p:cNvPr>
          <p:cNvCxnSpPr>
            <a:cxnSpLocks/>
            <a:stCxn id="103" idx="3"/>
            <a:endCxn id="106" idx="1"/>
          </p:cNvCxnSpPr>
          <p:nvPr/>
        </p:nvCxnSpPr>
        <p:spPr>
          <a:xfrm flipV="1">
            <a:off x="4715959" y="2421259"/>
            <a:ext cx="288089" cy="4193"/>
          </a:xfrm>
          <a:prstGeom prst="straightConnector1">
            <a:avLst/>
          </a:prstGeom>
          <a:ln>
            <a:solidFill>
              <a:schemeClr val="tx1"/>
            </a:solidFill>
            <a:headEnd w="sm" len="lg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8" name="组合 107">
            <a:extLst>
              <a:ext uri="{FF2B5EF4-FFF2-40B4-BE49-F238E27FC236}">
                <a16:creationId xmlns:a16="http://schemas.microsoft.com/office/drawing/2014/main" id="{1913362F-FB36-344D-BBCC-1619ABB29D2B}"/>
              </a:ext>
            </a:extLst>
          </p:cNvPr>
          <p:cNvGrpSpPr/>
          <p:nvPr/>
        </p:nvGrpSpPr>
        <p:grpSpPr>
          <a:xfrm>
            <a:off x="5292080" y="2637283"/>
            <a:ext cx="503999" cy="432048"/>
            <a:chOff x="5580112" y="409228"/>
            <a:chExt cx="648072" cy="432048"/>
          </a:xfrm>
        </p:grpSpPr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FA7062B0-47E1-DF43-B534-AC9EB344FD26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10" name="矩形 109">
              <a:extLst>
                <a:ext uri="{FF2B5EF4-FFF2-40B4-BE49-F238E27FC236}">
                  <a16:creationId xmlns:a16="http://schemas.microsoft.com/office/drawing/2014/main" id="{F7B4B465-E0C4-1D41-B2FA-26FE08955C23}"/>
                </a:ext>
              </a:extLst>
            </p:cNvPr>
            <p:cNvSpPr/>
            <p:nvPr/>
          </p:nvSpPr>
          <p:spPr>
            <a:xfrm>
              <a:off x="5580112" y="625252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L0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E597CFE6-FED6-5940-8A5F-B31B53468341}"/>
              </a:ext>
            </a:extLst>
          </p:cNvPr>
          <p:cNvGrpSpPr/>
          <p:nvPr/>
        </p:nvGrpSpPr>
        <p:grpSpPr>
          <a:xfrm>
            <a:off x="6084168" y="2637283"/>
            <a:ext cx="503999" cy="432048"/>
            <a:chOff x="5580112" y="409228"/>
            <a:chExt cx="648072" cy="432048"/>
          </a:xfrm>
        </p:grpSpPr>
        <p:sp>
          <p:nvSpPr>
            <p:cNvPr id="112" name="矩形 111">
              <a:extLst>
                <a:ext uri="{FF2B5EF4-FFF2-40B4-BE49-F238E27FC236}">
                  <a16:creationId xmlns:a16="http://schemas.microsoft.com/office/drawing/2014/main" id="{218C1F49-3E7C-E545-92F9-C15E33DBDDF0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13" name="矩形 112">
              <a:extLst>
                <a:ext uri="{FF2B5EF4-FFF2-40B4-BE49-F238E27FC236}">
                  <a16:creationId xmlns:a16="http://schemas.microsoft.com/office/drawing/2014/main" id="{F4038DAA-F7C7-7441-B0A8-3B6539552FF4}"/>
                </a:ext>
              </a:extLst>
            </p:cNvPr>
            <p:cNvSpPr/>
            <p:nvPr/>
          </p:nvSpPr>
          <p:spPr>
            <a:xfrm>
              <a:off x="5580112" y="481236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L1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grpSp>
        <p:nvGrpSpPr>
          <p:cNvPr id="114" name="组合 113">
            <a:extLst>
              <a:ext uri="{FF2B5EF4-FFF2-40B4-BE49-F238E27FC236}">
                <a16:creationId xmlns:a16="http://schemas.microsoft.com/office/drawing/2014/main" id="{874AF927-FD5A-DA42-BCBB-F3743B093339}"/>
              </a:ext>
            </a:extLst>
          </p:cNvPr>
          <p:cNvGrpSpPr/>
          <p:nvPr/>
        </p:nvGrpSpPr>
        <p:grpSpPr>
          <a:xfrm>
            <a:off x="6876256" y="2637283"/>
            <a:ext cx="503999" cy="432048"/>
            <a:chOff x="5580112" y="409228"/>
            <a:chExt cx="648072" cy="432048"/>
          </a:xfrm>
        </p:grpSpPr>
        <p:sp>
          <p:nvSpPr>
            <p:cNvPr id="115" name="矩形 114">
              <a:extLst>
                <a:ext uri="{FF2B5EF4-FFF2-40B4-BE49-F238E27FC236}">
                  <a16:creationId xmlns:a16="http://schemas.microsoft.com/office/drawing/2014/main" id="{4A7CC3DE-18E1-2245-997E-A5E090F19942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16" name="矩形 115">
              <a:extLst>
                <a:ext uri="{FF2B5EF4-FFF2-40B4-BE49-F238E27FC236}">
                  <a16:creationId xmlns:a16="http://schemas.microsoft.com/office/drawing/2014/main" id="{A999D4B7-4CFB-814A-BF0D-C6557CBEA3F6}"/>
                </a:ext>
              </a:extLst>
            </p:cNvPr>
            <p:cNvSpPr/>
            <p:nvPr/>
          </p:nvSpPr>
          <p:spPr>
            <a:xfrm>
              <a:off x="5580112" y="553244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L2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grpSp>
        <p:nvGrpSpPr>
          <p:cNvPr id="117" name="组合 116">
            <a:extLst>
              <a:ext uri="{FF2B5EF4-FFF2-40B4-BE49-F238E27FC236}">
                <a16:creationId xmlns:a16="http://schemas.microsoft.com/office/drawing/2014/main" id="{346453BE-9CD8-B944-9029-70D3FBCA3434}"/>
              </a:ext>
            </a:extLst>
          </p:cNvPr>
          <p:cNvGrpSpPr/>
          <p:nvPr/>
        </p:nvGrpSpPr>
        <p:grpSpPr>
          <a:xfrm>
            <a:off x="7668344" y="2637283"/>
            <a:ext cx="503999" cy="432048"/>
            <a:chOff x="5580112" y="409228"/>
            <a:chExt cx="648072" cy="432048"/>
          </a:xfrm>
        </p:grpSpPr>
        <p:sp>
          <p:nvSpPr>
            <p:cNvPr id="118" name="矩形 117">
              <a:extLst>
                <a:ext uri="{FF2B5EF4-FFF2-40B4-BE49-F238E27FC236}">
                  <a16:creationId xmlns:a16="http://schemas.microsoft.com/office/drawing/2014/main" id="{C9B96FDB-4A59-6B40-8A4B-8A97D06358E9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19" name="矩形 118">
              <a:extLst>
                <a:ext uri="{FF2B5EF4-FFF2-40B4-BE49-F238E27FC236}">
                  <a16:creationId xmlns:a16="http://schemas.microsoft.com/office/drawing/2014/main" id="{5F065175-EEAE-2848-98DD-C7C4F40428F7}"/>
                </a:ext>
              </a:extLst>
            </p:cNvPr>
            <p:cNvSpPr/>
            <p:nvPr/>
          </p:nvSpPr>
          <p:spPr>
            <a:xfrm>
              <a:off x="5580112" y="625252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L3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cxnSp>
        <p:nvCxnSpPr>
          <p:cNvPr id="120" name="肘形连接符 119">
            <a:extLst>
              <a:ext uri="{FF2B5EF4-FFF2-40B4-BE49-F238E27FC236}">
                <a16:creationId xmlns:a16="http://schemas.microsoft.com/office/drawing/2014/main" id="{C3D41355-BF3C-6045-8D4E-8FC1B9416D7E}"/>
              </a:ext>
            </a:extLst>
          </p:cNvPr>
          <p:cNvCxnSpPr>
            <a:cxnSpLocks/>
            <a:endCxn id="110" idx="1"/>
          </p:cNvCxnSpPr>
          <p:nvPr/>
        </p:nvCxnSpPr>
        <p:spPr>
          <a:xfrm rot="16200000" flipH="1">
            <a:off x="4965948" y="2603375"/>
            <a:ext cx="436240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肘形连接符 120">
            <a:extLst>
              <a:ext uri="{FF2B5EF4-FFF2-40B4-BE49-F238E27FC236}">
                <a16:creationId xmlns:a16="http://schemas.microsoft.com/office/drawing/2014/main" id="{457C9C9B-DF21-E642-AA4B-D02DC3106305}"/>
              </a:ext>
            </a:extLst>
          </p:cNvPr>
          <p:cNvCxnSpPr>
            <a:cxnSpLocks/>
            <a:endCxn id="113" idx="1"/>
          </p:cNvCxnSpPr>
          <p:nvPr/>
        </p:nvCxnSpPr>
        <p:spPr>
          <a:xfrm rot="16200000" flipH="1">
            <a:off x="5830044" y="2531367"/>
            <a:ext cx="292224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肘形连接符 121">
            <a:extLst>
              <a:ext uri="{FF2B5EF4-FFF2-40B4-BE49-F238E27FC236}">
                <a16:creationId xmlns:a16="http://schemas.microsoft.com/office/drawing/2014/main" id="{FB06C312-54EC-0F4F-B419-C201D0322A80}"/>
              </a:ext>
            </a:extLst>
          </p:cNvPr>
          <p:cNvCxnSpPr>
            <a:cxnSpLocks/>
            <a:endCxn id="116" idx="1"/>
          </p:cNvCxnSpPr>
          <p:nvPr/>
        </p:nvCxnSpPr>
        <p:spPr>
          <a:xfrm rot="16200000" flipH="1">
            <a:off x="6586128" y="2567371"/>
            <a:ext cx="364232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肘形连接符 122">
            <a:extLst>
              <a:ext uri="{FF2B5EF4-FFF2-40B4-BE49-F238E27FC236}">
                <a16:creationId xmlns:a16="http://schemas.microsoft.com/office/drawing/2014/main" id="{CE370C52-3458-1945-8947-E75A45CDD2FE}"/>
              </a:ext>
            </a:extLst>
          </p:cNvPr>
          <p:cNvCxnSpPr>
            <a:cxnSpLocks/>
            <a:endCxn id="119" idx="1"/>
          </p:cNvCxnSpPr>
          <p:nvPr/>
        </p:nvCxnSpPr>
        <p:spPr>
          <a:xfrm rot="16200000" flipH="1">
            <a:off x="7342212" y="2603375"/>
            <a:ext cx="436240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肘形连接符 123">
            <a:extLst>
              <a:ext uri="{FF2B5EF4-FFF2-40B4-BE49-F238E27FC236}">
                <a16:creationId xmlns:a16="http://schemas.microsoft.com/office/drawing/2014/main" id="{5CCD7560-A368-AA48-9EC0-49F05AD2AF24}"/>
              </a:ext>
            </a:extLst>
          </p:cNvPr>
          <p:cNvCxnSpPr>
            <a:cxnSpLocks/>
            <a:stCxn id="109" idx="3"/>
          </p:cNvCxnSpPr>
          <p:nvPr/>
        </p:nvCxnSpPr>
        <p:spPr>
          <a:xfrm flipV="1">
            <a:off x="5796079" y="2637283"/>
            <a:ext cx="288089" cy="288000"/>
          </a:xfrm>
          <a:prstGeom prst="bentConnector3">
            <a:avLst>
              <a:gd name="adj1" fmla="val 37877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肘形连接符 124">
            <a:extLst>
              <a:ext uri="{FF2B5EF4-FFF2-40B4-BE49-F238E27FC236}">
                <a16:creationId xmlns:a16="http://schemas.microsoft.com/office/drawing/2014/main" id="{1EDA5255-2AEF-C745-A3F6-CEC8B073B421}"/>
              </a:ext>
            </a:extLst>
          </p:cNvPr>
          <p:cNvCxnSpPr>
            <a:cxnSpLocks/>
          </p:cNvCxnSpPr>
          <p:nvPr/>
        </p:nvCxnSpPr>
        <p:spPr>
          <a:xfrm flipV="1">
            <a:off x="6588224" y="2637283"/>
            <a:ext cx="288032" cy="14398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肘形连接符 125">
            <a:extLst>
              <a:ext uri="{FF2B5EF4-FFF2-40B4-BE49-F238E27FC236}">
                <a16:creationId xmlns:a16="http://schemas.microsoft.com/office/drawing/2014/main" id="{89A3DC53-5B28-5541-B345-747E48B76C86}"/>
              </a:ext>
            </a:extLst>
          </p:cNvPr>
          <p:cNvCxnSpPr>
            <a:cxnSpLocks/>
          </p:cNvCxnSpPr>
          <p:nvPr/>
        </p:nvCxnSpPr>
        <p:spPr>
          <a:xfrm flipV="1">
            <a:off x="7380312" y="2637283"/>
            <a:ext cx="288032" cy="21599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肘形连接符 126">
            <a:extLst>
              <a:ext uri="{FF2B5EF4-FFF2-40B4-BE49-F238E27FC236}">
                <a16:creationId xmlns:a16="http://schemas.microsoft.com/office/drawing/2014/main" id="{D0A0E896-6B2B-544E-B204-158B6FC2A713}"/>
              </a:ext>
            </a:extLst>
          </p:cNvPr>
          <p:cNvCxnSpPr>
            <a:stCxn id="119" idx="3"/>
          </p:cNvCxnSpPr>
          <p:nvPr/>
        </p:nvCxnSpPr>
        <p:spPr>
          <a:xfrm flipH="1">
            <a:off x="4211960" y="2929508"/>
            <a:ext cx="3960383" cy="288000"/>
          </a:xfrm>
          <a:prstGeom prst="bentConnector5">
            <a:avLst>
              <a:gd name="adj1" fmla="val -5772"/>
              <a:gd name="adj2" fmla="val 72933"/>
              <a:gd name="adj3" fmla="val 105772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肘形连接符 127">
            <a:extLst>
              <a:ext uri="{FF2B5EF4-FFF2-40B4-BE49-F238E27FC236}">
                <a16:creationId xmlns:a16="http://schemas.microsoft.com/office/drawing/2014/main" id="{A5EA51CD-8850-3F4F-BCA2-00411BB17449}"/>
              </a:ext>
            </a:extLst>
          </p:cNvPr>
          <p:cNvCxnSpPr>
            <a:cxnSpLocks/>
          </p:cNvCxnSpPr>
          <p:nvPr/>
        </p:nvCxnSpPr>
        <p:spPr>
          <a:xfrm flipV="1">
            <a:off x="4788024" y="2641476"/>
            <a:ext cx="504056" cy="215992"/>
          </a:xfrm>
          <a:prstGeom prst="bentConnector3">
            <a:avLst>
              <a:gd name="adj1" fmla="val 19211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9" name="组合 128">
            <a:extLst>
              <a:ext uri="{FF2B5EF4-FFF2-40B4-BE49-F238E27FC236}">
                <a16:creationId xmlns:a16="http://schemas.microsoft.com/office/drawing/2014/main" id="{E698BCBD-8429-C74A-902F-DE80854F4F4B}"/>
              </a:ext>
            </a:extLst>
          </p:cNvPr>
          <p:cNvGrpSpPr/>
          <p:nvPr/>
        </p:nvGrpSpPr>
        <p:grpSpPr>
          <a:xfrm>
            <a:off x="4211960" y="3217540"/>
            <a:ext cx="503999" cy="432048"/>
            <a:chOff x="5580112" y="409228"/>
            <a:chExt cx="648072" cy="432048"/>
          </a:xfrm>
        </p:grpSpPr>
        <p:sp>
          <p:nvSpPr>
            <p:cNvPr id="130" name="矩形 129">
              <a:extLst>
                <a:ext uri="{FF2B5EF4-FFF2-40B4-BE49-F238E27FC236}">
                  <a16:creationId xmlns:a16="http://schemas.microsoft.com/office/drawing/2014/main" id="{ED09480E-19C9-0D4D-A999-105F40FBDD5A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31" name="矩形 130">
              <a:extLst>
                <a:ext uri="{FF2B5EF4-FFF2-40B4-BE49-F238E27FC236}">
                  <a16:creationId xmlns:a16="http://schemas.microsoft.com/office/drawing/2014/main" id="{36FB11A4-4328-964D-A9E2-30FEC1D1AA7A}"/>
                </a:ext>
              </a:extLst>
            </p:cNvPr>
            <p:cNvSpPr/>
            <p:nvPr/>
          </p:nvSpPr>
          <p:spPr>
            <a:xfrm>
              <a:off x="5580112" y="553244"/>
              <a:ext cx="648072" cy="1524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L2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sp>
        <p:nvSpPr>
          <p:cNvPr id="132" name="矩形 131">
            <a:extLst>
              <a:ext uri="{FF2B5EF4-FFF2-40B4-BE49-F238E27FC236}">
                <a16:creationId xmlns:a16="http://schemas.microsoft.com/office/drawing/2014/main" id="{BE82C75B-2239-C841-BB5A-42E7E234E4AA}"/>
              </a:ext>
            </a:extLst>
          </p:cNvPr>
          <p:cNvSpPr/>
          <p:nvPr/>
        </p:nvSpPr>
        <p:spPr>
          <a:xfrm>
            <a:off x="4211960" y="3721596"/>
            <a:ext cx="576064" cy="216024"/>
          </a:xfrm>
          <a:prstGeom prst="rect">
            <a:avLst/>
          </a:prstGeom>
          <a:solidFill>
            <a:srgbClr val="BE38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>
            <a:noAutofit/>
          </a:bodyPr>
          <a:lstStyle/>
          <a:p>
            <a:pPr algn="ctr"/>
            <a:r>
              <a:rPr kumimoji="1" lang="en-US" altLang="zh-CN" sz="700" dirty="0">
                <a:solidFill>
                  <a:schemeClr val="bg1"/>
                </a:solidFill>
                <a:cs typeface="Times New Roman" panose="02020603050405020304" pitchFamily="18" charset="0"/>
              </a:rPr>
              <a:t>VTTBR0_EL2</a:t>
            </a:r>
            <a:endParaRPr kumimoji="1" lang="zh-CN" altLang="en-US" sz="7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FBF57BF0-17A1-F949-BCD3-43F773607F98}"/>
              </a:ext>
            </a:extLst>
          </p:cNvPr>
          <p:cNvSpPr/>
          <p:nvPr/>
        </p:nvSpPr>
        <p:spPr>
          <a:xfrm>
            <a:off x="5004048" y="3357363"/>
            <a:ext cx="3168352" cy="14401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>
            <a:noAutofit/>
          </a:bodyPr>
          <a:lstStyle/>
          <a:p>
            <a:pPr algn="ctr"/>
            <a:r>
              <a:rPr kumimoji="1" lang="en-US" altLang="zh-CN" sz="700" dirty="0">
                <a:solidFill>
                  <a:schemeClr val="bg1"/>
                </a:solidFill>
                <a:cs typeface="Times New Roman" panose="02020603050405020304" pitchFamily="18" charset="0"/>
              </a:rPr>
              <a:t>L3</a:t>
            </a:r>
            <a:r>
              <a: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rPr>
              <a:t>页表页</a:t>
            </a:r>
            <a:r>
              <a:rPr kumimoji="1" lang="en-US" altLang="zh-CN" sz="700" dirty="0">
                <a:solidFill>
                  <a:schemeClr val="bg1"/>
                </a:solidFill>
                <a:cs typeface="Times New Roman" panose="02020603050405020304" pitchFamily="18" charset="0"/>
              </a:rPr>
              <a:t>GPA</a:t>
            </a:r>
            <a:endParaRPr kumimoji="1" lang="zh-CN" altLang="en-US" sz="7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cxnSp>
        <p:nvCxnSpPr>
          <p:cNvPr id="134" name="直线箭头连接符 133">
            <a:extLst>
              <a:ext uri="{FF2B5EF4-FFF2-40B4-BE49-F238E27FC236}">
                <a16:creationId xmlns:a16="http://schemas.microsoft.com/office/drawing/2014/main" id="{DD4A4E2C-CE54-1843-B8A9-8558A99E2824}"/>
              </a:ext>
            </a:extLst>
          </p:cNvPr>
          <p:cNvCxnSpPr>
            <a:cxnSpLocks/>
            <a:stCxn id="130" idx="3"/>
            <a:endCxn id="133" idx="1"/>
          </p:cNvCxnSpPr>
          <p:nvPr/>
        </p:nvCxnSpPr>
        <p:spPr>
          <a:xfrm flipV="1">
            <a:off x="4715959" y="3429371"/>
            <a:ext cx="288089" cy="4193"/>
          </a:xfrm>
          <a:prstGeom prst="straightConnector1">
            <a:avLst/>
          </a:prstGeom>
          <a:ln>
            <a:solidFill>
              <a:schemeClr val="tx1"/>
            </a:solidFill>
            <a:headEnd w="sm" len="lg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5" name="组合 134">
            <a:extLst>
              <a:ext uri="{FF2B5EF4-FFF2-40B4-BE49-F238E27FC236}">
                <a16:creationId xmlns:a16="http://schemas.microsoft.com/office/drawing/2014/main" id="{E4A232DA-A9A5-8148-8B67-7CA2577D7180}"/>
              </a:ext>
            </a:extLst>
          </p:cNvPr>
          <p:cNvGrpSpPr/>
          <p:nvPr/>
        </p:nvGrpSpPr>
        <p:grpSpPr>
          <a:xfrm>
            <a:off x="5292080" y="3645395"/>
            <a:ext cx="503999" cy="432048"/>
            <a:chOff x="5580112" y="409228"/>
            <a:chExt cx="648072" cy="432048"/>
          </a:xfrm>
        </p:grpSpPr>
        <p:sp>
          <p:nvSpPr>
            <p:cNvPr id="136" name="矩形 135">
              <a:extLst>
                <a:ext uri="{FF2B5EF4-FFF2-40B4-BE49-F238E27FC236}">
                  <a16:creationId xmlns:a16="http://schemas.microsoft.com/office/drawing/2014/main" id="{DDF21E66-9CB5-8A45-BDF1-CBF46628F8B4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37" name="矩形 136">
              <a:extLst>
                <a:ext uri="{FF2B5EF4-FFF2-40B4-BE49-F238E27FC236}">
                  <a16:creationId xmlns:a16="http://schemas.microsoft.com/office/drawing/2014/main" id="{A67AB0C4-CE81-0F43-9D55-9A01F8F18959}"/>
                </a:ext>
              </a:extLst>
            </p:cNvPr>
            <p:cNvSpPr/>
            <p:nvPr/>
          </p:nvSpPr>
          <p:spPr>
            <a:xfrm>
              <a:off x="5580112" y="625252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L0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grpSp>
        <p:nvGrpSpPr>
          <p:cNvPr id="138" name="组合 137">
            <a:extLst>
              <a:ext uri="{FF2B5EF4-FFF2-40B4-BE49-F238E27FC236}">
                <a16:creationId xmlns:a16="http://schemas.microsoft.com/office/drawing/2014/main" id="{9E64945B-17EA-FA4A-8634-BD4EF0239DAD}"/>
              </a:ext>
            </a:extLst>
          </p:cNvPr>
          <p:cNvGrpSpPr/>
          <p:nvPr/>
        </p:nvGrpSpPr>
        <p:grpSpPr>
          <a:xfrm>
            <a:off x="6084168" y="3645395"/>
            <a:ext cx="503999" cy="432048"/>
            <a:chOff x="5580112" y="409228"/>
            <a:chExt cx="648072" cy="432048"/>
          </a:xfrm>
        </p:grpSpPr>
        <p:sp>
          <p:nvSpPr>
            <p:cNvPr id="139" name="矩形 138">
              <a:extLst>
                <a:ext uri="{FF2B5EF4-FFF2-40B4-BE49-F238E27FC236}">
                  <a16:creationId xmlns:a16="http://schemas.microsoft.com/office/drawing/2014/main" id="{CBB5A2C9-39A9-6C48-9E54-A6A17A62A707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40" name="矩形 139">
              <a:extLst>
                <a:ext uri="{FF2B5EF4-FFF2-40B4-BE49-F238E27FC236}">
                  <a16:creationId xmlns:a16="http://schemas.microsoft.com/office/drawing/2014/main" id="{DAB2A1A5-AB67-0B4F-9144-BDCBC81ECC53}"/>
                </a:ext>
              </a:extLst>
            </p:cNvPr>
            <p:cNvSpPr/>
            <p:nvPr/>
          </p:nvSpPr>
          <p:spPr>
            <a:xfrm>
              <a:off x="5580112" y="481236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L1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grpSp>
        <p:nvGrpSpPr>
          <p:cNvPr id="141" name="组合 140">
            <a:extLst>
              <a:ext uri="{FF2B5EF4-FFF2-40B4-BE49-F238E27FC236}">
                <a16:creationId xmlns:a16="http://schemas.microsoft.com/office/drawing/2014/main" id="{734FC5F7-5BB3-2846-9719-433A54748DDE}"/>
              </a:ext>
            </a:extLst>
          </p:cNvPr>
          <p:cNvGrpSpPr/>
          <p:nvPr/>
        </p:nvGrpSpPr>
        <p:grpSpPr>
          <a:xfrm>
            <a:off x="6876256" y="3645395"/>
            <a:ext cx="503999" cy="432048"/>
            <a:chOff x="5580112" y="409228"/>
            <a:chExt cx="648072" cy="432048"/>
          </a:xfrm>
        </p:grpSpPr>
        <p:sp>
          <p:nvSpPr>
            <p:cNvPr id="142" name="矩形 141">
              <a:extLst>
                <a:ext uri="{FF2B5EF4-FFF2-40B4-BE49-F238E27FC236}">
                  <a16:creationId xmlns:a16="http://schemas.microsoft.com/office/drawing/2014/main" id="{74490E8C-B29F-2043-A4CE-7341CE692EE8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43" name="矩形 142">
              <a:extLst>
                <a:ext uri="{FF2B5EF4-FFF2-40B4-BE49-F238E27FC236}">
                  <a16:creationId xmlns:a16="http://schemas.microsoft.com/office/drawing/2014/main" id="{20F60CDF-8F5B-3345-960B-C64C85B54764}"/>
                </a:ext>
              </a:extLst>
            </p:cNvPr>
            <p:cNvSpPr/>
            <p:nvPr/>
          </p:nvSpPr>
          <p:spPr>
            <a:xfrm>
              <a:off x="5580112" y="553244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L2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4426A1B2-BEBE-8340-8756-967B8C9C0A1A}"/>
              </a:ext>
            </a:extLst>
          </p:cNvPr>
          <p:cNvGrpSpPr/>
          <p:nvPr/>
        </p:nvGrpSpPr>
        <p:grpSpPr>
          <a:xfrm>
            <a:off x="7668344" y="3645395"/>
            <a:ext cx="503999" cy="432048"/>
            <a:chOff x="5580112" y="409228"/>
            <a:chExt cx="648072" cy="432048"/>
          </a:xfrm>
        </p:grpSpPr>
        <p:sp>
          <p:nvSpPr>
            <p:cNvPr id="145" name="矩形 144">
              <a:extLst>
                <a:ext uri="{FF2B5EF4-FFF2-40B4-BE49-F238E27FC236}">
                  <a16:creationId xmlns:a16="http://schemas.microsoft.com/office/drawing/2014/main" id="{24344AA8-7547-F645-80CA-E1F41E2C9CE5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46" name="矩形 145">
              <a:extLst>
                <a:ext uri="{FF2B5EF4-FFF2-40B4-BE49-F238E27FC236}">
                  <a16:creationId xmlns:a16="http://schemas.microsoft.com/office/drawing/2014/main" id="{7085CA1B-EB43-FB4B-B466-0CA6DBE0FEE8}"/>
                </a:ext>
              </a:extLst>
            </p:cNvPr>
            <p:cNvSpPr/>
            <p:nvPr/>
          </p:nvSpPr>
          <p:spPr>
            <a:xfrm>
              <a:off x="5580112" y="625252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L3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cxnSp>
        <p:nvCxnSpPr>
          <p:cNvPr id="147" name="肘形连接符 146">
            <a:extLst>
              <a:ext uri="{FF2B5EF4-FFF2-40B4-BE49-F238E27FC236}">
                <a16:creationId xmlns:a16="http://schemas.microsoft.com/office/drawing/2014/main" id="{F7D31755-4DB0-2E45-AA73-B49C992FE287}"/>
              </a:ext>
            </a:extLst>
          </p:cNvPr>
          <p:cNvCxnSpPr>
            <a:cxnSpLocks/>
            <a:endCxn id="137" idx="1"/>
          </p:cNvCxnSpPr>
          <p:nvPr/>
        </p:nvCxnSpPr>
        <p:spPr>
          <a:xfrm rot="16200000" flipH="1">
            <a:off x="4965948" y="3611487"/>
            <a:ext cx="436240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肘形连接符 147">
            <a:extLst>
              <a:ext uri="{FF2B5EF4-FFF2-40B4-BE49-F238E27FC236}">
                <a16:creationId xmlns:a16="http://schemas.microsoft.com/office/drawing/2014/main" id="{83245416-6CED-0B44-8512-DF5FC94DB929}"/>
              </a:ext>
            </a:extLst>
          </p:cNvPr>
          <p:cNvCxnSpPr>
            <a:cxnSpLocks/>
            <a:endCxn id="140" idx="1"/>
          </p:cNvCxnSpPr>
          <p:nvPr/>
        </p:nvCxnSpPr>
        <p:spPr>
          <a:xfrm rot="16200000" flipH="1">
            <a:off x="5830044" y="3539479"/>
            <a:ext cx="292224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肘形连接符 148">
            <a:extLst>
              <a:ext uri="{FF2B5EF4-FFF2-40B4-BE49-F238E27FC236}">
                <a16:creationId xmlns:a16="http://schemas.microsoft.com/office/drawing/2014/main" id="{B161E253-50E7-3D45-B3AE-C08E7D4E9B4C}"/>
              </a:ext>
            </a:extLst>
          </p:cNvPr>
          <p:cNvCxnSpPr>
            <a:cxnSpLocks/>
            <a:endCxn id="143" idx="1"/>
          </p:cNvCxnSpPr>
          <p:nvPr/>
        </p:nvCxnSpPr>
        <p:spPr>
          <a:xfrm rot="16200000" flipH="1">
            <a:off x="6586128" y="3575483"/>
            <a:ext cx="364232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肘形连接符 149">
            <a:extLst>
              <a:ext uri="{FF2B5EF4-FFF2-40B4-BE49-F238E27FC236}">
                <a16:creationId xmlns:a16="http://schemas.microsoft.com/office/drawing/2014/main" id="{DC2BFEB8-29CC-0D43-9210-2D9F5B7F18D1}"/>
              </a:ext>
            </a:extLst>
          </p:cNvPr>
          <p:cNvCxnSpPr>
            <a:cxnSpLocks/>
            <a:endCxn id="146" idx="1"/>
          </p:cNvCxnSpPr>
          <p:nvPr/>
        </p:nvCxnSpPr>
        <p:spPr>
          <a:xfrm rot="16200000" flipH="1">
            <a:off x="7342212" y="3611487"/>
            <a:ext cx="436240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肘形连接符 150">
            <a:extLst>
              <a:ext uri="{FF2B5EF4-FFF2-40B4-BE49-F238E27FC236}">
                <a16:creationId xmlns:a16="http://schemas.microsoft.com/office/drawing/2014/main" id="{20F276FB-5371-454D-B48A-58F2DBBAAFD1}"/>
              </a:ext>
            </a:extLst>
          </p:cNvPr>
          <p:cNvCxnSpPr>
            <a:cxnSpLocks/>
            <a:stCxn id="136" idx="3"/>
          </p:cNvCxnSpPr>
          <p:nvPr/>
        </p:nvCxnSpPr>
        <p:spPr>
          <a:xfrm flipV="1">
            <a:off x="5796079" y="3645395"/>
            <a:ext cx="288089" cy="288000"/>
          </a:xfrm>
          <a:prstGeom prst="bentConnector3">
            <a:avLst>
              <a:gd name="adj1" fmla="val 37877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肘形连接符 151">
            <a:extLst>
              <a:ext uri="{FF2B5EF4-FFF2-40B4-BE49-F238E27FC236}">
                <a16:creationId xmlns:a16="http://schemas.microsoft.com/office/drawing/2014/main" id="{C497133D-147B-A746-9BD1-1CD6A05423B5}"/>
              </a:ext>
            </a:extLst>
          </p:cNvPr>
          <p:cNvCxnSpPr>
            <a:cxnSpLocks/>
          </p:cNvCxnSpPr>
          <p:nvPr/>
        </p:nvCxnSpPr>
        <p:spPr>
          <a:xfrm flipV="1">
            <a:off x="6588224" y="3645395"/>
            <a:ext cx="288032" cy="14398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肘形连接符 152">
            <a:extLst>
              <a:ext uri="{FF2B5EF4-FFF2-40B4-BE49-F238E27FC236}">
                <a16:creationId xmlns:a16="http://schemas.microsoft.com/office/drawing/2014/main" id="{12C1C0A1-84EA-1643-AD58-35EEBCF5067F}"/>
              </a:ext>
            </a:extLst>
          </p:cNvPr>
          <p:cNvCxnSpPr>
            <a:cxnSpLocks/>
          </p:cNvCxnSpPr>
          <p:nvPr/>
        </p:nvCxnSpPr>
        <p:spPr>
          <a:xfrm flipV="1">
            <a:off x="7380312" y="3645395"/>
            <a:ext cx="288032" cy="21599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肘形连接符 153">
            <a:extLst>
              <a:ext uri="{FF2B5EF4-FFF2-40B4-BE49-F238E27FC236}">
                <a16:creationId xmlns:a16="http://schemas.microsoft.com/office/drawing/2014/main" id="{07E659C3-906F-1448-A854-F140CEBF1970}"/>
              </a:ext>
            </a:extLst>
          </p:cNvPr>
          <p:cNvCxnSpPr>
            <a:stCxn id="146" idx="3"/>
          </p:cNvCxnSpPr>
          <p:nvPr/>
        </p:nvCxnSpPr>
        <p:spPr>
          <a:xfrm flipH="1">
            <a:off x="4211960" y="3937620"/>
            <a:ext cx="3960383" cy="288000"/>
          </a:xfrm>
          <a:prstGeom prst="bentConnector5">
            <a:avLst>
              <a:gd name="adj1" fmla="val -5772"/>
              <a:gd name="adj2" fmla="val 72933"/>
              <a:gd name="adj3" fmla="val 105772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肘形连接符 154">
            <a:extLst>
              <a:ext uri="{FF2B5EF4-FFF2-40B4-BE49-F238E27FC236}">
                <a16:creationId xmlns:a16="http://schemas.microsoft.com/office/drawing/2014/main" id="{B2394541-6375-1A44-A2A2-31EF13631CCE}"/>
              </a:ext>
            </a:extLst>
          </p:cNvPr>
          <p:cNvCxnSpPr>
            <a:cxnSpLocks/>
          </p:cNvCxnSpPr>
          <p:nvPr/>
        </p:nvCxnSpPr>
        <p:spPr>
          <a:xfrm flipV="1">
            <a:off x="4788024" y="3649588"/>
            <a:ext cx="504056" cy="215992"/>
          </a:xfrm>
          <a:prstGeom prst="bentConnector3">
            <a:avLst>
              <a:gd name="adj1" fmla="val 19211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6" name="组合 155">
            <a:extLst>
              <a:ext uri="{FF2B5EF4-FFF2-40B4-BE49-F238E27FC236}">
                <a16:creationId xmlns:a16="http://schemas.microsoft.com/office/drawing/2014/main" id="{38341CB9-D1CB-EE4E-9AB6-E2784127836A}"/>
              </a:ext>
            </a:extLst>
          </p:cNvPr>
          <p:cNvGrpSpPr/>
          <p:nvPr/>
        </p:nvGrpSpPr>
        <p:grpSpPr>
          <a:xfrm>
            <a:off x="4211960" y="4225652"/>
            <a:ext cx="503999" cy="432048"/>
            <a:chOff x="5580112" y="409228"/>
            <a:chExt cx="648072" cy="432048"/>
          </a:xfrm>
        </p:grpSpPr>
        <p:sp>
          <p:nvSpPr>
            <p:cNvPr id="157" name="矩形 156">
              <a:extLst>
                <a:ext uri="{FF2B5EF4-FFF2-40B4-BE49-F238E27FC236}">
                  <a16:creationId xmlns:a16="http://schemas.microsoft.com/office/drawing/2014/main" id="{8BFD436F-6125-FB45-BB5F-F90D57E192B9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58" name="矩形 157">
              <a:extLst>
                <a:ext uri="{FF2B5EF4-FFF2-40B4-BE49-F238E27FC236}">
                  <a16:creationId xmlns:a16="http://schemas.microsoft.com/office/drawing/2014/main" id="{04D69E17-A97C-884B-A33D-D9D77125D914}"/>
                </a:ext>
              </a:extLst>
            </p:cNvPr>
            <p:cNvSpPr/>
            <p:nvPr/>
          </p:nvSpPr>
          <p:spPr>
            <a:xfrm>
              <a:off x="5580112" y="553244"/>
              <a:ext cx="648072" cy="1524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L3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sp>
        <p:nvSpPr>
          <p:cNvPr id="159" name="矩形 158">
            <a:extLst>
              <a:ext uri="{FF2B5EF4-FFF2-40B4-BE49-F238E27FC236}">
                <a16:creationId xmlns:a16="http://schemas.microsoft.com/office/drawing/2014/main" id="{6A0E0AC5-EFBF-404E-8634-754C12F3ECA6}"/>
              </a:ext>
            </a:extLst>
          </p:cNvPr>
          <p:cNvSpPr/>
          <p:nvPr/>
        </p:nvSpPr>
        <p:spPr>
          <a:xfrm>
            <a:off x="4211960" y="4729708"/>
            <a:ext cx="576064" cy="216024"/>
          </a:xfrm>
          <a:prstGeom prst="rect">
            <a:avLst/>
          </a:prstGeom>
          <a:solidFill>
            <a:srgbClr val="BE38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>
            <a:noAutofit/>
          </a:bodyPr>
          <a:lstStyle/>
          <a:p>
            <a:pPr algn="ctr"/>
            <a:r>
              <a:rPr kumimoji="1" lang="en-US" altLang="zh-CN" sz="700" dirty="0">
                <a:solidFill>
                  <a:schemeClr val="bg1"/>
                </a:solidFill>
                <a:cs typeface="Times New Roman" panose="02020603050405020304" pitchFamily="18" charset="0"/>
              </a:rPr>
              <a:t>VTTBR0_EL2</a:t>
            </a:r>
            <a:endParaRPr kumimoji="1" lang="zh-CN" altLang="en-US" sz="7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F26DE898-6A43-BA4A-9DA7-B94B4415AEBE}"/>
              </a:ext>
            </a:extLst>
          </p:cNvPr>
          <p:cNvSpPr/>
          <p:nvPr/>
        </p:nvSpPr>
        <p:spPr>
          <a:xfrm>
            <a:off x="5004048" y="4365475"/>
            <a:ext cx="3168352" cy="14401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rtlCol="0" anchor="ctr">
            <a:noAutofit/>
          </a:bodyPr>
          <a:lstStyle/>
          <a:p>
            <a:pPr algn="ctr"/>
            <a:r>
              <a: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rPr>
              <a:t>数据页</a:t>
            </a:r>
            <a:r>
              <a:rPr kumimoji="1" lang="en-US" altLang="zh-CN" sz="700" dirty="0">
                <a:solidFill>
                  <a:schemeClr val="bg1"/>
                </a:solidFill>
                <a:cs typeface="Times New Roman" panose="02020603050405020304" pitchFamily="18" charset="0"/>
              </a:rPr>
              <a:t>GPA</a:t>
            </a:r>
            <a:endParaRPr kumimoji="1" lang="zh-CN" altLang="en-US" sz="7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cxnSp>
        <p:nvCxnSpPr>
          <p:cNvPr id="161" name="直线箭头连接符 160">
            <a:extLst>
              <a:ext uri="{FF2B5EF4-FFF2-40B4-BE49-F238E27FC236}">
                <a16:creationId xmlns:a16="http://schemas.microsoft.com/office/drawing/2014/main" id="{80274396-B4C8-4948-8A96-B897908B5388}"/>
              </a:ext>
            </a:extLst>
          </p:cNvPr>
          <p:cNvCxnSpPr>
            <a:cxnSpLocks/>
            <a:stCxn id="157" idx="3"/>
            <a:endCxn id="160" idx="1"/>
          </p:cNvCxnSpPr>
          <p:nvPr/>
        </p:nvCxnSpPr>
        <p:spPr>
          <a:xfrm flipV="1">
            <a:off x="4715959" y="4437483"/>
            <a:ext cx="288089" cy="4193"/>
          </a:xfrm>
          <a:prstGeom prst="straightConnector1">
            <a:avLst/>
          </a:prstGeom>
          <a:ln>
            <a:solidFill>
              <a:schemeClr val="tx1"/>
            </a:solidFill>
            <a:headEnd w="sm" len="lg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2" name="组合 161">
            <a:extLst>
              <a:ext uri="{FF2B5EF4-FFF2-40B4-BE49-F238E27FC236}">
                <a16:creationId xmlns:a16="http://schemas.microsoft.com/office/drawing/2014/main" id="{2E2EB646-7586-7F4A-9465-7A499C443A0D}"/>
              </a:ext>
            </a:extLst>
          </p:cNvPr>
          <p:cNvGrpSpPr/>
          <p:nvPr/>
        </p:nvGrpSpPr>
        <p:grpSpPr>
          <a:xfrm>
            <a:off x="5292080" y="4653507"/>
            <a:ext cx="503999" cy="432048"/>
            <a:chOff x="5580112" y="409228"/>
            <a:chExt cx="648072" cy="432048"/>
          </a:xfrm>
        </p:grpSpPr>
        <p:sp>
          <p:nvSpPr>
            <p:cNvPr id="163" name="矩形 162">
              <a:extLst>
                <a:ext uri="{FF2B5EF4-FFF2-40B4-BE49-F238E27FC236}">
                  <a16:creationId xmlns:a16="http://schemas.microsoft.com/office/drawing/2014/main" id="{0C7F45F2-BAE1-EF43-BE21-DCB1DF1EB622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64" name="矩形 163">
              <a:extLst>
                <a:ext uri="{FF2B5EF4-FFF2-40B4-BE49-F238E27FC236}">
                  <a16:creationId xmlns:a16="http://schemas.microsoft.com/office/drawing/2014/main" id="{4ADB499A-84B2-CF4F-A35B-2014DBB84F57}"/>
                </a:ext>
              </a:extLst>
            </p:cNvPr>
            <p:cNvSpPr/>
            <p:nvPr/>
          </p:nvSpPr>
          <p:spPr>
            <a:xfrm>
              <a:off x="5580112" y="625252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L0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grpSp>
        <p:nvGrpSpPr>
          <p:cNvPr id="165" name="组合 164">
            <a:extLst>
              <a:ext uri="{FF2B5EF4-FFF2-40B4-BE49-F238E27FC236}">
                <a16:creationId xmlns:a16="http://schemas.microsoft.com/office/drawing/2014/main" id="{BAC380F1-334E-2D42-BFE1-E004C84A5F19}"/>
              </a:ext>
            </a:extLst>
          </p:cNvPr>
          <p:cNvGrpSpPr/>
          <p:nvPr/>
        </p:nvGrpSpPr>
        <p:grpSpPr>
          <a:xfrm>
            <a:off x="6084168" y="4653507"/>
            <a:ext cx="503999" cy="432048"/>
            <a:chOff x="5580112" y="409228"/>
            <a:chExt cx="648072" cy="432048"/>
          </a:xfrm>
        </p:grpSpPr>
        <p:sp>
          <p:nvSpPr>
            <p:cNvPr id="166" name="矩形 165">
              <a:extLst>
                <a:ext uri="{FF2B5EF4-FFF2-40B4-BE49-F238E27FC236}">
                  <a16:creationId xmlns:a16="http://schemas.microsoft.com/office/drawing/2014/main" id="{10975294-7469-0141-9639-CD805BC8026F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67" name="矩形 166">
              <a:extLst>
                <a:ext uri="{FF2B5EF4-FFF2-40B4-BE49-F238E27FC236}">
                  <a16:creationId xmlns:a16="http://schemas.microsoft.com/office/drawing/2014/main" id="{70E41D0D-B414-9A46-9ADE-03046AB547BC}"/>
                </a:ext>
              </a:extLst>
            </p:cNvPr>
            <p:cNvSpPr/>
            <p:nvPr/>
          </p:nvSpPr>
          <p:spPr>
            <a:xfrm>
              <a:off x="5580112" y="481236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L1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grpSp>
        <p:nvGrpSpPr>
          <p:cNvPr id="168" name="组合 167">
            <a:extLst>
              <a:ext uri="{FF2B5EF4-FFF2-40B4-BE49-F238E27FC236}">
                <a16:creationId xmlns:a16="http://schemas.microsoft.com/office/drawing/2014/main" id="{06E93EB1-9E4C-9146-B54C-2CD745639A1E}"/>
              </a:ext>
            </a:extLst>
          </p:cNvPr>
          <p:cNvGrpSpPr/>
          <p:nvPr/>
        </p:nvGrpSpPr>
        <p:grpSpPr>
          <a:xfrm>
            <a:off x="6876256" y="4653507"/>
            <a:ext cx="503999" cy="432048"/>
            <a:chOff x="5580112" y="409228"/>
            <a:chExt cx="648072" cy="432048"/>
          </a:xfrm>
        </p:grpSpPr>
        <p:sp>
          <p:nvSpPr>
            <p:cNvPr id="169" name="矩形 168">
              <a:extLst>
                <a:ext uri="{FF2B5EF4-FFF2-40B4-BE49-F238E27FC236}">
                  <a16:creationId xmlns:a16="http://schemas.microsoft.com/office/drawing/2014/main" id="{1D5573BE-DE55-A444-A1B6-ED3DF474032A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70" name="矩形 169">
              <a:extLst>
                <a:ext uri="{FF2B5EF4-FFF2-40B4-BE49-F238E27FC236}">
                  <a16:creationId xmlns:a16="http://schemas.microsoft.com/office/drawing/2014/main" id="{C2E79947-591B-7742-A0D9-84D4336FC176}"/>
                </a:ext>
              </a:extLst>
            </p:cNvPr>
            <p:cNvSpPr/>
            <p:nvPr/>
          </p:nvSpPr>
          <p:spPr>
            <a:xfrm>
              <a:off x="5580112" y="553244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L2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grpSp>
        <p:nvGrpSpPr>
          <p:cNvPr id="171" name="组合 170">
            <a:extLst>
              <a:ext uri="{FF2B5EF4-FFF2-40B4-BE49-F238E27FC236}">
                <a16:creationId xmlns:a16="http://schemas.microsoft.com/office/drawing/2014/main" id="{302926A4-1AC2-A742-9D72-6292E298A646}"/>
              </a:ext>
            </a:extLst>
          </p:cNvPr>
          <p:cNvGrpSpPr/>
          <p:nvPr/>
        </p:nvGrpSpPr>
        <p:grpSpPr>
          <a:xfrm>
            <a:off x="7668344" y="4653507"/>
            <a:ext cx="503999" cy="432048"/>
            <a:chOff x="5580112" y="409228"/>
            <a:chExt cx="648072" cy="432048"/>
          </a:xfrm>
        </p:grpSpPr>
        <p:sp>
          <p:nvSpPr>
            <p:cNvPr id="172" name="矩形 171">
              <a:extLst>
                <a:ext uri="{FF2B5EF4-FFF2-40B4-BE49-F238E27FC236}">
                  <a16:creationId xmlns:a16="http://schemas.microsoft.com/office/drawing/2014/main" id="{03059BE9-469B-AC43-A8D8-6A06E2DC83E4}"/>
                </a:ext>
              </a:extLst>
            </p:cNvPr>
            <p:cNvSpPr/>
            <p:nvPr/>
          </p:nvSpPr>
          <p:spPr>
            <a:xfrm>
              <a:off x="5580112" y="409228"/>
              <a:ext cx="648072" cy="43204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VTTBR0_EL2</a:t>
              </a:r>
              <a:endParaRPr kumimoji="1" lang="zh-CN" altLang="en-US" sz="700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73" name="矩形 172">
              <a:extLst>
                <a:ext uri="{FF2B5EF4-FFF2-40B4-BE49-F238E27FC236}">
                  <a16:creationId xmlns:a16="http://schemas.microsoft.com/office/drawing/2014/main" id="{98091BBA-B622-9446-9BD1-55E4DEEECBD1}"/>
                </a:ext>
              </a:extLst>
            </p:cNvPr>
            <p:cNvSpPr/>
            <p:nvPr/>
          </p:nvSpPr>
          <p:spPr>
            <a:xfrm>
              <a:off x="5580112" y="625252"/>
              <a:ext cx="648072" cy="152400"/>
            </a:xfrm>
            <a:prstGeom prst="rect">
              <a:avLst/>
            </a:prstGeom>
            <a:solidFill>
              <a:srgbClr val="BE384B"/>
            </a:solidFill>
            <a:ln w="6350">
              <a:solidFill>
                <a:srgbClr val="BE38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0000" rtlCol="0" anchor="ctr">
              <a:noAutofit/>
            </a:bodyPr>
            <a:lstStyle/>
            <a:p>
              <a:pPr algn="ctr"/>
              <a:r>
                <a:rPr kumimoji="1" lang="en-US" altLang="zh-CN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L3</a:t>
              </a:r>
              <a:r>
                <a:rPr kumimoji="1" lang="zh-CN" altLang="en-US" sz="700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页表项</a:t>
              </a:r>
            </a:p>
          </p:txBody>
        </p:sp>
      </p:grpSp>
      <p:cxnSp>
        <p:nvCxnSpPr>
          <p:cNvPr id="174" name="肘形连接符 173">
            <a:extLst>
              <a:ext uri="{FF2B5EF4-FFF2-40B4-BE49-F238E27FC236}">
                <a16:creationId xmlns:a16="http://schemas.microsoft.com/office/drawing/2014/main" id="{24C47902-7E5E-9849-8D94-934DF4757EAD}"/>
              </a:ext>
            </a:extLst>
          </p:cNvPr>
          <p:cNvCxnSpPr>
            <a:cxnSpLocks/>
            <a:endCxn id="164" idx="1"/>
          </p:cNvCxnSpPr>
          <p:nvPr/>
        </p:nvCxnSpPr>
        <p:spPr>
          <a:xfrm rot="16200000" flipH="1">
            <a:off x="4965948" y="4619599"/>
            <a:ext cx="436240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肘形连接符 174">
            <a:extLst>
              <a:ext uri="{FF2B5EF4-FFF2-40B4-BE49-F238E27FC236}">
                <a16:creationId xmlns:a16="http://schemas.microsoft.com/office/drawing/2014/main" id="{8645E530-8822-1140-BFAF-66028C8940E6}"/>
              </a:ext>
            </a:extLst>
          </p:cNvPr>
          <p:cNvCxnSpPr>
            <a:cxnSpLocks/>
            <a:endCxn id="167" idx="1"/>
          </p:cNvCxnSpPr>
          <p:nvPr/>
        </p:nvCxnSpPr>
        <p:spPr>
          <a:xfrm rot="16200000" flipH="1">
            <a:off x="5830044" y="4547591"/>
            <a:ext cx="292224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肘形连接符 175">
            <a:extLst>
              <a:ext uri="{FF2B5EF4-FFF2-40B4-BE49-F238E27FC236}">
                <a16:creationId xmlns:a16="http://schemas.microsoft.com/office/drawing/2014/main" id="{38BFB85B-841D-6C49-AB03-ACE466560A10}"/>
              </a:ext>
            </a:extLst>
          </p:cNvPr>
          <p:cNvCxnSpPr>
            <a:cxnSpLocks/>
            <a:endCxn id="170" idx="1"/>
          </p:cNvCxnSpPr>
          <p:nvPr/>
        </p:nvCxnSpPr>
        <p:spPr>
          <a:xfrm rot="16200000" flipH="1">
            <a:off x="6586128" y="4583595"/>
            <a:ext cx="364232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肘形连接符 176">
            <a:extLst>
              <a:ext uri="{FF2B5EF4-FFF2-40B4-BE49-F238E27FC236}">
                <a16:creationId xmlns:a16="http://schemas.microsoft.com/office/drawing/2014/main" id="{6E4E20B5-A9E6-F24A-88A9-2D63E7620F43}"/>
              </a:ext>
            </a:extLst>
          </p:cNvPr>
          <p:cNvCxnSpPr>
            <a:cxnSpLocks/>
            <a:endCxn id="173" idx="1"/>
          </p:cNvCxnSpPr>
          <p:nvPr/>
        </p:nvCxnSpPr>
        <p:spPr>
          <a:xfrm rot="16200000" flipH="1">
            <a:off x="7342212" y="4619599"/>
            <a:ext cx="436240" cy="216024"/>
          </a:xfrm>
          <a:prstGeom prst="bentConnector2">
            <a:avLst/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肘形连接符 177">
            <a:extLst>
              <a:ext uri="{FF2B5EF4-FFF2-40B4-BE49-F238E27FC236}">
                <a16:creationId xmlns:a16="http://schemas.microsoft.com/office/drawing/2014/main" id="{3ACD8DBA-EB98-B44F-82E8-9EC3D793568F}"/>
              </a:ext>
            </a:extLst>
          </p:cNvPr>
          <p:cNvCxnSpPr>
            <a:cxnSpLocks/>
            <a:stCxn id="163" idx="3"/>
          </p:cNvCxnSpPr>
          <p:nvPr/>
        </p:nvCxnSpPr>
        <p:spPr>
          <a:xfrm flipV="1">
            <a:off x="5796079" y="4653507"/>
            <a:ext cx="288089" cy="288000"/>
          </a:xfrm>
          <a:prstGeom prst="bentConnector3">
            <a:avLst>
              <a:gd name="adj1" fmla="val 37877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肘形连接符 178">
            <a:extLst>
              <a:ext uri="{FF2B5EF4-FFF2-40B4-BE49-F238E27FC236}">
                <a16:creationId xmlns:a16="http://schemas.microsoft.com/office/drawing/2014/main" id="{F9F1B051-2EE4-A94C-8C64-D669EB52268A}"/>
              </a:ext>
            </a:extLst>
          </p:cNvPr>
          <p:cNvCxnSpPr>
            <a:cxnSpLocks/>
          </p:cNvCxnSpPr>
          <p:nvPr/>
        </p:nvCxnSpPr>
        <p:spPr>
          <a:xfrm flipV="1">
            <a:off x="6588224" y="4653507"/>
            <a:ext cx="288032" cy="14398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肘形连接符 179">
            <a:extLst>
              <a:ext uri="{FF2B5EF4-FFF2-40B4-BE49-F238E27FC236}">
                <a16:creationId xmlns:a16="http://schemas.microsoft.com/office/drawing/2014/main" id="{6CFC5AC6-ECAA-B84B-A7D5-A1A61F511746}"/>
              </a:ext>
            </a:extLst>
          </p:cNvPr>
          <p:cNvCxnSpPr>
            <a:cxnSpLocks/>
          </p:cNvCxnSpPr>
          <p:nvPr/>
        </p:nvCxnSpPr>
        <p:spPr>
          <a:xfrm flipV="1">
            <a:off x="7380312" y="4653507"/>
            <a:ext cx="288032" cy="21599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肘形连接符 181">
            <a:extLst>
              <a:ext uri="{FF2B5EF4-FFF2-40B4-BE49-F238E27FC236}">
                <a16:creationId xmlns:a16="http://schemas.microsoft.com/office/drawing/2014/main" id="{D2D70B21-48CE-B84A-8E56-899262CBA03C}"/>
              </a:ext>
            </a:extLst>
          </p:cNvPr>
          <p:cNvCxnSpPr>
            <a:cxnSpLocks/>
          </p:cNvCxnSpPr>
          <p:nvPr/>
        </p:nvCxnSpPr>
        <p:spPr>
          <a:xfrm flipV="1">
            <a:off x="4788024" y="4657700"/>
            <a:ext cx="504056" cy="215992"/>
          </a:xfrm>
          <a:prstGeom prst="bentConnector3">
            <a:avLst>
              <a:gd name="adj1" fmla="val 19211"/>
            </a:avLst>
          </a:prstGeom>
          <a:ln>
            <a:solidFill>
              <a:schemeClr val="tx1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矩形 182">
            <a:extLst>
              <a:ext uri="{FF2B5EF4-FFF2-40B4-BE49-F238E27FC236}">
                <a16:creationId xmlns:a16="http://schemas.microsoft.com/office/drawing/2014/main" id="{E8C3F35D-DB43-2C40-95FA-FAFA0A9E74EC}"/>
              </a:ext>
            </a:extLst>
          </p:cNvPr>
          <p:cNvSpPr/>
          <p:nvPr/>
        </p:nvSpPr>
        <p:spPr>
          <a:xfrm>
            <a:off x="3563888" y="625252"/>
            <a:ext cx="288032" cy="453650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GVA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84" name="矩形 183">
            <a:extLst>
              <a:ext uri="{FF2B5EF4-FFF2-40B4-BE49-F238E27FC236}">
                <a16:creationId xmlns:a16="http://schemas.microsoft.com/office/drawing/2014/main" id="{5B111A41-82B5-3E48-B260-BE2D30BB070D}"/>
              </a:ext>
            </a:extLst>
          </p:cNvPr>
          <p:cNvSpPr/>
          <p:nvPr/>
        </p:nvSpPr>
        <p:spPr>
          <a:xfrm>
            <a:off x="8567936" y="625252"/>
            <a:ext cx="288032" cy="4536504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HPA</a:t>
            </a:r>
            <a:endParaRPr kumimoji="1" lang="zh-CN" altLang="en-US" dirty="0"/>
          </a:p>
        </p:txBody>
      </p:sp>
      <p:cxnSp>
        <p:nvCxnSpPr>
          <p:cNvPr id="185" name="直线箭头连接符 184">
            <a:extLst>
              <a:ext uri="{FF2B5EF4-FFF2-40B4-BE49-F238E27FC236}">
                <a16:creationId xmlns:a16="http://schemas.microsoft.com/office/drawing/2014/main" id="{D0B9773E-8F56-0049-BCEC-871E93DB644D}"/>
              </a:ext>
            </a:extLst>
          </p:cNvPr>
          <p:cNvCxnSpPr>
            <a:cxnSpLocks/>
            <a:stCxn id="173" idx="3"/>
          </p:cNvCxnSpPr>
          <p:nvPr/>
        </p:nvCxnSpPr>
        <p:spPr>
          <a:xfrm>
            <a:off x="8172343" y="4945731"/>
            <a:ext cx="395593" cy="0"/>
          </a:xfrm>
          <a:prstGeom prst="straightConnector1">
            <a:avLst/>
          </a:prstGeom>
          <a:ln>
            <a:solidFill>
              <a:schemeClr val="tx1"/>
            </a:solidFill>
            <a:headEnd w="sm" len="lg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直线箭头连接符 187">
            <a:extLst>
              <a:ext uri="{FF2B5EF4-FFF2-40B4-BE49-F238E27FC236}">
                <a16:creationId xmlns:a16="http://schemas.microsoft.com/office/drawing/2014/main" id="{DF507471-2C7F-CF4E-9DB3-D0FE56A844C3}"/>
              </a:ext>
            </a:extLst>
          </p:cNvPr>
          <p:cNvCxnSpPr>
            <a:cxnSpLocks/>
          </p:cNvCxnSpPr>
          <p:nvPr/>
        </p:nvCxnSpPr>
        <p:spPr>
          <a:xfrm>
            <a:off x="3851920" y="1417340"/>
            <a:ext cx="395593" cy="0"/>
          </a:xfrm>
          <a:prstGeom prst="straightConnector1">
            <a:avLst/>
          </a:prstGeom>
          <a:ln>
            <a:solidFill>
              <a:schemeClr val="tx1"/>
            </a:solidFill>
            <a:headEnd w="sm" len="lg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直线箭头连接符 188">
            <a:extLst>
              <a:ext uri="{FF2B5EF4-FFF2-40B4-BE49-F238E27FC236}">
                <a16:creationId xmlns:a16="http://schemas.microsoft.com/office/drawing/2014/main" id="{D2BF518F-587D-D24C-9924-3D4F33095793}"/>
              </a:ext>
            </a:extLst>
          </p:cNvPr>
          <p:cNvCxnSpPr>
            <a:cxnSpLocks/>
          </p:cNvCxnSpPr>
          <p:nvPr/>
        </p:nvCxnSpPr>
        <p:spPr>
          <a:xfrm>
            <a:off x="3851920" y="2425452"/>
            <a:ext cx="395593" cy="0"/>
          </a:xfrm>
          <a:prstGeom prst="straightConnector1">
            <a:avLst/>
          </a:prstGeom>
          <a:ln>
            <a:solidFill>
              <a:schemeClr val="tx1"/>
            </a:solidFill>
            <a:headEnd w="sm" len="lg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线箭头连接符 189">
            <a:extLst>
              <a:ext uri="{FF2B5EF4-FFF2-40B4-BE49-F238E27FC236}">
                <a16:creationId xmlns:a16="http://schemas.microsoft.com/office/drawing/2014/main" id="{436DC736-9149-8A4E-BC14-2CC08BFAE040}"/>
              </a:ext>
            </a:extLst>
          </p:cNvPr>
          <p:cNvCxnSpPr>
            <a:cxnSpLocks/>
          </p:cNvCxnSpPr>
          <p:nvPr/>
        </p:nvCxnSpPr>
        <p:spPr>
          <a:xfrm>
            <a:off x="3851920" y="3433564"/>
            <a:ext cx="395593" cy="0"/>
          </a:xfrm>
          <a:prstGeom prst="straightConnector1">
            <a:avLst/>
          </a:prstGeom>
          <a:ln>
            <a:solidFill>
              <a:schemeClr val="tx1"/>
            </a:solidFill>
            <a:headEnd w="sm" len="lg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直线箭头连接符 190">
            <a:extLst>
              <a:ext uri="{FF2B5EF4-FFF2-40B4-BE49-F238E27FC236}">
                <a16:creationId xmlns:a16="http://schemas.microsoft.com/office/drawing/2014/main" id="{15A4EF0E-68C3-0044-832A-3FF9695E59E9}"/>
              </a:ext>
            </a:extLst>
          </p:cNvPr>
          <p:cNvCxnSpPr>
            <a:cxnSpLocks/>
          </p:cNvCxnSpPr>
          <p:nvPr/>
        </p:nvCxnSpPr>
        <p:spPr>
          <a:xfrm>
            <a:off x="3851920" y="4441676"/>
            <a:ext cx="395593" cy="0"/>
          </a:xfrm>
          <a:prstGeom prst="straightConnector1">
            <a:avLst/>
          </a:prstGeom>
          <a:ln>
            <a:solidFill>
              <a:schemeClr val="tx1"/>
            </a:solidFill>
            <a:headEnd w="sm" len="lg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文本框 191">
            <a:extLst>
              <a:ext uri="{FF2B5EF4-FFF2-40B4-BE49-F238E27FC236}">
                <a16:creationId xmlns:a16="http://schemas.microsoft.com/office/drawing/2014/main" id="{EE0BFC17-4D9C-BF4C-87FA-4D7DC39BF9EA}"/>
              </a:ext>
            </a:extLst>
          </p:cNvPr>
          <p:cNvSpPr txBox="1"/>
          <p:nvPr/>
        </p:nvSpPr>
        <p:spPr>
          <a:xfrm>
            <a:off x="8100392" y="769268"/>
            <a:ext cx="43204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dirty="0">
                <a:cs typeface="Times New Roman" panose="02020603050405020304" pitchFamily="18" charset="0"/>
              </a:rPr>
              <a:t>HPA</a:t>
            </a:r>
            <a:endParaRPr kumimoji="1" lang="zh-CN" altLang="en-US" sz="800" b="1" dirty="0">
              <a:cs typeface="Times New Roman" panose="02020603050405020304" pitchFamily="18" charset="0"/>
            </a:endParaRPr>
          </a:p>
        </p:txBody>
      </p:sp>
      <p:sp>
        <p:nvSpPr>
          <p:cNvPr id="193" name="文本框 192">
            <a:extLst>
              <a:ext uri="{FF2B5EF4-FFF2-40B4-BE49-F238E27FC236}">
                <a16:creationId xmlns:a16="http://schemas.microsoft.com/office/drawing/2014/main" id="{5DD79C28-EE45-924F-84C6-658BFCD4AD77}"/>
              </a:ext>
            </a:extLst>
          </p:cNvPr>
          <p:cNvSpPr txBox="1"/>
          <p:nvPr/>
        </p:nvSpPr>
        <p:spPr>
          <a:xfrm>
            <a:off x="8100392" y="1777380"/>
            <a:ext cx="43204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dirty="0">
                <a:cs typeface="Times New Roman" panose="02020603050405020304" pitchFamily="18" charset="0"/>
              </a:rPr>
              <a:t>HPA</a:t>
            </a:r>
            <a:endParaRPr kumimoji="1" lang="zh-CN" altLang="en-US" sz="800" b="1" dirty="0">
              <a:cs typeface="Times New Roman" panose="02020603050405020304" pitchFamily="18" charset="0"/>
            </a:endParaRPr>
          </a:p>
        </p:txBody>
      </p:sp>
      <p:sp>
        <p:nvSpPr>
          <p:cNvPr id="194" name="文本框 193">
            <a:extLst>
              <a:ext uri="{FF2B5EF4-FFF2-40B4-BE49-F238E27FC236}">
                <a16:creationId xmlns:a16="http://schemas.microsoft.com/office/drawing/2014/main" id="{230B8F70-2360-5D4D-8269-5BC956353A02}"/>
              </a:ext>
            </a:extLst>
          </p:cNvPr>
          <p:cNvSpPr txBox="1"/>
          <p:nvPr/>
        </p:nvSpPr>
        <p:spPr>
          <a:xfrm>
            <a:off x="8100392" y="2785492"/>
            <a:ext cx="43204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dirty="0">
                <a:cs typeface="Times New Roman" panose="02020603050405020304" pitchFamily="18" charset="0"/>
              </a:rPr>
              <a:t>HPA</a:t>
            </a:r>
            <a:endParaRPr kumimoji="1" lang="zh-CN" altLang="en-US" sz="800" b="1" dirty="0">
              <a:cs typeface="Times New Roman" panose="02020603050405020304" pitchFamily="18" charset="0"/>
            </a:endParaRPr>
          </a:p>
        </p:txBody>
      </p:sp>
      <p:sp>
        <p:nvSpPr>
          <p:cNvPr id="195" name="文本框 194">
            <a:extLst>
              <a:ext uri="{FF2B5EF4-FFF2-40B4-BE49-F238E27FC236}">
                <a16:creationId xmlns:a16="http://schemas.microsoft.com/office/drawing/2014/main" id="{8FEA0FE5-7311-D040-92B0-A2C67EDD084E}"/>
              </a:ext>
            </a:extLst>
          </p:cNvPr>
          <p:cNvSpPr txBox="1"/>
          <p:nvPr/>
        </p:nvSpPr>
        <p:spPr>
          <a:xfrm>
            <a:off x="8100392" y="3793604"/>
            <a:ext cx="43204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dirty="0">
                <a:cs typeface="Times New Roman" panose="02020603050405020304" pitchFamily="18" charset="0"/>
              </a:rPr>
              <a:t>HPA</a:t>
            </a:r>
            <a:endParaRPr kumimoji="1" lang="zh-CN" altLang="en-US" sz="800" b="1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8752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5" grpId="0" animBg="1"/>
      <p:bldP spid="72" grpId="0" animBg="1"/>
      <p:bldP spid="73" grpId="0" animBg="1"/>
      <p:bldP spid="105" grpId="0" animBg="1"/>
      <p:bldP spid="106" grpId="0" animBg="1"/>
      <p:bldP spid="132" grpId="0" animBg="1"/>
      <p:bldP spid="133" grpId="0" animBg="1"/>
      <p:bldP spid="159" grpId="0" animBg="1"/>
      <p:bldP spid="160" grpId="0" animBg="1"/>
      <p:bldP spid="184" grpId="0" animBg="1"/>
      <p:bldP spid="192" grpId="0"/>
      <p:bldP spid="193" grpId="0"/>
      <p:bldP spid="194" grpId="0"/>
      <p:bldP spid="19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B63EDD-EC1E-C149-B481-084EAB3D3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TLB</a:t>
            </a:r>
            <a:r>
              <a:rPr kumimoji="1" lang="zh-CN" altLang="en-US" dirty="0"/>
              <a:t>：缓存地址翻译结果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2B4507-14FD-AB45-9F17-D0C687C14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回顾：</a:t>
            </a:r>
            <a:r>
              <a:rPr kumimoji="1" lang="en-US" altLang="zh-CN" dirty="0"/>
              <a:t>TLB</a:t>
            </a:r>
            <a:r>
              <a:rPr kumimoji="1" lang="zh-CN" altLang="en-US" dirty="0"/>
              <a:t>不仅可以缓存第一阶段地址翻译结果</a:t>
            </a:r>
            <a:endParaRPr kumimoji="1" lang="en-US" altLang="zh-CN" dirty="0"/>
          </a:p>
          <a:p>
            <a:r>
              <a:rPr kumimoji="1" lang="en-US" altLang="zh-CN" dirty="0"/>
              <a:t>TLB</a:t>
            </a:r>
            <a:r>
              <a:rPr kumimoji="1" lang="zh-CN" altLang="en-US" dirty="0"/>
              <a:t>也可以第二阶段地址翻译后的结果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包括第一阶段的翻译结果</a:t>
            </a:r>
            <a:r>
              <a:rPr kumimoji="1" lang="en-US" altLang="zh-CN" dirty="0"/>
              <a:t>(GVA-&gt;GPA)</a:t>
            </a:r>
          </a:p>
          <a:p>
            <a:pPr lvl="1"/>
            <a:r>
              <a:rPr kumimoji="1" lang="zh-CN" altLang="en-US" dirty="0"/>
              <a:t>包括第二阶段的翻译结果</a:t>
            </a:r>
            <a:r>
              <a:rPr kumimoji="1" lang="en-US" altLang="zh-CN" dirty="0"/>
              <a:t>(GPA-&gt;HPA)</a:t>
            </a:r>
          </a:p>
          <a:p>
            <a:pPr lvl="1"/>
            <a:r>
              <a:rPr kumimoji="1" lang="zh-CN" altLang="en-US" dirty="0"/>
              <a:t>大大提升</a:t>
            </a:r>
            <a:r>
              <a:rPr kumimoji="1" lang="en-US" altLang="zh-CN" dirty="0"/>
              <a:t>GVA-&gt;HPA</a:t>
            </a:r>
            <a:r>
              <a:rPr kumimoji="1" lang="zh-CN" altLang="en-US" dirty="0"/>
              <a:t>的翻译性能：</a:t>
            </a:r>
            <a:r>
              <a:rPr kumimoji="1" lang="zh-CN" altLang="en-US" dirty="0">
                <a:solidFill>
                  <a:srgbClr val="BE384B"/>
                </a:solidFill>
              </a:rPr>
              <a:t>不需要</a:t>
            </a:r>
            <a:r>
              <a:rPr kumimoji="1" lang="en-US" altLang="zh-CN" dirty="0">
                <a:solidFill>
                  <a:srgbClr val="BE384B"/>
                </a:solidFill>
              </a:rPr>
              <a:t>24</a:t>
            </a:r>
            <a:r>
              <a:rPr kumimoji="1" lang="zh-CN" altLang="en-US" dirty="0">
                <a:solidFill>
                  <a:srgbClr val="BE384B"/>
                </a:solidFill>
              </a:rPr>
              <a:t>次内存访问</a:t>
            </a:r>
            <a:endParaRPr kumimoji="1" lang="en-US" altLang="zh-CN" dirty="0">
              <a:solidFill>
                <a:srgbClr val="BE384B"/>
              </a:solidFill>
            </a:endParaRPr>
          </a:p>
          <a:p>
            <a:r>
              <a:rPr kumimoji="1" lang="zh-CN" altLang="en-US" dirty="0"/>
              <a:t>切换</a:t>
            </a:r>
            <a:r>
              <a:rPr kumimoji="1" lang="en-US" altLang="zh-CN" dirty="0"/>
              <a:t>VTTBR_EL2</a:t>
            </a:r>
            <a:r>
              <a:rPr kumimoji="1" lang="zh-CN" altLang="en-US" dirty="0"/>
              <a:t>时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理论上应将前一个</a:t>
            </a:r>
            <a:r>
              <a:rPr kumimoji="1" lang="en-US" altLang="zh-CN" dirty="0"/>
              <a:t>VM</a:t>
            </a:r>
            <a:r>
              <a:rPr kumimoji="1" lang="zh-CN" altLang="en-US" dirty="0"/>
              <a:t>的</a:t>
            </a:r>
            <a:r>
              <a:rPr kumimoji="1" lang="en-US" altLang="zh-CN" dirty="0"/>
              <a:t>TLB</a:t>
            </a:r>
            <a:r>
              <a:rPr kumimoji="1" lang="zh-CN" altLang="en-US" dirty="0"/>
              <a:t>项全部刷掉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1201C48-0A26-3546-B99D-EA7674CEF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04C4E0-786E-B140-94CF-60282F844F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39603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9F05C5-8076-CB4C-A0A9-0EF93FC56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TLB</a:t>
            </a:r>
            <a:r>
              <a:rPr kumimoji="1" lang="zh-CN" altLang="en-US" dirty="0"/>
              <a:t>刷新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C9475E-86D1-BD4A-9134-3B75424FF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zh-CN" altLang="en-US" sz="2200" dirty="0"/>
              <a:t>刷</a:t>
            </a:r>
            <a:r>
              <a:rPr kumimoji="1" lang="en-US" altLang="zh-CN" sz="2200" dirty="0"/>
              <a:t>TLB</a:t>
            </a:r>
            <a:r>
              <a:rPr kumimoji="1" lang="zh-CN" altLang="en-US" sz="2200" dirty="0"/>
              <a:t>相关指令</a:t>
            </a:r>
            <a:endParaRPr kumimoji="1" lang="en-US" altLang="zh-CN" sz="2200" dirty="0"/>
          </a:p>
          <a:p>
            <a:pPr lvl="1"/>
            <a:r>
              <a:rPr kumimoji="1" lang="zh-CN" altLang="en-US" sz="1600" dirty="0"/>
              <a:t>清空全部</a:t>
            </a:r>
            <a:endParaRPr kumimoji="1" lang="en-US" altLang="zh-CN" sz="1600" dirty="0"/>
          </a:p>
          <a:p>
            <a:pPr lvl="2"/>
            <a:r>
              <a:rPr kumimoji="1" lang="en-US" altLang="zh-CN" sz="1600" dirty="0"/>
              <a:t>TLBI VMALLS12E1IS </a:t>
            </a:r>
          </a:p>
          <a:p>
            <a:pPr lvl="1"/>
            <a:r>
              <a:rPr kumimoji="1" lang="zh-CN" altLang="en-US" sz="1600" dirty="0"/>
              <a:t>清空指定</a:t>
            </a:r>
            <a:r>
              <a:rPr kumimoji="1" lang="en-US" altLang="zh-CN" sz="1600" dirty="0"/>
              <a:t>GVA</a:t>
            </a:r>
          </a:p>
          <a:p>
            <a:pPr lvl="2"/>
            <a:r>
              <a:rPr lang="en-US" altLang="zh-CN" sz="1600" dirty="0"/>
              <a:t>TLBI VAE1IS</a:t>
            </a:r>
          </a:p>
          <a:p>
            <a:pPr lvl="1"/>
            <a:r>
              <a:rPr kumimoji="1" lang="zh-CN" altLang="en-US" sz="1600" dirty="0"/>
              <a:t>清空指定</a:t>
            </a:r>
            <a:r>
              <a:rPr kumimoji="1" lang="en-US" altLang="zh-CN" sz="1600" dirty="0"/>
              <a:t>GPA</a:t>
            </a:r>
          </a:p>
          <a:p>
            <a:pPr lvl="2"/>
            <a:r>
              <a:rPr kumimoji="1" lang="en-US" altLang="zh-CN" sz="1600" dirty="0"/>
              <a:t>TLBI IPAS2E1IS </a:t>
            </a:r>
          </a:p>
          <a:p>
            <a:r>
              <a:rPr kumimoji="1" lang="en-US" altLang="zh-CN" dirty="0"/>
              <a:t>VMID</a:t>
            </a:r>
            <a:r>
              <a:rPr kumimoji="1" lang="zh-CN" altLang="en-US" dirty="0"/>
              <a:t> </a:t>
            </a:r>
            <a:r>
              <a:rPr kumimoji="1" lang="en-US" altLang="zh-CN" dirty="0"/>
              <a:t>(Virtual Machine </a:t>
            </a:r>
            <a:r>
              <a:rPr kumimoji="1" lang="en-US" altLang="zh-CN" dirty="0" err="1"/>
              <a:t>IDentifier</a:t>
            </a:r>
            <a:r>
              <a:rPr kumimoji="1" lang="en-US" altLang="zh-CN" dirty="0"/>
              <a:t>)</a:t>
            </a:r>
          </a:p>
          <a:p>
            <a:pPr lvl="1"/>
            <a:r>
              <a:rPr lang="en-US" altLang="zh-CN" sz="1600" dirty="0"/>
              <a:t>VMM</a:t>
            </a:r>
            <a:r>
              <a:rPr lang="zh-CN" altLang="en-US" sz="1600" dirty="0"/>
              <a:t>为不同进程分配</a:t>
            </a:r>
            <a:r>
              <a:rPr lang="en-US" altLang="zh-CN" sz="1600" dirty="0"/>
              <a:t>8/16</a:t>
            </a:r>
            <a:r>
              <a:rPr lang="zh-CN" altLang="en-US" sz="1600" dirty="0"/>
              <a:t> </a:t>
            </a:r>
            <a:r>
              <a:rPr lang="en-US" altLang="zh-CN" sz="1600" dirty="0"/>
              <a:t>VMID</a:t>
            </a:r>
            <a:r>
              <a:rPr lang="zh-CN" altLang="en-US" sz="1600" dirty="0"/>
              <a:t>，将</a:t>
            </a:r>
            <a:r>
              <a:rPr lang="en-US" altLang="zh-CN" sz="1600" dirty="0"/>
              <a:t>VMID</a:t>
            </a:r>
            <a:r>
              <a:rPr lang="zh-CN" altLang="en-US" sz="1600" dirty="0"/>
              <a:t>填写在</a:t>
            </a:r>
            <a:r>
              <a:rPr lang="en-US" altLang="zh-CN" sz="1600" dirty="0"/>
              <a:t>VTTBR_EL2</a:t>
            </a:r>
            <a:r>
              <a:rPr lang="zh-CN" altLang="en-US" sz="1600" dirty="0"/>
              <a:t>的高</a:t>
            </a:r>
            <a:r>
              <a:rPr lang="en-US" altLang="zh-CN" sz="1600" dirty="0"/>
              <a:t>8/16</a:t>
            </a:r>
            <a:r>
              <a:rPr lang="zh-CN" altLang="en-US" sz="1600" dirty="0"/>
              <a:t>位</a:t>
            </a:r>
            <a:endParaRPr lang="en-US" altLang="zh-CN" sz="1600" dirty="0"/>
          </a:p>
          <a:p>
            <a:pPr lvl="1"/>
            <a:r>
              <a:rPr lang="en-US" altLang="zh-CN" sz="1600" dirty="0"/>
              <a:t>VMID</a:t>
            </a:r>
            <a:r>
              <a:rPr lang="zh-CN" altLang="en-US" sz="1600" dirty="0"/>
              <a:t>位数由</a:t>
            </a:r>
            <a:r>
              <a:rPr lang="en-US" altLang="zh-CN" sz="1600" dirty="0"/>
              <a:t>VTCR_EL2</a:t>
            </a:r>
            <a:r>
              <a:rPr lang="zh-CN" altLang="en-US" sz="1600" dirty="0"/>
              <a:t>的第</a:t>
            </a:r>
            <a:r>
              <a:rPr lang="en-US" altLang="zh-CN" sz="1600" dirty="0"/>
              <a:t>19</a:t>
            </a:r>
            <a:r>
              <a:rPr lang="zh-CN" altLang="en-US" sz="1600" dirty="0"/>
              <a:t>位（</a:t>
            </a:r>
            <a:r>
              <a:rPr lang="en-US" altLang="zh-CN" sz="1600" dirty="0"/>
              <a:t>VS</a:t>
            </a:r>
            <a:r>
              <a:rPr lang="zh-CN" altLang="en-US" sz="1600" dirty="0"/>
              <a:t>位）决定</a:t>
            </a:r>
            <a:endParaRPr lang="en-US" altLang="zh-CN" sz="1600" dirty="0"/>
          </a:p>
          <a:p>
            <a:pPr lvl="1"/>
            <a:r>
              <a:rPr kumimoji="1" lang="zh-CN" altLang="en-US" sz="1600" dirty="0"/>
              <a:t>避免刷新上个</a:t>
            </a:r>
            <a:r>
              <a:rPr kumimoji="1" lang="en-US" altLang="zh-CN" sz="1600" dirty="0"/>
              <a:t>VM</a:t>
            </a:r>
            <a:r>
              <a:rPr kumimoji="1" lang="zh-CN" altLang="en-US" sz="1600" dirty="0"/>
              <a:t>的</a:t>
            </a:r>
            <a:r>
              <a:rPr kumimoji="1" lang="en-US" altLang="zh-CN" sz="1600" dirty="0"/>
              <a:t>TLB</a:t>
            </a:r>
          </a:p>
          <a:p>
            <a:endParaRPr kumimoji="1" lang="en-US" altLang="zh-CN" sz="2000" dirty="0"/>
          </a:p>
          <a:p>
            <a:pPr lvl="2"/>
            <a:endParaRPr kumimoji="1" lang="zh-CN" altLang="en-US" sz="1600" dirty="0"/>
          </a:p>
          <a:p>
            <a:pPr lvl="1"/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7483A1-3DE0-284A-9B38-FBAB2E6FE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B536FF-5903-E341-8BB0-3D5CE42BD3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155965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24F8D4-8711-6B43-BF91-40B457348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如何处理缺页异常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5BC811-725B-064B-A9CC-B30CB5CBD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两阶段翻译的缺页异常分开处理</a:t>
            </a:r>
            <a:endParaRPr kumimoji="1" lang="en-US" altLang="zh-CN" dirty="0"/>
          </a:p>
          <a:p>
            <a:r>
              <a:rPr kumimoji="1" lang="zh-CN" altLang="en-US" dirty="0"/>
              <a:t>第一阶段缺页异常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直接调用</a:t>
            </a:r>
            <a:r>
              <a:rPr kumimoji="1" lang="en-US" altLang="zh-CN" dirty="0"/>
              <a:t>VM</a:t>
            </a:r>
            <a:r>
              <a:rPr kumimoji="1" lang="zh-CN" altLang="en-US" dirty="0"/>
              <a:t>的</a:t>
            </a:r>
            <a:r>
              <a:rPr kumimoji="1" lang="en-US" altLang="zh-CN" dirty="0"/>
              <a:t>Page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fault</a:t>
            </a:r>
            <a:r>
              <a:rPr kumimoji="1" lang="zh-CN" altLang="en-US" dirty="0"/>
              <a:t> </a:t>
            </a:r>
            <a:r>
              <a:rPr kumimoji="1" lang="en-US" altLang="zh-CN" dirty="0"/>
              <a:t>handler</a:t>
            </a:r>
          </a:p>
          <a:p>
            <a:pPr lvl="1"/>
            <a:r>
              <a:rPr kumimoji="1" lang="zh-CN" altLang="en-US" dirty="0"/>
              <a:t>修改第一阶段页表</a:t>
            </a:r>
            <a:r>
              <a:rPr kumimoji="1" lang="zh-CN" altLang="en-US" b="1" dirty="0"/>
              <a:t>不会</a:t>
            </a:r>
            <a:r>
              <a:rPr kumimoji="1" lang="zh-CN" altLang="en-US" dirty="0"/>
              <a:t>引起任何虚拟机下陷</a:t>
            </a:r>
            <a:endParaRPr kumimoji="1" lang="en-US" altLang="zh-CN" dirty="0"/>
          </a:p>
          <a:p>
            <a:r>
              <a:rPr kumimoji="1" lang="zh-CN" altLang="en-US" dirty="0"/>
              <a:t>第二阶段缺页异常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虚拟机下陷，直接调用</a:t>
            </a:r>
            <a:r>
              <a:rPr kumimoji="1" lang="en-US" altLang="zh-CN" dirty="0"/>
              <a:t>VMM</a:t>
            </a:r>
            <a:r>
              <a:rPr kumimoji="1" lang="zh-CN" altLang="en-US" dirty="0"/>
              <a:t>的</a:t>
            </a:r>
            <a:r>
              <a:rPr kumimoji="1" lang="en-US" altLang="zh-CN" dirty="0"/>
              <a:t>Page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fault</a:t>
            </a:r>
            <a:r>
              <a:rPr kumimoji="1" lang="zh-CN" altLang="en-US" dirty="0"/>
              <a:t> </a:t>
            </a:r>
            <a:r>
              <a:rPr kumimoji="1" lang="en-US" altLang="zh-CN" dirty="0"/>
              <a:t>handler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21C75E-2103-2A41-870F-2B2CA44CE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5FD3F8-82EF-6E42-8180-29008FFA15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464600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C4E4BE-10A2-3D45-8612-52EC9C342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第二阶段页表的优缺点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9D1032-3FBE-9A42-AD7F-0BCF5E893F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优点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VMM</a:t>
            </a:r>
            <a:r>
              <a:rPr kumimoji="1" lang="zh-CN" altLang="en-US" dirty="0"/>
              <a:t>实现简单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不需要捕捉</a:t>
            </a:r>
            <a:r>
              <a:rPr kumimoji="1" lang="en-US" altLang="zh-CN" dirty="0"/>
              <a:t>Guest</a:t>
            </a:r>
            <a:r>
              <a:rPr kumimoji="1" lang="zh-CN" altLang="en-US" dirty="0"/>
              <a:t> </a:t>
            </a:r>
            <a:r>
              <a:rPr kumimoji="1" lang="en-US" altLang="zh-CN" dirty="0"/>
              <a:t>Page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Table</a:t>
            </a:r>
            <a:r>
              <a:rPr kumimoji="1" lang="zh-CN" altLang="en-US" dirty="0"/>
              <a:t>的更新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减少内存开销：每个</a:t>
            </a:r>
            <a:r>
              <a:rPr kumimoji="1" lang="en-US" altLang="zh-CN" dirty="0"/>
              <a:t>VM</a:t>
            </a:r>
            <a:r>
              <a:rPr kumimoji="1" lang="zh-CN" altLang="en-US" dirty="0"/>
              <a:t>对应一个页表</a:t>
            </a:r>
            <a:endParaRPr kumimoji="1" lang="en-US" altLang="zh-CN" dirty="0"/>
          </a:p>
          <a:p>
            <a:r>
              <a:rPr kumimoji="1" lang="zh-CN" altLang="en-US" dirty="0"/>
              <a:t>缺点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TLB</a:t>
            </a:r>
            <a:r>
              <a:rPr kumimoji="1" lang="zh-CN" altLang="en-US" dirty="0"/>
              <a:t> </a:t>
            </a:r>
            <a:r>
              <a:rPr kumimoji="1" lang="en-US" altLang="zh-CN" dirty="0"/>
              <a:t>miss</a:t>
            </a:r>
            <a:r>
              <a:rPr kumimoji="1" lang="zh-CN" altLang="en-US" dirty="0"/>
              <a:t>时性能开销较大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2CB7686-39A1-1548-A418-0F36305FB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8AD5E6-F88A-5F43-8860-BCF2AA8785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27926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C3B52-4308-54C3-BE52-E8F108F23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如何实现虚拟机级别的内存换页</a:t>
            </a:r>
            <a:r>
              <a:rPr lang="zh-CN" altLang="en-US" dirty="0"/>
              <a:t>？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77540-7B03-6879-7618-D6DF8D6D69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N" dirty="0"/>
              <a:t>具体场景</a:t>
            </a:r>
            <a:r>
              <a:rPr lang="zh-CN" altLang="en-US" dirty="0"/>
              <a:t>：将虚拟机</a:t>
            </a:r>
            <a:r>
              <a:rPr lang="en-US" altLang="zh-CN" dirty="0"/>
              <a:t>A</a:t>
            </a:r>
            <a:r>
              <a:rPr lang="zh-CN" altLang="en-US" dirty="0"/>
              <a:t>的</a:t>
            </a:r>
            <a:r>
              <a:rPr lang="en-US" altLang="zh-CN" dirty="0"/>
              <a:t>128MB</a:t>
            </a:r>
            <a:r>
              <a:rPr lang="zh-CN" altLang="en-US" dirty="0"/>
              <a:t>内存转移到虚拟机</a:t>
            </a:r>
            <a:r>
              <a:rPr lang="en-US" altLang="zh-CN" dirty="0"/>
              <a:t>B</a:t>
            </a:r>
            <a:r>
              <a:rPr lang="zh-CN" altLang="en-US" dirty="0"/>
              <a:t>中</a:t>
            </a:r>
            <a:endParaRPr lang="en-US" altLang="zh-CN" dirty="0"/>
          </a:p>
          <a:p>
            <a:pPr lvl="1"/>
            <a:r>
              <a:rPr lang="zh-CN" altLang="en-US" dirty="0"/>
              <a:t>虚拟机</a:t>
            </a:r>
            <a:r>
              <a:rPr lang="en-US" altLang="zh-CN" dirty="0"/>
              <a:t>A</a:t>
            </a:r>
            <a:r>
              <a:rPr lang="zh-CN" altLang="en-US" dirty="0"/>
              <a:t>对内存的使用较少</a:t>
            </a:r>
            <a:endParaRPr lang="en-US" altLang="zh-CN" dirty="0"/>
          </a:p>
          <a:p>
            <a:pPr lvl="1"/>
            <a:r>
              <a:rPr lang="zh-CN" altLang="en-US" dirty="0"/>
              <a:t>虚拟机</a:t>
            </a:r>
            <a:r>
              <a:rPr lang="en-US" altLang="zh-CN" dirty="0"/>
              <a:t>B</a:t>
            </a:r>
            <a:r>
              <a:rPr lang="zh-CN" altLang="en-US" dirty="0"/>
              <a:t>对内存需求较大</a:t>
            </a:r>
            <a:endParaRPr lang="en-US" altLang="zh-CN" dirty="0"/>
          </a:p>
          <a:p>
            <a:r>
              <a:rPr lang="zh-CN" altLang="en-US" dirty="0"/>
              <a:t>问题</a:t>
            </a:r>
            <a:endParaRPr lang="en-US" altLang="zh-CN" dirty="0"/>
          </a:p>
          <a:p>
            <a:pPr lvl="1"/>
            <a:r>
              <a:rPr lang="en-US" altLang="zh-CN" dirty="0"/>
              <a:t>VMM</a:t>
            </a:r>
            <a:r>
              <a:rPr lang="zh-CN" altLang="en-US" dirty="0"/>
              <a:t>无法识别虚拟机内存的语义</a:t>
            </a:r>
            <a:endParaRPr lang="en-US" altLang="zh-CN" dirty="0"/>
          </a:p>
          <a:p>
            <a:pPr lvl="1"/>
            <a:r>
              <a:rPr lang="zh-CN" altLang="en-US" dirty="0"/>
              <a:t>两层内存换页机制</a:t>
            </a:r>
            <a:endParaRPr lang="en-US" altLang="zh-CN" dirty="0"/>
          </a:p>
          <a:p>
            <a:pPr lvl="2"/>
            <a:r>
              <a:rPr lang="en-US" altLang="zh-CN" dirty="0"/>
              <a:t>VM</a:t>
            </a:r>
            <a:r>
              <a:rPr lang="zh-CN" altLang="en-US" dirty="0"/>
              <a:t>与</a:t>
            </a:r>
            <a:r>
              <a:rPr lang="en-US" altLang="zh-CN" dirty="0"/>
              <a:t>VMM</a:t>
            </a:r>
            <a:r>
              <a:rPr lang="zh-CN" altLang="en-US" dirty="0"/>
              <a:t>的换页机制可能彼此冲突，造成开销。</a:t>
            </a:r>
            <a:endParaRPr lang="en-US" altLang="zh-CN" dirty="0"/>
          </a:p>
          <a:p>
            <a:pPr lvl="2"/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195224-CC7D-0535-A836-57753125D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38D65-0448-62B3-7FE3-B22AA44D9A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305812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046B0-BEEB-D418-F116-8DCFF3E5D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内存气球机制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294870-518B-E7C4-5E5B-1DCE31DE7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2AD24-1A1C-8102-E2C0-A99C0660D5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8" name="Straight Connector 13">
            <a:extLst>
              <a:ext uri="{FF2B5EF4-FFF2-40B4-BE49-F238E27FC236}">
                <a16:creationId xmlns:a16="http://schemas.microsoft.com/office/drawing/2014/main" id="{B1F9B719-F253-36FB-3A4D-DD3AD9B890C5}"/>
              </a:ext>
            </a:extLst>
          </p:cNvPr>
          <p:cNvCxnSpPr>
            <a:cxnSpLocks/>
          </p:cNvCxnSpPr>
          <p:nvPr/>
        </p:nvCxnSpPr>
        <p:spPr>
          <a:xfrm>
            <a:off x="262615" y="3952617"/>
            <a:ext cx="8557857" cy="0"/>
          </a:xfrm>
          <a:prstGeom prst="line">
            <a:avLst/>
          </a:prstGeom>
          <a:ln>
            <a:solidFill>
              <a:srgbClr val="BE3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2">
            <a:extLst>
              <a:ext uri="{FF2B5EF4-FFF2-40B4-BE49-F238E27FC236}">
                <a16:creationId xmlns:a16="http://schemas.microsoft.com/office/drawing/2014/main" id="{3763A5BE-B190-72C0-9156-EFC3281FB699}"/>
              </a:ext>
            </a:extLst>
          </p:cNvPr>
          <p:cNvSpPr/>
          <p:nvPr/>
        </p:nvSpPr>
        <p:spPr>
          <a:xfrm>
            <a:off x="1187624" y="2785492"/>
            <a:ext cx="3456384" cy="864096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r"/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29" name="Rectangle 27">
            <a:extLst>
              <a:ext uri="{FF2B5EF4-FFF2-40B4-BE49-F238E27FC236}">
                <a16:creationId xmlns:a16="http://schemas.microsoft.com/office/drawing/2014/main" id="{913E090D-213F-A437-1576-DE2241AB90F6}"/>
              </a:ext>
            </a:extLst>
          </p:cNvPr>
          <p:cNvSpPr/>
          <p:nvPr/>
        </p:nvSpPr>
        <p:spPr>
          <a:xfrm>
            <a:off x="1187624" y="2065412"/>
            <a:ext cx="1224136" cy="460051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BE384B"/>
                </a:solidFill>
                <a:cs typeface="Arial Narrow"/>
              </a:rPr>
              <a:t>进程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-1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30" name="圆角矩形 15">
            <a:extLst>
              <a:ext uri="{FF2B5EF4-FFF2-40B4-BE49-F238E27FC236}">
                <a16:creationId xmlns:a16="http://schemas.microsoft.com/office/drawing/2014/main" id="{FDB3BDD7-B096-ADD9-E9D7-F2D5C809C472}"/>
              </a:ext>
            </a:extLst>
          </p:cNvPr>
          <p:cNvSpPr/>
          <p:nvPr/>
        </p:nvSpPr>
        <p:spPr>
          <a:xfrm>
            <a:off x="899592" y="1489348"/>
            <a:ext cx="3960440" cy="2249099"/>
          </a:xfrm>
          <a:prstGeom prst="roundRect">
            <a:avLst>
              <a:gd name="adj" fmla="val 7310"/>
            </a:avLst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1" name="文本框 16">
            <a:extLst>
              <a:ext uri="{FF2B5EF4-FFF2-40B4-BE49-F238E27FC236}">
                <a16:creationId xmlns:a16="http://schemas.microsoft.com/office/drawing/2014/main" id="{55A81F76-D495-1175-BB9C-8F0668E327E2}"/>
              </a:ext>
            </a:extLst>
          </p:cNvPr>
          <p:cNvSpPr txBox="1"/>
          <p:nvPr/>
        </p:nvSpPr>
        <p:spPr>
          <a:xfrm>
            <a:off x="2411760" y="1489348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VM-A</a:t>
            </a:r>
            <a:endParaRPr kumimoji="1" lang="zh-CN" altLang="en-US" dirty="0"/>
          </a:p>
        </p:txBody>
      </p:sp>
      <p:sp>
        <p:nvSpPr>
          <p:cNvPr id="32" name="Rectangle 27">
            <a:extLst>
              <a:ext uri="{FF2B5EF4-FFF2-40B4-BE49-F238E27FC236}">
                <a16:creationId xmlns:a16="http://schemas.microsoft.com/office/drawing/2014/main" id="{D6A757C0-A071-85DE-5A75-E0B7D26FED1A}"/>
              </a:ext>
            </a:extLst>
          </p:cNvPr>
          <p:cNvSpPr/>
          <p:nvPr/>
        </p:nvSpPr>
        <p:spPr>
          <a:xfrm>
            <a:off x="899592" y="4081636"/>
            <a:ext cx="7200800" cy="720080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VMM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34" name="Rectangle 27">
            <a:extLst>
              <a:ext uri="{FF2B5EF4-FFF2-40B4-BE49-F238E27FC236}">
                <a16:creationId xmlns:a16="http://schemas.microsoft.com/office/drawing/2014/main" id="{DC5EA60B-04C5-13AA-1CB2-A0A8ED53FE40}"/>
              </a:ext>
            </a:extLst>
          </p:cNvPr>
          <p:cNvSpPr/>
          <p:nvPr/>
        </p:nvSpPr>
        <p:spPr>
          <a:xfrm>
            <a:off x="3275856" y="2065412"/>
            <a:ext cx="1224136" cy="460051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BE384B"/>
                </a:solidFill>
                <a:cs typeface="Arial Narrow"/>
              </a:rPr>
              <a:t>进程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-2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35" name="Rectangle 27">
            <a:extLst>
              <a:ext uri="{FF2B5EF4-FFF2-40B4-BE49-F238E27FC236}">
                <a16:creationId xmlns:a16="http://schemas.microsoft.com/office/drawing/2014/main" id="{7B5661A8-2484-F9AF-61E5-B05DA18EF413}"/>
              </a:ext>
            </a:extLst>
          </p:cNvPr>
          <p:cNvSpPr/>
          <p:nvPr/>
        </p:nvSpPr>
        <p:spPr>
          <a:xfrm>
            <a:off x="1403648" y="3001516"/>
            <a:ext cx="1224136" cy="388043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rgbClr val="BE384B"/>
                </a:solidFill>
                <a:cs typeface="Arial Narrow"/>
              </a:rPr>
              <a:t>内核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0E49A57-F926-75DB-23CA-D1BA1755386D}"/>
              </a:ext>
            </a:extLst>
          </p:cNvPr>
          <p:cNvSpPr/>
          <p:nvPr/>
        </p:nvSpPr>
        <p:spPr>
          <a:xfrm>
            <a:off x="3707904" y="3073524"/>
            <a:ext cx="288032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37" name="直线箭头连接符 32">
            <a:extLst>
              <a:ext uri="{FF2B5EF4-FFF2-40B4-BE49-F238E27FC236}">
                <a16:creationId xmlns:a16="http://schemas.microsoft.com/office/drawing/2014/main" id="{D2AAB09B-DA0A-0F03-47F9-2A72AB74D864}"/>
              </a:ext>
            </a:extLst>
          </p:cNvPr>
          <p:cNvCxnSpPr>
            <a:cxnSpLocks/>
          </p:cNvCxnSpPr>
          <p:nvPr/>
        </p:nvCxnSpPr>
        <p:spPr>
          <a:xfrm flipV="1">
            <a:off x="3851920" y="3217540"/>
            <a:ext cx="0" cy="1152128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线箭头连接符 32">
            <a:extLst>
              <a:ext uri="{FF2B5EF4-FFF2-40B4-BE49-F238E27FC236}">
                <a16:creationId xmlns:a16="http://schemas.microsoft.com/office/drawing/2014/main" id="{67D5D109-647E-42A3-53D6-4D95ABD4371F}"/>
              </a:ext>
            </a:extLst>
          </p:cNvPr>
          <p:cNvCxnSpPr>
            <a:cxnSpLocks/>
            <a:endCxn id="35" idx="3"/>
          </p:cNvCxnSpPr>
          <p:nvPr/>
        </p:nvCxnSpPr>
        <p:spPr>
          <a:xfrm flipH="1">
            <a:off x="2627784" y="3195538"/>
            <a:ext cx="864096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7C11B7B9-2BA6-C276-81A8-50DB375F0F3D}"/>
              </a:ext>
            </a:extLst>
          </p:cNvPr>
          <p:cNvSpPr txBox="1"/>
          <p:nvPr/>
        </p:nvSpPr>
        <p:spPr>
          <a:xfrm>
            <a:off x="2627784" y="2857500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km</a:t>
            </a:r>
            <a:r>
              <a:rPr lang="en-CN" dirty="0"/>
              <a:t>alloc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3309E8-99CB-8DF2-7FE2-51BD9C0006CD}"/>
              </a:ext>
            </a:extLst>
          </p:cNvPr>
          <p:cNvSpPr/>
          <p:nvPr/>
        </p:nvSpPr>
        <p:spPr>
          <a:xfrm>
            <a:off x="3563888" y="2929508"/>
            <a:ext cx="576064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46" name="直线箭头连接符 32">
            <a:extLst>
              <a:ext uri="{FF2B5EF4-FFF2-40B4-BE49-F238E27FC236}">
                <a16:creationId xmlns:a16="http://schemas.microsoft.com/office/drawing/2014/main" id="{CD89A71B-D8D9-5D86-FD19-78B70F10B795}"/>
              </a:ext>
            </a:extLst>
          </p:cNvPr>
          <p:cNvCxnSpPr>
            <a:cxnSpLocks/>
          </p:cNvCxnSpPr>
          <p:nvPr/>
        </p:nvCxnSpPr>
        <p:spPr>
          <a:xfrm flipV="1">
            <a:off x="3851920" y="3217540"/>
            <a:ext cx="0" cy="1152128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22">
            <a:extLst>
              <a:ext uri="{FF2B5EF4-FFF2-40B4-BE49-F238E27FC236}">
                <a16:creationId xmlns:a16="http://schemas.microsoft.com/office/drawing/2014/main" id="{2EE315FD-88EF-FDD3-6508-F4F2AA7413AA}"/>
              </a:ext>
            </a:extLst>
          </p:cNvPr>
          <p:cNvSpPr/>
          <p:nvPr/>
        </p:nvSpPr>
        <p:spPr>
          <a:xfrm>
            <a:off x="5292080" y="2857500"/>
            <a:ext cx="2592288" cy="648072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r"/>
            <a:r>
              <a:rPr lang="en-US" sz="1600" dirty="0" err="1">
                <a:solidFill>
                  <a:srgbClr val="BE384B"/>
                </a:solidFill>
                <a:cs typeface="Arial Narrow"/>
              </a:rPr>
              <a:t>内核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48" name="Rectangle 27">
            <a:extLst>
              <a:ext uri="{FF2B5EF4-FFF2-40B4-BE49-F238E27FC236}">
                <a16:creationId xmlns:a16="http://schemas.microsoft.com/office/drawing/2014/main" id="{D0E2D574-108E-5167-662E-577CB6BF1991}"/>
              </a:ext>
            </a:extLst>
          </p:cNvPr>
          <p:cNvSpPr/>
          <p:nvPr/>
        </p:nvSpPr>
        <p:spPr>
          <a:xfrm>
            <a:off x="5292080" y="2065412"/>
            <a:ext cx="1224136" cy="460051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BE384B"/>
                </a:solidFill>
                <a:cs typeface="Arial Narrow"/>
              </a:rPr>
              <a:t>进程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-1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49" name="圆角矩形 15">
            <a:extLst>
              <a:ext uri="{FF2B5EF4-FFF2-40B4-BE49-F238E27FC236}">
                <a16:creationId xmlns:a16="http://schemas.microsoft.com/office/drawing/2014/main" id="{2008EF01-07F5-0972-D6E4-17CD77517550}"/>
              </a:ext>
            </a:extLst>
          </p:cNvPr>
          <p:cNvSpPr/>
          <p:nvPr/>
        </p:nvSpPr>
        <p:spPr>
          <a:xfrm>
            <a:off x="5004048" y="1489348"/>
            <a:ext cx="3096344" cy="2249099"/>
          </a:xfrm>
          <a:prstGeom prst="roundRect">
            <a:avLst>
              <a:gd name="adj" fmla="val 7310"/>
            </a:avLst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0" name="文本框 16">
            <a:extLst>
              <a:ext uri="{FF2B5EF4-FFF2-40B4-BE49-F238E27FC236}">
                <a16:creationId xmlns:a16="http://schemas.microsoft.com/office/drawing/2014/main" id="{2856C5A0-029D-DCF9-9034-852A6F930EB8}"/>
              </a:ext>
            </a:extLst>
          </p:cNvPr>
          <p:cNvSpPr txBox="1"/>
          <p:nvPr/>
        </p:nvSpPr>
        <p:spPr>
          <a:xfrm>
            <a:off x="6516216" y="1489348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VM-B</a:t>
            </a:r>
            <a:endParaRPr kumimoji="1" lang="zh-CN" altLang="en-US" dirty="0"/>
          </a:p>
        </p:txBody>
      </p:sp>
      <p:sp>
        <p:nvSpPr>
          <p:cNvPr id="51" name="Rectangle 27">
            <a:extLst>
              <a:ext uri="{FF2B5EF4-FFF2-40B4-BE49-F238E27FC236}">
                <a16:creationId xmlns:a16="http://schemas.microsoft.com/office/drawing/2014/main" id="{66970115-CFA9-D945-B4C9-94EBCC7A9953}"/>
              </a:ext>
            </a:extLst>
          </p:cNvPr>
          <p:cNvSpPr/>
          <p:nvPr/>
        </p:nvSpPr>
        <p:spPr>
          <a:xfrm>
            <a:off x="6732240" y="2065412"/>
            <a:ext cx="1224136" cy="460051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BE384B"/>
                </a:solidFill>
                <a:cs typeface="Arial Narrow"/>
              </a:rPr>
              <a:t>进程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-2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57" name="直线箭头连接符 32">
            <a:extLst>
              <a:ext uri="{FF2B5EF4-FFF2-40B4-BE49-F238E27FC236}">
                <a16:creationId xmlns:a16="http://schemas.microsoft.com/office/drawing/2014/main" id="{C90C43E4-A136-F1E8-0B43-63B79FC1BC8E}"/>
              </a:ext>
            </a:extLst>
          </p:cNvPr>
          <p:cNvCxnSpPr>
            <a:cxnSpLocks/>
          </p:cNvCxnSpPr>
          <p:nvPr/>
        </p:nvCxnSpPr>
        <p:spPr>
          <a:xfrm flipV="1">
            <a:off x="5940152" y="3217540"/>
            <a:ext cx="0" cy="1152128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3859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/>
              <a:t>I/O</a:t>
            </a:r>
            <a:r>
              <a:rPr kumimoji="1" lang="zh-CN" altLang="en-US" b="1" dirty="0"/>
              <a:t>虚拟化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I/O</a:t>
            </a:r>
            <a:r>
              <a:rPr kumimoji="1" lang="zh-CN" altLang="en-US" dirty="0"/>
              <a:t> </a:t>
            </a:r>
            <a:r>
              <a:rPr kumimoji="1" lang="en-US" altLang="zh-CN" dirty="0"/>
              <a:t>Virtualization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F61D95-77C6-4F44-A6A2-DDF144D59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68F72CF8-9211-EE45-9468-F698C90541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9218182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812A69-F87E-E24F-86A6-8BBF127F2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为什么需要</a:t>
            </a:r>
            <a:r>
              <a:rPr kumimoji="1" lang="en-US" altLang="zh-CN" dirty="0"/>
              <a:t>IO</a:t>
            </a:r>
            <a:r>
              <a:rPr kumimoji="1" lang="zh-CN" altLang="en-US" dirty="0"/>
              <a:t>虚拟化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B8A53F-9F7E-4747-80DB-5AA3E536C0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回顾：操作系统内核直接管理外部设备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PIO/MMIO</a:t>
            </a:r>
          </a:p>
          <a:p>
            <a:pPr lvl="1"/>
            <a:r>
              <a:rPr kumimoji="1" lang="en-US" altLang="zh-CN" dirty="0"/>
              <a:t>DMA</a:t>
            </a:r>
          </a:p>
          <a:p>
            <a:pPr lvl="1"/>
            <a:r>
              <a:rPr kumimoji="1" lang="en-US" altLang="zh-CN" dirty="0"/>
              <a:t>Interrupt</a:t>
            </a:r>
          </a:p>
          <a:p>
            <a:r>
              <a:rPr kumimoji="1" lang="zh-CN" altLang="en-US" dirty="0"/>
              <a:t>如果</a:t>
            </a:r>
            <a:r>
              <a:rPr kumimoji="1" lang="en-US" altLang="zh-CN" dirty="0"/>
              <a:t>VM</a:t>
            </a:r>
            <a:r>
              <a:rPr kumimoji="1" lang="zh-CN" altLang="en-US" dirty="0"/>
              <a:t>能直接管理物理设备</a:t>
            </a:r>
            <a:endParaRPr kumimoji="1" lang="en-US" altLang="zh-CN" dirty="0"/>
          </a:p>
          <a:p>
            <a:pPr lvl="1"/>
            <a:r>
              <a:rPr kumimoji="1" lang="zh-CN" altLang="en-US" dirty="0">
                <a:solidFill>
                  <a:srgbClr val="BE384B"/>
                </a:solidFill>
              </a:rPr>
              <a:t>会发生什么</a:t>
            </a:r>
            <a:r>
              <a:rPr kumimoji="1" lang="en-US" altLang="zh-CN" dirty="0">
                <a:solidFill>
                  <a:srgbClr val="BE384B"/>
                </a:solidFill>
              </a:rPr>
              <a:t>?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48825C9-0400-7A4A-8846-8322C521B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FB615C-E0EF-3A4A-ADE7-E60A2670EC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020844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>
            <a:extLst>
              <a:ext uri="{FF2B5EF4-FFF2-40B4-BE49-F238E27FC236}">
                <a16:creationId xmlns:a16="http://schemas.microsoft.com/office/drawing/2014/main" id="{812A49D1-553A-FC4A-BA9B-72EEB6A15E1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95936" y="4801715"/>
            <a:ext cx="576064" cy="518727"/>
          </a:xfrm>
          <a:prstGeom prst="rect">
            <a:avLst/>
          </a:prstGeom>
        </p:spPr>
      </p:pic>
      <p:sp>
        <p:nvSpPr>
          <p:cNvPr id="32" name="Rectangle 27">
            <a:extLst>
              <a:ext uri="{FF2B5EF4-FFF2-40B4-BE49-F238E27FC236}">
                <a16:creationId xmlns:a16="http://schemas.microsoft.com/office/drawing/2014/main" id="{0D6F83E9-AEEE-B64D-997E-98E7FEAEB17C}"/>
              </a:ext>
            </a:extLst>
          </p:cNvPr>
          <p:cNvSpPr/>
          <p:nvPr/>
        </p:nvSpPr>
        <p:spPr>
          <a:xfrm>
            <a:off x="4211960" y="5017740"/>
            <a:ext cx="245894" cy="144016"/>
          </a:xfrm>
          <a:prstGeom prst="rect">
            <a:avLst/>
          </a:prstGeom>
          <a:solidFill>
            <a:srgbClr val="558ED6"/>
          </a:solidFill>
          <a:ln>
            <a:solidFill>
              <a:srgbClr val="558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31" name="Rectangle 27">
            <a:extLst>
              <a:ext uri="{FF2B5EF4-FFF2-40B4-BE49-F238E27FC236}">
                <a16:creationId xmlns:a16="http://schemas.microsoft.com/office/drawing/2014/main" id="{A1463A13-CFC9-344D-A5DA-D4E96A829AD6}"/>
              </a:ext>
            </a:extLst>
          </p:cNvPr>
          <p:cNvSpPr/>
          <p:nvPr/>
        </p:nvSpPr>
        <p:spPr>
          <a:xfrm>
            <a:off x="4211960" y="5017740"/>
            <a:ext cx="245894" cy="144016"/>
          </a:xfrm>
          <a:prstGeom prst="rect">
            <a:avLst/>
          </a:prstGeom>
          <a:solidFill>
            <a:srgbClr val="9BBC59"/>
          </a:solidFill>
          <a:ln>
            <a:solidFill>
              <a:srgbClr val="9BBC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B8C5243-ABF9-CE41-98BB-AE1FA643B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如果</a:t>
            </a:r>
            <a:r>
              <a:rPr kumimoji="1" lang="en-US" altLang="zh-CN" dirty="0"/>
              <a:t>VM</a:t>
            </a:r>
            <a:r>
              <a:rPr kumimoji="1" lang="zh-CN" altLang="en-US" dirty="0"/>
              <a:t>直接管理物理网卡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3ED7B6-56EC-5B4A-9252-566E7EC3BB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正确性问题：所有</a:t>
            </a:r>
            <a:r>
              <a:rPr kumimoji="1" lang="en-US" altLang="zh-CN" sz="2000" dirty="0"/>
              <a:t>VM</a:t>
            </a:r>
            <a:r>
              <a:rPr kumimoji="1" lang="zh-CN" altLang="en-US" sz="2000" dirty="0"/>
              <a:t>都直接访问网卡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所有</a:t>
            </a:r>
            <a:r>
              <a:rPr kumimoji="1" lang="en-US" altLang="zh-CN" sz="1800" dirty="0"/>
              <a:t>VM</a:t>
            </a:r>
            <a:r>
              <a:rPr kumimoji="1" lang="zh-CN" altLang="en-US" sz="1800" dirty="0"/>
              <a:t>都有相同的</a:t>
            </a:r>
            <a:r>
              <a:rPr kumimoji="1" lang="en-US" altLang="zh-CN" sz="1800" dirty="0"/>
              <a:t>MAC</a:t>
            </a:r>
            <a:r>
              <a:rPr kumimoji="1" lang="zh-CN" altLang="en-US" sz="1800" dirty="0"/>
              <a:t>地址、</a:t>
            </a:r>
            <a:r>
              <a:rPr kumimoji="1" lang="en-US" altLang="zh-CN" sz="1800" dirty="0"/>
              <a:t>IP</a:t>
            </a:r>
            <a:r>
              <a:rPr kumimoji="1" lang="zh-CN" altLang="en-US" sz="1800" dirty="0"/>
              <a:t>地址，无法正常收发网络包</a:t>
            </a:r>
            <a:endParaRPr kumimoji="1" lang="en-US" altLang="zh-CN" sz="1800" dirty="0"/>
          </a:p>
          <a:p>
            <a:r>
              <a:rPr kumimoji="1" lang="zh-CN" altLang="en-US" sz="2000" dirty="0"/>
              <a:t>安全性问题：恶意</a:t>
            </a:r>
            <a:r>
              <a:rPr kumimoji="1" lang="en-US" altLang="zh-CN" sz="2000" dirty="0"/>
              <a:t>VM</a:t>
            </a:r>
            <a:r>
              <a:rPr kumimoji="1" lang="zh-CN" altLang="en-US" sz="2000" dirty="0"/>
              <a:t>可以直接读取其他</a:t>
            </a:r>
            <a:r>
              <a:rPr kumimoji="1" lang="en-US" altLang="zh-CN" sz="2000" dirty="0"/>
              <a:t>VM</a:t>
            </a:r>
            <a:r>
              <a:rPr kumimoji="1" lang="zh-CN" altLang="en-US" sz="2000" dirty="0"/>
              <a:t>的数据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除了直接读取所有网络包，还可能通过</a:t>
            </a:r>
            <a:r>
              <a:rPr kumimoji="1" lang="en-US" altLang="zh-CN" sz="1800" dirty="0"/>
              <a:t>DMA</a:t>
            </a:r>
            <a:r>
              <a:rPr kumimoji="1" lang="zh-CN" altLang="en-US" sz="1800" dirty="0"/>
              <a:t>访问其他内存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6342CBC-F5DD-5E44-8843-C0C93F476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479E00-D1D6-254B-BC1E-57E564AB74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7" name="Rectangle 27">
            <a:extLst>
              <a:ext uri="{FF2B5EF4-FFF2-40B4-BE49-F238E27FC236}">
                <a16:creationId xmlns:a16="http://schemas.microsoft.com/office/drawing/2014/main" id="{6E485B5B-8EFD-F946-BD2A-EF4A3EC693B8}"/>
              </a:ext>
            </a:extLst>
          </p:cNvPr>
          <p:cNvSpPr/>
          <p:nvPr/>
        </p:nvSpPr>
        <p:spPr>
          <a:xfrm>
            <a:off x="1187624" y="3865612"/>
            <a:ext cx="1800200" cy="462028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Kernel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cxnSp>
        <p:nvCxnSpPr>
          <p:cNvPr id="8" name="Straight Connector 13">
            <a:extLst>
              <a:ext uri="{FF2B5EF4-FFF2-40B4-BE49-F238E27FC236}">
                <a16:creationId xmlns:a16="http://schemas.microsoft.com/office/drawing/2014/main" id="{0638EDCD-5536-2847-B03F-6D99EDE4EE7B}"/>
              </a:ext>
            </a:extLst>
          </p:cNvPr>
          <p:cNvCxnSpPr>
            <a:cxnSpLocks/>
          </p:cNvCxnSpPr>
          <p:nvPr/>
        </p:nvCxnSpPr>
        <p:spPr>
          <a:xfrm>
            <a:off x="971600" y="4657700"/>
            <a:ext cx="6552728" cy="0"/>
          </a:xfrm>
          <a:prstGeom prst="line">
            <a:avLst/>
          </a:prstGeom>
          <a:ln>
            <a:solidFill>
              <a:srgbClr val="BE3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27">
            <a:extLst>
              <a:ext uri="{FF2B5EF4-FFF2-40B4-BE49-F238E27FC236}">
                <a16:creationId xmlns:a16="http://schemas.microsoft.com/office/drawing/2014/main" id="{2D2792E7-AB8E-DC48-A37F-7E068AEAB0A4}"/>
              </a:ext>
            </a:extLst>
          </p:cNvPr>
          <p:cNvSpPr/>
          <p:nvPr/>
        </p:nvSpPr>
        <p:spPr>
          <a:xfrm>
            <a:off x="1187624" y="3433564"/>
            <a:ext cx="798014" cy="321946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0" name="Rectangle 27">
            <a:extLst>
              <a:ext uri="{FF2B5EF4-FFF2-40B4-BE49-F238E27FC236}">
                <a16:creationId xmlns:a16="http://schemas.microsoft.com/office/drawing/2014/main" id="{1F3F7AF6-02B3-BC4F-9631-AFEC8BACF874}"/>
              </a:ext>
            </a:extLst>
          </p:cNvPr>
          <p:cNvSpPr/>
          <p:nvPr/>
        </p:nvSpPr>
        <p:spPr>
          <a:xfrm>
            <a:off x="2195736" y="3433564"/>
            <a:ext cx="798014" cy="321946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91BA8AC-5471-694F-88B7-E9371232C566}"/>
              </a:ext>
            </a:extLst>
          </p:cNvPr>
          <p:cNvSpPr/>
          <p:nvPr/>
        </p:nvSpPr>
        <p:spPr>
          <a:xfrm>
            <a:off x="1115616" y="3217540"/>
            <a:ext cx="1944216" cy="1224136"/>
          </a:xfrm>
          <a:prstGeom prst="rect">
            <a:avLst/>
          </a:prstGeom>
          <a:noFill/>
          <a:ln w="63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E9FF0A4-842F-5F48-B2DB-6D3563731DCF}"/>
              </a:ext>
            </a:extLst>
          </p:cNvPr>
          <p:cNvSpPr txBox="1"/>
          <p:nvPr/>
        </p:nvSpPr>
        <p:spPr>
          <a:xfrm>
            <a:off x="1835696" y="3217540"/>
            <a:ext cx="5517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VM-1</a:t>
            </a:r>
            <a:endParaRPr kumimoji="1" lang="zh-CN" altLang="en-US" sz="1200" dirty="0"/>
          </a:p>
        </p:txBody>
      </p:sp>
      <p:sp>
        <p:nvSpPr>
          <p:cNvPr id="13" name="Rectangle 27">
            <a:extLst>
              <a:ext uri="{FF2B5EF4-FFF2-40B4-BE49-F238E27FC236}">
                <a16:creationId xmlns:a16="http://schemas.microsoft.com/office/drawing/2014/main" id="{80B17F76-F96C-6143-AA89-AC5178CF47EE}"/>
              </a:ext>
            </a:extLst>
          </p:cNvPr>
          <p:cNvSpPr/>
          <p:nvPr/>
        </p:nvSpPr>
        <p:spPr>
          <a:xfrm>
            <a:off x="3347864" y="3865612"/>
            <a:ext cx="1800200" cy="462028"/>
          </a:xfrm>
          <a:prstGeom prst="rect">
            <a:avLst/>
          </a:prstGeom>
          <a:solidFill>
            <a:srgbClr val="9BBC59"/>
          </a:solidFill>
          <a:ln>
            <a:solidFill>
              <a:srgbClr val="9BBC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Kernel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14" name="Rectangle 27">
            <a:extLst>
              <a:ext uri="{FF2B5EF4-FFF2-40B4-BE49-F238E27FC236}">
                <a16:creationId xmlns:a16="http://schemas.microsoft.com/office/drawing/2014/main" id="{7ED5B280-D110-FA4A-BA10-05FEA3AEA11D}"/>
              </a:ext>
            </a:extLst>
          </p:cNvPr>
          <p:cNvSpPr/>
          <p:nvPr/>
        </p:nvSpPr>
        <p:spPr>
          <a:xfrm>
            <a:off x="3347864" y="3433564"/>
            <a:ext cx="798014" cy="321946"/>
          </a:xfrm>
          <a:prstGeom prst="rect">
            <a:avLst/>
          </a:prstGeom>
          <a:noFill/>
          <a:ln>
            <a:solidFill>
              <a:srgbClr val="9BBC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5" name="Rectangle 27">
            <a:extLst>
              <a:ext uri="{FF2B5EF4-FFF2-40B4-BE49-F238E27FC236}">
                <a16:creationId xmlns:a16="http://schemas.microsoft.com/office/drawing/2014/main" id="{0A4EB711-C516-C141-8CB0-39869588FAFA}"/>
              </a:ext>
            </a:extLst>
          </p:cNvPr>
          <p:cNvSpPr/>
          <p:nvPr/>
        </p:nvSpPr>
        <p:spPr>
          <a:xfrm>
            <a:off x="4355976" y="3433564"/>
            <a:ext cx="798014" cy="321946"/>
          </a:xfrm>
          <a:prstGeom prst="rect">
            <a:avLst/>
          </a:prstGeom>
          <a:noFill/>
          <a:ln>
            <a:solidFill>
              <a:srgbClr val="9BBC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611FA0B-CCF8-6742-893C-B58C07C7BED6}"/>
              </a:ext>
            </a:extLst>
          </p:cNvPr>
          <p:cNvSpPr/>
          <p:nvPr/>
        </p:nvSpPr>
        <p:spPr>
          <a:xfrm>
            <a:off x="3275856" y="3217540"/>
            <a:ext cx="1944216" cy="1224136"/>
          </a:xfrm>
          <a:prstGeom prst="rect">
            <a:avLst/>
          </a:prstGeom>
          <a:noFill/>
          <a:ln w="63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627C417-5B91-4247-9224-E93AC2BDC5E2}"/>
              </a:ext>
            </a:extLst>
          </p:cNvPr>
          <p:cNvSpPr txBox="1"/>
          <p:nvPr/>
        </p:nvSpPr>
        <p:spPr>
          <a:xfrm>
            <a:off x="3995936" y="3217540"/>
            <a:ext cx="5517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VM-2</a:t>
            </a:r>
            <a:endParaRPr kumimoji="1" lang="zh-CN" altLang="en-US" sz="1200" dirty="0"/>
          </a:p>
        </p:txBody>
      </p:sp>
      <p:sp>
        <p:nvSpPr>
          <p:cNvPr id="18" name="Rectangle 27">
            <a:extLst>
              <a:ext uri="{FF2B5EF4-FFF2-40B4-BE49-F238E27FC236}">
                <a16:creationId xmlns:a16="http://schemas.microsoft.com/office/drawing/2014/main" id="{FCF9D73F-2291-5E49-8FE3-E63C3A154ABE}"/>
              </a:ext>
            </a:extLst>
          </p:cNvPr>
          <p:cNvSpPr/>
          <p:nvPr/>
        </p:nvSpPr>
        <p:spPr>
          <a:xfrm>
            <a:off x="5508104" y="3865612"/>
            <a:ext cx="1800200" cy="462028"/>
          </a:xfrm>
          <a:prstGeom prst="rect">
            <a:avLst/>
          </a:prstGeom>
          <a:solidFill>
            <a:srgbClr val="558ED6"/>
          </a:solidFill>
          <a:ln>
            <a:solidFill>
              <a:srgbClr val="558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Kernel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19" name="Rectangle 27">
            <a:extLst>
              <a:ext uri="{FF2B5EF4-FFF2-40B4-BE49-F238E27FC236}">
                <a16:creationId xmlns:a16="http://schemas.microsoft.com/office/drawing/2014/main" id="{2AB8F1D2-8B60-A140-9508-E522AFA6A22B}"/>
              </a:ext>
            </a:extLst>
          </p:cNvPr>
          <p:cNvSpPr/>
          <p:nvPr/>
        </p:nvSpPr>
        <p:spPr>
          <a:xfrm>
            <a:off x="5508104" y="3433564"/>
            <a:ext cx="798014" cy="321946"/>
          </a:xfrm>
          <a:prstGeom prst="rect">
            <a:avLst/>
          </a:prstGeom>
          <a:noFill/>
          <a:ln>
            <a:solidFill>
              <a:srgbClr val="558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20" name="Rectangle 27">
            <a:extLst>
              <a:ext uri="{FF2B5EF4-FFF2-40B4-BE49-F238E27FC236}">
                <a16:creationId xmlns:a16="http://schemas.microsoft.com/office/drawing/2014/main" id="{B7C117F2-B9B8-644E-989C-9CB1C0113C1B}"/>
              </a:ext>
            </a:extLst>
          </p:cNvPr>
          <p:cNvSpPr/>
          <p:nvPr/>
        </p:nvSpPr>
        <p:spPr>
          <a:xfrm>
            <a:off x="6516216" y="3433564"/>
            <a:ext cx="798014" cy="321946"/>
          </a:xfrm>
          <a:prstGeom prst="rect">
            <a:avLst/>
          </a:prstGeom>
          <a:noFill/>
          <a:ln>
            <a:solidFill>
              <a:srgbClr val="558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B4DAA37-59BE-BF4B-B6CB-3C338A90B23C}"/>
              </a:ext>
            </a:extLst>
          </p:cNvPr>
          <p:cNvSpPr/>
          <p:nvPr/>
        </p:nvSpPr>
        <p:spPr>
          <a:xfrm>
            <a:off x="5436096" y="3217540"/>
            <a:ext cx="1944216" cy="1224136"/>
          </a:xfrm>
          <a:prstGeom prst="rect">
            <a:avLst/>
          </a:prstGeom>
          <a:noFill/>
          <a:ln w="63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5A09677-5BEA-094E-80A0-6E7B93FA0DFD}"/>
              </a:ext>
            </a:extLst>
          </p:cNvPr>
          <p:cNvSpPr txBox="1"/>
          <p:nvPr/>
        </p:nvSpPr>
        <p:spPr>
          <a:xfrm>
            <a:off x="6156176" y="3217540"/>
            <a:ext cx="5774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VM-N</a:t>
            </a:r>
            <a:endParaRPr kumimoji="1" lang="zh-CN" altLang="en-US" sz="1200" dirty="0"/>
          </a:p>
        </p:txBody>
      </p:sp>
      <p:sp>
        <p:nvSpPr>
          <p:cNvPr id="30" name="Rectangle 27">
            <a:extLst>
              <a:ext uri="{FF2B5EF4-FFF2-40B4-BE49-F238E27FC236}">
                <a16:creationId xmlns:a16="http://schemas.microsoft.com/office/drawing/2014/main" id="{2E7A2C11-B81A-3642-8C31-E0164752172F}"/>
              </a:ext>
            </a:extLst>
          </p:cNvPr>
          <p:cNvSpPr/>
          <p:nvPr/>
        </p:nvSpPr>
        <p:spPr>
          <a:xfrm>
            <a:off x="4211960" y="5017740"/>
            <a:ext cx="245894" cy="144016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4100344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4.44444E-6 L -0.16024 4.44444E-6 C -0.23229 4.44444E-6 -0.32049 -0.03473 -0.32049 -0.06306 L -0.32049 -0.12584 " pathEditMode="relative" rAng="0" ptsTypes="AAAA">
                                      <p:cBhvr>
                                        <p:cTn id="6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24" y="-63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4.44444E-6 L -0.14844 4.44444E-6 C -0.21528 4.44444E-6 -0.29688 -0.03473 -0.29688 -0.06306 L -0.29688 -0.12584 " pathEditMode="relative" rAng="0" ptsTypes="AAAA">
                                      <p:cBhvr>
                                        <p:cTn id="10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844" y="-63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4.44444E-6 L -0.13663 4.44444E-6 C -0.19809 4.44444E-6 -0.27327 -0.03473 -0.27327 -0.06306 L -0.27327 -0.12584 " pathEditMode="relative" rAng="0" ptsTypes="AAAA">
                                      <p:cBhvr>
                                        <p:cTn id="14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663" y="-63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1" grpId="0" animBg="1"/>
      <p:bldP spid="3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BCEA29-09C5-0E47-B276-069588B90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I/O</a:t>
            </a:r>
            <a:r>
              <a:rPr kumimoji="1" lang="zh-CN" altLang="en-US" dirty="0"/>
              <a:t>虚拟化的目标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20A1B1-9DC5-7B4B-936E-8AC80BEE5E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为虚拟机提供虚拟的外部设备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虚拟机正常使用设备</a:t>
            </a:r>
            <a:endParaRPr kumimoji="1" lang="en-US" altLang="zh-CN" dirty="0"/>
          </a:p>
          <a:p>
            <a:r>
              <a:rPr kumimoji="1" lang="zh-CN" altLang="en-US" dirty="0"/>
              <a:t>隔离不同虚拟机对外部设备的直接访问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实现</a:t>
            </a:r>
            <a:r>
              <a:rPr kumimoji="1" lang="en-US" altLang="zh-CN" dirty="0"/>
              <a:t>I/O</a:t>
            </a:r>
            <a:r>
              <a:rPr kumimoji="1" lang="zh-CN" altLang="en-US" dirty="0"/>
              <a:t>数据流和控制流的隔离</a:t>
            </a:r>
            <a:endParaRPr kumimoji="1" lang="en-US" altLang="zh-CN" dirty="0"/>
          </a:p>
          <a:p>
            <a:r>
              <a:rPr kumimoji="1" lang="zh-CN" altLang="en-US" dirty="0"/>
              <a:t>提高物理设备的利用资源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多个</a:t>
            </a:r>
            <a:r>
              <a:rPr kumimoji="1" lang="en-US" altLang="zh-CN" dirty="0"/>
              <a:t>VM</a:t>
            </a:r>
            <a:r>
              <a:rPr kumimoji="1" lang="zh-CN" altLang="en-US" dirty="0"/>
              <a:t>同时使用，可以提高物理设备的资源利用率</a:t>
            </a:r>
            <a:endParaRPr kumimoji="1" lang="en-US" altLang="zh-CN" dirty="0"/>
          </a:p>
          <a:p>
            <a:pPr lvl="2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B80975-FA49-9B43-859E-4436D413D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E1DDF1-6829-FD4A-BFEF-F65BDD3DB9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245559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60926E-1163-3240-B916-1821B8A54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怎么实现</a:t>
            </a:r>
            <a:r>
              <a:rPr kumimoji="1" lang="en-US" altLang="zh-CN" dirty="0"/>
              <a:t>I/O</a:t>
            </a:r>
            <a:r>
              <a:rPr kumimoji="1" lang="zh-CN" altLang="en-US" dirty="0"/>
              <a:t>虚拟化</a:t>
            </a:r>
            <a:r>
              <a:rPr kumimoji="1" lang="en-US" altLang="zh-CN" dirty="0"/>
              <a:t>?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396671-2850-2B4A-8D36-241AE0790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1</a:t>
            </a:r>
            <a:r>
              <a:rPr kumimoji="1" lang="zh-CN" altLang="en-US" dirty="0"/>
              <a:t>、设备模拟（</a:t>
            </a:r>
            <a:r>
              <a:rPr kumimoji="1" lang="en-US" altLang="zh-CN" dirty="0"/>
              <a:t>Emulation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r>
              <a:rPr kumimoji="1" lang="en-US" altLang="zh-CN" dirty="0"/>
              <a:t>2</a:t>
            </a:r>
            <a:r>
              <a:rPr kumimoji="1" lang="zh-CN" altLang="en-US" dirty="0"/>
              <a:t>、半虚拟化方式（</a:t>
            </a:r>
            <a:r>
              <a:rPr kumimoji="1" lang="en-US" altLang="zh-CN" dirty="0"/>
              <a:t>Para-virtualization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r>
              <a:rPr kumimoji="1" lang="en-US" altLang="zh-CN" dirty="0"/>
              <a:t>3</a:t>
            </a:r>
            <a:r>
              <a:rPr kumimoji="1" lang="zh-CN" altLang="en-US" dirty="0"/>
              <a:t>、设备直通（</a:t>
            </a:r>
            <a:r>
              <a:rPr kumimoji="1" lang="en-US" altLang="zh-CN" dirty="0"/>
              <a:t>Pass-through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A2EFA6-D663-DB43-9A38-A9F0A5C1F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155AE2-7245-6748-854F-D03D459796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691446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A49F09-2683-2146-A575-083E3F77B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方法</a:t>
            </a:r>
            <a:r>
              <a:rPr kumimoji="1" lang="en-US" altLang="zh-CN" dirty="0"/>
              <a:t>1</a:t>
            </a:r>
            <a:r>
              <a:rPr kumimoji="1" lang="zh-CN" altLang="en-US" dirty="0"/>
              <a:t>：设备模拟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420B86-1A68-0543-9D4E-232E9BDB3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1529806"/>
            <a:ext cx="8229600" cy="3371137"/>
          </a:xfrm>
        </p:spPr>
        <p:txBody>
          <a:bodyPr>
            <a:normAutofit/>
          </a:bodyPr>
          <a:lstStyle/>
          <a:p>
            <a:r>
              <a:rPr kumimoji="1" lang="en-US" altLang="zh-CN" sz="2000" dirty="0"/>
              <a:t>OS</a:t>
            </a:r>
            <a:r>
              <a:rPr kumimoji="1" lang="zh-CN" altLang="en-US" sz="2000" dirty="0"/>
              <a:t>与设备交互的硬件接口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模拟寄存器</a:t>
            </a:r>
            <a:r>
              <a:rPr kumimoji="1" lang="en-US" altLang="zh-CN" sz="1800" dirty="0"/>
              <a:t>(</a:t>
            </a:r>
            <a:r>
              <a:rPr kumimoji="1" lang="zh-CN" altLang="en-US" sz="1800" dirty="0"/>
              <a:t>中断等</a:t>
            </a:r>
            <a:r>
              <a:rPr kumimoji="1" lang="en-US" altLang="zh-CN" sz="1800" dirty="0"/>
              <a:t>)</a:t>
            </a:r>
          </a:p>
          <a:p>
            <a:pPr lvl="1"/>
            <a:r>
              <a:rPr kumimoji="1" lang="zh-CN" altLang="en-US" sz="1800" dirty="0"/>
              <a:t>捕捉</a:t>
            </a:r>
            <a:r>
              <a:rPr kumimoji="1" lang="en-US" altLang="zh-CN" sz="1800" dirty="0"/>
              <a:t>MMIO</a:t>
            </a:r>
            <a:r>
              <a:rPr kumimoji="1" lang="zh-CN" altLang="en-US" sz="1800" dirty="0"/>
              <a:t>操作</a:t>
            </a:r>
            <a:endParaRPr kumimoji="1" lang="en-US" altLang="zh-CN" sz="1800" dirty="0"/>
          </a:p>
          <a:p>
            <a:pPr lvl="1"/>
            <a:endParaRPr kumimoji="1" lang="en-US" altLang="zh-CN" sz="1800" dirty="0"/>
          </a:p>
          <a:p>
            <a:r>
              <a:rPr kumimoji="1" lang="zh-CN" altLang="en-US" sz="2000" dirty="0"/>
              <a:t>硬件虚拟化的方式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硬件虚拟化捕捉</a:t>
            </a:r>
            <a:r>
              <a:rPr kumimoji="1" lang="en-US" altLang="zh-CN" sz="1800" dirty="0"/>
              <a:t>PIO</a:t>
            </a:r>
            <a:r>
              <a:rPr kumimoji="1" lang="zh-CN" altLang="en-US" sz="1800" dirty="0"/>
              <a:t>指令</a:t>
            </a:r>
            <a:endParaRPr kumimoji="1" lang="en-US" altLang="zh-CN" sz="1800" dirty="0"/>
          </a:p>
          <a:p>
            <a:pPr lvl="1"/>
            <a:r>
              <a:rPr kumimoji="1" lang="en-US" altLang="zh-CN" sz="1800" dirty="0"/>
              <a:t>MMIO</a:t>
            </a:r>
            <a:r>
              <a:rPr kumimoji="1" lang="zh-CN" altLang="en-US" sz="1800" dirty="0"/>
              <a:t>对应内存在第二阶段页表中设置为</a:t>
            </a:r>
            <a:r>
              <a:rPr kumimoji="1" lang="en-US" altLang="zh-CN" sz="1800" dirty="0"/>
              <a:t>invalid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3B9F0E1-7EBE-444D-9C61-9CD43271F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E287E2-21D2-E742-ABD8-E0BE875D5D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8" name="Rectangle 24">
            <a:extLst>
              <a:ext uri="{FF2B5EF4-FFF2-40B4-BE49-F238E27FC236}">
                <a16:creationId xmlns:a16="http://schemas.microsoft.com/office/drawing/2014/main" id="{45477CE5-B0F7-F64E-9306-4D7908FF2382}"/>
              </a:ext>
            </a:extLst>
          </p:cNvPr>
          <p:cNvSpPr/>
          <p:nvPr/>
        </p:nvSpPr>
        <p:spPr>
          <a:xfrm>
            <a:off x="4495061" y="2613780"/>
            <a:ext cx="1761832" cy="385466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Device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9" name="Rectangle 27">
            <a:extLst>
              <a:ext uri="{FF2B5EF4-FFF2-40B4-BE49-F238E27FC236}">
                <a16:creationId xmlns:a16="http://schemas.microsoft.com/office/drawing/2014/main" id="{D5C16582-2DB4-C940-8EFD-8E46C79100D2}"/>
              </a:ext>
            </a:extLst>
          </p:cNvPr>
          <p:cNvSpPr/>
          <p:nvPr/>
        </p:nvSpPr>
        <p:spPr>
          <a:xfrm>
            <a:off x="4427984" y="1633364"/>
            <a:ext cx="1800200" cy="462028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OS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cxnSp>
        <p:nvCxnSpPr>
          <p:cNvPr id="10" name="Straight Connector 13">
            <a:extLst>
              <a:ext uri="{FF2B5EF4-FFF2-40B4-BE49-F238E27FC236}">
                <a16:creationId xmlns:a16="http://schemas.microsoft.com/office/drawing/2014/main" id="{D3682DCC-9086-9D4D-8BD5-22264D7E2CA5}"/>
              </a:ext>
            </a:extLst>
          </p:cNvPr>
          <p:cNvCxnSpPr/>
          <p:nvPr/>
        </p:nvCxnSpPr>
        <p:spPr>
          <a:xfrm>
            <a:off x="4385699" y="2469975"/>
            <a:ext cx="1981280" cy="0"/>
          </a:xfrm>
          <a:prstGeom prst="line">
            <a:avLst/>
          </a:prstGeom>
          <a:ln>
            <a:solidFill>
              <a:srgbClr val="BE3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27">
            <a:extLst>
              <a:ext uri="{FF2B5EF4-FFF2-40B4-BE49-F238E27FC236}">
                <a16:creationId xmlns:a16="http://schemas.microsoft.com/office/drawing/2014/main" id="{71CB81A4-7D63-1E46-926C-C3D007434A99}"/>
              </a:ext>
            </a:extLst>
          </p:cNvPr>
          <p:cNvSpPr/>
          <p:nvPr/>
        </p:nvSpPr>
        <p:spPr>
          <a:xfrm>
            <a:off x="4433396" y="1148679"/>
            <a:ext cx="798014" cy="321946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2" name="Rectangle 27">
            <a:extLst>
              <a:ext uri="{FF2B5EF4-FFF2-40B4-BE49-F238E27FC236}">
                <a16:creationId xmlns:a16="http://schemas.microsoft.com/office/drawing/2014/main" id="{B024DEEA-BB7A-C047-BDD5-13F5442C98FD}"/>
              </a:ext>
            </a:extLst>
          </p:cNvPr>
          <p:cNvSpPr/>
          <p:nvPr/>
        </p:nvSpPr>
        <p:spPr>
          <a:xfrm>
            <a:off x="5436096" y="1129308"/>
            <a:ext cx="798014" cy="321946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5" name="Rectangle 22">
            <a:extLst>
              <a:ext uri="{FF2B5EF4-FFF2-40B4-BE49-F238E27FC236}">
                <a16:creationId xmlns:a16="http://schemas.microsoft.com/office/drawing/2014/main" id="{33D7B41F-3D35-3B40-98A7-5D71BAF0A21B}"/>
              </a:ext>
            </a:extLst>
          </p:cNvPr>
          <p:cNvSpPr/>
          <p:nvPr/>
        </p:nvSpPr>
        <p:spPr>
          <a:xfrm>
            <a:off x="6975872" y="1993404"/>
            <a:ext cx="1761833" cy="322200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VMM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16" name="Rectangle 23">
            <a:extLst>
              <a:ext uri="{FF2B5EF4-FFF2-40B4-BE49-F238E27FC236}">
                <a16:creationId xmlns:a16="http://schemas.microsoft.com/office/drawing/2014/main" id="{0D73C13C-04D6-AC4B-A8C8-DF1D0B4BE87A}"/>
              </a:ext>
            </a:extLst>
          </p:cNvPr>
          <p:cNvSpPr/>
          <p:nvPr/>
        </p:nvSpPr>
        <p:spPr>
          <a:xfrm>
            <a:off x="7907635" y="1397969"/>
            <a:ext cx="835531" cy="462028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VM-2</a:t>
            </a:r>
          </a:p>
        </p:txBody>
      </p:sp>
      <p:sp>
        <p:nvSpPr>
          <p:cNvPr id="17" name="Rectangle 24">
            <a:extLst>
              <a:ext uri="{FF2B5EF4-FFF2-40B4-BE49-F238E27FC236}">
                <a16:creationId xmlns:a16="http://schemas.microsoft.com/office/drawing/2014/main" id="{8D352E57-64D7-AD46-8996-989D86268863}"/>
              </a:ext>
            </a:extLst>
          </p:cNvPr>
          <p:cNvSpPr/>
          <p:nvPr/>
        </p:nvSpPr>
        <p:spPr>
          <a:xfrm>
            <a:off x="6975872" y="2594409"/>
            <a:ext cx="1761832" cy="385466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Device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8" name="Rectangle 27">
            <a:extLst>
              <a:ext uri="{FF2B5EF4-FFF2-40B4-BE49-F238E27FC236}">
                <a16:creationId xmlns:a16="http://schemas.microsoft.com/office/drawing/2014/main" id="{512AF890-E286-BE43-893C-DA18F6992485}"/>
              </a:ext>
            </a:extLst>
          </p:cNvPr>
          <p:cNvSpPr/>
          <p:nvPr/>
        </p:nvSpPr>
        <p:spPr>
          <a:xfrm>
            <a:off x="6980803" y="1397969"/>
            <a:ext cx="835531" cy="462028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VM-1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19" name="Straight Connector 13">
            <a:extLst>
              <a:ext uri="{FF2B5EF4-FFF2-40B4-BE49-F238E27FC236}">
                <a16:creationId xmlns:a16="http://schemas.microsoft.com/office/drawing/2014/main" id="{7BD4B133-8AFA-3041-A300-8E702B37758D}"/>
              </a:ext>
            </a:extLst>
          </p:cNvPr>
          <p:cNvCxnSpPr/>
          <p:nvPr/>
        </p:nvCxnSpPr>
        <p:spPr>
          <a:xfrm>
            <a:off x="6866510" y="2450604"/>
            <a:ext cx="1981280" cy="0"/>
          </a:xfrm>
          <a:prstGeom prst="line">
            <a:avLst/>
          </a:prstGeom>
          <a:ln>
            <a:solidFill>
              <a:srgbClr val="BE3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27">
            <a:extLst>
              <a:ext uri="{FF2B5EF4-FFF2-40B4-BE49-F238E27FC236}">
                <a16:creationId xmlns:a16="http://schemas.microsoft.com/office/drawing/2014/main" id="{70D2E657-A649-9844-A693-A426B3E2DCDA}"/>
              </a:ext>
            </a:extLst>
          </p:cNvPr>
          <p:cNvSpPr/>
          <p:nvPr/>
        </p:nvSpPr>
        <p:spPr>
          <a:xfrm>
            <a:off x="6986215" y="913284"/>
            <a:ext cx="370384" cy="321946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21" name="Rectangle 27">
            <a:extLst>
              <a:ext uri="{FF2B5EF4-FFF2-40B4-BE49-F238E27FC236}">
                <a16:creationId xmlns:a16="http://schemas.microsoft.com/office/drawing/2014/main" id="{6F5FAE9F-4BC1-714E-9921-EB38BF536095}"/>
              </a:ext>
            </a:extLst>
          </p:cNvPr>
          <p:cNvSpPr/>
          <p:nvPr/>
        </p:nvSpPr>
        <p:spPr>
          <a:xfrm>
            <a:off x="7453321" y="913284"/>
            <a:ext cx="370384" cy="321946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F78511F3-3185-3041-8E39-186E174933F1}"/>
              </a:ext>
            </a:extLst>
          </p:cNvPr>
          <p:cNvSpPr/>
          <p:nvPr/>
        </p:nvSpPr>
        <p:spPr>
          <a:xfrm>
            <a:off x="7917977" y="913284"/>
            <a:ext cx="370384" cy="321946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23" name="Rectangle 27">
            <a:extLst>
              <a:ext uri="{FF2B5EF4-FFF2-40B4-BE49-F238E27FC236}">
                <a16:creationId xmlns:a16="http://schemas.microsoft.com/office/drawing/2014/main" id="{00FA60D5-D7F8-904C-A0F2-676F3F43363B}"/>
              </a:ext>
            </a:extLst>
          </p:cNvPr>
          <p:cNvSpPr/>
          <p:nvPr/>
        </p:nvSpPr>
        <p:spPr>
          <a:xfrm>
            <a:off x="8385083" y="913284"/>
            <a:ext cx="370384" cy="321946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93A3D695-9B6F-144F-9703-C4C1FAFF04AB}"/>
              </a:ext>
            </a:extLst>
          </p:cNvPr>
          <p:cNvCxnSpPr>
            <a:cxnSpLocks/>
          </p:cNvCxnSpPr>
          <p:nvPr/>
        </p:nvCxnSpPr>
        <p:spPr>
          <a:xfrm>
            <a:off x="5076056" y="2137420"/>
            <a:ext cx="0" cy="43204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3FCB49E5-FA9E-4F4D-B839-7FCCC38B955A}"/>
              </a:ext>
            </a:extLst>
          </p:cNvPr>
          <p:cNvCxnSpPr/>
          <p:nvPr/>
        </p:nvCxnSpPr>
        <p:spPr>
          <a:xfrm>
            <a:off x="5868144" y="2137420"/>
            <a:ext cx="0" cy="43204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16DE2C1F-C8D8-A047-86ED-F7B05427D663}"/>
              </a:ext>
            </a:extLst>
          </p:cNvPr>
          <p:cNvSpPr txBox="1"/>
          <p:nvPr/>
        </p:nvSpPr>
        <p:spPr>
          <a:xfrm>
            <a:off x="5292080" y="2137420"/>
            <a:ext cx="6719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MMIO</a:t>
            </a:r>
            <a:endParaRPr kumimoji="1" lang="zh-CN" altLang="en-US" sz="140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ADDB1781-A0B5-A944-BFBB-D326C9CC3A87}"/>
              </a:ext>
            </a:extLst>
          </p:cNvPr>
          <p:cNvSpPr txBox="1"/>
          <p:nvPr/>
        </p:nvSpPr>
        <p:spPr>
          <a:xfrm>
            <a:off x="4427984" y="2137420"/>
            <a:ext cx="7232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/>
              <a:t>寄存器</a:t>
            </a:r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4B52C7A0-3CF2-924E-90D5-7EDBDCD55936}"/>
              </a:ext>
            </a:extLst>
          </p:cNvPr>
          <p:cNvCxnSpPr>
            <a:cxnSpLocks/>
          </p:cNvCxnSpPr>
          <p:nvPr/>
        </p:nvCxnSpPr>
        <p:spPr>
          <a:xfrm>
            <a:off x="7164288" y="1705372"/>
            <a:ext cx="0" cy="43204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2E6DBC16-98A9-BB46-87FE-84A8FB8C8D19}"/>
              </a:ext>
            </a:extLst>
          </p:cNvPr>
          <p:cNvCxnSpPr>
            <a:cxnSpLocks/>
          </p:cNvCxnSpPr>
          <p:nvPr/>
        </p:nvCxnSpPr>
        <p:spPr>
          <a:xfrm>
            <a:off x="7380312" y="1705372"/>
            <a:ext cx="0" cy="43204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67D758A6-5F61-C14F-8411-21B4BA5903FE}"/>
              </a:ext>
            </a:extLst>
          </p:cNvPr>
          <p:cNvCxnSpPr>
            <a:cxnSpLocks/>
          </p:cNvCxnSpPr>
          <p:nvPr/>
        </p:nvCxnSpPr>
        <p:spPr>
          <a:xfrm>
            <a:off x="7596336" y="1705372"/>
            <a:ext cx="0" cy="43204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线箭头连接符 39">
            <a:extLst>
              <a:ext uri="{FF2B5EF4-FFF2-40B4-BE49-F238E27FC236}">
                <a16:creationId xmlns:a16="http://schemas.microsoft.com/office/drawing/2014/main" id="{E759DFC3-178A-5742-860B-339F2333AD8F}"/>
              </a:ext>
            </a:extLst>
          </p:cNvPr>
          <p:cNvCxnSpPr>
            <a:cxnSpLocks/>
          </p:cNvCxnSpPr>
          <p:nvPr/>
        </p:nvCxnSpPr>
        <p:spPr>
          <a:xfrm>
            <a:off x="8100392" y="1705372"/>
            <a:ext cx="0" cy="43204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箭头连接符 40">
            <a:extLst>
              <a:ext uri="{FF2B5EF4-FFF2-40B4-BE49-F238E27FC236}">
                <a16:creationId xmlns:a16="http://schemas.microsoft.com/office/drawing/2014/main" id="{4D466632-216C-B243-B3A9-6DB3DCB6B71B}"/>
              </a:ext>
            </a:extLst>
          </p:cNvPr>
          <p:cNvCxnSpPr>
            <a:cxnSpLocks/>
          </p:cNvCxnSpPr>
          <p:nvPr/>
        </p:nvCxnSpPr>
        <p:spPr>
          <a:xfrm>
            <a:off x="8316416" y="1705372"/>
            <a:ext cx="0" cy="43204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线箭头连接符 41">
            <a:extLst>
              <a:ext uri="{FF2B5EF4-FFF2-40B4-BE49-F238E27FC236}">
                <a16:creationId xmlns:a16="http://schemas.microsoft.com/office/drawing/2014/main" id="{4588F3DA-9012-E64A-90F6-A5F14DD8E0BB}"/>
              </a:ext>
            </a:extLst>
          </p:cNvPr>
          <p:cNvCxnSpPr>
            <a:cxnSpLocks/>
          </p:cNvCxnSpPr>
          <p:nvPr/>
        </p:nvCxnSpPr>
        <p:spPr>
          <a:xfrm>
            <a:off x="8532440" y="1705372"/>
            <a:ext cx="0" cy="43204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线箭头连接符 42">
            <a:extLst>
              <a:ext uri="{FF2B5EF4-FFF2-40B4-BE49-F238E27FC236}">
                <a16:creationId xmlns:a16="http://schemas.microsoft.com/office/drawing/2014/main" id="{446777D0-022F-8648-AFC4-91808BDD990A}"/>
              </a:ext>
            </a:extLst>
          </p:cNvPr>
          <p:cNvCxnSpPr>
            <a:cxnSpLocks/>
          </p:cNvCxnSpPr>
          <p:nvPr/>
        </p:nvCxnSpPr>
        <p:spPr>
          <a:xfrm>
            <a:off x="7596336" y="2281436"/>
            <a:ext cx="0" cy="43204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线箭头连接符 43">
            <a:extLst>
              <a:ext uri="{FF2B5EF4-FFF2-40B4-BE49-F238E27FC236}">
                <a16:creationId xmlns:a16="http://schemas.microsoft.com/office/drawing/2014/main" id="{D23A47DC-40D5-D647-B4E8-70E480A54D92}"/>
              </a:ext>
            </a:extLst>
          </p:cNvPr>
          <p:cNvCxnSpPr>
            <a:cxnSpLocks/>
          </p:cNvCxnSpPr>
          <p:nvPr/>
        </p:nvCxnSpPr>
        <p:spPr>
          <a:xfrm>
            <a:off x="7812360" y="2281436"/>
            <a:ext cx="0" cy="43204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线箭头连接符 44">
            <a:extLst>
              <a:ext uri="{FF2B5EF4-FFF2-40B4-BE49-F238E27FC236}">
                <a16:creationId xmlns:a16="http://schemas.microsoft.com/office/drawing/2014/main" id="{363E41C2-CD73-F94C-9DFE-A3E070BEE44A}"/>
              </a:ext>
            </a:extLst>
          </p:cNvPr>
          <p:cNvCxnSpPr>
            <a:cxnSpLocks/>
          </p:cNvCxnSpPr>
          <p:nvPr/>
        </p:nvCxnSpPr>
        <p:spPr>
          <a:xfrm>
            <a:off x="8028384" y="2281436"/>
            <a:ext cx="0" cy="43204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右箭头 45">
            <a:extLst>
              <a:ext uri="{FF2B5EF4-FFF2-40B4-BE49-F238E27FC236}">
                <a16:creationId xmlns:a16="http://schemas.microsoft.com/office/drawing/2014/main" id="{C72CAAB3-185A-B640-BD6A-8F4ACE88F89A}"/>
              </a:ext>
            </a:extLst>
          </p:cNvPr>
          <p:cNvSpPr/>
          <p:nvPr/>
        </p:nvSpPr>
        <p:spPr>
          <a:xfrm>
            <a:off x="6486327" y="1744778"/>
            <a:ext cx="288031" cy="36004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A0F9D11-C233-DE4E-8F65-737DEF1DD58D}"/>
              </a:ext>
            </a:extLst>
          </p:cNvPr>
          <p:cNvSpPr/>
          <p:nvPr/>
        </p:nvSpPr>
        <p:spPr>
          <a:xfrm>
            <a:off x="4912682" y="526954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zh-CN" altLang="en-US" sz="1400" b="1" dirty="0"/>
              <a:t>非虚拟化</a:t>
            </a:r>
            <a:endParaRPr lang="zh-CN" altLang="en-US" sz="1400" b="1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E59599D-A6C6-1943-A01F-A913CFA8114C}"/>
              </a:ext>
            </a:extLst>
          </p:cNvPr>
          <p:cNvSpPr/>
          <p:nvPr/>
        </p:nvSpPr>
        <p:spPr>
          <a:xfrm>
            <a:off x="7495150" y="538701"/>
            <a:ext cx="7232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zh-CN" altLang="en-US" sz="1400" b="1" dirty="0"/>
              <a:t>虚拟化</a:t>
            </a:r>
            <a:endParaRPr lang="zh-CN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2756353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C26BD7-B885-4F46-BBBE-024F0B330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例：</a:t>
            </a:r>
            <a:r>
              <a:rPr kumimoji="1" lang="en-US" altLang="zh-CN" dirty="0"/>
              <a:t>QEMU/KVM</a:t>
            </a:r>
            <a:r>
              <a:rPr kumimoji="1" lang="zh-CN" altLang="en-US" dirty="0"/>
              <a:t>设备模拟</a:t>
            </a:r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894243-27D7-1043-AC6A-11814C2348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以虚拟网卡举例</a:t>
            </a:r>
            <a:r>
              <a:rPr kumimoji="1" lang="en-US" altLang="zh-CN" dirty="0"/>
              <a:t>——</a:t>
            </a:r>
            <a:r>
              <a:rPr kumimoji="1" lang="zh-CN" altLang="en-US" dirty="0"/>
              <a:t>发包过程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DDE6E0-1DCD-7949-9FCD-796A71CC6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C6FF35-FBEF-C14A-B470-F6FE4B1EB0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7" name="Rectangle 22">
            <a:extLst>
              <a:ext uri="{FF2B5EF4-FFF2-40B4-BE49-F238E27FC236}">
                <a16:creationId xmlns:a16="http://schemas.microsoft.com/office/drawing/2014/main" id="{E1767C7E-0AFE-FD4B-8602-A1893D443A85}"/>
              </a:ext>
            </a:extLst>
          </p:cNvPr>
          <p:cNvSpPr/>
          <p:nvPr/>
        </p:nvSpPr>
        <p:spPr>
          <a:xfrm>
            <a:off x="1114046" y="4201647"/>
            <a:ext cx="3316857" cy="552063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Linux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8" name="Rectangle 27">
            <a:extLst>
              <a:ext uri="{FF2B5EF4-FFF2-40B4-BE49-F238E27FC236}">
                <a16:creationId xmlns:a16="http://schemas.microsoft.com/office/drawing/2014/main" id="{640C3AD8-7A0A-9340-AA72-25C14E201ED8}"/>
              </a:ext>
            </a:extLst>
          </p:cNvPr>
          <p:cNvSpPr/>
          <p:nvPr/>
        </p:nvSpPr>
        <p:spPr>
          <a:xfrm>
            <a:off x="1104094" y="2453454"/>
            <a:ext cx="3284547" cy="460051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QEMU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9" name="Straight Connector 13">
            <a:extLst>
              <a:ext uri="{FF2B5EF4-FFF2-40B4-BE49-F238E27FC236}">
                <a16:creationId xmlns:a16="http://schemas.microsoft.com/office/drawing/2014/main" id="{809E3391-6343-144A-8470-B54CAB127AA3}"/>
              </a:ext>
            </a:extLst>
          </p:cNvPr>
          <p:cNvCxnSpPr>
            <a:cxnSpLocks/>
          </p:cNvCxnSpPr>
          <p:nvPr/>
        </p:nvCxnSpPr>
        <p:spPr>
          <a:xfrm>
            <a:off x="262615" y="3952617"/>
            <a:ext cx="8557857" cy="0"/>
          </a:xfrm>
          <a:prstGeom prst="line">
            <a:avLst/>
          </a:prstGeom>
          <a:ln>
            <a:solidFill>
              <a:srgbClr val="BE3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BEFD5F16-63FB-1F4B-A60C-EA06E351F572}"/>
              </a:ext>
            </a:extLst>
          </p:cNvPr>
          <p:cNvSpPr txBox="1"/>
          <p:nvPr/>
        </p:nvSpPr>
        <p:spPr>
          <a:xfrm>
            <a:off x="107504" y="3281546"/>
            <a:ext cx="1015987" cy="640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EL1</a:t>
            </a:r>
            <a:endParaRPr kumimoji="1"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0BEF980-5DD5-5E4D-993D-5856367B911D}"/>
              </a:ext>
            </a:extLst>
          </p:cNvPr>
          <p:cNvSpPr txBox="1"/>
          <p:nvPr/>
        </p:nvSpPr>
        <p:spPr>
          <a:xfrm>
            <a:off x="107504" y="2361444"/>
            <a:ext cx="1015987" cy="640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EL0</a:t>
            </a:r>
            <a:endParaRPr kumimoji="1"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29978EE-997C-3D47-BB70-F7A5BB4EBC1A}"/>
              </a:ext>
            </a:extLst>
          </p:cNvPr>
          <p:cNvSpPr txBox="1"/>
          <p:nvPr/>
        </p:nvSpPr>
        <p:spPr>
          <a:xfrm>
            <a:off x="107504" y="4293658"/>
            <a:ext cx="1015987" cy="640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EL2</a:t>
            </a:r>
            <a:endParaRPr kumimoji="1"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B3E8B95-E320-3341-8AD9-A52324795A1F}"/>
              </a:ext>
            </a:extLst>
          </p:cNvPr>
          <p:cNvSpPr txBox="1"/>
          <p:nvPr/>
        </p:nvSpPr>
        <p:spPr>
          <a:xfrm>
            <a:off x="2281882" y="1993403"/>
            <a:ext cx="910011" cy="4719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VMM</a:t>
            </a:r>
            <a:endParaRPr kumimoji="1" lang="zh-CN" altLang="en-US" dirty="0"/>
          </a:p>
        </p:txBody>
      </p:sp>
      <p:sp>
        <p:nvSpPr>
          <p:cNvPr id="14" name="Rectangle 22">
            <a:extLst>
              <a:ext uri="{FF2B5EF4-FFF2-40B4-BE49-F238E27FC236}">
                <a16:creationId xmlns:a16="http://schemas.microsoft.com/office/drawing/2014/main" id="{C4E8D8AC-AB54-154F-A1E6-C38F24D26FD7}"/>
              </a:ext>
            </a:extLst>
          </p:cNvPr>
          <p:cNvSpPr/>
          <p:nvPr/>
        </p:nvSpPr>
        <p:spPr>
          <a:xfrm>
            <a:off x="6386816" y="3097526"/>
            <a:ext cx="2008746" cy="502780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Network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Driver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5" name="Rectangle 27">
            <a:extLst>
              <a:ext uri="{FF2B5EF4-FFF2-40B4-BE49-F238E27FC236}">
                <a16:creationId xmlns:a16="http://schemas.microsoft.com/office/drawing/2014/main" id="{2905C887-43CB-1C46-9C6D-53FF47B5470B}"/>
              </a:ext>
            </a:extLst>
          </p:cNvPr>
          <p:cNvSpPr/>
          <p:nvPr/>
        </p:nvSpPr>
        <p:spPr>
          <a:xfrm>
            <a:off x="6388610" y="2453454"/>
            <a:ext cx="2018700" cy="460051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Network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Stack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DE114BA0-A65A-DC45-B784-B752ABA92A84}"/>
              </a:ext>
            </a:extLst>
          </p:cNvPr>
          <p:cNvSpPr/>
          <p:nvPr/>
        </p:nvSpPr>
        <p:spPr>
          <a:xfrm>
            <a:off x="4890068" y="1993403"/>
            <a:ext cx="3688484" cy="1745043"/>
          </a:xfrm>
          <a:prstGeom prst="roundRect">
            <a:avLst>
              <a:gd name="adj" fmla="val 7310"/>
            </a:avLst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CE46FE4-5037-BE43-A8A8-100CC2AE7911}"/>
              </a:ext>
            </a:extLst>
          </p:cNvPr>
          <p:cNvSpPr txBox="1"/>
          <p:nvPr/>
        </p:nvSpPr>
        <p:spPr>
          <a:xfrm>
            <a:off x="6296216" y="1993403"/>
            <a:ext cx="667987" cy="4719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</a:t>
            </a:r>
            <a:endParaRPr kumimoji="1" lang="zh-CN" altLang="en-US" dirty="0"/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DA1879DB-274C-1F4B-812E-100CFBCAB710}"/>
              </a:ext>
            </a:extLst>
          </p:cNvPr>
          <p:cNvSpPr/>
          <p:nvPr/>
        </p:nvSpPr>
        <p:spPr>
          <a:xfrm>
            <a:off x="950870" y="1993403"/>
            <a:ext cx="3688484" cy="2852317"/>
          </a:xfrm>
          <a:prstGeom prst="roundRect">
            <a:avLst>
              <a:gd name="adj" fmla="val 6744"/>
            </a:avLst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9" name="Rectangle 22">
            <a:extLst>
              <a:ext uri="{FF2B5EF4-FFF2-40B4-BE49-F238E27FC236}">
                <a16:creationId xmlns:a16="http://schemas.microsoft.com/office/drawing/2014/main" id="{7926F197-63D9-FF41-BD7C-EFC900A651A4}"/>
              </a:ext>
            </a:extLst>
          </p:cNvPr>
          <p:cNvSpPr/>
          <p:nvPr/>
        </p:nvSpPr>
        <p:spPr>
          <a:xfrm>
            <a:off x="2761089" y="4385670"/>
            <a:ext cx="1441897" cy="276031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KVM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cxnSp>
        <p:nvCxnSpPr>
          <p:cNvPr id="20" name="肘形连接符 19">
            <a:extLst>
              <a:ext uri="{FF2B5EF4-FFF2-40B4-BE49-F238E27FC236}">
                <a16:creationId xmlns:a16="http://schemas.microsoft.com/office/drawing/2014/main" id="{CD7B5AF9-BD9A-E740-8DFC-6871165D7EC0}"/>
              </a:ext>
            </a:extLst>
          </p:cNvPr>
          <p:cNvCxnSpPr>
            <a:cxnSpLocks/>
            <a:stCxn id="14" idx="2"/>
          </p:cNvCxnSpPr>
          <p:nvPr/>
        </p:nvCxnSpPr>
        <p:spPr>
          <a:xfrm rot="5400000">
            <a:off x="6349442" y="3987997"/>
            <a:ext cx="1429437" cy="654055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7">
            <a:extLst>
              <a:ext uri="{FF2B5EF4-FFF2-40B4-BE49-F238E27FC236}">
                <a16:creationId xmlns:a16="http://schemas.microsoft.com/office/drawing/2014/main" id="{1F7A6FC7-C082-AF4C-A4D9-5C4A404816D1}"/>
              </a:ext>
            </a:extLst>
          </p:cNvPr>
          <p:cNvSpPr/>
          <p:nvPr/>
        </p:nvSpPr>
        <p:spPr>
          <a:xfrm>
            <a:off x="2825477" y="3741597"/>
            <a:ext cx="1323677" cy="304308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rgbClr val="BE384B"/>
                </a:solidFill>
                <a:cs typeface="Arial Narrow"/>
              </a:rPr>
              <a:t>/dev/</a:t>
            </a:r>
            <a:r>
              <a:rPr lang="en-US" altLang="zh-CN" sz="1200" dirty="0" err="1">
                <a:solidFill>
                  <a:srgbClr val="BE384B"/>
                </a:solidFill>
                <a:cs typeface="Arial Narrow"/>
              </a:rPr>
              <a:t>kvm</a:t>
            </a:r>
            <a:endParaRPr lang="en-US" sz="12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F78808EC-FCD1-A243-B17B-2168E211893C}"/>
              </a:ext>
            </a:extLst>
          </p:cNvPr>
          <p:cNvCxnSpPr>
            <a:cxnSpLocks/>
          </p:cNvCxnSpPr>
          <p:nvPr/>
        </p:nvCxnSpPr>
        <p:spPr>
          <a:xfrm>
            <a:off x="3487645" y="2821495"/>
            <a:ext cx="0" cy="1012112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B71BD70E-F834-134E-A1A3-EA93DD932AFE}"/>
              </a:ext>
            </a:extLst>
          </p:cNvPr>
          <p:cNvCxnSpPr>
            <a:cxnSpLocks/>
            <a:stCxn id="21" idx="2"/>
            <a:endCxn id="19" idx="0"/>
          </p:cNvCxnSpPr>
          <p:nvPr/>
        </p:nvCxnSpPr>
        <p:spPr>
          <a:xfrm flipH="1">
            <a:off x="3482038" y="4045905"/>
            <a:ext cx="5277" cy="339765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BF3176FE-0ED2-2841-A99E-11FE1B0C8D86}"/>
              </a:ext>
            </a:extLst>
          </p:cNvPr>
          <p:cNvSpPr txBox="1"/>
          <p:nvPr/>
        </p:nvSpPr>
        <p:spPr>
          <a:xfrm>
            <a:off x="6792141" y="4492856"/>
            <a:ext cx="1826141" cy="369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</a:t>
            </a:r>
            <a:r>
              <a:rPr kumimoji="1" lang="zh-CN" altLang="en-US" dirty="0"/>
              <a:t> </a:t>
            </a:r>
            <a:r>
              <a:rPr kumimoji="1" lang="en-US" altLang="zh-CN" dirty="0"/>
              <a:t>Exit</a:t>
            </a:r>
            <a:r>
              <a:rPr kumimoji="1" lang="zh-CN" altLang="en-US" dirty="0"/>
              <a:t> </a:t>
            </a:r>
            <a:r>
              <a:rPr kumimoji="1" lang="en-US" altLang="zh-CN" dirty="0"/>
              <a:t>(MMIO)</a:t>
            </a:r>
            <a:endParaRPr kumimoji="1" lang="zh-CN" altLang="en-US" dirty="0"/>
          </a:p>
        </p:txBody>
      </p:sp>
      <p:sp>
        <p:nvSpPr>
          <p:cNvPr id="26" name="Rectangle 22">
            <a:extLst>
              <a:ext uri="{FF2B5EF4-FFF2-40B4-BE49-F238E27FC236}">
                <a16:creationId xmlns:a16="http://schemas.microsoft.com/office/drawing/2014/main" id="{42C49016-9075-6848-8C37-AAEF2B0BBEB8}"/>
              </a:ext>
            </a:extLst>
          </p:cNvPr>
          <p:cNvSpPr/>
          <p:nvPr/>
        </p:nvSpPr>
        <p:spPr>
          <a:xfrm>
            <a:off x="2843807" y="5029742"/>
            <a:ext cx="5744821" cy="204021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Hardware</a:t>
            </a:r>
            <a:r>
              <a:rPr lang="zh-CN" altLang="en-US" sz="1600" dirty="0">
                <a:solidFill>
                  <a:schemeClr val="bg1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Virtualization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98A66D88-6FEE-8A45-AB93-55E16F9294D7}"/>
              </a:ext>
            </a:extLst>
          </p:cNvPr>
          <p:cNvCxnSpPr>
            <a:cxnSpLocks/>
          </p:cNvCxnSpPr>
          <p:nvPr/>
        </p:nvCxnSpPr>
        <p:spPr>
          <a:xfrm>
            <a:off x="3475696" y="4661699"/>
            <a:ext cx="0" cy="460051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7">
            <a:extLst>
              <a:ext uri="{FF2B5EF4-FFF2-40B4-BE49-F238E27FC236}">
                <a16:creationId xmlns:a16="http://schemas.microsoft.com/office/drawing/2014/main" id="{9AA86F38-2D9E-334F-BC7A-0788E4766774}"/>
              </a:ext>
            </a:extLst>
          </p:cNvPr>
          <p:cNvSpPr/>
          <p:nvPr/>
        </p:nvSpPr>
        <p:spPr>
          <a:xfrm>
            <a:off x="5076056" y="2569468"/>
            <a:ext cx="936104" cy="720080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Memory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B843517B-C44E-A549-AD7F-067822233C0E}"/>
              </a:ext>
            </a:extLst>
          </p:cNvPr>
          <p:cNvCxnSpPr>
            <a:cxnSpLocks/>
          </p:cNvCxnSpPr>
          <p:nvPr/>
        </p:nvCxnSpPr>
        <p:spPr>
          <a:xfrm>
            <a:off x="7380312" y="2857500"/>
            <a:ext cx="0" cy="36004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27">
            <a:extLst>
              <a:ext uri="{FF2B5EF4-FFF2-40B4-BE49-F238E27FC236}">
                <a16:creationId xmlns:a16="http://schemas.microsoft.com/office/drawing/2014/main" id="{DBA08416-4717-9D4C-BE50-A745151F3387}"/>
              </a:ext>
            </a:extLst>
          </p:cNvPr>
          <p:cNvSpPr/>
          <p:nvPr/>
        </p:nvSpPr>
        <p:spPr>
          <a:xfrm>
            <a:off x="1763688" y="4311642"/>
            <a:ext cx="939660" cy="360040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rgbClr val="BE384B"/>
                </a:solidFill>
                <a:cs typeface="Arial Narrow"/>
              </a:rPr>
              <a:t>Network</a:t>
            </a:r>
          </a:p>
          <a:p>
            <a:pPr algn="ctr"/>
            <a:r>
              <a:rPr lang="en-US" altLang="zh-CN" sz="1200" dirty="0">
                <a:solidFill>
                  <a:srgbClr val="BE384B"/>
                </a:solidFill>
                <a:cs typeface="Arial Narrow"/>
              </a:rPr>
              <a:t>Driver</a:t>
            </a:r>
            <a:endParaRPr lang="en-US" sz="12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98C203E7-5466-F542-9E5C-BD562A134B63}"/>
              </a:ext>
            </a:extLst>
          </p:cNvPr>
          <p:cNvCxnSpPr>
            <a:cxnSpLocks/>
          </p:cNvCxnSpPr>
          <p:nvPr/>
        </p:nvCxnSpPr>
        <p:spPr>
          <a:xfrm flipV="1">
            <a:off x="2195736" y="2857500"/>
            <a:ext cx="0" cy="1512168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图片 38">
            <a:extLst>
              <a:ext uri="{FF2B5EF4-FFF2-40B4-BE49-F238E27FC236}">
                <a16:creationId xmlns:a16="http://schemas.microsoft.com/office/drawing/2014/main" id="{02FFD3F9-0F4F-EA44-B994-832A77B336A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50385" y="5017740"/>
            <a:ext cx="566266" cy="509904"/>
          </a:xfrm>
          <a:prstGeom prst="rect">
            <a:avLst/>
          </a:prstGeom>
        </p:spPr>
      </p:pic>
      <p:cxnSp>
        <p:nvCxnSpPr>
          <p:cNvPr id="40" name="直线箭头连接符 39">
            <a:extLst>
              <a:ext uri="{FF2B5EF4-FFF2-40B4-BE49-F238E27FC236}">
                <a16:creationId xmlns:a16="http://schemas.microsoft.com/office/drawing/2014/main" id="{AC5A12A3-0332-3C4C-9BA2-71229B4D1A3F}"/>
              </a:ext>
            </a:extLst>
          </p:cNvPr>
          <p:cNvCxnSpPr>
            <a:cxnSpLocks/>
            <a:stCxn id="39" idx="0"/>
            <a:endCxn id="37" idx="2"/>
          </p:cNvCxnSpPr>
          <p:nvPr/>
        </p:nvCxnSpPr>
        <p:spPr>
          <a:xfrm flipV="1">
            <a:off x="2233518" y="4671682"/>
            <a:ext cx="0" cy="346058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线箭头连接符 41">
            <a:extLst>
              <a:ext uri="{FF2B5EF4-FFF2-40B4-BE49-F238E27FC236}">
                <a16:creationId xmlns:a16="http://schemas.microsoft.com/office/drawing/2014/main" id="{7E0FE97B-F1A4-CA40-9431-1F313D6A97DA}"/>
              </a:ext>
            </a:extLst>
          </p:cNvPr>
          <p:cNvCxnSpPr>
            <a:cxnSpLocks/>
            <a:endCxn id="39" idx="1"/>
          </p:cNvCxnSpPr>
          <p:nvPr/>
        </p:nvCxnSpPr>
        <p:spPr>
          <a:xfrm>
            <a:off x="1302313" y="5272692"/>
            <a:ext cx="648072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08991986-AB85-C744-93B0-08A01EE0D523}"/>
              </a:ext>
            </a:extLst>
          </p:cNvPr>
          <p:cNvSpPr txBox="1"/>
          <p:nvPr/>
        </p:nvSpPr>
        <p:spPr>
          <a:xfrm>
            <a:off x="1331640" y="3433564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system</a:t>
            </a:r>
            <a:r>
              <a:rPr kumimoji="1" lang="zh-CN" altLang="en-US" dirty="0"/>
              <a:t> </a:t>
            </a:r>
            <a:r>
              <a:rPr kumimoji="1" lang="en-US" altLang="zh-CN" dirty="0"/>
              <a:t>call</a:t>
            </a:r>
            <a:endParaRPr kumimoji="1" lang="zh-CN" altLang="en-US" dirty="0"/>
          </a:p>
        </p:txBody>
      </p:sp>
      <p:cxnSp>
        <p:nvCxnSpPr>
          <p:cNvPr id="47" name="直线箭头连接符 46">
            <a:extLst>
              <a:ext uri="{FF2B5EF4-FFF2-40B4-BE49-F238E27FC236}">
                <a16:creationId xmlns:a16="http://schemas.microsoft.com/office/drawing/2014/main" id="{C3153132-6B5B-A54B-A0A8-828D8A15281C}"/>
              </a:ext>
            </a:extLst>
          </p:cNvPr>
          <p:cNvCxnSpPr>
            <a:cxnSpLocks/>
          </p:cNvCxnSpPr>
          <p:nvPr/>
        </p:nvCxnSpPr>
        <p:spPr>
          <a:xfrm>
            <a:off x="4067944" y="2713484"/>
            <a:ext cx="1080120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5003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4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C26BD7-B885-4F46-BBBE-024F0B330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例：</a:t>
            </a:r>
            <a:r>
              <a:rPr kumimoji="1" lang="en-US" altLang="zh-CN" dirty="0"/>
              <a:t>QEMU/KVM</a:t>
            </a:r>
            <a:r>
              <a:rPr kumimoji="1" lang="zh-CN" altLang="en-US" dirty="0"/>
              <a:t>设备模拟</a:t>
            </a:r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894243-27D7-1043-AC6A-11814C2348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以虚拟网卡举例</a:t>
            </a:r>
            <a:r>
              <a:rPr kumimoji="1" lang="en-US" altLang="zh-CN" dirty="0"/>
              <a:t>——</a:t>
            </a:r>
            <a:r>
              <a:rPr kumimoji="1" lang="zh-CN" altLang="en-US" dirty="0"/>
              <a:t>收包过程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DDE6E0-1DCD-7949-9FCD-796A71CC6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C6FF35-FBEF-C14A-B470-F6FE4B1EB0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7" name="Rectangle 22">
            <a:extLst>
              <a:ext uri="{FF2B5EF4-FFF2-40B4-BE49-F238E27FC236}">
                <a16:creationId xmlns:a16="http://schemas.microsoft.com/office/drawing/2014/main" id="{E1767C7E-0AFE-FD4B-8602-A1893D443A85}"/>
              </a:ext>
            </a:extLst>
          </p:cNvPr>
          <p:cNvSpPr/>
          <p:nvPr/>
        </p:nvSpPr>
        <p:spPr>
          <a:xfrm>
            <a:off x="1114046" y="4201647"/>
            <a:ext cx="3316857" cy="552063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Linux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8" name="Rectangle 27">
            <a:extLst>
              <a:ext uri="{FF2B5EF4-FFF2-40B4-BE49-F238E27FC236}">
                <a16:creationId xmlns:a16="http://schemas.microsoft.com/office/drawing/2014/main" id="{640C3AD8-7A0A-9340-AA72-25C14E201ED8}"/>
              </a:ext>
            </a:extLst>
          </p:cNvPr>
          <p:cNvSpPr/>
          <p:nvPr/>
        </p:nvSpPr>
        <p:spPr>
          <a:xfrm>
            <a:off x="1104094" y="2453454"/>
            <a:ext cx="3284547" cy="460051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QEMU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9" name="Straight Connector 13">
            <a:extLst>
              <a:ext uri="{FF2B5EF4-FFF2-40B4-BE49-F238E27FC236}">
                <a16:creationId xmlns:a16="http://schemas.microsoft.com/office/drawing/2014/main" id="{809E3391-6343-144A-8470-B54CAB127AA3}"/>
              </a:ext>
            </a:extLst>
          </p:cNvPr>
          <p:cNvCxnSpPr>
            <a:cxnSpLocks/>
          </p:cNvCxnSpPr>
          <p:nvPr/>
        </p:nvCxnSpPr>
        <p:spPr>
          <a:xfrm>
            <a:off x="262615" y="3952617"/>
            <a:ext cx="8557857" cy="0"/>
          </a:xfrm>
          <a:prstGeom prst="line">
            <a:avLst/>
          </a:prstGeom>
          <a:ln>
            <a:solidFill>
              <a:srgbClr val="BE3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BEFD5F16-63FB-1F4B-A60C-EA06E351F572}"/>
              </a:ext>
            </a:extLst>
          </p:cNvPr>
          <p:cNvSpPr txBox="1"/>
          <p:nvPr/>
        </p:nvSpPr>
        <p:spPr>
          <a:xfrm>
            <a:off x="107504" y="3281546"/>
            <a:ext cx="1015987" cy="640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EL1</a:t>
            </a:r>
            <a:endParaRPr kumimoji="1"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0BEF980-5DD5-5E4D-993D-5856367B911D}"/>
              </a:ext>
            </a:extLst>
          </p:cNvPr>
          <p:cNvSpPr txBox="1"/>
          <p:nvPr/>
        </p:nvSpPr>
        <p:spPr>
          <a:xfrm>
            <a:off x="107504" y="2361444"/>
            <a:ext cx="1015987" cy="640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EL0</a:t>
            </a:r>
            <a:endParaRPr kumimoji="1"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29978EE-997C-3D47-BB70-F7A5BB4EBC1A}"/>
              </a:ext>
            </a:extLst>
          </p:cNvPr>
          <p:cNvSpPr txBox="1"/>
          <p:nvPr/>
        </p:nvSpPr>
        <p:spPr>
          <a:xfrm>
            <a:off x="107504" y="4293658"/>
            <a:ext cx="1015987" cy="640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EL2</a:t>
            </a:r>
            <a:endParaRPr kumimoji="1"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B3E8B95-E320-3341-8AD9-A52324795A1F}"/>
              </a:ext>
            </a:extLst>
          </p:cNvPr>
          <p:cNvSpPr txBox="1"/>
          <p:nvPr/>
        </p:nvSpPr>
        <p:spPr>
          <a:xfrm>
            <a:off x="2281882" y="1993403"/>
            <a:ext cx="910011" cy="4719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VMM</a:t>
            </a:r>
            <a:endParaRPr kumimoji="1" lang="zh-CN" altLang="en-US" dirty="0"/>
          </a:p>
        </p:txBody>
      </p:sp>
      <p:sp>
        <p:nvSpPr>
          <p:cNvPr id="14" name="Rectangle 22">
            <a:extLst>
              <a:ext uri="{FF2B5EF4-FFF2-40B4-BE49-F238E27FC236}">
                <a16:creationId xmlns:a16="http://schemas.microsoft.com/office/drawing/2014/main" id="{C4E8D8AC-AB54-154F-A1E6-C38F24D26FD7}"/>
              </a:ext>
            </a:extLst>
          </p:cNvPr>
          <p:cNvSpPr/>
          <p:nvPr/>
        </p:nvSpPr>
        <p:spPr>
          <a:xfrm>
            <a:off x="6386816" y="3097526"/>
            <a:ext cx="2008746" cy="502780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Network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Driver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5" name="Rectangle 27">
            <a:extLst>
              <a:ext uri="{FF2B5EF4-FFF2-40B4-BE49-F238E27FC236}">
                <a16:creationId xmlns:a16="http://schemas.microsoft.com/office/drawing/2014/main" id="{2905C887-43CB-1C46-9C6D-53FF47B5470B}"/>
              </a:ext>
            </a:extLst>
          </p:cNvPr>
          <p:cNvSpPr/>
          <p:nvPr/>
        </p:nvSpPr>
        <p:spPr>
          <a:xfrm>
            <a:off x="6388610" y="2453454"/>
            <a:ext cx="2018700" cy="460051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Network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Stack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DE114BA0-A65A-DC45-B784-B752ABA92A84}"/>
              </a:ext>
            </a:extLst>
          </p:cNvPr>
          <p:cNvSpPr/>
          <p:nvPr/>
        </p:nvSpPr>
        <p:spPr>
          <a:xfrm>
            <a:off x="4890068" y="1993403"/>
            <a:ext cx="3688484" cy="1745043"/>
          </a:xfrm>
          <a:prstGeom prst="roundRect">
            <a:avLst>
              <a:gd name="adj" fmla="val 9181"/>
            </a:avLst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CE46FE4-5037-BE43-A8A8-100CC2AE7911}"/>
              </a:ext>
            </a:extLst>
          </p:cNvPr>
          <p:cNvSpPr txBox="1"/>
          <p:nvPr/>
        </p:nvSpPr>
        <p:spPr>
          <a:xfrm>
            <a:off x="6296216" y="1993403"/>
            <a:ext cx="667987" cy="4719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</a:t>
            </a:r>
            <a:endParaRPr kumimoji="1" lang="zh-CN" altLang="en-US" dirty="0"/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DA1879DB-274C-1F4B-812E-100CFBCAB710}"/>
              </a:ext>
            </a:extLst>
          </p:cNvPr>
          <p:cNvSpPr/>
          <p:nvPr/>
        </p:nvSpPr>
        <p:spPr>
          <a:xfrm>
            <a:off x="950870" y="1993403"/>
            <a:ext cx="3688484" cy="2852317"/>
          </a:xfrm>
          <a:prstGeom prst="roundRect">
            <a:avLst>
              <a:gd name="adj" fmla="val 5599"/>
            </a:avLst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9" name="Rectangle 22">
            <a:extLst>
              <a:ext uri="{FF2B5EF4-FFF2-40B4-BE49-F238E27FC236}">
                <a16:creationId xmlns:a16="http://schemas.microsoft.com/office/drawing/2014/main" id="{7926F197-63D9-FF41-BD7C-EFC900A651A4}"/>
              </a:ext>
            </a:extLst>
          </p:cNvPr>
          <p:cNvSpPr/>
          <p:nvPr/>
        </p:nvSpPr>
        <p:spPr>
          <a:xfrm>
            <a:off x="2761089" y="4385670"/>
            <a:ext cx="1441897" cy="276031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KVM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cxnSp>
        <p:nvCxnSpPr>
          <p:cNvPr id="20" name="肘形连接符 19">
            <a:extLst>
              <a:ext uri="{FF2B5EF4-FFF2-40B4-BE49-F238E27FC236}">
                <a16:creationId xmlns:a16="http://schemas.microsoft.com/office/drawing/2014/main" id="{CD7B5AF9-BD9A-E740-8DFC-6871165D7EC0}"/>
              </a:ext>
            </a:extLst>
          </p:cNvPr>
          <p:cNvCxnSpPr>
            <a:cxnSpLocks/>
            <a:stCxn id="14" idx="2"/>
          </p:cNvCxnSpPr>
          <p:nvPr/>
        </p:nvCxnSpPr>
        <p:spPr>
          <a:xfrm rot="5400000">
            <a:off x="6349442" y="3987997"/>
            <a:ext cx="1429437" cy="654055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7">
            <a:extLst>
              <a:ext uri="{FF2B5EF4-FFF2-40B4-BE49-F238E27FC236}">
                <a16:creationId xmlns:a16="http://schemas.microsoft.com/office/drawing/2014/main" id="{1F7A6FC7-C082-AF4C-A4D9-5C4A404816D1}"/>
              </a:ext>
            </a:extLst>
          </p:cNvPr>
          <p:cNvSpPr/>
          <p:nvPr/>
        </p:nvSpPr>
        <p:spPr>
          <a:xfrm>
            <a:off x="2825477" y="3741597"/>
            <a:ext cx="1323677" cy="304308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rgbClr val="BE384B"/>
                </a:solidFill>
                <a:cs typeface="Arial Narrow"/>
              </a:rPr>
              <a:t>/dev/</a:t>
            </a:r>
            <a:r>
              <a:rPr lang="en-US" altLang="zh-CN" sz="1200" dirty="0" err="1">
                <a:solidFill>
                  <a:srgbClr val="BE384B"/>
                </a:solidFill>
                <a:cs typeface="Arial Narrow"/>
              </a:rPr>
              <a:t>kvm</a:t>
            </a:r>
            <a:endParaRPr lang="en-US" sz="12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F78808EC-FCD1-A243-B17B-2168E211893C}"/>
              </a:ext>
            </a:extLst>
          </p:cNvPr>
          <p:cNvCxnSpPr>
            <a:cxnSpLocks/>
          </p:cNvCxnSpPr>
          <p:nvPr/>
        </p:nvCxnSpPr>
        <p:spPr>
          <a:xfrm>
            <a:off x="3487645" y="2821495"/>
            <a:ext cx="0" cy="1012112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B71BD70E-F834-134E-A1A3-EA93DD932AFE}"/>
              </a:ext>
            </a:extLst>
          </p:cNvPr>
          <p:cNvCxnSpPr>
            <a:cxnSpLocks/>
            <a:stCxn id="21" idx="2"/>
            <a:endCxn id="19" idx="0"/>
          </p:cNvCxnSpPr>
          <p:nvPr/>
        </p:nvCxnSpPr>
        <p:spPr>
          <a:xfrm flipH="1">
            <a:off x="3482038" y="4045905"/>
            <a:ext cx="5277" cy="339765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BF3176FE-0ED2-2841-A99E-11FE1B0C8D86}"/>
              </a:ext>
            </a:extLst>
          </p:cNvPr>
          <p:cNvSpPr txBox="1"/>
          <p:nvPr/>
        </p:nvSpPr>
        <p:spPr>
          <a:xfrm>
            <a:off x="6804248" y="4297660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</a:t>
            </a:r>
            <a:r>
              <a:rPr kumimoji="1" lang="zh-CN" altLang="en-US" dirty="0"/>
              <a:t> </a:t>
            </a:r>
            <a:r>
              <a:rPr kumimoji="1" lang="en-US" altLang="zh-CN" dirty="0"/>
              <a:t>Entry</a:t>
            </a:r>
            <a:r>
              <a:rPr kumimoji="1" lang="zh-CN" altLang="en-US" dirty="0"/>
              <a:t> </a:t>
            </a:r>
            <a:r>
              <a:rPr kumimoji="1" lang="en-US" altLang="zh-CN" dirty="0"/>
              <a:t>(Interrupt)</a:t>
            </a:r>
            <a:endParaRPr kumimoji="1" lang="zh-CN" altLang="en-US" dirty="0"/>
          </a:p>
        </p:txBody>
      </p:sp>
      <p:sp>
        <p:nvSpPr>
          <p:cNvPr id="26" name="Rectangle 22">
            <a:extLst>
              <a:ext uri="{FF2B5EF4-FFF2-40B4-BE49-F238E27FC236}">
                <a16:creationId xmlns:a16="http://schemas.microsoft.com/office/drawing/2014/main" id="{42C49016-9075-6848-8C37-AAEF2B0BBEB8}"/>
              </a:ext>
            </a:extLst>
          </p:cNvPr>
          <p:cNvSpPr/>
          <p:nvPr/>
        </p:nvSpPr>
        <p:spPr>
          <a:xfrm>
            <a:off x="2843807" y="5029742"/>
            <a:ext cx="5744821" cy="204021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Hardware</a:t>
            </a:r>
            <a:r>
              <a:rPr lang="zh-CN" altLang="en-US" sz="1600" dirty="0">
                <a:solidFill>
                  <a:schemeClr val="bg1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Virtualization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98A66D88-6FEE-8A45-AB93-55E16F9294D7}"/>
              </a:ext>
            </a:extLst>
          </p:cNvPr>
          <p:cNvCxnSpPr>
            <a:cxnSpLocks/>
          </p:cNvCxnSpPr>
          <p:nvPr/>
        </p:nvCxnSpPr>
        <p:spPr>
          <a:xfrm>
            <a:off x="3475696" y="4661699"/>
            <a:ext cx="0" cy="460051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7">
            <a:extLst>
              <a:ext uri="{FF2B5EF4-FFF2-40B4-BE49-F238E27FC236}">
                <a16:creationId xmlns:a16="http://schemas.microsoft.com/office/drawing/2014/main" id="{9AA86F38-2D9E-334F-BC7A-0788E4766774}"/>
              </a:ext>
            </a:extLst>
          </p:cNvPr>
          <p:cNvSpPr/>
          <p:nvPr/>
        </p:nvSpPr>
        <p:spPr>
          <a:xfrm>
            <a:off x="5076056" y="2569468"/>
            <a:ext cx="936104" cy="720080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Memory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B843517B-C44E-A549-AD7F-067822233C0E}"/>
              </a:ext>
            </a:extLst>
          </p:cNvPr>
          <p:cNvCxnSpPr>
            <a:cxnSpLocks/>
          </p:cNvCxnSpPr>
          <p:nvPr/>
        </p:nvCxnSpPr>
        <p:spPr>
          <a:xfrm>
            <a:off x="7380312" y="2857500"/>
            <a:ext cx="0" cy="36004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27">
            <a:extLst>
              <a:ext uri="{FF2B5EF4-FFF2-40B4-BE49-F238E27FC236}">
                <a16:creationId xmlns:a16="http://schemas.microsoft.com/office/drawing/2014/main" id="{DBA08416-4717-9D4C-BE50-A745151F3387}"/>
              </a:ext>
            </a:extLst>
          </p:cNvPr>
          <p:cNvSpPr/>
          <p:nvPr/>
        </p:nvSpPr>
        <p:spPr>
          <a:xfrm>
            <a:off x="1763688" y="4311642"/>
            <a:ext cx="939660" cy="360040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rgbClr val="BE384B"/>
                </a:solidFill>
                <a:cs typeface="Arial Narrow"/>
              </a:rPr>
              <a:t>Network</a:t>
            </a:r>
          </a:p>
          <a:p>
            <a:pPr algn="ctr"/>
            <a:r>
              <a:rPr lang="en-US" altLang="zh-CN" sz="1200" dirty="0">
                <a:solidFill>
                  <a:srgbClr val="BE384B"/>
                </a:solidFill>
                <a:cs typeface="Arial Narrow"/>
              </a:rPr>
              <a:t>Driver</a:t>
            </a:r>
            <a:endParaRPr lang="en-US" sz="12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98C203E7-5466-F542-9E5C-BD562A134B63}"/>
              </a:ext>
            </a:extLst>
          </p:cNvPr>
          <p:cNvCxnSpPr>
            <a:cxnSpLocks/>
          </p:cNvCxnSpPr>
          <p:nvPr/>
        </p:nvCxnSpPr>
        <p:spPr>
          <a:xfrm flipV="1">
            <a:off x="2195736" y="2857500"/>
            <a:ext cx="0" cy="1512168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图片 38">
            <a:extLst>
              <a:ext uri="{FF2B5EF4-FFF2-40B4-BE49-F238E27FC236}">
                <a16:creationId xmlns:a16="http://schemas.microsoft.com/office/drawing/2014/main" id="{02FFD3F9-0F4F-EA44-B994-832A77B336A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50385" y="5017740"/>
            <a:ext cx="566266" cy="509904"/>
          </a:xfrm>
          <a:prstGeom prst="rect">
            <a:avLst/>
          </a:prstGeom>
        </p:spPr>
      </p:pic>
      <p:cxnSp>
        <p:nvCxnSpPr>
          <p:cNvPr id="40" name="直线箭头连接符 39">
            <a:extLst>
              <a:ext uri="{FF2B5EF4-FFF2-40B4-BE49-F238E27FC236}">
                <a16:creationId xmlns:a16="http://schemas.microsoft.com/office/drawing/2014/main" id="{AC5A12A3-0332-3C4C-9BA2-71229B4D1A3F}"/>
              </a:ext>
            </a:extLst>
          </p:cNvPr>
          <p:cNvCxnSpPr>
            <a:cxnSpLocks/>
            <a:stCxn id="39" idx="0"/>
            <a:endCxn id="37" idx="2"/>
          </p:cNvCxnSpPr>
          <p:nvPr/>
        </p:nvCxnSpPr>
        <p:spPr>
          <a:xfrm flipV="1">
            <a:off x="2233518" y="4671682"/>
            <a:ext cx="0" cy="346058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D33CF38B-AB22-5B43-BE36-A26306D1B48C}"/>
              </a:ext>
            </a:extLst>
          </p:cNvPr>
          <p:cNvSpPr txBox="1"/>
          <p:nvPr/>
        </p:nvSpPr>
        <p:spPr>
          <a:xfrm>
            <a:off x="2483768" y="3001516"/>
            <a:ext cx="10438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Inject</a:t>
            </a:r>
          </a:p>
          <a:p>
            <a:r>
              <a:rPr kumimoji="1" lang="en-US" altLang="zh-CN" dirty="0"/>
              <a:t>Interrupt</a:t>
            </a:r>
            <a:endParaRPr kumimoji="1" lang="zh-CN" altLang="en-US" dirty="0"/>
          </a:p>
        </p:txBody>
      </p:sp>
      <p:cxnSp>
        <p:nvCxnSpPr>
          <p:cNvPr id="34" name="直线箭头连接符 46">
            <a:extLst>
              <a:ext uri="{FF2B5EF4-FFF2-40B4-BE49-F238E27FC236}">
                <a16:creationId xmlns:a16="http://schemas.microsoft.com/office/drawing/2014/main" id="{0E54CD73-BAB0-7405-B328-F47FC67E49E0}"/>
              </a:ext>
            </a:extLst>
          </p:cNvPr>
          <p:cNvCxnSpPr>
            <a:cxnSpLocks/>
          </p:cNvCxnSpPr>
          <p:nvPr/>
        </p:nvCxnSpPr>
        <p:spPr>
          <a:xfrm>
            <a:off x="4067944" y="2713484"/>
            <a:ext cx="1080120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088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3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81BF62-E919-0F4E-9162-AE5E14EF7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设备模拟的优缺点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71160D-F0AB-C34E-8041-EA9EEDC6FD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优点</a:t>
            </a:r>
            <a:endParaRPr lang="en-US" altLang="zh-CN" dirty="0"/>
          </a:p>
          <a:p>
            <a:pPr lvl="1"/>
            <a:r>
              <a:rPr lang="zh-CN" altLang="en-US" dirty="0"/>
              <a:t>可以模拟任意设备</a:t>
            </a:r>
            <a:endParaRPr lang="en-US" altLang="zh-CN" dirty="0"/>
          </a:p>
          <a:p>
            <a:pPr lvl="2"/>
            <a:r>
              <a:rPr lang="zh-CN" altLang="en-US" dirty="0"/>
              <a:t>选择流行设备，支持较“久远”的</a:t>
            </a:r>
            <a:r>
              <a:rPr lang="en-US" altLang="zh-CN" dirty="0"/>
              <a:t>OS</a:t>
            </a:r>
            <a:r>
              <a:rPr lang="zh-CN" altLang="en-US" dirty="0"/>
              <a:t>（如</a:t>
            </a:r>
            <a:r>
              <a:rPr lang="en-US" altLang="zh-CN" dirty="0"/>
              <a:t>e1000</a:t>
            </a:r>
            <a:r>
              <a:rPr lang="zh-CN" altLang="en-US" dirty="0"/>
              <a:t>网卡）</a:t>
            </a:r>
            <a:endParaRPr lang="en-US" altLang="zh-CN" dirty="0"/>
          </a:p>
          <a:p>
            <a:pPr lvl="1"/>
            <a:r>
              <a:rPr lang="zh-CN" altLang="en-US" dirty="0"/>
              <a:t>允许在中间拦截（</a:t>
            </a:r>
            <a:r>
              <a:rPr lang="en-US" altLang="zh-CN" dirty="0"/>
              <a:t>Interposition</a:t>
            </a:r>
            <a:r>
              <a:rPr lang="zh-CN" altLang="en-US" dirty="0"/>
              <a:t>）</a:t>
            </a:r>
            <a:r>
              <a:rPr lang="en-US" altLang="zh-CN" dirty="0"/>
              <a:t>:</a:t>
            </a:r>
          </a:p>
          <a:p>
            <a:pPr lvl="2"/>
            <a:r>
              <a:rPr lang="zh-CN" altLang="en-US" dirty="0"/>
              <a:t>例如在</a:t>
            </a:r>
            <a:r>
              <a:rPr lang="en-US" altLang="zh-CN" dirty="0"/>
              <a:t>QEMU</a:t>
            </a:r>
            <a:r>
              <a:rPr lang="zh-CN" altLang="en-US" dirty="0"/>
              <a:t>层面检查网络内容</a:t>
            </a:r>
            <a:endParaRPr lang="en-US" altLang="zh-CN" dirty="0"/>
          </a:p>
          <a:p>
            <a:pPr lvl="1"/>
            <a:r>
              <a:rPr lang="zh-CN" altLang="en-US" dirty="0"/>
              <a:t>不需要硬件修改</a:t>
            </a:r>
            <a:endParaRPr lang="en-US" altLang="zh-CN" dirty="0"/>
          </a:p>
          <a:p>
            <a:r>
              <a:rPr lang="zh-CN" altLang="en-US" dirty="0"/>
              <a:t>缺点</a:t>
            </a:r>
            <a:endParaRPr lang="en-US" altLang="zh-CN" dirty="0"/>
          </a:p>
          <a:p>
            <a:pPr lvl="1"/>
            <a:r>
              <a:rPr lang="zh-CN" altLang="en-US" dirty="0"/>
              <a:t>性能不佳</a:t>
            </a:r>
            <a:endParaRPr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C9DDDD-FC70-6241-AFC5-A1D1C2B1E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8B1643-D619-D44D-990F-8AB1CA545E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887957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1F5B94-F7EB-4449-B4E7-2B8E74FC8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方法</a:t>
            </a:r>
            <a:r>
              <a:rPr kumimoji="1" lang="en-US" altLang="zh-CN" dirty="0"/>
              <a:t>2</a:t>
            </a:r>
            <a:r>
              <a:rPr kumimoji="1" lang="zh-CN" altLang="en-US" dirty="0"/>
              <a:t>：半虚拟化方式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52BB36-0F86-454E-A1ED-71B98F476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协同设计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虚拟机</a:t>
            </a:r>
            <a:r>
              <a:rPr kumimoji="1" lang="en-US" altLang="zh-CN" dirty="0"/>
              <a:t>“</a:t>
            </a:r>
            <a:r>
              <a:rPr kumimoji="1" lang="zh-CN" altLang="en-US" dirty="0"/>
              <a:t>知道</a:t>
            </a:r>
            <a:r>
              <a:rPr kumimoji="1" lang="en-US" altLang="zh-CN" dirty="0"/>
              <a:t>”</a:t>
            </a:r>
            <a:r>
              <a:rPr kumimoji="1" lang="zh-CN" altLang="en-US" dirty="0"/>
              <a:t>自己运行在虚拟化环境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虚拟机内运行前端</a:t>
            </a:r>
            <a:r>
              <a:rPr kumimoji="1" lang="en-US" altLang="zh-CN" dirty="0"/>
              <a:t>(front-end)</a:t>
            </a:r>
            <a:r>
              <a:rPr kumimoji="1" lang="zh-CN" altLang="en-US" dirty="0"/>
              <a:t>驱动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VMM</a:t>
            </a:r>
            <a:r>
              <a:rPr kumimoji="1" lang="zh-CN" altLang="en-US" dirty="0"/>
              <a:t>内运行后端</a:t>
            </a:r>
            <a:r>
              <a:rPr kumimoji="1" lang="en-US" altLang="zh-CN" dirty="0"/>
              <a:t>(back-end)</a:t>
            </a:r>
            <a:r>
              <a:rPr kumimoji="1" lang="zh-CN" altLang="en-US" dirty="0"/>
              <a:t>驱动</a:t>
            </a:r>
            <a:endParaRPr kumimoji="1" lang="en-US" altLang="zh-CN" dirty="0"/>
          </a:p>
          <a:p>
            <a:r>
              <a:rPr kumimoji="1" lang="en-US" altLang="zh-CN" dirty="0"/>
              <a:t>VMM</a:t>
            </a:r>
            <a:r>
              <a:rPr kumimoji="1" lang="zh-CN" altLang="en-US" dirty="0"/>
              <a:t>主动提供</a:t>
            </a:r>
            <a:r>
              <a:rPr kumimoji="1" lang="en-US" altLang="zh-CN" dirty="0" err="1"/>
              <a:t>Hypercall</a:t>
            </a:r>
            <a:r>
              <a:rPr kumimoji="1" lang="zh-CN" altLang="en-US" dirty="0"/>
              <a:t>给</a:t>
            </a:r>
            <a:r>
              <a:rPr kumimoji="1" lang="en-US" altLang="zh-CN" dirty="0"/>
              <a:t>VM</a:t>
            </a:r>
          </a:p>
          <a:p>
            <a:r>
              <a:rPr kumimoji="1" lang="zh-CN" altLang="en-US" dirty="0"/>
              <a:t>通过共享内存传递指令和命令</a:t>
            </a:r>
            <a:endParaRPr kumimoji="1" lang="en-US" altLang="zh-CN" dirty="0"/>
          </a:p>
          <a:p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044CB8-985D-6947-8556-934A69CA5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2CFD7C-D3D8-874A-BA58-93990AC8E4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249338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5D4957-A8A8-5B41-B6B5-96B393CD2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VirtIO</a:t>
            </a:r>
            <a:r>
              <a:rPr kumimoji="1" lang="en-US" altLang="zh-CN" dirty="0"/>
              <a:t>:</a:t>
            </a:r>
            <a:r>
              <a:rPr kumimoji="1" lang="zh-CN" altLang="en-US" dirty="0"/>
              <a:t> </a:t>
            </a:r>
            <a:r>
              <a:rPr kumimoji="1" lang="en-US" altLang="zh-CN" dirty="0"/>
              <a:t>Unified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Para-virtualized I/O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AA886C-FCEB-614C-95D3-468E47DFA1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标准化的半虚拟化</a:t>
            </a:r>
            <a:r>
              <a:rPr kumimoji="1" lang="en-US" altLang="zh-CN" dirty="0"/>
              <a:t>I/O</a:t>
            </a:r>
            <a:r>
              <a:rPr kumimoji="1" lang="zh-CN" altLang="en-US" dirty="0"/>
              <a:t>框架</a:t>
            </a:r>
            <a:endParaRPr kumimoji="1" lang="en-US" altLang="zh-CN" dirty="0"/>
          </a:p>
          <a:p>
            <a:pPr lvl="1"/>
            <a:r>
              <a:rPr lang="zh-CN" altLang="en-US" dirty="0"/>
              <a:t>通用的前端抽象</a:t>
            </a:r>
            <a:endParaRPr lang="en-US" altLang="zh-CN" dirty="0"/>
          </a:p>
          <a:p>
            <a:pPr lvl="1"/>
            <a:r>
              <a:rPr lang="zh-CN" altLang="en-US" dirty="0"/>
              <a:t>标准化接口</a:t>
            </a:r>
            <a:endParaRPr lang="en-US" altLang="zh-CN" dirty="0"/>
          </a:p>
          <a:p>
            <a:pPr lvl="1"/>
            <a:r>
              <a:rPr lang="zh-CN" altLang="en-US" dirty="0"/>
              <a:t>增加代码的跨平台重用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8ADB386-C1A2-D446-A089-6AB5C0F54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51D06C-CC8D-E24E-B428-FCF7055FB4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8" name="Rectangle 24">
            <a:extLst>
              <a:ext uri="{FF2B5EF4-FFF2-40B4-BE49-F238E27FC236}">
                <a16:creationId xmlns:a16="http://schemas.microsoft.com/office/drawing/2014/main" id="{17CC7C6C-6B41-0E47-B3B3-7EC19ABBADAC}"/>
              </a:ext>
            </a:extLst>
          </p:cNvPr>
          <p:cNvSpPr/>
          <p:nvPr/>
        </p:nvSpPr>
        <p:spPr>
          <a:xfrm>
            <a:off x="3635896" y="4801716"/>
            <a:ext cx="1761832" cy="385466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Device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1" name="Rectangle 27">
            <a:extLst>
              <a:ext uri="{FF2B5EF4-FFF2-40B4-BE49-F238E27FC236}">
                <a16:creationId xmlns:a16="http://schemas.microsoft.com/office/drawing/2014/main" id="{8723F931-5487-664A-8BA2-79EEE3B64D17}"/>
              </a:ext>
            </a:extLst>
          </p:cNvPr>
          <p:cNvSpPr/>
          <p:nvPr/>
        </p:nvSpPr>
        <p:spPr>
          <a:xfrm>
            <a:off x="3353276" y="3145532"/>
            <a:ext cx="2226836" cy="720080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VM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746C73C1-ADE9-D449-9328-495FF97C3F30}"/>
              </a:ext>
            </a:extLst>
          </p:cNvPr>
          <p:cNvCxnSpPr>
            <a:cxnSpLocks/>
          </p:cNvCxnSpPr>
          <p:nvPr/>
        </p:nvCxnSpPr>
        <p:spPr>
          <a:xfrm flipH="1">
            <a:off x="2987824" y="3865612"/>
            <a:ext cx="936104" cy="28803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27">
            <a:extLst>
              <a:ext uri="{FF2B5EF4-FFF2-40B4-BE49-F238E27FC236}">
                <a16:creationId xmlns:a16="http://schemas.microsoft.com/office/drawing/2014/main" id="{48363BD9-B144-BC47-92C1-CAA86F602DFB}"/>
              </a:ext>
            </a:extLst>
          </p:cNvPr>
          <p:cNvSpPr/>
          <p:nvPr/>
        </p:nvSpPr>
        <p:spPr>
          <a:xfrm>
            <a:off x="3563888" y="3649589"/>
            <a:ext cx="1808584" cy="216024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Front-end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Driver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20" name="Rectangle 27">
            <a:extLst>
              <a:ext uri="{FF2B5EF4-FFF2-40B4-BE49-F238E27FC236}">
                <a16:creationId xmlns:a16="http://schemas.microsoft.com/office/drawing/2014/main" id="{2673B098-AC41-BB4F-8133-E43A3D1B621E}"/>
              </a:ext>
            </a:extLst>
          </p:cNvPr>
          <p:cNvSpPr/>
          <p:nvPr/>
        </p:nvSpPr>
        <p:spPr>
          <a:xfrm>
            <a:off x="827584" y="4153644"/>
            <a:ext cx="3240360" cy="432048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/>
                </a:solidFill>
                <a:cs typeface="Arial Narrow"/>
              </a:rPr>
              <a:t>     </a:t>
            </a:r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Linux</a:t>
            </a:r>
          </a:p>
          <a:p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QEMU/KVM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21" name="Rectangle 27">
            <a:extLst>
              <a:ext uri="{FF2B5EF4-FFF2-40B4-BE49-F238E27FC236}">
                <a16:creationId xmlns:a16="http://schemas.microsoft.com/office/drawing/2014/main" id="{0D457A61-2CA5-F14C-B6D2-19E517DD0544}"/>
              </a:ext>
            </a:extLst>
          </p:cNvPr>
          <p:cNvSpPr/>
          <p:nvPr/>
        </p:nvSpPr>
        <p:spPr>
          <a:xfrm>
            <a:off x="2339752" y="4153644"/>
            <a:ext cx="1664568" cy="216024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Back-end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Driver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85B7A519-0F46-8E45-804B-BC1117E3F230}"/>
              </a:ext>
            </a:extLst>
          </p:cNvPr>
          <p:cNvSpPr/>
          <p:nvPr/>
        </p:nvSpPr>
        <p:spPr>
          <a:xfrm>
            <a:off x="4932040" y="4153644"/>
            <a:ext cx="3240360" cy="432048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Windows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23" name="Rectangle 27">
            <a:extLst>
              <a:ext uri="{FF2B5EF4-FFF2-40B4-BE49-F238E27FC236}">
                <a16:creationId xmlns:a16="http://schemas.microsoft.com/office/drawing/2014/main" id="{1D39FD9C-80AC-6543-8D8A-17844A818A52}"/>
              </a:ext>
            </a:extLst>
          </p:cNvPr>
          <p:cNvSpPr/>
          <p:nvPr/>
        </p:nvSpPr>
        <p:spPr>
          <a:xfrm>
            <a:off x="5004048" y="4153644"/>
            <a:ext cx="1664568" cy="216024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Back-end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Driver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F4C02ACF-0320-3149-B287-01236602530E}"/>
              </a:ext>
            </a:extLst>
          </p:cNvPr>
          <p:cNvCxnSpPr>
            <a:cxnSpLocks/>
          </p:cNvCxnSpPr>
          <p:nvPr/>
        </p:nvCxnSpPr>
        <p:spPr>
          <a:xfrm>
            <a:off x="5076056" y="3865612"/>
            <a:ext cx="720080" cy="28803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FC25E48C-2B02-CF41-ADDB-B089C3B9D2B4}"/>
              </a:ext>
            </a:extLst>
          </p:cNvPr>
          <p:cNvSpPr txBox="1"/>
          <p:nvPr/>
        </p:nvSpPr>
        <p:spPr>
          <a:xfrm>
            <a:off x="4139952" y="3865612"/>
            <a:ext cx="706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Virtio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091360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E6AB55-50F0-B94B-ACCB-059F98267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Virtqueue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2519F2-74B8-8846-AAA6-484F14268F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en-US" altLang="zh-CN" dirty="0"/>
              <a:t>VM</a:t>
            </a:r>
            <a:r>
              <a:rPr kumimoji="1" lang="zh-CN" altLang="en-US" dirty="0"/>
              <a:t>和</a:t>
            </a:r>
            <a:r>
              <a:rPr kumimoji="1" lang="en-US" altLang="zh-CN" dirty="0"/>
              <a:t>VMM</a:t>
            </a:r>
            <a:r>
              <a:rPr kumimoji="1" lang="zh-CN" altLang="en-US" dirty="0"/>
              <a:t>之间传递</a:t>
            </a:r>
            <a:r>
              <a:rPr kumimoji="1" lang="en-US" altLang="zh-CN" dirty="0"/>
              <a:t>I/O</a:t>
            </a:r>
            <a:r>
              <a:rPr kumimoji="1" lang="zh-CN" altLang="en-US" dirty="0"/>
              <a:t>请求的队列</a:t>
            </a:r>
            <a:endParaRPr kumimoji="1" lang="en-US" altLang="zh-CN" dirty="0"/>
          </a:p>
          <a:p>
            <a:r>
              <a:rPr kumimoji="1" lang="en-US" altLang="zh-CN" dirty="0"/>
              <a:t>3</a:t>
            </a:r>
            <a:r>
              <a:rPr kumimoji="1" lang="zh-CN" altLang="en-US" dirty="0"/>
              <a:t>个部分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Descriptor</a:t>
            </a:r>
            <a:r>
              <a:rPr kumimoji="1" lang="zh-CN" altLang="en-US" dirty="0"/>
              <a:t> </a:t>
            </a:r>
            <a:r>
              <a:rPr kumimoji="1" lang="en-US" altLang="zh-CN" dirty="0"/>
              <a:t>Table</a:t>
            </a:r>
          </a:p>
          <a:p>
            <a:pPr lvl="2"/>
            <a:r>
              <a:rPr kumimoji="1" lang="zh-CN" altLang="en-US" dirty="0"/>
              <a:t>其中每一个</a:t>
            </a:r>
            <a:r>
              <a:rPr kumimoji="1" lang="en-US" altLang="zh-CN" dirty="0"/>
              <a:t>descriptor</a:t>
            </a:r>
            <a:r>
              <a:rPr kumimoji="1" lang="zh-CN" altLang="en-US" dirty="0"/>
              <a:t>描述了前后端共享的内存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链表组织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Available</a:t>
            </a:r>
            <a:r>
              <a:rPr kumimoji="1" lang="zh-CN" altLang="en-US" dirty="0"/>
              <a:t> </a:t>
            </a:r>
            <a:r>
              <a:rPr kumimoji="1" lang="en-US" altLang="zh-CN" dirty="0"/>
              <a:t>Ring</a:t>
            </a:r>
          </a:p>
          <a:p>
            <a:pPr lvl="2"/>
            <a:r>
              <a:rPr kumimoji="1" lang="zh-CN" altLang="en-US" dirty="0"/>
              <a:t>可用</a:t>
            </a:r>
            <a:r>
              <a:rPr kumimoji="1" lang="en-US" altLang="zh-CN" dirty="0"/>
              <a:t>descriptor</a:t>
            </a:r>
            <a:r>
              <a:rPr kumimoji="1" lang="zh-CN" altLang="en-US" dirty="0"/>
              <a:t>的索引，</a:t>
            </a:r>
            <a:r>
              <a:rPr kumimoji="1" lang="en-US" altLang="zh-CN" dirty="0"/>
              <a:t>Ring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Entry</a:t>
            </a:r>
            <a:r>
              <a:rPr kumimoji="1" lang="zh-CN" altLang="en-US" dirty="0"/>
              <a:t>指向一个</a:t>
            </a:r>
            <a:r>
              <a:rPr kumimoji="1" lang="en-US" altLang="zh-CN" dirty="0"/>
              <a:t>descriptor</a:t>
            </a:r>
            <a:r>
              <a:rPr kumimoji="1" lang="zh-CN" altLang="en-US" dirty="0"/>
              <a:t>链表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Used</a:t>
            </a:r>
            <a:r>
              <a:rPr kumimoji="1" lang="zh-CN" altLang="en-US" dirty="0"/>
              <a:t> </a:t>
            </a:r>
            <a:r>
              <a:rPr kumimoji="1" lang="en-US" altLang="zh-CN" dirty="0"/>
              <a:t>Ring</a:t>
            </a:r>
          </a:p>
          <a:p>
            <a:pPr lvl="2"/>
            <a:r>
              <a:rPr kumimoji="1" lang="zh-CN" altLang="en-US" dirty="0"/>
              <a:t>已用</a:t>
            </a:r>
            <a:r>
              <a:rPr kumimoji="1" lang="en-US" altLang="zh-CN" dirty="0"/>
              <a:t>descriptor</a:t>
            </a:r>
            <a:r>
              <a:rPr kumimoji="1" lang="zh-CN" altLang="en-US" dirty="0"/>
              <a:t>的索引</a:t>
            </a: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942D48-F70F-714A-BDA8-D545DB768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A6324A-B5A7-E542-B932-D5222A1557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316635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DBD791-9B5F-1447-99BA-4245553FB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265212"/>
            <a:ext cx="8229600" cy="900442"/>
          </a:xfrm>
        </p:spPr>
        <p:txBody>
          <a:bodyPr>
            <a:normAutofit fontScale="90000"/>
          </a:bodyPr>
          <a:lstStyle/>
          <a:p>
            <a:r>
              <a:rPr kumimoji="1" lang="zh-CN" altLang="en-US" dirty="0"/>
              <a:t>例：</a:t>
            </a:r>
            <a:r>
              <a:rPr kumimoji="1" lang="en-US" altLang="zh-CN" dirty="0"/>
              <a:t>QEMU/KVM</a:t>
            </a:r>
            <a:r>
              <a:rPr kumimoji="1" lang="zh-CN" altLang="en-US" dirty="0"/>
              <a:t>半虚拟化：发网络包</a:t>
            </a:r>
            <a:r>
              <a:rPr kumimoji="1" lang="en-US" altLang="zh-CN" dirty="0"/>
              <a:t>	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B8BA1D-E613-BA4E-B984-8A34BE48D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32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EDFD83-161F-ED4D-A6C3-DD4839857E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Rectangle 22">
            <a:extLst>
              <a:ext uri="{FF2B5EF4-FFF2-40B4-BE49-F238E27FC236}">
                <a16:creationId xmlns:a16="http://schemas.microsoft.com/office/drawing/2014/main" id="{73F793B2-0D41-8E44-98F3-825CFC410F73}"/>
              </a:ext>
            </a:extLst>
          </p:cNvPr>
          <p:cNvSpPr/>
          <p:nvPr/>
        </p:nvSpPr>
        <p:spPr>
          <a:xfrm>
            <a:off x="1134776" y="3769600"/>
            <a:ext cx="3316857" cy="552063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Linux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7" name="Rectangle 27">
            <a:extLst>
              <a:ext uri="{FF2B5EF4-FFF2-40B4-BE49-F238E27FC236}">
                <a16:creationId xmlns:a16="http://schemas.microsoft.com/office/drawing/2014/main" id="{149A6A93-1A01-9E41-A551-C20966B45F81}"/>
              </a:ext>
            </a:extLst>
          </p:cNvPr>
          <p:cNvSpPr/>
          <p:nvPr/>
        </p:nvSpPr>
        <p:spPr>
          <a:xfrm>
            <a:off x="1124824" y="1849389"/>
            <a:ext cx="3284547" cy="632070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QEMU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8" name="Straight Connector 13">
            <a:extLst>
              <a:ext uri="{FF2B5EF4-FFF2-40B4-BE49-F238E27FC236}">
                <a16:creationId xmlns:a16="http://schemas.microsoft.com/office/drawing/2014/main" id="{22386CDF-91A1-C547-9076-F9E914009180}"/>
              </a:ext>
            </a:extLst>
          </p:cNvPr>
          <p:cNvCxnSpPr>
            <a:cxnSpLocks/>
          </p:cNvCxnSpPr>
          <p:nvPr/>
        </p:nvCxnSpPr>
        <p:spPr>
          <a:xfrm>
            <a:off x="283345" y="3520570"/>
            <a:ext cx="8557857" cy="0"/>
          </a:xfrm>
          <a:prstGeom prst="line">
            <a:avLst/>
          </a:prstGeom>
          <a:ln>
            <a:solidFill>
              <a:srgbClr val="BE3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05FF6992-67C2-FB42-A70B-92466339C844}"/>
              </a:ext>
            </a:extLst>
          </p:cNvPr>
          <p:cNvSpPr txBox="1"/>
          <p:nvPr/>
        </p:nvSpPr>
        <p:spPr>
          <a:xfrm>
            <a:off x="128234" y="2849499"/>
            <a:ext cx="1015987" cy="640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EL1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523F310-6092-684E-A5E2-6FD5225A7830}"/>
              </a:ext>
            </a:extLst>
          </p:cNvPr>
          <p:cNvSpPr txBox="1"/>
          <p:nvPr/>
        </p:nvSpPr>
        <p:spPr>
          <a:xfrm>
            <a:off x="128234" y="1929397"/>
            <a:ext cx="1015987" cy="640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EL0</a:t>
            </a:r>
            <a:endParaRPr kumimoji="1"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8F7D5A5-78C1-1044-98C1-7A81935412B7}"/>
              </a:ext>
            </a:extLst>
          </p:cNvPr>
          <p:cNvSpPr txBox="1"/>
          <p:nvPr/>
        </p:nvSpPr>
        <p:spPr>
          <a:xfrm>
            <a:off x="128234" y="3861611"/>
            <a:ext cx="1015987" cy="640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EL2</a:t>
            </a:r>
            <a:endParaRPr kumimoji="1"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463D5A8-8CE6-1C4E-A504-E8CF95884846}"/>
              </a:ext>
            </a:extLst>
          </p:cNvPr>
          <p:cNvSpPr txBox="1"/>
          <p:nvPr/>
        </p:nvSpPr>
        <p:spPr>
          <a:xfrm>
            <a:off x="2302612" y="1561356"/>
            <a:ext cx="910011" cy="4719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VMM</a:t>
            </a:r>
            <a:endParaRPr kumimoji="1" lang="zh-CN" altLang="en-US" dirty="0"/>
          </a:p>
        </p:txBody>
      </p:sp>
      <p:sp>
        <p:nvSpPr>
          <p:cNvPr id="13" name="Rectangle 22">
            <a:extLst>
              <a:ext uri="{FF2B5EF4-FFF2-40B4-BE49-F238E27FC236}">
                <a16:creationId xmlns:a16="http://schemas.microsoft.com/office/drawing/2014/main" id="{D26C4AA9-9074-8840-9E00-9553407FFB7B}"/>
              </a:ext>
            </a:extLst>
          </p:cNvPr>
          <p:cNvSpPr/>
          <p:nvPr/>
        </p:nvSpPr>
        <p:spPr>
          <a:xfrm>
            <a:off x="6407546" y="2665479"/>
            <a:ext cx="2008746" cy="502780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Front-end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Driver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4" name="Rectangle 27">
            <a:extLst>
              <a:ext uri="{FF2B5EF4-FFF2-40B4-BE49-F238E27FC236}">
                <a16:creationId xmlns:a16="http://schemas.microsoft.com/office/drawing/2014/main" id="{4DDA61B8-E830-5A40-B188-6C979ACD8AFF}"/>
              </a:ext>
            </a:extLst>
          </p:cNvPr>
          <p:cNvSpPr/>
          <p:nvPr/>
        </p:nvSpPr>
        <p:spPr>
          <a:xfrm>
            <a:off x="6409340" y="2021407"/>
            <a:ext cx="2018700" cy="460051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Network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Stack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3077E95E-97C1-3145-BD97-2EDF29BD13E4}"/>
              </a:ext>
            </a:extLst>
          </p:cNvPr>
          <p:cNvSpPr/>
          <p:nvPr/>
        </p:nvSpPr>
        <p:spPr>
          <a:xfrm>
            <a:off x="5868150" y="1561356"/>
            <a:ext cx="2731132" cy="1745043"/>
          </a:xfrm>
          <a:prstGeom prst="roundRect">
            <a:avLst>
              <a:gd name="adj" fmla="val 9805"/>
            </a:avLst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00B60A7-FD9F-7049-A42C-EA3E9CE9C73A}"/>
              </a:ext>
            </a:extLst>
          </p:cNvPr>
          <p:cNvSpPr txBox="1"/>
          <p:nvPr/>
        </p:nvSpPr>
        <p:spPr>
          <a:xfrm>
            <a:off x="6316946" y="1561356"/>
            <a:ext cx="667987" cy="4719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</a:t>
            </a:r>
            <a:endParaRPr kumimoji="1" lang="zh-CN" altLang="en-US" dirty="0"/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A9049005-703C-D84E-819D-12DAEF4E24A4}"/>
              </a:ext>
            </a:extLst>
          </p:cNvPr>
          <p:cNvSpPr/>
          <p:nvPr/>
        </p:nvSpPr>
        <p:spPr>
          <a:xfrm>
            <a:off x="971599" y="1561356"/>
            <a:ext cx="3744415" cy="2852317"/>
          </a:xfrm>
          <a:prstGeom prst="roundRect">
            <a:avLst>
              <a:gd name="adj" fmla="val 6744"/>
            </a:avLst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8" name="Rectangle 22">
            <a:extLst>
              <a:ext uri="{FF2B5EF4-FFF2-40B4-BE49-F238E27FC236}">
                <a16:creationId xmlns:a16="http://schemas.microsoft.com/office/drawing/2014/main" id="{9D03CD4F-3FFE-424C-B8A9-F03A85FEC8D4}"/>
              </a:ext>
            </a:extLst>
          </p:cNvPr>
          <p:cNvSpPr/>
          <p:nvPr/>
        </p:nvSpPr>
        <p:spPr>
          <a:xfrm>
            <a:off x="2781819" y="3953623"/>
            <a:ext cx="1441897" cy="276031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KVM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cxnSp>
        <p:nvCxnSpPr>
          <p:cNvPr id="19" name="肘形连接符 18">
            <a:extLst>
              <a:ext uri="{FF2B5EF4-FFF2-40B4-BE49-F238E27FC236}">
                <a16:creationId xmlns:a16="http://schemas.microsoft.com/office/drawing/2014/main" id="{32066D5A-52E3-3B49-B68E-79FBCE9BB21D}"/>
              </a:ext>
            </a:extLst>
          </p:cNvPr>
          <p:cNvCxnSpPr>
            <a:cxnSpLocks/>
            <a:stCxn id="13" idx="2"/>
          </p:cNvCxnSpPr>
          <p:nvPr/>
        </p:nvCxnSpPr>
        <p:spPr>
          <a:xfrm rot="5400000">
            <a:off x="6370172" y="3555950"/>
            <a:ext cx="1429437" cy="654055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27">
            <a:extLst>
              <a:ext uri="{FF2B5EF4-FFF2-40B4-BE49-F238E27FC236}">
                <a16:creationId xmlns:a16="http://schemas.microsoft.com/office/drawing/2014/main" id="{19E354E1-A45D-6A46-A88B-4C78BFC33D54}"/>
              </a:ext>
            </a:extLst>
          </p:cNvPr>
          <p:cNvSpPr/>
          <p:nvPr/>
        </p:nvSpPr>
        <p:spPr>
          <a:xfrm>
            <a:off x="2846207" y="3309550"/>
            <a:ext cx="1323677" cy="304308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rgbClr val="BE384B"/>
                </a:solidFill>
                <a:cs typeface="Arial Narrow"/>
              </a:rPr>
              <a:t>/dev/</a:t>
            </a:r>
            <a:r>
              <a:rPr lang="en-US" altLang="zh-CN" sz="1200" dirty="0" err="1">
                <a:solidFill>
                  <a:srgbClr val="BE384B"/>
                </a:solidFill>
                <a:cs typeface="Arial Narrow"/>
              </a:rPr>
              <a:t>kvm</a:t>
            </a:r>
            <a:endParaRPr lang="en-US" sz="12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2F39B854-275B-7E4B-8776-F2A3AA455239}"/>
              </a:ext>
            </a:extLst>
          </p:cNvPr>
          <p:cNvCxnSpPr>
            <a:cxnSpLocks/>
          </p:cNvCxnSpPr>
          <p:nvPr/>
        </p:nvCxnSpPr>
        <p:spPr>
          <a:xfrm>
            <a:off x="3508375" y="2389448"/>
            <a:ext cx="0" cy="1012112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ECD6D26A-D916-8247-BFC8-89F517705EF9}"/>
              </a:ext>
            </a:extLst>
          </p:cNvPr>
          <p:cNvCxnSpPr>
            <a:cxnSpLocks/>
            <a:stCxn id="20" idx="2"/>
            <a:endCxn id="18" idx="0"/>
          </p:cNvCxnSpPr>
          <p:nvPr/>
        </p:nvCxnSpPr>
        <p:spPr>
          <a:xfrm flipH="1">
            <a:off x="3502768" y="3613858"/>
            <a:ext cx="5277" cy="339765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06263262-9344-C942-8FDB-4FAA0B39509D}"/>
              </a:ext>
            </a:extLst>
          </p:cNvPr>
          <p:cNvSpPr txBox="1"/>
          <p:nvPr/>
        </p:nvSpPr>
        <p:spPr>
          <a:xfrm>
            <a:off x="6824978" y="3865613"/>
            <a:ext cx="2159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</a:t>
            </a:r>
            <a:r>
              <a:rPr kumimoji="1" lang="zh-CN" altLang="en-US" dirty="0"/>
              <a:t> </a:t>
            </a:r>
            <a:r>
              <a:rPr kumimoji="1" lang="en-US" altLang="zh-CN" dirty="0"/>
              <a:t>Exit</a:t>
            </a:r>
            <a:r>
              <a:rPr kumimoji="1" lang="zh-CN" altLang="en-US" dirty="0"/>
              <a:t> </a:t>
            </a:r>
            <a:r>
              <a:rPr kumimoji="1" lang="en-US" altLang="zh-CN" dirty="0"/>
              <a:t>(</a:t>
            </a:r>
            <a:r>
              <a:rPr kumimoji="1" lang="en-US" altLang="zh-CN" dirty="0" err="1"/>
              <a:t>Hypercall</a:t>
            </a:r>
            <a:r>
              <a:rPr kumimoji="1" lang="en-US" altLang="zh-CN" dirty="0"/>
              <a:t>)</a:t>
            </a:r>
            <a:endParaRPr kumimoji="1" lang="zh-CN" altLang="en-US" dirty="0"/>
          </a:p>
        </p:txBody>
      </p:sp>
      <p:sp>
        <p:nvSpPr>
          <p:cNvPr id="24" name="Rectangle 22">
            <a:extLst>
              <a:ext uri="{FF2B5EF4-FFF2-40B4-BE49-F238E27FC236}">
                <a16:creationId xmlns:a16="http://schemas.microsoft.com/office/drawing/2014/main" id="{D49F0A35-0BE2-EA44-9741-B8E0EB33D785}"/>
              </a:ext>
            </a:extLst>
          </p:cNvPr>
          <p:cNvSpPr/>
          <p:nvPr/>
        </p:nvSpPr>
        <p:spPr>
          <a:xfrm>
            <a:off x="2864537" y="4597695"/>
            <a:ext cx="5744821" cy="204021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Hardware</a:t>
            </a:r>
            <a:r>
              <a:rPr lang="zh-CN" altLang="en-US" sz="1600" dirty="0">
                <a:solidFill>
                  <a:schemeClr val="bg1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Virtualization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44521A19-1E1E-154E-9BA3-4105F4A6F817}"/>
              </a:ext>
            </a:extLst>
          </p:cNvPr>
          <p:cNvCxnSpPr>
            <a:cxnSpLocks/>
          </p:cNvCxnSpPr>
          <p:nvPr/>
        </p:nvCxnSpPr>
        <p:spPr>
          <a:xfrm>
            <a:off x="3496426" y="4229652"/>
            <a:ext cx="0" cy="460051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7C5B7F8B-1D14-BB4D-86BB-9A0429C03B1F}"/>
              </a:ext>
            </a:extLst>
          </p:cNvPr>
          <p:cNvCxnSpPr>
            <a:cxnSpLocks/>
          </p:cNvCxnSpPr>
          <p:nvPr/>
        </p:nvCxnSpPr>
        <p:spPr>
          <a:xfrm>
            <a:off x="7401042" y="2425453"/>
            <a:ext cx="0" cy="36004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7439B5DD-7289-264B-B0A6-DD0EDFE0D654}"/>
              </a:ext>
            </a:extLst>
          </p:cNvPr>
          <p:cNvSpPr/>
          <p:nvPr/>
        </p:nvSpPr>
        <p:spPr>
          <a:xfrm>
            <a:off x="1784418" y="3879595"/>
            <a:ext cx="939660" cy="360040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rgbClr val="BE384B"/>
                </a:solidFill>
                <a:cs typeface="Arial Narrow"/>
              </a:rPr>
              <a:t>Network</a:t>
            </a:r>
          </a:p>
          <a:p>
            <a:pPr algn="ctr"/>
            <a:r>
              <a:rPr lang="en-US" altLang="zh-CN" sz="1200" dirty="0">
                <a:solidFill>
                  <a:srgbClr val="BE384B"/>
                </a:solidFill>
                <a:cs typeface="Arial Narrow"/>
              </a:rPr>
              <a:t>Driver</a:t>
            </a:r>
            <a:endParaRPr lang="en-US" sz="12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0BF0B84F-5027-464E-95CA-4A44BE376B8E}"/>
              </a:ext>
            </a:extLst>
          </p:cNvPr>
          <p:cNvCxnSpPr>
            <a:cxnSpLocks/>
          </p:cNvCxnSpPr>
          <p:nvPr/>
        </p:nvCxnSpPr>
        <p:spPr>
          <a:xfrm flipV="1">
            <a:off x="2216466" y="2425453"/>
            <a:ext cx="0" cy="1512168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图片 29">
            <a:extLst>
              <a:ext uri="{FF2B5EF4-FFF2-40B4-BE49-F238E27FC236}">
                <a16:creationId xmlns:a16="http://schemas.microsoft.com/office/drawing/2014/main" id="{059DDD22-DDDB-B14D-A285-B0C0617D898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71115" y="4585693"/>
            <a:ext cx="566266" cy="509904"/>
          </a:xfrm>
          <a:prstGeom prst="rect">
            <a:avLst/>
          </a:prstGeom>
        </p:spPr>
      </p:pic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65F03709-B29C-6546-9C29-21FE9E22F9B7}"/>
              </a:ext>
            </a:extLst>
          </p:cNvPr>
          <p:cNvCxnSpPr>
            <a:cxnSpLocks/>
            <a:stCxn id="30" idx="0"/>
            <a:endCxn id="28" idx="2"/>
          </p:cNvCxnSpPr>
          <p:nvPr/>
        </p:nvCxnSpPr>
        <p:spPr>
          <a:xfrm flipV="1">
            <a:off x="2254248" y="4239635"/>
            <a:ext cx="0" cy="346058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4482B1EF-37CE-3A49-81DE-19CEB75EE91B}"/>
              </a:ext>
            </a:extLst>
          </p:cNvPr>
          <p:cNvCxnSpPr>
            <a:cxnSpLocks/>
            <a:endCxn id="30" idx="1"/>
          </p:cNvCxnSpPr>
          <p:nvPr/>
        </p:nvCxnSpPr>
        <p:spPr>
          <a:xfrm>
            <a:off x="1323043" y="4840645"/>
            <a:ext cx="648072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5413A0CB-4BC4-F24B-A760-64CF1B02F526}"/>
              </a:ext>
            </a:extLst>
          </p:cNvPr>
          <p:cNvSpPr txBox="1"/>
          <p:nvPr/>
        </p:nvSpPr>
        <p:spPr>
          <a:xfrm>
            <a:off x="1373788" y="3001517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system</a:t>
            </a:r>
            <a:r>
              <a:rPr kumimoji="1" lang="zh-CN" altLang="en-US" dirty="0"/>
              <a:t> </a:t>
            </a:r>
            <a:r>
              <a:rPr kumimoji="1" lang="en-US" altLang="zh-CN" dirty="0"/>
              <a:t>call</a:t>
            </a:r>
            <a:endParaRPr kumimoji="1" lang="zh-CN" altLang="en-US" dirty="0"/>
          </a:p>
        </p:txBody>
      </p:sp>
      <p:sp>
        <p:nvSpPr>
          <p:cNvPr id="35" name="Rectangle 22">
            <a:extLst>
              <a:ext uri="{FF2B5EF4-FFF2-40B4-BE49-F238E27FC236}">
                <a16:creationId xmlns:a16="http://schemas.microsoft.com/office/drawing/2014/main" id="{E70B1C98-B378-DD49-9ACE-03489F5AAE12}"/>
              </a:ext>
            </a:extLst>
          </p:cNvPr>
          <p:cNvSpPr/>
          <p:nvPr/>
        </p:nvSpPr>
        <p:spPr>
          <a:xfrm>
            <a:off x="2555776" y="1993404"/>
            <a:ext cx="1721394" cy="358764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Back-end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Driver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graphicFrame>
        <p:nvGraphicFramePr>
          <p:cNvPr id="36" name="表格 35">
            <a:extLst>
              <a:ext uri="{FF2B5EF4-FFF2-40B4-BE49-F238E27FC236}">
                <a16:creationId xmlns:a16="http://schemas.microsoft.com/office/drawing/2014/main" id="{958D4C6A-E894-5C4C-9DA5-80FF0D5FA17E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4932040" y="2425452"/>
          <a:ext cx="720084" cy="240028"/>
        </p:xfrm>
        <a:graphic>
          <a:graphicData uri="http://schemas.openxmlformats.org/drawingml/2006/table">
            <a:tbl>
              <a:tblPr firstRow="1" bandRow="1"/>
              <a:tblGrid>
                <a:gridCol w="120014">
                  <a:extLst>
                    <a:ext uri="{9D8B030D-6E8A-4147-A177-3AD203B41FA5}">
                      <a16:colId xmlns:a16="http://schemas.microsoft.com/office/drawing/2014/main" val="2860160233"/>
                    </a:ext>
                  </a:extLst>
                </a:gridCol>
                <a:gridCol w="120014">
                  <a:extLst>
                    <a:ext uri="{9D8B030D-6E8A-4147-A177-3AD203B41FA5}">
                      <a16:colId xmlns:a16="http://schemas.microsoft.com/office/drawing/2014/main" val="2318858930"/>
                    </a:ext>
                  </a:extLst>
                </a:gridCol>
                <a:gridCol w="120014">
                  <a:extLst>
                    <a:ext uri="{9D8B030D-6E8A-4147-A177-3AD203B41FA5}">
                      <a16:colId xmlns:a16="http://schemas.microsoft.com/office/drawing/2014/main" val="2266334094"/>
                    </a:ext>
                  </a:extLst>
                </a:gridCol>
                <a:gridCol w="120014">
                  <a:extLst>
                    <a:ext uri="{9D8B030D-6E8A-4147-A177-3AD203B41FA5}">
                      <a16:colId xmlns:a16="http://schemas.microsoft.com/office/drawing/2014/main" val="3234788880"/>
                    </a:ext>
                  </a:extLst>
                </a:gridCol>
                <a:gridCol w="120014">
                  <a:extLst>
                    <a:ext uri="{9D8B030D-6E8A-4147-A177-3AD203B41FA5}">
                      <a16:colId xmlns:a16="http://schemas.microsoft.com/office/drawing/2014/main" val="2650179042"/>
                    </a:ext>
                  </a:extLst>
                </a:gridCol>
                <a:gridCol w="120014">
                  <a:extLst>
                    <a:ext uri="{9D8B030D-6E8A-4147-A177-3AD203B41FA5}">
                      <a16:colId xmlns:a16="http://schemas.microsoft.com/office/drawing/2014/main" val="1575277169"/>
                    </a:ext>
                  </a:extLst>
                </a:gridCol>
              </a:tblGrid>
              <a:tr h="120014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702111484"/>
                  </a:ext>
                </a:extLst>
              </a:tr>
              <a:tr h="120014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840879957"/>
                  </a:ext>
                </a:extLst>
              </a:tr>
            </a:tbl>
          </a:graphicData>
        </a:graphic>
      </p:graphicFrame>
      <p:sp>
        <p:nvSpPr>
          <p:cNvPr id="37" name="文本框 36">
            <a:extLst>
              <a:ext uri="{FF2B5EF4-FFF2-40B4-BE49-F238E27FC236}">
                <a16:creationId xmlns:a16="http://schemas.microsoft.com/office/drawing/2014/main" id="{14F9B711-B99C-774A-A7FF-45D7CDC1F2D8}"/>
              </a:ext>
            </a:extLst>
          </p:cNvPr>
          <p:cNvSpPr txBox="1"/>
          <p:nvPr/>
        </p:nvSpPr>
        <p:spPr>
          <a:xfrm>
            <a:off x="4860032" y="2641476"/>
            <a:ext cx="8808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 err="1"/>
              <a:t>Virtqueue</a:t>
            </a:r>
            <a:r>
              <a:rPr lang="en-US" altLang="zh-CN" sz="1200" dirty="0"/>
              <a:t> </a:t>
            </a:r>
          </a:p>
        </p:txBody>
      </p:sp>
      <p:cxnSp>
        <p:nvCxnSpPr>
          <p:cNvPr id="38" name="肘形连接符 37">
            <a:extLst>
              <a:ext uri="{FF2B5EF4-FFF2-40B4-BE49-F238E27FC236}">
                <a16:creationId xmlns:a16="http://schemas.microsoft.com/office/drawing/2014/main" id="{1902242D-E908-274A-BFFD-E3448ADA02AF}"/>
              </a:ext>
            </a:extLst>
          </p:cNvPr>
          <p:cNvCxnSpPr>
            <a:cxnSpLocks/>
            <a:stCxn id="13" idx="1"/>
            <a:endCxn id="36" idx="3"/>
          </p:cNvCxnSpPr>
          <p:nvPr/>
        </p:nvCxnSpPr>
        <p:spPr>
          <a:xfrm rot="10800000">
            <a:off x="5652124" y="2545467"/>
            <a:ext cx="755422" cy="371403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肘形连接符 40">
            <a:extLst>
              <a:ext uri="{FF2B5EF4-FFF2-40B4-BE49-F238E27FC236}">
                <a16:creationId xmlns:a16="http://schemas.microsoft.com/office/drawing/2014/main" id="{2F56314D-DE0C-1841-B60A-3F3CC04F97EA}"/>
              </a:ext>
            </a:extLst>
          </p:cNvPr>
          <p:cNvCxnSpPr>
            <a:cxnSpLocks/>
            <a:stCxn id="36" idx="1"/>
            <a:endCxn id="35" idx="3"/>
          </p:cNvCxnSpPr>
          <p:nvPr/>
        </p:nvCxnSpPr>
        <p:spPr>
          <a:xfrm rot="10800000">
            <a:off x="4277170" y="2172786"/>
            <a:ext cx="654870" cy="372680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6A3BEB44-914A-EB43-92DF-47F9E24B541A}"/>
              </a:ext>
            </a:extLst>
          </p:cNvPr>
          <p:cNvGrpSpPr/>
          <p:nvPr/>
        </p:nvGrpSpPr>
        <p:grpSpPr>
          <a:xfrm>
            <a:off x="4932040" y="1201316"/>
            <a:ext cx="648072" cy="1224136"/>
            <a:chOff x="4932040" y="1201316"/>
            <a:chExt cx="648072" cy="1224136"/>
          </a:xfrm>
        </p:grpSpPr>
        <p:sp>
          <p:nvSpPr>
            <p:cNvPr id="39" name="Rectangle 27">
              <a:extLst>
                <a:ext uri="{FF2B5EF4-FFF2-40B4-BE49-F238E27FC236}">
                  <a16:creationId xmlns:a16="http://schemas.microsoft.com/office/drawing/2014/main" id="{1C67EFAA-52B7-5C44-9BAE-B83C018245E7}"/>
                </a:ext>
              </a:extLst>
            </p:cNvPr>
            <p:cNvSpPr/>
            <p:nvPr/>
          </p:nvSpPr>
          <p:spPr>
            <a:xfrm>
              <a:off x="4932040" y="1201316"/>
              <a:ext cx="648072" cy="72008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BE3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err="1">
                  <a:solidFill>
                    <a:srgbClr val="BE384B"/>
                  </a:solidFill>
                  <a:cs typeface="Arial Narrow"/>
                </a:rPr>
                <a:t>Addr</a:t>
              </a:r>
              <a:endParaRPr lang="en-US" altLang="zh-CN" sz="1200" dirty="0">
                <a:solidFill>
                  <a:srgbClr val="BE384B"/>
                </a:solidFill>
                <a:cs typeface="Arial Narrow"/>
              </a:endParaRPr>
            </a:p>
            <a:p>
              <a:pPr algn="ctr"/>
              <a:r>
                <a:rPr lang="en-US" altLang="zh-CN" sz="1200" dirty="0">
                  <a:solidFill>
                    <a:srgbClr val="BE384B"/>
                  </a:solidFill>
                  <a:cs typeface="Arial Narrow"/>
                </a:rPr>
                <a:t>Length</a:t>
              </a:r>
            </a:p>
            <a:p>
              <a:pPr algn="ctr"/>
              <a:r>
                <a:rPr lang="en-US" altLang="zh-CN" sz="1200" dirty="0">
                  <a:solidFill>
                    <a:srgbClr val="BE384B"/>
                  </a:solidFill>
                  <a:cs typeface="Arial Narrow"/>
                </a:rPr>
                <a:t>Flags</a:t>
              </a:r>
            </a:p>
            <a:p>
              <a:pPr algn="ctr"/>
              <a:r>
                <a:rPr lang="en-US" altLang="zh-CN" sz="1200" dirty="0">
                  <a:solidFill>
                    <a:srgbClr val="BE384B"/>
                  </a:solidFill>
                  <a:cs typeface="Arial Narrow"/>
                </a:rPr>
                <a:t>next</a:t>
              </a:r>
            </a:p>
          </p:txBody>
        </p:sp>
        <p:cxnSp>
          <p:nvCxnSpPr>
            <p:cNvPr id="26" name="直线连接符 25">
              <a:extLst>
                <a:ext uri="{FF2B5EF4-FFF2-40B4-BE49-F238E27FC236}">
                  <a16:creationId xmlns:a16="http://schemas.microsoft.com/office/drawing/2014/main" id="{A4BE761A-08C5-574E-97A4-A216080EF17F}"/>
                </a:ext>
              </a:extLst>
            </p:cNvPr>
            <p:cNvCxnSpPr/>
            <p:nvPr/>
          </p:nvCxnSpPr>
          <p:spPr>
            <a:xfrm flipV="1">
              <a:off x="4932040" y="1921396"/>
              <a:ext cx="0" cy="5040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线连接符 41">
              <a:extLst>
                <a:ext uri="{FF2B5EF4-FFF2-40B4-BE49-F238E27FC236}">
                  <a16:creationId xmlns:a16="http://schemas.microsoft.com/office/drawing/2014/main" id="{C0111AE1-9F64-114F-91D8-E089BB02A2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76056" y="1921396"/>
              <a:ext cx="504056" cy="5040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92452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3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DBD791-9B5F-1447-99BA-4245553FB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265212"/>
            <a:ext cx="8229600" cy="900442"/>
          </a:xfrm>
        </p:spPr>
        <p:txBody>
          <a:bodyPr>
            <a:normAutofit fontScale="90000"/>
          </a:bodyPr>
          <a:lstStyle/>
          <a:p>
            <a:r>
              <a:rPr kumimoji="1" lang="zh-CN" altLang="en-US" dirty="0"/>
              <a:t>例：</a:t>
            </a:r>
            <a:r>
              <a:rPr kumimoji="1" lang="en-US" altLang="zh-CN" dirty="0"/>
              <a:t>QEMU/KVM</a:t>
            </a:r>
            <a:r>
              <a:rPr kumimoji="1" lang="zh-CN" altLang="en-US" dirty="0"/>
              <a:t>半虚拟化：收网络包</a:t>
            </a:r>
            <a:r>
              <a:rPr kumimoji="1" lang="en-US" altLang="zh-CN" dirty="0"/>
              <a:t>	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B8BA1D-E613-BA4E-B984-8A34BE48D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33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EDFD83-161F-ED4D-A6C3-DD4839857E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Rectangle 22">
            <a:extLst>
              <a:ext uri="{FF2B5EF4-FFF2-40B4-BE49-F238E27FC236}">
                <a16:creationId xmlns:a16="http://schemas.microsoft.com/office/drawing/2014/main" id="{73F793B2-0D41-8E44-98F3-825CFC410F73}"/>
              </a:ext>
            </a:extLst>
          </p:cNvPr>
          <p:cNvSpPr/>
          <p:nvPr/>
        </p:nvSpPr>
        <p:spPr>
          <a:xfrm>
            <a:off x="1134776" y="3769600"/>
            <a:ext cx="3316857" cy="552063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Linux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7" name="Rectangle 27">
            <a:extLst>
              <a:ext uri="{FF2B5EF4-FFF2-40B4-BE49-F238E27FC236}">
                <a16:creationId xmlns:a16="http://schemas.microsoft.com/office/drawing/2014/main" id="{149A6A93-1A01-9E41-A551-C20966B45F81}"/>
              </a:ext>
            </a:extLst>
          </p:cNvPr>
          <p:cNvSpPr/>
          <p:nvPr/>
        </p:nvSpPr>
        <p:spPr>
          <a:xfrm>
            <a:off x="1124824" y="1849389"/>
            <a:ext cx="3284547" cy="632070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QEMU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8" name="Straight Connector 13">
            <a:extLst>
              <a:ext uri="{FF2B5EF4-FFF2-40B4-BE49-F238E27FC236}">
                <a16:creationId xmlns:a16="http://schemas.microsoft.com/office/drawing/2014/main" id="{22386CDF-91A1-C547-9076-F9E914009180}"/>
              </a:ext>
            </a:extLst>
          </p:cNvPr>
          <p:cNvCxnSpPr>
            <a:cxnSpLocks/>
          </p:cNvCxnSpPr>
          <p:nvPr/>
        </p:nvCxnSpPr>
        <p:spPr>
          <a:xfrm>
            <a:off x="283345" y="3520570"/>
            <a:ext cx="8557857" cy="0"/>
          </a:xfrm>
          <a:prstGeom prst="line">
            <a:avLst/>
          </a:prstGeom>
          <a:ln>
            <a:solidFill>
              <a:srgbClr val="BE3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05FF6992-67C2-FB42-A70B-92466339C844}"/>
              </a:ext>
            </a:extLst>
          </p:cNvPr>
          <p:cNvSpPr txBox="1"/>
          <p:nvPr/>
        </p:nvSpPr>
        <p:spPr>
          <a:xfrm>
            <a:off x="128234" y="2849499"/>
            <a:ext cx="1015987" cy="640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EL1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523F310-6092-684E-A5E2-6FD5225A7830}"/>
              </a:ext>
            </a:extLst>
          </p:cNvPr>
          <p:cNvSpPr txBox="1"/>
          <p:nvPr/>
        </p:nvSpPr>
        <p:spPr>
          <a:xfrm>
            <a:off x="128234" y="1929397"/>
            <a:ext cx="1015987" cy="640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EL0</a:t>
            </a:r>
            <a:endParaRPr kumimoji="1"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8F7D5A5-78C1-1044-98C1-7A81935412B7}"/>
              </a:ext>
            </a:extLst>
          </p:cNvPr>
          <p:cNvSpPr txBox="1"/>
          <p:nvPr/>
        </p:nvSpPr>
        <p:spPr>
          <a:xfrm>
            <a:off x="128234" y="3861611"/>
            <a:ext cx="1015987" cy="640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EL2</a:t>
            </a:r>
            <a:endParaRPr kumimoji="1"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463D5A8-8CE6-1C4E-A504-E8CF95884846}"/>
              </a:ext>
            </a:extLst>
          </p:cNvPr>
          <p:cNvSpPr txBox="1"/>
          <p:nvPr/>
        </p:nvSpPr>
        <p:spPr>
          <a:xfrm>
            <a:off x="2302612" y="1561356"/>
            <a:ext cx="910011" cy="4719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VMM</a:t>
            </a:r>
            <a:endParaRPr kumimoji="1" lang="zh-CN" altLang="en-US" dirty="0"/>
          </a:p>
        </p:txBody>
      </p:sp>
      <p:sp>
        <p:nvSpPr>
          <p:cNvPr id="13" name="Rectangle 22">
            <a:extLst>
              <a:ext uri="{FF2B5EF4-FFF2-40B4-BE49-F238E27FC236}">
                <a16:creationId xmlns:a16="http://schemas.microsoft.com/office/drawing/2014/main" id="{D26C4AA9-9074-8840-9E00-9553407FFB7B}"/>
              </a:ext>
            </a:extLst>
          </p:cNvPr>
          <p:cNvSpPr/>
          <p:nvPr/>
        </p:nvSpPr>
        <p:spPr>
          <a:xfrm>
            <a:off x="6407546" y="2665479"/>
            <a:ext cx="2008746" cy="502780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Front-end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Driver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4" name="Rectangle 27">
            <a:extLst>
              <a:ext uri="{FF2B5EF4-FFF2-40B4-BE49-F238E27FC236}">
                <a16:creationId xmlns:a16="http://schemas.microsoft.com/office/drawing/2014/main" id="{4DDA61B8-E830-5A40-B188-6C979ACD8AFF}"/>
              </a:ext>
            </a:extLst>
          </p:cNvPr>
          <p:cNvSpPr/>
          <p:nvPr/>
        </p:nvSpPr>
        <p:spPr>
          <a:xfrm>
            <a:off x="6409340" y="2021407"/>
            <a:ext cx="2018700" cy="460051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Network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Stack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3077E95E-97C1-3145-BD97-2EDF29BD13E4}"/>
              </a:ext>
            </a:extLst>
          </p:cNvPr>
          <p:cNvSpPr/>
          <p:nvPr/>
        </p:nvSpPr>
        <p:spPr>
          <a:xfrm>
            <a:off x="5842252" y="1561356"/>
            <a:ext cx="2757030" cy="1745043"/>
          </a:xfrm>
          <a:prstGeom prst="roundRect">
            <a:avLst>
              <a:gd name="adj" fmla="val 10429"/>
            </a:avLst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00B60A7-FD9F-7049-A42C-EA3E9CE9C73A}"/>
              </a:ext>
            </a:extLst>
          </p:cNvPr>
          <p:cNvSpPr txBox="1"/>
          <p:nvPr/>
        </p:nvSpPr>
        <p:spPr>
          <a:xfrm>
            <a:off x="6316946" y="1561356"/>
            <a:ext cx="667987" cy="4719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</a:t>
            </a:r>
            <a:endParaRPr kumimoji="1" lang="zh-CN" altLang="en-US" dirty="0"/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A9049005-703C-D84E-819D-12DAEF4E24A4}"/>
              </a:ext>
            </a:extLst>
          </p:cNvPr>
          <p:cNvSpPr/>
          <p:nvPr/>
        </p:nvSpPr>
        <p:spPr>
          <a:xfrm>
            <a:off x="971599" y="1561356"/>
            <a:ext cx="3770313" cy="2852317"/>
          </a:xfrm>
          <a:prstGeom prst="roundRect">
            <a:avLst>
              <a:gd name="adj" fmla="val 7126"/>
            </a:avLst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8" name="Rectangle 22">
            <a:extLst>
              <a:ext uri="{FF2B5EF4-FFF2-40B4-BE49-F238E27FC236}">
                <a16:creationId xmlns:a16="http://schemas.microsoft.com/office/drawing/2014/main" id="{9D03CD4F-3FFE-424C-B8A9-F03A85FEC8D4}"/>
              </a:ext>
            </a:extLst>
          </p:cNvPr>
          <p:cNvSpPr/>
          <p:nvPr/>
        </p:nvSpPr>
        <p:spPr>
          <a:xfrm>
            <a:off x="2781819" y="3953623"/>
            <a:ext cx="1441897" cy="276031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KVM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cxnSp>
        <p:nvCxnSpPr>
          <p:cNvPr id="19" name="肘形连接符 18">
            <a:extLst>
              <a:ext uri="{FF2B5EF4-FFF2-40B4-BE49-F238E27FC236}">
                <a16:creationId xmlns:a16="http://schemas.microsoft.com/office/drawing/2014/main" id="{32066D5A-52E3-3B49-B68E-79FBCE9BB21D}"/>
              </a:ext>
            </a:extLst>
          </p:cNvPr>
          <p:cNvCxnSpPr>
            <a:cxnSpLocks/>
            <a:stCxn id="13" idx="2"/>
          </p:cNvCxnSpPr>
          <p:nvPr/>
        </p:nvCxnSpPr>
        <p:spPr>
          <a:xfrm rot="5400000">
            <a:off x="6370172" y="3555950"/>
            <a:ext cx="1429437" cy="654055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27">
            <a:extLst>
              <a:ext uri="{FF2B5EF4-FFF2-40B4-BE49-F238E27FC236}">
                <a16:creationId xmlns:a16="http://schemas.microsoft.com/office/drawing/2014/main" id="{19E354E1-A45D-6A46-A88B-4C78BFC33D54}"/>
              </a:ext>
            </a:extLst>
          </p:cNvPr>
          <p:cNvSpPr/>
          <p:nvPr/>
        </p:nvSpPr>
        <p:spPr>
          <a:xfrm>
            <a:off x="2846207" y="3309550"/>
            <a:ext cx="1323677" cy="304308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rgbClr val="BE384B"/>
                </a:solidFill>
                <a:cs typeface="Arial Narrow"/>
              </a:rPr>
              <a:t>/dev/</a:t>
            </a:r>
            <a:r>
              <a:rPr lang="en-US" altLang="zh-CN" sz="1200" dirty="0" err="1">
                <a:solidFill>
                  <a:srgbClr val="BE384B"/>
                </a:solidFill>
                <a:cs typeface="Arial Narrow"/>
              </a:rPr>
              <a:t>kvm</a:t>
            </a:r>
            <a:endParaRPr lang="en-US" sz="12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2F39B854-275B-7E4B-8776-F2A3AA455239}"/>
              </a:ext>
            </a:extLst>
          </p:cNvPr>
          <p:cNvCxnSpPr>
            <a:cxnSpLocks/>
          </p:cNvCxnSpPr>
          <p:nvPr/>
        </p:nvCxnSpPr>
        <p:spPr>
          <a:xfrm>
            <a:off x="3508375" y="2389448"/>
            <a:ext cx="0" cy="1012112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ECD6D26A-D916-8247-BFC8-89F517705EF9}"/>
              </a:ext>
            </a:extLst>
          </p:cNvPr>
          <p:cNvCxnSpPr>
            <a:cxnSpLocks/>
            <a:stCxn id="20" idx="2"/>
            <a:endCxn id="18" idx="0"/>
          </p:cNvCxnSpPr>
          <p:nvPr/>
        </p:nvCxnSpPr>
        <p:spPr>
          <a:xfrm flipH="1">
            <a:off x="3502768" y="3613858"/>
            <a:ext cx="5277" cy="339765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06263262-9344-C942-8FDB-4FAA0B39509D}"/>
              </a:ext>
            </a:extLst>
          </p:cNvPr>
          <p:cNvSpPr txBox="1"/>
          <p:nvPr/>
        </p:nvSpPr>
        <p:spPr>
          <a:xfrm>
            <a:off x="6824978" y="3865613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</a:t>
            </a:r>
            <a:r>
              <a:rPr kumimoji="1" lang="zh-CN" altLang="en-US" dirty="0"/>
              <a:t> </a:t>
            </a:r>
            <a:r>
              <a:rPr kumimoji="1" lang="en-US" altLang="zh-CN" dirty="0"/>
              <a:t>Entry</a:t>
            </a:r>
            <a:r>
              <a:rPr kumimoji="1" lang="zh-CN" altLang="en-US" dirty="0"/>
              <a:t> </a:t>
            </a:r>
            <a:r>
              <a:rPr kumimoji="1" lang="en-US" altLang="zh-CN" dirty="0"/>
              <a:t>(Interrupt)</a:t>
            </a:r>
            <a:endParaRPr kumimoji="1" lang="zh-CN" altLang="en-US" dirty="0"/>
          </a:p>
        </p:txBody>
      </p:sp>
      <p:sp>
        <p:nvSpPr>
          <p:cNvPr id="24" name="Rectangle 22">
            <a:extLst>
              <a:ext uri="{FF2B5EF4-FFF2-40B4-BE49-F238E27FC236}">
                <a16:creationId xmlns:a16="http://schemas.microsoft.com/office/drawing/2014/main" id="{D49F0A35-0BE2-EA44-9741-B8E0EB33D785}"/>
              </a:ext>
            </a:extLst>
          </p:cNvPr>
          <p:cNvSpPr/>
          <p:nvPr/>
        </p:nvSpPr>
        <p:spPr>
          <a:xfrm>
            <a:off x="2864537" y="4597695"/>
            <a:ext cx="5744821" cy="204021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Hardware</a:t>
            </a:r>
            <a:r>
              <a:rPr lang="zh-CN" altLang="en-US" sz="1600" dirty="0">
                <a:solidFill>
                  <a:schemeClr val="bg1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Virtualization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44521A19-1E1E-154E-9BA3-4105F4A6F817}"/>
              </a:ext>
            </a:extLst>
          </p:cNvPr>
          <p:cNvCxnSpPr>
            <a:cxnSpLocks/>
          </p:cNvCxnSpPr>
          <p:nvPr/>
        </p:nvCxnSpPr>
        <p:spPr>
          <a:xfrm>
            <a:off x="3496426" y="4229652"/>
            <a:ext cx="0" cy="460051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7C5B7F8B-1D14-BB4D-86BB-9A0429C03B1F}"/>
              </a:ext>
            </a:extLst>
          </p:cNvPr>
          <p:cNvCxnSpPr>
            <a:cxnSpLocks/>
          </p:cNvCxnSpPr>
          <p:nvPr/>
        </p:nvCxnSpPr>
        <p:spPr>
          <a:xfrm>
            <a:off x="7401042" y="2425453"/>
            <a:ext cx="0" cy="36004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7439B5DD-7289-264B-B0A6-DD0EDFE0D654}"/>
              </a:ext>
            </a:extLst>
          </p:cNvPr>
          <p:cNvSpPr/>
          <p:nvPr/>
        </p:nvSpPr>
        <p:spPr>
          <a:xfrm>
            <a:off x="1784418" y="3879595"/>
            <a:ext cx="939660" cy="360040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rgbClr val="BE384B"/>
                </a:solidFill>
                <a:cs typeface="Arial Narrow"/>
              </a:rPr>
              <a:t>Network</a:t>
            </a:r>
          </a:p>
          <a:p>
            <a:pPr algn="ctr"/>
            <a:r>
              <a:rPr lang="en-US" altLang="zh-CN" sz="1200" dirty="0">
                <a:solidFill>
                  <a:srgbClr val="BE384B"/>
                </a:solidFill>
                <a:cs typeface="Arial Narrow"/>
              </a:rPr>
              <a:t>Driver</a:t>
            </a:r>
            <a:endParaRPr lang="en-US" sz="12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0BF0B84F-5027-464E-95CA-4A44BE376B8E}"/>
              </a:ext>
            </a:extLst>
          </p:cNvPr>
          <p:cNvCxnSpPr>
            <a:cxnSpLocks/>
          </p:cNvCxnSpPr>
          <p:nvPr/>
        </p:nvCxnSpPr>
        <p:spPr>
          <a:xfrm flipV="1">
            <a:off x="2216466" y="2425453"/>
            <a:ext cx="0" cy="1512168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图片 29">
            <a:extLst>
              <a:ext uri="{FF2B5EF4-FFF2-40B4-BE49-F238E27FC236}">
                <a16:creationId xmlns:a16="http://schemas.microsoft.com/office/drawing/2014/main" id="{059DDD22-DDDB-B14D-A285-B0C0617D898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71115" y="4585693"/>
            <a:ext cx="566266" cy="509904"/>
          </a:xfrm>
          <a:prstGeom prst="rect">
            <a:avLst/>
          </a:prstGeom>
        </p:spPr>
      </p:pic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65F03709-B29C-6546-9C29-21FE9E22F9B7}"/>
              </a:ext>
            </a:extLst>
          </p:cNvPr>
          <p:cNvCxnSpPr>
            <a:cxnSpLocks/>
            <a:stCxn id="30" idx="0"/>
            <a:endCxn id="28" idx="2"/>
          </p:cNvCxnSpPr>
          <p:nvPr/>
        </p:nvCxnSpPr>
        <p:spPr>
          <a:xfrm flipV="1">
            <a:off x="2254248" y="4239635"/>
            <a:ext cx="0" cy="346058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22">
            <a:extLst>
              <a:ext uri="{FF2B5EF4-FFF2-40B4-BE49-F238E27FC236}">
                <a16:creationId xmlns:a16="http://schemas.microsoft.com/office/drawing/2014/main" id="{E70B1C98-B378-DD49-9ACE-03489F5AAE12}"/>
              </a:ext>
            </a:extLst>
          </p:cNvPr>
          <p:cNvSpPr/>
          <p:nvPr/>
        </p:nvSpPr>
        <p:spPr>
          <a:xfrm>
            <a:off x="2555776" y="1993404"/>
            <a:ext cx="1721394" cy="358764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Back-end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Driver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graphicFrame>
        <p:nvGraphicFramePr>
          <p:cNvPr id="36" name="表格 35">
            <a:extLst>
              <a:ext uri="{FF2B5EF4-FFF2-40B4-BE49-F238E27FC236}">
                <a16:creationId xmlns:a16="http://schemas.microsoft.com/office/drawing/2014/main" id="{958D4C6A-E894-5C4C-9DA5-80FF0D5FA17E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4932040" y="2425452"/>
          <a:ext cx="720084" cy="240028"/>
        </p:xfrm>
        <a:graphic>
          <a:graphicData uri="http://schemas.openxmlformats.org/drawingml/2006/table">
            <a:tbl>
              <a:tblPr firstRow="1" bandRow="1"/>
              <a:tblGrid>
                <a:gridCol w="120014">
                  <a:extLst>
                    <a:ext uri="{9D8B030D-6E8A-4147-A177-3AD203B41FA5}">
                      <a16:colId xmlns:a16="http://schemas.microsoft.com/office/drawing/2014/main" val="2860160233"/>
                    </a:ext>
                  </a:extLst>
                </a:gridCol>
                <a:gridCol w="120014">
                  <a:extLst>
                    <a:ext uri="{9D8B030D-6E8A-4147-A177-3AD203B41FA5}">
                      <a16:colId xmlns:a16="http://schemas.microsoft.com/office/drawing/2014/main" val="2318858930"/>
                    </a:ext>
                  </a:extLst>
                </a:gridCol>
                <a:gridCol w="120014">
                  <a:extLst>
                    <a:ext uri="{9D8B030D-6E8A-4147-A177-3AD203B41FA5}">
                      <a16:colId xmlns:a16="http://schemas.microsoft.com/office/drawing/2014/main" val="2266334094"/>
                    </a:ext>
                  </a:extLst>
                </a:gridCol>
                <a:gridCol w="120014">
                  <a:extLst>
                    <a:ext uri="{9D8B030D-6E8A-4147-A177-3AD203B41FA5}">
                      <a16:colId xmlns:a16="http://schemas.microsoft.com/office/drawing/2014/main" val="3234788880"/>
                    </a:ext>
                  </a:extLst>
                </a:gridCol>
                <a:gridCol w="120014">
                  <a:extLst>
                    <a:ext uri="{9D8B030D-6E8A-4147-A177-3AD203B41FA5}">
                      <a16:colId xmlns:a16="http://schemas.microsoft.com/office/drawing/2014/main" val="2650179042"/>
                    </a:ext>
                  </a:extLst>
                </a:gridCol>
                <a:gridCol w="120014">
                  <a:extLst>
                    <a:ext uri="{9D8B030D-6E8A-4147-A177-3AD203B41FA5}">
                      <a16:colId xmlns:a16="http://schemas.microsoft.com/office/drawing/2014/main" val="1575277169"/>
                    </a:ext>
                  </a:extLst>
                </a:gridCol>
              </a:tblGrid>
              <a:tr h="120014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702111484"/>
                  </a:ext>
                </a:extLst>
              </a:tr>
              <a:tr h="120014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840879957"/>
                  </a:ext>
                </a:extLst>
              </a:tr>
            </a:tbl>
          </a:graphicData>
        </a:graphic>
      </p:graphicFrame>
      <p:sp>
        <p:nvSpPr>
          <p:cNvPr id="37" name="文本框 36">
            <a:extLst>
              <a:ext uri="{FF2B5EF4-FFF2-40B4-BE49-F238E27FC236}">
                <a16:creationId xmlns:a16="http://schemas.microsoft.com/office/drawing/2014/main" id="{14F9B711-B99C-774A-A7FF-45D7CDC1F2D8}"/>
              </a:ext>
            </a:extLst>
          </p:cNvPr>
          <p:cNvSpPr txBox="1"/>
          <p:nvPr/>
        </p:nvSpPr>
        <p:spPr>
          <a:xfrm>
            <a:off x="4860032" y="2137420"/>
            <a:ext cx="8808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 err="1"/>
              <a:t>Virtqueue</a:t>
            </a:r>
            <a:r>
              <a:rPr lang="en-US" altLang="zh-CN" sz="1200" dirty="0"/>
              <a:t> </a:t>
            </a:r>
          </a:p>
        </p:txBody>
      </p:sp>
      <p:cxnSp>
        <p:nvCxnSpPr>
          <p:cNvPr id="38" name="肘形连接符 37">
            <a:extLst>
              <a:ext uri="{FF2B5EF4-FFF2-40B4-BE49-F238E27FC236}">
                <a16:creationId xmlns:a16="http://schemas.microsoft.com/office/drawing/2014/main" id="{1902242D-E908-274A-BFFD-E3448ADA02AF}"/>
              </a:ext>
            </a:extLst>
          </p:cNvPr>
          <p:cNvCxnSpPr>
            <a:cxnSpLocks/>
            <a:stCxn id="13" idx="1"/>
            <a:endCxn id="36" idx="3"/>
          </p:cNvCxnSpPr>
          <p:nvPr/>
        </p:nvCxnSpPr>
        <p:spPr>
          <a:xfrm rot="10800000">
            <a:off x="5652124" y="2545467"/>
            <a:ext cx="755422" cy="371403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肘形连接符 40">
            <a:extLst>
              <a:ext uri="{FF2B5EF4-FFF2-40B4-BE49-F238E27FC236}">
                <a16:creationId xmlns:a16="http://schemas.microsoft.com/office/drawing/2014/main" id="{2F56314D-DE0C-1841-B60A-3F3CC04F97EA}"/>
              </a:ext>
            </a:extLst>
          </p:cNvPr>
          <p:cNvCxnSpPr>
            <a:cxnSpLocks/>
            <a:stCxn id="36" idx="1"/>
            <a:endCxn id="35" idx="3"/>
          </p:cNvCxnSpPr>
          <p:nvPr/>
        </p:nvCxnSpPr>
        <p:spPr>
          <a:xfrm rot="10800000">
            <a:off x="4277170" y="2172786"/>
            <a:ext cx="654870" cy="372680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22FD5C6C-B269-8646-BA73-7A7969DEA615}"/>
              </a:ext>
            </a:extLst>
          </p:cNvPr>
          <p:cNvSpPr txBox="1"/>
          <p:nvPr/>
        </p:nvSpPr>
        <p:spPr>
          <a:xfrm>
            <a:off x="2483768" y="2569468"/>
            <a:ext cx="10438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Inject</a:t>
            </a:r>
          </a:p>
          <a:p>
            <a:r>
              <a:rPr kumimoji="1" lang="en-US" altLang="zh-CN" dirty="0"/>
              <a:t>Interrupt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567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4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E33D47-7F6A-1046-B69B-4902639DB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半虚拟化方式的优缺点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8AF58B-F54A-254C-9DBA-53283A60D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优点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性能优越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多个</a:t>
            </a:r>
            <a:r>
              <a:rPr kumimoji="1" lang="en-US" altLang="zh-CN" dirty="0"/>
              <a:t>MMIO/PIO</a:t>
            </a:r>
            <a:r>
              <a:rPr kumimoji="1" lang="zh-CN" altLang="en-US" dirty="0"/>
              <a:t>指令可以整合成一次</a:t>
            </a:r>
            <a:r>
              <a:rPr kumimoji="1" lang="en-US" altLang="zh-CN" dirty="0" err="1"/>
              <a:t>Hypercall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VMM</a:t>
            </a:r>
            <a:r>
              <a:rPr kumimoji="1" lang="zh-CN" altLang="en-US" dirty="0"/>
              <a:t>实现简单，不再需要理解物理设备接口</a:t>
            </a:r>
            <a:endParaRPr kumimoji="1" lang="en-US" altLang="zh-CN" dirty="0"/>
          </a:p>
          <a:p>
            <a:r>
              <a:rPr kumimoji="1" lang="zh-CN" altLang="en-US" dirty="0"/>
              <a:t>缺点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需要修改虚拟机操作系统内核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59F93C-42EB-664B-B6C0-9B805DC24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91A6E6-F3FF-B646-AA1A-B04CBA3C39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652470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BF4980-52AC-A54F-99B1-AA9DB73FD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方法</a:t>
            </a:r>
            <a:r>
              <a:rPr kumimoji="1" lang="en-US" altLang="zh-CN" dirty="0"/>
              <a:t>3</a:t>
            </a:r>
            <a:r>
              <a:rPr kumimoji="1" lang="zh-CN" altLang="en-US" dirty="0"/>
              <a:t>：设备直通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C7AD0C-624C-2948-823B-95716C584D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虚拟机直接管理物理设备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8A96238-3DAA-A24C-BB35-0886517C7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A73A31-C0B4-DB45-9099-B0AF472310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Rectangle 22">
            <a:extLst>
              <a:ext uri="{FF2B5EF4-FFF2-40B4-BE49-F238E27FC236}">
                <a16:creationId xmlns:a16="http://schemas.microsoft.com/office/drawing/2014/main" id="{45375D4C-8DF2-7340-8D77-E2572EB5FE1A}"/>
              </a:ext>
            </a:extLst>
          </p:cNvPr>
          <p:cNvSpPr/>
          <p:nvPr/>
        </p:nvSpPr>
        <p:spPr>
          <a:xfrm>
            <a:off x="1114046" y="4201647"/>
            <a:ext cx="3316857" cy="552063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Linux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7" name="Rectangle 27">
            <a:extLst>
              <a:ext uri="{FF2B5EF4-FFF2-40B4-BE49-F238E27FC236}">
                <a16:creationId xmlns:a16="http://schemas.microsoft.com/office/drawing/2014/main" id="{55EA5B3D-4F81-884B-9C1A-06A009509517}"/>
              </a:ext>
            </a:extLst>
          </p:cNvPr>
          <p:cNvSpPr/>
          <p:nvPr/>
        </p:nvSpPr>
        <p:spPr>
          <a:xfrm>
            <a:off x="1104094" y="2453454"/>
            <a:ext cx="3284547" cy="460051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QEMU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8" name="Straight Connector 13">
            <a:extLst>
              <a:ext uri="{FF2B5EF4-FFF2-40B4-BE49-F238E27FC236}">
                <a16:creationId xmlns:a16="http://schemas.microsoft.com/office/drawing/2014/main" id="{4EFBC5C5-81D2-6449-B660-A1CAAA5ADCCB}"/>
              </a:ext>
            </a:extLst>
          </p:cNvPr>
          <p:cNvCxnSpPr>
            <a:cxnSpLocks/>
          </p:cNvCxnSpPr>
          <p:nvPr/>
        </p:nvCxnSpPr>
        <p:spPr>
          <a:xfrm>
            <a:off x="262615" y="3952617"/>
            <a:ext cx="8557857" cy="0"/>
          </a:xfrm>
          <a:prstGeom prst="line">
            <a:avLst/>
          </a:prstGeom>
          <a:ln>
            <a:solidFill>
              <a:srgbClr val="BE3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1BF5A77A-76DF-4D4F-A8AC-E68069CB4F24}"/>
              </a:ext>
            </a:extLst>
          </p:cNvPr>
          <p:cNvSpPr txBox="1"/>
          <p:nvPr/>
        </p:nvSpPr>
        <p:spPr>
          <a:xfrm>
            <a:off x="107504" y="3281546"/>
            <a:ext cx="1015987" cy="640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EL1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98C30D8-9276-9E4C-B4D3-3292D59732AF}"/>
              </a:ext>
            </a:extLst>
          </p:cNvPr>
          <p:cNvSpPr txBox="1"/>
          <p:nvPr/>
        </p:nvSpPr>
        <p:spPr>
          <a:xfrm>
            <a:off x="107504" y="2361444"/>
            <a:ext cx="1015987" cy="640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EL0</a:t>
            </a:r>
            <a:endParaRPr kumimoji="1"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3079A6B-055A-FC4D-9F70-98680A08AEAE}"/>
              </a:ext>
            </a:extLst>
          </p:cNvPr>
          <p:cNvSpPr txBox="1"/>
          <p:nvPr/>
        </p:nvSpPr>
        <p:spPr>
          <a:xfrm>
            <a:off x="107504" y="4293658"/>
            <a:ext cx="1015987" cy="640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EL2</a:t>
            </a:r>
            <a:endParaRPr kumimoji="1"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C59F1CD-013C-9645-A9D8-57D12A29B27D}"/>
              </a:ext>
            </a:extLst>
          </p:cNvPr>
          <p:cNvSpPr txBox="1"/>
          <p:nvPr/>
        </p:nvSpPr>
        <p:spPr>
          <a:xfrm>
            <a:off x="2281882" y="1993403"/>
            <a:ext cx="910011" cy="4719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VMM</a:t>
            </a:r>
            <a:endParaRPr kumimoji="1" lang="zh-CN" altLang="en-US" dirty="0"/>
          </a:p>
        </p:txBody>
      </p:sp>
      <p:sp>
        <p:nvSpPr>
          <p:cNvPr id="13" name="Rectangle 22">
            <a:extLst>
              <a:ext uri="{FF2B5EF4-FFF2-40B4-BE49-F238E27FC236}">
                <a16:creationId xmlns:a16="http://schemas.microsoft.com/office/drawing/2014/main" id="{A7681678-3CE3-1B49-AB13-4BE0E3D2FC42}"/>
              </a:ext>
            </a:extLst>
          </p:cNvPr>
          <p:cNvSpPr/>
          <p:nvPr/>
        </p:nvSpPr>
        <p:spPr>
          <a:xfrm>
            <a:off x="6386816" y="3097526"/>
            <a:ext cx="2008746" cy="502780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Network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Driver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4" name="Rectangle 27">
            <a:extLst>
              <a:ext uri="{FF2B5EF4-FFF2-40B4-BE49-F238E27FC236}">
                <a16:creationId xmlns:a16="http://schemas.microsoft.com/office/drawing/2014/main" id="{98FB37E1-1F8D-BC41-95BC-A1A9EFFF1596}"/>
              </a:ext>
            </a:extLst>
          </p:cNvPr>
          <p:cNvSpPr/>
          <p:nvPr/>
        </p:nvSpPr>
        <p:spPr>
          <a:xfrm>
            <a:off x="6388610" y="2453454"/>
            <a:ext cx="2018700" cy="460051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Network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Stack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FEF4DA2E-054F-B746-A1EE-89477D7B5207}"/>
              </a:ext>
            </a:extLst>
          </p:cNvPr>
          <p:cNvSpPr/>
          <p:nvPr/>
        </p:nvSpPr>
        <p:spPr>
          <a:xfrm>
            <a:off x="4890068" y="1993403"/>
            <a:ext cx="3688484" cy="1745043"/>
          </a:xfrm>
          <a:prstGeom prst="roundRect">
            <a:avLst>
              <a:gd name="adj" fmla="val 9805"/>
            </a:avLst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FC97CC3-1E7C-CC48-945C-73B9D1B4DD37}"/>
              </a:ext>
            </a:extLst>
          </p:cNvPr>
          <p:cNvSpPr txBox="1"/>
          <p:nvPr/>
        </p:nvSpPr>
        <p:spPr>
          <a:xfrm>
            <a:off x="6296216" y="1993403"/>
            <a:ext cx="667987" cy="4719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</a:t>
            </a:r>
            <a:endParaRPr kumimoji="1" lang="zh-CN" altLang="en-US" dirty="0"/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A024A6A2-4B10-0A44-B57E-185D650D1545}"/>
              </a:ext>
            </a:extLst>
          </p:cNvPr>
          <p:cNvSpPr/>
          <p:nvPr/>
        </p:nvSpPr>
        <p:spPr>
          <a:xfrm>
            <a:off x="950870" y="1993403"/>
            <a:ext cx="3688484" cy="2852317"/>
          </a:xfrm>
          <a:prstGeom prst="roundRect">
            <a:avLst>
              <a:gd name="adj" fmla="val 6363"/>
            </a:avLst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8" name="Rectangle 22">
            <a:extLst>
              <a:ext uri="{FF2B5EF4-FFF2-40B4-BE49-F238E27FC236}">
                <a16:creationId xmlns:a16="http://schemas.microsoft.com/office/drawing/2014/main" id="{71A5B3D9-7345-284D-B47F-EC41B327753A}"/>
              </a:ext>
            </a:extLst>
          </p:cNvPr>
          <p:cNvSpPr/>
          <p:nvPr/>
        </p:nvSpPr>
        <p:spPr>
          <a:xfrm>
            <a:off x="2761089" y="4385670"/>
            <a:ext cx="1441897" cy="276031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KVM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19" name="Rectangle 27">
            <a:extLst>
              <a:ext uri="{FF2B5EF4-FFF2-40B4-BE49-F238E27FC236}">
                <a16:creationId xmlns:a16="http://schemas.microsoft.com/office/drawing/2014/main" id="{81E40467-C1DA-7947-845A-071717CD95F5}"/>
              </a:ext>
            </a:extLst>
          </p:cNvPr>
          <p:cNvSpPr/>
          <p:nvPr/>
        </p:nvSpPr>
        <p:spPr>
          <a:xfrm>
            <a:off x="2825477" y="3741597"/>
            <a:ext cx="1323677" cy="304308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rgbClr val="BE384B"/>
                </a:solidFill>
                <a:cs typeface="Arial Narrow"/>
              </a:rPr>
              <a:t>/dev/</a:t>
            </a:r>
            <a:r>
              <a:rPr lang="en-US" altLang="zh-CN" sz="1200" dirty="0" err="1">
                <a:solidFill>
                  <a:srgbClr val="BE384B"/>
                </a:solidFill>
                <a:cs typeface="Arial Narrow"/>
              </a:rPr>
              <a:t>kvm</a:t>
            </a:r>
            <a:endParaRPr lang="en-US" sz="12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20" name="Rectangle 22">
            <a:extLst>
              <a:ext uri="{FF2B5EF4-FFF2-40B4-BE49-F238E27FC236}">
                <a16:creationId xmlns:a16="http://schemas.microsoft.com/office/drawing/2014/main" id="{AE13CE9D-2EF4-2A46-9A07-E4C2255B0D75}"/>
              </a:ext>
            </a:extLst>
          </p:cNvPr>
          <p:cNvSpPr/>
          <p:nvPr/>
        </p:nvSpPr>
        <p:spPr>
          <a:xfrm>
            <a:off x="971600" y="5017740"/>
            <a:ext cx="5744821" cy="204021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Hardware</a:t>
            </a:r>
            <a:r>
              <a:rPr lang="zh-CN" altLang="en-US" sz="1600" dirty="0">
                <a:solidFill>
                  <a:schemeClr val="bg1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Virtualization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21" name="Rectangle 27">
            <a:extLst>
              <a:ext uri="{FF2B5EF4-FFF2-40B4-BE49-F238E27FC236}">
                <a16:creationId xmlns:a16="http://schemas.microsoft.com/office/drawing/2014/main" id="{F1DB64B9-E722-C44E-94D9-27091A70F525}"/>
              </a:ext>
            </a:extLst>
          </p:cNvPr>
          <p:cNvSpPr/>
          <p:nvPr/>
        </p:nvSpPr>
        <p:spPr>
          <a:xfrm>
            <a:off x="5076056" y="2569468"/>
            <a:ext cx="936104" cy="720080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Memory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78C494C5-64A4-8B42-A2AA-0366948202D4}"/>
              </a:ext>
            </a:extLst>
          </p:cNvPr>
          <p:cNvCxnSpPr>
            <a:cxnSpLocks/>
          </p:cNvCxnSpPr>
          <p:nvPr/>
        </p:nvCxnSpPr>
        <p:spPr>
          <a:xfrm>
            <a:off x="7380312" y="2857500"/>
            <a:ext cx="0" cy="36004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>
            <a:extLst>
              <a:ext uri="{FF2B5EF4-FFF2-40B4-BE49-F238E27FC236}">
                <a16:creationId xmlns:a16="http://schemas.microsoft.com/office/drawing/2014/main" id="{27E35D6B-CEE3-6F46-B465-BDD32E73511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10000" y="4873724"/>
            <a:ext cx="566266" cy="509904"/>
          </a:xfrm>
          <a:prstGeom prst="rect">
            <a:avLst/>
          </a:prstGeom>
        </p:spPr>
      </p:pic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A10FC15C-A947-E14B-8AA3-0BB45FDD7EF0}"/>
              </a:ext>
            </a:extLst>
          </p:cNvPr>
          <p:cNvCxnSpPr>
            <a:cxnSpLocks/>
            <a:stCxn id="13" idx="2"/>
            <a:endCxn id="23" idx="0"/>
          </p:cNvCxnSpPr>
          <p:nvPr/>
        </p:nvCxnSpPr>
        <p:spPr>
          <a:xfrm>
            <a:off x="7391189" y="3600306"/>
            <a:ext cx="1944" cy="1273418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98257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159CA2-694B-EA4A-A47F-A43BFDFAF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问题</a:t>
            </a:r>
            <a:r>
              <a:rPr kumimoji="1" lang="en-US" altLang="zh-CN" dirty="0"/>
              <a:t>1</a:t>
            </a:r>
            <a:r>
              <a:rPr kumimoji="1" lang="zh-CN" altLang="en-US" dirty="0"/>
              <a:t>：</a:t>
            </a:r>
            <a:r>
              <a:rPr kumimoji="1" lang="en-US" altLang="zh-CN" dirty="0"/>
              <a:t>DMA</a:t>
            </a:r>
            <a:r>
              <a:rPr kumimoji="1" lang="zh-CN" altLang="en-US" dirty="0"/>
              <a:t>恶意读写内存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574EB4-2944-7240-AB09-FBDFD46E3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A0CDB7-8FB7-9D4A-9AE3-C5BF6470CB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6" name="Straight Connector 13">
            <a:extLst>
              <a:ext uri="{FF2B5EF4-FFF2-40B4-BE49-F238E27FC236}">
                <a16:creationId xmlns:a16="http://schemas.microsoft.com/office/drawing/2014/main" id="{4CC9FE72-D09A-0B4E-A912-42ADD0B3606C}"/>
              </a:ext>
            </a:extLst>
          </p:cNvPr>
          <p:cNvCxnSpPr>
            <a:cxnSpLocks/>
          </p:cNvCxnSpPr>
          <p:nvPr/>
        </p:nvCxnSpPr>
        <p:spPr>
          <a:xfrm>
            <a:off x="328655" y="3448559"/>
            <a:ext cx="8557857" cy="0"/>
          </a:xfrm>
          <a:prstGeom prst="line">
            <a:avLst/>
          </a:prstGeom>
          <a:ln>
            <a:solidFill>
              <a:srgbClr val="BE3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F652B68E-D7C5-7D46-B361-5C510A646FBE}"/>
              </a:ext>
            </a:extLst>
          </p:cNvPr>
          <p:cNvSpPr txBox="1"/>
          <p:nvPr/>
        </p:nvSpPr>
        <p:spPr>
          <a:xfrm>
            <a:off x="173544" y="2777488"/>
            <a:ext cx="1015987" cy="640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EL1</a:t>
            </a:r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ADB8648-D16D-C146-B065-827CBF28B2C2}"/>
              </a:ext>
            </a:extLst>
          </p:cNvPr>
          <p:cNvSpPr txBox="1"/>
          <p:nvPr/>
        </p:nvSpPr>
        <p:spPr>
          <a:xfrm>
            <a:off x="173544" y="1857386"/>
            <a:ext cx="1015987" cy="640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EL0</a:t>
            </a:r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90489F9-0B61-DF4F-B800-E4818AE8541A}"/>
              </a:ext>
            </a:extLst>
          </p:cNvPr>
          <p:cNvSpPr txBox="1"/>
          <p:nvPr/>
        </p:nvSpPr>
        <p:spPr>
          <a:xfrm>
            <a:off x="173544" y="3789600"/>
            <a:ext cx="1015987" cy="640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EL2</a:t>
            </a:r>
            <a:endParaRPr kumimoji="1" lang="zh-CN" altLang="en-US" dirty="0"/>
          </a:p>
        </p:txBody>
      </p:sp>
      <p:sp>
        <p:nvSpPr>
          <p:cNvPr id="10" name="Rectangle 22">
            <a:extLst>
              <a:ext uri="{FF2B5EF4-FFF2-40B4-BE49-F238E27FC236}">
                <a16:creationId xmlns:a16="http://schemas.microsoft.com/office/drawing/2014/main" id="{558F6D17-DA08-644C-B09E-EB6CAE1B965B}"/>
              </a:ext>
            </a:extLst>
          </p:cNvPr>
          <p:cNvSpPr/>
          <p:nvPr/>
        </p:nvSpPr>
        <p:spPr>
          <a:xfrm>
            <a:off x="6452856" y="2593468"/>
            <a:ext cx="2008746" cy="502780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Network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Driver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1" name="Rectangle 27">
            <a:extLst>
              <a:ext uri="{FF2B5EF4-FFF2-40B4-BE49-F238E27FC236}">
                <a16:creationId xmlns:a16="http://schemas.microsoft.com/office/drawing/2014/main" id="{642BDA9D-5FAB-0448-AEA6-48EFDBB59FE5}"/>
              </a:ext>
            </a:extLst>
          </p:cNvPr>
          <p:cNvSpPr/>
          <p:nvPr/>
        </p:nvSpPr>
        <p:spPr>
          <a:xfrm>
            <a:off x="6454650" y="1949396"/>
            <a:ext cx="2018700" cy="460051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Network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Stack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CA529851-A38B-BF42-9FDD-EA598BDE03E3}"/>
              </a:ext>
            </a:extLst>
          </p:cNvPr>
          <p:cNvSpPr/>
          <p:nvPr/>
        </p:nvSpPr>
        <p:spPr>
          <a:xfrm>
            <a:off x="4956108" y="1489345"/>
            <a:ext cx="3688484" cy="1745043"/>
          </a:xfrm>
          <a:prstGeom prst="roundRect">
            <a:avLst>
              <a:gd name="adj" fmla="val 9181"/>
            </a:avLst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776ABE7-A520-3B44-B068-A7C158B6D511}"/>
              </a:ext>
            </a:extLst>
          </p:cNvPr>
          <p:cNvSpPr txBox="1"/>
          <p:nvPr/>
        </p:nvSpPr>
        <p:spPr>
          <a:xfrm>
            <a:off x="6362256" y="1489345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VM-2</a:t>
            </a:r>
            <a:endParaRPr kumimoji="1" lang="zh-CN" altLang="en-US" dirty="0"/>
          </a:p>
        </p:txBody>
      </p:sp>
      <p:sp>
        <p:nvSpPr>
          <p:cNvPr id="14" name="Rectangle 27">
            <a:extLst>
              <a:ext uri="{FF2B5EF4-FFF2-40B4-BE49-F238E27FC236}">
                <a16:creationId xmlns:a16="http://schemas.microsoft.com/office/drawing/2014/main" id="{3843E79C-DBBA-FC42-82BD-6FB53BDAF709}"/>
              </a:ext>
            </a:extLst>
          </p:cNvPr>
          <p:cNvSpPr/>
          <p:nvPr/>
        </p:nvSpPr>
        <p:spPr>
          <a:xfrm>
            <a:off x="5142096" y="2065410"/>
            <a:ext cx="936104" cy="720080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Memory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025A76FB-2ED8-C741-8D73-31DE8DA6BA84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7457229" y="3096248"/>
            <a:ext cx="1944" cy="1273418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22">
            <a:extLst>
              <a:ext uri="{FF2B5EF4-FFF2-40B4-BE49-F238E27FC236}">
                <a16:creationId xmlns:a16="http://schemas.microsoft.com/office/drawing/2014/main" id="{1CF6D8C2-656A-8048-896C-00B95F96617C}"/>
              </a:ext>
            </a:extLst>
          </p:cNvPr>
          <p:cNvSpPr/>
          <p:nvPr/>
        </p:nvSpPr>
        <p:spPr>
          <a:xfrm>
            <a:off x="2534388" y="2593469"/>
            <a:ext cx="2008746" cy="502780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Network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Driver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7" name="Rectangle 27">
            <a:extLst>
              <a:ext uri="{FF2B5EF4-FFF2-40B4-BE49-F238E27FC236}">
                <a16:creationId xmlns:a16="http://schemas.microsoft.com/office/drawing/2014/main" id="{306A4863-7B42-2146-B66F-58FA1A1CF271}"/>
              </a:ext>
            </a:extLst>
          </p:cNvPr>
          <p:cNvSpPr/>
          <p:nvPr/>
        </p:nvSpPr>
        <p:spPr>
          <a:xfrm>
            <a:off x="2536182" y="1949397"/>
            <a:ext cx="2018700" cy="460051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Network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Stack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093136F3-2D1E-794A-A52B-E56ADDECF445}"/>
              </a:ext>
            </a:extLst>
          </p:cNvPr>
          <p:cNvSpPr/>
          <p:nvPr/>
        </p:nvSpPr>
        <p:spPr>
          <a:xfrm>
            <a:off x="1037640" y="1489346"/>
            <a:ext cx="3688484" cy="1745043"/>
          </a:xfrm>
          <a:prstGeom prst="roundRect">
            <a:avLst>
              <a:gd name="adj" fmla="val 9805"/>
            </a:avLst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ECEBD61-702A-0947-9C92-0EBFC98E9A52}"/>
              </a:ext>
            </a:extLst>
          </p:cNvPr>
          <p:cNvSpPr txBox="1"/>
          <p:nvPr/>
        </p:nvSpPr>
        <p:spPr>
          <a:xfrm>
            <a:off x="2443788" y="1489346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VM-1</a:t>
            </a:r>
            <a:endParaRPr kumimoji="1" lang="zh-CN" altLang="en-US" dirty="0"/>
          </a:p>
        </p:txBody>
      </p:sp>
      <p:sp>
        <p:nvSpPr>
          <p:cNvPr id="20" name="Rectangle 27">
            <a:extLst>
              <a:ext uri="{FF2B5EF4-FFF2-40B4-BE49-F238E27FC236}">
                <a16:creationId xmlns:a16="http://schemas.microsoft.com/office/drawing/2014/main" id="{2F419A3D-FE6E-3143-B8DD-07331696EFE6}"/>
              </a:ext>
            </a:extLst>
          </p:cNvPr>
          <p:cNvSpPr/>
          <p:nvPr/>
        </p:nvSpPr>
        <p:spPr>
          <a:xfrm>
            <a:off x="1223628" y="2065411"/>
            <a:ext cx="936104" cy="720080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Memory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BCD0DB3-C9CB-3E43-A696-2206D81860A4}"/>
              </a:ext>
            </a:extLst>
          </p:cNvPr>
          <p:cNvSpPr txBox="1"/>
          <p:nvPr/>
        </p:nvSpPr>
        <p:spPr>
          <a:xfrm>
            <a:off x="7446352" y="3577578"/>
            <a:ext cx="1364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Setup</a:t>
            </a:r>
            <a:r>
              <a:rPr kumimoji="1" lang="zh-CN" altLang="en-US" dirty="0"/>
              <a:t> </a:t>
            </a:r>
            <a:r>
              <a:rPr kumimoji="1" lang="en-US" altLang="zh-CN" dirty="0"/>
              <a:t>DMA</a:t>
            </a:r>
            <a:endParaRPr kumimoji="1" lang="zh-CN" altLang="en-US" dirty="0"/>
          </a:p>
        </p:txBody>
      </p:sp>
      <p:cxnSp>
        <p:nvCxnSpPr>
          <p:cNvPr id="22" name="肘形连接符 21">
            <a:extLst>
              <a:ext uri="{FF2B5EF4-FFF2-40B4-BE49-F238E27FC236}">
                <a16:creationId xmlns:a16="http://schemas.microsoft.com/office/drawing/2014/main" id="{754435FB-E3F7-F145-AAAC-0F7FADE8D7E1}"/>
              </a:ext>
            </a:extLst>
          </p:cNvPr>
          <p:cNvCxnSpPr>
            <a:cxnSpLocks/>
            <a:stCxn id="29" idx="1"/>
            <a:endCxn id="20" idx="2"/>
          </p:cNvCxnSpPr>
          <p:nvPr/>
        </p:nvCxnSpPr>
        <p:spPr>
          <a:xfrm rot="10800000">
            <a:off x="1691680" y="2785492"/>
            <a:ext cx="5472608" cy="1839129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图片 23">
            <a:extLst>
              <a:ext uri="{FF2B5EF4-FFF2-40B4-BE49-F238E27FC236}">
                <a16:creationId xmlns:a16="http://schemas.microsoft.com/office/drawing/2014/main" id="{D716ED44-0733-7E42-AA4A-1ECD1CE6BF2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66432" y="2641474"/>
            <a:ext cx="395776" cy="395776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C8449E3D-5578-D34E-9AB7-03E80B04F22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64288" y="4369668"/>
            <a:ext cx="566266" cy="509904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ACE0B607-ABD4-FE45-BF33-AA6A2F2414FE}"/>
              </a:ext>
            </a:extLst>
          </p:cNvPr>
          <p:cNvSpPr txBox="1"/>
          <p:nvPr/>
        </p:nvSpPr>
        <p:spPr>
          <a:xfrm>
            <a:off x="2051720" y="4297660"/>
            <a:ext cx="3352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Read</a:t>
            </a:r>
            <a:r>
              <a:rPr kumimoji="1" lang="zh-CN" altLang="en-US" dirty="0"/>
              <a:t> </a:t>
            </a:r>
            <a:r>
              <a:rPr kumimoji="1" lang="en-US" altLang="zh-CN" dirty="0"/>
              <a:t>Secrets</a:t>
            </a:r>
            <a:r>
              <a:rPr kumimoji="1" lang="zh-CN" altLang="en-US" dirty="0"/>
              <a:t> </a:t>
            </a:r>
            <a:r>
              <a:rPr kumimoji="1" lang="en-US" altLang="zh-CN" dirty="0"/>
              <a:t>/</a:t>
            </a:r>
            <a:r>
              <a:rPr kumimoji="1" lang="zh-CN" altLang="en-US" dirty="0"/>
              <a:t> </a:t>
            </a:r>
            <a:r>
              <a:rPr kumimoji="1" lang="en-US" altLang="zh-CN" dirty="0"/>
              <a:t>Modify</a:t>
            </a:r>
            <a:r>
              <a:rPr kumimoji="1" lang="zh-CN" altLang="en-US" dirty="0"/>
              <a:t> </a:t>
            </a:r>
            <a:r>
              <a:rPr kumimoji="1" lang="en-US" altLang="zh-CN" dirty="0"/>
              <a:t>memory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01043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522865-AA98-9148-8F84-38C028DE1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使用</a:t>
            </a:r>
            <a:r>
              <a:rPr kumimoji="1" lang="en-US" altLang="zh-CN" dirty="0"/>
              <a:t>IOMMU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8BF65C7-F368-4048-9A17-72B25B2C9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28E537-138F-3044-8456-F2E825FC53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7" name="Straight Connector 13">
            <a:extLst>
              <a:ext uri="{FF2B5EF4-FFF2-40B4-BE49-F238E27FC236}">
                <a16:creationId xmlns:a16="http://schemas.microsoft.com/office/drawing/2014/main" id="{46D49D7D-8DCB-3945-9D98-BE61E5BD632E}"/>
              </a:ext>
            </a:extLst>
          </p:cNvPr>
          <p:cNvCxnSpPr>
            <a:cxnSpLocks/>
          </p:cNvCxnSpPr>
          <p:nvPr/>
        </p:nvCxnSpPr>
        <p:spPr>
          <a:xfrm>
            <a:off x="328655" y="3448559"/>
            <a:ext cx="8557857" cy="0"/>
          </a:xfrm>
          <a:prstGeom prst="line">
            <a:avLst/>
          </a:prstGeom>
          <a:ln>
            <a:solidFill>
              <a:srgbClr val="BE3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4A3830F4-8B96-9B41-B818-FF5F05957683}"/>
              </a:ext>
            </a:extLst>
          </p:cNvPr>
          <p:cNvSpPr txBox="1"/>
          <p:nvPr/>
        </p:nvSpPr>
        <p:spPr>
          <a:xfrm>
            <a:off x="173544" y="2777488"/>
            <a:ext cx="1015987" cy="640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EL1</a:t>
            </a:r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385DE4A-A620-7A41-9EC8-42CA170556B2}"/>
              </a:ext>
            </a:extLst>
          </p:cNvPr>
          <p:cNvSpPr txBox="1"/>
          <p:nvPr/>
        </p:nvSpPr>
        <p:spPr>
          <a:xfrm>
            <a:off x="173544" y="1857386"/>
            <a:ext cx="1015987" cy="640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EL0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DD24E14-64AF-5B43-A762-B96A93DF0427}"/>
              </a:ext>
            </a:extLst>
          </p:cNvPr>
          <p:cNvSpPr txBox="1"/>
          <p:nvPr/>
        </p:nvSpPr>
        <p:spPr>
          <a:xfrm>
            <a:off x="173544" y="3789600"/>
            <a:ext cx="1015987" cy="640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EL2</a:t>
            </a:r>
            <a:endParaRPr kumimoji="1" lang="zh-CN" altLang="en-US" dirty="0"/>
          </a:p>
        </p:txBody>
      </p:sp>
      <p:sp>
        <p:nvSpPr>
          <p:cNvPr id="11" name="Rectangle 22">
            <a:extLst>
              <a:ext uri="{FF2B5EF4-FFF2-40B4-BE49-F238E27FC236}">
                <a16:creationId xmlns:a16="http://schemas.microsoft.com/office/drawing/2014/main" id="{1ABA2FC7-6DF8-EC40-AE5B-B0471DF8B684}"/>
              </a:ext>
            </a:extLst>
          </p:cNvPr>
          <p:cNvSpPr/>
          <p:nvPr/>
        </p:nvSpPr>
        <p:spPr>
          <a:xfrm>
            <a:off x="6452856" y="2593468"/>
            <a:ext cx="2008746" cy="502780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Network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Driver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2" name="Rectangle 27">
            <a:extLst>
              <a:ext uri="{FF2B5EF4-FFF2-40B4-BE49-F238E27FC236}">
                <a16:creationId xmlns:a16="http://schemas.microsoft.com/office/drawing/2014/main" id="{747FF88D-B1C3-084D-AA52-41021E0EBF8D}"/>
              </a:ext>
            </a:extLst>
          </p:cNvPr>
          <p:cNvSpPr/>
          <p:nvPr/>
        </p:nvSpPr>
        <p:spPr>
          <a:xfrm>
            <a:off x="6454650" y="1949396"/>
            <a:ext cx="2018700" cy="460051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Network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Stack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69ACB623-52D0-324C-BCAF-B7BDDBF571E1}"/>
              </a:ext>
            </a:extLst>
          </p:cNvPr>
          <p:cNvSpPr/>
          <p:nvPr/>
        </p:nvSpPr>
        <p:spPr>
          <a:xfrm>
            <a:off x="4956108" y="1489345"/>
            <a:ext cx="3688484" cy="1745043"/>
          </a:xfrm>
          <a:prstGeom prst="roundRect">
            <a:avLst>
              <a:gd name="adj" fmla="val 9805"/>
            </a:avLst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C819014-DC6F-5B47-A6BC-7F7EE40A9449}"/>
              </a:ext>
            </a:extLst>
          </p:cNvPr>
          <p:cNvSpPr txBox="1"/>
          <p:nvPr/>
        </p:nvSpPr>
        <p:spPr>
          <a:xfrm>
            <a:off x="6362256" y="1489345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VM-2</a:t>
            </a:r>
            <a:endParaRPr kumimoji="1" lang="zh-CN" altLang="en-US" dirty="0"/>
          </a:p>
        </p:txBody>
      </p:sp>
      <p:sp>
        <p:nvSpPr>
          <p:cNvPr id="15" name="Rectangle 27">
            <a:extLst>
              <a:ext uri="{FF2B5EF4-FFF2-40B4-BE49-F238E27FC236}">
                <a16:creationId xmlns:a16="http://schemas.microsoft.com/office/drawing/2014/main" id="{AF769909-3232-0845-BF7E-4AC91D105E51}"/>
              </a:ext>
            </a:extLst>
          </p:cNvPr>
          <p:cNvSpPr/>
          <p:nvPr/>
        </p:nvSpPr>
        <p:spPr>
          <a:xfrm>
            <a:off x="5142096" y="2065410"/>
            <a:ext cx="936104" cy="720080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Memory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9A251CAE-1A2D-9548-9849-77F0641B7264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7457229" y="3096248"/>
            <a:ext cx="1944" cy="1273418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22">
            <a:extLst>
              <a:ext uri="{FF2B5EF4-FFF2-40B4-BE49-F238E27FC236}">
                <a16:creationId xmlns:a16="http://schemas.microsoft.com/office/drawing/2014/main" id="{2060EF30-A1F5-EE45-8A60-3309B70D2D8F}"/>
              </a:ext>
            </a:extLst>
          </p:cNvPr>
          <p:cNvSpPr/>
          <p:nvPr/>
        </p:nvSpPr>
        <p:spPr>
          <a:xfrm>
            <a:off x="2534388" y="2593469"/>
            <a:ext cx="2008746" cy="502780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Network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Driver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8" name="Rectangle 27">
            <a:extLst>
              <a:ext uri="{FF2B5EF4-FFF2-40B4-BE49-F238E27FC236}">
                <a16:creationId xmlns:a16="http://schemas.microsoft.com/office/drawing/2014/main" id="{AC0262F7-0433-5E45-8080-A906CB5F613C}"/>
              </a:ext>
            </a:extLst>
          </p:cNvPr>
          <p:cNvSpPr/>
          <p:nvPr/>
        </p:nvSpPr>
        <p:spPr>
          <a:xfrm>
            <a:off x="2536182" y="1949397"/>
            <a:ext cx="2018700" cy="460051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Network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Stack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35407A29-BD1C-0D41-ACD0-54F7A97126F7}"/>
              </a:ext>
            </a:extLst>
          </p:cNvPr>
          <p:cNvSpPr/>
          <p:nvPr/>
        </p:nvSpPr>
        <p:spPr>
          <a:xfrm>
            <a:off x="1037640" y="1489346"/>
            <a:ext cx="3688484" cy="1745043"/>
          </a:xfrm>
          <a:prstGeom prst="roundRect">
            <a:avLst>
              <a:gd name="adj" fmla="val 9181"/>
            </a:avLst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F97F5FC-78BF-6B4C-A3AE-F10B68D5BD3A}"/>
              </a:ext>
            </a:extLst>
          </p:cNvPr>
          <p:cNvSpPr txBox="1"/>
          <p:nvPr/>
        </p:nvSpPr>
        <p:spPr>
          <a:xfrm>
            <a:off x="2443788" y="1489346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VM-1</a:t>
            </a:r>
            <a:endParaRPr kumimoji="1" lang="zh-CN" altLang="en-US" dirty="0"/>
          </a:p>
        </p:txBody>
      </p:sp>
      <p:sp>
        <p:nvSpPr>
          <p:cNvPr id="21" name="Rectangle 27">
            <a:extLst>
              <a:ext uri="{FF2B5EF4-FFF2-40B4-BE49-F238E27FC236}">
                <a16:creationId xmlns:a16="http://schemas.microsoft.com/office/drawing/2014/main" id="{95DB5886-B18F-B947-A26E-3CF5839F5393}"/>
              </a:ext>
            </a:extLst>
          </p:cNvPr>
          <p:cNvSpPr/>
          <p:nvPr/>
        </p:nvSpPr>
        <p:spPr>
          <a:xfrm>
            <a:off x="1223628" y="2065411"/>
            <a:ext cx="936104" cy="720080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Memory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A9D1B641-F579-D54C-B400-D62CB5433B1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76040" y="4369666"/>
            <a:ext cx="566266" cy="509904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F41CB50B-F5AC-CD47-9FF0-E552F5671470}"/>
              </a:ext>
            </a:extLst>
          </p:cNvPr>
          <p:cNvSpPr txBox="1"/>
          <p:nvPr/>
        </p:nvSpPr>
        <p:spPr>
          <a:xfrm>
            <a:off x="7446352" y="3577578"/>
            <a:ext cx="1364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Setup</a:t>
            </a:r>
            <a:r>
              <a:rPr kumimoji="1" lang="zh-CN" altLang="en-US" dirty="0"/>
              <a:t> </a:t>
            </a:r>
            <a:r>
              <a:rPr kumimoji="1" lang="en-US" altLang="zh-CN" dirty="0"/>
              <a:t>DMA</a:t>
            </a:r>
            <a:endParaRPr kumimoji="1" lang="zh-CN" altLang="en-US" dirty="0"/>
          </a:p>
        </p:txBody>
      </p:sp>
      <p:cxnSp>
        <p:nvCxnSpPr>
          <p:cNvPr id="24" name="肘形连接符 23">
            <a:extLst>
              <a:ext uri="{FF2B5EF4-FFF2-40B4-BE49-F238E27FC236}">
                <a16:creationId xmlns:a16="http://schemas.microsoft.com/office/drawing/2014/main" id="{06E5E720-DE14-2F4E-964A-F3831D672B4B}"/>
              </a:ext>
            </a:extLst>
          </p:cNvPr>
          <p:cNvCxnSpPr>
            <a:cxnSpLocks/>
            <a:stCxn id="22" idx="1"/>
            <a:endCxn id="15" idx="2"/>
          </p:cNvCxnSpPr>
          <p:nvPr/>
        </p:nvCxnSpPr>
        <p:spPr>
          <a:xfrm rot="10800000">
            <a:off x="5610148" y="2785490"/>
            <a:ext cx="1565892" cy="1839128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F563276D-98A4-8743-9844-80B8E7DD7F51}"/>
              </a:ext>
            </a:extLst>
          </p:cNvPr>
          <p:cNvSpPr txBox="1"/>
          <p:nvPr/>
        </p:nvSpPr>
        <p:spPr>
          <a:xfrm>
            <a:off x="5580112" y="3505572"/>
            <a:ext cx="642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HPA</a:t>
            </a:r>
            <a:endParaRPr kumimoji="1" lang="zh-CN" altLang="en-US" dirty="0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C381B2A2-D7E3-DB41-A44B-48827578073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66432" y="2641474"/>
            <a:ext cx="395776" cy="395776"/>
          </a:xfrm>
          <a:prstGeom prst="rect">
            <a:avLst/>
          </a:prstGeom>
        </p:spPr>
      </p:pic>
      <p:sp>
        <p:nvSpPr>
          <p:cNvPr id="27" name="Rectangle 22">
            <a:extLst>
              <a:ext uri="{FF2B5EF4-FFF2-40B4-BE49-F238E27FC236}">
                <a16:creationId xmlns:a16="http://schemas.microsoft.com/office/drawing/2014/main" id="{6358EC67-04C3-B84C-9341-7A3A91D6CF10}"/>
              </a:ext>
            </a:extLst>
          </p:cNvPr>
          <p:cNvSpPr/>
          <p:nvPr/>
        </p:nvSpPr>
        <p:spPr>
          <a:xfrm>
            <a:off x="5004048" y="4369668"/>
            <a:ext cx="1216658" cy="502780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IOMMU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444C0E6-C518-B24A-9ACB-1706CD2BBCF5}"/>
              </a:ext>
            </a:extLst>
          </p:cNvPr>
          <p:cNvSpPr txBox="1"/>
          <p:nvPr/>
        </p:nvSpPr>
        <p:spPr>
          <a:xfrm>
            <a:off x="6300192" y="4297660"/>
            <a:ext cx="8472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I/O</a:t>
            </a:r>
            <a:r>
              <a:rPr kumimoji="1" lang="zh-CN" altLang="en-US" dirty="0"/>
              <a:t> </a:t>
            </a:r>
            <a:r>
              <a:rPr kumimoji="1" lang="en-US" altLang="zh-CN" dirty="0"/>
              <a:t>VA</a:t>
            </a:r>
            <a:endParaRPr kumimoji="1" lang="zh-CN" altLang="en-US" dirty="0"/>
          </a:p>
        </p:txBody>
      </p: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8E87B454-3C49-7E41-B71F-FEFC52CE5DC4}"/>
              </a:ext>
            </a:extLst>
          </p:cNvPr>
          <p:cNvCxnSpPr>
            <a:cxnSpLocks/>
            <a:stCxn id="27" idx="1"/>
          </p:cNvCxnSpPr>
          <p:nvPr/>
        </p:nvCxnSpPr>
        <p:spPr>
          <a:xfrm flipH="1">
            <a:off x="3923928" y="4621058"/>
            <a:ext cx="108012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92BB04D5-D12C-E94F-A1E3-22D835F413C3}"/>
              </a:ext>
            </a:extLst>
          </p:cNvPr>
          <p:cNvSpPr txBox="1"/>
          <p:nvPr/>
        </p:nvSpPr>
        <p:spPr>
          <a:xfrm>
            <a:off x="3275856" y="4369668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BE384B"/>
                </a:solidFill>
              </a:rPr>
              <a:t>Error</a:t>
            </a:r>
            <a:endParaRPr kumimoji="1" lang="zh-CN" altLang="en-US" dirty="0">
              <a:solidFill>
                <a:srgbClr val="BE384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52636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310DA7-3A6D-3E4A-A84B-C2E2ED46A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IOMMU</a:t>
            </a:r>
            <a:r>
              <a:rPr kumimoji="1" lang="zh-CN" altLang="en-US" dirty="0"/>
              <a:t>与</a:t>
            </a:r>
            <a:r>
              <a:rPr kumimoji="1" lang="en-US" altLang="zh-CN" dirty="0"/>
              <a:t>MMU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6E14A2A-E3E1-5440-90E4-B968F62E9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1FF156-C252-1442-AACE-4479D5F2EF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8" name="Picture 83">
            <a:extLst>
              <a:ext uri="{FF2B5EF4-FFF2-40B4-BE49-F238E27FC236}">
                <a16:creationId xmlns:a16="http://schemas.microsoft.com/office/drawing/2014/main" id="{E555E464-47FB-A943-AE49-F426213DB24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63888" y="3839674"/>
            <a:ext cx="2234787" cy="31657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157D28A-BB2C-9F4A-AD22-0EDC7D4EAB0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8626" y="2729793"/>
            <a:ext cx="648072" cy="58356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FAB58C7-B4BB-8649-92C4-0C2BBE80164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8626" y="1937705"/>
            <a:ext cx="624226" cy="624988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172831FA-ACDA-7B4C-BE13-CA4734003770}"/>
              </a:ext>
            </a:extLst>
          </p:cNvPr>
          <p:cNvSpPr/>
          <p:nvPr/>
        </p:nvSpPr>
        <p:spPr>
          <a:xfrm>
            <a:off x="2812678" y="2369753"/>
            <a:ext cx="864096" cy="576064"/>
          </a:xfrm>
          <a:prstGeom prst="rect">
            <a:avLst/>
          </a:prstGeom>
          <a:solidFill>
            <a:srgbClr val="BE38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4F36B232-A039-244A-BF5A-13AE421D6D69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84686" y="2513769"/>
            <a:ext cx="680113" cy="16701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E8971D83-8602-C648-A956-6ADFDB60C0E8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84686" y="2729793"/>
            <a:ext cx="680113" cy="16701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4FC8AC15-557E-DC45-855C-742115438AF4}"/>
              </a:ext>
            </a:extLst>
          </p:cNvPr>
          <p:cNvSpPr txBox="1"/>
          <p:nvPr/>
        </p:nvSpPr>
        <p:spPr>
          <a:xfrm>
            <a:off x="2884686" y="2153729"/>
            <a:ext cx="7152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IOMMU</a:t>
            </a:r>
            <a:endParaRPr kumimoji="1" lang="zh-CN" altLang="en-US" sz="1200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F157723-6B13-4740-B552-F0D87BE6D6A9}"/>
              </a:ext>
            </a:extLst>
          </p:cNvPr>
          <p:cNvSpPr/>
          <p:nvPr/>
        </p:nvSpPr>
        <p:spPr>
          <a:xfrm>
            <a:off x="5815362" y="2397199"/>
            <a:ext cx="864096" cy="576064"/>
          </a:xfrm>
          <a:prstGeom prst="rect">
            <a:avLst/>
          </a:prstGeom>
          <a:solidFill>
            <a:srgbClr val="558E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65AF4B2A-BD9A-6F44-913C-6B18063E8027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87370" y="2541215"/>
            <a:ext cx="680113" cy="16701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7BE39BB6-9599-BE49-9DE2-58612C3C5917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87370" y="2757239"/>
            <a:ext cx="680113" cy="167010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37F2C75F-3DF0-1949-A460-5A8B348E5626}"/>
              </a:ext>
            </a:extLst>
          </p:cNvPr>
          <p:cNvSpPr txBox="1"/>
          <p:nvPr/>
        </p:nvSpPr>
        <p:spPr>
          <a:xfrm>
            <a:off x="5959378" y="2181175"/>
            <a:ext cx="5517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MMU</a:t>
            </a:r>
            <a:endParaRPr kumimoji="1" lang="zh-CN" altLang="en-US" sz="1200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162EF7B-2497-8A4C-A19B-DBE2C11846D3}"/>
              </a:ext>
            </a:extLst>
          </p:cNvPr>
          <p:cNvSpPr/>
          <p:nvPr/>
        </p:nvSpPr>
        <p:spPr>
          <a:xfrm>
            <a:off x="6823474" y="2397199"/>
            <a:ext cx="288032" cy="720080"/>
          </a:xfrm>
          <a:prstGeom prst="rect">
            <a:avLst/>
          </a:prstGeom>
          <a:solidFill>
            <a:srgbClr val="558E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TLB</a:t>
            </a:r>
            <a:endParaRPr kumimoji="1" lang="zh-CN" altLang="en-US" sz="1200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90A46C0-C6E6-5848-9D99-B9328AEA700B}"/>
              </a:ext>
            </a:extLst>
          </p:cNvPr>
          <p:cNvSpPr/>
          <p:nvPr/>
        </p:nvSpPr>
        <p:spPr>
          <a:xfrm>
            <a:off x="2020590" y="2009713"/>
            <a:ext cx="639688" cy="1296144"/>
          </a:xfrm>
          <a:prstGeom prst="rect">
            <a:avLst/>
          </a:prstGeom>
          <a:solidFill>
            <a:srgbClr val="BE38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IOTLB</a:t>
            </a:r>
            <a:endParaRPr kumimoji="1" lang="zh-CN" altLang="en-US" sz="1200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528EE99B-292D-DA47-BDF7-6CA4411676BA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16689" y="2325191"/>
            <a:ext cx="1098465" cy="829692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66FCAEBB-95FF-154C-A9DB-B66FDF037E6B}"/>
              </a:ext>
            </a:extLst>
          </p:cNvPr>
          <p:cNvSpPr txBox="1"/>
          <p:nvPr/>
        </p:nvSpPr>
        <p:spPr>
          <a:xfrm>
            <a:off x="7687570" y="2037159"/>
            <a:ext cx="5084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CPU</a:t>
            </a:r>
            <a:endParaRPr kumimoji="1" lang="zh-CN" altLang="en-US" sz="1200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96E0C56-875C-EC46-A51C-BB3F68755D63}"/>
              </a:ext>
            </a:extLst>
          </p:cNvPr>
          <p:cNvSpPr txBox="1"/>
          <p:nvPr/>
        </p:nvSpPr>
        <p:spPr>
          <a:xfrm>
            <a:off x="3825117" y="4183661"/>
            <a:ext cx="17123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Main</a:t>
            </a:r>
            <a:r>
              <a:rPr kumimoji="1" lang="zh-CN" altLang="en-US" sz="1200" dirty="0"/>
              <a:t> </a:t>
            </a:r>
            <a:r>
              <a:rPr kumimoji="1" lang="en-US" altLang="zh-CN" sz="1200" dirty="0"/>
              <a:t>Memory</a:t>
            </a:r>
            <a:r>
              <a:rPr kumimoji="1" lang="zh-CN" altLang="en-US" sz="1200" dirty="0"/>
              <a:t> </a:t>
            </a:r>
            <a:r>
              <a:rPr kumimoji="1" lang="en-US" altLang="zh-CN" sz="1200" dirty="0"/>
              <a:t>(DRAM)</a:t>
            </a:r>
            <a:endParaRPr kumimoji="1" lang="zh-CN" altLang="en-US" sz="1200" dirty="0"/>
          </a:p>
        </p:txBody>
      </p: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344BB422-AD4B-C34B-A1E6-B4E42937CD60}"/>
              </a:ext>
            </a:extLst>
          </p:cNvPr>
          <p:cNvCxnSpPr>
            <a:cxnSpLocks/>
            <a:endCxn id="16" idx="3"/>
          </p:cNvCxnSpPr>
          <p:nvPr/>
        </p:nvCxnSpPr>
        <p:spPr>
          <a:xfrm flipH="1">
            <a:off x="6679458" y="2685231"/>
            <a:ext cx="648072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592410F0-37E5-E448-A0DB-ECD11F2D233C}"/>
              </a:ext>
            </a:extLst>
          </p:cNvPr>
          <p:cNvCxnSpPr>
            <a:cxnSpLocks/>
          </p:cNvCxnSpPr>
          <p:nvPr/>
        </p:nvCxnSpPr>
        <p:spPr>
          <a:xfrm flipH="1">
            <a:off x="5258772" y="2685231"/>
            <a:ext cx="484582" cy="1146447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0159A8E5-40C0-F24E-ADC3-D434D0F25CD1}"/>
              </a:ext>
            </a:extLst>
          </p:cNvPr>
          <p:cNvSpPr txBox="1"/>
          <p:nvPr/>
        </p:nvSpPr>
        <p:spPr>
          <a:xfrm>
            <a:off x="4859463" y="2844192"/>
            <a:ext cx="7986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Physical</a:t>
            </a:r>
            <a:r>
              <a:rPr kumimoji="1" lang="zh-CN" altLang="en-US" sz="1200" dirty="0"/>
              <a:t> </a:t>
            </a:r>
            <a:endParaRPr kumimoji="1" lang="en-US" altLang="zh-CN" sz="1200" dirty="0"/>
          </a:p>
          <a:p>
            <a:r>
              <a:rPr kumimoji="1" lang="en-US" altLang="zh-CN" sz="1200" dirty="0"/>
              <a:t>Address</a:t>
            </a:r>
            <a:endParaRPr kumimoji="1" lang="zh-CN" altLang="en-US" sz="1200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6B62B4E1-41D8-D147-8606-8BEAEBF97C03}"/>
              </a:ext>
            </a:extLst>
          </p:cNvPr>
          <p:cNvSpPr txBox="1"/>
          <p:nvPr/>
        </p:nvSpPr>
        <p:spPr>
          <a:xfrm>
            <a:off x="7111506" y="2757239"/>
            <a:ext cx="7473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Virtual</a:t>
            </a:r>
            <a:r>
              <a:rPr kumimoji="1" lang="zh-CN" altLang="en-US" sz="1200" dirty="0"/>
              <a:t> </a:t>
            </a:r>
            <a:endParaRPr kumimoji="1" lang="en-US" altLang="zh-CN" sz="1200" dirty="0"/>
          </a:p>
          <a:p>
            <a:r>
              <a:rPr kumimoji="1" lang="en-US" altLang="zh-CN" sz="1200" dirty="0"/>
              <a:t>Address</a:t>
            </a:r>
            <a:endParaRPr kumimoji="1" lang="zh-CN" altLang="en-US" sz="1200" dirty="0"/>
          </a:p>
        </p:txBody>
      </p: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8EA0F803-3635-8D43-9D0D-A53B756691D6}"/>
              </a:ext>
            </a:extLst>
          </p:cNvPr>
          <p:cNvCxnSpPr>
            <a:cxnSpLocks/>
          </p:cNvCxnSpPr>
          <p:nvPr/>
        </p:nvCxnSpPr>
        <p:spPr>
          <a:xfrm>
            <a:off x="1300510" y="2441761"/>
            <a:ext cx="1584176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线箭头连接符 35">
            <a:extLst>
              <a:ext uri="{FF2B5EF4-FFF2-40B4-BE49-F238E27FC236}">
                <a16:creationId xmlns:a16="http://schemas.microsoft.com/office/drawing/2014/main" id="{E6A50E26-B2D0-1848-BD41-8DF90199043B}"/>
              </a:ext>
            </a:extLst>
          </p:cNvPr>
          <p:cNvCxnSpPr>
            <a:cxnSpLocks/>
          </p:cNvCxnSpPr>
          <p:nvPr/>
        </p:nvCxnSpPr>
        <p:spPr>
          <a:xfrm>
            <a:off x="1300510" y="2873809"/>
            <a:ext cx="1512168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57371DB7-807E-1540-8D2E-706E1EE87185}"/>
              </a:ext>
            </a:extLst>
          </p:cNvPr>
          <p:cNvSpPr txBox="1"/>
          <p:nvPr/>
        </p:nvSpPr>
        <p:spPr>
          <a:xfrm>
            <a:off x="1300510" y="2153729"/>
            <a:ext cx="5261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DMA</a:t>
            </a:r>
            <a:endParaRPr kumimoji="1" lang="zh-CN" altLang="en-US" sz="12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24DC05ED-3921-C44F-BB5C-0742D9D1A837}"/>
              </a:ext>
            </a:extLst>
          </p:cNvPr>
          <p:cNvSpPr txBox="1"/>
          <p:nvPr/>
        </p:nvSpPr>
        <p:spPr>
          <a:xfrm>
            <a:off x="1372518" y="2873809"/>
            <a:ext cx="747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IO</a:t>
            </a:r>
          </a:p>
          <a:p>
            <a:r>
              <a:rPr kumimoji="1" lang="en-US" altLang="zh-CN" sz="1200" dirty="0"/>
              <a:t>Virtual</a:t>
            </a:r>
            <a:r>
              <a:rPr kumimoji="1" lang="zh-CN" altLang="en-US" sz="1200" dirty="0"/>
              <a:t> </a:t>
            </a:r>
            <a:endParaRPr kumimoji="1" lang="en-US" altLang="zh-CN" sz="1200" dirty="0"/>
          </a:p>
          <a:p>
            <a:r>
              <a:rPr kumimoji="1" lang="en-US" altLang="zh-CN" sz="1200" dirty="0"/>
              <a:t>Address</a:t>
            </a:r>
            <a:endParaRPr kumimoji="1" lang="zh-CN" altLang="en-US" sz="1200" dirty="0"/>
          </a:p>
        </p:txBody>
      </p:sp>
      <p:cxnSp>
        <p:nvCxnSpPr>
          <p:cNvPr id="39" name="直线箭头连接符 38">
            <a:extLst>
              <a:ext uri="{FF2B5EF4-FFF2-40B4-BE49-F238E27FC236}">
                <a16:creationId xmlns:a16="http://schemas.microsoft.com/office/drawing/2014/main" id="{D41EEEC4-BA61-C24C-AD42-C046105D23FC}"/>
              </a:ext>
            </a:extLst>
          </p:cNvPr>
          <p:cNvCxnSpPr>
            <a:cxnSpLocks/>
          </p:cNvCxnSpPr>
          <p:nvPr/>
        </p:nvCxnSpPr>
        <p:spPr>
          <a:xfrm>
            <a:off x="3604766" y="2585777"/>
            <a:ext cx="581892" cy="122648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35EC4B4D-F18F-F042-95BE-87F1FAC13580}"/>
              </a:ext>
            </a:extLst>
          </p:cNvPr>
          <p:cNvSpPr txBox="1"/>
          <p:nvPr/>
        </p:nvSpPr>
        <p:spPr>
          <a:xfrm>
            <a:off x="3843337" y="2854231"/>
            <a:ext cx="7986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Physical</a:t>
            </a:r>
            <a:r>
              <a:rPr kumimoji="1" lang="zh-CN" altLang="en-US" sz="1200" dirty="0"/>
              <a:t> </a:t>
            </a:r>
            <a:endParaRPr kumimoji="1" lang="en-US" altLang="zh-CN" sz="1200" dirty="0"/>
          </a:p>
          <a:p>
            <a:r>
              <a:rPr kumimoji="1" lang="en-US" altLang="zh-CN" sz="1200" dirty="0"/>
              <a:t>Address</a:t>
            </a:r>
            <a:endParaRPr kumimoji="1"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8215766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F6D8FF-DBAF-6244-B67D-15F584414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ARM</a:t>
            </a:r>
            <a:r>
              <a:rPr kumimoji="1" lang="zh-CN" altLang="en-US" dirty="0"/>
              <a:t> </a:t>
            </a:r>
            <a:r>
              <a:rPr kumimoji="1" lang="en-US" altLang="zh-CN" dirty="0"/>
              <a:t>SMMU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E60087-A0FB-154B-B664-787305BAC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SMMU</a:t>
            </a:r>
            <a:r>
              <a:rPr kumimoji="1" lang="zh-CN" altLang="en-US" dirty="0"/>
              <a:t>是</a:t>
            </a:r>
            <a:r>
              <a:rPr kumimoji="1" lang="en-US" altLang="zh-CN" dirty="0"/>
              <a:t>ARM</a:t>
            </a:r>
            <a:r>
              <a:rPr kumimoji="1" lang="zh-CN" altLang="en-US" dirty="0"/>
              <a:t>中</a:t>
            </a:r>
            <a:r>
              <a:rPr kumimoji="1" lang="en-US" altLang="zh-CN" dirty="0"/>
              <a:t>IOMMU</a:t>
            </a:r>
            <a:r>
              <a:rPr kumimoji="1" lang="zh-CN" altLang="en-US" dirty="0"/>
              <a:t>的实现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System</a:t>
            </a:r>
            <a:r>
              <a:rPr kumimoji="1" lang="zh-CN" altLang="en-US" dirty="0"/>
              <a:t> </a:t>
            </a:r>
            <a:r>
              <a:rPr kumimoji="1" lang="en-US" altLang="zh-CN" dirty="0"/>
              <a:t>MMU</a:t>
            </a:r>
          </a:p>
          <a:p>
            <a:r>
              <a:rPr kumimoji="1" lang="en-US" altLang="zh-CN" dirty="0"/>
              <a:t>SMMU</a:t>
            </a:r>
            <a:r>
              <a:rPr kumimoji="1" lang="zh-CN" altLang="en-US" dirty="0"/>
              <a:t>的设计与</a:t>
            </a:r>
            <a:r>
              <a:rPr kumimoji="1" lang="en-US" altLang="zh-CN" dirty="0"/>
              <a:t>AARCH64</a:t>
            </a:r>
            <a:r>
              <a:rPr kumimoji="1" lang="zh-CN" altLang="en-US" dirty="0"/>
              <a:t> </a:t>
            </a:r>
            <a:r>
              <a:rPr kumimoji="1" lang="en-US" altLang="zh-CN" dirty="0"/>
              <a:t>MMU</a:t>
            </a:r>
            <a:r>
              <a:rPr kumimoji="1" lang="zh-CN" altLang="en-US" dirty="0"/>
              <a:t>一致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也存在两阶段地址翻译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第一阶段：</a:t>
            </a:r>
            <a:r>
              <a:rPr kumimoji="1" lang="en-US" altLang="zh-CN" dirty="0"/>
              <a:t>OS</a:t>
            </a:r>
            <a:r>
              <a:rPr kumimoji="1" lang="zh-CN" altLang="en-US" dirty="0"/>
              <a:t>为进程配置：</a:t>
            </a:r>
            <a:r>
              <a:rPr kumimoji="1" lang="en-US" altLang="zh-CN" dirty="0"/>
              <a:t>IOVA-&gt;GPA</a:t>
            </a:r>
          </a:p>
          <a:p>
            <a:pPr lvl="1"/>
            <a:r>
              <a:rPr kumimoji="1" lang="zh-CN" altLang="en-US" dirty="0"/>
              <a:t>第二阶段：第一阶段翻译完之后进行第二阶段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VMM</a:t>
            </a:r>
            <a:r>
              <a:rPr kumimoji="1" lang="zh-CN" altLang="en-US" dirty="0"/>
              <a:t>为</a:t>
            </a:r>
            <a:r>
              <a:rPr kumimoji="1" lang="en-US" altLang="zh-CN" dirty="0"/>
              <a:t>VM</a:t>
            </a:r>
            <a:r>
              <a:rPr kumimoji="1" lang="zh-CN" altLang="en-US" dirty="0"/>
              <a:t>配置：</a:t>
            </a:r>
            <a:r>
              <a:rPr kumimoji="1" lang="en-US" altLang="zh-CN" dirty="0"/>
              <a:t>GPA-&gt;HPA</a:t>
            </a:r>
            <a:r>
              <a:rPr kumimoji="1" lang="zh-CN" altLang="en-US" dirty="0"/>
              <a:t> 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A5C8EC-198C-914A-8CFD-4BCF26BEF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F0F4E1-F0F6-D144-893F-9B6848AF32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639226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67A091-4A61-F541-B67C-31967221B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SMMU</a:t>
            </a:r>
            <a:r>
              <a:rPr kumimoji="1" lang="zh-CN" altLang="en-US" dirty="0"/>
              <a:t>的页表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BCE514-09FD-D645-B616-CE22E523D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46A80A-7C27-D141-8362-4840B73C6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0DAE3D-EB19-6443-9C05-4057E12B12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57EE72A-E4DF-B748-99B0-F1AE1AEF17D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04" y="1129308"/>
            <a:ext cx="8896424" cy="4089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3258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07253B-F0F9-6240-B2B5-97F2DE1DE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ARM</a:t>
            </a:r>
            <a:r>
              <a:rPr kumimoji="1" lang="zh-CN" altLang="en-US" dirty="0"/>
              <a:t> </a:t>
            </a:r>
            <a:r>
              <a:rPr kumimoji="1" lang="en-US" altLang="zh-CN" dirty="0"/>
              <a:t>SMMU</a:t>
            </a:r>
            <a:r>
              <a:rPr kumimoji="1" lang="zh-CN" altLang="en-US" dirty="0"/>
              <a:t>翻译过程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A5CE77-8C51-7A42-9CD9-180C18DD5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B6DDFF-0C47-CB45-9FFE-E79F8007D2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8E615FB0-4B3B-494E-9BB5-9674DDFA4B1C}"/>
              </a:ext>
            </a:extLst>
          </p:cNvPr>
          <p:cNvGrpSpPr/>
          <p:nvPr/>
        </p:nvGrpSpPr>
        <p:grpSpPr>
          <a:xfrm>
            <a:off x="179512" y="1884641"/>
            <a:ext cx="8856984" cy="2325562"/>
            <a:chOff x="-176584" y="1833939"/>
            <a:chExt cx="10421310" cy="2736304"/>
          </a:xfrm>
        </p:grpSpPr>
        <p:sp>
          <p:nvSpPr>
            <p:cNvPr id="6" name="圆角矩形 5">
              <a:extLst>
                <a:ext uri="{FF2B5EF4-FFF2-40B4-BE49-F238E27FC236}">
                  <a16:creationId xmlns:a16="http://schemas.microsoft.com/office/drawing/2014/main" id="{41BCAD5B-E5FE-9749-96E1-4F53051DFFC0}"/>
                </a:ext>
              </a:extLst>
            </p:cNvPr>
            <p:cNvSpPr/>
            <p:nvPr/>
          </p:nvSpPr>
          <p:spPr>
            <a:xfrm>
              <a:off x="27494" y="1833939"/>
              <a:ext cx="4968552" cy="2736304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600"/>
            </a:p>
          </p:txBody>
        </p:sp>
        <p:sp>
          <p:nvSpPr>
            <p:cNvPr id="7" name="圆角矩形 6">
              <a:extLst>
                <a:ext uri="{FF2B5EF4-FFF2-40B4-BE49-F238E27FC236}">
                  <a16:creationId xmlns:a16="http://schemas.microsoft.com/office/drawing/2014/main" id="{DC41E651-9DD4-204A-912E-E4A5724A8401}"/>
                </a:ext>
              </a:extLst>
            </p:cNvPr>
            <p:cNvSpPr/>
            <p:nvPr/>
          </p:nvSpPr>
          <p:spPr>
            <a:xfrm>
              <a:off x="5590014" y="1833939"/>
              <a:ext cx="3600400" cy="2736304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600"/>
            </a:p>
          </p:txBody>
        </p:sp>
        <p:sp>
          <p:nvSpPr>
            <p:cNvPr id="8" name="右箭头 7">
              <a:extLst>
                <a:ext uri="{FF2B5EF4-FFF2-40B4-BE49-F238E27FC236}">
                  <a16:creationId xmlns:a16="http://schemas.microsoft.com/office/drawing/2014/main" id="{7A2C5159-467C-F346-8AB0-1364D45C8313}"/>
                </a:ext>
              </a:extLst>
            </p:cNvPr>
            <p:cNvSpPr/>
            <p:nvPr/>
          </p:nvSpPr>
          <p:spPr>
            <a:xfrm>
              <a:off x="-176584" y="2477349"/>
              <a:ext cx="2004278" cy="64807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600" dirty="0"/>
                <a:t>Source</a:t>
              </a:r>
              <a:r>
                <a:rPr kumimoji="1" lang="zh-CN" altLang="en-US" sz="1600" dirty="0"/>
                <a:t> </a:t>
              </a:r>
              <a:r>
                <a:rPr kumimoji="1" lang="en-US" altLang="zh-CN" sz="1600" dirty="0"/>
                <a:t>ID</a:t>
              </a:r>
              <a:endParaRPr kumimoji="1" lang="zh-CN" altLang="en-US" sz="1600" dirty="0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E9220AA-3DAF-9E45-88B0-E2585779E6DD}"/>
                </a:ext>
              </a:extLst>
            </p:cNvPr>
            <p:cNvSpPr/>
            <p:nvPr/>
          </p:nvSpPr>
          <p:spPr>
            <a:xfrm>
              <a:off x="1827694" y="2068132"/>
              <a:ext cx="1368152" cy="154817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600" dirty="0">
                  <a:solidFill>
                    <a:schemeClr val="tx1"/>
                  </a:solidFill>
                </a:rPr>
                <a:t>Context</a:t>
              </a:r>
            </a:p>
            <a:p>
              <a:pPr algn="ctr"/>
              <a:r>
                <a:rPr kumimoji="1" lang="en-US" altLang="zh-CN" sz="1600" dirty="0">
                  <a:solidFill>
                    <a:schemeClr val="tx1"/>
                  </a:solidFill>
                </a:rPr>
                <a:t>Descriptor</a:t>
              </a:r>
              <a:endParaRPr kumimoji="1"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0" name="右箭头 9">
              <a:extLst>
                <a:ext uri="{FF2B5EF4-FFF2-40B4-BE49-F238E27FC236}">
                  <a16:creationId xmlns:a16="http://schemas.microsoft.com/office/drawing/2014/main" id="{6BF59560-4C18-8945-870C-13CECE8B0F9B}"/>
                </a:ext>
              </a:extLst>
            </p:cNvPr>
            <p:cNvSpPr/>
            <p:nvPr/>
          </p:nvSpPr>
          <p:spPr>
            <a:xfrm>
              <a:off x="3219660" y="2146028"/>
              <a:ext cx="3000599" cy="566403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500" dirty="0"/>
                <a:t>First-Level</a:t>
              </a:r>
              <a:r>
                <a:rPr kumimoji="1" lang="zh-CN" altLang="en-US" sz="1500" dirty="0"/>
                <a:t> </a:t>
              </a:r>
              <a:r>
                <a:rPr kumimoji="1" lang="en-US" altLang="zh-CN" sz="1500" dirty="0"/>
                <a:t>Page</a:t>
              </a:r>
              <a:r>
                <a:rPr kumimoji="1" lang="zh-CN" altLang="en-US" sz="1500" dirty="0"/>
                <a:t> </a:t>
              </a:r>
              <a:r>
                <a:rPr kumimoji="1" lang="en-US" altLang="zh-CN" sz="1500" dirty="0"/>
                <a:t>Table</a:t>
              </a:r>
              <a:endParaRPr kumimoji="1" lang="zh-CN" altLang="en-US" sz="1500" dirty="0"/>
            </a:p>
          </p:txBody>
        </p:sp>
        <p:sp>
          <p:nvSpPr>
            <p:cNvPr id="11" name="右箭头 10">
              <a:extLst>
                <a:ext uri="{FF2B5EF4-FFF2-40B4-BE49-F238E27FC236}">
                  <a16:creationId xmlns:a16="http://schemas.microsoft.com/office/drawing/2014/main" id="{DBFF13AE-D013-F741-97A3-022C764FABCB}"/>
                </a:ext>
              </a:extLst>
            </p:cNvPr>
            <p:cNvSpPr/>
            <p:nvPr/>
          </p:nvSpPr>
          <p:spPr>
            <a:xfrm>
              <a:off x="3219661" y="2842219"/>
              <a:ext cx="3000600" cy="566403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500" dirty="0"/>
                <a:t>Second-Level</a:t>
              </a:r>
              <a:r>
                <a:rPr kumimoji="1" lang="zh-CN" altLang="en-US" sz="1500" dirty="0"/>
                <a:t> </a:t>
              </a:r>
              <a:r>
                <a:rPr kumimoji="1" lang="en-US" altLang="zh-CN" sz="1500" dirty="0"/>
                <a:t>Page</a:t>
              </a:r>
              <a:r>
                <a:rPr kumimoji="1" lang="zh-CN" altLang="en-US" sz="1500" dirty="0"/>
                <a:t> </a:t>
              </a:r>
              <a:r>
                <a:rPr kumimoji="1" lang="en-US" altLang="zh-CN" sz="1500" dirty="0"/>
                <a:t>Table</a:t>
              </a:r>
              <a:endParaRPr kumimoji="1" lang="zh-CN" altLang="en-US" sz="1500" dirty="0"/>
            </a:p>
          </p:txBody>
        </p:sp>
        <p:sp>
          <p:nvSpPr>
            <p:cNvPr id="12" name="右箭头 11">
              <a:extLst>
                <a:ext uri="{FF2B5EF4-FFF2-40B4-BE49-F238E27FC236}">
                  <a16:creationId xmlns:a16="http://schemas.microsoft.com/office/drawing/2014/main" id="{91BD0368-5742-B64E-A558-C4C32681739F}"/>
                </a:ext>
              </a:extLst>
            </p:cNvPr>
            <p:cNvSpPr/>
            <p:nvPr/>
          </p:nvSpPr>
          <p:spPr>
            <a:xfrm>
              <a:off x="-99641" y="3822944"/>
              <a:ext cx="6319901" cy="64807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600" dirty="0"/>
                <a:t>GIOVA</a:t>
              </a:r>
              <a:endParaRPr kumimoji="1" lang="zh-CN" altLang="en-US" sz="1600" dirty="0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328D669F-8C50-5248-85CF-F4B99D1BC245}"/>
                </a:ext>
              </a:extLst>
            </p:cNvPr>
            <p:cNvSpPr/>
            <p:nvPr/>
          </p:nvSpPr>
          <p:spPr>
            <a:xfrm>
              <a:off x="6220259" y="2068132"/>
              <a:ext cx="1061074" cy="240288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600" dirty="0">
                  <a:solidFill>
                    <a:schemeClr val="tx1"/>
                  </a:solidFill>
                </a:rPr>
                <a:t>IOTLB</a:t>
              </a:r>
              <a:endParaRPr kumimoji="1"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D5861388-94D2-8D44-B42A-4A2004FD7DA3}"/>
                </a:ext>
              </a:extLst>
            </p:cNvPr>
            <p:cNvSpPr/>
            <p:nvPr/>
          </p:nvSpPr>
          <p:spPr>
            <a:xfrm>
              <a:off x="8169007" y="2096205"/>
              <a:ext cx="708134" cy="71147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400" dirty="0">
                  <a:solidFill>
                    <a:schemeClr val="tx1"/>
                  </a:solidFill>
                </a:rPr>
                <a:t>PTW</a:t>
              </a:r>
              <a:endParaRPr kumimoji="1" lang="zh-CN" alt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15" name="直线箭头连接符 14">
              <a:extLst>
                <a:ext uri="{FF2B5EF4-FFF2-40B4-BE49-F238E27FC236}">
                  <a16:creationId xmlns:a16="http://schemas.microsoft.com/office/drawing/2014/main" id="{A04A8970-D852-9340-969A-970BD0AB3863}"/>
                </a:ext>
              </a:extLst>
            </p:cNvPr>
            <p:cNvCxnSpPr>
              <a:cxnSpLocks/>
            </p:cNvCxnSpPr>
            <p:nvPr/>
          </p:nvCxnSpPr>
          <p:spPr>
            <a:xfrm>
              <a:off x="7281333" y="2281436"/>
              <a:ext cx="88767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箭头连接符 15">
              <a:extLst>
                <a:ext uri="{FF2B5EF4-FFF2-40B4-BE49-F238E27FC236}">
                  <a16:creationId xmlns:a16="http://schemas.microsoft.com/office/drawing/2014/main" id="{21194F30-E0E0-BF40-9E1D-391093146E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73212" y="2733208"/>
              <a:ext cx="887674" cy="227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024D4F5C-2125-DF45-82E3-EED790564F62}"/>
                </a:ext>
              </a:extLst>
            </p:cNvPr>
            <p:cNvSpPr txBox="1"/>
            <p:nvPr/>
          </p:nvSpPr>
          <p:spPr>
            <a:xfrm>
              <a:off x="7402397" y="1957263"/>
              <a:ext cx="713333" cy="398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600" dirty="0"/>
                <a:t>Miss</a:t>
              </a:r>
              <a:endParaRPr kumimoji="1" lang="zh-CN" altLang="en-US" sz="1600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447886CE-6BBF-4448-8128-E1BB04A14268}"/>
                </a:ext>
              </a:extLst>
            </p:cNvPr>
            <p:cNvSpPr txBox="1"/>
            <p:nvPr/>
          </p:nvSpPr>
          <p:spPr>
            <a:xfrm>
              <a:off x="7477240" y="2393268"/>
              <a:ext cx="522834" cy="398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600" dirty="0"/>
                <a:t>Fill</a:t>
              </a:r>
              <a:endParaRPr kumimoji="1" lang="zh-CN" altLang="en-US" sz="1600" dirty="0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3556E1A8-4A73-4A43-B43B-6EAE62F84FF1}"/>
                </a:ext>
              </a:extLst>
            </p:cNvPr>
            <p:cNvSpPr/>
            <p:nvPr/>
          </p:nvSpPr>
          <p:spPr>
            <a:xfrm>
              <a:off x="8169006" y="3822944"/>
              <a:ext cx="720080" cy="64807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600" dirty="0">
                  <a:solidFill>
                    <a:schemeClr val="tx1"/>
                  </a:solidFill>
                </a:rPr>
                <a:t>HPA</a:t>
              </a:r>
              <a:endParaRPr kumimoji="1" lang="zh-CN" altLang="en-US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20" name="直线箭头连接符 19">
              <a:extLst>
                <a:ext uri="{FF2B5EF4-FFF2-40B4-BE49-F238E27FC236}">
                  <a16:creationId xmlns:a16="http://schemas.microsoft.com/office/drawing/2014/main" id="{622974A0-FF0F-1142-B238-17C3BC190A62}"/>
                </a:ext>
              </a:extLst>
            </p:cNvPr>
            <p:cNvCxnSpPr>
              <a:cxnSpLocks/>
              <a:stCxn id="19" idx="0"/>
              <a:endCxn id="14" idx="2"/>
            </p:cNvCxnSpPr>
            <p:nvPr/>
          </p:nvCxnSpPr>
          <p:spPr>
            <a:xfrm flipH="1" flipV="1">
              <a:off x="8523074" y="2807677"/>
              <a:ext cx="5972" cy="1015267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线箭头连接符 20">
              <a:extLst>
                <a:ext uri="{FF2B5EF4-FFF2-40B4-BE49-F238E27FC236}">
                  <a16:creationId xmlns:a16="http://schemas.microsoft.com/office/drawing/2014/main" id="{766AB4EF-214E-274F-A3C7-3EA130F68018}"/>
                </a:ext>
              </a:extLst>
            </p:cNvPr>
            <p:cNvCxnSpPr>
              <a:cxnSpLocks/>
            </p:cNvCxnSpPr>
            <p:nvPr/>
          </p:nvCxnSpPr>
          <p:spPr>
            <a:xfrm>
              <a:off x="7298981" y="4147117"/>
              <a:ext cx="88767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25CC9428-9E9E-0F43-8112-A2759EBDAB6F}"/>
                </a:ext>
              </a:extLst>
            </p:cNvPr>
            <p:cNvSpPr txBox="1"/>
            <p:nvPr/>
          </p:nvSpPr>
          <p:spPr>
            <a:xfrm>
              <a:off x="7420045" y="3822944"/>
              <a:ext cx="511517" cy="398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600" dirty="0"/>
                <a:t>Hit</a:t>
              </a:r>
              <a:endParaRPr kumimoji="1" lang="zh-CN" altLang="en-US" sz="1600" dirty="0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4C21A909-558B-0D45-890F-08DD0368B828}"/>
                </a:ext>
              </a:extLst>
            </p:cNvPr>
            <p:cNvSpPr/>
            <p:nvPr/>
          </p:nvSpPr>
          <p:spPr>
            <a:xfrm>
              <a:off x="9428395" y="1833939"/>
              <a:ext cx="816331" cy="26370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600" dirty="0">
                  <a:solidFill>
                    <a:schemeClr val="tx1"/>
                  </a:solidFill>
                </a:rPr>
                <a:t>Mem</a:t>
              </a:r>
              <a:endParaRPr kumimoji="1" lang="zh-CN" altLang="en-US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24" name="直线箭头连接符 23">
              <a:extLst>
                <a:ext uri="{FF2B5EF4-FFF2-40B4-BE49-F238E27FC236}">
                  <a16:creationId xmlns:a16="http://schemas.microsoft.com/office/drawing/2014/main" id="{4433B54F-5DE6-924B-A0E5-8967CC2F6ADE}"/>
                </a:ext>
              </a:extLst>
            </p:cNvPr>
            <p:cNvCxnSpPr>
              <a:cxnSpLocks/>
            </p:cNvCxnSpPr>
            <p:nvPr/>
          </p:nvCxnSpPr>
          <p:spPr>
            <a:xfrm>
              <a:off x="8785763" y="4147117"/>
              <a:ext cx="64263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084865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639587-51AF-4746-BBCE-C302A4C68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问题</a:t>
            </a:r>
            <a:r>
              <a:rPr kumimoji="1" lang="en-US" altLang="zh-CN" dirty="0"/>
              <a:t>2</a:t>
            </a:r>
            <a:r>
              <a:rPr kumimoji="1" lang="zh-CN" altLang="en-US" dirty="0"/>
              <a:t>：设备独占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66E7DA-DDE0-704C-B70B-79DFF57488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Scalability</a:t>
            </a:r>
            <a:r>
              <a:rPr kumimoji="1" lang="zh-CN" altLang="en-US" dirty="0"/>
              <a:t>不够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设备被</a:t>
            </a:r>
            <a:r>
              <a:rPr kumimoji="1" lang="en-US" altLang="zh-CN" dirty="0"/>
              <a:t>VM-1</a:t>
            </a:r>
            <a:r>
              <a:rPr kumimoji="1" lang="zh-CN" altLang="en-US" dirty="0"/>
              <a:t>独占后，就无法被</a:t>
            </a:r>
            <a:r>
              <a:rPr kumimoji="1" lang="en-US" altLang="zh-CN" dirty="0"/>
              <a:t>VM-2</a:t>
            </a:r>
            <a:r>
              <a:rPr kumimoji="1" lang="zh-CN" altLang="en-US" dirty="0"/>
              <a:t>使用</a:t>
            </a:r>
            <a:endParaRPr kumimoji="1" lang="en-US" altLang="zh-CN" dirty="0"/>
          </a:p>
          <a:p>
            <a:r>
              <a:rPr kumimoji="1" lang="zh-CN" altLang="en-US" dirty="0"/>
              <a:t>如果一台物理机上运行</a:t>
            </a:r>
            <a:r>
              <a:rPr kumimoji="1" lang="en-US" altLang="zh-CN" dirty="0"/>
              <a:t>16</a:t>
            </a:r>
            <a:r>
              <a:rPr kumimoji="1" lang="zh-CN" altLang="en-US" dirty="0"/>
              <a:t>个虚拟机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必须为这些虚拟机安装</a:t>
            </a:r>
            <a:r>
              <a:rPr kumimoji="1" lang="en-US" altLang="zh-CN" dirty="0"/>
              <a:t>16</a:t>
            </a:r>
            <a:r>
              <a:rPr kumimoji="1" lang="zh-CN" altLang="en-US" dirty="0"/>
              <a:t>个物理网卡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1FB6BE-CB41-8043-B204-3BCE38AFF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197FCD-D96E-2541-B3E7-53A1973E06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429689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F7664-C53B-6C48-9995-0149B79BC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/>
              <a:t>Single Root I/O Virtualization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(SR-IOV)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70BE09-FE38-EE4B-A128-E9586C030A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-US" altLang="zh-CN" dirty="0"/>
              <a:t>SR-IOV</a:t>
            </a:r>
            <a:r>
              <a:rPr kumimoji="1" lang="zh-CN" altLang="en-US" dirty="0"/>
              <a:t>是</a:t>
            </a:r>
            <a:r>
              <a:rPr kumimoji="1" lang="en-US" altLang="zh-CN" dirty="0"/>
              <a:t>PCI-SIG</a:t>
            </a:r>
            <a:r>
              <a:rPr kumimoji="1" lang="zh-CN" altLang="en-US" dirty="0"/>
              <a:t>组织确定的标准</a:t>
            </a:r>
          </a:p>
          <a:p>
            <a:r>
              <a:rPr kumimoji="1" lang="zh-CN" altLang="en-US" dirty="0"/>
              <a:t>满足</a:t>
            </a:r>
            <a:r>
              <a:rPr kumimoji="1" lang="en-US" altLang="zh-CN" dirty="0"/>
              <a:t>SRIOV</a:t>
            </a:r>
            <a:r>
              <a:rPr kumimoji="1" lang="zh-CN" altLang="en-US" dirty="0"/>
              <a:t>标准的设备，在设备层实现设备复用</a:t>
            </a:r>
          </a:p>
          <a:p>
            <a:pPr lvl="1"/>
            <a:r>
              <a:rPr kumimoji="1" lang="zh-CN" altLang="en-US" dirty="0"/>
              <a:t>能够创建多个</a:t>
            </a:r>
            <a:r>
              <a:rPr kumimoji="1" lang="en-US" altLang="zh-CN" dirty="0"/>
              <a:t>Virtual Function(VF)</a:t>
            </a:r>
            <a:r>
              <a:rPr kumimoji="1" lang="zh-CN" altLang="en-US" dirty="0"/>
              <a:t>，每一个</a:t>
            </a:r>
            <a:r>
              <a:rPr kumimoji="1" lang="en-US" altLang="zh-CN" dirty="0"/>
              <a:t>VF</a:t>
            </a:r>
            <a:r>
              <a:rPr kumimoji="1" lang="zh-CN" altLang="en-US" dirty="0"/>
              <a:t>分配给一个</a:t>
            </a:r>
            <a:r>
              <a:rPr kumimoji="1" lang="en-US" altLang="zh-CN" dirty="0"/>
              <a:t>VM</a:t>
            </a:r>
          </a:p>
          <a:p>
            <a:pPr lvl="2"/>
            <a:r>
              <a:rPr kumimoji="1" lang="zh-CN" altLang="en-US" dirty="0"/>
              <a:t>负责进行数据传输，属于数据面（</a:t>
            </a:r>
            <a:r>
              <a:rPr kumimoji="1" lang="en-US" altLang="zh-CN" dirty="0"/>
              <a:t>Data-plane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物理设备被称为</a:t>
            </a:r>
            <a:r>
              <a:rPr kumimoji="1" lang="en-US" altLang="zh-CN" dirty="0"/>
              <a:t>Physical</a:t>
            </a:r>
            <a:r>
              <a:rPr kumimoji="1" lang="zh-CN" altLang="en-US" dirty="0"/>
              <a:t> </a:t>
            </a:r>
            <a:r>
              <a:rPr kumimoji="1" lang="en-US" altLang="zh-CN" dirty="0"/>
              <a:t>Function(PF)</a:t>
            </a:r>
            <a:r>
              <a:rPr kumimoji="1" lang="zh-CN" altLang="en-US" dirty="0"/>
              <a:t>，由</a:t>
            </a:r>
            <a:r>
              <a:rPr kumimoji="1" lang="en-US" altLang="zh-CN" dirty="0"/>
              <a:t>Host</a:t>
            </a:r>
            <a:r>
              <a:rPr kumimoji="1" lang="zh-CN" altLang="en-US" dirty="0"/>
              <a:t>管理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负责进行配置和管理，属于控制面（</a:t>
            </a:r>
            <a:r>
              <a:rPr kumimoji="1" lang="en-US" altLang="zh-CN" dirty="0"/>
              <a:t>Control-plane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r>
              <a:rPr kumimoji="1" lang="zh-CN" altLang="en-US" dirty="0"/>
              <a:t>设备的功能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确保</a:t>
            </a:r>
            <a:r>
              <a:rPr kumimoji="1" lang="en-US" altLang="zh-CN" dirty="0"/>
              <a:t>VF</a:t>
            </a:r>
            <a:r>
              <a:rPr kumimoji="1" lang="zh-CN" altLang="en-US" dirty="0"/>
              <a:t>之间的数据流和控制流彼此不影响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CB3598-B54E-B04F-954E-5EE5C492C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1AA923-541F-D74D-B239-F69C2E7515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713366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8C9060-F188-0D46-B87F-737C59077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SR-IOV</a:t>
            </a:r>
            <a:r>
              <a:rPr kumimoji="1" lang="zh-CN" altLang="en-US" dirty="0"/>
              <a:t>的使用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AA47B2-B4E4-E849-9A2C-D120D6D94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289FDF-633E-E744-BBB4-CA4BEAC1C5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6" name="Straight Connector 13">
            <a:extLst>
              <a:ext uri="{FF2B5EF4-FFF2-40B4-BE49-F238E27FC236}">
                <a16:creationId xmlns:a16="http://schemas.microsoft.com/office/drawing/2014/main" id="{72F6C12B-CAD3-6340-8061-79DEEAFB6356}"/>
              </a:ext>
            </a:extLst>
          </p:cNvPr>
          <p:cNvCxnSpPr>
            <a:cxnSpLocks/>
          </p:cNvCxnSpPr>
          <p:nvPr/>
        </p:nvCxnSpPr>
        <p:spPr>
          <a:xfrm>
            <a:off x="328655" y="3448559"/>
            <a:ext cx="8557857" cy="0"/>
          </a:xfrm>
          <a:prstGeom prst="line">
            <a:avLst/>
          </a:prstGeom>
          <a:ln>
            <a:solidFill>
              <a:srgbClr val="BE3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51F79600-52AE-D545-809A-A7838B86ED0C}"/>
              </a:ext>
            </a:extLst>
          </p:cNvPr>
          <p:cNvSpPr txBox="1"/>
          <p:nvPr/>
        </p:nvSpPr>
        <p:spPr>
          <a:xfrm>
            <a:off x="173544" y="2777488"/>
            <a:ext cx="1015987" cy="640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EL1</a:t>
            </a:r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6542335-664C-F545-901C-F9E9FBFA5054}"/>
              </a:ext>
            </a:extLst>
          </p:cNvPr>
          <p:cNvSpPr txBox="1"/>
          <p:nvPr/>
        </p:nvSpPr>
        <p:spPr>
          <a:xfrm>
            <a:off x="173544" y="1857386"/>
            <a:ext cx="1015987" cy="640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EL0</a:t>
            </a:r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9DDE5B9-7F4C-D244-A805-EDC0559B9298}"/>
              </a:ext>
            </a:extLst>
          </p:cNvPr>
          <p:cNvSpPr txBox="1"/>
          <p:nvPr/>
        </p:nvSpPr>
        <p:spPr>
          <a:xfrm>
            <a:off x="173544" y="3789600"/>
            <a:ext cx="1015987" cy="640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EL2</a:t>
            </a:r>
            <a:endParaRPr kumimoji="1" lang="zh-CN" altLang="en-US" dirty="0"/>
          </a:p>
        </p:txBody>
      </p:sp>
      <p:sp>
        <p:nvSpPr>
          <p:cNvPr id="10" name="Rectangle 22">
            <a:extLst>
              <a:ext uri="{FF2B5EF4-FFF2-40B4-BE49-F238E27FC236}">
                <a16:creationId xmlns:a16="http://schemas.microsoft.com/office/drawing/2014/main" id="{19B57DD1-08AC-4044-811A-F311183D49EE}"/>
              </a:ext>
            </a:extLst>
          </p:cNvPr>
          <p:cNvSpPr/>
          <p:nvPr/>
        </p:nvSpPr>
        <p:spPr>
          <a:xfrm>
            <a:off x="6452856" y="2593468"/>
            <a:ext cx="2008746" cy="502780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Network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Driver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1" name="Rectangle 27">
            <a:extLst>
              <a:ext uri="{FF2B5EF4-FFF2-40B4-BE49-F238E27FC236}">
                <a16:creationId xmlns:a16="http://schemas.microsoft.com/office/drawing/2014/main" id="{978A20BB-55D3-844B-841B-14E0EC13EB2F}"/>
              </a:ext>
            </a:extLst>
          </p:cNvPr>
          <p:cNvSpPr/>
          <p:nvPr/>
        </p:nvSpPr>
        <p:spPr>
          <a:xfrm>
            <a:off x="6454650" y="1949396"/>
            <a:ext cx="2018700" cy="460051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Network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Stack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D4BEDFD4-A080-6C48-9FCC-EE379F8BFB2D}"/>
              </a:ext>
            </a:extLst>
          </p:cNvPr>
          <p:cNvSpPr/>
          <p:nvPr/>
        </p:nvSpPr>
        <p:spPr>
          <a:xfrm>
            <a:off x="4956108" y="1489345"/>
            <a:ext cx="3688484" cy="1745043"/>
          </a:xfrm>
          <a:prstGeom prst="roundRect">
            <a:avLst>
              <a:gd name="adj" fmla="val 8447"/>
            </a:avLst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B088223-22C4-CF44-80CD-665D3C184DC7}"/>
              </a:ext>
            </a:extLst>
          </p:cNvPr>
          <p:cNvSpPr txBox="1"/>
          <p:nvPr/>
        </p:nvSpPr>
        <p:spPr>
          <a:xfrm>
            <a:off x="6362256" y="1489345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VM-2</a:t>
            </a:r>
            <a:endParaRPr kumimoji="1" lang="zh-CN" altLang="en-US" dirty="0"/>
          </a:p>
        </p:txBody>
      </p:sp>
      <p:sp>
        <p:nvSpPr>
          <p:cNvPr id="14" name="Rectangle 27">
            <a:extLst>
              <a:ext uri="{FF2B5EF4-FFF2-40B4-BE49-F238E27FC236}">
                <a16:creationId xmlns:a16="http://schemas.microsoft.com/office/drawing/2014/main" id="{DCBE8021-257E-BA4F-ACD8-2DF566C05536}"/>
              </a:ext>
            </a:extLst>
          </p:cNvPr>
          <p:cNvSpPr/>
          <p:nvPr/>
        </p:nvSpPr>
        <p:spPr>
          <a:xfrm>
            <a:off x="5148064" y="1921396"/>
            <a:ext cx="936104" cy="720080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Memory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5" name="Rectangle 22">
            <a:extLst>
              <a:ext uri="{FF2B5EF4-FFF2-40B4-BE49-F238E27FC236}">
                <a16:creationId xmlns:a16="http://schemas.microsoft.com/office/drawing/2014/main" id="{AA99FFF0-3F64-4F4D-9F8D-8B8C6D16B298}"/>
              </a:ext>
            </a:extLst>
          </p:cNvPr>
          <p:cNvSpPr/>
          <p:nvPr/>
        </p:nvSpPr>
        <p:spPr>
          <a:xfrm>
            <a:off x="2534388" y="2593469"/>
            <a:ext cx="2008746" cy="502780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Network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Driver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6" name="Rectangle 27">
            <a:extLst>
              <a:ext uri="{FF2B5EF4-FFF2-40B4-BE49-F238E27FC236}">
                <a16:creationId xmlns:a16="http://schemas.microsoft.com/office/drawing/2014/main" id="{E5140C7C-EF00-514C-9D4C-FDC5FDDCB2B5}"/>
              </a:ext>
            </a:extLst>
          </p:cNvPr>
          <p:cNvSpPr/>
          <p:nvPr/>
        </p:nvSpPr>
        <p:spPr>
          <a:xfrm>
            <a:off x="2536182" y="1949397"/>
            <a:ext cx="2018700" cy="460051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Network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Stack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FD5784FC-442C-3A43-9195-549889C44431}"/>
              </a:ext>
            </a:extLst>
          </p:cNvPr>
          <p:cNvSpPr/>
          <p:nvPr/>
        </p:nvSpPr>
        <p:spPr>
          <a:xfrm>
            <a:off x="1037640" y="1489346"/>
            <a:ext cx="3688484" cy="1745043"/>
          </a:xfrm>
          <a:prstGeom prst="roundRect">
            <a:avLst>
              <a:gd name="adj" fmla="val 8447"/>
            </a:avLst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998F852-6423-5B4A-A7EE-94C83E6A047D}"/>
              </a:ext>
            </a:extLst>
          </p:cNvPr>
          <p:cNvSpPr txBox="1"/>
          <p:nvPr/>
        </p:nvSpPr>
        <p:spPr>
          <a:xfrm>
            <a:off x="2443788" y="1489346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VM-1</a:t>
            </a:r>
            <a:endParaRPr kumimoji="1" lang="zh-CN" altLang="en-US" dirty="0"/>
          </a:p>
        </p:txBody>
      </p:sp>
      <p:sp>
        <p:nvSpPr>
          <p:cNvPr id="19" name="Rectangle 27">
            <a:extLst>
              <a:ext uri="{FF2B5EF4-FFF2-40B4-BE49-F238E27FC236}">
                <a16:creationId xmlns:a16="http://schemas.microsoft.com/office/drawing/2014/main" id="{7C4C3575-BEB2-694F-B255-4F39A2BB6C86}"/>
              </a:ext>
            </a:extLst>
          </p:cNvPr>
          <p:cNvSpPr/>
          <p:nvPr/>
        </p:nvSpPr>
        <p:spPr>
          <a:xfrm>
            <a:off x="1229596" y="1921397"/>
            <a:ext cx="936104" cy="720080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Memory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7AFB6CE6-63F3-B846-8108-35C89F14C4A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51920" y="4153644"/>
            <a:ext cx="1514122" cy="1125892"/>
          </a:xfrm>
          <a:prstGeom prst="rect">
            <a:avLst/>
          </a:prstGeom>
        </p:spPr>
      </p:pic>
      <p:cxnSp>
        <p:nvCxnSpPr>
          <p:cNvPr id="21" name="肘形连接符 20">
            <a:extLst>
              <a:ext uri="{FF2B5EF4-FFF2-40B4-BE49-F238E27FC236}">
                <a16:creationId xmlns:a16="http://schemas.microsoft.com/office/drawing/2014/main" id="{1D0E3420-AA0C-0E4D-8DBA-94BDF2016540}"/>
              </a:ext>
            </a:extLst>
          </p:cNvPr>
          <p:cNvCxnSpPr>
            <a:cxnSpLocks/>
            <a:endCxn id="23" idx="2"/>
          </p:cNvCxnSpPr>
          <p:nvPr/>
        </p:nvCxnSpPr>
        <p:spPr>
          <a:xfrm rot="10800000">
            <a:off x="1633638" y="3199688"/>
            <a:ext cx="2506315" cy="1602029"/>
          </a:xfrm>
          <a:prstGeom prst="bentConnector2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512B7B0D-4CEC-1A45-B0B8-DD388352074C}"/>
              </a:ext>
            </a:extLst>
          </p:cNvPr>
          <p:cNvSpPr/>
          <p:nvPr/>
        </p:nvSpPr>
        <p:spPr>
          <a:xfrm>
            <a:off x="4139952" y="4729708"/>
            <a:ext cx="375097" cy="194320"/>
          </a:xfrm>
          <a:prstGeom prst="rect">
            <a:avLst/>
          </a:prstGeom>
          <a:ln>
            <a:solidFill>
              <a:srgbClr val="BE384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5F79B8E3-1993-DF44-9DDB-7CE9E4709C5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03648" y="2785492"/>
            <a:ext cx="459977" cy="414195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3588E6FE-AF3A-3D40-AC60-ED531F5B2E2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36096" y="2713484"/>
            <a:ext cx="459977" cy="414195"/>
          </a:xfrm>
          <a:prstGeom prst="rect">
            <a:avLst/>
          </a:prstGeom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0103FAE4-10A9-CB4F-BC3F-C7DA0530AE42}"/>
              </a:ext>
            </a:extLst>
          </p:cNvPr>
          <p:cNvSpPr/>
          <p:nvPr/>
        </p:nvSpPr>
        <p:spPr>
          <a:xfrm>
            <a:off x="4932040" y="4729708"/>
            <a:ext cx="375097" cy="194320"/>
          </a:xfrm>
          <a:prstGeom prst="rect">
            <a:avLst/>
          </a:prstGeom>
          <a:solidFill>
            <a:srgbClr val="FFFF99"/>
          </a:solidFill>
          <a:ln>
            <a:solidFill>
              <a:srgbClr val="FFF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/>
          </a:p>
        </p:txBody>
      </p:sp>
      <p:cxnSp>
        <p:nvCxnSpPr>
          <p:cNvPr id="26" name="肘形连接符 25">
            <a:extLst>
              <a:ext uri="{FF2B5EF4-FFF2-40B4-BE49-F238E27FC236}">
                <a16:creationId xmlns:a16="http://schemas.microsoft.com/office/drawing/2014/main" id="{507C4335-E890-E544-8582-D31641D3D5D4}"/>
              </a:ext>
            </a:extLst>
          </p:cNvPr>
          <p:cNvCxnSpPr>
            <a:cxnSpLocks/>
            <a:stCxn id="25" idx="3"/>
            <a:endCxn id="24" idx="2"/>
          </p:cNvCxnSpPr>
          <p:nvPr/>
        </p:nvCxnSpPr>
        <p:spPr>
          <a:xfrm flipV="1">
            <a:off x="5307137" y="3127679"/>
            <a:ext cx="358948" cy="1699189"/>
          </a:xfrm>
          <a:prstGeom prst="bentConnector2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6F5965D3-BAED-6C4E-B49E-232A5A691F75}"/>
              </a:ext>
            </a:extLst>
          </p:cNvPr>
          <p:cNvSpPr txBox="1"/>
          <p:nvPr/>
        </p:nvSpPr>
        <p:spPr>
          <a:xfrm>
            <a:off x="1835696" y="2857500"/>
            <a:ext cx="3818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VF</a:t>
            </a:r>
            <a:endParaRPr kumimoji="1" lang="zh-CN" altLang="en-US" sz="12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08051E3-8D53-6142-AFED-F6DE3126E296}"/>
              </a:ext>
            </a:extLst>
          </p:cNvPr>
          <p:cNvSpPr txBox="1"/>
          <p:nvPr/>
        </p:nvSpPr>
        <p:spPr>
          <a:xfrm>
            <a:off x="5868144" y="2785492"/>
            <a:ext cx="3818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VF</a:t>
            </a:r>
            <a:endParaRPr kumimoji="1" lang="zh-CN" altLang="en-US" sz="1200" dirty="0"/>
          </a:p>
        </p:txBody>
      </p:sp>
      <p:sp>
        <p:nvSpPr>
          <p:cNvPr id="29" name="Rectangle 22">
            <a:extLst>
              <a:ext uri="{FF2B5EF4-FFF2-40B4-BE49-F238E27FC236}">
                <a16:creationId xmlns:a16="http://schemas.microsoft.com/office/drawing/2014/main" id="{AF3553DF-E7EE-1F47-B70F-C348958D3C3D}"/>
              </a:ext>
            </a:extLst>
          </p:cNvPr>
          <p:cNvSpPr/>
          <p:nvPr/>
        </p:nvSpPr>
        <p:spPr>
          <a:xfrm>
            <a:off x="1331640" y="3649588"/>
            <a:ext cx="4896544" cy="360040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Host</a:t>
            </a:r>
            <a:r>
              <a:rPr lang="zh-CN" altLang="en-US" sz="1600" dirty="0">
                <a:solidFill>
                  <a:schemeClr val="bg1"/>
                </a:solidFill>
                <a:cs typeface="Arial Narrow"/>
              </a:rPr>
              <a:t>负责</a:t>
            </a:r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PF</a:t>
            </a:r>
            <a:r>
              <a:rPr lang="zh-CN" altLang="en-US" sz="1600" dirty="0">
                <a:solidFill>
                  <a:schemeClr val="bg1"/>
                </a:solidFill>
                <a:cs typeface="Arial Narrow"/>
              </a:rPr>
              <a:t>管理，</a:t>
            </a:r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IOMMU</a:t>
            </a:r>
            <a:r>
              <a:rPr lang="zh-CN" altLang="en-US" sz="1600" dirty="0">
                <a:solidFill>
                  <a:schemeClr val="bg1"/>
                </a:solidFill>
                <a:cs typeface="Arial Narrow"/>
              </a:rPr>
              <a:t>配置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B94B0A2-9721-9040-8CD6-76E353A4C9D5}"/>
              </a:ext>
            </a:extLst>
          </p:cNvPr>
          <p:cNvSpPr txBox="1"/>
          <p:nvPr/>
        </p:nvSpPr>
        <p:spPr>
          <a:xfrm>
            <a:off x="4139952" y="5161756"/>
            <a:ext cx="10631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Physical</a:t>
            </a:r>
            <a:r>
              <a:rPr kumimoji="1" lang="zh-CN" altLang="en-US" sz="1200" dirty="0"/>
              <a:t> </a:t>
            </a:r>
            <a:r>
              <a:rPr kumimoji="1" lang="en-US" altLang="zh-CN" sz="1200" dirty="0"/>
              <a:t>NIC</a:t>
            </a:r>
            <a:endParaRPr kumimoji="1"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6543662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8A4430-B688-5143-8AC7-75D5ABFF3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设备直通的优缺点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EE610B-74D6-014D-BC0C-94BDC74175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优点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性能优越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简化</a:t>
            </a:r>
            <a:r>
              <a:rPr kumimoji="1" lang="en-US" altLang="zh-CN" dirty="0"/>
              <a:t>VMM</a:t>
            </a:r>
            <a:r>
              <a:rPr kumimoji="1" lang="zh-CN" altLang="en-US" dirty="0"/>
              <a:t>的设计与实现</a:t>
            </a:r>
            <a:endParaRPr kumimoji="1" lang="en-US" altLang="zh-CN" dirty="0"/>
          </a:p>
          <a:p>
            <a:r>
              <a:rPr kumimoji="1" lang="zh-CN" altLang="en-US" dirty="0"/>
              <a:t>缺点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需要特定硬件功能的支持（</a:t>
            </a:r>
            <a:r>
              <a:rPr kumimoji="1" lang="en-US" altLang="zh-CN" dirty="0"/>
              <a:t>IOMMU</a:t>
            </a:r>
            <a:r>
              <a:rPr kumimoji="1" lang="zh-CN" altLang="en-US" dirty="0"/>
              <a:t>、</a:t>
            </a:r>
            <a:r>
              <a:rPr kumimoji="1" lang="en-US" altLang="zh-CN" dirty="0"/>
              <a:t>SRIOV</a:t>
            </a:r>
            <a:r>
              <a:rPr kumimoji="1" lang="zh-CN" altLang="en-US" dirty="0"/>
              <a:t>等）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不能实现</a:t>
            </a:r>
            <a:r>
              <a:rPr kumimoji="1" lang="en-US" altLang="zh-CN" dirty="0"/>
              <a:t>Interposition</a:t>
            </a:r>
            <a:r>
              <a:rPr kumimoji="1" lang="zh-CN" altLang="en-US" dirty="0"/>
              <a:t>：难以支持虚拟机热迁移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A5DA1A3-51CB-F640-BA86-BC396DF13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E8AED1-4053-5148-BCC4-969A1771D6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9754393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B259BB-9EF0-7441-A235-93B2B75F6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I/O</a:t>
            </a:r>
            <a:r>
              <a:rPr kumimoji="1" lang="zh-CN" altLang="en-US" dirty="0"/>
              <a:t>虚拟化技术对比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C701A1-0156-5A42-AEAC-8F7019DFC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43FB31-102B-894A-9EAA-A3EDA51D3F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342E3919-E598-BD4D-9298-B3CEBCCF2176}"/>
              </a:ext>
            </a:extLst>
          </p:cNvPr>
          <p:cNvGraphicFramePr>
            <a:graphicFrameLocks noGrp="1"/>
          </p:cNvGraphicFramePr>
          <p:nvPr/>
        </p:nvGraphicFramePr>
        <p:xfrm>
          <a:off x="467544" y="1633364"/>
          <a:ext cx="828092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4563">
                  <a:extLst>
                    <a:ext uri="{9D8B030D-6E8A-4147-A177-3AD203B41FA5}">
                      <a16:colId xmlns:a16="http://schemas.microsoft.com/office/drawing/2014/main" val="1448110210"/>
                    </a:ext>
                  </a:extLst>
                </a:gridCol>
                <a:gridCol w="1865897">
                  <a:extLst>
                    <a:ext uri="{9D8B030D-6E8A-4147-A177-3AD203B41FA5}">
                      <a16:colId xmlns:a16="http://schemas.microsoft.com/office/drawing/2014/main" val="2174093866"/>
                    </a:ext>
                  </a:extLst>
                </a:gridCol>
                <a:gridCol w="2070230">
                  <a:extLst>
                    <a:ext uri="{9D8B030D-6E8A-4147-A177-3AD203B41FA5}">
                      <a16:colId xmlns:a16="http://schemas.microsoft.com/office/drawing/2014/main" val="3967562975"/>
                    </a:ext>
                  </a:extLst>
                </a:gridCol>
                <a:gridCol w="2070230">
                  <a:extLst>
                    <a:ext uri="{9D8B030D-6E8A-4147-A177-3AD203B41FA5}">
                      <a16:colId xmlns:a16="http://schemas.microsoft.com/office/drawing/2014/main" val="31460104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设备模拟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半虚拟化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设备直通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181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性能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130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修改虚拟机内核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驱动</a:t>
                      </a:r>
                      <a:r>
                        <a:rPr lang="en-US" altLang="zh-CN" dirty="0"/>
                        <a:t>+</a:t>
                      </a:r>
                      <a:r>
                        <a:rPr lang="zh-CN" altLang="en-US" dirty="0"/>
                        <a:t>修改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安装</a:t>
                      </a:r>
                      <a:r>
                        <a:rPr lang="en-US" altLang="zh-CN" dirty="0"/>
                        <a:t>VF</a:t>
                      </a:r>
                      <a:r>
                        <a:rPr lang="zh-CN" altLang="en-US" dirty="0"/>
                        <a:t>驱动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0983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VMM</a:t>
                      </a:r>
                      <a:r>
                        <a:rPr lang="zh-CN" altLang="en-US" dirty="0"/>
                        <a:t>复杂度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9266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Interposition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5226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是否依赖硬件功能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是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1583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支持老版本</a:t>
                      </a:r>
                      <a:r>
                        <a:rPr lang="en-US" altLang="zh-CN" dirty="0"/>
                        <a:t>OS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60565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986181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8EEA61-0EA9-BB4D-A99A-73C82832C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中断虚拟化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2A9BF8-8F21-4146-BE2E-550B5CD415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-US" altLang="zh-CN" dirty="0"/>
              <a:t>VMM</a:t>
            </a:r>
            <a:r>
              <a:rPr kumimoji="1" lang="zh-CN" altLang="en-US" dirty="0"/>
              <a:t>在完成</a:t>
            </a:r>
            <a:r>
              <a:rPr kumimoji="1" lang="en-US" altLang="zh-CN" dirty="0"/>
              <a:t>I/O</a:t>
            </a:r>
            <a:r>
              <a:rPr kumimoji="1" lang="zh-CN" altLang="en-US" dirty="0"/>
              <a:t>操作后通知</a:t>
            </a:r>
            <a:r>
              <a:rPr kumimoji="1" lang="en-US" altLang="zh-CN" dirty="0"/>
              <a:t>VM</a:t>
            </a:r>
          </a:p>
          <a:p>
            <a:pPr lvl="1"/>
            <a:r>
              <a:rPr kumimoji="1" lang="zh-CN" altLang="en-US" dirty="0"/>
              <a:t>例如在</a:t>
            </a:r>
            <a:r>
              <a:rPr kumimoji="1" lang="en-US" altLang="zh-CN" dirty="0"/>
              <a:t>DMA</a:t>
            </a:r>
            <a:r>
              <a:rPr kumimoji="1" lang="zh-CN" altLang="en-US" dirty="0"/>
              <a:t>操作之后</a:t>
            </a:r>
            <a:endParaRPr kumimoji="1" lang="en-US" altLang="zh-CN" dirty="0"/>
          </a:p>
          <a:p>
            <a:r>
              <a:rPr kumimoji="1" lang="en-US" altLang="zh-CN" dirty="0"/>
              <a:t>VMM</a:t>
            </a:r>
            <a:r>
              <a:rPr kumimoji="1" lang="zh-CN" altLang="en-US" dirty="0"/>
              <a:t>在</a:t>
            </a:r>
            <a:r>
              <a:rPr kumimoji="1" lang="en-US" altLang="zh-CN" dirty="0"/>
              <a:t>VM</a:t>
            </a:r>
            <a:r>
              <a:rPr kumimoji="1" lang="zh-CN" altLang="en-US" dirty="0"/>
              <a:t> </a:t>
            </a:r>
            <a:r>
              <a:rPr kumimoji="1" lang="en-US" altLang="zh-CN" dirty="0"/>
              <a:t>Entry</a:t>
            </a:r>
            <a:r>
              <a:rPr kumimoji="1" lang="zh-CN" altLang="en-US" dirty="0"/>
              <a:t>时插入虚拟中断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VM</a:t>
            </a:r>
            <a:r>
              <a:rPr kumimoji="1" lang="zh-CN" altLang="en-US" dirty="0"/>
              <a:t>的中断处理函数会被调用</a:t>
            </a:r>
            <a:endParaRPr kumimoji="1" lang="en-US" altLang="zh-CN" dirty="0"/>
          </a:p>
          <a:p>
            <a:r>
              <a:rPr kumimoji="1" lang="zh-CN" altLang="en-US" dirty="0"/>
              <a:t>虚拟中断类型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时钟中断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核间中断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外部中断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978841-E350-5743-83B6-E92DB0EDA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880C03-196E-1E47-82E7-8D00CFBD87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648793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D04737-C783-A84D-B9F8-D53096F42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ARM</a:t>
            </a:r>
            <a:r>
              <a:rPr kumimoji="1" lang="zh-CN" altLang="en-US" dirty="0"/>
              <a:t>中断虚拟化的实现方法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88A0FC-7BA7-CC44-B477-CC660A7675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打断虚拟机执行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通过</a:t>
            </a:r>
            <a:r>
              <a:rPr kumimoji="1" lang="en-US" altLang="zh-CN" dirty="0"/>
              <a:t>List</a:t>
            </a:r>
            <a:r>
              <a:rPr kumimoji="1" lang="zh-CN" altLang="en-US" dirty="0"/>
              <a:t> </a:t>
            </a:r>
            <a:r>
              <a:rPr kumimoji="1" lang="en-US" altLang="zh-CN" dirty="0"/>
              <a:t>Register</a:t>
            </a:r>
            <a:r>
              <a:rPr kumimoji="1" lang="zh-CN" altLang="en-US" dirty="0"/>
              <a:t>插入</a:t>
            </a:r>
            <a:endParaRPr kumimoji="1" lang="en-US" altLang="zh-CN" dirty="0"/>
          </a:p>
          <a:p>
            <a:r>
              <a:rPr kumimoji="1" lang="zh-CN" altLang="en-US" dirty="0"/>
              <a:t>不打断虚拟机执行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通过</a:t>
            </a:r>
            <a:r>
              <a:rPr kumimoji="1" lang="en-US" altLang="zh-CN" dirty="0"/>
              <a:t>GIC</a:t>
            </a:r>
            <a:r>
              <a:rPr kumimoji="1" lang="zh-CN" altLang="en-US" dirty="0"/>
              <a:t> </a:t>
            </a:r>
            <a:r>
              <a:rPr kumimoji="1" lang="en-US" altLang="zh-CN" dirty="0"/>
              <a:t>ITS</a:t>
            </a:r>
            <a:r>
              <a:rPr kumimoji="1" lang="zh-CN" altLang="en-US" dirty="0"/>
              <a:t>插入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E6701B-5BB7-6947-BD49-FB34712F8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AEE333-DC7D-5A4D-ADC7-3FA61B7E99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8656412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39110E-CA26-FA45-A610-6EF67FEEF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回顾</a:t>
            </a:r>
            <a:r>
              <a:rPr kumimoji="1" lang="en-US" altLang="zh-CN" dirty="0"/>
              <a:t>GIC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0338E5-A7A1-1246-8156-CC2BA21EB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CB45BB-042C-4642-9639-5811D8DD28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45E3793A-6973-264D-9EC6-5A4225B6ACB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1800" y="625252"/>
            <a:ext cx="5964881" cy="4484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23462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397334-2E97-DC47-A847-266B0B297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Virtual</a:t>
            </a:r>
            <a:r>
              <a:rPr kumimoji="1" lang="zh-CN" altLang="en-US" dirty="0"/>
              <a:t> </a:t>
            </a:r>
            <a:r>
              <a:rPr kumimoji="1" lang="en-US" altLang="zh-CN" dirty="0"/>
              <a:t>CPU</a:t>
            </a:r>
            <a:r>
              <a:rPr kumimoji="1" lang="zh-CN" altLang="en-US" dirty="0"/>
              <a:t> </a:t>
            </a:r>
            <a:r>
              <a:rPr kumimoji="1" lang="en-US" altLang="zh-CN" dirty="0"/>
              <a:t>Interface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FB96B8-6058-F149-9A49-06A2AE7A6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000" dirty="0"/>
              <a:t>GIC</a:t>
            </a:r>
            <a:r>
              <a:rPr kumimoji="1" lang="zh-CN" altLang="en-US" sz="2000" dirty="0"/>
              <a:t>为虚拟机提供的硬件功能</a:t>
            </a:r>
            <a:endParaRPr kumimoji="1" lang="en-US" altLang="zh-CN" sz="2000" dirty="0"/>
          </a:p>
          <a:p>
            <a:pPr lvl="1"/>
            <a:r>
              <a:rPr kumimoji="1" lang="en-US" altLang="zh-CN" sz="1800" dirty="0"/>
              <a:t>VM</a:t>
            </a:r>
            <a:r>
              <a:rPr kumimoji="1" lang="zh-CN" altLang="en-US" sz="1800" dirty="0"/>
              <a:t>通过</a:t>
            </a:r>
            <a:r>
              <a:rPr kumimoji="1" lang="en-US" altLang="zh-CN" sz="1800" dirty="0"/>
              <a:t>Virtual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CPU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Interface</a:t>
            </a:r>
            <a:r>
              <a:rPr kumimoji="1" lang="zh-CN" altLang="en-US" sz="1800" dirty="0"/>
              <a:t>与</a:t>
            </a:r>
            <a:r>
              <a:rPr kumimoji="1" lang="en-US" altLang="zh-CN" sz="1800" dirty="0"/>
              <a:t>GIC</a:t>
            </a:r>
            <a:r>
              <a:rPr kumimoji="1" lang="zh-CN" altLang="en-US" sz="1800" dirty="0"/>
              <a:t>交互</a:t>
            </a:r>
            <a:endParaRPr kumimoji="1" lang="en-US" altLang="zh-CN" sz="1800" dirty="0"/>
          </a:p>
          <a:p>
            <a:pPr lvl="1"/>
            <a:r>
              <a:rPr kumimoji="1" lang="en-US" altLang="zh-CN" sz="1800" dirty="0"/>
              <a:t>VMM</a:t>
            </a:r>
            <a:r>
              <a:rPr kumimoji="1" lang="zh-CN" altLang="en-US" sz="1800" dirty="0"/>
              <a:t>通过</a:t>
            </a:r>
            <a:r>
              <a:rPr kumimoji="1" lang="en-US" altLang="zh-CN" sz="1800" dirty="0"/>
              <a:t>Physical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CPU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Interface</a:t>
            </a:r>
            <a:r>
              <a:rPr kumimoji="1" lang="zh-CN" altLang="en-US" sz="1800" dirty="0"/>
              <a:t>与</a:t>
            </a:r>
            <a:r>
              <a:rPr kumimoji="1" lang="en-US" altLang="zh-CN" sz="1800" dirty="0"/>
              <a:t>GIC</a:t>
            </a:r>
            <a:r>
              <a:rPr kumimoji="1" lang="zh-CN" altLang="en-US" sz="1800" dirty="0"/>
              <a:t>交互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34C76D9-7784-8041-BF1C-CBDFD1F7C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CC8BE8-0CBA-F04C-955A-A3DF9DAB88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5580C66-BB4E-C444-A53D-B290B6DDED58}"/>
              </a:ext>
            </a:extLst>
          </p:cNvPr>
          <p:cNvSpPr/>
          <p:nvPr/>
        </p:nvSpPr>
        <p:spPr>
          <a:xfrm>
            <a:off x="2123728" y="3721596"/>
            <a:ext cx="1440160" cy="7200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Virtual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CPU</a:t>
            </a:r>
          </a:p>
          <a:p>
            <a:pPr algn="ctr"/>
            <a:r>
              <a:rPr kumimoji="1" lang="en-US" altLang="zh-CN" sz="1400" dirty="0"/>
              <a:t>Interface</a:t>
            </a:r>
            <a:endParaRPr kumimoji="1" lang="zh-CN" altLang="en-US" sz="14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E302C63-D17D-C047-BFD5-4A0132232BED}"/>
              </a:ext>
            </a:extLst>
          </p:cNvPr>
          <p:cNvSpPr/>
          <p:nvPr/>
        </p:nvSpPr>
        <p:spPr>
          <a:xfrm>
            <a:off x="2123728" y="4657700"/>
            <a:ext cx="3384376" cy="4474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Distributor</a:t>
            </a:r>
            <a:endParaRPr kumimoji="1"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B357FDB-51FE-0B47-B326-9433BA4B2175}"/>
              </a:ext>
            </a:extLst>
          </p:cNvPr>
          <p:cNvSpPr/>
          <p:nvPr/>
        </p:nvSpPr>
        <p:spPr>
          <a:xfrm>
            <a:off x="4067944" y="3721596"/>
            <a:ext cx="1440160" cy="7200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Physical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CPU</a:t>
            </a:r>
          </a:p>
          <a:p>
            <a:pPr algn="ctr"/>
            <a:r>
              <a:rPr kumimoji="1" lang="en-US" altLang="zh-CN" sz="1400" dirty="0"/>
              <a:t>Interface</a:t>
            </a:r>
            <a:endParaRPr kumimoji="1" lang="zh-CN" altLang="en-US" sz="1400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885B72C-2630-2047-B634-151D7685A5E0}"/>
              </a:ext>
            </a:extLst>
          </p:cNvPr>
          <p:cNvSpPr/>
          <p:nvPr/>
        </p:nvSpPr>
        <p:spPr>
          <a:xfrm>
            <a:off x="1979712" y="2857500"/>
            <a:ext cx="3672408" cy="648072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FBBF0DD-772A-8F4C-8835-D7FEED013C59}"/>
              </a:ext>
            </a:extLst>
          </p:cNvPr>
          <p:cNvSpPr txBox="1"/>
          <p:nvPr/>
        </p:nvSpPr>
        <p:spPr>
          <a:xfrm>
            <a:off x="1334343" y="2979884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CPU</a:t>
            </a:r>
            <a:endParaRPr kumimoji="1"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DC5E16F-B3C9-3E44-9C24-312E2929BF98}"/>
              </a:ext>
            </a:extLst>
          </p:cNvPr>
          <p:cNvSpPr/>
          <p:nvPr/>
        </p:nvSpPr>
        <p:spPr>
          <a:xfrm>
            <a:off x="2339752" y="3001516"/>
            <a:ext cx="999728" cy="2964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VM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8EBD821-7C7A-904A-B1F6-B30920AF3A65}"/>
              </a:ext>
            </a:extLst>
          </p:cNvPr>
          <p:cNvSpPr/>
          <p:nvPr/>
        </p:nvSpPr>
        <p:spPr>
          <a:xfrm>
            <a:off x="4283968" y="3001516"/>
            <a:ext cx="999728" cy="2964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VMM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FE087768-3B8C-E54A-99CF-B64B505AF060}"/>
              </a:ext>
            </a:extLst>
          </p:cNvPr>
          <p:cNvCxnSpPr/>
          <p:nvPr/>
        </p:nvCxnSpPr>
        <p:spPr>
          <a:xfrm>
            <a:off x="4788024" y="3289548"/>
            <a:ext cx="0" cy="432048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0B935EE1-72C5-AF49-8028-BD24EF225705}"/>
              </a:ext>
            </a:extLst>
          </p:cNvPr>
          <p:cNvCxnSpPr/>
          <p:nvPr/>
        </p:nvCxnSpPr>
        <p:spPr>
          <a:xfrm>
            <a:off x="2843808" y="3289548"/>
            <a:ext cx="0" cy="432048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D14DF22E-ABD5-E643-A78E-CB7BC4AA323D}"/>
              </a:ext>
            </a:extLst>
          </p:cNvPr>
          <p:cNvCxnSpPr/>
          <p:nvPr/>
        </p:nvCxnSpPr>
        <p:spPr>
          <a:xfrm>
            <a:off x="2843808" y="4369668"/>
            <a:ext cx="0" cy="432048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8FE0F8DD-6CE4-2440-8A91-35391672E85A}"/>
              </a:ext>
            </a:extLst>
          </p:cNvPr>
          <p:cNvCxnSpPr/>
          <p:nvPr/>
        </p:nvCxnSpPr>
        <p:spPr>
          <a:xfrm>
            <a:off x="4860032" y="4369668"/>
            <a:ext cx="0" cy="432048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71B35DBE-0D76-CA40-AB93-D44F5D832BC9}"/>
              </a:ext>
            </a:extLst>
          </p:cNvPr>
          <p:cNvSpPr/>
          <p:nvPr/>
        </p:nvSpPr>
        <p:spPr>
          <a:xfrm>
            <a:off x="1979712" y="3649588"/>
            <a:ext cx="3672408" cy="1599565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362A353-EBB7-E143-8CD9-76C59752DA0B}"/>
              </a:ext>
            </a:extLst>
          </p:cNvPr>
          <p:cNvSpPr txBox="1"/>
          <p:nvPr/>
        </p:nvSpPr>
        <p:spPr>
          <a:xfrm>
            <a:off x="1331640" y="4369668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GIC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565108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0EF5FB-8C2B-6B44-B8D3-D4B15EA73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插入虚拟中断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1C5AD8-1F77-D949-A87D-07175F065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通过</a:t>
            </a:r>
            <a:r>
              <a:rPr kumimoji="1" lang="en-US" altLang="zh-CN" dirty="0"/>
              <a:t>GIC</a:t>
            </a:r>
            <a:r>
              <a:rPr kumimoji="1" lang="zh-CN" altLang="en-US" dirty="0"/>
              <a:t> </a:t>
            </a:r>
            <a:r>
              <a:rPr kumimoji="1" lang="en-US" altLang="zh-CN" dirty="0"/>
              <a:t>List</a:t>
            </a:r>
            <a:r>
              <a:rPr kumimoji="1" lang="zh-CN" altLang="en-US" dirty="0"/>
              <a:t> </a:t>
            </a:r>
            <a:r>
              <a:rPr kumimoji="1" lang="en-US" altLang="zh-CN" dirty="0"/>
              <a:t>Register</a:t>
            </a:r>
            <a:r>
              <a:rPr lang="zh-CN" altLang="en-US" dirty="0"/>
              <a:t>插入中断</a:t>
            </a:r>
            <a:endParaRPr lang="en-US" altLang="zh-CN" dirty="0"/>
          </a:p>
          <a:p>
            <a:pPr lvl="1"/>
            <a:r>
              <a:rPr lang="zh-CN" altLang="en-US" dirty="0"/>
              <a:t>共有</a:t>
            </a:r>
            <a:r>
              <a:rPr lang="en-US" altLang="zh-CN" dirty="0"/>
              <a:t>16</a:t>
            </a:r>
            <a:r>
              <a:rPr lang="zh-CN" altLang="en-US" dirty="0"/>
              <a:t>个</a:t>
            </a:r>
            <a:r>
              <a:rPr lang="en-US" altLang="zh-CN" dirty="0"/>
              <a:t>List</a:t>
            </a:r>
            <a:r>
              <a:rPr lang="zh-CN" altLang="en-US" dirty="0"/>
              <a:t> </a:t>
            </a:r>
            <a:r>
              <a:rPr lang="en-US" altLang="zh-CN" dirty="0"/>
              <a:t>Register</a:t>
            </a:r>
          </a:p>
          <a:p>
            <a:pPr lvl="1"/>
            <a:r>
              <a:rPr lang="en-US" altLang="zh-CN" dirty="0"/>
              <a:t>ICH_LR&lt;n&gt;_EL2 (n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0…15)</a:t>
            </a:r>
          </a:p>
          <a:p>
            <a:pPr lvl="1"/>
            <a:endParaRPr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B38A89-C066-6042-AECA-B16F6CC46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FA3DF3-F1DB-9F4D-8742-26453C4A27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1C3C02F-955E-0E4B-A26D-C101EC9B19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3217540"/>
            <a:ext cx="8915400" cy="16891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AF614F6D-917F-B14E-9B9A-EE2CFCB110A0}"/>
              </a:ext>
            </a:extLst>
          </p:cNvPr>
          <p:cNvSpPr/>
          <p:nvPr/>
        </p:nvSpPr>
        <p:spPr>
          <a:xfrm>
            <a:off x="6012160" y="3505572"/>
            <a:ext cx="2880320" cy="770384"/>
          </a:xfrm>
          <a:prstGeom prst="rect">
            <a:avLst/>
          </a:prstGeom>
          <a:noFill/>
          <a:ln w="38100">
            <a:solidFill>
              <a:srgbClr val="BE384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ADB37FA-8229-CC49-B124-1457B2CF1029}"/>
              </a:ext>
            </a:extLst>
          </p:cNvPr>
          <p:cNvSpPr txBox="1"/>
          <p:nvPr/>
        </p:nvSpPr>
        <p:spPr>
          <a:xfrm>
            <a:off x="6876256" y="444167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虚拟中断号</a:t>
            </a:r>
          </a:p>
        </p:txBody>
      </p:sp>
    </p:spTree>
    <p:extLst>
      <p:ext uri="{BB962C8B-B14F-4D97-AF65-F5344CB8AC3E}">
        <p14:creationId xmlns:p14="http://schemas.microsoft.com/office/powerpoint/2010/main" val="324941846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C976D6-6C1D-FB4C-8C36-C64B8C81F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插入虚拟中断：以半虚拟化举例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E7543A-49C3-C245-93D7-B10AD3D76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615BFF-4A66-A642-81DA-20F82FFD12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Rectangle 22">
            <a:extLst>
              <a:ext uri="{FF2B5EF4-FFF2-40B4-BE49-F238E27FC236}">
                <a16:creationId xmlns:a16="http://schemas.microsoft.com/office/drawing/2014/main" id="{61A830D0-2BC2-6A46-BAAC-C62EDC1FB374}"/>
              </a:ext>
            </a:extLst>
          </p:cNvPr>
          <p:cNvSpPr/>
          <p:nvPr/>
        </p:nvSpPr>
        <p:spPr>
          <a:xfrm>
            <a:off x="1134776" y="3769600"/>
            <a:ext cx="3316857" cy="552063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Linux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7" name="Rectangle 27">
            <a:extLst>
              <a:ext uri="{FF2B5EF4-FFF2-40B4-BE49-F238E27FC236}">
                <a16:creationId xmlns:a16="http://schemas.microsoft.com/office/drawing/2014/main" id="{5F1333A8-7187-7C46-A79A-274E8CE388B6}"/>
              </a:ext>
            </a:extLst>
          </p:cNvPr>
          <p:cNvSpPr/>
          <p:nvPr/>
        </p:nvSpPr>
        <p:spPr>
          <a:xfrm>
            <a:off x="1124824" y="1849389"/>
            <a:ext cx="3284547" cy="632070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QEMU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8" name="Straight Connector 13">
            <a:extLst>
              <a:ext uri="{FF2B5EF4-FFF2-40B4-BE49-F238E27FC236}">
                <a16:creationId xmlns:a16="http://schemas.microsoft.com/office/drawing/2014/main" id="{AAD69BD2-D525-E144-B181-EE6D0BC1E88F}"/>
              </a:ext>
            </a:extLst>
          </p:cNvPr>
          <p:cNvCxnSpPr>
            <a:cxnSpLocks/>
          </p:cNvCxnSpPr>
          <p:nvPr/>
        </p:nvCxnSpPr>
        <p:spPr>
          <a:xfrm>
            <a:off x="283345" y="3520570"/>
            <a:ext cx="8557857" cy="0"/>
          </a:xfrm>
          <a:prstGeom prst="line">
            <a:avLst/>
          </a:prstGeom>
          <a:ln>
            <a:solidFill>
              <a:srgbClr val="BE3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FE88D475-6193-4B47-A0BA-E5EA569CDBAE}"/>
              </a:ext>
            </a:extLst>
          </p:cNvPr>
          <p:cNvSpPr txBox="1"/>
          <p:nvPr/>
        </p:nvSpPr>
        <p:spPr>
          <a:xfrm>
            <a:off x="128234" y="2849499"/>
            <a:ext cx="1015987" cy="640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EL1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B2B7805-2EFD-9649-A99E-31E6915FB52A}"/>
              </a:ext>
            </a:extLst>
          </p:cNvPr>
          <p:cNvSpPr txBox="1"/>
          <p:nvPr/>
        </p:nvSpPr>
        <p:spPr>
          <a:xfrm>
            <a:off x="128234" y="1929397"/>
            <a:ext cx="1015987" cy="640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EL0</a:t>
            </a:r>
            <a:endParaRPr kumimoji="1"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68559CB-91BA-FC4A-A750-7BCE44CF44AE}"/>
              </a:ext>
            </a:extLst>
          </p:cNvPr>
          <p:cNvSpPr txBox="1"/>
          <p:nvPr/>
        </p:nvSpPr>
        <p:spPr>
          <a:xfrm>
            <a:off x="128234" y="3861611"/>
            <a:ext cx="1015987" cy="640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EL2</a:t>
            </a:r>
            <a:endParaRPr kumimoji="1"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C2108DB-4AB7-1D49-B6C1-1F585184401C}"/>
              </a:ext>
            </a:extLst>
          </p:cNvPr>
          <p:cNvSpPr txBox="1"/>
          <p:nvPr/>
        </p:nvSpPr>
        <p:spPr>
          <a:xfrm>
            <a:off x="2302612" y="1561356"/>
            <a:ext cx="910011" cy="4719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VMM</a:t>
            </a:r>
            <a:endParaRPr kumimoji="1" lang="zh-CN" altLang="en-US" dirty="0"/>
          </a:p>
        </p:txBody>
      </p:sp>
      <p:sp>
        <p:nvSpPr>
          <p:cNvPr id="13" name="Rectangle 22">
            <a:extLst>
              <a:ext uri="{FF2B5EF4-FFF2-40B4-BE49-F238E27FC236}">
                <a16:creationId xmlns:a16="http://schemas.microsoft.com/office/drawing/2014/main" id="{DBD27B40-0DC9-C747-87E3-D4689BE7FCC0}"/>
              </a:ext>
            </a:extLst>
          </p:cNvPr>
          <p:cNvSpPr/>
          <p:nvPr/>
        </p:nvSpPr>
        <p:spPr>
          <a:xfrm>
            <a:off x="6372200" y="1921396"/>
            <a:ext cx="2008746" cy="502780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Front-end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Driver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7AD6CEF8-2592-A149-B4D9-FEED495CE83D}"/>
              </a:ext>
            </a:extLst>
          </p:cNvPr>
          <p:cNvSpPr/>
          <p:nvPr/>
        </p:nvSpPr>
        <p:spPr>
          <a:xfrm>
            <a:off x="5818475" y="1561356"/>
            <a:ext cx="2780807" cy="1745043"/>
          </a:xfrm>
          <a:prstGeom prst="roundRect">
            <a:avLst>
              <a:gd name="adj" fmla="val 9475"/>
            </a:avLst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1D47D51-3CD4-A849-B9BE-26724FCF4CDC}"/>
              </a:ext>
            </a:extLst>
          </p:cNvPr>
          <p:cNvSpPr txBox="1"/>
          <p:nvPr/>
        </p:nvSpPr>
        <p:spPr>
          <a:xfrm>
            <a:off x="6316946" y="1561356"/>
            <a:ext cx="667987" cy="4719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</a:t>
            </a:r>
            <a:endParaRPr kumimoji="1" lang="zh-CN" altLang="en-US" dirty="0"/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5FD244DE-94D1-4C49-9A8F-0D50C4F41CCB}"/>
              </a:ext>
            </a:extLst>
          </p:cNvPr>
          <p:cNvSpPr/>
          <p:nvPr/>
        </p:nvSpPr>
        <p:spPr>
          <a:xfrm>
            <a:off x="971600" y="1561356"/>
            <a:ext cx="3688484" cy="2852317"/>
          </a:xfrm>
          <a:prstGeom prst="roundRect">
            <a:avLst>
              <a:gd name="adj" fmla="val 6924"/>
            </a:avLst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8" name="Rectangle 22">
            <a:extLst>
              <a:ext uri="{FF2B5EF4-FFF2-40B4-BE49-F238E27FC236}">
                <a16:creationId xmlns:a16="http://schemas.microsoft.com/office/drawing/2014/main" id="{C5BF8EF2-7AEE-4640-96B7-60A556E9003B}"/>
              </a:ext>
            </a:extLst>
          </p:cNvPr>
          <p:cNvSpPr/>
          <p:nvPr/>
        </p:nvSpPr>
        <p:spPr>
          <a:xfrm>
            <a:off x="2781819" y="3953623"/>
            <a:ext cx="1441897" cy="276031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KVM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20" name="Rectangle 27">
            <a:extLst>
              <a:ext uri="{FF2B5EF4-FFF2-40B4-BE49-F238E27FC236}">
                <a16:creationId xmlns:a16="http://schemas.microsoft.com/office/drawing/2014/main" id="{960A935F-061D-6742-B0D2-98F49FA68249}"/>
              </a:ext>
            </a:extLst>
          </p:cNvPr>
          <p:cNvSpPr/>
          <p:nvPr/>
        </p:nvSpPr>
        <p:spPr>
          <a:xfrm>
            <a:off x="2846207" y="3309550"/>
            <a:ext cx="1323677" cy="304308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rgbClr val="BE384B"/>
                </a:solidFill>
                <a:cs typeface="Arial Narrow"/>
              </a:rPr>
              <a:t>/dev/</a:t>
            </a:r>
            <a:r>
              <a:rPr lang="en-US" altLang="zh-CN" sz="1200" dirty="0" err="1">
                <a:solidFill>
                  <a:srgbClr val="BE384B"/>
                </a:solidFill>
                <a:cs typeface="Arial Narrow"/>
              </a:rPr>
              <a:t>kvm</a:t>
            </a:r>
            <a:endParaRPr lang="en-US" sz="12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D66E47BA-499E-EB4A-8C70-DE2CEED73E70}"/>
              </a:ext>
            </a:extLst>
          </p:cNvPr>
          <p:cNvCxnSpPr>
            <a:cxnSpLocks/>
          </p:cNvCxnSpPr>
          <p:nvPr/>
        </p:nvCxnSpPr>
        <p:spPr>
          <a:xfrm>
            <a:off x="3508375" y="2389448"/>
            <a:ext cx="0" cy="1012112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54A522C0-312E-5A44-A944-F3FB1F162642}"/>
              </a:ext>
            </a:extLst>
          </p:cNvPr>
          <p:cNvCxnSpPr>
            <a:cxnSpLocks/>
            <a:stCxn id="20" idx="2"/>
            <a:endCxn id="18" idx="0"/>
          </p:cNvCxnSpPr>
          <p:nvPr/>
        </p:nvCxnSpPr>
        <p:spPr>
          <a:xfrm flipH="1">
            <a:off x="3502768" y="3613858"/>
            <a:ext cx="5277" cy="339765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92855704-8D77-DC46-BD2E-79954D02DD12}"/>
              </a:ext>
            </a:extLst>
          </p:cNvPr>
          <p:cNvSpPr txBox="1"/>
          <p:nvPr/>
        </p:nvSpPr>
        <p:spPr>
          <a:xfrm>
            <a:off x="7812360" y="3865612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VM</a:t>
            </a:r>
            <a:r>
              <a:rPr kumimoji="1" lang="zh-CN" altLang="en-US" dirty="0"/>
              <a:t> </a:t>
            </a:r>
            <a:r>
              <a:rPr kumimoji="1" lang="en-US" altLang="zh-CN" dirty="0"/>
              <a:t>Entry</a:t>
            </a:r>
            <a:endParaRPr kumimoji="1" lang="zh-CN" altLang="en-US" dirty="0"/>
          </a:p>
        </p:txBody>
      </p:sp>
      <p:sp>
        <p:nvSpPr>
          <p:cNvPr id="24" name="Rectangle 22">
            <a:extLst>
              <a:ext uri="{FF2B5EF4-FFF2-40B4-BE49-F238E27FC236}">
                <a16:creationId xmlns:a16="http://schemas.microsoft.com/office/drawing/2014/main" id="{470AE8A6-8154-8E49-B918-D098D17FAEFF}"/>
              </a:ext>
            </a:extLst>
          </p:cNvPr>
          <p:cNvSpPr/>
          <p:nvPr/>
        </p:nvSpPr>
        <p:spPr>
          <a:xfrm>
            <a:off x="2843808" y="4585692"/>
            <a:ext cx="5744821" cy="288032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Hardware</a:t>
            </a:r>
            <a:r>
              <a:rPr lang="zh-CN" altLang="en-US" sz="1600" dirty="0">
                <a:solidFill>
                  <a:schemeClr val="bg1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Virtualization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19E316B7-F763-6F4D-A583-3BC5ACCC0374}"/>
              </a:ext>
            </a:extLst>
          </p:cNvPr>
          <p:cNvCxnSpPr>
            <a:cxnSpLocks/>
          </p:cNvCxnSpPr>
          <p:nvPr/>
        </p:nvCxnSpPr>
        <p:spPr>
          <a:xfrm>
            <a:off x="3496426" y="4229652"/>
            <a:ext cx="0" cy="460051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9D7346C8-20E4-E543-AA05-5F8F49CBA90A}"/>
              </a:ext>
            </a:extLst>
          </p:cNvPr>
          <p:cNvCxnSpPr>
            <a:cxnSpLocks/>
          </p:cNvCxnSpPr>
          <p:nvPr/>
        </p:nvCxnSpPr>
        <p:spPr>
          <a:xfrm>
            <a:off x="7401042" y="2425453"/>
            <a:ext cx="0" cy="36004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7">
            <a:extLst>
              <a:ext uri="{FF2B5EF4-FFF2-40B4-BE49-F238E27FC236}">
                <a16:creationId xmlns:a16="http://schemas.microsoft.com/office/drawing/2014/main" id="{84F94B14-7F48-1B41-81EA-72C87F0B80E7}"/>
              </a:ext>
            </a:extLst>
          </p:cNvPr>
          <p:cNvSpPr/>
          <p:nvPr/>
        </p:nvSpPr>
        <p:spPr>
          <a:xfrm>
            <a:off x="1784418" y="3879595"/>
            <a:ext cx="939660" cy="360040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rgbClr val="BE384B"/>
                </a:solidFill>
                <a:cs typeface="Arial Narrow"/>
              </a:rPr>
              <a:t>Network</a:t>
            </a:r>
          </a:p>
          <a:p>
            <a:pPr algn="ctr"/>
            <a:r>
              <a:rPr lang="en-US" altLang="zh-CN" sz="1200" dirty="0">
                <a:solidFill>
                  <a:srgbClr val="BE384B"/>
                </a:solidFill>
                <a:cs typeface="Arial Narrow"/>
              </a:rPr>
              <a:t>Driver</a:t>
            </a:r>
            <a:endParaRPr lang="en-US" sz="12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B816D9B7-77D0-8B47-B454-1DD8ED74C030}"/>
              </a:ext>
            </a:extLst>
          </p:cNvPr>
          <p:cNvCxnSpPr>
            <a:cxnSpLocks/>
          </p:cNvCxnSpPr>
          <p:nvPr/>
        </p:nvCxnSpPr>
        <p:spPr>
          <a:xfrm flipV="1">
            <a:off x="2216466" y="2425453"/>
            <a:ext cx="0" cy="1512168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图片 28">
            <a:extLst>
              <a:ext uri="{FF2B5EF4-FFF2-40B4-BE49-F238E27FC236}">
                <a16:creationId xmlns:a16="http://schemas.microsoft.com/office/drawing/2014/main" id="{4B70B016-870B-B24C-813C-C54281F7FA9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71115" y="4585693"/>
            <a:ext cx="566266" cy="509904"/>
          </a:xfrm>
          <a:prstGeom prst="rect">
            <a:avLst/>
          </a:prstGeom>
        </p:spPr>
      </p:pic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E78A0C0E-06D4-1347-81BB-F80CCC89AB3D}"/>
              </a:ext>
            </a:extLst>
          </p:cNvPr>
          <p:cNvCxnSpPr>
            <a:cxnSpLocks/>
            <a:stCxn id="29" idx="0"/>
            <a:endCxn id="27" idx="2"/>
          </p:cNvCxnSpPr>
          <p:nvPr/>
        </p:nvCxnSpPr>
        <p:spPr>
          <a:xfrm flipV="1">
            <a:off x="2254248" y="4239635"/>
            <a:ext cx="0" cy="346058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22">
            <a:extLst>
              <a:ext uri="{FF2B5EF4-FFF2-40B4-BE49-F238E27FC236}">
                <a16:creationId xmlns:a16="http://schemas.microsoft.com/office/drawing/2014/main" id="{2D3F0CF3-3177-A24C-8B9D-8CC136C5F8E4}"/>
              </a:ext>
            </a:extLst>
          </p:cNvPr>
          <p:cNvSpPr/>
          <p:nvPr/>
        </p:nvSpPr>
        <p:spPr>
          <a:xfrm>
            <a:off x="2555776" y="1993404"/>
            <a:ext cx="1721394" cy="358764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Back-end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Driver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graphicFrame>
        <p:nvGraphicFramePr>
          <p:cNvPr id="32" name="表格 31">
            <a:extLst>
              <a:ext uri="{FF2B5EF4-FFF2-40B4-BE49-F238E27FC236}">
                <a16:creationId xmlns:a16="http://schemas.microsoft.com/office/drawing/2014/main" id="{15EDCE5D-D317-E74D-801E-EEB986C219B6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4932040" y="2425452"/>
          <a:ext cx="720084" cy="240028"/>
        </p:xfrm>
        <a:graphic>
          <a:graphicData uri="http://schemas.openxmlformats.org/drawingml/2006/table">
            <a:tbl>
              <a:tblPr firstRow="1" bandRow="1"/>
              <a:tblGrid>
                <a:gridCol w="120014">
                  <a:extLst>
                    <a:ext uri="{9D8B030D-6E8A-4147-A177-3AD203B41FA5}">
                      <a16:colId xmlns:a16="http://schemas.microsoft.com/office/drawing/2014/main" val="2860160233"/>
                    </a:ext>
                  </a:extLst>
                </a:gridCol>
                <a:gridCol w="120014">
                  <a:extLst>
                    <a:ext uri="{9D8B030D-6E8A-4147-A177-3AD203B41FA5}">
                      <a16:colId xmlns:a16="http://schemas.microsoft.com/office/drawing/2014/main" val="2318858930"/>
                    </a:ext>
                  </a:extLst>
                </a:gridCol>
                <a:gridCol w="120014">
                  <a:extLst>
                    <a:ext uri="{9D8B030D-6E8A-4147-A177-3AD203B41FA5}">
                      <a16:colId xmlns:a16="http://schemas.microsoft.com/office/drawing/2014/main" val="2266334094"/>
                    </a:ext>
                  </a:extLst>
                </a:gridCol>
                <a:gridCol w="120014">
                  <a:extLst>
                    <a:ext uri="{9D8B030D-6E8A-4147-A177-3AD203B41FA5}">
                      <a16:colId xmlns:a16="http://schemas.microsoft.com/office/drawing/2014/main" val="3234788880"/>
                    </a:ext>
                  </a:extLst>
                </a:gridCol>
                <a:gridCol w="120014">
                  <a:extLst>
                    <a:ext uri="{9D8B030D-6E8A-4147-A177-3AD203B41FA5}">
                      <a16:colId xmlns:a16="http://schemas.microsoft.com/office/drawing/2014/main" val="2650179042"/>
                    </a:ext>
                  </a:extLst>
                </a:gridCol>
                <a:gridCol w="120014">
                  <a:extLst>
                    <a:ext uri="{9D8B030D-6E8A-4147-A177-3AD203B41FA5}">
                      <a16:colId xmlns:a16="http://schemas.microsoft.com/office/drawing/2014/main" val="1575277169"/>
                    </a:ext>
                  </a:extLst>
                </a:gridCol>
              </a:tblGrid>
              <a:tr h="120014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702111484"/>
                  </a:ext>
                </a:extLst>
              </a:tr>
              <a:tr h="120014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840879957"/>
                  </a:ext>
                </a:extLst>
              </a:tr>
            </a:tbl>
          </a:graphicData>
        </a:graphic>
      </p:graphicFrame>
      <p:sp>
        <p:nvSpPr>
          <p:cNvPr id="33" name="文本框 32">
            <a:extLst>
              <a:ext uri="{FF2B5EF4-FFF2-40B4-BE49-F238E27FC236}">
                <a16:creationId xmlns:a16="http://schemas.microsoft.com/office/drawing/2014/main" id="{22C53693-F0CF-0946-8ED2-5912A6F99947}"/>
              </a:ext>
            </a:extLst>
          </p:cNvPr>
          <p:cNvSpPr txBox="1"/>
          <p:nvPr/>
        </p:nvSpPr>
        <p:spPr>
          <a:xfrm>
            <a:off x="4860032" y="2137420"/>
            <a:ext cx="8808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 err="1"/>
              <a:t>Virtqueue</a:t>
            </a:r>
            <a:r>
              <a:rPr lang="en-US" altLang="zh-CN" sz="1200" dirty="0"/>
              <a:t> </a:t>
            </a:r>
          </a:p>
        </p:txBody>
      </p:sp>
      <p:cxnSp>
        <p:nvCxnSpPr>
          <p:cNvPr id="34" name="肘形连接符 33">
            <a:extLst>
              <a:ext uri="{FF2B5EF4-FFF2-40B4-BE49-F238E27FC236}">
                <a16:creationId xmlns:a16="http://schemas.microsoft.com/office/drawing/2014/main" id="{61352F86-183F-9145-8C88-AB2607906027}"/>
              </a:ext>
            </a:extLst>
          </p:cNvPr>
          <p:cNvCxnSpPr>
            <a:cxnSpLocks/>
            <a:stCxn id="13" idx="1"/>
            <a:endCxn id="32" idx="3"/>
          </p:cNvCxnSpPr>
          <p:nvPr/>
        </p:nvCxnSpPr>
        <p:spPr>
          <a:xfrm rot="10800000" flipV="1">
            <a:off x="5652124" y="2172786"/>
            <a:ext cx="720076" cy="372680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肘形连接符 34">
            <a:extLst>
              <a:ext uri="{FF2B5EF4-FFF2-40B4-BE49-F238E27FC236}">
                <a16:creationId xmlns:a16="http://schemas.microsoft.com/office/drawing/2014/main" id="{1DB00BAD-B522-BC44-BBD9-ABE817652FCE}"/>
              </a:ext>
            </a:extLst>
          </p:cNvPr>
          <p:cNvCxnSpPr>
            <a:cxnSpLocks/>
            <a:stCxn id="32" idx="1"/>
            <a:endCxn id="31" idx="3"/>
          </p:cNvCxnSpPr>
          <p:nvPr/>
        </p:nvCxnSpPr>
        <p:spPr>
          <a:xfrm rot="10800000">
            <a:off x="4277170" y="2172786"/>
            <a:ext cx="654870" cy="372680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40105938-7E86-DA41-A805-F60EE6B2EA5C}"/>
              </a:ext>
            </a:extLst>
          </p:cNvPr>
          <p:cNvSpPr txBox="1"/>
          <p:nvPr/>
        </p:nvSpPr>
        <p:spPr>
          <a:xfrm>
            <a:off x="2464788" y="2576915"/>
            <a:ext cx="10438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Inject</a:t>
            </a:r>
          </a:p>
          <a:p>
            <a:r>
              <a:rPr kumimoji="1" lang="en-US" altLang="zh-CN" dirty="0"/>
              <a:t>Interrupt</a:t>
            </a:r>
            <a:endParaRPr kumimoji="1" lang="zh-CN" altLang="en-US" dirty="0"/>
          </a:p>
        </p:txBody>
      </p:sp>
      <p:sp>
        <p:nvSpPr>
          <p:cNvPr id="37" name="Rectangle 22">
            <a:extLst>
              <a:ext uri="{FF2B5EF4-FFF2-40B4-BE49-F238E27FC236}">
                <a16:creationId xmlns:a16="http://schemas.microsoft.com/office/drawing/2014/main" id="{DF586596-AC52-BC41-ADE8-BBDAC7334A69}"/>
              </a:ext>
            </a:extLst>
          </p:cNvPr>
          <p:cNvSpPr/>
          <p:nvPr/>
        </p:nvSpPr>
        <p:spPr>
          <a:xfrm>
            <a:off x="5148064" y="3952800"/>
            <a:ext cx="1584176" cy="288032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ICH_LR0_EL2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cxnSp>
        <p:nvCxnSpPr>
          <p:cNvPr id="38" name="直线箭头连接符 37">
            <a:extLst>
              <a:ext uri="{FF2B5EF4-FFF2-40B4-BE49-F238E27FC236}">
                <a16:creationId xmlns:a16="http://schemas.microsoft.com/office/drawing/2014/main" id="{7E211682-AF4F-B249-98FE-2C025DE218A7}"/>
              </a:ext>
            </a:extLst>
          </p:cNvPr>
          <p:cNvCxnSpPr>
            <a:cxnSpLocks/>
            <a:stCxn id="18" idx="3"/>
            <a:endCxn id="37" idx="1"/>
          </p:cNvCxnSpPr>
          <p:nvPr/>
        </p:nvCxnSpPr>
        <p:spPr>
          <a:xfrm>
            <a:off x="4223716" y="4091639"/>
            <a:ext cx="924348" cy="5177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22">
            <a:extLst>
              <a:ext uri="{FF2B5EF4-FFF2-40B4-BE49-F238E27FC236}">
                <a16:creationId xmlns:a16="http://schemas.microsoft.com/office/drawing/2014/main" id="{113FE32F-839F-0842-95EC-F4E73B303A53}"/>
              </a:ext>
            </a:extLst>
          </p:cNvPr>
          <p:cNvSpPr/>
          <p:nvPr/>
        </p:nvSpPr>
        <p:spPr>
          <a:xfrm>
            <a:off x="6372200" y="2713484"/>
            <a:ext cx="2008746" cy="502780"/>
          </a:xfrm>
          <a:prstGeom prst="rect">
            <a:avLst/>
          </a:prstGeom>
          <a:solidFill>
            <a:schemeClr val="bg1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r"/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IRQ</a:t>
            </a:r>
            <a:r>
              <a:rPr lang="zh-CN" altLang="en-US" sz="1600" dirty="0">
                <a:solidFill>
                  <a:srgbClr val="BE384B"/>
                </a:solidFill>
                <a:cs typeface="Arial Narrow"/>
              </a:rPr>
              <a:t> </a:t>
            </a:r>
            <a:r>
              <a:rPr lang="en-US" altLang="zh-CN" sz="1600" dirty="0">
                <a:solidFill>
                  <a:srgbClr val="BE384B"/>
                </a:solidFill>
                <a:cs typeface="Arial Narrow"/>
              </a:rPr>
              <a:t>handler</a:t>
            </a:r>
            <a:endParaRPr lang="en-US" sz="1600" dirty="0">
              <a:solidFill>
                <a:srgbClr val="BE384B"/>
              </a:solidFill>
              <a:cs typeface="Arial Narrow"/>
            </a:endParaRPr>
          </a:p>
        </p:txBody>
      </p:sp>
      <p:cxnSp>
        <p:nvCxnSpPr>
          <p:cNvPr id="19" name="肘形连接符 18">
            <a:extLst>
              <a:ext uri="{FF2B5EF4-FFF2-40B4-BE49-F238E27FC236}">
                <a16:creationId xmlns:a16="http://schemas.microsoft.com/office/drawing/2014/main" id="{C8601250-A0E1-2B4D-90D6-EE64BB058D4C}"/>
              </a:ext>
            </a:extLst>
          </p:cNvPr>
          <p:cNvCxnSpPr>
            <a:cxnSpLocks/>
          </p:cNvCxnSpPr>
          <p:nvPr/>
        </p:nvCxnSpPr>
        <p:spPr>
          <a:xfrm rot="16200000" flipH="1">
            <a:off x="7175652" y="3926255"/>
            <a:ext cx="1273417" cy="1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肘形连接符 45">
            <a:extLst>
              <a:ext uri="{FF2B5EF4-FFF2-40B4-BE49-F238E27FC236}">
                <a16:creationId xmlns:a16="http://schemas.microsoft.com/office/drawing/2014/main" id="{0C6F9EF5-3B2E-1F4B-94FE-4DFBB9124718}"/>
              </a:ext>
            </a:extLst>
          </p:cNvPr>
          <p:cNvCxnSpPr>
            <a:cxnSpLocks/>
            <a:stCxn id="44" idx="2"/>
            <a:endCxn id="37" idx="3"/>
          </p:cNvCxnSpPr>
          <p:nvPr/>
        </p:nvCxnSpPr>
        <p:spPr>
          <a:xfrm rot="5400000">
            <a:off x="6614131" y="3334374"/>
            <a:ext cx="880552" cy="644333"/>
          </a:xfrm>
          <a:prstGeom prst="bentConnector2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22">
            <a:extLst>
              <a:ext uri="{FF2B5EF4-FFF2-40B4-BE49-F238E27FC236}">
                <a16:creationId xmlns:a16="http://schemas.microsoft.com/office/drawing/2014/main" id="{8C8036D7-B50E-7F4A-9667-1108D055A7E8}"/>
              </a:ext>
            </a:extLst>
          </p:cNvPr>
          <p:cNvSpPr/>
          <p:nvPr/>
        </p:nvSpPr>
        <p:spPr>
          <a:xfrm>
            <a:off x="4932040" y="3865612"/>
            <a:ext cx="2088232" cy="504056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EA65EE83-E531-B04F-A6DA-1283A75ED71A}"/>
              </a:ext>
            </a:extLst>
          </p:cNvPr>
          <p:cNvSpPr txBox="1"/>
          <p:nvPr/>
        </p:nvSpPr>
        <p:spPr>
          <a:xfrm>
            <a:off x="5724128" y="3577580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GIC</a:t>
            </a:r>
            <a:endParaRPr kumimoji="1" lang="zh-CN" altLang="en-US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AA4F23F8-373B-0C49-8D31-0F1620B2C698}"/>
              </a:ext>
            </a:extLst>
          </p:cNvPr>
          <p:cNvSpPr txBox="1"/>
          <p:nvPr/>
        </p:nvSpPr>
        <p:spPr>
          <a:xfrm>
            <a:off x="5940152" y="1057300"/>
            <a:ext cx="3082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BE384B"/>
                </a:solidFill>
              </a:rPr>
              <a:t>思考：这种方式有什么问题</a:t>
            </a:r>
            <a:r>
              <a:rPr kumimoji="1" lang="en-US" altLang="zh-CN" dirty="0">
                <a:solidFill>
                  <a:srgbClr val="BE384B"/>
                </a:solidFill>
              </a:rPr>
              <a:t>?</a:t>
            </a:r>
            <a:endParaRPr kumimoji="1" lang="zh-CN" altLang="en-US" dirty="0">
              <a:solidFill>
                <a:srgbClr val="BE384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1235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37" grpId="0" animBg="1"/>
      <p:bldP spid="53" grpId="0" animBg="1"/>
      <p:bldP spid="54" grpId="0"/>
      <p:bldP spid="5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E5F054-D7B8-7943-BDEB-68B4F27F5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不打断虚拟机执行：</a:t>
            </a:r>
            <a:r>
              <a:rPr kumimoji="1" lang="en-US" altLang="zh-CN" dirty="0"/>
              <a:t>GIC</a:t>
            </a:r>
            <a:r>
              <a:rPr kumimoji="1" lang="zh-CN" altLang="en-US" dirty="0"/>
              <a:t> </a:t>
            </a:r>
            <a:r>
              <a:rPr kumimoji="1" lang="en-US" altLang="zh-CN" dirty="0"/>
              <a:t>ITS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6AD26F-5933-C942-A71D-5C24119392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en-US" altLang="zh-CN" sz="1800" dirty="0"/>
              <a:t>GIC</a:t>
            </a:r>
            <a:r>
              <a:rPr kumimoji="1" lang="zh-CN" altLang="en-US" sz="1800" dirty="0"/>
              <a:t>第</a:t>
            </a:r>
            <a:r>
              <a:rPr kumimoji="1" lang="en-US" altLang="zh-CN" sz="1800" dirty="0"/>
              <a:t>4</a:t>
            </a:r>
            <a:r>
              <a:rPr kumimoji="1" lang="zh-CN" altLang="en-US" sz="1800" dirty="0"/>
              <a:t>版本推出了</a:t>
            </a:r>
            <a:r>
              <a:rPr lang="en-US" altLang="zh-CN" sz="1800" dirty="0"/>
              <a:t>Direct injection of virtual interrupts </a:t>
            </a:r>
          </a:p>
          <a:p>
            <a:pPr lvl="1"/>
            <a:r>
              <a:rPr kumimoji="1" lang="zh-CN" altLang="en-US" sz="1600" dirty="0"/>
              <a:t>将物理设备的物理中断与虚拟中断绑定</a:t>
            </a:r>
            <a:endParaRPr kumimoji="1" lang="en-US" altLang="zh-CN" sz="1600" dirty="0"/>
          </a:p>
          <a:p>
            <a:pPr lvl="1"/>
            <a:r>
              <a:rPr kumimoji="1" lang="zh-CN" altLang="en-US" sz="1600" dirty="0"/>
              <a:t>物理设备直接向虚拟机发送虚拟中断</a:t>
            </a:r>
            <a:endParaRPr kumimoji="1" lang="en-US" altLang="zh-CN" sz="1600" dirty="0"/>
          </a:p>
          <a:p>
            <a:r>
              <a:rPr kumimoji="1" lang="en-US" altLang="zh-CN" sz="1800" dirty="0"/>
              <a:t>VMM</a:t>
            </a:r>
            <a:r>
              <a:rPr kumimoji="1" lang="zh-CN" altLang="en-US" sz="1800" dirty="0"/>
              <a:t>在运行</a:t>
            </a:r>
            <a:r>
              <a:rPr kumimoji="1" lang="en-US" altLang="zh-CN" sz="1800" dirty="0"/>
              <a:t>VM</a:t>
            </a:r>
            <a:r>
              <a:rPr kumimoji="1" lang="zh-CN" altLang="en-US" sz="1800" dirty="0"/>
              <a:t>前</a:t>
            </a:r>
            <a:endParaRPr kumimoji="1" lang="en-US" altLang="zh-CN" sz="1800" dirty="0"/>
          </a:p>
          <a:p>
            <a:pPr lvl="1"/>
            <a:r>
              <a:rPr kumimoji="1" lang="zh-CN" altLang="en-US" sz="1600" dirty="0"/>
              <a:t>配置</a:t>
            </a:r>
            <a:r>
              <a:rPr kumimoji="1" lang="en-US" altLang="zh-CN" sz="1600" dirty="0"/>
              <a:t>GIC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ITS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(Interrupt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Translation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Service)</a:t>
            </a:r>
          </a:p>
          <a:p>
            <a:pPr lvl="2"/>
            <a:r>
              <a:rPr kumimoji="1" lang="zh-CN" altLang="en-US" sz="1600" dirty="0"/>
              <a:t>建立物理中断与虚拟中断的映射</a:t>
            </a:r>
            <a:endParaRPr kumimoji="1" lang="en-US" altLang="zh-CN" sz="1600" dirty="0"/>
          </a:p>
          <a:p>
            <a:pPr lvl="1"/>
            <a:r>
              <a:rPr kumimoji="1" lang="zh-CN" altLang="en-US" sz="1600" dirty="0"/>
              <a:t>映射内容</a:t>
            </a:r>
            <a:endParaRPr kumimoji="1" lang="en-US" altLang="zh-CN" sz="1600" dirty="0"/>
          </a:p>
          <a:p>
            <a:pPr lvl="2"/>
            <a:r>
              <a:rPr kumimoji="1" lang="zh-CN" altLang="en-US" sz="1600" dirty="0"/>
              <a:t>设备与物理中断的映射</a:t>
            </a:r>
            <a:endParaRPr kumimoji="1" lang="en-US" altLang="zh-CN" sz="1600" dirty="0"/>
          </a:p>
          <a:p>
            <a:pPr lvl="2"/>
            <a:r>
              <a:rPr kumimoji="1" lang="zh-CN" altLang="en-US" sz="1600" dirty="0"/>
              <a:t>分配虚拟中断号</a:t>
            </a:r>
            <a:endParaRPr kumimoji="1" lang="en-US" altLang="zh-CN" sz="1600" dirty="0"/>
          </a:p>
          <a:p>
            <a:pPr lvl="2"/>
            <a:r>
              <a:rPr kumimoji="1" lang="zh-CN" altLang="en-US" sz="1600" dirty="0"/>
              <a:t>发送给哪些物理核上的虚拟处理器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686929-4BC0-8F4C-A00D-F22D83242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171071-4AEB-6145-A645-020FD812B1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54667223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83389B-1A32-FE47-87BE-D504DB2B4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虚拟中断的直接插入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130786-E6B0-D940-B2D1-E99B1C86A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343ADD-E836-5D4A-8C1B-137789D3F7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DABB92C8-952B-9A43-A69A-1F1B1212CB4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28384" y="3933868"/>
            <a:ext cx="648072" cy="583568"/>
          </a:xfrm>
          <a:prstGeom prst="rect">
            <a:avLst/>
          </a:prstGeom>
        </p:spPr>
      </p:pic>
      <p:sp>
        <p:nvSpPr>
          <p:cNvPr id="17" name="Rectangle 22">
            <a:extLst>
              <a:ext uri="{FF2B5EF4-FFF2-40B4-BE49-F238E27FC236}">
                <a16:creationId xmlns:a16="http://schemas.microsoft.com/office/drawing/2014/main" id="{20CD993E-357B-BF46-95E1-723AD8EC17DA}"/>
              </a:ext>
            </a:extLst>
          </p:cNvPr>
          <p:cNvSpPr/>
          <p:nvPr/>
        </p:nvSpPr>
        <p:spPr>
          <a:xfrm>
            <a:off x="5436096" y="3073524"/>
            <a:ext cx="1728192" cy="1368152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18" name="Rectangle 22">
            <a:extLst>
              <a:ext uri="{FF2B5EF4-FFF2-40B4-BE49-F238E27FC236}">
                <a16:creationId xmlns:a16="http://schemas.microsoft.com/office/drawing/2014/main" id="{F425F447-D57A-AE40-8FAF-5521B8DEB0E7}"/>
              </a:ext>
            </a:extLst>
          </p:cNvPr>
          <p:cNvSpPr/>
          <p:nvPr/>
        </p:nvSpPr>
        <p:spPr>
          <a:xfrm>
            <a:off x="5652120" y="4081636"/>
            <a:ext cx="1296144" cy="288032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ITS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91BFA3C-8090-0A4E-B555-B552039A091F}"/>
              </a:ext>
            </a:extLst>
          </p:cNvPr>
          <p:cNvSpPr/>
          <p:nvPr/>
        </p:nvSpPr>
        <p:spPr>
          <a:xfrm>
            <a:off x="5796136" y="1921396"/>
            <a:ext cx="1008112" cy="5844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VM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5CC2148-021A-7E43-9C57-EFDB710F6314}"/>
              </a:ext>
            </a:extLst>
          </p:cNvPr>
          <p:cNvSpPr txBox="1"/>
          <p:nvPr/>
        </p:nvSpPr>
        <p:spPr>
          <a:xfrm>
            <a:off x="6156176" y="4513684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GIC</a:t>
            </a:r>
            <a:endParaRPr kumimoji="1" lang="zh-CN" altLang="en-US" dirty="0"/>
          </a:p>
        </p:txBody>
      </p: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87AC364A-4576-014F-98F5-CA2AC3BEC95B}"/>
              </a:ext>
            </a:extLst>
          </p:cNvPr>
          <p:cNvCxnSpPr>
            <a:stCxn id="16" idx="1"/>
            <a:endCxn id="18" idx="3"/>
          </p:cNvCxnSpPr>
          <p:nvPr/>
        </p:nvCxnSpPr>
        <p:spPr>
          <a:xfrm flipH="1">
            <a:off x="6948264" y="4225652"/>
            <a:ext cx="10801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833912FC-7B07-5648-B13F-340D83004A06}"/>
              </a:ext>
            </a:extLst>
          </p:cNvPr>
          <p:cNvCxnSpPr>
            <a:cxnSpLocks/>
            <a:endCxn id="22" idx="2"/>
          </p:cNvCxnSpPr>
          <p:nvPr/>
        </p:nvCxnSpPr>
        <p:spPr>
          <a:xfrm flipV="1">
            <a:off x="6300192" y="2505844"/>
            <a:ext cx="0" cy="5676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D863CF49-6317-D841-A7F7-C9479C695588}"/>
              </a:ext>
            </a:extLst>
          </p:cNvPr>
          <p:cNvSpPr txBox="1"/>
          <p:nvPr/>
        </p:nvSpPr>
        <p:spPr>
          <a:xfrm>
            <a:off x="7164288" y="4009628"/>
            <a:ext cx="7569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Physical</a:t>
            </a:r>
          </a:p>
          <a:p>
            <a:r>
              <a:rPr kumimoji="1" lang="en-US" altLang="zh-CN" sz="1200" dirty="0"/>
              <a:t>Interrupt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0384D28-A667-134E-B940-7E5996B0AF5E}"/>
              </a:ext>
            </a:extLst>
          </p:cNvPr>
          <p:cNvSpPr txBox="1"/>
          <p:nvPr/>
        </p:nvSpPr>
        <p:spPr>
          <a:xfrm>
            <a:off x="6228184" y="2569468"/>
            <a:ext cx="7569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Virtual</a:t>
            </a:r>
          </a:p>
          <a:p>
            <a:r>
              <a:rPr kumimoji="1" lang="en-US" altLang="zh-CN" sz="1200" dirty="0"/>
              <a:t>Interrupt</a:t>
            </a: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B398D20C-35F5-0A4B-B74D-5ECD9999521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19872" y="4009628"/>
            <a:ext cx="648072" cy="583568"/>
          </a:xfrm>
          <a:prstGeom prst="rect">
            <a:avLst/>
          </a:prstGeom>
        </p:spPr>
      </p:pic>
      <p:sp>
        <p:nvSpPr>
          <p:cNvPr id="36" name="Rectangle 22">
            <a:extLst>
              <a:ext uri="{FF2B5EF4-FFF2-40B4-BE49-F238E27FC236}">
                <a16:creationId xmlns:a16="http://schemas.microsoft.com/office/drawing/2014/main" id="{A2DEB5A8-F659-AD40-B548-9706CAF61B4D}"/>
              </a:ext>
            </a:extLst>
          </p:cNvPr>
          <p:cNvSpPr/>
          <p:nvPr/>
        </p:nvSpPr>
        <p:spPr>
          <a:xfrm>
            <a:off x="683568" y="3649588"/>
            <a:ext cx="1728192" cy="864096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A5834AF-64AC-3946-92D8-7ABBCEB82EFC}"/>
              </a:ext>
            </a:extLst>
          </p:cNvPr>
          <p:cNvSpPr/>
          <p:nvPr/>
        </p:nvSpPr>
        <p:spPr>
          <a:xfrm>
            <a:off x="1043608" y="1417340"/>
            <a:ext cx="1008112" cy="5844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VM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8105DAE5-2DFF-A246-AC25-5DB7CCD3D905}"/>
              </a:ext>
            </a:extLst>
          </p:cNvPr>
          <p:cNvSpPr txBox="1"/>
          <p:nvPr/>
        </p:nvSpPr>
        <p:spPr>
          <a:xfrm>
            <a:off x="1259632" y="4513684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GIC</a:t>
            </a:r>
            <a:endParaRPr kumimoji="1" lang="zh-CN" altLang="en-US" dirty="0"/>
          </a:p>
        </p:txBody>
      </p:sp>
      <p:cxnSp>
        <p:nvCxnSpPr>
          <p:cNvPr id="40" name="直线箭头连接符 39">
            <a:extLst>
              <a:ext uri="{FF2B5EF4-FFF2-40B4-BE49-F238E27FC236}">
                <a16:creationId xmlns:a16="http://schemas.microsoft.com/office/drawing/2014/main" id="{0AE471B9-C47F-9248-AED2-949FE6FC465A}"/>
              </a:ext>
            </a:extLst>
          </p:cNvPr>
          <p:cNvCxnSpPr>
            <a:cxnSpLocks/>
            <a:stCxn id="35" idx="1"/>
          </p:cNvCxnSpPr>
          <p:nvPr/>
        </p:nvCxnSpPr>
        <p:spPr>
          <a:xfrm flipH="1">
            <a:off x="2195736" y="4301412"/>
            <a:ext cx="12241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箭头连接符 40">
            <a:extLst>
              <a:ext uri="{FF2B5EF4-FFF2-40B4-BE49-F238E27FC236}">
                <a16:creationId xmlns:a16="http://schemas.microsoft.com/office/drawing/2014/main" id="{1AF65C5E-9252-AC49-9B51-83CCAA817ADD}"/>
              </a:ext>
            </a:extLst>
          </p:cNvPr>
          <p:cNvCxnSpPr>
            <a:cxnSpLocks/>
            <a:stCxn id="55" idx="0"/>
            <a:endCxn id="46" idx="2"/>
          </p:cNvCxnSpPr>
          <p:nvPr/>
        </p:nvCxnSpPr>
        <p:spPr>
          <a:xfrm flipV="1">
            <a:off x="1547664" y="3001516"/>
            <a:ext cx="0" cy="6480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C3A3E890-4991-A041-9D4D-ED0838D7074F}"/>
              </a:ext>
            </a:extLst>
          </p:cNvPr>
          <p:cNvSpPr txBox="1"/>
          <p:nvPr/>
        </p:nvSpPr>
        <p:spPr>
          <a:xfrm>
            <a:off x="2411760" y="4081636"/>
            <a:ext cx="7569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Physical</a:t>
            </a:r>
          </a:p>
          <a:p>
            <a:r>
              <a:rPr kumimoji="1" lang="en-US" altLang="zh-CN" sz="1200" dirty="0"/>
              <a:t>Interrupt</a:t>
            </a:r>
          </a:p>
        </p:txBody>
      </p:sp>
      <p:sp>
        <p:nvSpPr>
          <p:cNvPr id="46" name="Rectangle 22">
            <a:extLst>
              <a:ext uri="{FF2B5EF4-FFF2-40B4-BE49-F238E27FC236}">
                <a16:creationId xmlns:a16="http://schemas.microsoft.com/office/drawing/2014/main" id="{41930579-2FEE-AC4F-B5CC-D292B2BC51C2}"/>
              </a:ext>
            </a:extLst>
          </p:cNvPr>
          <p:cNvSpPr/>
          <p:nvPr/>
        </p:nvSpPr>
        <p:spPr>
          <a:xfrm>
            <a:off x="899592" y="2713484"/>
            <a:ext cx="1296144" cy="288032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VMM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EC471276-0406-5747-81FE-9BD5F301A038}"/>
              </a:ext>
            </a:extLst>
          </p:cNvPr>
          <p:cNvSpPr txBox="1"/>
          <p:nvPr/>
        </p:nvSpPr>
        <p:spPr>
          <a:xfrm>
            <a:off x="1475656" y="3073524"/>
            <a:ext cx="7569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Physical</a:t>
            </a:r>
          </a:p>
          <a:p>
            <a:r>
              <a:rPr kumimoji="1" lang="en-US" altLang="zh-CN" sz="1200" dirty="0"/>
              <a:t>Interrupt</a:t>
            </a:r>
          </a:p>
        </p:txBody>
      </p:sp>
      <p:cxnSp>
        <p:nvCxnSpPr>
          <p:cNvPr id="49" name="直线箭头连接符 48">
            <a:extLst>
              <a:ext uri="{FF2B5EF4-FFF2-40B4-BE49-F238E27FC236}">
                <a16:creationId xmlns:a16="http://schemas.microsoft.com/office/drawing/2014/main" id="{AA0C0590-F297-4C4B-BFAF-D7441D9B6D4B}"/>
              </a:ext>
            </a:extLst>
          </p:cNvPr>
          <p:cNvCxnSpPr>
            <a:cxnSpLocks/>
            <a:stCxn id="46" idx="0"/>
            <a:endCxn id="38" idx="2"/>
          </p:cNvCxnSpPr>
          <p:nvPr/>
        </p:nvCxnSpPr>
        <p:spPr>
          <a:xfrm flipV="1">
            <a:off x="1547664" y="2001788"/>
            <a:ext cx="0" cy="7116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AA591A2F-5613-4A46-A989-DD25F284E159}"/>
              </a:ext>
            </a:extLst>
          </p:cNvPr>
          <p:cNvSpPr txBox="1"/>
          <p:nvPr/>
        </p:nvSpPr>
        <p:spPr>
          <a:xfrm>
            <a:off x="1475656" y="2137420"/>
            <a:ext cx="7569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Virtual</a:t>
            </a:r>
          </a:p>
          <a:p>
            <a:r>
              <a:rPr kumimoji="1" lang="en-US" altLang="zh-CN" sz="1200" dirty="0"/>
              <a:t>Interrupt</a:t>
            </a:r>
          </a:p>
        </p:txBody>
      </p:sp>
      <p:sp>
        <p:nvSpPr>
          <p:cNvPr id="53" name="Rectangle 22">
            <a:extLst>
              <a:ext uri="{FF2B5EF4-FFF2-40B4-BE49-F238E27FC236}">
                <a16:creationId xmlns:a16="http://schemas.microsoft.com/office/drawing/2014/main" id="{3C1CAB9D-C258-674C-87BE-26ED5685B85E}"/>
              </a:ext>
            </a:extLst>
          </p:cNvPr>
          <p:cNvSpPr/>
          <p:nvPr/>
        </p:nvSpPr>
        <p:spPr>
          <a:xfrm>
            <a:off x="899592" y="4153644"/>
            <a:ext cx="1296144" cy="288032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cs typeface="Arial Narrow"/>
              </a:rPr>
              <a:t>Distributor</a:t>
            </a:r>
            <a:endParaRPr lang="en-US" sz="16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55" name="Rectangle 22">
            <a:extLst>
              <a:ext uri="{FF2B5EF4-FFF2-40B4-BE49-F238E27FC236}">
                <a16:creationId xmlns:a16="http://schemas.microsoft.com/office/drawing/2014/main" id="{6357166C-6B95-424D-8422-9FA2F71CC0DB}"/>
              </a:ext>
            </a:extLst>
          </p:cNvPr>
          <p:cNvSpPr/>
          <p:nvPr/>
        </p:nvSpPr>
        <p:spPr>
          <a:xfrm>
            <a:off x="899592" y="3649588"/>
            <a:ext cx="1296144" cy="288032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cs typeface="Arial Narrow"/>
              </a:rPr>
              <a:t>CPU</a:t>
            </a:r>
            <a:r>
              <a:rPr lang="zh-CN" altLang="en-US" sz="1200" dirty="0">
                <a:solidFill>
                  <a:schemeClr val="bg1"/>
                </a:solidFill>
                <a:cs typeface="Arial Narrow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cs typeface="Arial Narrow"/>
              </a:rPr>
              <a:t>Interface</a:t>
            </a:r>
            <a:endParaRPr lang="en-US" sz="1200" dirty="0">
              <a:solidFill>
                <a:schemeClr val="bg1"/>
              </a:solidFill>
              <a:cs typeface="Arial Narrow"/>
            </a:endParaRPr>
          </a:p>
        </p:txBody>
      </p:sp>
      <p:cxnSp>
        <p:nvCxnSpPr>
          <p:cNvPr id="57" name="直线箭头连接符 56">
            <a:extLst>
              <a:ext uri="{FF2B5EF4-FFF2-40B4-BE49-F238E27FC236}">
                <a16:creationId xmlns:a16="http://schemas.microsoft.com/office/drawing/2014/main" id="{995C9D86-9396-7442-ADB1-CD320B642BA9}"/>
              </a:ext>
            </a:extLst>
          </p:cNvPr>
          <p:cNvCxnSpPr>
            <a:cxnSpLocks/>
            <a:stCxn id="53" idx="0"/>
          </p:cNvCxnSpPr>
          <p:nvPr/>
        </p:nvCxnSpPr>
        <p:spPr>
          <a:xfrm flipV="1">
            <a:off x="1547664" y="3937620"/>
            <a:ext cx="0" cy="2160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22">
            <a:extLst>
              <a:ext uri="{FF2B5EF4-FFF2-40B4-BE49-F238E27FC236}">
                <a16:creationId xmlns:a16="http://schemas.microsoft.com/office/drawing/2014/main" id="{3B77C138-2246-FA4D-9636-8F6AD5584A66}"/>
              </a:ext>
            </a:extLst>
          </p:cNvPr>
          <p:cNvSpPr/>
          <p:nvPr/>
        </p:nvSpPr>
        <p:spPr>
          <a:xfrm>
            <a:off x="5652120" y="3073524"/>
            <a:ext cx="1296144" cy="288032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cs typeface="Arial Narrow"/>
              </a:rPr>
              <a:t>Virtual</a:t>
            </a:r>
            <a:r>
              <a:rPr lang="zh-CN" altLang="en-US" sz="1000" dirty="0">
                <a:solidFill>
                  <a:schemeClr val="bg1"/>
                </a:solidFill>
                <a:cs typeface="Arial Narrow"/>
              </a:rPr>
              <a:t> </a:t>
            </a:r>
            <a:r>
              <a:rPr lang="en-US" altLang="zh-CN" sz="1000" dirty="0">
                <a:solidFill>
                  <a:schemeClr val="bg1"/>
                </a:solidFill>
                <a:cs typeface="Arial Narrow"/>
              </a:rPr>
              <a:t>CPU</a:t>
            </a:r>
            <a:r>
              <a:rPr lang="zh-CN" altLang="en-US" sz="1000" dirty="0">
                <a:solidFill>
                  <a:schemeClr val="bg1"/>
                </a:solidFill>
                <a:cs typeface="Arial Narrow"/>
              </a:rPr>
              <a:t> </a:t>
            </a:r>
            <a:r>
              <a:rPr lang="en-US" altLang="zh-CN" sz="1000" dirty="0">
                <a:solidFill>
                  <a:schemeClr val="bg1"/>
                </a:solidFill>
                <a:cs typeface="Arial Narrow"/>
              </a:rPr>
              <a:t>Interface</a:t>
            </a:r>
            <a:endParaRPr lang="en-US" sz="1000" dirty="0">
              <a:solidFill>
                <a:schemeClr val="bg1"/>
              </a:solidFill>
              <a:cs typeface="Arial Narrow"/>
            </a:endParaRPr>
          </a:p>
        </p:txBody>
      </p:sp>
      <p:sp>
        <p:nvSpPr>
          <p:cNvPr id="63" name="Rectangle 22">
            <a:extLst>
              <a:ext uri="{FF2B5EF4-FFF2-40B4-BE49-F238E27FC236}">
                <a16:creationId xmlns:a16="http://schemas.microsoft.com/office/drawing/2014/main" id="{5864E60D-0211-A44E-8098-C8BCB1ABD827}"/>
              </a:ext>
            </a:extLst>
          </p:cNvPr>
          <p:cNvSpPr/>
          <p:nvPr/>
        </p:nvSpPr>
        <p:spPr>
          <a:xfrm>
            <a:off x="5652120" y="3577580"/>
            <a:ext cx="1296144" cy="288032"/>
          </a:xfrm>
          <a:prstGeom prst="rect">
            <a:avLst/>
          </a:prstGeom>
          <a:solidFill>
            <a:srgbClr val="BE384B"/>
          </a:solidFill>
          <a:ln>
            <a:solidFill>
              <a:srgbClr val="BE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cs typeface="Arial Narrow"/>
              </a:rPr>
              <a:t>Redistributor</a:t>
            </a:r>
            <a:endParaRPr lang="en-US" sz="1000" dirty="0">
              <a:solidFill>
                <a:schemeClr val="bg1"/>
              </a:solidFill>
              <a:cs typeface="Arial Narrow"/>
            </a:endParaRPr>
          </a:p>
        </p:txBody>
      </p:sp>
      <p:cxnSp>
        <p:nvCxnSpPr>
          <p:cNvPr id="66" name="直线箭头连接符 65">
            <a:extLst>
              <a:ext uri="{FF2B5EF4-FFF2-40B4-BE49-F238E27FC236}">
                <a16:creationId xmlns:a16="http://schemas.microsoft.com/office/drawing/2014/main" id="{DA4DD63E-2B83-AD43-A072-E27EDF417519}"/>
              </a:ext>
            </a:extLst>
          </p:cNvPr>
          <p:cNvCxnSpPr>
            <a:cxnSpLocks/>
          </p:cNvCxnSpPr>
          <p:nvPr/>
        </p:nvCxnSpPr>
        <p:spPr>
          <a:xfrm flipV="1">
            <a:off x="6300192" y="3865612"/>
            <a:ext cx="0" cy="2160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线箭头连接符 66">
            <a:extLst>
              <a:ext uri="{FF2B5EF4-FFF2-40B4-BE49-F238E27FC236}">
                <a16:creationId xmlns:a16="http://schemas.microsoft.com/office/drawing/2014/main" id="{77CB4471-D525-5D4F-A118-EA4824680602}"/>
              </a:ext>
            </a:extLst>
          </p:cNvPr>
          <p:cNvCxnSpPr>
            <a:cxnSpLocks/>
          </p:cNvCxnSpPr>
          <p:nvPr/>
        </p:nvCxnSpPr>
        <p:spPr>
          <a:xfrm flipV="1">
            <a:off x="6300192" y="3361556"/>
            <a:ext cx="0" cy="2160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13">
            <a:extLst>
              <a:ext uri="{FF2B5EF4-FFF2-40B4-BE49-F238E27FC236}">
                <a16:creationId xmlns:a16="http://schemas.microsoft.com/office/drawing/2014/main" id="{9E44F8DE-5A66-D749-A6BB-0B4394AF9847}"/>
              </a:ext>
            </a:extLst>
          </p:cNvPr>
          <p:cNvCxnSpPr>
            <a:cxnSpLocks/>
          </p:cNvCxnSpPr>
          <p:nvPr/>
        </p:nvCxnSpPr>
        <p:spPr>
          <a:xfrm>
            <a:off x="4644008" y="1057300"/>
            <a:ext cx="0" cy="417646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F770F25E-7A49-F847-ADA5-D6EC6B64775F}"/>
              </a:ext>
            </a:extLst>
          </p:cNvPr>
          <p:cNvSpPr txBox="1"/>
          <p:nvPr/>
        </p:nvSpPr>
        <p:spPr>
          <a:xfrm>
            <a:off x="1187624" y="5017740"/>
            <a:ext cx="2664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GICv3</a:t>
            </a:r>
            <a:r>
              <a:rPr kumimoji="1" lang="zh-CN" altLang="en-US" dirty="0"/>
              <a:t>中的物理中断插入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F9716956-6A2E-5548-B952-7093D6B21F84}"/>
              </a:ext>
            </a:extLst>
          </p:cNvPr>
          <p:cNvSpPr txBox="1"/>
          <p:nvPr/>
        </p:nvSpPr>
        <p:spPr>
          <a:xfrm>
            <a:off x="5292080" y="4945732"/>
            <a:ext cx="2685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GICv4</a:t>
            </a:r>
            <a:r>
              <a:rPr kumimoji="1" lang="zh-CN" altLang="en-US" dirty="0"/>
              <a:t>中的物理中断插入</a:t>
            </a:r>
          </a:p>
        </p:txBody>
      </p:sp>
    </p:spTree>
    <p:extLst>
      <p:ext uri="{BB962C8B-B14F-4D97-AF65-F5344CB8AC3E}">
        <p14:creationId xmlns:p14="http://schemas.microsoft.com/office/powerpoint/2010/main" val="3522583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49575</TotalTime>
  <Words>3332</Words>
  <Application>Microsoft Macintosh PowerPoint</Application>
  <PresentationFormat>On-screen Show (16:10)</PresentationFormat>
  <Paragraphs>779</Paragraphs>
  <Slides>54</Slides>
  <Notes>8</Notes>
  <HiddenSlides>4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0" baseType="lpstr">
      <vt:lpstr>DengXian</vt:lpstr>
      <vt:lpstr>DengXian</vt:lpstr>
      <vt:lpstr>微软雅黑</vt:lpstr>
      <vt:lpstr>Arial</vt:lpstr>
      <vt:lpstr>Calibri</vt:lpstr>
      <vt:lpstr>Office 主题​​</vt:lpstr>
      <vt:lpstr>系统虚拟化</vt:lpstr>
      <vt:lpstr>版权声明</vt:lpstr>
      <vt:lpstr>Review：虚拟机支持多个虚拟CPU</vt:lpstr>
      <vt:lpstr>Review: 系统虚拟化的流程</vt:lpstr>
      <vt:lpstr>Review: 如何处理这些不会下陷的敏感指令？</vt:lpstr>
      <vt:lpstr>Review：影子页表</vt:lpstr>
      <vt:lpstr>Review：Direct Paging (Para-virtualization)</vt:lpstr>
      <vt:lpstr>硬件虚拟化对内存翻译的支持</vt:lpstr>
      <vt:lpstr>第二阶段页表</vt:lpstr>
      <vt:lpstr>第二阶段4级页表</vt:lpstr>
      <vt:lpstr>VTTBR_EL2</vt:lpstr>
      <vt:lpstr>第二阶段页表项</vt:lpstr>
      <vt:lpstr>翻译过程</vt:lpstr>
      <vt:lpstr>TLB：缓存地址翻译结果</vt:lpstr>
      <vt:lpstr>TLB刷新</vt:lpstr>
      <vt:lpstr>如何处理缺页异常</vt:lpstr>
      <vt:lpstr>第二阶段页表的优缺点</vt:lpstr>
      <vt:lpstr>如何实现虚拟机级别的内存换页？</vt:lpstr>
      <vt:lpstr>内存气球机制</vt:lpstr>
      <vt:lpstr>I/O虚拟化</vt:lpstr>
      <vt:lpstr>为什么需要IO虚拟化</vt:lpstr>
      <vt:lpstr>如果VM直接管理物理网卡</vt:lpstr>
      <vt:lpstr>I/O虚拟化的目标</vt:lpstr>
      <vt:lpstr>怎么实现I/O虚拟化?</vt:lpstr>
      <vt:lpstr>方法1：设备模拟</vt:lpstr>
      <vt:lpstr>例：QEMU/KVM设备模拟1</vt:lpstr>
      <vt:lpstr>例：QEMU/KVM设备模拟2</vt:lpstr>
      <vt:lpstr>设备模拟的优缺点</vt:lpstr>
      <vt:lpstr>方法2：半虚拟化方式</vt:lpstr>
      <vt:lpstr>VirtIO: Unified Para-virtualized I/O</vt:lpstr>
      <vt:lpstr>Virtqueue</vt:lpstr>
      <vt:lpstr>例：QEMU/KVM半虚拟化：发网络包 </vt:lpstr>
      <vt:lpstr>例：QEMU/KVM半虚拟化：收网络包 </vt:lpstr>
      <vt:lpstr>半虚拟化方式的优缺点</vt:lpstr>
      <vt:lpstr>方法3：设备直通</vt:lpstr>
      <vt:lpstr>问题1：DMA恶意读写内存</vt:lpstr>
      <vt:lpstr>使用IOMMU</vt:lpstr>
      <vt:lpstr>IOMMU与MMU</vt:lpstr>
      <vt:lpstr>ARM SMMU</vt:lpstr>
      <vt:lpstr>SMMU的页表</vt:lpstr>
      <vt:lpstr>ARM SMMU翻译过程</vt:lpstr>
      <vt:lpstr>问题2：设备独占</vt:lpstr>
      <vt:lpstr>Single Root I/O Virtualization (SR-IOV)</vt:lpstr>
      <vt:lpstr>SR-IOV的使用</vt:lpstr>
      <vt:lpstr>设备直通的优缺点</vt:lpstr>
      <vt:lpstr>I/O虚拟化技术对比</vt:lpstr>
      <vt:lpstr>中断虚拟化</vt:lpstr>
      <vt:lpstr>ARM中断虚拟化的实现方法</vt:lpstr>
      <vt:lpstr>回顾GIC</vt:lpstr>
      <vt:lpstr>Virtual CPU Interface</vt:lpstr>
      <vt:lpstr>插入虚拟中断</vt:lpstr>
      <vt:lpstr>插入虚拟中断：以半虚拟化举例</vt:lpstr>
      <vt:lpstr>不打断虚拟机执行：GIC ITS</vt:lpstr>
      <vt:lpstr>虚拟中断的直接插入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Mi Nil</cp:lastModifiedBy>
  <cp:revision>5116</cp:revision>
  <cp:lastPrinted>2016-06-13T07:55:34Z</cp:lastPrinted>
  <dcterms:created xsi:type="dcterms:W3CDTF">2017-11-24T09:35:45Z</dcterms:created>
  <dcterms:modified xsi:type="dcterms:W3CDTF">2022-05-10T01:49:10Z</dcterms:modified>
</cp:coreProperties>
</file>