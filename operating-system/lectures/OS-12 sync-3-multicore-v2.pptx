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6"/>
  </p:notesMasterIdLst>
  <p:handoutMasterIdLst>
    <p:handoutMasterId r:id="rId97"/>
  </p:handoutMasterIdLst>
  <p:sldIdLst>
    <p:sldId id="1306" r:id="rId2"/>
    <p:sldId id="1359" r:id="rId3"/>
    <p:sldId id="2418" r:id="rId4"/>
    <p:sldId id="1431" r:id="rId5"/>
    <p:sldId id="2425" r:id="rId6"/>
    <p:sldId id="2348" r:id="rId7"/>
    <p:sldId id="1435" r:id="rId8"/>
    <p:sldId id="1438" r:id="rId9"/>
    <p:sldId id="1439" r:id="rId10"/>
    <p:sldId id="1437" r:id="rId11"/>
    <p:sldId id="1440" r:id="rId12"/>
    <p:sldId id="1441" r:id="rId13"/>
    <p:sldId id="2399" r:id="rId14"/>
    <p:sldId id="2400" r:id="rId15"/>
    <p:sldId id="2401" r:id="rId16"/>
    <p:sldId id="2397" r:id="rId17"/>
    <p:sldId id="1371" r:id="rId18"/>
    <p:sldId id="1363" r:id="rId19"/>
    <p:sldId id="1393" r:id="rId20"/>
    <p:sldId id="1463" r:id="rId21"/>
    <p:sldId id="1464" r:id="rId22"/>
    <p:sldId id="1491" r:id="rId23"/>
    <p:sldId id="1489" r:id="rId24"/>
    <p:sldId id="1465" r:id="rId25"/>
    <p:sldId id="1467" r:id="rId26"/>
    <p:sldId id="1372" r:id="rId27"/>
    <p:sldId id="1365" r:id="rId28"/>
    <p:sldId id="1392" r:id="rId29"/>
    <p:sldId id="1366" r:id="rId30"/>
    <p:sldId id="1369" r:id="rId31"/>
    <p:sldId id="1370" r:id="rId32"/>
    <p:sldId id="1398" r:id="rId33"/>
    <p:sldId id="1397" r:id="rId34"/>
    <p:sldId id="1373" r:id="rId35"/>
    <p:sldId id="1394" r:id="rId36"/>
    <p:sldId id="1400" r:id="rId37"/>
    <p:sldId id="1401" r:id="rId38"/>
    <p:sldId id="1402" r:id="rId39"/>
    <p:sldId id="1403" r:id="rId40"/>
    <p:sldId id="1404" r:id="rId41"/>
    <p:sldId id="1405" r:id="rId42"/>
    <p:sldId id="1406" r:id="rId43"/>
    <p:sldId id="1407" r:id="rId44"/>
    <p:sldId id="1408" r:id="rId45"/>
    <p:sldId id="1409" r:id="rId46"/>
    <p:sldId id="1442" r:id="rId47"/>
    <p:sldId id="1443" r:id="rId48"/>
    <p:sldId id="1444" r:id="rId49"/>
    <p:sldId id="1445" r:id="rId50"/>
    <p:sldId id="1446" r:id="rId51"/>
    <p:sldId id="2426" r:id="rId52"/>
    <p:sldId id="1385" r:id="rId53"/>
    <p:sldId id="1447" r:id="rId54"/>
    <p:sldId id="1448" r:id="rId55"/>
    <p:sldId id="2427" r:id="rId56"/>
    <p:sldId id="1449" r:id="rId57"/>
    <p:sldId id="1492" r:id="rId58"/>
    <p:sldId id="1450" r:id="rId59"/>
    <p:sldId id="1468" r:id="rId60"/>
    <p:sldId id="1469" r:id="rId61"/>
    <p:sldId id="1451" r:id="rId62"/>
    <p:sldId id="1470" r:id="rId63"/>
    <p:sldId id="1452" r:id="rId64"/>
    <p:sldId id="1453" r:id="rId65"/>
    <p:sldId id="1454" r:id="rId66"/>
    <p:sldId id="1455" r:id="rId67"/>
    <p:sldId id="1413" r:id="rId68"/>
    <p:sldId id="1378" r:id="rId69"/>
    <p:sldId id="1490" r:id="rId70"/>
    <p:sldId id="1482" r:id="rId71"/>
    <p:sldId id="1379" r:id="rId72"/>
    <p:sldId id="2428" r:id="rId73"/>
    <p:sldId id="1436" r:id="rId74"/>
    <p:sldId id="1410" r:id="rId75"/>
    <p:sldId id="1411" r:id="rId76"/>
    <p:sldId id="1387" r:id="rId77"/>
    <p:sldId id="1456" r:id="rId78"/>
    <p:sldId id="1481" r:id="rId79"/>
    <p:sldId id="2431" r:id="rId80"/>
    <p:sldId id="1483" r:id="rId81"/>
    <p:sldId id="1457" r:id="rId82"/>
    <p:sldId id="1484" r:id="rId83"/>
    <p:sldId id="1485" r:id="rId84"/>
    <p:sldId id="1486" r:id="rId85"/>
    <p:sldId id="2429" r:id="rId86"/>
    <p:sldId id="2432" r:id="rId87"/>
    <p:sldId id="1493" r:id="rId88"/>
    <p:sldId id="2368" r:id="rId89"/>
    <p:sldId id="2430" r:id="rId90"/>
    <p:sldId id="1513" r:id="rId91"/>
    <p:sldId id="2370" r:id="rId92"/>
    <p:sldId id="1514" r:id="rId93"/>
    <p:sldId id="2404" r:id="rId94"/>
    <p:sldId id="1412" r:id="rId95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FB92"/>
    <a:srgbClr val="941100"/>
    <a:srgbClr val="212121"/>
    <a:srgbClr val="005493"/>
    <a:srgbClr val="9437FF"/>
    <a:srgbClr val="73FEFF"/>
    <a:srgbClr val="ED3C64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79132" autoAdjust="0"/>
  </p:normalViewPr>
  <p:slideViewPr>
    <p:cSldViewPr>
      <p:cViewPr varScale="1">
        <p:scale>
          <a:sx n="113" d="100"/>
          <a:sy n="113" d="100"/>
        </p:scale>
        <p:origin x="1640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全局可利用资源：该向量代表某一时刻系统中每一类元素的可用个数。这个向量初始化时设置为系统中拥有的第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类资源的总量。</a:t>
            </a:r>
          </a:p>
          <a:p>
            <a:r>
              <a:rPr lang="zh-CN" altLang="en-US" dirty="0"/>
              <a:t>每线程最大需求量：该矩阵包含所有线程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对第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类资源的最大需求量。</a:t>
            </a:r>
          </a:p>
          <a:p>
            <a:r>
              <a:rPr lang="zh-CN" altLang="en-US" dirty="0"/>
              <a:t>已分配资源：该矩阵包含已经分配给所有线程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的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种资源的数量。</a:t>
            </a:r>
          </a:p>
          <a:p>
            <a:r>
              <a:rPr lang="zh-CN" altLang="en-US" dirty="0"/>
              <a:t>还需要的资源：该矩阵包含所有线程</a:t>
            </a:r>
            <a:r>
              <a:rPr lang="en-US" altLang="zh-CN" dirty="0"/>
              <a:t>$</a:t>
            </a:r>
            <a:r>
              <a:rPr lang="en-US" dirty="0"/>
              <a:t>N$</a:t>
            </a:r>
            <a:r>
              <a:rPr lang="zh-CN" altLang="en-US" dirty="0"/>
              <a:t>对第</a:t>
            </a:r>
            <a:r>
              <a:rPr lang="en-US" altLang="zh-CN" dirty="0"/>
              <a:t>$</a:t>
            </a:r>
            <a:r>
              <a:rPr lang="en-US" dirty="0"/>
              <a:t>M$</a:t>
            </a:r>
            <a:r>
              <a:rPr lang="zh-CN" altLang="en-US" dirty="0"/>
              <a:t>累资源还需要的资源数量。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955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3</a:t>
            </a:r>
            <a:r>
              <a:rPr kumimoji="1" lang="zh-CN" altLang="en-US" dirty="0"/>
              <a:t>个进程（</a:t>
            </a:r>
            <a:r>
              <a:rPr kumimoji="1" lang="en-US" altLang="zh-CN" dirty="0"/>
              <a:t>P1,</a:t>
            </a:r>
            <a:r>
              <a:rPr kumimoji="1" lang="zh-CN" altLang="en-US" dirty="0"/>
              <a:t> </a:t>
            </a:r>
            <a:r>
              <a:rPr kumimoji="1" lang="en-US" altLang="zh-CN" dirty="0"/>
              <a:t>P2,</a:t>
            </a:r>
            <a:r>
              <a:rPr kumimoji="1" lang="zh-CN" altLang="en-US" dirty="0"/>
              <a:t> </a:t>
            </a:r>
            <a:r>
              <a:rPr kumimoji="1" lang="en-US" altLang="zh-CN" dirty="0"/>
              <a:t>P3</a:t>
            </a:r>
            <a:r>
              <a:rPr kumimoji="1" lang="zh-CN" altLang="en-US" dirty="0"/>
              <a:t>）需要</a:t>
            </a:r>
            <a:r>
              <a:rPr kumimoji="1" lang="en-US" altLang="zh-CN" dirty="0"/>
              <a:t>2</a:t>
            </a:r>
            <a:r>
              <a:rPr kumimoji="1" lang="zh-CN" altLang="en-US" dirty="0"/>
              <a:t>种资源（</a:t>
            </a:r>
            <a:r>
              <a:rPr kumimoji="1" lang="en-US" altLang="zh-CN" dirty="0"/>
              <a:t>A,</a:t>
            </a:r>
            <a:r>
              <a:rPr kumimoji="1" lang="zh-CN" altLang="en-US" dirty="0"/>
              <a:t> </a:t>
            </a:r>
            <a:r>
              <a:rPr kumimoji="1" lang="en-US" altLang="zh-CN" dirty="0"/>
              <a:t>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第一行：</a:t>
            </a:r>
            <a:r>
              <a:rPr kumimoji="1" lang="en-US" altLang="zh-CN" dirty="0"/>
              <a:t>P1</a:t>
            </a:r>
            <a:r>
              <a:rPr kumimoji="1" lang="zh-CN" altLang="en-US" dirty="0"/>
              <a:t>最多给</a:t>
            </a:r>
            <a:r>
              <a:rPr kumimoji="1" lang="en-US" altLang="zh-CN" dirty="0"/>
              <a:t>5</a:t>
            </a:r>
            <a:r>
              <a:rPr kumimoji="1" lang="zh-CN" altLang="en-US" dirty="0"/>
              <a:t>个</a:t>
            </a:r>
            <a:r>
              <a:rPr kumimoji="1" lang="en-US" altLang="zh-CN" dirty="0"/>
              <a:t>A</a:t>
            </a:r>
            <a:r>
              <a:rPr kumimoji="1" lang="zh-CN" altLang="en-US" dirty="0"/>
              <a:t>，已经拿到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</a:t>
            </a:r>
            <a:r>
              <a:rPr kumimoji="1" lang="en-US" altLang="zh-CN" dirty="0"/>
              <a:t>A</a:t>
            </a:r>
            <a:r>
              <a:rPr kumimoji="1" lang="zh-CN" altLang="en-US" dirty="0"/>
              <a:t>，还需要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</a:t>
            </a:r>
            <a:r>
              <a:rPr kumimoji="1" lang="en-US" altLang="zh-CN" dirty="0"/>
              <a:t>A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A</a:t>
            </a:r>
            <a:r>
              <a:rPr kumimoji="1" lang="zh-CN" altLang="en-US" dirty="0"/>
              <a:t>还剩下</a:t>
            </a:r>
            <a:r>
              <a:rPr kumimoji="1" lang="en-US" altLang="zh-CN" dirty="0"/>
              <a:t>3</a:t>
            </a:r>
            <a:r>
              <a:rPr kumimoji="1" lang="zh-CN" altLang="en-US" dirty="0"/>
              <a:t>个，</a:t>
            </a:r>
            <a:r>
              <a:rPr kumimoji="1" lang="en-US" altLang="zh-CN" dirty="0"/>
              <a:t>B</a:t>
            </a:r>
            <a:r>
              <a:rPr kumimoji="1" lang="zh-CN" altLang="en-US" dirty="0"/>
              <a:t>还剩下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应该先给谁资源？不如选择</a:t>
            </a:r>
            <a:r>
              <a:rPr kumimoji="1" lang="en-US" altLang="zh-CN" dirty="0"/>
              <a:t>P2</a:t>
            </a:r>
            <a:r>
              <a:rPr kumimoji="1" lang="zh-CN" altLang="en-US" dirty="0"/>
              <a:t>，因为当前剩余的资源只够</a:t>
            </a:r>
            <a:r>
              <a:rPr kumimoji="1" lang="en-US" altLang="zh-CN" dirty="0"/>
              <a:t>P2</a:t>
            </a:r>
            <a:r>
              <a:rPr kumimoji="1" lang="zh-CN" altLang="en-US" dirty="0"/>
              <a:t>继续运行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9741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假设上一步选择了</a:t>
            </a:r>
            <a:r>
              <a:rPr kumimoji="1" lang="en-US" altLang="zh-CN" dirty="0"/>
              <a:t>P2</a:t>
            </a:r>
            <a:r>
              <a:rPr kumimoji="1" lang="zh-CN" altLang="en-US" dirty="0"/>
              <a:t>；于是</a:t>
            </a:r>
            <a:r>
              <a:rPr kumimoji="1" lang="en-US" altLang="zh-CN" dirty="0"/>
              <a:t>P2</a:t>
            </a:r>
            <a:r>
              <a:rPr kumimoji="1" lang="zh-CN" altLang="en-US" dirty="0"/>
              <a:t>能够正常执行，当</a:t>
            </a:r>
            <a:r>
              <a:rPr kumimoji="1" lang="en-US" altLang="zh-CN" dirty="0"/>
              <a:t>P2</a:t>
            </a:r>
            <a:r>
              <a:rPr kumimoji="1" lang="zh-CN" altLang="en-US" dirty="0"/>
              <a:t>退出，释放了所有拿到的资源（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个</a:t>
            </a:r>
            <a:r>
              <a:rPr kumimoji="1" lang="en-US" altLang="zh-CN" dirty="0"/>
              <a:t>B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在看此时的表格第一行：剩余的资源足够支撑</a:t>
            </a:r>
            <a:r>
              <a:rPr kumimoji="1" lang="en-US" altLang="zh-CN" dirty="0"/>
              <a:t>P1</a:t>
            </a:r>
            <a:r>
              <a:rPr kumimoji="1" lang="zh-CN" altLang="en-US" dirty="0"/>
              <a:t>运行了，于是选择运行</a:t>
            </a:r>
            <a:r>
              <a:rPr kumimoji="1" lang="en-US" altLang="zh-CN" dirty="0"/>
              <a:t>P1</a:t>
            </a:r>
            <a:r>
              <a:rPr kumimoji="1" lang="zh-CN" altLang="en-US" dirty="0"/>
              <a:t>，即把</a:t>
            </a:r>
            <a:r>
              <a:rPr kumimoji="1" lang="en-US" altLang="zh-CN" dirty="0"/>
              <a:t>Ax3</a:t>
            </a:r>
            <a:r>
              <a:rPr kumimoji="1" lang="zh-CN" altLang="en-US" dirty="0"/>
              <a:t>和</a:t>
            </a:r>
            <a:r>
              <a:rPr kumimoji="1" lang="en-US" altLang="zh-CN" dirty="0"/>
              <a:t>Bx2</a:t>
            </a:r>
            <a:r>
              <a:rPr kumimoji="1" lang="zh-CN" altLang="en-US" dirty="0"/>
              <a:t>都给</a:t>
            </a:r>
            <a:r>
              <a:rPr kumimoji="1" lang="en-US" altLang="zh-CN" dirty="0"/>
              <a:t>P1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219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P1</a:t>
            </a:r>
            <a:r>
              <a:rPr kumimoji="1" lang="zh-CN" altLang="en-US" dirty="0"/>
              <a:t>运行完成，释放资源，于是</a:t>
            </a:r>
            <a:r>
              <a:rPr kumimoji="1" lang="en-US" altLang="zh-CN" dirty="0"/>
              <a:t>P3</a:t>
            </a:r>
            <a:r>
              <a:rPr kumimoji="1" lang="zh-CN" altLang="en-US" dirty="0"/>
              <a:t>可以运行了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5209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最终</a:t>
            </a:r>
            <a:r>
              <a:rPr kumimoji="1" lang="en-US" altLang="zh-CN" dirty="0"/>
              <a:t>P3</a:t>
            </a:r>
            <a:r>
              <a:rPr kumimoji="1" lang="zh-CN" altLang="en-US" dirty="0"/>
              <a:t>运行完成，释放所有资源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49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所以，此时有至少一种执行序列（</a:t>
            </a:r>
            <a:r>
              <a:rPr kumimoji="1" lang="en-US" altLang="zh-CN" dirty="0"/>
              <a:t>P2-&gt;P1-&gt;P3</a:t>
            </a:r>
            <a:r>
              <a:rPr kumimoji="1" lang="zh-CN" altLang="en-US" dirty="0"/>
              <a:t>），能够正常执行完成。这时就处于安全状态。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380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所以，银行家算法需要先了解所有进程需要什么，而且需要找到至少一种可能的安全序列，在性能上会非常受影响。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866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TODO</a:t>
            </a:r>
            <a:r>
              <a:rPr lang="zh-CN" altLang="en-US"/>
              <a:t> </a:t>
            </a:r>
            <a:r>
              <a:rPr lang="en-US" altLang="zh-CN"/>
              <a:t>Intro</a:t>
            </a:r>
            <a:r>
              <a:rPr lang="zh-CN" altLang="en-US"/>
              <a:t>部分在另一个</a:t>
            </a:r>
            <a:r>
              <a:rPr lang="en-US" altLang="zh-CN"/>
              <a:t>slides</a:t>
            </a:r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2669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多核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使用共享内存抽象</a:t>
            </a:r>
            <a:endParaRPr lang="en-US" altLang="zh-CN" sz="1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CN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回顾</a:t>
            </a:r>
            <a:r>
              <a:rPr lang="zh-CN" altLang="en-US" sz="1400">
                <a:latin typeface="Microsoft YaHei" panose="020B0503020204020204" pitchFamily="34" charset="-122"/>
                <a:ea typeface="Microsoft YaHei" panose="020B0503020204020204" pitchFamily="34" charset="-122"/>
              </a:rPr>
              <a:t>单核中的高速缓存</a:t>
            </a:r>
            <a:endParaRPr lang="en-CN" sz="1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849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4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345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665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协议</a:t>
            </a:r>
            <a:r>
              <a:rPr lang="zh-CN" altLang="en-US"/>
              <a:t>就涉及到状态，状态迁移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505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回到</a:t>
            </a:r>
            <a:r>
              <a:rPr lang="zh-CN" altLang="en-US"/>
              <a:t>刚才的例子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47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320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完全解决竞争不现实：</a:t>
            </a:r>
            <a:endParaRPr lang="en-US" altLang="zh-CN" dirty="0"/>
          </a:p>
          <a:p>
            <a:r>
              <a:rPr lang="zh-CN" altLang="en-US" dirty="0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055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125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1265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438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9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1185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7138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080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036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完全解决竞争不现实：</a:t>
            </a:r>
            <a:endParaRPr lang="en-US" altLang="zh-CN"/>
          </a:p>
          <a:p>
            <a:r>
              <a:rPr lang="zh-CN" altLang="en-US"/>
              <a:t>将其移到关键路径之外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36670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3468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一个</a:t>
            </a:r>
            <a:r>
              <a:rPr lang="zh-CN" altLang="en-US"/>
              <a:t>内存控制器 放中间，内存访问都慢</a:t>
            </a:r>
            <a:endParaRPr lang="en-US" altLang="zh-CN"/>
          </a:p>
          <a:p>
            <a:r>
              <a:rPr lang="zh-CN" altLang="en-US"/>
              <a:t>放两个，局部都快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9005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每个节点最多传</a:t>
            </a:r>
            <a:r>
              <a:rPr kumimoji="1" lang="en-US" altLang="zh-CN" dirty="0"/>
              <a:t>N</a:t>
            </a:r>
            <a:r>
              <a:rPr kumimoji="1" lang="zh-CN" altLang="en-US" dirty="0"/>
              <a:t>次，为了公平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45004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回到正题</a:t>
            </a:r>
            <a:r>
              <a:rPr lang="zh-CN" altLang="en-US" dirty="0"/>
              <a:t>，</a:t>
            </a:r>
            <a:r>
              <a:rPr lang="en-US" altLang="zh-CN" dirty="0"/>
              <a:t>Cohort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还是会</a:t>
            </a:r>
            <a:r>
              <a:rPr lang="en-US" altLang="zh-CN" dirty="0"/>
              <a:t>collapse</a:t>
            </a:r>
          </a:p>
          <a:p>
            <a:r>
              <a:rPr lang="zh-CN" altLang="en-US" dirty="0"/>
              <a:t>有没有办法能够维持理想的性能？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2220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迁移锁</a:t>
            </a:r>
            <a:r>
              <a:rPr lang="en-US" altLang="zh-CN"/>
              <a:t>/</a:t>
            </a:r>
            <a:r>
              <a:rPr lang="zh-CN" altLang="en-US"/>
              <a:t>代理锁，达成这个目标。</a:t>
            </a:r>
            <a:endParaRPr lang="en-CN" altLang="zh-CN"/>
          </a:p>
          <a:p>
            <a:endParaRPr lang="en-CN" altLang="zh-CN"/>
          </a:p>
          <a:p>
            <a:r>
              <a:rPr lang="zh-CN" altLang="en-US"/>
              <a:t>与其让</a:t>
            </a:r>
            <a:r>
              <a:rPr lang="en-US" altLang="zh-CN"/>
              <a:t>cache</a:t>
            </a:r>
            <a:r>
              <a:rPr lang="zh-CN" altLang="en-US"/>
              <a:t> </a:t>
            </a:r>
            <a:r>
              <a:rPr lang="en-US" altLang="zh-CN"/>
              <a:t>line</a:t>
            </a:r>
            <a:r>
              <a:rPr lang="zh-CN" altLang="en-US"/>
              <a:t>在不同的核心之间迁移，</a:t>
            </a:r>
            <a:endParaRPr lang="en-US" altLang="zh-CN"/>
          </a:p>
          <a:p>
            <a:r>
              <a:rPr lang="zh-CN" altLang="en-US"/>
              <a:t>为什么不直接找一个核心，固定死只让这一个核心访问这些共享的缓存行？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牵扯到一个代理执行的概念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0886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对于锁服务器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遍历请求队列，一一执行临界区的</a:t>
            </a:r>
            <a:r>
              <a:rPr lang="zh-CN" altLang="en-CN"/>
              <a:t>闭包</a:t>
            </a:r>
            <a:r>
              <a:rPr lang="zh-CN" altLang="en-US"/>
              <a:t>函数，</a:t>
            </a:r>
            <a:endParaRPr lang="en-US" altLang="zh-CN"/>
          </a:p>
          <a:p>
            <a:r>
              <a:rPr lang="zh-CN" altLang="en-US"/>
              <a:t>并在执行完后发送执行结果。</a:t>
            </a:r>
            <a:endParaRPr lang="en-US" altLang="zh-CN"/>
          </a:p>
          <a:p>
            <a:endParaRPr lang="en-US"/>
          </a:p>
          <a:p>
            <a:r>
              <a:rPr lang="zh-CN" altLang="en-US"/>
              <a:t>通过这个方式，可以避免临界区内的全局缓存行在不同的</a:t>
            </a:r>
            <a:r>
              <a:rPr lang="en-US" altLang="zh-CN"/>
              <a:t>NUMA</a:t>
            </a:r>
            <a:r>
              <a:rPr lang="zh-CN" altLang="en-US"/>
              <a:t>节点之间迁移，</a:t>
            </a:r>
            <a:endParaRPr lang="en-US" altLang="zh-CN"/>
          </a:p>
          <a:p>
            <a:r>
              <a:rPr lang="zh-CN" altLang="en-US"/>
              <a:t>转变成本地的访问，从而提升性能。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5641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那么这个全局</a:t>
            </a:r>
          </a:p>
          <a:p>
            <a:endParaRPr lang="en-CN"/>
          </a:p>
          <a:p>
            <a:r>
              <a:rPr lang="en-CN"/>
              <a:t>代理锁也分成了很多类型</a:t>
            </a:r>
            <a:r>
              <a:rPr lang="zh-CN" altLang="en-US"/>
              <a:t>，</a:t>
            </a:r>
            <a:endParaRPr lang="en-CN" altLang="zh-CN"/>
          </a:p>
          <a:p>
            <a:r>
              <a:rPr lang="en-CN"/>
              <a:t>包括选定固定核心作为专门锁服务器的代理锁</a:t>
            </a:r>
          </a:p>
          <a:p>
            <a:endParaRPr lang="en-CN"/>
          </a:p>
          <a:p>
            <a:r>
              <a:rPr lang="en-CN"/>
              <a:t>以及动态地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610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代理锁的性能远远超出了之前说的MCS锁与Cohort锁</a:t>
            </a:r>
            <a:r>
              <a:rPr lang="zh-CN" altLang="en-US"/>
              <a:t>。</a:t>
            </a:r>
            <a:endParaRPr lang="en-US" altLang="zh-CN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064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代理锁的性能远远超出了之前说的MCS锁与Cohort锁</a:t>
            </a:r>
            <a:r>
              <a:rPr lang="zh-CN" altLang="en-US"/>
              <a:t>。</a:t>
            </a:r>
            <a:endParaRPr lang="en-US" altLang="zh-CN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479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numa_alloc</a:t>
            </a:r>
            <a:r>
              <a:rPr kumimoji="1" lang="zh-CN" altLang="en-US" dirty="0"/>
              <a:t>，用户会知道</a:t>
            </a:r>
            <a:r>
              <a:rPr kumimoji="1" lang="en-US" altLang="zh-CN" dirty="0"/>
              <a:t>NUMA</a:t>
            </a:r>
            <a:r>
              <a:rPr kumimoji="1" lang="zh-CN" altLang="en-US" dirty="0"/>
              <a:t>结构，也需要绑核控制调度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476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lwn.net/Articles/561775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3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8.emf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24268"/>
            <a:ext cx="7772400" cy="185658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dirty="0"/>
              <a:t>同步原语与多核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1C19-1DB9-AE41-9EC0-88F4B3A9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C8833-68B6-AA4B-B635-1C1182A8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en-CN"/>
              <a:t>场景与同步原语总结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9435-AB77-C143-8EC6-FB05A5C7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DC1E-4978-E24E-A21B-66BBA268E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F51252-50C5-1E49-BDC2-E54FAA0FF686}"/>
              </a:ext>
            </a:extLst>
          </p:cNvPr>
          <p:cNvGraphicFramePr>
            <a:graphicFrameLocks noGrp="1"/>
          </p:cNvGraphicFramePr>
          <p:nvPr/>
        </p:nvGraphicFramePr>
        <p:xfrm>
          <a:off x="534379" y="1129308"/>
          <a:ext cx="8075241" cy="3737121"/>
        </p:xfrm>
        <a:graphic>
          <a:graphicData uri="http://schemas.openxmlformats.org/drawingml/2006/table">
            <a:tbl>
              <a:tblPr firstRow="1">
                <a:tableStyleId>{6E25E649-3F16-4E02-A733-19D2CDBF48F0}</a:tableStyleId>
              </a:tblPr>
              <a:tblGrid>
                <a:gridCol w="2691747">
                  <a:extLst>
                    <a:ext uri="{9D8B030D-6E8A-4147-A177-3AD203B41FA5}">
                      <a16:colId xmlns:a16="http://schemas.microsoft.com/office/drawing/2014/main" val="3432491353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2333092894"/>
                    </a:ext>
                  </a:extLst>
                </a:gridCol>
                <a:gridCol w="2691747">
                  <a:extLst>
                    <a:ext uri="{9D8B030D-6E8A-4147-A177-3AD203B41FA5}">
                      <a16:colId xmlns:a16="http://schemas.microsoft.com/office/drawing/2014/main" val="629810277"/>
                    </a:ext>
                  </a:extLst>
                </a:gridCol>
              </a:tblGrid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同步原语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描述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>
                          <a:effectLst/>
                        </a:rPr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020337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互斥锁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保证对共享资源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互斥访问</a:t>
                      </a:r>
                      <a:endParaRPr lang="zh-CN" altLang="en-US" sz="16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场景一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共享资源互斥访问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38639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读写锁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允许读者线程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并发读取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共享资源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衍生场景一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读写场景并发读取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211154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条件变量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提供线程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睡眠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与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唤醒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机制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场景二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条件等待与唤醒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681732"/>
                  </a:ext>
                </a:extLst>
              </a:tr>
              <a:tr h="6192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>
                          <a:solidFill>
                            <a:srgbClr val="000000"/>
                          </a:solidFill>
                          <a:effectLst/>
                        </a:rPr>
                        <a:t>信号量</a:t>
                      </a:r>
                      <a:endParaRPr lang="zh-CN" altLang="en-US" sz="1800" b="1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协调</a:t>
                      </a: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有限数量</a:t>
                      </a: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资源</a:t>
                      </a:r>
                      <a:br>
                        <a:rPr lang="en-US" altLang="zh-CN" sz="1600" b="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的消耗与释放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600" b="1">
                          <a:solidFill>
                            <a:srgbClr val="000000"/>
                          </a:solidFill>
                          <a:effectLst/>
                        </a:rPr>
                        <a:t>场景三</a:t>
                      </a:r>
                      <a:br>
                        <a:rPr lang="en-US" altLang="zh-CN" sz="1600" b="1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zh-CN" altLang="en-US" sz="1600" b="0">
                          <a:solidFill>
                            <a:srgbClr val="000000"/>
                          </a:solidFill>
                          <a:effectLst/>
                        </a:rPr>
                        <a:t>多资源协调管理</a:t>
                      </a:r>
                      <a:endParaRPr lang="zh-CN" altLang="en-US" sz="16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0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30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同步原语对比：读写锁 </a:t>
            </a:r>
            <a:r>
              <a:rPr lang="en-US" altLang="zh-CN"/>
              <a:t>vs RCU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9C6020-7245-114E-BF37-C4227FC438DF}"/>
              </a:ext>
            </a:extLst>
          </p:cNvPr>
          <p:cNvSpPr/>
          <p:nvPr/>
        </p:nvSpPr>
        <p:spPr>
          <a:xfrm>
            <a:off x="1403648" y="3104963"/>
            <a:ext cx="3960440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读者也需要上读者锁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关键路径上有额外开销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方便使用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可以选择对写者开销不大的读写锁</a:t>
            </a:r>
            <a:endParaRPr lang="en-US" altLang="zh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B6628F-293E-FD4A-B024-92DDE4937B6F}"/>
              </a:ext>
            </a:extLst>
          </p:cNvPr>
          <p:cNvSpPr/>
          <p:nvPr/>
        </p:nvSpPr>
        <p:spPr>
          <a:xfrm>
            <a:off x="1547664" y="1106882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读写锁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48B2DA-8285-614D-ADD6-69AD3182D9DD}"/>
              </a:ext>
            </a:extLst>
          </p:cNvPr>
          <p:cNvSpPr/>
          <p:nvPr/>
        </p:nvSpPr>
        <p:spPr>
          <a:xfrm>
            <a:off x="107504" y="1533013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相同点：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D6D562-EFD4-A244-A7A7-AA50018D2FAD}"/>
              </a:ext>
            </a:extLst>
          </p:cNvPr>
          <p:cNvSpPr/>
          <p:nvPr/>
        </p:nvSpPr>
        <p:spPr>
          <a:xfrm>
            <a:off x="107504" y="3217540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不同点：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FEA355-93E8-0E42-B619-1362A0288AB2}"/>
              </a:ext>
            </a:extLst>
          </p:cNvPr>
          <p:cNvSpPr/>
          <p:nvPr/>
        </p:nvSpPr>
        <p:spPr>
          <a:xfrm>
            <a:off x="5802555" y="1074554"/>
            <a:ext cx="144016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/>
              <a:t>RCU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6CBC67-2FE9-E442-B4CD-B1884FA04529}"/>
              </a:ext>
            </a:extLst>
          </p:cNvPr>
          <p:cNvSpPr/>
          <p:nvPr/>
        </p:nvSpPr>
        <p:spPr>
          <a:xfrm>
            <a:off x="3642315" y="1836962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CN"/>
              <a:t>允许</a:t>
            </a:r>
            <a:r>
              <a:rPr lang="zh-CN" altLang="en-US"/>
              <a:t>读者并行</a:t>
            </a:r>
            <a:endParaRPr lang="en-US" altLang="zh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C5F32C-AA8D-6E4A-B4EC-5B0FBF568C20}"/>
              </a:ext>
            </a:extLst>
          </p:cNvPr>
          <p:cNvSpPr/>
          <p:nvPr/>
        </p:nvSpPr>
        <p:spPr>
          <a:xfrm>
            <a:off x="5364088" y="3069824"/>
            <a:ext cx="3168352" cy="1668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读者无需上锁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使用较繁琐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写者开销大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D84C9-9BF2-E046-85F2-2E814CCA0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082C3-68A2-6142-BE47-D277ADC0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7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回顾：死锁产生的原因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794E6F2-B919-4445-A567-C2BC174E590F}"/>
              </a:ext>
            </a:extLst>
          </p:cNvPr>
          <p:cNvSpPr/>
          <p:nvPr/>
        </p:nvSpPr>
        <p:spPr>
          <a:xfrm>
            <a:off x="5297729" y="900168"/>
            <a:ext cx="362691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 dirty="0">
                <a:latin typeface="Courier" pitchFamily="2" charset="0"/>
              </a:rPr>
              <a:t>void proc_A(void)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  <a:p>
            <a:endParaRPr lang="en-CN" sz="1400" dirty="0">
              <a:latin typeface="Courier" pitchFamily="2" charset="0"/>
            </a:endParaRPr>
          </a:p>
          <a:p>
            <a:r>
              <a:rPr lang="en-CN" sz="1400" dirty="0">
                <a:latin typeface="Courier" pitchFamily="2" charset="0"/>
              </a:rPr>
              <a:t>void proc_B(void) {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        /* Time T1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/* Critical Section */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(A);</a:t>
            </a:r>
          </a:p>
          <a:p>
            <a:r>
              <a:rPr lang="en-CN" sz="1400" dirty="0">
                <a:latin typeface="Courier" pitchFamily="2" charset="0"/>
              </a:rPr>
              <a:t>        </a:t>
            </a:r>
            <a:r>
              <a:rPr lang="en-CN" sz="1400" dirty="0">
                <a:solidFill>
                  <a:srgbClr val="FF9300"/>
                </a:solidFill>
                <a:latin typeface="Courier" pitchFamily="2" charset="0"/>
              </a:rPr>
              <a:t>unlock</a:t>
            </a:r>
            <a:r>
              <a:rPr lang="en-CN" sz="1400" dirty="0">
                <a:latin typeface="Courier" pitchFamily="2" charset="0"/>
              </a:rPr>
              <a:t>(B);</a:t>
            </a:r>
          </a:p>
          <a:p>
            <a:r>
              <a:rPr lang="en-CN" sz="1400" dirty="0">
                <a:latin typeface="Courier" pitchFamily="2" charset="0"/>
              </a:rPr>
              <a:t>}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5A2116D-4EED-764B-96C4-3C81E2D92818}"/>
              </a:ext>
            </a:extLst>
          </p:cNvPr>
          <p:cNvSpPr/>
          <p:nvPr/>
        </p:nvSpPr>
        <p:spPr>
          <a:xfrm>
            <a:off x="6031064" y="4513684"/>
            <a:ext cx="2160240" cy="560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zh-CN"/>
              <a:t>T1</a:t>
            </a:r>
            <a:r>
              <a:rPr lang="zh-CN" altLang="en-US"/>
              <a:t>时刻的死锁</a:t>
            </a:r>
            <a:endParaRPr lang="en-US" altLang="zh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D04B6E-CE71-014D-95C8-47C85402DA8D}"/>
              </a:ext>
            </a:extLst>
          </p:cNvPr>
          <p:cNvSpPr/>
          <p:nvPr/>
        </p:nvSpPr>
        <p:spPr>
          <a:xfrm>
            <a:off x="558592" y="1361050"/>
            <a:ext cx="3960440" cy="3171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互斥访问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持有并等待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资源非抢占</a:t>
            </a:r>
            <a:endParaRPr lang="en-US" altLang="zh-CN" sz="2600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600" b="1" dirty="0"/>
              <a:t>循环等待</a:t>
            </a:r>
            <a:endParaRPr lang="en-US" altLang="zh-CN" sz="26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4F8D53-5F63-D440-AC50-89607914F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14D89-4CE8-4A48-BBF7-2544B368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ADB72-0B1E-1445-9DAD-D6C9F00FCD8A}"/>
              </a:ext>
            </a:extLst>
          </p:cNvPr>
          <p:cNvSpPr/>
          <p:nvPr/>
        </p:nvSpPr>
        <p:spPr>
          <a:xfrm>
            <a:off x="899592" y="4579892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 dirty="0"/>
              <a:t>A</a:t>
            </a:r>
            <a:r>
              <a:rPr lang="zh-CN" altLang="en-CN" dirty="0"/>
              <a:t>等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等</a:t>
            </a:r>
            <a:r>
              <a:rPr lang="en-US" altLang="zh-CN" dirty="0"/>
              <a:t>A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43847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回顾：如何解决死锁？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0DEC5-F235-A547-A737-546BA54D7D8C}"/>
              </a:ext>
            </a:extLst>
          </p:cNvPr>
          <p:cNvSpPr/>
          <p:nvPr/>
        </p:nvSpPr>
        <p:spPr>
          <a:xfrm>
            <a:off x="755576" y="2703831"/>
            <a:ext cx="1415772" cy="718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/>
              <a:t>解决死锁</a:t>
            </a:r>
            <a:endParaRPr lang="en-US" altLang="zh-CN" sz="2400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2CFEFDEC-0C55-8C49-86CA-45C12EA2A316}"/>
              </a:ext>
            </a:extLst>
          </p:cNvPr>
          <p:cNvSpPr/>
          <p:nvPr/>
        </p:nvSpPr>
        <p:spPr>
          <a:xfrm>
            <a:off x="2411760" y="1921396"/>
            <a:ext cx="360040" cy="2520280"/>
          </a:xfrm>
          <a:prstGeom prst="leftBrace">
            <a:avLst>
              <a:gd name="adj1" fmla="val 53307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8D5124-F482-5F43-8231-2B223C05C07D}"/>
              </a:ext>
            </a:extLst>
          </p:cNvPr>
          <p:cNvSpPr/>
          <p:nvPr/>
        </p:nvSpPr>
        <p:spPr>
          <a:xfrm>
            <a:off x="3430216" y="1561356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 dirty="0"/>
              <a:t>出问题再处理：死锁的检测与恢复</a:t>
            </a:r>
            <a:endParaRPr lang="en-US" altLang="zh-CN" sz="23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506172-B547-B74D-8DBB-C5D5F71CA877}"/>
              </a:ext>
            </a:extLst>
          </p:cNvPr>
          <p:cNvSpPr/>
          <p:nvPr/>
        </p:nvSpPr>
        <p:spPr>
          <a:xfrm>
            <a:off x="3419872" y="2760131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 dirty="0"/>
              <a:t>设计时避免：死锁预防</a:t>
            </a:r>
            <a:endParaRPr lang="en-US" altLang="zh-CN" sz="23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75C6AB-EF73-9745-96DE-4CEF974EA3B1}"/>
              </a:ext>
            </a:extLst>
          </p:cNvPr>
          <p:cNvSpPr/>
          <p:nvPr/>
        </p:nvSpPr>
        <p:spPr>
          <a:xfrm>
            <a:off x="3419872" y="4027553"/>
            <a:ext cx="5256584" cy="692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300" b="1"/>
              <a:t>运行时避免死锁：死锁避免</a:t>
            </a:r>
            <a:endParaRPr lang="en-US" altLang="zh-CN" sz="2300" b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D84FE-A0A0-5347-BC59-3E1C3CD3D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448D6-694C-9843-8A1D-DE5DFA5A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95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死锁避免：银行家算法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1079612" y="114134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死锁避免：运行时检查是否会出现死锁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734A-96D5-5A48-B72F-E7C52729FC6A}"/>
              </a:ext>
            </a:extLst>
          </p:cNvPr>
          <p:cNvSpPr/>
          <p:nvPr/>
        </p:nvSpPr>
        <p:spPr>
          <a:xfrm>
            <a:off x="616766" y="1705372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银行家算法的核心：</a:t>
            </a: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75259F-EAFC-3E44-9D42-D5C11B3E0752}"/>
              </a:ext>
            </a:extLst>
          </p:cNvPr>
          <p:cNvSpPr/>
          <p:nvPr/>
        </p:nvSpPr>
        <p:spPr>
          <a:xfrm>
            <a:off x="899592" y="2288878"/>
            <a:ext cx="6536457" cy="246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CN" sz="2000" dirty="0"/>
              <a:t>所有</a:t>
            </a:r>
            <a:r>
              <a:rPr lang="zh-CN" altLang="en-US" sz="2000" dirty="0"/>
              <a:t>线程获取资源需要通过</a:t>
            </a:r>
            <a:r>
              <a:rPr lang="zh-CN" altLang="en-US" sz="2000" b="1" dirty="0"/>
              <a:t>管理者</a:t>
            </a:r>
            <a:r>
              <a:rPr lang="zh-CN" altLang="en-US" sz="2000" dirty="0"/>
              <a:t>同意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管理者</a:t>
            </a:r>
            <a:r>
              <a:rPr lang="zh-CN" altLang="en-US" sz="2000" b="1" dirty="0"/>
              <a:t>预演</a:t>
            </a:r>
            <a:r>
              <a:rPr lang="zh-CN" altLang="en-US" sz="2000" dirty="0"/>
              <a:t>会不会造成死锁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zh-CN" altLang="en-US" sz="2000" dirty="0"/>
              <a:t>如果会造成：阻塞线程，下次再给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Wingdings" pitchFamily="2" charset="2"/>
              <a:buChar char="§"/>
            </a:pPr>
            <a:r>
              <a:rPr lang="zh-CN" altLang="en-US" sz="2000" dirty="0"/>
              <a:t>如果不会造成：给线程该资源</a:t>
            </a:r>
            <a:endParaRPr lang="en-US" altLang="zh-CN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76D8A-96F4-0944-9269-5114212A0F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1F19B-597C-9C4A-8216-32298C058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34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死锁避免：银行家算法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1079612" y="1141341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如何</a:t>
            </a:r>
            <a:r>
              <a:rPr lang="zh-CN" altLang="en-US" b="1"/>
              <a:t>预演判断</a:t>
            </a:r>
            <a:r>
              <a:rPr lang="zh-CN" altLang="en-US"/>
              <a:t>？将系统划分为两个状态</a:t>
            </a: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17734A-96D5-5A48-B72F-E7C52729FC6A}"/>
              </a:ext>
            </a:extLst>
          </p:cNvPr>
          <p:cNvSpPr/>
          <p:nvPr/>
        </p:nvSpPr>
        <p:spPr>
          <a:xfrm>
            <a:off x="827584" y="2399041"/>
            <a:ext cx="22322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安全状态</a:t>
            </a:r>
            <a:endParaRPr lang="en-US" altLang="zh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8DBF98-3BEF-6B47-8149-1D0863127C4A}"/>
              </a:ext>
            </a:extLst>
          </p:cNvPr>
          <p:cNvSpPr/>
          <p:nvPr/>
        </p:nvSpPr>
        <p:spPr>
          <a:xfrm>
            <a:off x="470003" y="3524669"/>
            <a:ext cx="223224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非安全状态</a:t>
            </a:r>
            <a:endParaRPr lang="en-US" altLang="zh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E3F2C9-1E2B-A949-8FEE-0C57081A3F50}"/>
              </a:ext>
            </a:extLst>
          </p:cNvPr>
          <p:cNvSpPr/>
          <p:nvPr/>
        </p:nvSpPr>
        <p:spPr>
          <a:xfrm>
            <a:off x="683568" y="1818012"/>
            <a:ext cx="5869632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对于一组线程</a:t>
            </a:r>
            <a:r>
              <a:rPr lang="en-US" altLang="zh-CN" dirty="0"/>
              <a:t> {P1, P2, ... , </a:t>
            </a:r>
            <a:r>
              <a:rPr lang="en-US" altLang="zh-CN" dirty="0" err="1"/>
              <a:t>Pn</a:t>
            </a:r>
            <a:r>
              <a:rPr lang="en-US" altLang="zh-CN" dirty="0"/>
              <a:t>}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C9DADB-159A-D641-A572-C12C675AD55C}"/>
              </a:ext>
            </a:extLst>
          </p:cNvPr>
          <p:cNvSpPr/>
          <p:nvPr/>
        </p:nvSpPr>
        <p:spPr>
          <a:xfrm>
            <a:off x="809603" y="2943908"/>
            <a:ext cx="7992888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能找出至少一个执行序列，如</a:t>
            </a:r>
            <a:r>
              <a:rPr lang="en-US" altLang="zh-CN" dirty="0"/>
              <a:t>P2-&gt;P1-&gt;P5...</a:t>
            </a:r>
            <a:r>
              <a:rPr lang="zh-CN" altLang="en-US" dirty="0"/>
              <a:t>让所有线程需求得到满足</a:t>
            </a:r>
            <a:endParaRPr lang="en-US" altLang="zh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93FC50-A69C-804D-8EBE-C2F8EBB1E9AE}"/>
              </a:ext>
            </a:extLst>
          </p:cNvPr>
          <p:cNvSpPr/>
          <p:nvPr/>
        </p:nvSpPr>
        <p:spPr>
          <a:xfrm>
            <a:off x="1259632" y="4069536"/>
            <a:ext cx="3960440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不能找出这个序列，必定会导致死锁</a:t>
            </a:r>
            <a:endParaRPr lang="en-US" altLang="zh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1E2BF2-2B7B-3849-8DB3-D54BD89E3DEA}"/>
              </a:ext>
            </a:extLst>
          </p:cNvPr>
          <p:cNvSpPr/>
          <p:nvPr/>
        </p:nvSpPr>
        <p:spPr>
          <a:xfrm>
            <a:off x="1079612" y="4794670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银行家算法：保证系统一直处于</a:t>
            </a:r>
            <a:r>
              <a:rPr lang="zh-CN" altLang="en-US" b="1"/>
              <a:t>安全状态</a:t>
            </a:r>
            <a:r>
              <a:rPr lang="zh-CN" altLang="en-US"/>
              <a:t>，且按照这个序列执行</a:t>
            </a:r>
            <a:endParaRPr lang="en-US" altLang="zh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06BD4D-E7F7-B14F-9262-CDB44F5C7991}"/>
              </a:ext>
            </a:extLst>
          </p:cNvPr>
          <p:cNvSpPr/>
          <p:nvPr/>
        </p:nvSpPr>
        <p:spPr>
          <a:xfrm>
            <a:off x="5207929" y="4213909"/>
            <a:ext cx="2376264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accent1"/>
                </a:solidFill>
              </a:rPr>
              <a:t>安全性检查算法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EF973C-845D-A94A-BD44-33019434FEC3}"/>
              </a:ext>
            </a:extLst>
          </p:cNvPr>
          <p:cNvCxnSpPr>
            <a:cxnSpLocks/>
          </p:cNvCxnSpPr>
          <p:nvPr/>
        </p:nvCxnSpPr>
        <p:spPr>
          <a:xfrm flipH="1">
            <a:off x="5436097" y="4622098"/>
            <a:ext cx="288031" cy="194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A53AE7-F5A4-6145-8BFA-BC2CC209A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CB238-BABC-0F4D-BB12-F2973A21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052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银行家算法：安全性检查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6078BD-F7DC-564F-93C6-5083676195A6}"/>
              </a:ext>
            </a:extLst>
          </p:cNvPr>
          <p:cNvSpPr/>
          <p:nvPr/>
        </p:nvSpPr>
        <p:spPr>
          <a:xfrm>
            <a:off x="539552" y="1345332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四个数据结构：</a:t>
            </a:r>
            <a:endParaRPr lang="en-US" altLang="zh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035AFD-3214-7544-AA7E-543B5094AFA0}"/>
              </a:ext>
            </a:extLst>
          </p:cNvPr>
          <p:cNvSpPr/>
          <p:nvPr/>
        </p:nvSpPr>
        <p:spPr>
          <a:xfrm>
            <a:off x="899592" y="2145341"/>
            <a:ext cx="6030416" cy="222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全局可利用资源：Available[M]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每</a:t>
            </a:r>
            <a:r>
              <a:rPr lang="zh-CN" altLang="en-US" dirty="0">
                <a:latin typeface="+mn-ea"/>
              </a:rPr>
              <a:t>线程</a:t>
            </a:r>
            <a:r>
              <a:rPr lang="en-CN" dirty="0">
                <a:latin typeface="+mn-ea"/>
              </a:rPr>
              <a:t>最大需求量：Max[N][M]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已分配资源：Allocation[N][M]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dirty="0">
                <a:latin typeface="+mn-ea"/>
              </a:rPr>
              <a:t>还需要的资源：Need[N][M]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E2105-7887-5A43-B8DD-7CD81A3B9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DE6508-EB25-574D-883A-56A3E97284D3}"/>
              </a:ext>
            </a:extLst>
          </p:cNvPr>
          <p:cNvSpPr/>
          <p:nvPr/>
        </p:nvSpPr>
        <p:spPr>
          <a:xfrm>
            <a:off x="4506085" y="1500966"/>
            <a:ext cx="20521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dirty="0">
                <a:latin typeface="+mn-ea"/>
              </a:rPr>
              <a:t>M</a:t>
            </a:r>
            <a:r>
              <a:rPr lang="zh-CN" altLang="en-US" dirty="0">
                <a:latin typeface="+mn-ea"/>
              </a:rPr>
              <a:t>个资源 </a:t>
            </a:r>
            <a:r>
              <a:rPr lang="en-US" altLang="zh-CN" dirty="0">
                <a:latin typeface="+mn-ea"/>
              </a:rPr>
              <a:t>N</a:t>
            </a:r>
            <a:r>
              <a:rPr lang="zh-CN" altLang="en-US" dirty="0">
                <a:latin typeface="+mn-ea"/>
              </a:rPr>
              <a:t>个线程</a:t>
            </a:r>
            <a:endParaRPr lang="en-C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61F4-2BED-C24B-A400-72DB977FD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399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某时刻系统状态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49D2DE-010B-0E45-B7E3-6898171F3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C7C74-2EAA-924E-A69A-896CBE86B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07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P2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3C8E0-62E6-CA4C-8727-1892AE25E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53198-0887-FC4E-A40E-FA0F426F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057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solidFill>
                            <a:schemeClr val="accent1"/>
                          </a:solidFill>
                          <a:effectLst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P1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849E03-0AAB-5C42-82C3-64FFA193F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3038E-40D6-764B-8C91-0AEEE500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303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>
                          <a:solidFill>
                            <a:schemeClr val="accent1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2CC7091-7523-4842-97E4-7893A93E0C0A}"/>
              </a:ext>
            </a:extLst>
          </p:cNvPr>
          <p:cNvSpPr/>
          <p:nvPr/>
        </p:nvSpPr>
        <p:spPr>
          <a:xfrm>
            <a:off x="1079612" y="4213327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模拟</a:t>
            </a:r>
            <a:r>
              <a:rPr lang="en-US" altLang="zh-CN"/>
              <a:t>P3</a:t>
            </a:r>
            <a:r>
              <a:rPr lang="zh-CN" altLang="en-US"/>
              <a:t>执行完成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838503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分配给能满足其全部需求的线程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A743F3-19C3-FE41-9C09-F40C50486A8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B8296-4838-9040-868D-F8F792F40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CE91A-D290-3542-AFAE-A5576446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165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269174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通过安全性检查：处于安全状态！</a:t>
            </a: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FCD0-A300-4248-A4BC-17B90B5066F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安全序列： </a:t>
            </a:r>
            <a:r>
              <a:rPr lang="en-US" altLang="zh-CN"/>
              <a:t>P2 -&gt;</a:t>
            </a:r>
            <a:r>
              <a:rPr lang="zh-CN" altLang="en-US"/>
              <a:t> </a:t>
            </a:r>
            <a:r>
              <a:rPr lang="en-US" altLang="zh-CN"/>
              <a:t>P1</a:t>
            </a:r>
            <a:r>
              <a:rPr lang="zh-CN" altLang="en-US"/>
              <a:t> </a:t>
            </a:r>
            <a:r>
              <a:rPr lang="en-US" altLang="zh-CN"/>
              <a:t>-&gt; P3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969C83-96BE-9342-83D4-2CE336D86620}"/>
              </a:ext>
            </a:extLst>
          </p:cNvPr>
          <p:cNvSpPr/>
          <p:nvPr/>
        </p:nvSpPr>
        <p:spPr>
          <a:xfrm>
            <a:off x="1220482" y="4783068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新来请求：</a:t>
            </a:r>
            <a:r>
              <a:rPr lang="en-US" altLang="zh-CN" dirty="0"/>
              <a:t>P1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2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DBE247-BEB3-DA4F-B818-BAA0F406D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27BD9-DB59-5B4A-9CB8-CF7E85A5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119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DCD1A-1855-8B40-B938-FDAD0C328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银行家算法安全性检查：一个例子</a:t>
            </a:r>
            <a:endParaRPr lang="en-CN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DFC2BA-BE67-1349-BA09-D6E82BA8FAA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065412"/>
          <a:ext cx="82296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763337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1897639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60400531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070662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7200715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831797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47726175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6630135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9329755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/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Max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Allocation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Need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Available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84658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6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P1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3→1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</a:rPr>
                        <a:t>1→0</a:t>
                      </a:r>
                      <a:endParaRPr lang="en-CN" sz="2000">
                        <a:solidFill>
                          <a:schemeClr val="accent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12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P2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en-CN" sz="20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431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P3</a:t>
                      </a:r>
                      <a:endParaRPr lang="en-US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sz="20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en-CN" sz="200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8754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02C3FA8-8F65-4D47-A044-3D6556A28E54}"/>
              </a:ext>
            </a:extLst>
          </p:cNvPr>
          <p:cNvSpPr/>
          <p:nvPr/>
        </p:nvSpPr>
        <p:spPr>
          <a:xfrm>
            <a:off x="1079612" y="4039944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新来请求：</a:t>
            </a:r>
            <a:r>
              <a:rPr lang="en-US" altLang="zh-CN" dirty="0"/>
              <a:t>P1</a:t>
            </a:r>
            <a:r>
              <a:rPr lang="zh-CN" altLang="en-US" dirty="0"/>
              <a:t>请求资源，需要</a:t>
            </a:r>
            <a:r>
              <a:rPr lang="en-US" altLang="zh-CN" dirty="0"/>
              <a:t>A</a:t>
            </a:r>
            <a:r>
              <a:rPr lang="zh-CN" altLang="en-US" dirty="0"/>
              <a:t>资源</a:t>
            </a:r>
            <a:r>
              <a:rPr lang="en-US" altLang="zh-CN" dirty="0"/>
              <a:t>2</a:t>
            </a:r>
            <a:r>
              <a:rPr lang="zh-CN" altLang="en-US" dirty="0"/>
              <a:t>份，</a:t>
            </a:r>
            <a:r>
              <a:rPr lang="en-US" altLang="zh-CN" dirty="0"/>
              <a:t>B</a:t>
            </a:r>
            <a:r>
              <a:rPr lang="zh-CN" altLang="en-US" dirty="0"/>
              <a:t>资源</a:t>
            </a:r>
            <a:r>
              <a:rPr lang="en-US" altLang="zh-CN" dirty="0"/>
              <a:t>1</a:t>
            </a:r>
            <a:r>
              <a:rPr lang="zh-CN" altLang="en-US" dirty="0"/>
              <a:t>份</a:t>
            </a:r>
            <a:endParaRPr lang="en-US" altLang="zh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FCD0-A300-4248-A4BC-17B90B5066F1}"/>
              </a:ext>
            </a:extLst>
          </p:cNvPr>
          <p:cNvSpPr/>
          <p:nvPr/>
        </p:nvSpPr>
        <p:spPr>
          <a:xfrm>
            <a:off x="1187624" y="121659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安全序列：</a:t>
            </a:r>
            <a:endParaRPr lang="en-US" altLang="zh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F06B9B-5990-994A-96DE-714CA4F17389}"/>
              </a:ext>
            </a:extLst>
          </p:cNvPr>
          <p:cNvSpPr/>
          <p:nvPr/>
        </p:nvSpPr>
        <p:spPr>
          <a:xfrm>
            <a:off x="1042628" y="4413449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假设</a:t>
            </a:r>
            <a:r>
              <a:rPr lang="zh-CN" altLang="en-US" dirty="0"/>
              <a:t>分配给它，运行安全检查：无法通过</a:t>
            </a:r>
            <a:endParaRPr lang="en-US" altLang="zh-C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50D527-B1C3-E549-BE4E-8390E161ACC1}"/>
              </a:ext>
            </a:extLst>
          </p:cNvPr>
          <p:cNvSpPr/>
          <p:nvPr/>
        </p:nvSpPr>
        <p:spPr>
          <a:xfrm>
            <a:off x="1079612" y="4780286"/>
            <a:ext cx="6984776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solidFill>
                  <a:schemeClr val="accent1"/>
                </a:solidFill>
              </a:rPr>
              <a:t>采取行动：阻塞</a:t>
            </a:r>
            <a:r>
              <a:rPr lang="en-US" altLang="zh-CN">
                <a:solidFill>
                  <a:schemeClr val="accent1"/>
                </a:solidFill>
              </a:rPr>
              <a:t>P1</a:t>
            </a:r>
            <a:r>
              <a:rPr lang="zh-CN" altLang="en-US">
                <a:solidFill>
                  <a:schemeClr val="accent1"/>
                </a:solidFill>
              </a:rPr>
              <a:t>，保证系统维持在安全状态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AB207-87B4-2442-9975-36C440AE81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4A79A-8249-8F47-AA1A-FDA070F3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130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3513899C-3D51-A34D-9FEE-533ED850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多核与同步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6E2DC7C-DE2A-4C4A-A9A4-0FDD67D0C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DC02B1-5A99-204A-8913-4A9D0495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20FB8C-8652-EC4B-9E8D-B9BEBEB6E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5783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lt"/>
              </a:rPr>
              <a:t>回顾：多处理器与多核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93FC97-892D-9A43-86D7-FF73FEEA8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615" y="1529948"/>
            <a:ext cx="3158257" cy="3510390"/>
          </a:xfrm>
        </p:spPr>
        <p:txBody>
          <a:bodyPr>
            <a:normAutofit/>
          </a:bodyPr>
          <a:lstStyle/>
          <a:p>
            <a:r>
              <a:rPr lang="zh-CN" altLang="en-CN" sz="2000" b="0" dirty="0"/>
              <a:t>单核</a:t>
            </a:r>
            <a:r>
              <a:rPr lang="zh-CN" altLang="en-US" sz="2000" b="0" dirty="0"/>
              <a:t>性能提升遇到瓶颈</a:t>
            </a:r>
            <a:endParaRPr lang="en-US" altLang="zh-CN" sz="2000" b="0" dirty="0"/>
          </a:p>
          <a:p>
            <a:r>
              <a:rPr lang="zh-CN" altLang="en-US" sz="2000" b="0" dirty="0"/>
              <a:t>不能通过一味提升频率来获得更好的性能</a:t>
            </a:r>
            <a:endParaRPr lang="en-US" altLang="zh-CN" sz="2000" b="0" dirty="0"/>
          </a:p>
          <a:p>
            <a:r>
              <a:rPr lang="zh-CN" altLang="en-US" sz="2000" b="0" dirty="0"/>
              <a:t>通过增加核心数来提升软件的性能</a:t>
            </a:r>
            <a:endParaRPr lang="en-US" altLang="zh-CN" sz="2000" b="0" dirty="0"/>
          </a:p>
          <a:p>
            <a:r>
              <a:rPr lang="zh-CN" altLang="en-US" sz="2000" b="0" dirty="0"/>
              <a:t>桌面</a:t>
            </a:r>
            <a:r>
              <a:rPr lang="en-US" altLang="zh-CN" sz="2000" b="0" dirty="0"/>
              <a:t>/</a:t>
            </a:r>
            <a:r>
              <a:rPr lang="zh-CN" altLang="en-US" sz="2000" b="0" dirty="0"/>
              <a:t>移动平台均向多核迈进</a:t>
            </a:r>
            <a:endParaRPr lang="en-CN" altLang="zh-CN" sz="2000"/>
          </a:p>
          <a:p>
            <a:endParaRPr lang="en-US" altLang="zh-C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C3B4F1-0E18-8F48-8F48-CFB3181AD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721" y="1297596"/>
            <a:ext cx="4990323" cy="374274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E4DBC-867C-7E4D-AC33-B15A86280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63C79-0228-3243-B97A-08B8E195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368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FAD-3494-E74C-81C0-B185F3E6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回顾：</a:t>
            </a:r>
            <a:r>
              <a:rPr lang="zh-CN" altLang="en-CN"/>
              <a:t>多核</a:t>
            </a:r>
            <a:r>
              <a:rPr lang="zh-CN" altLang="en-US"/>
              <a:t>不是免费的午餐</a:t>
            </a:r>
            <a:endParaRPr lang="en-CN"/>
          </a:p>
        </p:txBody>
      </p:sp>
      <p:pic>
        <p:nvPicPr>
          <p:cNvPr id="5" name="Picture 4" descr="A group of people standing in the sand&#10;&#10;Description automatically generated">
            <a:extLst>
              <a:ext uri="{FF2B5EF4-FFF2-40B4-BE49-F238E27FC236}">
                <a16:creationId xmlns:a16="http://schemas.microsoft.com/office/drawing/2014/main" id="{C2F6BEA9-92AB-F54F-ACB4-6B90A7C14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135349"/>
            <a:ext cx="3226912" cy="36267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7A445-DFFA-B34F-B2E9-29B6BF867132}"/>
              </a:ext>
            </a:extLst>
          </p:cNvPr>
          <p:cNvSpPr txBox="1"/>
          <p:nvPr/>
        </p:nvSpPr>
        <p:spPr>
          <a:xfrm>
            <a:off x="890409" y="4918253"/>
            <a:ext cx="2669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网图</a:t>
            </a:r>
            <a:r>
              <a:rPr lang="zh-CN" altLang="en-US"/>
              <a:t>：多核的真相</a:t>
            </a:r>
            <a:endParaRPr lang="en-CN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6B8B2DD-31CD-254D-A051-F645D5EAF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52" y="2930884"/>
            <a:ext cx="4546848" cy="563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CN" sz="2000" b="0"/>
              <a:t>面临</a:t>
            </a:r>
            <a:r>
              <a:rPr lang="zh-CN" altLang="en-US" sz="2000" b="0"/>
              <a:t>的两个问题：</a:t>
            </a:r>
            <a:endParaRPr lang="en-US" altLang="zh-CN" sz="2000" b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37BE16F2-E53E-E544-B3F2-77465D31DDF3}"/>
              </a:ext>
            </a:extLst>
          </p:cNvPr>
          <p:cNvSpPr txBox="1">
            <a:spLocks/>
          </p:cNvSpPr>
          <p:nvPr/>
        </p:nvSpPr>
        <p:spPr>
          <a:xfrm>
            <a:off x="4292352" y="1345938"/>
            <a:ext cx="4546848" cy="1585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000" b="0"/>
              <a:t>假设现在需要建房子</a:t>
            </a:r>
            <a:endParaRPr lang="en-US" altLang="zh-CN" sz="2000" b="0"/>
          </a:p>
          <a:p>
            <a:pPr marL="0" indent="0" algn="ctr">
              <a:buFont typeface="Arial" pitchFamily="34" charset="0"/>
              <a:buNone/>
            </a:pPr>
            <a:r>
              <a:rPr lang="zh-CN" altLang="en-US" sz="2000" b="0"/>
              <a:t>工作量 </a:t>
            </a:r>
            <a:r>
              <a:rPr lang="en-US" altLang="zh-CN" sz="2000" b="0"/>
              <a:t>=</a:t>
            </a:r>
            <a:r>
              <a:rPr lang="zh-CN" altLang="en-US" sz="2000" b="0"/>
              <a:t> </a:t>
            </a:r>
            <a:r>
              <a:rPr lang="en-US" altLang="zh-CN" sz="2000" b="0"/>
              <a:t>1000</a:t>
            </a:r>
            <a:r>
              <a:rPr lang="zh-CN" altLang="en-US" sz="2000" b="0"/>
              <a:t>人</a:t>
            </a:r>
            <a:r>
              <a:rPr lang="en-US" altLang="zh-CN" sz="2000" b="0"/>
              <a:t>/</a:t>
            </a:r>
            <a:r>
              <a:rPr lang="zh-CN" altLang="en-US" sz="2000" b="0"/>
              <a:t>年</a:t>
            </a:r>
            <a:endParaRPr lang="en-US" altLang="zh-CN" sz="2000" b="0"/>
          </a:p>
          <a:p>
            <a:pPr marL="0" indent="0">
              <a:buFont typeface="Arial" pitchFamily="34" charset="0"/>
              <a:buNone/>
            </a:pPr>
            <a:r>
              <a:rPr lang="zh-CN" altLang="en-US" sz="2000" b="0"/>
              <a:t>工头找了</a:t>
            </a:r>
            <a:r>
              <a:rPr lang="en-US" altLang="zh-CN" sz="2000" b="0"/>
              <a:t>10</a:t>
            </a:r>
            <a:r>
              <a:rPr lang="zh-CN" altLang="en-US" sz="2000" b="0"/>
              <a:t>万人，需要多久？</a:t>
            </a:r>
            <a:endParaRPr lang="en-US" altLang="zh-CN" sz="2000" b="0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EB6D4107-0F42-E54A-9D35-84EB552D14DC}"/>
              </a:ext>
            </a:extLst>
          </p:cNvPr>
          <p:cNvSpPr txBox="1">
            <a:spLocks/>
          </p:cNvSpPr>
          <p:nvPr/>
        </p:nvSpPr>
        <p:spPr>
          <a:xfrm>
            <a:off x="4139952" y="3494825"/>
            <a:ext cx="4392488" cy="1792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itchFamily="34" charset="0"/>
              <a:buAutoNum type="arabicPeriod"/>
            </a:pPr>
            <a:r>
              <a:rPr lang="zh-CN" altLang="en-US" sz="2000" b="0"/>
              <a:t>工人人多手杂，不听指挥，导致施工事故。（</a:t>
            </a:r>
            <a:r>
              <a:rPr lang="zh-CN" altLang="en-US" sz="2000"/>
              <a:t>正确性</a:t>
            </a:r>
            <a:r>
              <a:rPr lang="zh-CN" altLang="en-US" sz="2000" b="0"/>
              <a:t>问题）</a:t>
            </a:r>
            <a:endParaRPr lang="en-US" altLang="zh-CN" sz="2000" b="0"/>
          </a:p>
          <a:p>
            <a:pPr marL="457200" indent="-457200">
              <a:buFont typeface="Arial" pitchFamily="34" charset="0"/>
              <a:buAutoNum type="arabicPeriod"/>
            </a:pPr>
            <a:r>
              <a:rPr lang="zh-CN" altLang="en-US" sz="2000" b="0"/>
              <a:t>工具有限，大部分工人无事可干。（</a:t>
            </a:r>
            <a:r>
              <a:rPr lang="zh-CN" altLang="en-US" sz="2000"/>
              <a:t>性能可扩展性</a:t>
            </a:r>
            <a:r>
              <a:rPr lang="zh-CN" altLang="en-US" sz="2000" b="0"/>
              <a:t>问题）</a:t>
            </a:r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6AD154-DFCB-C94C-B76C-A1B4B99D3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E379F-AA20-4246-A633-CF79EB5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123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3FFAD-3494-E74C-81C0-B185F3E6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363272" cy="900442"/>
          </a:xfrm>
        </p:spPr>
        <p:txBody>
          <a:bodyPr>
            <a:noAutofit/>
          </a:bodyPr>
          <a:lstStyle/>
          <a:p>
            <a:r>
              <a:rPr lang="zh-CN" altLang="en-US" sz="2900" dirty="0"/>
              <a:t>回顾：操作系统在多处理器多核环境下面临的问题</a:t>
            </a:r>
            <a:endParaRPr lang="en-CN" sz="29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65FFF-7865-F74D-AA15-D795F7BF7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17" y="2641476"/>
            <a:ext cx="3672409" cy="2160240"/>
          </a:xfrm>
        </p:spPr>
        <p:txBody>
          <a:bodyPr>
            <a:normAutofit/>
          </a:bodyPr>
          <a:lstStyle/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对共享资源的竞争导致错误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操作系统提供</a:t>
            </a:r>
            <a:r>
              <a:rPr lang="zh-CN" altLang="en-US" sz="2000">
                <a:solidFill>
                  <a:schemeClr val="bg2">
                    <a:lumMod val="75000"/>
                  </a:schemeClr>
                </a:solidFill>
              </a:rPr>
              <a:t>同步原语</a:t>
            </a:r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供开发者使用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zh-CN" altLang="en-US" sz="2000" b="0">
                <a:solidFill>
                  <a:schemeClr val="bg2">
                    <a:lumMod val="75000"/>
                  </a:schemeClr>
                </a:solidFill>
              </a:rPr>
              <a:t>使用同步原语带来的问题</a:t>
            </a:r>
            <a:endParaRPr lang="en-US" altLang="zh-CN" sz="2000" b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AF37DF1-452B-6145-8B5F-C961F2000E95}"/>
              </a:ext>
            </a:extLst>
          </p:cNvPr>
          <p:cNvSpPr txBox="1">
            <a:spLocks/>
          </p:cNvSpPr>
          <p:nvPr/>
        </p:nvSpPr>
        <p:spPr>
          <a:xfrm>
            <a:off x="1187622" y="1762187"/>
            <a:ext cx="2654201" cy="592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>
                <a:solidFill>
                  <a:schemeClr val="bg2">
                    <a:lumMod val="75000"/>
                  </a:schemeClr>
                </a:solidFill>
              </a:rPr>
              <a:t>正确性保证</a:t>
            </a:r>
            <a:endParaRPr lang="en-US" altLang="zh-CN" sz="200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C29F463-E7D2-544B-8C36-0B6171417CBB}"/>
              </a:ext>
            </a:extLst>
          </p:cNvPr>
          <p:cNvSpPr txBox="1">
            <a:spLocks/>
          </p:cNvSpPr>
          <p:nvPr/>
        </p:nvSpPr>
        <p:spPr>
          <a:xfrm>
            <a:off x="5226099" y="1762187"/>
            <a:ext cx="2654201" cy="592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2000"/>
              <a:t>性能保证</a:t>
            </a:r>
            <a:endParaRPr lang="en-US" altLang="zh-CN" sz="20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00B1C9A-DB21-7443-9249-7B45A91677E7}"/>
              </a:ext>
            </a:extLst>
          </p:cNvPr>
          <p:cNvSpPr txBox="1">
            <a:spLocks/>
          </p:cNvSpPr>
          <p:nvPr/>
        </p:nvSpPr>
        <p:spPr>
          <a:xfrm>
            <a:off x="4860032" y="2641476"/>
            <a:ext cx="3826768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0"/>
              <a:t>多核多处理器硬件与特性</a:t>
            </a:r>
          </a:p>
          <a:p>
            <a:r>
              <a:rPr lang="zh-CN" altLang="en-US" sz="2000" b="0"/>
              <a:t>可扩展性问题导致性能断崖</a:t>
            </a:r>
          </a:p>
          <a:p>
            <a:r>
              <a:rPr lang="zh-CN" altLang="en-US" sz="2000" b="0"/>
              <a:t>系统软件设计如何利用特性</a:t>
            </a:r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32C9E-458D-EF4D-9652-C4AFC8F57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84B447-26A6-3943-BA0F-44318D5C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234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多核下应用的性能表现：理想 </a:t>
            </a:r>
            <a:r>
              <a:rPr lang="en-US" altLang="zh-CN"/>
              <a:t>vs</a:t>
            </a:r>
            <a:r>
              <a:rPr lang="zh-CN" altLang="en-US"/>
              <a:t> 现实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DA159-59FF-2D46-A872-1BE50A586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1ED8626-38D0-224E-9F02-B95453F3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14" name="Content Placeholder 9" descr="Screen Clipping">
            <a:extLst>
              <a:ext uri="{FF2B5EF4-FFF2-40B4-BE49-F238E27FC236}">
                <a16:creationId xmlns:a16="http://schemas.microsoft.com/office/drawing/2014/main" id="{92AEB063-D1DE-C342-A16D-EBABC815AB2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965" b="-12965"/>
          <a:stretch>
            <a:fillRect/>
          </a:stretch>
        </p:blipFill>
        <p:spPr>
          <a:xfrm>
            <a:off x="384175" y="985292"/>
            <a:ext cx="4040188" cy="3951288"/>
          </a:xfrm>
          <a:prstGeom prst="rect">
            <a:avLst/>
          </a:prstGeom>
        </p:spPr>
      </p:pic>
      <p:pic>
        <p:nvPicPr>
          <p:cNvPr id="15" name="Content Placeholder 10" descr="Screen Clipping">
            <a:extLst>
              <a:ext uri="{FF2B5EF4-FFF2-40B4-BE49-F238E27FC236}">
                <a16:creationId xmlns:a16="http://schemas.microsoft.com/office/drawing/2014/main" id="{64F15991-DD93-E844-8B56-969663029E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579" b="-13579"/>
          <a:stretch>
            <a:fillRect/>
          </a:stretch>
        </p:blipFill>
        <p:spPr>
          <a:xfrm>
            <a:off x="4572000" y="985292"/>
            <a:ext cx="4041775" cy="3951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F80230-E027-B043-BDAB-FBC1F6FBDDDE}"/>
              </a:ext>
            </a:extLst>
          </p:cNvPr>
          <p:cNvSpPr txBox="1"/>
          <p:nvPr/>
        </p:nvSpPr>
        <p:spPr>
          <a:xfrm>
            <a:off x="827584" y="465770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理想</a:t>
            </a:r>
            <a:r>
              <a:rPr lang="en-US" altLang="zh-CN"/>
              <a:t>fd</a:t>
            </a:r>
            <a:r>
              <a:rPr lang="zh-CN" altLang="en-US"/>
              <a:t>性能</a:t>
            </a:r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993256-1DE6-9745-B1C3-CF747DF31CBD}"/>
              </a:ext>
            </a:extLst>
          </p:cNvPr>
          <p:cNvSpPr txBox="1"/>
          <p:nvPr/>
        </p:nvSpPr>
        <p:spPr>
          <a:xfrm>
            <a:off x="5080719" y="465770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实际</a:t>
            </a:r>
            <a:r>
              <a:rPr lang="en-US" altLang="zh-CN"/>
              <a:t>fd</a:t>
            </a:r>
            <a:r>
              <a:rPr lang="zh-CN" altLang="en-US"/>
              <a:t>性能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6854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并</a:t>
            </a:r>
            <a:r>
              <a:rPr lang="zh-CN" altLang="en-US"/>
              <a:t>行计算理论加速比（理想上限）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C1ED-2216-6D47-9959-1664DB18C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659903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Amdahl’s Law</a:t>
            </a:r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9B4661-BFD3-344F-9115-12696D6E1EA1}"/>
                  </a:ext>
                </a:extLst>
              </p:cNvPr>
              <p:cNvSpPr txBox="1"/>
              <p:nvPr/>
            </p:nvSpPr>
            <p:spPr>
              <a:xfrm>
                <a:off x="2411760" y="1993404"/>
                <a:ext cx="3249380" cy="6996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CN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9B4661-BFD3-344F-9115-12696D6E1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993404"/>
                <a:ext cx="3249380" cy="699615"/>
              </a:xfrm>
              <a:prstGeom prst="rect">
                <a:avLst/>
              </a:prstGeom>
              <a:blipFill>
                <a:blip r:embed="rId2"/>
                <a:stretch>
                  <a:fillRect t="-1786" b="-53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23B920-D9C6-644F-BBDC-D9E12620893F}"/>
              </a:ext>
            </a:extLst>
          </p:cNvPr>
          <p:cNvCxnSpPr>
            <a:cxnSpLocks/>
          </p:cNvCxnSpPr>
          <p:nvPr/>
        </p:nvCxnSpPr>
        <p:spPr>
          <a:xfrm flipV="1">
            <a:off x="2699792" y="2482822"/>
            <a:ext cx="432048" cy="5965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CC792AF-4ED7-DD46-B9C0-D6C036F1D31E}"/>
              </a:ext>
            </a:extLst>
          </p:cNvPr>
          <p:cNvSpPr/>
          <p:nvPr/>
        </p:nvSpPr>
        <p:spPr>
          <a:xfrm>
            <a:off x="1831805" y="327585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加速比</a:t>
            </a:r>
            <a:endParaRPr lang="en-C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B03F26-8BFA-DE44-B0E2-867723FE13C6}"/>
              </a:ext>
            </a:extLst>
          </p:cNvPr>
          <p:cNvCxnSpPr>
            <a:cxnSpLocks/>
          </p:cNvCxnSpPr>
          <p:nvPr/>
        </p:nvCxnSpPr>
        <p:spPr>
          <a:xfrm flipH="1" flipV="1">
            <a:off x="4252474" y="2723717"/>
            <a:ext cx="103502" cy="5521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F82EE-AF37-924B-8708-4ED722E7DB9D}"/>
              </a:ext>
            </a:extLst>
          </p:cNvPr>
          <p:cNvSpPr/>
          <p:nvPr/>
        </p:nvSpPr>
        <p:spPr>
          <a:xfrm>
            <a:off x="3168150" y="335292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可以并行部分代码占比</a:t>
            </a:r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A7477D-A935-6B49-8BF4-90EFB6FAA897}"/>
              </a:ext>
            </a:extLst>
          </p:cNvPr>
          <p:cNvCxnSpPr>
            <a:cxnSpLocks/>
          </p:cNvCxnSpPr>
          <p:nvPr/>
        </p:nvCxnSpPr>
        <p:spPr>
          <a:xfrm flipH="1">
            <a:off x="4788026" y="2653307"/>
            <a:ext cx="12241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04589FA-B708-A249-805A-3990F273578B}"/>
              </a:ext>
            </a:extLst>
          </p:cNvPr>
          <p:cNvSpPr/>
          <p:nvPr/>
        </p:nvSpPr>
        <p:spPr>
          <a:xfrm>
            <a:off x="6182370" y="244719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同时执行的核心数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ED691F-B768-C044-BFE7-ECDE3038D243}"/>
              </a:ext>
            </a:extLst>
          </p:cNvPr>
          <p:cNvSpPr/>
          <p:nvPr/>
        </p:nvSpPr>
        <p:spPr>
          <a:xfrm>
            <a:off x="694452" y="4043349"/>
            <a:ext cx="1992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当核心数增加时</a:t>
            </a:r>
            <a:r>
              <a:rPr lang="en-US" altLang="zh-CN"/>
              <a:t>...</a:t>
            </a:r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C2B052-F1C1-BF44-B17C-1893B73F9EDB}"/>
                  </a:ext>
                </a:extLst>
              </p:cNvPr>
              <p:cNvSpPr txBox="1"/>
              <p:nvPr/>
            </p:nvSpPr>
            <p:spPr>
              <a:xfrm>
                <a:off x="2555776" y="3903954"/>
                <a:ext cx="3249380" cy="5670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→ ∞</m:t>
                              </m:r>
                            </m:lim>
                          </m:limLow>
                        </m:fName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func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CN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C2B052-F1C1-BF44-B17C-1893B73F9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3903954"/>
                <a:ext cx="3249380" cy="567078"/>
              </a:xfrm>
              <a:prstGeom prst="rect">
                <a:avLst/>
              </a:prstGeom>
              <a:blipFill>
                <a:blip r:embed="rId3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F7F5FC28-12D2-4E4C-9466-29EE6C0BFA21}"/>
              </a:ext>
            </a:extLst>
          </p:cNvPr>
          <p:cNvSpPr/>
          <p:nvPr/>
        </p:nvSpPr>
        <p:spPr>
          <a:xfrm>
            <a:off x="1478845" y="4876715"/>
            <a:ext cx="6186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可以并行部分占比越多，这个程序理论上最大加速比越大</a:t>
            </a:r>
            <a:endParaRPr lang="en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3AD798-C23A-6D4A-97BD-C61361CEBF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73BDF-8974-BE4E-93E3-5668D2A1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026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多核下应用的性能表现：理想 </a:t>
            </a:r>
            <a:r>
              <a:rPr lang="en-US" altLang="zh-CN"/>
              <a:t>vs</a:t>
            </a:r>
            <a:r>
              <a:rPr lang="zh-CN" altLang="en-US"/>
              <a:t> 现实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8DA159-59FF-2D46-A872-1BE50A586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31ED8626-38D0-224E-9F02-B95453F3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14" name="Content Placeholder 9" descr="Screen Clipping">
            <a:extLst>
              <a:ext uri="{FF2B5EF4-FFF2-40B4-BE49-F238E27FC236}">
                <a16:creationId xmlns:a16="http://schemas.microsoft.com/office/drawing/2014/main" id="{92AEB063-D1DE-C342-A16D-EBABC815AB2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965" b="-12965"/>
          <a:stretch>
            <a:fillRect/>
          </a:stretch>
        </p:blipFill>
        <p:spPr>
          <a:xfrm>
            <a:off x="384175" y="985292"/>
            <a:ext cx="4040188" cy="3951288"/>
          </a:xfrm>
          <a:prstGeom prst="rect">
            <a:avLst/>
          </a:prstGeom>
        </p:spPr>
      </p:pic>
      <p:pic>
        <p:nvPicPr>
          <p:cNvPr id="15" name="Content Placeholder 10" descr="Screen Clipping">
            <a:extLst>
              <a:ext uri="{FF2B5EF4-FFF2-40B4-BE49-F238E27FC236}">
                <a16:creationId xmlns:a16="http://schemas.microsoft.com/office/drawing/2014/main" id="{64F15991-DD93-E844-8B56-969663029E6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579" b="-13579"/>
          <a:stretch>
            <a:fillRect/>
          </a:stretch>
        </p:blipFill>
        <p:spPr>
          <a:xfrm>
            <a:off x="4718050" y="985292"/>
            <a:ext cx="4041775" cy="3951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F80230-E027-B043-BDAB-FBC1F6FBDDDE}"/>
              </a:ext>
            </a:extLst>
          </p:cNvPr>
          <p:cNvSpPr txBox="1"/>
          <p:nvPr/>
        </p:nvSpPr>
        <p:spPr>
          <a:xfrm>
            <a:off x="827584" y="465770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理想</a:t>
            </a:r>
            <a:r>
              <a:rPr lang="en-US" altLang="zh-CN"/>
              <a:t>fd</a:t>
            </a:r>
            <a:r>
              <a:rPr lang="zh-CN" altLang="en-US"/>
              <a:t>性能</a:t>
            </a:r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993256-1DE6-9745-B1C3-CF747DF31CBD}"/>
              </a:ext>
            </a:extLst>
          </p:cNvPr>
          <p:cNvSpPr txBox="1"/>
          <p:nvPr/>
        </p:nvSpPr>
        <p:spPr>
          <a:xfrm>
            <a:off x="5080719" y="465770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实际</a:t>
            </a:r>
            <a:r>
              <a:rPr lang="en-US" altLang="zh-CN"/>
              <a:t>fd</a:t>
            </a:r>
            <a:r>
              <a:rPr lang="zh-CN" altLang="en-US"/>
              <a:t>性能</a:t>
            </a:r>
            <a:endParaRPr lang="en-C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019BB-084C-774C-A32C-D9D4EF9F41CC}"/>
              </a:ext>
            </a:extLst>
          </p:cNvPr>
          <p:cNvSpPr txBox="1"/>
          <p:nvPr/>
        </p:nvSpPr>
        <p:spPr>
          <a:xfrm>
            <a:off x="5805463" y="1599972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>
                <a:solidFill>
                  <a:schemeClr val="accent1"/>
                </a:solidFill>
              </a:rPr>
              <a:t>即使</a:t>
            </a:r>
            <a:r>
              <a:rPr lang="zh-CN" altLang="en-US">
                <a:solidFill>
                  <a:schemeClr val="accent1"/>
                </a:solidFill>
              </a:rPr>
              <a:t>程序没有可以并行的部分，加速比不会小于</a:t>
            </a:r>
            <a:r>
              <a:rPr lang="en-US" altLang="zh-CN">
                <a:solidFill>
                  <a:schemeClr val="accent1"/>
                </a:solidFill>
              </a:rPr>
              <a:t>1</a:t>
            </a:r>
            <a:r>
              <a:rPr lang="zh-CN" altLang="en-US">
                <a:solidFill>
                  <a:schemeClr val="accent1"/>
                </a:solidFill>
              </a:rPr>
              <a:t>？</a:t>
            </a:r>
            <a:endParaRPr lang="en-CN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FE75AA-D4DA-5345-9AFB-2F2DFE130706}"/>
                  </a:ext>
                </a:extLst>
              </p:cNvPr>
              <p:cNvSpPr txBox="1"/>
              <p:nvPr/>
            </p:nvSpPr>
            <p:spPr>
              <a:xfrm>
                <a:off x="384175" y="1422254"/>
                <a:ext cx="3249380" cy="5670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→ ∞</m:t>
                              </m:r>
                            </m:lim>
                          </m:limLow>
                        </m:fName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func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CN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FE75AA-D4DA-5345-9AFB-2F2DFE130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75" y="1422254"/>
                <a:ext cx="3249380" cy="567078"/>
              </a:xfrm>
              <a:prstGeom prst="rect">
                <a:avLst/>
              </a:prstGeom>
              <a:blipFill>
                <a:blip r:embed="rId4"/>
                <a:stretch>
                  <a:fillRect t="-4348" b="-1087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433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32094" cy="900442"/>
          </a:xfrm>
        </p:spPr>
        <p:txBody>
          <a:bodyPr/>
          <a:lstStyle/>
          <a:p>
            <a:r>
              <a:rPr lang="zh-CN" altLang="en-US"/>
              <a:t>互斥锁微基准测试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2CE36-1AC9-764E-8C54-E7428FA19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02DDF-C10F-5A45-9775-1CA8634C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9AED6-9E66-CF45-A90B-BF373B3EF182}"/>
              </a:ext>
            </a:extLst>
          </p:cNvPr>
          <p:cNvSpPr/>
          <p:nvPr/>
        </p:nvSpPr>
        <p:spPr>
          <a:xfrm>
            <a:off x="642392" y="1140730"/>
            <a:ext cx="81617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Courier" pitchFamily="2" charset="0"/>
              </a:rPr>
              <a:t>struct lock *glock;</a:t>
            </a:r>
          </a:p>
          <a:p>
            <a:r>
              <a:rPr lang="en-US" altLang="zh-CN">
                <a:latin typeface="Courier" pitchFamily="2" charset="0"/>
              </a:rPr>
              <a:t>unsigned long	 gcnt = 0;</a:t>
            </a:r>
          </a:p>
          <a:p>
            <a:r>
              <a:rPr lang="en-US" altLang="zh-CN">
                <a:latin typeface="Courier" pitchFamily="2" charset="0"/>
              </a:rPr>
              <a:t>char shared_data[CACHE_LINE_SIZE];</a:t>
            </a:r>
          </a:p>
          <a:p>
            <a:r>
              <a:rPr lang="en-US" altLang="zh-CN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>
                <a:latin typeface="Courier" pitchFamily="2" charset="0"/>
              </a:rPr>
              <a:t> *</a:t>
            </a:r>
            <a:r>
              <a:rPr lang="en-US" altLang="zh-CN">
                <a:solidFill>
                  <a:srgbClr val="FF2F92"/>
                </a:solidFill>
                <a:latin typeface="Courier" pitchFamily="2" charset="0"/>
              </a:rPr>
              <a:t>thread_routine</a:t>
            </a:r>
            <a:r>
              <a:rPr lang="en-US" altLang="zh-CN">
                <a:latin typeface="Courier" pitchFamily="2" charset="0"/>
              </a:rPr>
              <a:t>(</a:t>
            </a:r>
            <a:r>
              <a:rPr lang="en-US" altLang="zh-CN">
                <a:solidFill>
                  <a:srgbClr val="00B050"/>
                </a:solidFill>
                <a:latin typeface="Courier" pitchFamily="2" charset="0"/>
              </a:rPr>
              <a:t>void *arg</a:t>
            </a:r>
            <a:r>
              <a:rPr lang="en-US" altLang="zh-CN">
                <a:latin typeface="Courier" pitchFamily="2" charset="0"/>
              </a:rPr>
              <a:t>) {</a:t>
            </a:r>
          </a:p>
          <a:p>
            <a:r>
              <a:rPr lang="en-US">
                <a:latin typeface="Courier" pitchFamily="2" charset="0"/>
              </a:rPr>
              <a:t>	while(1) {</a:t>
            </a:r>
          </a:p>
          <a:p>
            <a:r>
              <a:rPr lang="en-US">
                <a:latin typeface="Courier" pitchFamily="2" charset="0"/>
              </a:rPr>
              <a:t>		</a:t>
            </a:r>
            <a:r>
              <a:rPr lang="en-US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>
                <a:latin typeface="Courier" pitchFamily="2" charset="0"/>
              </a:rPr>
              <a:t>(glock);</a:t>
            </a:r>
          </a:p>
          <a:p>
            <a:r>
              <a:rPr lang="en-US">
                <a:latin typeface="Courier" pitchFamily="2" charset="0"/>
              </a:rPr>
              <a:t>		</a:t>
            </a:r>
            <a:r>
              <a:rPr lang="en-US">
                <a:solidFill>
                  <a:srgbClr val="0070C0"/>
                </a:solidFill>
                <a:latin typeface="Courier" pitchFamily="2" charset="0"/>
              </a:rPr>
              <a:t>/* Critical Section */</a:t>
            </a:r>
          </a:p>
          <a:p>
            <a:r>
              <a:rPr lang="en-US">
                <a:latin typeface="Courier" pitchFamily="2" charset="0"/>
              </a:rPr>
              <a:t>		gcnt = gcnt + 1;</a:t>
            </a:r>
          </a:p>
          <a:p>
            <a:r>
              <a:rPr lang="en-US">
                <a:latin typeface="Courier" pitchFamily="2" charset="0"/>
              </a:rPr>
              <a:t>		</a:t>
            </a:r>
            <a:r>
              <a:rPr lang="en-US">
                <a:solidFill>
                  <a:srgbClr val="0070C0"/>
                </a:solidFill>
                <a:latin typeface="Courier" pitchFamily="2" charset="0"/>
              </a:rPr>
              <a:t>/* Read Modify Write 1 * shared cacheline */</a:t>
            </a:r>
          </a:p>
          <a:p>
            <a:r>
              <a:rPr lang="en-US">
                <a:latin typeface="Courier" pitchFamily="2" charset="0"/>
              </a:rPr>
              <a:t>		visit_shared_data(shared_data, 1);</a:t>
            </a:r>
          </a:p>
          <a:p>
            <a:r>
              <a:rPr lang="en-US">
                <a:latin typeface="Courier" pitchFamily="2" charset="0"/>
              </a:rPr>
              <a:t>		</a:t>
            </a:r>
            <a:r>
              <a:rPr lang="en-US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>
                <a:latin typeface="Courier" pitchFamily="2" charset="0"/>
              </a:rPr>
              <a:t>(glock);</a:t>
            </a:r>
            <a:endParaRPr lang="en-US">
              <a:solidFill>
                <a:srgbClr val="0070C0"/>
              </a:solidFill>
              <a:latin typeface="Courier" pitchFamily="2" charset="0"/>
            </a:endParaRPr>
          </a:p>
          <a:p>
            <a:r>
              <a:rPr lang="en-US">
                <a:latin typeface="Courier" pitchFamily="2" charset="0"/>
              </a:rPr>
              <a:t>		interval();</a:t>
            </a:r>
          </a:p>
          <a:p>
            <a:r>
              <a:rPr lang="en-US">
                <a:latin typeface="Courier" pitchFamily="2" charset="0"/>
              </a:rPr>
              <a:t>	}</a:t>
            </a:r>
          </a:p>
          <a:p>
            <a:r>
              <a:rPr lang="en-US">
                <a:latin typeface="Courier" pitchFamily="2" charset="0"/>
              </a:rPr>
              <a:t>}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F2F324-8149-394E-AB85-8DC9B1CFE6B8}"/>
              </a:ext>
            </a:extLst>
          </p:cNvPr>
          <p:cNvSpPr/>
          <p:nvPr/>
        </p:nvSpPr>
        <p:spPr>
          <a:xfrm>
            <a:off x="5355220" y="956064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rgbClr val="FF0000"/>
                </a:solidFill>
              </a:rPr>
              <a:t>使用</a:t>
            </a:r>
            <a:r>
              <a:rPr lang="zh-CN" altLang="en-US">
                <a:solidFill>
                  <a:srgbClr val="FF0000"/>
                </a:solidFill>
              </a:rPr>
              <a:t>微基准测试来复现这个现象</a:t>
            </a:r>
            <a:endParaRPr lang="en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274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E87667F-B497-AD45-BCFD-540CAA3BE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013" y="955803"/>
            <a:ext cx="6157216" cy="41048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可扩展性断崖</a:t>
            </a:r>
            <a:endParaRPr lang="en-CN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1ECD42-20E1-1F46-ABFC-8C1E20FA283E}"/>
              </a:ext>
            </a:extLst>
          </p:cNvPr>
          <p:cNvCxnSpPr>
            <a:cxnSpLocks/>
          </p:cNvCxnSpPr>
          <p:nvPr/>
        </p:nvCxnSpPr>
        <p:spPr>
          <a:xfrm flipV="1">
            <a:off x="2463018" y="5111649"/>
            <a:ext cx="350133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67EC332-1789-CE40-B55D-9F53E8410349}"/>
              </a:ext>
            </a:extLst>
          </p:cNvPr>
          <p:cNvSpPr/>
          <p:nvPr/>
        </p:nvSpPr>
        <p:spPr>
          <a:xfrm>
            <a:off x="6222775" y="489202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增加核数</a:t>
            </a:r>
            <a:endParaRPr lang="en-C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344D48E-2CF1-9044-9FBC-C351028FA87D}"/>
              </a:ext>
            </a:extLst>
          </p:cNvPr>
          <p:cNvCxnSpPr>
            <a:cxnSpLocks/>
          </p:cNvCxnSpPr>
          <p:nvPr/>
        </p:nvCxnSpPr>
        <p:spPr>
          <a:xfrm flipV="1">
            <a:off x="1043608" y="1348759"/>
            <a:ext cx="0" cy="30174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8A8482C-CD07-CC42-922C-236CD2153373}"/>
              </a:ext>
            </a:extLst>
          </p:cNvPr>
          <p:cNvSpPr/>
          <p:nvPr/>
        </p:nvSpPr>
        <p:spPr>
          <a:xfrm rot="16200000">
            <a:off x="355757" y="267283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性能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B3D141-29A6-4E43-8F6E-2F828C30C693}"/>
              </a:ext>
            </a:extLst>
          </p:cNvPr>
          <p:cNvSpPr/>
          <p:nvPr/>
        </p:nvSpPr>
        <p:spPr>
          <a:xfrm>
            <a:off x="7304342" y="1579717"/>
            <a:ext cx="15483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/>
              <a:t>合理的理想性能曲线</a:t>
            </a:r>
            <a:endParaRPr lang="en-CN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D00304-0528-8D4D-8250-2401C48EEB37}"/>
              </a:ext>
            </a:extLst>
          </p:cNvPr>
          <p:cNvCxnSpPr>
            <a:cxnSpLocks/>
          </p:cNvCxnSpPr>
          <p:nvPr/>
        </p:nvCxnSpPr>
        <p:spPr>
          <a:xfrm flipV="1">
            <a:off x="2404227" y="2149419"/>
            <a:ext cx="2497011" cy="2118605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400E45-69FA-3E42-B9F0-DF15654F2DC4}"/>
              </a:ext>
            </a:extLst>
          </p:cNvPr>
          <p:cNvCxnSpPr>
            <a:cxnSpLocks/>
          </p:cNvCxnSpPr>
          <p:nvPr/>
        </p:nvCxnSpPr>
        <p:spPr>
          <a:xfrm flipV="1">
            <a:off x="5412312" y="1864916"/>
            <a:ext cx="1643790" cy="24681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6CABD7-1EB7-7747-A672-5B4A3D4C919B}"/>
              </a:ext>
            </a:extLst>
          </p:cNvPr>
          <p:cNvCxnSpPr>
            <a:cxnSpLocks/>
          </p:cNvCxnSpPr>
          <p:nvPr/>
        </p:nvCxnSpPr>
        <p:spPr>
          <a:xfrm flipV="1">
            <a:off x="4901238" y="1890434"/>
            <a:ext cx="511074" cy="258147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632F7E8-6EC1-0844-BC50-26537260C6D2}"/>
              </a:ext>
            </a:extLst>
          </p:cNvPr>
          <p:cNvSpPr/>
          <p:nvPr/>
        </p:nvSpPr>
        <p:spPr>
          <a:xfrm>
            <a:off x="4414599" y="2771744"/>
            <a:ext cx="2078494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实际情况：使用自旋锁出现</a:t>
            </a:r>
            <a:r>
              <a:rPr lang="zh-CN" altLang="en-US" b="1"/>
              <a:t>性能断崖</a:t>
            </a:r>
            <a:endParaRPr lang="en-CN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2CE36-1AC9-764E-8C54-E7428FA19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68610E1-F8FE-E74C-9555-86FA12EC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091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E87667F-B497-AD45-BCFD-540CAA3BE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013" y="955803"/>
            <a:ext cx="6157216" cy="41048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32094" cy="900442"/>
          </a:xfrm>
        </p:spPr>
        <p:txBody>
          <a:bodyPr/>
          <a:lstStyle/>
          <a:p>
            <a:r>
              <a:rPr lang="en-US"/>
              <a:t>﻿Non-scalable Locks are Dangerous!*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B3D141-29A6-4E43-8F6E-2F828C30C693}"/>
              </a:ext>
            </a:extLst>
          </p:cNvPr>
          <p:cNvSpPr/>
          <p:nvPr/>
        </p:nvSpPr>
        <p:spPr>
          <a:xfrm>
            <a:off x="7304342" y="1579717"/>
            <a:ext cx="15483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合理的理想性能曲线</a:t>
            </a:r>
            <a:endParaRPr lang="en-CN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D00304-0528-8D4D-8250-2401C48EEB37}"/>
              </a:ext>
            </a:extLst>
          </p:cNvPr>
          <p:cNvCxnSpPr>
            <a:cxnSpLocks/>
          </p:cNvCxnSpPr>
          <p:nvPr/>
        </p:nvCxnSpPr>
        <p:spPr>
          <a:xfrm flipV="1">
            <a:off x="2404227" y="2149419"/>
            <a:ext cx="2497011" cy="2118605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9400E45-69FA-3E42-B9F0-DF15654F2DC4}"/>
              </a:ext>
            </a:extLst>
          </p:cNvPr>
          <p:cNvCxnSpPr>
            <a:cxnSpLocks/>
          </p:cNvCxnSpPr>
          <p:nvPr/>
        </p:nvCxnSpPr>
        <p:spPr>
          <a:xfrm flipV="1">
            <a:off x="5412312" y="1864916"/>
            <a:ext cx="1643790" cy="24681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6CABD7-1EB7-7747-A672-5B4A3D4C919B}"/>
              </a:ext>
            </a:extLst>
          </p:cNvPr>
          <p:cNvCxnSpPr>
            <a:cxnSpLocks/>
          </p:cNvCxnSpPr>
          <p:nvPr/>
        </p:nvCxnSpPr>
        <p:spPr>
          <a:xfrm flipV="1">
            <a:off x="4901238" y="1890434"/>
            <a:ext cx="511074" cy="258147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632F7E8-6EC1-0844-BC50-26537260C6D2}"/>
              </a:ext>
            </a:extLst>
          </p:cNvPr>
          <p:cNvSpPr/>
          <p:nvPr/>
        </p:nvSpPr>
        <p:spPr>
          <a:xfrm>
            <a:off x="4414599" y="2771744"/>
            <a:ext cx="2078494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实际情况：使用自旋锁出现</a:t>
            </a:r>
            <a:r>
              <a:rPr lang="zh-CN" altLang="en-US" b="1" dirty="0"/>
              <a:t>性能断崖</a:t>
            </a:r>
            <a:endParaRPr lang="en-CN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2CE36-1AC9-764E-8C54-E7428FA19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53A795-ADE9-B740-864D-715B58544EA7}"/>
              </a:ext>
            </a:extLst>
          </p:cNvPr>
          <p:cNvSpPr/>
          <p:nvPr/>
        </p:nvSpPr>
        <p:spPr>
          <a:xfrm>
            <a:off x="3374159" y="5033923"/>
            <a:ext cx="28071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/>
              <a:t>32</a:t>
            </a:r>
            <a:r>
              <a:rPr lang="zh-CN" altLang="en-US" sz="1400" dirty="0"/>
              <a:t>核服务器上</a:t>
            </a:r>
            <a:r>
              <a:rPr lang="zh-CN" altLang="en-US" sz="1400" b="1" dirty="0"/>
              <a:t>互斥锁微基准测试</a:t>
            </a:r>
            <a:endParaRPr lang="en-CN" sz="1400" b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7DB607-CA00-BB46-AFEC-65FFA362FDED}"/>
              </a:ext>
            </a:extLst>
          </p:cNvPr>
          <p:cNvSpPr/>
          <p:nvPr/>
        </p:nvSpPr>
        <p:spPr>
          <a:xfrm>
            <a:off x="7315683" y="2571229"/>
            <a:ext cx="1372642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为什么会出现这种情况？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02DDF-C10F-5A45-9775-1CA8634C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E5E0A941-60A7-7E4C-B294-81B45AEAB333}"/>
              </a:ext>
            </a:extLst>
          </p:cNvPr>
          <p:cNvSpPr/>
          <p:nvPr/>
        </p:nvSpPr>
        <p:spPr>
          <a:xfrm>
            <a:off x="31727" y="4993640"/>
            <a:ext cx="2898550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dirty="0"/>
              <a:t>* Boyd-</a:t>
            </a:r>
            <a:r>
              <a:rPr lang="en-US" sz="1100" dirty="0" err="1"/>
              <a:t>Wickizer</a:t>
            </a:r>
            <a:r>
              <a:rPr lang="en-US" sz="1100" dirty="0"/>
              <a:t>, Silas, et al. "Non-scalable </a:t>
            </a:r>
            <a:br>
              <a:rPr lang="en-US" sz="1100" dirty="0"/>
            </a:br>
            <a:r>
              <a:rPr lang="en-US" sz="1100" dirty="0"/>
              <a:t>locks are dangerous." </a:t>
            </a:r>
            <a:r>
              <a:rPr lang="en-US" sz="1100" i="1" dirty="0"/>
              <a:t>Proceedings of the </a:t>
            </a:r>
            <a:br>
              <a:rPr lang="en-US" sz="1100" i="1" dirty="0"/>
            </a:br>
            <a:r>
              <a:rPr lang="en-US" sz="1100" i="1" dirty="0"/>
              <a:t>Linux Symposium</a:t>
            </a:r>
            <a:r>
              <a:rPr lang="en-US" sz="1100" dirty="0"/>
              <a:t>. 2012.</a:t>
            </a:r>
            <a:endParaRPr lang="en-CN" sz="1100"/>
          </a:p>
        </p:txBody>
      </p:sp>
    </p:spTree>
    <p:extLst>
      <p:ext uri="{BB962C8B-B14F-4D97-AF65-F5344CB8AC3E}">
        <p14:creationId xmlns:p14="http://schemas.microsoft.com/office/powerpoint/2010/main" val="3492610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347B-EA3F-FD4D-A6AE-573C3514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多核</a:t>
            </a:r>
            <a:r>
              <a:rPr lang="zh-CN" altLang="en-US"/>
              <a:t>环境下的缓存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23B2B0-82C3-0446-94B2-174A7D782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80BCC-1FE4-104D-868F-B9C762DCE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483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5DE7-B88E-CB4B-9545-B97081D1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高速</a:t>
            </a:r>
            <a:r>
              <a:rPr lang="zh-CN" altLang="en-US"/>
              <a:t>缓存（</a:t>
            </a:r>
            <a:r>
              <a:rPr lang="en-US" altLang="zh-CN"/>
              <a:t>cache</a:t>
            </a:r>
            <a:r>
              <a:rPr lang="zh-CN" altLang="en-US"/>
              <a:t>）回顾</a:t>
            </a:r>
            <a:endParaRPr lang="en-CN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9E6AC2A-05B0-9142-8D64-2849293FB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28" y="1338226"/>
            <a:ext cx="4480401" cy="3956186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多级缓存：</a:t>
            </a:r>
            <a:endParaRPr lang="en-US" altLang="zh-CN" sz="2000" dirty="0"/>
          </a:p>
          <a:p>
            <a:pPr lvl="1"/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靠近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贵，速度快，容量小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远离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CPU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便宜，速度慢，容量大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000" dirty="0"/>
              <a:t>读操作：</a:t>
            </a:r>
            <a:endParaRPr lang="en-US" altLang="zh-CN" sz="2000" dirty="0"/>
          </a:p>
          <a:p>
            <a:pPr lvl="1"/>
            <a:r>
              <a:rPr lang="zh-CN" altLang="en-US" sz="1800" dirty="0"/>
              <a:t>逐层向下找</a:t>
            </a:r>
            <a:endParaRPr lang="en-US" altLang="zh-CN" sz="1800" dirty="0"/>
          </a:p>
          <a:p>
            <a:pPr lvl="1"/>
            <a:r>
              <a:rPr lang="zh-CN" altLang="en-US" sz="1800" dirty="0"/>
              <a:t>没找到从内存中读取，放到缓存中</a:t>
            </a:r>
            <a:endParaRPr lang="en-US" altLang="zh-CN" sz="1800" dirty="0"/>
          </a:p>
          <a:p>
            <a:r>
              <a:rPr lang="zh-CN" altLang="en-US" sz="2000" dirty="0"/>
              <a:t>写操作：</a:t>
            </a:r>
            <a:endParaRPr lang="en-US" altLang="zh-CN" sz="2000" dirty="0"/>
          </a:p>
          <a:p>
            <a:pPr lvl="1"/>
            <a:r>
              <a:rPr lang="zh-CN" altLang="en-US" sz="1800" dirty="0"/>
              <a:t>直写</a:t>
            </a:r>
            <a:r>
              <a:rPr lang="en-US" altLang="zh-CN" sz="1800" dirty="0"/>
              <a:t>/</a:t>
            </a:r>
            <a:r>
              <a:rPr lang="zh-CN" altLang="en-US" sz="1800" dirty="0"/>
              <a:t>写回策略</a:t>
            </a:r>
            <a:endParaRPr lang="en-US" altLang="zh-CN" sz="1800" dirty="0"/>
          </a:p>
          <a:p>
            <a:pPr lvl="1"/>
            <a:r>
              <a:rPr lang="zh-CN" altLang="en-US" sz="1800" dirty="0"/>
              <a:t>写入高速缓存，</a:t>
            </a:r>
            <a:r>
              <a:rPr lang="zh-CN" altLang="en-CN" sz="1800" dirty="0"/>
              <a:t>替换时</a:t>
            </a:r>
            <a:r>
              <a:rPr lang="zh-CN" altLang="en-US" sz="1800" dirty="0"/>
              <a:t>写回</a:t>
            </a:r>
            <a:endParaRPr lang="en-US" altLang="zh-CN" sz="1800" dirty="0"/>
          </a:p>
          <a:p>
            <a:pPr lvl="1"/>
            <a:endParaRPr lang="en-US" altLang="zh-CN" sz="18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687A49-CE02-2440-BC12-C92462760BE1}"/>
              </a:ext>
            </a:extLst>
          </p:cNvPr>
          <p:cNvSpPr/>
          <p:nvPr/>
        </p:nvSpPr>
        <p:spPr>
          <a:xfrm>
            <a:off x="6615753" y="1521450"/>
            <a:ext cx="1174093" cy="781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4816AE-C635-3944-8466-23F0C66DFD90}"/>
              </a:ext>
            </a:extLst>
          </p:cNvPr>
          <p:cNvSpPr/>
          <p:nvPr/>
        </p:nvSpPr>
        <p:spPr>
          <a:xfrm>
            <a:off x="6597040" y="2548064"/>
            <a:ext cx="1174094" cy="543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L1 Cache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D2C1B-42C0-C444-A5FE-4FCC90CF0DE3}"/>
              </a:ext>
            </a:extLst>
          </p:cNvPr>
          <p:cNvSpPr/>
          <p:nvPr/>
        </p:nvSpPr>
        <p:spPr>
          <a:xfrm>
            <a:off x="6372320" y="3345409"/>
            <a:ext cx="1623534" cy="543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L2 Cache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B1DC01-5941-C54C-9A01-C094B78BD1EB}"/>
              </a:ext>
            </a:extLst>
          </p:cNvPr>
          <p:cNvSpPr/>
          <p:nvPr/>
        </p:nvSpPr>
        <p:spPr>
          <a:xfrm>
            <a:off x="5687100" y="4168541"/>
            <a:ext cx="2993973" cy="736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Memory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2216C2-2092-9646-8EE4-E00A58181A14}"/>
              </a:ext>
            </a:extLst>
          </p:cNvPr>
          <p:cNvCxnSpPr/>
          <p:nvPr/>
        </p:nvCxnSpPr>
        <p:spPr>
          <a:xfrm>
            <a:off x="7088481" y="2318418"/>
            <a:ext cx="0" cy="2378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83DCF5-44DB-5249-AB0A-DE45186F8B04}"/>
              </a:ext>
            </a:extLst>
          </p:cNvPr>
          <p:cNvCxnSpPr/>
          <p:nvPr/>
        </p:nvCxnSpPr>
        <p:spPr>
          <a:xfrm>
            <a:off x="6944465" y="3099370"/>
            <a:ext cx="0" cy="2378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BF742F-C308-5C4D-A6FE-F2173CE101D1}"/>
              </a:ext>
            </a:extLst>
          </p:cNvPr>
          <p:cNvCxnSpPr>
            <a:cxnSpLocks/>
          </p:cNvCxnSpPr>
          <p:nvPr/>
        </p:nvCxnSpPr>
        <p:spPr>
          <a:xfrm>
            <a:off x="6728441" y="3888517"/>
            <a:ext cx="0" cy="290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394D21-EB10-E949-94CC-8EDF2DCDDC3A}"/>
              </a:ext>
            </a:extLst>
          </p:cNvPr>
          <p:cNvCxnSpPr>
            <a:cxnSpLocks/>
          </p:cNvCxnSpPr>
          <p:nvPr/>
        </p:nvCxnSpPr>
        <p:spPr>
          <a:xfrm flipV="1">
            <a:off x="7592537" y="3888517"/>
            <a:ext cx="0" cy="290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B52A76-ABFE-E545-A5A3-BEB84FD94620}"/>
              </a:ext>
            </a:extLst>
          </p:cNvPr>
          <p:cNvCxnSpPr>
            <a:cxnSpLocks/>
          </p:cNvCxnSpPr>
          <p:nvPr/>
        </p:nvCxnSpPr>
        <p:spPr>
          <a:xfrm flipV="1">
            <a:off x="7329786" y="3099369"/>
            <a:ext cx="0" cy="2378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D6145A1-B8A6-484B-92AA-0635078E9C14}"/>
              </a:ext>
            </a:extLst>
          </p:cNvPr>
          <p:cNvCxnSpPr>
            <a:cxnSpLocks/>
          </p:cNvCxnSpPr>
          <p:nvPr/>
        </p:nvCxnSpPr>
        <p:spPr>
          <a:xfrm flipV="1">
            <a:off x="7344185" y="2318417"/>
            <a:ext cx="0" cy="2378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25500-FC8F-5B49-A551-092471DB6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BA6B3-5697-F346-A95D-F95F4A42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256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687A49-CE02-2440-BC12-C92462760BE1}"/>
              </a:ext>
            </a:extLst>
          </p:cNvPr>
          <p:cNvSpPr/>
          <p:nvPr/>
        </p:nvSpPr>
        <p:spPr>
          <a:xfrm>
            <a:off x="1691680" y="1345332"/>
            <a:ext cx="1174093" cy="781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4816AE-C635-3944-8466-23F0C66DFD90}"/>
              </a:ext>
            </a:extLst>
          </p:cNvPr>
          <p:cNvSpPr/>
          <p:nvPr/>
        </p:nvSpPr>
        <p:spPr>
          <a:xfrm>
            <a:off x="1672967" y="2371946"/>
            <a:ext cx="1174094" cy="543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L1 Cache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1D2C1B-42C0-C444-A5FE-4FCC90CF0DE3}"/>
              </a:ext>
            </a:extLst>
          </p:cNvPr>
          <p:cNvSpPr/>
          <p:nvPr/>
        </p:nvSpPr>
        <p:spPr>
          <a:xfrm>
            <a:off x="1448247" y="3169291"/>
            <a:ext cx="1623534" cy="543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L2 Cache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B1DC01-5941-C54C-9A01-C094B78BD1EB}"/>
              </a:ext>
            </a:extLst>
          </p:cNvPr>
          <p:cNvSpPr/>
          <p:nvPr/>
        </p:nvSpPr>
        <p:spPr>
          <a:xfrm>
            <a:off x="898626" y="4003110"/>
            <a:ext cx="2993973" cy="7362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Memory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2216C2-2092-9646-8EE4-E00A58181A14}"/>
              </a:ext>
            </a:extLst>
          </p:cNvPr>
          <p:cNvCxnSpPr/>
          <p:nvPr/>
        </p:nvCxnSpPr>
        <p:spPr>
          <a:xfrm>
            <a:off x="2164408" y="2142300"/>
            <a:ext cx="0" cy="2378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83DCF5-44DB-5249-AB0A-DE45186F8B04}"/>
              </a:ext>
            </a:extLst>
          </p:cNvPr>
          <p:cNvCxnSpPr/>
          <p:nvPr/>
        </p:nvCxnSpPr>
        <p:spPr>
          <a:xfrm>
            <a:off x="2020392" y="2923252"/>
            <a:ext cx="0" cy="2378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BF742F-C308-5C4D-A6FE-F2173CE101D1}"/>
              </a:ext>
            </a:extLst>
          </p:cNvPr>
          <p:cNvCxnSpPr>
            <a:cxnSpLocks/>
          </p:cNvCxnSpPr>
          <p:nvPr/>
        </p:nvCxnSpPr>
        <p:spPr>
          <a:xfrm>
            <a:off x="1804368" y="3712399"/>
            <a:ext cx="0" cy="290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394D21-EB10-E949-94CC-8EDF2DCDDC3A}"/>
              </a:ext>
            </a:extLst>
          </p:cNvPr>
          <p:cNvCxnSpPr>
            <a:cxnSpLocks/>
          </p:cNvCxnSpPr>
          <p:nvPr/>
        </p:nvCxnSpPr>
        <p:spPr>
          <a:xfrm flipV="1">
            <a:off x="2668464" y="3712399"/>
            <a:ext cx="0" cy="29071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B52A76-ABFE-E545-A5A3-BEB84FD94620}"/>
              </a:ext>
            </a:extLst>
          </p:cNvPr>
          <p:cNvCxnSpPr>
            <a:cxnSpLocks/>
          </p:cNvCxnSpPr>
          <p:nvPr/>
        </p:nvCxnSpPr>
        <p:spPr>
          <a:xfrm flipV="1">
            <a:off x="2405713" y="2923251"/>
            <a:ext cx="0" cy="2378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D6145A1-B8A6-484B-92AA-0635078E9C14}"/>
              </a:ext>
            </a:extLst>
          </p:cNvPr>
          <p:cNvCxnSpPr>
            <a:cxnSpLocks/>
          </p:cNvCxnSpPr>
          <p:nvPr/>
        </p:nvCxnSpPr>
        <p:spPr>
          <a:xfrm flipV="1">
            <a:off x="2420112" y="2142299"/>
            <a:ext cx="0" cy="2378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EFDF625-90C3-9F43-B46F-906946A66E5A}"/>
              </a:ext>
            </a:extLst>
          </p:cNvPr>
          <p:cNvSpPr/>
          <p:nvPr/>
        </p:nvSpPr>
        <p:spPr>
          <a:xfrm>
            <a:off x="3707904" y="1321182"/>
            <a:ext cx="1174093" cy="781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A66383C-B39D-184C-96A4-6CED0954BC50}"/>
              </a:ext>
            </a:extLst>
          </p:cNvPr>
          <p:cNvSpPr/>
          <p:nvPr/>
        </p:nvSpPr>
        <p:spPr>
          <a:xfrm>
            <a:off x="5508104" y="1321182"/>
            <a:ext cx="1174093" cy="78141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>
                <a:solidFill>
                  <a:schemeClr val="tx1"/>
                </a:solidFill>
              </a:rPr>
              <a:t>CPU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FD26BC-4822-7C45-ACD8-CF5738C224B8}"/>
              </a:ext>
            </a:extLst>
          </p:cNvPr>
          <p:cNvCxnSpPr>
            <a:cxnSpLocks/>
          </p:cNvCxnSpPr>
          <p:nvPr/>
        </p:nvCxnSpPr>
        <p:spPr>
          <a:xfrm flipH="1">
            <a:off x="2884555" y="1993404"/>
            <a:ext cx="823349" cy="5311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33D447-8224-2548-A316-AADC26360008}"/>
              </a:ext>
            </a:extLst>
          </p:cNvPr>
          <p:cNvCxnSpPr>
            <a:cxnSpLocks/>
          </p:cNvCxnSpPr>
          <p:nvPr/>
        </p:nvCxnSpPr>
        <p:spPr>
          <a:xfrm flipV="1">
            <a:off x="2894097" y="2102598"/>
            <a:ext cx="860793" cy="5275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BE6302-F4F4-2743-B6F3-04AF8491C62C}"/>
              </a:ext>
            </a:extLst>
          </p:cNvPr>
          <p:cNvCxnSpPr>
            <a:cxnSpLocks/>
          </p:cNvCxnSpPr>
          <p:nvPr/>
        </p:nvCxnSpPr>
        <p:spPr>
          <a:xfrm flipV="1">
            <a:off x="2867836" y="2142299"/>
            <a:ext cx="3429105" cy="6625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D150A0A-D186-004A-A31D-41B231DA29C3}"/>
              </a:ext>
            </a:extLst>
          </p:cNvPr>
          <p:cNvCxnSpPr>
            <a:cxnSpLocks/>
          </p:cNvCxnSpPr>
          <p:nvPr/>
        </p:nvCxnSpPr>
        <p:spPr>
          <a:xfrm flipH="1">
            <a:off x="2891868" y="2126748"/>
            <a:ext cx="2904268" cy="6220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A02E2D81-1A7B-2E4C-8A2C-3F4207A5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多处理器</a:t>
            </a:r>
            <a:r>
              <a:rPr lang="zh-CN" altLang="en-CN"/>
              <a:t>多核</a:t>
            </a:r>
            <a:r>
              <a:rPr lang="zh-CN" altLang="en-US"/>
              <a:t>环境中的缓存结构</a:t>
            </a:r>
            <a:endParaRPr lang="en-CN"/>
          </a:p>
        </p:txBody>
      </p:sp>
      <p:sp>
        <p:nvSpPr>
          <p:cNvPr id="38" name="Content Placeholder 5">
            <a:extLst>
              <a:ext uri="{FF2B5EF4-FFF2-40B4-BE49-F238E27FC236}">
                <a16:creationId xmlns:a16="http://schemas.microsoft.com/office/drawing/2014/main" id="{160016E9-2E90-4E41-94B1-D6DCEDD47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7122" y="2737982"/>
            <a:ext cx="4480401" cy="234321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b="0" dirty="0"/>
              <a:t>简单的解决方案：</a:t>
            </a:r>
            <a:endParaRPr lang="en-US" altLang="zh-CN" b="0" dirty="0"/>
          </a:p>
          <a:p>
            <a:pPr>
              <a:lnSpc>
                <a:spcPct val="130000"/>
              </a:lnSpc>
              <a:buFont typeface="Wingdings" pitchFamily="2" charset="2"/>
              <a:buChar char="§"/>
            </a:pPr>
            <a:r>
              <a:rPr lang="zh-CN" altLang="en-US" sz="2000" b="0" dirty="0"/>
              <a:t>将多核当成一个核心，共享缓存设计</a:t>
            </a:r>
            <a:endParaRPr lang="en-US" altLang="zh-CN" sz="2000" b="0" dirty="0"/>
          </a:p>
          <a:p>
            <a:pPr marL="0" indent="0">
              <a:buNone/>
            </a:pPr>
            <a:r>
              <a:rPr lang="zh-CN" altLang="en-US" b="0" dirty="0"/>
              <a:t>面临的问题：</a:t>
            </a:r>
            <a:endParaRPr lang="en-US" altLang="zh-CN" b="0" dirty="0"/>
          </a:p>
          <a:p>
            <a:pPr>
              <a:buFont typeface="Wingdings" pitchFamily="2" charset="2"/>
              <a:buChar char="§"/>
            </a:pPr>
            <a:r>
              <a:rPr lang="zh-CN" altLang="en-US" sz="2000" b="0" dirty="0"/>
              <a:t>高速缓存成为瓶颈（单点竞争）</a:t>
            </a:r>
            <a:endParaRPr lang="en-US" altLang="zh-CN" sz="2000" b="0" dirty="0"/>
          </a:p>
          <a:p>
            <a:pPr>
              <a:buFont typeface="Wingdings" pitchFamily="2" charset="2"/>
              <a:buChar char="§"/>
            </a:pPr>
            <a:r>
              <a:rPr lang="zh-CN" altLang="en-US" sz="2000" b="0" dirty="0"/>
              <a:t>硬件物理分布：离核心远，速度减慢</a:t>
            </a:r>
            <a:endParaRPr lang="en-US" altLang="zh-CN" sz="20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53FC8B-E31D-BA4A-82F8-6A105E4B7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621370-A355-A049-8EE2-981030BF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7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2C232-D625-7040-9257-E3F368BA4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多核</a:t>
            </a:r>
            <a:r>
              <a:rPr lang="zh-CN" altLang="en-US"/>
              <a:t>环境中的缓存结构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25D715-45E2-084A-B75C-6AB9522E8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48" y="1341094"/>
            <a:ext cx="4658781" cy="3405467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669532C-CE53-EE43-95F0-4BE4DA301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71" y="1417340"/>
            <a:ext cx="3746263" cy="3956186"/>
          </a:xfrm>
        </p:spPr>
        <p:txBody>
          <a:bodyPr>
            <a:normAutofit/>
          </a:bodyPr>
          <a:lstStyle/>
          <a:p>
            <a:r>
              <a:rPr lang="zh-CN" altLang="en-US" sz="2000" b="0" dirty="0"/>
              <a:t>多级缓存：</a:t>
            </a:r>
            <a:endParaRPr lang="en-US" altLang="zh-CN" sz="2000" b="0" dirty="0"/>
          </a:p>
          <a:p>
            <a:pPr lvl="1"/>
            <a:r>
              <a:rPr lang="zh-CN" altLang="en-US" sz="1800" dirty="0"/>
              <a:t>每个核心有自己的</a:t>
            </a:r>
            <a:r>
              <a:rPr lang="zh-CN" altLang="en-US" sz="1800" b="1" dirty="0"/>
              <a:t>私有</a:t>
            </a:r>
            <a:r>
              <a:rPr lang="zh-CN" altLang="en-US" sz="1800" dirty="0"/>
              <a:t>高速缓存（</a:t>
            </a:r>
            <a:r>
              <a:rPr lang="en-US" altLang="zh-CN" sz="1800" dirty="0"/>
              <a:t>L1</a:t>
            </a:r>
            <a:r>
              <a:rPr lang="zh-CN" altLang="en-US" sz="1800" dirty="0"/>
              <a:t> </a:t>
            </a:r>
            <a:r>
              <a:rPr lang="en-US" altLang="zh-CN" sz="1800" dirty="0"/>
              <a:t>Cache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/>
            <a:r>
              <a:rPr lang="zh-CN" altLang="en-US" sz="1800" dirty="0"/>
              <a:t>多个核心共享一个</a:t>
            </a:r>
            <a:r>
              <a:rPr lang="zh-CN" altLang="en-US" sz="1800" b="1" dirty="0"/>
              <a:t>二级</a:t>
            </a:r>
            <a:r>
              <a:rPr lang="zh-CN" altLang="en-US" sz="1800" dirty="0"/>
              <a:t>高速缓存（</a:t>
            </a:r>
            <a:r>
              <a:rPr lang="en-US" altLang="zh-CN" sz="1800" dirty="0"/>
              <a:t>L2</a:t>
            </a:r>
            <a:r>
              <a:rPr lang="zh-CN" altLang="en-US" sz="1800" dirty="0"/>
              <a:t> </a:t>
            </a:r>
            <a:r>
              <a:rPr lang="en-US" altLang="zh-CN" sz="1800" dirty="0"/>
              <a:t>Cache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/>
            <a:r>
              <a:rPr lang="zh-CN" altLang="en-US" sz="1800" dirty="0"/>
              <a:t>所有核心共享一个</a:t>
            </a:r>
            <a:r>
              <a:rPr lang="zh-CN" altLang="en-US" sz="1800" b="1" dirty="0"/>
              <a:t>最末级</a:t>
            </a:r>
            <a:r>
              <a:rPr lang="zh-CN" altLang="en-US" sz="1800" dirty="0"/>
              <a:t>高速缓存（</a:t>
            </a:r>
            <a:r>
              <a:rPr lang="en-US" altLang="zh-CN" sz="1800" dirty="0"/>
              <a:t>LLC</a:t>
            </a:r>
            <a:r>
              <a:rPr lang="zh-CN" altLang="en-US" sz="1800" dirty="0"/>
              <a:t>）</a:t>
            </a:r>
            <a:endParaRPr lang="en-US" altLang="zh-CN" sz="2000" b="0" dirty="0"/>
          </a:p>
          <a:p>
            <a:r>
              <a:rPr lang="zh-CN" altLang="en-US" sz="2000" b="0" dirty="0"/>
              <a:t>非一致缓存访问（</a:t>
            </a:r>
            <a:r>
              <a:rPr lang="en-US" altLang="zh-CN" sz="2000" b="0" dirty="0"/>
              <a:t>NUCA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r>
              <a:rPr lang="zh-CN" altLang="en-US" sz="2000" b="0" dirty="0"/>
              <a:t>数据一致性问题</a:t>
            </a:r>
            <a:endParaRPr lang="en-US" altLang="zh-CN" sz="2000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1360F-FB79-E142-9474-E9C8C18D16DA}"/>
              </a:ext>
            </a:extLst>
          </p:cNvPr>
          <p:cNvSpPr/>
          <p:nvPr/>
        </p:nvSpPr>
        <p:spPr>
          <a:xfrm>
            <a:off x="4950539" y="4852484"/>
            <a:ext cx="31373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/>
              <a:t>一个典型多核系统高速缓存架构*</a:t>
            </a:r>
            <a:endParaRPr lang="en-CN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D1D4D-2F8F-834B-A466-CA9CBE59E580}"/>
              </a:ext>
            </a:extLst>
          </p:cNvPr>
          <p:cNvSpPr/>
          <p:nvPr/>
        </p:nvSpPr>
        <p:spPr>
          <a:xfrm>
            <a:off x="4283968" y="1993404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79D592-7228-794D-A4E8-738A49B0597C}"/>
              </a:ext>
            </a:extLst>
          </p:cNvPr>
          <p:cNvSpPr/>
          <p:nvPr/>
        </p:nvSpPr>
        <p:spPr>
          <a:xfrm>
            <a:off x="6804248" y="2078800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B7B659-092A-8540-8CE0-FE2B73521678}"/>
              </a:ext>
            </a:extLst>
          </p:cNvPr>
          <p:cNvSpPr/>
          <p:nvPr/>
        </p:nvSpPr>
        <p:spPr>
          <a:xfrm>
            <a:off x="8028384" y="1849388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39C7CD-CAC4-2A40-94F9-5E794C1C3932}"/>
              </a:ext>
            </a:extLst>
          </p:cNvPr>
          <p:cNvSpPr/>
          <p:nvPr/>
        </p:nvSpPr>
        <p:spPr>
          <a:xfrm>
            <a:off x="4080392" y="968439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*</a:t>
            </a:r>
            <a:r>
              <a:rPr lang="en-US" altLang="zh-CN"/>
              <a:t>addr = 1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2FAC7D-9316-F546-A5F7-A24D27C931FD}"/>
              </a:ext>
            </a:extLst>
          </p:cNvPr>
          <p:cNvSpPr/>
          <p:nvPr/>
        </p:nvSpPr>
        <p:spPr>
          <a:xfrm>
            <a:off x="6600672" y="9446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*</a:t>
            </a:r>
            <a:r>
              <a:rPr lang="en-US" altLang="zh-CN"/>
              <a:t>addr = 2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989322-A30D-DE46-B973-2EFE32295C6E}"/>
              </a:ext>
            </a:extLst>
          </p:cNvPr>
          <p:cNvSpPr/>
          <p:nvPr/>
        </p:nvSpPr>
        <p:spPr>
          <a:xfrm>
            <a:off x="7727904" y="944642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*</a:t>
            </a:r>
            <a:r>
              <a:rPr lang="en-US" altLang="zh-CN"/>
              <a:t>addr = ?</a:t>
            </a:r>
            <a:endParaRPr lang="en-C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2A92F22-F7FF-1E4E-ACF9-AC35A64DB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AE0E3-B256-5B47-9F25-6ADA174B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609D7011-F34B-014E-876D-06252047D961}"/>
              </a:ext>
            </a:extLst>
          </p:cNvPr>
          <p:cNvSpPr/>
          <p:nvPr/>
        </p:nvSpPr>
        <p:spPr>
          <a:xfrm>
            <a:off x="6458967" y="5162810"/>
            <a:ext cx="253787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900" dirty="0"/>
              <a:t>*可以有其他选择，大部分多核系统采用该架构</a:t>
            </a:r>
            <a:endParaRPr lang="en-CN" sz="900"/>
          </a:p>
        </p:txBody>
      </p:sp>
    </p:spTree>
    <p:extLst>
      <p:ext uri="{BB962C8B-B14F-4D97-AF65-F5344CB8AC3E}">
        <p14:creationId xmlns:p14="http://schemas.microsoft.com/office/powerpoint/2010/main" val="258228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缓存一致性</a:t>
            </a:r>
            <a:endParaRPr lang="en-CN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D9BBF25-2EB8-2146-842B-D2B28B2FC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618" y="1138400"/>
            <a:ext cx="7694761" cy="14401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CN" sz="2000" b="0"/>
              <a:t>保证</a:t>
            </a:r>
            <a:r>
              <a:rPr lang="zh-CN" altLang="en-US" sz="2000" b="0"/>
              <a:t>不同核心对同一地址的值达成共识</a:t>
            </a:r>
            <a:endParaRPr lang="en-US" altLang="zh-CN" sz="2000" b="0"/>
          </a:p>
          <a:p>
            <a:pPr>
              <a:lnSpc>
                <a:spcPct val="200000"/>
              </a:lnSpc>
            </a:pPr>
            <a:r>
              <a:rPr lang="zh-CN" altLang="en-US" sz="2000" b="0"/>
              <a:t>多种缓存一致性</a:t>
            </a:r>
            <a:r>
              <a:rPr lang="zh-CN" altLang="en-US" sz="2000"/>
              <a:t>协议</a:t>
            </a:r>
            <a:r>
              <a:rPr lang="zh-CN" altLang="en-US" sz="2000" b="0"/>
              <a:t>：窥探式</a:t>
            </a:r>
            <a:r>
              <a:rPr lang="en-US" altLang="zh-CN" sz="2000" b="0"/>
              <a:t>/</a:t>
            </a:r>
            <a:r>
              <a:rPr lang="zh-CN" altLang="en-US" sz="2000"/>
              <a:t>目录式缓存一致性</a:t>
            </a:r>
            <a:r>
              <a:rPr lang="zh-CN" altLang="en-US" sz="2000" b="0"/>
              <a:t>协议</a:t>
            </a:r>
            <a:endParaRPr lang="en-US" altLang="zh-CN" sz="2000" b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AD33FF-9AF0-8B4A-91E1-FF9676AF12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EDAB5A-BE1F-EB44-87E3-C7272A62ECDD}"/>
              </a:ext>
            </a:extLst>
          </p:cNvPr>
          <p:cNvSpPr/>
          <p:nvPr/>
        </p:nvSpPr>
        <p:spPr>
          <a:xfrm>
            <a:off x="2123728" y="3202116"/>
            <a:ext cx="5589803" cy="1845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缓存行处于不同状态（</a:t>
            </a:r>
            <a:r>
              <a:rPr lang="en-US" altLang="zh-CN" sz="2000" dirty="0"/>
              <a:t>MSI</a:t>
            </a:r>
            <a:r>
              <a:rPr lang="zh-CN" altLang="en-US" sz="2000" dirty="0"/>
              <a:t>状态）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不同状态之间迁移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/>
              <a:t>所有读</a:t>
            </a:r>
            <a:r>
              <a:rPr lang="en-US" altLang="zh-CN" sz="2000" dirty="0"/>
              <a:t>/</a:t>
            </a:r>
            <a:r>
              <a:rPr lang="zh-CN" altLang="en-US" sz="2000" dirty="0"/>
              <a:t>写缓存行操作遵循协议流程</a:t>
            </a:r>
            <a:endParaRPr lang="en-US" altLang="zh-C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1B7759-2586-624A-834E-A0EE8DE10CDF}"/>
              </a:ext>
            </a:extLst>
          </p:cNvPr>
          <p:cNvSpPr/>
          <p:nvPr/>
        </p:nvSpPr>
        <p:spPr>
          <a:xfrm>
            <a:off x="554284" y="2587652"/>
            <a:ext cx="1723549" cy="6144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>
                <a:solidFill>
                  <a:srgbClr val="FF0000"/>
                </a:solidFill>
              </a:rPr>
              <a:t>具体怎么做？</a:t>
            </a:r>
            <a:endParaRPr lang="en-US" altLang="zh-CN" sz="200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26BAD-B3E7-884E-BDBC-D7E52B35F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632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缓存一致性</a:t>
            </a:r>
            <a:r>
              <a:rPr lang="zh-CN" altLang="en-US"/>
              <a:t>：</a:t>
            </a:r>
            <a:r>
              <a:rPr lang="en-US" altLang="zh-CN"/>
              <a:t>MSI</a:t>
            </a:r>
            <a:r>
              <a:rPr lang="zh-CN" altLang="en-US"/>
              <a:t>状态迁移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47309-0B98-5D4C-95D2-D706C4F4B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941" y="1633364"/>
            <a:ext cx="5393027" cy="2752422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B5DBBE5-05BF-B040-B083-B3114A61F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05372"/>
            <a:ext cx="4429683" cy="28482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CN" sz="1800" b="0"/>
              <a:t>独占</a:t>
            </a:r>
            <a:r>
              <a:rPr lang="zh-CN" altLang="en-US" sz="1800" b="0"/>
              <a:t>修改 （</a:t>
            </a:r>
            <a:r>
              <a:rPr lang="en-US" altLang="zh-CN" sz="1800"/>
              <a:t>M</a:t>
            </a:r>
            <a:r>
              <a:rPr lang="en-US" altLang="zh-CN" sz="1800" b="0"/>
              <a:t>odified</a:t>
            </a:r>
            <a:r>
              <a:rPr lang="zh-CN" altLang="en-US" sz="1800" b="0"/>
              <a:t>）</a:t>
            </a:r>
            <a:endParaRPr lang="en-US" altLang="zh-CN" sz="1800" b="0"/>
          </a:p>
          <a:p>
            <a:pPr lvl="1">
              <a:lnSpc>
                <a:spcPct val="150000"/>
              </a:lnSpc>
            </a:pPr>
            <a:r>
              <a:rPr lang="zh-CN" altLang="en-US" sz="1800" b="0"/>
              <a:t>该核心独占拥有缓存行</a:t>
            </a:r>
            <a:endParaRPr lang="en-US" altLang="zh-CN" sz="1800" b="0"/>
          </a:p>
          <a:p>
            <a:pPr lvl="1">
              <a:lnSpc>
                <a:spcPct val="150000"/>
              </a:lnSpc>
            </a:pPr>
            <a:r>
              <a:rPr lang="zh-CN" altLang="en-US" sz="1800"/>
              <a:t>本地</a:t>
            </a:r>
            <a:r>
              <a:rPr lang="zh-CN" altLang="en-US" sz="1800" b="0"/>
              <a:t>可</a:t>
            </a:r>
            <a:r>
              <a:rPr lang="zh-CN" altLang="en-US" sz="1800" b="1"/>
              <a:t>读</a:t>
            </a:r>
            <a:r>
              <a:rPr lang="zh-CN" altLang="en-US" sz="1800" b="0"/>
              <a:t>可</a:t>
            </a:r>
            <a:r>
              <a:rPr lang="zh-CN" altLang="en-US" sz="1800" b="1"/>
              <a:t>写</a:t>
            </a:r>
            <a:endParaRPr lang="en-US" altLang="zh-CN" sz="1800" b="1"/>
          </a:p>
          <a:p>
            <a:pPr lvl="1">
              <a:lnSpc>
                <a:spcPct val="150000"/>
              </a:lnSpc>
            </a:pPr>
            <a:r>
              <a:rPr lang="zh-CN" altLang="en-US" sz="1800"/>
              <a:t>其他核</a:t>
            </a:r>
            <a:r>
              <a:rPr lang="zh-CN" altLang="en-US" sz="1800" b="1"/>
              <a:t>读</a:t>
            </a:r>
            <a:r>
              <a:rPr lang="zh-CN" altLang="en-US" sz="1800"/>
              <a:t>需要迁移到</a:t>
            </a:r>
            <a:r>
              <a:rPr lang="zh-CN" altLang="en-US" sz="1800" b="1">
                <a:solidFill>
                  <a:schemeClr val="accent1"/>
                </a:solidFill>
              </a:rPr>
              <a:t>共享</a:t>
            </a:r>
            <a:endParaRPr lang="en-US" altLang="zh-CN" sz="1800" b="1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800"/>
              <a:t>其他核</a:t>
            </a:r>
            <a:r>
              <a:rPr lang="zh-CN" altLang="en-US" sz="1800" b="1"/>
              <a:t>写</a:t>
            </a:r>
            <a:r>
              <a:rPr lang="zh-CN" altLang="en-US" sz="1800"/>
              <a:t>需要迁移到</a:t>
            </a:r>
            <a:r>
              <a:rPr lang="zh-CN" altLang="en-US" sz="1800" b="1">
                <a:solidFill>
                  <a:schemeClr val="accent1"/>
                </a:solidFill>
              </a:rPr>
              <a:t>失效</a:t>
            </a:r>
            <a:endParaRPr lang="en-US" altLang="zh-CN" sz="1800" b="1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270939-A1B0-E44D-90CB-7477AAD2DB3C}"/>
              </a:ext>
            </a:extLst>
          </p:cNvPr>
          <p:cNvSpPr/>
          <p:nvPr/>
        </p:nvSpPr>
        <p:spPr>
          <a:xfrm>
            <a:off x="4514491" y="4720565"/>
            <a:ext cx="37979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/>
              <a:t>每</a:t>
            </a:r>
            <a:r>
              <a:rPr lang="zh-CN" altLang="en-US" sz="1600"/>
              <a:t>核心每缓存行状态</a:t>
            </a:r>
            <a:endParaRPr lang="en-CN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33120D-4674-1C47-AB28-508AC8B38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58B921-2700-1F42-900F-2E25BF5DC2B6}"/>
              </a:ext>
            </a:extLst>
          </p:cNvPr>
          <p:cNvSpPr/>
          <p:nvPr/>
        </p:nvSpPr>
        <p:spPr>
          <a:xfrm>
            <a:off x="5621365" y="1881456"/>
            <a:ext cx="1584176" cy="14080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CFBB2-EB64-984D-82EA-E839C753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739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缓存一致性</a:t>
            </a:r>
            <a:r>
              <a:rPr lang="zh-CN" altLang="en-US"/>
              <a:t>：</a:t>
            </a:r>
            <a:r>
              <a:rPr lang="en-US" altLang="zh-CN"/>
              <a:t>MSI</a:t>
            </a:r>
            <a:r>
              <a:rPr lang="zh-CN" altLang="en-US"/>
              <a:t>状态迁移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47309-0B98-5D4C-95D2-D706C4F4B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941" y="1633364"/>
            <a:ext cx="5393027" cy="2752422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B5DBBE5-05BF-B040-B083-B3114A61F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1" y="1705372"/>
            <a:ext cx="4320480" cy="284825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0" dirty="0"/>
              <a:t>共享（</a:t>
            </a:r>
            <a:r>
              <a:rPr lang="en-US" altLang="zh-CN" sz="1800" dirty="0"/>
              <a:t>S</a:t>
            </a:r>
            <a:r>
              <a:rPr lang="en-US" altLang="zh-CN" sz="1800" b="0" dirty="0"/>
              <a:t>hared</a:t>
            </a:r>
            <a:r>
              <a:rPr lang="zh-CN" altLang="en-US" sz="1800" b="0" dirty="0"/>
              <a:t>）</a:t>
            </a:r>
            <a:endParaRPr lang="en-US" altLang="zh-CN" sz="1800" b="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可能多个核同时有缓存行的拷贝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本地可</a:t>
            </a:r>
            <a:r>
              <a:rPr lang="zh-CN" altLang="en-US" sz="1800" b="1" dirty="0"/>
              <a:t>读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本地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需要迁移到</a:t>
            </a:r>
            <a:r>
              <a:rPr lang="zh-CN" altLang="en-US" sz="1800" b="1" dirty="0">
                <a:solidFill>
                  <a:schemeClr val="accent1"/>
                </a:solidFill>
              </a:rPr>
              <a:t>独占修改</a:t>
            </a:r>
            <a:r>
              <a:rPr lang="zh-CN" altLang="en-US" sz="1800" dirty="0"/>
              <a:t>，并使其他核该缓存行</a:t>
            </a:r>
            <a:r>
              <a:rPr lang="zh-CN" altLang="en-US" sz="1800" b="1" dirty="0">
                <a:solidFill>
                  <a:schemeClr val="accent1"/>
                </a:solidFill>
              </a:rPr>
              <a:t>失效</a:t>
            </a:r>
            <a:endParaRPr lang="en-US" altLang="zh-CN" sz="1800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其他核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需要迁移到</a:t>
            </a:r>
            <a:r>
              <a:rPr lang="zh-CN" altLang="en-US" sz="1800" b="1" dirty="0">
                <a:solidFill>
                  <a:schemeClr val="accent1"/>
                </a:solidFill>
              </a:rPr>
              <a:t>失效</a:t>
            </a:r>
            <a:endParaRPr lang="en-US" altLang="zh-CN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270939-A1B0-E44D-90CB-7477AAD2DB3C}"/>
              </a:ext>
            </a:extLst>
          </p:cNvPr>
          <p:cNvSpPr/>
          <p:nvPr/>
        </p:nvSpPr>
        <p:spPr>
          <a:xfrm>
            <a:off x="4514491" y="4720565"/>
            <a:ext cx="37979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/>
              <a:t>每</a:t>
            </a:r>
            <a:r>
              <a:rPr lang="zh-CN" altLang="en-US" sz="1600"/>
              <a:t>核心每缓存行状态</a:t>
            </a:r>
            <a:endParaRPr lang="en-CN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62912E-A603-D94E-A448-98C66805D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C73925-89AD-0E4F-B170-0E606A288BAF}"/>
              </a:ext>
            </a:extLst>
          </p:cNvPr>
          <p:cNvSpPr/>
          <p:nvPr/>
        </p:nvSpPr>
        <p:spPr>
          <a:xfrm>
            <a:off x="6948264" y="3163445"/>
            <a:ext cx="1584176" cy="14080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0B30A-8B02-AB48-BD76-6F8A0481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495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缓存一致性</a:t>
            </a:r>
            <a:r>
              <a:rPr lang="zh-CN" altLang="en-US"/>
              <a:t>：</a:t>
            </a:r>
            <a:r>
              <a:rPr lang="en-US" altLang="zh-CN"/>
              <a:t>MSI</a:t>
            </a:r>
            <a:r>
              <a:rPr lang="zh-CN" altLang="en-US"/>
              <a:t>状态迁移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D47309-0B98-5D4C-95D2-D706C4F4B1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941" y="1633364"/>
            <a:ext cx="5393027" cy="2752422"/>
          </a:xfrm>
          <a:prstGeom prst="rect">
            <a:avLst/>
          </a:prstGeom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4B5DBBE5-05BF-B040-B083-B3114A61F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1" y="1705372"/>
            <a:ext cx="3962400" cy="359159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0" dirty="0"/>
              <a:t>失效（</a:t>
            </a:r>
            <a:r>
              <a:rPr lang="en-US" altLang="zh-CN" sz="1800" dirty="0"/>
              <a:t>I</a:t>
            </a:r>
            <a:r>
              <a:rPr lang="en-US" altLang="zh-CN" sz="1800" b="0" dirty="0"/>
              <a:t>nvalid</a:t>
            </a:r>
            <a:r>
              <a:rPr lang="zh-CN" altLang="en-US" sz="1800" b="0" dirty="0"/>
              <a:t>）</a:t>
            </a:r>
            <a:endParaRPr lang="en-US" altLang="zh-CN" sz="1800" b="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本地缓存行失效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本地不能读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写</a:t>
            </a:r>
            <a:r>
              <a:rPr lang="zh-CN" altLang="en-US" sz="1800" dirty="0"/>
              <a:t>缓存行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本地</a:t>
            </a:r>
            <a:r>
              <a:rPr lang="zh-CN" altLang="en-US" sz="1800" b="1" dirty="0"/>
              <a:t>读</a:t>
            </a:r>
            <a:r>
              <a:rPr lang="zh-CN" altLang="en-US" sz="1800" dirty="0"/>
              <a:t>需要迁移到</a:t>
            </a:r>
            <a:r>
              <a:rPr lang="zh-CN" altLang="en-US" sz="1800" b="1" dirty="0">
                <a:solidFill>
                  <a:schemeClr val="accent1"/>
                </a:solidFill>
              </a:rPr>
              <a:t>共享</a:t>
            </a:r>
            <a:r>
              <a:rPr lang="zh-CN" altLang="en-US" sz="1800" dirty="0">
                <a:solidFill>
                  <a:schemeClr val="tx1"/>
                </a:solidFill>
              </a:rPr>
              <a:t>，并使其他核该缓存行迁移到</a:t>
            </a:r>
            <a:r>
              <a:rPr lang="zh-CN" altLang="en-US" sz="1800" b="1" dirty="0">
                <a:solidFill>
                  <a:schemeClr val="accent1"/>
                </a:solidFill>
              </a:rPr>
              <a:t>共享</a:t>
            </a:r>
            <a:endParaRPr lang="en-US" altLang="zh-CN" sz="1800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本地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需要迁移到</a:t>
            </a:r>
            <a:r>
              <a:rPr lang="zh-CN" altLang="en-US" sz="1800" b="1" dirty="0">
                <a:solidFill>
                  <a:schemeClr val="accent1"/>
                </a:solidFill>
              </a:rPr>
              <a:t>独占修改</a:t>
            </a:r>
            <a:r>
              <a:rPr lang="zh-CN" altLang="en-US" sz="1800" dirty="0"/>
              <a:t>，并使其他核心该缓存行</a:t>
            </a:r>
            <a:r>
              <a:rPr lang="zh-CN" altLang="en-US" sz="1800" b="1" dirty="0">
                <a:solidFill>
                  <a:schemeClr val="accent1"/>
                </a:solidFill>
              </a:rPr>
              <a:t>失效</a:t>
            </a:r>
            <a:endParaRPr lang="en-US" altLang="zh-CN" sz="1800" b="1" dirty="0">
              <a:solidFill>
                <a:schemeClr val="accent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270939-A1B0-E44D-90CB-7477AAD2DB3C}"/>
              </a:ext>
            </a:extLst>
          </p:cNvPr>
          <p:cNvSpPr/>
          <p:nvPr/>
        </p:nvSpPr>
        <p:spPr>
          <a:xfrm>
            <a:off x="4514491" y="4720565"/>
            <a:ext cx="37979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/>
              <a:t>每</a:t>
            </a:r>
            <a:r>
              <a:rPr lang="zh-CN" altLang="en-US" sz="1600"/>
              <a:t>核心每缓存行状态</a:t>
            </a:r>
            <a:endParaRPr lang="en-CN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25AC4-8F89-5D42-9D64-AAD1381B6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D001B6-DEBD-2642-9CCC-508665C099FD}"/>
              </a:ext>
            </a:extLst>
          </p:cNvPr>
          <p:cNvSpPr/>
          <p:nvPr/>
        </p:nvSpPr>
        <p:spPr>
          <a:xfrm>
            <a:off x="4570258" y="3352746"/>
            <a:ext cx="939625" cy="112116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C9BD8-2E11-5843-9D99-2F67D6881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6410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缓存一致性</a:t>
            </a:r>
            <a:r>
              <a:rPr lang="zh-CN" altLang="en-US"/>
              <a:t>：全局目录项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DBCA0-BA6E-A144-8085-CB45E4DEB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900" y="2209428"/>
            <a:ext cx="5206199" cy="28699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7D8B7A-AFDD-4243-8036-5BFFD7CED4CF}"/>
              </a:ext>
            </a:extLst>
          </p:cNvPr>
          <p:cNvSpPr/>
          <p:nvPr/>
        </p:nvSpPr>
        <p:spPr>
          <a:xfrm>
            <a:off x="2673036" y="1129308"/>
            <a:ext cx="37979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rgbClr val="C00000"/>
                </a:solidFill>
              </a:rPr>
              <a:t>如何通知其他核心需要迁移缓存行状态？</a:t>
            </a:r>
            <a:endParaRPr lang="en-CN" sz="160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A65E9-C0BC-A345-AB7B-1CFA657927A5}"/>
              </a:ext>
            </a:extLst>
          </p:cNvPr>
          <p:cNvSpPr/>
          <p:nvPr/>
        </p:nvSpPr>
        <p:spPr>
          <a:xfrm>
            <a:off x="971600" y="1598298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/>
              <a:t>全局目录项：记录缓存行在不同核上的状态，通过总线通讯</a:t>
            </a:r>
            <a:endParaRPr lang="en-CN" sz="16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23D23-AED2-CB47-A47E-6E7DB0442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3A5DD-4C3C-8349-8679-F1EE628D4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105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/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/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637A015-FE06-A749-A7BE-036AAB59A059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/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057194"/>
              </p:ext>
            </p:extLst>
          </p:nvPr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0F7489-9DD1-0D45-8027-213EE3B41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B2AD5-077D-704D-B7F3-D5E945B9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3935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/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/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637A015-FE06-A749-A7BE-036AAB59A059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/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389443"/>
              </p:ext>
            </p:extLst>
          </p:nvPr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938311" y="1592289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ST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X,233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B726C0-72C3-004E-91FF-EF096A036560}"/>
              </a:ext>
            </a:extLst>
          </p:cNvPr>
          <p:cNvCxnSpPr/>
          <p:nvPr/>
        </p:nvCxnSpPr>
        <p:spPr>
          <a:xfrm>
            <a:off x="1996371" y="3217540"/>
            <a:ext cx="322524" cy="912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54ABDC9-0569-8A4F-B57F-33FFFB9D0AF0}"/>
              </a:ext>
            </a:extLst>
          </p:cNvPr>
          <p:cNvSpPr/>
          <p:nvPr/>
        </p:nvSpPr>
        <p:spPr>
          <a:xfrm>
            <a:off x="2157633" y="3382509"/>
            <a:ext cx="40705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查看目录项，修改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Dirty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位，更改拥有者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920802-86C1-9246-9BB4-1D0BE0977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2E713-1C2D-B84A-BB7C-08EB78524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3553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/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637A015-FE06-A749-A7BE-036AAB59A059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20138"/>
              </p:ext>
            </p:extLst>
          </p:nvPr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938311" y="1592289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ST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X,233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B726C0-72C3-004E-91FF-EF096A036560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4295727" y="3105155"/>
            <a:ext cx="178339" cy="1051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54ABDC9-0569-8A4F-B57F-33FFFB9D0AF0}"/>
              </a:ext>
            </a:extLst>
          </p:cNvPr>
          <p:cNvSpPr/>
          <p:nvPr/>
        </p:nvSpPr>
        <p:spPr>
          <a:xfrm>
            <a:off x="765996" y="3382045"/>
            <a:ext cx="37080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更新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CPU1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CPU2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目录项，使其失效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A77E583-6D84-7E43-A37B-D28C791B1E79}"/>
              </a:ext>
            </a:extLst>
          </p:cNvPr>
          <p:cNvCxnSpPr>
            <a:cxnSpLocks/>
          </p:cNvCxnSpPr>
          <p:nvPr/>
        </p:nvCxnSpPr>
        <p:spPr>
          <a:xfrm flipV="1">
            <a:off x="4427984" y="3118820"/>
            <a:ext cx="2464067" cy="10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2C493-5636-3146-826E-26A81398C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E3D45-F7B6-204E-97E7-01B73077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694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233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190193"/>
              </p:ext>
            </p:extLst>
          </p:nvPr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1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938311" y="1592289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ST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X,233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B726C0-72C3-004E-91FF-EF096A036560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1953786" y="3105155"/>
            <a:ext cx="648074" cy="1120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54ABDC9-0569-8A4F-B57F-33FFFB9D0AF0}"/>
              </a:ext>
            </a:extLst>
          </p:cNvPr>
          <p:cNvSpPr/>
          <p:nvPr/>
        </p:nvSpPr>
        <p:spPr>
          <a:xfrm>
            <a:off x="2318895" y="3274434"/>
            <a:ext cx="32631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回复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CPU0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通知其可以独占修改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87775B3-83E8-F744-A398-EB84FBD5EC4B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260C7E-0548-2C49-BCEC-C48F16CB2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0F203-CE11-BC4D-863A-A5DE971A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2049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233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/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3529191" y="1640637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ST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X,888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FF566A-A780-5C45-8979-8FFED223CBD8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4253986" y="3105155"/>
            <a:ext cx="220080" cy="1024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2BBBB9A-22D7-1E4C-8287-85D1603EEAE0}"/>
              </a:ext>
            </a:extLst>
          </p:cNvPr>
          <p:cNvSpPr/>
          <p:nvPr/>
        </p:nvSpPr>
        <p:spPr>
          <a:xfrm>
            <a:off x="1417161" y="3248734"/>
            <a:ext cx="249177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查看目录项，修改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Dirty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位，更改拥有者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91BC32D-C4D6-F048-9A45-07C3ECB08DF4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05984-70B2-D642-B558-BEE4162EC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4BA34-C802-7F4B-AF31-F9F2B283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9600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233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/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3529191" y="1640637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ST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X,888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FF566A-A780-5C45-8979-8FFED223CBD8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1953786" y="3105155"/>
            <a:ext cx="648072" cy="1120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5CBCDF0-A567-914C-8BD2-2E90EEDCA904}"/>
              </a:ext>
            </a:extLst>
          </p:cNvPr>
          <p:cNvSpPr/>
          <p:nvPr/>
        </p:nvSpPr>
        <p:spPr>
          <a:xfrm>
            <a:off x="2194398" y="3342139"/>
            <a:ext cx="32631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更新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CPU0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目录项，使其失效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71B7CAC-1B13-D446-83D7-6358BAD4A86B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675408-8EA5-064F-86D6-19E73C6A0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DCC7D-326B-9045-AC3E-FED08874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0199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233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888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/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0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3529191" y="1640637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ST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X,888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FF566A-A780-5C45-8979-8FFED223CBD8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4144026" y="3105155"/>
            <a:ext cx="330040" cy="10675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5CBCDF0-A567-914C-8BD2-2E90EEDCA904}"/>
              </a:ext>
            </a:extLst>
          </p:cNvPr>
          <p:cNvSpPr/>
          <p:nvPr/>
        </p:nvSpPr>
        <p:spPr>
          <a:xfrm>
            <a:off x="854908" y="3380400"/>
            <a:ext cx="32631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回复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CPU1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可以独占修改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2DDDD8-0E04-C044-B688-7254BE5E0219}"/>
              </a:ext>
            </a:extLst>
          </p:cNvPr>
          <p:cNvSpPr/>
          <p:nvPr/>
        </p:nvSpPr>
        <p:spPr>
          <a:xfrm>
            <a:off x="-134446" y="5093832"/>
            <a:ext cx="41764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思考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：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233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是不是就丢失了？正确吗？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139165A-FE37-6C41-A34C-30D14ED0936E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2D8E3-7439-304B-AB98-F72616D8F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AA30B-A406-1040-823C-EA502C07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7140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233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M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888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/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968494" y="1569861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LD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FF566A-A780-5C45-8979-8FFED223CBD8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953786" y="3105155"/>
            <a:ext cx="542160" cy="1120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EF6DC5D-C19E-C94F-9425-6E1C01FCE014}"/>
              </a:ext>
            </a:extLst>
          </p:cNvPr>
          <p:cNvSpPr/>
          <p:nvPr/>
        </p:nvSpPr>
        <p:spPr>
          <a:xfrm>
            <a:off x="1913369" y="3274434"/>
            <a:ext cx="32631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发现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失效，去目录找谁拥有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025237BC-EB56-C441-8EE7-671436B58BD4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7BA3F1-2C0D-F049-8691-73C23B92B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F35CC-8477-C543-BD21-D2A3B0226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4900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233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888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/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968494" y="1569861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LD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FF566A-A780-5C45-8979-8FFED223CBD8}"/>
              </a:ext>
            </a:extLst>
          </p:cNvPr>
          <p:cNvCxnSpPr>
            <a:cxnSpLocks/>
          </p:cNvCxnSpPr>
          <p:nvPr/>
        </p:nvCxnSpPr>
        <p:spPr>
          <a:xfrm flipV="1">
            <a:off x="4211960" y="3216094"/>
            <a:ext cx="504056" cy="1081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EF6DC5D-C19E-C94F-9425-6E1C01FCE014}"/>
              </a:ext>
            </a:extLst>
          </p:cNvPr>
          <p:cNvSpPr/>
          <p:nvPr/>
        </p:nvSpPr>
        <p:spPr>
          <a:xfrm>
            <a:off x="1226648" y="3288846"/>
            <a:ext cx="32631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更新目录，并让拥有者给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cpu0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发送最新的值，迁移状态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DC1C9E1-5254-C84A-B439-8651D8BC79D7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A16A1-148C-9D4B-A6FF-81973E978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51817-90EA-7345-BF51-26EB36E75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571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888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accent1"/>
                          </a:solidFill>
                        </a:rPr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888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/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CN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968494" y="1569861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LD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FF566A-A780-5C45-8979-8FFED223CBD8}"/>
              </a:ext>
            </a:extLst>
          </p:cNvPr>
          <p:cNvCxnSpPr>
            <a:cxnSpLocks/>
          </p:cNvCxnSpPr>
          <p:nvPr/>
        </p:nvCxnSpPr>
        <p:spPr>
          <a:xfrm flipH="1">
            <a:off x="2988558" y="2841534"/>
            <a:ext cx="4507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EF6DC5D-C19E-C94F-9425-6E1C01FCE014}"/>
              </a:ext>
            </a:extLst>
          </p:cNvPr>
          <p:cNvSpPr/>
          <p:nvPr/>
        </p:nvSpPr>
        <p:spPr>
          <a:xfrm>
            <a:off x="1475656" y="3270069"/>
            <a:ext cx="32631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转发最新的值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DC1C9E1-5254-C84A-B439-8651D8BC79D7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1D11A-8B1E-064B-B4DD-893BD69F4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D14A2-DEDF-0446-8363-6742BFFD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9893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6240D40-D489-B041-AB82-413F6A91D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766" y="3322784"/>
            <a:ext cx="4361700" cy="222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目录式</a:t>
            </a:r>
            <a:r>
              <a:rPr lang="zh-CN" altLang="en-CN"/>
              <a:t>缓存一致性</a:t>
            </a:r>
            <a:r>
              <a:rPr lang="zh-CN" altLang="en-US"/>
              <a:t>：一个例子</a:t>
            </a:r>
            <a:endParaRPr lang="en-CN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65EC6E-B9F1-0542-98DC-E84A9AB3662D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888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7C41370-698F-7948-84A9-750FB61371EA}"/>
              </a:ext>
            </a:extLst>
          </p:cNvPr>
          <p:cNvGraphicFramePr>
            <a:graphicFrameLocks noGrp="1"/>
          </p:cNvGraphicFramePr>
          <p:nvPr/>
        </p:nvGraphicFramePr>
        <p:xfrm>
          <a:off x="3563888" y="2393822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888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0B9FB6-97F4-AF4E-95A2-64EEF5B996A0}"/>
              </a:ext>
            </a:extLst>
          </p:cNvPr>
          <p:cNvGraphicFramePr>
            <a:graphicFrameLocks noGrp="1"/>
          </p:cNvGraphicFramePr>
          <p:nvPr/>
        </p:nvGraphicFramePr>
        <p:xfrm>
          <a:off x="2483768" y="4369668"/>
          <a:ext cx="1811959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3195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28833872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840605176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Dirty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600" b="0"/>
                        <a:t>Bit</a:t>
                      </a:r>
                      <a:r>
                        <a:rPr lang="zh-CN" altLang="en-US" sz="1600" b="0"/>
                        <a:t> </a:t>
                      </a:r>
                      <a:r>
                        <a:rPr lang="en-US" altLang="zh-CN" sz="1600" b="0"/>
                        <a:t>Vector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CN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FCC552B-F452-1244-AAF6-86E20C666D08}"/>
              </a:ext>
            </a:extLst>
          </p:cNvPr>
          <p:cNvSpPr/>
          <p:nvPr/>
        </p:nvSpPr>
        <p:spPr>
          <a:xfrm>
            <a:off x="1161698" y="1253733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latin typeface="Courier" pitchFamily="2" charset="0"/>
              </a:rPr>
              <a:t>关注变量</a:t>
            </a:r>
            <a:r>
              <a:rPr lang="en-US" altLang="zh-CN" sz="1600">
                <a:latin typeface="Courier" pitchFamily="2" charset="0"/>
              </a:rPr>
              <a:t>X</a:t>
            </a:r>
            <a:r>
              <a:rPr lang="zh-CN" altLang="en-US" sz="1600">
                <a:latin typeface="Courier" pitchFamily="2" charset="0"/>
              </a:rPr>
              <a:t>所在缓存行，</a:t>
            </a:r>
            <a:r>
              <a:rPr lang="en-US" altLang="zh-CN" sz="1600">
                <a:latin typeface="Courier" pitchFamily="2" charset="0"/>
              </a:rPr>
              <a:t>3</a:t>
            </a:r>
            <a:r>
              <a:rPr lang="zh-CN" altLang="en-US" sz="1600">
                <a:latin typeface="Courier" pitchFamily="2" charset="0"/>
              </a:rPr>
              <a:t>个</a:t>
            </a:r>
            <a:r>
              <a:rPr lang="en-US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，一个全局共享目录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9F2D55-66F9-D44E-9845-AE21F4BF0BE7}"/>
              </a:ext>
            </a:extLst>
          </p:cNvPr>
          <p:cNvSpPr/>
          <p:nvPr/>
        </p:nvSpPr>
        <p:spPr>
          <a:xfrm>
            <a:off x="130571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0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5F27F2-C6AE-FE4F-AA43-91EBC0DC8369}"/>
              </a:ext>
            </a:extLst>
          </p:cNvPr>
          <p:cNvSpPr/>
          <p:nvPr/>
        </p:nvSpPr>
        <p:spPr>
          <a:xfrm>
            <a:off x="3825994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1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B4D809-1F0A-AA4D-82D0-4862CC8CED69}"/>
              </a:ext>
            </a:extLst>
          </p:cNvPr>
          <p:cNvSpPr/>
          <p:nvPr/>
        </p:nvSpPr>
        <p:spPr>
          <a:xfrm>
            <a:off x="6634306" y="1885989"/>
            <a:ext cx="12961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 altLang="zh-CN" sz="1600">
                <a:latin typeface="Courier" pitchFamily="2" charset="0"/>
              </a:rPr>
              <a:t>CPU</a:t>
            </a:r>
            <a:r>
              <a:rPr lang="zh-CN" altLang="en-US" sz="1600">
                <a:latin typeface="Courier" pitchFamily="2" charset="0"/>
              </a:rPr>
              <a:t> </a:t>
            </a:r>
            <a:r>
              <a:rPr lang="en-US" altLang="zh-CN" sz="1600">
                <a:latin typeface="Courier" pitchFamily="2" charset="0"/>
              </a:rPr>
              <a:t>2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BCD2CE-92F0-8847-81A3-58B5B2E4C830}"/>
              </a:ext>
            </a:extLst>
          </p:cNvPr>
          <p:cNvSpPr/>
          <p:nvPr/>
        </p:nvSpPr>
        <p:spPr>
          <a:xfrm>
            <a:off x="2251949" y="3791450"/>
            <a:ext cx="22755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latin typeface="Courier" pitchFamily="2" charset="0"/>
              </a:rPr>
              <a:t>全局</a:t>
            </a:r>
            <a:r>
              <a:rPr lang="zh-CN" altLang="en-US" sz="1600">
                <a:latin typeface="Courier" pitchFamily="2" charset="0"/>
              </a:rPr>
              <a:t>共享目录项</a:t>
            </a:r>
            <a:endParaRPr lang="en-CN" sz="1600">
              <a:latin typeface="Courier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8145EF-B8DB-5C4B-8D76-49C780BBEDCE}"/>
              </a:ext>
            </a:extLst>
          </p:cNvPr>
          <p:cNvSpPr/>
          <p:nvPr/>
        </p:nvSpPr>
        <p:spPr>
          <a:xfrm>
            <a:off x="532384" y="2749487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311878-95A6-A94A-AB88-CF880427E7DF}"/>
              </a:ext>
            </a:extLst>
          </p:cNvPr>
          <p:cNvSpPr/>
          <p:nvPr/>
        </p:nvSpPr>
        <p:spPr>
          <a:xfrm>
            <a:off x="1996371" y="4705361"/>
            <a:ext cx="322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X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277069-2BD1-B64B-8114-A14967C6B125}"/>
              </a:ext>
            </a:extLst>
          </p:cNvPr>
          <p:cNvSpPr/>
          <p:nvPr/>
        </p:nvSpPr>
        <p:spPr>
          <a:xfrm>
            <a:off x="3627125" y="1632825"/>
            <a:ext cx="18897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 sz="1600">
                <a:solidFill>
                  <a:schemeClr val="accent1"/>
                </a:solidFill>
                <a:latin typeface="Courier" pitchFamily="2" charset="0"/>
              </a:rPr>
              <a:t>执行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LD</a:t>
            </a:r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 sz="1600">
                <a:solidFill>
                  <a:schemeClr val="accent1"/>
                </a:solidFill>
                <a:latin typeface="Courier" pitchFamily="2" charset="0"/>
              </a:rPr>
              <a:t>X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F6DC5D-C19E-C94F-9425-6E1C01FCE014}"/>
              </a:ext>
            </a:extLst>
          </p:cNvPr>
          <p:cNvSpPr/>
          <p:nvPr/>
        </p:nvSpPr>
        <p:spPr>
          <a:xfrm>
            <a:off x="2940404" y="3223556"/>
            <a:ext cx="32631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>
                <a:solidFill>
                  <a:schemeClr val="accent1"/>
                </a:solidFill>
                <a:latin typeface="Courier" pitchFamily="2" charset="0"/>
              </a:rPr>
              <a:t>为共享状态，直接返回</a:t>
            </a:r>
            <a:endParaRPr lang="en-CN" sz="1600">
              <a:solidFill>
                <a:schemeClr val="accent1"/>
              </a:solidFill>
              <a:latin typeface="Courier" pitchFamily="2" charset="0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DC1C9E1-5254-C84A-B439-8651D8BC79D7}"/>
              </a:ext>
            </a:extLst>
          </p:cNvPr>
          <p:cNvGraphicFramePr>
            <a:graphicFrameLocks noGrp="1"/>
          </p:cNvGraphicFramePr>
          <p:nvPr/>
        </p:nvGraphicFramePr>
        <p:xfrm>
          <a:off x="6372200" y="2393821"/>
          <a:ext cx="1820356" cy="71133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96219">
                  <a:extLst>
                    <a:ext uri="{9D8B030D-6E8A-4147-A177-3AD203B41FA5}">
                      <a16:colId xmlns:a16="http://schemas.microsoft.com/office/drawing/2014/main" val="3666599449"/>
                    </a:ext>
                  </a:extLst>
                </a:gridCol>
                <a:gridCol w="1224137">
                  <a:extLst>
                    <a:ext uri="{9D8B030D-6E8A-4147-A177-3AD203B41FA5}">
                      <a16:colId xmlns:a16="http://schemas.microsoft.com/office/drawing/2014/main" val="2674249978"/>
                    </a:ext>
                  </a:extLst>
                </a:gridCol>
              </a:tblGrid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/>
                        <a:t>状态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CN" sz="1600" b="0"/>
                        <a:t>内容</a:t>
                      </a:r>
                      <a:endParaRPr lang="en-CN" sz="1600" b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740680"/>
                  </a:ext>
                </a:extLst>
              </a:tr>
              <a:tr h="345573">
                <a:tc>
                  <a:txBody>
                    <a:bodyPr/>
                    <a:lstStyle/>
                    <a:p>
                      <a:pPr algn="ctr"/>
                      <a:r>
                        <a:rPr lang="en-CN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666</a:t>
                      </a:r>
                      <a:endParaRPr lang="en-CN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31893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71686-3780-7F4A-96E8-49796A1F1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5FCA0-FBC7-C84F-A7E3-11D8FA53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040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回到可扩展性断崖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A4B4DE-F66B-CA45-AEED-C1F53BFB6EB5}"/>
              </a:ext>
            </a:extLst>
          </p:cNvPr>
          <p:cNvSpPr/>
          <p:nvPr/>
        </p:nvSpPr>
        <p:spPr>
          <a:xfrm>
            <a:off x="395536" y="1945444"/>
            <a:ext cx="3528392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while(atomic_CAS(lock,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1</a:t>
            </a:r>
            <a:r>
              <a:rPr lang="en-US" altLang="zh-CN" sz="1400">
                <a:latin typeface="Courier" pitchFamily="2" charset="0"/>
              </a:rPr>
              <a:t>) </a:t>
            </a:r>
          </a:p>
          <a:p>
            <a:r>
              <a:rPr lang="en-US" altLang="zh-CN" sz="1400">
                <a:latin typeface="Courier" pitchFamily="2" charset="0"/>
              </a:rPr>
              <a:t>	!=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)</a:t>
            </a:r>
          </a:p>
          <a:p>
            <a:r>
              <a:rPr lang="en-US" altLang="zh-CN" sz="1400">
                <a:latin typeface="Courier" pitchFamily="2" charset="0"/>
              </a:rPr>
              <a:t>	</a:t>
            </a:r>
            <a:r>
              <a:rPr lang="en-US" altLang="zh-CN" sz="1400">
                <a:solidFill>
                  <a:srgbClr val="00B0F0"/>
                </a:solidFill>
                <a:latin typeface="Courier" pitchFamily="2" charset="0"/>
              </a:rPr>
              <a:t>/* Busy-looping */;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  <a:p>
            <a:endParaRPr lang="en-US" sz="1400">
              <a:latin typeface="Courier" pitchFamily="2" charset="0"/>
            </a:endParaRPr>
          </a:p>
          <a:p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sz="1400">
                <a:latin typeface="Courier" pitchFamily="2" charset="0"/>
              </a:rPr>
              <a:t> </a:t>
            </a:r>
            <a:r>
              <a:rPr lang="en-US" sz="140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sz="1400">
                <a:latin typeface="Courier" pitchFamily="2" charset="0"/>
              </a:rPr>
              <a:t>(</a:t>
            </a:r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sz="1400">
                <a:latin typeface="Courier" pitchFamily="2" charset="0"/>
              </a:rPr>
              <a:t>*lock = </a:t>
            </a:r>
            <a:r>
              <a:rPr lang="en-US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sz="1400">
                <a:latin typeface="Courier" pitchFamily="2" charset="0"/>
              </a:rPr>
              <a:t>;</a:t>
            </a:r>
          </a:p>
          <a:p>
            <a:r>
              <a:rPr lang="en-US" sz="1400">
                <a:latin typeface="Courier" pitchFamily="2" charset="0"/>
              </a:rPr>
              <a:t>}</a:t>
            </a:r>
            <a:endParaRPr lang="en-CN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3E822-C11A-C645-AEB9-C2A3FEABD08F}"/>
              </a:ext>
            </a:extLst>
          </p:cNvPr>
          <p:cNvSpPr/>
          <p:nvPr/>
        </p:nvSpPr>
        <p:spPr>
          <a:xfrm>
            <a:off x="1151620" y="4111493"/>
            <a:ext cx="20162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自旋锁</a:t>
            </a:r>
            <a:r>
              <a:rPr lang="zh-CN" altLang="en-US">
                <a:latin typeface="Courier" pitchFamily="2" charset="0"/>
              </a:rPr>
              <a:t>实现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F7B598-852A-2642-8C17-0EEE8534EE1C}"/>
              </a:ext>
            </a:extLst>
          </p:cNvPr>
          <p:cNvSpPr/>
          <p:nvPr/>
        </p:nvSpPr>
        <p:spPr>
          <a:xfrm>
            <a:off x="4285107" y="184209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BC902F-DA60-804D-82DB-E98996572ADC}"/>
              </a:ext>
            </a:extLst>
          </p:cNvPr>
          <p:cNvSpPr/>
          <p:nvPr/>
        </p:nvSpPr>
        <p:spPr>
          <a:xfrm>
            <a:off x="5508104" y="197271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60C688-E338-F64D-83F0-BD4F4526BD30}"/>
              </a:ext>
            </a:extLst>
          </p:cNvPr>
          <p:cNvSpPr/>
          <p:nvPr/>
        </p:nvSpPr>
        <p:spPr>
          <a:xfrm>
            <a:off x="6804248" y="184209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EBD52-1B05-914E-BD6A-9E8A6B154E54}"/>
              </a:ext>
            </a:extLst>
          </p:cNvPr>
          <p:cNvSpPr/>
          <p:nvPr/>
        </p:nvSpPr>
        <p:spPr>
          <a:xfrm>
            <a:off x="8028384" y="2044725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464FB-964F-E441-BECD-B0B3A3A34FBB}"/>
              </a:ext>
            </a:extLst>
          </p:cNvPr>
          <p:cNvSpPr/>
          <p:nvPr/>
        </p:nvSpPr>
        <p:spPr>
          <a:xfrm>
            <a:off x="5052221" y="4496786"/>
            <a:ext cx="23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所在缓存行状态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08209-03A3-4545-9301-03007C3834EC}"/>
              </a:ext>
            </a:extLst>
          </p:cNvPr>
          <p:cNvSpPr/>
          <p:nvPr/>
        </p:nvSpPr>
        <p:spPr>
          <a:xfrm>
            <a:off x="4211960" y="1561356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90FBC6-0CD5-374B-B684-B54AEFF53F4A}"/>
              </a:ext>
            </a:extLst>
          </p:cNvPr>
          <p:cNvSpPr/>
          <p:nvPr/>
        </p:nvSpPr>
        <p:spPr>
          <a:xfrm>
            <a:off x="5436096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E5B05-4B33-384B-BB3C-727C382DB146}"/>
              </a:ext>
            </a:extLst>
          </p:cNvPr>
          <p:cNvSpPr/>
          <p:nvPr/>
        </p:nvSpPr>
        <p:spPr>
          <a:xfrm>
            <a:off x="6709962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34829C-880D-3D46-9D66-31C33DAFDB41}"/>
              </a:ext>
            </a:extLst>
          </p:cNvPr>
          <p:cNvSpPr/>
          <p:nvPr/>
        </p:nvSpPr>
        <p:spPr>
          <a:xfrm>
            <a:off x="7956376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40F23D-F3E9-2F47-A303-EF5890C9FC36}"/>
              </a:ext>
            </a:extLst>
          </p:cNvPr>
          <p:cNvSpPr/>
          <p:nvPr/>
        </p:nvSpPr>
        <p:spPr>
          <a:xfrm>
            <a:off x="5725971" y="3116458"/>
            <a:ext cx="1250876" cy="813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CB2DD-6611-1E40-B59B-0CB792B86A3E}"/>
              </a:ext>
            </a:extLst>
          </p:cNvPr>
          <p:cNvSpPr/>
          <p:nvPr/>
        </p:nvSpPr>
        <p:spPr>
          <a:xfrm>
            <a:off x="4192675" y="113631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CPU 0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CEA58F-73B9-4341-B3FD-4A2BCA589DAD}"/>
              </a:ext>
            </a:extLst>
          </p:cNvPr>
          <p:cNvSpPr/>
          <p:nvPr/>
        </p:nvSpPr>
        <p:spPr>
          <a:xfrm>
            <a:off x="5456021" y="113597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CPU 1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BFA0D6-BDB3-9E44-B2E0-202BF75C5C4D}"/>
              </a:ext>
            </a:extLst>
          </p:cNvPr>
          <p:cNvSpPr/>
          <p:nvPr/>
        </p:nvSpPr>
        <p:spPr>
          <a:xfrm>
            <a:off x="6709962" y="1137953"/>
            <a:ext cx="912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CPU 2</a:t>
            </a:r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0AAE1-9268-344D-B32B-75099DB80FAE}"/>
              </a:ext>
            </a:extLst>
          </p:cNvPr>
          <p:cNvSpPr/>
          <p:nvPr/>
        </p:nvSpPr>
        <p:spPr>
          <a:xfrm>
            <a:off x="7907747" y="1135976"/>
            <a:ext cx="912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CPU 3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F56852-1D4A-6F4D-85BD-69BF6025D891}"/>
              </a:ext>
            </a:extLst>
          </p:cNvPr>
          <p:cNvSpPr/>
          <p:nvPr/>
        </p:nvSpPr>
        <p:spPr>
          <a:xfrm>
            <a:off x="5656955" y="405256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全局目录项</a:t>
            </a:r>
            <a:endParaRPr lang="en-C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4D0B2F-CEEA-BA4B-BD38-27C1D7FBC2E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644008" y="2281436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1DE34AA-17D9-D94E-8DC7-00642C3FEEFA}"/>
              </a:ext>
            </a:extLst>
          </p:cNvPr>
          <p:cNvCxnSpPr>
            <a:cxnSpLocks/>
          </p:cNvCxnSpPr>
          <p:nvPr/>
        </p:nvCxnSpPr>
        <p:spPr>
          <a:xfrm>
            <a:off x="5892999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D3986F-4B44-F946-8BCD-51C8DA17075C}"/>
              </a:ext>
            </a:extLst>
          </p:cNvPr>
          <p:cNvCxnSpPr>
            <a:cxnSpLocks/>
          </p:cNvCxnSpPr>
          <p:nvPr/>
        </p:nvCxnSpPr>
        <p:spPr>
          <a:xfrm>
            <a:off x="7164288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14EFE7-2F8A-8141-A27B-99A945B5E354}"/>
              </a:ext>
            </a:extLst>
          </p:cNvPr>
          <p:cNvCxnSpPr>
            <a:cxnSpLocks/>
          </p:cNvCxnSpPr>
          <p:nvPr/>
        </p:nvCxnSpPr>
        <p:spPr>
          <a:xfrm>
            <a:off x="8388424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1DA-6C49-D349-9CC6-79E1E9BC916D}"/>
              </a:ext>
            </a:extLst>
          </p:cNvPr>
          <p:cNvCxnSpPr>
            <a:cxnSpLocks/>
          </p:cNvCxnSpPr>
          <p:nvPr/>
        </p:nvCxnSpPr>
        <p:spPr>
          <a:xfrm flipH="1">
            <a:off x="4629653" y="2657454"/>
            <a:ext cx="37360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691B5E-6AF1-294A-8EF8-08819E5B9BA7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347326" y="2652702"/>
            <a:ext cx="4083" cy="4637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91A227E-5A59-5046-A6B0-8E684B06822B}"/>
              </a:ext>
            </a:extLst>
          </p:cNvPr>
          <p:cNvSpPr/>
          <p:nvPr/>
        </p:nvSpPr>
        <p:spPr>
          <a:xfrm>
            <a:off x="7674985" y="3057448"/>
            <a:ext cx="1011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都是</a:t>
            </a:r>
            <a:endParaRPr lang="en-US" altLang="zh-CN">
              <a:latin typeface="Courier" pitchFamily="2" charset="0"/>
            </a:endParaRPr>
          </a:p>
          <a:p>
            <a:r>
              <a:rPr lang="en-US" altLang="zh-CN">
                <a:latin typeface="Courier" pitchFamily="2" charset="0"/>
              </a:rPr>
              <a:t>shared</a:t>
            </a:r>
            <a:endParaRPr lang="en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D7B94D-A287-6E4A-BF4C-D0FEC8C2D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844209-29FE-E442-A718-F905128E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3780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可扩展性断崖背后的原因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A4B4DE-F66B-CA45-AEED-C1F53BFB6EB5}"/>
              </a:ext>
            </a:extLst>
          </p:cNvPr>
          <p:cNvSpPr/>
          <p:nvPr/>
        </p:nvSpPr>
        <p:spPr>
          <a:xfrm>
            <a:off x="395536" y="1945444"/>
            <a:ext cx="3528392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while(atomic_CAS(lock,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1</a:t>
            </a:r>
            <a:r>
              <a:rPr lang="en-US" altLang="zh-CN" sz="1400">
                <a:latin typeface="Courier" pitchFamily="2" charset="0"/>
              </a:rPr>
              <a:t>) </a:t>
            </a:r>
          </a:p>
          <a:p>
            <a:r>
              <a:rPr lang="en-US" altLang="zh-CN" sz="1400">
                <a:latin typeface="Courier" pitchFamily="2" charset="0"/>
              </a:rPr>
              <a:t>	!=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)</a:t>
            </a:r>
          </a:p>
          <a:p>
            <a:r>
              <a:rPr lang="en-US" altLang="zh-CN" sz="1400">
                <a:latin typeface="Courier" pitchFamily="2" charset="0"/>
              </a:rPr>
              <a:t>	</a:t>
            </a:r>
            <a:r>
              <a:rPr lang="en-US" altLang="zh-CN" sz="1400">
                <a:solidFill>
                  <a:srgbClr val="00B0F0"/>
                </a:solidFill>
                <a:latin typeface="Courier" pitchFamily="2" charset="0"/>
              </a:rPr>
              <a:t>/* Busy-looping */;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  <a:p>
            <a:endParaRPr lang="en-US" sz="1400">
              <a:latin typeface="Courier" pitchFamily="2" charset="0"/>
            </a:endParaRPr>
          </a:p>
          <a:p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sz="1400">
                <a:latin typeface="Courier" pitchFamily="2" charset="0"/>
              </a:rPr>
              <a:t> </a:t>
            </a:r>
            <a:r>
              <a:rPr lang="en-US" sz="140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sz="1400">
                <a:latin typeface="Courier" pitchFamily="2" charset="0"/>
              </a:rPr>
              <a:t>(</a:t>
            </a:r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sz="1400">
                <a:latin typeface="Courier" pitchFamily="2" charset="0"/>
              </a:rPr>
              <a:t>*lock = </a:t>
            </a:r>
            <a:r>
              <a:rPr lang="en-US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sz="1400">
                <a:latin typeface="Courier" pitchFamily="2" charset="0"/>
              </a:rPr>
              <a:t>;</a:t>
            </a:r>
          </a:p>
          <a:p>
            <a:r>
              <a:rPr lang="en-US" sz="1400">
                <a:latin typeface="Courier" pitchFamily="2" charset="0"/>
              </a:rPr>
              <a:t>}</a:t>
            </a:r>
            <a:endParaRPr lang="en-CN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3E822-C11A-C645-AEB9-C2A3FEABD08F}"/>
              </a:ext>
            </a:extLst>
          </p:cNvPr>
          <p:cNvSpPr/>
          <p:nvPr/>
        </p:nvSpPr>
        <p:spPr>
          <a:xfrm>
            <a:off x="1151620" y="4111493"/>
            <a:ext cx="20162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自旋锁</a:t>
            </a:r>
            <a:r>
              <a:rPr lang="zh-CN" altLang="en-US">
                <a:latin typeface="Courier" pitchFamily="2" charset="0"/>
              </a:rPr>
              <a:t>实现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F7B598-852A-2642-8C17-0EEE8534EE1C}"/>
              </a:ext>
            </a:extLst>
          </p:cNvPr>
          <p:cNvSpPr/>
          <p:nvPr/>
        </p:nvSpPr>
        <p:spPr>
          <a:xfrm>
            <a:off x="4285107" y="184209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BC902F-DA60-804D-82DB-E98996572ADC}"/>
              </a:ext>
            </a:extLst>
          </p:cNvPr>
          <p:cNvSpPr/>
          <p:nvPr/>
        </p:nvSpPr>
        <p:spPr>
          <a:xfrm>
            <a:off x="5508104" y="197271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60C688-E338-F64D-83F0-BD4F4526BD30}"/>
              </a:ext>
            </a:extLst>
          </p:cNvPr>
          <p:cNvSpPr/>
          <p:nvPr/>
        </p:nvSpPr>
        <p:spPr>
          <a:xfrm>
            <a:off x="6804248" y="184209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EBD52-1B05-914E-BD6A-9E8A6B154E54}"/>
              </a:ext>
            </a:extLst>
          </p:cNvPr>
          <p:cNvSpPr/>
          <p:nvPr/>
        </p:nvSpPr>
        <p:spPr>
          <a:xfrm>
            <a:off x="8028384" y="2044725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464FB-964F-E441-BECD-B0B3A3A34FBB}"/>
              </a:ext>
            </a:extLst>
          </p:cNvPr>
          <p:cNvSpPr/>
          <p:nvPr/>
        </p:nvSpPr>
        <p:spPr>
          <a:xfrm>
            <a:off x="5052221" y="4496786"/>
            <a:ext cx="23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所在缓存行状态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08209-03A3-4545-9301-03007C3834EC}"/>
              </a:ext>
            </a:extLst>
          </p:cNvPr>
          <p:cNvSpPr/>
          <p:nvPr/>
        </p:nvSpPr>
        <p:spPr>
          <a:xfrm>
            <a:off x="4211960" y="1561356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90FBC6-0CD5-374B-B684-B54AEFF53F4A}"/>
              </a:ext>
            </a:extLst>
          </p:cNvPr>
          <p:cNvSpPr/>
          <p:nvPr/>
        </p:nvSpPr>
        <p:spPr>
          <a:xfrm>
            <a:off x="5436096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E5B05-4B33-384B-BB3C-727C382DB146}"/>
              </a:ext>
            </a:extLst>
          </p:cNvPr>
          <p:cNvSpPr/>
          <p:nvPr/>
        </p:nvSpPr>
        <p:spPr>
          <a:xfrm>
            <a:off x="6709962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34829C-880D-3D46-9D66-31C33DAFDB41}"/>
              </a:ext>
            </a:extLst>
          </p:cNvPr>
          <p:cNvSpPr/>
          <p:nvPr/>
        </p:nvSpPr>
        <p:spPr>
          <a:xfrm>
            <a:off x="7956376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40F23D-F3E9-2F47-A303-EF5890C9FC36}"/>
              </a:ext>
            </a:extLst>
          </p:cNvPr>
          <p:cNvSpPr/>
          <p:nvPr/>
        </p:nvSpPr>
        <p:spPr>
          <a:xfrm>
            <a:off x="5725971" y="3116458"/>
            <a:ext cx="1250876" cy="813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CB2DD-6611-1E40-B59B-0CB792B86A3E}"/>
              </a:ext>
            </a:extLst>
          </p:cNvPr>
          <p:cNvSpPr/>
          <p:nvPr/>
        </p:nvSpPr>
        <p:spPr>
          <a:xfrm>
            <a:off x="4192675" y="113631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CPU 0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CEA58F-73B9-4341-B3FD-4A2BCA589DAD}"/>
              </a:ext>
            </a:extLst>
          </p:cNvPr>
          <p:cNvSpPr/>
          <p:nvPr/>
        </p:nvSpPr>
        <p:spPr>
          <a:xfrm>
            <a:off x="5456021" y="113597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CPU 1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BFA0D6-BDB3-9E44-B2E0-202BF75C5C4D}"/>
              </a:ext>
            </a:extLst>
          </p:cNvPr>
          <p:cNvSpPr/>
          <p:nvPr/>
        </p:nvSpPr>
        <p:spPr>
          <a:xfrm>
            <a:off x="6709962" y="1137953"/>
            <a:ext cx="912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CPU 2</a:t>
            </a:r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0AAE1-9268-344D-B32B-75099DB80FAE}"/>
              </a:ext>
            </a:extLst>
          </p:cNvPr>
          <p:cNvSpPr/>
          <p:nvPr/>
        </p:nvSpPr>
        <p:spPr>
          <a:xfrm>
            <a:off x="7907747" y="1135976"/>
            <a:ext cx="912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CPU 3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F56852-1D4A-6F4D-85BD-69BF6025D891}"/>
              </a:ext>
            </a:extLst>
          </p:cNvPr>
          <p:cNvSpPr/>
          <p:nvPr/>
        </p:nvSpPr>
        <p:spPr>
          <a:xfrm>
            <a:off x="5656955" y="405256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全局目录项</a:t>
            </a:r>
            <a:endParaRPr lang="en-C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4D0B2F-CEEA-BA4B-BD38-27C1D7FBC2E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644008" y="2281436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1DE34AA-17D9-D94E-8DC7-00642C3FEEFA}"/>
              </a:ext>
            </a:extLst>
          </p:cNvPr>
          <p:cNvCxnSpPr>
            <a:cxnSpLocks/>
          </p:cNvCxnSpPr>
          <p:nvPr/>
        </p:nvCxnSpPr>
        <p:spPr>
          <a:xfrm>
            <a:off x="5892999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D3986F-4B44-F946-8BCD-51C8DA17075C}"/>
              </a:ext>
            </a:extLst>
          </p:cNvPr>
          <p:cNvCxnSpPr>
            <a:cxnSpLocks/>
          </p:cNvCxnSpPr>
          <p:nvPr/>
        </p:nvCxnSpPr>
        <p:spPr>
          <a:xfrm>
            <a:off x="7164288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14EFE7-2F8A-8141-A27B-99A945B5E354}"/>
              </a:ext>
            </a:extLst>
          </p:cNvPr>
          <p:cNvCxnSpPr>
            <a:cxnSpLocks/>
          </p:cNvCxnSpPr>
          <p:nvPr/>
        </p:nvCxnSpPr>
        <p:spPr>
          <a:xfrm>
            <a:off x="8388424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1DA-6C49-D349-9CC6-79E1E9BC916D}"/>
              </a:ext>
            </a:extLst>
          </p:cNvPr>
          <p:cNvCxnSpPr>
            <a:cxnSpLocks/>
          </p:cNvCxnSpPr>
          <p:nvPr/>
        </p:nvCxnSpPr>
        <p:spPr>
          <a:xfrm flipH="1">
            <a:off x="4629653" y="2657454"/>
            <a:ext cx="37360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691B5E-6AF1-294A-8EF8-08819E5B9BA7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347326" y="2652702"/>
            <a:ext cx="4083" cy="4637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E9382AA-C2CB-204A-9DB5-994538A8A91A}"/>
              </a:ext>
            </a:extLst>
          </p:cNvPr>
          <p:cNvSpPr/>
          <p:nvPr/>
        </p:nvSpPr>
        <p:spPr>
          <a:xfrm>
            <a:off x="4101724" y="2893448"/>
            <a:ext cx="1107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我要</a:t>
            </a:r>
            <a:r>
              <a:rPr lang="zh-CN" altLang="en-US">
                <a:latin typeface="Courier" pitchFamily="2" charset="0"/>
              </a:rPr>
              <a:t>写！</a:t>
            </a:r>
            <a:endParaRPr lang="en-C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CF531F-E364-CA4B-9491-0B82184C01A0}"/>
              </a:ext>
            </a:extLst>
          </p:cNvPr>
          <p:cNvCxnSpPr>
            <a:cxnSpLocks/>
          </p:cNvCxnSpPr>
          <p:nvPr/>
        </p:nvCxnSpPr>
        <p:spPr>
          <a:xfrm>
            <a:off x="4644008" y="2018538"/>
            <a:ext cx="935174" cy="129068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1DC958C-DFAB-1740-9B23-5FD3A81AB0D3}"/>
              </a:ext>
            </a:extLst>
          </p:cNvPr>
          <p:cNvCxnSpPr>
            <a:cxnSpLocks/>
          </p:cNvCxnSpPr>
          <p:nvPr/>
        </p:nvCxnSpPr>
        <p:spPr>
          <a:xfrm flipH="1" flipV="1">
            <a:off x="6012160" y="2144224"/>
            <a:ext cx="287102" cy="132478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D5F0C8A-B2FD-464D-8C06-4ED4BA2EF41B}"/>
              </a:ext>
            </a:extLst>
          </p:cNvPr>
          <p:cNvCxnSpPr>
            <a:cxnSpLocks/>
          </p:cNvCxnSpPr>
          <p:nvPr/>
        </p:nvCxnSpPr>
        <p:spPr>
          <a:xfrm flipV="1">
            <a:off x="6393548" y="2064128"/>
            <a:ext cx="785024" cy="1404876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BAB2F9-9156-D445-B5D6-8A4A40211C6D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6397368" y="2116733"/>
            <a:ext cx="1991056" cy="1376319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1B60711-0E4E-9A42-A4BC-63E0F7A6B938}"/>
              </a:ext>
            </a:extLst>
          </p:cNvPr>
          <p:cNvSpPr/>
          <p:nvPr/>
        </p:nvSpPr>
        <p:spPr>
          <a:xfrm>
            <a:off x="7445893" y="2718967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失效</a:t>
            </a:r>
            <a:endParaRPr lang="en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67637D5-F3C0-B443-9751-72F87EA06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5BDE88-A744-8743-BE77-33DC50ED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676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可扩展性断崖背后的原因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A4B4DE-F66B-CA45-AEED-C1F53BFB6EB5}"/>
              </a:ext>
            </a:extLst>
          </p:cNvPr>
          <p:cNvSpPr/>
          <p:nvPr/>
        </p:nvSpPr>
        <p:spPr>
          <a:xfrm>
            <a:off x="395536" y="1945444"/>
            <a:ext cx="3528392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while(atomic_CAS(lock,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1</a:t>
            </a:r>
            <a:r>
              <a:rPr lang="en-US" altLang="zh-CN" sz="1400">
                <a:latin typeface="Courier" pitchFamily="2" charset="0"/>
              </a:rPr>
              <a:t>) </a:t>
            </a:r>
          </a:p>
          <a:p>
            <a:r>
              <a:rPr lang="en-US" altLang="zh-CN" sz="1400">
                <a:latin typeface="Courier" pitchFamily="2" charset="0"/>
              </a:rPr>
              <a:t>	!=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)</a:t>
            </a:r>
          </a:p>
          <a:p>
            <a:r>
              <a:rPr lang="en-US" altLang="zh-CN" sz="1400">
                <a:latin typeface="Courier" pitchFamily="2" charset="0"/>
              </a:rPr>
              <a:t>	</a:t>
            </a:r>
            <a:r>
              <a:rPr lang="en-US" altLang="zh-CN" sz="1400">
                <a:solidFill>
                  <a:srgbClr val="00B0F0"/>
                </a:solidFill>
                <a:latin typeface="Courier" pitchFamily="2" charset="0"/>
              </a:rPr>
              <a:t>/* Busy-looping */;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  <a:p>
            <a:endParaRPr lang="en-US" sz="1400">
              <a:latin typeface="Courier" pitchFamily="2" charset="0"/>
            </a:endParaRPr>
          </a:p>
          <a:p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sz="1400">
                <a:latin typeface="Courier" pitchFamily="2" charset="0"/>
              </a:rPr>
              <a:t> </a:t>
            </a:r>
            <a:r>
              <a:rPr lang="en-US" sz="140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sz="1400">
                <a:latin typeface="Courier" pitchFamily="2" charset="0"/>
              </a:rPr>
              <a:t>(</a:t>
            </a:r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sz="1400">
                <a:latin typeface="Courier" pitchFamily="2" charset="0"/>
              </a:rPr>
              <a:t>*lock = </a:t>
            </a:r>
            <a:r>
              <a:rPr lang="en-US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sz="1400">
                <a:latin typeface="Courier" pitchFamily="2" charset="0"/>
              </a:rPr>
              <a:t>;</a:t>
            </a:r>
          </a:p>
          <a:p>
            <a:r>
              <a:rPr lang="en-US" sz="1400">
                <a:latin typeface="Courier" pitchFamily="2" charset="0"/>
              </a:rPr>
              <a:t>}</a:t>
            </a:r>
            <a:endParaRPr lang="en-CN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3E822-C11A-C645-AEB9-C2A3FEABD08F}"/>
              </a:ext>
            </a:extLst>
          </p:cNvPr>
          <p:cNvSpPr/>
          <p:nvPr/>
        </p:nvSpPr>
        <p:spPr>
          <a:xfrm>
            <a:off x="1151620" y="4111493"/>
            <a:ext cx="20162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自旋锁</a:t>
            </a:r>
            <a:r>
              <a:rPr lang="zh-CN" altLang="en-US">
                <a:latin typeface="Courier" pitchFamily="2" charset="0"/>
              </a:rPr>
              <a:t>实现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F7B598-852A-2642-8C17-0EEE8534EE1C}"/>
              </a:ext>
            </a:extLst>
          </p:cNvPr>
          <p:cNvSpPr/>
          <p:nvPr/>
        </p:nvSpPr>
        <p:spPr>
          <a:xfrm>
            <a:off x="4285107" y="184209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464FB-964F-E441-BECD-B0B3A3A34FBB}"/>
              </a:ext>
            </a:extLst>
          </p:cNvPr>
          <p:cNvSpPr/>
          <p:nvPr/>
        </p:nvSpPr>
        <p:spPr>
          <a:xfrm>
            <a:off x="5052221" y="4496786"/>
            <a:ext cx="23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所在缓存行状态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08209-03A3-4545-9301-03007C3834EC}"/>
              </a:ext>
            </a:extLst>
          </p:cNvPr>
          <p:cNvSpPr/>
          <p:nvPr/>
        </p:nvSpPr>
        <p:spPr>
          <a:xfrm>
            <a:off x="4211960" y="1561356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90FBC6-0CD5-374B-B684-B54AEFF53F4A}"/>
              </a:ext>
            </a:extLst>
          </p:cNvPr>
          <p:cNvSpPr/>
          <p:nvPr/>
        </p:nvSpPr>
        <p:spPr>
          <a:xfrm>
            <a:off x="5436096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E5B05-4B33-384B-BB3C-727C382DB146}"/>
              </a:ext>
            </a:extLst>
          </p:cNvPr>
          <p:cNvSpPr/>
          <p:nvPr/>
        </p:nvSpPr>
        <p:spPr>
          <a:xfrm>
            <a:off x="6709962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34829C-880D-3D46-9D66-31C33DAFDB41}"/>
              </a:ext>
            </a:extLst>
          </p:cNvPr>
          <p:cNvSpPr/>
          <p:nvPr/>
        </p:nvSpPr>
        <p:spPr>
          <a:xfrm>
            <a:off x="7956376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40F23D-F3E9-2F47-A303-EF5890C9FC36}"/>
              </a:ext>
            </a:extLst>
          </p:cNvPr>
          <p:cNvSpPr/>
          <p:nvPr/>
        </p:nvSpPr>
        <p:spPr>
          <a:xfrm>
            <a:off x="5725971" y="3116458"/>
            <a:ext cx="1250876" cy="813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CB2DD-6611-1E40-B59B-0CB792B86A3E}"/>
              </a:ext>
            </a:extLst>
          </p:cNvPr>
          <p:cNvSpPr/>
          <p:nvPr/>
        </p:nvSpPr>
        <p:spPr>
          <a:xfrm>
            <a:off x="4192675" y="113631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CPU 0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CEA58F-73B9-4341-B3FD-4A2BCA589DAD}"/>
              </a:ext>
            </a:extLst>
          </p:cNvPr>
          <p:cNvSpPr/>
          <p:nvPr/>
        </p:nvSpPr>
        <p:spPr>
          <a:xfrm>
            <a:off x="5456021" y="113597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CPU 1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BFA0D6-BDB3-9E44-B2E0-202BF75C5C4D}"/>
              </a:ext>
            </a:extLst>
          </p:cNvPr>
          <p:cNvSpPr/>
          <p:nvPr/>
        </p:nvSpPr>
        <p:spPr>
          <a:xfrm>
            <a:off x="6709962" y="1137953"/>
            <a:ext cx="912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CPU 2</a:t>
            </a:r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0AAE1-9268-344D-B32B-75099DB80FAE}"/>
              </a:ext>
            </a:extLst>
          </p:cNvPr>
          <p:cNvSpPr/>
          <p:nvPr/>
        </p:nvSpPr>
        <p:spPr>
          <a:xfrm>
            <a:off x="7907747" y="1135976"/>
            <a:ext cx="912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CPU 3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F56852-1D4A-6F4D-85BD-69BF6025D891}"/>
              </a:ext>
            </a:extLst>
          </p:cNvPr>
          <p:cNvSpPr/>
          <p:nvPr/>
        </p:nvSpPr>
        <p:spPr>
          <a:xfrm>
            <a:off x="5656955" y="405256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全局目录项</a:t>
            </a:r>
            <a:endParaRPr lang="en-C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4D0B2F-CEEA-BA4B-BD38-27C1D7FBC2E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644008" y="2281436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1DE34AA-17D9-D94E-8DC7-00642C3FEEFA}"/>
              </a:ext>
            </a:extLst>
          </p:cNvPr>
          <p:cNvCxnSpPr>
            <a:cxnSpLocks/>
          </p:cNvCxnSpPr>
          <p:nvPr/>
        </p:nvCxnSpPr>
        <p:spPr>
          <a:xfrm>
            <a:off x="5892999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D3986F-4B44-F946-8BCD-51C8DA17075C}"/>
              </a:ext>
            </a:extLst>
          </p:cNvPr>
          <p:cNvCxnSpPr>
            <a:cxnSpLocks/>
          </p:cNvCxnSpPr>
          <p:nvPr/>
        </p:nvCxnSpPr>
        <p:spPr>
          <a:xfrm>
            <a:off x="7164288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14EFE7-2F8A-8141-A27B-99A945B5E354}"/>
              </a:ext>
            </a:extLst>
          </p:cNvPr>
          <p:cNvCxnSpPr>
            <a:cxnSpLocks/>
          </p:cNvCxnSpPr>
          <p:nvPr/>
        </p:nvCxnSpPr>
        <p:spPr>
          <a:xfrm>
            <a:off x="8388424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1DA-6C49-D349-9CC6-79E1E9BC916D}"/>
              </a:ext>
            </a:extLst>
          </p:cNvPr>
          <p:cNvCxnSpPr>
            <a:cxnSpLocks/>
          </p:cNvCxnSpPr>
          <p:nvPr/>
        </p:nvCxnSpPr>
        <p:spPr>
          <a:xfrm flipH="1">
            <a:off x="4629653" y="2657454"/>
            <a:ext cx="37360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691B5E-6AF1-294A-8EF8-08819E5B9BA7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347326" y="2652702"/>
            <a:ext cx="4083" cy="4637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1A966FB-68CD-454A-91D0-78A63BD43BC6}"/>
              </a:ext>
            </a:extLst>
          </p:cNvPr>
          <p:cNvCxnSpPr>
            <a:cxnSpLocks/>
          </p:cNvCxnSpPr>
          <p:nvPr/>
        </p:nvCxnSpPr>
        <p:spPr>
          <a:xfrm>
            <a:off x="6012160" y="1842097"/>
            <a:ext cx="144016" cy="1519459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AD148B-F231-E047-BA2D-87AD53E6F1C2}"/>
              </a:ext>
            </a:extLst>
          </p:cNvPr>
          <p:cNvCxnSpPr>
            <a:cxnSpLocks/>
          </p:cNvCxnSpPr>
          <p:nvPr/>
        </p:nvCxnSpPr>
        <p:spPr>
          <a:xfrm flipH="1">
            <a:off x="6308576" y="1914105"/>
            <a:ext cx="855712" cy="1599851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F8D2AFD-7726-9247-8AFA-36C3DD26DCEE}"/>
              </a:ext>
            </a:extLst>
          </p:cNvPr>
          <p:cNvCxnSpPr>
            <a:cxnSpLocks/>
          </p:cNvCxnSpPr>
          <p:nvPr/>
        </p:nvCxnSpPr>
        <p:spPr>
          <a:xfrm flipH="1">
            <a:off x="6538494" y="1914105"/>
            <a:ext cx="1638099" cy="1559180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4A06C3D-9DDD-A445-8043-3FE09D77D4E2}"/>
              </a:ext>
            </a:extLst>
          </p:cNvPr>
          <p:cNvSpPr/>
          <p:nvPr/>
        </p:nvSpPr>
        <p:spPr>
          <a:xfrm>
            <a:off x="7298515" y="292893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我要</a:t>
            </a:r>
            <a:r>
              <a:rPr lang="zh-CN" altLang="en-US">
                <a:latin typeface="Courier" pitchFamily="2" charset="0"/>
              </a:rPr>
              <a:t>读！</a:t>
            </a:r>
            <a:endParaRPr lang="en-CN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33B74B-B7B3-EE40-BD89-EFAEF3CEE39D}"/>
              </a:ext>
            </a:extLst>
          </p:cNvPr>
          <p:cNvCxnSpPr>
            <a:cxnSpLocks/>
          </p:cNvCxnSpPr>
          <p:nvPr/>
        </p:nvCxnSpPr>
        <p:spPr>
          <a:xfrm>
            <a:off x="4734712" y="2119789"/>
            <a:ext cx="962946" cy="102773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5B09639-71FD-9541-AE24-3CD33F8B162D}"/>
              </a:ext>
            </a:extLst>
          </p:cNvPr>
          <p:cNvCxnSpPr>
            <a:cxnSpLocks/>
          </p:cNvCxnSpPr>
          <p:nvPr/>
        </p:nvCxnSpPr>
        <p:spPr>
          <a:xfrm>
            <a:off x="4866686" y="2084110"/>
            <a:ext cx="1884338" cy="7308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21A1B02-1BE0-2A44-9B9E-7F35E43A757C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4726251" y="2404057"/>
            <a:ext cx="999720" cy="1119146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2B18A1-AE92-0A46-A191-0A5383D5ADD9}"/>
              </a:ext>
            </a:extLst>
          </p:cNvPr>
          <p:cNvCxnSpPr>
            <a:cxnSpLocks/>
          </p:cNvCxnSpPr>
          <p:nvPr/>
        </p:nvCxnSpPr>
        <p:spPr>
          <a:xfrm flipV="1">
            <a:off x="4938710" y="1743524"/>
            <a:ext cx="3174304" cy="281692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E464BA-FE2C-4A43-9B9E-47EFC05FF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773BE8-477F-C44B-8E36-51AA29236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750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可扩展性断崖背后的原因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A4B4DE-F66B-CA45-AEED-C1F53BFB6EB5}"/>
              </a:ext>
            </a:extLst>
          </p:cNvPr>
          <p:cNvSpPr/>
          <p:nvPr/>
        </p:nvSpPr>
        <p:spPr>
          <a:xfrm>
            <a:off x="395536" y="1945444"/>
            <a:ext cx="3528392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while(atomic_CAS(lock,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1</a:t>
            </a:r>
            <a:r>
              <a:rPr lang="en-US" altLang="zh-CN" sz="1400">
                <a:latin typeface="Courier" pitchFamily="2" charset="0"/>
              </a:rPr>
              <a:t>) </a:t>
            </a:r>
          </a:p>
          <a:p>
            <a:r>
              <a:rPr lang="en-US" altLang="zh-CN" sz="1400">
                <a:latin typeface="Courier" pitchFamily="2" charset="0"/>
              </a:rPr>
              <a:t>	!=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)</a:t>
            </a:r>
          </a:p>
          <a:p>
            <a:r>
              <a:rPr lang="en-US" altLang="zh-CN" sz="1400">
                <a:latin typeface="Courier" pitchFamily="2" charset="0"/>
              </a:rPr>
              <a:t>	</a:t>
            </a:r>
            <a:r>
              <a:rPr lang="en-US" altLang="zh-CN" sz="1400">
                <a:solidFill>
                  <a:srgbClr val="00B0F0"/>
                </a:solidFill>
                <a:latin typeface="Courier" pitchFamily="2" charset="0"/>
              </a:rPr>
              <a:t>/* Busy-looping */;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  <a:p>
            <a:endParaRPr lang="en-US" sz="1400">
              <a:latin typeface="Courier" pitchFamily="2" charset="0"/>
            </a:endParaRPr>
          </a:p>
          <a:p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sz="1400">
                <a:latin typeface="Courier" pitchFamily="2" charset="0"/>
              </a:rPr>
              <a:t> </a:t>
            </a:r>
            <a:r>
              <a:rPr lang="en-US" sz="140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sz="1400">
                <a:latin typeface="Courier" pitchFamily="2" charset="0"/>
              </a:rPr>
              <a:t>(</a:t>
            </a:r>
            <a:r>
              <a:rPr lang="en-US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sz="1400">
                <a:latin typeface="Courier" pitchFamily="2" charset="0"/>
              </a:rPr>
              <a:t>*lock = </a:t>
            </a:r>
            <a:r>
              <a:rPr lang="en-US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sz="1400">
                <a:latin typeface="Courier" pitchFamily="2" charset="0"/>
              </a:rPr>
              <a:t>;</a:t>
            </a:r>
          </a:p>
          <a:p>
            <a:r>
              <a:rPr lang="en-US" sz="1400">
                <a:latin typeface="Courier" pitchFamily="2" charset="0"/>
              </a:rPr>
              <a:t>}</a:t>
            </a:r>
            <a:endParaRPr lang="en-CN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73E822-C11A-C645-AEB9-C2A3FEABD08F}"/>
              </a:ext>
            </a:extLst>
          </p:cNvPr>
          <p:cNvSpPr/>
          <p:nvPr/>
        </p:nvSpPr>
        <p:spPr>
          <a:xfrm>
            <a:off x="1151620" y="4111493"/>
            <a:ext cx="20162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自旋锁</a:t>
            </a:r>
            <a:r>
              <a:rPr lang="zh-CN" altLang="en-US">
                <a:latin typeface="Courier" pitchFamily="2" charset="0"/>
              </a:rPr>
              <a:t>实现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F7B598-852A-2642-8C17-0EEE8534EE1C}"/>
              </a:ext>
            </a:extLst>
          </p:cNvPr>
          <p:cNvSpPr/>
          <p:nvPr/>
        </p:nvSpPr>
        <p:spPr>
          <a:xfrm>
            <a:off x="4285107" y="184209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BC902F-DA60-804D-82DB-E98996572ADC}"/>
              </a:ext>
            </a:extLst>
          </p:cNvPr>
          <p:cNvSpPr/>
          <p:nvPr/>
        </p:nvSpPr>
        <p:spPr>
          <a:xfrm>
            <a:off x="5508104" y="197271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60C688-E338-F64D-83F0-BD4F4526BD30}"/>
              </a:ext>
            </a:extLst>
          </p:cNvPr>
          <p:cNvSpPr/>
          <p:nvPr/>
        </p:nvSpPr>
        <p:spPr>
          <a:xfrm>
            <a:off x="6804248" y="1842097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3EBD52-1B05-914E-BD6A-9E8A6B154E54}"/>
              </a:ext>
            </a:extLst>
          </p:cNvPr>
          <p:cNvSpPr/>
          <p:nvPr/>
        </p:nvSpPr>
        <p:spPr>
          <a:xfrm>
            <a:off x="8028384" y="2044725"/>
            <a:ext cx="720080" cy="72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464FB-964F-E441-BECD-B0B3A3A34FBB}"/>
              </a:ext>
            </a:extLst>
          </p:cNvPr>
          <p:cNvSpPr/>
          <p:nvPr/>
        </p:nvSpPr>
        <p:spPr>
          <a:xfrm>
            <a:off x="5052221" y="4496786"/>
            <a:ext cx="2351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Lock</a:t>
            </a:r>
            <a:r>
              <a:rPr lang="zh-CN" altLang="en-US">
                <a:latin typeface="Courier" pitchFamily="2" charset="0"/>
              </a:rPr>
              <a:t>所在缓存行状态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08209-03A3-4545-9301-03007C3834EC}"/>
              </a:ext>
            </a:extLst>
          </p:cNvPr>
          <p:cNvSpPr/>
          <p:nvPr/>
        </p:nvSpPr>
        <p:spPr>
          <a:xfrm>
            <a:off x="4211960" y="1561356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90FBC6-0CD5-374B-B684-B54AEFF53F4A}"/>
              </a:ext>
            </a:extLst>
          </p:cNvPr>
          <p:cNvSpPr/>
          <p:nvPr/>
        </p:nvSpPr>
        <p:spPr>
          <a:xfrm>
            <a:off x="5436096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2E5B05-4B33-384B-BB3C-727C382DB146}"/>
              </a:ext>
            </a:extLst>
          </p:cNvPr>
          <p:cNvSpPr/>
          <p:nvPr/>
        </p:nvSpPr>
        <p:spPr>
          <a:xfrm>
            <a:off x="6709962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34829C-880D-3D46-9D66-31C33DAFDB41}"/>
              </a:ext>
            </a:extLst>
          </p:cNvPr>
          <p:cNvSpPr/>
          <p:nvPr/>
        </p:nvSpPr>
        <p:spPr>
          <a:xfrm>
            <a:off x="7956376" y="1585404"/>
            <a:ext cx="864096" cy="7200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40F23D-F3E9-2F47-A303-EF5890C9FC36}"/>
              </a:ext>
            </a:extLst>
          </p:cNvPr>
          <p:cNvSpPr/>
          <p:nvPr/>
        </p:nvSpPr>
        <p:spPr>
          <a:xfrm>
            <a:off x="5725971" y="3116458"/>
            <a:ext cx="1250876" cy="8134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BCB2DD-6611-1E40-B59B-0CB792B86A3E}"/>
              </a:ext>
            </a:extLst>
          </p:cNvPr>
          <p:cNvSpPr/>
          <p:nvPr/>
        </p:nvSpPr>
        <p:spPr>
          <a:xfrm>
            <a:off x="4192675" y="113631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CPU 0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CEA58F-73B9-4341-B3FD-4A2BCA589DAD}"/>
              </a:ext>
            </a:extLst>
          </p:cNvPr>
          <p:cNvSpPr/>
          <p:nvPr/>
        </p:nvSpPr>
        <p:spPr>
          <a:xfrm>
            <a:off x="5456021" y="1135976"/>
            <a:ext cx="873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CPU 1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BFA0D6-BDB3-9E44-B2E0-202BF75C5C4D}"/>
              </a:ext>
            </a:extLst>
          </p:cNvPr>
          <p:cNvSpPr/>
          <p:nvPr/>
        </p:nvSpPr>
        <p:spPr>
          <a:xfrm>
            <a:off x="6709962" y="1137953"/>
            <a:ext cx="912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CPU 2</a:t>
            </a:r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60AAE1-9268-344D-B32B-75099DB80FAE}"/>
              </a:ext>
            </a:extLst>
          </p:cNvPr>
          <p:cNvSpPr/>
          <p:nvPr/>
        </p:nvSpPr>
        <p:spPr>
          <a:xfrm>
            <a:off x="7907747" y="1135976"/>
            <a:ext cx="912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ourier" pitchFamily="2" charset="0"/>
              </a:rPr>
              <a:t>CPU 3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F56852-1D4A-6F4D-85BD-69BF6025D891}"/>
              </a:ext>
            </a:extLst>
          </p:cNvPr>
          <p:cNvSpPr/>
          <p:nvPr/>
        </p:nvSpPr>
        <p:spPr>
          <a:xfrm>
            <a:off x="5656955" y="405256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全局目录项</a:t>
            </a:r>
            <a:endParaRPr lang="en-C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F4D0B2F-CEEA-BA4B-BD38-27C1D7FBC2E4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644008" y="2281436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1DE34AA-17D9-D94E-8DC7-00642C3FEEFA}"/>
              </a:ext>
            </a:extLst>
          </p:cNvPr>
          <p:cNvCxnSpPr>
            <a:cxnSpLocks/>
          </p:cNvCxnSpPr>
          <p:nvPr/>
        </p:nvCxnSpPr>
        <p:spPr>
          <a:xfrm>
            <a:off x="5892999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ED3986F-4B44-F946-8BCD-51C8DA17075C}"/>
              </a:ext>
            </a:extLst>
          </p:cNvPr>
          <p:cNvCxnSpPr>
            <a:cxnSpLocks/>
          </p:cNvCxnSpPr>
          <p:nvPr/>
        </p:nvCxnSpPr>
        <p:spPr>
          <a:xfrm>
            <a:off x="7164288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314EFE7-2F8A-8141-A27B-99A945B5E354}"/>
              </a:ext>
            </a:extLst>
          </p:cNvPr>
          <p:cNvCxnSpPr>
            <a:cxnSpLocks/>
          </p:cNvCxnSpPr>
          <p:nvPr/>
        </p:nvCxnSpPr>
        <p:spPr>
          <a:xfrm>
            <a:off x="8388424" y="2305484"/>
            <a:ext cx="0" cy="3712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1DA-6C49-D349-9CC6-79E1E9BC916D}"/>
              </a:ext>
            </a:extLst>
          </p:cNvPr>
          <p:cNvCxnSpPr>
            <a:cxnSpLocks/>
          </p:cNvCxnSpPr>
          <p:nvPr/>
        </p:nvCxnSpPr>
        <p:spPr>
          <a:xfrm flipH="1">
            <a:off x="4629653" y="2657454"/>
            <a:ext cx="37360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691B5E-6AF1-294A-8EF8-08819E5B9BA7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347326" y="2652702"/>
            <a:ext cx="4083" cy="4637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CBC10F4-D3CD-1E41-951B-F6C9F3E7B28D}"/>
              </a:ext>
            </a:extLst>
          </p:cNvPr>
          <p:cNvCxnSpPr>
            <a:cxnSpLocks/>
          </p:cNvCxnSpPr>
          <p:nvPr/>
        </p:nvCxnSpPr>
        <p:spPr>
          <a:xfrm>
            <a:off x="5910375" y="2080729"/>
            <a:ext cx="461714" cy="132878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614731-FEE5-CE42-A935-CF60BAC4BAB2}"/>
              </a:ext>
            </a:extLst>
          </p:cNvPr>
          <p:cNvCxnSpPr>
            <a:cxnSpLocks/>
          </p:cNvCxnSpPr>
          <p:nvPr/>
        </p:nvCxnSpPr>
        <p:spPr>
          <a:xfrm flipH="1">
            <a:off x="6524489" y="2022777"/>
            <a:ext cx="683832" cy="15391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B8559CE-8CE9-D54F-B028-B69E17465453}"/>
              </a:ext>
            </a:extLst>
          </p:cNvPr>
          <p:cNvCxnSpPr>
            <a:cxnSpLocks/>
          </p:cNvCxnSpPr>
          <p:nvPr/>
        </p:nvCxnSpPr>
        <p:spPr>
          <a:xfrm flipH="1">
            <a:off x="6603680" y="2170798"/>
            <a:ext cx="1805592" cy="146351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FF1E600-A560-2749-966C-560660E63982}"/>
              </a:ext>
            </a:extLst>
          </p:cNvPr>
          <p:cNvCxnSpPr>
            <a:cxnSpLocks/>
          </p:cNvCxnSpPr>
          <p:nvPr/>
        </p:nvCxnSpPr>
        <p:spPr>
          <a:xfrm flipH="1" flipV="1">
            <a:off x="4726251" y="2404057"/>
            <a:ext cx="999720" cy="1119146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6CE64A4-14EE-9C48-A395-385E9A915E97}"/>
              </a:ext>
            </a:extLst>
          </p:cNvPr>
          <p:cNvCxnSpPr>
            <a:cxnSpLocks/>
          </p:cNvCxnSpPr>
          <p:nvPr/>
        </p:nvCxnSpPr>
        <p:spPr>
          <a:xfrm flipH="1" flipV="1">
            <a:off x="5774846" y="2046034"/>
            <a:ext cx="152400" cy="1504805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C5255EF-6647-BC40-9EA1-DCB530FA27E3}"/>
              </a:ext>
            </a:extLst>
          </p:cNvPr>
          <p:cNvCxnSpPr>
            <a:cxnSpLocks/>
          </p:cNvCxnSpPr>
          <p:nvPr/>
        </p:nvCxnSpPr>
        <p:spPr>
          <a:xfrm flipV="1">
            <a:off x="6079646" y="2071997"/>
            <a:ext cx="867374" cy="1631243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D332E47-DD4B-7F4C-8A76-966FCCF64E9D}"/>
              </a:ext>
            </a:extLst>
          </p:cNvPr>
          <p:cNvCxnSpPr>
            <a:cxnSpLocks/>
          </p:cNvCxnSpPr>
          <p:nvPr/>
        </p:nvCxnSpPr>
        <p:spPr>
          <a:xfrm flipV="1">
            <a:off x="6141232" y="2166897"/>
            <a:ext cx="2095477" cy="1517640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AD577C3-5E63-A147-AA3A-893C7115FA09}"/>
              </a:ext>
            </a:extLst>
          </p:cNvPr>
          <p:cNvCxnSpPr>
            <a:cxnSpLocks/>
          </p:cNvCxnSpPr>
          <p:nvPr/>
        </p:nvCxnSpPr>
        <p:spPr>
          <a:xfrm flipH="1" flipV="1">
            <a:off x="4705616" y="1980113"/>
            <a:ext cx="1250990" cy="155480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C3E97C9-D677-504B-9BBC-CA92B8B7D7CA}"/>
              </a:ext>
            </a:extLst>
          </p:cNvPr>
          <p:cNvCxnSpPr>
            <a:cxnSpLocks/>
          </p:cNvCxnSpPr>
          <p:nvPr/>
        </p:nvCxnSpPr>
        <p:spPr>
          <a:xfrm flipH="1" flipV="1">
            <a:off x="4434038" y="2229196"/>
            <a:ext cx="1250990" cy="1554801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5344A0D-1BD4-E043-A191-893995855CCE}"/>
              </a:ext>
            </a:extLst>
          </p:cNvPr>
          <p:cNvCxnSpPr>
            <a:cxnSpLocks/>
          </p:cNvCxnSpPr>
          <p:nvPr/>
        </p:nvCxnSpPr>
        <p:spPr>
          <a:xfrm flipH="1" flipV="1">
            <a:off x="5557264" y="2154310"/>
            <a:ext cx="367440" cy="1498639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E9382AA-C2CB-204A-9DB5-994538A8A91A}"/>
              </a:ext>
            </a:extLst>
          </p:cNvPr>
          <p:cNvSpPr/>
          <p:nvPr/>
        </p:nvSpPr>
        <p:spPr>
          <a:xfrm>
            <a:off x="7173316" y="3268879"/>
            <a:ext cx="18453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巧了，</a:t>
            </a:r>
            <a:r>
              <a:rPr lang="zh-CN" altLang="en-CN">
                <a:latin typeface="Courier" pitchFamily="2" charset="0"/>
              </a:rPr>
              <a:t>我</a:t>
            </a:r>
            <a:r>
              <a:rPr lang="zh-CN" altLang="en-US">
                <a:latin typeface="Courier" pitchFamily="2" charset="0"/>
              </a:rPr>
              <a:t>也</a:t>
            </a:r>
            <a:r>
              <a:rPr lang="zh-CN" altLang="en-CN">
                <a:latin typeface="Courier" pitchFamily="2" charset="0"/>
              </a:rPr>
              <a:t>要</a:t>
            </a:r>
            <a:r>
              <a:rPr lang="zh-CN" altLang="en-US">
                <a:latin typeface="Courier" pitchFamily="2" charset="0"/>
              </a:rPr>
              <a:t>！</a:t>
            </a:r>
            <a:endParaRPr lang="en-C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201E50-8CB7-1540-A0C7-A116D1EF96E8}"/>
              </a:ext>
            </a:extLst>
          </p:cNvPr>
          <p:cNvSpPr/>
          <p:nvPr/>
        </p:nvSpPr>
        <p:spPr>
          <a:xfrm>
            <a:off x="6121173" y="2337766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我要</a:t>
            </a:r>
            <a:r>
              <a:rPr lang="zh-CN" altLang="en-US">
                <a:latin typeface="Courier" pitchFamily="2" charset="0"/>
              </a:rPr>
              <a:t>写！</a:t>
            </a:r>
            <a:endParaRPr lang="en-C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5EF0C2-30AB-DE47-985E-BCEF3417DC27}"/>
              </a:ext>
            </a:extLst>
          </p:cNvPr>
          <p:cNvSpPr/>
          <p:nvPr/>
        </p:nvSpPr>
        <p:spPr>
          <a:xfrm>
            <a:off x="6932814" y="2662509"/>
            <a:ext cx="1383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CN">
                <a:latin typeface="Courier" pitchFamily="2" charset="0"/>
              </a:rPr>
              <a:t>我</a:t>
            </a:r>
            <a:r>
              <a:rPr lang="zh-CN" altLang="en-US">
                <a:latin typeface="Courier" pitchFamily="2" charset="0"/>
              </a:rPr>
              <a:t>也</a:t>
            </a:r>
            <a:r>
              <a:rPr lang="zh-CN" altLang="en-CN">
                <a:latin typeface="Courier" pitchFamily="2" charset="0"/>
              </a:rPr>
              <a:t>要</a:t>
            </a:r>
            <a:r>
              <a:rPr lang="zh-CN" altLang="en-US">
                <a:latin typeface="Courier" pitchFamily="2" charset="0"/>
              </a:rPr>
              <a:t>写！</a:t>
            </a:r>
            <a:endParaRPr lang="en-CN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B1764D7-2D53-E346-9DF8-3AB9B9365B85}"/>
              </a:ext>
            </a:extLst>
          </p:cNvPr>
          <p:cNvCxnSpPr>
            <a:cxnSpLocks/>
          </p:cNvCxnSpPr>
          <p:nvPr/>
        </p:nvCxnSpPr>
        <p:spPr>
          <a:xfrm flipV="1">
            <a:off x="6156748" y="2127842"/>
            <a:ext cx="935643" cy="1542748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8C4DF64-A6F0-5B4F-9861-6CB6308A65F2}"/>
              </a:ext>
            </a:extLst>
          </p:cNvPr>
          <p:cNvCxnSpPr>
            <a:cxnSpLocks/>
          </p:cNvCxnSpPr>
          <p:nvPr/>
        </p:nvCxnSpPr>
        <p:spPr>
          <a:xfrm flipV="1">
            <a:off x="6228184" y="2319297"/>
            <a:ext cx="2160925" cy="1327237"/>
          </a:xfrm>
          <a:prstGeom prst="straightConnector1">
            <a:avLst/>
          </a:prstGeom>
          <a:ln w="254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F8B9A64F-0996-FA45-98A4-3B77B197A456}"/>
              </a:ext>
            </a:extLst>
          </p:cNvPr>
          <p:cNvSpPr/>
          <p:nvPr/>
        </p:nvSpPr>
        <p:spPr>
          <a:xfrm>
            <a:off x="4420551" y="303993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失效！</a:t>
            </a:r>
            <a:endParaRPr lang="en-C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A016E3C-A72D-254F-9B91-66B48A8D3497}"/>
              </a:ext>
            </a:extLst>
          </p:cNvPr>
          <p:cNvSpPr/>
          <p:nvPr/>
        </p:nvSpPr>
        <p:spPr>
          <a:xfrm>
            <a:off x="2624503" y="4866118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对</a:t>
            </a:r>
            <a:r>
              <a:rPr lang="zh-CN" altLang="en-US" b="1">
                <a:solidFill>
                  <a:schemeClr val="accent1"/>
                </a:solidFill>
                <a:latin typeface="Courier" pitchFamily="2" charset="0"/>
              </a:rPr>
              <a:t>单一缓存行</a:t>
            </a:r>
            <a:r>
              <a:rPr lang="zh-CN" altLang="en-US">
                <a:latin typeface="Courier" pitchFamily="2" charset="0"/>
              </a:rPr>
              <a:t>的竞争导致</a:t>
            </a:r>
            <a:r>
              <a:rPr lang="zh-CN" altLang="en-US" b="1">
                <a:solidFill>
                  <a:schemeClr val="accent1"/>
                </a:solidFill>
                <a:latin typeface="Courier" pitchFamily="2" charset="0"/>
              </a:rPr>
              <a:t>严重的性能</a:t>
            </a:r>
            <a:r>
              <a:rPr lang="zh-CN" altLang="en-US">
                <a:latin typeface="Courier" pitchFamily="2" charset="0"/>
              </a:rPr>
              <a:t>开销</a:t>
            </a:r>
            <a:endParaRPr lang="en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F761F9-0B2C-B74C-A2E3-878B63D2D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5FB9D1-194A-0C44-981B-CE0C5D3E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7609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C1ED-2216-6D47-9959-1664DB18C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659903"/>
          </a:xfrm>
        </p:spPr>
        <p:txBody>
          <a:bodyPr/>
          <a:lstStyle/>
          <a:p>
            <a:pPr marL="0" indent="0">
              <a:buNone/>
            </a:pPr>
            <a:r>
              <a:rPr lang="en-US" altLang="zh-CN"/>
              <a:t>Amdahl’s Law</a:t>
            </a:r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9B4661-BFD3-344F-9115-12696D6E1EA1}"/>
                  </a:ext>
                </a:extLst>
              </p:cNvPr>
              <p:cNvSpPr txBox="1"/>
              <p:nvPr/>
            </p:nvSpPr>
            <p:spPr>
              <a:xfrm>
                <a:off x="2411760" y="1993404"/>
                <a:ext cx="3249380" cy="6996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CN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9B4661-BFD3-344F-9115-12696D6E1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1993404"/>
                <a:ext cx="3249380" cy="699615"/>
              </a:xfrm>
              <a:prstGeom prst="rect">
                <a:avLst/>
              </a:prstGeom>
              <a:blipFill>
                <a:blip r:embed="rId3"/>
                <a:stretch>
                  <a:fillRect t="-1786" b="-53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23B920-D9C6-644F-BBDC-D9E12620893F}"/>
              </a:ext>
            </a:extLst>
          </p:cNvPr>
          <p:cNvCxnSpPr>
            <a:cxnSpLocks/>
          </p:cNvCxnSpPr>
          <p:nvPr/>
        </p:nvCxnSpPr>
        <p:spPr>
          <a:xfrm flipV="1">
            <a:off x="2699792" y="2482822"/>
            <a:ext cx="432048" cy="5965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CC792AF-4ED7-DD46-B9C0-D6C036F1D31E}"/>
              </a:ext>
            </a:extLst>
          </p:cNvPr>
          <p:cNvSpPr/>
          <p:nvPr/>
        </p:nvSpPr>
        <p:spPr>
          <a:xfrm>
            <a:off x="1831805" y="327585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加速比</a:t>
            </a:r>
            <a:endParaRPr lang="en-C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B03F26-8BFA-DE44-B0E2-867723FE13C6}"/>
              </a:ext>
            </a:extLst>
          </p:cNvPr>
          <p:cNvCxnSpPr>
            <a:cxnSpLocks/>
          </p:cNvCxnSpPr>
          <p:nvPr/>
        </p:nvCxnSpPr>
        <p:spPr>
          <a:xfrm flipH="1" flipV="1">
            <a:off x="4252474" y="2723717"/>
            <a:ext cx="103502" cy="55213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0BF82EE-AF37-924B-8708-4ED722E7DB9D}"/>
              </a:ext>
            </a:extLst>
          </p:cNvPr>
          <p:cNvSpPr/>
          <p:nvPr/>
        </p:nvSpPr>
        <p:spPr>
          <a:xfrm>
            <a:off x="3168150" y="335292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可以并行部分代码占比</a:t>
            </a:r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A7477D-A935-6B49-8BF4-90EFB6FAA897}"/>
              </a:ext>
            </a:extLst>
          </p:cNvPr>
          <p:cNvCxnSpPr>
            <a:cxnSpLocks/>
          </p:cNvCxnSpPr>
          <p:nvPr/>
        </p:nvCxnSpPr>
        <p:spPr>
          <a:xfrm flipH="1">
            <a:off x="4788026" y="2653307"/>
            <a:ext cx="12241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04589FA-B708-A249-805A-3990F273578B}"/>
              </a:ext>
            </a:extLst>
          </p:cNvPr>
          <p:cNvSpPr/>
          <p:nvPr/>
        </p:nvSpPr>
        <p:spPr>
          <a:xfrm>
            <a:off x="6182370" y="2447191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同时执行的核心数</a:t>
            </a:r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ED691F-B768-C044-BFE7-ECDE3038D243}"/>
              </a:ext>
            </a:extLst>
          </p:cNvPr>
          <p:cNvSpPr/>
          <p:nvPr/>
        </p:nvSpPr>
        <p:spPr>
          <a:xfrm>
            <a:off x="694452" y="4043349"/>
            <a:ext cx="1992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当核心数增加时</a:t>
            </a:r>
            <a:r>
              <a:rPr lang="en-US" altLang="zh-CN"/>
              <a:t>...</a:t>
            </a:r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C2B052-F1C1-BF44-B17C-1893B73F9EDB}"/>
                  </a:ext>
                </a:extLst>
              </p:cNvPr>
              <p:cNvSpPr txBox="1"/>
              <p:nvPr/>
            </p:nvSpPr>
            <p:spPr>
              <a:xfrm>
                <a:off x="2555776" y="3903954"/>
                <a:ext cx="3249380" cy="5670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→ ∞</m:t>
                              </m:r>
                            </m:lim>
                          </m:limLow>
                        </m:fName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func>
                      <m:r>
                        <a:rPr lang="en-U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en-US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CN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9C2B052-F1C1-BF44-B17C-1893B73F9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3903954"/>
                <a:ext cx="3249380" cy="567078"/>
              </a:xfrm>
              <a:prstGeom prst="rect">
                <a:avLst/>
              </a:prstGeom>
              <a:blipFill>
                <a:blip r:embed="rId4"/>
                <a:stretch>
                  <a:fillRect t="-2174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BCF2A411-6EBF-2948-8F58-781FAC6A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zh-CN" altLang="en-US"/>
              <a:t>可扩展性断崖背后的原因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9B0ED7-2325-3C4A-BEC2-3218ACBB9EA3}"/>
              </a:ext>
            </a:extLst>
          </p:cNvPr>
          <p:cNvSpPr/>
          <p:nvPr/>
        </p:nvSpPr>
        <p:spPr>
          <a:xfrm>
            <a:off x="602003" y="4770212"/>
            <a:ext cx="7939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latin typeface="Courier" pitchFamily="2" charset="0"/>
              </a:rPr>
              <a:t>对</a:t>
            </a:r>
            <a:r>
              <a:rPr lang="zh-CN" altLang="en-US" b="1">
                <a:solidFill>
                  <a:schemeClr val="accent1"/>
                </a:solidFill>
                <a:latin typeface="Courier" pitchFamily="2" charset="0"/>
              </a:rPr>
              <a:t>单一缓存行</a:t>
            </a:r>
            <a:r>
              <a:rPr lang="zh-CN" altLang="en-US">
                <a:latin typeface="Courier" pitchFamily="2" charset="0"/>
              </a:rPr>
              <a:t>的竞争导致</a:t>
            </a:r>
            <a:r>
              <a:rPr lang="zh-CN" altLang="en-US" b="1">
                <a:solidFill>
                  <a:schemeClr val="accent1"/>
                </a:solidFill>
                <a:latin typeface="Courier" pitchFamily="2" charset="0"/>
              </a:rPr>
              <a:t>严重的性能</a:t>
            </a:r>
            <a:r>
              <a:rPr lang="zh-CN" altLang="en-US">
                <a:latin typeface="Courier" pitchFamily="2" charset="0"/>
              </a:rPr>
              <a:t>开销：公式中的</a:t>
            </a:r>
            <a:r>
              <a:rPr lang="en-US" altLang="zh-CN" b="1">
                <a:solidFill>
                  <a:srgbClr val="C00000"/>
                </a:solidFill>
                <a:latin typeface="Courier" pitchFamily="2" charset="0"/>
              </a:rPr>
              <a:t>P</a:t>
            </a:r>
            <a:r>
              <a:rPr lang="zh-CN" altLang="en-US">
                <a:latin typeface="Courier" pitchFamily="2" charset="0"/>
              </a:rPr>
              <a:t>急剧下降，加速比下降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D7D35F3-B3DC-A34B-A8A5-63986C0B9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AB64D-44EC-2E4C-8EBF-FD44F357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9449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5F8CA-F243-D94F-B860-ADD9402A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解决可扩展性问题：回退锁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64E2AB-E53D-C640-BBB6-F4BB1CD83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B9543-93C3-4245-B52F-7F2472A6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529BC-D398-F44D-A370-B7864252D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22248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如何解决可扩展性问题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61590-8A50-C249-99CA-06A20556396A}"/>
              </a:ext>
            </a:extLst>
          </p:cNvPr>
          <p:cNvSpPr/>
          <p:nvPr/>
        </p:nvSpPr>
        <p:spPr>
          <a:xfrm>
            <a:off x="1474517" y="1273324"/>
            <a:ext cx="6964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fix</a:t>
            </a:r>
            <a:r>
              <a:rPr lang="zh-CN" altLang="en-US" dirty="0"/>
              <a:t>：避免对单一缓存行的高度竞争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Back-off</a:t>
            </a:r>
            <a:r>
              <a:rPr lang="zh-CN" altLang="en-US" dirty="0"/>
              <a:t> （回退）策略</a:t>
            </a:r>
            <a:endParaRPr lang="en-CN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45021D-3486-8E4C-BF08-3D9B7630A461}"/>
              </a:ext>
            </a:extLst>
          </p:cNvPr>
          <p:cNvSpPr/>
          <p:nvPr/>
        </p:nvSpPr>
        <p:spPr>
          <a:xfrm>
            <a:off x="323528" y="2275877"/>
            <a:ext cx="4454709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back_off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time) {</a:t>
            </a:r>
          </a:p>
          <a:p>
            <a:r>
              <a:rPr lang="en-US" altLang="zh-CN" sz="1400">
                <a:latin typeface="Courier" pitchFamily="2" charset="0"/>
              </a:rPr>
              <a:t>    for (</a:t>
            </a:r>
            <a:r>
              <a:rPr lang="en-US" altLang="zh-CN" sz="1400">
                <a:solidFill>
                  <a:schemeClr val="accent5">
                    <a:lumMod val="75000"/>
                  </a:schemeClr>
                </a:solidFill>
                <a:latin typeface="Courier" pitchFamily="2" charset="0"/>
              </a:rPr>
              <a:t>volatile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i=0; i&lt;time; i++)</a:t>
            </a:r>
          </a:p>
          <a:p>
            <a:r>
              <a:rPr lang="en-US" altLang="zh-CN" sz="1400">
                <a:latin typeface="Courier" pitchFamily="2" charset="0"/>
              </a:rPr>
              <a:t>	 cpu_relax();</a:t>
            </a:r>
          </a:p>
          <a:p>
            <a:r>
              <a:rPr lang="en-US" altLang="zh-CN" sz="1400">
                <a:latin typeface="Courier" pitchFamily="2" charset="0"/>
              </a:rPr>
              <a:t>}</a:t>
            </a:r>
          </a:p>
          <a:p>
            <a:endParaRPr lang="en-US" altLang="zh-CN" sz="1400">
              <a:solidFill>
                <a:srgbClr val="00B050"/>
              </a:solidFill>
              <a:latin typeface="Courier" pitchFamily="2" charset="0"/>
            </a:endParaRPr>
          </a:p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while(atomic_CAS(lock,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1</a:t>
            </a:r>
            <a:r>
              <a:rPr lang="en-US" altLang="zh-CN" sz="1400">
                <a:latin typeface="Courier" pitchFamily="2" charset="0"/>
              </a:rPr>
              <a:t>) !=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)</a:t>
            </a:r>
          </a:p>
          <a:p>
            <a:r>
              <a:rPr lang="en-US" altLang="zh-CN" sz="1400">
                <a:latin typeface="Courier" pitchFamily="2" charset="0"/>
              </a:rPr>
              <a:t>	back_off(DEFAULT_TIME);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43655-5A95-754B-8782-99707410B6A3}"/>
              </a:ext>
            </a:extLst>
          </p:cNvPr>
          <p:cNvSpPr/>
          <p:nvPr/>
        </p:nvSpPr>
        <p:spPr>
          <a:xfrm>
            <a:off x="781514" y="4571091"/>
            <a:ext cx="35387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使用</a:t>
            </a:r>
            <a:r>
              <a:rPr lang="en-US" altLang="zh-CN">
                <a:latin typeface="Courier" pitchFamily="2" charset="0"/>
              </a:rPr>
              <a:t>Back-off</a:t>
            </a:r>
            <a:r>
              <a:rPr lang="zh-CN" altLang="en-US">
                <a:latin typeface="Courier" pitchFamily="2" charset="0"/>
              </a:rPr>
              <a:t>策略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126729-5A1B-C74A-86FF-7CD0575439EF}"/>
              </a:ext>
            </a:extLst>
          </p:cNvPr>
          <p:cNvSpPr/>
          <p:nvPr/>
        </p:nvSpPr>
        <p:spPr>
          <a:xfrm>
            <a:off x="5466831" y="2261019"/>
            <a:ext cx="3185487" cy="87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accent1"/>
                </a:solidFill>
              </a:rPr>
              <a:t>思考：这样写能解决问题吗？</a:t>
            </a:r>
            <a:endParaRPr lang="en-US" altLang="zh-CN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accent1"/>
                </a:solidFill>
              </a:rPr>
              <a:t>会有什么样的问题？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4F5D7-D960-5148-B2A6-C65CC9BE7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70C0C-14DF-384A-A023-B61CE7E0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959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如何解决可扩展性问题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D61590-8A50-C249-99CA-06A20556396A}"/>
              </a:ext>
            </a:extLst>
          </p:cNvPr>
          <p:cNvSpPr/>
          <p:nvPr/>
        </p:nvSpPr>
        <p:spPr>
          <a:xfrm>
            <a:off x="1474517" y="1273324"/>
            <a:ext cx="69644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fix</a:t>
            </a:r>
            <a:r>
              <a:rPr lang="zh-CN" altLang="en-US" dirty="0"/>
              <a:t>：避免对单一缓存行的高度竞争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Back-off</a:t>
            </a:r>
            <a:r>
              <a:rPr lang="zh-CN" altLang="en-US" dirty="0"/>
              <a:t> （回退）策略</a:t>
            </a:r>
            <a:endParaRPr lang="en-CN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45021D-3486-8E4C-BF08-3D9B7630A461}"/>
              </a:ext>
            </a:extLst>
          </p:cNvPr>
          <p:cNvSpPr/>
          <p:nvPr/>
        </p:nvSpPr>
        <p:spPr>
          <a:xfrm>
            <a:off x="323528" y="2275877"/>
            <a:ext cx="4454709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back_off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time) {</a:t>
            </a:r>
          </a:p>
          <a:p>
            <a:r>
              <a:rPr lang="en-US" altLang="zh-CN" sz="1400">
                <a:latin typeface="Courier" pitchFamily="2" charset="0"/>
              </a:rPr>
              <a:t>    for (</a:t>
            </a:r>
            <a:r>
              <a:rPr lang="en-US" altLang="zh-CN" sz="1400">
                <a:solidFill>
                  <a:schemeClr val="accent5">
                    <a:lumMod val="75000"/>
                  </a:schemeClr>
                </a:solidFill>
                <a:latin typeface="Courier" pitchFamily="2" charset="0"/>
              </a:rPr>
              <a:t>volatile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i=0; i&lt;time; i++)</a:t>
            </a:r>
          </a:p>
          <a:p>
            <a:r>
              <a:rPr lang="en-US" altLang="zh-CN" sz="1400">
                <a:latin typeface="Courier" pitchFamily="2" charset="0"/>
              </a:rPr>
              <a:t>	 cpu_relax();</a:t>
            </a:r>
          </a:p>
          <a:p>
            <a:r>
              <a:rPr lang="en-US" altLang="zh-CN" sz="1400">
                <a:latin typeface="Courier" pitchFamily="2" charset="0"/>
              </a:rPr>
              <a:t>}</a:t>
            </a:r>
          </a:p>
          <a:p>
            <a:endParaRPr lang="en-US" altLang="zh-CN" sz="1400">
              <a:solidFill>
                <a:srgbClr val="00B050"/>
              </a:solidFill>
              <a:latin typeface="Courier" pitchFamily="2" charset="0"/>
            </a:endParaRPr>
          </a:p>
          <a:p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sz="1400">
                <a:latin typeface="Courier" pitchFamily="2" charset="0"/>
              </a:rPr>
              <a:t> </a:t>
            </a:r>
            <a:r>
              <a:rPr lang="en-US" altLang="zh-CN" sz="140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altLang="zh-CN" sz="1400">
                <a:latin typeface="Courier" pitchFamily="2" charset="0"/>
              </a:rPr>
              <a:t>(</a:t>
            </a:r>
            <a:r>
              <a:rPr lang="en-US" altLang="zh-CN" sz="1400">
                <a:solidFill>
                  <a:srgbClr val="00B050"/>
                </a:solidFill>
                <a:latin typeface="Courier" pitchFamily="2" charset="0"/>
              </a:rPr>
              <a:t>int</a:t>
            </a:r>
            <a:r>
              <a:rPr lang="en-US" altLang="zh-CN" sz="1400">
                <a:latin typeface="Courier" pitchFamily="2" charset="0"/>
              </a:rPr>
              <a:t> *lock) {</a:t>
            </a:r>
          </a:p>
          <a:p>
            <a:r>
              <a:rPr lang="zh-CN" altLang="en-US" sz="1400">
                <a:latin typeface="Courier" pitchFamily="2" charset="0"/>
              </a:rPr>
              <a:t>    </a:t>
            </a:r>
            <a:r>
              <a:rPr lang="en-US" altLang="zh-CN" sz="1400">
                <a:latin typeface="Courier" pitchFamily="2" charset="0"/>
              </a:rPr>
              <a:t>while(atomic_CAS(lock,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,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1</a:t>
            </a:r>
            <a:r>
              <a:rPr lang="en-US" altLang="zh-CN" sz="1400">
                <a:latin typeface="Courier" pitchFamily="2" charset="0"/>
              </a:rPr>
              <a:t>) != </a:t>
            </a:r>
            <a:r>
              <a:rPr lang="en-US" altLang="zh-CN" sz="1400">
                <a:solidFill>
                  <a:schemeClr val="accent5"/>
                </a:solidFill>
                <a:latin typeface="Courier" pitchFamily="2" charset="0"/>
              </a:rPr>
              <a:t>0</a:t>
            </a:r>
            <a:r>
              <a:rPr lang="en-US" altLang="zh-CN" sz="1400">
                <a:latin typeface="Courier" pitchFamily="2" charset="0"/>
              </a:rPr>
              <a:t>)</a:t>
            </a:r>
          </a:p>
          <a:p>
            <a:r>
              <a:rPr lang="en-US" altLang="zh-CN" sz="1400">
                <a:latin typeface="Courier" pitchFamily="2" charset="0"/>
              </a:rPr>
              <a:t>	back_off(DEFAULT_TIME);</a:t>
            </a:r>
          </a:p>
          <a:p>
            <a:r>
              <a:rPr lang="en-US" sz="1400">
                <a:latin typeface="Courier" pitchFamily="2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43655-5A95-754B-8782-99707410B6A3}"/>
              </a:ext>
            </a:extLst>
          </p:cNvPr>
          <p:cNvSpPr/>
          <p:nvPr/>
        </p:nvSpPr>
        <p:spPr>
          <a:xfrm>
            <a:off x="781514" y="4571091"/>
            <a:ext cx="35387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使用</a:t>
            </a:r>
            <a:r>
              <a:rPr lang="en-US" altLang="zh-CN">
                <a:latin typeface="Courier" pitchFamily="2" charset="0"/>
              </a:rPr>
              <a:t>Back-off</a:t>
            </a:r>
            <a:r>
              <a:rPr lang="zh-CN" altLang="en-US">
                <a:latin typeface="Courier" pitchFamily="2" charset="0"/>
              </a:rPr>
              <a:t>策略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126729-5A1B-C74A-86FF-7CD0575439EF}"/>
              </a:ext>
            </a:extLst>
          </p:cNvPr>
          <p:cNvSpPr/>
          <p:nvPr/>
        </p:nvSpPr>
        <p:spPr>
          <a:xfrm>
            <a:off x="5466831" y="2261019"/>
            <a:ext cx="3185487" cy="87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accent1"/>
                </a:solidFill>
              </a:rPr>
              <a:t>思考：这样写能解决问题吗？</a:t>
            </a:r>
            <a:endParaRPr lang="en-US" altLang="zh-CN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accent1"/>
                </a:solidFill>
              </a:rPr>
              <a:t>会有什么样的问题？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D3EAF5-DE6D-BE4F-9A4A-F74FF6133513}"/>
              </a:ext>
            </a:extLst>
          </p:cNvPr>
          <p:cNvSpPr/>
          <p:nvPr/>
        </p:nvSpPr>
        <p:spPr>
          <a:xfrm>
            <a:off x="5501313" y="3215449"/>
            <a:ext cx="3185487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>
                <a:latin typeface="Courier" pitchFamily="2" charset="0"/>
              </a:rPr>
              <a:t>等待</a:t>
            </a:r>
            <a:r>
              <a:rPr lang="zh-CN" altLang="en-US" b="1">
                <a:latin typeface="Courier" pitchFamily="2" charset="0"/>
              </a:rPr>
              <a:t>相同</a:t>
            </a:r>
            <a:r>
              <a:rPr lang="zh-CN" altLang="en-US">
                <a:latin typeface="Courier" pitchFamily="2" charset="0"/>
              </a:rPr>
              <a:t>时间，</a:t>
            </a:r>
            <a:r>
              <a:rPr lang="zh-CN" altLang="en-US" b="1">
                <a:latin typeface="Courier" pitchFamily="2" charset="0"/>
              </a:rPr>
              <a:t>同时</a:t>
            </a:r>
            <a:r>
              <a:rPr lang="zh-CN" altLang="en-US">
                <a:latin typeface="Courier" pitchFamily="2" charset="0"/>
              </a:rPr>
              <a:t>停止等待，</a:t>
            </a:r>
            <a:r>
              <a:rPr lang="zh-CN" altLang="en-US" b="1">
                <a:latin typeface="Courier" pitchFamily="2" charset="0"/>
              </a:rPr>
              <a:t>同时</a:t>
            </a:r>
            <a:r>
              <a:rPr lang="zh-CN" altLang="en-US">
                <a:latin typeface="Courier" pitchFamily="2" charset="0"/>
              </a:rPr>
              <a:t>开始下一轮竞争！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48308D-F625-5340-8696-4A04E7B55C6F}"/>
              </a:ext>
            </a:extLst>
          </p:cNvPr>
          <p:cNvSpPr/>
          <p:nvPr/>
        </p:nvSpPr>
        <p:spPr>
          <a:xfrm>
            <a:off x="5364088" y="4167808"/>
            <a:ext cx="3096344" cy="11144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随机时间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指数后退</a:t>
            </a: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F08C4-5724-CD41-80A4-386E9567E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371B6-D158-CD42-9E06-A9F5F5F8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4272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内容占位符 3" descr="Screen Shot 2014-12-02 at 09.31.49.png">
            <a:extLst>
              <a:ext uri="{FF2B5EF4-FFF2-40B4-BE49-F238E27FC236}">
                <a16:creationId xmlns:a16="http://schemas.microsoft.com/office/drawing/2014/main" id="{0F2FF079-0D83-7249-8688-E5B5579A3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035" b="-34035"/>
          <a:stretch>
            <a:fillRect/>
          </a:stretch>
        </p:blipFill>
        <p:spPr>
          <a:xfrm>
            <a:off x="288974" y="856096"/>
            <a:ext cx="8561387" cy="470852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Back-off</a:t>
            </a:r>
            <a:r>
              <a:rPr lang="zh-CN" altLang="en-US"/>
              <a:t> 是否完全解决可扩展性问题</a:t>
            </a:r>
            <a:endParaRPr lang="en-CN"/>
          </a:p>
        </p:txBody>
      </p:sp>
      <p:sp>
        <p:nvSpPr>
          <p:cNvPr id="11" name="文本框 5">
            <a:extLst>
              <a:ext uri="{FF2B5EF4-FFF2-40B4-BE49-F238E27FC236}">
                <a16:creationId xmlns:a16="http://schemas.microsoft.com/office/drawing/2014/main" id="{F496701C-F675-DD47-A89C-51F1641C82DA}"/>
              </a:ext>
            </a:extLst>
          </p:cNvPr>
          <p:cNvSpPr txBox="1"/>
          <p:nvPr/>
        </p:nvSpPr>
        <p:spPr>
          <a:xfrm>
            <a:off x="288974" y="4779887"/>
            <a:ext cx="8561387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200" i="1" dirty="0">
                <a:latin typeface="+mn-ea"/>
              </a:rPr>
              <a:t>*</a:t>
            </a:r>
            <a:r>
              <a:rPr kumimoji="1" lang="en-US" altLang="zh-CN" sz="1200" i="1" dirty="0">
                <a:latin typeface="+mn-ea"/>
              </a:rPr>
              <a:t>http://linux-kernel.2935.n7.nabble.com/PATCH-v5-0-5-x86-smp-make-ticket-spinlock-proportional-backoff-w-auto-tuning-td596698i20.html</a:t>
            </a:r>
            <a:endParaRPr kumimoji="1" lang="zh-CN" altLang="en-US" sz="1200" i="1" dirty="0">
              <a:latin typeface="+mn-ea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C47012-3E95-2340-89B8-80AA40850791}"/>
              </a:ext>
            </a:extLst>
          </p:cNvPr>
          <p:cNvSpPr/>
          <p:nvPr/>
        </p:nvSpPr>
        <p:spPr>
          <a:xfrm>
            <a:off x="3602895" y="1201316"/>
            <a:ext cx="1933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altLang="zh-CN"/>
              <a:t>Linus</a:t>
            </a:r>
            <a:r>
              <a:rPr lang="en-US" altLang="zh-CN"/>
              <a:t>’</a:t>
            </a:r>
            <a:r>
              <a:rPr lang="zh-CN" altLang="en-US"/>
              <a:t> </a:t>
            </a:r>
            <a:r>
              <a:rPr lang="en-US" altLang="zh-CN"/>
              <a:t>Response</a:t>
            </a:r>
            <a:endParaRPr lang="en-CN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46A64F-9A57-194D-B6C6-EDD8449557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2DDA8-4D6C-564F-BCB0-60C39C5E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5DD7C9-D3F9-FE4F-BC85-6D3A7F7DC647}"/>
              </a:ext>
            </a:extLst>
          </p:cNvPr>
          <p:cNvSpPr/>
          <p:nvPr/>
        </p:nvSpPr>
        <p:spPr>
          <a:xfrm>
            <a:off x="288974" y="3289548"/>
            <a:ext cx="8397826" cy="6480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85C2F-F23A-024D-A269-C186000D9F36}"/>
              </a:ext>
            </a:extLst>
          </p:cNvPr>
          <p:cNvSpPr txBox="1"/>
          <p:nvPr/>
        </p:nvSpPr>
        <p:spPr>
          <a:xfrm>
            <a:off x="5883786" y="354319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>
                <a:solidFill>
                  <a:srgbClr val="FF0000"/>
                </a:solidFill>
              </a:rPr>
              <a:t>治标不治本</a:t>
            </a:r>
            <a:endParaRPr lang="en-CN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A2C1D-3E1B-3F49-BDE5-07B8F1C4F938}"/>
              </a:ext>
            </a:extLst>
          </p:cNvPr>
          <p:cNvSpPr txBox="1"/>
          <p:nvPr/>
        </p:nvSpPr>
        <p:spPr>
          <a:xfrm>
            <a:off x="3900252" y="2096533"/>
            <a:ext cx="2557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真实硬件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场景很难触发</a:t>
            </a:r>
            <a:endParaRPr lang="en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3364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5F8CA-F243-D94F-B860-ADD9402A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解决可扩展性问题：</a:t>
            </a:r>
            <a:r>
              <a:rPr kumimoji="1" lang="en-US" altLang="zh-CN" dirty="0"/>
              <a:t>MCS</a:t>
            </a:r>
            <a:r>
              <a:rPr kumimoji="1" lang="zh-CN" altLang="en-US" dirty="0"/>
              <a:t>锁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64E2AB-E53D-C640-BBB6-F4BB1CD83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B9543-93C3-4245-B52F-7F2472A6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D529BC-D398-F44D-A370-B7864252D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12984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 dirty="0"/>
              <a:t>如何解决可扩展性问题：</a:t>
            </a:r>
            <a:r>
              <a:rPr lang="en-US" altLang="zh-CN" dirty="0"/>
              <a:t>MCS</a:t>
            </a:r>
            <a:r>
              <a:rPr lang="zh-CN" altLang="en-US" dirty="0"/>
              <a:t>锁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0A882A-1CE0-5C4D-B18F-7563F2ABFEA5}"/>
              </a:ext>
            </a:extLst>
          </p:cNvPr>
          <p:cNvSpPr/>
          <p:nvPr/>
        </p:nvSpPr>
        <p:spPr>
          <a:xfrm>
            <a:off x="1709678" y="1129308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核心思路：在</a:t>
            </a:r>
            <a:r>
              <a:rPr lang="zh-CN" altLang="en-US" b="1"/>
              <a:t>关键路径上</a:t>
            </a:r>
            <a:r>
              <a:rPr lang="zh-CN" altLang="en-US"/>
              <a:t>避免对单一缓存行的高度竞争</a:t>
            </a:r>
            <a:endParaRPr lang="en-C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02CD4E-58E8-BC43-A4CE-18F2775AA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05" y="2029750"/>
            <a:ext cx="7455991" cy="237980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FE57C27-6FDE-4145-A121-020A24C83D82}"/>
              </a:ext>
            </a:extLst>
          </p:cNvPr>
          <p:cNvSpPr/>
          <p:nvPr/>
        </p:nvSpPr>
        <p:spPr>
          <a:xfrm>
            <a:off x="323528" y="1828835"/>
            <a:ext cx="1710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以</a:t>
            </a:r>
            <a:r>
              <a:rPr lang="en-US" altLang="zh-CN"/>
              <a:t>MCS</a:t>
            </a:r>
            <a:r>
              <a:rPr lang="zh-CN" altLang="en-US"/>
              <a:t>锁</a:t>
            </a:r>
            <a:r>
              <a:rPr lang="en-US" altLang="zh-CN"/>
              <a:t>*</a:t>
            </a:r>
            <a:r>
              <a:rPr lang="zh-CN" altLang="en-US"/>
              <a:t>为例</a:t>
            </a:r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D5DB0B-4A5E-834A-B6FC-B29A831FB7E8}"/>
              </a:ext>
            </a:extLst>
          </p:cNvPr>
          <p:cNvSpPr/>
          <p:nvPr/>
        </p:nvSpPr>
        <p:spPr>
          <a:xfrm>
            <a:off x="0" y="5056045"/>
            <a:ext cx="1088625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en-US" sz="1000" b="0" i="1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ellor-</a:t>
            </a:r>
            <a:r>
              <a:rPr lang="en-US" sz="1000" b="0" i="1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rummey J M, </a:t>
            </a:r>
            <a:r>
              <a:rPr lang="en-US" sz="1000" b="0" i="1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</a:t>
            </a: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cott M L. Algorithms for </a:t>
            </a:r>
            <a:b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scalable synchronization on shared-memory </a:t>
            </a:r>
            <a:b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0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multiprocessors[J]. TOCS, 1991, 9(1): 21-65.</a:t>
            </a:r>
            <a:endParaRPr lang="en-CN" sz="1000" i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31DC9C-F398-5C47-8B1C-7F712C3CD4BC}"/>
              </a:ext>
            </a:extLst>
          </p:cNvPr>
          <p:cNvSpPr/>
          <p:nvPr/>
        </p:nvSpPr>
        <p:spPr>
          <a:xfrm>
            <a:off x="4018002" y="450280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等待队列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6ED7DA-36D7-764A-8A9D-3CEF355500BE}"/>
              </a:ext>
            </a:extLst>
          </p:cNvPr>
          <p:cNvSpPr/>
          <p:nvPr/>
        </p:nvSpPr>
        <p:spPr>
          <a:xfrm>
            <a:off x="5508104" y="2167099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锁队尾指针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A8F068-8CA8-1A47-B4A7-D77F46AD3D12}"/>
              </a:ext>
            </a:extLst>
          </p:cNvPr>
          <p:cNvSpPr/>
          <p:nvPr/>
        </p:nvSpPr>
        <p:spPr>
          <a:xfrm>
            <a:off x="2843808" y="1890100"/>
            <a:ext cx="1584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等待在自己结点的标记位</a:t>
            </a:r>
            <a:endParaRPr lang="en-C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AB800CC-B425-454D-81E8-70435D0E0986}"/>
              </a:ext>
            </a:extLst>
          </p:cNvPr>
          <p:cNvCxnSpPr>
            <a:cxnSpLocks/>
          </p:cNvCxnSpPr>
          <p:nvPr/>
        </p:nvCxnSpPr>
        <p:spPr>
          <a:xfrm flipH="1">
            <a:off x="3491880" y="2536431"/>
            <a:ext cx="144018" cy="68322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6FF5491-B0FB-2A48-8DAF-1B674E8F0D3F}"/>
              </a:ext>
            </a:extLst>
          </p:cNvPr>
          <p:cNvSpPr/>
          <p:nvPr/>
        </p:nvSpPr>
        <p:spPr>
          <a:xfrm>
            <a:off x="2843808" y="3073524"/>
            <a:ext cx="1872208" cy="13360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95130C-322E-C643-991A-7C129DA3094A}"/>
              </a:ext>
            </a:extLst>
          </p:cNvPr>
          <p:cNvSpPr/>
          <p:nvPr/>
        </p:nvSpPr>
        <p:spPr>
          <a:xfrm>
            <a:off x="1709678" y="4425803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每结点单独缓存行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E287DF-EFFE-0E4D-B54A-F7BDA2AF8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E580DF-1C4D-E248-B01B-36ED6A76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4298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36021-E2A7-5C40-8385-8E805FA9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MCS</a:t>
            </a:r>
            <a:r>
              <a:rPr kumimoji="1" lang="zh-CN" altLang="en-US" dirty="0"/>
              <a:t>实现示例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9F1F59-8991-4B47-BE28-EE1543B29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868093BA-77D1-CC42-9259-BE5B7D0860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F89FB8-356F-3D43-B00A-DAE0CD3E9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121531"/>
            <a:ext cx="5382865" cy="519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136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MCS</a:t>
            </a:r>
            <a:r>
              <a:rPr lang="zh-CN" altLang="en-US"/>
              <a:t>锁：新的竞争者加入等待队列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7AD4A-09C6-3A48-9E0A-EFAB80A0E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76249-C6FB-DD4D-B398-17696D1BF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92" y="1811953"/>
            <a:ext cx="8316416" cy="20910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2B94DA-95C6-DF4A-A127-23B522B0A12B}"/>
              </a:ext>
            </a:extLst>
          </p:cNvPr>
          <p:cNvSpPr txBox="1"/>
          <p:nvPr/>
        </p:nvSpPr>
        <p:spPr>
          <a:xfrm>
            <a:off x="6469360" y="4183444"/>
            <a:ext cx="2674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先</a:t>
            </a:r>
            <a:r>
              <a:rPr lang="zh-CN" altLang="en-US"/>
              <a:t>填写自己结点的内容</a:t>
            </a:r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D1A69-797D-F342-9274-DB8AD930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1991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MCS</a:t>
            </a:r>
            <a:r>
              <a:rPr lang="zh-CN" altLang="en-US"/>
              <a:t>锁：新的竞争者加入等待队列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7AD4A-09C6-3A48-9E0A-EFAB80A0E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CF0D81-EDBC-DF4A-BED3-03AD3F501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41" y="1805401"/>
            <a:ext cx="8330318" cy="2104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76B134-36FB-4B4B-9BAB-11C06F41B068}"/>
              </a:ext>
            </a:extLst>
          </p:cNvPr>
          <p:cNvSpPr txBox="1"/>
          <p:nvPr/>
        </p:nvSpPr>
        <p:spPr>
          <a:xfrm>
            <a:off x="5220072" y="4191911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通过</a:t>
            </a:r>
            <a:r>
              <a:rPr lang="zh-CN" altLang="en-US" b="1"/>
              <a:t>原子操作</a:t>
            </a:r>
            <a:r>
              <a:rPr lang="zh-CN" altLang="en-US"/>
              <a:t>更新</a:t>
            </a:r>
            <a:r>
              <a:rPr lang="en-US" altLang="zh-CN"/>
              <a:t>MCS</a:t>
            </a:r>
            <a:r>
              <a:rPr lang="zh-CN" altLang="en-US"/>
              <a:t>锁的尾指针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AEFEF-EE10-2C41-B96B-CC7CD698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439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MCS</a:t>
            </a:r>
            <a:r>
              <a:rPr lang="zh-CN" altLang="en-US"/>
              <a:t>锁：新的竞争者加入等待队列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7AD4A-09C6-3A48-9E0A-EFAB80A0E2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B6D943-57B5-7B44-BB75-649DDEA7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86" y="1754690"/>
            <a:ext cx="8314227" cy="2205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75F27A-E00D-244F-BA97-BE740F74677A}"/>
              </a:ext>
            </a:extLst>
          </p:cNvPr>
          <p:cNvSpPr txBox="1"/>
          <p:nvPr/>
        </p:nvSpPr>
        <p:spPr>
          <a:xfrm>
            <a:off x="6460460" y="4263709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/>
              <a:t>最后</a:t>
            </a:r>
            <a:r>
              <a:rPr lang="zh-CN" altLang="en-US"/>
              <a:t>链接入等待队列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39E15-6774-354A-B04C-6038B405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3945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MCS</a:t>
            </a:r>
            <a:r>
              <a:rPr lang="zh-CN" altLang="en-US"/>
              <a:t>锁：锁持有者的传递</a:t>
            </a:r>
            <a:endParaRPr lang="en-C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902A02-2654-D448-BCE7-340CF6448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57" y="1763166"/>
            <a:ext cx="8391486" cy="2188667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10BB93-7074-4149-A7C5-B5459BC2D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B4707-FCAC-3E4D-B907-C7B8676D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8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MCS</a:t>
            </a:r>
            <a:r>
              <a:rPr lang="zh-CN" altLang="en-US"/>
              <a:t>锁：锁持有者的传递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10BB93-7074-4149-A7C5-B5459BC2D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9AD64-D7E8-A845-99EE-AF65546FA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1770911"/>
            <a:ext cx="6491064" cy="21731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7B036-B904-264C-9F44-132D4581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242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MCS</a:t>
            </a:r>
            <a:r>
              <a:rPr lang="zh-CN" altLang="en-US"/>
              <a:t>锁：放锁流程</a:t>
            </a:r>
            <a:endParaRPr lang="en-C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FC6CEE-9AAC-1F4E-8563-39D25EAF8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78" y="1295453"/>
            <a:ext cx="7601244" cy="415364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D3096-1E75-B045-AD78-62400FAA2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4CCCA-454D-2F47-BB35-0C7BB24B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093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MCS</a:t>
            </a:r>
            <a:r>
              <a:rPr lang="zh-CN" altLang="en-US"/>
              <a:t>锁：性能分析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88F2B-DAC4-F24D-8C5D-673E674AC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76" y="1057300"/>
            <a:ext cx="7540047" cy="19665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87A4C1-5385-FA4D-A866-7A6F28A88A60}"/>
              </a:ext>
            </a:extLst>
          </p:cNvPr>
          <p:cNvSpPr/>
          <p:nvPr/>
        </p:nvSpPr>
        <p:spPr>
          <a:xfrm>
            <a:off x="3210087" y="3073524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高竞争程度时的</a:t>
            </a:r>
            <a:r>
              <a:rPr lang="zh-CN" altLang="en-US" b="1">
                <a:latin typeface="Courier" pitchFamily="2" charset="0"/>
              </a:rPr>
              <a:t>关键路径</a:t>
            </a:r>
            <a:endParaRPr lang="en-CN" b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04633-EDEB-A14F-8AA2-19AE8E73C382}"/>
              </a:ext>
            </a:extLst>
          </p:cNvPr>
          <p:cNvSpPr/>
          <p:nvPr/>
        </p:nvSpPr>
        <p:spPr>
          <a:xfrm>
            <a:off x="3219298" y="4971670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高竞争程度时</a:t>
            </a:r>
            <a:r>
              <a:rPr lang="zh-CN" altLang="en-US" b="1">
                <a:latin typeface="Courier" pitchFamily="2" charset="0"/>
              </a:rPr>
              <a:t>关键路径之外</a:t>
            </a:r>
            <a:endParaRPr lang="en-CN" b="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7C508-4074-7B42-893B-86082134E540}"/>
              </a:ext>
            </a:extLst>
          </p:cNvPr>
          <p:cNvSpPr/>
          <p:nvPr/>
        </p:nvSpPr>
        <p:spPr>
          <a:xfrm>
            <a:off x="3241218" y="1059216"/>
            <a:ext cx="14401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写一个私有缓存行</a:t>
            </a:r>
            <a:endParaRPr lang="en-US" altLang="zh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2B0EEC-6DC2-314C-BA6F-788D6DA1BD02}"/>
              </a:ext>
            </a:extLst>
          </p:cNvPr>
          <p:cNvSpPr/>
          <p:nvPr/>
        </p:nvSpPr>
        <p:spPr>
          <a:xfrm>
            <a:off x="457198" y="1032088"/>
            <a:ext cx="4258817" cy="20414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5200BD-986D-EA44-9838-A5DB96A70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3496018"/>
            <a:ext cx="4283968" cy="12597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992540-BB88-1A4C-9E53-F705340E5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0568" y="3416927"/>
            <a:ext cx="4378740" cy="137877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CB10577-D144-9144-A7A1-FF7665446176}"/>
              </a:ext>
            </a:extLst>
          </p:cNvPr>
          <p:cNvSpPr/>
          <p:nvPr/>
        </p:nvSpPr>
        <p:spPr>
          <a:xfrm>
            <a:off x="5220072" y="3403567"/>
            <a:ext cx="2768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对队尾指针缓存行的竞争</a:t>
            </a:r>
            <a:endParaRPr lang="en-US" altLang="zh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FCEB82-C720-6747-80F7-653342D4B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EB3E5-2F51-2B4E-B1EB-DAF8BF5C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099BCD-4D96-DA4F-A4B9-50AA9FAC3086}"/>
              </a:ext>
            </a:extLst>
          </p:cNvPr>
          <p:cNvSpPr/>
          <p:nvPr/>
        </p:nvSpPr>
        <p:spPr>
          <a:xfrm>
            <a:off x="4734674" y="609362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不再会高频竞争全局缓存行</a:t>
            </a:r>
            <a:endParaRPr lang="en-US" altLang="zh-CN">
              <a:solidFill>
                <a:schemeClr val="accent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4512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MCS</a:t>
            </a:r>
            <a:r>
              <a:rPr lang="zh-CN" altLang="en-US"/>
              <a:t>锁：性能分析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830617-180D-394D-8685-0F67BA4F076A}"/>
              </a:ext>
            </a:extLst>
          </p:cNvPr>
          <p:cNvSpPr/>
          <p:nvPr/>
        </p:nvSpPr>
        <p:spPr>
          <a:xfrm>
            <a:off x="1709678" y="1074046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核心思路：在</a:t>
            </a:r>
            <a:r>
              <a:rPr lang="zh-CN" altLang="en-US" b="1"/>
              <a:t>关键路径上</a:t>
            </a:r>
            <a:r>
              <a:rPr lang="zh-CN" altLang="en-US"/>
              <a:t>避免对单一缓存行的高度竞争</a:t>
            </a:r>
            <a:endParaRPr lang="en-C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82BF88-740F-8B42-A71C-AE5E71CF2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24761"/>
            <a:ext cx="5620072" cy="37467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B02CECF-E4FD-2047-9E1F-331FC3AA8798}"/>
              </a:ext>
            </a:extLst>
          </p:cNvPr>
          <p:cNvSpPr/>
          <p:nvPr/>
        </p:nvSpPr>
        <p:spPr>
          <a:xfrm>
            <a:off x="1397570" y="1943069"/>
            <a:ext cx="1620957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鲲鹏服务器上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b="1" dirty="0"/>
              <a:t>互斥锁微基准测试</a:t>
            </a:r>
            <a:endParaRPr lang="en-CN" sz="1400" b="1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12DEBB-8815-0244-A034-070CA2AECEA6}"/>
              </a:ext>
            </a:extLst>
          </p:cNvPr>
          <p:cNvCxnSpPr>
            <a:cxnSpLocks/>
          </p:cNvCxnSpPr>
          <p:nvPr/>
        </p:nvCxnSpPr>
        <p:spPr>
          <a:xfrm flipV="1">
            <a:off x="1426917" y="2128837"/>
            <a:ext cx="2332653" cy="2317643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126657-F12C-9F4A-9C0B-89943EE901EF}"/>
              </a:ext>
            </a:extLst>
          </p:cNvPr>
          <p:cNvCxnSpPr>
            <a:cxnSpLocks/>
          </p:cNvCxnSpPr>
          <p:nvPr/>
        </p:nvCxnSpPr>
        <p:spPr>
          <a:xfrm flipV="1">
            <a:off x="4273116" y="1898369"/>
            <a:ext cx="1379004" cy="1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4D2B5E-3F41-7448-A59E-E59BFEBE20E1}"/>
              </a:ext>
            </a:extLst>
          </p:cNvPr>
          <p:cNvCxnSpPr>
            <a:cxnSpLocks/>
          </p:cNvCxnSpPr>
          <p:nvPr/>
        </p:nvCxnSpPr>
        <p:spPr>
          <a:xfrm flipV="1">
            <a:off x="3759570" y="1875607"/>
            <a:ext cx="511074" cy="258147"/>
          </a:xfrm>
          <a:prstGeom prst="straightConnector1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98A4BDC-585E-524C-AB03-ABEF3C725940}"/>
              </a:ext>
            </a:extLst>
          </p:cNvPr>
          <p:cNvSpPr/>
          <p:nvPr/>
        </p:nvSpPr>
        <p:spPr>
          <a:xfrm>
            <a:off x="6040101" y="1922432"/>
            <a:ext cx="28999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Non-scalable locks are</a:t>
            </a:r>
          </a:p>
          <a:p>
            <a:r>
              <a:rPr lang="en-US">
                <a:solidFill>
                  <a:schemeClr val="accent1"/>
                </a:solidFill>
              </a:rPr>
              <a:t>dangerous, </a:t>
            </a:r>
            <a:r>
              <a:rPr lang="en-US" altLang="zh-CN">
                <a:solidFill>
                  <a:schemeClr val="accent1"/>
                </a:solidFill>
              </a:rPr>
              <a:t>use</a:t>
            </a:r>
            <a:r>
              <a:rPr lang="zh-CN" altLang="en-US">
                <a:solidFill>
                  <a:schemeClr val="accent1"/>
                </a:solidFill>
              </a:rPr>
              <a:t> </a:t>
            </a:r>
            <a:r>
              <a:rPr lang="en-US" altLang="zh-CN">
                <a:solidFill>
                  <a:schemeClr val="accent1"/>
                </a:solidFill>
              </a:rPr>
              <a:t>scalable locks instead!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F8C7C-C308-9649-B374-43925175D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572CC-1859-9F48-896F-E4A01DF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636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3CBE54-7583-5146-9D20-891667210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79296" cy="900442"/>
          </a:xfrm>
        </p:spPr>
        <p:txBody>
          <a:bodyPr>
            <a:normAutofit fontScale="90000"/>
          </a:bodyPr>
          <a:lstStyle/>
          <a:p>
            <a:r>
              <a:rPr lang="en-CN" altLang="zh-CN"/>
              <a:t>Linux</a:t>
            </a:r>
            <a:r>
              <a:rPr lang="zh-CN" altLang="en-US"/>
              <a:t> </a:t>
            </a:r>
            <a:r>
              <a:rPr lang="en-US" altLang="zh-CN"/>
              <a:t>Kernel</a:t>
            </a:r>
            <a:r>
              <a:rPr lang="zh-CN" altLang="en-US"/>
              <a:t>中的可扩展锁：</a:t>
            </a:r>
            <a:r>
              <a:rPr lang="en-US" altLang="zh-CN"/>
              <a:t>QSpinlock</a:t>
            </a:r>
            <a:r>
              <a:rPr lang="zh-CN" altLang="en-US"/>
              <a:t>*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F910FB-8A1E-B544-BCFB-FD46B49D4C3E}"/>
              </a:ext>
            </a:extLst>
          </p:cNvPr>
          <p:cNvSpPr/>
          <p:nvPr/>
        </p:nvSpPr>
        <p:spPr>
          <a:xfrm>
            <a:off x="899592" y="265913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获取锁</a:t>
            </a:r>
            <a:endParaRPr lang="en-CN" b="1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E16B21-62F1-0947-A469-C5F54F57B697}"/>
              </a:ext>
            </a:extLst>
          </p:cNvPr>
          <p:cNvCxnSpPr>
            <a:cxnSpLocks/>
          </p:cNvCxnSpPr>
          <p:nvPr/>
        </p:nvCxnSpPr>
        <p:spPr>
          <a:xfrm flipV="1">
            <a:off x="2138941" y="1921396"/>
            <a:ext cx="992899" cy="79616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6C433B-FBF6-0C44-B753-9CB13C7416D4}"/>
              </a:ext>
            </a:extLst>
          </p:cNvPr>
          <p:cNvCxnSpPr>
            <a:cxnSpLocks/>
          </p:cNvCxnSpPr>
          <p:nvPr/>
        </p:nvCxnSpPr>
        <p:spPr>
          <a:xfrm>
            <a:off x="2138941" y="2967872"/>
            <a:ext cx="855712" cy="8870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9F8854C-5B14-9A48-A4DB-0CCBA224CAD3}"/>
              </a:ext>
            </a:extLst>
          </p:cNvPr>
          <p:cNvSpPr/>
          <p:nvPr/>
        </p:nvSpPr>
        <p:spPr>
          <a:xfrm>
            <a:off x="3702967" y="1113254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竞争程度低：快速路径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596684-74B0-AD45-88D7-6CB0A19E9FB4}"/>
              </a:ext>
            </a:extLst>
          </p:cNvPr>
          <p:cNvSpPr/>
          <p:nvPr/>
        </p:nvSpPr>
        <p:spPr>
          <a:xfrm>
            <a:off x="3702967" y="1644364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使用类似自旋锁设计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DFDFF8-5100-D749-A977-5459C128E046}"/>
              </a:ext>
            </a:extLst>
          </p:cNvPr>
          <p:cNvSpPr/>
          <p:nvPr/>
        </p:nvSpPr>
        <p:spPr>
          <a:xfrm>
            <a:off x="3702967" y="2182308"/>
            <a:ext cx="209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加锁</a:t>
            </a:r>
            <a:r>
              <a:rPr lang="en-US" altLang="zh-CN">
                <a:solidFill>
                  <a:schemeClr val="accent1"/>
                </a:solidFill>
              </a:rPr>
              <a:t>/</a:t>
            </a:r>
            <a:r>
              <a:rPr lang="zh-CN" altLang="en-US">
                <a:solidFill>
                  <a:schemeClr val="accent1"/>
                </a:solidFill>
              </a:rPr>
              <a:t>放锁流程简单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834B84-582A-1C42-9916-DB9CEADCF0A8}"/>
              </a:ext>
            </a:extLst>
          </p:cNvPr>
          <p:cNvSpPr/>
          <p:nvPr/>
        </p:nvSpPr>
        <p:spPr>
          <a:xfrm>
            <a:off x="3702967" y="3163361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竞争程度高：慢速路径</a:t>
            </a:r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4F7038-812D-6244-A4A7-1AAC1E5C1825}"/>
              </a:ext>
            </a:extLst>
          </p:cNvPr>
          <p:cNvSpPr/>
          <p:nvPr/>
        </p:nvSpPr>
        <p:spPr>
          <a:xfrm>
            <a:off x="3702967" y="3780457"/>
            <a:ext cx="23134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使用类似</a:t>
            </a:r>
            <a:r>
              <a:rPr lang="en-US" altLang="zh-CN"/>
              <a:t>MCS</a:t>
            </a:r>
            <a:r>
              <a:rPr lang="zh-CN" altLang="en-US"/>
              <a:t>锁设计</a:t>
            </a:r>
            <a:endParaRPr lang="en-C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5F77C6-3A62-AB4A-9305-C56C35E27AE4}"/>
              </a:ext>
            </a:extLst>
          </p:cNvPr>
          <p:cNvSpPr/>
          <p:nvPr/>
        </p:nvSpPr>
        <p:spPr>
          <a:xfrm>
            <a:off x="3702967" y="439755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chemeClr val="accent1"/>
                </a:solidFill>
              </a:rPr>
              <a:t>可扩展</a:t>
            </a:r>
            <a:r>
              <a:rPr lang="zh-CN" altLang="en-US">
                <a:solidFill>
                  <a:schemeClr val="accent1"/>
                </a:solidFill>
              </a:rPr>
              <a:t>性好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6AF251-E405-2442-8B0E-C7FDF1BA5FA4}"/>
              </a:ext>
            </a:extLst>
          </p:cNvPr>
          <p:cNvSpPr/>
          <p:nvPr/>
        </p:nvSpPr>
        <p:spPr>
          <a:xfrm>
            <a:off x="205425" y="4952494"/>
            <a:ext cx="24553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i="1" dirty="0"/>
              <a:t>*</a:t>
            </a:r>
            <a:r>
              <a:rPr lang="en-US" sz="1200" i="1" dirty="0" err="1"/>
              <a:t>qspinlock</a:t>
            </a:r>
            <a:r>
              <a:rPr lang="en-US" sz="1200" i="1" dirty="0"/>
              <a:t>: Introducing a 4-byte </a:t>
            </a:r>
            <a:br>
              <a:rPr lang="en-US" sz="1200" i="1" dirty="0"/>
            </a:br>
            <a:r>
              <a:rPr lang="en-US" sz="1200" i="1" dirty="0"/>
              <a:t>queue spinlock implementation</a:t>
            </a:r>
            <a:r>
              <a:rPr lang="zh-CN" altLang="en-US" sz="1200" i="1" dirty="0"/>
              <a:t> </a:t>
            </a:r>
            <a:br>
              <a:rPr lang="en-US" altLang="zh-CN" sz="1200" i="1" dirty="0"/>
            </a:br>
            <a:r>
              <a:rPr lang="en-US" sz="1200" i="1" dirty="0">
                <a:hlinkClick r:id="rId3"/>
              </a:rPr>
              <a:t>https://lwn.net/Articles/561775/</a:t>
            </a:r>
            <a:endParaRPr lang="en-CN" sz="1200" i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699094-79A9-7E45-A80C-F6257733A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25D4E0-DBA1-7C4B-B766-B6C34C6C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44893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5D096-1A17-1E4E-8D21-64EF1170F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CN"/>
              <a:t>系统软件</a:t>
            </a:r>
            <a:r>
              <a:rPr lang="zh-CN" altLang="en-US"/>
              <a:t>开发者视角下的缓存一致性</a:t>
            </a:r>
            <a:endParaRPr lang="en-CN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D6779851-DBF5-2543-BD0C-83D9571B1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15" y="1287081"/>
            <a:ext cx="7766769" cy="27373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 dirty="0"/>
              <a:t>多核处理器中面对私有高速缓存</a:t>
            </a:r>
            <a:r>
              <a:rPr lang="zh-CN" altLang="en-US" sz="2000" dirty="0"/>
              <a:t>硬件提供</a:t>
            </a:r>
            <a:r>
              <a:rPr lang="zh-CN" altLang="en-US" sz="2000" b="0" dirty="0"/>
              <a:t>的</a:t>
            </a:r>
            <a:r>
              <a:rPr lang="zh-CN" altLang="en-US" sz="2000" dirty="0"/>
              <a:t>正确性</a:t>
            </a:r>
            <a:r>
              <a:rPr lang="zh-CN" altLang="en-US" sz="2000" b="0" dirty="0"/>
              <a:t>设计</a:t>
            </a:r>
            <a:endParaRPr lang="en-US" altLang="zh-CN" sz="2000" b="0" dirty="0"/>
          </a:p>
          <a:p>
            <a:pPr>
              <a:lnSpc>
                <a:spcPct val="150000"/>
              </a:lnSpc>
            </a:pPr>
            <a:r>
              <a:rPr lang="zh-CN" altLang="en-US" sz="2000" b="0" dirty="0"/>
              <a:t>对软件开发者</a:t>
            </a:r>
            <a:r>
              <a:rPr lang="zh-CN" altLang="en-US" sz="2000" dirty="0"/>
              <a:t>透明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000" b="0" dirty="0"/>
              <a:t>系统软件开发者视角：</a:t>
            </a:r>
            <a:endParaRPr lang="en-US" altLang="zh-CN" sz="2000" b="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b="0" dirty="0"/>
              <a:t>多个核心对于</a:t>
            </a:r>
            <a:r>
              <a:rPr lang="zh-CN" altLang="en-US" sz="1800" b="1" dirty="0"/>
              <a:t>同一缓存行</a:t>
            </a:r>
            <a:r>
              <a:rPr lang="zh-CN" altLang="en-US" sz="1800" b="0" dirty="0"/>
              <a:t>的高频竞争将会面临严重的性能开销</a:t>
            </a:r>
            <a:endParaRPr lang="en-US" altLang="zh-CN" sz="1800" b="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b="1" dirty="0"/>
              <a:t>虚假共享（</a:t>
            </a:r>
            <a:r>
              <a:rPr lang="en-US" altLang="zh-CN" sz="1800" b="1" dirty="0"/>
              <a:t>False Sharing</a:t>
            </a:r>
            <a:r>
              <a:rPr lang="zh-CN" altLang="en-US" sz="1800" b="1" dirty="0"/>
              <a:t>）</a:t>
            </a:r>
            <a:r>
              <a:rPr lang="zh-CN" altLang="en-US" sz="1800" dirty="0"/>
              <a:t>在多核情况下是致命的</a:t>
            </a:r>
            <a:endParaRPr lang="en-US" altLang="zh-CN" sz="1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07A40-7351-E641-95F9-2F69E0734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1F9DDE-5264-7F4E-BD0C-56AC73162A64}"/>
              </a:ext>
            </a:extLst>
          </p:cNvPr>
          <p:cNvSpPr/>
          <p:nvPr/>
        </p:nvSpPr>
        <p:spPr>
          <a:xfrm>
            <a:off x="1979712" y="4297660"/>
            <a:ext cx="4680520" cy="6480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DB9B4F-477C-4E44-89F4-CAAC150F094B}"/>
              </a:ext>
            </a:extLst>
          </p:cNvPr>
          <p:cNvSpPr/>
          <p:nvPr/>
        </p:nvSpPr>
        <p:spPr>
          <a:xfrm>
            <a:off x="2339752" y="4409864"/>
            <a:ext cx="639688" cy="42366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B818C0-67CB-EC45-B838-450636B584FC}"/>
              </a:ext>
            </a:extLst>
          </p:cNvPr>
          <p:cNvSpPr/>
          <p:nvPr/>
        </p:nvSpPr>
        <p:spPr>
          <a:xfrm>
            <a:off x="4427984" y="4409864"/>
            <a:ext cx="639688" cy="423664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/>
              <a:t>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1EEDA0-9A2E-1D47-8DD9-8BFC5AFBC709}"/>
              </a:ext>
            </a:extLst>
          </p:cNvPr>
          <p:cNvSpPr/>
          <p:nvPr/>
        </p:nvSpPr>
        <p:spPr>
          <a:xfrm>
            <a:off x="221794" y="4409864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某一缓存行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E17890-3BA6-154A-B46E-808E3FA9FBE0}"/>
              </a:ext>
            </a:extLst>
          </p:cNvPr>
          <p:cNvSpPr/>
          <p:nvPr/>
        </p:nvSpPr>
        <p:spPr>
          <a:xfrm>
            <a:off x="1753598" y="5273241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CPU0</a:t>
            </a:r>
            <a:endParaRPr lang="en-CN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AE3E69-F775-154A-BFC7-774D42871BAA}"/>
              </a:ext>
            </a:extLst>
          </p:cNvPr>
          <p:cNvCxnSpPr>
            <a:stCxn id="9" idx="0"/>
            <a:endCxn id="6" idx="2"/>
          </p:cNvCxnSpPr>
          <p:nvPr/>
        </p:nvCxnSpPr>
        <p:spPr>
          <a:xfrm flipV="1">
            <a:off x="2153708" y="4833528"/>
            <a:ext cx="505888" cy="4397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E6D205A-2CF6-7A48-9455-B8F571FAD972}"/>
              </a:ext>
            </a:extLst>
          </p:cNvPr>
          <p:cNvSpPr/>
          <p:nvPr/>
        </p:nvSpPr>
        <p:spPr>
          <a:xfrm>
            <a:off x="4860032" y="5066174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CPU1</a:t>
            </a:r>
            <a:endParaRPr lang="en-C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DF2C39-D516-174F-8485-0E4202F2373C}"/>
              </a:ext>
            </a:extLst>
          </p:cNvPr>
          <p:cNvCxnSpPr>
            <a:cxnSpLocks/>
            <a:stCxn id="13" idx="0"/>
            <a:endCxn id="7" idx="2"/>
          </p:cNvCxnSpPr>
          <p:nvPr/>
        </p:nvCxnSpPr>
        <p:spPr>
          <a:xfrm flipH="1" flipV="1">
            <a:off x="4747828" y="4833528"/>
            <a:ext cx="512314" cy="2326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0006D9-0FCE-A344-A04E-3899486F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8823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A777-CB92-704F-BC5A-7D281ECC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非</a:t>
            </a:r>
            <a:r>
              <a:rPr lang="zh-CN" altLang="en-US" dirty="0"/>
              <a:t>一致内存访问（</a:t>
            </a:r>
            <a:r>
              <a:rPr lang="en-US" altLang="zh-CN" dirty="0"/>
              <a:t>NUMA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14D1A-03F6-024F-803A-A27F6E1C6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CD33F-70C0-E640-8329-1AC57B0C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6494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32094" cy="900442"/>
          </a:xfrm>
        </p:spPr>
        <p:txBody>
          <a:bodyPr/>
          <a:lstStyle/>
          <a:p>
            <a:r>
              <a:rPr lang="zh-CN" altLang="en-US"/>
              <a:t>互斥锁微基准测试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2CE36-1AC9-764E-8C54-E7428FA19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02DDF-C10F-5A45-9775-1CA8634C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9AED6-9E66-CF45-A90B-BF373B3EF182}"/>
              </a:ext>
            </a:extLst>
          </p:cNvPr>
          <p:cNvSpPr/>
          <p:nvPr/>
        </p:nvSpPr>
        <p:spPr>
          <a:xfrm>
            <a:off x="642392" y="1140730"/>
            <a:ext cx="81617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" pitchFamily="2" charset="0"/>
              </a:rPr>
              <a:t>struct lock *</a:t>
            </a:r>
            <a:r>
              <a:rPr lang="en-US" altLang="zh-CN" dirty="0" err="1">
                <a:latin typeface="Courier" pitchFamily="2" charset="0"/>
              </a:rPr>
              <a:t>glock</a:t>
            </a:r>
            <a:r>
              <a:rPr lang="en-US" altLang="zh-CN" dirty="0">
                <a:latin typeface="Courier" pitchFamily="2" charset="0"/>
              </a:rPr>
              <a:t>;</a:t>
            </a:r>
          </a:p>
          <a:p>
            <a:r>
              <a:rPr lang="en-US" altLang="zh-CN" dirty="0">
                <a:latin typeface="Courier" pitchFamily="2" charset="0"/>
              </a:rPr>
              <a:t>unsigned long	 </a:t>
            </a:r>
            <a:r>
              <a:rPr lang="en-US" altLang="zh-CN" dirty="0" err="1">
                <a:latin typeface="Courier" pitchFamily="2" charset="0"/>
              </a:rPr>
              <a:t>gcnt</a:t>
            </a:r>
            <a:r>
              <a:rPr lang="en-US" altLang="zh-CN" dirty="0">
                <a:latin typeface="Courier" pitchFamily="2" charset="0"/>
              </a:rPr>
              <a:t> = 0;</a:t>
            </a:r>
          </a:p>
          <a:p>
            <a:r>
              <a:rPr lang="en-US" altLang="zh-CN" dirty="0">
                <a:latin typeface="Courier" pitchFamily="2" charset="0"/>
              </a:rPr>
              <a:t>char </a:t>
            </a:r>
            <a:r>
              <a:rPr lang="en-US" altLang="zh-CN" dirty="0" err="1">
                <a:latin typeface="Courier" pitchFamily="2" charset="0"/>
              </a:rPr>
              <a:t>shared_data</a:t>
            </a:r>
            <a:r>
              <a:rPr lang="en-US" altLang="zh-CN" dirty="0">
                <a:latin typeface="Courier" pitchFamily="2" charset="0"/>
              </a:rPr>
              <a:t>[CACHE_LINE_SIZE </a:t>
            </a:r>
            <a:r>
              <a:rPr lang="en-US" altLang="zh-CN" dirty="0">
                <a:solidFill>
                  <a:schemeClr val="accent1"/>
                </a:solidFill>
                <a:highlight>
                  <a:srgbClr val="FFFF00"/>
                </a:highlight>
                <a:latin typeface="Courier" pitchFamily="2" charset="0"/>
              </a:rPr>
              <a:t>* 10</a:t>
            </a:r>
            <a:r>
              <a:rPr lang="en-US" altLang="zh-CN" dirty="0">
                <a:latin typeface="Courier" pitchFamily="2" charset="0"/>
              </a:rPr>
              <a:t>];</a:t>
            </a:r>
          </a:p>
          <a:p>
            <a:r>
              <a:rPr lang="en-US" altLang="zh-CN" dirty="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dirty="0">
                <a:latin typeface="Courier" pitchFamily="2" charset="0"/>
              </a:rPr>
              <a:t> *</a:t>
            </a:r>
            <a:r>
              <a:rPr lang="en-US" altLang="zh-CN" dirty="0" err="1">
                <a:solidFill>
                  <a:srgbClr val="FF2F92"/>
                </a:solidFill>
                <a:latin typeface="Courier" pitchFamily="2" charset="0"/>
              </a:rPr>
              <a:t>thread_routine</a:t>
            </a:r>
            <a:r>
              <a:rPr lang="en-US" altLang="zh-CN" dirty="0">
                <a:latin typeface="Courier" pitchFamily="2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Courier" pitchFamily="2" charset="0"/>
              </a:rPr>
              <a:t>void *</a:t>
            </a:r>
            <a:r>
              <a:rPr lang="en-US" altLang="zh-CN" dirty="0" err="1">
                <a:solidFill>
                  <a:srgbClr val="00B050"/>
                </a:solidFill>
                <a:latin typeface="Courier" pitchFamily="2" charset="0"/>
              </a:rPr>
              <a:t>arg</a:t>
            </a:r>
            <a:r>
              <a:rPr lang="en-US" altLang="zh-CN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	while(1) {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glock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/* Critical Section */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 err="1">
                <a:latin typeface="Courier" pitchFamily="2" charset="0"/>
              </a:rPr>
              <a:t>gcnt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gcnt</a:t>
            </a:r>
            <a:r>
              <a:rPr lang="en-US" dirty="0">
                <a:latin typeface="Courier" pitchFamily="2" charset="0"/>
              </a:rPr>
              <a:t> + 1;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/* Read Modify Write </a:t>
            </a: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10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 * shared </a:t>
            </a:r>
            <a:r>
              <a:rPr lang="en-US" dirty="0" err="1">
                <a:solidFill>
                  <a:srgbClr val="0070C0"/>
                </a:solidFill>
                <a:latin typeface="Courier" pitchFamily="2" charset="0"/>
              </a:rPr>
              <a:t>cacheline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 */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 err="1">
                <a:latin typeface="Courier" pitchFamily="2" charset="0"/>
              </a:rPr>
              <a:t>visit_shared_data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shared_data</a:t>
            </a:r>
            <a:r>
              <a:rPr lang="en-US" dirty="0">
                <a:latin typeface="Courier" pitchFamily="2" charset="0"/>
              </a:rPr>
              <a:t>, </a:t>
            </a:r>
            <a:r>
              <a:rPr lang="en-US" dirty="0">
                <a:solidFill>
                  <a:schemeClr val="accent1"/>
                </a:solidFill>
                <a:highlight>
                  <a:srgbClr val="FFFF00"/>
                </a:highlight>
                <a:latin typeface="Courier" pitchFamily="2" charset="0"/>
              </a:rPr>
              <a:t>10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glock</a:t>
            </a:r>
            <a:r>
              <a:rPr lang="en-US" dirty="0">
                <a:latin typeface="Courier" pitchFamily="2" charset="0"/>
              </a:rPr>
              <a:t>);</a:t>
            </a:r>
            <a:endParaRPr lang="en-US" dirty="0">
              <a:solidFill>
                <a:srgbClr val="0070C0"/>
              </a:solidFill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		interval();</a:t>
            </a:r>
          </a:p>
          <a:p>
            <a:r>
              <a:rPr lang="en-US" dirty="0">
                <a:latin typeface="Courier" pitchFamily="2" charset="0"/>
              </a:rPr>
              <a:t>	}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E8F71-D558-D644-B642-A1D87B73B88F}"/>
              </a:ext>
            </a:extLst>
          </p:cNvPr>
          <p:cNvSpPr txBox="1"/>
          <p:nvPr/>
        </p:nvSpPr>
        <p:spPr>
          <a:xfrm>
            <a:off x="6444208" y="1140730"/>
            <a:ext cx="2242592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CN"/>
              <a:t>在临界区</a:t>
            </a:r>
            <a:r>
              <a:rPr lang="zh-CN" altLang="en-US"/>
              <a:t>访问更多缓存行，是否会影响</a:t>
            </a:r>
            <a:r>
              <a:rPr lang="en-US" altLang="zh-CN"/>
              <a:t>mcs</a:t>
            </a:r>
            <a:r>
              <a:rPr lang="zh-CN" altLang="en-US"/>
              <a:t>锁的可扩展性？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42303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DA7F-F9D6-AF45-9B0B-C46B766F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MCS</a:t>
            </a:r>
            <a:r>
              <a:rPr lang="zh-CN" altLang="en-CN" dirty="0"/>
              <a:t>锁</a:t>
            </a:r>
            <a:r>
              <a:rPr lang="zh-CN" altLang="en-US" dirty="0"/>
              <a:t>在</a:t>
            </a:r>
            <a:r>
              <a:rPr lang="en-US" altLang="zh-CN" dirty="0"/>
              <a:t>NUMA</a:t>
            </a:r>
            <a:r>
              <a:rPr lang="zh-CN" altLang="en-US" dirty="0"/>
              <a:t>上的表现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9C3BC-7A82-1347-8DF1-B5DA25B1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BACD-1B8E-D64F-BD99-0DE2E3CB8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533BCB-73F5-9B40-A4FB-CF0B2ADC2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057300"/>
            <a:ext cx="5917871" cy="39452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9B3A3-2B00-A54E-AF7D-0583138BC41F}"/>
              </a:ext>
            </a:extLst>
          </p:cNvPr>
          <p:cNvSpPr txBox="1"/>
          <p:nvPr/>
        </p:nvSpPr>
        <p:spPr>
          <a:xfrm>
            <a:off x="683568" y="4720339"/>
            <a:ext cx="2267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华为</a:t>
            </a:r>
            <a:r>
              <a:rPr lang="zh-CN" altLang="en-CN" sz="1600" b="1" dirty="0"/>
              <a:t>鲲鹏服务器</a:t>
            </a:r>
            <a:endParaRPr lang="en-CN" sz="16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DBFD2-88F2-E647-8034-C363F9A08836}"/>
              </a:ext>
            </a:extLst>
          </p:cNvPr>
          <p:cNvSpPr/>
          <p:nvPr/>
        </p:nvSpPr>
        <p:spPr>
          <a:xfrm>
            <a:off x="6134584" y="2565217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与之前测试有两点不同：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0E492-25E7-0A46-A3E6-5A2E333BDA63}"/>
              </a:ext>
            </a:extLst>
          </p:cNvPr>
          <p:cNvSpPr/>
          <p:nvPr/>
        </p:nvSpPr>
        <p:spPr>
          <a:xfrm>
            <a:off x="6313520" y="3033528"/>
            <a:ext cx="2365953" cy="17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临界区访问共享缓存行数量 </a:t>
            </a:r>
            <a:r>
              <a:rPr lang="en-US" altLang="zh-CN" dirty="0"/>
              <a:t>1 =&gt;10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测试核心数扩大到</a:t>
            </a:r>
            <a:r>
              <a:rPr lang="en-US" altLang="zh-CN" dirty="0"/>
              <a:t>64</a:t>
            </a:r>
            <a:r>
              <a:rPr lang="zh-CN" altLang="en-US" dirty="0"/>
              <a:t>个核心</a:t>
            </a:r>
            <a:endParaRPr lang="en-C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DC1F00-4ECD-5149-9B42-7FD400D4F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080" y="256356"/>
            <a:ext cx="2700299" cy="18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9470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FE6A-AE15-9D46-998F-0D17AFBC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鲲鹏服务器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3E9ECD-4966-AD4E-AF2B-6CD3716C0A42}"/>
              </a:ext>
            </a:extLst>
          </p:cNvPr>
          <p:cNvSpPr/>
          <p:nvPr/>
        </p:nvSpPr>
        <p:spPr>
          <a:xfrm>
            <a:off x="2863840" y="5017740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常见于多处理器（多插槽）机器</a:t>
            </a:r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9D02C-B1CE-3346-B7FD-3E78779E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057300"/>
            <a:ext cx="3831734" cy="3217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A5E042-F33F-D543-AA89-99C655E4D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87" y="2086780"/>
            <a:ext cx="1224136" cy="708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FC384D-125B-2749-BDA0-903F172AC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044252"/>
            <a:ext cx="708710" cy="7087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B62522-9844-5747-B624-AEAEDEBB2AFD}"/>
              </a:ext>
            </a:extLst>
          </p:cNvPr>
          <p:cNvSpPr/>
          <p:nvPr/>
        </p:nvSpPr>
        <p:spPr>
          <a:xfrm>
            <a:off x="4437427" y="4323763"/>
            <a:ext cx="3236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华为鲲鹏服务器（</a:t>
            </a:r>
            <a:r>
              <a:rPr lang="en-US" altLang="zh-CN"/>
              <a:t>ARM</a:t>
            </a:r>
            <a:r>
              <a:rPr lang="zh-CN" altLang="en-US"/>
              <a:t>架构）</a:t>
            </a:r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2298A7-6787-7E4F-8EF5-A747C1FE6888}"/>
              </a:ext>
            </a:extLst>
          </p:cNvPr>
          <p:cNvSpPr/>
          <p:nvPr/>
        </p:nvSpPr>
        <p:spPr>
          <a:xfrm>
            <a:off x="4671067" y="1561356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9D00E1-7DEA-5943-ADB8-E163F93470E5}"/>
              </a:ext>
            </a:extLst>
          </p:cNvPr>
          <p:cNvSpPr/>
          <p:nvPr/>
        </p:nvSpPr>
        <p:spPr>
          <a:xfrm>
            <a:off x="4671067" y="3043164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3AAEB-B84C-034C-912A-4A714D4C543B}"/>
              </a:ext>
            </a:extLst>
          </p:cNvPr>
          <p:cNvCxnSpPr>
            <a:stCxn id="11" idx="2"/>
          </p:cNvCxnSpPr>
          <p:nvPr/>
        </p:nvCxnSpPr>
        <p:spPr>
          <a:xfrm flipH="1" flipV="1">
            <a:off x="2863840" y="1453953"/>
            <a:ext cx="1807227" cy="611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D7A99C-98AB-CC4C-9D5D-1627AB70BE21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2863840" y="1561356"/>
            <a:ext cx="1807227" cy="198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79BF2-0063-EA4A-A795-6DD42B559BE2}"/>
              </a:ext>
            </a:extLst>
          </p:cNvPr>
          <p:cNvSpPr/>
          <p:nvPr/>
        </p:nvSpPr>
        <p:spPr>
          <a:xfrm>
            <a:off x="1260629" y="1269287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zh-CN" altLang="en-US"/>
              <a:t>*</a:t>
            </a:r>
            <a:r>
              <a:rPr lang="zh-CN" altLang="en-CN"/>
              <a:t>处理器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7AE3-501F-0444-AEFF-C7DDAF3B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DE937-3926-654B-9953-FC7C9C6A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8280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FE6A-AE15-9D46-998F-0D17AFBC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鲲鹏服务器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3E9ECD-4966-AD4E-AF2B-6CD3716C0A42}"/>
              </a:ext>
            </a:extLst>
          </p:cNvPr>
          <p:cNvSpPr/>
          <p:nvPr/>
        </p:nvSpPr>
        <p:spPr>
          <a:xfrm>
            <a:off x="2863840" y="5017740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常见于多处理器（多插槽）机器</a:t>
            </a:r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9D02C-B1CE-3346-B7FD-3E78779E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057300"/>
            <a:ext cx="3831734" cy="3217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A5E042-F33F-D543-AA89-99C655E4D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87" y="2086780"/>
            <a:ext cx="1224136" cy="708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FC384D-125B-2749-BDA0-903F172AC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044252"/>
            <a:ext cx="708710" cy="7087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B62522-9844-5747-B624-AEAEDEBB2AFD}"/>
              </a:ext>
            </a:extLst>
          </p:cNvPr>
          <p:cNvSpPr/>
          <p:nvPr/>
        </p:nvSpPr>
        <p:spPr>
          <a:xfrm>
            <a:off x="4437427" y="4323763"/>
            <a:ext cx="3236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华为鲲鹏服务器（</a:t>
            </a:r>
            <a:r>
              <a:rPr lang="en-US" altLang="zh-CN"/>
              <a:t>ARM</a:t>
            </a:r>
            <a:r>
              <a:rPr lang="zh-CN" altLang="en-US"/>
              <a:t>架构）</a:t>
            </a:r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2298A7-6787-7E4F-8EF5-A747C1FE6888}"/>
              </a:ext>
            </a:extLst>
          </p:cNvPr>
          <p:cNvSpPr/>
          <p:nvPr/>
        </p:nvSpPr>
        <p:spPr>
          <a:xfrm>
            <a:off x="4671067" y="1561356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9D00E1-7DEA-5943-ADB8-E163F93470E5}"/>
              </a:ext>
            </a:extLst>
          </p:cNvPr>
          <p:cNvSpPr/>
          <p:nvPr/>
        </p:nvSpPr>
        <p:spPr>
          <a:xfrm>
            <a:off x="4671067" y="3043164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3AAEB-B84C-034C-912A-4A714D4C543B}"/>
              </a:ext>
            </a:extLst>
          </p:cNvPr>
          <p:cNvCxnSpPr>
            <a:stCxn id="11" idx="2"/>
          </p:cNvCxnSpPr>
          <p:nvPr/>
        </p:nvCxnSpPr>
        <p:spPr>
          <a:xfrm flipH="1" flipV="1">
            <a:off x="2863840" y="1453953"/>
            <a:ext cx="1807227" cy="611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D7A99C-98AB-CC4C-9D5D-1627AB70BE21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2863840" y="1561356"/>
            <a:ext cx="1807227" cy="198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79BF2-0063-EA4A-A795-6DD42B559BE2}"/>
              </a:ext>
            </a:extLst>
          </p:cNvPr>
          <p:cNvSpPr/>
          <p:nvPr/>
        </p:nvSpPr>
        <p:spPr>
          <a:xfrm>
            <a:off x="1260629" y="1269287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zh-CN" altLang="en-US"/>
              <a:t>*</a:t>
            </a:r>
            <a:r>
              <a:rPr lang="zh-CN" altLang="en-CN"/>
              <a:t>处理器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D8E2A2-9159-244A-BCB3-66F0BCDB896A}"/>
              </a:ext>
            </a:extLst>
          </p:cNvPr>
          <p:cNvSpPr/>
          <p:nvPr/>
        </p:nvSpPr>
        <p:spPr>
          <a:xfrm>
            <a:off x="4342373" y="1395361"/>
            <a:ext cx="1323203" cy="4143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8678CE-C243-8A4A-A2A3-AAB7726FB956}"/>
              </a:ext>
            </a:extLst>
          </p:cNvPr>
          <p:cNvSpPr/>
          <p:nvPr/>
        </p:nvSpPr>
        <p:spPr>
          <a:xfrm>
            <a:off x="4328804" y="2302638"/>
            <a:ext cx="1323203" cy="4143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A2317B-709A-CD43-B6F9-94863E28A980}"/>
              </a:ext>
            </a:extLst>
          </p:cNvPr>
          <p:cNvSpPr/>
          <p:nvPr/>
        </p:nvSpPr>
        <p:spPr>
          <a:xfrm>
            <a:off x="4364354" y="2875728"/>
            <a:ext cx="1323203" cy="4143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AAC44C-A90C-9145-8E79-B2B05F593B1D}"/>
              </a:ext>
            </a:extLst>
          </p:cNvPr>
          <p:cNvSpPr/>
          <p:nvPr/>
        </p:nvSpPr>
        <p:spPr>
          <a:xfrm>
            <a:off x="4364354" y="3844101"/>
            <a:ext cx="1323203" cy="4143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A80DD5-8A91-5C42-BDB8-791AF1DF05AD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555776" y="1602536"/>
            <a:ext cx="1786597" cy="183102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F913AE5-22FC-064D-9000-C3FF1ECF91CC}"/>
              </a:ext>
            </a:extLst>
          </p:cNvPr>
          <p:cNvCxnSpPr>
            <a:cxnSpLocks/>
          </p:cNvCxnSpPr>
          <p:nvPr/>
        </p:nvCxnSpPr>
        <p:spPr>
          <a:xfrm flipH="1">
            <a:off x="2699792" y="2569468"/>
            <a:ext cx="1629014" cy="86409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405B5F-AA6E-4045-BA66-26CC835D09CE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2699792" y="3082903"/>
            <a:ext cx="1664562" cy="46431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0265E0-3687-3842-8270-C4851E63896C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2699792" y="3649588"/>
            <a:ext cx="1664562" cy="40168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CB7CBB9-200E-5A4D-93B3-230DBC23F530}"/>
              </a:ext>
            </a:extLst>
          </p:cNvPr>
          <p:cNvSpPr/>
          <p:nvPr/>
        </p:nvSpPr>
        <p:spPr>
          <a:xfrm>
            <a:off x="1334551" y="332295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内存条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C0152-7666-614D-B465-4436A11DB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81421-0836-E240-AA9D-EB59184B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8066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FE6A-AE15-9D46-998F-0D17AFBC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非一致</a:t>
            </a:r>
            <a:r>
              <a:rPr lang="zh-CN" altLang="en-US"/>
              <a:t>内存访问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36119F-2C27-C94C-A610-12A6D50B1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20825"/>
            <a:ext cx="7259884" cy="28733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3E9ECD-4966-AD4E-AF2B-6CD3716C0A42}"/>
              </a:ext>
            </a:extLst>
          </p:cNvPr>
          <p:cNvSpPr/>
          <p:nvPr/>
        </p:nvSpPr>
        <p:spPr>
          <a:xfrm>
            <a:off x="251520" y="4890308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常见于多处理器（多插槽）机器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6D9A01-37CF-9E43-B849-81CBD8E6BA26}"/>
              </a:ext>
            </a:extLst>
          </p:cNvPr>
          <p:cNvSpPr/>
          <p:nvPr/>
        </p:nvSpPr>
        <p:spPr>
          <a:xfrm>
            <a:off x="2013460" y="4435936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避免单内存控制器成为瓶颈，减少内存访问距离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C2306-6025-FB4A-99B9-5AEE76785839}"/>
              </a:ext>
            </a:extLst>
          </p:cNvPr>
          <p:cNvSpPr/>
          <p:nvPr/>
        </p:nvSpPr>
        <p:spPr>
          <a:xfrm>
            <a:off x="3667840" y="4890308"/>
            <a:ext cx="5357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单处理器众核系统也有可能使用，如</a:t>
            </a:r>
            <a:r>
              <a:rPr lang="en-US" altLang="zh-CN" dirty="0"/>
              <a:t>Intel Xeon Phi</a:t>
            </a:r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926D3F-B645-BE41-B87F-128ADFC29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E566C-6775-F34A-8E19-1A0BA0EE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931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6AD-0241-CB43-AD2D-8E167E7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Intel</a:t>
            </a:r>
            <a:r>
              <a:rPr lang="zh-CN" altLang="en-CN"/>
              <a:t>与</a:t>
            </a:r>
            <a:r>
              <a:rPr lang="en-US" altLang="zh-CN"/>
              <a:t>AMD</a:t>
            </a:r>
            <a:r>
              <a:rPr lang="zh-CN" altLang="en-US"/>
              <a:t>的</a:t>
            </a:r>
            <a:r>
              <a:rPr lang="en-US" altLang="zh-CN"/>
              <a:t>NUMA</a:t>
            </a:r>
            <a:r>
              <a:rPr lang="zh-CN" altLang="en-US"/>
              <a:t>系统架构与特性</a:t>
            </a:r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1BC6B1-34EE-2F44-A7C8-ED435197A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63927"/>
            <a:ext cx="3384376" cy="2659153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49189805-120C-A942-8813-B3E202202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259" y="1460458"/>
            <a:ext cx="4105882" cy="30049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F505B0-987B-AE40-ABA7-54BCFC312CC0}"/>
              </a:ext>
            </a:extLst>
          </p:cNvPr>
          <p:cNvSpPr txBox="1"/>
          <p:nvPr/>
        </p:nvSpPr>
        <p:spPr>
          <a:xfrm>
            <a:off x="380020" y="4513684"/>
            <a:ext cx="353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latin typeface="Courier" pitchFamily="2" charset="0"/>
              </a:rPr>
              <a:t>Intel</a:t>
            </a:r>
            <a:r>
              <a:rPr lang="zh-CN" altLang="en-CN" dirty="0">
                <a:latin typeface="Courier" pitchFamily="2" charset="0"/>
              </a:rPr>
              <a:t>与</a:t>
            </a:r>
            <a:r>
              <a:rPr lang="en-US" altLang="zh-CN" dirty="0">
                <a:latin typeface="Courier" pitchFamily="2" charset="0"/>
              </a:rPr>
              <a:t>AMD</a:t>
            </a:r>
            <a:r>
              <a:rPr lang="zh-CN" altLang="en-US" dirty="0">
                <a:latin typeface="Courier" pitchFamily="2" charset="0"/>
              </a:rPr>
              <a:t>多插槽</a:t>
            </a:r>
            <a:r>
              <a:rPr lang="en-US" altLang="zh-CN" dirty="0">
                <a:latin typeface="Courier" pitchFamily="2" charset="0"/>
              </a:rPr>
              <a:t>NUMA</a:t>
            </a:r>
            <a:r>
              <a:rPr lang="zh-CN" altLang="en-US" dirty="0">
                <a:latin typeface="Courier" pitchFamily="2" charset="0"/>
              </a:rPr>
              <a:t>架构</a:t>
            </a:r>
            <a:endParaRPr lang="en-CN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7A485-D7F3-1242-9034-CAA783357E25}"/>
              </a:ext>
            </a:extLst>
          </p:cNvPr>
          <p:cNvSpPr txBox="1"/>
          <p:nvPr/>
        </p:nvSpPr>
        <p:spPr>
          <a:xfrm>
            <a:off x="4572000" y="4513684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latin typeface="Courier" pitchFamily="2" charset="0"/>
              </a:rPr>
              <a:t>Intel</a:t>
            </a:r>
            <a:r>
              <a:rPr lang="zh-CN" altLang="en-CN">
                <a:latin typeface="Courier" pitchFamily="2" charset="0"/>
              </a:rPr>
              <a:t>与</a:t>
            </a:r>
            <a:r>
              <a:rPr lang="en-US" altLang="zh-CN">
                <a:latin typeface="Courier" pitchFamily="2" charset="0"/>
              </a:rPr>
              <a:t>AMD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NUMA</a:t>
            </a:r>
            <a:r>
              <a:rPr lang="zh-CN" altLang="en-US">
                <a:latin typeface="Courier" pitchFamily="2" charset="0"/>
              </a:rPr>
              <a:t>访存时延特性</a:t>
            </a:r>
            <a:endParaRPr lang="en-CN">
              <a:latin typeface="Courier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F0A6CD-1EFD-3044-AC86-33934FA31CC3}"/>
              </a:ext>
            </a:extLst>
          </p:cNvPr>
          <p:cNvCxnSpPr>
            <a:cxnSpLocks/>
          </p:cNvCxnSpPr>
          <p:nvPr/>
        </p:nvCxnSpPr>
        <p:spPr>
          <a:xfrm>
            <a:off x="1115616" y="2857500"/>
            <a:ext cx="5040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6F928BA-55B4-C44F-A567-84DFDA8379BA}"/>
              </a:ext>
            </a:extLst>
          </p:cNvPr>
          <p:cNvSpPr/>
          <p:nvPr/>
        </p:nvSpPr>
        <p:spPr>
          <a:xfrm>
            <a:off x="341045" y="3020584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0-hop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FD451-D6AD-1140-8846-A294DE2AE776}"/>
              </a:ext>
            </a:extLst>
          </p:cNvPr>
          <p:cNvSpPr/>
          <p:nvPr/>
        </p:nvSpPr>
        <p:spPr>
          <a:xfrm>
            <a:off x="980358" y="286156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1-hop</a:t>
            </a:r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C8D7F2-7482-6944-9B5C-FF46F93C72E0}"/>
              </a:ext>
            </a:extLst>
          </p:cNvPr>
          <p:cNvCxnSpPr>
            <a:cxnSpLocks/>
          </p:cNvCxnSpPr>
          <p:nvPr/>
        </p:nvCxnSpPr>
        <p:spPr>
          <a:xfrm flipV="1">
            <a:off x="683568" y="2262368"/>
            <a:ext cx="0" cy="5951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BEAF7B-D6F2-8E45-819C-C9E93D696810}"/>
              </a:ext>
            </a:extLst>
          </p:cNvPr>
          <p:cNvCxnSpPr>
            <a:cxnSpLocks/>
          </p:cNvCxnSpPr>
          <p:nvPr/>
        </p:nvCxnSpPr>
        <p:spPr>
          <a:xfrm flipV="1">
            <a:off x="696576" y="1921396"/>
            <a:ext cx="419040" cy="451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E01D861-AA99-9B41-B489-F4C53B130B32}"/>
              </a:ext>
            </a:extLst>
          </p:cNvPr>
          <p:cNvSpPr/>
          <p:nvPr/>
        </p:nvSpPr>
        <p:spPr>
          <a:xfrm>
            <a:off x="0" y="1890280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2-hop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9FE1F4-12DF-CF48-B298-DFE576F27701}"/>
              </a:ext>
            </a:extLst>
          </p:cNvPr>
          <p:cNvSpPr/>
          <p:nvPr/>
        </p:nvSpPr>
        <p:spPr>
          <a:xfrm>
            <a:off x="1417984" y="487372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结构复杂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D6792E-8E92-0C48-9442-52D5A986CCC7}"/>
              </a:ext>
            </a:extLst>
          </p:cNvPr>
          <p:cNvSpPr/>
          <p:nvPr/>
        </p:nvSpPr>
        <p:spPr>
          <a:xfrm>
            <a:off x="5422121" y="4873724"/>
            <a:ext cx="2951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跳数</a:t>
            </a:r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(hop)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越多，延迟越高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1D3FF-A663-4C46-ADB5-42A2A0523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0457A-300B-6E44-A578-D445B54C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707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6AD-0241-CB43-AD2D-8E167E7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Intel</a:t>
            </a:r>
            <a:r>
              <a:rPr lang="zh-CN" altLang="en-CN"/>
              <a:t>与</a:t>
            </a:r>
            <a:r>
              <a:rPr lang="en-US" altLang="zh-CN"/>
              <a:t>AMD</a:t>
            </a:r>
            <a:r>
              <a:rPr lang="zh-CN" altLang="en-US"/>
              <a:t>的</a:t>
            </a:r>
            <a:r>
              <a:rPr lang="en-US" altLang="zh-CN"/>
              <a:t>NUMA</a:t>
            </a:r>
            <a:r>
              <a:rPr lang="zh-CN" altLang="en-US"/>
              <a:t>系统架构与特性</a:t>
            </a:r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7A485-D7F3-1242-9034-CAA783357E25}"/>
              </a:ext>
            </a:extLst>
          </p:cNvPr>
          <p:cNvSpPr txBox="1"/>
          <p:nvPr/>
        </p:nvSpPr>
        <p:spPr>
          <a:xfrm>
            <a:off x="2375756" y="4415732"/>
            <a:ext cx="45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latin typeface="Courier" pitchFamily="2" charset="0"/>
              </a:rPr>
              <a:t>Intel</a:t>
            </a:r>
            <a:r>
              <a:rPr lang="zh-CN" altLang="en-CN" b="1" dirty="0">
                <a:latin typeface="Courier" pitchFamily="2" charset="0"/>
              </a:rPr>
              <a:t>与</a:t>
            </a:r>
            <a:r>
              <a:rPr lang="en-US" altLang="zh-CN" b="1" dirty="0">
                <a:latin typeface="Courier" pitchFamily="2" charset="0"/>
              </a:rPr>
              <a:t>AMD</a:t>
            </a:r>
            <a:r>
              <a:rPr lang="zh-CN" altLang="en-US" b="1" dirty="0">
                <a:latin typeface="Courier" pitchFamily="2" charset="0"/>
              </a:rPr>
              <a:t> </a:t>
            </a:r>
            <a:r>
              <a:rPr lang="en-US" altLang="zh-CN" b="1" dirty="0">
                <a:latin typeface="Courier" pitchFamily="2" charset="0"/>
              </a:rPr>
              <a:t>NUMA</a:t>
            </a:r>
            <a:r>
              <a:rPr lang="zh-CN" altLang="en-US" b="1" dirty="0">
                <a:latin typeface="Courier" pitchFamily="2" charset="0"/>
              </a:rPr>
              <a:t>访存带宽特性（</a:t>
            </a:r>
            <a:r>
              <a:rPr lang="en-US" altLang="zh-CN" b="1" dirty="0">
                <a:latin typeface="Courier" pitchFamily="2" charset="0"/>
              </a:rPr>
              <a:t>MB/s)</a:t>
            </a:r>
            <a:endParaRPr lang="en-CN" b="1">
              <a:latin typeface="Courier" pitchFamily="2" charset="0"/>
            </a:endParaRP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8DD72B3-3BAF-5D49-8F94-5A0C59689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114602"/>
            <a:ext cx="7056784" cy="32295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AF89DB-928E-4C44-A801-27052819A803}"/>
              </a:ext>
            </a:extLst>
          </p:cNvPr>
          <p:cNvSpPr/>
          <p:nvPr/>
        </p:nvSpPr>
        <p:spPr>
          <a:xfrm>
            <a:off x="3440921" y="492763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跳数越多，带宽受限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EC91D-0BE0-DB43-BACD-A1D847622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B43D5-732D-7745-887D-3216B2CD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5152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NUMA</a:t>
            </a:r>
            <a:r>
              <a:rPr lang="zh-CN" altLang="en-US"/>
              <a:t>环境中新的挑战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3A063-56B6-C947-8460-71C4D4966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81046"/>
            <a:ext cx="2908300" cy="3886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7265CF-244E-DC4E-907B-5B41BBB63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346" y="1237598"/>
            <a:ext cx="5032534" cy="39541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46EA69-C482-A743-8DBA-A7C0A07C1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2857500"/>
            <a:ext cx="432048" cy="5023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0F2AC07-AC26-4C4C-B682-2EDD76720D2D}"/>
              </a:ext>
            </a:extLst>
          </p:cNvPr>
          <p:cNvSpPr/>
          <p:nvPr/>
        </p:nvSpPr>
        <p:spPr>
          <a:xfrm>
            <a:off x="4427984" y="3145532"/>
            <a:ext cx="7200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0DE05-0028-0840-81AB-9997B6BA0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69CE9-5659-3A4A-B3AF-9E6C64DB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98680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NUMA</a:t>
            </a:r>
            <a:r>
              <a:rPr lang="zh-CN" altLang="en-US"/>
              <a:t>环境中新的挑战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3A063-56B6-C947-8460-71C4D4966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81046"/>
            <a:ext cx="2908300" cy="3886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7265CF-244E-DC4E-907B-5B41BBB63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346" y="1237598"/>
            <a:ext cx="5032534" cy="39541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46EA69-C482-A743-8DBA-A7C0A07C1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414" y="1381046"/>
            <a:ext cx="432048" cy="5023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7E370A-F7FC-7B42-85C7-42B8178E77C1}"/>
              </a:ext>
            </a:extLst>
          </p:cNvPr>
          <p:cNvSpPr/>
          <p:nvPr/>
        </p:nvSpPr>
        <p:spPr>
          <a:xfrm>
            <a:off x="6164398" y="1966445"/>
            <a:ext cx="7200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8EB80-AB9E-9A44-A146-1D6131A74647}"/>
              </a:ext>
            </a:extLst>
          </p:cNvPr>
          <p:cNvSpPr/>
          <p:nvPr/>
        </p:nvSpPr>
        <p:spPr>
          <a:xfrm>
            <a:off x="611563" y="4839588"/>
            <a:ext cx="8208909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即使在</a:t>
            </a:r>
            <a:r>
              <a:rPr lang="en-US" altLang="zh-CN"/>
              <a:t>cc-NUMA</a:t>
            </a:r>
            <a:r>
              <a:rPr lang="zh-CN" altLang="en-US"/>
              <a:t>中没有出现缓存失效</a:t>
            </a:r>
            <a:r>
              <a:rPr lang="en-US" altLang="zh-CN"/>
              <a:t> </a:t>
            </a:r>
            <a:r>
              <a:rPr lang="zh-CN" altLang="en-US" b="1"/>
              <a:t>跨结点的缓存一致性协议开销巨大</a:t>
            </a:r>
            <a:endParaRPr lang="en-C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D647AF-2568-F143-BFCE-9DB32D987629}"/>
              </a:ext>
            </a:extLst>
          </p:cNvPr>
          <p:cNvSpPr/>
          <p:nvPr/>
        </p:nvSpPr>
        <p:spPr>
          <a:xfrm>
            <a:off x="850196" y="2497460"/>
            <a:ext cx="2679928" cy="9361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10940C-2476-0B41-BB03-CF37B949DA14}"/>
              </a:ext>
            </a:extLst>
          </p:cNvPr>
          <p:cNvSpPr/>
          <p:nvPr/>
        </p:nvSpPr>
        <p:spPr>
          <a:xfrm>
            <a:off x="2423854" y="960097"/>
            <a:ext cx="19302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dirty="0">
                <a:solidFill>
                  <a:schemeClr val="accent1"/>
                </a:solidFill>
              </a:rPr>
              <a:t>除了</a:t>
            </a:r>
            <a:r>
              <a:rPr lang="zh-CN" altLang="en-US" dirty="0">
                <a:solidFill>
                  <a:schemeClr val="accent1"/>
                </a:solidFill>
              </a:rPr>
              <a:t>锁的元数据，主要是临界区中访问的共享数据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53DAA1-C948-8046-986A-FB83250132F4}"/>
              </a:ext>
            </a:extLst>
          </p:cNvPr>
          <p:cNvSpPr/>
          <p:nvPr/>
        </p:nvSpPr>
        <p:spPr>
          <a:xfrm>
            <a:off x="5849812" y="508249"/>
            <a:ext cx="3024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/>
              <a:t>Challenge:</a:t>
            </a:r>
            <a:r>
              <a:rPr lang="zh-CN" altLang="en-US" dirty="0"/>
              <a:t> 锁</a:t>
            </a:r>
            <a:r>
              <a:rPr lang="zh-CN" altLang="en-US" b="1" dirty="0"/>
              <a:t>不知道</a:t>
            </a:r>
            <a:r>
              <a:rPr lang="zh-CN" altLang="en-US" dirty="0"/>
              <a:t>临界区中需要访问的内容！</a:t>
            </a:r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AC926-847A-2844-9DC2-2BFF97B25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CD4F9-8894-0345-A91C-5E62D369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49254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716D-0A69-2B40-9BE6-36322326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鲲鹏</a:t>
            </a:r>
            <a:r>
              <a:rPr lang="zh-CN" altLang="en-US"/>
              <a:t>服务器的</a:t>
            </a:r>
            <a:r>
              <a:rPr lang="en-US" altLang="zh-CN"/>
              <a:t>NUMA</a:t>
            </a:r>
            <a:r>
              <a:rPr lang="zh-CN" altLang="en-US"/>
              <a:t>结构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A8DD1-F5B6-A748-9C34-29454137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1D2F2-7395-6145-A9D3-2040C50EE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2A725B-C795-AB4A-B732-FB505BB65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066" y="1417340"/>
            <a:ext cx="3831734" cy="3217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208EB-A1CE-F348-AD70-7716D378E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401" y="2446820"/>
            <a:ext cx="1224136" cy="708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232A52-AF61-EA4F-9360-81D09B1D0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314" y="3404292"/>
            <a:ext cx="708710" cy="7087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F80764-3EFC-9843-A58F-173399E21CD6}"/>
              </a:ext>
            </a:extLst>
          </p:cNvPr>
          <p:cNvSpPr/>
          <p:nvPr/>
        </p:nvSpPr>
        <p:spPr>
          <a:xfrm>
            <a:off x="574198" y="1385815"/>
            <a:ext cx="373076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$ numactl --hardware</a:t>
            </a:r>
          </a:p>
          <a:p>
            <a:r>
              <a:rPr lang="en-CN" sz="1400">
                <a:latin typeface="Courier" pitchFamily="2" charset="0"/>
              </a:rPr>
              <a:t>available: </a:t>
            </a:r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4 nodes</a:t>
            </a:r>
            <a:r>
              <a:rPr lang="en-CN" sz="1400">
                <a:latin typeface="Courier" pitchFamily="2" charset="0"/>
              </a:rPr>
              <a:t> (0-3)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0 </a:t>
            </a:r>
            <a:r>
              <a:rPr lang="en-CN" sz="1400">
                <a:latin typeface="Courier" pitchFamily="2" charset="0"/>
              </a:rPr>
              <a:t>cpus: 0 1 2 3 4 5 6 7 8 9 10 11 12 13 14 15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1 </a:t>
            </a:r>
            <a:r>
              <a:rPr lang="en-CN" sz="1400">
                <a:latin typeface="Courier" pitchFamily="2" charset="0"/>
              </a:rPr>
              <a:t>cpus: 16 17 18 19 20 21 22 23 24 25 26 27 28 29 30 31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2 </a:t>
            </a:r>
            <a:r>
              <a:rPr lang="en-CN" sz="1400">
                <a:latin typeface="Courier" pitchFamily="2" charset="0"/>
              </a:rPr>
              <a:t>cpus: 32 33 34 35 36 37 38 39 40 41 42 43 44 45 46 47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3 </a:t>
            </a:r>
            <a:r>
              <a:rPr lang="en-CN" sz="1400">
                <a:latin typeface="Courier" pitchFamily="2" charset="0"/>
              </a:rPr>
              <a:t>cpus: 48 49 50 51 52 53 54 55 56 57 58 59 60 61 62 63</a:t>
            </a:r>
          </a:p>
          <a:p>
            <a:r>
              <a:rPr lang="en-CN" sz="1400">
                <a:latin typeface="Courier" pitchFamily="2" charset="0"/>
              </a:rPr>
              <a:t>node distances:</a:t>
            </a:r>
          </a:p>
          <a:p>
            <a:r>
              <a:rPr lang="en-CN" sz="1400">
                <a:latin typeface="Courier" pitchFamily="2" charset="0"/>
              </a:rPr>
              <a:t>node   0   1   2   3</a:t>
            </a:r>
          </a:p>
          <a:p>
            <a:r>
              <a:rPr lang="en-CN" sz="1400">
                <a:latin typeface="Courier" pitchFamily="2" charset="0"/>
              </a:rPr>
              <a:t>  0:  10  15  20  20</a:t>
            </a:r>
          </a:p>
          <a:p>
            <a:r>
              <a:rPr lang="en-CN" sz="1400">
                <a:latin typeface="Courier" pitchFamily="2" charset="0"/>
              </a:rPr>
              <a:t>  1:  15  10  20  20</a:t>
            </a:r>
          </a:p>
          <a:p>
            <a:r>
              <a:rPr lang="en-CN" sz="1400">
                <a:latin typeface="Courier" pitchFamily="2" charset="0"/>
              </a:rPr>
              <a:t>  2:  20  20  10  15</a:t>
            </a:r>
          </a:p>
          <a:p>
            <a:r>
              <a:rPr lang="en-CN" sz="1400">
                <a:latin typeface="Courier" pitchFamily="2" charset="0"/>
              </a:rPr>
              <a:t>  3:  20  20  15  10</a:t>
            </a:r>
          </a:p>
        </p:txBody>
      </p:sp>
    </p:spTree>
    <p:extLst>
      <p:ext uri="{BB962C8B-B14F-4D97-AF65-F5344CB8AC3E}">
        <p14:creationId xmlns:p14="http://schemas.microsoft.com/office/powerpoint/2010/main" val="18596118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A777-CB92-704F-BC5A-7D281ECC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Numa</a:t>
            </a:r>
            <a:r>
              <a:rPr lang="en-US" altLang="zh-CN" dirty="0"/>
              <a:t>-aware</a:t>
            </a:r>
            <a:r>
              <a:rPr lang="zh-CN" altLang="en-US" dirty="0"/>
              <a:t>：</a:t>
            </a:r>
            <a:r>
              <a:rPr lang="en-US" altLang="zh-CN" dirty="0"/>
              <a:t>cohort</a:t>
            </a:r>
            <a:r>
              <a:rPr lang="zh-CN" altLang="en-US" dirty="0"/>
              <a:t>锁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14D1A-03F6-024F-803A-A27F6E1C6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CD33F-70C0-E640-8329-1AC57B0C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7957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DA7F-F9D6-AF45-9B0B-C46B766F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MCS</a:t>
            </a:r>
            <a:r>
              <a:rPr lang="zh-CN" altLang="en-CN" dirty="0"/>
              <a:t>锁</a:t>
            </a:r>
            <a:r>
              <a:rPr lang="zh-CN" altLang="en-US" dirty="0"/>
              <a:t>可扩展性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9C3BC-7A82-1347-8DF1-B5DA25B1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BACD-1B8E-D64F-BD99-0DE2E3CB8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533BCB-73F5-9B40-A4FB-CF0B2ADC2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057300"/>
            <a:ext cx="5917871" cy="39452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9B3A3-2B00-A54E-AF7D-0583138BC41F}"/>
              </a:ext>
            </a:extLst>
          </p:cNvPr>
          <p:cNvSpPr txBox="1"/>
          <p:nvPr/>
        </p:nvSpPr>
        <p:spPr>
          <a:xfrm>
            <a:off x="2267744" y="5002547"/>
            <a:ext cx="2267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 b="1"/>
              <a:t>鲲鹏服务器</a:t>
            </a:r>
            <a:endParaRPr lang="en-CN" b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D06690-5801-2C4B-9F85-15395DBBDB62}"/>
              </a:ext>
            </a:extLst>
          </p:cNvPr>
          <p:cNvCxnSpPr/>
          <p:nvPr/>
        </p:nvCxnSpPr>
        <p:spPr>
          <a:xfrm flipV="1">
            <a:off x="2411760" y="1561356"/>
            <a:ext cx="0" cy="3240360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606B70-0328-5D4B-8D44-FBF2B0042776}"/>
              </a:ext>
            </a:extLst>
          </p:cNvPr>
          <p:cNvCxnSpPr/>
          <p:nvPr/>
        </p:nvCxnSpPr>
        <p:spPr>
          <a:xfrm flipV="1">
            <a:off x="3563888" y="1561356"/>
            <a:ext cx="0" cy="3240360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65F753-D7A6-0B4F-BFA5-D51B02E67426}"/>
              </a:ext>
            </a:extLst>
          </p:cNvPr>
          <p:cNvCxnSpPr/>
          <p:nvPr/>
        </p:nvCxnSpPr>
        <p:spPr>
          <a:xfrm flipV="1">
            <a:off x="4716016" y="1561356"/>
            <a:ext cx="0" cy="3240360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13FBC9E-87F6-F34D-A4CF-1C99D86EA339}"/>
              </a:ext>
            </a:extLst>
          </p:cNvPr>
          <p:cNvSpPr/>
          <p:nvPr/>
        </p:nvSpPr>
        <p:spPr>
          <a:xfrm>
            <a:off x="6059944" y="679087"/>
            <a:ext cx="280831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$ numactl --hardware</a:t>
            </a:r>
          </a:p>
          <a:p>
            <a:r>
              <a:rPr lang="en-CN" sz="1400">
                <a:latin typeface="Courier" pitchFamily="2" charset="0"/>
              </a:rPr>
              <a:t>available: </a:t>
            </a:r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4 nodes</a:t>
            </a:r>
            <a:r>
              <a:rPr lang="en-CN" sz="1400">
                <a:latin typeface="Courier" pitchFamily="2" charset="0"/>
              </a:rPr>
              <a:t> (0-3)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0 </a:t>
            </a:r>
            <a:r>
              <a:rPr lang="en-CN" sz="1400">
                <a:latin typeface="Courier" pitchFamily="2" charset="0"/>
              </a:rPr>
              <a:t>cpus: 0 1 2 3 4 5 6 7 8 9 10 11 12 13 14 15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1 </a:t>
            </a:r>
            <a:r>
              <a:rPr lang="en-CN" sz="1400">
                <a:latin typeface="Courier" pitchFamily="2" charset="0"/>
              </a:rPr>
              <a:t>cpus: 16 17 18 19 20 21 22 23 24 25 26 27 28 29 30 31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2 </a:t>
            </a:r>
            <a:r>
              <a:rPr lang="en-CN" sz="1400">
                <a:latin typeface="Courier" pitchFamily="2" charset="0"/>
              </a:rPr>
              <a:t>cpus: 32 33 34 35 36 37 38 39 40 41 42 43 44 45 46 47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3 </a:t>
            </a:r>
            <a:r>
              <a:rPr lang="en-CN" sz="1400">
                <a:latin typeface="Courier" pitchFamily="2" charset="0"/>
              </a:rPr>
              <a:t>cpus: 48 49 50 51 52 53 54 55 56 57 58 59 60 61 62 63</a:t>
            </a:r>
          </a:p>
          <a:p>
            <a:r>
              <a:rPr lang="en-CN" sz="1400">
                <a:latin typeface="Courier" pitchFamily="2" charset="0"/>
              </a:rPr>
              <a:t>node distances:</a:t>
            </a:r>
          </a:p>
          <a:p>
            <a:r>
              <a:rPr lang="en-CN" sz="1400">
                <a:latin typeface="Courier" pitchFamily="2" charset="0"/>
              </a:rPr>
              <a:t>node   0   1   2   3</a:t>
            </a:r>
          </a:p>
          <a:p>
            <a:r>
              <a:rPr lang="en-CN" sz="1400">
                <a:latin typeface="Courier" pitchFamily="2" charset="0"/>
              </a:rPr>
              <a:t>  0:  10  15  20  20</a:t>
            </a:r>
          </a:p>
          <a:p>
            <a:r>
              <a:rPr lang="en-CN" sz="1400">
                <a:latin typeface="Courier" pitchFamily="2" charset="0"/>
              </a:rPr>
              <a:t>  1:  15  10  20  20</a:t>
            </a:r>
          </a:p>
          <a:p>
            <a:r>
              <a:rPr lang="en-CN" sz="1400">
                <a:latin typeface="Courier" pitchFamily="2" charset="0"/>
              </a:rPr>
              <a:t>  2:  20  20  10  15</a:t>
            </a:r>
          </a:p>
          <a:p>
            <a:r>
              <a:rPr lang="en-CN" sz="1400">
                <a:latin typeface="Courier" pitchFamily="2" charset="0"/>
              </a:rPr>
              <a:t>  3:  20  20  15 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563D8-89B1-A741-A21A-9849F73E4020}"/>
              </a:ext>
            </a:extLst>
          </p:cNvPr>
          <p:cNvSpPr/>
          <p:nvPr/>
        </p:nvSpPr>
        <p:spPr>
          <a:xfrm>
            <a:off x="4521127" y="166793"/>
            <a:ext cx="3903633" cy="458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临界区访问共享</a:t>
            </a:r>
            <a:r>
              <a:rPr lang="zh-CN" altLang="en-US" b="1"/>
              <a:t>缓存行数量增加到</a:t>
            </a:r>
            <a:r>
              <a:rPr lang="en-US" altLang="zh-CN" b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147688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NUMA-aware</a:t>
            </a:r>
            <a:r>
              <a:rPr lang="zh-CN" altLang="en-US"/>
              <a:t>设计：以</a:t>
            </a:r>
            <a:r>
              <a:rPr lang="en-US" altLang="zh-CN"/>
              <a:t>cohort</a:t>
            </a:r>
            <a:r>
              <a:rPr lang="zh-CN" altLang="en-US"/>
              <a:t>锁</a:t>
            </a:r>
            <a:r>
              <a:rPr lang="en-US" altLang="zh-CN"/>
              <a:t>*</a:t>
            </a:r>
            <a:r>
              <a:rPr lang="zh-CN" altLang="en-US"/>
              <a:t>为例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D6E6D2-EEFF-B344-9A1D-C7A6BE84E6DA}"/>
              </a:ext>
            </a:extLst>
          </p:cNvPr>
          <p:cNvSpPr/>
          <p:nvPr/>
        </p:nvSpPr>
        <p:spPr>
          <a:xfrm>
            <a:off x="2203403" y="1071856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核心思路：在一段时间内将访存</a:t>
            </a:r>
            <a:r>
              <a:rPr lang="zh-CN" altLang="en-US" b="1"/>
              <a:t>限制在本地</a:t>
            </a:r>
            <a:endParaRPr lang="en-CN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33A8FB-738D-E94F-93F2-1CD7E615F1C1}"/>
              </a:ext>
            </a:extLst>
          </p:cNvPr>
          <p:cNvSpPr/>
          <p:nvPr/>
        </p:nvSpPr>
        <p:spPr>
          <a:xfrm>
            <a:off x="-10599" y="5058633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Dice, David, Virendra J.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Marathe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 </a:t>
            </a:r>
            <a:b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Nir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Shavit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"Lock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cohorting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 general </a:t>
            </a:r>
            <a:b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technique for designing NUMA locks." </a:t>
            </a:r>
            <a:endParaRPr lang="en-CN" sz="1200" i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B8F32B-0D25-0248-AF80-E9562F173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376" y="1613990"/>
            <a:ext cx="1008112" cy="1039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F43CE5-E696-E34D-AC4B-2C681B310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944" y="1674812"/>
            <a:ext cx="2880320" cy="33332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AA4482-832B-3B47-8BD1-A31A705E5392}"/>
              </a:ext>
            </a:extLst>
          </p:cNvPr>
          <p:cNvSpPr/>
          <p:nvPr/>
        </p:nvSpPr>
        <p:spPr>
          <a:xfrm>
            <a:off x="1072323" y="1709982"/>
            <a:ext cx="2262158" cy="87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先获取</a:t>
            </a:r>
            <a:r>
              <a:rPr lang="zh-CN" altLang="en-US" b="1" dirty="0"/>
              <a:t>每结点</a:t>
            </a:r>
            <a:r>
              <a:rPr lang="zh-CN" altLang="en-US" dirty="0"/>
              <a:t>本地锁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再获取全局锁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B3CBC0-490E-024B-B414-D403B8BF0501}"/>
              </a:ext>
            </a:extLst>
          </p:cNvPr>
          <p:cNvSpPr/>
          <p:nvPr/>
        </p:nvSpPr>
        <p:spPr>
          <a:xfrm>
            <a:off x="619226" y="4080915"/>
            <a:ext cx="3168352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全局锁在一段时间内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b="1" dirty="0"/>
              <a:t>只在一个结点内部</a:t>
            </a:r>
            <a:r>
              <a:rPr lang="zh-CN" altLang="en-US" dirty="0"/>
              <a:t>传递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5A4BA9-30E5-3A47-94DF-9E4A79DCB7FF}"/>
              </a:ext>
            </a:extLst>
          </p:cNvPr>
          <p:cNvSpPr/>
          <p:nvPr/>
        </p:nvSpPr>
        <p:spPr>
          <a:xfrm>
            <a:off x="-70021" y="2687699"/>
            <a:ext cx="4546847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成功获取全局锁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释放时将其传递给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b="1" dirty="0"/>
              <a:t>本地等待队列的</a:t>
            </a:r>
            <a:r>
              <a:rPr lang="zh-CN" altLang="en-US" dirty="0"/>
              <a:t>下一位</a:t>
            </a:r>
            <a:endParaRPr lang="en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CCE6CF-2E36-1040-B858-4BCF4A325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01B83-F67F-DF42-A3FE-ED38FEF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5267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NUMA-aware</a:t>
            </a:r>
            <a:r>
              <a:rPr lang="zh-CN" altLang="en-US"/>
              <a:t>设计：以</a:t>
            </a:r>
            <a:r>
              <a:rPr lang="en-US" altLang="zh-CN"/>
              <a:t>cohort</a:t>
            </a:r>
            <a:r>
              <a:rPr lang="zh-CN" altLang="en-US"/>
              <a:t>锁</a:t>
            </a:r>
            <a:r>
              <a:rPr lang="en-US" altLang="zh-CN"/>
              <a:t>*</a:t>
            </a:r>
            <a:r>
              <a:rPr lang="zh-CN" altLang="en-US"/>
              <a:t>为例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A830-B5B7-3E4E-8F4E-A934D1EFB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BE96F-F933-514D-8B8C-7EBFF7C90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47" y="1249704"/>
            <a:ext cx="4154574" cy="3954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4837BD-FC01-A042-80CE-693D4A78D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419811"/>
            <a:ext cx="5032534" cy="3954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8A7366-3DE0-5B40-BDAA-B70A847E7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566" y="3039713"/>
            <a:ext cx="432048" cy="5023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70CA7D-D3D5-D048-B3AE-105C57DB0FC2}"/>
              </a:ext>
            </a:extLst>
          </p:cNvPr>
          <p:cNvSpPr/>
          <p:nvPr/>
        </p:nvSpPr>
        <p:spPr>
          <a:xfrm>
            <a:off x="5049622" y="3327745"/>
            <a:ext cx="7200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  <a:endParaRPr lang="en-CN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07A400DC-A37D-7C42-94A4-F264859C8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00" y="1192524"/>
            <a:ext cx="792088" cy="81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089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NUMA-aware</a:t>
            </a:r>
            <a:r>
              <a:rPr lang="zh-CN" altLang="en-US"/>
              <a:t>设计：以</a:t>
            </a:r>
            <a:r>
              <a:rPr lang="en-US" altLang="zh-CN"/>
              <a:t>cohort</a:t>
            </a:r>
            <a:r>
              <a:rPr lang="zh-CN" altLang="en-US"/>
              <a:t>锁</a:t>
            </a:r>
            <a:r>
              <a:rPr lang="en-US" altLang="zh-CN"/>
              <a:t>*</a:t>
            </a:r>
            <a:r>
              <a:rPr lang="zh-CN" altLang="en-US"/>
              <a:t>为例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A830-B5B7-3E4E-8F4E-A934D1EFB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837BD-FC01-A042-80CE-693D4A78D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419811"/>
            <a:ext cx="5032534" cy="3954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8A7366-3DE0-5B40-BDAA-B70A847E7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385" y="2966349"/>
            <a:ext cx="432048" cy="5023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70CA7D-D3D5-D048-B3AE-105C57DB0FC2}"/>
              </a:ext>
            </a:extLst>
          </p:cNvPr>
          <p:cNvSpPr/>
          <p:nvPr/>
        </p:nvSpPr>
        <p:spPr>
          <a:xfrm>
            <a:off x="6224171" y="3401442"/>
            <a:ext cx="7200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703821-6A17-7E4F-8821-FD910A53C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35" y="1261375"/>
            <a:ext cx="3380763" cy="3912330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DFC526CE-BEBD-3948-95DD-7CC2C5887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00" y="1192524"/>
            <a:ext cx="792088" cy="81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9663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NUMA-aware</a:t>
            </a:r>
            <a:r>
              <a:rPr lang="zh-CN" altLang="en-US"/>
              <a:t>设计：以</a:t>
            </a:r>
            <a:r>
              <a:rPr lang="en-US" altLang="zh-CN"/>
              <a:t>cohort</a:t>
            </a:r>
            <a:r>
              <a:rPr lang="zh-CN" altLang="en-US"/>
              <a:t>锁</a:t>
            </a:r>
            <a:r>
              <a:rPr lang="en-US" altLang="zh-CN"/>
              <a:t>*</a:t>
            </a:r>
            <a:r>
              <a:rPr lang="zh-CN" altLang="en-US"/>
              <a:t>为例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A830-B5B7-3E4E-8F4E-A934D1EFB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10630D-49B0-E248-B54E-045251939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974680"/>
            <a:ext cx="6702151" cy="44681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A6DA5C-C68F-0A47-88A5-BA1F77EBACAF}"/>
              </a:ext>
            </a:extLst>
          </p:cNvPr>
          <p:cNvSpPr/>
          <p:nvPr/>
        </p:nvSpPr>
        <p:spPr>
          <a:xfrm>
            <a:off x="4572000" y="1777380"/>
            <a:ext cx="2592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一旦发生远程内存访问开销不容忽略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96415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10630D-49B0-E248-B54E-045251939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201316"/>
            <a:ext cx="5822137" cy="38814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35A4566-35BE-B343-B42A-84B88AF44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CN"/>
              <a:t>我们能更进一步吗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8EE9F-3D7B-D44A-BABB-A568F21AE220}"/>
              </a:ext>
            </a:extLst>
          </p:cNvPr>
          <p:cNvSpPr/>
          <p:nvPr/>
        </p:nvSpPr>
        <p:spPr>
          <a:xfrm>
            <a:off x="6198328" y="2346375"/>
            <a:ext cx="2804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主要原因</a:t>
            </a:r>
            <a:r>
              <a:rPr lang="zh-CN" altLang="en-US"/>
              <a:t>：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08684D-2BED-BA40-B808-59D3C80F9106}"/>
              </a:ext>
            </a:extLst>
          </p:cNvPr>
          <p:cNvSpPr/>
          <p:nvPr/>
        </p:nvSpPr>
        <p:spPr>
          <a:xfrm>
            <a:off x="6194888" y="2778423"/>
            <a:ext cx="2804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还是会涉及跨NUMA的内存访问</a:t>
            </a:r>
            <a:endParaRPr lang="en-US" b="1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BC61EF-204C-E64C-B0AC-2650803B4FBB}"/>
              </a:ext>
            </a:extLst>
          </p:cNvPr>
          <p:cNvCxnSpPr>
            <a:cxnSpLocks/>
          </p:cNvCxnSpPr>
          <p:nvPr/>
        </p:nvCxnSpPr>
        <p:spPr>
          <a:xfrm>
            <a:off x="3347864" y="1849388"/>
            <a:ext cx="252028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F8B48B7-ECE1-9641-9CC8-7FB70BE7C6A0}"/>
              </a:ext>
            </a:extLst>
          </p:cNvPr>
          <p:cNvSpPr/>
          <p:nvPr/>
        </p:nvSpPr>
        <p:spPr>
          <a:xfrm>
            <a:off x="6071222" y="163513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理想性能表现</a:t>
            </a:r>
            <a:endParaRPr lang="en-CN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E0140628-5474-534C-8ED2-01A23F751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379361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A777-CB92-704F-BC5A-7D281ECC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Numa</a:t>
            </a:r>
            <a:r>
              <a:rPr lang="en-US" altLang="zh-CN" dirty="0"/>
              <a:t>-aware</a:t>
            </a:r>
            <a:r>
              <a:rPr lang="zh-CN" altLang="en-US" dirty="0"/>
              <a:t>：代理锁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14D1A-03F6-024F-803A-A27F6E1C6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CD33F-70C0-E640-8329-1AC57B0C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476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>
            <a:normAutofit/>
          </a:bodyPr>
          <a:lstStyle/>
          <a:p>
            <a:r>
              <a:rPr lang="en-CN"/>
              <a:t>代理锁</a:t>
            </a:r>
            <a:r>
              <a:rPr lang="zh-CN" altLang="en-US"/>
              <a:t>：通过代理执行避免跨节点访问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3FE6A-90C1-D744-B8F7-CF780DDA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921396"/>
            <a:ext cx="9144000" cy="329767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6352BA9-6BED-594D-B59E-577B7AD3AC4B}"/>
              </a:ext>
            </a:extLst>
          </p:cNvPr>
          <p:cNvSpPr/>
          <p:nvPr/>
        </p:nvSpPr>
        <p:spPr>
          <a:xfrm>
            <a:off x="2051720" y="1057300"/>
            <a:ext cx="4788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与其让缓存行在不同的NUMA节点之间移动</a:t>
            </a:r>
            <a:r>
              <a:rPr lang="zh-CN" altLang="en-US"/>
              <a:t>，</a:t>
            </a:r>
            <a:endParaRPr lang="en-US"/>
          </a:p>
          <a:p>
            <a:pPr algn="ctr"/>
            <a:r>
              <a:rPr lang="en-US"/>
              <a:t>为何不一直将其</a:t>
            </a:r>
            <a:r>
              <a:rPr lang="en-US" b="1"/>
              <a:t>限定</a:t>
            </a:r>
            <a:r>
              <a:rPr lang="en-US"/>
              <a:t>在一个</a:t>
            </a:r>
            <a:r>
              <a:rPr lang="en-US" b="1"/>
              <a:t>核心上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2DD7AAE-8DF8-6E4E-B747-8CC7C42A7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DB4A03-6972-B946-90AF-45DB18B6B8C3}"/>
              </a:ext>
            </a:extLst>
          </p:cNvPr>
          <p:cNvSpPr/>
          <p:nvPr/>
        </p:nvSpPr>
        <p:spPr>
          <a:xfrm>
            <a:off x="6840210" y="2857500"/>
            <a:ext cx="21474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临界区转换为可以远程执行的闭包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456B3C-2121-A649-867B-5E8F70E23F00}"/>
              </a:ext>
            </a:extLst>
          </p:cNvPr>
          <p:cNvSpPr/>
          <p:nvPr/>
        </p:nvSpPr>
        <p:spPr>
          <a:xfrm>
            <a:off x="2157773" y="2075619"/>
            <a:ext cx="792088" cy="11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2B218-9C22-4A45-9EDF-59DB8E1B8FB7}"/>
              </a:ext>
            </a:extLst>
          </p:cNvPr>
          <p:cNvSpPr/>
          <p:nvPr/>
        </p:nvSpPr>
        <p:spPr>
          <a:xfrm>
            <a:off x="1619672" y="2347399"/>
            <a:ext cx="2147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临界区请求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18721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3FE6A-90C1-D744-B8F7-CF780DDA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21396"/>
            <a:ext cx="9144000" cy="32976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B62B60-144F-2B4A-810C-50A117A77F64}"/>
              </a:ext>
            </a:extLst>
          </p:cNvPr>
          <p:cNvSpPr/>
          <p:nvPr/>
        </p:nvSpPr>
        <p:spPr>
          <a:xfrm>
            <a:off x="3491880" y="2929508"/>
            <a:ext cx="50405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FF562-E723-4F42-B82A-D644A3E0A9F3}"/>
              </a:ext>
            </a:extLst>
          </p:cNvPr>
          <p:cNvSpPr/>
          <p:nvPr/>
        </p:nvSpPr>
        <p:spPr>
          <a:xfrm>
            <a:off x="489331" y="3865612"/>
            <a:ext cx="504056" cy="216024"/>
          </a:xfrm>
          <a:prstGeom prst="rect">
            <a:avLst/>
          </a:prstGeom>
          <a:solidFill>
            <a:srgbClr val="9292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61E1E1-F32C-6C44-B4AE-40368D811C11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043608" y="3145532"/>
            <a:ext cx="270030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3A226F96-DE4A-B84A-8A57-9B7B995F226B}"/>
              </a:ext>
            </a:extLst>
          </p:cNvPr>
          <p:cNvSpPr txBox="1">
            <a:spLocks/>
          </p:cNvSpPr>
          <p:nvPr/>
        </p:nvSpPr>
        <p:spPr>
          <a:xfrm>
            <a:off x="457200" y="228866"/>
            <a:ext cx="86868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en-CN"/>
              <a:t>代理锁</a:t>
            </a:r>
            <a:r>
              <a:rPr lang="zh-CN" altLang="en-US"/>
              <a:t>：通过代理执行避免跨节点访问</a:t>
            </a:r>
            <a:endParaRPr lang="en-CN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A2D3171-ABAB-7B4A-888C-A1D71B803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1D27D1-2FFF-644F-B548-4DC659915B7F}"/>
              </a:ext>
            </a:extLst>
          </p:cNvPr>
          <p:cNvSpPr/>
          <p:nvPr/>
        </p:nvSpPr>
        <p:spPr>
          <a:xfrm>
            <a:off x="2051720" y="1057300"/>
            <a:ext cx="4788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与其让缓存行在不同的NUMA节点之间移动</a:t>
            </a:r>
            <a:r>
              <a:rPr lang="zh-CN" altLang="en-US"/>
              <a:t>，</a:t>
            </a:r>
            <a:endParaRPr lang="en-US"/>
          </a:p>
          <a:p>
            <a:pPr algn="ctr"/>
            <a:r>
              <a:rPr lang="en-US"/>
              <a:t>为何不一直将其</a:t>
            </a:r>
            <a:r>
              <a:rPr lang="en-US" b="1"/>
              <a:t>限定</a:t>
            </a:r>
            <a:r>
              <a:rPr lang="en-US"/>
              <a:t>在一个</a:t>
            </a:r>
            <a:r>
              <a:rPr lang="en-US" b="1"/>
              <a:t>核心上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8217B6-ADC0-4B4C-9EFD-0CE52F6E6E38}"/>
              </a:ext>
            </a:extLst>
          </p:cNvPr>
          <p:cNvSpPr/>
          <p:nvPr/>
        </p:nvSpPr>
        <p:spPr>
          <a:xfrm>
            <a:off x="2157773" y="2075619"/>
            <a:ext cx="792088" cy="11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FCF22D-B306-7E4C-AF30-E8CEFF98E8C4}"/>
              </a:ext>
            </a:extLst>
          </p:cNvPr>
          <p:cNvSpPr/>
          <p:nvPr/>
        </p:nvSpPr>
        <p:spPr>
          <a:xfrm>
            <a:off x="1619672" y="2347399"/>
            <a:ext cx="2147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临界区请求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52299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89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3FE6A-90C1-D744-B8F7-CF780DDA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21396"/>
            <a:ext cx="9144000" cy="32976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B62B60-144F-2B4A-810C-50A117A77F64}"/>
              </a:ext>
            </a:extLst>
          </p:cNvPr>
          <p:cNvSpPr/>
          <p:nvPr/>
        </p:nvSpPr>
        <p:spPr>
          <a:xfrm>
            <a:off x="3491880" y="2929508"/>
            <a:ext cx="50405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FF562-E723-4F42-B82A-D644A3E0A9F3}"/>
              </a:ext>
            </a:extLst>
          </p:cNvPr>
          <p:cNvSpPr/>
          <p:nvPr/>
        </p:nvSpPr>
        <p:spPr>
          <a:xfrm>
            <a:off x="489331" y="3885268"/>
            <a:ext cx="504056" cy="196367"/>
          </a:xfrm>
          <a:prstGeom prst="rect">
            <a:avLst/>
          </a:prstGeom>
          <a:solidFill>
            <a:srgbClr val="9292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61E1E1-F32C-6C44-B4AE-40368D811C11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043608" y="3145532"/>
            <a:ext cx="270030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C27C4D2-F6B4-A249-B70A-00AC670DF613}"/>
              </a:ext>
            </a:extLst>
          </p:cNvPr>
          <p:cNvSpPr/>
          <p:nvPr/>
        </p:nvSpPr>
        <p:spPr>
          <a:xfrm>
            <a:off x="4282988" y="2991119"/>
            <a:ext cx="50405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D46231-E998-0345-B0C1-842B051023DE}"/>
              </a:ext>
            </a:extLst>
          </p:cNvPr>
          <p:cNvSpPr/>
          <p:nvPr/>
        </p:nvSpPr>
        <p:spPr>
          <a:xfrm>
            <a:off x="1267001" y="3885269"/>
            <a:ext cx="504056" cy="176709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1211C0-1756-4947-BB92-F603E53F9726}"/>
              </a:ext>
            </a:extLst>
          </p:cNvPr>
          <p:cNvCxnSpPr>
            <a:cxnSpLocks/>
          </p:cNvCxnSpPr>
          <p:nvPr/>
        </p:nvCxnSpPr>
        <p:spPr>
          <a:xfrm flipH="1">
            <a:off x="1795158" y="3133411"/>
            <a:ext cx="270030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980BF9D-8AB4-2F43-A5DF-E8712CACD3F1}"/>
              </a:ext>
            </a:extLst>
          </p:cNvPr>
          <p:cNvSpPr txBox="1">
            <a:spLocks/>
          </p:cNvSpPr>
          <p:nvPr/>
        </p:nvSpPr>
        <p:spPr>
          <a:xfrm>
            <a:off x="457200" y="228866"/>
            <a:ext cx="86868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en-CN"/>
              <a:t>代理锁</a:t>
            </a:r>
            <a:r>
              <a:rPr lang="zh-CN" altLang="en-US"/>
              <a:t>：通过代理执行避免跨节点访问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2C8D4-4EA0-6942-A30A-106EE3B49D78}"/>
              </a:ext>
            </a:extLst>
          </p:cNvPr>
          <p:cNvSpPr/>
          <p:nvPr/>
        </p:nvSpPr>
        <p:spPr>
          <a:xfrm>
            <a:off x="2051720" y="1057300"/>
            <a:ext cx="4788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与其让缓存行在不同的NUMA节点之间移动</a:t>
            </a:r>
            <a:r>
              <a:rPr lang="zh-CN" altLang="en-US"/>
              <a:t>，</a:t>
            </a:r>
            <a:endParaRPr lang="en-US"/>
          </a:p>
          <a:p>
            <a:pPr algn="ctr"/>
            <a:r>
              <a:rPr lang="en-US"/>
              <a:t>为何不一直将其</a:t>
            </a:r>
            <a:r>
              <a:rPr lang="en-US" b="1"/>
              <a:t>限定</a:t>
            </a:r>
            <a:r>
              <a:rPr lang="en-US"/>
              <a:t>在一个</a:t>
            </a:r>
            <a:r>
              <a:rPr lang="en-US" b="1"/>
              <a:t>核心上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F0C97F5B-FA84-D24D-AEAF-874E754DA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98958-3650-C34C-887A-5488F6E6F34A}"/>
              </a:ext>
            </a:extLst>
          </p:cNvPr>
          <p:cNvSpPr/>
          <p:nvPr/>
        </p:nvSpPr>
        <p:spPr>
          <a:xfrm>
            <a:off x="2157773" y="2075619"/>
            <a:ext cx="792088" cy="11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007F88-EEA7-364B-A463-C6DEFC4DFB89}"/>
              </a:ext>
            </a:extLst>
          </p:cNvPr>
          <p:cNvSpPr/>
          <p:nvPr/>
        </p:nvSpPr>
        <p:spPr>
          <a:xfrm>
            <a:off x="1619672" y="2347399"/>
            <a:ext cx="2147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临界区请求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707026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634575-6B4B-EE49-884B-5BA1EE693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77380"/>
            <a:ext cx="7272808" cy="34586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47D4E6-63F1-624C-8CCA-122824E73AB3}"/>
              </a:ext>
            </a:extLst>
          </p:cNvPr>
          <p:cNvSpPr/>
          <p:nvPr/>
        </p:nvSpPr>
        <p:spPr>
          <a:xfrm>
            <a:off x="5755395" y="3217540"/>
            <a:ext cx="1813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锁服务器的逻辑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80C1D3A-E3FA-8C4D-A6C0-DD36959641B7}"/>
              </a:ext>
            </a:extLst>
          </p:cNvPr>
          <p:cNvSpPr txBox="1">
            <a:spLocks/>
          </p:cNvSpPr>
          <p:nvPr/>
        </p:nvSpPr>
        <p:spPr>
          <a:xfrm>
            <a:off x="457200" y="228866"/>
            <a:ext cx="86868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en-CN"/>
              <a:t>代理锁</a:t>
            </a:r>
            <a:r>
              <a:rPr lang="zh-CN" altLang="en-US"/>
              <a:t>：通过代理执行避免跨节点访问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2218CB-A97E-D841-A646-94236AD11178}"/>
              </a:ext>
            </a:extLst>
          </p:cNvPr>
          <p:cNvSpPr/>
          <p:nvPr/>
        </p:nvSpPr>
        <p:spPr>
          <a:xfrm>
            <a:off x="2051720" y="1057300"/>
            <a:ext cx="4788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与其让缓存行在不同的NUMA节点之间移动</a:t>
            </a:r>
            <a:r>
              <a:rPr lang="zh-CN" altLang="en-US"/>
              <a:t>，</a:t>
            </a:r>
            <a:endParaRPr lang="en-US"/>
          </a:p>
          <a:p>
            <a:pPr algn="ctr"/>
            <a:r>
              <a:rPr lang="en-US"/>
              <a:t>为何不一直将其</a:t>
            </a:r>
            <a:r>
              <a:rPr lang="en-US" b="1"/>
              <a:t>限定</a:t>
            </a:r>
            <a:r>
              <a:rPr lang="en-US"/>
              <a:t>在一个</a:t>
            </a:r>
            <a:r>
              <a:rPr lang="en-US" b="1"/>
              <a:t>核心上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C96E5A1-87C3-DA44-A05A-4B037FE95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2A1399-D215-D448-8D4C-21371CD29631}"/>
              </a:ext>
            </a:extLst>
          </p:cNvPr>
          <p:cNvSpPr/>
          <p:nvPr/>
        </p:nvSpPr>
        <p:spPr>
          <a:xfrm>
            <a:off x="3131329" y="4589693"/>
            <a:ext cx="2629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全局变量的缓存行将一直存在服务器的本地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973E0-C558-4640-A2B4-0306CB1FAFE3}"/>
              </a:ext>
            </a:extLst>
          </p:cNvPr>
          <p:cNvSpPr/>
          <p:nvPr/>
        </p:nvSpPr>
        <p:spPr>
          <a:xfrm>
            <a:off x="1259632" y="2532065"/>
            <a:ext cx="1008112" cy="901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BB015E-3A80-504E-8048-1F1D236CA81A}"/>
              </a:ext>
            </a:extLst>
          </p:cNvPr>
          <p:cNvSpPr/>
          <p:nvPr/>
        </p:nvSpPr>
        <p:spPr>
          <a:xfrm>
            <a:off x="971600" y="2755875"/>
            <a:ext cx="1721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一个一个执行临界区的请求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664362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>
            <a:normAutofit/>
          </a:bodyPr>
          <a:lstStyle/>
          <a:p>
            <a:r>
              <a:rPr lang="en-CN" dirty="0"/>
              <a:t>应该由哪个核心成为锁服务器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91</a:t>
            </a:fld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634575-6B4B-EE49-884B-5BA1EE693C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37624" b="-1762"/>
          <a:stretch/>
        </p:blipFill>
        <p:spPr>
          <a:xfrm>
            <a:off x="323528" y="1417340"/>
            <a:ext cx="4536504" cy="35195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2A3EC8-6F59-DD45-B560-7BC136F8FD3F}"/>
              </a:ext>
            </a:extLst>
          </p:cNvPr>
          <p:cNvSpPr/>
          <p:nvPr/>
        </p:nvSpPr>
        <p:spPr>
          <a:xfrm>
            <a:off x="5364088" y="1382771"/>
            <a:ext cx="3240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固定锁服务器：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8FBF61-2430-2546-9C60-48807D2C86F0}"/>
              </a:ext>
            </a:extLst>
          </p:cNvPr>
          <p:cNvSpPr/>
          <p:nvPr/>
        </p:nvSpPr>
        <p:spPr>
          <a:xfrm>
            <a:off x="5446440" y="1844877"/>
            <a:ext cx="3240360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提前准备好一个锁服务器，所有临界区的请求都在这个服务器上执行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C5DEE6-330C-9843-B5EF-5B7F2CC59BD9}"/>
              </a:ext>
            </a:extLst>
          </p:cNvPr>
          <p:cNvSpPr/>
          <p:nvPr/>
        </p:nvSpPr>
        <p:spPr>
          <a:xfrm>
            <a:off x="5364088" y="3212144"/>
            <a:ext cx="3240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非固定锁服务器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15489-1F25-754A-BAD7-6E8F027CE79B}"/>
              </a:ext>
            </a:extLst>
          </p:cNvPr>
          <p:cNvSpPr/>
          <p:nvPr/>
        </p:nvSpPr>
        <p:spPr>
          <a:xfrm>
            <a:off x="5451955" y="3628083"/>
            <a:ext cx="3240360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当没有锁服务器时，第一个尝试获取锁的竞争者升级成锁服务器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B0EDB2-6F62-1040-80E5-620B8C68FE0D}"/>
              </a:ext>
            </a:extLst>
          </p:cNvPr>
          <p:cNvSpPr/>
          <p:nvPr/>
        </p:nvSpPr>
        <p:spPr>
          <a:xfrm>
            <a:off x="179512" y="5207827"/>
            <a:ext cx="8686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Roghanchi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Sepideh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Jakob Eriksson, and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Nilanjana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Basu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. ”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ffwd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: Delegation is (much) faster than you think." 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SOSP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. 2017.</a:t>
            </a:r>
          </a:p>
          <a:p>
            <a:pPr marL="228600" indent="-228600">
              <a:buFontTx/>
              <a:buAutoNum type="arabicPeriod"/>
            </a:pPr>
            <a:r>
              <a:rPr lang="en-US" sz="1200" dirty="0"/>
              <a:t>Zhang, </a:t>
            </a:r>
            <a:r>
              <a:rPr lang="en-US" sz="1200" dirty="0" err="1"/>
              <a:t>Mingzhe</a:t>
            </a:r>
            <a:r>
              <a:rPr lang="en-US" sz="1200" dirty="0"/>
              <a:t>, et al. "Scalable adaptive </a:t>
            </a:r>
            <a:r>
              <a:rPr lang="en-US" sz="1200" dirty="0" err="1"/>
              <a:t>numa</a:t>
            </a:r>
            <a:r>
              <a:rPr lang="en-US" sz="1200" dirty="0"/>
              <a:t>-aware lock.” TPDS 2016</a:t>
            </a:r>
            <a:endParaRPr lang="en-CN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575E66-A5D3-D44A-B20C-898CBB35B432}"/>
              </a:ext>
            </a:extLst>
          </p:cNvPr>
          <p:cNvSpPr/>
          <p:nvPr/>
        </p:nvSpPr>
        <p:spPr>
          <a:xfrm>
            <a:off x="7308304" y="1386674"/>
            <a:ext cx="1060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ffwd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rcl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815367-89D3-EE4A-9033-49263FA9BA80}"/>
              </a:ext>
            </a:extLst>
          </p:cNvPr>
          <p:cNvSpPr/>
          <p:nvPr/>
        </p:nvSpPr>
        <p:spPr>
          <a:xfrm>
            <a:off x="7384192" y="3014629"/>
            <a:ext cx="172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sanl</a:t>
            </a:r>
            <a:r>
              <a:rPr lang="en-US" altLang="zh-CN" baseline="30000" dirty="0"/>
              <a:t>1</a:t>
            </a:r>
            <a:r>
              <a:rPr lang="en-US" altLang="zh-CN" dirty="0"/>
              <a:t>, flat-combining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84671B-A4D8-6D4C-B3B8-96ADC57C331B}"/>
              </a:ext>
            </a:extLst>
          </p:cNvPr>
          <p:cNvSpPr/>
          <p:nvPr/>
        </p:nvSpPr>
        <p:spPr>
          <a:xfrm>
            <a:off x="750438" y="2207148"/>
            <a:ext cx="1008112" cy="901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D2E4D-6758-6B48-B0A4-7D1FC062F9CE}"/>
              </a:ext>
            </a:extLst>
          </p:cNvPr>
          <p:cNvSpPr/>
          <p:nvPr/>
        </p:nvSpPr>
        <p:spPr>
          <a:xfrm>
            <a:off x="462406" y="2430958"/>
            <a:ext cx="1721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一个一个执行临界区的请求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872590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>
            <a:normAutofit/>
          </a:bodyPr>
          <a:lstStyle/>
          <a:p>
            <a:r>
              <a:rPr lang="en-CN"/>
              <a:t>代理锁性能表现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92</a:t>
            </a:fld>
            <a:endParaRPr lang="zh-C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0B67B6D-220F-D247-935F-D087B60BA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en-US" altLang="zh-CN" dirty="0"/>
              <a:t>Institute of parallel and distributed system</a:t>
            </a:r>
            <a:r>
              <a:rPr lang="zh-CN" altLang="en-US" dirty="0"/>
              <a:t>（</a:t>
            </a:r>
            <a:r>
              <a:rPr lang="en-US" altLang="zh-CN" dirty="0"/>
              <a:t>IPADS@SJTU</a:t>
            </a:r>
            <a:r>
              <a:rPr lang="zh-CN" altLang="en-US" dirty="0"/>
              <a:t>）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7C798-8997-D74C-B439-054471A40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29308"/>
            <a:ext cx="5904656" cy="39364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A7E611-E39A-6A40-B93E-7169CD787FD6}"/>
              </a:ext>
            </a:extLst>
          </p:cNvPr>
          <p:cNvSpPr/>
          <p:nvPr/>
        </p:nvSpPr>
        <p:spPr>
          <a:xfrm>
            <a:off x="6553200" y="2257335"/>
            <a:ext cx="23042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b="1" dirty="0">
                <a:solidFill>
                  <a:schemeClr val="accent1"/>
                </a:solidFill>
              </a:rPr>
              <a:t>在扩展到其他NUMA节点时</a:t>
            </a:r>
            <a:r>
              <a:rPr lang="zh-CN" altLang="en-US" b="1" dirty="0">
                <a:solidFill>
                  <a:schemeClr val="accent1"/>
                </a:solidFill>
              </a:rPr>
              <a:t>，没有显著的性能的下坠</a:t>
            </a:r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4415A6-3094-2648-AFC5-EFC8EBB86AE5}"/>
              </a:ext>
            </a:extLst>
          </p:cNvPr>
          <p:cNvSpPr/>
          <p:nvPr/>
        </p:nvSpPr>
        <p:spPr>
          <a:xfrm>
            <a:off x="6140739" y="1759862"/>
            <a:ext cx="1757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ffwd</a:t>
            </a:r>
            <a:r>
              <a:rPr lang="zh-CN" altLang="en-US" dirty="0" err="1"/>
              <a:t>的性能表现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D3A98B-1196-BA40-89D3-021BF48815DB}"/>
              </a:ext>
            </a:extLst>
          </p:cNvPr>
          <p:cNvSpPr/>
          <p:nvPr/>
        </p:nvSpPr>
        <p:spPr>
          <a:xfrm>
            <a:off x="6140739" y="3309503"/>
            <a:ext cx="2304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是否是最优的解</a:t>
            </a:r>
            <a:r>
              <a:rPr lang="zh-CN" altLang="en-US" dirty="0"/>
              <a:t>？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266387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>
            <a:normAutofit/>
          </a:bodyPr>
          <a:lstStyle/>
          <a:p>
            <a:r>
              <a:rPr lang="en-CN"/>
              <a:t>代理锁性能表现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0B67B6D-220F-D247-935F-D087B60BA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en-US" altLang="zh-CN" dirty="0"/>
              <a:t>Institute of parallel and distributed system</a:t>
            </a:r>
            <a:r>
              <a:rPr lang="zh-CN" altLang="en-US" dirty="0"/>
              <a:t>（</a:t>
            </a:r>
            <a:r>
              <a:rPr lang="en-US" altLang="zh-CN" dirty="0"/>
              <a:t>IPADS@SJTU</a:t>
            </a:r>
            <a:r>
              <a:rPr lang="zh-CN" altLang="en-US" dirty="0"/>
              <a:t>）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7C798-8997-D74C-B439-054471A40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29308"/>
            <a:ext cx="5904656" cy="39364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A7E611-E39A-6A40-B93E-7169CD787FD6}"/>
              </a:ext>
            </a:extLst>
          </p:cNvPr>
          <p:cNvSpPr/>
          <p:nvPr/>
        </p:nvSpPr>
        <p:spPr>
          <a:xfrm>
            <a:off x="6553200" y="2257335"/>
            <a:ext cx="23042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b="1" dirty="0">
                <a:solidFill>
                  <a:schemeClr val="accent1"/>
                </a:solidFill>
              </a:rPr>
              <a:t>在扩展到其他NUMA节点时</a:t>
            </a:r>
            <a:r>
              <a:rPr lang="zh-CN" altLang="en-US" b="1" dirty="0">
                <a:solidFill>
                  <a:schemeClr val="accent1"/>
                </a:solidFill>
              </a:rPr>
              <a:t>，没有显著的性能的下坠</a:t>
            </a:r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4415A6-3094-2648-AFC5-EFC8EBB86AE5}"/>
              </a:ext>
            </a:extLst>
          </p:cNvPr>
          <p:cNvSpPr/>
          <p:nvPr/>
        </p:nvSpPr>
        <p:spPr>
          <a:xfrm>
            <a:off x="6140739" y="1759862"/>
            <a:ext cx="1757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ffwd</a:t>
            </a:r>
            <a:r>
              <a:rPr lang="zh-CN" altLang="en-US" dirty="0" err="1"/>
              <a:t>的性能表现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D3A98B-1196-BA40-89D3-021BF48815DB}"/>
              </a:ext>
            </a:extLst>
          </p:cNvPr>
          <p:cNvSpPr/>
          <p:nvPr/>
        </p:nvSpPr>
        <p:spPr>
          <a:xfrm>
            <a:off x="6140739" y="3339341"/>
            <a:ext cx="2304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是否是最优的解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5F2A3-0B1C-E74A-9DC3-DDC8FAFA2C2F}"/>
              </a:ext>
            </a:extLst>
          </p:cNvPr>
          <p:cNvSpPr/>
          <p:nvPr/>
        </p:nvSpPr>
        <p:spPr>
          <a:xfrm>
            <a:off x="6351470" y="3784004"/>
            <a:ext cx="2304256" cy="1287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需要很多代码修改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额外逻辑复杂：锁竞争少是性能差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0780206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6AD-0241-CB43-AD2D-8E167E7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系统软件</a:t>
            </a:r>
            <a:r>
              <a:rPr lang="zh-CN" altLang="en-US"/>
              <a:t>开发者视角下的</a:t>
            </a:r>
            <a:r>
              <a:rPr lang="en-US" altLang="zh-CN"/>
              <a:t>NUMA</a:t>
            </a:r>
            <a:r>
              <a:rPr lang="zh-CN" altLang="en-US"/>
              <a:t>架构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08656-0E0B-9D46-8DC9-B22D42C4AEB2}"/>
              </a:ext>
            </a:extLst>
          </p:cNvPr>
          <p:cNvSpPr/>
          <p:nvPr/>
        </p:nvSpPr>
        <p:spPr>
          <a:xfrm>
            <a:off x="305780" y="1542569"/>
            <a:ext cx="8532440" cy="307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altLang="zh-CN" sz="2000"/>
              <a:t>NUMA</a:t>
            </a:r>
            <a:r>
              <a:rPr lang="zh-CN" altLang="en-US" sz="2000"/>
              <a:t>会暴露给操作系统，操作系统可以选择暴露给软件</a:t>
            </a:r>
            <a:endParaRPr lang="en-US" altLang="zh-CN" sz="20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软件可以用接口来分配本地的内存，也可不用直接分配，如（</a:t>
            </a:r>
            <a:r>
              <a:rPr lang="en-US" altLang="zh-CN" sz="2000"/>
              <a:t>libnuma</a:t>
            </a:r>
            <a:r>
              <a:rPr lang="zh-CN" altLang="en-US" sz="2000"/>
              <a:t>）</a:t>
            </a:r>
            <a:endParaRPr lang="en-US" altLang="zh-CN" sz="20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访问</a:t>
            </a:r>
            <a:r>
              <a:rPr lang="zh-CN" altLang="en-US" sz="2000" b="1"/>
              <a:t>远程内存</a:t>
            </a:r>
            <a:r>
              <a:rPr lang="zh-CN" altLang="en-US" sz="2000"/>
              <a:t>会带来严重</a:t>
            </a:r>
            <a:r>
              <a:rPr lang="zh-CN" altLang="en-US" sz="2000" b="1"/>
              <a:t>时延</a:t>
            </a:r>
            <a:r>
              <a:rPr lang="en-US" altLang="zh-CN" sz="2000" b="1"/>
              <a:t>/</a:t>
            </a:r>
            <a:r>
              <a:rPr lang="zh-CN" altLang="en-US" sz="2000" b="1"/>
              <a:t>带宽</a:t>
            </a:r>
            <a:r>
              <a:rPr lang="zh-CN" altLang="en-US" sz="2000"/>
              <a:t>问题造成性能瓶颈</a:t>
            </a:r>
            <a:endParaRPr lang="en-US" altLang="zh-CN" sz="20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对于所有进程：调度时避免跨</a:t>
            </a:r>
            <a:r>
              <a:rPr lang="en-US" altLang="zh-CN" sz="2000"/>
              <a:t>NUMA</a:t>
            </a:r>
            <a:r>
              <a:rPr lang="zh-CN" altLang="en-US" sz="2000"/>
              <a:t>结点迁移</a:t>
            </a:r>
            <a:endParaRPr lang="en-US" altLang="zh-CN" sz="20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对于没有</a:t>
            </a:r>
            <a:r>
              <a:rPr lang="en-US" altLang="zh-CN" sz="2000"/>
              <a:t>NUMA-aware</a:t>
            </a:r>
            <a:r>
              <a:rPr lang="zh-CN" altLang="en-US" sz="2000"/>
              <a:t>的应用：尽可能保证其分配的内存的本地性</a:t>
            </a:r>
            <a:endParaRPr lang="en-US" altLang="zh-CN" sz="2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120BA-393F-444B-ACD1-DA1A4CB5D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8685-2427-F34C-B9A6-4A460BFF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75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43730</TotalTime>
  <Words>6758</Words>
  <Application>Microsoft Macintosh PowerPoint</Application>
  <PresentationFormat>全屏显示(16:10)</PresentationFormat>
  <Paragraphs>1348</Paragraphs>
  <Slides>94</Slides>
  <Notes>35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94</vt:i4>
      </vt:variant>
    </vt:vector>
  </HeadingPairs>
  <TitlesOfParts>
    <vt:vector size="104" baseType="lpstr">
      <vt:lpstr>DengXian</vt:lpstr>
      <vt:lpstr>Microsoft YaHei</vt:lpstr>
      <vt:lpstr>Microsoft YaHei</vt:lpstr>
      <vt:lpstr>Arial</vt:lpstr>
      <vt:lpstr>Calibri</vt:lpstr>
      <vt:lpstr>Cambria Math</vt:lpstr>
      <vt:lpstr>Courier</vt:lpstr>
      <vt:lpstr>Times New Roman</vt:lpstr>
      <vt:lpstr>Wingdings</vt:lpstr>
      <vt:lpstr>Office 主题​​</vt:lpstr>
      <vt:lpstr>同步原语与多核</vt:lpstr>
      <vt:lpstr>版权声明</vt:lpstr>
      <vt:lpstr>回顾：场景与同步原语总结</vt:lpstr>
      <vt:lpstr>同步原语对比：读写锁 vs RCU</vt:lpstr>
      <vt:lpstr>回顾：死锁产生的原因</vt:lpstr>
      <vt:lpstr>回顾：如何解决死锁？</vt:lpstr>
      <vt:lpstr>死锁避免：银行家算法</vt:lpstr>
      <vt:lpstr>死锁避免：银行家算法</vt:lpstr>
      <vt:lpstr>银行家算法：安全性检查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银行家算法安全性检查：一个例子</vt:lpstr>
      <vt:lpstr>多核与同步</vt:lpstr>
      <vt:lpstr>回顾：多处理器与多核</vt:lpstr>
      <vt:lpstr>回顾：多核不是免费的午餐</vt:lpstr>
      <vt:lpstr>回顾：操作系统在多处理器多核环境下面临的问题</vt:lpstr>
      <vt:lpstr>多核下应用的性能表现：理想 vs 现实</vt:lpstr>
      <vt:lpstr>并行计算理论加速比（理想上限）</vt:lpstr>
      <vt:lpstr>多核下应用的性能表现：理想 vs 现实</vt:lpstr>
      <vt:lpstr>互斥锁微基准测试</vt:lpstr>
      <vt:lpstr>可扩展性断崖</vt:lpstr>
      <vt:lpstr>Non-scalable Locks are Dangerous!*</vt:lpstr>
      <vt:lpstr>多核环境下的缓存</vt:lpstr>
      <vt:lpstr>高速缓存（cache）回顾</vt:lpstr>
      <vt:lpstr>多处理器多核环境中的缓存结构</vt:lpstr>
      <vt:lpstr>多核环境中的缓存结构</vt:lpstr>
      <vt:lpstr>缓存一致性</vt:lpstr>
      <vt:lpstr>缓存一致性：MSI状态迁移</vt:lpstr>
      <vt:lpstr>缓存一致性：MSI状态迁移</vt:lpstr>
      <vt:lpstr>缓存一致性：MSI状态迁移</vt:lpstr>
      <vt:lpstr>缓存一致性：全局目录项</vt:lpstr>
      <vt:lpstr>目录式缓存一致性：一个例子</vt:lpstr>
      <vt:lpstr>目录式缓存一致性：一个例子</vt:lpstr>
      <vt:lpstr>目录式缓存一致性：一个例子</vt:lpstr>
      <vt:lpstr>目录式缓存一致性：一个例子</vt:lpstr>
      <vt:lpstr>目录式缓存一致性：一个例子</vt:lpstr>
      <vt:lpstr>目录式缓存一致性：一个例子</vt:lpstr>
      <vt:lpstr>目录式缓存一致性：一个例子</vt:lpstr>
      <vt:lpstr>目录式缓存一致性：一个例子</vt:lpstr>
      <vt:lpstr>目录式缓存一致性：一个例子</vt:lpstr>
      <vt:lpstr>目录式缓存一致性：一个例子</vt:lpstr>
      <vt:lpstr>目录式缓存一致性：一个例子</vt:lpstr>
      <vt:lpstr>回到可扩展性断崖</vt:lpstr>
      <vt:lpstr>可扩展性断崖背后的原因</vt:lpstr>
      <vt:lpstr>可扩展性断崖背后的原因</vt:lpstr>
      <vt:lpstr>可扩展性断崖背后的原因</vt:lpstr>
      <vt:lpstr>可扩展性断崖背后的原因</vt:lpstr>
      <vt:lpstr>解决可扩展性问题：回退锁</vt:lpstr>
      <vt:lpstr>如何解决可扩展性问题</vt:lpstr>
      <vt:lpstr>如何解决可扩展性问题</vt:lpstr>
      <vt:lpstr>Back-off 是否完全解决可扩展性问题</vt:lpstr>
      <vt:lpstr>解决可扩展性问题：MCS锁</vt:lpstr>
      <vt:lpstr>如何解决可扩展性问题：MCS锁</vt:lpstr>
      <vt:lpstr>MCS实现示例</vt:lpstr>
      <vt:lpstr>MCS锁：新的竞争者加入等待队列</vt:lpstr>
      <vt:lpstr>MCS锁：新的竞争者加入等待队列</vt:lpstr>
      <vt:lpstr>MCS锁：新的竞争者加入等待队列</vt:lpstr>
      <vt:lpstr>MCS锁：锁持有者的传递</vt:lpstr>
      <vt:lpstr>MCS锁：锁持有者的传递</vt:lpstr>
      <vt:lpstr>MCS锁：放锁流程</vt:lpstr>
      <vt:lpstr>MCS锁：性能分析</vt:lpstr>
      <vt:lpstr>MCS锁：性能分析</vt:lpstr>
      <vt:lpstr>Linux Kernel中的可扩展锁：QSpinlock*</vt:lpstr>
      <vt:lpstr>系统软件开发者视角下的缓存一致性</vt:lpstr>
      <vt:lpstr>非一致内存访问（NUMA）</vt:lpstr>
      <vt:lpstr>互斥锁微基准测试</vt:lpstr>
      <vt:lpstr>MCS锁在NUMA上的表现</vt:lpstr>
      <vt:lpstr>鲲鹏服务器</vt:lpstr>
      <vt:lpstr>鲲鹏服务器</vt:lpstr>
      <vt:lpstr>非一致内存访问</vt:lpstr>
      <vt:lpstr>Intel与AMD的NUMA系统架构与特性</vt:lpstr>
      <vt:lpstr>Intel与AMD的NUMA系统架构与特性</vt:lpstr>
      <vt:lpstr>NUMA环境中新的挑战</vt:lpstr>
      <vt:lpstr>NUMA环境中新的挑战</vt:lpstr>
      <vt:lpstr>鲲鹏服务器的NUMA结构</vt:lpstr>
      <vt:lpstr>Numa-aware：cohort锁</vt:lpstr>
      <vt:lpstr>MCS锁可扩展性</vt:lpstr>
      <vt:lpstr>NUMA-aware设计：以cohort锁*为例</vt:lpstr>
      <vt:lpstr>NUMA-aware设计：以cohort锁*为例</vt:lpstr>
      <vt:lpstr>NUMA-aware设计：以cohort锁*为例</vt:lpstr>
      <vt:lpstr>NUMA-aware设计：以cohort锁*为例</vt:lpstr>
      <vt:lpstr>我们能更进一步吗</vt:lpstr>
      <vt:lpstr>Numa-aware：代理锁</vt:lpstr>
      <vt:lpstr>代理锁：通过代理执行避免跨节点访问</vt:lpstr>
      <vt:lpstr>PowerPoint 演示文稿</vt:lpstr>
      <vt:lpstr>PowerPoint 演示文稿</vt:lpstr>
      <vt:lpstr>PowerPoint 演示文稿</vt:lpstr>
      <vt:lpstr>应该由哪个核心成为锁服务器？</vt:lpstr>
      <vt:lpstr>代理锁性能表现</vt:lpstr>
      <vt:lpstr>代理锁性能表现</vt:lpstr>
      <vt:lpstr>系统软件开发者视角下的NUMA架构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2449</cp:revision>
  <cp:lastPrinted>2016-06-13T07:55:34Z</cp:lastPrinted>
  <dcterms:created xsi:type="dcterms:W3CDTF">2017-11-24T09:35:45Z</dcterms:created>
  <dcterms:modified xsi:type="dcterms:W3CDTF">2022-03-24T07:44:08Z</dcterms:modified>
</cp:coreProperties>
</file>