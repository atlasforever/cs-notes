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68"/>
  </p:notesMasterIdLst>
  <p:handoutMasterIdLst>
    <p:handoutMasterId r:id="rId69"/>
  </p:handoutMasterIdLst>
  <p:sldIdLst>
    <p:sldId id="2604" r:id="rId3"/>
    <p:sldId id="1359" r:id="rId4"/>
    <p:sldId id="2655" r:id="rId5"/>
    <p:sldId id="2248" r:id="rId6"/>
    <p:sldId id="2651" r:id="rId7"/>
    <p:sldId id="2652" r:id="rId8"/>
    <p:sldId id="2653" r:id="rId9"/>
    <p:sldId id="2654" r:id="rId10"/>
    <p:sldId id="2280" r:id="rId11"/>
    <p:sldId id="2656" r:id="rId12"/>
    <p:sldId id="2670" r:id="rId13"/>
    <p:sldId id="2254" r:id="rId14"/>
    <p:sldId id="2259" r:id="rId15"/>
    <p:sldId id="1366" r:id="rId16"/>
    <p:sldId id="2264" r:id="rId17"/>
    <p:sldId id="2671" r:id="rId18"/>
    <p:sldId id="2244" r:id="rId19"/>
    <p:sldId id="2672" r:id="rId20"/>
    <p:sldId id="2673" r:id="rId21"/>
    <p:sldId id="1367" r:id="rId22"/>
    <p:sldId id="2269" r:id="rId23"/>
    <p:sldId id="2270" r:id="rId24"/>
    <p:sldId id="2674" r:id="rId25"/>
    <p:sldId id="1370" r:id="rId26"/>
    <p:sldId id="2675" r:id="rId27"/>
    <p:sldId id="1372" r:id="rId28"/>
    <p:sldId id="2249" r:id="rId29"/>
    <p:sldId id="1373" r:id="rId30"/>
    <p:sldId id="2250" r:id="rId31"/>
    <p:sldId id="2661" r:id="rId32"/>
    <p:sldId id="2668" r:id="rId33"/>
    <p:sldId id="2669" r:id="rId34"/>
    <p:sldId id="845" r:id="rId35"/>
    <p:sldId id="2272" r:id="rId36"/>
    <p:sldId id="1160" r:id="rId37"/>
    <p:sldId id="2271" r:id="rId38"/>
    <p:sldId id="2662" r:id="rId39"/>
    <p:sldId id="2265" r:id="rId40"/>
    <p:sldId id="2660" r:id="rId41"/>
    <p:sldId id="820" r:id="rId42"/>
    <p:sldId id="2665" r:id="rId43"/>
    <p:sldId id="2666" r:id="rId44"/>
    <p:sldId id="2667" r:id="rId45"/>
    <p:sldId id="2676" r:id="rId46"/>
    <p:sldId id="2677" r:id="rId47"/>
    <p:sldId id="2663" r:id="rId48"/>
    <p:sldId id="2268" r:id="rId49"/>
    <p:sldId id="2681" r:id="rId50"/>
    <p:sldId id="2664" r:id="rId51"/>
    <p:sldId id="2678" r:id="rId52"/>
    <p:sldId id="2679" r:id="rId53"/>
    <p:sldId id="2680" r:id="rId54"/>
    <p:sldId id="880" r:id="rId55"/>
    <p:sldId id="831" r:id="rId56"/>
    <p:sldId id="832" r:id="rId57"/>
    <p:sldId id="833" r:id="rId58"/>
    <p:sldId id="834" r:id="rId59"/>
    <p:sldId id="835" r:id="rId60"/>
    <p:sldId id="836" r:id="rId61"/>
    <p:sldId id="837" r:id="rId62"/>
    <p:sldId id="838" r:id="rId63"/>
    <p:sldId id="839" r:id="rId64"/>
    <p:sldId id="840" r:id="rId65"/>
    <p:sldId id="841" r:id="rId66"/>
    <p:sldId id="842" r:id="rId6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B92"/>
    <a:srgbClr val="0432FF"/>
    <a:srgbClr val="73FEFF"/>
    <a:srgbClr val="941100"/>
    <a:srgbClr val="212121"/>
    <a:srgbClr val="005493"/>
    <a:srgbClr val="FF2F92"/>
    <a:srgbClr val="9437FF"/>
    <a:srgbClr val="ED3C64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2" autoAdjust="0"/>
    <p:restoredTop sz="87417" autoAdjust="0"/>
  </p:normalViewPr>
  <p:slideViewPr>
    <p:cSldViewPr>
      <p:cViewPr varScale="1">
        <p:scale>
          <a:sx n="94" d="100"/>
          <a:sy n="94" d="100"/>
        </p:scale>
        <p:origin x="200" y="140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30824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2022/2/21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architectures/learn-the-architecture/armv8-a-memory-model/single-page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eveloper.arm.com/docs/den0024/a/the-memory-management-unit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297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跳转指令：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   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跳转指令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  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带返回的连接跳转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BX  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跳转并切换状态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BLX 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带返回的跳转并切换状态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496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Thirty-one 64-bit general-purpose registers X0-X30, the bottom halves of which are accessible as W0-W30.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 stack pointer registers SP_EL0, SP_EL1, SP_EL2, SP_EL3.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exception link registers ELR_EL1, ELR_EL2, ELR_EL3.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saved program status registers SPSR_EL1, SPSR_EL2, SPSR_EL3.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program counter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231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Thirty-one 64-bit general-purpose registers X0-X30, the bottom halves of which are accessible as W0-W30.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 stack pointer registers SP_EL0, SP_EL1, SP_EL2, SP_EL3.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exception link registers ELR_EL1, ELR_EL2, ELR_EL3.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saved program status registers SPSR_EL1, SPSR_EL2, SPSR_EL3.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program counter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225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指令</a:t>
            </a:r>
            <a:endParaRPr kumimoji="1" lang="en-US" altLang="zh-CN" dirty="0"/>
          </a:p>
          <a:p>
            <a:r>
              <a:rPr kumimoji="1" lang="en-US" altLang="zh-CN" dirty="0"/>
              <a:t>Access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583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EL0:</a:t>
            </a:r>
            <a:r>
              <a:rPr lang="zh-CN" altLang="en-US" dirty="0"/>
              <a:t> 用户态程序</a:t>
            </a:r>
            <a:endParaRPr lang="en-US" altLang="zh-CN" dirty="0"/>
          </a:p>
          <a:p>
            <a:r>
              <a:rPr lang="en-US" altLang="zh-CN" dirty="0"/>
              <a:t>EL1: </a:t>
            </a:r>
            <a:r>
              <a:rPr lang="zh-CN" altLang="en-US" dirty="0"/>
              <a:t>内核</a:t>
            </a:r>
            <a:endParaRPr lang="en-US" altLang="zh-CN" dirty="0"/>
          </a:p>
          <a:p>
            <a:r>
              <a:rPr lang="en-US" altLang="zh-CN" dirty="0"/>
              <a:t>EL2: hypervisor</a:t>
            </a:r>
          </a:p>
          <a:p>
            <a:r>
              <a:rPr lang="en-US" altLang="zh-CN" dirty="0"/>
              <a:t>EL3: monitor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969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Condition flags</a:t>
            </a:r>
            <a:r>
              <a:rPr lang="zh-CN" altLang="en-US" dirty="0"/>
              <a:t>：</a:t>
            </a:r>
            <a:r>
              <a:rPr lang="en-US" altLang="zh-CN" dirty="0"/>
              <a:t> N Negative Condition flag. Z Zero Condition flag. C Carry Condition flag. V Overflow Condition flag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The Execution state control</a:t>
            </a:r>
            <a:r>
              <a:rPr lang="zh-CN" altLang="en-US" dirty="0"/>
              <a:t>： </a:t>
            </a:r>
            <a:r>
              <a:rPr lang="en-US" altLang="zh-CN" dirty="0"/>
              <a:t>Illegal Execution state bit</a:t>
            </a:r>
            <a:r>
              <a:rPr lang="zh-CN" altLang="en-US" dirty="0"/>
              <a:t>， </a:t>
            </a:r>
            <a:r>
              <a:rPr lang="en-US" altLang="zh-CN" dirty="0"/>
              <a:t>Current Execution state</a:t>
            </a:r>
            <a:r>
              <a:rPr lang="zh-CN" altLang="en-US" dirty="0"/>
              <a:t>， </a:t>
            </a:r>
            <a:r>
              <a:rPr lang="en-US" altLang="zh-CN" dirty="0"/>
              <a:t>Current Exception level</a:t>
            </a:r>
            <a:r>
              <a:rPr lang="zh-CN" altLang="en-US" dirty="0"/>
              <a:t>， </a:t>
            </a:r>
            <a:r>
              <a:rPr lang="en-US" altLang="zh-CN" dirty="0"/>
              <a:t>Stack pointer register selection bi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The exception mask bits </a:t>
            </a:r>
            <a:r>
              <a:rPr lang="zh-CN" altLang="en-US" dirty="0"/>
              <a:t>：</a:t>
            </a:r>
            <a:r>
              <a:rPr lang="en-US" altLang="zh-CN" dirty="0"/>
              <a:t>Debug exception mask bit</a:t>
            </a:r>
            <a:r>
              <a:rPr lang="zh-CN" altLang="en-US" dirty="0"/>
              <a:t>， </a:t>
            </a:r>
            <a:r>
              <a:rPr lang="en-US" altLang="zh-CN" dirty="0"/>
              <a:t>Asynchronous exception mask bits</a:t>
            </a:r>
            <a:r>
              <a:rPr lang="zh-CN" altLang="en-US" dirty="0"/>
              <a:t>（</a:t>
            </a:r>
            <a:r>
              <a:rPr lang="en-US" altLang="zh-CN" dirty="0"/>
              <a:t>IRQ, FIQ</a:t>
            </a:r>
            <a:r>
              <a:rPr lang="zh-CN" altLang="en-US" dirty="0"/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370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Condition flags</a:t>
            </a:r>
            <a:r>
              <a:rPr lang="zh-CN" altLang="en-US" dirty="0"/>
              <a:t>：</a:t>
            </a:r>
            <a:r>
              <a:rPr lang="en-US" altLang="zh-CN" dirty="0"/>
              <a:t> N Negative Condition flag. Z Zero Condition flag. C Carry Condition flag. V Overflow Condition flag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The Execution state control</a:t>
            </a:r>
            <a:r>
              <a:rPr lang="zh-CN" altLang="en-US" dirty="0"/>
              <a:t>： </a:t>
            </a:r>
            <a:r>
              <a:rPr lang="en-US" altLang="zh-CN" dirty="0"/>
              <a:t>Illegal Execution state bit</a:t>
            </a:r>
            <a:r>
              <a:rPr lang="zh-CN" altLang="en-US" dirty="0"/>
              <a:t>， </a:t>
            </a:r>
            <a:r>
              <a:rPr lang="en-US" altLang="zh-CN" dirty="0"/>
              <a:t>Current Execution state</a:t>
            </a:r>
            <a:r>
              <a:rPr lang="zh-CN" altLang="en-US" dirty="0"/>
              <a:t>， </a:t>
            </a:r>
            <a:r>
              <a:rPr lang="en-US" altLang="zh-CN" dirty="0"/>
              <a:t>Current Exception level</a:t>
            </a:r>
            <a:r>
              <a:rPr lang="zh-CN" altLang="en-US" dirty="0"/>
              <a:t>， </a:t>
            </a:r>
            <a:r>
              <a:rPr lang="en-US" altLang="zh-CN" dirty="0"/>
              <a:t>Stack pointer register selection bi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The exception mask bits </a:t>
            </a:r>
            <a:r>
              <a:rPr lang="zh-CN" altLang="en-US" dirty="0"/>
              <a:t>：</a:t>
            </a:r>
            <a:r>
              <a:rPr lang="en-US" altLang="zh-CN" dirty="0"/>
              <a:t>Debug exception mask bit</a:t>
            </a:r>
            <a:r>
              <a:rPr lang="zh-CN" altLang="en-US" dirty="0"/>
              <a:t>， </a:t>
            </a:r>
            <a:r>
              <a:rPr lang="en-US" altLang="zh-CN" dirty="0"/>
              <a:t>Asynchronous exception mask bits</a:t>
            </a:r>
            <a:r>
              <a:rPr lang="zh-CN" altLang="en-US" dirty="0"/>
              <a:t>（</a:t>
            </a:r>
            <a:r>
              <a:rPr lang="en-US" altLang="zh-CN" dirty="0"/>
              <a:t>IRQ, FIQ</a:t>
            </a:r>
            <a:r>
              <a:rPr lang="zh-CN" altLang="en-US" dirty="0"/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50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top level control of the system, including its memory system</a:t>
            </a: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enable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Little-endian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377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top level control of the system, including its memory system</a:t>
            </a: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enable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Little-endian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385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TCR: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control register for stage 1 of the EL1&amp;0 translation regime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TTBR: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Holds the base address of the translation table for the initial lookup for stage 1 of the translation of an address from the lower VA range in the EL1&amp;0 translation regime, and other information for this translation regime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191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Stage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是</a:t>
            </a:r>
            <a:r>
              <a:rPr kumimoji="1" lang="en-US" altLang="zh-CN" dirty="0"/>
              <a:t>VMM</a:t>
            </a:r>
            <a:r>
              <a:rPr kumimoji="1" lang="zh-CN" altLang="en-US" dirty="0"/>
              <a:t>中的页表翻译，</a:t>
            </a:r>
            <a:r>
              <a:rPr lang="en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gva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hpa</a:t>
            </a:r>
            <a:endParaRPr lang="e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当前页表是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还是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是由</a:t>
            </a:r>
            <a:r>
              <a:rPr lang="en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tcr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决定的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930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>
                <a:hlinkClick r:id="rId3"/>
              </a:rPr>
              <a:t>https://developer.arm.com/architectures/learn-the-architecture/armv8-a-memory-model/single-page</a:t>
            </a:r>
            <a:endParaRPr lang="en" altLang="zh-CN" dirty="0"/>
          </a:p>
          <a:p>
            <a:endParaRPr kumimoji="1" lang="en" altLang="zh-CN" dirty="0"/>
          </a:p>
          <a:p>
            <a:r>
              <a:rPr lang="en" altLang="zh-CN" dirty="0">
                <a:hlinkClick r:id="rId4"/>
              </a:rPr>
              <a:t>https://developer.arm.com/docs/den0024/a/the-memory-management-unit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079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64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Question: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what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if</a:t>
            </a:r>
            <a:r>
              <a:rPr kumimoji="1" lang="zh-CN" altLang="en-US" baseline="0" dirty="0"/>
              <a:t> 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28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B6F32549-79B4-EC47-A8A4-B74320EBEC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676716CE-CFC0-484C-9E69-FB0EF7AAB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0162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0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rrelfish.org/documentation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中断、异常与系统调用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夏虞斌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75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F8213-A597-2547-A063-0AF62C40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不同操作系统架构的对比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9BFF9-2B74-4747-BF41-BBD5B615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2B17DDE-012A-FA43-9BC5-FB3ECB6F3B23}"/>
              </a:ext>
            </a:extLst>
          </p:cNvPr>
          <p:cNvSpPr/>
          <p:nvPr/>
        </p:nvSpPr>
        <p:spPr>
          <a:xfrm>
            <a:off x="1157755" y="3617411"/>
            <a:ext cx="926476" cy="638114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2C801E7-3409-F24B-977F-D493CD5760CC}"/>
              </a:ext>
            </a:extLst>
          </p:cNvPr>
          <p:cNvSpPr/>
          <p:nvPr/>
        </p:nvSpPr>
        <p:spPr>
          <a:xfrm>
            <a:off x="1157755" y="4250832"/>
            <a:ext cx="926476" cy="597264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7" name="直接连接符 5">
            <a:extLst>
              <a:ext uri="{FF2B5EF4-FFF2-40B4-BE49-F238E27FC236}">
                <a16:creationId xmlns:a16="http://schemas.microsoft.com/office/drawing/2014/main" id="{3034909B-D972-5841-A943-961E0B018446}"/>
              </a:ext>
            </a:extLst>
          </p:cNvPr>
          <p:cNvCxnSpPr>
            <a:cxnSpLocks/>
          </p:cNvCxnSpPr>
          <p:nvPr/>
        </p:nvCxnSpPr>
        <p:spPr>
          <a:xfrm>
            <a:off x="271158" y="3473996"/>
            <a:ext cx="8261282" cy="0"/>
          </a:xfrm>
          <a:prstGeom prst="line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BB80C71D-C56B-E044-8B2C-9F43A43E71DF}"/>
              </a:ext>
            </a:extLst>
          </p:cNvPr>
          <p:cNvSpPr/>
          <p:nvPr/>
        </p:nvSpPr>
        <p:spPr>
          <a:xfrm>
            <a:off x="271158" y="3080957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80985"/>
            <a:r>
              <a:rPr lang="zh-CN" altLang="en-US" sz="1400" b="1" dirty="0">
                <a:solidFill>
                  <a:srgbClr val="C0504D"/>
                </a:solidFill>
                <a:latin typeface="+mn-ea"/>
              </a:rPr>
              <a:t>用户态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DF29DC3-D3AD-1842-A94B-859EDE60D3DF}"/>
              </a:ext>
            </a:extLst>
          </p:cNvPr>
          <p:cNvSpPr/>
          <p:nvPr/>
        </p:nvSpPr>
        <p:spPr>
          <a:xfrm>
            <a:off x="271158" y="354770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80985"/>
            <a:r>
              <a:rPr lang="zh-CN" altLang="en-US" sz="1400" b="1" dirty="0">
                <a:solidFill>
                  <a:srgbClr val="C0504D"/>
                </a:solidFill>
                <a:latin typeface="+mn-ea"/>
              </a:rPr>
              <a:t>内核态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D4EE58B-F340-EF4A-8005-EE0D8BDA456B}"/>
              </a:ext>
            </a:extLst>
          </p:cNvPr>
          <p:cNvSpPr/>
          <p:nvPr/>
        </p:nvSpPr>
        <p:spPr>
          <a:xfrm>
            <a:off x="1282672" y="370401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0CC6979-4281-6F4A-AB49-33190239A254}"/>
              </a:ext>
            </a:extLst>
          </p:cNvPr>
          <p:cNvSpPr/>
          <p:nvPr/>
        </p:nvSpPr>
        <p:spPr>
          <a:xfrm>
            <a:off x="1699065" y="39152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B355341-F758-E64B-B881-05FD099FBFFD}"/>
              </a:ext>
            </a:extLst>
          </p:cNvPr>
          <p:cNvSpPr/>
          <p:nvPr/>
        </p:nvSpPr>
        <p:spPr>
          <a:xfrm>
            <a:off x="2491508" y="3617411"/>
            <a:ext cx="1043588" cy="678964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191AC43-0054-D54C-8878-F694A2C69840}"/>
              </a:ext>
            </a:extLst>
          </p:cNvPr>
          <p:cNvSpPr/>
          <p:nvPr/>
        </p:nvSpPr>
        <p:spPr>
          <a:xfrm>
            <a:off x="2729638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0FC5A7A-82B7-234B-A9A8-E341AC3B01C7}"/>
              </a:ext>
            </a:extLst>
          </p:cNvPr>
          <p:cNvSpPr/>
          <p:nvPr/>
        </p:nvSpPr>
        <p:spPr>
          <a:xfrm>
            <a:off x="3146031" y="395689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CF50A66-006A-254A-AA44-BDFF8D19327D}"/>
              </a:ext>
            </a:extLst>
          </p:cNvPr>
          <p:cNvSpPr/>
          <p:nvPr/>
        </p:nvSpPr>
        <p:spPr>
          <a:xfrm>
            <a:off x="1563738" y="431971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8FA45AD-9DDE-5545-B266-EE91075949AD}"/>
              </a:ext>
            </a:extLst>
          </p:cNvPr>
          <p:cNvSpPr/>
          <p:nvPr/>
        </p:nvSpPr>
        <p:spPr>
          <a:xfrm>
            <a:off x="1241033" y="450609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502159E-556C-0444-8BA0-18263C57914D}"/>
              </a:ext>
            </a:extLst>
          </p:cNvPr>
          <p:cNvSpPr/>
          <p:nvPr/>
        </p:nvSpPr>
        <p:spPr>
          <a:xfrm>
            <a:off x="3937178" y="2214407"/>
            <a:ext cx="294077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5BB7750-EA8A-8045-AC7D-746904AE7221}"/>
              </a:ext>
            </a:extLst>
          </p:cNvPr>
          <p:cNvSpPr/>
          <p:nvPr/>
        </p:nvSpPr>
        <p:spPr>
          <a:xfrm>
            <a:off x="3937178" y="3617411"/>
            <a:ext cx="1043588" cy="42912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C95FDAF-2809-114C-8338-ADF1C0199007}"/>
              </a:ext>
            </a:extLst>
          </p:cNvPr>
          <p:cNvSpPr/>
          <p:nvPr/>
        </p:nvSpPr>
        <p:spPr>
          <a:xfrm>
            <a:off x="4124554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4063F83-5622-A742-8DFD-23A2B8D203ED}"/>
              </a:ext>
            </a:extLst>
          </p:cNvPr>
          <p:cNvSpPr/>
          <p:nvPr/>
        </p:nvSpPr>
        <p:spPr>
          <a:xfrm>
            <a:off x="4311934" y="2214407"/>
            <a:ext cx="294077" cy="112531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D7E7BC6-E8DD-354B-A0B1-6C5F3201F273}"/>
              </a:ext>
            </a:extLst>
          </p:cNvPr>
          <p:cNvSpPr/>
          <p:nvPr/>
        </p:nvSpPr>
        <p:spPr>
          <a:xfrm>
            <a:off x="4686689" y="2214407"/>
            <a:ext cx="294077" cy="112531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3EA979E-BBB5-6A40-907E-2660E0C1D6AD}"/>
              </a:ext>
            </a:extLst>
          </p:cNvPr>
          <p:cNvSpPr/>
          <p:nvPr/>
        </p:nvSpPr>
        <p:spPr>
          <a:xfrm>
            <a:off x="3964503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34EDABF-9F97-4B4B-98DF-04E86BD744DC}"/>
              </a:ext>
            </a:extLst>
          </p:cNvPr>
          <p:cNvSpPr/>
          <p:nvPr/>
        </p:nvSpPr>
        <p:spPr>
          <a:xfrm>
            <a:off x="4339258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3EE4882-E0C2-774B-8EF8-AA9AED300F06}"/>
              </a:ext>
            </a:extLst>
          </p:cNvPr>
          <p:cNvSpPr/>
          <p:nvPr/>
        </p:nvSpPr>
        <p:spPr>
          <a:xfrm>
            <a:off x="4714014" y="247473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C55C352-EF9D-384B-9069-B64596032B1A}"/>
              </a:ext>
            </a:extLst>
          </p:cNvPr>
          <p:cNvSpPr/>
          <p:nvPr/>
        </p:nvSpPr>
        <p:spPr>
          <a:xfrm>
            <a:off x="5386701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2F1E6DE-60B8-7E44-9818-4EFAB8438A49}"/>
              </a:ext>
            </a:extLst>
          </p:cNvPr>
          <p:cNvSpPr/>
          <p:nvPr/>
        </p:nvSpPr>
        <p:spPr>
          <a:xfrm>
            <a:off x="5386701" y="3617411"/>
            <a:ext cx="1066913" cy="128241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8968D4F-38D6-7049-BB29-F34D536E3277}"/>
              </a:ext>
            </a:extLst>
          </p:cNvPr>
          <p:cNvSpPr/>
          <p:nvPr/>
        </p:nvSpPr>
        <p:spPr>
          <a:xfrm>
            <a:off x="5414026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68833BC-B6B5-B141-95B7-FF3B4134213A}"/>
              </a:ext>
            </a:extLst>
          </p:cNvPr>
          <p:cNvSpPr/>
          <p:nvPr/>
        </p:nvSpPr>
        <p:spPr>
          <a:xfrm>
            <a:off x="5386701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00F59CE-5CCE-914B-82DD-65406894F62E}"/>
              </a:ext>
            </a:extLst>
          </p:cNvPr>
          <p:cNvSpPr/>
          <p:nvPr/>
        </p:nvSpPr>
        <p:spPr>
          <a:xfrm>
            <a:off x="5414026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DF4910C-6F3D-B343-BAD9-B3ADA5695D15}"/>
              </a:ext>
            </a:extLst>
          </p:cNvPr>
          <p:cNvSpPr/>
          <p:nvPr/>
        </p:nvSpPr>
        <p:spPr>
          <a:xfrm>
            <a:off x="3964503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45D40F9-8829-3D43-9DB8-1EE786574380}"/>
              </a:ext>
            </a:extLst>
          </p:cNvPr>
          <p:cNvSpPr/>
          <p:nvPr/>
        </p:nvSpPr>
        <p:spPr>
          <a:xfrm>
            <a:off x="4339258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665B67E-C195-914D-92DF-5005C1FFA078}"/>
              </a:ext>
            </a:extLst>
          </p:cNvPr>
          <p:cNvSpPr/>
          <p:nvPr/>
        </p:nvSpPr>
        <p:spPr>
          <a:xfrm>
            <a:off x="4714014" y="303739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BD9BB7E-50B4-BC47-8B3B-C142D68A20FF}"/>
              </a:ext>
            </a:extLst>
          </p:cNvPr>
          <p:cNvSpPr/>
          <p:nvPr/>
        </p:nvSpPr>
        <p:spPr>
          <a:xfrm>
            <a:off x="5773119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25DACA89-490D-574F-9BA0-20407416CBA5}"/>
              </a:ext>
            </a:extLst>
          </p:cNvPr>
          <p:cNvSpPr/>
          <p:nvPr/>
        </p:nvSpPr>
        <p:spPr>
          <a:xfrm>
            <a:off x="5800444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412F5F7-D960-5F44-90EC-23C115F6172D}"/>
              </a:ext>
            </a:extLst>
          </p:cNvPr>
          <p:cNvSpPr/>
          <p:nvPr/>
        </p:nvSpPr>
        <p:spPr>
          <a:xfrm>
            <a:off x="5773119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8807052-D9AF-7A4B-A107-53536B535D1F}"/>
              </a:ext>
            </a:extLst>
          </p:cNvPr>
          <p:cNvSpPr/>
          <p:nvPr/>
        </p:nvSpPr>
        <p:spPr>
          <a:xfrm>
            <a:off x="5800444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6E18DEA-EBB7-8548-B522-134309E06968}"/>
              </a:ext>
            </a:extLst>
          </p:cNvPr>
          <p:cNvSpPr/>
          <p:nvPr/>
        </p:nvSpPr>
        <p:spPr>
          <a:xfrm>
            <a:off x="6159537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C6E4E9D-556C-AA4A-AF8E-28591C727A05}"/>
              </a:ext>
            </a:extLst>
          </p:cNvPr>
          <p:cNvSpPr/>
          <p:nvPr/>
        </p:nvSpPr>
        <p:spPr>
          <a:xfrm>
            <a:off x="6186862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C9BFF19-1E65-2345-8DCE-84061200BEAA}"/>
              </a:ext>
            </a:extLst>
          </p:cNvPr>
          <p:cNvSpPr/>
          <p:nvPr/>
        </p:nvSpPr>
        <p:spPr>
          <a:xfrm>
            <a:off x="6159537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341ADE7E-498D-294C-B7AE-8CE60AE1DCFB}"/>
              </a:ext>
            </a:extLst>
          </p:cNvPr>
          <p:cNvSpPr/>
          <p:nvPr/>
        </p:nvSpPr>
        <p:spPr>
          <a:xfrm>
            <a:off x="6186862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ECFBE60-3392-DD48-8FC1-7E07F9FB3349}"/>
              </a:ext>
            </a:extLst>
          </p:cNvPr>
          <p:cNvSpPr txBox="1"/>
          <p:nvPr/>
        </p:nvSpPr>
        <p:spPr>
          <a:xfrm>
            <a:off x="1077687" y="4956894"/>
            <a:ext cx="1086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简单内核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CA1D444-E2AA-224E-924B-392EB6FC1AD9}"/>
              </a:ext>
            </a:extLst>
          </p:cNvPr>
          <p:cNvSpPr txBox="1"/>
          <p:nvPr/>
        </p:nvSpPr>
        <p:spPr>
          <a:xfrm>
            <a:off x="2518832" y="4956894"/>
            <a:ext cx="988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宏内核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D24C625-10D3-864A-B55D-62852E8AC922}"/>
              </a:ext>
            </a:extLst>
          </p:cNvPr>
          <p:cNvSpPr txBox="1"/>
          <p:nvPr/>
        </p:nvSpPr>
        <p:spPr>
          <a:xfrm>
            <a:off x="3823972" y="4956894"/>
            <a:ext cx="1269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微内核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883FC87-27A8-794F-B869-98B069D71D66}"/>
              </a:ext>
            </a:extLst>
          </p:cNvPr>
          <p:cNvSpPr txBox="1"/>
          <p:nvPr/>
        </p:nvSpPr>
        <p:spPr>
          <a:xfrm>
            <a:off x="5285157" y="4956894"/>
            <a:ext cx="1269998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外核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B6C67E3-3F4E-8446-9301-CCE21A61C26F}"/>
              </a:ext>
            </a:extLst>
          </p:cNvPr>
          <p:cNvSpPr/>
          <p:nvPr/>
        </p:nvSpPr>
        <p:spPr>
          <a:xfrm>
            <a:off x="4545455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4411C89-3226-D14A-B7B3-567D78105AAB}"/>
              </a:ext>
            </a:extLst>
          </p:cNvPr>
          <p:cNvSpPr/>
          <p:nvPr/>
        </p:nvSpPr>
        <p:spPr>
          <a:xfrm>
            <a:off x="2809037" y="4016168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856618F9-217E-4646-A3F9-D0162E5528C7}"/>
              </a:ext>
            </a:extLst>
          </p:cNvPr>
          <p:cNvSpPr/>
          <p:nvPr/>
        </p:nvSpPr>
        <p:spPr>
          <a:xfrm>
            <a:off x="1332189" y="39979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4664C74-EF5C-4D4C-BFA8-17DA9C220975}"/>
              </a:ext>
            </a:extLst>
          </p:cNvPr>
          <p:cNvSpPr/>
          <p:nvPr/>
        </p:nvSpPr>
        <p:spPr>
          <a:xfrm>
            <a:off x="1730364" y="457468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9" name="直接箭头连接符 68">
            <a:extLst>
              <a:ext uri="{FF2B5EF4-FFF2-40B4-BE49-F238E27FC236}">
                <a16:creationId xmlns:a16="http://schemas.microsoft.com/office/drawing/2014/main" id="{582233FB-9B45-B547-82BA-53C64A92C5DC}"/>
              </a:ext>
            </a:extLst>
          </p:cNvPr>
          <p:cNvCxnSpPr>
            <a:stCxn id="100" idx="2"/>
            <a:endCxn id="89" idx="0"/>
          </p:cNvCxnSpPr>
          <p:nvPr/>
        </p:nvCxnSpPr>
        <p:spPr>
          <a:xfrm>
            <a:off x="4084217" y="3212332"/>
            <a:ext cx="160051" cy="533318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0" name="直接箭头连接符 71">
            <a:extLst>
              <a:ext uri="{FF2B5EF4-FFF2-40B4-BE49-F238E27FC236}">
                <a16:creationId xmlns:a16="http://schemas.microsoft.com/office/drawing/2014/main" id="{6377BBC9-A85B-2B4E-A347-C71D8BE2FCDE}"/>
              </a:ext>
            </a:extLst>
          </p:cNvPr>
          <p:cNvCxnSpPr>
            <a:stCxn id="89" idx="0"/>
            <a:endCxn id="101" idx="2"/>
          </p:cNvCxnSpPr>
          <p:nvPr/>
        </p:nvCxnSpPr>
        <p:spPr>
          <a:xfrm flipV="1">
            <a:off x="4244268" y="3212332"/>
            <a:ext cx="214704" cy="533318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1" name="直接箭头连接符 75">
            <a:extLst>
              <a:ext uri="{FF2B5EF4-FFF2-40B4-BE49-F238E27FC236}">
                <a16:creationId xmlns:a16="http://schemas.microsoft.com/office/drawing/2014/main" id="{B847357E-0C2A-624E-8B1B-5179A623F37C}"/>
              </a:ext>
            </a:extLst>
          </p:cNvPr>
          <p:cNvCxnSpPr>
            <a:stCxn id="81" idx="2"/>
            <a:endCxn id="85" idx="0"/>
          </p:cNvCxnSpPr>
          <p:nvPr/>
        </p:nvCxnSpPr>
        <p:spPr>
          <a:xfrm flipH="1">
            <a:off x="1683452" y="4101632"/>
            <a:ext cx="135328" cy="218082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2" name="直接箭头连接符 78">
            <a:extLst>
              <a:ext uri="{FF2B5EF4-FFF2-40B4-BE49-F238E27FC236}">
                <a16:creationId xmlns:a16="http://schemas.microsoft.com/office/drawing/2014/main" id="{C1CE340C-0BA8-6A4E-A669-E8E5CE7DA99C}"/>
              </a:ext>
            </a:extLst>
          </p:cNvPr>
          <p:cNvCxnSpPr>
            <a:stCxn id="97" idx="2"/>
            <a:endCxn id="99" idx="0"/>
          </p:cNvCxnSpPr>
          <p:nvPr/>
        </p:nvCxnSpPr>
        <p:spPr>
          <a:xfrm>
            <a:off x="5533740" y="2805819"/>
            <a:ext cx="0" cy="22798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C2F7463F-16E2-784D-97AA-2D8543E19445}"/>
              </a:ext>
            </a:extLst>
          </p:cNvPr>
          <p:cNvSpPr/>
          <p:nvPr/>
        </p:nvSpPr>
        <p:spPr>
          <a:xfrm>
            <a:off x="5414026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6A49185-3DF2-234D-8BB2-5CF6CB00D7A1}"/>
              </a:ext>
            </a:extLst>
          </p:cNvPr>
          <p:cNvSpPr/>
          <p:nvPr/>
        </p:nvSpPr>
        <p:spPr>
          <a:xfrm>
            <a:off x="5800444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C7314A19-D36E-5C4A-9879-6A29B19022EA}"/>
              </a:ext>
            </a:extLst>
          </p:cNvPr>
          <p:cNvSpPr/>
          <p:nvPr/>
        </p:nvSpPr>
        <p:spPr>
          <a:xfrm>
            <a:off x="6186862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283125C-CF50-A34C-88D6-A2985BBA0870}"/>
              </a:ext>
            </a:extLst>
          </p:cNvPr>
          <p:cNvSpPr/>
          <p:nvPr/>
        </p:nvSpPr>
        <p:spPr>
          <a:xfrm>
            <a:off x="7238077" y="1010546"/>
            <a:ext cx="239309" cy="26151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7F16883E-8F20-B141-8356-29283CB0E426}"/>
              </a:ext>
            </a:extLst>
          </p:cNvPr>
          <p:cNvSpPr txBox="1"/>
          <p:nvPr/>
        </p:nvSpPr>
        <p:spPr>
          <a:xfrm>
            <a:off x="7541658" y="985292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OS</a:t>
            </a:r>
            <a:endParaRPr lang="zh-CN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2FDFB3A-5788-7440-8900-27568D297B13}"/>
              </a:ext>
            </a:extLst>
          </p:cNvPr>
          <p:cNvSpPr/>
          <p:nvPr/>
        </p:nvSpPr>
        <p:spPr>
          <a:xfrm>
            <a:off x="7238077" y="1344125"/>
            <a:ext cx="239309" cy="261513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F9EB3FF2-050F-3F4A-B56C-DEF93163ED25}"/>
              </a:ext>
            </a:extLst>
          </p:cNvPr>
          <p:cNvSpPr txBox="1"/>
          <p:nvPr/>
        </p:nvSpPr>
        <p:spPr>
          <a:xfrm>
            <a:off x="7541658" y="1318871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App</a:t>
            </a:r>
            <a:endParaRPr lang="zh-CN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0ED75FF-DA80-AF4A-8AC6-212A3F220C21}"/>
              </a:ext>
            </a:extLst>
          </p:cNvPr>
          <p:cNvSpPr/>
          <p:nvPr/>
        </p:nvSpPr>
        <p:spPr>
          <a:xfrm>
            <a:off x="7238077" y="1677267"/>
            <a:ext cx="239309" cy="261513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0AA2AEBA-362A-2E40-9E92-D2FE289721DA}"/>
              </a:ext>
            </a:extLst>
          </p:cNvPr>
          <p:cNvSpPr txBox="1"/>
          <p:nvPr/>
        </p:nvSpPr>
        <p:spPr>
          <a:xfrm>
            <a:off x="7541658" y="1652014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逻辑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6B7DDA1-9861-CF42-A38B-A68DFA1733EF}"/>
              </a:ext>
            </a:extLst>
          </p:cNvPr>
          <p:cNvSpPr/>
          <p:nvPr/>
        </p:nvSpPr>
        <p:spPr>
          <a:xfrm>
            <a:off x="2491507" y="2214407"/>
            <a:ext cx="294077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058E3BD-6E8F-564C-AD02-34F460831972}"/>
              </a:ext>
            </a:extLst>
          </p:cNvPr>
          <p:cNvSpPr/>
          <p:nvPr/>
        </p:nvSpPr>
        <p:spPr>
          <a:xfrm>
            <a:off x="2866263" y="2214407"/>
            <a:ext cx="680642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97D2C9A-D02F-B84D-87A9-4645800AAB3D}"/>
              </a:ext>
            </a:extLst>
          </p:cNvPr>
          <p:cNvSpPr/>
          <p:nvPr/>
        </p:nvSpPr>
        <p:spPr>
          <a:xfrm>
            <a:off x="2518832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133D643-668B-CA4F-9179-766C3A57C1AD}"/>
              </a:ext>
            </a:extLst>
          </p:cNvPr>
          <p:cNvSpPr/>
          <p:nvPr/>
        </p:nvSpPr>
        <p:spPr>
          <a:xfrm>
            <a:off x="2893587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38E7CB9-34C8-CD42-80BA-83721DC8F4D4}"/>
              </a:ext>
            </a:extLst>
          </p:cNvPr>
          <p:cNvSpPr/>
          <p:nvPr/>
        </p:nvSpPr>
        <p:spPr>
          <a:xfrm>
            <a:off x="3268343" y="247473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C605443-F6E7-874C-AD9C-EE079F5A7B96}"/>
              </a:ext>
            </a:extLst>
          </p:cNvPr>
          <p:cNvSpPr/>
          <p:nvPr/>
        </p:nvSpPr>
        <p:spPr>
          <a:xfrm>
            <a:off x="2518832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514DBCD-DBE6-E94A-91F1-5111633374C3}"/>
              </a:ext>
            </a:extLst>
          </p:cNvPr>
          <p:cNvSpPr/>
          <p:nvPr/>
        </p:nvSpPr>
        <p:spPr>
          <a:xfrm>
            <a:off x="2893587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32F75F6-9C25-CA47-8EFF-296BEE82BC3C}"/>
              </a:ext>
            </a:extLst>
          </p:cNvPr>
          <p:cNvSpPr/>
          <p:nvPr/>
        </p:nvSpPr>
        <p:spPr>
          <a:xfrm>
            <a:off x="3268343" y="303739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1" name="直接箭头连接符 21">
            <a:extLst>
              <a:ext uri="{FF2B5EF4-FFF2-40B4-BE49-F238E27FC236}">
                <a16:creationId xmlns:a16="http://schemas.microsoft.com/office/drawing/2014/main" id="{1DC7A50A-1635-5F40-9AFF-85285298F594}"/>
              </a:ext>
            </a:extLst>
          </p:cNvPr>
          <p:cNvCxnSpPr>
            <a:endCxn id="84" idx="0"/>
          </p:cNvCxnSpPr>
          <p:nvPr/>
        </p:nvCxnSpPr>
        <p:spPr>
          <a:xfrm flipH="1">
            <a:off x="3265746" y="3223768"/>
            <a:ext cx="130123" cy="733123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CBA7DBF2-9786-3246-8288-F33EC22E4E09}"/>
              </a:ext>
            </a:extLst>
          </p:cNvPr>
          <p:cNvSpPr/>
          <p:nvPr/>
        </p:nvSpPr>
        <p:spPr>
          <a:xfrm>
            <a:off x="3280055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75A29A18-7669-4344-A667-6038D87D90DC}"/>
              </a:ext>
            </a:extLst>
          </p:cNvPr>
          <p:cNvSpPr/>
          <p:nvPr/>
        </p:nvSpPr>
        <p:spPr>
          <a:xfrm>
            <a:off x="4101129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50D36643-7D71-1A46-84D5-9A82827993A2}"/>
              </a:ext>
            </a:extLst>
          </p:cNvPr>
          <p:cNvSpPr/>
          <p:nvPr/>
        </p:nvSpPr>
        <p:spPr>
          <a:xfrm>
            <a:off x="4278443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2467145-B34E-7245-8F87-9B0132DCB8D8}"/>
              </a:ext>
            </a:extLst>
          </p:cNvPr>
          <p:cNvSpPr/>
          <p:nvPr/>
        </p:nvSpPr>
        <p:spPr>
          <a:xfrm>
            <a:off x="6823104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9201BB87-E831-4245-89C3-886393B0E4F1}"/>
              </a:ext>
            </a:extLst>
          </p:cNvPr>
          <p:cNvSpPr/>
          <p:nvPr/>
        </p:nvSpPr>
        <p:spPr>
          <a:xfrm>
            <a:off x="6823104" y="3617411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999252D-6CA9-C349-8FB6-2AE34A4821BE}"/>
              </a:ext>
            </a:extLst>
          </p:cNvPr>
          <p:cNvSpPr/>
          <p:nvPr/>
        </p:nvSpPr>
        <p:spPr>
          <a:xfrm>
            <a:off x="6850429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6703D69-9773-F340-8328-B90C24DC2D0A}"/>
              </a:ext>
            </a:extLst>
          </p:cNvPr>
          <p:cNvSpPr/>
          <p:nvPr/>
        </p:nvSpPr>
        <p:spPr>
          <a:xfrm>
            <a:off x="6823104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F70F6982-FCEA-2C4F-BC46-F17AB29B757E}"/>
              </a:ext>
            </a:extLst>
          </p:cNvPr>
          <p:cNvSpPr/>
          <p:nvPr/>
        </p:nvSpPr>
        <p:spPr>
          <a:xfrm>
            <a:off x="6850429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8C44D258-628C-A743-A95C-80FFDB8F7922}"/>
              </a:ext>
            </a:extLst>
          </p:cNvPr>
          <p:cNvSpPr/>
          <p:nvPr/>
        </p:nvSpPr>
        <p:spPr>
          <a:xfrm>
            <a:off x="7209522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CC69A972-B96E-ED47-AAB7-314B7CB26309}"/>
              </a:ext>
            </a:extLst>
          </p:cNvPr>
          <p:cNvSpPr/>
          <p:nvPr/>
        </p:nvSpPr>
        <p:spPr>
          <a:xfrm>
            <a:off x="7236847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9EF7E4C-6465-9946-9B4C-2EC73DDA6553}"/>
              </a:ext>
            </a:extLst>
          </p:cNvPr>
          <p:cNvSpPr/>
          <p:nvPr/>
        </p:nvSpPr>
        <p:spPr>
          <a:xfrm>
            <a:off x="7209522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4D356FB-DE39-7246-BCC0-005195CE89EC}"/>
              </a:ext>
            </a:extLst>
          </p:cNvPr>
          <p:cNvSpPr/>
          <p:nvPr/>
        </p:nvSpPr>
        <p:spPr>
          <a:xfrm>
            <a:off x="7236847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8FD3CCA-FA48-1143-B208-E2CAA350B05A}"/>
              </a:ext>
            </a:extLst>
          </p:cNvPr>
          <p:cNvSpPr/>
          <p:nvPr/>
        </p:nvSpPr>
        <p:spPr>
          <a:xfrm>
            <a:off x="7595940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09F8F6E-F1B0-C549-ADCD-2D112AF2851B}"/>
              </a:ext>
            </a:extLst>
          </p:cNvPr>
          <p:cNvSpPr/>
          <p:nvPr/>
        </p:nvSpPr>
        <p:spPr>
          <a:xfrm>
            <a:off x="7623265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7E2690E1-D03C-A949-9FFC-D623627DA77E}"/>
              </a:ext>
            </a:extLst>
          </p:cNvPr>
          <p:cNvSpPr/>
          <p:nvPr/>
        </p:nvSpPr>
        <p:spPr>
          <a:xfrm>
            <a:off x="7595940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C5EA946-62A8-5749-82C0-088215D54A25}"/>
              </a:ext>
            </a:extLst>
          </p:cNvPr>
          <p:cNvSpPr/>
          <p:nvPr/>
        </p:nvSpPr>
        <p:spPr>
          <a:xfrm>
            <a:off x="7623265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847C99F-775C-B443-8794-104AC1CDB646}"/>
              </a:ext>
            </a:extLst>
          </p:cNvPr>
          <p:cNvSpPr txBox="1"/>
          <p:nvPr/>
        </p:nvSpPr>
        <p:spPr>
          <a:xfrm>
            <a:off x="6721560" y="4956894"/>
            <a:ext cx="1269998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多内核</a:t>
            </a:r>
          </a:p>
        </p:txBody>
      </p:sp>
      <p:cxnSp>
        <p:nvCxnSpPr>
          <p:cNvPr id="160" name="直接箭头连接符 78">
            <a:extLst>
              <a:ext uri="{FF2B5EF4-FFF2-40B4-BE49-F238E27FC236}">
                <a16:creationId xmlns:a16="http://schemas.microsoft.com/office/drawing/2014/main" id="{B0C009C9-35EF-C945-B454-7942CA93AF2B}"/>
              </a:ext>
            </a:extLst>
          </p:cNvPr>
          <p:cNvCxnSpPr>
            <a:stCxn id="148" idx="2"/>
            <a:endCxn id="150" idx="0"/>
          </p:cNvCxnSpPr>
          <p:nvPr/>
        </p:nvCxnSpPr>
        <p:spPr>
          <a:xfrm>
            <a:off x="6970143" y="2805819"/>
            <a:ext cx="0" cy="22798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479F0441-4E1E-6740-BA9B-9A10AC2D0F33}"/>
              </a:ext>
            </a:extLst>
          </p:cNvPr>
          <p:cNvSpPr/>
          <p:nvPr/>
        </p:nvSpPr>
        <p:spPr>
          <a:xfrm>
            <a:off x="6850429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DA60E2A-68C1-2743-8FB5-997CE33A804C}"/>
              </a:ext>
            </a:extLst>
          </p:cNvPr>
          <p:cNvSpPr/>
          <p:nvPr/>
        </p:nvSpPr>
        <p:spPr>
          <a:xfrm>
            <a:off x="7236847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12E5F0E-FD83-6B4A-B8C5-A7CB5186AE94}"/>
              </a:ext>
            </a:extLst>
          </p:cNvPr>
          <p:cNvSpPr/>
          <p:nvPr/>
        </p:nvSpPr>
        <p:spPr>
          <a:xfrm>
            <a:off x="7623265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F4064531-8AAE-404C-832B-2C8B8EEC597D}"/>
              </a:ext>
            </a:extLst>
          </p:cNvPr>
          <p:cNvSpPr/>
          <p:nvPr/>
        </p:nvSpPr>
        <p:spPr>
          <a:xfrm>
            <a:off x="7209522" y="3613718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D7F22FB-2854-8C46-9707-B2C7EF6B5DE9}"/>
              </a:ext>
            </a:extLst>
          </p:cNvPr>
          <p:cNvSpPr/>
          <p:nvPr/>
        </p:nvSpPr>
        <p:spPr>
          <a:xfrm>
            <a:off x="7595939" y="3617410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43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多内核</a:t>
            </a:r>
            <a:r>
              <a:rPr kumimoji="1" lang="en-US" altLang="zh-CN" dirty="0"/>
              <a:t>/</a:t>
            </a:r>
            <a:r>
              <a:rPr kumimoji="1" lang="zh-CN" altLang="en-US" dirty="0"/>
              <a:t>复内核（</a:t>
            </a:r>
            <a:r>
              <a:rPr kumimoji="1" lang="en-US" altLang="zh-CN" dirty="0"/>
              <a:t>Multi-Kernel</a:t>
            </a:r>
            <a:r>
              <a:rPr kumimoji="1" lang="zh-CN" altLang="en-US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01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DA6C6-4C26-4246-A3AC-18AA02C5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多内核</a:t>
            </a:r>
            <a:r>
              <a:rPr kumimoji="1" lang="en-US" altLang="zh-CN" sz="3200" dirty="0"/>
              <a:t>/</a:t>
            </a:r>
            <a:r>
              <a:rPr kumimoji="1" lang="zh-CN" altLang="en-US" sz="3200" dirty="0"/>
              <a:t>复内核（</a:t>
            </a:r>
            <a:r>
              <a:rPr kumimoji="1" lang="en-US" altLang="zh-CN" sz="3200" dirty="0" err="1"/>
              <a:t>Multikernel</a:t>
            </a:r>
            <a:r>
              <a:rPr kumimoji="1" lang="zh-CN" altLang="en-US" sz="32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4DE7A-7DB4-E24F-B72E-71715225F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背景：多核与异构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内部维护很多共享状态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Cache</a:t>
            </a:r>
            <a:r>
              <a:rPr kumimoji="1" lang="zh-CN" altLang="en-US" sz="1800" dirty="0"/>
              <a:t>一致性的保证越来越难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可扩展性非常差，核数增多，性能不升反降</a:t>
            </a:r>
            <a:endParaRPr kumimoji="1" lang="en-US" altLang="zh-CN" sz="1800" dirty="0"/>
          </a:p>
          <a:p>
            <a:pPr lvl="1"/>
            <a:r>
              <a:rPr kumimoji="1" lang="en-US" altLang="zh-CN" sz="2000" dirty="0"/>
              <a:t>GPU</a:t>
            </a:r>
            <a:r>
              <a:rPr kumimoji="1" lang="zh-CN" altLang="en-US" sz="2000" dirty="0"/>
              <a:t>等设备越来越多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设备本身越来越智能</a:t>
            </a:r>
            <a:r>
              <a:rPr kumimoji="1" lang="en-US" altLang="zh-CN" sz="1800" dirty="0"/>
              <a:t>——</a:t>
            </a:r>
            <a:r>
              <a:rPr kumimoji="1" lang="zh-CN" altLang="en-US" sz="1800" dirty="0"/>
              <a:t>设备有自己的</a:t>
            </a:r>
            <a:r>
              <a:rPr kumimoji="1" lang="en-US" altLang="zh-CN" sz="1800" dirty="0"/>
              <a:t>CPU</a:t>
            </a:r>
          </a:p>
          <a:p>
            <a:pPr lvl="2"/>
            <a:r>
              <a:rPr kumimoji="1" lang="zh-CN" altLang="en-US" sz="1800" dirty="0"/>
              <a:t>通过</a:t>
            </a:r>
            <a:r>
              <a:rPr kumimoji="1" lang="en-US" altLang="zh-CN" sz="1800" dirty="0"/>
              <a:t>PCIe</a:t>
            </a:r>
            <a:r>
              <a:rPr kumimoji="1" lang="zh-CN" altLang="en-US" sz="1800" dirty="0"/>
              <a:t>连接，主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与设备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之间通信非常慢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通过系统总线连接，异构</a:t>
            </a:r>
            <a:r>
              <a:rPr kumimoji="1" lang="en-US" altLang="zh-CN" sz="1800" dirty="0"/>
              <a:t>SoC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System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Chip</a:t>
            </a:r>
            <a:r>
              <a:rPr kumimoji="1" lang="zh-CN" altLang="en-US" sz="1800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FA7DBE-F42D-5149-98E1-F8027591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0CEA1E-E6F1-EB48-93B4-5CD4065F6684}"/>
              </a:ext>
            </a:extLst>
          </p:cNvPr>
          <p:cNvSpPr/>
          <p:nvPr/>
        </p:nvSpPr>
        <p:spPr>
          <a:xfrm>
            <a:off x="6553200" y="841276"/>
            <a:ext cx="1800200" cy="180020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D6B82E-38B5-8246-9433-3B17C904766D}"/>
              </a:ext>
            </a:extLst>
          </p:cNvPr>
          <p:cNvSpPr/>
          <p:nvPr/>
        </p:nvSpPr>
        <p:spPr>
          <a:xfrm>
            <a:off x="6803682" y="1076494"/>
            <a:ext cx="584448" cy="58444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8FB311-1BD5-3B48-A2E1-34C2BFC1F09C}"/>
              </a:ext>
            </a:extLst>
          </p:cNvPr>
          <p:cNvSpPr/>
          <p:nvPr/>
        </p:nvSpPr>
        <p:spPr>
          <a:xfrm>
            <a:off x="7524045" y="1076494"/>
            <a:ext cx="584448" cy="58444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endParaRPr kumimoji="1"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EABF3D-506B-E047-A5CC-47866CC6A8DA}"/>
              </a:ext>
            </a:extLst>
          </p:cNvPr>
          <p:cNvSpPr/>
          <p:nvPr/>
        </p:nvSpPr>
        <p:spPr>
          <a:xfrm>
            <a:off x="6803682" y="1852767"/>
            <a:ext cx="584448" cy="58444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GPU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B244A5-7E17-D449-89CE-D0F9E13DD104}"/>
              </a:ext>
            </a:extLst>
          </p:cNvPr>
          <p:cNvSpPr/>
          <p:nvPr/>
        </p:nvSpPr>
        <p:spPr>
          <a:xfrm>
            <a:off x="7524045" y="1860717"/>
            <a:ext cx="584448" cy="58444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NPU</a:t>
            </a:r>
            <a:endParaRPr kumimoji="1"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21DB1F-663C-554C-9A51-B41EE413B3C3}"/>
              </a:ext>
            </a:extLst>
          </p:cNvPr>
          <p:cNvSpPr/>
          <p:nvPr/>
        </p:nvSpPr>
        <p:spPr>
          <a:xfrm>
            <a:off x="6575107" y="452349"/>
            <a:ext cx="17782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b="1" dirty="0"/>
              <a:t>System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on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Chip</a:t>
            </a:r>
            <a:endParaRPr lang="zh-CN" altLang="en-US" sz="16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A6A2D5-7DBA-0B42-8BEC-C24944087ACC}"/>
              </a:ext>
            </a:extLst>
          </p:cNvPr>
          <p:cNvSpPr/>
          <p:nvPr/>
        </p:nvSpPr>
        <p:spPr>
          <a:xfrm>
            <a:off x="7524045" y="3937620"/>
            <a:ext cx="584448" cy="58444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GPU</a:t>
            </a:r>
            <a:endParaRPr kumimoji="1" lang="zh-CN" altLang="en-US" sz="1400" dirty="0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2867CF6D-4B14-7E44-95C6-4A9D5E1923C8}"/>
              </a:ext>
            </a:extLst>
          </p:cNvPr>
          <p:cNvCxnSpPr>
            <a:endCxn id="12" idx="0"/>
          </p:cNvCxnSpPr>
          <p:nvPr/>
        </p:nvCxnSpPr>
        <p:spPr>
          <a:xfrm>
            <a:off x="7816269" y="2636990"/>
            <a:ext cx="0" cy="130063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95A55A68-2E33-C842-9671-4FEE554CD438}"/>
              </a:ext>
            </a:extLst>
          </p:cNvPr>
          <p:cNvSpPr/>
          <p:nvPr/>
        </p:nvSpPr>
        <p:spPr>
          <a:xfrm>
            <a:off x="7797653" y="3123754"/>
            <a:ext cx="17782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b="1" dirty="0"/>
              <a:t>PCIe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3880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DA6C6-4C26-4246-A3AC-18AA02C5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Multikernel</a:t>
            </a:r>
            <a:r>
              <a:rPr kumimoji="1" lang="zh-CN" altLang="en-US" dirty="0"/>
              <a:t>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4DE7A-7DB4-E24F-B72E-71715225F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 err="1"/>
              <a:t>Multikernel</a:t>
            </a:r>
            <a:r>
              <a:rPr kumimoji="1" lang="zh-CN" altLang="en-US" sz="2000" dirty="0"/>
              <a:t>的思路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默认的状态是划分而不是共享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维持多份状态的</a:t>
            </a:r>
            <a:r>
              <a:rPr kumimoji="1" lang="en-US" altLang="zh-CN" sz="1800" dirty="0"/>
              <a:t>copy</a:t>
            </a:r>
            <a:r>
              <a:rPr kumimoji="1" lang="zh-CN" altLang="en-US" sz="1800" dirty="0"/>
              <a:t>而不是共享一份状态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显式的核间通信机制</a:t>
            </a:r>
            <a:endParaRPr kumimoji="1" lang="en-US" altLang="zh-CN" sz="1800" dirty="0"/>
          </a:p>
          <a:p>
            <a:r>
              <a:rPr kumimoji="1" lang="en-US" altLang="zh-CN" sz="2000" dirty="0" err="1"/>
              <a:t>Multikernel</a:t>
            </a:r>
            <a:r>
              <a:rPr kumimoji="1" lang="zh-CN" altLang="en-US" sz="2000" dirty="0"/>
              <a:t>的设计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在每个</a:t>
            </a:r>
            <a:r>
              <a:rPr kumimoji="1" lang="en-US" altLang="zh-CN" sz="1800" dirty="0"/>
              <a:t>core</a:t>
            </a:r>
            <a:r>
              <a:rPr kumimoji="1" lang="zh-CN" altLang="en-US" sz="1800" dirty="0"/>
              <a:t>上运行一个小内核</a:t>
            </a:r>
            <a:endParaRPr kumimoji="1" lang="en-US" altLang="zh-CN" sz="1800" dirty="0"/>
          </a:p>
          <a:p>
            <a:pPr lvl="2"/>
            <a:r>
              <a:rPr kumimoji="1" lang="zh-CN" altLang="en-US" sz="1400" dirty="0"/>
              <a:t>包括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GPU</a:t>
            </a:r>
            <a:r>
              <a:rPr kumimoji="1" lang="zh-CN" altLang="en-US" sz="1400" dirty="0"/>
              <a:t>等</a:t>
            </a:r>
            <a:endParaRPr kumimoji="1" lang="en-US" altLang="zh-CN" sz="14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整体是一个分布式系统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应用程序依然运行在</a:t>
            </a:r>
            <a:r>
              <a:rPr kumimoji="1" lang="en-US" altLang="zh-CN" sz="1800" dirty="0"/>
              <a:t>OS</a:t>
            </a:r>
            <a:r>
              <a:rPr kumimoji="1" lang="zh-CN" altLang="en-US" sz="1800" dirty="0"/>
              <a:t>之上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FA7DBE-F42D-5149-98E1-F8027591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855E50-8BD5-4D40-BD78-7CC2BF722D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6890" y="2929508"/>
            <a:ext cx="4510906" cy="203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1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472D9-F17B-9A43-8B22-25DF56D5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Barrelfish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Multikernel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BA11C8-4280-C14D-A51F-FCAAB83D8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Barrelfish</a:t>
            </a:r>
            <a:r>
              <a:rPr kumimoji="1" lang="zh-CN" altLang="en-US" dirty="0"/>
              <a:t>操作系统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来自</a:t>
            </a:r>
            <a:r>
              <a:rPr kumimoji="1" lang="en-US" altLang="zh-CN" dirty="0"/>
              <a:t>ETH</a:t>
            </a:r>
            <a:r>
              <a:rPr kumimoji="1" lang="zh-CN" altLang="en-US" dirty="0"/>
              <a:t> </a:t>
            </a:r>
            <a:r>
              <a:rPr kumimoji="1" lang="en-US" altLang="zh-CN" dirty="0"/>
              <a:t>Zurich</a:t>
            </a:r>
            <a:r>
              <a:rPr kumimoji="1" lang="zh-CN" altLang="en-US" dirty="0"/>
              <a:t>和微软研究院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支持异构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核与节点之间提供通用异构消息抽象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大约</a:t>
            </a:r>
            <a:r>
              <a:rPr kumimoji="1" lang="en-US" altLang="zh-CN" dirty="0"/>
              <a:t>10,000</a:t>
            </a:r>
            <a:r>
              <a:rPr kumimoji="1" lang="zh-CN" altLang="en-US" dirty="0"/>
              <a:t>行</a:t>
            </a:r>
            <a:r>
              <a:rPr kumimoji="1" lang="en-US" altLang="zh-CN" dirty="0"/>
              <a:t>C</a:t>
            </a:r>
            <a:r>
              <a:rPr kumimoji="1" lang="zh-CN" altLang="en-US" dirty="0"/>
              <a:t>，</a:t>
            </a:r>
            <a:r>
              <a:rPr kumimoji="1" lang="en-US" altLang="zh-CN" dirty="0"/>
              <a:t>500</a:t>
            </a:r>
            <a:r>
              <a:rPr kumimoji="1" lang="zh-CN" altLang="en-US" dirty="0"/>
              <a:t>行汇编代码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DD3FDF-1758-224D-BFF4-B9C63694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2F0300-CEAF-6042-A516-DA7C46BA82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5884" y="189176"/>
            <a:ext cx="208823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0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091DB48-24C5-0648-B283-E642DC9015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8911" y="165492"/>
            <a:ext cx="4443831" cy="548613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7363722-E605-2141-89E8-04996D7F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 err="1"/>
              <a:t>Barrelfish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Structure</a:t>
            </a:r>
            <a:endParaRPr kumimoji="1"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89D7A0-44A7-7040-A032-43405AC20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1800" dirty="0"/>
              <a:t>内核：每个</a:t>
            </a:r>
            <a:r>
              <a:rPr kumimoji="1" lang="en-US" altLang="zh-CN" sz="1800" dirty="0"/>
              <a:t>core</a:t>
            </a:r>
            <a:r>
              <a:rPr kumimoji="1" lang="zh-CN" altLang="en-US" sz="1800" dirty="0"/>
              <a:t>对应一个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类似</a:t>
            </a:r>
            <a:r>
              <a:rPr kumimoji="1" lang="en-US" altLang="zh-CN" sz="1600" dirty="0"/>
              <a:t>"CPU</a:t>
            </a:r>
            <a:r>
              <a:rPr kumimoji="1" lang="zh-CN" altLang="en-US" sz="1600" dirty="0"/>
              <a:t>驱动</a:t>
            </a:r>
            <a:r>
              <a:rPr kumimoji="1" lang="en-US" altLang="zh-CN" sz="1600" dirty="0"/>
              <a:t>"</a:t>
            </a:r>
            <a:r>
              <a:rPr kumimoji="1" lang="zh-CN" altLang="en-US" sz="1600" dirty="0"/>
              <a:t>，适应不同</a:t>
            </a:r>
            <a:r>
              <a:rPr kumimoji="1" lang="en-US" altLang="zh-CN" sz="1600" dirty="0"/>
              <a:t>CPU</a:t>
            </a:r>
          </a:p>
          <a:p>
            <a:pPr lvl="1"/>
            <a:r>
              <a:rPr kumimoji="1" lang="zh-CN" altLang="en-US" sz="1600" dirty="0"/>
              <a:t>负责执行系统调用，处理中断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异常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事件触发，单线程，不可中断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内核调度并运行</a:t>
            </a:r>
            <a:r>
              <a:rPr kumimoji="1" lang="en-US" altLang="zh-CN" sz="1600" dirty="0"/>
              <a:t>"</a:t>
            </a:r>
            <a:r>
              <a:rPr kumimoji="1" lang="en-US" altLang="zh-CN" sz="1600" dirty="0">
                <a:solidFill>
                  <a:schemeClr val="accent1"/>
                </a:solidFill>
              </a:rPr>
              <a:t>Dispatcher</a:t>
            </a:r>
            <a:r>
              <a:rPr kumimoji="1" lang="en-US" altLang="zh-CN" sz="1600" dirty="0"/>
              <a:t>"</a:t>
            </a:r>
          </a:p>
          <a:p>
            <a:r>
              <a:rPr kumimoji="1" lang="en-US" altLang="zh-CN" sz="1800" dirty="0"/>
              <a:t>Dispatcher</a:t>
            </a:r>
          </a:p>
          <a:p>
            <a:pPr lvl="1"/>
            <a:r>
              <a:rPr kumimoji="1" lang="zh-CN" altLang="en-US" sz="1600" dirty="0"/>
              <a:t>类似线程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多个</a:t>
            </a:r>
            <a:r>
              <a:rPr kumimoji="1" lang="en-US" altLang="zh-CN" sz="1600" dirty="0">
                <a:solidFill>
                  <a:schemeClr val="accent1"/>
                </a:solidFill>
              </a:rPr>
              <a:t>Dispatcher</a:t>
            </a:r>
            <a:r>
              <a:rPr kumimoji="1" lang="zh-CN" altLang="en-US" sz="1600" dirty="0"/>
              <a:t>组成一个</a:t>
            </a:r>
            <a:r>
              <a:rPr kumimoji="1" lang="en-US" altLang="zh-CN" sz="1600" dirty="0">
                <a:solidFill>
                  <a:schemeClr val="accent1"/>
                </a:solidFill>
              </a:rPr>
              <a:t>Domain</a:t>
            </a:r>
          </a:p>
          <a:p>
            <a:r>
              <a:rPr kumimoji="1" lang="en-US" altLang="zh-CN" sz="1800" dirty="0"/>
              <a:t>Domain</a:t>
            </a:r>
          </a:p>
          <a:p>
            <a:pPr lvl="1"/>
            <a:r>
              <a:rPr kumimoji="1" lang="zh-CN" altLang="en-US" sz="1600" dirty="0"/>
              <a:t>类似进程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CFEA02-1EE0-8F4C-B3C1-CCB806D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49BAFA-6961-0341-BBA2-2DBE8754F6B6}"/>
              </a:ext>
            </a:extLst>
          </p:cNvPr>
          <p:cNvSpPr/>
          <p:nvPr/>
        </p:nvSpPr>
        <p:spPr>
          <a:xfrm>
            <a:off x="457800" y="530870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http://www.barrelfish.org/documentation.html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48F572-1ABC-B846-B955-64487736FC4F}"/>
              </a:ext>
            </a:extLst>
          </p:cNvPr>
          <p:cNvSpPr txBox="1"/>
          <p:nvPr/>
        </p:nvSpPr>
        <p:spPr>
          <a:xfrm>
            <a:off x="6852222" y="1849388"/>
            <a:ext cx="18036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User-level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Message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Passing</a:t>
            </a:r>
            <a:endParaRPr kumimoji="1" lang="zh-CN" altLang="en-US" sz="1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ED8C59-4865-7E4E-B03E-A3888E844B63}"/>
              </a:ext>
            </a:extLst>
          </p:cNvPr>
          <p:cNvSpPr txBox="1"/>
          <p:nvPr/>
        </p:nvSpPr>
        <p:spPr>
          <a:xfrm>
            <a:off x="6852222" y="1222113"/>
            <a:ext cx="1824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Local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Message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Passing</a:t>
            </a:r>
            <a:endParaRPr kumimoji="1" lang="zh-CN" altLang="en-US" sz="1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E3523D-3B1F-A44A-A4EE-2508F843E302}"/>
              </a:ext>
            </a:extLst>
          </p:cNvPr>
          <p:cNvSpPr txBox="1"/>
          <p:nvPr/>
        </p:nvSpPr>
        <p:spPr>
          <a:xfrm>
            <a:off x="5795766" y="337220"/>
            <a:ext cx="1824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BOMP:</a:t>
            </a:r>
            <a:r>
              <a:rPr kumimoji="1" lang="zh-CN" altLang="en-US" sz="1000" dirty="0"/>
              <a:t> </a:t>
            </a:r>
            <a:r>
              <a:rPr kumimoji="1" lang="en-US" altLang="zh-CN" sz="1000" dirty="0" err="1"/>
              <a:t>Barrelfish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OpenMP</a:t>
            </a:r>
            <a:endParaRPr kumimoji="1" lang="zh-CN" altLang="en-US" sz="1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3E6580-5136-2D4A-93FC-5C5CF52CF206}"/>
              </a:ext>
            </a:extLst>
          </p:cNvPr>
          <p:cNvSpPr txBox="1"/>
          <p:nvPr/>
        </p:nvSpPr>
        <p:spPr>
          <a:xfrm>
            <a:off x="4572000" y="3103903"/>
            <a:ext cx="1824234" cy="61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/>
              <a:t>SKB:</a:t>
            </a:r>
            <a:r>
              <a:rPr kumimoji="1" lang="zh-CN" altLang="en-US" sz="900" dirty="0"/>
              <a:t> </a:t>
            </a:r>
            <a:r>
              <a:rPr kumimoji="1" lang="en-US" altLang="zh-CN" sz="900" dirty="0"/>
              <a:t>System</a:t>
            </a:r>
            <a:r>
              <a:rPr kumimoji="1" lang="zh-CN" altLang="en-US" sz="900" dirty="0"/>
              <a:t> </a:t>
            </a:r>
            <a:br>
              <a:rPr kumimoji="1" lang="en-US" altLang="zh-CN" sz="900" dirty="0"/>
            </a:br>
            <a:r>
              <a:rPr kumimoji="1" lang="en-US" altLang="zh-CN" sz="900" dirty="0"/>
              <a:t>Knowledge</a:t>
            </a:r>
            <a:r>
              <a:rPr kumimoji="1" lang="zh-CN" altLang="en-US" sz="900" dirty="0"/>
              <a:t> </a:t>
            </a:r>
            <a:r>
              <a:rPr kumimoji="1" lang="en-US" altLang="zh-CN" sz="900" dirty="0"/>
              <a:t>Base</a:t>
            </a:r>
          </a:p>
          <a:p>
            <a:pPr>
              <a:lnSpc>
                <a:spcPct val="130000"/>
              </a:lnSpc>
            </a:pPr>
            <a:r>
              <a:rPr kumimoji="1" lang="zh-CN" altLang="en-US" sz="900" dirty="0"/>
              <a:t>类似 </a:t>
            </a:r>
            <a:r>
              <a:rPr kumimoji="1" lang="en-US" altLang="zh-CN" sz="900" dirty="0"/>
              <a:t>/proc</a:t>
            </a:r>
            <a:endParaRPr kumimoji="1"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3594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607DA-5B3B-0849-857C-EBFEED26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Popcorn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Linux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70972-2669-8F44-8B80-8166FFF0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支持异构体系结构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ARM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x86</a:t>
            </a:r>
            <a:r>
              <a:rPr kumimoji="1" lang="zh-CN" altLang="en-US" sz="2000" dirty="0"/>
              <a:t>等</a:t>
            </a:r>
            <a:endParaRPr kumimoji="1" lang="en-US" altLang="zh-CN" sz="2000" dirty="0"/>
          </a:p>
          <a:p>
            <a:r>
              <a:rPr kumimoji="1" lang="zh-CN" altLang="en-US" sz="2000" dirty="0"/>
              <a:t>多个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内核副本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一套代码编译不同副本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不同</a:t>
            </a:r>
            <a:r>
              <a:rPr kumimoji="1" lang="en-US" altLang="zh-CN" sz="2000" dirty="0"/>
              <a:t>ISA</a:t>
            </a:r>
            <a:r>
              <a:rPr kumimoji="1" lang="zh-CN" altLang="en-US" sz="2000" dirty="0"/>
              <a:t>不同副本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多个副本同时向上提供</a:t>
            </a:r>
            <a:br>
              <a:rPr kumimoji="1" lang="en-US" altLang="zh-CN" sz="2000" dirty="0"/>
            </a:br>
            <a:r>
              <a:rPr kumimoji="1" lang="en-US" altLang="zh-CN" sz="2000" dirty="0"/>
              <a:t>OS</a:t>
            </a:r>
            <a:r>
              <a:rPr kumimoji="1" lang="zh-CN" altLang="en-US" sz="2000" dirty="0"/>
              <a:t>服务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CAD68-48DA-8947-AC3B-C6E43674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1A829E-5849-FC44-9099-D49967180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79" y="1196859"/>
            <a:ext cx="4788024" cy="34440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49FDB54-DC49-3048-A106-85A9A86AF1E4}"/>
              </a:ext>
            </a:extLst>
          </p:cNvPr>
          <p:cNvSpPr/>
          <p:nvPr/>
        </p:nvSpPr>
        <p:spPr>
          <a:xfrm>
            <a:off x="4267200" y="530648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</a:rPr>
              <a:t>http://</a:t>
            </a:r>
            <a:r>
              <a:rPr lang="en-US" altLang="zh-CN" sz="1400" dirty="0" err="1">
                <a:solidFill>
                  <a:schemeClr val="tx2"/>
                </a:solidFill>
              </a:rPr>
              <a:t>www.popcornlinux.org</a:t>
            </a:r>
            <a:r>
              <a:rPr lang="en-US" altLang="zh-CN" sz="1400" dirty="0">
                <a:solidFill>
                  <a:schemeClr val="tx2"/>
                </a:solidFill>
              </a:rPr>
              <a:t>/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09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4F8ED-7B5B-334A-9C11-9A0402F0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操作系统结构的演进与生态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F0350-9687-A94B-88A7-DDFBD73B5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系统软件需要一条演进之路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尽可能集成现有的</a:t>
            </a:r>
            <a:r>
              <a:rPr kumimoji="1" lang="en-US" altLang="zh-CN" sz="2000" dirty="0"/>
              <a:t>POSIX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API/Linux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ABI</a:t>
            </a:r>
          </a:p>
          <a:p>
            <a:pPr lvl="1"/>
            <a:r>
              <a:rPr kumimoji="1" lang="zh-CN" altLang="en-US" sz="2000" dirty="0"/>
              <a:t>避免棘手的系统调用（如</a:t>
            </a:r>
            <a:r>
              <a:rPr kumimoji="1" lang="en-US" altLang="zh-CN" sz="2000" dirty="0"/>
              <a:t>fork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避免不可扩展的</a:t>
            </a:r>
            <a:r>
              <a:rPr kumimoji="1" lang="en-US" altLang="zh-CN" sz="2000" dirty="0"/>
              <a:t>POSIX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API</a:t>
            </a:r>
          </a:p>
          <a:p>
            <a:r>
              <a:rPr kumimoji="1" lang="zh-CN" altLang="en-US" sz="2000" dirty="0"/>
              <a:t>系统软件一直在不断演化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例：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Userspace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(UIO)</a:t>
            </a:r>
            <a:r>
              <a:rPr kumimoji="1" lang="zh-CN" altLang="en-US" sz="2000" dirty="0"/>
              <a:t>，向微内核近了一步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单节点下也存在更多的分布式、低时延的可编程设备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非易失性内存的出现可能推动存储层次在</a:t>
            </a:r>
            <a:r>
              <a:rPr kumimoji="1" lang="en-US" altLang="zh-CN" sz="2000" dirty="0"/>
              <a:t>OS</a:t>
            </a:r>
            <a:r>
              <a:rPr kumimoji="1" lang="zh-CN" altLang="en-US" sz="2000" dirty="0"/>
              <a:t>中的完全改革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6ABA1-CD7D-D949-BA10-7FA34245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648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简介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8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76D15-101E-A84F-86CD-42B87647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ARM:</a:t>
            </a:r>
            <a:r>
              <a:rPr kumimoji="1" lang="zh-CN" altLang="en-US" dirty="0"/>
              <a:t> 从智能手机到全平台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D73BFD-F025-6A43-A609-BB882770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1EFA1A-7DEA-594D-897B-1016F30D1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75" y="2285209"/>
            <a:ext cx="1804275" cy="14401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72F246-FE1D-794A-97C1-9BE139D5B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680" y="2281436"/>
            <a:ext cx="1494971" cy="1449669"/>
          </a:xfrm>
          <a:prstGeom prst="rect">
            <a:avLst/>
          </a:prstGeom>
        </p:spPr>
      </p:pic>
      <p:pic>
        <p:nvPicPr>
          <p:cNvPr id="1026" name="Picture 2" descr="从RISC到ARM，中国厂商在服务器芯片上有了一席之地- OFweek智能硬件网">
            <a:extLst>
              <a:ext uri="{FF2B5EF4-FFF2-40B4-BE49-F238E27FC236}">
                <a16:creationId xmlns:a16="http://schemas.microsoft.com/office/drawing/2014/main" id="{47D63855-8589-D74A-B10B-1200348A9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281436"/>
            <a:ext cx="2173442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946653B-4DAA-2D41-A057-1ECD982F55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6381" y="2281436"/>
            <a:ext cx="1440160" cy="144016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A7E4D8E-B10A-BF45-B7A6-F58384453D19}"/>
              </a:ext>
            </a:extLst>
          </p:cNvPr>
          <p:cNvSpPr txBox="1"/>
          <p:nvPr/>
        </p:nvSpPr>
        <p:spPr>
          <a:xfrm>
            <a:off x="641675" y="4009628"/>
            <a:ext cx="1804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/>
              <a:t>华为 </a:t>
            </a:r>
            <a:r>
              <a:rPr kumimoji="1" lang="en-US" altLang="zh-CN" b="1" dirty="0"/>
              <a:t>-</a:t>
            </a:r>
            <a:r>
              <a:rPr kumimoji="1" lang="zh-CN" altLang="en-US" b="1" dirty="0"/>
              <a:t> 麒麟</a:t>
            </a:r>
            <a:r>
              <a:rPr kumimoji="1" lang="en-US" altLang="zh-CN" b="1" dirty="0"/>
              <a:t>990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8B5F67-69FA-B748-B409-A748A8886ABB}"/>
              </a:ext>
            </a:extLst>
          </p:cNvPr>
          <p:cNvSpPr txBox="1"/>
          <p:nvPr/>
        </p:nvSpPr>
        <p:spPr>
          <a:xfrm>
            <a:off x="2594027" y="4009628"/>
            <a:ext cx="1804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/>
              <a:t>苹果 </a:t>
            </a:r>
            <a:r>
              <a:rPr kumimoji="1" lang="en-US" altLang="zh-CN" b="1" dirty="0"/>
              <a:t>–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A11</a:t>
            </a:r>
            <a:endParaRPr lang="zh-CN" altLang="en-US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4E59FE-D903-2E49-A3AF-2B61469C4C47}"/>
              </a:ext>
            </a:extLst>
          </p:cNvPr>
          <p:cNvSpPr txBox="1"/>
          <p:nvPr/>
        </p:nvSpPr>
        <p:spPr>
          <a:xfrm>
            <a:off x="4368024" y="4009628"/>
            <a:ext cx="1804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/>
              <a:t>苹果 </a:t>
            </a:r>
            <a:r>
              <a:rPr kumimoji="1" lang="en-US" altLang="zh-CN" b="1" dirty="0"/>
              <a:t>–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M1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4A14BB-37F2-6E4E-85F6-163FF1609F3F}"/>
              </a:ext>
            </a:extLst>
          </p:cNvPr>
          <p:cNvSpPr txBox="1"/>
          <p:nvPr/>
        </p:nvSpPr>
        <p:spPr>
          <a:xfrm>
            <a:off x="6553200" y="4009628"/>
            <a:ext cx="1804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/>
              <a:t>华为 </a:t>
            </a:r>
            <a:r>
              <a:rPr kumimoji="1" lang="en-US" altLang="zh-CN" b="1" dirty="0"/>
              <a:t>–</a:t>
            </a:r>
            <a:r>
              <a:rPr kumimoji="1" lang="zh-CN" altLang="en-US" b="1" dirty="0"/>
              <a:t> 鲲鹏</a:t>
            </a:r>
            <a:r>
              <a:rPr kumimoji="1" lang="en-US" altLang="zh-CN" b="1" dirty="0"/>
              <a:t>920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36988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30B71-00D5-914B-A302-4CF92E34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发展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E421F8-FCDC-A640-B2EB-284EACEDD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lang="en" altLang="zh-CN" dirty="0"/>
              <a:t>ARMv4</a:t>
            </a:r>
            <a:r>
              <a:rPr lang="zh-CN" altLang="en" dirty="0"/>
              <a:t>及</a:t>
            </a:r>
            <a:r>
              <a:rPr lang="zh-CN" altLang="en-US" dirty="0"/>
              <a:t>之前</a:t>
            </a:r>
            <a:r>
              <a:rPr lang="zh-CN" altLang="en-US" b="0" dirty="0"/>
              <a:t>：</a:t>
            </a:r>
            <a:r>
              <a:rPr kumimoji="1" lang="en-US" altLang="zh-CN" b="0" dirty="0"/>
              <a:t>ARM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32</a:t>
            </a:r>
            <a:r>
              <a:rPr kumimoji="1" lang="zh-CN" altLang="en-US" b="0" dirty="0"/>
              <a:t>位指令集</a:t>
            </a:r>
            <a:endParaRPr kumimoji="1" lang="en-US" altLang="zh-CN" b="0" dirty="0"/>
          </a:p>
          <a:p>
            <a:r>
              <a:rPr kumimoji="1" lang="en" altLang="zh-CN" dirty="0"/>
              <a:t>ARMv4T</a:t>
            </a:r>
            <a:r>
              <a:rPr kumimoji="1" lang="zh-CN" altLang="en-US" dirty="0"/>
              <a:t>、</a:t>
            </a:r>
            <a:r>
              <a:rPr lang="en" altLang="zh-CN" dirty="0"/>
              <a:t>ARMv5TE</a:t>
            </a:r>
            <a:r>
              <a:rPr lang="zh-CN" altLang="en-US" b="0" dirty="0"/>
              <a:t>：</a:t>
            </a:r>
            <a:r>
              <a:rPr kumimoji="1" lang="zh-CN" altLang="en-US" b="0" dirty="0"/>
              <a:t>加入</a:t>
            </a:r>
            <a:r>
              <a:rPr kumimoji="1" lang="en" altLang="zh-CN" b="0" dirty="0"/>
              <a:t>Thumb 16</a:t>
            </a:r>
            <a:r>
              <a:rPr kumimoji="1" lang="zh-CN" altLang="en" b="0" dirty="0"/>
              <a:t>位</a:t>
            </a:r>
            <a:r>
              <a:rPr kumimoji="1" lang="zh-CN" altLang="en-US" b="0" dirty="0"/>
              <a:t>指令集</a:t>
            </a:r>
            <a:endParaRPr kumimoji="1" lang="en-US" altLang="zh-CN" b="0" dirty="0"/>
          </a:p>
          <a:p>
            <a:r>
              <a:rPr lang="en" altLang="zh-CN" dirty="0"/>
              <a:t>ARMv6</a:t>
            </a:r>
            <a:r>
              <a:rPr lang="zh-CN" altLang="en-US" b="0" dirty="0"/>
              <a:t>：</a:t>
            </a:r>
            <a:r>
              <a:rPr kumimoji="1" lang="zh-CN" altLang="en" b="0" dirty="0"/>
              <a:t>多核</a:t>
            </a:r>
            <a:r>
              <a:rPr kumimoji="1" lang="zh-CN" altLang="en-US" b="0" dirty="0"/>
              <a:t>、</a:t>
            </a:r>
            <a:r>
              <a:rPr kumimoji="1" lang="en-US" altLang="zh-CN" b="0" dirty="0"/>
              <a:t>SIMD</a:t>
            </a:r>
            <a:r>
              <a:rPr kumimoji="1" lang="zh-CN" altLang="en-US" b="0" dirty="0"/>
              <a:t>、</a:t>
            </a:r>
            <a:r>
              <a:rPr kumimoji="1" lang="en" altLang="zh-CN" b="0" dirty="0"/>
              <a:t>TrustZone</a:t>
            </a:r>
            <a:r>
              <a:rPr kumimoji="1" lang="zh-CN" altLang="en-US" b="0" dirty="0"/>
              <a:t>、</a:t>
            </a:r>
            <a:r>
              <a:rPr kumimoji="1" lang="en" altLang="zh-CN" b="0" dirty="0"/>
              <a:t>Thumb</a:t>
            </a:r>
            <a:r>
              <a:rPr kumimoji="1" lang="zh-CN" altLang="en-US" b="0" dirty="0"/>
              <a:t> </a:t>
            </a:r>
            <a:r>
              <a:rPr lang="en-US" altLang="zh-CN" b="0" dirty="0"/>
              <a:t>32</a:t>
            </a:r>
            <a:r>
              <a:rPr lang="zh-CN" altLang="en-US" b="0" dirty="0"/>
              <a:t>等</a:t>
            </a:r>
            <a:endParaRPr lang="en-US" altLang="zh-CN" b="0" dirty="0"/>
          </a:p>
          <a:p>
            <a:r>
              <a:rPr lang="en" altLang="zh-CN" dirty="0" err="1"/>
              <a:t>ARMv</a:t>
            </a:r>
            <a:r>
              <a:rPr lang="en-US" altLang="zh-CN" dirty="0"/>
              <a:t>7</a:t>
            </a:r>
            <a:r>
              <a:rPr lang="zh-CN" altLang="en-US" b="0" dirty="0"/>
              <a:t>：</a:t>
            </a:r>
            <a:r>
              <a:rPr kumimoji="1" lang="zh-CN" altLang="en-US" b="0" dirty="0"/>
              <a:t>全面支持平台操作系统，如</a:t>
            </a:r>
            <a:r>
              <a:rPr kumimoji="1" lang="en-US" altLang="zh-CN" b="0" dirty="0"/>
              <a:t>Linux</a:t>
            </a:r>
          </a:p>
          <a:p>
            <a:r>
              <a:rPr kumimoji="1" lang="en-US" altLang="zh-CN" dirty="0"/>
              <a:t>ARMv8</a:t>
            </a:r>
            <a:r>
              <a:rPr kumimoji="1" lang="zh-CN" altLang="en-US" b="0" dirty="0"/>
              <a:t>：扩大物理寻址至</a:t>
            </a:r>
            <a:r>
              <a:rPr kumimoji="1" lang="en-US" altLang="zh-CN" b="0" dirty="0"/>
              <a:t>4GB+</a:t>
            </a:r>
            <a:r>
              <a:rPr kumimoji="1" lang="zh-CN" altLang="en-US" b="0" dirty="0"/>
              <a:t>，</a:t>
            </a:r>
            <a:r>
              <a:rPr kumimoji="1" lang="en-US" altLang="zh-CN" dirty="0">
                <a:solidFill>
                  <a:schemeClr val="accent1"/>
                </a:solidFill>
              </a:rPr>
              <a:t>64</a:t>
            </a:r>
            <a:r>
              <a:rPr kumimoji="1" lang="zh-CN" altLang="en-US" dirty="0">
                <a:solidFill>
                  <a:schemeClr val="accent1"/>
                </a:solidFill>
              </a:rPr>
              <a:t>位虚拟地址</a:t>
            </a:r>
            <a:r>
              <a:rPr kumimoji="1" lang="zh-CN" altLang="en-US" b="0" dirty="0"/>
              <a:t>等</a:t>
            </a:r>
            <a:endParaRPr kumimoji="1" lang="en-US" altLang="zh-CN" b="0" dirty="0"/>
          </a:p>
          <a:p>
            <a:r>
              <a:rPr kumimoji="1" lang="en-US" altLang="zh-CN" dirty="0"/>
              <a:t>ARMv9</a:t>
            </a:r>
            <a:r>
              <a:rPr kumimoji="1" lang="zh-CN" altLang="en-US" b="0" dirty="0"/>
              <a:t>：新增机密计算特性</a:t>
            </a:r>
            <a:r>
              <a:rPr kumimoji="1" lang="en-US" altLang="zh-CN" b="0" dirty="0"/>
              <a:t>CCA</a:t>
            </a:r>
            <a:r>
              <a:rPr kumimoji="1" lang="zh-CN" altLang="en-US" b="0" dirty="0"/>
              <a:t>等</a:t>
            </a:r>
            <a:endParaRPr kumimoji="1" lang="en-US" altLang="zh-CN" b="0" dirty="0"/>
          </a:p>
          <a:p>
            <a:endParaRPr kumimoji="1" lang="en-US" altLang="zh-CN" b="0" dirty="0"/>
          </a:p>
          <a:p>
            <a:endParaRPr lang="en-US" altLang="zh-CN" b="0" dirty="0"/>
          </a:p>
          <a:p>
            <a:endParaRPr kumimoji="1"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5E5BC8-F013-4C46-A995-93A93F3F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931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FB46C1F-B5E5-40D3-A29F-667C16D1699A}"/>
              </a:ext>
            </a:extLst>
          </p:cNvPr>
          <p:cNvSpPr/>
          <p:nvPr/>
        </p:nvSpPr>
        <p:spPr>
          <a:xfrm>
            <a:off x="634247" y="1388675"/>
            <a:ext cx="3456384" cy="3418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69B6A6-10C5-4A4F-8B8C-D9940CF51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AArch64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22605-FACA-4F8D-A7F3-FE55539B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DEF57733-BF29-4CDA-A567-BED9E72CE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701" y="3859362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/>
              <a:t>0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8B034DB3-E7C3-4163-B482-C69C0713D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701" y="1144737"/>
            <a:ext cx="8579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 dirty="0"/>
              <a:t>2</a:t>
            </a:r>
            <a:r>
              <a:rPr lang="en-US" altLang="zh-CN" b="1" baseline="30000" dirty="0"/>
              <a:t>48</a:t>
            </a:r>
            <a:r>
              <a:rPr lang="en-US" altLang="zh-CN" dirty="0"/>
              <a:t>-1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DAA1A12-0783-45E8-BA9B-90197737E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576" y="1235224"/>
            <a:ext cx="2057400" cy="3081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altLang="zh-CN">
              <a:solidFill>
                <a:srgbClr val="FFFFFF"/>
              </a:solidFill>
            </a:endParaRPr>
          </a:p>
          <a:p>
            <a:pPr algn="ctr" eaLnBrk="0" hangingPunct="0"/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03C3065-BA60-4092-A0A7-5449F5592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273324"/>
            <a:ext cx="157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</a:rPr>
              <a:t>instruction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369417A5-076A-41D0-B853-12B777C90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644799"/>
            <a:ext cx="157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</a:rPr>
              <a:t>instruction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1C811615-572C-46EF-94CD-BE5CD602E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226" y="2044849"/>
            <a:ext cx="157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</a:rPr>
              <a:t>instruction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0A86F80A-F70F-4D0E-A131-AF211FF29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789" y="3402162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 dirty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FA97CBD7-9C3B-45DD-AE12-EE0E550EF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026" y="3044974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C0E3345C-FAC4-4E43-B1C9-BE6EFEB2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501" y="3749824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283402F3-38DE-4739-B7C6-36CCF9BCB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2851" y="2540149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</a:rPr>
              <a:t>…</a:t>
            </a:r>
          </a:p>
        </p:txBody>
      </p:sp>
      <p:cxnSp>
        <p:nvCxnSpPr>
          <p:cNvPr id="15" name="AutoShape 14">
            <a:extLst>
              <a:ext uri="{FF2B5EF4-FFF2-40B4-BE49-F238E27FC236}">
                <a16:creationId xmlns:a16="http://schemas.microsoft.com/office/drawing/2014/main" id="{FA58980D-057F-4058-B66F-2AE250F22BA6}"/>
              </a:ext>
            </a:extLst>
          </p:cNvPr>
          <p:cNvCxnSpPr>
            <a:cxnSpLocks noChangeShapeType="1"/>
            <a:endCxn id="10" idx="1"/>
          </p:cNvCxnSpPr>
          <p:nvPr/>
        </p:nvCxnSpPr>
        <p:spPr bwMode="auto">
          <a:xfrm>
            <a:off x="2784326" y="1578124"/>
            <a:ext cx="3390900" cy="69532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0B9A2D3-7C18-4443-A0D0-9AA4F7ECFAC1}"/>
              </a:ext>
            </a:extLst>
          </p:cNvPr>
          <p:cNvSpPr txBox="1"/>
          <p:nvPr/>
        </p:nvSpPr>
        <p:spPr>
          <a:xfrm>
            <a:off x="1907704" y="960071"/>
            <a:ext cx="649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6890D96-CFC3-410C-A9D7-4144053AA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8865" y="4013498"/>
            <a:ext cx="8786812" cy="152400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>
                <a:latin typeface="Arial" charset="0"/>
              </a:rPr>
              <a:t>PC(64-bit)</a:t>
            </a:r>
            <a:r>
              <a:rPr lang="zh-CN" altLang="en-US" dirty="0">
                <a:latin typeface="Arial" charset="0"/>
              </a:rPr>
              <a:t>指向</a:t>
            </a:r>
            <a:r>
              <a:rPr lang="zh-CN" altLang="en-US" dirty="0">
                <a:solidFill>
                  <a:schemeClr val="accent1"/>
                </a:solidFill>
                <a:latin typeface="Arial" charset="0"/>
              </a:rPr>
              <a:t>当前</a:t>
            </a:r>
            <a:r>
              <a:rPr lang="zh-CN" altLang="en-US" dirty="0">
                <a:latin typeface="Arial" charset="0"/>
              </a:rPr>
              <a:t>执行的指令</a:t>
            </a:r>
            <a:r>
              <a:rPr lang="en-US" altLang="zh-CN" dirty="0">
                <a:latin typeface="Arial" charset="0"/>
              </a:rPr>
              <a:t>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zh-CN" altLang="en-US" dirty="0">
                <a:latin typeface="Arial" charset="0"/>
              </a:rPr>
              <a:t>指令长度相同 </a:t>
            </a:r>
            <a:r>
              <a:rPr lang="en-US" altLang="zh-CN" dirty="0">
                <a:latin typeface="Arial" charset="0"/>
              </a:rPr>
              <a:t>(RISC,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solidFill>
                  <a:schemeClr val="accent1"/>
                </a:solidFill>
                <a:latin typeface="Arial" charset="0"/>
              </a:rPr>
              <a:t>32-bit</a:t>
            </a:r>
            <a:r>
              <a:rPr lang="en-US" altLang="zh-CN" dirty="0">
                <a:latin typeface="Arial" charset="0"/>
              </a:rPr>
              <a:t>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>
                <a:latin typeface="Arial" charset="0"/>
              </a:rPr>
              <a:t>PC </a:t>
            </a:r>
            <a:r>
              <a:rPr lang="zh-CN" altLang="en-US" dirty="0">
                <a:latin typeface="Arial" charset="0"/>
              </a:rPr>
              <a:t>会被跳转指令修改：</a:t>
            </a:r>
            <a:r>
              <a:rPr lang="en-US" altLang="zh-CN" dirty="0">
                <a:latin typeface="Arial" charset="0"/>
              </a:rPr>
              <a:t>B, BL, BX, BLX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09B17FC-1252-4F02-9653-66D6B0825E14}"/>
              </a:ext>
            </a:extLst>
          </p:cNvPr>
          <p:cNvSpPr txBox="1"/>
          <p:nvPr/>
        </p:nvSpPr>
        <p:spPr>
          <a:xfrm>
            <a:off x="3858725" y="1035199"/>
            <a:ext cx="31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A30127-BB30-45F2-8E77-D692C47A57BB}"/>
              </a:ext>
            </a:extLst>
          </p:cNvPr>
          <p:cNvSpPr txBox="1"/>
          <p:nvPr/>
        </p:nvSpPr>
        <p:spPr>
          <a:xfrm>
            <a:off x="523152" y="1031438"/>
            <a:ext cx="52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42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寄存器 </a:t>
            </a:r>
            <a:r>
              <a:rPr lang="en-US" altLang="zh-CN" dirty="0"/>
              <a:t>ARM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003232" cy="4152634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31</a:t>
            </a:r>
            <a:r>
              <a:rPr lang="zh-CN" altLang="en-US" dirty="0"/>
              <a:t>个</a:t>
            </a:r>
            <a:r>
              <a:rPr lang="en-US" altLang="zh-CN" dirty="0"/>
              <a:t>64</a:t>
            </a:r>
            <a:r>
              <a:rPr lang="zh-CN" altLang="en-US" dirty="0"/>
              <a:t>位通用寄存器</a:t>
            </a:r>
            <a:endParaRPr lang="en-US" altLang="zh-CN" dirty="0"/>
          </a:p>
          <a:p>
            <a:pPr lvl="1"/>
            <a:r>
              <a:rPr lang="en-US" altLang="zh-CN" dirty="0"/>
              <a:t>X0-X30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PC</a:t>
            </a:r>
            <a:r>
              <a:rPr lang="zh-CN" altLang="en-US" dirty="0"/>
              <a:t>寄存器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个栈寄存器（切换时保存</a:t>
            </a:r>
            <a:r>
              <a:rPr lang="en-US" altLang="zh-CN" dirty="0"/>
              <a:t>SP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s-ES" altLang="zh-CN" dirty="0"/>
              <a:t>SP_EL0, SP_EL1, SP_EL2, SP_EL3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个异常链接寄存器（保存异常的返回地址）</a:t>
            </a:r>
            <a:endParaRPr lang="en-US" altLang="zh-CN" dirty="0"/>
          </a:p>
          <a:p>
            <a:pPr lvl="1"/>
            <a:r>
              <a:rPr lang="en-US" altLang="zh-CN" dirty="0"/>
              <a:t>E</a:t>
            </a:r>
            <a:r>
              <a:rPr lang="es-ES" altLang="zh-CN" dirty="0"/>
              <a:t>LR_EL1, ELR_EL2, ELR_EL3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个程序状态寄存器（切换时保存</a:t>
            </a:r>
            <a:r>
              <a:rPr lang="en-US" altLang="zh-CN" dirty="0"/>
              <a:t>PSTATE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s-ES" altLang="zh-CN" dirty="0"/>
              <a:t>SPSR_EL1, SPSR_EL2, SPSR_EL3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176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</a:t>
            </a:r>
            <a:r>
              <a:rPr lang="en-US" altLang="zh-CN" dirty="0"/>
              <a:t> ARM vs X86-64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6419056" cy="4152634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31</a:t>
            </a:r>
            <a:r>
              <a:rPr lang="zh-CN" altLang="en-US" dirty="0"/>
              <a:t>个</a:t>
            </a:r>
            <a:r>
              <a:rPr lang="en-US" altLang="zh-CN" dirty="0"/>
              <a:t>64</a:t>
            </a:r>
            <a:r>
              <a:rPr lang="zh-CN" altLang="en-US" dirty="0"/>
              <a:t>位通用寄存器</a:t>
            </a:r>
            <a:endParaRPr lang="en-US" altLang="zh-CN" dirty="0"/>
          </a:p>
          <a:p>
            <a:pPr lvl="1"/>
            <a:r>
              <a:rPr lang="en-US" altLang="zh-CN" dirty="0"/>
              <a:t>X0-X30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PC</a:t>
            </a:r>
            <a:r>
              <a:rPr lang="zh-CN" altLang="en-US" dirty="0"/>
              <a:t>寄存器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个栈寄存器（切换时保存</a:t>
            </a:r>
            <a:r>
              <a:rPr lang="en-US" altLang="zh-CN" dirty="0"/>
              <a:t>SP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s-ES" altLang="zh-CN" dirty="0"/>
              <a:t>SP_EL0, SP_EL1, SP_EL2, SP_EL3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个异常链接寄存器（保存异常的返回地址）</a:t>
            </a:r>
            <a:endParaRPr lang="en-US" altLang="zh-CN" dirty="0"/>
          </a:p>
          <a:p>
            <a:pPr lvl="1"/>
            <a:r>
              <a:rPr lang="en-US" altLang="zh-CN" dirty="0"/>
              <a:t>E</a:t>
            </a:r>
            <a:r>
              <a:rPr lang="es-ES" altLang="zh-CN" dirty="0"/>
              <a:t>LR_EL1, ELR_EL2, ELR_EL3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个程序状态寄存器（切换时保存</a:t>
            </a:r>
            <a:r>
              <a:rPr lang="en-US" altLang="zh-CN" dirty="0"/>
              <a:t>PSTATE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s-ES" altLang="zh-CN" dirty="0"/>
              <a:t>SPSR_EL1, SPSR_EL2, SPSR_EL3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0E41AE-B771-4C6C-B487-79AF38BD1E1E}"/>
              </a:ext>
            </a:extLst>
          </p:cNvPr>
          <p:cNvSpPr txBox="1"/>
          <p:nvPr/>
        </p:nvSpPr>
        <p:spPr>
          <a:xfrm>
            <a:off x="7308304" y="66764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X86-64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074745-B27D-4766-B14A-CCF89513F219}"/>
              </a:ext>
            </a:extLst>
          </p:cNvPr>
          <p:cNvSpPr txBox="1"/>
          <p:nvPr/>
        </p:nvSpPr>
        <p:spPr>
          <a:xfrm>
            <a:off x="6588224" y="1489348"/>
            <a:ext cx="23042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1"/>
                </a:solidFill>
              </a:rPr>
              <a:t>16</a:t>
            </a:r>
            <a:r>
              <a:rPr lang="zh-CN" altLang="en-US" sz="2000" dirty="0">
                <a:solidFill>
                  <a:schemeClr val="accent1"/>
                </a:solidFill>
              </a:rPr>
              <a:t>个通用寄存器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r>
              <a:rPr lang="en-US" altLang="zh-CN" sz="2000" dirty="0">
                <a:solidFill>
                  <a:schemeClr val="accent1"/>
                </a:solidFill>
              </a:rPr>
              <a:t>1</a:t>
            </a:r>
            <a:r>
              <a:rPr lang="zh-CN" altLang="en-US" sz="2000" dirty="0">
                <a:solidFill>
                  <a:schemeClr val="accent1"/>
                </a:solidFill>
              </a:rPr>
              <a:t>个</a:t>
            </a:r>
            <a:r>
              <a:rPr lang="en-US" altLang="zh-CN" sz="2000" dirty="0">
                <a:solidFill>
                  <a:schemeClr val="accent1"/>
                </a:solidFill>
              </a:rPr>
              <a:t>%rip</a:t>
            </a:r>
            <a:r>
              <a:rPr lang="zh-CN" altLang="en-US" sz="2000" dirty="0">
                <a:solidFill>
                  <a:schemeClr val="accent1"/>
                </a:solidFill>
              </a:rPr>
              <a:t>寄存器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r>
              <a:rPr lang="en-US" altLang="zh-CN" sz="2000" dirty="0">
                <a:solidFill>
                  <a:schemeClr val="accent1"/>
                </a:solidFill>
              </a:rPr>
              <a:t>1</a:t>
            </a:r>
            <a:r>
              <a:rPr lang="zh-CN" altLang="en-US" sz="2000" dirty="0">
                <a:solidFill>
                  <a:schemeClr val="accent1"/>
                </a:solidFill>
              </a:rPr>
              <a:t>个</a:t>
            </a:r>
            <a:r>
              <a:rPr lang="en-US" altLang="zh-CN" sz="2000" dirty="0">
                <a:solidFill>
                  <a:schemeClr val="accent1"/>
                </a:solidFill>
              </a:rPr>
              <a:t>%</a:t>
            </a:r>
            <a:r>
              <a:rPr lang="en-US" altLang="zh-CN" sz="2000" dirty="0" err="1">
                <a:solidFill>
                  <a:schemeClr val="accent1"/>
                </a:solidFill>
              </a:rPr>
              <a:t>rsp</a:t>
            </a:r>
            <a:r>
              <a:rPr lang="zh-CN" altLang="en-US" sz="2000" dirty="0">
                <a:solidFill>
                  <a:schemeClr val="accent1"/>
                </a:solidFill>
              </a:rPr>
              <a:t>寄存器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accent1"/>
                </a:solidFill>
              </a:rPr>
              <a:t>返回地址压栈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endParaRPr lang="en-US" altLang="zh-CN" sz="2000" dirty="0">
              <a:solidFill>
                <a:schemeClr val="accent1"/>
              </a:solidFill>
            </a:endParaRPr>
          </a:p>
          <a:p>
            <a:pPr algn="ctr"/>
            <a:r>
              <a:rPr lang="en-US" altLang="zh-CN" sz="2000" dirty="0">
                <a:solidFill>
                  <a:schemeClr val="accent1"/>
                </a:solidFill>
              </a:rPr>
              <a:t>EFLAGS</a:t>
            </a:r>
          </a:p>
          <a:p>
            <a:pPr algn="ctr"/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866D0783-C2F7-410D-B505-9CD24FA428FA}"/>
              </a:ext>
            </a:extLst>
          </p:cNvPr>
          <p:cNvSpPr/>
          <p:nvPr/>
        </p:nvSpPr>
        <p:spPr>
          <a:xfrm>
            <a:off x="3923928" y="1356974"/>
            <a:ext cx="2725902" cy="11404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zh-CN" altLang="en-US" dirty="0"/>
              <a:t>思考：</a:t>
            </a:r>
            <a:r>
              <a:rPr kumimoji="1" lang="en-US" altLang="zh-CN" dirty="0"/>
              <a:t>X86</a:t>
            </a:r>
            <a:r>
              <a:rPr kumimoji="1" lang="zh-CN" altLang="en-US" dirty="0"/>
              <a:t>架构中，切换特权级时</a:t>
            </a:r>
            <a:r>
              <a:rPr kumimoji="1" lang="en-US" altLang="zh-CN" dirty="0" err="1"/>
              <a:t>rsp</a:t>
            </a:r>
            <a:r>
              <a:rPr kumimoji="1" lang="zh-CN" altLang="en-US" dirty="0"/>
              <a:t>是如何保存，以及如何恢复的？</a:t>
            </a:r>
          </a:p>
        </p:txBody>
      </p:sp>
    </p:spTree>
    <p:extLst>
      <p:ext uri="{BB962C8B-B14F-4D97-AF65-F5344CB8AC3E}">
        <p14:creationId xmlns:p14="http://schemas.microsoft.com/office/powerpoint/2010/main" val="61447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7929D-5801-491B-A20E-6FE6710A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E53B3-A0B9-4260-BE1D-199E0AEC0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RISC</a:t>
            </a:r>
          </a:p>
          <a:p>
            <a:pPr lvl="1"/>
            <a:r>
              <a:rPr lang="zh-CN" altLang="en-US" dirty="0"/>
              <a:t>固定长度指令格式</a:t>
            </a:r>
            <a:endParaRPr lang="en-US" altLang="zh-CN" dirty="0"/>
          </a:p>
          <a:p>
            <a:pPr lvl="1"/>
            <a:r>
              <a:rPr lang="zh-CN" altLang="en-US" dirty="0"/>
              <a:t>更多的通用寄存器</a:t>
            </a:r>
            <a:endParaRPr lang="en-US" altLang="zh-CN" dirty="0"/>
          </a:p>
          <a:p>
            <a:pPr lvl="1"/>
            <a:r>
              <a:rPr lang="en-US" altLang="zh-CN" dirty="0"/>
              <a:t>Load/store </a:t>
            </a:r>
            <a:r>
              <a:rPr lang="zh-CN" altLang="en-US" dirty="0"/>
              <a:t>结构</a:t>
            </a:r>
            <a:endParaRPr lang="en-US" altLang="zh-CN" dirty="0"/>
          </a:p>
          <a:p>
            <a:pPr lvl="1"/>
            <a:r>
              <a:rPr lang="zh-CN" altLang="en-US" dirty="0"/>
              <a:t>简化寻址方式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F1780-C550-4381-A2EE-42614A73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785E0F-3F4E-48A1-B914-832C4AAF05E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5936" y="1301510"/>
            <a:ext cx="4997957" cy="311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76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7929D-5801-491B-A20E-6FE6710A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RISC vs CISC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F1780-C550-4381-A2EE-42614A73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C896221F-F908-4027-8ABD-1555A2F435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229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88507691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9859671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9107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RISC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(AArch64)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CISC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(x86-64)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6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指令长度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定长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变长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4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寻址模式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寻址方式单一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多种寻址方式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917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load/store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mov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1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增加通用寄存器数量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微码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87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指令复杂度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复杂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046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汇编复杂度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复杂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1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中断响应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31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4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处理器结构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复杂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413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83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9BAACBA-8441-43D9-9A63-D10317D83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9992" y="485512"/>
            <a:ext cx="399286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6B458F0-07CB-4ADF-AD69-31243354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特权级：与</a:t>
            </a:r>
            <a:r>
              <a:rPr lang="en-US" altLang="zh-CN" dirty="0"/>
              <a:t>X86-64</a:t>
            </a:r>
            <a:r>
              <a:rPr lang="zh-CN" altLang="en-US" dirty="0"/>
              <a:t>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22843D-494D-45A2-A4A1-EA1B9ECF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Non-root :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Ring 3</a:t>
            </a:r>
            <a:r>
              <a:rPr lang="zh-CN" altLang="en-US" dirty="0"/>
              <a:t>：</a:t>
            </a:r>
            <a:r>
              <a:rPr lang="en-US" altLang="zh-CN" dirty="0"/>
              <a:t>Guest app</a:t>
            </a:r>
          </a:p>
          <a:p>
            <a:pPr lvl="1"/>
            <a:r>
              <a:rPr lang="en-US" altLang="zh-CN" dirty="0"/>
              <a:t>Ring 0</a:t>
            </a:r>
            <a:r>
              <a:rPr lang="zh-CN" altLang="en-US" dirty="0"/>
              <a:t>：</a:t>
            </a:r>
            <a:r>
              <a:rPr lang="en-US" altLang="zh-CN" dirty="0"/>
              <a:t>Guest OS</a:t>
            </a:r>
          </a:p>
          <a:p>
            <a:r>
              <a:rPr lang="en-US" altLang="zh-CN" dirty="0"/>
              <a:t>Root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Ring 3</a:t>
            </a:r>
            <a:r>
              <a:rPr lang="zh-CN" altLang="en-US" dirty="0"/>
              <a:t>：</a:t>
            </a:r>
            <a:r>
              <a:rPr lang="en-US" altLang="zh-CN" dirty="0"/>
              <a:t>App</a:t>
            </a:r>
          </a:p>
          <a:p>
            <a:pPr lvl="1"/>
            <a:r>
              <a:rPr lang="en-US" altLang="zh-CN" dirty="0"/>
              <a:t>Ring 0</a:t>
            </a:r>
            <a:r>
              <a:rPr lang="zh-CN" altLang="en-US" dirty="0"/>
              <a:t>：</a:t>
            </a:r>
            <a:r>
              <a:rPr lang="en-US" altLang="zh-CN" dirty="0"/>
              <a:t>Hypervisor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E98FDE-3C28-4842-97B2-B2C395C5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098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458F0-07CB-4ADF-AD69-31243354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特权级</a:t>
            </a:r>
            <a:r>
              <a:rPr lang="en-US" altLang="zh-CN" dirty="0"/>
              <a:t>/ARM</a:t>
            </a:r>
            <a:r>
              <a:rPr lang="zh-CN" altLang="en-US" dirty="0"/>
              <a:t> </a:t>
            </a:r>
            <a:r>
              <a:rPr lang="en-US" altLang="zh-CN" dirty="0"/>
              <a:t>(Exception</a:t>
            </a:r>
            <a:r>
              <a:rPr lang="zh-CN" altLang="en-US" dirty="0"/>
              <a:t> </a:t>
            </a:r>
            <a:r>
              <a:rPr lang="en-US" altLang="zh-CN" dirty="0"/>
              <a:t>Level)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22843D-494D-45A2-A4A1-EA1B9ECF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E98FDE-3C28-4842-97B2-B2C395C5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B81E4E-9380-B545-BC2C-FB65FA346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14335"/>
            <a:ext cx="80772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86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系统状态寄存器：</a:t>
            </a:r>
            <a:r>
              <a:rPr lang="en-US" altLang="zh-CN" dirty="0"/>
              <a:t>X86-64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867328" cy="3771636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latin typeface="Arial" charset="0"/>
              </a:rPr>
              <a:t>System Flags in the </a:t>
            </a:r>
            <a:r>
              <a:rPr lang="en-US" altLang="zh-CN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EFLAGS</a:t>
            </a:r>
          </a:p>
          <a:p>
            <a:pPr lvl="1">
              <a:defRPr/>
            </a:pPr>
            <a:endParaRPr lang="en-US" altLang="zh-CN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3EEA1B6F-9AF5-4943-A09B-BF1097EC4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31640" y="2067308"/>
            <a:ext cx="6983487" cy="352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6744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系统状态寄存器：</a:t>
            </a:r>
            <a:r>
              <a:rPr lang="en-US" altLang="zh-CN" dirty="0"/>
              <a:t>ARM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867328" cy="3771636"/>
          </a:xfrm>
        </p:spPr>
        <p:txBody>
          <a:bodyPr/>
          <a:lstStyle/>
          <a:p>
            <a:r>
              <a:rPr lang="zh-CN" altLang="en-US" dirty="0"/>
              <a:t>抽象进程状态信息（</a:t>
            </a:r>
            <a:r>
              <a:rPr lang="en-US" altLang="zh-CN" dirty="0"/>
              <a:t>PSTATE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条件标记 </a:t>
            </a:r>
            <a:r>
              <a:rPr lang="en-US" altLang="zh-CN" dirty="0"/>
              <a:t>(Condition flags)</a:t>
            </a:r>
          </a:p>
          <a:p>
            <a:pPr lvl="1"/>
            <a:r>
              <a:rPr lang="zh-CN" altLang="en-US" dirty="0"/>
              <a:t>执行状态 </a:t>
            </a:r>
            <a:r>
              <a:rPr lang="en-US" altLang="zh-CN" dirty="0"/>
              <a:t>(Execution state controls)</a:t>
            </a:r>
          </a:p>
          <a:p>
            <a:pPr lvl="1"/>
            <a:r>
              <a:rPr lang="zh-CN" altLang="en-US" dirty="0"/>
              <a:t>异常掩码 </a:t>
            </a:r>
            <a:r>
              <a:rPr lang="en-US" altLang="zh-CN" dirty="0"/>
              <a:t>(Exception mask bits)</a:t>
            </a:r>
          </a:p>
          <a:p>
            <a:pPr lvl="1"/>
            <a:r>
              <a:rPr lang="zh-CN" altLang="en-US" dirty="0"/>
              <a:t>访问，时钟控制 </a:t>
            </a:r>
            <a:r>
              <a:rPr lang="en-US" altLang="zh-CN" dirty="0"/>
              <a:t>(Access control bits)</a:t>
            </a:r>
          </a:p>
          <a:p>
            <a:pPr lvl="1">
              <a:defRPr/>
            </a:pPr>
            <a:endParaRPr lang="en-US" altLang="zh-CN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D03210-2CE2-41A9-8BDF-6BBD1B4BA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11" y="1417340"/>
            <a:ext cx="28087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47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系统控制寄存器：</a:t>
            </a:r>
            <a:r>
              <a:rPr lang="en-US" altLang="zh-CN" dirty="0"/>
              <a:t>X86-64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8AAF6BF4-B89E-467A-A186-4E086A923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5676" y="1340249"/>
            <a:ext cx="6012668" cy="4149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0105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867328" cy="3771636"/>
          </a:xfrm>
        </p:spPr>
        <p:txBody>
          <a:bodyPr/>
          <a:lstStyle/>
          <a:p>
            <a:r>
              <a:rPr lang="zh-CN" altLang="en-US" dirty="0"/>
              <a:t>对于系统的顶层控制</a:t>
            </a:r>
            <a:endParaRPr lang="en-US" altLang="zh-CN" dirty="0"/>
          </a:p>
          <a:p>
            <a:pPr lvl="1"/>
            <a:r>
              <a:rPr lang="zh-CN" altLang="en-US" dirty="0"/>
              <a:t>大小端、使用</a:t>
            </a:r>
            <a:r>
              <a:rPr lang="en-US" altLang="zh-CN" dirty="0"/>
              <a:t>MMU</a:t>
            </a:r>
            <a:r>
              <a:rPr lang="zh-CN" altLang="en-US" dirty="0"/>
              <a:t>、检查</a:t>
            </a:r>
            <a:r>
              <a:rPr lang="en-US" altLang="zh-CN" dirty="0"/>
              <a:t>Tag</a:t>
            </a:r>
            <a:r>
              <a:rPr lang="zh-CN" altLang="en-US" dirty="0"/>
              <a:t>、内存系统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AD5BDADE-8701-4B11-A5A2-B0C5F889A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82" y="2755281"/>
            <a:ext cx="7075035" cy="2346915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664E75FD-92B3-D34C-92CA-B0F2AD21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zh-CN" altLang="en-US" dirty="0"/>
              <a:t>系统控制寄存器：</a:t>
            </a:r>
            <a:r>
              <a:rPr lang="en-US" altLang="zh-CN" dirty="0"/>
              <a:t>ARM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0841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内存系统相关寄存器：</a:t>
            </a:r>
            <a:r>
              <a:rPr lang="en-US" altLang="zh-CN" dirty="0"/>
              <a:t>ARM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867328" cy="2676127"/>
          </a:xfrm>
        </p:spPr>
        <p:txBody>
          <a:bodyPr/>
          <a:lstStyle/>
          <a:p>
            <a:r>
              <a:rPr lang="en-US" altLang="zh-CN" dirty="0"/>
              <a:t>Translation Control Register</a:t>
            </a:r>
            <a:r>
              <a:rPr lang="zh-CN" altLang="en-US" dirty="0"/>
              <a:t> </a:t>
            </a:r>
            <a:r>
              <a:rPr lang="en-US" altLang="zh-CN" dirty="0"/>
              <a:t>(TCR)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7A02ED-D0B6-4E2E-A47C-C12F171146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512" y="1993404"/>
            <a:ext cx="4392488" cy="18833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D7AE8B-34AA-45D5-8D29-7F8482A4796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99992" y="1886598"/>
            <a:ext cx="4584426" cy="1332721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EF6F5B0-63C3-41BE-8405-9CF0D56CAF57}"/>
              </a:ext>
            </a:extLst>
          </p:cNvPr>
          <p:cNvSpPr txBox="1">
            <a:spLocks/>
          </p:cNvSpPr>
          <p:nvPr/>
        </p:nvSpPr>
        <p:spPr>
          <a:xfrm>
            <a:off x="457200" y="3983528"/>
            <a:ext cx="8867328" cy="2676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Translation Table Base Register</a:t>
            </a:r>
            <a:r>
              <a:rPr lang="zh-CN" altLang="en-US" dirty="0"/>
              <a:t> </a:t>
            </a:r>
            <a:r>
              <a:rPr lang="en-US" altLang="zh-CN" dirty="0"/>
              <a:t>(TTBR)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37760E-7945-4202-BDD9-9CA9915A2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583" y="4669531"/>
            <a:ext cx="5916817" cy="80770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55D0B8C-8330-4520-B629-25033D750AF6}"/>
              </a:ext>
            </a:extLst>
          </p:cNvPr>
          <p:cNvSpPr txBox="1"/>
          <p:nvPr/>
        </p:nvSpPr>
        <p:spPr>
          <a:xfrm>
            <a:off x="7276538" y="3990728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对比</a:t>
            </a:r>
            <a:r>
              <a:rPr lang="en-US" altLang="zh-CN" b="1" dirty="0">
                <a:solidFill>
                  <a:schemeClr val="accent1"/>
                </a:solidFill>
              </a:rPr>
              <a:t>X86-64:</a:t>
            </a:r>
          </a:p>
          <a:p>
            <a:pPr algn="ctr"/>
            <a:r>
              <a:rPr lang="en-US" altLang="zh-CN" b="1" dirty="0">
                <a:solidFill>
                  <a:schemeClr val="accent1"/>
                </a:solidFill>
              </a:rPr>
              <a:t>CR3</a:t>
            </a:r>
            <a:r>
              <a:rPr lang="zh-CN" altLang="en-US" b="1" dirty="0">
                <a:solidFill>
                  <a:schemeClr val="accent1"/>
                </a:solidFill>
              </a:rPr>
              <a:t>寄存器</a:t>
            </a:r>
          </a:p>
        </p:txBody>
      </p:sp>
    </p:spTree>
    <p:extLst>
      <p:ext uri="{BB962C8B-B14F-4D97-AF65-F5344CB8AC3E}">
        <p14:creationId xmlns:p14="http://schemas.microsoft.com/office/powerpoint/2010/main" val="1655227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F813C-5783-451A-9F08-31D9C6F61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6BE644-7CA5-445B-82B7-E101C448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23694C-78E6-4D8F-8EEE-7CEC19ED5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417340"/>
            <a:ext cx="8416846" cy="363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25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569FC-2C9B-6E46-806D-2CB6AA0F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内存空间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BEED25-E6A3-9144-9558-C2E2D9E3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CDA8A4-4D87-4E4F-AE50-F52DF489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32" y="1345332"/>
            <a:ext cx="7596336" cy="355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87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2694D-7E8B-45C1-BC6B-93B50735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DE5184-D4EF-41B5-82A5-BE9B034B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8DB05A-142F-4273-9DA1-9AAE68BBF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345332"/>
            <a:ext cx="4093436" cy="33843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E1FFB54-DFA4-4F62-A771-2F6A755D5A1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16227" y="913284"/>
            <a:ext cx="2390747" cy="8640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F17BDC5-BBA7-4961-9F3E-45D0BC0F713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48064" y="4081636"/>
            <a:ext cx="2390747" cy="86409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00CB529-045F-4B5C-A45B-CAD54BAE95C8}"/>
              </a:ext>
            </a:extLst>
          </p:cNvPr>
          <p:cNvSpPr/>
          <p:nvPr/>
        </p:nvSpPr>
        <p:spPr>
          <a:xfrm>
            <a:off x="971600" y="2497460"/>
            <a:ext cx="295232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C8226C-B104-4016-A8F3-0D33615ADEFA}"/>
              </a:ext>
            </a:extLst>
          </p:cNvPr>
          <p:cNvSpPr/>
          <p:nvPr/>
        </p:nvSpPr>
        <p:spPr>
          <a:xfrm>
            <a:off x="953144" y="4297660"/>
            <a:ext cx="295232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EDFB71-46E0-4935-84E4-CCE62B98FEC2}"/>
              </a:ext>
            </a:extLst>
          </p:cNvPr>
          <p:cNvSpPr/>
          <p:nvPr/>
        </p:nvSpPr>
        <p:spPr>
          <a:xfrm>
            <a:off x="5176731" y="949288"/>
            <a:ext cx="2275589" cy="9721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180F5B-C046-404C-97AD-79B85E6A73C3}"/>
              </a:ext>
            </a:extLst>
          </p:cNvPr>
          <p:cNvSpPr/>
          <p:nvPr/>
        </p:nvSpPr>
        <p:spPr>
          <a:xfrm>
            <a:off x="5131857" y="4099638"/>
            <a:ext cx="2275589" cy="9721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81D6C32-4198-41F8-A912-1753B6BFCB8D}"/>
              </a:ext>
            </a:extLst>
          </p:cNvPr>
          <p:cNvCxnSpPr/>
          <p:nvPr/>
        </p:nvCxnSpPr>
        <p:spPr>
          <a:xfrm flipV="1">
            <a:off x="3905472" y="1921396"/>
            <a:ext cx="1271259" cy="57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C8557FD-65BA-4202-865B-C1C8800E88BD}"/>
              </a:ext>
            </a:extLst>
          </p:cNvPr>
          <p:cNvCxnSpPr>
            <a:cxnSpLocks/>
          </p:cNvCxnSpPr>
          <p:nvPr/>
        </p:nvCxnSpPr>
        <p:spPr>
          <a:xfrm>
            <a:off x="3905472" y="4585692"/>
            <a:ext cx="1226385" cy="4860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288C6E4E-D057-194D-A955-029B5AC11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650286"/>
            <a:ext cx="4571999" cy="1080120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MMIO</a:t>
            </a:r>
            <a:r>
              <a:rPr kumimoji="1" lang="en-US" altLang="zh-CN" dirty="0"/>
              <a:t>:</a:t>
            </a:r>
            <a:r>
              <a:rPr kumimoji="1" lang="zh-CN" altLang="en-US" dirty="0"/>
              <a:t> 复用</a:t>
            </a:r>
            <a:r>
              <a:rPr kumimoji="1" lang="en-US" altLang="zh-CN" dirty="0" err="1"/>
              <a:t>ldr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str</a:t>
            </a:r>
            <a:r>
              <a:rPr kumimoji="1" lang="zh-CN" altLang="en-US" dirty="0"/>
              <a:t>指令</a:t>
            </a:r>
          </a:p>
          <a:p>
            <a:pPr lvl="1"/>
            <a:r>
              <a:rPr kumimoji="1" lang="zh-CN" altLang="en-US" dirty="0"/>
              <a:t>映射到物理内存的特殊地址段</a:t>
            </a:r>
          </a:p>
          <a:p>
            <a:endParaRPr kumimoji="1" lang="zh-CN" altLang="en-US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57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E4117-340F-3340-84BD-8C515499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MMIO</a:t>
            </a:r>
            <a:r>
              <a:rPr kumimoji="1" lang="zh-CN" altLang="en-US" dirty="0"/>
              <a:t>与</a:t>
            </a:r>
            <a:r>
              <a:rPr kumimoji="1" lang="en-US" altLang="zh-CN" dirty="0"/>
              <a:t>PIO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80ACF1-4FAB-5248-AD57-EB280122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/>
          <a:lstStyle/>
          <a:p>
            <a:r>
              <a:rPr kumimoji="1" lang="en-US" altLang="zh-CN" dirty="0"/>
              <a:t>MMIO</a:t>
            </a:r>
            <a:r>
              <a:rPr kumimoji="1" lang="zh-CN" altLang="en-US" dirty="0"/>
              <a:t> </a:t>
            </a:r>
            <a:r>
              <a:rPr kumimoji="1" lang="en-US" altLang="zh-CN" dirty="0"/>
              <a:t>(Memory-mapped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IO)</a:t>
            </a:r>
          </a:p>
          <a:p>
            <a:pPr lvl="1"/>
            <a:r>
              <a:rPr kumimoji="1" lang="zh-CN" altLang="en-US" dirty="0"/>
              <a:t>将设备映射到连续的物理内存中，使用相同的指令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如，</a:t>
            </a:r>
            <a:r>
              <a:rPr kumimoji="1" lang="en-US" altLang="zh-CN" dirty="0"/>
              <a:t>Raspi3</a:t>
            </a:r>
            <a:r>
              <a:rPr kumimoji="1" lang="zh-CN" altLang="en-US" dirty="0"/>
              <a:t>映射到</a:t>
            </a:r>
            <a:r>
              <a:rPr kumimoji="1" lang="en" altLang="zh-CN" dirty="0"/>
              <a:t>0x3F200000</a:t>
            </a:r>
          </a:p>
          <a:p>
            <a:pPr lvl="1"/>
            <a:r>
              <a:rPr kumimoji="1" lang="zh-CN" altLang="en-US" dirty="0"/>
              <a:t>行为与内存不完全一样，读写会有</a:t>
            </a:r>
            <a:r>
              <a:rPr kumimoji="1" lang="zh-CN" altLang="en-US" dirty="0">
                <a:solidFill>
                  <a:schemeClr val="accent1"/>
                </a:solidFill>
              </a:rPr>
              <a:t>副作用</a:t>
            </a:r>
            <a:r>
              <a:rPr kumimoji="1" lang="zh-CN" altLang="en-US" dirty="0"/>
              <a:t>（回忆</a:t>
            </a:r>
            <a:r>
              <a:rPr kumimoji="1" lang="en-US" altLang="zh-CN" dirty="0"/>
              <a:t>volatile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PIO</a:t>
            </a:r>
            <a:r>
              <a:rPr kumimoji="1" lang="zh-CN" altLang="en-US" dirty="0"/>
              <a:t> </a:t>
            </a:r>
            <a:r>
              <a:rPr kumimoji="1" lang="en-US" altLang="zh-CN" dirty="0"/>
              <a:t>(Port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IO)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IO</a:t>
            </a:r>
            <a:r>
              <a:rPr kumimoji="1" lang="zh-CN" altLang="en-US" dirty="0"/>
              <a:t>设备具有独立的地址空间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使用特殊的指令（如</a:t>
            </a:r>
            <a:r>
              <a:rPr kumimoji="1" lang="en-US" altLang="zh-CN" dirty="0"/>
              <a:t>x86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in/out</a:t>
            </a:r>
            <a:r>
              <a:rPr kumimoji="1" lang="zh-CN" altLang="en-US" dirty="0"/>
              <a:t>指令）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3D4891-8387-E54A-A086-3C058746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894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中断与异常处理</a:t>
            </a:r>
            <a:r>
              <a:rPr kumimoji="1" lang="en-US" altLang="zh-CN" dirty="0"/>
              <a:t>—ARM</a:t>
            </a:r>
            <a:endParaRPr kumimoji="1"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244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A2BC6-B1FF-9F43-98D6-08CE7C75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的执行逻辑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C3882-8356-6244-860F-DFA13455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en-US" altLang="zh-CN" sz="2000" dirty="0"/>
              <a:t>CPU</a:t>
            </a:r>
            <a:r>
              <a:rPr kumimoji="1" lang="zh-CN" altLang="en-US" sz="2000" dirty="0"/>
              <a:t>的执行逻辑很简单</a:t>
            </a:r>
            <a:endParaRPr kumimoji="1" lang="en-US" altLang="zh-CN" sz="20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以</a:t>
            </a:r>
            <a:r>
              <a:rPr kumimoji="1" lang="en-US" altLang="zh-CN" sz="1800" dirty="0"/>
              <a:t>PC</a:t>
            </a:r>
            <a:r>
              <a:rPr kumimoji="1" lang="zh-CN" altLang="en-US" sz="1800" dirty="0"/>
              <a:t>的值为地址从内存中获取一条指令并执行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800" dirty="0"/>
              <a:t>PC+=4</a:t>
            </a:r>
            <a:r>
              <a:rPr kumimoji="1" lang="zh-CN" altLang="en-US" sz="1800" dirty="0"/>
              <a:t>，</a:t>
            </a:r>
            <a:r>
              <a:rPr kumimoji="1" lang="en-US" altLang="zh-CN" sz="1800" dirty="0" err="1"/>
              <a:t>goto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</a:t>
            </a:r>
          </a:p>
          <a:p>
            <a:pPr marL="400050"/>
            <a:r>
              <a:rPr kumimoji="1" lang="zh-CN" altLang="en-US" sz="2000" dirty="0"/>
              <a:t>执行过程中可能发生两种情况</a:t>
            </a:r>
            <a:endParaRPr kumimoji="1" lang="en-US" altLang="zh-CN" sz="2000" dirty="0"/>
          </a:p>
          <a:p>
            <a:pPr marL="800100" lvl="1">
              <a:buFont typeface="+mj-lt"/>
              <a:buAutoNum type="arabicPeriod"/>
            </a:pPr>
            <a:r>
              <a:rPr kumimoji="1" lang="zh-CN" altLang="en-US" sz="1800" dirty="0"/>
              <a:t>指令执行出现错误，比如除零或缺页（同步异常）</a:t>
            </a:r>
            <a:endParaRPr kumimoji="1" lang="en-US" altLang="zh-CN" sz="1800" dirty="0"/>
          </a:p>
          <a:p>
            <a:pPr marL="800100" lvl="1">
              <a:buFont typeface="+mj-lt"/>
              <a:buAutoNum type="arabicPeriod"/>
            </a:pPr>
            <a:r>
              <a:rPr kumimoji="1" lang="zh-CN" altLang="en-US" sz="1800" dirty="0"/>
              <a:t>外部设备触发中断（异步异常）</a:t>
            </a:r>
            <a:endParaRPr kumimoji="1" lang="en-US" altLang="zh-CN" sz="1800" dirty="0"/>
          </a:p>
          <a:p>
            <a:pPr marL="400050"/>
            <a:r>
              <a:rPr kumimoji="1" lang="zh-CN" altLang="en-US" sz="2000" dirty="0"/>
              <a:t>这两种情况在</a:t>
            </a:r>
            <a:r>
              <a:rPr kumimoji="1" lang="en-US" altLang="zh-CN" sz="2000" dirty="0"/>
              <a:t>ARM</a:t>
            </a:r>
            <a:r>
              <a:rPr kumimoji="1" lang="zh-CN" altLang="en-US" sz="2000" dirty="0"/>
              <a:t>平台均称为「异常」</a:t>
            </a:r>
            <a:endParaRPr kumimoji="1" lang="en-US" altLang="zh-CN" sz="2000" dirty="0"/>
          </a:p>
          <a:p>
            <a:pPr marL="800100" lvl="1"/>
            <a:r>
              <a:rPr kumimoji="1" lang="zh-CN" altLang="en-US" sz="1800" dirty="0"/>
              <a:t>均会导致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陷入内核态，并根据异常向量表找到对应的处理函数执行</a:t>
            </a:r>
            <a:endParaRPr kumimoji="1" lang="en-US" altLang="zh-CN" sz="1800" dirty="0"/>
          </a:p>
          <a:p>
            <a:pPr marL="800100" lvl="1"/>
            <a:r>
              <a:rPr kumimoji="1" lang="zh-CN" altLang="en-US" sz="1800" dirty="0"/>
              <a:t>处理函数执行完后，执行流</a:t>
            </a:r>
            <a:r>
              <a:rPr kumimoji="1" lang="zh-CN" altLang="en-US" sz="1800" u="sng" dirty="0"/>
              <a:t>需要</a:t>
            </a:r>
            <a:r>
              <a:rPr kumimoji="1" lang="zh-CN" altLang="en-US" sz="1800" dirty="0"/>
              <a:t>恢复到之前被打断的地方继续运行</a:t>
            </a:r>
            <a:endParaRPr kumimoji="1" lang="en-US" altLang="zh-CN" sz="1800" dirty="0"/>
          </a:p>
          <a:p>
            <a:pPr marL="1200150" lvl="2"/>
            <a:r>
              <a:rPr kumimoji="1" lang="zh-CN" altLang="en-US" sz="1600" dirty="0"/>
              <a:t>注意与</a:t>
            </a:r>
            <a:r>
              <a:rPr kumimoji="1" lang="en-US" altLang="zh-CN" sz="1600" dirty="0"/>
              <a:t>x86</a:t>
            </a:r>
            <a:r>
              <a:rPr kumimoji="1" lang="zh-CN" altLang="en-US" sz="1600" dirty="0"/>
              <a:t>相关概念的区别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07D7A2-D73B-E648-9F6B-75646501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145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22812-95FB-F749-A3E1-733E28F9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操作系统的执行流可对应地分为两部分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2459F5-142E-154D-ABC3-4CF34C3AE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一、实现对异常向量表的设置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CPU</a:t>
            </a:r>
            <a:r>
              <a:rPr kumimoji="1" lang="zh-CN" altLang="en-US" sz="2000" dirty="0"/>
              <a:t>上电后立即执行，是系统初始化的主要工作之一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在开启中断和启动第一个应用之前</a:t>
            </a:r>
            <a:endParaRPr kumimoji="1" lang="en-US" altLang="zh-CN" sz="2000" dirty="0"/>
          </a:p>
          <a:p>
            <a:r>
              <a:rPr kumimoji="1" lang="zh-CN" altLang="en-US" sz="2400" dirty="0"/>
              <a:t>二、实现对不同异常（中断）的处理函数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处理应用程序出错的情况：如除零、缺页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Q</a:t>
            </a:r>
            <a:r>
              <a:rPr kumimoji="1" lang="zh-CN" altLang="en-US" sz="1800" dirty="0"/>
              <a:t>：内核如果自己运行出错怎么办？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一类特殊的同步异常：系统调用，由应用主动触发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处理来自外部设备的中断：如收取网络包、获取键盘输入等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CAA86B-F3A4-F745-A4FC-A9FA7A65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266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操作系统的执行流（简化版）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C33B95A-F563-8245-ABA2-939ACFA799D6}"/>
              </a:ext>
            </a:extLst>
          </p:cNvPr>
          <p:cNvSpPr/>
          <p:nvPr/>
        </p:nvSpPr>
        <p:spPr>
          <a:xfrm>
            <a:off x="6588224" y="2722776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342015D-14F6-3243-8FA2-D1DF6A7A42C4}"/>
              </a:ext>
            </a:extLst>
          </p:cNvPr>
          <p:cNvSpPr/>
          <p:nvPr/>
        </p:nvSpPr>
        <p:spPr>
          <a:xfrm>
            <a:off x="6588224" y="3010808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0A1EB2C-0D9F-634D-8A2D-8BEAF0DFC5E4}"/>
              </a:ext>
            </a:extLst>
          </p:cNvPr>
          <p:cNvSpPr/>
          <p:nvPr/>
        </p:nvSpPr>
        <p:spPr>
          <a:xfrm>
            <a:off x="6588224" y="3298840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403DF31-609D-FD42-8346-0552014CDC35}"/>
              </a:ext>
            </a:extLst>
          </p:cNvPr>
          <p:cNvSpPr/>
          <p:nvPr/>
        </p:nvSpPr>
        <p:spPr>
          <a:xfrm>
            <a:off x="6588224" y="3586872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2B43012-ED24-C143-8479-2BE36577D76C}"/>
              </a:ext>
            </a:extLst>
          </p:cNvPr>
          <p:cNvSpPr txBox="1"/>
          <p:nvPr/>
        </p:nvSpPr>
        <p:spPr>
          <a:xfrm>
            <a:off x="7591529" y="2794784"/>
            <a:ext cx="1512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Exception</a:t>
            </a:r>
            <a:r>
              <a:rPr kumimoji="1" lang="zh-CN" altLang="en-US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</a:p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Table</a:t>
            </a:r>
            <a:endParaRPr kumimoji="1" lang="zh-CN" altLang="en-US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155C1134-5D16-7E45-BBD8-FAEC31C125E4}"/>
              </a:ext>
            </a:extLst>
          </p:cNvPr>
          <p:cNvCxnSpPr/>
          <p:nvPr/>
        </p:nvCxnSpPr>
        <p:spPr>
          <a:xfrm>
            <a:off x="755576" y="2261111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E2E5F30-577D-DA4B-AA62-6CD810564B32}"/>
              </a:ext>
            </a:extLst>
          </p:cNvPr>
          <p:cNvCxnSpPr/>
          <p:nvPr/>
        </p:nvCxnSpPr>
        <p:spPr>
          <a:xfrm>
            <a:off x="755576" y="4522976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0865318-FC59-CF43-ACC8-327B908C7C96}"/>
              </a:ext>
            </a:extLst>
          </p:cNvPr>
          <p:cNvSpPr txBox="1"/>
          <p:nvPr/>
        </p:nvSpPr>
        <p:spPr>
          <a:xfrm>
            <a:off x="760384" y="1613039"/>
            <a:ext cx="251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Application</a:t>
            </a:r>
            <a:r>
              <a:rPr kumimoji="1" lang="zh-CN" altLang="en-US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(CPU)</a:t>
            </a:r>
            <a:endParaRPr kumimoji="1" lang="zh-CN" altLang="en-US" sz="2400" dirty="0">
              <a:solidFill>
                <a:srgbClr val="1F497D">
                  <a:lumMod val="75000"/>
                </a:srgbClr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5E240A6-94CE-5F4F-8CFA-4CFD86A9653D}"/>
              </a:ext>
            </a:extLst>
          </p:cNvPr>
          <p:cNvSpPr txBox="1"/>
          <p:nvPr/>
        </p:nvSpPr>
        <p:spPr>
          <a:xfrm>
            <a:off x="755577" y="3125208"/>
            <a:ext cx="7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OS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7C70DFC-7EDF-CD42-BDCA-E9DC9A523387}"/>
              </a:ext>
            </a:extLst>
          </p:cNvPr>
          <p:cNvSpPr txBox="1"/>
          <p:nvPr/>
        </p:nvSpPr>
        <p:spPr>
          <a:xfrm>
            <a:off x="755577" y="4738999"/>
            <a:ext cx="208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I/O</a:t>
            </a:r>
            <a:r>
              <a:rPr kumimoji="1" lang="zh-CN" altLang="en-US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Device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67D04F11-50C8-B44B-8827-BF7BCB74C0D9}"/>
              </a:ext>
            </a:extLst>
          </p:cNvPr>
          <p:cNvCxnSpPr>
            <a:endCxn id="67" idx="0"/>
          </p:cNvCxnSpPr>
          <p:nvPr/>
        </p:nvCxnSpPr>
        <p:spPr>
          <a:xfrm>
            <a:off x="5292080" y="1843870"/>
            <a:ext cx="1872208" cy="87890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F7158A35-3BCD-024E-BDF4-A589AB09B4C6}"/>
              </a:ext>
            </a:extLst>
          </p:cNvPr>
          <p:cNvCxnSpPr>
            <a:endCxn id="70" idx="2"/>
          </p:cNvCxnSpPr>
          <p:nvPr/>
        </p:nvCxnSpPr>
        <p:spPr>
          <a:xfrm flipV="1">
            <a:off x="5287272" y="3874904"/>
            <a:ext cx="1877016" cy="110973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94D85CCD-545F-8C43-9001-E87E800C0BC7}"/>
              </a:ext>
            </a:extLst>
          </p:cNvPr>
          <p:cNvCxnSpPr/>
          <p:nvPr/>
        </p:nvCxnSpPr>
        <p:spPr>
          <a:xfrm>
            <a:off x="3847112" y="272277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431A657C-16E1-404F-932B-62EDDCDB626E}"/>
              </a:ext>
            </a:extLst>
          </p:cNvPr>
          <p:cNvCxnSpPr/>
          <p:nvPr/>
        </p:nvCxnSpPr>
        <p:spPr>
          <a:xfrm>
            <a:off x="3847112" y="286679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F7B2CFAA-AE85-354E-BD87-8D96397ADA81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D6D5DAC5-AFB6-1548-B4AF-148ED1105E5E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0BBAAD2A-4357-244D-80BE-B0D444585437}"/>
              </a:ext>
            </a:extLst>
          </p:cNvPr>
          <p:cNvCxnSpPr/>
          <p:nvPr/>
        </p:nvCxnSpPr>
        <p:spPr>
          <a:xfrm>
            <a:off x="3847112" y="315482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10E6ED06-CB9C-F34C-AF87-3FE7AD52F4A6}"/>
              </a:ext>
            </a:extLst>
          </p:cNvPr>
          <p:cNvCxnSpPr/>
          <p:nvPr/>
        </p:nvCxnSpPr>
        <p:spPr>
          <a:xfrm>
            <a:off x="3847112" y="329884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7236E992-E794-5846-8ACF-98B52A9A241A}"/>
              </a:ext>
            </a:extLst>
          </p:cNvPr>
          <p:cNvCxnSpPr/>
          <p:nvPr/>
        </p:nvCxnSpPr>
        <p:spPr>
          <a:xfrm>
            <a:off x="3847112" y="344285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248AD4-A62B-0042-BCC5-BEAB9CB8B38D}"/>
              </a:ext>
            </a:extLst>
          </p:cNvPr>
          <p:cNvCxnSpPr/>
          <p:nvPr/>
        </p:nvCxnSpPr>
        <p:spPr>
          <a:xfrm>
            <a:off x="3847112" y="358687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AAAC4727-B0CB-264B-A62F-42D2B982D195}"/>
              </a:ext>
            </a:extLst>
          </p:cNvPr>
          <p:cNvCxnSpPr/>
          <p:nvPr/>
        </p:nvCxnSpPr>
        <p:spPr>
          <a:xfrm>
            <a:off x="3847112" y="373088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60204ED6-5405-1841-A11A-4348213F2182}"/>
              </a:ext>
            </a:extLst>
          </p:cNvPr>
          <p:cNvCxnSpPr/>
          <p:nvPr/>
        </p:nvCxnSpPr>
        <p:spPr>
          <a:xfrm>
            <a:off x="3847112" y="387490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5891C142-7CC4-7840-ACCC-B5567164D6ED}"/>
              </a:ext>
            </a:extLst>
          </p:cNvPr>
          <p:cNvCxnSpPr/>
          <p:nvPr/>
        </p:nvCxnSpPr>
        <p:spPr>
          <a:xfrm>
            <a:off x="3847112" y="401892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673E740A-3EB4-E647-BB6B-F7A7891E3745}"/>
              </a:ext>
            </a:extLst>
          </p:cNvPr>
          <p:cNvCxnSpPr/>
          <p:nvPr/>
        </p:nvCxnSpPr>
        <p:spPr>
          <a:xfrm>
            <a:off x="3847112" y="416293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9F3D84B9-E4B3-534D-8624-FF0350119DD4}"/>
              </a:ext>
            </a:extLst>
          </p:cNvPr>
          <p:cNvCxnSpPr>
            <a:stCxn id="68" idx="1"/>
          </p:cNvCxnSpPr>
          <p:nvPr/>
        </p:nvCxnSpPr>
        <p:spPr>
          <a:xfrm rot="10800000">
            <a:off x="4567193" y="2866792"/>
            <a:ext cx="2021033" cy="28803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7AF35630-642A-9441-B864-FED19DC4E207}"/>
              </a:ext>
            </a:extLst>
          </p:cNvPr>
          <p:cNvCxnSpPr>
            <a:stCxn id="69" idx="1"/>
          </p:cNvCxnSpPr>
          <p:nvPr/>
        </p:nvCxnSpPr>
        <p:spPr>
          <a:xfrm rot="10800000" flipV="1">
            <a:off x="4567192" y="3442856"/>
            <a:ext cx="2021032" cy="50405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DCD2B448-B4D2-D443-AB94-9740A5FBF606}"/>
              </a:ext>
            </a:extLst>
          </p:cNvPr>
          <p:cNvSpPr txBox="1"/>
          <p:nvPr/>
        </p:nvSpPr>
        <p:spPr>
          <a:xfrm>
            <a:off x="2312894" y="3125208"/>
            <a:ext cx="1462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Services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0708FE6-B70A-9642-9372-3A02D47E86AF}"/>
              </a:ext>
            </a:extLst>
          </p:cNvPr>
          <p:cNvSpPr txBox="1"/>
          <p:nvPr/>
        </p:nvSpPr>
        <p:spPr>
          <a:xfrm>
            <a:off x="5073651" y="1417340"/>
            <a:ext cx="229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Exception/</a:t>
            </a:r>
            <a:r>
              <a:rPr kumimoji="1" lang="en-US" altLang="zh-CN" dirty="0" err="1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syscalls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8EBB1D3-B72A-C946-A917-F66886F67F9D}"/>
              </a:ext>
            </a:extLst>
          </p:cNvPr>
          <p:cNvSpPr txBox="1"/>
          <p:nvPr/>
        </p:nvSpPr>
        <p:spPr>
          <a:xfrm>
            <a:off x="5287272" y="502703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Interrupt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347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D5B82-0F7A-DD40-8ACD-40F9E06F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异常向量表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C638ED-2194-1547-BB31-82B1A37EA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操作系统预先在一张表中准备好不同类型异常的处理函数</a:t>
            </a:r>
            <a:endParaRPr kumimoji="1" lang="en-US" altLang="zh-CN" sz="2400" dirty="0"/>
          </a:p>
          <a:p>
            <a:pPr lvl="1"/>
            <a:r>
              <a:rPr kumimoji="1" lang="zh-CN" altLang="en-US" sz="2200" dirty="0"/>
              <a:t>基地址存储在</a:t>
            </a:r>
            <a:r>
              <a:rPr kumimoji="1" lang="en-US" altLang="zh-CN" sz="2200" b="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VBAR_EL1</a:t>
            </a:r>
            <a:r>
              <a:rPr kumimoji="1" lang="zh-CN" altLang="en-US" sz="2200" dirty="0">
                <a:solidFill>
                  <a:schemeClr val="accent1"/>
                </a:solidFill>
              </a:rPr>
              <a:t>寄存器</a:t>
            </a:r>
            <a:r>
              <a:rPr kumimoji="1" lang="zh-CN" altLang="en-US" sz="2200" dirty="0"/>
              <a:t>中</a:t>
            </a:r>
            <a:endParaRPr kumimoji="1" lang="en-US" altLang="zh-CN" sz="2200" dirty="0"/>
          </a:p>
          <a:p>
            <a:pPr lvl="1"/>
            <a:r>
              <a:rPr kumimoji="1" lang="zh-CN" altLang="en-US" sz="2200" dirty="0"/>
              <a:t>处理器在异常发生时自动跳转到对应位置</a:t>
            </a:r>
            <a:endParaRPr kumimoji="1" lang="en-US" altLang="zh-CN" sz="2200" dirty="0"/>
          </a:p>
          <a:p>
            <a:pPr lvl="1"/>
            <a:r>
              <a:rPr kumimoji="1" lang="en-US" altLang="zh-CN" sz="2200" dirty="0"/>
              <a:t>ARM</a:t>
            </a:r>
            <a:r>
              <a:rPr kumimoji="1" lang="zh-CN" altLang="en-US" sz="2200" dirty="0"/>
              <a:t>一共</a:t>
            </a:r>
            <a:r>
              <a:rPr kumimoji="1" lang="en-US" altLang="zh-CN" sz="2200" dirty="0"/>
              <a:t>16</a:t>
            </a:r>
            <a:r>
              <a:rPr kumimoji="1" lang="zh-CN" altLang="en-US" sz="2200" dirty="0"/>
              <a:t>项，其中</a:t>
            </a:r>
            <a:r>
              <a:rPr kumimoji="1" lang="en-US" altLang="zh-CN" sz="2200" dirty="0"/>
              <a:t>4</a:t>
            </a:r>
            <a:r>
              <a:rPr kumimoji="1" lang="zh-CN" altLang="en-US" sz="2200" dirty="0"/>
              <a:t>项最为常用</a:t>
            </a:r>
          </a:p>
        </p:txBody>
      </p:sp>
      <p:grpSp>
        <p:nvGrpSpPr>
          <p:cNvPr id="5" name="组合 14">
            <a:extLst>
              <a:ext uri="{FF2B5EF4-FFF2-40B4-BE49-F238E27FC236}">
                <a16:creationId xmlns:a16="http://schemas.microsoft.com/office/drawing/2014/main" id="{8E9F481A-3EF8-094D-893C-5D7667D2F7E7}"/>
              </a:ext>
            </a:extLst>
          </p:cNvPr>
          <p:cNvGrpSpPr>
            <a:grpSpLocks/>
          </p:cNvGrpSpPr>
          <p:nvPr/>
        </p:nvGrpSpPr>
        <p:grpSpPr bwMode="auto">
          <a:xfrm>
            <a:off x="5697165" y="3019922"/>
            <a:ext cx="2835275" cy="2723153"/>
            <a:chOff x="3271727" y="3918075"/>
            <a:chExt cx="2925665" cy="2920111"/>
          </a:xfrm>
        </p:grpSpPr>
        <p:grpSp>
          <p:nvGrpSpPr>
            <p:cNvPr id="6" name="组合 12">
              <a:extLst>
                <a:ext uri="{FF2B5EF4-FFF2-40B4-BE49-F238E27FC236}">
                  <a16:creationId xmlns:a16="http://schemas.microsoft.com/office/drawing/2014/main" id="{853D375B-4740-9744-A042-6F0706683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1727" y="3918075"/>
              <a:ext cx="2925665" cy="2920111"/>
              <a:chOff x="4469218" y="3600836"/>
              <a:chExt cx="3197679" cy="3191610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C2E6B8B5-5710-264F-823B-5E4365AA7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9218" y="3600836"/>
                <a:ext cx="3197679" cy="3096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59" tIns="33335" rIns="67859" bIns="33335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 b="1" dirty="0">
                    <a:latin typeface="Arial" panose="020B0604020202020204" pitchFamily="34" charset="0"/>
                  </a:rPr>
                  <a:t>异常向量表</a:t>
                </a:r>
                <a:endParaRPr lang="en-US" altLang="zh-CN" sz="18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" name="Rectangle 19">
                <a:extLst>
                  <a:ext uri="{FF2B5EF4-FFF2-40B4-BE49-F238E27FC236}">
                    <a16:creationId xmlns:a16="http://schemas.microsoft.com/office/drawing/2014/main" id="{DC9ECDFD-D72F-3242-92F2-E37453243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4160791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同步异常处理函数</a:t>
                </a:r>
                <a:endParaRPr lang="en-US" altLang="zh-CN" sz="15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159B2FB9-E12E-EE4A-9DD5-4C4F545F5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5378971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快速中断处理函数</a:t>
                </a:r>
                <a:r>
                  <a:rPr lang="en-US" altLang="zh-CN" sz="1500" b="1" dirty="0">
                    <a:latin typeface="Arial" panose="020B0604020202020204" pitchFamily="34" charset="0"/>
                  </a:rPr>
                  <a:t>(FIQ)</a:t>
                </a:r>
              </a:p>
            </p:txBody>
          </p:sp>
          <p:sp>
            <p:nvSpPr>
              <p:cNvPr id="11" name="Text Box 25">
                <a:extLst>
                  <a:ext uri="{FF2B5EF4-FFF2-40B4-BE49-F238E27FC236}">
                    <a16:creationId xmlns:a16="http://schemas.microsoft.com/office/drawing/2014/main" id="{B54F1E99-2107-714B-A09F-D18A02392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3707" y="6466354"/>
                <a:ext cx="425217" cy="326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latin typeface="Arial" panose="020B0604020202020204" pitchFamily="34" charset="0"/>
                  </a:rPr>
                  <a:t>...</a:t>
                </a:r>
              </a:p>
            </p:txBody>
          </p:sp>
          <p:sp>
            <p:nvSpPr>
              <p:cNvPr id="12" name="Rectangle 19">
                <a:extLst>
                  <a:ext uri="{FF2B5EF4-FFF2-40B4-BE49-F238E27FC236}">
                    <a16:creationId xmlns:a16="http://schemas.microsoft.com/office/drawing/2014/main" id="{1C0436C9-2805-E64F-A90F-015841BC0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4728993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中断处理函数</a:t>
                </a:r>
                <a:r>
                  <a:rPr lang="en-US" altLang="zh-CN" sz="1500" b="1" dirty="0">
                    <a:latin typeface="Arial" panose="020B0604020202020204" pitchFamily="34" charset="0"/>
                  </a:rPr>
                  <a:t>(IRQ)</a:t>
                </a:r>
              </a:p>
            </p:txBody>
          </p:sp>
          <p:sp>
            <p:nvSpPr>
              <p:cNvPr id="13" name="Rectangle 23">
                <a:extLst>
                  <a:ext uri="{FF2B5EF4-FFF2-40B4-BE49-F238E27FC236}">
                    <a16:creationId xmlns:a16="http://schemas.microsoft.com/office/drawing/2014/main" id="{6DC5C571-6EC5-7A4C-9166-2014706C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6006293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系统错误异常处理函数</a:t>
                </a:r>
                <a:endParaRPr lang="en-US" altLang="zh-CN" sz="15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Text Box 25">
              <a:extLst>
                <a:ext uri="{FF2B5EF4-FFF2-40B4-BE49-F238E27FC236}">
                  <a16:creationId xmlns:a16="http://schemas.microsoft.com/office/drawing/2014/main" id="{52A1FC3E-DB8D-8D4D-99E7-F0BBEA94D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444" y="4117391"/>
              <a:ext cx="410477" cy="298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ts val="146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...</a:t>
              </a:r>
            </a:p>
          </p:txBody>
        </p:sp>
      </p:grp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D6C055EB-4DD6-F248-AE72-E7B208B6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D66B057-06F0-004F-BE41-C785F7688E44}"/>
              </a:ext>
            </a:extLst>
          </p:cNvPr>
          <p:cNvGrpSpPr>
            <a:grpSpLocks/>
          </p:cNvGrpSpPr>
          <p:nvPr/>
        </p:nvGrpSpPr>
        <p:grpSpPr bwMode="auto">
          <a:xfrm>
            <a:off x="119336" y="3508922"/>
            <a:ext cx="6876122" cy="1828800"/>
            <a:chOff x="366397" y="3412435"/>
            <a:chExt cx="9720553" cy="2226365"/>
          </a:xfrm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83F9D720-1A39-3F49-8B19-702972854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9650" y="3412435"/>
              <a:ext cx="1644046" cy="456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latin typeface="Arial" panose="020B0604020202020204" pitchFamily="34" charset="0"/>
                </a:rPr>
                <a:t>用户程序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AEC148A9-9194-3E4B-93F2-1932F9130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4" y="3505200"/>
              <a:ext cx="717207" cy="456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OS</a:t>
              </a:r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1BD180F3-A050-0B42-AFE6-24D5E5B04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4038" y="3875088"/>
              <a:ext cx="0" cy="598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2769C4EE-7445-DA48-B3B3-C3DC0955C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0388" y="44799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E0272367-2F55-6B45-96C2-BEF85B59A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3438" y="44862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3A770B50-91D4-F940-817B-08D1E7798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688" y="4549775"/>
              <a:ext cx="2832100" cy="546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BFC90C60-AC9B-5F47-B41B-00D996EA4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575" y="4637088"/>
              <a:ext cx="17463" cy="100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A2BEBD59-66E5-3D4F-8B52-056DF8BD4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49" y="4086429"/>
              <a:ext cx="846374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dirty="0">
                  <a:latin typeface="Arial" panose="020B0604020202020204" pitchFamily="34" charset="0"/>
                </a:rPr>
                <a:t>陷入</a:t>
              </a:r>
              <a:endParaRPr lang="en-US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2AE40FB8-7FC0-4B43-A8D3-B078874E6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1549" y="4388131"/>
              <a:ext cx="4035401" cy="75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dirty="0">
                  <a:latin typeface="Arial" panose="020B0604020202020204" pitchFamily="34" charset="0"/>
                </a:rPr>
                <a:t>异常处理</a:t>
              </a:r>
              <a:br>
                <a:rPr lang="en-US" altLang="zh-CN" sz="1800" b="0" dirty="0">
                  <a:latin typeface="Arial" panose="020B0604020202020204" pitchFamily="34" charset="0"/>
                </a:rPr>
              </a:br>
              <a:r>
                <a:rPr lang="zh-CN" altLang="en-US" sz="1800" b="0" dirty="0">
                  <a:latin typeface="Arial" panose="020B0604020202020204" pitchFamily="34" charset="0"/>
                </a:rPr>
                <a:t>函数</a:t>
              </a:r>
              <a:endParaRPr lang="en-US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55813A7D-A38A-2D4E-AE61-15D457CAC4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82154">
              <a:off x="3164053" y="4885510"/>
              <a:ext cx="3021844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dirty="0">
                  <a:latin typeface="Arial" panose="020B0604020202020204" pitchFamily="34" charset="0"/>
                </a:rPr>
                <a:t>异常返回指令</a:t>
              </a:r>
              <a:r>
                <a:rPr lang="en-US" altLang="zh-CN" sz="1800" b="0" dirty="0">
                  <a:latin typeface="Arial" panose="020B0604020202020204" pitchFamily="34" charset="0"/>
                </a:rPr>
                <a:t>(</a:t>
              </a:r>
              <a:r>
                <a:rPr lang="zh-CN" altLang="en-US" sz="1800" b="0" dirty="0">
                  <a:latin typeface="Arial" panose="020B0604020202020204" pitchFamily="34" charset="0"/>
                </a:rPr>
                <a:t>可选</a:t>
              </a:r>
              <a:r>
                <a:rPr lang="en-US" altLang="zh-CN" sz="1800" b="0" dirty="0"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D2A3A68B-5B86-2741-96E8-E68E78453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397" y="4053353"/>
              <a:ext cx="1161690" cy="75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 dirty="0">
                  <a:latin typeface="Arial" panose="020B0604020202020204" pitchFamily="34" charset="0"/>
                </a:rPr>
                <a:t>中断</a:t>
              </a:r>
              <a:r>
                <a:rPr lang="en-US" altLang="zh-CN" sz="1800" b="0" dirty="0">
                  <a:latin typeface="Arial" panose="020B0604020202020204" pitchFamily="34" charset="0"/>
                </a:rPr>
                <a:t>/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 dirty="0">
                  <a:latin typeface="Arial" panose="020B0604020202020204" pitchFamily="34" charset="0"/>
                </a:rPr>
                <a:t>异常</a:t>
              </a:r>
              <a:endParaRPr lang="en-US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27" name="Text Box 16">
              <a:extLst>
                <a:ext uri="{FF2B5EF4-FFF2-40B4-BE49-F238E27FC236}">
                  <a16:creationId xmlns:a16="http://schemas.microsoft.com/office/drawing/2014/main" id="{1DAA8A5F-C2D8-9549-8D47-4FACE0058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969026"/>
              <a:ext cx="915964" cy="48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curr</a:t>
              </a:r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4C4A0852-D480-6B42-9BBF-5C45DCA81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4432852"/>
              <a:ext cx="904633" cy="48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DC6D3C0B-9C61-2E40-9BD6-B250A6D7E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4424363"/>
              <a:ext cx="685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110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00DE91C9-6F29-B74E-9609-8EE4C441E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异常处理函数</a:t>
            </a:r>
            <a:endParaRPr lang="en-US" altLang="zh-CN" dirty="0"/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0077C45F-E153-E145-B735-8B0A835BA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异常处理函数运行在内核态</a:t>
            </a:r>
            <a:endParaRPr lang="en-US" altLang="zh-CN" dirty="0"/>
          </a:p>
          <a:p>
            <a:pPr lvl="1"/>
            <a:r>
              <a:rPr lang="zh-CN" altLang="en-US" dirty="0"/>
              <a:t>可以不受限制地访问所有资源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处理器将异常类型存储在指定寄存器中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chemeClr val="accent1"/>
                </a:solidFill>
              </a:rPr>
              <a:t>ESR_EL1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表明发生的是哪一种异常</a:t>
            </a:r>
            <a:endParaRPr lang="en-US" altLang="zh-CN" dirty="0"/>
          </a:p>
          <a:p>
            <a:pPr lvl="1"/>
            <a:r>
              <a:rPr lang="zh-CN" altLang="en-US" dirty="0"/>
              <a:t>异常处理函数根据异常类型执行不同逻辑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59F12-AC1A-AD45-963B-517019F1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EF0A6-AD9E-DB4D-927D-0461E985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异常处理函数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E6A3C-7CD0-2442-9436-0587A75DE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当异常处理函数完成异常处理后，将通过下述操作</a:t>
            </a:r>
            <a:br>
              <a:rPr kumimoji="1" lang="en-US" altLang="zh-CN" dirty="0"/>
            </a:br>
            <a:r>
              <a:rPr kumimoji="1" lang="zh-CN" altLang="en-US" dirty="0"/>
              <a:t>之一转移控制权：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回到发生异常时正在执行的指令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回到发生异常时的下一条指令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结束当前进程</a:t>
            </a:r>
            <a:endParaRPr kumimoji="1"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4232F6-0ADC-FB47-96AF-E4EB4002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44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0A7DEF-A184-6A4D-9D47-A4F645DC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84F601-F979-0D46-8748-B59E0926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8FC59-BED5-9A4C-A1B5-00F0F03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261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E056-F2FD-0D4A-ABEB-DB43B2FB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常见的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的系统调用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A980249-4284-7748-A65E-C9B32A1B835B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51013"/>
          <a:ext cx="7924800" cy="3168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描述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getcwd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 current working directory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129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kill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Send signal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to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Duplicate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 descriptor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getpid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process 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56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brk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Set the top of heap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215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munmap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Unmap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a file from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clone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Create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221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execve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Execute a program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80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fstat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 status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Map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into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93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_exit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Terminate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the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260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 for process to stop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406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B1194-6EB9-6D47-B0A3-2D66C22B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如何跟踪系统调用？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C9842-3476-8F4C-9FBF-B98D243B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34BE084-1540-884B-9E4C-7339A66A2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653477"/>
            <a:ext cx="6688523" cy="294032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execve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("./hello2", ["./hello2"], [/* 59 </a:t>
            </a: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vars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 */]) = 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uname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({sys="Linux", node="kiwi", ...}) = 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(0) = 0xca9000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(0xcaa1c0) = 0xcaa1c0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arch_prctl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(ARCH_SET_FS, 0xca9880) = 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(0xccb1c0) = 0xccb1c0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(0xccc000) = 0xccc000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write(1, "Hello world!\n", 13) = 13 </a:t>
            </a:r>
            <a:endParaRPr kumimoji="1" lang="zh-CN" altLang="en-US" sz="1400" dirty="0">
              <a:solidFill>
                <a:srgbClr val="FF0000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exit_group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(13) = ?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D025A4-26CB-EA47-A2D5-1E5D3C176704}"/>
              </a:ext>
            </a:extLst>
          </p:cNvPr>
          <p:cNvSpPr/>
          <p:nvPr/>
        </p:nvSpPr>
        <p:spPr>
          <a:xfrm>
            <a:off x="1187625" y="2173424"/>
            <a:ext cx="6180687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strace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-o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hello.out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./hello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E28517-94CB-344E-A989-3BA4F0F0D952}"/>
              </a:ext>
            </a:extLst>
          </p:cNvPr>
          <p:cNvSpPr/>
          <p:nvPr/>
        </p:nvSpPr>
        <p:spPr>
          <a:xfrm>
            <a:off x="1187625" y="1246906"/>
            <a:ext cx="6180687" cy="7386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main() {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zh-CN" altLang="en-US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write(1, "Hello world!\n", 13);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}</a:t>
            </a:r>
            <a:endParaRPr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839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/>
        </p:nvSpPr>
        <p:spPr>
          <a:xfrm>
            <a:off x="4168763" y="3369545"/>
            <a:ext cx="446436" cy="928115"/>
          </a:xfrm>
          <a:prstGeom prst="roundRect">
            <a:avLst>
              <a:gd name="adj" fmla="val 1988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667" dirty="0">
              <a:solidFill>
                <a:schemeClr val="accent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565392" y="2368335"/>
            <a:ext cx="446436" cy="1929325"/>
          </a:xfrm>
          <a:prstGeom prst="roundRect">
            <a:avLst>
              <a:gd name="adj" fmla="val 1988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667" dirty="0">
              <a:solidFill>
                <a:schemeClr val="accent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程序员角度看系统调用</a:t>
            </a:r>
          </a:p>
        </p:txBody>
      </p:sp>
      <p:cxnSp>
        <p:nvCxnSpPr>
          <p:cNvPr id="6" name="直线连接符 5"/>
          <p:cNvCxnSpPr/>
          <p:nvPr/>
        </p:nvCxnSpPr>
        <p:spPr>
          <a:xfrm>
            <a:off x="1571667" y="3937620"/>
            <a:ext cx="3780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1571667" y="2857500"/>
            <a:ext cx="1860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>
            <a:off x="3431873" y="2857500"/>
            <a:ext cx="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71667" y="3157534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库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71667" y="4237653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内核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571667" y="1932720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应用</a:t>
            </a:r>
          </a:p>
        </p:txBody>
      </p:sp>
      <p:sp>
        <p:nvSpPr>
          <p:cNvPr id="20" name="下箭头 19"/>
          <p:cNvSpPr/>
          <p:nvPr/>
        </p:nvSpPr>
        <p:spPr>
          <a:xfrm>
            <a:off x="2651787" y="3808429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4271967" y="3813019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2651787" y="2735194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69368" y="2374883"/>
            <a:ext cx="4200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1</a:t>
            </a:r>
            <a:endParaRPr kumimoji="1" lang="zh-CN" altLang="en-US" sz="1500" b="1" dirty="0">
              <a:solidFill>
                <a:schemeClr val="accent1">
                  <a:lumMod val="7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85571" y="3388366"/>
            <a:ext cx="4200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2</a:t>
            </a:r>
            <a:endParaRPr kumimoji="1" lang="zh-CN" altLang="en-US" sz="1500" b="1" dirty="0">
              <a:solidFill>
                <a:schemeClr val="accent1">
                  <a:lumMod val="7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3718713" y="1500019"/>
            <a:ext cx="1625783" cy="874863"/>
          </a:xfrm>
          <a:prstGeom prst="roundRect">
            <a:avLst>
              <a:gd name="adj" fmla="val 7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使用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kumimoji="1" lang="en-US" altLang="zh-CN" sz="1667" dirty="0" err="1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glibc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)</a:t>
            </a:r>
            <a:endParaRPr kumimoji="1" lang="zh-CN" altLang="en-US" sz="1667" baseline="30000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E.g.,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open()</a:t>
            </a:r>
            <a:endParaRPr kumimoji="1" lang="zh-CN" altLang="en-US" sz="1667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37" name="直线连接符 36"/>
          <p:cNvCxnSpPr>
            <a:stCxn id="34" idx="3"/>
            <a:endCxn id="36" idx="1"/>
          </p:cNvCxnSpPr>
          <p:nvPr/>
        </p:nvCxnSpPr>
        <p:spPr>
          <a:xfrm flipV="1">
            <a:off x="2989415" y="1937451"/>
            <a:ext cx="729298" cy="59901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5352085" y="2504587"/>
            <a:ext cx="1380152" cy="874863"/>
          </a:xfrm>
          <a:prstGeom prst="roundRect">
            <a:avLst>
              <a:gd name="adj" fmla="val 7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使用汇编</a:t>
            </a:r>
          </a:p>
          <a:p>
            <a:pPr>
              <a:lnSpc>
                <a:spcPct val="150000"/>
              </a:lnSpc>
            </a:pP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E.g.,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"svc"</a:t>
            </a:r>
            <a:endParaRPr kumimoji="1" lang="zh-CN" altLang="en-US" sz="1667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41" name="直线连接符 40"/>
          <p:cNvCxnSpPr/>
          <p:nvPr/>
        </p:nvCxnSpPr>
        <p:spPr>
          <a:xfrm flipV="1">
            <a:off x="4615199" y="2938146"/>
            <a:ext cx="729298" cy="5913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4736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7C55A-6525-E145-904D-80030A6B4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</a:rPr>
              <a:t>svc</a:t>
            </a:r>
            <a:r>
              <a:rPr kumimoji="1" lang="zh-CN" altLang="en-US" dirty="0">
                <a:latin typeface="+mn-lt"/>
              </a:rPr>
              <a:t>指令：从用户态进入内核态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961BF-B50A-214D-B635-C7643D312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3771636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ea typeface="+mn-ea"/>
              </a:rPr>
              <a:t>CPU</a:t>
            </a:r>
            <a:r>
              <a:rPr kumimoji="1" lang="zh-CN" altLang="en-US" sz="2400" dirty="0">
                <a:ea typeface="+mn-ea"/>
              </a:rPr>
              <a:t>的行为</a:t>
            </a:r>
            <a:endParaRPr kumimoji="1" lang="en-US" altLang="zh-CN" sz="2400" dirty="0">
              <a:ea typeface="+mn-ea"/>
            </a:endParaRPr>
          </a:p>
          <a:p>
            <a:pPr lvl="1"/>
            <a:r>
              <a:rPr kumimoji="1" lang="zh-CN" altLang="en-US" sz="2000" b="0" dirty="0">
                <a:ea typeface="+mn-ea"/>
              </a:rPr>
              <a:t>将处理器状态</a:t>
            </a:r>
            <a:r>
              <a:rPr kumimoji="1" lang="en" altLang="zh-CN" sz="2000" b="0" dirty="0">
                <a:ea typeface="+mn-ea"/>
              </a:rPr>
              <a:t>PSTATE</a:t>
            </a:r>
            <a:r>
              <a:rPr kumimoji="1" lang="zh-CN" altLang="en-US" sz="2000" b="0" dirty="0">
                <a:ea typeface="+mn-ea"/>
              </a:rPr>
              <a:t>保存到寄存器</a:t>
            </a:r>
            <a:r>
              <a:rPr kumimoji="1" lang="en" altLang="zh-CN" sz="2000" b="0" dirty="0">
                <a:ea typeface="+mn-ea"/>
              </a:rPr>
              <a:t>SPSR_EL1</a:t>
            </a:r>
            <a:r>
              <a:rPr kumimoji="1" lang="zh-CN" altLang="en-US" sz="2000" b="0" dirty="0">
                <a:ea typeface="+mn-ea"/>
              </a:rPr>
              <a:t>中</a:t>
            </a:r>
          </a:p>
          <a:p>
            <a:pPr lvl="1"/>
            <a:r>
              <a:rPr kumimoji="1" lang="zh-CN" altLang="en-US" sz="2000" b="0" dirty="0">
                <a:ea typeface="+mn-ea"/>
              </a:rPr>
              <a:t>将用户程序中</a:t>
            </a:r>
            <a:r>
              <a:rPr kumimoji="1" lang="en-US" altLang="zh-CN" sz="2000" b="0" dirty="0">
                <a:ea typeface="+mn-ea"/>
              </a:rPr>
              <a:t>svc</a:t>
            </a:r>
            <a:r>
              <a:rPr kumimoji="1" lang="zh-CN" altLang="en-US" sz="2000" b="0" dirty="0">
                <a:ea typeface="+mn-ea"/>
              </a:rPr>
              <a:t>后的第一条指令所在地址保存到寄存器</a:t>
            </a:r>
            <a:r>
              <a:rPr kumimoji="1" lang="en-US" altLang="zh-CN" sz="2000" b="0" dirty="0">
                <a:ea typeface="+mn-ea"/>
              </a:rPr>
              <a:t>ELR_EL1</a:t>
            </a:r>
            <a:endParaRPr kumimoji="1" lang="zh-CN" altLang="en-US" sz="2000" b="0" dirty="0">
              <a:ea typeface="+mn-ea"/>
            </a:endParaRPr>
          </a:p>
          <a:p>
            <a:pPr lvl="1"/>
            <a:r>
              <a:rPr kumimoji="1" lang="zh-CN" altLang="en-US" sz="2000" b="0" dirty="0">
                <a:ea typeface="+mn-ea"/>
              </a:rPr>
              <a:t>将处理器正在使用的栈指针寄存器由</a:t>
            </a:r>
            <a:r>
              <a:rPr kumimoji="1" lang="en" altLang="zh-CN" sz="2000" b="0" dirty="0">
                <a:ea typeface="+mn-ea"/>
              </a:rPr>
              <a:t>SP_EL0</a:t>
            </a:r>
            <a:r>
              <a:rPr kumimoji="1" lang="zh-CN" altLang="en-US" sz="2000" b="0" dirty="0">
                <a:ea typeface="+mn-ea"/>
              </a:rPr>
              <a:t>切换为</a:t>
            </a:r>
            <a:r>
              <a:rPr kumimoji="1" lang="en" altLang="zh-CN" sz="2000" b="0" dirty="0">
                <a:ea typeface="+mn-ea"/>
              </a:rPr>
              <a:t>SP_EL1</a:t>
            </a:r>
            <a:endParaRPr kumimoji="1" lang="zh-CN" altLang="en" sz="2000" b="0" dirty="0">
              <a:ea typeface="+mn-ea"/>
            </a:endParaRPr>
          </a:p>
          <a:p>
            <a:pPr lvl="1"/>
            <a:r>
              <a:rPr kumimoji="1" lang="zh-CN" altLang="en-US" sz="2000" b="0" dirty="0">
                <a:ea typeface="+mn-ea"/>
              </a:rPr>
              <a:t>将 </a:t>
            </a:r>
            <a:r>
              <a:rPr kumimoji="1" lang="en" altLang="zh-CN" sz="2000" b="0" dirty="0">
                <a:ea typeface="+mn-ea"/>
              </a:rPr>
              <a:t>PSTATE </a:t>
            </a:r>
            <a:r>
              <a:rPr kumimoji="1" lang="zh-CN" altLang="en-US" sz="2000" b="0" dirty="0">
                <a:ea typeface="+mn-ea"/>
              </a:rPr>
              <a:t>中的特权级别切换到内核态（</a:t>
            </a:r>
            <a:r>
              <a:rPr kumimoji="1" lang="en" altLang="zh-CN" sz="2000" b="0" dirty="0">
                <a:ea typeface="+mn-ea"/>
              </a:rPr>
              <a:t>EL1</a:t>
            </a:r>
            <a:r>
              <a:rPr kumimoji="1" lang="zh-CN" altLang="en" sz="2000" b="0" dirty="0">
                <a:ea typeface="+mn-ea"/>
              </a:rPr>
              <a:t>）</a:t>
            </a:r>
            <a:endParaRPr kumimoji="1" lang="en-US" altLang="zh-CN" sz="2000" b="0" dirty="0">
              <a:ea typeface="+mn-ea"/>
            </a:endParaRPr>
          </a:p>
          <a:p>
            <a:pPr lvl="1"/>
            <a:r>
              <a:rPr kumimoji="1" lang="zh-CN" altLang="en-US" sz="2000" dirty="0">
                <a:ea typeface="+mn-ea"/>
              </a:rPr>
              <a:t>根据异常向量表中的配置，执行对应异常向量条目所配置的代码</a:t>
            </a:r>
            <a:endParaRPr kumimoji="1" lang="zh-CN" altLang="en-US" sz="2000" b="0" dirty="0"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0BA278-B781-3B46-A94C-062E3A91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41</a:t>
            </a:fld>
            <a:endParaRPr lang="zh-CN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6457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7C55A-6525-E145-904D-80030A6B4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+mn-lt"/>
              </a:rPr>
              <a:t>eret</a:t>
            </a:r>
            <a:r>
              <a:rPr kumimoji="1" lang="zh-CN" altLang="en-US" dirty="0">
                <a:latin typeface="+mn-lt"/>
              </a:rPr>
              <a:t>指令：从内核态返回用户态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961BF-B50A-214D-B635-C7643D312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3771636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ea typeface="+mn-ea"/>
              </a:rPr>
              <a:t>CPU</a:t>
            </a:r>
            <a:r>
              <a:rPr kumimoji="1" lang="zh-CN" altLang="en-US" sz="2400" dirty="0">
                <a:ea typeface="+mn-ea"/>
              </a:rPr>
              <a:t>的行为</a:t>
            </a:r>
            <a:endParaRPr kumimoji="1" lang="en-US" altLang="zh-CN" sz="2400" dirty="0">
              <a:ea typeface="+mn-ea"/>
            </a:endParaRPr>
          </a:p>
          <a:p>
            <a:pPr lvl="1"/>
            <a:r>
              <a:rPr kumimoji="1" lang="zh-CN" altLang="en-US" sz="2000" dirty="0">
                <a:ea typeface="+mn-ea"/>
              </a:rPr>
              <a:t>将</a:t>
            </a:r>
            <a:r>
              <a:rPr kumimoji="1" lang="en-US" altLang="zh-CN" sz="2000" dirty="0">
                <a:ea typeface="+mn-ea"/>
              </a:rPr>
              <a:t>SPSR_EL1</a:t>
            </a:r>
            <a:r>
              <a:rPr kumimoji="1" lang="zh-CN" altLang="en-US" sz="2000" dirty="0">
                <a:ea typeface="+mn-ea"/>
              </a:rPr>
              <a:t>中所存储的处理器状态重设到处理器状态</a:t>
            </a:r>
            <a:r>
              <a:rPr kumimoji="1" lang="en-US" altLang="zh-CN" sz="2000" dirty="0">
                <a:ea typeface="+mn-ea"/>
              </a:rPr>
              <a:t>PSTATE</a:t>
            </a:r>
            <a:r>
              <a:rPr kumimoji="1" lang="zh-CN" altLang="en-US" sz="2000" dirty="0">
                <a:ea typeface="+mn-ea"/>
              </a:rPr>
              <a:t>中</a:t>
            </a:r>
          </a:p>
          <a:p>
            <a:pPr lvl="1"/>
            <a:r>
              <a:rPr kumimoji="1" lang="zh-CN" altLang="en-US" sz="2000" dirty="0">
                <a:ea typeface="+mn-ea"/>
              </a:rPr>
              <a:t>将处理器正在使用的栈指针寄存器由</a:t>
            </a:r>
            <a:r>
              <a:rPr kumimoji="1" lang="en-US" altLang="zh-CN" sz="2000" dirty="0">
                <a:ea typeface="+mn-ea"/>
              </a:rPr>
              <a:t>SP_EL1</a:t>
            </a:r>
            <a:r>
              <a:rPr kumimoji="1" lang="zh-CN" altLang="en-US" sz="2000" dirty="0">
                <a:ea typeface="+mn-ea"/>
              </a:rPr>
              <a:t>切换为</a:t>
            </a:r>
            <a:r>
              <a:rPr kumimoji="1" lang="en-US" altLang="zh-CN" sz="2000" dirty="0">
                <a:ea typeface="+mn-ea"/>
              </a:rPr>
              <a:t>SP_EL0</a:t>
            </a:r>
            <a:endParaRPr kumimoji="1" lang="zh-CN" altLang="en-US" sz="2000" dirty="0">
              <a:ea typeface="+mn-ea"/>
            </a:endParaRPr>
          </a:p>
          <a:p>
            <a:pPr lvl="1"/>
            <a:r>
              <a:rPr kumimoji="1" lang="zh-CN" altLang="en-US" sz="2000" dirty="0">
                <a:ea typeface="+mn-ea"/>
              </a:rPr>
              <a:t>将</a:t>
            </a:r>
            <a:r>
              <a:rPr kumimoji="1" lang="en-US" altLang="zh-CN" sz="2000" dirty="0">
                <a:ea typeface="+mn-ea"/>
              </a:rPr>
              <a:t>ELR_EL1</a:t>
            </a:r>
            <a:r>
              <a:rPr kumimoji="1" lang="zh-CN" altLang="en-US" sz="2000" dirty="0">
                <a:ea typeface="+mn-ea"/>
              </a:rPr>
              <a:t>寄存器中所保存的返回地址重设到程序计数器</a:t>
            </a:r>
            <a:r>
              <a:rPr kumimoji="1" lang="en-US" altLang="zh-CN" sz="2000" dirty="0">
                <a:ea typeface="+mn-ea"/>
              </a:rPr>
              <a:t>PC</a:t>
            </a:r>
            <a:r>
              <a:rPr kumimoji="1" lang="zh-CN" altLang="en-US" sz="2000" dirty="0">
                <a:ea typeface="+mn-ea"/>
              </a:rPr>
              <a:t>中，执行应用程序中的代码</a:t>
            </a:r>
            <a:endParaRPr kumimoji="1" lang="en-US" altLang="zh-CN" sz="2000" dirty="0"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0BA278-B781-3B46-A94C-062E3A91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42</a:t>
            </a:fld>
            <a:endParaRPr lang="zh-CN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3378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B1E3A-BC51-9A47-868F-5C98BECE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两种模式（态）的切换：用户态 </a:t>
            </a:r>
            <a:r>
              <a:rPr kumimoji="1" lang="en-US" altLang="zh-CN" dirty="0"/>
              <a:t>&lt;-&gt;</a:t>
            </a:r>
            <a:r>
              <a:rPr kumimoji="1" lang="zh-CN" altLang="en-US" dirty="0"/>
              <a:t> 内核态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18E44-BD46-8E40-9BB4-59186144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ABC1E7-F3A1-4C4D-B9AD-6D6F1CF22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777380"/>
            <a:ext cx="8242300" cy="3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41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9EA2F-28AA-824A-B69E-DC11B111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上下文保存与恢复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B3320-FB4B-BD46-8DC8-C8F383AC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硬件只保存了部分寄存器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只包含</a:t>
            </a:r>
            <a:r>
              <a:rPr kumimoji="1" lang="en-US" altLang="zh-CN" sz="2000" dirty="0"/>
              <a:t>PSTATE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PC</a:t>
            </a:r>
          </a:p>
          <a:p>
            <a:pPr lvl="1"/>
            <a:r>
              <a:rPr kumimoji="1" lang="zh-CN" altLang="en-US" sz="2000" dirty="0"/>
              <a:t>不包含通用寄存器、</a:t>
            </a:r>
            <a:r>
              <a:rPr kumimoji="1" lang="en-US" altLang="zh-CN" sz="2000" dirty="0"/>
              <a:t>SP</a:t>
            </a:r>
          </a:p>
          <a:p>
            <a:pPr lvl="2"/>
            <a:r>
              <a:rPr kumimoji="1" lang="en-US" altLang="zh-CN" dirty="0"/>
              <a:t>Q:</a:t>
            </a:r>
            <a:r>
              <a:rPr kumimoji="1" lang="zh-CN" altLang="en-US" dirty="0"/>
              <a:t> 为什么硬件不全部保存呢？</a:t>
            </a:r>
            <a:endParaRPr kumimoji="1" lang="en-US" altLang="zh-CN" dirty="0"/>
          </a:p>
          <a:p>
            <a:r>
              <a:rPr kumimoji="1" lang="zh-CN" altLang="en-US" sz="2400" dirty="0"/>
              <a:t>由软件来（按需）完成其他上下文寄存器的保存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主要是：通用寄存器（</a:t>
            </a:r>
            <a:r>
              <a:rPr kumimoji="1" lang="en-US" altLang="zh-CN" sz="2000" dirty="0"/>
              <a:t>X0-X30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SP</a:t>
            </a:r>
            <a:r>
              <a:rPr kumimoji="1" lang="zh-CN" altLang="en-US" sz="2000" dirty="0"/>
              <a:t>不需要保存：因为硬件有</a:t>
            </a:r>
            <a:r>
              <a:rPr kumimoji="1" lang="en-US" altLang="zh-CN" sz="2000" dirty="0"/>
              <a:t>SP_EL0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SP_EL1</a:t>
            </a:r>
            <a:r>
              <a:rPr kumimoji="1" lang="zh-CN" altLang="en-US" sz="2000" dirty="0"/>
              <a:t>两个寄存器</a:t>
            </a:r>
            <a:endParaRPr kumimoji="1" lang="en-US" altLang="zh-CN" sz="20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883063-6A81-8649-BAE6-7E5C41F4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8854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FD665-3626-5543-BF93-7FD89039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用户态</a:t>
            </a:r>
            <a:r>
              <a:rPr kumimoji="1" lang="en-US" altLang="zh-CN" dirty="0"/>
              <a:t>/</a:t>
            </a:r>
            <a:r>
              <a:rPr kumimoji="1" lang="zh-CN" altLang="en-US" dirty="0"/>
              <a:t>内核态的切换过程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E5E118-E0A2-974D-8A8B-7C48283B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31C615-046C-1C43-97C6-53E89397A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1866112"/>
            <a:ext cx="8204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56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A5A8C-9D69-5645-9B34-A0FDAD39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7D90E-E49F-3946-9551-B6E217018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内核自己是否可以调用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如果可以，是否需要换栈？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0D966-B9FC-8241-94F8-58785836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358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7707A-529B-D740-BE43-B947975F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系统调用的参数与返回值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10FC3-6776-A64E-BC46-7F249891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参数传递</a:t>
            </a:r>
            <a:endParaRPr lang="en-US" altLang="zh-CN" sz="2400" dirty="0"/>
          </a:p>
          <a:p>
            <a:pPr lvl="1"/>
            <a:r>
              <a:rPr lang="zh-CN" altLang="en-US" sz="2000" dirty="0"/>
              <a:t>最多允许</a:t>
            </a:r>
            <a:r>
              <a:rPr lang="en-US" altLang="zh-CN" sz="2000" dirty="0"/>
              <a:t>8</a:t>
            </a:r>
            <a:r>
              <a:rPr lang="zh-CN" altLang="en-US" sz="2000" dirty="0"/>
              <a:t>个参数：</a:t>
            </a:r>
            <a:r>
              <a:rPr lang="en-US" altLang="zh-CN" sz="2000" dirty="0"/>
              <a:t>x0-x7</a:t>
            </a:r>
            <a:r>
              <a:rPr lang="zh-CN" altLang="en-US" sz="2000" dirty="0"/>
              <a:t>寄存器</a:t>
            </a:r>
            <a:endParaRPr lang="en-US" altLang="zh-CN" sz="2000" dirty="0"/>
          </a:p>
          <a:p>
            <a:pPr lvl="1"/>
            <a:r>
              <a:rPr lang="en-US" altLang="zh-CN" sz="2000" dirty="0"/>
              <a:t>x8</a:t>
            </a:r>
            <a:r>
              <a:rPr lang="zh-CN" altLang="en-US" sz="2000" dirty="0"/>
              <a:t>用于存放系统调用编号</a:t>
            </a:r>
            <a:endParaRPr lang="en-US" altLang="zh-CN" sz="2000" dirty="0"/>
          </a:p>
          <a:p>
            <a:pPr lvl="1"/>
            <a:r>
              <a:rPr lang="zh-CN" altLang="en-US" sz="2000" dirty="0"/>
              <a:t>调用者保存的寄存器必须在用户态保存</a:t>
            </a:r>
            <a:endParaRPr lang="en-US" altLang="zh-CN" sz="2000" dirty="0"/>
          </a:p>
          <a:p>
            <a:r>
              <a:rPr lang="zh-CN" altLang="en-US" sz="2400" dirty="0"/>
              <a:t>返回值存放于</a:t>
            </a:r>
            <a:r>
              <a:rPr lang="en-US" altLang="zh-CN" sz="2400" dirty="0"/>
              <a:t>x0</a:t>
            </a:r>
            <a:r>
              <a:rPr lang="zh-CN" altLang="en-US" sz="2400" dirty="0"/>
              <a:t>寄存器中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A6232F3D-52DE-2C42-A188-AEC073FEDFF7}"/>
              </a:ext>
            </a:extLst>
          </p:cNvPr>
          <p:cNvGrpSpPr>
            <a:grpSpLocks/>
          </p:cNvGrpSpPr>
          <p:nvPr/>
        </p:nvGrpSpPr>
        <p:grpSpPr bwMode="auto">
          <a:xfrm>
            <a:off x="2274993" y="3892640"/>
            <a:ext cx="5033311" cy="1592791"/>
            <a:chOff x="2165350" y="4200679"/>
            <a:chExt cx="6711973" cy="2123496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FE45552-2F54-9048-AC36-D1765217F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2687" y="4200679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9E3A88DE-6E8D-FF4E-ACA6-72787252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5736" y="4229816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6EE9D883-6409-1540-AA0C-552AA9974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EC68EC2-0B15-D34C-81D1-7A7E44446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26812408-75D8-404D-B817-3A0D58C9A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B41F6D40-6456-4E45-8195-25371F2A1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60CF470-9072-4C48-91DE-97DB1F577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61CD1B7F-5E26-D24C-BEF0-BC0BEAE34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67DAE1D5-24A5-1243-91C2-8028ECD12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solidFill>
                    <a:schemeClr val="accent1"/>
                  </a:solidFill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06ACBF27-656F-4942-B8FE-03618D30D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235" y="4807492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solidFill>
                    <a:schemeClr val="accent1"/>
                  </a:solidFill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73CF394E-29EF-DE4A-852B-983677512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86628819-021F-A646-A639-2F6FDF22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4857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79BD1-26D1-EE4D-A28B-038035C9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系统调用返回值与</a:t>
            </a:r>
            <a:r>
              <a:rPr kumimoji="1" lang="en-US" altLang="zh-CN" dirty="0" err="1"/>
              <a:t>errno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98E72-A554-1743-BC96-44ED228E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一般库函数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出错时返回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，并设置全局变量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为具体的错误值</a:t>
            </a:r>
            <a:endParaRPr kumimoji="1" lang="en-US" altLang="zh-CN" dirty="0"/>
          </a:p>
          <a:p>
            <a:r>
              <a:rPr kumimoji="1" lang="zh-CN" altLang="en-US" dirty="0"/>
              <a:t>系统调用通过寄存器向应用传递返回值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一般设置为 </a:t>
            </a:r>
            <a:r>
              <a:rPr kumimoji="1" lang="en-US" altLang="zh-CN" dirty="0"/>
              <a:t>-</a:t>
            </a:r>
            <a:r>
              <a:rPr kumimoji="1" lang="en-US" altLang="zh-CN" dirty="0" err="1"/>
              <a:t>errno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库对系统调用的 </a:t>
            </a:r>
            <a:r>
              <a:rPr kumimoji="1" lang="en-US" altLang="zh-CN" dirty="0"/>
              <a:t>wrapper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会将系统调用的返回值转换为库函数形式的返回值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EBD6E-31AE-5E49-A7E6-4EEEEA58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57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7514-7389-5A46-972A-E4990EE6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Q:</a:t>
            </a:r>
            <a:r>
              <a:rPr kumimoji="1" lang="zh-CN" altLang="en-US" dirty="0"/>
              <a:t> 如果寄存器放不下参数怎么办？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68689-2ACB-2F45-B093-53777F58C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寄存器放不下，只能通过内存传参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将参数放在内存中，将指针放在寄存器中传给内核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内核通过指针访问相关参数</a:t>
            </a:r>
            <a:endParaRPr kumimoji="1" lang="en-US" altLang="zh-CN" sz="2000" dirty="0"/>
          </a:p>
          <a:p>
            <a:r>
              <a:rPr kumimoji="1" lang="zh-CN" altLang="en-US" sz="2400" dirty="0"/>
              <a:t>想一想，可能有什么问题？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情况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：指针指向了内核区域（攻击！）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情况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：指针指向的区域被</a:t>
            </a:r>
            <a:r>
              <a:rPr kumimoji="1" lang="en-US" altLang="zh-CN" sz="2000" dirty="0"/>
              <a:t>swap-out</a:t>
            </a:r>
            <a:r>
              <a:rPr kumimoji="1" lang="zh-CN" altLang="en-US" sz="2000" dirty="0"/>
              <a:t>了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导致内核访问时出现了</a:t>
            </a:r>
            <a:r>
              <a:rPr kumimoji="1" lang="en-US" altLang="zh-CN" sz="1800" dirty="0"/>
              <a:t>page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fault</a:t>
            </a:r>
            <a:r>
              <a:rPr kumimoji="1" lang="zh-CN" altLang="en-US" sz="1800" dirty="0"/>
              <a:t>，怎么处理？</a:t>
            </a:r>
            <a:endParaRPr kumimoji="1" lang="en-US" altLang="zh-CN" sz="1800" dirty="0"/>
          </a:p>
          <a:p>
            <a:pPr lvl="1"/>
            <a:r>
              <a:rPr kumimoji="1" lang="zh-CN" altLang="en-US" sz="2000"/>
              <a:t>情况</a:t>
            </a:r>
            <a:r>
              <a:rPr kumimoji="1" lang="en-US" altLang="zh-CN" sz="2000"/>
              <a:t>-3</a:t>
            </a:r>
            <a:r>
              <a:rPr kumimoji="1" lang="zh-CN" altLang="en-US" sz="2000" dirty="0"/>
              <a:t>：指针指向了未映射区域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导致</a:t>
            </a:r>
            <a:r>
              <a:rPr kumimoji="1" lang="en-US" altLang="zh-CN" sz="1800" dirty="0"/>
              <a:t>segmentation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fault</a:t>
            </a:r>
            <a:r>
              <a:rPr kumimoji="1" lang="zh-CN" altLang="en-US" sz="1800" dirty="0"/>
              <a:t>，会怎么处理？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395E8F-1D90-C94E-AE15-B8574363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82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3423E-7816-1246-AD75-DE17F188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如何验证用户态的指针合法性？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69995-C937-464B-A3CF-7A939870B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如果仔细检查的话太费时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需要检查指针是否来自所有的合法内存区域（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r>
              <a:rPr kumimoji="1" lang="en-US" altLang="zh-CN" sz="2400" dirty="0"/>
              <a:t>Linux</a:t>
            </a:r>
            <a:r>
              <a:rPr kumimoji="1" lang="zh-CN" altLang="en-US" sz="2400" dirty="0"/>
              <a:t>的方案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仅仅做一个简单的检查，判断是否在最大的</a:t>
            </a:r>
            <a:r>
              <a:rPr kumimoji="1" lang="en-US" altLang="zh-CN" sz="2000" dirty="0"/>
              <a:t>VMA</a:t>
            </a:r>
          </a:p>
          <a:p>
            <a:pPr lvl="1"/>
            <a:r>
              <a:rPr kumimoji="1" lang="zh-CN" altLang="en-US" sz="2000" dirty="0"/>
              <a:t>即使检查过了，指针依然有可能不合法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在内核态发生非法内存访问，一般会被认为是内核</a:t>
            </a:r>
            <a:r>
              <a:rPr kumimoji="1" lang="en-US" altLang="zh-CN" sz="2000" dirty="0"/>
              <a:t>bug</a:t>
            </a:r>
            <a:r>
              <a:rPr kumimoji="1" lang="zh-CN" altLang="en-US" sz="2000" dirty="0"/>
              <a:t>而触发</a:t>
            </a:r>
            <a:r>
              <a:rPr kumimoji="1" lang="en-US" altLang="zh-CN" sz="2000" dirty="0"/>
              <a:t>Oops</a:t>
            </a:r>
            <a:r>
              <a:rPr kumimoji="1" lang="zh-CN" altLang="en-US" sz="2000" dirty="0"/>
              <a:t>，并</a:t>
            </a:r>
            <a:r>
              <a:rPr kumimoji="1" lang="en-US" altLang="zh-CN" sz="2000" dirty="0"/>
              <a:t>kill</a:t>
            </a:r>
            <a:r>
              <a:rPr kumimoji="1" lang="zh-CN" altLang="en-US" sz="2000" dirty="0"/>
              <a:t>掉相关进程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9B45E-BAD0-E84E-B5A1-C8C44DD0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5906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A3180-396E-4047-A549-22E9FDBD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处理由用户指针而带来的</a:t>
            </a:r>
            <a:r>
              <a:rPr kumimoji="1" lang="en-US" altLang="zh-CN" dirty="0"/>
              <a:t>fault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BFDCF-7962-C141-8875-B66900534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内核代码通过一组特定的</a:t>
            </a:r>
            <a:r>
              <a:rPr kumimoji="1" lang="en-US" altLang="zh-CN" sz="2400" dirty="0"/>
              <a:t>routine</a:t>
            </a:r>
            <a:r>
              <a:rPr kumimoji="1" lang="zh-CN" altLang="en-US" sz="2400" dirty="0"/>
              <a:t>来访问用户内存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例如：</a:t>
            </a:r>
            <a:r>
              <a:rPr kumimoji="1" lang="en-US" altLang="zh-CN" sz="2000" dirty="0" err="1"/>
              <a:t>copy_from_user</a:t>
            </a:r>
            <a:endParaRPr kumimoji="1" lang="en-US" altLang="zh-CN" sz="2000" dirty="0"/>
          </a:p>
          <a:p>
            <a:r>
              <a:rPr kumimoji="1" lang="zh-CN" altLang="en-US" sz="2400" dirty="0"/>
              <a:t>当发生</a:t>
            </a:r>
            <a:r>
              <a:rPr kumimoji="1" lang="en-US" altLang="zh-CN" sz="2400" dirty="0"/>
              <a:t>page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fault</a:t>
            </a:r>
            <a:r>
              <a:rPr kumimoji="1" lang="zh-CN" altLang="en-US" sz="2400" dirty="0"/>
              <a:t>的时候，内核会检查</a:t>
            </a:r>
            <a:r>
              <a:rPr kumimoji="1" lang="en-US" altLang="zh-CN" sz="2400" dirty="0"/>
              <a:t>PC</a:t>
            </a:r>
            <a:r>
              <a:rPr kumimoji="1" lang="zh-CN" altLang="en-US" sz="2400" dirty="0"/>
              <a:t>的值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如果</a:t>
            </a:r>
            <a:r>
              <a:rPr kumimoji="1" lang="en-US" altLang="zh-CN" sz="2000" dirty="0"/>
              <a:t>PC</a:t>
            </a:r>
            <a:r>
              <a:rPr kumimoji="1" lang="zh-CN" altLang="en-US" sz="2000" dirty="0"/>
              <a:t>的值在这组</a:t>
            </a:r>
            <a:r>
              <a:rPr kumimoji="1" lang="en-US" altLang="zh-CN" sz="2000" dirty="0"/>
              <a:t>routine</a:t>
            </a:r>
            <a:r>
              <a:rPr kumimoji="1" lang="zh-CN" altLang="en-US" sz="2000" dirty="0"/>
              <a:t>中，则不会</a:t>
            </a:r>
            <a:r>
              <a:rPr kumimoji="1" lang="en-US" altLang="zh-CN" sz="2000" dirty="0"/>
              <a:t>Oops</a:t>
            </a:r>
            <a:r>
              <a:rPr kumimoji="1" lang="zh-CN" altLang="en-US" sz="2000" dirty="0"/>
              <a:t>，而是会尝试运行</a:t>
            </a:r>
            <a:r>
              <a:rPr kumimoji="1" lang="en-US" altLang="zh-CN" sz="2000" dirty="0"/>
              <a:t>fixup</a:t>
            </a:r>
            <a:r>
              <a:rPr kumimoji="1" lang="zh-CN" altLang="en-US" sz="2000" dirty="0"/>
              <a:t>代码，去解决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r>
              <a:rPr kumimoji="1" lang="zh-CN" altLang="en-US" sz="2400" dirty="0"/>
              <a:t>在内核中，这是一个常常会出现漏洞的地方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回顾下</a:t>
            </a:r>
            <a:r>
              <a:rPr kumimoji="1" lang="en-US" altLang="zh-CN" sz="2000" dirty="0"/>
              <a:t>x86</a:t>
            </a:r>
            <a:r>
              <a:rPr kumimoji="1" lang="zh-CN" altLang="en-US" sz="2000" dirty="0"/>
              <a:t>的 </a:t>
            </a:r>
            <a:r>
              <a:rPr kumimoji="1" lang="en-US" altLang="zh-CN" sz="2000" dirty="0"/>
              <a:t>SMAP</a:t>
            </a:r>
            <a:r>
              <a:rPr kumimoji="1" lang="zh-CN" altLang="en-US" sz="2000" dirty="0"/>
              <a:t> 特性：防止内核访问用户态内存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6F0205-ACCC-4647-801B-8971DD35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7348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5ACF1-627F-1F49-982F-EE792D22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访问用户态内存的一组</a:t>
            </a:r>
            <a:r>
              <a:rPr kumimoji="1" lang="en-US" altLang="zh-CN" dirty="0"/>
              <a:t>routine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3EC0CE-2FC7-E148-8B17-5A0084D3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2AB8157-F39C-3543-B7EF-B28389C065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0841464"/>
              </p:ext>
            </p:extLst>
          </p:nvPr>
        </p:nvGraphicFramePr>
        <p:xfrm>
          <a:off x="1333500" y="1641723"/>
          <a:ext cx="6477000" cy="3417094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84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Function</a:t>
                      </a: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Action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84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get_user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(), __</a:t>
                      </a: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get_user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()</a:t>
                      </a: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reads integer (1,2,4 bytes)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put_user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(), __</a:t>
                      </a: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put_user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()</a:t>
                      </a: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writes integer (1,2,4 bytes)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84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copy_from_user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(), __</a:t>
                      </a: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copy_from_user</a:t>
                      </a:r>
                      <a:endParaRPr kumimoji="0" lang="en-US" altLang="zh-CN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copy a block from user space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84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copy_to_user(), __copy_to_user()</a:t>
                      </a: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copy a block to user space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strncpy_from_user(), __strncpy_from_user()</a:t>
                      </a: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copies null-terminated string from user space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strnlen_user(), __strnlen_user()</a:t>
                      </a: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returns length of null-terminated string in user space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84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clear_user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(), __</a:t>
                      </a:r>
                      <a:r>
                        <a:rPr kumimoji="0" lang="en-US" altLang="zh-CN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clear_user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()</a:t>
                      </a:r>
                    </a:p>
                  </a:txBody>
                  <a:tcPr marL="76200" marR="76200" marT="38106" marB="381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fills memory area with zeros</a:t>
                      </a:r>
                    </a:p>
                  </a:txBody>
                  <a:tcPr marL="76200" marR="76200" marT="38106" marB="381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32">
            <a:extLst>
              <a:ext uri="{FF2B5EF4-FFF2-40B4-BE49-F238E27FC236}">
                <a16:creationId xmlns:a16="http://schemas.microsoft.com/office/drawing/2014/main" id="{ACA4240C-4FA4-2347-9044-AF73D4DC0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0771" y="4737365"/>
            <a:ext cx="61727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21670217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访问用户态内存的一组</a:t>
            </a:r>
            <a:r>
              <a:rPr kumimoji="1" lang="en-US" altLang="zh-CN" dirty="0"/>
              <a:t>routine</a:t>
            </a:r>
            <a:endParaRPr lang="zh-CN" altLang="en-US" dirty="0"/>
          </a:p>
        </p:txBody>
      </p:sp>
      <p:pic>
        <p:nvPicPr>
          <p:cNvPr id="1026" name="Picture 2" descr="Data movement using the User Space Memory Access A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86" y="1667442"/>
            <a:ext cx="6893828" cy="285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9805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vDSO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dirty="0"/>
              <a:t>Virtual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Dynamic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Shared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Object</a:t>
            </a:r>
            <a:endParaRPr kumimoji="1"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9614395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系统调用的时延不可忽略</a:t>
            </a:r>
          </a:p>
          <a:p>
            <a:pPr lvl="1"/>
            <a:r>
              <a:rPr kumimoji="1" lang="zh-CN" altLang="en-US" dirty="0"/>
              <a:t>尤其是调用非常频繁的那些</a:t>
            </a:r>
          </a:p>
          <a:p>
            <a:pPr lvl="2"/>
            <a:r>
              <a:rPr kumimoji="1" lang="zh-CN" altLang="en-US" sz="2400" dirty="0"/>
              <a:t>如 </a:t>
            </a:r>
            <a:r>
              <a:rPr kumimoji="1" lang="en-US" altLang="zh-CN" sz="2400" dirty="0" err="1"/>
              <a:t>gettimeofday</a:t>
            </a:r>
            <a:r>
              <a:rPr kumimoji="1" lang="en-US" altLang="zh-CN" sz="2400" dirty="0"/>
              <a:t>()</a:t>
            </a:r>
            <a:endParaRPr kumimoji="1" lang="zh-CN" altLang="en-US" sz="2400" dirty="0"/>
          </a:p>
          <a:p>
            <a:r>
              <a:rPr kumimoji="1" lang="zh-CN" altLang="en-US" dirty="0"/>
              <a:t>如何降低系统调用的时延？</a:t>
            </a:r>
          </a:p>
          <a:p>
            <a:pPr lvl="1"/>
            <a:r>
              <a:rPr kumimoji="1" lang="zh-CN" altLang="en-US" dirty="0"/>
              <a:t>大部分时延都是由于</a:t>
            </a:r>
            <a:r>
              <a:rPr kumimoji="1" lang="en-US" altLang="zh-CN" dirty="0"/>
              <a:t>U-&gt;K</a:t>
            </a:r>
            <a:r>
              <a:rPr kumimoji="1" lang="zh-CN" altLang="en-US" dirty="0"/>
              <a:t>的模式切换带来的</a:t>
            </a:r>
          </a:p>
          <a:p>
            <a:pPr lvl="1"/>
            <a:r>
              <a:rPr kumimoji="1" lang="zh-CN" altLang="en-US" dirty="0"/>
              <a:t>如果没有模式切换，那么就不需要保存回复状态</a:t>
            </a:r>
          </a:p>
        </p:txBody>
      </p:sp>
    </p:spTree>
    <p:extLst>
      <p:ext uri="{BB962C8B-B14F-4D97-AF65-F5344CB8AC3E}">
        <p14:creationId xmlns:p14="http://schemas.microsoft.com/office/powerpoint/2010/main" val="3916980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i="1" dirty="0" err="1"/>
              <a:t>gettimeofday</a:t>
            </a:r>
            <a:r>
              <a:rPr kumimoji="1" lang="en-US" altLang="zh-CN" i="1" dirty="0"/>
              <a:t>()</a:t>
            </a:r>
            <a:endParaRPr kumimoji="1"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394"/>
            <a:ext cx="6858000" cy="403737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内核定义</a:t>
            </a:r>
          </a:p>
          <a:p>
            <a:pPr lvl="1"/>
            <a:r>
              <a:rPr kumimoji="1" lang="zh-CN" altLang="en-US" sz="1800" dirty="0"/>
              <a:t>在编译时作为内核的一部分</a:t>
            </a:r>
          </a:p>
          <a:p>
            <a:r>
              <a:rPr kumimoji="1" lang="zh-CN" altLang="en-US" sz="2400" dirty="0"/>
              <a:t>用户态运行</a:t>
            </a:r>
          </a:p>
          <a:p>
            <a:pPr lvl="1"/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gettimeofday</a:t>
            </a:r>
            <a:r>
              <a:rPr kumimoji="1" lang="zh-CN" altLang="en-US" sz="1800" dirty="0"/>
              <a:t>的代码加载到一块与应用共享的内存页</a:t>
            </a:r>
          </a:p>
          <a:p>
            <a:pPr lvl="1"/>
            <a:r>
              <a:rPr kumimoji="1" lang="zh-CN" altLang="en-US" sz="1800" dirty="0"/>
              <a:t>这个页称为：</a:t>
            </a:r>
            <a:r>
              <a:rPr kumimoji="1" lang="en-US" altLang="zh-CN" sz="1800" dirty="0" err="1"/>
              <a:t>vDSO</a:t>
            </a:r>
            <a:endParaRPr kumimoji="1" lang="zh-CN" altLang="en-US" sz="1800" dirty="0"/>
          </a:p>
          <a:p>
            <a:pPr lvl="2"/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Dynamic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Shared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Object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Time</a:t>
            </a:r>
            <a:r>
              <a:rPr kumimoji="1" lang="zh-CN" altLang="en-US" sz="1800" dirty="0"/>
              <a:t> 的值同样映射到用户态空间（只读）</a:t>
            </a:r>
          </a:p>
          <a:p>
            <a:pPr lvl="2"/>
            <a:r>
              <a:rPr kumimoji="1" lang="zh-CN" altLang="en-US" sz="1800" dirty="0"/>
              <a:t>只有在内核态才能更新这个值</a:t>
            </a:r>
            <a:endParaRPr kumimoji="1" lang="en-US" altLang="zh-CN" sz="1800" dirty="0"/>
          </a:p>
          <a:p>
            <a:r>
              <a:rPr kumimoji="1" lang="en-US" altLang="zh-CN" sz="2400" dirty="0"/>
              <a:t>Q</a:t>
            </a:r>
            <a:r>
              <a:rPr kumimoji="1" lang="zh-CN" altLang="en-US" sz="2400" dirty="0"/>
              <a:t>：和以前的</a:t>
            </a:r>
            <a:r>
              <a:rPr kumimoji="1" lang="en-US" altLang="zh-CN" sz="2400" dirty="0" err="1"/>
              <a:t>gettimeofday</a:t>
            </a:r>
            <a:r>
              <a:rPr kumimoji="1" lang="zh-CN" altLang="en-US" sz="2400" dirty="0"/>
              <a:t>相比有什么区别？</a:t>
            </a:r>
          </a:p>
        </p:txBody>
      </p:sp>
    </p:spTree>
    <p:extLst>
      <p:ext uri="{BB962C8B-B14F-4D97-AF65-F5344CB8AC3E}">
        <p14:creationId xmlns:p14="http://schemas.microsoft.com/office/powerpoint/2010/main" val="9366868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vDSO</a:t>
            </a:r>
            <a:r>
              <a:rPr kumimoji="1" lang="zh-CN" altLang="en-US" dirty="0"/>
              <a:t>的共享页在哪儿？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87501"/>
            <a:ext cx="8435280" cy="3143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1600" dirty="0" err="1">
                <a:latin typeface="Consolas" charset="0"/>
                <a:ea typeface="Consolas" charset="0"/>
                <a:cs typeface="Consolas" charset="0"/>
              </a:rPr>
              <a:t>ldd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 `which bash`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linux-vdso.so.1 =&gt; (0x00007fff667ff000) </a:t>
            </a:r>
            <a:endParaRPr lang="zh-CN" altLang="en-US" sz="1600" dirty="0">
              <a:solidFill>
                <a:schemeClr val="accent1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libtinfo.so.5 =&gt; /lib/x86_64-linux-gnu/libtinfo.so.5 (0x00007f623df7d000)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libdl.so.2 =&gt; /lib/x86_64-linux-gnu/libdl.so.2 (0x00007f623dd79000)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libc.so.6 =&gt; /lib/x86_64-linux-gnu/libc.so.6 (0x00007f623d9ba000)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/lib64/ld-linux-x86-64.so.2 (0x00007f623e1ae000)</a:t>
            </a:r>
            <a:endParaRPr kumimoji="1" lang="zh-CN" altLang="en-US" sz="16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DF046C-E196-8942-834E-80F58288DD38}"/>
              </a:ext>
            </a:extLst>
          </p:cNvPr>
          <p:cNvSpPr txBox="1"/>
          <p:nvPr/>
        </p:nvSpPr>
        <p:spPr>
          <a:xfrm>
            <a:off x="2651787" y="4897727"/>
            <a:ext cx="5349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kumimoji="1" lang="zh-CN" altLang="en-US" sz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source</a:t>
            </a:r>
            <a:r>
              <a:rPr kumimoji="1" lang="zh-CN" altLang="en-US" sz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can</a:t>
            </a:r>
            <a:r>
              <a:rPr kumimoji="1" lang="zh-CN" altLang="en-US" sz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be</a:t>
            </a:r>
            <a:r>
              <a:rPr kumimoji="1" lang="zh-CN" altLang="en-US" sz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found</a:t>
            </a:r>
            <a:r>
              <a:rPr kumimoji="1" lang="zh-CN" altLang="en-US" sz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in</a:t>
            </a:r>
            <a:r>
              <a:rPr kumimoji="1" lang="zh-CN" altLang="en-US" sz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arch/x86/</a:t>
            </a:r>
            <a:r>
              <a:rPr kumimoji="1" lang="en-US" altLang="zh-CN" sz="1500" dirty="0" err="1">
                <a:solidFill>
                  <a:schemeClr val="bg1">
                    <a:lumMod val="75000"/>
                  </a:schemeClr>
                </a:solidFill>
              </a:rPr>
              <a:t>vdso</a:t>
            </a:r>
            <a:r>
              <a:rPr kumimoji="1" lang="en-US" altLang="zh-CN" sz="1500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kumimoji="1" lang="en-US" altLang="zh-CN" sz="1500" dirty="0" err="1">
                <a:solidFill>
                  <a:schemeClr val="bg1">
                    <a:lumMod val="75000"/>
                  </a:schemeClr>
                </a:solidFill>
              </a:rPr>
              <a:t>vclock_gettime.c</a:t>
            </a:r>
            <a:endParaRPr kumimoji="1" lang="zh-CN" altLang="en-US" sz="15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938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Flex-SC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ts val="1000"/>
              </a:spcBef>
            </a:pPr>
            <a:r>
              <a:rPr lang="en-US" altLang="zh-CN" dirty="0"/>
              <a:t>Flexible System Call Scheduling with Exception-Less System Calls,</a:t>
            </a:r>
            <a:r>
              <a:rPr lang="zh-CN" altLang="en-US" dirty="0"/>
              <a:t> </a:t>
            </a:r>
            <a:r>
              <a:rPr lang="en-US" altLang="zh-CN" dirty="0"/>
              <a:t>OSDI’10</a:t>
            </a:r>
          </a:p>
        </p:txBody>
      </p:sp>
    </p:spTree>
    <p:extLst>
      <p:ext uri="{BB962C8B-B14F-4D97-AF65-F5344CB8AC3E}">
        <p14:creationId xmlns:p14="http://schemas.microsoft.com/office/powerpoint/2010/main" val="18404916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9348"/>
            <a:ext cx="7775207" cy="3528392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如何进一步降低系统调用的时延？</a:t>
            </a:r>
          </a:p>
          <a:p>
            <a:pPr lvl="1"/>
            <a:r>
              <a:rPr kumimoji="1" lang="zh-CN" altLang="en-US" sz="2000" dirty="0"/>
              <a:t>不仅仅是 </a:t>
            </a:r>
            <a:r>
              <a:rPr kumimoji="1" lang="en-US" altLang="zh-CN" sz="2000" dirty="0" err="1"/>
              <a:t>gettimeofday</a:t>
            </a:r>
            <a:r>
              <a:rPr kumimoji="1" lang="en-US" altLang="zh-CN" sz="2000" dirty="0"/>
              <a:t>()</a:t>
            </a:r>
            <a:endParaRPr kumimoji="1" lang="zh-CN" altLang="en-US" sz="2000" dirty="0"/>
          </a:p>
          <a:p>
            <a:r>
              <a:rPr kumimoji="1" lang="en-US" altLang="zh-CN" sz="2400" dirty="0"/>
              <a:t>"</a:t>
            </a:r>
            <a:r>
              <a:rPr kumimoji="1" lang="zh-CN" altLang="en-US" sz="2400" dirty="0"/>
              <a:t>时间都去哪儿了？</a:t>
            </a:r>
            <a:r>
              <a:rPr kumimoji="1" lang="en-US" altLang="zh-CN" sz="2400" dirty="0"/>
              <a:t>"</a:t>
            </a:r>
            <a:endParaRPr kumimoji="1" lang="zh-CN" altLang="en-US" sz="2400" dirty="0"/>
          </a:p>
          <a:p>
            <a:pPr lvl="1"/>
            <a:r>
              <a:rPr kumimoji="1" lang="zh-CN" altLang="en-US" sz="2000" dirty="0"/>
              <a:t>大部分是用来做状态的切换</a:t>
            </a:r>
          </a:p>
          <a:p>
            <a:pPr lvl="2"/>
            <a:r>
              <a:rPr kumimoji="1" lang="zh-CN" altLang="en-US" sz="1800" dirty="0"/>
              <a:t>保存和恢复状态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权限的切换</a:t>
            </a:r>
          </a:p>
          <a:p>
            <a:pPr lvl="1"/>
            <a:r>
              <a:rPr kumimoji="1" lang="en-US" altLang="zh-CN" sz="2000" dirty="0"/>
              <a:t>Cache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pollution</a:t>
            </a:r>
            <a:endParaRPr kumimoji="1" lang="zh-CN" altLang="en-US" sz="2000" dirty="0"/>
          </a:p>
          <a:p>
            <a:r>
              <a:rPr kumimoji="1" lang="zh-CN" altLang="en-US" sz="2400" dirty="0"/>
              <a:t>是否有可能在不切换状态的情况下实现系统调用？</a:t>
            </a:r>
          </a:p>
        </p:txBody>
      </p:sp>
    </p:spTree>
    <p:extLst>
      <p:ext uri="{BB962C8B-B14F-4D97-AF65-F5344CB8AC3E}">
        <p14:creationId xmlns:p14="http://schemas.microsoft.com/office/powerpoint/2010/main" val="11792471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Flexible System Call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一种新的</a:t>
            </a:r>
            <a:r>
              <a:rPr lang="en-US" altLang="zh-CN" sz="2000" dirty="0" err="1"/>
              <a:t>syscall</a:t>
            </a:r>
            <a:r>
              <a:rPr lang="zh-CN" altLang="en-US" sz="2000" dirty="0"/>
              <a:t>机制</a:t>
            </a:r>
            <a:endParaRPr lang="en-US" altLang="zh-CN" sz="20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667" dirty="0"/>
              <a:t>引入 </a:t>
            </a:r>
            <a:r>
              <a:rPr lang="en-US" altLang="zh-CN" sz="1667" b="1" dirty="0">
                <a:solidFill>
                  <a:srgbClr val="0070C0"/>
                </a:solidFill>
              </a:rPr>
              <a:t>system call page</a:t>
            </a:r>
            <a:r>
              <a:rPr lang="zh-CN" altLang="en-US" sz="1667" b="1" dirty="0"/>
              <a:t> </a:t>
            </a:r>
            <a:r>
              <a:rPr lang="zh-CN" altLang="en-US" sz="1667" dirty="0"/>
              <a:t>，由 </a:t>
            </a:r>
            <a:r>
              <a:rPr lang="en-US" altLang="zh-CN" sz="1667" dirty="0"/>
              <a:t>user</a:t>
            </a:r>
            <a:r>
              <a:rPr lang="zh-CN" altLang="en-US" sz="1667" dirty="0"/>
              <a:t> </a:t>
            </a:r>
            <a:r>
              <a:rPr lang="en-US" altLang="zh-CN" sz="1667" dirty="0"/>
              <a:t>&amp;</a:t>
            </a:r>
            <a:r>
              <a:rPr lang="zh-CN" altLang="en-US" sz="1667" dirty="0"/>
              <a:t> </a:t>
            </a:r>
            <a:r>
              <a:rPr lang="en-US" altLang="zh-CN" sz="1667" dirty="0"/>
              <a:t>kernel</a:t>
            </a:r>
            <a:r>
              <a:rPr lang="zh-CN" altLang="en-US" sz="1667" dirty="0"/>
              <a:t> 共享</a:t>
            </a:r>
            <a:endParaRPr lang="en-US" altLang="zh-CN" sz="1667" dirty="0"/>
          </a:p>
          <a:p>
            <a:pPr lvl="1"/>
            <a:r>
              <a:rPr lang="en-US" altLang="zh-CN" sz="1667" dirty="0"/>
              <a:t>User threads </a:t>
            </a:r>
            <a:r>
              <a:rPr lang="zh-CN" altLang="en-US" sz="1667" dirty="0"/>
              <a:t>可以将系统调用的请求</a:t>
            </a:r>
            <a:r>
              <a:rPr lang="en-US" altLang="zh-CN" sz="1667" dirty="0"/>
              <a:t> </a:t>
            </a:r>
            <a:r>
              <a:rPr lang="en-US" altLang="zh-CN" sz="1667" b="1" dirty="0">
                <a:solidFill>
                  <a:srgbClr val="0070C0"/>
                </a:solidFill>
              </a:rPr>
              <a:t>push</a:t>
            </a:r>
            <a:r>
              <a:rPr lang="en-US" altLang="zh-CN" sz="1667" dirty="0">
                <a:solidFill>
                  <a:srgbClr val="0070C0"/>
                </a:solidFill>
              </a:rPr>
              <a:t> </a:t>
            </a:r>
            <a:r>
              <a:rPr lang="zh-CN" altLang="en-US" sz="1667" dirty="0"/>
              <a:t>到</a:t>
            </a:r>
            <a:r>
              <a:rPr lang="en-US" altLang="zh-CN" sz="1667" dirty="0"/>
              <a:t> system call page</a:t>
            </a:r>
          </a:p>
          <a:p>
            <a:pPr lvl="1"/>
            <a:r>
              <a:rPr lang="en-US" altLang="zh-CN" sz="1667" dirty="0"/>
              <a:t>kernel threads </a:t>
            </a:r>
            <a:r>
              <a:rPr lang="zh-CN" altLang="en-US" sz="1667" dirty="0"/>
              <a:t>会从</a:t>
            </a:r>
            <a:r>
              <a:rPr lang="en-US" altLang="zh-CN" sz="1667" dirty="0"/>
              <a:t>system call page </a:t>
            </a:r>
            <a:r>
              <a:rPr lang="en-US" altLang="zh-CN" sz="1667" b="1" dirty="0">
                <a:solidFill>
                  <a:srgbClr val="0070C0"/>
                </a:solidFill>
              </a:rPr>
              <a:t>poll</a:t>
            </a:r>
            <a:r>
              <a:rPr lang="en-US" altLang="zh-CN" sz="1667" dirty="0"/>
              <a:t> system call </a:t>
            </a:r>
            <a:r>
              <a:rPr lang="zh-CN" altLang="en-US" sz="1667" dirty="0"/>
              <a:t>请求</a:t>
            </a:r>
          </a:p>
          <a:p>
            <a:r>
              <a:rPr lang="en-US" altLang="zh-CN" sz="2000" dirty="0"/>
              <a:t>Exception-less </a:t>
            </a:r>
            <a:r>
              <a:rPr lang="en-US" altLang="zh-CN" sz="2000" dirty="0" err="1"/>
              <a:t>syscall</a:t>
            </a:r>
            <a:endParaRPr lang="zh-CN" altLang="en-US" sz="2000" dirty="0"/>
          </a:p>
          <a:p>
            <a:pPr lvl="1"/>
            <a:r>
              <a:rPr lang="zh-CN" altLang="en-US" sz="1667" dirty="0"/>
              <a:t>将系统调用的调用和执行解耦，可分布到不同的</a:t>
            </a:r>
            <a:r>
              <a:rPr lang="en-US" altLang="zh-CN" sz="1667" dirty="0"/>
              <a:t>CPU</a:t>
            </a:r>
            <a:r>
              <a:rPr lang="zh-CN" altLang="en-US" sz="1667" dirty="0"/>
              <a:t>核</a:t>
            </a:r>
            <a:endParaRPr lang="en-US" altLang="zh-CN" sz="1667" dirty="0"/>
          </a:p>
          <a:p>
            <a:pPr lvl="1"/>
            <a:endParaRPr lang="en-US" altLang="zh-CN" sz="1667" dirty="0"/>
          </a:p>
        </p:txBody>
      </p:sp>
    </p:spTree>
    <p:extLst>
      <p:ext uri="{BB962C8B-B14F-4D97-AF65-F5344CB8AC3E}">
        <p14:creationId xmlns:p14="http://schemas.microsoft.com/office/powerpoint/2010/main" val="1581264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67" dirty="0"/>
              <a:t>System Call</a:t>
            </a:r>
            <a:r>
              <a:rPr kumimoji="1" lang="zh-CN" altLang="en-US" sz="3667" dirty="0"/>
              <a:t>的另一种方法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657368"/>
            <a:ext cx="6360707" cy="3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34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Exception-less System Call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477347"/>
            <a:ext cx="6189307" cy="362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398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Kernel</a:t>
            </a:r>
            <a:r>
              <a:rPr kumimoji="1" lang="zh-CN" altLang="en-US" dirty="0"/>
              <a:t>填充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的返回值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24" y="1467696"/>
            <a:ext cx="6240693" cy="36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35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16" name="Straight Connector 19"/>
          <p:cNvSpPr>
            <a:spLocks noChangeShapeType="1"/>
          </p:cNvSpPr>
          <p:nvPr/>
        </p:nvSpPr>
        <p:spPr bwMode="auto">
          <a:xfrm>
            <a:off x="1901704" y="3169913"/>
            <a:ext cx="525058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endParaRPr lang="zh-CN" altLang="en-US" sz="1250"/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2051721" y="2583981"/>
            <a:ext cx="1250139" cy="113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Calibri" pitchFamily="34" charset="0"/>
                <a:ea typeface="宋体" pitchFamily="2" charset="-122"/>
                <a:cs typeface="宋体" pitchFamily="2" charset="-122"/>
              </a:rPr>
              <a:t>User</a:t>
            </a: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Calibri" pitchFamily="34" charset="0"/>
                <a:ea typeface="宋体" pitchFamily="2" charset="-122"/>
                <a:cs typeface="宋体" pitchFamily="2" charset="-122"/>
              </a:rPr>
              <a:t>Kernel</a:t>
            </a:r>
            <a:endParaRPr lang="zh-CN" altLang="zh-CN" sz="2222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598178" y="2592215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98189" y="2680047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98200" y="280107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101838" y="2069842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Application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3" name="右箭头 22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4" name="TextBox 23"/>
          <p:cNvSpPr txBox="1"/>
          <p:nvPr/>
        </p:nvSpPr>
        <p:spPr>
          <a:xfrm>
            <a:off x="5245475" y="2236442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25" name="右箭头 24"/>
          <p:cNvSpPr/>
          <p:nvPr/>
        </p:nvSpPr>
        <p:spPr>
          <a:xfrm rot="1162316">
            <a:off x="4997192" y="2492046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6" name="右箭头 25"/>
          <p:cNvSpPr/>
          <p:nvPr/>
        </p:nvSpPr>
        <p:spPr>
          <a:xfrm rot="1162316">
            <a:off x="4997192" y="2492045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7" name="右箭头 26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9" name="圆角矩形 28"/>
          <p:cNvSpPr/>
          <p:nvPr/>
        </p:nvSpPr>
        <p:spPr>
          <a:xfrm>
            <a:off x="5898985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a</a:t>
            </a:r>
            <a:endParaRPr lang="zh-CN" altLang="en-US" sz="1250" dirty="0"/>
          </a:p>
        </p:txBody>
      </p:sp>
      <p:sp>
        <p:nvSpPr>
          <p:cNvPr id="33" name="圆角矩形 32"/>
          <p:cNvSpPr/>
          <p:nvPr/>
        </p:nvSpPr>
        <p:spPr>
          <a:xfrm>
            <a:off x="6188963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b</a:t>
            </a:r>
            <a:endParaRPr lang="zh-CN" altLang="en-US" sz="1250" dirty="0"/>
          </a:p>
        </p:txBody>
      </p:sp>
      <p:sp>
        <p:nvSpPr>
          <p:cNvPr id="34" name="圆角矩形 33"/>
          <p:cNvSpPr/>
          <p:nvPr/>
        </p:nvSpPr>
        <p:spPr>
          <a:xfrm>
            <a:off x="5914511" y="317002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c</a:t>
            </a:r>
            <a:endParaRPr lang="zh-CN" altLang="en-US" sz="1250" dirty="0"/>
          </a:p>
        </p:txBody>
      </p:sp>
      <p:sp>
        <p:nvSpPr>
          <p:cNvPr id="35" name="圆角矩形 34"/>
          <p:cNvSpPr/>
          <p:nvPr/>
        </p:nvSpPr>
        <p:spPr>
          <a:xfrm>
            <a:off x="6194224" y="3177343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d</a:t>
            </a:r>
            <a:endParaRPr lang="zh-CN" altLang="en-US" sz="1250" dirty="0"/>
          </a:p>
        </p:txBody>
      </p:sp>
      <p:sp>
        <p:nvSpPr>
          <p:cNvPr id="36" name="右箭头 35"/>
          <p:cNvSpPr/>
          <p:nvPr/>
        </p:nvSpPr>
        <p:spPr>
          <a:xfrm rot="5400000">
            <a:off x="4313902" y="2968877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37" name="圆角矩形 36"/>
          <p:cNvSpPr/>
          <p:nvPr/>
        </p:nvSpPr>
        <p:spPr>
          <a:xfrm>
            <a:off x="3142132" y="3581001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Kernel threads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26712" y="2860646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kernel</a:t>
            </a:r>
            <a:endParaRPr lang="zh-CN" altLang="en-US" sz="1250" dirty="0"/>
          </a:p>
        </p:txBody>
      </p:sp>
      <p:sp>
        <p:nvSpPr>
          <p:cNvPr id="41" name="右箭头 40"/>
          <p:cNvSpPr/>
          <p:nvPr/>
        </p:nvSpPr>
        <p:spPr>
          <a:xfrm rot="9521914">
            <a:off x="5038137" y="353076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3" name="TextBox 42"/>
          <p:cNvSpPr txBox="1"/>
          <p:nvPr/>
        </p:nvSpPr>
        <p:spPr>
          <a:xfrm>
            <a:off x="5186261" y="372832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pull system call</a:t>
            </a:r>
            <a:endParaRPr lang="zh-CN" altLang="en-US" sz="1250" dirty="0"/>
          </a:p>
        </p:txBody>
      </p:sp>
      <p:sp>
        <p:nvSpPr>
          <p:cNvPr id="44" name="右箭头 43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6" name="右箭头 45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7" name="右箭头 46"/>
          <p:cNvSpPr/>
          <p:nvPr/>
        </p:nvSpPr>
        <p:spPr>
          <a:xfrm rot="9521914">
            <a:off x="5038139" y="353393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8" name="右箭头 47"/>
          <p:cNvSpPr/>
          <p:nvPr/>
        </p:nvSpPr>
        <p:spPr>
          <a:xfrm rot="16200000">
            <a:off x="2940229" y="2962000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9" name="TextBox 48"/>
          <p:cNvSpPr txBox="1"/>
          <p:nvPr/>
        </p:nvSpPr>
        <p:spPr>
          <a:xfrm>
            <a:off x="3478543" y="2854784"/>
            <a:ext cx="1194558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user</a:t>
            </a:r>
            <a:endParaRPr lang="zh-CN" altLang="en-US" sz="1250" dirty="0"/>
          </a:p>
        </p:txBody>
      </p:sp>
    </p:spTree>
    <p:extLst>
      <p:ext uri="{BB962C8B-B14F-4D97-AF65-F5344CB8AC3E}">
        <p14:creationId xmlns:p14="http://schemas.microsoft.com/office/powerpoint/2010/main" val="45653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5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build="allAtOnce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8" grpId="0" build="allAtOnce"/>
      <p:bldP spid="41" grpId="0" animBg="1"/>
      <p:bldP spid="41" grpId="1" animBg="1"/>
      <p:bldP spid="43" grpId="0" build="allAtOnce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build="allAtOnce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" name="Straight Connector 19"/>
          <p:cNvSpPr>
            <a:spLocks noChangeShapeType="1"/>
          </p:cNvSpPr>
          <p:nvPr/>
        </p:nvSpPr>
        <p:spPr bwMode="auto">
          <a:xfrm>
            <a:off x="2371757" y="4095500"/>
            <a:ext cx="49005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endParaRPr lang="zh-CN" altLang="en-US" sz="1250"/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2708651" y="4226605"/>
            <a:ext cx="1750194" cy="3500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67" dirty="0">
                <a:latin typeface="Verdana" pitchFamily="34" charset="0"/>
                <a:ea typeface="Verdana" pitchFamily="34" charset="0"/>
                <a:cs typeface="Verdana" pitchFamily="34" charset="0"/>
              </a:rPr>
              <a:t>kernel thread</a:t>
            </a:r>
            <a:endParaRPr lang="zh-CN" altLang="zh-CN" sz="1667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 Box 34"/>
          <p:cNvSpPr txBox="1">
            <a:spLocks noChangeArrowheads="1"/>
          </p:cNvSpPr>
          <p:nvPr/>
        </p:nvSpPr>
        <p:spPr bwMode="auto">
          <a:xfrm>
            <a:off x="5972155" y="3645209"/>
            <a:ext cx="1058850" cy="90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11" dirty="0">
                <a:latin typeface="Calibri" pitchFamily="34" charset="0"/>
                <a:ea typeface="宋体" pitchFamily="2" charset="-122"/>
                <a:cs typeface="宋体" pitchFamily="2" charset="-122"/>
              </a:rPr>
              <a:t>User mode</a:t>
            </a: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11" dirty="0">
                <a:latin typeface="Calibri" pitchFamily="34" charset="0"/>
                <a:ea typeface="宋体" pitchFamily="2" charset="-122"/>
                <a:cs typeface="宋体" pitchFamily="2" charset="-122"/>
              </a:rPr>
              <a:t>Kernel mode</a:t>
            </a:r>
            <a:endParaRPr lang="zh-CN" altLang="zh-CN" sz="1667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3531064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22040" y="3308836"/>
            <a:ext cx="700078" cy="97995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22051" y="3396668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122062" y="351769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3981114" y="2263016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7" name="右箭头 16"/>
          <p:cNvSpPr/>
          <p:nvPr/>
        </p:nvSpPr>
        <p:spPr>
          <a:xfrm rot="696842">
            <a:off x="2911882" y="3376414"/>
            <a:ext cx="2260273" cy="153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18" name="圆角矩形 17"/>
          <p:cNvSpPr/>
          <p:nvPr/>
        </p:nvSpPr>
        <p:spPr>
          <a:xfrm>
            <a:off x="5230957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a</a:t>
            </a:r>
            <a:endParaRPr lang="zh-CN" altLang="en-US" sz="1250" dirty="0"/>
          </a:p>
        </p:txBody>
      </p:sp>
      <p:sp>
        <p:nvSpPr>
          <p:cNvPr id="16" name="TextBox 15"/>
          <p:cNvSpPr txBox="1"/>
          <p:nvPr/>
        </p:nvSpPr>
        <p:spPr>
          <a:xfrm>
            <a:off x="3509802" y="3470068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19" name="环形箭头 18"/>
          <p:cNvSpPr/>
          <p:nvPr/>
        </p:nvSpPr>
        <p:spPr>
          <a:xfrm>
            <a:off x="2713789" y="197635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8593" y="184811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28" name="右箭头 27"/>
          <p:cNvSpPr/>
          <p:nvPr/>
        </p:nvSpPr>
        <p:spPr>
          <a:xfrm rot="701574">
            <a:off x="3268532" y="3414873"/>
            <a:ext cx="1933451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9" name="圆角矩形 28"/>
          <p:cNvSpPr/>
          <p:nvPr/>
        </p:nvSpPr>
        <p:spPr>
          <a:xfrm>
            <a:off x="5535699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b</a:t>
            </a:r>
            <a:endParaRPr lang="zh-CN" altLang="en-US" sz="1250" dirty="0"/>
          </a:p>
        </p:txBody>
      </p:sp>
      <p:sp>
        <p:nvSpPr>
          <p:cNvPr id="27" name="TextBox 26"/>
          <p:cNvSpPr txBox="1"/>
          <p:nvPr/>
        </p:nvSpPr>
        <p:spPr>
          <a:xfrm>
            <a:off x="3685739" y="3361054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33" name="环形箭头 32"/>
          <p:cNvSpPr/>
          <p:nvPr/>
        </p:nvSpPr>
        <p:spPr>
          <a:xfrm>
            <a:off x="3119581" y="1970890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44385" y="1842651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37" name="右箭头 36"/>
          <p:cNvSpPr/>
          <p:nvPr/>
        </p:nvSpPr>
        <p:spPr>
          <a:xfrm rot="701574">
            <a:off x="3668465" y="3462093"/>
            <a:ext cx="1527751" cy="149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38" name="圆角矩形 37"/>
          <p:cNvSpPr/>
          <p:nvPr/>
        </p:nvSpPr>
        <p:spPr>
          <a:xfrm>
            <a:off x="5230956" y="398179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c</a:t>
            </a:r>
            <a:endParaRPr lang="zh-CN" altLang="en-US" sz="1250" dirty="0"/>
          </a:p>
        </p:txBody>
      </p:sp>
      <p:sp>
        <p:nvSpPr>
          <p:cNvPr id="39" name="TextBox 38"/>
          <p:cNvSpPr txBox="1"/>
          <p:nvPr/>
        </p:nvSpPr>
        <p:spPr>
          <a:xfrm>
            <a:off x="3804495" y="3389453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40" name="环形箭头 39"/>
          <p:cNvSpPr/>
          <p:nvPr/>
        </p:nvSpPr>
        <p:spPr>
          <a:xfrm>
            <a:off x="3589815" y="195998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14619" y="183174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42" name="右箭头 41"/>
          <p:cNvSpPr/>
          <p:nvPr/>
        </p:nvSpPr>
        <p:spPr>
          <a:xfrm rot="701574">
            <a:off x="4121839" y="3502009"/>
            <a:ext cx="1054782" cy="1489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3" name="圆角矩形 42"/>
          <p:cNvSpPr/>
          <p:nvPr/>
        </p:nvSpPr>
        <p:spPr>
          <a:xfrm>
            <a:off x="5535699" y="3976577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d</a:t>
            </a:r>
            <a:endParaRPr lang="zh-CN" altLang="en-US" sz="1250" dirty="0"/>
          </a:p>
        </p:txBody>
      </p:sp>
      <p:sp>
        <p:nvSpPr>
          <p:cNvPr id="44" name="TextBox 43"/>
          <p:cNvSpPr txBox="1"/>
          <p:nvPr/>
        </p:nvSpPr>
        <p:spPr>
          <a:xfrm>
            <a:off x="3788806" y="3396671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45" name="右箭头 44"/>
          <p:cNvSpPr/>
          <p:nvPr/>
        </p:nvSpPr>
        <p:spPr>
          <a:xfrm rot="5400000">
            <a:off x="3867606" y="3840607"/>
            <a:ext cx="754290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6" name="TextBox 45"/>
          <p:cNvSpPr txBox="1"/>
          <p:nvPr/>
        </p:nvSpPr>
        <p:spPr>
          <a:xfrm>
            <a:off x="3051913" y="3860877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kernel</a:t>
            </a:r>
            <a:endParaRPr lang="zh-CN" altLang="en-US" sz="1250" dirty="0"/>
          </a:p>
        </p:txBody>
      </p:sp>
      <p:sp>
        <p:nvSpPr>
          <p:cNvPr id="47" name="TextBox 46"/>
          <p:cNvSpPr txBox="1"/>
          <p:nvPr/>
        </p:nvSpPr>
        <p:spPr>
          <a:xfrm>
            <a:off x="4566065" y="444840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pull system call</a:t>
            </a:r>
            <a:endParaRPr lang="zh-CN" altLang="en-US" sz="1250" dirty="0"/>
          </a:p>
        </p:txBody>
      </p:sp>
      <p:sp>
        <p:nvSpPr>
          <p:cNvPr id="48" name="右箭头 47"/>
          <p:cNvSpPr/>
          <p:nvPr/>
        </p:nvSpPr>
        <p:spPr>
          <a:xfrm rot="9817356">
            <a:off x="4443370" y="4230365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9" name="右箭头 48"/>
          <p:cNvSpPr/>
          <p:nvPr/>
        </p:nvSpPr>
        <p:spPr>
          <a:xfrm rot="9817356">
            <a:off x="4441368" y="4230368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0" name="右箭头 49"/>
          <p:cNvSpPr/>
          <p:nvPr/>
        </p:nvSpPr>
        <p:spPr>
          <a:xfrm rot="9817356">
            <a:off x="4443370" y="4230369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1" name="右箭头 50"/>
          <p:cNvSpPr/>
          <p:nvPr/>
        </p:nvSpPr>
        <p:spPr>
          <a:xfrm rot="9817356">
            <a:off x="4441368" y="4230252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2" name="右箭头 51"/>
          <p:cNvSpPr/>
          <p:nvPr/>
        </p:nvSpPr>
        <p:spPr>
          <a:xfrm rot="16200000">
            <a:off x="2456764" y="3835810"/>
            <a:ext cx="763878" cy="142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3" name="TextBox 52"/>
          <p:cNvSpPr txBox="1"/>
          <p:nvPr/>
        </p:nvSpPr>
        <p:spPr>
          <a:xfrm>
            <a:off x="2866161" y="3871961"/>
            <a:ext cx="10484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/>
              <a:t>Switch to user</a:t>
            </a:r>
            <a:endParaRPr lang="zh-CN" altLang="en-US" sz="1250" dirty="0"/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3531063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3979450" y="226333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3040" y="4837720"/>
            <a:ext cx="6669360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333" dirty="0" err="1">
                <a:solidFill>
                  <a:schemeClr val="bg1">
                    <a:lumMod val="75000"/>
                  </a:schemeClr>
                </a:solidFill>
                <a:latin typeface="Microsoft YaHei Light" charset="0"/>
                <a:ea typeface="Microsoft YaHei Light" charset="0"/>
                <a:cs typeface="Microsoft YaHei Light" charset="0"/>
              </a:rPr>
              <a:t>FlexSC</a:t>
            </a:r>
            <a:r>
              <a:rPr lang="en-US" altLang="zh-CN" sz="1333" dirty="0">
                <a:solidFill>
                  <a:schemeClr val="bg1">
                    <a:lumMod val="75000"/>
                  </a:schemeClr>
                </a:solidFill>
                <a:latin typeface="Microsoft YaHei Light" charset="0"/>
                <a:ea typeface="Microsoft YaHei Light" charset="0"/>
                <a:cs typeface="Microsoft YaHei Light" charset="0"/>
              </a:rPr>
              <a:t>: Flexible System Call Scheduling with Exception-Less System Calls </a:t>
            </a:r>
          </a:p>
        </p:txBody>
      </p:sp>
    </p:spTree>
    <p:extLst>
      <p:ext uri="{BB962C8B-B14F-4D97-AF65-F5344CB8AC3E}">
        <p14:creationId xmlns:p14="http://schemas.microsoft.com/office/powerpoint/2010/main" val="21283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5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750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"/>
                            </p:stCondLst>
                            <p:childTnLst>
                              <p:par>
                                <p:cTn id="6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75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250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250"/>
                            </p:stCondLst>
                            <p:childTnLst>
                              <p:par>
                                <p:cTn id="89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9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0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4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12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6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250"/>
                            </p:stCondLst>
                            <p:childTnLst>
                              <p:par>
                                <p:cTn id="13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250"/>
                            </p:stCondLst>
                            <p:childTnLst>
                              <p:par>
                                <p:cTn id="1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50"/>
                            </p:stCondLst>
                            <p:childTnLst>
                              <p:par>
                                <p:cTn id="1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5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000"/>
                            </p:stCondLst>
                            <p:childTnLst>
                              <p:par>
                                <p:cTn id="17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250"/>
                            </p:stCondLst>
                            <p:childTnLst>
                              <p:par>
                                <p:cTn id="18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250"/>
                            </p:stCondLst>
                            <p:childTnLst>
                              <p:par>
                                <p:cTn id="18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5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250"/>
                            </p:stCondLst>
                            <p:childTnLst>
                              <p:par>
                                <p:cTn id="2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5" grpId="0" animBg="1"/>
      <p:bldP spid="17" grpId="0" animBg="1"/>
      <p:bldP spid="17" grpId="1" animBg="1"/>
      <p:bldP spid="18" grpId="0" animBg="1"/>
      <p:bldP spid="18" grpId="1" animBg="1"/>
      <p:bldP spid="16" grpId="0" build="allAtOnce"/>
      <p:bldP spid="19" grpId="0" animBg="1"/>
      <p:bldP spid="19" grpId="1" animBg="1"/>
      <p:bldP spid="20" grpId="0" build="allAtOnce"/>
      <p:bldP spid="28" grpId="0" animBg="1"/>
      <p:bldP spid="28" grpId="1" animBg="1"/>
      <p:bldP spid="29" grpId="0" animBg="1"/>
      <p:bldP spid="29" grpId="1" animBg="1"/>
      <p:bldP spid="27" grpId="0" build="allAtOnce"/>
      <p:bldP spid="33" grpId="0" animBg="1"/>
      <p:bldP spid="33" grpId="1" animBg="1"/>
      <p:bldP spid="34" grpId="0" build="allAtOnce"/>
      <p:bldP spid="37" grpId="0" animBg="1"/>
      <p:bldP spid="37" grpId="1" animBg="1"/>
      <p:bldP spid="38" grpId="0" animBg="1"/>
      <p:bldP spid="38" grpId="1" animBg="1"/>
      <p:bldP spid="39" grpId="0" build="allAtOnce"/>
      <p:bldP spid="40" grpId="0" animBg="1"/>
      <p:bldP spid="40" grpId="1" animBg="1"/>
      <p:bldP spid="41" grpId="0" build="allAtOnce"/>
      <p:bldP spid="42" grpId="0" animBg="1"/>
      <p:bldP spid="42" grpId="1" animBg="1"/>
      <p:bldP spid="43" grpId="0" animBg="1"/>
      <p:bldP spid="43" grpId="1" animBg="1"/>
      <p:bldP spid="44" grpId="0" build="allAtOnce"/>
      <p:bldP spid="45" grpId="0" animBg="1"/>
      <p:bldP spid="45" grpId="1" animBg="1"/>
      <p:bldP spid="46" grpId="0" build="allAtOnce"/>
      <p:bldP spid="47" grpId="0" build="allAtOnce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build="allAtOnce"/>
      <p:bldP spid="54" grpId="0" animBg="1"/>
      <p:bldP spid="55" grpId="0" animBg="1"/>
      <p:bldP spid="56" grpId="0" animBg="1"/>
      <p:bldP spid="5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36285</TotalTime>
  <Words>3765</Words>
  <Application>Microsoft Macintosh PowerPoint</Application>
  <PresentationFormat>全屏显示(16:10)</PresentationFormat>
  <Paragraphs>675</Paragraphs>
  <Slides>65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78" baseType="lpstr">
      <vt:lpstr>DengXian</vt:lpstr>
      <vt:lpstr>等线 Light</vt:lpstr>
      <vt:lpstr>微软雅黑</vt:lpstr>
      <vt:lpstr>Microsoft YaHei Light</vt:lpstr>
      <vt:lpstr>Arial</vt:lpstr>
      <vt:lpstr>Calibri</vt:lpstr>
      <vt:lpstr>Comic Sans MS</vt:lpstr>
      <vt:lpstr>Consolas</vt:lpstr>
      <vt:lpstr>Times New Roman</vt:lpstr>
      <vt:lpstr>Verdana</vt:lpstr>
      <vt:lpstr>Wingdings</vt:lpstr>
      <vt:lpstr>Office 主题​​</vt:lpstr>
      <vt:lpstr>1_Office 主题​​</vt:lpstr>
      <vt:lpstr>中断、异常与系统调用</vt:lpstr>
      <vt:lpstr>版权声明</vt:lpstr>
      <vt:lpstr>Review: 不同操作系统架构的对比</vt:lpstr>
      <vt:lpstr>多内核/复内核（Multi-Kernel）</vt:lpstr>
      <vt:lpstr>多内核/复内核（Multikernel）</vt:lpstr>
      <vt:lpstr>Multikernel的设计</vt:lpstr>
      <vt:lpstr>Barrelfish Multikernel</vt:lpstr>
      <vt:lpstr>Barrelfish Structure</vt:lpstr>
      <vt:lpstr>Popcorn Linux</vt:lpstr>
      <vt:lpstr>操作系统结构的演进与生态</vt:lpstr>
      <vt:lpstr>ARM简介</vt:lpstr>
      <vt:lpstr>ARM: 从智能手机到全平台</vt:lpstr>
      <vt:lpstr>ARM发展</vt:lpstr>
      <vt:lpstr>AArch64</vt:lpstr>
      <vt:lpstr>CPU寄存器 ARM</vt:lpstr>
      <vt:lpstr>寄存器 ARM vs X86-64</vt:lpstr>
      <vt:lpstr>ISA</vt:lpstr>
      <vt:lpstr>RISC vs CISC</vt:lpstr>
      <vt:lpstr>特权级：与X86-64对比</vt:lpstr>
      <vt:lpstr>特权级/ARM (Exception Level)</vt:lpstr>
      <vt:lpstr>系统状态寄存器：X86-64</vt:lpstr>
      <vt:lpstr>系统状态寄存器：ARM</vt:lpstr>
      <vt:lpstr>系统控制寄存器：X86-64</vt:lpstr>
      <vt:lpstr>系统控制寄存器：ARM</vt:lpstr>
      <vt:lpstr>内存系统相关寄存器：ARM</vt:lpstr>
      <vt:lpstr>地址翻译</vt:lpstr>
      <vt:lpstr>内存空间</vt:lpstr>
      <vt:lpstr>ARM 输入/输出</vt:lpstr>
      <vt:lpstr>MMIO与PIO</vt:lpstr>
      <vt:lpstr>中断与异常处理—ARM</vt:lpstr>
      <vt:lpstr>CPU的执行逻辑</vt:lpstr>
      <vt:lpstr>操作系统的执行流可对应地分为两部分</vt:lpstr>
      <vt:lpstr>操作系统的执行流（简化版）</vt:lpstr>
      <vt:lpstr>异常向量表</vt:lpstr>
      <vt:lpstr>异常处理函数</vt:lpstr>
      <vt:lpstr>异常处理函数</vt:lpstr>
      <vt:lpstr>系统调用</vt:lpstr>
      <vt:lpstr>常见的Linux的系统调用</vt:lpstr>
      <vt:lpstr>如何跟踪系统调用？</vt:lpstr>
      <vt:lpstr>程序员角度看系统调用</vt:lpstr>
      <vt:lpstr>svc指令：从用户态进入内核态</vt:lpstr>
      <vt:lpstr>eret指令：从内核态返回用户态</vt:lpstr>
      <vt:lpstr>两种模式（态）的切换：用户态 &lt;-&gt; 内核态</vt:lpstr>
      <vt:lpstr>上下文保存与恢复</vt:lpstr>
      <vt:lpstr>用户态/内核态的切换过程</vt:lpstr>
      <vt:lpstr>Questions</vt:lpstr>
      <vt:lpstr>系统调用的参数与返回值</vt:lpstr>
      <vt:lpstr>系统调用返回值与errno</vt:lpstr>
      <vt:lpstr>Q: 如果寄存器放不下参数怎么办？</vt:lpstr>
      <vt:lpstr>如何验证用户态的指针合法性？</vt:lpstr>
      <vt:lpstr>处理由用户指针而带来的fault</vt:lpstr>
      <vt:lpstr>访问用户态内存的一组routine</vt:lpstr>
      <vt:lpstr>访问用户态内存的一组routine</vt:lpstr>
      <vt:lpstr>vDSO</vt:lpstr>
      <vt:lpstr>Motivation</vt:lpstr>
      <vt:lpstr>The Code of gettimeofday()</vt:lpstr>
      <vt:lpstr>vDSO的共享页在哪儿？</vt:lpstr>
      <vt:lpstr>Flex-SC</vt:lpstr>
      <vt:lpstr>Motivation</vt:lpstr>
      <vt:lpstr>Flexible System Call</vt:lpstr>
      <vt:lpstr>System Call的另一种方法</vt:lpstr>
      <vt:lpstr>Exception-less System Call</vt:lpstr>
      <vt:lpstr>Kernel填充syscall的返回值</vt:lpstr>
      <vt:lpstr>单核上：Single Threads</vt:lpstr>
      <vt:lpstr>单核上：Multiple Threads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1137</cp:revision>
  <cp:lastPrinted>2020-03-02T13:38:09Z</cp:lastPrinted>
  <dcterms:created xsi:type="dcterms:W3CDTF">2017-11-24T09:35:45Z</dcterms:created>
  <dcterms:modified xsi:type="dcterms:W3CDTF">2022-02-22T01:10:13Z</dcterms:modified>
</cp:coreProperties>
</file>