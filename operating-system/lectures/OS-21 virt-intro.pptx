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0"/>
  </p:notesMasterIdLst>
  <p:handoutMasterIdLst>
    <p:handoutMasterId r:id="rId51"/>
  </p:handoutMasterIdLst>
  <p:sldIdLst>
    <p:sldId id="1306" r:id="rId2"/>
    <p:sldId id="1359" r:id="rId3"/>
    <p:sldId id="2770" r:id="rId4"/>
    <p:sldId id="2684" r:id="rId5"/>
    <p:sldId id="2671" r:id="rId6"/>
    <p:sldId id="2670" r:id="rId7"/>
    <p:sldId id="2672" r:id="rId8"/>
    <p:sldId id="2686" r:id="rId9"/>
    <p:sldId id="2687" r:id="rId10"/>
    <p:sldId id="2688" r:id="rId11"/>
    <p:sldId id="1371" r:id="rId12"/>
    <p:sldId id="2682" r:id="rId13"/>
    <p:sldId id="2712" r:id="rId14"/>
    <p:sldId id="2713" r:id="rId15"/>
    <p:sldId id="2711" r:id="rId16"/>
    <p:sldId id="2714" r:id="rId17"/>
    <p:sldId id="2715" r:id="rId18"/>
    <p:sldId id="2673" r:id="rId19"/>
    <p:sldId id="2716" r:id="rId20"/>
    <p:sldId id="2717" r:id="rId21"/>
    <p:sldId id="2718" r:id="rId22"/>
    <p:sldId id="2719" r:id="rId23"/>
    <p:sldId id="2721" r:id="rId24"/>
    <p:sldId id="2675" r:id="rId25"/>
    <p:sldId id="2722" r:id="rId26"/>
    <p:sldId id="2724" r:id="rId27"/>
    <p:sldId id="2725" r:id="rId28"/>
    <p:sldId id="2678" r:id="rId29"/>
    <p:sldId id="2723" r:id="rId30"/>
    <p:sldId id="2726" r:id="rId31"/>
    <p:sldId id="502" r:id="rId32"/>
    <p:sldId id="2771" r:id="rId33"/>
    <p:sldId id="2727" r:id="rId34"/>
    <p:sldId id="2728" r:id="rId35"/>
    <p:sldId id="2729" r:id="rId36"/>
    <p:sldId id="384" r:id="rId37"/>
    <p:sldId id="2730" r:id="rId38"/>
    <p:sldId id="2731" r:id="rId39"/>
    <p:sldId id="2732" r:id="rId40"/>
    <p:sldId id="388" r:id="rId41"/>
    <p:sldId id="389" r:id="rId42"/>
    <p:sldId id="390" r:id="rId43"/>
    <p:sldId id="391" r:id="rId44"/>
    <p:sldId id="392" r:id="rId45"/>
    <p:sldId id="2733" r:id="rId46"/>
    <p:sldId id="2734" r:id="rId47"/>
    <p:sldId id="2750" r:id="rId48"/>
    <p:sldId id="2735" r:id="rId49"/>
  </p:sldIdLst>
  <p:sldSz cx="9144000" cy="5715000" type="screen16x1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userDrawn="1">
          <p15:clr>
            <a:srgbClr val="A4A3A4"/>
          </p15:clr>
        </p15:guide>
        <p15:guide id="2" pos="3878" userDrawn="1">
          <p15:clr>
            <a:srgbClr val="A4A3A4"/>
          </p15:clr>
        </p15:guide>
        <p15:guide id="3"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404040"/>
    <a:srgbClr val="BE384B"/>
    <a:srgbClr val="FFFF99"/>
    <a:srgbClr val="515151"/>
    <a:srgbClr val="941100"/>
    <a:srgbClr val="FF2F92"/>
    <a:srgbClr val="0432FF"/>
    <a:srgbClr val="FF9300"/>
    <a:srgbClr val="00FB92"/>
    <a:srgbClr val="2121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41" autoAdjust="0"/>
    <p:restoredTop sz="85762" autoAdjust="0"/>
  </p:normalViewPr>
  <p:slideViewPr>
    <p:cSldViewPr>
      <p:cViewPr varScale="1">
        <p:scale>
          <a:sx n="92" d="100"/>
          <a:sy n="92" d="100"/>
        </p:scale>
        <p:origin x="192" y="1360"/>
      </p:cViewPr>
      <p:guideLst>
        <p:guide orient="horz" pos="1800"/>
        <p:guide pos="3878"/>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21" d="100"/>
          <a:sy n="121" d="100"/>
        </p:scale>
        <p:origin x="3864" y="17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D384E5B-0B7C-A143-A087-04B582FC4BEF}" type="datetimeFigureOut">
              <a:rPr kumimoji="1" lang="zh-CN" altLang="en-US" smtClean="0"/>
              <a:t>2022/4/26</a:t>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78370ED-3FEA-E543-9D41-DF20FAD761C7}" type="slidenum">
              <a:rPr kumimoji="1" lang="zh-CN" altLang="en-US" smtClean="0"/>
              <a:t>‹#›</a:t>
            </a:fld>
            <a:endParaRPr kumimoji="1" lang="zh-CN" altLang="en-US"/>
          </a:p>
        </p:txBody>
      </p:sp>
    </p:spTree>
    <p:extLst>
      <p:ext uri="{BB962C8B-B14F-4D97-AF65-F5344CB8AC3E}">
        <p14:creationId xmlns:p14="http://schemas.microsoft.com/office/powerpoint/2010/main" val="35551917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D7DB94-E0DE-4F0F-A9B7-54654CD8C8B1}" type="datetimeFigureOut">
              <a:rPr lang="zh-CN" altLang="en-US" smtClean="0"/>
              <a:t>2022/4/26</a:t>
            </a:fld>
            <a:endParaRPr lang="zh-CN" altLang="en-US"/>
          </a:p>
        </p:txBody>
      </p:sp>
      <p:sp>
        <p:nvSpPr>
          <p:cNvPr id="4" name="幻灯片图像占位符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A84A077-83E9-49A7-9F59-234D78BD6949}" type="slidenum">
              <a:rPr lang="zh-CN" altLang="en-US" smtClean="0"/>
              <a:t>‹#›</a:t>
            </a:fld>
            <a:endParaRPr lang="zh-CN" altLang="en-US"/>
          </a:p>
        </p:txBody>
      </p:sp>
    </p:spTree>
    <p:extLst>
      <p:ext uri="{BB962C8B-B14F-4D97-AF65-F5344CB8AC3E}">
        <p14:creationId xmlns:p14="http://schemas.microsoft.com/office/powerpoint/2010/main" val="2430265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685800"/>
            <a:ext cx="5486400" cy="3429000"/>
          </a:xfrm>
        </p:spPr>
      </p:sp>
      <p:sp>
        <p:nvSpPr>
          <p:cNvPr id="3" name="备注占位符 2"/>
          <p:cNvSpPr>
            <a:spLocks noGrp="1"/>
          </p:cNvSpPr>
          <p:nvPr>
            <p:ph type="body" idx="1"/>
          </p:nvPr>
        </p:nvSpPr>
        <p:spPr/>
        <p:txBody>
          <a:bodyPr/>
          <a:lstStyle/>
          <a:p>
            <a:endParaRPr kumimoji="1" lang="en-US" altLang="zh-CN" baseline="0"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solidFill>
                  <a:prstClr val="black"/>
                </a:solidFill>
              </a:rPr>
              <a:pPr/>
              <a:t>1</a:t>
            </a:fld>
            <a:endParaRPr lang="zh-CN" altLang="en-US">
              <a:solidFill>
                <a:prstClr val="black"/>
              </a:solidFill>
            </a:endParaRPr>
          </a:p>
        </p:txBody>
      </p:sp>
    </p:spTree>
    <p:extLst>
      <p:ext uri="{BB962C8B-B14F-4D97-AF65-F5344CB8AC3E}">
        <p14:creationId xmlns:p14="http://schemas.microsoft.com/office/powerpoint/2010/main" val="1299018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err="1"/>
              <a:t>Web,python</a:t>
            </a:r>
            <a:r>
              <a:rPr kumimoji="1" lang="en-US" altLang="zh-CN" dirty="0"/>
              <a:t>: API:</a:t>
            </a:r>
            <a:r>
              <a:rPr kumimoji="1" lang="zh-CN" altLang="en-US" dirty="0"/>
              <a:t> </a:t>
            </a:r>
            <a:r>
              <a:rPr kumimoji="1" lang="en-US" altLang="zh-CN" dirty="0"/>
              <a:t>underlying</a:t>
            </a:r>
            <a:r>
              <a:rPr kumimoji="1" lang="zh-CN" altLang="en-US" dirty="0"/>
              <a:t> </a:t>
            </a:r>
            <a:r>
              <a:rPr kumimoji="1" lang="en-US" altLang="zh-CN" dirty="0"/>
              <a:t>is</a:t>
            </a:r>
            <a:r>
              <a:rPr kumimoji="1" lang="zh-CN" altLang="en-US" dirty="0"/>
              <a:t> </a:t>
            </a:r>
            <a:r>
              <a:rPr kumimoji="1" lang="en-US" altLang="zh-CN" dirty="0"/>
              <a:t>library/runtime</a:t>
            </a:r>
          </a:p>
          <a:p>
            <a:r>
              <a:rPr kumimoji="1" lang="en-US" altLang="zh-CN" dirty="0"/>
              <a:t>Windows/Linux apps: ABI:</a:t>
            </a:r>
            <a:r>
              <a:rPr kumimoji="1" lang="zh-CN" altLang="en-US" dirty="0"/>
              <a:t> </a:t>
            </a:r>
            <a:r>
              <a:rPr kumimoji="1" lang="en-US" altLang="zh-CN" dirty="0"/>
              <a:t>underlying</a:t>
            </a:r>
            <a:r>
              <a:rPr kumimoji="1" lang="zh-CN" altLang="en-US" dirty="0"/>
              <a:t> </a:t>
            </a:r>
            <a:r>
              <a:rPr kumimoji="1" lang="en-US" altLang="zh-CN" dirty="0"/>
              <a:t>is</a:t>
            </a:r>
            <a:r>
              <a:rPr kumimoji="1" lang="zh-CN" altLang="en-US" dirty="0"/>
              <a:t> </a:t>
            </a:r>
            <a:r>
              <a:rPr kumimoji="1" lang="en-US" altLang="zh-CN" dirty="0"/>
              <a:t>OS</a:t>
            </a:r>
          </a:p>
          <a:p>
            <a:r>
              <a:rPr kumimoji="1" lang="en-US" altLang="zh-CN" dirty="0"/>
              <a:t>OS: ISA:</a:t>
            </a:r>
            <a:r>
              <a:rPr kumimoji="1" lang="zh-CN" altLang="en-US" dirty="0"/>
              <a:t> </a:t>
            </a:r>
            <a:r>
              <a:rPr kumimoji="1" lang="en-US" altLang="zh-CN" dirty="0"/>
              <a:t>underlying</a:t>
            </a:r>
            <a:r>
              <a:rPr kumimoji="1" lang="zh-CN" altLang="en-US" dirty="0"/>
              <a:t> </a:t>
            </a:r>
            <a:r>
              <a:rPr kumimoji="1" lang="en-US" altLang="zh-CN" dirty="0"/>
              <a:t>is</a:t>
            </a:r>
            <a:r>
              <a:rPr kumimoji="1" lang="zh-CN" altLang="en-US" dirty="0"/>
              <a:t> </a:t>
            </a:r>
            <a:r>
              <a:rPr kumimoji="1" lang="en-US" altLang="zh-CN" dirty="0"/>
              <a:t>hardware</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15</a:t>
            </a:fld>
            <a:endParaRPr lang="zh-CN" altLang="en-US"/>
          </a:p>
        </p:txBody>
      </p:sp>
    </p:spTree>
    <p:extLst>
      <p:ext uri="{BB962C8B-B14F-4D97-AF65-F5344CB8AC3E}">
        <p14:creationId xmlns:p14="http://schemas.microsoft.com/office/powerpoint/2010/main" val="8788109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7F7F7F"/>
            </a:solidFill>
            <a:miter lim="800000"/>
            <a:headEnd/>
            <a:tailEnd/>
          </a:ln>
        </p:spPr>
      </p:sp>
      <p:sp>
        <p:nvSpPr>
          <p:cNvPr id="3" name="Notes Placeholder 2"/>
          <p:cNvSpPr>
            <a:spLocks noGrp="1"/>
          </p:cNvSpPr>
          <p:nvPr>
            <p:ph type="body" idx="1"/>
          </p:nvPr>
        </p:nvSpPr>
        <p:spPr/>
        <p:txBody>
          <a:bodyPr wrap="square" numCol="1" anchor="t" anchorCtr="0" compatLnSpc="1">
            <a:prstTxWarp prst="textNoShape">
              <a:avLst/>
            </a:prstTxWarp>
          </a:bodyPr>
          <a:lstStyle/>
          <a:p>
            <a:pPr eaLnBrk="1" hangingPunct="1">
              <a:lnSpc>
                <a:spcPct val="90000"/>
              </a:lnSpc>
            </a:pPr>
            <a:endParaRPr lang="en-US" altLang="zh-TW" sz="1100"/>
          </a:p>
        </p:txBody>
      </p:sp>
      <p:sp>
        <p:nvSpPr>
          <p:cNvPr id="4" name="Slide Number Placeholder 3"/>
          <p:cNvSpPr>
            <a:spLocks noGrp="1"/>
          </p:cNvSpPr>
          <p:nvPr>
            <p:ph type="sldNum" sz="quarter" idx="5"/>
          </p:nvPr>
        </p:nvSpPr>
        <p:spPr/>
        <p:txBody>
          <a:bodyPr/>
          <a:lstStyle/>
          <a:p>
            <a:fld id="{D2F0FC9B-40AB-4675-94A7-6BEFBBE727CB}" type="slidenum">
              <a:rPr lang="en-US" altLang="zh-TW"/>
              <a:pPr/>
              <a:t>40</a:t>
            </a:fld>
            <a:endParaRPr lang="en-US" altLang="zh-TW"/>
          </a:p>
        </p:txBody>
      </p:sp>
    </p:spTree>
    <p:extLst>
      <p:ext uri="{BB962C8B-B14F-4D97-AF65-F5344CB8AC3E}">
        <p14:creationId xmlns:p14="http://schemas.microsoft.com/office/powerpoint/2010/main" val="11884360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bwMode="auto">
          <a:noFill/>
          <a:ln>
            <a:solidFill>
              <a:srgbClr val="7F7F7F"/>
            </a:solidFill>
            <a:miter lim="800000"/>
            <a:headEnd/>
            <a:tailEnd/>
          </a:ln>
        </p:spPr>
      </p:sp>
      <p:sp>
        <p:nvSpPr>
          <p:cNvPr id="3" name="Notes Placeholder 2"/>
          <p:cNvSpPr>
            <a:spLocks noGrp="1"/>
          </p:cNvSpPr>
          <p:nvPr>
            <p:ph type="body" idx="1"/>
          </p:nvPr>
        </p:nvSpPr>
        <p:spPr/>
        <p:txBody>
          <a:bodyPr wrap="square" numCol="1" anchor="t" anchorCtr="0" compatLnSpc="1">
            <a:prstTxWarp prst="textNoShape">
              <a:avLst/>
            </a:prstTxWarp>
          </a:bodyPr>
          <a:lstStyle/>
          <a:p>
            <a:pPr eaLnBrk="1" hangingPunct="1">
              <a:lnSpc>
                <a:spcPct val="90000"/>
              </a:lnSpc>
            </a:pPr>
            <a:r>
              <a:rPr lang="en-US" altLang="zh-TW" sz="1100" dirty="0"/>
              <a:t>Dynamic binary translation is used in virtualizing the CPU by translating potentially dangerous (or non-</a:t>
            </a:r>
            <a:r>
              <a:rPr lang="en-US" altLang="zh-TW" sz="1100" dirty="0" err="1"/>
              <a:t>virtualizable</a:t>
            </a:r>
            <a:r>
              <a:rPr lang="en-US" altLang="zh-TW" sz="1100" dirty="0"/>
              <a:t>) instruction sequences one-by-one into safe instruction sequences. </a:t>
            </a:r>
          </a:p>
          <a:p>
            <a:pPr eaLnBrk="1" hangingPunct="1">
              <a:lnSpc>
                <a:spcPct val="90000"/>
              </a:lnSpc>
            </a:pPr>
            <a:endParaRPr lang="en-US" altLang="zh-TW" sz="1100" dirty="0"/>
          </a:p>
          <a:p>
            <a:pPr eaLnBrk="1" hangingPunct="1">
              <a:lnSpc>
                <a:spcPct val="90000"/>
              </a:lnSpc>
            </a:pPr>
            <a:r>
              <a:rPr lang="en-US" altLang="zh-TW" sz="1100" dirty="0"/>
              <a:t> It works like this:</a:t>
            </a:r>
          </a:p>
          <a:p>
            <a:pPr eaLnBrk="1" hangingPunct="1">
              <a:lnSpc>
                <a:spcPct val="90000"/>
              </a:lnSpc>
            </a:pPr>
            <a:endParaRPr lang="en-US" altLang="zh-TW" sz="1100" dirty="0"/>
          </a:p>
          <a:p>
            <a:pPr eaLnBrk="1" hangingPunct="1">
              <a:lnSpc>
                <a:spcPct val="90000"/>
              </a:lnSpc>
              <a:buFont typeface="Calibri" pitchFamily="34" charset="0"/>
              <a:buAutoNum type="arabicPeriod"/>
            </a:pPr>
            <a:r>
              <a:rPr lang="en-US" altLang="zh-TW" sz="1100" dirty="0"/>
              <a:t>The monitor inspects the next sequence of instructions. An instruction sequence is typically defined as the next basic block, that is all instructions up to the next control transfer instruction such as a branch. There may be reasons to end a sequence earlier or go past a branch but for now lets assume we go to the next branch.</a:t>
            </a:r>
          </a:p>
          <a:p>
            <a:pPr eaLnBrk="1" hangingPunct="1">
              <a:lnSpc>
                <a:spcPct val="90000"/>
              </a:lnSpc>
              <a:buFont typeface="Calibri" pitchFamily="34" charset="0"/>
              <a:buAutoNum type="arabicPeriod"/>
            </a:pPr>
            <a:r>
              <a:rPr lang="en-US" altLang="zh-TW" sz="1100" dirty="0"/>
              <a:t>Each instruction is translated and the translation is copied into a translation cache.</a:t>
            </a:r>
          </a:p>
          <a:p>
            <a:pPr eaLnBrk="1" hangingPunct="1">
              <a:lnSpc>
                <a:spcPct val="90000"/>
              </a:lnSpc>
              <a:buFont typeface="Calibri" pitchFamily="34" charset="0"/>
              <a:buAutoNum type="arabicPeriod"/>
            </a:pPr>
            <a:r>
              <a:rPr lang="en-US" altLang="zh-TW" sz="1100" dirty="0"/>
              <a:t>Instructions are translated as follows:</a:t>
            </a:r>
          </a:p>
          <a:p>
            <a:pPr marL="723900" lvl="1" indent="-241300" eaLnBrk="1" hangingPunct="1">
              <a:lnSpc>
                <a:spcPct val="90000"/>
              </a:lnSpc>
              <a:buFontTx/>
              <a:buChar char="•"/>
            </a:pPr>
            <a:r>
              <a:rPr lang="en-US" altLang="zh-TW" sz="1100" dirty="0"/>
              <a:t>Instructions which pose no problems can be copied into the translation cache with modification. We call these “</a:t>
            </a:r>
            <a:r>
              <a:rPr lang="en-US" altLang="zh-TW" sz="1100" dirty="0" err="1"/>
              <a:t>ident</a:t>
            </a:r>
            <a:r>
              <a:rPr lang="en-US" altLang="zh-TW" sz="1100" dirty="0"/>
              <a:t>” translations.</a:t>
            </a:r>
          </a:p>
          <a:p>
            <a:pPr marL="723900" lvl="1" indent="-241300" eaLnBrk="1" hangingPunct="1">
              <a:lnSpc>
                <a:spcPct val="90000"/>
              </a:lnSpc>
              <a:buFontTx/>
              <a:buChar char="•"/>
            </a:pPr>
            <a:r>
              <a:rPr lang="en-US" altLang="zh-TW" sz="1100" dirty="0"/>
              <a:t>Some simple dangerous instructions can be translated into a short sequence emulation code. This code is placed directly into the translation cache. We call this “inline” translation. An example is the modification of the Interrupt Enable flag.</a:t>
            </a:r>
          </a:p>
          <a:p>
            <a:pPr marL="723900" lvl="1" indent="-241300" eaLnBrk="1" hangingPunct="1">
              <a:lnSpc>
                <a:spcPct val="90000"/>
              </a:lnSpc>
              <a:buFontTx/>
              <a:buChar char="•"/>
            </a:pPr>
            <a:r>
              <a:rPr lang="en-US" altLang="zh-TW" sz="1100" dirty="0"/>
              <a:t>Other dangerous instructions need be performed by emulation code in the monitor. For these instructions calls to the monitor are made. These are called “Call-outs”. An example of these is a change to the page table base.</a:t>
            </a:r>
          </a:p>
          <a:p>
            <a:pPr marL="723900" lvl="1" indent="-241300" eaLnBrk="1" hangingPunct="1">
              <a:lnSpc>
                <a:spcPct val="90000"/>
              </a:lnSpc>
              <a:buFontTx/>
              <a:buChar char="•"/>
            </a:pPr>
            <a:r>
              <a:rPr lang="en-US" altLang="zh-TW" sz="1100" dirty="0"/>
              <a:t>The branch ending the basic block needs a call out. </a:t>
            </a:r>
          </a:p>
          <a:p>
            <a:pPr eaLnBrk="1" hangingPunct="1">
              <a:lnSpc>
                <a:spcPct val="90000"/>
              </a:lnSpc>
              <a:buFont typeface="Calibri" pitchFamily="34" charset="0"/>
              <a:buAutoNum type="arabicPeriod"/>
            </a:pPr>
            <a:r>
              <a:rPr lang="en-US" altLang="zh-TW" sz="1100" dirty="0"/>
              <a:t>The monitor can now jump to the start of the translated basic block with the virtual registers in the hardware registers.</a:t>
            </a:r>
          </a:p>
          <a:p>
            <a:pPr eaLnBrk="1" hangingPunct="1">
              <a:lnSpc>
                <a:spcPct val="90000"/>
              </a:lnSpc>
            </a:pPr>
            <a:endParaRPr lang="en-US" altLang="zh-TW" sz="1100" dirty="0"/>
          </a:p>
          <a:p>
            <a:pPr eaLnBrk="1" hangingPunct="1">
              <a:lnSpc>
                <a:spcPct val="90000"/>
              </a:lnSpc>
            </a:pPr>
            <a:r>
              <a:rPr lang="en-US" altLang="zh-TW" sz="1100" dirty="0"/>
              <a:t>So dangerous instructions can be privileged instructions, non-</a:t>
            </a:r>
            <a:r>
              <a:rPr lang="en-US" altLang="zh-TW" sz="1100" dirty="0" err="1"/>
              <a:t>virtualizable</a:t>
            </a:r>
            <a:r>
              <a:rPr lang="en-US" altLang="zh-TW" sz="1100" dirty="0"/>
              <a:t> instructions, control flow, memory accesses.</a:t>
            </a:r>
          </a:p>
        </p:txBody>
      </p:sp>
      <p:sp>
        <p:nvSpPr>
          <p:cNvPr id="4" name="Slide Number Placeholder 3"/>
          <p:cNvSpPr>
            <a:spLocks noGrp="1"/>
          </p:cNvSpPr>
          <p:nvPr>
            <p:ph type="sldNum" sz="quarter" idx="5"/>
          </p:nvPr>
        </p:nvSpPr>
        <p:spPr/>
        <p:txBody>
          <a:bodyPr/>
          <a:lstStyle/>
          <a:p>
            <a:fld id="{CF7F5DCB-DFD5-460F-A618-D9112056DB6F}" type="slidenum">
              <a:rPr lang="en-US" altLang="zh-TW"/>
              <a:pPr/>
              <a:t>41</a:t>
            </a:fld>
            <a:endParaRPr lang="en-US" altLang="zh-TW"/>
          </a:p>
        </p:txBody>
      </p:sp>
    </p:spTree>
    <p:extLst>
      <p:ext uri="{BB962C8B-B14F-4D97-AF65-F5344CB8AC3E}">
        <p14:creationId xmlns:p14="http://schemas.microsoft.com/office/powerpoint/2010/main" val="28597728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dirty="0"/>
              <a:t>Dynamic binary</a:t>
            </a:r>
            <a:r>
              <a:rPr lang="en-US" baseline="0" dirty="0"/>
              <a:t> translation is used in </a:t>
            </a:r>
            <a:r>
              <a:rPr lang="en-US" baseline="0" dirty="0" err="1"/>
              <a:t>virtualizing</a:t>
            </a:r>
            <a:r>
              <a:rPr lang="en-US" baseline="0" dirty="0"/>
              <a:t> the CPU by translating potentially dangerous (or non-virtualizable) instruction sequences one-by-one into safe instruction sequences. </a:t>
            </a:r>
          </a:p>
          <a:p>
            <a:endParaRPr lang="en-US" baseline="0" dirty="0"/>
          </a:p>
          <a:p>
            <a:r>
              <a:rPr lang="en-US" baseline="0" dirty="0"/>
              <a:t> It works like this:</a:t>
            </a:r>
          </a:p>
          <a:p>
            <a:endParaRPr lang="en-US" baseline="0" dirty="0"/>
          </a:p>
          <a:p>
            <a:pPr marL="241653" indent="-241653">
              <a:buFont typeface="+mj-lt"/>
              <a:buAutoNum type="arabicPeriod"/>
            </a:pPr>
            <a:r>
              <a:rPr lang="en-US" baseline="0" dirty="0"/>
              <a:t>The monitor inspects the next sequence of instructions. An instruction sequence is typically defined as the next basic block, that is all instructions up to the next control transfer instruction such as a branch. There may be reasons to end a sequence earlier or go past a branch but for now lets assume we go to the next branch.</a:t>
            </a:r>
          </a:p>
          <a:p>
            <a:pPr marL="241653" indent="-241653">
              <a:buFont typeface="+mj-lt"/>
              <a:buAutoNum type="arabicPeriod"/>
            </a:pPr>
            <a:r>
              <a:rPr lang="en-US" baseline="0" dirty="0"/>
              <a:t>Each instruction is translated and the translation is copied into a translation cache.</a:t>
            </a:r>
          </a:p>
          <a:p>
            <a:pPr marL="241653" indent="-241653">
              <a:buFont typeface="+mj-lt"/>
              <a:buAutoNum type="arabicPeriod"/>
            </a:pPr>
            <a:r>
              <a:rPr lang="en-US" baseline="0" dirty="0"/>
              <a:t>Instructions are translated as follows:</a:t>
            </a:r>
          </a:p>
          <a:p>
            <a:pPr marL="724959" lvl="1" indent="-241653">
              <a:buFont typeface="Arial" pitchFamily="34" charset="0"/>
              <a:buChar char="•"/>
            </a:pPr>
            <a:r>
              <a:rPr lang="en-US" baseline="0" dirty="0"/>
              <a:t>Instructions which pose no problems can be copied into the translation cache with modification. We call these “</a:t>
            </a:r>
            <a:r>
              <a:rPr lang="en-US" baseline="0" dirty="0" err="1"/>
              <a:t>ident</a:t>
            </a:r>
            <a:r>
              <a:rPr lang="en-US" baseline="0" dirty="0"/>
              <a:t>” translations.</a:t>
            </a:r>
          </a:p>
          <a:p>
            <a:pPr marL="724959" lvl="1" indent="-241653">
              <a:buFont typeface="Arial" pitchFamily="34" charset="0"/>
              <a:buChar char="•"/>
            </a:pPr>
            <a:r>
              <a:rPr lang="en-US" baseline="0" dirty="0"/>
              <a:t>Some simple dangerous instructions can be translated into a short sequence emulation code. This code is placed directly into the translation cache. We call this “inline” translation. An example is the modification of the Interrupt Enable flag.</a:t>
            </a:r>
          </a:p>
          <a:p>
            <a:pPr marL="724959" lvl="1" indent="-241653">
              <a:buFont typeface="Arial" pitchFamily="34" charset="0"/>
              <a:buChar char="•"/>
            </a:pPr>
            <a:r>
              <a:rPr lang="en-US" baseline="0" dirty="0"/>
              <a:t>Other dangerous instructions need be performed by emulation code in the monitor. For these instructions calls to the monitor are made. These are called “Call-outs”. An example of these is a change to the page table base.</a:t>
            </a:r>
          </a:p>
          <a:p>
            <a:pPr marL="724959" lvl="1" indent="-241653">
              <a:buFont typeface="Arial" pitchFamily="34" charset="0"/>
              <a:buChar char="•"/>
            </a:pPr>
            <a:r>
              <a:rPr lang="en-US" baseline="0" dirty="0"/>
              <a:t>The branch ending the basic block needs a call out. </a:t>
            </a:r>
          </a:p>
          <a:p>
            <a:pPr marL="241653" indent="-241653">
              <a:buFont typeface="+mj-lt"/>
              <a:buAutoNum type="arabicPeriod"/>
            </a:pPr>
            <a:r>
              <a:rPr lang="en-US" baseline="0" dirty="0"/>
              <a:t>The monitor can now jump to the start of the translated basic block with the virtual registers in the hardware registers.</a:t>
            </a:r>
          </a:p>
          <a:p>
            <a:pPr marL="241653" indent="-241653"/>
            <a:endParaRPr lang="en-US" baseline="0" dirty="0"/>
          </a:p>
          <a:p>
            <a:pPr marL="241653" indent="-241653"/>
            <a:r>
              <a:rPr lang="en-US" baseline="0" dirty="0"/>
              <a:t>So dangerous instructions can be privileged instructions, non-virtualizable instructions, control flow, memory accesses.</a:t>
            </a:r>
          </a:p>
        </p:txBody>
      </p:sp>
      <p:sp>
        <p:nvSpPr>
          <p:cNvPr id="4" name="Slide Number Placeholder 3"/>
          <p:cNvSpPr>
            <a:spLocks noGrp="1"/>
          </p:cNvSpPr>
          <p:nvPr>
            <p:ph type="sldNum" sz="quarter" idx="10"/>
          </p:nvPr>
        </p:nvSpPr>
        <p:spPr/>
        <p:txBody>
          <a:bodyPr/>
          <a:lstStyle/>
          <a:p>
            <a:fld id="{A6545F9A-0FF2-4090-8703-55A26BE7AB60}" type="slidenum">
              <a:rPr lang="en-US" smtClean="0"/>
              <a:pPr/>
              <a:t>42</a:t>
            </a:fld>
            <a:endParaRPr lang="en-US"/>
          </a:p>
        </p:txBody>
      </p:sp>
    </p:spTree>
    <p:extLst>
      <p:ext uri="{BB962C8B-B14F-4D97-AF65-F5344CB8AC3E}">
        <p14:creationId xmlns:p14="http://schemas.microsoft.com/office/powerpoint/2010/main" val="9240659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8"/>
            <a:ext cx="7772400" cy="1225021"/>
          </a:xfrm>
        </p:spPr>
        <p:txBody>
          <a:bodyPr>
            <a:normAutofit/>
          </a:bodyPr>
          <a:lstStyle>
            <a:lvl1pPr algn="ctr">
              <a:defRPr sz="4400">
                <a:latin typeface="+mj-lt"/>
              </a:defRPr>
            </a:lvl1pPr>
          </a:lstStyle>
          <a:p>
            <a:r>
              <a:rPr lang="zh-CN" altLang="en-US" dirty="0"/>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页脚占位符 4">
            <a:extLst>
              <a:ext uri="{FF2B5EF4-FFF2-40B4-BE49-F238E27FC236}">
                <a16:creationId xmlns:a16="http://schemas.microsoft.com/office/drawing/2014/main" id="{9FA25068-95BE-F84A-896E-9E89F943483E}"/>
              </a:ext>
            </a:extLst>
          </p:cNvPr>
          <p:cNvSpPr>
            <a:spLocks noGrp="1"/>
          </p:cNvSpPr>
          <p:nvPr>
            <p:ph type="ftr" sz="quarter" idx="3"/>
          </p:nvPr>
        </p:nvSpPr>
        <p:spPr>
          <a:xfrm>
            <a:off x="2553817" y="5305772"/>
            <a:ext cx="3962399" cy="304271"/>
          </a:xfrm>
          <a:prstGeom prst="rect">
            <a:avLst/>
          </a:prstGeom>
        </p:spPr>
        <p:txBody>
          <a:bodyPr anchor="ctr"/>
          <a:lstStyle>
            <a:lvl1pPr algn="ctr">
              <a:defRPr sz="1100"/>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146142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lstStyle>
            <a:lvl1pPr>
              <a:defRPr b="1">
                <a:solidFill>
                  <a:schemeClr val="accent1"/>
                </a:solidFill>
                <a:latin typeface="+mj-lt"/>
                <a:ea typeface="+mj-ea"/>
                <a:cs typeface="微软雅黑 Light" panose="020B0502040204020203"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lnSpc>
                <a:spcPct val="120000"/>
              </a:lnSpc>
              <a:defRPr sz="2400" b="1" i="0">
                <a:latin typeface="+mn-lt"/>
                <a:ea typeface="微软雅黑" panose="020B0503020204020204" pitchFamily="34" charset="-122"/>
                <a:cs typeface="微软雅黑" panose="020B0503020204020204" pitchFamily="34" charset="-122"/>
              </a:defRPr>
            </a:lvl1pPr>
            <a:lvl2pPr>
              <a:lnSpc>
                <a:spcPct val="120000"/>
              </a:lnSpc>
              <a:defRPr sz="2000" b="0" i="0">
                <a:latin typeface="+mn-lt"/>
                <a:ea typeface="微软雅黑" panose="020B0503020204020204" pitchFamily="34" charset="-122"/>
                <a:cs typeface="微软雅黑" panose="020B0503020204020204" pitchFamily="34" charset="-122"/>
              </a:defRPr>
            </a:lvl2pPr>
            <a:lvl3pPr>
              <a:lnSpc>
                <a:spcPct val="120000"/>
              </a:lnSpc>
              <a:defRPr sz="2000" b="0" i="0">
                <a:latin typeface="+mn-lt"/>
                <a:ea typeface="微软雅黑" panose="020B0503020204020204" pitchFamily="34" charset="-122"/>
                <a:cs typeface="微软雅黑" panose="020B0503020204020204" pitchFamily="34" charset="-122"/>
              </a:defRPr>
            </a:lvl3pPr>
            <a:lvl4pPr>
              <a:lnSpc>
                <a:spcPct val="120000"/>
              </a:lnSpc>
              <a:defRPr sz="1800" b="0" i="0">
                <a:latin typeface="+mn-lt"/>
                <a:ea typeface="微软雅黑" panose="020B0503020204020204" pitchFamily="34" charset="-122"/>
                <a:cs typeface="微软雅黑" panose="020B0503020204020204" pitchFamily="34" charset="-122"/>
              </a:defRPr>
            </a:lvl4pPr>
            <a:lvl5pPr>
              <a:lnSpc>
                <a:spcPct val="120000"/>
              </a:lnSpc>
              <a:defRPr sz="1800" b="0" i="0">
                <a:latin typeface="+mn-lt"/>
                <a:ea typeface="微软雅黑" panose="020B0503020204020204" pitchFamily="34" charset="-122"/>
                <a:cs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矩形 6"/>
          <p:cNvSpPr/>
          <p:nvPr userDrawn="1"/>
        </p:nvSpPr>
        <p:spPr>
          <a:xfrm>
            <a:off x="-180527" y="439062"/>
            <a:ext cx="164581" cy="4800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三角形 7">
            <a:extLst>
              <a:ext uri="{FF2B5EF4-FFF2-40B4-BE49-F238E27FC236}">
                <a16:creationId xmlns:a16="http://schemas.microsoft.com/office/drawing/2014/main" id="{066DE83E-C489-9340-8A6C-F2C63F8574DC}"/>
              </a:ext>
            </a:extLst>
          </p:cNvPr>
          <p:cNvSpPr/>
          <p:nvPr userDrawn="1"/>
        </p:nvSpPr>
        <p:spPr>
          <a:xfrm rot="5400000">
            <a:off x="-160702" y="599536"/>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
        <p:nvSpPr>
          <p:cNvPr id="9" name="页脚占位符 4">
            <a:extLst>
              <a:ext uri="{FF2B5EF4-FFF2-40B4-BE49-F238E27FC236}">
                <a16:creationId xmlns:a16="http://schemas.microsoft.com/office/drawing/2014/main" id="{6608DAFC-F7CB-BF45-A12C-3E5B3C748823}"/>
              </a:ext>
            </a:extLst>
          </p:cNvPr>
          <p:cNvSpPr>
            <a:spLocks noGrp="1"/>
          </p:cNvSpPr>
          <p:nvPr>
            <p:ph type="ftr" sz="quarter" idx="3"/>
          </p:nvPr>
        </p:nvSpPr>
        <p:spPr>
          <a:xfrm>
            <a:off x="2553817" y="5305772"/>
            <a:ext cx="3962399" cy="304271"/>
          </a:xfrm>
          <a:prstGeom prst="rect">
            <a:avLst/>
          </a:prstGeom>
        </p:spPr>
        <p:txBody>
          <a:bodyPr/>
          <a:lstStyle>
            <a:lvl1pPr algn="ctr">
              <a:defRPr sz="1100"/>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949560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8"/>
            <a:ext cx="7772400" cy="1135062"/>
          </a:xfrm>
        </p:spPr>
        <p:txBody>
          <a:bodyPr anchor="t"/>
          <a:lstStyle>
            <a:lvl1pPr algn="l">
              <a:defRPr sz="4000" b="1" cap="all">
                <a:latin typeface="+mj-lt"/>
              </a:defRPr>
            </a:lvl1pPr>
          </a:lstStyle>
          <a:p>
            <a:r>
              <a:rPr lang="zh-CN" altLang="en-US" dirty="0"/>
              <a:t>单击此处编辑母版标题样式</a:t>
            </a:r>
          </a:p>
        </p:txBody>
      </p:sp>
      <p:sp>
        <p:nvSpPr>
          <p:cNvPr id="3" name="文本占位符 2"/>
          <p:cNvSpPr>
            <a:spLocks noGrp="1"/>
          </p:cNvSpPr>
          <p:nvPr>
            <p:ph type="body" idx="1"/>
          </p:nvPr>
        </p:nvSpPr>
        <p:spPr>
          <a:xfrm>
            <a:off x="722313" y="2422261"/>
            <a:ext cx="7772400" cy="125015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8" name="三角形 7">
            <a:extLst>
              <a:ext uri="{FF2B5EF4-FFF2-40B4-BE49-F238E27FC236}">
                <a16:creationId xmlns:a16="http://schemas.microsoft.com/office/drawing/2014/main" id="{A8EE614D-B549-154F-943F-0F3919AB5939}"/>
              </a:ext>
            </a:extLst>
          </p:cNvPr>
          <p:cNvSpPr/>
          <p:nvPr userDrawn="1"/>
        </p:nvSpPr>
        <p:spPr>
          <a:xfrm rot="5400000">
            <a:off x="-160703" y="3920373"/>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
        <p:nvSpPr>
          <p:cNvPr id="9" name="页脚占位符 4">
            <a:extLst>
              <a:ext uri="{FF2B5EF4-FFF2-40B4-BE49-F238E27FC236}">
                <a16:creationId xmlns:a16="http://schemas.microsoft.com/office/drawing/2014/main" id="{222B87CB-0BF3-3A40-9555-EFDE398401FB}"/>
              </a:ext>
            </a:extLst>
          </p:cNvPr>
          <p:cNvSpPr>
            <a:spLocks noGrp="1"/>
          </p:cNvSpPr>
          <p:nvPr>
            <p:ph type="ftr" sz="quarter" idx="3"/>
          </p:nvPr>
        </p:nvSpPr>
        <p:spPr>
          <a:xfrm>
            <a:off x="2553817" y="5305772"/>
            <a:ext cx="3962399" cy="304271"/>
          </a:xfrm>
          <a:prstGeom prst="rect">
            <a:avLst/>
          </a:prstGeom>
        </p:spPr>
        <p:txBody>
          <a:bodyPr/>
          <a:lstStyle>
            <a:lvl1pPr algn="ctr">
              <a:defRPr sz="1100">
                <a:solidFill>
                  <a:schemeClr val="tx1">
                    <a:lumMod val="50000"/>
                    <a:lumOff val="50000"/>
                  </a:schemeClr>
                </a:solidFill>
              </a:defRPr>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61469465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28866"/>
            <a:ext cx="8229600" cy="9525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333501"/>
            <a:ext cx="8229600" cy="3771636"/>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1" y="5296962"/>
            <a:ext cx="2133600" cy="304271"/>
          </a:xfrm>
          <a:prstGeom prst="rect">
            <a:avLst/>
          </a:prstGeom>
        </p:spPr>
        <p:txBody>
          <a:bodyPr vert="horz" lIns="91440" tIns="45720" rIns="91440" bIns="45720" rtlCol="0" anchor="ctr"/>
          <a:lstStyle>
            <a:lvl1pPr algn="l">
              <a:defRPr sz="1200">
                <a:solidFill>
                  <a:schemeClr val="tx1">
                    <a:tint val="75000"/>
                  </a:schemeClr>
                </a:solidFill>
                <a:latin typeface="DengXian" charset="0"/>
                <a:ea typeface="DengXian" charset="0"/>
                <a:cs typeface="DengXian" charset="0"/>
              </a:defRPr>
            </a:lvl1pPr>
          </a:lstStyle>
          <a:p>
            <a:endParaRPr lang="zh-CN" altLang="en-US" dirty="0"/>
          </a:p>
        </p:txBody>
      </p:sp>
      <p:sp>
        <p:nvSpPr>
          <p:cNvPr id="6" name="灯片编号占位符 5"/>
          <p:cNvSpPr>
            <a:spLocks noGrp="1"/>
          </p:cNvSpPr>
          <p:nvPr>
            <p:ph type="sldNum" sz="quarter" idx="4"/>
          </p:nvPr>
        </p:nvSpPr>
        <p:spPr>
          <a:xfrm>
            <a:off x="6553200" y="5296962"/>
            <a:ext cx="2133600" cy="304271"/>
          </a:xfrm>
          <a:prstGeom prst="rect">
            <a:avLst/>
          </a:prstGeom>
        </p:spPr>
        <p:txBody>
          <a:bodyPr vert="horz" lIns="91440" tIns="45720" rIns="91440" bIns="45720" rtlCol="0" anchor="ctr"/>
          <a:lstStyle>
            <a:lvl1pPr algn="r">
              <a:defRPr sz="1200">
                <a:solidFill>
                  <a:schemeClr val="tx1">
                    <a:tint val="75000"/>
                  </a:schemeClr>
                </a:solidFill>
                <a:latin typeface="DengXian" charset="0"/>
                <a:ea typeface="DengXian" charset="0"/>
                <a:cs typeface="DengXian" charset="0"/>
              </a:defRPr>
            </a:lvl1pPr>
          </a:lstStyle>
          <a:p>
            <a:fld id="{ADE361C3-C043-4A6E-BDCE-8DA1E7D90A3B}" type="slidenum">
              <a:rPr lang="zh-CN" altLang="en-US" smtClean="0"/>
              <a:pPr/>
              <a:t>‹#›</a:t>
            </a:fld>
            <a:endParaRPr lang="zh-CN" altLang="en-US"/>
          </a:p>
        </p:txBody>
      </p:sp>
      <p:sp>
        <p:nvSpPr>
          <p:cNvPr id="7" name="页脚占位符 4">
            <a:extLst>
              <a:ext uri="{FF2B5EF4-FFF2-40B4-BE49-F238E27FC236}">
                <a16:creationId xmlns:a16="http://schemas.microsoft.com/office/drawing/2014/main" id="{4DC863AB-1CA3-014A-96B6-C1A16FEA03AC}"/>
              </a:ext>
            </a:extLst>
          </p:cNvPr>
          <p:cNvSpPr>
            <a:spLocks noGrp="1"/>
          </p:cNvSpPr>
          <p:nvPr>
            <p:ph type="ftr" sz="quarter" idx="3"/>
          </p:nvPr>
        </p:nvSpPr>
        <p:spPr>
          <a:xfrm>
            <a:off x="2553817" y="5305772"/>
            <a:ext cx="3962399" cy="304271"/>
          </a:xfrm>
          <a:prstGeom prst="rect">
            <a:avLst/>
          </a:prstGeom>
        </p:spPr>
        <p:txBody>
          <a:bodyPr anchor="ctr"/>
          <a:lstStyle>
            <a:lvl1pPr>
              <a:defRPr sz="1100">
                <a:solidFill>
                  <a:schemeClr val="tx1">
                    <a:lumMod val="50000"/>
                    <a:lumOff val="50000"/>
                  </a:schemeClr>
                </a:solidFill>
                <a:latin typeface="+mn-ea"/>
                <a:ea typeface="+mn-ea"/>
              </a:defRPr>
            </a:lvl1pPr>
          </a:lstStyle>
          <a:p>
            <a:pPr algn="ctr"/>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8909056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dt="0"/>
  <p:txStyles>
    <p:titleStyle>
      <a:lvl1pPr algn="l" defTabSz="914400" rtl="0" eaLnBrk="1" latinLnBrk="0" hangingPunct="1">
        <a:spcBef>
          <a:spcPct val="0"/>
        </a:spcBef>
        <a:buNone/>
        <a:defRPr sz="3600" b="1" kern="1200">
          <a:solidFill>
            <a:schemeClr val="accent1"/>
          </a:solidFill>
          <a:latin typeface="+mj-lt"/>
          <a:ea typeface="+mj-ea"/>
          <a:cs typeface="微软雅黑 Light" panose="020B0502040204020203" pitchFamily="34" charset="-122"/>
        </a:defRPr>
      </a:lvl1pPr>
    </p:titleStyle>
    <p:bodyStyle>
      <a:lvl1pPr marL="342900" indent="-342900" algn="l" defTabSz="914400" rtl="0" eaLnBrk="1" latinLnBrk="0" hangingPunct="1">
        <a:lnSpc>
          <a:spcPct val="120000"/>
        </a:lnSpc>
        <a:spcBef>
          <a:spcPts val="1200"/>
        </a:spcBef>
        <a:buFont typeface="Arial" pitchFamily="34" charset="0"/>
        <a:buChar char="•"/>
        <a:defRPr sz="2600" b="0" kern="1200">
          <a:solidFill>
            <a:schemeClr val="tx1">
              <a:lumMod val="75000"/>
              <a:lumOff val="25000"/>
            </a:schemeClr>
          </a:solidFill>
          <a:latin typeface="+mn-lt"/>
          <a:ea typeface="+mn-ea"/>
          <a:cs typeface="DengXian" charset="0"/>
        </a:defRPr>
      </a:lvl1pPr>
      <a:lvl2pPr marL="742950" indent="-285750" algn="l" defTabSz="914400" rtl="0" eaLnBrk="1" latinLnBrk="0" hangingPunct="1">
        <a:lnSpc>
          <a:spcPct val="120000"/>
        </a:lnSpc>
        <a:spcBef>
          <a:spcPct val="20000"/>
        </a:spcBef>
        <a:buFont typeface="Arial" pitchFamily="34" charset="0"/>
        <a:buChar char="–"/>
        <a:defRPr sz="2400" kern="1200">
          <a:solidFill>
            <a:schemeClr val="tx1">
              <a:lumMod val="75000"/>
              <a:lumOff val="25000"/>
            </a:schemeClr>
          </a:solidFill>
          <a:latin typeface="+mn-lt"/>
          <a:ea typeface="+mn-ea"/>
          <a:cs typeface="DengXian" charset="0"/>
        </a:defRPr>
      </a:lvl2pPr>
      <a:lvl3pPr marL="1143000" indent="-228600" algn="l" defTabSz="914400" rtl="0" eaLnBrk="1" latinLnBrk="0" hangingPunct="1">
        <a:lnSpc>
          <a:spcPct val="120000"/>
        </a:lnSpc>
        <a:spcBef>
          <a:spcPct val="20000"/>
        </a:spcBef>
        <a:buFont typeface="Arial" pitchFamily="34" charset="0"/>
        <a:buChar char="•"/>
        <a:defRPr sz="2000" kern="1200">
          <a:solidFill>
            <a:schemeClr val="tx1">
              <a:lumMod val="75000"/>
              <a:lumOff val="25000"/>
            </a:schemeClr>
          </a:solidFill>
          <a:latin typeface="+mn-lt"/>
          <a:ea typeface="+mn-ea"/>
          <a:cs typeface="DengXian" charset="0"/>
        </a:defRPr>
      </a:lvl3pPr>
      <a:lvl4pPr marL="16002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4pPr>
      <a:lvl5pPr marL="20574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image" Target="../media/image4.emf"/><Relationship Id="rId7" Type="http://schemas.openxmlformats.org/officeDocument/2006/relationships/image" Target="../media/image8.emf"/><Relationship Id="rId2" Type="http://schemas.openxmlformats.org/officeDocument/2006/relationships/image" Target="../media/image3.emf"/><Relationship Id="rId1" Type="http://schemas.openxmlformats.org/officeDocument/2006/relationships/slideLayout" Target="../slideLayouts/slideLayout2.xml"/><Relationship Id="rId6" Type="http://schemas.openxmlformats.org/officeDocument/2006/relationships/image" Target="../media/image7.emf"/><Relationship Id="rId5" Type="http://schemas.openxmlformats.org/officeDocument/2006/relationships/image" Target="../media/image6.emf"/><Relationship Id="rId4" Type="http://schemas.openxmlformats.org/officeDocument/2006/relationships/image" Target="../media/image5.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7C6228-E47F-EA4B-8DD8-28647C76DDD6}"/>
              </a:ext>
            </a:extLst>
          </p:cNvPr>
          <p:cNvSpPr>
            <a:spLocks noGrp="1"/>
          </p:cNvSpPr>
          <p:nvPr>
            <p:ph type="ctrTitle"/>
          </p:nvPr>
        </p:nvSpPr>
        <p:spPr>
          <a:xfrm>
            <a:off x="685800" y="1720996"/>
            <a:ext cx="7772400" cy="1225021"/>
          </a:xfrm>
        </p:spPr>
        <p:txBody>
          <a:bodyPr>
            <a:normAutofit/>
          </a:bodyPr>
          <a:lstStyle/>
          <a:p>
            <a:pPr algn="ctr">
              <a:lnSpc>
                <a:spcPct val="110000"/>
              </a:lnSpc>
            </a:pPr>
            <a:r>
              <a:rPr kumimoji="1" lang="zh-CN" altLang="en-US" sz="4800" dirty="0"/>
              <a:t>系统虚拟化</a:t>
            </a:r>
          </a:p>
        </p:txBody>
      </p:sp>
      <p:sp>
        <p:nvSpPr>
          <p:cNvPr id="6" name="副标题 5">
            <a:extLst>
              <a:ext uri="{FF2B5EF4-FFF2-40B4-BE49-F238E27FC236}">
                <a16:creationId xmlns:a16="http://schemas.microsoft.com/office/drawing/2014/main" id="{A89EB2B2-D46F-2643-A072-954E7921BC30}"/>
              </a:ext>
            </a:extLst>
          </p:cNvPr>
          <p:cNvSpPr>
            <a:spLocks noGrp="1"/>
          </p:cNvSpPr>
          <p:nvPr>
            <p:ph type="subTitle" idx="1"/>
          </p:nvPr>
        </p:nvSpPr>
        <p:spPr>
          <a:xfrm>
            <a:off x="685800" y="3412362"/>
            <a:ext cx="7772400" cy="1225020"/>
          </a:xfrm>
        </p:spPr>
        <p:txBody>
          <a:bodyPr>
            <a:noAutofit/>
          </a:bodyPr>
          <a:lstStyle/>
          <a:p>
            <a:pPr>
              <a:lnSpc>
                <a:spcPct val="150000"/>
              </a:lnSpc>
              <a:spcBef>
                <a:spcPts val="0"/>
              </a:spcBef>
            </a:pPr>
            <a:r>
              <a:rPr kumimoji="1" lang="zh-CN" altLang="en-US" sz="1800" dirty="0">
                <a:solidFill>
                  <a:schemeClr val="tx1">
                    <a:lumMod val="75000"/>
                    <a:lumOff val="25000"/>
                  </a:schemeClr>
                </a:solidFill>
              </a:rPr>
              <a:t>上海交通大学并行与分布式系统研究所</a:t>
            </a:r>
            <a:endParaRPr kumimoji="1" lang="en-US" altLang="zh-CN" sz="1800" dirty="0">
              <a:solidFill>
                <a:schemeClr val="tx1">
                  <a:lumMod val="75000"/>
                  <a:lumOff val="25000"/>
                </a:schemeClr>
              </a:solidFill>
            </a:endParaRPr>
          </a:p>
          <a:p>
            <a:pPr>
              <a:lnSpc>
                <a:spcPct val="150000"/>
              </a:lnSpc>
              <a:spcBef>
                <a:spcPts val="0"/>
              </a:spcBef>
            </a:pPr>
            <a:r>
              <a:rPr kumimoji="1" lang="en-US" altLang="zh-CN" sz="1800" dirty="0">
                <a:solidFill>
                  <a:schemeClr val="tx1">
                    <a:lumMod val="50000"/>
                    <a:lumOff val="50000"/>
                  </a:schemeClr>
                </a:solidFill>
              </a:rPr>
              <a:t>https://</a:t>
            </a:r>
            <a:r>
              <a:rPr kumimoji="1" lang="en-US" altLang="zh-CN" sz="1800" dirty="0" err="1">
                <a:solidFill>
                  <a:schemeClr val="tx1">
                    <a:lumMod val="50000"/>
                    <a:lumOff val="50000"/>
                  </a:schemeClr>
                </a:solidFill>
              </a:rPr>
              <a:t>ipads.se.sjtu.edu.cn</a:t>
            </a:r>
            <a:endParaRPr kumimoji="1" lang="en" altLang="zh-CN" sz="1800" dirty="0">
              <a:solidFill>
                <a:schemeClr val="tx1">
                  <a:lumMod val="50000"/>
                  <a:lumOff val="50000"/>
                </a:schemeClr>
              </a:solidFill>
            </a:endParaRPr>
          </a:p>
        </p:txBody>
      </p:sp>
      <p:pic>
        <p:nvPicPr>
          <p:cNvPr id="9" name="图片 8">
            <a:extLst>
              <a:ext uri="{FF2B5EF4-FFF2-40B4-BE49-F238E27FC236}">
                <a16:creationId xmlns:a16="http://schemas.microsoft.com/office/drawing/2014/main" id="{23A70DCB-3E4D-4449-82B8-441C200ABD69}"/>
              </a:ext>
            </a:extLst>
          </p:cNvPr>
          <p:cNvPicPr>
            <a:picLocks noChangeAspect="1"/>
          </p:cNvPicPr>
          <p:nvPr/>
        </p:nvPicPr>
        <p:blipFill>
          <a:blip r:embed="rId3">
            <a:duotone>
              <a:schemeClr val="accent1">
                <a:shade val="45000"/>
                <a:satMod val="135000"/>
              </a:schemeClr>
              <a:prstClr val="white"/>
            </a:duotone>
          </a:blip>
          <a:stretch>
            <a:fillRect/>
          </a:stretch>
        </p:blipFill>
        <p:spPr>
          <a:xfrm>
            <a:off x="5652120" y="252561"/>
            <a:ext cx="1362088" cy="492009"/>
          </a:xfrm>
          <a:prstGeom prst="rect">
            <a:avLst/>
          </a:prstGeom>
        </p:spPr>
      </p:pic>
      <p:sp>
        <p:nvSpPr>
          <p:cNvPr id="7" name="副标题 2">
            <a:extLst>
              <a:ext uri="{FF2B5EF4-FFF2-40B4-BE49-F238E27FC236}">
                <a16:creationId xmlns:a16="http://schemas.microsoft.com/office/drawing/2014/main" id="{E2120B98-7095-B94B-B13B-75606426BFB4}"/>
              </a:ext>
            </a:extLst>
          </p:cNvPr>
          <p:cNvSpPr txBox="1">
            <a:spLocks/>
          </p:cNvSpPr>
          <p:nvPr/>
        </p:nvSpPr>
        <p:spPr>
          <a:xfrm>
            <a:off x="467544" y="252559"/>
            <a:ext cx="3240360" cy="504056"/>
          </a:xfrm>
          <a:prstGeom prst="rect">
            <a:avLst/>
          </a:prstGeom>
        </p:spPr>
        <p:txBody>
          <a:bodyPr vert="horz" lIns="91440" tIns="45720" rIns="91440" bIns="45720" rtlCol="0">
            <a:normAutofit/>
          </a:bodyPr>
          <a:lstStyle>
            <a:lvl1pPr marL="0" indent="0" algn="ctr" defTabSz="914400" rtl="0" eaLnBrk="1" latinLnBrk="0" hangingPunct="1">
              <a:lnSpc>
                <a:spcPct val="120000"/>
              </a:lnSpc>
              <a:spcBef>
                <a:spcPts val="1200"/>
              </a:spcBef>
              <a:buFont typeface="Arial" pitchFamily="34" charset="0"/>
              <a:buNone/>
              <a:defRPr sz="2600" b="0" kern="1200">
                <a:solidFill>
                  <a:schemeClr val="tx1">
                    <a:tint val="75000"/>
                  </a:schemeClr>
                </a:solidFill>
                <a:latin typeface="+mn-ea"/>
                <a:ea typeface="+mn-ea"/>
                <a:cs typeface="DengXian" charset="0"/>
              </a:defRPr>
            </a:lvl1pPr>
            <a:lvl2pPr marL="457200" indent="0" algn="ctr" defTabSz="914400" rtl="0" eaLnBrk="1" latinLnBrk="0" hangingPunct="1">
              <a:lnSpc>
                <a:spcPct val="120000"/>
              </a:lnSpc>
              <a:spcBef>
                <a:spcPct val="20000"/>
              </a:spcBef>
              <a:buFont typeface="Arial" pitchFamily="34" charset="0"/>
              <a:buNone/>
              <a:defRPr sz="2400" kern="1200">
                <a:solidFill>
                  <a:schemeClr val="tx1">
                    <a:tint val="75000"/>
                  </a:schemeClr>
                </a:solidFill>
                <a:latin typeface="+mn-ea"/>
                <a:ea typeface="+mn-ea"/>
                <a:cs typeface="DengXian" charset="0"/>
              </a:defRPr>
            </a:lvl2pPr>
            <a:lvl3pPr marL="914400" indent="0" algn="ctr" defTabSz="914400" rtl="0" eaLnBrk="1" latinLnBrk="0" hangingPunct="1">
              <a:lnSpc>
                <a:spcPct val="120000"/>
              </a:lnSpc>
              <a:spcBef>
                <a:spcPct val="20000"/>
              </a:spcBef>
              <a:buFont typeface="Arial" pitchFamily="34" charset="0"/>
              <a:buNone/>
              <a:defRPr sz="2000" kern="1200">
                <a:solidFill>
                  <a:schemeClr val="tx1">
                    <a:tint val="75000"/>
                  </a:schemeClr>
                </a:solidFill>
                <a:latin typeface="+mn-ea"/>
                <a:ea typeface="+mn-ea"/>
                <a:cs typeface="DengXian" charset="0"/>
              </a:defRPr>
            </a:lvl3pPr>
            <a:lvl4pPr marL="13716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ea"/>
                <a:ea typeface="+mn-ea"/>
                <a:cs typeface="DengXian" charset="0"/>
              </a:defRPr>
            </a:lvl4pPr>
            <a:lvl5pPr marL="18288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ea"/>
                <a:ea typeface="+mn-ea"/>
                <a:cs typeface="DengXian"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defRPr/>
            </a:pPr>
            <a:r>
              <a:rPr lang="en-US" altLang="zh-CN" sz="1400" dirty="0">
                <a:solidFill>
                  <a:srgbClr val="000000">
                    <a:lumMod val="75000"/>
                    <a:lumOff val="25000"/>
                  </a:srgbClr>
                </a:solidFill>
                <a:latin typeface="Arial" panose="020B0604020202020204"/>
              </a:rPr>
              <a:t>SE3357-1</a:t>
            </a:r>
            <a:r>
              <a:rPr lang="zh-CN" altLang="en-US" sz="1400" dirty="0">
                <a:solidFill>
                  <a:srgbClr val="000000">
                    <a:lumMod val="75000"/>
                    <a:lumOff val="25000"/>
                  </a:srgbClr>
                </a:solidFill>
                <a:latin typeface="Arial" panose="020B0604020202020204"/>
              </a:rPr>
              <a:t> </a:t>
            </a:r>
            <a:r>
              <a:rPr lang="en-US" altLang="zh-CN" sz="1400" dirty="0">
                <a:solidFill>
                  <a:srgbClr val="000000">
                    <a:lumMod val="75000"/>
                    <a:lumOff val="25000"/>
                  </a:srgbClr>
                </a:solidFill>
                <a:latin typeface="Arial" panose="020B0604020202020204"/>
              </a:rPr>
              <a:t>·</a:t>
            </a:r>
            <a:r>
              <a:rPr lang="zh-CN" altLang="en-US" sz="1400" dirty="0">
                <a:solidFill>
                  <a:srgbClr val="000000">
                    <a:lumMod val="75000"/>
                    <a:lumOff val="25000"/>
                  </a:srgbClr>
                </a:solidFill>
                <a:latin typeface="Arial" panose="020B0604020202020204"/>
              </a:rPr>
              <a:t> 操作系统（</a:t>
            </a:r>
            <a:r>
              <a:rPr lang="en-US" altLang="zh-CN" sz="1400" dirty="0">
                <a:solidFill>
                  <a:srgbClr val="000000">
                    <a:lumMod val="75000"/>
                    <a:lumOff val="25000"/>
                  </a:srgbClr>
                </a:solidFill>
                <a:latin typeface="Arial" panose="020B0604020202020204"/>
              </a:rPr>
              <a:t>2022</a:t>
            </a:r>
            <a:r>
              <a:rPr lang="zh-CN" altLang="en-US" sz="1400" dirty="0">
                <a:solidFill>
                  <a:srgbClr val="000000">
                    <a:lumMod val="75000"/>
                    <a:lumOff val="25000"/>
                  </a:srgbClr>
                </a:solidFill>
                <a:latin typeface="Arial" panose="020B0604020202020204"/>
              </a:rPr>
              <a:t>春）</a:t>
            </a:r>
          </a:p>
        </p:txBody>
      </p:sp>
      <p:pic>
        <p:nvPicPr>
          <p:cNvPr id="8" name="Picture 6" descr="http://korean.onlinesjtu.com/%E6%A0%A1%E5%BE%BD%E7%B3%BB%E5%88%97/%E7%BC%A9%E5%B0%8F%E7%89%88/%E8%93%9D%E8%89%B2%E7%B3%BB%20%E5%B0%8F%E5%B0%BA%E5%AF%B8%E6%A0%A1%E5%BE%BD%E5%B1%95%E5%BC%80%E5%BC%8F%20(10mm%E4%BB%A5%E4%B8%8B%E4%BD%BF%E7%94%A8)%20%5b%E8%BD%AC%E6%8D%A2%5d.png">
            <a:extLst>
              <a:ext uri="{FF2B5EF4-FFF2-40B4-BE49-F238E27FC236}">
                <a16:creationId xmlns:a16="http://schemas.microsoft.com/office/drawing/2014/main" id="{9D0C1772-9C9E-534B-9410-16BA28CA6EB4}"/>
              </a:ext>
            </a:extLst>
          </p:cNvPr>
          <p:cNvPicPr>
            <a:picLocks noChangeAspect="1" noChangeArrowheads="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164288" y="282539"/>
            <a:ext cx="1642840" cy="432048"/>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1808067628"/>
      </p:ext>
    </p:extLst>
  </p:cSld>
  <p:clrMapOvr>
    <a:masterClrMapping/>
  </p:clrMapOvr>
  <mc:AlternateContent xmlns:mc="http://schemas.openxmlformats.org/markup-compatibility/2006" xmlns:p14="http://schemas.microsoft.com/office/powerpoint/2010/main">
    <mc:Choice Requires="p14">
      <p:transition spd="slow" p14:dur="2000" advTm="11626"/>
    </mc:Choice>
    <mc:Fallback xmlns="">
      <p:transition spd="slow" advTm="1162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BE39C2-86D1-9B45-B569-48F1570E518D}"/>
              </a:ext>
            </a:extLst>
          </p:cNvPr>
          <p:cNvSpPr>
            <a:spLocks noGrp="1"/>
          </p:cNvSpPr>
          <p:nvPr>
            <p:ph type="title"/>
          </p:nvPr>
        </p:nvSpPr>
        <p:spPr/>
        <p:txBody>
          <a:bodyPr/>
          <a:lstStyle/>
          <a:p>
            <a:r>
              <a:rPr kumimoji="1" lang="zh-CN" altLang="en-US">
                <a:latin typeface="+mn-lt"/>
              </a:rPr>
              <a:t>版权声明</a:t>
            </a:r>
            <a:endParaRPr kumimoji="1" lang="zh-CN" altLang="en-US" dirty="0">
              <a:latin typeface="+mn-lt"/>
            </a:endParaRPr>
          </a:p>
        </p:txBody>
      </p:sp>
      <p:sp>
        <p:nvSpPr>
          <p:cNvPr id="3" name="内容占位符 2">
            <a:extLst>
              <a:ext uri="{FF2B5EF4-FFF2-40B4-BE49-F238E27FC236}">
                <a16:creationId xmlns:a16="http://schemas.microsoft.com/office/drawing/2014/main" id="{695B3383-B219-984C-8D0C-BCF076655903}"/>
              </a:ext>
            </a:extLst>
          </p:cNvPr>
          <p:cNvSpPr>
            <a:spLocks noGrp="1"/>
          </p:cNvSpPr>
          <p:nvPr>
            <p:ph idx="1"/>
          </p:nvPr>
        </p:nvSpPr>
        <p:spPr/>
        <p:txBody>
          <a:bodyPr>
            <a:noAutofit/>
          </a:bodyPr>
          <a:lstStyle/>
          <a:p>
            <a:r>
              <a:rPr lang="zh-CN" altLang="en-US" sz="2000" b="0">
                <a:latin typeface="+mn-lt"/>
              </a:rPr>
              <a:t>本内容版权归</a:t>
            </a:r>
            <a:r>
              <a:rPr lang="zh-CN" altLang="en-US" sz="2000">
                <a:latin typeface="+mn-lt"/>
              </a:rPr>
              <a:t>上海交通大学并行与分布式系统研究所</a:t>
            </a:r>
            <a:r>
              <a:rPr lang="zh-CN" altLang="en-US" sz="2000" b="0">
                <a:latin typeface="+mn-lt"/>
              </a:rPr>
              <a:t>所有</a:t>
            </a:r>
            <a:endParaRPr lang="en-US" altLang="zh-CN" sz="2000" b="0">
              <a:latin typeface="+mn-lt"/>
            </a:endParaRPr>
          </a:p>
          <a:p>
            <a:r>
              <a:rPr lang="zh-CN" altLang="en-US" sz="2000" b="0">
                <a:latin typeface="+mn-lt"/>
              </a:rPr>
              <a:t>使用者可以将全部或部分本内容免费用于非商业用途</a:t>
            </a:r>
            <a:endParaRPr lang="en-US" altLang="zh-CN" sz="2000" b="0">
              <a:latin typeface="+mn-lt"/>
            </a:endParaRPr>
          </a:p>
          <a:p>
            <a:r>
              <a:rPr lang="zh-CN" altLang="en-US" sz="2000" b="0">
                <a:latin typeface="+mn-lt"/>
              </a:rPr>
              <a:t>使用者在使用全部或部分本内容时请注明来源：</a:t>
            </a:r>
            <a:endParaRPr lang="en-US" altLang="zh-CN" sz="2000" b="0">
              <a:latin typeface="+mn-lt"/>
            </a:endParaRPr>
          </a:p>
          <a:p>
            <a:pPr lvl="1"/>
            <a:r>
              <a:rPr lang="zh-CN" altLang="en-US" sz="1600"/>
              <a:t>内容来自：上海交通大学并行与分布式系统研究所</a:t>
            </a:r>
            <a:r>
              <a:rPr lang="en-US" altLang="zh-CN" sz="1600"/>
              <a:t>+</a:t>
            </a:r>
            <a:r>
              <a:rPr lang="zh-CN" altLang="en-US" sz="1600"/>
              <a:t>材料名字</a:t>
            </a:r>
            <a:endParaRPr lang="en-US" altLang="zh-CN" sz="1600"/>
          </a:p>
          <a:p>
            <a:r>
              <a:rPr lang="zh-CN" altLang="en-US" sz="2000" b="0">
                <a:latin typeface="+mn-lt"/>
              </a:rPr>
              <a:t>对于不遵守此声明或者其他违法使用本内容者，将依法保留追究权</a:t>
            </a:r>
            <a:endParaRPr lang="en-US" altLang="zh-CN" sz="2000" b="0">
              <a:latin typeface="+mn-lt"/>
            </a:endParaRPr>
          </a:p>
          <a:p>
            <a:r>
              <a:rPr lang="zh-CN" altLang="en-US" sz="2000" b="0">
                <a:latin typeface="+mn-lt"/>
              </a:rPr>
              <a:t>本内容的发布采用 </a:t>
            </a:r>
            <a:r>
              <a:rPr lang="en-US" altLang="zh-CN" sz="2000" b="0">
                <a:latin typeface="+mn-lt"/>
              </a:rPr>
              <a:t>Creative Commons</a:t>
            </a:r>
            <a:r>
              <a:rPr lang="zh-CN" altLang="en-US" sz="2000" b="0">
                <a:latin typeface="+mn-lt"/>
              </a:rPr>
              <a:t> </a:t>
            </a:r>
            <a:r>
              <a:rPr lang="en-US" altLang="zh-CN" sz="2000" b="0">
                <a:latin typeface="+mn-lt"/>
              </a:rPr>
              <a:t>Attribution</a:t>
            </a:r>
            <a:r>
              <a:rPr lang="zh-CN" altLang="en-US" sz="2000" b="0">
                <a:latin typeface="+mn-lt"/>
              </a:rPr>
              <a:t> </a:t>
            </a:r>
            <a:r>
              <a:rPr lang="en-US" altLang="zh-CN" sz="2000" b="0">
                <a:latin typeface="+mn-lt"/>
              </a:rPr>
              <a:t>4.0</a:t>
            </a:r>
            <a:r>
              <a:rPr lang="zh-CN" altLang="en-US" sz="2000" b="0">
                <a:latin typeface="+mn-lt"/>
              </a:rPr>
              <a:t> </a:t>
            </a:r>
            <a:r>
              <a:rPr lang="en-US" altLang="zh-CN" sz="2000" b="0">
                <a:latin typeface="+mn-lt"/>
              </a:rPr>
              <a:t>License</a:t>
            </a:r>
            <a:endParaRPr lang="en-US" altLang="zh-CN" sz="2400" b="0">
              <a:latin typeface="+mn-lt"/>
            </a:endParaRPr>
          </a:p>
          <a:p>
            <a:pPr lvl="1"/>
            <a:r>
              <a:rPr lang="zh-CN" altLang="en-US" sz="1600">
                <a:latin typeface="+mn-lt"/>
              </a:rPr>
              <a:t>完整文本：</a:t>
            </a:r>
            <a:r>
              <a:rPr lang="en-US" altLang="zh-CN" sz="1600">
                <a:latin typeface="+mn-lt"/>
                <a:hlinkClick r:id="rId2"/>
              </a:rPr>
              <a:t>https://creativecommons.org/licenses/by/4.0/legalcode</a:t>
            </a:r>
            <a:endParaRPr lang="en-US" altLang="zh-CN" sz="1800" b="0">
              <a:latin typeface="+mn-lt"/>
            </a:endParaRPr>
          </a:p>
          <a:p>
            <a:endParaRPr kumimoji="1" lang="zh-CN" altLang="en-US" sz="2000" dirty="0">
              <a:latin typeface="+mn-lt"/>
            </a:endParaRPr>
          </a:p>
        </p:txBody>
      </p:sp>
      <p:sp>
        <p:nvSpPr>
          <p:cNvPr id="5" name="页脚占位符 4">
            <a:extLst>
              <a:ext uri="{FF2B5EF4-FFF2-40B4-BE49-F238E27FC236}">
                <a16:creationId xmlns:a16="http://schemas.microsoft.com/office/drawing/2014/main" id="{03E75993-6B82-2A4E-883D-B9872C501656}"/>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4" name="Slide Number Placeholder 3">
            <a:extLst>
              <a:ext uri="{FF2B5EF4-FFF2-40B4-BE49-F238E27FC236}">
                <a16:creationId xmlns:a16="http://schemas.microsoft.com/office/drawing/2014/main" id="{B974DB58-9478-0845-B9D0-F1002C2E008B}"/>
              </a:ext>
            </a:extLst>
          </p:cNvPr>
          <p:cNvSpPr>
            <a:spLocks noGrp="1"/>
          </p:cNvSpPr>
          <p:nvPr>
            <p:ph type="sldNum" sz="quarter" idx="12"/>
          </p:nvPr>
        </p:nvSpPr>
        <p:spPr/>
        <p:txBody>
          <a:bodyPr/>
          <a:lstStyle/>
          <a:p>
            <a:fld id="{ADE361C3-C043-4A6E-BDCE-8DA1E7D90A3B}" type="slidenum">
              <a:rPr lang="zh-CN" altLang="en-US" smtClean="0"/>
              <a:t>2</a:t>
            </a:fld>
            <a:endParaRPr lang="zh-CN" altLang="en-US"/>
          </a:p>
        </p:txBody>
      </p:sp>
    </p:spTree>
    <p:extLst>
      <p:ext uri="{BB962C8B-B14F-4D97-AF65-F5344CB8AC3E}">
        <p14:creationId xmlns:p14="http://schemas.microsoft.com/office/powerpoint/2010/main" val="1615226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D6F6BA-3737-294D-B22C-6E67F8069804}"/>
              </a:ext>
            </a:extLst>
          </p:cNvPr>
          <p:cNvSpPr>
            <a:spLocks noGrp="1"/>
          </p:cNvSpPr>
          <p:nvPr>
            <p:ph type="title"/>
          </p:nvPr>
        </p:nvSpPr>
        <p:spPr/>
        <p:txBody>
          <a:bodyPr/>
          <a:lstStyle/>
          <a:p>
            <a:r>
              <a:rPr kumimoji="1" lang="zh-CN" altLang="en-US" dirty="0"/>
              <a:t>计算设备集中与分散的变化</a:t>
            </a:r>
          </a:p>
        </p:txBody>
      </p:sp>
      <p:sp>
        <p:nvSpPr>
          <p:cNvPr id="3" name="内容占位符 2">
            <a:extLst>
              <a:ext uri="{FF2B5EF4-FFF2-40B4-BE49-F238E27FC236}">
                <a16:creationId xmlns:a16="http://schemas.microsoft.com/office/drawing/2014/main" id="{CD442890-3350-1145-BAD8-2BB385960FF5}"/>
              </a:ext>
            </a:extLst>
          </p:cNvPr>
          <p:cNvSpPr>
            <a:spLocks noGrp="1"/>
          </p:cNvSpPr>
          <p:nvPr>
            <p:ph idx="1"/>
          </p:nvPr>
        </p:nvSpPr>
        <p:spPr/>
        <p:txBody>
          <a:bodyPr>
            <a:normAutofit/>
          </a:bodyPr>
          <a:lstStyle/>
          <a:p>
            <a:r>
              <a:rPr kumimoji="1" lang="zh-CN" altLang="en-US" sz="2000" dirty="0"/>
              <a:t>大型机时代</a:t>
            </a:r>
            <a:endParaRPr kumimoji="1" lang="en-US" altLang="zh-CN" sz="2000" dirty="0"/>
          </a:p>
          <a:p>
            <a:pPr lvl="1"/>
            <a:r>
              <a:rPr kumimoji="1" lang="zh-CN" altLang="en-US" sz="1800" dirty="0"/>
              <a:t>集中式计算资源，所有用户通过网络连接大型机，共享计算资源</a:t>
            </a:r>
            <a:endParaRPr kumimoji="1" lang="en-US" altLang="zh-CN" sz="1800" dirty="0"/>
          </a:p>
          <a:p>
            <a:pPr lvl="1"/>
            <a:r>
              <a:rPr kumimoji="1" lang="en-US" altLang="zh-CN" sz="1800" dirty="0"/>
              <a:t>20</a:t>
            </a:r>
            <a:r>
              <a:rPr kumimoji="1" lang="zh-CN" altLang="en-US" sz="1800" dirty="0"/>
              <a:t>世纪</a:t>
            </a:r>
            <a:r>
              <a:rPr kumimoji="1" lang="en-US" altLang="zh-CN" sz="1800" dirty="0"/>
              <a:t>70</a:t>
            </a:r>
            <a:r>
              <a:rPr kumimoji="1" lang="zh-CN" altLang="en-US" sz="1800" dirty="0"/>
              <a:t>年代，虚拟化技术已经兴起 </a:t>
            </a:r>
            <a:r>
              <a:rPr kumimoji="1" lang="en-US" altLang="zh-CN" sz="1800" dirty="0"/>
              <a:t>(!)</a:t>
            </a:r>
          </a:p>
          <a:p>
            <a:r>
              <a:rPr kumimoji="1" lang="en-US" altLang="zh-CN" sz="2000" dirty="0"/>
              <a:t>PC</a:t>
            </a:r>
            <a:r>
              <a:rPr kumimoji="1" lang="zh-CN" altLang="en-US" sz="2000" dirty="0"/>
              <a:t>时代</a:t>
            </a:r>
            <a:endParaRPr kumimoji="1" lang="en-US" altLang="zh-CN" sz="2000" dirty="0"/>
          </a:p>
          <a:p>
            <a:pPr lvl="1"/>
            <a:r>
              <a:rPr kumimoji="1" lang="zh-CN" altLang="en-US" sz="1800" dirty="0"/>
              <a:t>分布式计算资源，每个</a:t>
            </a:r>
            <a:r>
              <a:rPr kumimoji="1" lang="en-US" altLang="zh-CN" sz="1800" dirty="0"/>
              <a:t>PC</a:t>
            </a:r>
            <a:r>
              <a:rPr kumimoji="1" lang="zh-CN" altLang="en-US" sz="1800" dirty="0"/>
              <a:t>用户独占计算资源</a:t>
            </a:r>
            <a:endParaRPr kumimoji="1" lang="en-US" altLang="zh-CN" sz="1800" dirty="0"/>
          </a:p>
          <a:p>
            <a:pPr lvl="1"/>
            <a:r>
              <a:rPr kumimoji="1" lang="en-US" altLang="zh-CN" sz="1800" dirty="0"/>
              <a:t>20</a:t>
            </a:r>
            <a:r>
              <a:rPr kumimoji="1" lang="zh-CN" altLang="en-US" sz="1800" dirty="0"/>
              <a:t>世纪</a:t>
            </a:r>
            <a:r>
              <a:rPr kumimoji="1" lang="en-US" altLang="zh-CN" sz="1800" dirty="0"/>
              <a:t>90</a:t>
            </a:r>
            <a:r>
              <a:rPr kumimoji="1" lang="zh-CN" altLang="en-US" sz="1800" dirty="0"/>
              <a:t>年代，虚拟化技术沉寂</a:t>
            </a:r>
            <a:endParaRPr kumimoji="1" lang="en-US" altLang="zh-CN" sz="1800" dirty="0"/>
          </a:p>
          <a:p>
            <a:r>
              <a:rPr kumimoji="1" lang="zh-CN" altLang="en-US" sz="2000" dirty="0"/>
              <a:t>云时代</a:t>
            </a:r>
            <a:endParaRPr kumimoji="1" lang="en-US" altLang="zh-CN" sz="2000" dirty="0"/>
          </a:p>
          <a:p>
            <a:pPr lvl="1"/>
            <a:r>
              <a:rPr kumimoji="1" lang="zh-CN" altLang="en-US" sz="1800" dirty="0"/>
              <a:t>集中式计算资源，所有人通过网络连接，共享计算资源</a:t>
            </a:r>
            <a:endParaRPr kumimoji="1" lang="en-US" altLang="zh-CN" sz="1800" dirty="0"/>
          </a:p>
          <a:p>
            <a:pPr lvl="1"/>
            <a:r>
              <a:rPr kumimoji="1" lang="en-US" altLang="zh-CN" sz="1800" dirty="0"/>
              <a:t>21</a:t>
            </a:r>
            <a:r>
              <a:rPr kumimoji="1" lang="zh-CN" altLang="en-US" sz="1800" dirty="0"/>
              <a:t>世纪，虚拟化技术再次兴起 </a:t>
            </a:r>
          </a:p>
        </p:txBody>
      </p:sp>
      <p:sp>
        <p:nvSpPr>
          <p:cNvPr id="4" name="灯片编号占位符 3">
            <a:extLst>
              <a:ext uri="{FF2B5EF4-FFF2-40B4-BE49-F238E27FC236}">
                <a16:creationId xmlns:a16="http://schemas.microsoft.com/office/drawing/2014/main" id="{530C642C-822F-6F49-9542-09B208C21875}"/>
              </a:ext>
            </a:extLst>
          </p:cNvPr>
          <p:cNvSpPr>
            <a:spLocks noGrp="1"/>
          </p:cNvSpPr>
          <p:nvPr>
            <p:ph type="sldNum" sz="quarter" idx="12"/>
          </p:nvPr>
        </p:nvSpPr>
        <p:spPr/>
        <p:txBody>
          <a:bodyPr/>
          <a:lstStyle/>
          <a:p>
            <a:fld id="{ADE361C3-C043-4A6E-BDCE-8DA1E7D90A3B}" type="slidenum">
              <a:rPr lang="zh-CN" altLang="en-US" smtClean="0"/>
              <a:t>3</a:t>
            </a:fld>
            <a:endParaRPr lang="zh-CN" altLang="en-US"/>
          </a:p>
        </p:txBody>
      </p:sp>
      <p:sp>
        <p:nvSpPr>
          <p:cNvPr id="5" name="页脚占位符 4">
            <a:extLst>
              <a:ext uri="{FF2B5EF4-FFF2-40B4-BE49-F238E27FC236}">
                <a16:creationId xmlns:a16="http://schemas.microsoft.com/office/drawing/2014/main" id="{D07A1431-9493-3647-A535-633A5ABD0203}"/>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119329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6FC091-3F3C-FE4F-8D08-F4B6A671BA3E}"/>
              </a:ext>
            </a:extLst>
          </p:cNvPr>
          <p:cNvSpPr>
            <a:spLocks noGrp="1"/>
          </p:cNvSpPr>
          <p:nvPr>
            <p:ph type="title"/>
          </p:nvPr>
        </p:nvSpPr>
        <p:spPr/>
        <p:txBody>
          <a:bodyPr/>
          <a:lstStyle/>
          <a:p>
            <a:r>
              <a:rPr kumimoji="1" lang="zh-CN" altLang="en-US" dirty="0"/>
              <a:t>现代公司的</a:t>
            </a:r>
            <a:r>
              <a:rPr kumimoji="1" lang="en-US" altLang="zh-CN" dirty="0"/>
              <a:t>IT</a:t>
            </a:r>
            <a:r>
              <a:rPr kumimoji="1" lang="zh-CN" altLang="en-US" dirty="0"/>
              <a:t>部署方式：云</a:t>
            </a:r>
          </a:p>
        </p:txBody>
      </p:sp>
      <p:sp>
        <p:nvSpPr>
          <p:cNvPr id="3" name="内容占位符 2">
            <a:extLst>
              <a:ext uri="{FF2B5EF4-FFF2-40B4-BE49-F238E27FC236}">
                <a16:creationId xmlns:a16="http://schemas.microsoft.com/office/drawing/2014/main" id="{7453E374-3002-324A-B809-DD5CD3DA2330}"/>
              </a:ext>
            </a:extLst>
          </p:cNvPr>
          <p:cNvSpPr>
            <a:spLocks noGrp="1"/>
          </p:cNvSpPr>
          <p:nvPr>
            <p:ph idx="1"/>
          </p:nvPr>
        </p:nvSpPr>
        <p:spPr/>
        <p:txBody>
          <a:bodyPr/>
          <a:lstStyle/>
          <a:p>
            <a:r>
              <a:rPr kumimoji="1" lang="zh-CN" altLang="en-US" dirty="0"/>
              <a:t>云服务器代替物理服务器</a:t>
            </a:r>
            <a:endParaRPr kumimoji="1" lang="en-US" altLang="zh-CN" dirty="0"/>
          </a:p>
          <a:p>
            <a:pPr lvl="1"/>
            <a:r>
              <a:rPr kumimoji="1" lang="zh-CN" altLang="en-US" dirty="0"/>
              <a:t>云服务器配置与物理服务器一致</a:t>
            </a:r>
            <a:endParaRPr kumimoji="1" lang="en-US" altLang="zh-CN" dirty="0"/>
          </a:p>
          <a:p>
            <a:pPr lvl="1"/>
            <a:r>
              <a:rPr kumimoji="1" lang="zh-CN" altLang="en-US" dirty="0"/>
              <a:t>所有云服务器维护由服务商提供</a:t>
            </a:r>
            <a:endParaRPr kumimoji="1" lang="en-US" altLang="zh-CN" dirty="0"/>
          </a:p>
          <a:p>
            <a:endParaRPr kumimoji="1" lang="en-US" altLang="zh-CN" dirty="0"/>
          </a:p>
          <a:p>
            <a:endParaRPr kumimoji="1" lang="en-US" altLang="zh-CN" dirty="0"/>
          </a:p>
        </p:txBody>
      </p:sp>
      <p:sp>
        <p:nvSpPr>
          <p:cNvPr id="4" name="灯片编号占位符 3">
            <a:extLst>
              <a:ext uri="{FF2B5EF4-FFF2-40B4-BE49-F238E27FC236}">
                <a16:creationId xmlns:a16="http://schemas.microsoft.com/office/drawing/2014/main" id="{AC5D5EC5-2C2A-AA42-BD87-775A50FC9119}"/>
              </a:ext>
            </a:extLst>
          </p:cNvPr>
          <p:cNvSpPr>
            <a:spLocks noGrp="1"/>
          </p:cNvSpPr>
          <p:nvPr>
            <p:ph type="sldNum" sz="quarter" idx="12"/>
          </p:nvPr>
        </p:nvSpPr>
        <p:spPr/>
        <p:txBody>
          <a:bodyPr/>
          <a:lstStyle/>
          <a:p>
            <a:fld id="{ADE361C3-C043-4A6E-BDCE-8DA1E7D90A3B}" type="slidenum">
              <a:rPr lang="zh-CN" altLang="en-US" smtClean="0"/>
              <a:t>4</a:t>
            </a:fld>
            <a:endParaRPr lang="zh-CN" altLang="en-US"/>
          </a:p>
        </p:txBody>
      </p:sp>
      <p:sp>
        <p:nvSpPr>
          <p:cNvPr id="5" name="页脚占位符 4">
            <a:extLst>
              <a:ext uri="{FF2B5EF4-FFF2-40B4-BE49-F238E27FC236}">
                <a16:creationId xmlns:a16="http://schemas.microsoft.com/office/drawing/2014/main" id="{BB5AC57B-9316-644E-8111-178A3D0D8DE2}"/>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7" name="图片 6">
            <a:extLst>
              <a:ext uri="{FF2B5EF4-FFF2-40B4-BE49-F238E27FC236}">
                <a16:creationId xmlns:a16="http://schemas.microsoft.com/office/drawing/2014/main" id="{9608DF0B-2712-8C4C-A867-99A1F98C43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88579" y="1180792"/>
            <a:ext cx="1637674" cy="482260"/>
          </a:xfrm>
          <a:prstGeom prst="rect">
            <a:avLst/>
          </a:prstGeom>
        </p:spPr>
      </p:pic>
      <p:cxnSp>
        <p:nvCxnSpPr>
          <p:cNvPr id="12" name="Straight Arrow Connector 26">
            <a:extLst>
              <a:ext uri="{FF2B5EF4-FFF2-40B4-BE49-F238E27FC236}">
                <a16:creationId xmlns:a16="http://schemas.microsoft.com/office/drawing/2014/main" id="{6C379992-E18D-1041-9668-61AAA3DD3257}"/>
              </a:ext>
            </a:extLst>
          </p:cNvPr>
          <p:cNvCxnSpPr>
            <a:cxnSpLocks/>
          </p:cNvCxnSpPr>
          <p:nvPr/>
        </p:nvCxnSpPr>
        <p:spPr>
          <a:xfrm flipH="1">
            <a:off x="4733412" y="3906645"/>
            <a:ext cx="952807" cy="2"/>
          </a:xfrm>
          <a:prstGeom prst="straightConnector1">
            <a:avLst/>
          </a:prstGeom>
          <a:noFill/>
          <a:ln w="31750" cap="flat" cmpd="sng" algn="ctr">
            <a:solidFill>
              <a:sysClr val="windowText" lastClr="000000"/>
            </a:solidFill>
            <a:prstDash val="solid"/>
            <a:headEnd type="arrow" w="med" len="med"/>
            <a:tailEnd type="none" w="med" len="med"/>
          </a:ln>
          <a:effectLst/>
        </p:spPr>
      </p:cxnSp>
      <p:cxnSp>
        <p:nvCxnSpPr>
          <p:cNvPr id="13" name="Straight Arrow Connector 26">
            <a:extLst>
              <a:ext uri="{FF2B5EF4-FFF2-40B4-BE49-F238E27FC236}">
                <a16:creationId xmlns:a16="http://schemas.microsoft.com/office/drawing/2014/main" id="{67F57090-5EA3-1E44-9F63-3E379184426E}"/>
              </a:ext>
            </a:extLst>
          </p:cNvPr>
          <p:cNvCxnSpPr>
            <a:cxnSpLocks/>
          </p:cNvCxnSpPr>
          <p:nvPr/>
        </p:nvCxnSpPr>
        <p:spPr>
          <a:xfrm flipH="1">
            <a:off x="3062387" y="3906647"/>
            <a:ext cx="792237" cy="0"/>
          </a:xfrm>
          <a:prstGeom prst="straightConnector1">
            <a:avLst/>
          </a:prstGeom>
          <a:noFill/>
          <a:ln w="31750" cap="flat" cmpd="sng" algn="ctr">
            <a:solidFill>
              <a:sysClr val="windowText" lastClr="000000"/>
            </a:solidFill>
            <a:prstDash val="solid"/>
            <a:headEnd type="arrow" w="med" len="med"/>
            <a:tailEnd type="none" w="med" len="med"/>
          </a:ln>
          <a:effectLst/>
        </p:spPr>
      </p:cxnSp>
      <p:pic>
        <p:nvPicPr>
          <p:cNvPr id="19" name="图片 18">
            <a:extLst>
              <a:ext uri="{FF2B5EF4-FFF2-40B4-BE49-F238E27FC236}">
                <a16:creationId xmlns:a16="http://schemas.microsoft.com/office/drawing/2014/main" id="{159149F6-3BA3-7840-BC3A-78E6166EBE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82578" y="3556220"/>
            <a:ext cx="1522985" cy="1016156"/>
          </a:xfrm>
          <a:prstGeom prst="rect">
            <a:avLst/>
          </a:prstGeom>
        </p:spPr>
      </p:pic>
      <p:pic>
        <p:nvPicPr>
          <p:cNvPr id="20" name="图片 19">
            <a:extLst>
              <a:ext uri="{FF2B5EF4-FFF2-40B4-BE49-F238E27FC236}">
                <a16:creationId xmlns:a16="http://schemas.microsoft.com/office/drawing/2014/main" id="{B72F9156-7562-3642-BEC3-F91FF15385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58171" y="3906647"/>
            <a:ext cx="728166" cy="502148"/>
          </a:xfrm>
          <a:prstGeom prst="rect">
            <a:avLst/>
          </a:prstGeom>
        </p:spPr>
      </p:pic>
      <p:pic>
        <p:nvPicPr>
          <p:cNvPr id="22" name="图片 21">
            <a:extLst>
              <a:ext uri="{FF2B5EF4-FFF2-40B4-BE49-F238E27FC236}">
                <a16:creationId xmlns:a16="http://schemas.microsoft.com/office/drawing/2014/main" id="{79F36D82-F0EF-EB40-A1A6-9E47DA46DB3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44837" y="3576310"/>
            <a:ext cx="1220378" cy="950598"/>
          </a:xfrm>
          <a:prstGeom prst="rect">
            <a:avLst/>
          </a:prstGeom>
        </p:spPr>
      </p:pic>
      <p:pic>
        <p:nvPicPr>
          <p:cNvPr id="23" name="图片 22">
            <a:extLst>
              <a:ext uri="{FF2B5EF4-FFF2-40B4-BE49-F238E27FC236}">
                <a16:creationId xmlns:a16="http://schemas.microsoft.com/office/drawing/2014/main" id="{D7684B96-C459-5241-A83A-ACD3D70BB8C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08104" y="3588999"/>
            <a:ext cx="1220378" cy="950598"/>
          </a:xfrm>
          <a:prstGeom prst="rect">
            <a:avLst/>
          </a:prstGeom>
        </p:spPr>
      </p:pic>
      <p:pic>
        <p:nvPicPr>
          <p:cNvPr id="26" name="图片 25">
            <a:extLst>
              <a:ext uri="{FF2B5EF4-FFF2-40B4-BE49-F238E27FC236}">
                <a16:creationId xmlns:a16="http://schemas.microsoft.com/office/drawing/2014/main" id="{69CB175C-9EF0-3B48-ADC6-02138F803EF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2839" y="1906265"/>
            <a:ext cx="1947974" cy="500471"/>
          </a:xfrm>
          <a:prstGeom prst="rect">
            <a:avLst/>
          </a:prstGeom>
        </p:spPr>
      </p:pic>
      <p:grpSp>
        <p:nvGrpSpPr>
          <p:cNvPr id="31" name="组合 30">
            <a:extLst>
              <a:ext uri="{FF2B5EF4-FFF2-40B4-BE49-F238E27FC236}">
                <a16:creationId xmlns:a16="http://schemas.microsoft.com/office/drawing/2014/main" id="{9C1AB102-B48F-924E-93A0-4B42F3A84BC8}"/>
              </a:ext>
            </a:extLst>
          </p:cNvPr>
          <p:cNvGrpSpPr/>
          <p:nvPr/>
        </p:nvGrpSpPr>
        <p:grpSpPr>
          <a:xfrm>
            <a:off x="6680753" y="2647519"/>
            <a:ext cx="1453326" cy="621691"/>
            <a:chOff x="6119208" y="4361627"/>
            <a:chExt cx="3196039" cy="1353372"/>
          </a:xfrm>
        </p:grpSpPr>
        <p:pic>
          <p:nvPicPr>
            <p:cNvPr id="28" name="图片 27">
              <a:extLst>
                <a:ext uri="{FF2B5EF4-FFF2-40B4-BE49-F238E27FC236}">
                  <a16:creationId xmlns:a16="http://schemas.microsoft.com/office/drawing/2014/main" id="{69C1E315-512B-B342-9709-74204C43379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19208" y="4406594"/>
              <a:ext cx="1306811" cy="1308405"/>
            </a:xfrm>
            <a:prstGeom prst="rect">
              <a:avLst/>
            </a:prstGeom>
          </p:spPr>
        </p:pic>
        <p:pic>
          <p:nvPicPr>
            <p:cNvPr id="30" name="图片 29">
              <a:extLst>
                <a:ext uri="{FF2B5EF4-FFF2-40B4-BE49-F238E27FC236}">
                  <a16:creationId xmlns:a16="http://schemas.microsoft.com/office/drawing/2014/main" id="{340E98D4-92D4-0146-AA2E-B2A89604619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678860" y="4361627"/>
              <a:ext cx="1636387" cy="1308153"/>
            </a:xfrm>
            <a:prstGeom prst="rect">
              <a:avLst/>
            </a:prstGeom>
          </p:spPr>
        </p:pic>
      </p:grpSp>
      <p:sp>
        <p:nvSpPr>
          <p:cNvPr id="32" name="文本框 31">
            <a:extLst>
              <a:ext uri="{FF2B5EF4-FFF2-40B4-BE49-F238E27FC236}">
                <a16:creationId xmlns:a16="http://schemas.microsoft.com/office/drawing/2014/main" id="{D76FBD24-B7EB-EA48-8D06-ED61B74073D6}"/>
              </a:ext>
            </a:extLst>
          </p:cNvPr>
          <p:cNvSpPr txBox="1"/>
          <p:nvPr/>
        </p:nvSpPr>
        <p:spPr>
          <a:xfrm>
            <a:off x="3638898" y="4468330"/>
            <a:ext cx="1584176" cy="646331"/>
          </a:xfrm>
          <a:prstGeom prst="rect">
            <a:avLst/>
          </a:prstGeom>
          <a:noFill/>
        </p:spPr>
        <p:txBody>
          <a:bodyPr wrap="square" rtlCol="0">
            <a:spAutoFit/>
          </a:bodyPr>
          <a:lstStyle/>
          <a:p>
            <a:pPr algn="ctr"/>
            <a:r>
              <a:rPr kumimoji="1" lang="en-US" altLang="zh-CN" dirty="0"/>
              <a:t>Nginx</a:t>
            </a:r>
            <a:r>
              <a:rPr kumimoji="1" lang="zh-CN" altLang="en-US" dirty="0"/>
              <a:t> </a:t>
            </a:r>
            <a:endParaRPr kumimoji="1" lang="en-US" altLang="zh-CN" dirty="0"/>
          </a:p>
          <a:p>
            <a:pPr algn="ctr"/>
            <a:r>
              <a:rPr kumimoji="1" lang="en-US" altLang="zh-CN" dirty="0"/>
              <a:t>Web</a:t>
            </a:r>
            <a:r>
              <a:rPr kumimoji="1" lang="zh-CN" altLang="en-US" dirty="0"/>
              <a:t> </a:t>
            </a:r>
            <a:r>
              <a:rPr kumimoji="1" lang="en-US" altLang="zh-CN" dirty="0"/>
              <a:t>Server</a:t>
            </a:r>
            <a:endParaRPr kumimoji="1" lang="zh-CN" altLang="en-US" dirty="0"/>
          </a:p>
        </p:txBody>
      </p:sp>
      <p:sp>
        <p:nvSpPr>
          <p:cNvPr id="33" name="文本框 32">
            <a:extLst>
              <a:ext uri="{FF2B5EF4-FFF2-40B4-BE49-F238E27FC236}">
                <a16:creationId xmlns:a16="http://schemas.microsoft.com/office/drawing/2014/main" id="{51B028DA-BD6C-0546-9442-6457A8C8CEB0}"/>
              </a:ext>
            </a:extLst>
          </p:cNvPr>
          <p:cNvSpPr txBox="1"/>
          <p:nvPr/>
        </p:nvSpPr>
        <p:spPr>
          <a:xfrm>
            <a:off x="5343834" y="4468330"/>
            <a:ext cx="1584176" cy="646331"/>
          </a:xfrm>
          <a:prstGeom prst="rect">
            <a:avLst/>
          </a:prstGeom>
          <a:noFill/>
        </p:spPr>
        <p:txBody>
          <a:bodyPr wrap="square" rtlCol="0">
            <a:spAutoFit/>
          </a:bodyPr>
          <a:lstStyle/>
          <a:p>
            <a:pPr algn="ctr"/>
            <a:r>
              <a:rPr kumimoji="1" lang="en-US" altLang="zh-CN" dirty="0"/>
              <a:t>Windows</a:t>
            </a:r>
          </a:p>
          <a:p>
            <a:pPr algn="ctr"/>
            <a:r>
              <a:rPr kumimoji="1" lang="en-US" altLang="zh-CN" dirty="0"/>
              <a:t>SQL</a:t>
            </a:r>
            <a:r>
              <a:rPr kumimoji="1" lang="zh-CN" altLang="en-US" dirty="0"/>
              <a:t> </a:t>
            </a:r>
            <a:r>
              <a:rPr kumimoji="1" lang="en-US" altLang="zh-CN" dirty="0"/>
              <a:t>Server</a:t>
            </a:r>
            <a:endParaRPr kumimoji="1" lang="zh-CN" altLang="en-US" dirty="0"/>
          </a:p>
        </p:txBody>
      </p:sp>
    </p:spTree>
    <p:extLst>
      <p:ext uri="{BB962C8B-B14F-4D97-AF65-F5344CB8AC3E}">
        <p14:creationId xmlns:p14="http://schemas.microsoft.com/office/powerpoint/2010/main" val="1451159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49A20D-6AFB-374D-B02C-6FD4AAB5774B}"/>
              </a:ext>
            </a:extLst>
          </p:cNvPr>
          <p:cNvSpPr>
            <a:spLocks noGrp="1"/>
          </p:cNvSpPr>
          <p:nvPr>
            <p:ph type="title"/>
          </p:nvPr>
        </p:nvSpPr>
        <p:spPr/>
        <p:txBody>
          <a:bodyPr/>
          <a:lstStyle/>
          <a:p>
            <a:r>
              <a:rPr kumimoji="1" lang="zh-CN" altLang="en-US" dirty="0"/>
              <a:t>云计算为云租户带来的优势</a:t>
            </a:r>
          </a:p>
        </p:txBody>
      </p:sp>
      <p:sp>
        <p:nvSpPr>
          <p:cNvPr id="3" name="内容占位符 2">
            <a:extLst>
              <a:ext uri="{FF2B5EF4-FFF2-40B4-BE49-F238E27FC236}">
                <a16:creationId xmlns:a16="http://schemas.microsoft.com/office/drawing/2014/main" id="{F91D87ED-5525-6549-A999-F69059084CB8}"/>
              </a:ext>
            </a:extLst>
          </p:cNvPr>
          <p:cNvSpPr>
            <a:spLocks noGrp="1"/>
          </p:cNvSpPr>
          <p:nvPr>
            <p:ph idx="1"/>
          </p:nvPr>
        </p:nvSpPr>
        <p:spPr/>
        <p:txBody>
          <a:bodyPr/>
          <a:lstStyle/>
          <a:p>
            <a:r>
              <a:rPr kumimoji="1" lang="zh-CN" altLang="en-US" dirty="0"/>
              <a:t>按需租赁、无需机房租赁费</a:t>
            </a:r>
            <a:endParaRPr kumimoji="1" lang="en-US" altLang="zh-CN" dirty="0"/>
          </a:p>
          <a:p>
            <a:r>
              <a:rPr kumimoji="1" lang="zh-CN" altLang="en-US" dirty="0"/>
              <a:t>无需雇佣物理服务器管理人员</a:t>
            </a:r>
            <a:endParaRPr kumimoji="1" lang="en-US" altLang="zh-CN" dirty="0"/>
          </a:p>
          <a:p>
            <a:r>
              <a:rPr kumimoji="1" lang="zh-CN" altLang="en-US" dirty="0"/>
              <a:t>可以快速低成本地升级服务器</a:t>
            </a:r>
            <a:endParaRPr kumimoji="1" lang="en-US" altLang="zh-CN" dirty="0"/>
          </a:p>
          <a:p>
            <a:r>
              <a:rPr kumimoji="1" lang="en-US" altLang="zh-CN" dirty="0"/>
              <a:t>…</a:t>
            </a:r>
          </a:p>
        </p:txBody>
      </p:sp>
      <p:sp>
        <p:nvSpPr>
          <p:cNvPr id="4" name="灯片编号占位符 3">
            <a:extLst>
              <a:ext uri="{FF2B5EF4-FFF2-40B4-BE49-F238E27FC236}">
                <a16:creationId xmlns:a16="http://schemas.microsoft.com/office/drawing/2014/main" id="{DB34D8C4-F763-174D-A942-D1F4A305382D}"/>
              </a:ext>
            </a:extLst>
          </p:cNvPr>
          <p:cNvSpPr>
            <a:spLocks noGrp="1"/>
          </p:cNvSpPr>
          <p:nvPr>
            <p:ph type="sldNum" sz="quarter" idx="12"/>
          </p:nvPr>
        </p:nvSpPr>
        <p:spPr/>
        <p:txBody>
          <a:bodyPr/>
          <a:lstStyle/>
          <a:p>
            <a:fld id="{ADE361C3-C043-4A6E-BDCE-8DA1E7D90A3B}" type="slidenum">
              <a:rPr lang="zh-CN" altLang="en-US" smtClean="0"/>
              <a:t>5</a:t>
            </a:fld>
            <a:endParaRPr lang="zh-CN" altLang="en-US"/>
          </a:p>
        </p:txBody>
      </p:sp>
      <p:sp>
        <p:nvSpPr>
          <p:cNvPr id="5" name="页脚占位符 4">
            <a:extLst>
              <a:ext uri="{FF2B5EF4-FFF2-40B4-BE49-F238E27FC236}">
                <a16:creationId xmlns:a16="http://schemas.microsoft.com/office/drawing/2014/main" id="{FBA2C01A-BCDE-B04F-A8D5-B7FD81F8F089}"/>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463792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339C4A-EDA5-B44F-8E9E-3F9CB18D8174}"/>
              </a:ext>
            </a:extLst>
          </p:cNvPr>
          <p:cNvSpPr>
            <a:spLocks noGrp="1"/>
          </p:cNvSpPr>
          <p:nvPr>
            <p:ph type="title"/>
          </p:nvPr>
        </p:nvSpPr>
        <p:spPr/>
        <p:txBody>
          <a:bodyPr>
            <a:normAutofit/>
          </a:bodyPr>
          <a:lstStyle/>
          <a:p>
            <a:r>
              <a:rPr kumimoji="1" lang="zh-CN" altLang="en-US" dirty="0"/>
              <a:t>系统虚拟化是云计算的核心支撑技术</a:t>
            </a:r>
          </a:p>
        </p:txBody>
      </p:sp>
      <p:sp>
        <p:nvSpPr>
          <p:cNvPr id="3" name="内容占位符 2">
            <a:extLst>
              <a:ext uri="{FF2B5EF4-FFF2-40B4-BE49-F238E27FC236}">
                <a16:creationId xmlns:a16="http://schemas.microsoft.com/office/drawing/2014/main" id="{21900C59-98FF-B746-90F7-D81FF9C53DD0}"/>
              </a:ext>
            </a:extLst>
          </p:cNvPr>
          <p:cNvSpPr>
            <a:spLocks noGrp="1"/>
          </p:cNvSpPr>
          <p:nvPr>
            <p:ph idx="1"/>
          </p:nvPr>
        </p:nvSpPr>
        <p:spPr/>
        <p:txBody>
          <a:bodyPr/>
          <a:lstStyle/>
          <a:p>
            <a:r>
              <a:rPr kumimoji="1" lang="zh-CN" altLang="en-US" dirty="0"/>
              <a:t>新引入的一个软件层</a:t>
            </a:r>
            <a:endParaRPr kumimoji="1" lang="en-US" altLang="zh-CN" dirty="0"/>
          </a:p>
          <a:p>
            <a:pPr lvl="1"/>
            <a:r>
              <a:rPr kumimoji="1" lang="zh-CN" altLang="en-US" dirty="0"/>
              <a:t>上层是操作系统（虚拟机）</a:t>
            </a:r>
            <a:endParaRPr kumimoji="1" lang="en-US" altLang="zh-CN" dirty="0"/>
          </a:p>
          <a:p>
            <a:pPr lvl="1"/>
            <a:r>
              <a:rPr kumimoji="1" lang="zh-CN" altLang="en-US" dirty="0"/>
              <a:t>底层硬件与上层软件解耦</a:t>
            </a:r>
            <a:endParaRPr kumimoji="1" lang="en-US" altLang="zh-CN" dirty="0"/>
          </a:p>
          <a:p>
            <a:pPr lvl="1"/>
            <a:r>
              <a:rPr kumimoji="1" lang="zh-CN" altLang="en-US" dirty="0"/>
              <a:t>上层软件可在不同硬件</a:t>
            </a:r>
            <a:br>
              <a:rPr kumimoji="1" lang="en-US" altLang="zh-CN" dirty="0"/>
            </a:br>
            <a:r>
              <a:rPr kumimoji="1" lang="zh-CN" altLang="en-US" dirty="0"/>
              <a:t>之间切换</a:t>
            </a:r>
            <a:endParaRPr kumimoji="1" lang="en-US" altLang="zh-CN" dirty="0"/>
          </a:p>
        </p:txBody>
      </p:sp>
      <p:sp>
        <p:nvSpPr>
          <p:cNvPr id="4" name="灯片编号占位符 3">
            <a:extLst>
              <a:ext uri="{FF2B5EF4-FFF2-40B4-BE49-F238E27FC236}">
                <a16:creationId xmlns:a16="http://schemas.microsoft.com/office/drawing/2014/main" id="{8C2D570B-D536-8448-9891-271290CD2776}"/>
              </a:ext>
            </a:extLst>
          </p:cNvPr>
          <p:cNvSpPr>
            <a:spLocks noGrp="1"/>
          </p:cNvSpPr>
          <p:nvPr>
            <p:ph type="sldNum" sz="quarter" idx="12"/>
          </p:nvPr>
        </p:nvSpPr>
        <p:spPr/>
        <p:txBody>
          <a:bodyPr/>
          <a:lstStyle/>
          <a:p>
            <a:fld id="{ADE361C3-C043-4A6E-BDCE-8DA1E7D90A3B}" type="slidenum">
              <a:rPr lang="zh-CN" altLang="en-US" smtClean="0"/>
              <a:t>6</a:t>
            </a:fld>
            <a:endParaRPr lang="zh-CN" altLang="en-US"/>
          </a:p>
        </p:txBody>
      </p:sp>
      <p:sp>
        <p:nvSpPr>
          <p:cNvPr id="5" name="页脚占位符 4">
            <a:extLst>
              <a:ext uri="{FF2B5EF4-FFF2-40B4-BE49-F238E27FC236}">
                <a16:creationId xmlns:a16="http://schemas.microsoft.com/office/drawing/2014/main" id="{7B28FD8D-5210-2342-B058-C4CB35C6D2A7}"/>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40" name="Rectangle 22">
            <a:extLst>
              <a:ext uri="{FF2B5EF4-FFF2-40B4-BE49-F238E27FC236}">
                <a16:creationId xmlns:a16="http://schemas.microsoft.com/office/drawing/2014/main" id="{EAEAD3EC-A15B-2E49-97CD-DC29C0155771}"/>
              </a:ext>
            </a:extLst>
          </p:cNvPr>
          <p:cNvSpPr/>
          <p:nvPr/>
        </p:nvSpPr>
        <p:spPr>
          <a:xfrm>
            <a:off x="4573513" y="3066137"/>
            <a:ext cx="4039743" cy="428625"/>
          </a:xfrm>
          <a:prstGeom prst="rect">
            <a:avLst/>
          </a:prstGeom>
          <a:solidFill>
            <a:srgbClr val="BE384B"/>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600" dirty="0">
                <a:solidFill>
                  <a:schemeClr val="bg1"/>
                </a:solidFill>
                <a:cs typeface="Arial Narrow"/>
              </a:rPr>
              <a:t>虚拟化层</a:t>
            </a:r>
            <a:endParaRPr lang="en-US" sz="1600" dirty="0">
              <a:solidFill>
                <a:schemeClr val="bg1"/>
              </a:solidFill>
              <a:cs typeface="Arial Narrow"/>
            </a:endParaRPr>
          </a:p>
        </p:txBody>
      </p:sp>
      <p:sp>
        <p:nvSpPr>
          <p:cNvPr id="42" name="Rectangle 24">
            <a:extLst>
              <a:ext uri="{FF2B5EF4-FFF2-40B4-BE49-F238E27FC236}">
                <a16:creationId xmlns:a16="http://schemas.microsoft.com/office/drawing/2014/main" id="{E9B1E56E-08EF-7D4B-8DD6-CA8A1F03C38C}"/>
              </a:ext>
            </a:extLst>
          </p:cNvPr>
          <p:cNvSpPr/>
          <p:nvPr/>
        </p:nvSpPr>
        <p:spPr>
          <a:xfrm>
            <a:off x="4573513" y="3865659"/>
            <a:ext cx="4039743" cy="512789"/>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600" dirty="0">
                <a:solidFill>
                  <a:srgbClr val="BE384B"/>
                </a:solidFill>
                <a:cs typeface="Arial Narrow"/>
              </a:rPr>
              <a:t>硬件</a:t>
            </a:r>
            <a:endParaRPr lang="en-US" sz="1600" dirty="0">
              <a:solidFill>
                <a:srgbClr val="BE384B"/>
              </a:solidFill>
              <a:cs typeface="Arial Narrow"/>
            </a:endParaRPr>
          </a:p>
        </p:txBody>
      </p:sp>
      <p:sp>
        <p:nvSpPr>
          <p:cNvPr id="43" name="Rectangle 27">
            <a:extLst>
              <a:ext uri="{FF2B5EF4-FFF2-40B4-BE49-F238E27FC236}">
                <a16:creationId xmlns:a16="http://schemas.microsoft.com/office/drawing/2014/main" id="{942421C6-17F2-B643-A462-0BD095F9521C}"/>
              </a:ext>
            </a:extLst>
          </p:cNvPr>
          <p:cNvSpPr/>
          <p:nvPr/>
        </p:nvSpPr>
        <p:spPr>
          <a:xfrm>
            <a:off x="4580784" y="2421331"/>
            <a:ext cx="934485" cy="467333"/>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300" dirty="0">
                <a:solidFill>
                  <a:srgbClr val="BE384B"/>
                </a:solidFill>
                <a:cs typeface="Arial Narrow"/>
              </a:rPr>
              <a:t>Linux</a:t>
            </a:r>
            <a:endParaRPr lang="en-US" sz="1300" dirty="0">
              <a:solidFill>
                <a:srgbClr val="BE384B"/>
              </a:solidFill>
              <a:cs typeface="Arial Narrow"/>
            </a:endParaRPr>
          </a:p>
        </p:txBody>
      </p:sp>
      <p:cxnSp>
        <p:nvCxnSpPr>
          <p:cNvPr id="44" name="Straight Connector 13">
            <a:extLst>
              <a:ext uri="{FF2B5EF4-FFF2-40B4-BE49-F238E27FC236}">
                <a16:creationId xmlns:a16="http://schemas.microsoft.com/office/drawing/2014/main" id="{7AEA9143-D4E9-C54B-A073-7A37F5F97782}"/>
              </a:ext>
            </a:extLst>
          </p:cNvPr>
          <p:cNvCxnSpPr>
            <a:cxnSpLocks/>
          </p:cNvCxnSpPr>
          <p:nvPr/>
        </p:nvCxnSpPr>
        <p:spPr>
          <a:xfrm>
            <a:off x="4364784" y="3674354"/>
            <a:ext cx="4464496" cy="0"/>
          </a:xfrm>
          <a:prstGeom prst="line">
            <a:avLst/>
          </a:prstGeom>
          <a:ln>
            <a:solidFill>
              <a:srgbClr val="BE384B"/>
            </a:solidFill>
          </a:ln>
          <a:effectLst/>
        </p:spPr>
        <p:style>
          <a:lnRef idx="2">
            <a:schemeClr val="accent1"/>
          </a:lnRef>
          <a:fillRef idx="0">
            <a:schemeClr val="accent1"/>
          </a:fillRef>
          <a:effectRef idx="1">
            <a:schemeClr val="accent1"/>
          </a:effectRef>
          <a:fontRef idx="minor">
            <a:schemeClr val="tx1"/>
          </a:fontRef>
        </p:style>
      </p:cxnSp>
      <p:sp>
        <p:nvSpPr>
          <p:cNvPr id="45" name="Rectangle 27">
            <a:extLst>
              <a:ext uri="{FF2B5EF4-FFF2-40B4-BE49-F238E27FC236}">
                <a16:creationId xmlns:a16="http://schemas.microsoft.com/office/drawing/2014/main" id="{2D84772B-7F7B-8B46-A47E-0AC7EF52AB3C}"/>
              </a:ext>
            </a:extLst>
          </p:cNvPr>
          <p:cNvSpPr/>
          <p:nvPr/>
        </p:nvSpPr>
        <p:spPr>
          <a:xfrm>
            <a:off x="4580808" y="1485227"/>
            <a:ext cx="936104" cy="932344"/>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solidFill>
                  <a:srgbClr val="BE384B"/>
                </a:solidFill>
                <a:cs typeface="Arial Narrow"/>
              </a:rPr>
              <a:t>Nginx</a:t>
            </a:r>
            <a:endParaRPr lang="en-US" sz="1600" dirty="0">
              <a:solidFill>
                <a:srgbClr val="BE384B"/>
              </a:solidFill>
              <a:cs typeface="Arial Narrow"/>
            </a:endParaRPr>
          </a:p>
        </p:txBody>
      </p:sp>
      <p:sp>
        <p:nvSpPr>
          <p:cNvPr id="70" name="Rectangle 27">
            <a:extLst>
              <a:ext uri="{FF2B5EF4-FFF2-40B4-BE49-F238E27FC236}">
                <a16:creationId xmlns:a16="http://schemas.microsoft.com/office/drawing/2014/main" id="{1AAF7489-5DEE-3D40-93CA-159DA2C74485}"/>
              </a:ext>
            </a:extLst>
          </p:cNvPr>
          <p:cNvSpPr/>
          <p:nvPr/>
        </p:nvSpPr>
        <p:spPr>
          <a:xfrm>
            <a:off x="5588920" y="2421331"/>
            <a:ext cx="934485" cy="467333"/>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300" dirty="0">
                <a:solidFill>
                  <a:srgbClr val="BE384B"/>
                </a:solidFill>
                <a:cs typeface="Arial Narrow"/>
              </a:rPr>
              <a:t>Windows</a:t>
            </a:r>
            <a:endParaRPr lang="en-US" sz="1300" dirty="0">
              <a:solidFill>
                <a:srgbClr val="BE384B"/>
              </a:solidFill>
              <a:cs typeface="Arial Narrow"/>
            </a:endParaRPr>
          </a:p>
        </p:txBody>
      </p:sp>
      <p:sp>
        <p:nvSpPr>
          <p:cNvPr id="71" name="Rectangle 27">
            <a:extLst>
              <a:ext uri="{FF2B5EF4-FFF2-40B4-BE49-F238E27FC236}">
                <a16:creationId xmlns:a16="http://schemas.microsoft.com/office/drawing/2014/main" id="{AF8D898F-C1A0-FF4D-AD42-880241D6BB78}"/>
              </a:ext>
            </a:extLst>
          </p:cNvPr>
          <p:cNvSpPr/>
          <p:nvPr/>
        </p:nvSpPr>
        <p:spPr>
          <a:xfrm>
            <a:off x="5588784" y="1485227"/>
            <a:ext cx="936104" cy="932344"/>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solidFill>
                  <a:srgbClr val="BE384B"/>
                </a:solidFill>
                <a:cs typeface="Arial Narrow"/>
              </a:rPr>
              <a:t>SQL</a:t>
            </a:r>
            <a:r>
              <a:rPr lang="zh-CN" altLang="en-US" sz="1600" dirty="0">
                <a:solidFill>
                  <a:srgbClr val="BE384B"/>
                </a:solidFill>
                <a:cs typeface="Arial Narrow"/>
              </a:rPr>
              <a:t> </a:t>
            </a:r>
            <a:r>
              <a:rPr lang="en-US" altLang="zh-CN" sz="1600" dirty="0">
                <a:solidFill>
                  <a:srgbClr val="BE384B"/>
                </a:solidFill>
                <a:cs typeface="Arial Narrow"/>
              </a:rPr>
              <a:t>Server</a:t>
            </a:r>
            <a:endParaRPr lang="en-US" sz="1600" dirty="0">
              <a:solidFill>
                <a:srgbClr val="BE384B"/>
              </a:solidFill>
              <a:cs typeface="Arial Narrow"/>
            </a:endParaRPr>
          </a:p>
        </p:txBody>
      </p:sp>
      <p:sp>
        <p:nvSpPr>
          <p:cNvPr id="72" name="Rectangle 27">
            <a:extLst>
              <a:ext uri="{FF2B5EF4-FFF2-40B4-BE49-F238E27FC236}">
                <a16:creationId xmlns:a16="http://schemas.microsoft.com/office/drawing/2014/main" id="{80589512-D1CC-C544-A01A-76683D095296}"/>
              </a:ext>
            </a:extLst>
          </p:cNvPr>
          <p:cNvSpPr/>
          <p:nvPr/>
        </p:nvSpPr>
        <p:spPr>
          <a:xfrm>
            <a:off x="6597032" y="2421331"/>
            <a:ext cx="934485" cy="467333"/>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300" dirty="0">
                <a:solidFill>
                  <a:srgbClr val="BE384B"/>
                </a:solidFill>
                <a:cs typeface="Arial Narrow"/>
              </a:rPr>
              <a:t>Windows</a:t>
            </a:r>
            <a:endParaRPr lang="en-US" sz="1300" dirty="0">
              <a:solidFill>
                <a:srgbClr val="BE384B"/>
              </a:solidFill>
              <a:cs typeface="Arial Narrow"/>
            </a:endParaRPr>
          </a:p>
        </p:txBody>
      </p:sp>
      <p:sp>
        <p:nvSpPr>
          <p:cNvPr id="73" name="Rectangle 27">
            <a:extLst>
              <a:ext uri="{FF2B5EF4-FFF2-40B4-BE49-F238E27FC236}">
                <a16:creationId xmlns:a16="http://schemas.microsoft.com/office/drawing/2014/main" id="{72A0E701-304E-4545-A6B2-07B96E40EE36}"/>
              </a:ext>
            </a:extLst>
          </p:cNvPr>
          <p:cNvSpPr/>
          <p:nvPr/>
        </p:nvSpPr>
        <p:spPr>
          <a:xfrm>
            <a:off x="6596784" y="1485227"/>
            <a:ext cx="936104" cy="932344"/>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solidFill>
                  <a:srgbClr val="BE384B"/>
                </a:solidFill>
                <a:cs typeface="Arial Narrow"/>
              </a:rPr>
              <a:t>ERP</a:t>
            </a:r>
            <a:endParaRPr lang="en-US" sz="1600" dirty="0">
              <a:solidFill>
                <a:srgbClr val="BE384B"/>
              </a:solidFill>
              <a:cs typeface="Arial Narrow"/>
            </a:endParaRPr>
          </a:p>
        </p:txBody>
      </p:sp>
      <p:sp>
        <p:nvSpPr>
          <p:cNvPr id="75" name="Rectangle 27">
            <a:extLst>
              <a:ext uri="{FF2B5EF4-FFF2-40B4-BE49-F238E27FC236}">
                <a16:creationId xmlns:a16="http://schemas.microsoft.com/office/drawing/2014/main" id="{C5823959-A082-D845-92E8-09D6E626A9D7}"/>
              </a:ext>
            </a:extLst>
          </p:cNvPr>
          <p:cNvSpPr/>
          <p:nvPr/>
        </p:nvSpPr>
        <p:spPr>
          <a:xfrm>
            <a:off x="7605144" y="2421331"/>
            <a:ext cx="934485" cy="467333"/>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300" dirty="0">
                <a:solidFill>
                  <a:srgbClr val="BE384B"/>
                </a:solidFill>
                <a:cs typeface="Arial Narrow"/>
              </a:rPr>
              <a:t>MAC</a:t>
            </a:r>
            <a:r>
              <a:rPr lang="zh-CN" altLang="en-US" sz="1300" dirty="0">
                <a:solidFill>
                  <a:srgbClr val="BE384B"/>
                </a:solidFill>
                <a:cs typeface="Arial Narrow"/>
              </a:rPr>
              <a:t> </a:t>
            </a:r>
            <a:r>
              <a:rPr lang="en-US" altLang="zh-CN" sz="1300" dirty="0">
                <a:solidFill>
                  <a:srgbClr val="BE384B"/>
                </a:solidFill>
                <a:cs typeface="Arial Narrow"/>
              </a:rPr>
              <a:t>OS</a:t>
            </a:r>
            <a:endParaRPr lang="en-US" sz="1300" dirty="0">
              <a:solidFill>
                <a:srgbClr val="BE384B"/>
              </a:solidFill>
              <a:cs typeface="Arial Narrow"/>
            </a:endParaRPr>
          </a:p>
        </p:txBody>
      </p:sp>
      <p:sp>
        <p:nvSpPr>
          <p:cNvPr id="76" name="Rectangle 27">
            <a:extLst>
              <a:ext uri="{FF2B5EF4-FFF2-40B4-BE49-F238E27FC236}">
                <a16:creationId xmlns:a16="http://schemas.microsoft.com/office/drawing/2014/main" id="{B1B3784A-5BB9-914E-B7A2-D9BF64A23CC3}"/>
              </a:ext>
            </a:extLst>
          </p:cNvPr>
          <p:cNvSpPr/>
          <p:nvPr/>
        </p:nvSpPr>
        <p:spPr>
          <a:xfrm>
            <a:off x="7603027" y="1485227"/>
            <a:ext cx="936104" cy="932344"/>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solidFill>
                  <a:srgbClr val="BE384B"/>
                </a:solidFill>
                <a:cs typeface="Arial Narrow"/>
              </a:rPr>
              <a:t>Other</a:t>
            </a:r>
          </a:p>
          <a:p>
            <a:pPr algn="ctr"/>
            <a:r>
              <a:rPr lang="en-US" altLang="zh-CN" sz="1600" dirty="0">
                <a:solidFill>
                  <a:srgbClr val="BE384B"/>
                </a:solidFill>
                <a:cs typeface="Arial Narrow"/>
              </a:rPr>
              <a:t>APP</a:t>
            </a:r>
            <a:endParaRPr lang="en-US" sz="1600" dirty="0">
              <a:solidFill>
                <a:srgbClr val="BE384B"/>
              </a:solidFill>
              <a:cs typeface="Arial Narrow"/>
            </a:endParaRPr>
          </a:p>
        </p:txBody>
      </p:sp>
    </p:spTree>
    <p:extLst>
      <p:ext uri="{BB962C8B-B14F-4D97-AF65-F5344CB8AC3E}">
        <p14:creationId xmlns:p14="http://schemas.microsoft.com/office/powerpoint/2010/main" val="4270716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1C2DF2-A89D-744C-9D8A-229CCF52256B}"/>
              </a:ext>
            </a:extLst>
          </p:cNvPr>
          <p:cNvSpPr>
            <a:spLocks noGrp="1"/>
          </p:cNvSpPr>
          <p:nvPr>
            <p:ph type="title"/>
          </p:nvPr>
        </p:nvSpPr>
        <p:spPr/>
        <p:txBody>
          <a:bodyPr/>
          <a:lstStyle/>
          <a:p>
            <a:r>
              <a:rPr kumimoji="1" lang="zh-CN" altLang="en-US" dirty="0"/>
              <a:t>虚拟化带来的优势</a:t>
            </a:r>
          </a:p>
        </p:txBody>
      </p:sp>
      <p:sp>
        <p:nvSpPr>
          <p:cNvPr id="3" name="内容占位符 2">
            <a:extLst>
              <a:ext uri="{FF2B5EF4-FFF2-40B4-BE49-F238E27FC236}">
                <a16:creationId xmlns:a16="http://schemas.microsoft.com/office/drawing/2014/main" id="{529F252C-9124-E044-A499-2334F9A44D4D}"/>
              </a:ext>
            </a:extLst>
          </p:cNvPr>
          <p:cNvSpPr>
            <a:spLocks noGrp="1"/>
          </p:cNvSpPr>
          <p:nvPr>
            <p:ph idx="1"/>
          </p:nvPr>
        </p:nvSpPr>
        <p:spPr/>
        <p:txBody>
          <a:bodyPr>
            <a:normAutofit lnSpcReduction="10000"/>
          </a:bodyPr>
          <a:lstStyle/>
          <a:p>
            <a:r>
              <a:rPr lang="en-US" altLang="zh-CN" b="0" dirty="0"/>
              <a:t>"</a:t>
            </a:r>
            <a:r>
              <a:rPr lang="en-US" altLang="zh-CN" b="0" i="1" dirty="0"/>
              <a:t>Any problem in computer science can be solved by another level of indirection</a:t>
            </a:r>
            <a:r>
              <a:rPr lang="en-US" altLang="zh-CN" b="0" dirty="0"/>
              <a:t>"</a:t>
            </a:r>
            <a:r>
              <a:rPr lang="zh-CN" altLang="en-US" b="0" dirty="0"/>
              <a:t>          </a:t>
            </a:r>
            <a:r>
              <a:rPr lang="en-US" altLang="zh-CN" b="0" dirty="0"/>
              <a:t>---</a:t>
            </a:r>
            <a:r>
              <a:rPr lang="zh-CN" altLang="en-US" b="0" dirty="0"/>
              <a:t> </a:t>
            </a:r>
            <a:r>
              <a:rPr lang="en-US" altLang="zh-CN" dirty="0"/>
              <a:t>David Wheeler</a:t>
            </a:r>
          </a:p>
          <a:p>
            <a:endParaRPr kumimoji="1" lang="en-US" altLang="zh-CN" dirty="0"/>
          </a:p>
          <a:p>
            <a:r>
              <a:rPr kumimoji="1" lang="en-US" altLang="zh-CN" dirty="0"/>
              <a:t>1</a:t>
            </a:r>
            <a:r>
              <a:rPr kumimoji="1" lang="zh-CN" altLang="en-US" dirty="0"/>
              <a:t>、服务器整合：提高资源利用率</a:t>
            </a:r>
            <a:endParaRPr kumimoji="1" lang="en-US" altLang="zh-CN" dirty="0"/>
          </a:p>
          <a:p>
            <a:r>
              <a:rPr kumimoji="1" lang="en-US" altLang="zh-CN" dirty="0"/>
              <a:t>2</a:t>
            </a:r>
            <a:r>
              <a:rPr kumimoji="1" lang="zh-CN" altLang="en-US" dirty="0"/>
              <a:t>、方便程序开发</a:t>
            </a:r>
            <a:endParaRPr kumimoji="1" lang="en-US" altLang="zh-CN" dirty="0"/>
          </a:p>
          <a:p>
            <a:r>
              <a:rPr kumimoji="1" lang="en-US" altLang="zh-CN" dirty="0"/>
              <a:t>3</a:t>
            </a:r>
            <a:r>
              <a:rPr kumimoji="1" lang="zh-CN" altLang="en-US" dirty="0"/>
              <a:t>、简化服务器管理</a:t>
            </a:r>
            <a:endParaRPr kumimoji="1" lang="en-US" altLang="zh-CN" dirty="0"/>
          </a:p>
          <a:p>
            <a:r>
              <a:rPr kumimoji="1" lang="en-US" altLang="zh-CN" dirty="0"/>
              <a:t>…</a:t>
            </a:r>
            <a:endParaRPr kumimoji="1" lang="zh-CN" altLang="en-US" dirty="0"/>
          </a:p>
        </p:txBody>
      </p:sp>
      <p:sp>
        <p:nvSpPr>
          <p:cNvPr id="4" name="灯片编号占位符 3">
            <a:extLst>
              <a:ext uri="{FF2B5EF4-FFF2-40B4-BE49-F238E27FC236}">
                <a16:creationId xmlns:a16="http://schemas.microsoft.com/office/drawing/2014/main" id="{9603891F-FCD7-244B-9225-5630B88ABE90}"/>
              </a:ext>
            </a:extLst>
          </p:cNvPr>
          <p:cNvSpPr>
            <a:spLocks noGrp="1"/>
          </p:cNvSpPr>
          <p:nvPr>
            <p:ph type="sldNum" sz="quarter" idx="12"/>
          </p:nvPr>
        </p:nvSpPr>
        <p:spPr/>
        <p:txBody>
          <a:bodyPr/>
          <a:lstStyle/>
          <a:p>
            <a:fld id="{ADE361C3-C043-4A6E-BDCE-8DA1E7D90A3B}" type="slidenum">
              <a:rPr lang="zh-CN" altLang="en-US" smtClean="0"/>
              <a:t>7</a:t>
            </a:fld>
            <a:endParaRPr lang="zh-CN" altLang="en-US"/>
          </a:p>
        </p:txBody>
      </p:sp>
      <p:sp>
        <p:nvSpPr>
          <p:cNvPr id="5" name="页脚占位符 4">
            <a:extLst>
              <a:ext uri="{FF2B5EF4-FFF2-40B4-BE49-F238E27FC236}">
                <a16:creationId xmlns:a16="http://schemas.microsoft.com/office/drawing/2014/main" id="{27C84E27-C6B6-C749-BC4E-7E089806532E}"/>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6813068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B14AC3-B932-9E48-859A-FE4B4072A38E}"/>
              </a:ext>
            </a:extLst>
          </p:cNvPr>
          <p:cNvSpPr>
            <a:spLocks noGrp="1"/>
          </p:cNvSpPr>
          <p:nvPr>
            <p:ph type="title"/>
          </p:nvPr>
        </p:nvSpPr>
        <p:spPr/>
        <p:txBody>
          <a:bodyPr/>
          <a:lstStyle/>
          <a:p>
            <a:r>
              <a:rPr kumimoji="1" lang="zh-CN" altLang="en-US" dirty="0"/>
              <a:t>虚拟化优势</a:t>
            </a:r>
            <a:r>
              <a:rPr kumimoji="1" lang="en-US" altLang="zh-CN" dirty="0"/>
              <a:t>-1</a:t>
            </a:r>
            <a:r>
              <a:rPr kumimoji="1" lang="zh-CN" altLang="en-US" dirty="0"/>
              <a:t>：服务器整合</a:t>
            </a:r>
          </a:p>
        </p:txBody>
      </p:sp>
      <p:sp>
        <p:nvSpPr>
          <p:cNvPr id="3" name="内容占位符 2">
            <a:extLst>
              <a:ext uri="{FF2B5EF4-FFF2-40B4-BE49-F238E27FC236}">
                <a16:creationId xmlns:a16="http://schemas.microsoft.com/office/drawing/2014/main" id="{F7E3190E-8226-2146-A298-F3796444E5B6}"/>
              </a:ext>
            </a:extLst>
          </p:cNvPr>
          <p:cNvSpPr>
            <a:spLocks noGrp="1"/>
          </p:cNvSpPr>
          <p:nvPr>
            <p:ph idx="1"/>
          </p:nvPr>
        </p:nvSpPr>
        <p:spPr/>
        <p:txBody>
          <a:bodyPr/>
          <a:lstStyle/>
          <a:p>
            <a:r>
              <a:rPr kumimoji="1" lang="zh-CN" altLang="en-US" dirty="0"/>
              <a:t>单个物理机资源利用率低</a:t>
            </a:r>
            <a:endParaRPr kumimoji="1" lang="en-US" altLang="zh-CN" dirty="0"/>
          </a:p>
          <a:p>
            <a:pPr lvl="1"/>
            <a:r>
              <a:rPr kumimoji="1" lang="en-US" altLang="zh-CN" dirty="0"/>
              <a:t>CPU</a:t>
            </a:r>
            <a:r>
              <a:rPr kumimoji="1" lang="zh-CN" altLang="en-US" dirty="0"/>
              <a:t>利用率通常仅</a:t>
            </a:r>
            <a:r>
              <a:rPr kumimoji="1" lang="en-US" altLang="zh-CN" dirty="0"/>
              <a:t>&lt;20%</a:t>
            </a:r>
          </a:p>
          <a:p>
            <a:r>
              <a:rPr kumimoji="1" lang="zh-CN" altLang="en-US" dirty="0"/>
              <a:t>利用系统虚拟化进行资源整合</a:t>
            </a:r>
            <a:endParaRPr kumimoji="1" lang="en-US" altLang="zh-CN" dirty="0"/>
          </a:p>
          <a:p>
            <a:pPr lvl="1"/>
            <a:r>
              <a:rPr kumimoji="1" lang="zh-CN" altLang="en-US" dirty="0"/>
              <a:t>一台物理机同时运行多台虚拟机</a:t>
            </a:r>
            <a:endParaRPr kumimoji="1" lang="en-US" altLang="zh-CN" dirty="0"/>
          </a:p>
          <a:p>
            <a:r>
              <a:rPr kumimoji="1" lang="zh-CN" altLang="en-US" dirty="0"/>
              <a:t>显著提升物理机资源利用率</a:t>
            </a:r>
            <a:endParaRPr kumimoji="1" lang="en-US" altLang="zh-CN" dirty="0"/>
          </a:p>
          <a:p>
            <a:r>
              <a:rPr kumimoji="1" lang="zh-CN" altLang="en-US" dirty="0"/>
              <a:t>显著降低云服务提供商的成本</a:t>
            </a:r>
            <a:endParaRPr kumimoji="1" lang="en-US" altLang="zh-CN" dirty="0"/>
          </a:p>
          <a:p>
            <a:endParaRPr kumimoji="1" lang="zh-CN" altLang="en-US" dirty="0"/>
          </a:p>
        </p:txBody>
      </p:sp>
      <p:sp>
        <p:nvSpPr>
          <p:cNvPr id="4" name="灯片编号占位符 3">
            <a:extLst>
              <a:ext uri="{FF2B5EF4-FFF2-40B4-BE49-F238E27FC236}">
                <a16:creationId xmlns:a16="http://schemas.microsoft.com/office/drawing/2014/main" id="{3E7AE9E6-89E1-5B4F-B792-8C66930A8AE2}"/>
              </a:ext>
            </a:extLst>
          </p:cNvPr>
          <p:cNvSpPr>
            <a:spLocks noGrp="1"/>
          </p:cNvSpPr>
          <p:nvPr>
            <p:ph type="sldNum" sz="quarter" idx="12"/>
          </p:nvPr>
        </p:nvSpPr>
        <p:spPr/>
        <p:txBody>
          <a:bodyPr/>
          <a:lstStyle/>
          <a:p>
            <a:fld id="{ADE361C3-C043-4A6E-BDCE-8DA1E7D90A3B}" type="slidenum">
              <a:rPr lang="zh-CN" altLang="en-US" smtClean="0"/>
              <a:t>8</a:t>
            </a:fld>
            <a:endParaRPr lang="zh-CN" altLang="en-US"/>
          </a:p>
        </p:txBody>
      </p:sp>
      <p:sp>
        <p:nvSpPr>
          <p:cNvPr id="5" name="页脚占位符 4">
            <a:extLst>
              <a:ext uri="{FF2B5EF4-FFF2-40B4-BE49-F238E27FC236}">
                <a16:creationId xmlns:a16="http://schemas.microsoft.com/office/drawing/2014/main" id="{76AD36D2-F121-A54D-AD70-8E1E2DC03494}"/>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6" name="图片 5">
            <a:extLst>
              <a:ext uri="{FF2B5EF4-FFF2-40B4-BE49-F238E27FC236}">
                <a16:creationId xmlns:a16="http://schemas.microsoft.com/office/drawing/2014/main" id="{037E9188-5942-4843-A86F-0C7E8B3B60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40522" y="1501234"/>
            <a:ext cx="666393" cy="921147"/>
          </a:xfrm>
          <a:prstGeom prst="rect">
            <a:avLst/>
          </a:prstGeom>
        </p:spPr>
      </p:pic>
      <p:pic>
        <p:nvPicPr>
          <p:cNvPr id="7" name="图片 6">
            <a:extLst>
              <a:ext uri="{FF2B5EF4-FFF2-40B4-BE49-F238E27FC236}">
                <a16:creationId xmlns:a16="http://schemas.microsoft.com/office/drawing/2014/main" id="{411EA86E-BE78-9C4B-A8F2-6A29CDBE03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4660" y="1491998"/>
            <a:ext cx="666393" cy="921147"/>
          </a:xfrm>
          <a:prstGeom prst="rect">
            <a:avLst/>
          </a:prstGeom>
        </p:spPr>
      </p:pic>
      <p:pic>
        <p:nvPicPr>
          <p:cNvPr id="8" name="图片 7">
            <a:extLst>
              <a:ext uri="{FF2B5EF4-FFF2-40B4-BE49-F238E27FC236}">
                <a16:creationId xmlns:a16="http://schemas.microsoft.com/office/drawing/2014/main" id="{B1643D9A-CA4F-C542-A53D-2E38C20A1F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25641" y="1487463"/>
            <a:ext cx="666393" cy="921147"/>
          </a:xfrm>
          <a:prstGeom prst="rect">
            <a:avLst/>
          </a:prstGeom>
        </p:spPr>
      </p:pic>
      <p:pic>
        <p:nvPicPr>
          <p:cNvPr id="9" name="图片 8">
            <a:extLst>
              <a:ext uri="{FF2B5EF4-FFF2-40B4-BE49-F238E27FC236}">
                <a16:creationId xmlns:a16="http://schemas.microsoft.com/office/drawing/2014/main" id="{69336CEA-E6CE-EB41-853F-843AF5FB93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4660" y="3290300"/>
            <a:ext cx="666393" cy="921147"/>
          </a:xfrm>
          <a:prstGeom prst="rect">
            <a:avLst/>
          </a:prstGeom>
        </p:spPr>
      </p:pic>
      <p:cxnSp>
        <p:nvCxnSpPr>
          <p:cNvPr id="10" name="Straight Arrow Connector 26">
            <a:extLst>
              <a:ext uri="{FF2B5EF4-FFF2-40B4-BE49-F238E27FC236}">
                <a16:creationId xmlns:a16="http://schemas.microsoft.com/office/drawing/2014/main" id="{E9AF693A-A640-B046-9C81-40C0A475A69E}"/>
              </a:ext>
            </a:extLst>
          </p:cNvPr>
          <p:cNvCxnSpPr>
            <a:cxnSpLocks/>
          </p:cNvCxnSpPr>
          <p:nvPr/>
        </p:nvCxnSpPr>
        <p:spPr>
          <a:xfrm flipH="1" flipV="1">
            <a:off x="5670605" y="2422382"/>
            <a:ext cx="657368" cy="798024"/>
          </a:xfrm>
          <a:prstGeom prst="straightConnector1">
            <a:avLst/>
          </a:prstGeom>
          <a:noFill/>
          <a:ln w="31750" cap="flat" cmpd="sng" algn="ctr">
            <a:solidFill>
              <a:sysClr val="windowText" lastClr="000000"/>
            </a:solidFill>
            <a:prstDash val="solid"/>
            <a:headEnd type="arrow" w="med" len="med"/>
            <a:tailEnd type="none" w="med" len="med"/>
          </a:ln>
          <a:effectLst/>
        </p:spPr>
      </p:cxnSp>
      <p:cxnSp>
        <p:nvCxnSpPr>
          <p:cNvPr id="13" name="Straight Arrow Connector 26">
            <a:extLst>
              <a:ext uri="{FF2B5EF4-FFF2-40B4-BE49-F238E27FC236}">
                <a16:creationId xmlns:a16="http://schemas.microsoft.com/office/drawing/2014/main" id="{38DA45CB-742B-854F-B205-EEF48959C795}"/>
              </a:ext>
            </a:extLst>
          </p:cNvPr>
          <p:cNvCxnSpPr>
            <a:cxnSpLocks/>
          </p:cNvCxnSpPr>
          <p:nvPr/>
        </p:nvCxnSpPr>
        <p:spPr>
          <a:xfrm flipH="1" flipV="1">
            <a:off x="6462692" y="2367838"/>
            <a:ext cx="21708" cy="852568"/>
          </a:xfrm>
          <a:prstGeom prst="straightConnector1">
            <a:avLst/>
          </a:prstGeom>
          <a:noFill/>
          <a:ln w="31750" cap="flat" cmpd="sng" algn="ctr">
            <a:solidFill>
              <a:sysClr val="windowText" lastClr="000000"/>
            </a:solidFill>
            <a:prstDash val="solid"/>
            <a:headEnd type="arrow" w="med" len="med"/>
            <a:tailEnd type="none" w="med" len="med"/>
          </a:ln>
          <a:effectLst/>
        </p:spPr>
      </p:cxnSp>
      <p:cxnSp>
        <p:nvCxnSpPr>
          <p:cNvPr id="16" name="Straight Arrow Connector 26">
            <a:extLst>
              <a:ext uri="{FF2B5EF4-FFF2-40B4-BE49-F238E27FC236}">
                <a16:creationId xmlns:a16="http://schemas.microsoft.com/office/drawing/2014/main" id="{31CAF6B0-6FAD-8C4F-AD39-747B7D7DD6FE}"/>
              </a:ext>
            </a:extLst>
          </p:cNvPr>
          <p:cNvCxnSpPr>
            <a:cxnSpLocks/>
            <a:endCxn id="8" idx="2"/>
          </p:cNvCxnSpPr>
          <p:nvPr/>
        </p:nvCxnSpPr>
        <p:spPr>
          <a:xfrm flipV="1">
            <a:off x="6868988" y="2408610"/>
            <a:ext cx="689850" cy="798024"/>
          </a:xfrm>
          <a:prstGeom prst="straightConnector1">
            <a:avLst/>
          </a:prstGeom>
          <a:noFill/>
          <a:ln w="31750" cap="flat" cmpd="sng" algn="ctr">
            <a:solidFill>
              <a:sysClr val="windowText" lastClr="000000"/>
            </a:solidFill>
            <a:prstDash val="solid"/>
            <a:headEnd type="arrow" w="med" len="med"/>
            <a:tailEnd type="none" w="med" len="med"/>
          </a:ln>
          <a:effectLst/>
        </p:spPr>
      </p:cxnSp>
      <p:sp>
        <p:nvSpPr>
          <p:cNvPr id="19" name="文本框 18">
            <a:extLst>
              <a:ext uri="{FF2B5EF4-FFF2-40B4-BE49-F238E27FC236}">
                <a16:creationId xmlns:a16="http://schemas.microsoft.com/office/drawing/2014/main" id="{3C9F9661-CCBD-8348-9E8A-0E7B9DFA6EAB}"/>
              </a:ext>
            </a:extLst>
          </p:cNvPr>
          <p:cNvSpPr txBox="1"/>
          <p:nvPr/>
        </p:nvSpPr>
        <p:spPr>
          <a:xfrm>
            <a:off x="5838442" y="1118131"/>
            <a:ext cx="1338828" cy="369332"/>
          </a:xfrm>
          <a:prstGeom prst="rect">
            <a:avLst/>
          </a:prstGeom>
          <a:noFill/>
        </p:spPr>
        <p:txBody>
          <a:bodyPr wrap="none" rtlCol="0">
            <a:spAutoFit/>
          </a:bodyPr>
          <a:lstStyle/>
          <a:p>
            <a:r>
              <a:rPr kumimoji="1" lang="zh-CN" altLang="en-US" dirty="0"/>
              <a:t>多台物理机</a:t>
            </a:r>
          </a:p>
        </p:txBody>
      </p:sp>
      <p:sp>
        <p:nvSpPr>
          <p:cNvPr id="20" name="文本框 19">
            <a:extLst>
              <a:ext uri="{FF2B5EF4-FFF2-40B4-BE49-F238E27FC236}">
                <a16:creationId xmlns:a16="http://schemas.microsoft.com/office/drawing/2014/main" id="{7054B1AB-D4A2-9F4C-97BE-C8AF3F8275B9}"/>
              </a:ext>
            </a:extLst>
          </p:cNvPr>
          <p:cNvSpPr txBox="1"/>
          <p:nvPr/>
        </p:nvSpPr>
        <p:spPr>
          <a:xfrm>
            <a:off x="7387416" y="4403649"/>
            <a:ext cx="877163" cy="369332"/>
          </a:xfrm>
          <a:prstGeom prst="rect">
            <a:avLst/>
          </a:prstGeom>
          <a:noFill/>
        </p:spPr>
        <p:txBody>
          <a:bodyPr wrap="none" rtlCol="0">
            <a:spAutoFit/>
          </a:bodyPr>
          <a:lstStyle/>
          <a:p>
            <a:r>
              <a:rPr kumimoji="1" lang="zh-CN" altLang="en-US" dirty="0"/>
              <a:t>虚拟机</a:t>
            </a:r>
          </a:p>
        </p:txBody>
      </p:sp>
      <p:pic>
        <p:nvPicPr>
          <p:cNvPr id="22" name="图片 21">
            <a:extLst>
              <a:ext uri="{FF2B5EF4-FFF2-40B4-BE49-F238E27FC236}">
                <a16:creationId xmlns:a16="http://schemas.microsoft.com/office/drawing/2014/main" id="{8580F719-0D70-E84D-8294-EAFAC5C33DB3}"/>
              </a:ext>
            </a:extLst>
          </p:cNvPr>
          <p:cNvPicPr>
            <a:picLocks noChangeAspect="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7053353" y="3433564"/>
            <a:ext cx="1695111" cy="1698570"/>
          </a:xfrm>
          <a:prstGeom prst="rect">
            <a:avLst/>
          </a:prstGeom>
        </p:spPr>
      </p:pic>
      <p:pic>
        <p:nvPicPr>
          <p:cNvPr id="23" name="图片 22">
            <a:extLst>
              <a:ext uri="{FF2B5EF4-FFF2-40B4-BE49-F238E27FC236}">
                <a16:creationId xmlns:a16="http://schemas.microsoft.com/office/drawing/2014/main" id="{DF7BF209-0701-B545-8009-FCAA55E569EA}"/>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7215048" y="3951506"/>
            <a:ext cx="312971" cy="432616"/>
          </a:xfrm>
          <a:prstGeom prst="rect">
            <a:avLst/>
          </a:prstGeom>
        </p:spPr>
      </p:pic>
      <p:pic>
        <p:nvPicPr>
          <p:cNvPr id="24" name="图片 23">
            <a:extLst>
              <a:ext uri="{FF2B5EF4-FFF2-40B4-BE49-F238E27FC236}">
                <a16:creationId xmlns:a16="http://schemas.microsoft.com/office/drawing/2014/main" id="{94FCD7B8-195F-B04E-9D4A-E8021A4F644F}"/>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7566433" y="3948120"/>
            <a:ext cx="312971" cy="432616"/>
          </a:xfrm>
          <a:prstGeom prst="rect">
            <a:avLst/>
          </a:prstGeom>
        </p:spPr>
      </p:pic>
      <p:pic>
        <p:nvPicPr>
          <p:cNvPr id="25" name="图片 24">
            <a:extLst>
              <a:ext uri="{FF2B5EF4-FFF2-40B4-BE49-F238E27FC236}">
                <a16:creationId xmlns:a16="http://schemas.microsoft.com/office/drawing/2014/main" id="{A29BF571-A3CC-854C-84AD-6C661D61E015}"/>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8108094" y="3942269"/>
            <a:ext cx="312971" cy="432616"/>
          </a:xfrm>
          <a:prstGeom prst="rect">
            <a:avLst/>
          </a:prstGeom>
        </p:spPr>
      </p:pic>
      <p:sp>
        <p:nvSpPr>
          <p:cNvPr id="26" name="文本框 25">
            <a:extLst>
              <a:ext uri="{FF2B5EF4-FFF2-40B4-BE49-F238E27FC236}">
                <a16:creationId xmlns:a16="http://schemas.microsoft.com/office/drawing/2014/main" id="{03E12837-3DDE-3240-97E5-5A626376CD0E}"/>
              </a:ext>
            </a:extLst>
          </p:cNvPr>
          <p:cNvSpPr txBox="1"/>
          <p:nvPr/>
        </p:nvSpPr>
        <p:spPr>
          <a:xfrm>
            <a:off x="5883326" y="4248246"/>
            <a:ext cx="1249060" cy="369332"/>
          </a:xfrm>
          <a:prstGeom prst="rect">
            <a:avLst/>
          </a:prstGeom>
          <a:noFill/>
        </p:spPr>
        <p:txBody>
          <a:bodyPr wrap="none" rtlCol="0">
            <a:spAutoFit/>
          </a:bodyPr>
          <a:lstStyle/>
          <a:p>
            <a:r>
              <a:rPr kumimoji="1" lang="en-US" altLang="zh-CN" dirty="0"/>
              <a:t>1</a:t>
            </a:r>
            <a:r>
              <a:rPr kumimoji="1" lang="zh-CN" altLang="en-US" dirty="0"/>
              <a:t>台物理机</a:t>
            </a:r>
          </a:p>
        </p:txBody>
      </p:sp>
      <p:sp>
        <p:nvSpPr>
          <p:cNvPr id="27" name="文本框 26">
            <a:extLst>
              <a:ext uri="{FF2B5EF4-FFF2-40B4-BE49-F238E27FC236}">
                <a16:creationId xmlns:a16="http://schemas.microsoft.com/office/drawing/2014/main" id="{22872BD0-B138-5D46-9146-972491C3E076}"/>
              </a:ext>
            </a:extLst>
          </p:cNvPr>
          <p:cNvSpPr txBox="1"/>
          <p:nvPr/>
        </p:nvSpPr>
        <p:spPr>
          <a:xfrm>
            <a:off x="6825598" y="1676803"/>
            <a:ext cx="415498" cy="369332"/>
          </a:xfrm>
          <a:prstGeom prst="rect">
            <a:avLst/>
          </a:prstGeom>
          <a:noFill/>
        </p:spPr>
        <p:txBody>
          <a:bodyPr wrap="none" rtlCol="0">
            <a:spAutoFit/>
          </a:bodyPr>
          <a:lstStyle/>
          <a:p>
            <a:r>
              <a:rPr kumimoji="1" lang="en-US" altLang="zh-CN" dirty="0"/>
              <a:t>…</a:t>
            </a:r>
            <a:endParaRPr kumimoji="1" lang="zh-CN" altLang="en-US" dirty="0"/>
          </a:p>
        </p:txBody>
      </p:sp>
      <p:sp>
        <p:nvSpPr>
          <p:cNvPr id="28" name="文本框 27">
            <a:extLst>
              <a:ext uri="{FF2B5EF4-FFF2-40B4-BE49-F238E27FC236}">
                <a16:creationId xmlns:a16="http://schemas.microsoft.com/office/drawing/2014/main" id="{17679870-A2B3-3D4C-B2D2-D15C4B714AFD}"/>
              </a:ext>
            </a:extLst>
          </p:cNvPr>
          <p:cNvSpPr txBox="1"/>
          <p:nvPr/>
        </p:nvSpPr>
        <p:spPr>
          <a:xfrm>
            <a:off x="7786000" y="3903997"/>
            <a:ext cx="415498" cy="369332"/>
          </a:xfrm>
          <a:prstGeom prst="rect">
            <a:avLst/>
          </a:prstGeom>
          <a:noFill/>
        </p:spPr>
        <p:txBody>
          <a:bodyPr wrap="none" rtlCol="0">
            <a:spAutoFit/>
          </a:bodyPr>
          <a:lstStyle/>
          <a:p>
            <a:r>
              <a:rPr kumimoji="1" lang="en-US" altLang="zh-CN" dirty="0"/>
              <a:t>…</a:t>
            </a:r>
            <a:endParaRPr kumimoji="1" lang="zh-CN" altLang="en-US" dirty="0"/>
          </a:p>
        </p:txBody>
      </p:sp>
      <p:sp>
        <p:nvSpPr>
          <p:cNvPr id="29" name="文本框 28">
            <a:extLst>
              <a:ext uri="{FF2B5EF4-FFF2-40B4-BE49-F238E27FC236}">
                <a16:creationId xmlns:a16="http://schemas.microsoft.com/office/drawing/2014/main" id="{52AA40BB-99A5-CA43-86A8-B178F7A1C9E4}"/>
              </a:ext>
            </a:extLst>
          </p:cNvPr>
          <p:cNvSpPr txBox="1"/>
          <p:nvPr/>
        </p:nvSpPr>
        <p:spPr>
          <a:xfrm>
            <a:off x="6576001" y="2546410"/>
            <a:ext cx="415498" cy="369332"/>
          </a:xfrm>
          <a:prstGeom prst="rect">
            <a:avLst/>
          </a:prstGeom>
          <a:noFill/>
        </p:spPr>
        <p:txBody>
          <a:bodyPr wrap="none" rtlCol="0">
            <a:spAutoFit/>
          </a:bodyPr>
          <a:lstStyle/>
          <a:p>
            <a:r>
              <a:rPr kumimoji="1" lang="en-US" altLang="zh-CN" dirty="0"/>
              <a:t>…</a:t>
            </a:r>
            <a:endParaRPr kumimoji="1" lang="zh-CN" altLang="en-US" dirty="0"/>
          </a:p>
        </p:txBody>
      </p:sp>
      <p:sp>
        <p:nvSpPr>
          <p:cNvPr id="30" name="文本框 29">
            <a:extLst>
              <a:ext uri="{FF2B5EF4-FFF2-40B4-BE49-F238E27FC236}">
                <a16:creationId xmlns:a16="http://schemas.microsoft.com/office/drawing/2014/main" id="{5FFE1FFF-6738-1A44-A8DF-1DC03CEDABA4}"/>
              </a:ext>
            </a:extLst>
          </p:cNvPr>
          <p:cNvSpPr txBox="1"/>
          <p:nvPr/>
        </p:nvSpPr>
        <p:spPr>
          <a:xfrm>
            <a:off x="7335399" y="2567246"/>
            <a:ext cx="692985" cy="369332"/>
          </a:xfrm>
          <a:prstGeom prst="rect">
            <a:avLst/>
          </a:prstGeom>
          <a:noFill/>
        </p:spPr>
        <p:txBody>
          <a:bodyPr wrap="square">
            <a:spAutoFit/>
          </a:bodyPr>
          <a:lstStyle/>
          <a:p>
            <a:r>
              <a:rPr kumimoji="1" lang="zh-CN" altLang="en-US" b="1" dirty="0">
                <a:solidFill>
                  <a:schemeClr val="accent1"/>
                </a:solidFill>
              </a:rPr>
              <a:t>整合</a:t>
            </a:r>
            <a:endParaRPr lang="zh-CN" altLang="en-US" b="1" dirty="0">
              <a:solidFill>
                <a:schemeClr val="accent1"/>
              </a:solidFill>
            </a:endParaRPr>
          </a:p>
        </p:txBody>
      </p:sp>
    </p:spTree>
    <p:extLst>
      <p:ext uri="{BB962C8B-B14F-4D97-AF65-F5344CB8AC3E}">
        <p14:creationId xmlns:p14="http://schemas.microsoft.com/office/powerpoint/2010/main" val="3547219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6EC7CF-C77D-1A41-AA97-FE2743CE864A}"/>
              </a:ext>
            </a:extLst>
          </p:cNvPr>
          <p:cNvSpPr>
            <a:spLocks noGrp="1"/>
          </p:cNvSpPr>
          <p:nvPr>
            <p:ph type="title"/>
          </p:nvPr>
        </p:nvSpPr>
        <p:spPr/>
        <p:txBody>
          <a:bodyPr/>
          <a:lstStyle/>
          <a:p>
            <a:r>
              <a:rPr kumimoji="1" lang="zh-CN" altLang="en-US" dirty="0"/>
              <a:t>虚拟化优势</a:t>
            </a:r>
            <a:r>
              <a:rPr kumimoji="1" lang="en-US" altLang="zh-CN" dirty="0"/>
              <a:t>-2</a:t>
            </a:r>
            <a:r>
              <a:rPr kumimoji="1" lang="zh-CN" altLang="en-US" dirty="0"/>
              <a:t>：方便程序开发</a:t>
            </a:r>
          </a:p>
        </p:txBody>
      </p:sp>
      <p:sp>
        <p:nvSpPr>
          <p:cNvPr id="3" name="内容占位符 2">
            <a:extLst>
              <a:ext uri="{FF2B5EF4-FFF2-40B4-BE49-F238E27FC236}">
                <a16:creationId xmlns:a16="http://schemas.microsoft.com/office/drawing/2014/main" id="{37185C6B-CE5A-6144-B462-4650DF32D4FC}"/>
              </a:ext>
            </a:extLst>
          </p:cNvPr>
          <p:cNvSpPr>
            <a:spLocks noGrp="1"/>
          </p:cNvSpPr>
          <p:nvPr>
            <p:ph idx="1"/>
          </p:nvPr>
        </p:nvSpPr>
        <p:spPr/>
        <p:txBody>
          <a:bodyPr>
            <a:normAutofit fontScale="92500" lnSpcReduction="10000"/>
          </a:bodyPr>
          <a:lstStyle/>
          <a:p>
            <a:r>
              <a:rPr kumimoji="1" lang="zh-CN" altLang="en-US" dirty="0"/>
              <a:t>调试操作系统</a:t>
            </a:r>
            <a:endParaRPr kumimoji="1" lang="en-US" altLang="zh-CN" dirty="0"/>
          </a:p>
          <a:p>
            <a:pPr lvl="1"/>
            <a:r>
              <a:rPr kumimoji="1" lang="zh-CN" altLang="en-US" dirty="0"/>
              <a:t>单步调试操作系统</a:t>
            </a:r>
            <a:endParaRPr kumimoji="1" lang="en-US" altLang="zh-CN" dirty="0"/>
          </a:p>
          <a:p>
            <a:pPr lvl="1"/>
            <a:r>
              <a:rPr kumimoji="1" lang="zh-CN" altLang="en-US" dirty="0"/>
              <a:t>查看当前虚拟硬件的状态</a:t>
            </a:r>
            <a:endParaRPr kumimoji="1" lang="en-US" altLang="zh-CN" dirty="0"/>
          </a:p>
          <a:p>
            <a:pPr lvl="2"/>
            <a:r>
              <a:rPr kumimoji="1" lang="zh-CN" altLang="en-US" dirty="0"/>
              <a:t>寄存器中的值是否正确</a:t>
            </a:r>
            <a:endParaRPr kumimoji="1" lang="en-US" altLang="zh-CN" dirty="0"/>
          </a:p>
          <a:p>
            <a:pPr lvl="2"/>
            <a:r>
              <a:rPr kumimoji="1" lang="zh-CN" altLang="en-US" dirty="0"/>
              <a:t>内存映射是否正确</a:t>
            </a:r>
            <a:endParaRPr kumimoji="1" lang="en-US" altLang="zh-CN" dirty="0"/>
          </a:p>
          <a:p>
            <a:pPr lvl="1"/>
            <a:r>
              <a:rPr kumimoji="1" lang="zh-CN" altLang="en-US" dirty="0">
                <a:solidFill>
                  <a:srgbClr val="BE384B"/>
                </a:solidFill>
              </a:rPr>
              <a:t>随时</a:t>
            </a:r>
            <a:r>
              <a:rPr kumimoji="1" lang="zh-CN" altLang="en-US" dirty="0"/>
              <a:t>修改虚拟硬件的状态</a:t>
            </a:r>
            <a:endParaRPr kumimoji="1" lang="en-US" altLang="zh-CN" dirty="0"/>
          </a:p>
          <a:p>
            <a:r>
              <a:rPr kumimoji="1" lang="zh-CN" altLang="en-US" dirty="0"/>
              <a:t>测试应用程序的兼容性</a:t>
            </a:r>
            <a:endParaRPr kumimoji="1" lang="en-US" altLang="zh-CN" dirty="0"/>
          </a:p>
          <a:p>
            <a:pPr lvl="1"/>
            <a:r>
              <a:rPr kumimoji="1" lang="zh-CN" altLang="en-US" dirty="0"/>
              <a:t>可以在一台物理机上同时运行在不同的操作系统</a:t>
            </a:r>
            <a:endParaRPr kumimoji="1" lang="en-US" altLang="zh-CN" dirty="0"/>
          </a:p>
          <a:p>
            <a:pPr lvl="1"/>
            <a:r>
              <a:rPr kumimoji="1" lang="zh-CN" altLang="en-US" dirty="0"/>
              <a:t>测试应用程序在不同操作系统上的兼容性</a:t>
            </a:r>
            <a:endParaRPr kumimoji="1" lang="en-US" altLang="zh-CN" dirty="0"/>
          </a:p>
          <a:p>
            <a:pPr lvl="1"/>
            <a:endParaRPr kumimoji="1" lang="zh-CN" altLang="en-US" dirty="0"/>
          </a:p>
        </p:txBody>
      </p:sp>
      <p:sp>
        <p:nvSpPr>
          <p:cNvPr id="4" name="灯片编号占位符 3">
            <a:extLst>
              <a:ext uri="{FF2B5EF4-FFF2-40B4-BE49-F238E27FC236}">
                <a16:creationId xmlns:a16="http://schemas.microsoft.com/office/drawing/2014/main" id="{D4ADC8A8-018E-154D-8EFE-FD3745B353FE}"/>
              </a:ext>
            </a:extLst>
          </p:cNvPr>
          <p:cNvSpPr>
            <a:spLocks noGrp="1"/>
          </p:cNvSpPr>
          <p:nvPr>
            <p:ph type="sldNum" sz="quarter" idx="12"/>
          </p:nvPr>
        </p:nvSpPr>
        <p:spPr/>
        <p:txBody>
          <a:bodyPr/>
          <a:lstStyle/>
          <a:p>
            <a:fld id="{ADE361C3-C043-4A6E-BDCE-8DA1E7D90A3B}" type="slidenum">
              <a:rPr lang="zh-CN" altLang="en-US" smtClean="0"/>
              <a:t>9</a:t>
            </a:fld>
            <a:endParaRPr lang="zh-CN" altLang="en-US"/>
          </a:p>
        </p:txBody>
      </p:sp>
      <p:sp>
        <p:nvSpPr>
          <p:cNvPr id="5" name="页脚占位符 4">
            <a:extLst>
              <a:ext uri="{FF2B5EF4-FFF2-40B4-BE49-F238E27FC236}">
                <a16:creationId xmlns:a16="http://schemas.microsoft.com/office/drawing/2014/main" id="{C4CD1847-697F-404A-A526-F8B82A5D4FCA}"/>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851428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FC670B-833C-8F47-8214-8C4C6DF9FED4}"/>
              </a:ext>
            </a:extLst>
          </p:cNvPr>
          <p:cNvSpPr>
            <a:spLocks noGrp="1"/>
          </p:cNvSpPr>
          <p:nvPr>
            <p:ph type="title"/>
          </p:nvPr>
        </p:nvSpPr>
        <p:spPr/>
        <p:txBody>
          <a:bodyPr/>
          <a:lstStyle/>
          <a:p>
            <a:r>
              <a:rPr kumimoji="1" lang="zh-CN" altLang="en-US" dirty="0"/>
              <a:t>虚拟化优势</a:t>
            </a:r>
            <a:r>
              <a:rPr kumimoji="1" lang="en-US" altLang="zh-CN" dirty="0"/>
              <a:t>-3</a:t>
            </a:r>
            <a:r>
              <a:rPr kumimoji="1" lang="zh-CN" altLang="en-US" dirty="0"/>
              <a:t>：简化服务器管理</a:t>
            </a:r>
          </a:p>
        </p:txBody>
      </p:sp>
      <p:sp>
        <p:nvSpPr>
          <p:cNvPr id="3" name="内容占位符 2">
            <a:extLst>
              <a:ext uri="{FF2B5EF4-FFF2-40B4-BE49-F238E27FC236}">
                <a16:creationId xmlns:a16="http://schemas.microsoft.com/office/drawing/2014/main" id="{DF6E1F2D-C177-8746-9D97-EB6F3C28036A}"/>
              </a:ext>
            </a:extLst>
          </p:cNvPr>
          <p:cNvSpPr>
            <a:spLocks noGrp="1"/>
          </p:cNvSpPr>
          <p:nvPr>
            <p:ph idx="1"/>
          </p:nvPr>
        </p:nvSpPr>
        <p:spPr/>
        <p:txBody>
          <a:bodyPr/>
          <a:lstStyle/>
          <a:p>
            <a:r>
              <a:rPr kumimoji="1" lang="zh-CN" altLang="en-US" dirty="0"/>
              <a:t>通过软件接口管理虚拟机</a:t>
            </a:r>
            <a:endParaRPr kumimoji="1" lang="en-US" altLang="zh-CN" dirty="0"/>
          </a:p>
          <a:p>
            <a:pPr lvl="1"/>
            <a:r>
              <a:rPr kumimoji="1" lang="zh-CN" altLang="en-US" dirty="0"/>
              <a:t>创建、开机、关机、销毁</a:t>
            </a:r>
            <a:endParaRPr kumimoji="1" lang="en-US" altLang="zh-CN" dirty="0"/>
          </a:p>
          <a:p>
            <a:pPr lvl="1"/>
            <a:r>
              <a:rPr kumimoji="1" lang="zh-CN" altLang="en-US" dirty="0"/>
              <a:t>方便高效</a:t>
            </a:r>
            <a:endParaRPr kumimoji="1" lang="en-US" altLang="zh-CN" dirty="0"/>
          </a:p>
          <a:p>
            <a:r>
              <a:rPr kumimoji="1" lang="zh-CN" altLang="en-US" dirty="0"/>
              <a:t>虚拟机热迁移</a:t>
            </a:r>
            <a:endParaRPr kumimoji="1" lang="en-US" altLang="zh-CN" dirty="0"/>
          </a:p>
          <a:p>
            <a:pPr lvl="1"/>
            <a:r>
              <a:rPr kumimoji="1" lang="zh-CN" altLang="en-US" dirty="0"/>
              <a:t>方便物理机器的维护和升级</a:t>
            </a:r>
          </a:p>
        </p:txBody>
      </p:sp>
      <p:sp>
        <p:nvSpPr>
          <p:cNvPr id="4" name="灯片编号占位符 3">
            <a:extLst>
              <a:ext uri="{FF2B5EF4-FFF2-40B4-BE49-F238E27FC236}">
                <a16:creationId xmlns:a16="http://schemas.microsoft.com/office/drawing/2014/main" id="{2972556D-92BE-634B-81F8-0BDE03939EFC}"/>
              </a:ext>
            </a:extLst>
          </p:cNvPr>
          <p:cNvSpPr>
            <a:spLocks noGrp="1"/>
          </p:cNvSpPr>
          <p:nvPr>
            <p:ph type="sldNum" sz="quarter" idx="12"/>
          </p:nvPr>
        </p:nvSpPr>
        <p:spPr/>
        <p:txBody>
          <a:bodyPr/>
          <a:lstStyle/>
          <a:p>
            <a:fld id="{ADE361C3-C043-4A6E-BDCE-8DA1E7D90A3B}" type="slidenum">
              <a:rPr lang="zh-CN" altLang="en-US" smtClean="0"/>
              <a:t>10</a:t>
            </a:fld>
            <a:endParaRPr lang="zh-CN" altLang="en-US"/>
          </a:p>
        </p:txBody>
      </p:sp>
      <p:sp>
        <p:nvSpPr>
          <p:cNvPr id="5" name="页脚占位符 4">
            <a:extLst>
              <a:ext uri="{FF2B5EF4-FFF2-40B4-BE49-F238E27FC236}">
                <a16:creationId xmlns:a16="http://schemas.microsoft.com/office/drawing/2014/main" id="{96EAF92D-6EE4-AE4A-B38D-9FA477B6DF7E}"/>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4164873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C3CFBB2-29A4-9845-909C-D2C6211C1301}"/>
              </a:ext>
            </a:extLst>
          </p:cNvPr>
          <p:cNvSpPr>
            <a:spLocks noGrp="1"/>
          </p:cNvSpPr>
          <p:nvPr>
            <p:ph type="title"/>
          </p:nvPr>
        </p:nvSpPr>
        <p:spPr/>
        <p:txBody>
          <a:bodyPr/>
          <a:lstStyle/>
          <a:p>
            <a:r>
              <a:rPr kumimoji="1" lang="zh-CN" altLang="en-US" dirty="0"/>
              <a:t>什么是系统虚拟化</a:t>
            </a:r>
            <a:r>
              <a:rPr kumimoji="1" lang="en-US" altLang="zh-CN" dirty="0"/>
              <a:t>?</a:t>
            </a:r>
            <a:endParaRPr kumimoji="1" lang="zh-CN" altLang="en-US" b="1" dirty="0"/>
          </a:p>
        </p:txBody>
      </p:sp>
      <p:sp>
        <p:nvSpPr>
          <p:cNvPr id="6" name="文本占位符 5">
            <a:extLst>
              <a:ext uri="{FF2B5EF4-FFF2-40B4-BE49-F238E27FC236}">
                <a16:creationId xmlns:a16="http://schemas.microsoft.com/office/drawing/2014/main" id="{88326478-0DD6-F849-B334-5BDB7DEEC82C}"/>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45F61D95-77C6-4F44-A6A2-DDF144D592FE}"/>
              </a:ext>
            </a:extLst>
          </p:cNvPr>
          <p:cNvSpPr>
            <a:spLocks noGrp="1"/>
          </p:cNvSpPr>
          <p:nvPr>
            <p:ph type="sldNum" sz="quarter" idx="12"/>
          </p:nvPr>
        </p:nvSpPr>
        <p:spPr/>
        <p:txBody>
          <a:bodyPr/>
          <a:lstStyle/>
          <a:p>
            <a:fld id="{ADE361C3-C043-4A6E-BDCE-8DA1E7D90A3B}" type="slidenum">
              <a:rPr lang="zh-CN" altLang="en-US" smtClean="0"/>
              <a:t>11</a:t>
            </a:fld>
            <a:endParaRPr lang="zh-CN" altLang="en-US"/>
          </a:p>
        </p:txBody>
      </p:sp>
      <p:sp>
        <p:nvSpPr>
          <p:cNvPr id="7" name="页脚占位符 4">
            <a:extLst>
              <a:ext uri="{FF2B5EF4-FFF2-40B4-BE49-F238E27FC236}">
                <a16:creationId xmlns:a16="http://schemas.microsoft.com/office/drawing/2014/main" id="{68F72CF8-9211-EE45-9468-F698C90541EC}"/>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56381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D0FD15-5D47-5D45-86BA-3B1610C67F26}"/>
              </a:ext>
            </a:extLst>
          </p:cNvPr>
          <p:cNvSpPr>
            <a:spLocks noGrp="1"/>
          </p:cNvSpPr>
          <p:nvPr>
            <p:ph type="title"/>
          </p:nvPr>
        </p:nvSpPr>
        <p:spPr/>
        <p:txBody>
          <a:bodyPr/>
          <a:lstStyle/>
          <a:p>
            <a:r>
              <a:rPr kumimoji="1" lang="zh-CN" altLang="en-US" dirty="0"/>
              <a:t>操作系统中的接口层次</a:t>
            </a:r>
            <a:r>
              <a:rPr kumimoji="1" lang="en-US" altLang="zh-CN" dirty="0"/>
              <a:t>:</a:t>
            </a:r>
            <a:r>
              <a:rPr kumimoji="1" lang="zh-CN" altLang="en-US" dirty="0"/>
              <a:t> </a:t>
            </a:r>
            <a:r>
              <a:rPr kumimoji="1" lang="en-US" altLang="zh-CN" dirty="0"/>
              <a:t>ISA</a:t>
            </a:r>
            <a:endParaRPr kumimoji="1" lang="zh-CN" altLang="en-US" dirty="0"/>
          </a:p>
        </p:txBody>
      </p:sp>
      <p:sp>
        <p:nvSpPr>
          <p:cNvPr id="3" name="内容占位符 2">
            <a:extLst>
              <a:ext uri="{FF2B5EF4-FFF2-40B4-BE49-F238E27FC236}">
                <a16:creationId xmlns:a16="http://schemas.microsoft.com/office/drawing/2014/main" id="{29F28F64-E3F3-C14A-B759-9C139AEC915E}"/>
              </a:ext>
            </a:extLst>
          </p:cNvPr>
          <p:cNvSpPr>
            <a:spLocks noGrp="1"/>
          </p:cNvSpPr>
          <p:nvPr>
            <p:ph idx="1"/>
          </p:nvPr>
        </p:nvSpPr>
        <p:spPr/>
        <p:txBody>
          <a:bodyPr>
            <a:normAutofit fontScale="92500" lnSpcReduction="20000"/>
          </a:bodyPr>
          <a:lstStyle/>
          <a:p>
            <a:r>
              <a:rPr lang="en-US" altLang="zh-CN" dirty="0"/>
              <a:t>ISA</a:t>
            </a:r>
            <a:r>
              <a:rPr lang="zh-CN" altLang="en-US" dirty="0"/>
              <a:t>层</a:t>
            </a:r>
            <a:endParaRPr lang="en-US" altLang="zh-CN" dirty="0"/>
          </a:p>
          <a:p>
            <a:pPr lvl="1"/>
            <a:r>
              <a:rPr lang="en-US" altLang="zh-CN" dirty="0"/>
              <a:t>Instruction Set Architecture</a:t>
            </a:r>
          </a:p>
          <a:p>
            <a:pPr lvl="1"/>
            <a:r>
              <a:rPr lang="zh-CN" altLang="en-US" dirty="0"/>
              <a:t>区分硬件和软件</a:t>
            </a:r>
            <a:endParaRPr lang="en-US" altLang="zh-CN" dirty="0"/>
          </a:p>
          <a:p>
            <a:pPr lvl="1"/>
            <a:r>
              <a:rPr lang="zh-CN" altLang="en-US" dirty="0"/>
              <a:t>用户</a:t>
            </a:r>
            <a:r>
              <a:rPr lang="en-US" altLang="zh-CN" dirty="0"/>
              <a:t>ISA</a:t>
            </a:r>
          </a:p>
          <a:p>
            <a:pPr lvl="2"/>
            <a:r>
              <a:rPr lang="zh-CN" altLang="en-US" dirty="0"/>
              <a:t>用户态和内核态程序都可以使用</a:t>
            </a:r>
            <a:endParaRPr lang="en-US" altLang="zh-CN" dirty="0"/>
          </a:p>
          <a:p>
            <a:pPr lvl="2"/>
            <a:r>
              <a:rPr lang="en-US" altLang="zh-CN" dirty="0"/>
              <a:t>mov</a:t>
            </a:r>
            <a:r>
              <a:rPr lang="zh-CN" altLang="en-US" dirty="0"/>
              <a:t> </a:t>
            </a:r>
            <a:r>
              <a:rPr lang="en-US" altLang="zh-CN" dirty="0"/>
              <a:t>x0,</a:t>
            </a:r>
            <a:r>
              <a:rPr lang="zh-CN" altLang="en-US" dirty="0"/>
              <a:t> </a:t>
            </a:r>
            <a:r>
              <a:rPr lang="en-US" altLang="zh-CN" dirty="0" err="1"/>
              <a:t>sp</a:t>
            </a:r>
            <a:endParaRPr lang="en-US" altLang="zh-CN" dirty="0"/>
          </a:p>
          <a:p>
            <a:pPr lvl="2"/>
            <a:r>
              <a:rPr lang="en-US" altLang="zh-CN" dirty="0"/>
              <a:t>add</a:t>
            </a:r>
            <a:r>
              <a:rPr lang="zh-CN" altLang="en-US" dirty="0"/>
              <a:t> </a:t>
            </a:r>
            <a:r>
              <a:rPr lang="en-US" altLang="zh-CN" dirty="0"/>
              <a:t>x0,</a:t>
            </a:r>
            <a:r>
              <a:rPr lang="zh-CN" altLang="en-US" dirty="0"/>
              <a:t> </a:t>
            </a:r>
            <a:r>
              <a:rPr lang="en-US" altLang="zh-CN" dirty="0"/>
              <a:t>x0,</a:t>
            </a:r>
            <a:r>
              <a:rPr lang="zh-CN" altLang="en-US" dirty="0"/>
              <a:t> </a:t>
            </a:r>
            <a:r>
              <a:rPr lang="en-US" altLang="zh-CN" dirty="0"/>
              <a:t>#1</a:t>
            </a:r>
          </a:p>
          <a:p>
            <a:pPr lvl="1"/>
            <a:r>
              <a:rPr lang="zh-CN" altLang="en-US" dirty="0"/>
              <a:t>系统</a:t>
            </a:r>
            <a:r>
              <a:rPr lang="en-US" altLang="zh-CN" dirty="0"/>
              <a:t>ISA</a:t>
            </a:r>
          </a:p>
          <a:p>
            <a:pPr lvl="2"/>
            <a:r>
              <a:rPr lang="zh-CN" altLang="en-US" dirty="0"/>
              <a:t>只有内核态程序可以使用</a:t>
            </a:r>
            <a:endParaRPr lang="en-US" altLang="zh-CN" dirty="0"/>
          </a:p>
          <a:p>
            <a:pPr lvl="2"/>
            <a:r>
              <a:rPr kumimoji="1" lang="en-US" altLang="zh-CN" dirty="0" err="1"/>
              <a:t>msr</a:t>
            </a:r>
            <a:r>
              <a:rPr kumimoji="1" lang="zh-CN" altLang="en-US" dirty="0"/>
              <a:t> </a:t>
            </a:r>
            <a:r>
              <a:rPr kumimoji="1" lang="en-US" altLang="zh-CN" dirty="0"/>
              <a:t>vbar_el1,</a:t>
            </a:r>
            <a:r>
              <a:rPr kumimoji="1" lang="zh-CN" altLang="en-US" dirty="0"/>
              <a:t> </a:t>
            </a:r>
            <a:r>
              <a:rPr kumimoji="1" lang="en-US" altLang="zh-CN" dirty="0"/>
              <a:t>x0</a:t>
            </a:r>
            <a:endParaRPr kumimoji="1" lang="zh-CN" altLang="en-US" dirty="0"/>
          </a:p>
        </p:txBody>
      </p:sp>
      <p:sp>
        <p:nvSpPr>
          <p:cNvPr id="4" name="灯片编号占位符 3">
            <a:extLst>
              <a:ext uri="{FF2B5EF4-FFF2-40B4-BE49-F238E27FC236}">
                <a16:creationId xmlns:a16="http://schemas.microsoft.com/office/drawing/2014/main" id="{82B3CDF8-AA61-F749-9CE7-B03A3775A589}"/>
              </a:ext>
            </a:extLst>
          </p:cNvPr>
          <p:cNvSpPr>
            <a:spLocks noGrp="1"/>
          </p:cNvSpPr>
          <p:nvPr>
            <p:ph type="sldNum" sz="quarter" idx="12"/>
          </p:nvPr>
        </p:nvSpPr>
        <p:spPr/>
        <p:txBody>
          <a:bodyPr/>
          <a:lstStyle/>
          <a:p>
            <a:fld id="{ADE361C3-C043-4A6E-BDCE-8DA1E7D90A3B}" type="slidenum">
              <a:rPr lang="zh-CN" altLang="en-US" smtClean="0"/>
              <a:t>12</a:t>
            </a:fld>
            <a:endParaRPr lang="zh-CN" altLang="en-US" dirty="0"/>
          </a:p>
        </p:txBody>
      </p:sp>
      <p:sp>
        <p:nvSpPr>
          <p:cNvPr id="5" name="页脚占位符 4">
            <a:extLst>
              <a:ext uri="{FF2B5EF4-FFF2-40B4-BE49-F238E27FC236}">
                <a16:creationId xmlns:a16="http://schemas.microsoft.com/office/drawing/2014/main" id="{40568454-89C9-4C40-8D22-73B18059ABC4}"/>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grpSp>
        <p:nvGrpSpPr>
          <p:cNvPr id="7" name="Group 28">
            <a:extLst>
              <a:ext uri="{FF2B5EF4-FFF2-40B4-BE49-F238E27FC236}">
                <a16:creationId xmlns:a16="http://schemas.microsoft.com/office/drawing/2014/main" id="{CDD2BC67-C305-D440-86D9-ACA8EDFA055C}"/>
              </a:ext>
            </a:extLst>
          </p:cNvPr>
          <p:cNvGrpSpPr>
            <a:grpSpLocks/>
          </p:cNvGrpSpPr>
          <p:nvPr/>
        </p:nvGrpSpPr>
        <p:grpSpPr bwMode="auto">
          <a:xfrm>
            <a:off x="5702298" y="985292"/>
            <a:ext cx="2984502" cy="2603500"/>
            <a:chOff x="864" y="1056"/>
            <a:chExt cx="2256" cy="1968"/>
          </a:xfrm>
        </p:grpSpPr>
        <p:sp>
          <p:nvSpPr>
            <p:cNvPr id="8" name="Rectangle 4">
              <a:extLst>
                <a:ext uri="{FF2B5EF4-FFF2-40B4-BE49-F238E27FC236}">
                  <a16:creationId xmlns:a16="http://schemas.microsoft.com/office/drawing/2014/main" id="{1E31299E-A430-0D4A-A6E8-A2BB8A7B19F3}"/>
                </a:ext>
              </a:extLst>
            </p:cNvPr>
            <p:cNvSpPr>
              <a:spLocks noChangeArrowheads="1"/>
            </p:cNvSpPr>
            <p:nvPr/>
          </p:nvSpPr>
          <p:spPr bwMode="auto">
            <a:xfrm>
              <a:off x="864" y="2160"/>
              <a:ext cx="2256" cy="864"/>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hlink"/>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500"/>
            </a:p>
          </p:txBody>
        </p:sp>
        <p:sp>
          <p:nvSpPr>
            <p:cNvPr id="9" name="Text Box 5">
              <a:extLst>
                <a:ext uri="{FF2B5EF4-FFF2-40B4-BE49-F238E27FC236}">
                  <a16:creationId xmlns:a16="http://schemas.microsoft.com/office/drawing/2014/main" id="{139BED65-D184-434B-99F0-B93209F0DF44}"/>
                </a:ext>
              </a:extLst>
            </p:cNvPr>
            <p:cNvSpPr txBox="1">
              <a:spLocks noChangeArrowheads="1"/>
            </p:cNvSpPr>
            <p:nvPr/>
          </p:nvSpPr>
          <p:spPr bwMode="auto">
            <a:xfrm>
              <a:off x="1536" y="2496"/>
              <a:ext cx="399" cy="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zh-CN" altLang="en-US" sz="1333" i="1" dirty="0">
                  <a:latin typeface="Arial Black" panose="020B0A04020102020204" pitchFamily="34" charset="0"/>
                </a:rPr>
                <a:t>硬件</a:t>
              </a:r>
              <a:endParaRPr lang="en-US" altLang="zh-CN" sz="1333" i="1" dirty="0">
                <a:latin typeface="Arial Black" panose="020B0A04020102020204" pitchFamily="34" charset="0"/>
              </a:endParaRPr>
            </a:p>
          </p:txBody>
        </p:sp>
        <p:sp>
          <p:nvSpPr>
            <p:cNvPr id="10" name="Text Box 6">
              <a:extLst>
                <a:ext uri="{FF2B5EF4-FFF2-40B4-BE49-F238E27FC236}">
                  <a16:creationId xmlns:a16="http://schemas.microsoft.com/office/drawing/2014/main" id="{133408F7-0F7F-B642-8114-BCDF8B9718F1}"/>
                </a:ext>
              </a:extLst>
            </p:cNvPr>
            <p:cNvSpPr txBox="1">
              <a:spLocks noChangeArrowheads="1"/>
            </p:cNvSpPr>
            <p:nvPr/>
          </p:nvSpPr>
          <p:spPr bwMode="auto">
            <a:xfrm>
              <a:off x="1249" y="2160"/>
              <a:ext cx="516" cy="1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zh-CN" altLang="en-US" sz="1000" dirty="0">
                  <a:latin typeface="Arial Black" panose="020B0A04020102020204" pitchFamily="34" charset="0"/>
                </a:rPr>
                <a:t>系统</a:t>
              </a:r>
              <a:r>
                <a:rPr lang="en-US" altLang="zh-CN" sz="1000" dirty="0">
                  <a:latin typeface="Arial Black" panose="020B0A04020102020204" pitchFamily="34" charset="0"/>
                </a:rPr>
                <a:t>ISA</a:t>
              </a:r>
            </a:p>
          </p:txBody>
        </p:sp>
        <p:sp>
          <p:nvSpPr>
            <p:cNvPr id="11" name="Text Box 7">
              <a:extLst>
                <a:ext uri="{FF2B5EF4-FFF2-40B4-BE49-F238E27FC236}">
                  <a16:creationId xmlns:a16="http://schemas.microsoft.com/office/drawing/2014/main" id="{78802078-2280-0B47-B376-43C4D4FE1F6B}"/>
                </a:ext>
              </a:extLst>
            </p:cNvPr>
            <p:cNvSpPr txBox="1">
              <a:spLocks noChangeArrowheads="1"/>
            </p:cNvSpPr>
            <p:nvPr/>
          </p:nvSpPr>
          <p:spPr bwMode="auto">
            <a:xfrm>
              <a:off x="2496" y="2160"/>
              <a:ext cx="549" cy="1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zh-CN" altLang="en-US" sz="1000" dirty="0">
                  <a:latin typeface="Arial Black" panose="020B0A04020102020204" pitchFamily="34" charset="0"/>
                </a:rPr>
                <a:t>用户</a:t>
              </a:r>
              <a:r>
                <a:rPr lang="en-US" altLang="zh-CN" sz="1000" dirty="0">
                  <a:latin typeface="Arial Black" panose="020B0A04020102020204" pitchFamily="34" charset="0"/>
                </a:rPr>
                <a:t> ISA</a:t>
              </a:r>
            </a:p>
          </p:txBody>
        </p:sp>
        <p:sp>
          <p:nvSpPr>
            <p:cNvPr id="12" name="Rectangle 8">
              <a:extLst>
                <a:ext uri="{FF2B5EF4-FFF2-40B4-BE49-F238E27FC236}">
                  <a16:creationId xmlns:a16="http://schemas.microsoft.com/office/drawing/2014/main" id="{EDBD6FA5-20AD-3348-9B64-50E5AC0C7752}"/>
                </a:ext>
              </a:extLst>
            </p:cNvPr>
            <p:cNvSpPr>
              <a:spLocks noChangeArrowheads="1"/>
            </p:cNvSpPr>
            <p:nvPr/>
          </p:nvSpPr>
          <p:spPr bwMode="auto">
            <a:xfrm>
              <a:off x="864" y="1680"/>
              <a:ext cx="1488" cy="480"/>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500"/>
            </a:p>
          </p:txBody>
        </p:sp>
        <p:sp>
          <p:nvSpPr>
            <p:cNvPr id="13" name="Text Box 9">
              <a:extLst>
                <a:ext uri="{FF2B5EF4-FFF2-40B4-BE49-F238E27FC236}">
                  <a16:creationId xmlns:a16="http://schemas.microsoft.com/office/drawing/2014/main" id="{08042E2B-75D1-7440-89B1-21434AC7BEE9}"/>
                </a:ext>
              </a:extLst>
            </p:cNvPr>
            <p:cNvSpPr txBox="1">
              <a:spLocks noChangeArrowheads="1"/>
            </p:cNvSpPr>
            <p:nvPr/>
          </p:nvSpPr>
          <p:spPr bwMode="auto">
            <a:xfrm>
              <a:off x="912" y="1680"/>
              <a:ext cx="527" cy="1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zh-CN" altLang="en-US" sz="1000" i="1" dirty="0">
                  <a:latin typeface="Arial Black" panose="020B0A04020102020204" pitchFamily="34" charset="0"/>
                </a:rPr>
                <a:t>操作系统</a:t>
              </a:r>
              <a:endParaRPr lang="en-US" altLang="zh-CN" sz="1000" i="1" dirty="0">
                <a:latin typeface="Arial Black" panose="020B0A04020102020204" pitchFamily="34" charset="0"/>
              </a:endParaRPr>
            </a:p>
          </p:txBody>
        </p:sp>
        <p:sp>
          <p:nvSpPr>
            <p:cNvPr id="15" name="Rectangle 14">
              <a:extLst>
                <a:ext uri="{FF2B5EF4-FFF2-40B4-BE49-F238E27FC236}">
                  <a16:creationId xmlns:a16="http://schemas.microsoft.com/office/drawing/2014/main" id="{ACD67C81-00F3-D943-8800-7B6433D6F2A4}"/>
                </a:ext>
              </a:extLst>
            </p:cNvPr>
            <p:cNvSpPr>
              <a:spLocks noChangeArrowheads="1"/>
            </p:cNvSpPr>
            <p:nvPr/>
          </p:nvSpPr>
          <p:spPr bwMode="auto">
            <a:xfrm>
              <a:off x="864" y="1296"/>
              <a:ext cx="1056" cy="384"/>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500"/>
            </a:p>
          </p:txBody>
        </p:sp>
        <p:sp>
          <p:nvSpPr>
            <p:cNvPr id="16" name="Text Box 16">
              <a:extLst>
                <a:ext uri="{FF2B5EF4-FFF2-40B4-BE49-F238E27FC236}">
                  <a16:creationId xmlns:a16="http://schemas.microsoft.com/office/drawing/2014/main" id="{D6406269-0AFF-9D48-93B2-9B9A703A90EE}"/>
                </a:ext>
              </a:extLst>
            </p:cNvPr>
            <p:cNvSpPr txBox="1">
              <a:spLocks noChangeArrowheads="1"/>
            </p:cNvSpPr>
            <p:nvPr/>
          </p:nvSpPr>
          <p:spPr bwMode="auto">
            <a:xfrm>
              <a:off x="957" y="1352"/>
              <a:ext cx="237" cy="1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zh-CN" altLang="en-US" sz="1000" i="1" dirty="0">
                  <a:latin typeface="Arial Black" panose="020B0A04020102020204" pitchFamily="34" charset="0"/>
                </a:rPr>
                <a:t>库</a:t>
              </a:r>
              <a:endParaRPr lang="en-US" altLang="zh-CN" sz="1000" i="1" dirty="0">
                <a:latin typeface="Arial Black" panose="020B0A04020102020204" pitchFamily="34" charset="0"/>
              </a:endParaRPr>
            </a:p>
          </p:txBody>
        </p:sp>
        <p:sp>
          <p:nvSpPr>
            <p:cNvPr id="17" name="Line 17">
              <a:extLst>
                <a:ext uri="{FF2B5EF4-FFF2-40B4-BE49-F238E27FC236}">
                  <a16:creationId xmlns:a16="http://schemas.microsoft.com/office/drawing/2014/main" id="{DE5E11EA-CD44-6440-9FB1-DB78EB049579}"/>
                </a:ext>
              </a:extLst>
            </p:cNvPr>
            <p:cNvSpPr>
              <a:spLocks noChangeShapeType="1"/>
            </p:cNvSpPr>
            <p:nvPr/>
          </p:nvSpPr>
          <p:spPr bwMode="auto">
            <a:xfrm flipV="1">
              <a:off x="864" y="1056"/>
              <a:ext cx="0" cy="24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sp>
          <p:nvSpPr>
            <p:cNvPr id="18" name="Line 18">
              <a:extLst>
                <a:ext uri="{FF2B5EF4-FFF2-40B4-BE49-F238E27FC236}">
                  <a16:creationId xmlns:a16="http://schemas.microsoft.com/office/drawing/2014/main" id="{A52C9053-8C32-FA4B-807B-82C2965DF99F}"/>
                </a:ext>
              </a:extLst>
            </p:cNvPr>
            <p:cNvSpPr>
              <a:spLocks noChangeShapeType="1"/>
            </p:cNvSpPr>
            <p:nvPr/>
          </p:nvSpPr>
          <p:spPr bwMode="auto">
            <a:xfrm>
              <a:off x="864" y="1056"/>
              <a:ext cx="2256"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sp>
          <p:nvSpPr>
            <p:cNvPr id="19" name="Line 19">
              <a:extLst>
                <a:ext uri="{FF2B5EF4-FFF2-40B4-BE49-F238E27FC236}">
                  <a16:creationId xmlns:a16="http://schemas.microsoft.com/office/drawing/2014/main" id="{DB94AC95-BEA9-7C40-8DB1-9C81D1824779}"/>
                </a:ext>
              </a:extLst>
            </p:cNvPr>
            <p:cNvSpPr>
              <a:spLocks noChangeShapeType="1"/>
            </p:cNvSpPr>
            <p:nvPr/>
          </p:nvSpPr>
          <p:spPr bwMode="auto">
            <a:xfrm flipV="1">
              <a:off x="3120" y="1056"/>
              <a:ext cx="0" cy="1104"/>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sp>
          <p:nvSpPr>
            <p:cNvPr id="20" name="Text Box 21">
              <a:extLst>
                <a:ext uri="{FF2B5EF4-FFF2-40B4-BE49-F238E27FC236}">
                  <a16:creationId xmlns:a16="http://schemas.microsoft.com/office/drawing/2014/main" id="{8956F013-BACD-2C48-BACF-01EE0A1D6528}"/>
                </a:ext>
              </a:extLst>
            </p:cNvPr>
            <p:cNvSpPr txBox="1">
              <a:spLocks noChangeArrowheads="1"/>
            </p:cNvSpPr>
            <p:nvPr/>
          </p:nvSpPr>
          <p:spPr bwMode="auto">
            <a:xfrm>
              <a:off x="2632" y="1095"/>
              <a:ext cx="333" cy="1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zh-CN" altLang="en-US" sz="1000" i="1" dirty="0">
                  <a:latin typeface="Arial Black" panose="020B0A04020102020204" pitchFamily="34" charset="0"/>
                </a:rPr>
                <a:t>应用</a:t>
              </a:r>
              <a:endParaRPr lang="en-US" altLang="zh-CN" sz="1000" i="1" dirty="0">
                <a:latin typeface="Arial Black" panose="020B0A04020102020204" pitchFamily="34" charset="0"/>
              </a:endParaRPr>
            </a:p>
          </p:txBody>
        </p:sp>
      </p:grpSp>
      <p:grpSp>
        <p:nvGrpSpPr>
          <p:cNvPr id="25" name="Group 54">
            <a:extLst>
              <a:ext uri="{FF2B5EF4-FFF2-40B4-BE49-F238E27FC236}">
                <a16:creationId xmlns:a16="http://schemas.microsoft.com/office/drawing/2014/main" id="{FA1E36EF-DB77-864C-99D4-794BC4B5E408}"/>
              </a:ext>
            </a:extLst>
          </p:cNvPr>
          <p:cNvGrpSpPr>
            <a:grpSpLocks/>
          </p:cNvGrpSpPr>
          <p:nvPr/>
        </p:nvGrpSpPr>
        <p:grpSpPr bwMode="auto">
          <a:xfrm>
            <a:off x="4935611" y="2268694"/>
            <a:ext cx="4016375" cy="322792"/>
            <a:chOff x="1356" y="2112"/>
            <a:chExt cx="3036" cy="244"/>
          </a:xfrm>
        </p:grpSpPr>
        <p:sp>
          <p:nvSpPr>
            <p:cNvPr id="26" name="Line 23">
              <a:extLst>
                <a:ext uri="{FF2B5EF4-FFF2-40B4-BE49-F238E27FC236}">
                  <a16:creationId xmlns:a16="http://schemas.microsoft.com/office/drawing/2014/main" id="{9C7E54A2-08D2-C347-B10F-FCA9767E5185}"/>
                </a:ext>
              </a:extLst>
            </p:cNvPr>
            <p:cNvSpPr>
              <a:spLocks noChangeShapeType="1"/>
            </p:cNvSpPr>
            <p:nvPr/>
          </p:nvSpPr>
          <p:spPr bwMode="auto">
            <a:xfrm>
              <a:off x="1688" y="2256"/>
              <a:ext cx="2704" cy="0"/>
            </a:xfrm>
            <a:prstGeom prst="line">
              <a:avLst/>
            </a:prstGeom>
            <a:noFill/>
            <a:ln w="3810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sp>
          <p:nvSpPr>
            <p:cNvPr id="27" name="Text Box 24">
              <a:extLst>
                <a:ext uri="{FF2B5EF4-FFF2-40B4-BE49-F238E27FC236}">
                  <a16:creationId xmlns:a16="http://schemas.microsoft.com/office/drawing/2014/main" id="{87B0ED9A-D28B-5A46-9FC2-6732F175CF38}"/>
                </a:ext>
              </a:extLst>
            </p:cNvPr>
            <p:cNvSpPr txBox="1">
              <a:spLocks noChangeArrowheads="1"/>
            </p:cNvSpPr>
            <p:nvPr/>
          </p:nvSpPr>
          <p:spPr bwMode="auto">
            <a:xfrm>
              <a:off x="1356" y="2112"/>
              <a:ext cx="390" cy="2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381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r>
                <a:rPr lang="en-US" altLang="zh-CN" sz="1500" b="1" dirty="0">
                  <a:solidFill>
                    <a:schemeClr val="accent2"/>
                  </a:solidFill>
                </a:rPr>
                <a:t>ISA</a:t>
              </a:r>
            </a:p>
          </p:txBody>
        </p:sp>
      </p:grpSp>
      <p:sp>
        <p:nvSpPr>
          <p:cNvPr id="44" name="Rectangle 51">
            <a:extLst>
              <a:ext uri="{FF2B5EF4-FFF2-40B4-BE49-F238E27FC236}">
                <a16:creationId xmlns:a16="http://schemas.microsoft.com/office/drawing/2014/main" id="{883E9E74-5162-F54A-97FD-1798DB0219DC}"/>
              </a:ext>
            </a:extLst>
          </p:cNvPr>
          <p:cNvSpPr>
            <a:spLocks noChangeArrowheads="1"/>
          </p:cNvSpPr>
          <p:nvPr/>
        </p:nvSpPr>
        <p:spPr bwMode="auto">
          <a:xfrm>
            <a:off x="5585666" y="4420716"/>
            <a:ext cx="3746500" cy="381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marL="342900" indent="-342900">
              <a:spcBef>
                <a:spcPct val="20000"/>
              </a:spcBef>
              <a:buClr>
                <a:schemeClr val="accent1"/>
              </a:buClr>
              <a:buSzPct val="75000"/>
              <a:buFont typeface="Wingdings" panose="05000000000000000000" pitchFamily="2" charset="2"/>
              <a:buChar char="n"/>
              <a:defRPr sz="3000">
                <a:solidFill>
                  <a:schemeClr val="tx1"/>
                </a:solidFill>
                <a:latin typeface="Times New Roman" panose="02020603050405020304" pitchFamily="18" charset="0"/>
              </a:defRPr>
            </a:lvl1pPr>
            <a:lvl2pPr marL="742950" indent="-285750">
              <a:spcBef>
                <a:spcPct val="20000"/>
              </a:spcBef>
              <a:buClr>
                <a:schemeClr val="accent2"/>
              </a:buClr>
              <a:buSzPct val="80000"/>
              <a:buFont typeface="Wingdings" panose="05000000000000000000" pitchFamily="2" charset="2"/>
              <a:buChar char="¨"/>
              <a:defRPr sz="2000">
                <a:solidFill>
                  <a:schemeClr val="tx1"/>
                </a:solidFill>
                <a:latin typeface="Arial Black" panose="020B0A04020102020204" pitchFamily="34" charset="0"/>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Black" panose="020B0A040201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Times New Roman" panose="02020603050405020304" pitchFamily="18" charset="0"/>
              </a:defRPr>
            </a:lvl5pPr>
            <a:lvl6pPr marL="25146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6pPr>
            <a:lvl7pPr marL="29718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7pPr>
            <a:lvl8pPr marL="34290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8pPr>
            <a:lvl9pPr marL="38862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9pPr>
          </a:lstStyle>
          <a:p>
            <a:pPr marL="0" indent="0">
              <a:lnSpc>
                <a:spcPct val="90000"/>
              </a:lnSpc>
              <a:buNone/>
            </a:pPr>
            <a:r>
              <a:rPr lang="en-US" altLang="zh-CN" sz="1600" b="1" dirty="0">
                <a:solidFill>
                  <a:schemeClr val="accent2"/>
                </a:solidFill>
                <a:latin typeface="Myriad Pro Light" panose="020B0403030403020204" pitchFamily="34" charset="0"/>
                <a:ea typeface="宋体" panose="02010600030101010101" pitchFamily="2" charset="-122"/>
              </a:rPr>
              <a:t>ISA</a:t>
            </a:r>
            <a:r>
              <a:rPr lang="en-US" altLang="zh-CN" sz="1600" dirty="0">
                <a:solidFill>
                  <a:schemeClr val="accent2"/>
                </a:solidFill>
                <a:latin typeface="Myriad Pro Light" panose="020B0403030403020204" pitchFamily="34" charset="0"/>
                <a:ea typeface="宋体" panose="02010600030101010101" pitchFamily="2" charset="-122"/>
              </a:rPr>
              <a:t> – instruction set architecture</a:t>
            </a:r>
          </a:p>
        </p:txBody>
      </p:sp>
    </p:spTree>
    <p:extLst>
      <p:ext uri="{BB962C8B-B14F-4D97-AF65-F5344CB8AC3E}">
        <p14:creationId xmlns:p14="http://schemas.microsoft.com/office/powerpoint/2010/main" val="1015420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D0FD15-5D47-5D45-86BA-3B1610C67F26}"/>
              </a:ext>
            </a:extLst>
          </p:cNvPr>
          <p:cNvSpPr>
            <a:spLocks noGrp="1"/>
          </p:cNvSpPr>
          <p:nvPr>
            <p:ph type="title"/>
          </p:nvPr>
        </p:nvSpPr>
        <p:spPr/>
        <p:txBody>
          <a:bodyPr/>
          <a:lstStyle/>
          <a:p>
            <a:r>
              <a:rPr kumimoji="1" lang="zh-CN" altLang="en-US" dirty="0"/>
              <a:t>操作系统中的接口层次</a:t>
            </a:r>
            <a:r>
              <a:rPr kumimoji="1" lang="en-US" altLang="zh-CN" dirty="0"/>
              <a:t>:</a:t>
            </a:r>
            <a:r>
              <a:rPr kumimoji="1" lang="zh-CN" altLang="en-US" dirty="0"/>
              <a:t> </a:t>
            </a:r>
            <a:r>
              <a:rPr kumimoji="1" lang="en-US" altLang="zh-CN" dirty="0"/>
              <a:t>ABI</a:t>
            </a:r>
            <a:endParaRPr kumimoji="1" lang="zh-CN" altLang="en-US" dirty="0"/>
          </a:p>
        </p:txBody>
      </p:sp>
      <p:sp>
        <p:nvSpPr>
          <p:cNvPr id="3" name="内容占位符 2">
            <a:extLst>
              <a:ext uri="{FF2B5EF4-FFF2-40B4-BE49-F238E27FC236}">
                <a16:creationId xmlns:a16="http://schemas.microsoft.com/office/drawing/2014/main" id="{29F28F64-E3F3-C14A-B759-9C139AEC915E}"/>
              </a:ext>
            </a:extLst>
          </p:cNvPr>
          <p:cNvSpPr>
            <a:spLocks noGrp="1"/>
          </p:cNvSpPr>
          <p:nvPr>
            <p:ph idx="1"/>
          </p:nvPr>
        </p:nvSpPr>
        <p:spPr/>
        <p:txBody>
          <a:bodyPr/>
          <a:lstStyle/>
          <a:p>
            <a:r>
              <a:rPr lang="en-US" altLang="zh-CN" dirty="0"/>
              <a:t>ABI</a:t>
            </a:r>
          </a:p>
          <a:p>
            <a:pPr lvl="1"/>
            <a:r>
              <a:rPr lang="en-US" altLang="zh-CN" dirty="0"/>
              <a:t>Application Binary Interface</a:t>
            </a:r>
          </a:p>
          <a:p>
            <a:pPr lvl="1"/>
            <a:r>
              <a:rPr lang="zh-CN" altLang="en-US" dirty="0"/>
              <a:t>提供操作系统服务或硬件功能</a:t>
            </a:r>
            <a:endParaRPr lang="en-US" altLang="zh-CN" dirty="0"/>
          </a:p>
          <a:p>
            <a:pPr lvl="1"/>
            <a:r>
              <a:rPr lang="zh-CN" altLang="en-US" dirty="0"/>
              <a:t>包含用户</a:t>
            </a:r>
            <a:r>
              <a:rPr lang="en-US" altLang="zh-CN" dirty="0"/>
              <a:t>ISA</a:t>
            </a:r>
            <a:r>
              <a:rPr lang="zh-CN" altLang="en-US" dirty="0"/>
              <a:t>和系统调用</a:t>
            </a:r>
            <a:endParaRPr lang="en-US" altLang="zh-CN" dirty="0"/>
          </a:p>
        </p:txBody>
      </p:sp>
      <p:sp>
        <p:nvSpPr>
          <p:cNvPr id="4" name="灯片编号占位符 3">
            <a:extLst>
              <a:ext uri="{FF2B5EF4-FFF2-40B4-BE49-F238E27FC236}">
                <a16:creationId xmlns:a16="http://schemas.microsoft.com/office/drawing/2014/main" id="{82B3CDF8-AA61-F749-9CE7-B03A3775A589}"/>
              </a:ext>
            </a:extLst>
          </p:cNvPr>
          <p:cNvSpPr>
            <a:spLocks noGrp="1"/>
          </p:cNvSpPr>
          <p:nvPr>
            <p:ph type="sldNum" sz="quarter" idx="12"/>
          </p:nvPr>
        </p:nvSpPr>
        <p:spPr/>
        <p:txBody>
          <a:bodyPr/>
          <a:lstStyle/>
          <a:p>
            <a:fld id="{ADE361C3-C043-4A6E-BDCE-8DA1E7D90A3B}" type="slidenum">
              <a:rPr lang="zh-CN" altLang="en-US" smtClean="0"/>
              <a:t>13</a:t>
            </a:fld>
            <a:endParaRPr lang="zh-CN" altLang="en-US" dirty="0"/>
          </a:p>
        </p:txBody>
      </p:sp>
      <p:sp>
        <p:nvSpPr>
          <p:cNvPr id="5" name="页脚占位符 4">
            <a:extLst>
              <a:ext uri="{FF2B5EF4-FFF2-40B4-BE49-F238E27FC236}">
                <a16:creationId xmlns:a16="http://schemas.microsoft.com/office/drawing/2014/main" id="{40568454-89C9-4C40-8D22-73B18059ABC4}"/>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grpSp>
        <p:nvGrpSpPr>
          <p:cNvPr id="7" name="Group 28">
            <a:extLst>
              <a:ext uri="{FF2B5EF4-FFF2-40B4-BE49-F238E27FC236}">
                <a16:creationId xmlns:a16="http://schemas.microsoft.com/office/drawing/2014/main" id="{CDD2BC67-C305-D440-86D9-ACA8EDFA055C}"/>
              </a:ext>
            </a:extLst>
          </p:cNvPr>
          <p:cNvGrpSpPr>
            <a:grpSpLocks/>
          </p:cNvGrpSpPr>
          <p:nvPr/>
        </p:nvGrpSpPr>
        <p:grpSpPr bwMode="auto">
          <a:xfrm>
            <a:off x="5702298" y="985292"/>
            <a:ext cx="2984502" cy="2603500"/>
            <a:chOff x="864" y="1056"/>
            <a:chExt cx="2256" cy="1968"/>
          </a:xfrm>
        </p:grpSpPr>
        <p:sp>
          <p:nvSpPr>
            <p:cNvPr id="8" name="Rectangle 4">
              <a:extLst>
                <a:ext uri="{FF2B5EF4-FFF2-40B4-BE49-F238E27FC236}">
                  <a16:creationId xmlns:a16="http://schemas.microsoft.com/office/drawing/2014/main" id="{1E31299E-A430-0D4A-A6E8-A2BB8A7B19F3}"/>
                </a:ext>
              </a:extLst>
            </p:cNvPr>
            <p:cNvSpPr>
              <a:spLocks noChangeArrowheads="1"/>
            </p:cNvSpPr>
            <p:nvPr/>
          </p:nvSpPr>
          <p:spPr bwMode="auto">
            <a:xfrm>
              <a:off x="864" y="2160"/>
              <a:ext cx="2256" cy="864"/>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hlink"/>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500"/>
            </a:p>
          </p:txBody>
        </p:sp>
        <p:sp>
          <p:nvSpPr>
            <p:cNvPr id="9" name="Text Box 5">
              <a:extLst>
                <a:ext uri="{FF2B5EF4-FFF2-40B4-BE49-F238E27FC236}">
                  <a16:creationId xmlns:a16="http://schemas.microsoft.com/office/drawing/2014/main" id="{139BED65-D184-434B-99F0-B93209F0DF44}"/>
                </a:ext>
              </a:extLst>
            </p:cNvPr>
            <p:cNvSpPr txBox="1">
              <a:spLocks noChangeArrowheads="1"/>
            </p:cNvSpPr>
            <p:nvPr/>
          </p:nvSpPr>
          <p:spPr bwMode="auto">
            <a:xfrm>
              <a:off x="1536" y="2496"/>
              <a:ext cx="399" cy="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zh-CN" altLang="en-US" sz="1333" i="1" dirty="0">
                  <a:latin typeface="Arial Black" panose="020B0A04020102020204" pitchFamily="34" charset="0"/>
                </a:rPr>
                <a:t>硬件</a:t>
              </a:r>
              <a:endParaRPr lang="en-US" altLang="zh-CN" sz="1333" i="1" dirty="0">
                <a:latin typeface="Arial Black" panose="020B0A04020102020204" pitchFamily="34" charset="0"/>
              </a:endParaRPr>
            </a:p>
          </p:txBody>
        </p:sp>
        <p:sp>
          <p:nvSpPr>
            <p:cNvPr id="10" name="Text Box 6">
              <a:extLst>
                <a:ext uri="{FF2B5EF4-FFF2-40B4-BE49-F238E27FC236}">
                  <a16:creationId xmlns:a16="http://schemas.microsoft.com/office/drawing/2014/main" id="{133408F7-0F7F-B642-8114-BCDF8B9718F1}"/>
                </a:ext>
              </a:extLst>
            </p:cNvPr>
            <p:cNvSpPr txBox="1">
              <a:spLocks noChangeArrowheads="1"/>
            </p:cNvSpPr>
            <p:nvPr/>
          </p:nvSpPr>
          <p:spPr bwMode="auto">
            <a:xfrm>
              <a:off x="1249" y="2160"/>
              <a:ext cx="516" cy="1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zh-CN" altLang="en-US" sz="1000" dirty="0">
                  <a:latin typeface="Arial Black" panose="020B0A04020102020204" pitchFamily="34" charset="0"/>
                </a:rPr>
                <a:t>系统</a:t>
              </a:r>
              <a:r>
                <a:rPr lang="en-US" altLang="zh-CN" sz="1000" dirty="0">
                  <a:latin typeface="Arial Black" panose="020B0A04020102020204" pitchFamily="34" charset="0"/>
                </a:rPr>
                <a:t>ISA</a:t>
              </a:r>
            </a:p>
          </p:txBody>
        </p:sp>
        <p:sp>
          <p:nvSpPr>
            <p:cNvPr id="11" name="Text Box 7">
              <a:extLst>
                <a:ext uri="{FF2B5EF4-FFF2-40B4-BE49-F238E27FC236}">
                  <a16:creationId xmlns:a16="http://schemas.microsoft.com/office/drawing/2014/main" id="{78802078-2280-0B47-B376-43C4D4FE1F6B}"/>
                </a:ext>
              </a:extLst>
            </p:cNvPr>
            <p:cNvSpPr txBox="1">
              <a:spLocks noChangeArrowheads="1"/>
            </p:cNvSpPr>
            <p:nvPr/>
          </p:nvSpPr>
          <p:spPr bwMode="auto">
            <a:xfrm>
              <a:off x="2496" y="2160"/>
              <a:ext cx="549" cy="1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zh-CN" altLang="en-US" sz="1000" dirty="0">
                  <a:latin typeface="Arial Black" panose="020B0A04020102020204" pitchFamily="34" charset="0"/>
                </a:rPr>
                <a:t>用户</a:t>
              </a:r>
              <a:r>
                <a:rPr lang="en-US" altLang="zh-CN" sz="1000" dirty="0">
                  <a:latin typeface="Arial Black" panose="020B0A04020102020204" pitchFamily="34" charset="0"/>
                </a:rPr>
                <a:t> ISA</a:t>
              </a:r>
            </a:p>
          </p:txBody>
        </p:sp>
        <p:sp>
          <p:nvSpPr>
            <p:cNvPr id="12" name="Rectangle 8">
              <a:extLst>
                <a:ext uri="{FF2B5EF4-FFF2-40B4-BE49-F238E27FC236}">
                  <a16:creationId xmlns:a16="http://schemas.microsoft.com/office/drawing/2014/main" id="{EDBD6FA5-20AD-3348-9B64-50E5AC0C7752}"/>
                </a:ext>
              </a:extLst>
            </p:cNvPr>
            <p:cNvSpPr>
              <a:spLocks noChangeArrowheads="1"/>
            </p:cNvSpPr>
            <p:nvPr/>
          </p:nvSpPr>
          <p:spPr bwMode="auto">
            <a:xfrm>
              <a:off x="864" y="1680"/>
              <a:ext cx="1488" cy="480"/>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500"/>
            </a:p>
          </p:txBody>
        </p:sp>
        <p:sp>
          <p:nvSpPr>
            <p:cNvPr id="13" name="Text Box 9">
              <a:extLst>
                <a:ext uri="{FF2B5EF4-FFF2-40B4-BE49-F238E27FC236}">
                  <a16:creationId xmlns:a16="http://schemas.microsoft.com/office/drawing/2014/main" id="{08042E2B-75D1-7440-89B1-21434AC7BEE9}"/>
                </a:ext>
              </a:extLst>
            </p:cNvPr>
            <p:cNvSpPr txBox="1">
              <a:spLocks noChangeArrowheads="1"/>
            </p:cNvSpPr>
            <p:nvPr/>
          </p:nvSpPr>
          <p:spPr bwMode="auto">
            <a:xfrm>
              <a:off x="912" y="1680"/>
              <a:ext cx="527" cy="1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zh-CN" altLang="en-US" sz="1000" i="1" dirty="0">
                  <a:latin typeface="Arial Black" panose="020B0A04020102020204" pitchFamily="34" charset="0"/>
                </a:rPr>
                <a:t>操作系统</a:t>
              </a:r>
              <a:endParaRPr lang="en-US" altLang="zh-CN" sz="1000" i="1" dirty="0">
                <a:latin typeface="Arial Black" panose="020B0A04020102020204" pitchFamily="34" charset="0"/>
              </a:endParaRPr>
            </a:p>
          </p:txBody>
        </p:sp>
        <p:grpSp>
          <p:nvGrpSpPr>
            <p:cNvPr id="14" name="Group 15">
              <a:extLst>
                <a:ext uri="{FF2B5EF4-FFF2-40B4-BE49-F238E27FC236}">
                  <a16:creationId xmlns:a16="http://schemas.microsoft.com/office/drawing/2014/main" id="{AB63E205-51A7-9C4D-9455-F6E722389A0F}"/>
                </a:ext>
              </a:extLst>
            </p:cNvPr>
            <p:cNvGrpSpPr>
              <a:grpSpLocks/>
            </p:cNvGrpSpPr>
            <p:nvPr/>
          </p:nvGrpSpPr>
          <p:grpSpPr bwMode="auto">
            <a:xfrm>
              <a:off x="1630" y="1414"/>
              <a:ext cx="581" cy="362"/>
              <a:chOff x="1287" y="1174"/>
              <a:chExt cx="581" cy="362"/>
            </a:xfrm>
          </p:grpSpPr>
          <p:sp>
            <p:nvSpPr>
              <p:cNvPr id="21" name="Text Box 10">
                <a:extLst>
                  <a:ext uri="{FF2B5EF4-FFF2-40B4-BE49-F238E27FC236}">
                    <a16:creationId xmlns:a16="http://schemas.microsoft.com/office/drawing/2014/main" id="{74E9AA5D-55DF-9B45-A9B9-8E5E48D24912}"/>
                  </a:ext>
                </a:extLst>
              </p:cNvPr>
              <p:cNvSpPr txBox="1">
                <a:spLocks noChangeArrowheads="1"/>
              </p:cNvSpPr>
              <p:nvPr/>
            </p:nvSpPr>
            <p:spPr bwMode="auto">
              <a:xfrm>
                <a:off x="1287" y="1174"/>
                <a:ext cx="581" cy="1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zh-CN" altLang="en-US" sz="1000" dirty="0"/>
                  <a:t>系统  调用</a:t>
                </a:r>
                <a:endParaRPr lang="en-US" altLang="zh-CN" sz="1000" dirty="0"/>
              </a:p>
            </p:txBody>
          </p:sp>
          <p:sp>
            <p:nvSpPr>
              <p:cNvPr id="22" name="Line 11">
                <a:extLst>
                  <a:ext uri="{FF2B5EF4-FFF2-40B4-BE49-F238E27FC236}">
                    <a16:creationId xmlns:a16="http://schemas.microsoft.com/office/drawing/2014/main" id="{6D521F83-0EE1-604C-A3F0-20ABA5299867}"/>
                  </a:ext>
                </a:extLst>
              </p:cNvPr>
              <p:cNvSpPr>
                <a:spLocks noChangeShapeType="1"/>
              </p:cNvSpPr>
              <p:nvPr/>
            </p:nvSpPr>
            <p:spPr bwMode="auto">
              <a:xfrm>
                <a:off x="1296" y="1344"/>
                <a:ext cx="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sp>
            <p:nvSpPr>
              <p:cNvPr id="23" name="Line 12">
                <a:extLst>
                  <a:ext uri="{FF2B5EF4-FFF2-40B4-BE49-F238E27FC236}">
                    <a16:creationId xmlns:a16="http://schemas.microsoft.com/office/drawing/2014/main" id="{58CE24ED-A44C-E04A-8FA5-BE19BAAACFBC}"/>
                  </a:ext>
                </a:extLst>
              </p:cNvPr>
              <p:cNvSpPr>
                <a:spLocks noChangeShapeType="1"/>
              </p:cNvSpPr>
              <p:nvPr/>
            </p:nvSpPr>
            <p:spPr bwMode="auto">
              <a:xfrm>
                <a:off x="1488" y="1344"/>
                <a:ext cx="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sp>
            <p:nvSpPr>
              <p:cNvPr id="24" name="Line 13">
                <a:extLst>
                  <a:ext uri="{FF2B5EF4-FFF2-40B4-BE49-F238E27FC236}">
                    <a16:creationId xmlns:a16="http://schemas.microsoft.com/office/drawing/2014/main" id="{714EB6A4-B77F-6C42-8B13-20F010EDA251}"/>
                  </a:ext>
                </a:extLst>
              </p:cNvPr>
              <p:cNvSpPr>
                <a:spLocks noChangeShapeType="1"/>
              </p:cNvSpPr>
              <p:nvPr/>
            </p:nvSpPr>
            <p:spPr bwMode="auto">
              <a:xfrm>
                <a:off x="1728" y="1344"/>
                <a:ext cx="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grpSp>
        <p:sp>
          <p:nvSpPr>
            <p:cNvPr id="15" name="Rectangle 14">
              <a:extLst>
                <a:ext uri="{FF2B5EF4-FFF2-40B4-BE49-F238E27FC236}">
                  <a16:creationId xmlns:a16="http://schemas.microsoft.com/office/drawing/2014/main" id="{ACD67C81-00F3-D943-8800-7B6433D6F2A4}"/>
                </a:ext>
              </a:extLst>
            </p:cNvPr>
            <p:cNvSpPr>
              <a:spLocks noChangeArrowheads="1"/>
            </p:cNvSpPr>
            <p:nvPr/>
          </p:nvSpPr>
          <p:spPr bwMode="auto">
            <a:xfrm>
              <a:off x="864" y="1296"/>
              <a:ext cx="1056" cy="384"/>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500"/>
            </a:p>
          </p:txBody>
        </p:sp>
        <p:sp>
          <p:nvSpPr>
            <p:cNvPr id="16" name="Text Box 16">
              <a:extLst>
                <a:ext uri="{FF2B5EF4-FFF2-40B4-BE49-F238E27FC236}">
                  <a16:creationId xmlns:a16="http://schemas.microsoft.com/office/drawing/2014/main" id="{D6406269-0AFF-9D48-93B2-9B9A703A90EE}"/>
                </a:ext>
              </a:extLst>
            </p:cNvPr>
            <p:cNvSpPr txBox="1">
              <a:spLocks noChangeArrowheads="1"/>
            </p:cNvSpPr>
            <p:nvPr/>
          </p:nvSpPr>
          <p:spPr bwMode="auto">
            <a:xfrm>
              <a:off x="957" y="1352"/>
              <a:ext cx="237" cy="1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zh-CN" altLang="en-US" sz="1000" i="1" dirty="0">
                  <a:latin typeface="Arial Black" panose="020B0A04020102020204" pitchFamily="34" charset="0"/>
                </a:rPr>
                <a:t>库</a:t>
              </a:r>
              <a:endParaRPr lang="en-US" altLang="zh-CN" sz="1000" i="1" dirty="0">
                <a:latin typeface="Arial Black" panose="020B0A04020102020204" pitchFamily="34" charset="0"/>
              </a:endParaRPr>
            </a:p>
          </p:txBody>
        </p:sp>
        <p:sp>
          <p:nvSpPr>
            <p:cNvPr id="17" name="Line 17">
              <a:extLst>
                <a:ext uri="{FF2B5EF4-FFF2-40B4-BE49-F238E27FC236}">
                  <a16:creationId xmlns:a16="http://schemas.microsoft.com/office/drawing/2014/main" id="{DE5E11EA-CD44-6440-9FB1-DB78EB049579}"/>
                </a:ext>
              </a:extLst>
            </p:cNvPr>
            <p:cNvSpPr>
              <a:spLocks noChangeShapeType="1"/>
            </p:cNvSpPr>
            <p:nvPr/>
          </p:nvSpPr>
          <p:spPr bwMode="auto">
            <a:xfrm flipV="1">
              <a:off x="864" y="1056"/>
              <a:ext cx="0" cy="24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sp>
          <p:nvSpPr>
            <p:cNvPr id="18" name="Line 18">
              <a:extLst>
                <a:ext uri="{FF2B5EF4-FFF2-40B4-BE49-F238E27FC236}">
                  <a16:creationId xmlns:a16="http://schemas.microsoft.com/office/drawing/2014/main" id="{A52C9053-8C32-FA4B-807B-82C2965DF99F}"/>
                </a:ext>
              </a:extLst>
            </p:cNvPr>
            <p:cNvSpPr>
              <a:spLocks noChangeShapeType="1"/>
            </p:cNvSpPr>
            <p:nvPr/>
          </p:nvSpPr>
          <p:spPr bwMode="auto">
            <a:xfrm>
              <a:off x="864" y="1056"/>
              <a:ext cx="2256"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sp>
          <p:nvSpPr>
            <p:cNvPr id="19" name="Line 19">
              <a:extLst>
                <a:ext uri="{FF2B5EF4-FFF2-40B4-BE49-F238E27FC236}">
                  <a16:creationId xmlns:a16="http://schemas.microsoft.com/office/drawing/2014/main" id="{DB94AC95-BEA9-7C40-8DB1-9C81D1824779}"/>
                </a:ext>
              </a:extLst>
            </p:cNvPr>
            <p:cNvSpPr>
              <a:spLocks noChangeShapeType="1"/>
            </p:cNvSpPr>
            <p:nvPr/>
          </p:nvSpPr>
          <p:spPr bwMode="auto">
            <a:xfrm flipV="1">
              <a:off x="3120" y="1056"/>
              <a:ext cx="0" cy="1104"/>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sp>
          <p:nvSpPr>
            <p:cNvPr id="20" name="Text Box 21">
              <a:extLst>
                <a:ext uri="{FF2B5EF4-FFF2-40B4-BE49-F238E27FC236}">
                  <a16:creationId xmlns:a16="http://schemas.microsoft.com/office/drawing/2014/main" id="{8956F013-BACD-2C48-BACF-01EE0A1D6528}"/>
                </a:ext>
              </a:extLst>
            </p:cNvPr>
            <p:cNvSpPr txBox="1">
              <a:spLocks noChangeArrowheads="1"/>
            </p:cNvSpPr>
            <p:nvPr/>
          </p:nvSpPr>
          <p:spPr bwMode="auto">
            <a:xfrm>
              <a:off x="2632" y="1095"/>
              <a:ext cx="333" cy="1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zh-CN" altLang="en-US" sz="1000" i="1" dirty="0">
                  <a:latin typeface="Arial Black" panose="020B0A04020102020204" pitchFamily="34" charset="0"/>
                </a:rPr>
                <a:t>应用</a:t>
              </a:r>
              <a:endParaRPr lang="en-US" altLang="zh-CN" sz="1000" i="1" dirty="0">
                <a:latin typeface="Arial Black" panose="020B0A04020102020204" pitchFamily="34" charset="0"/>
              </a:endParaRPr>
            </a:p>
          </p:txBody>
        </p:sp>
      </p:grpSp>
      <p:grpSp>
        <p:nvGrpSpPr>
          <p:cNvPr id="25" name="Group 54">
            <a:extLst>
              <a:ext uri="{FF2B5EF4-FFF2-40B4-BE49-F238E27FC236}">
                <a16:creationId xmlns:a16="http://schemas.microsoft.com/office/drawing/2014/main" id="{FA1E36EF-DB77-864C-99D4-794BC4B5E408}"/>
              </a:ext>
            </a:extLst>
          </p:cNvPr>
          <p:cNvGrpSpPr>
            <a:grpSpLocks/>
          </p:cNvGrpSpPr>
          <p:nvPr/>
        </p:nvGrpSpPr>
        <p:grpSpPr bwMode="auto">
          <a:xfrm>
            <a:off x="4935611" y="2268694"/>
            <a:ext cx="4016375" cy="322792"/>
            <a:chOff x="1356" y="2112"/>
            <a:chExt cx="3036" cy="244"/>
          </a:xfrm>
        </p:grpSpPr>
        <p:sp>
          <p:nvSpPr>
            <p:cNvPr id="26" name="Line 23">
              <a:extLst>
                <a:ext uri="{FF2B5EF4-FFF2-40B4-BE49-F238E27FC236}">
                  <a16:creationId xmlns:a16="http://schemas.microsoft.com/office/drawing/2014/main" id="{9C7E54A2-08D2-C347-B10F-FCA9767E5185}"/>
                </a:ext>
              </a:extLst>
            </p:cNvPr>
            <p:cNvSpPr>
              <a:spLocks noChangeShapeType="1"/>
            </p:cNvSpPr>
            <p:nvPr/>
          </p:nvSpPr>
          <p:spPr bwMode="auto">
            <a:xfrm>
              <a:off x="1688" y="2256"/>
              <a:ext cx="2704" cy="0"/>
            </a:xfrm>
            <a:prstGeom prst="line">
              <a:avLst/>
            </a:prstGeom>
            <a:noFill/>
            <a:ln w="3810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sp>
          <p:nvSpPr>
            <p:cNvPr id="27" name="Text Box 24">
              <a:extLst>
                <a:ext uri="{FF2B5EF4-FFF2-40B4-BE49-F238E27FC236}">
                  <a16:creationId xmlns:a16="http://schemas.microsoft.com/office/drawing/2014/main" id="{87B0ED9A-D28B-5A46-9FC2-6732F175CF38}"/>
                </a:ext>
              </a:extLst>
            </p:cNvPr>
            <p:cNvSpPr txBox="1">
              <a:spLocks noChangeArrowheads="1"/>
            </p:cNvSpPr>
            <p:nvPr/>
          </p:nvSpPr>
          <p:spPr bwMode="auto">
            <a:xfrm>
              <a:off x="1356" y="2112"/>
              <a:ext cx="390" cy="2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381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r>
                <a:rPr lang="en-US" altLang="zh-CN" sz="1500" b="1" dirty="0">
                  <a:solidFill>
                    <a:schemeClr val="accent2"/>
                  </a:solidFill>
                </a:rPr>
                <a:t>ISA</a:t>
              </a:r>
            </a:p>
          </p:txBody>
        </p:sp>
      </p:grpSp>
      <p:grpSp>
        <p:nvGrpSpPr>
          <p:cNvPr id="28" name="Group 53">
            <a:extLst>
              <a:ext uri="{FF2B5EF4-FFF2-40B4-BE49-F238E27FC236}">
                <a16:creationId xmlns:a16="http://schemas.microsoft.com/office/drawing/2014/main" id="{C5684994-4ED7-0346-9995-D3E11302B093}"/>
              </a:ext>
            </a:extLst>
          </p:cNvPr>
          <p:cNvGrpSpPr>
            <a:grpSpLocks/>
          </p:cNvGrpSpPr>
          <p:nvPr/>
        </p:nvGrpSpPr>
        <p:grpSpPr bwMode="auto">
          <a:xfrm>
            <a:off x="4935610" y="1645602"/>
            <a:ext cx="4000500" cy="750093"/>
            <a:chOff x="1356" y="1641"/>
            <a:chExt cx="3024" cy="567"/>
          </a:xfrm>
        </p:grpSpPr>
        <p:grpSp>
          <p:nvGrpSpPr>
            <p:cNvPr id="29" name="Group 45">
              <a:extLst>
                <a:ext uri="{FF2B5EF4-FFF2-40B4-BE49-F238E27FC236}">
                  <a16:creationId xmlns:a16="http://schemas.microsoft.com/office/drawing/2014/main" id="{6CABD30D-4928-2242-8C72-069334563B9C}"/>
                </a:ext>
              </a:extLst>
            </p:cNvPr>
            <p:cNvGrpSpPr>
              <a:grpSpLocks/>
            </p:cNvGrpSpPr>
            <p:nvPr/>
          </p:nvGrpSpPr>
          <p:grpSpPr bwMode="auto">
            <a:xfrm>
              <a:off x="1692" y="1776"/>
              <a:ext cx="2688" cy="432"/>
              <a:chOff x="672" y="1632"/>
              <a:chExt cx="2688" cy="432"/>
            </a:xfrm>
          </p:grpSpPr>
          <p:sp>
            <p:nvSpPr>
              <p:cNvPr id="31" name="Line 25">
                <a:extLst>
                  <a:ext uri="{FF2B5EF4-FFF2-40B4-BE49-F238E27FC236}">
                    <a16:creationId xmlns:a16="http://schemas.microsoft.com/office/drawing/2014/main" id="{EC0F47D5-001B-8346-BC1C-114F94E8C19E}"/>
                  </a:ext>
                </a:extLst>
              </p:cNvPr>
              <p:cNvSpPr>
                <a:spLocks noChangeShapeType="1"/>
              </p:cNvSpPr>
              <p:nvPr/>
            </p:nvSpPr>
            <p:spPr bwMode="auto">
              <a:xfrm>
                <a:off x="672" y="1632"/>
                <a:ext cx="1824" cy="0"/>
              </a:xfrm>
              <a:prstGeom prst="line">
                <a:avLst/>
              </a:prstGeom>
              <a:noFill/>
              <a:ln w="38100">
                <a:solidFill>
                  <a:srgbClr val="3399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sp>
            <p:nvSpPr>
              <p:cNvPr id="32" name="Line 26">
                <a:extLst>
                  <a:ext uri="{FF2B5EF4-FFF2-40B4-BE49-F238E27FC236}">
                    <a16:creationId xmlns:a16="http://schemas.microsoft.com/office/drawing/2014/main" id="{E2BB2F53-E826-5545-9203-B12B2BDA8531}"/>
                  </a:ext>
                </a:extLst>
              </p:cNvPr>
              <p:cNvSpPr>
                <a:spLocks noChangeShapeType="1"/>
              </p:cNvSpPr>
              <p:nvPr/>
            </p:nvSpPr>
            <p:spPr bwMode="auto">
              <a:xfrm>
                <a:off x="2496" y="1632"/>
                <a:ext cx="0" cy="432"/>
              </a:xfrm>
              <a:prstGeom prst="line">
                <a:avLst/>
              </a:prstGeom>
              <a:noFill/>
              <a:ln w="38100">
                <a:solidFill>
                  <a:srgbClr val="3399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sp>
            <p:nvSpPr>
              <p:cNvPr id="33" name="Line 32">
                <a:extLst>
                  <a:ext uri="{FF2B5EF4-FFF2-40B4-BE49-F238E27FC236}">
                    <a16:creationId xmlns:a16="http://schemas.microsoft.com/office/drawing/2014/main" id="{32DCDE5D-72D5-2C47-A358-38FE81C43BA1}"/>
                  </a:ext>
                </a:extLst>
              </p:cNvPr>
              <p:cNvSpPr>
                <a:spLocks noChangeShapeType="1"/>
              </p:cNvSpPr>
              <p:nvPr/>
            </p:nvSpPr>
            <p:spPr bwMode="auto">
              <a:xfrm>
                <a:off x="2496" y="2064"/>
                <a:ext cx="864" cy="0"/>
              </a:xfrm>
              <a:prstGeom prst="line">
                <a:avLst/>
              </a:prstGeom>
              <a:noFill/>
              <a:ln w="38100">
                <a:solidFill>
                  <a:srgbClr val="3399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grpSp>
        <p:sp>
          <p:nvSpPr>
            <p:cNvPr id="30" name="Text Box 34">
              <a:extLst>
                <a:ext uri="{FF2B5EF4-FFF2-40B4-BE49-F238E27FC236}">
                  <a16:creationId xmlns:a16="http://schemas.microsoft.com/office/drawing/2014/main" id="{E4FF3F88-A781-EF44-B5E3-1C324B18DE0E}"/>
                </a:ext>
              </a:extLst>
            </p:cNvPr>
            <p:cNvSpPr txBox="1">
              <a:spLocks noChangeArrowheads="1"/>
            </p:cNvSpPr>
            <p:nvPr/>
          </p:nvSpPr>
          <p:spPr bwMode="auto">
            <a:xfrm>
              <a:off x="1356" y="1641"/>
              <a:ext cx="390" cy="2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381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US" altLang="zh-CN" sz="1500" b="1" dirty="0">
                  <a:solidFill>
                    <a:srgbClr val="3399FF"/>
                  </a:solidFill>
                </a:rPr>
                <a:t>ABI</a:t>
              </a:r>
            </a:p>
          </p:txBody>
        </p:sp>
      </p:grpSp>
      <p:sp>
        <p:nvSpPr>
          <p:cNvPr id="43" name="Rectangle 50">
            <a:extLst>
              <a:ext uri="{FF2B5EF4-FFF2-40B4-BE49-F238E27FC236}">
                <a16:creationId xmlns:a16="http://schemas.microsoft.com/office/drawing/2014/main" id="{8D1BCFC9-A771-F742-AEB9-CEE62520A1E2}"/>
              </a:ext>
            </a:extLst>
          </p:cNvPr>
          <p:cNvSpPr>
            <a:spLocks noChangeArrowheads="1"/>
          </p:cNvSpPr>
          <p:nvPr/>
        </p:nvSpPr>
        <p:spPr bwMode="auto">
          <a:xfrm>
            <a:off x="5585666" y="4103216"/>
            <a:ext cx="3746500" cy="381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marL="342900" indent="-342900">
              <a:spcBef>
                <a:spcPct val="20000"/>
              </a:spcBef>
              <a:buClr>
                <a:schemeClr val="accent1"/>
              </a:buClr>
              <a:buSzPct val="75000"/>
              <a:buFont typeface="Wingdings" panose="05000000000000000000" pitchFamily="2" charset="2"/>
              <a:buChar char="n"/>
              <a:defRPr sz="3000">
                <a:solidFill>
                  <a:schemeClr val="tx1"/>
                </a:solidFill>
                <a:latin typeface="Times New Roman" panose="02020603050405020304" pitchFamily="18" charset="0"/>
              </a:defRPr>
            </a:lvl1pPr>
            <a:lvl2pPr marL="742950" indent="-285750">
              <a:spcBef>
                <a:spcPct val="20000"/>
              </a:spcBef>
              <a:buClr>
                <a:schemeClr val="accent2"/>
              </a:buClr>
              <a:buSzPct val="80000"/>
              <a:buFont typeface="Wingdings" panose="05000000000000000000" pitchFamily="2" charset="2"/>
              <a:buChar char="¨"/>
              <a:defRPr sz="2000">
                <a:solidFill>
                  <a:schemeClr val="tx1"/>
                </a:solidFill>
                <a:latin typeface="Arial Black" panose="020B0A04020102020204" pitchFamily="34" charset="0"/>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Black" panose="020B0A040201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Times New Roman" panose="02020603050405020304" pitchFamily="18" charset="0"/>
              </a:defRPr>
            </a:lvl5pPr>
            <a:lvl6pPr marL="25146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6pPr>
            <a:lvl7pPr marL="29718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7pPr>
            <a:lvl8pPr marL="34290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8pPr>
            <a:lvl9pPr marL="38862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9pPr>
          </a:lstStyle>
          <a:p>
            <a:pPr marL="0" indent="0">
              <a:lnSpc>
                <a:spcPct val="90000"/>
              </a:lnSpc>
              <a:buNone/>
            </a:pPr>
            <a:r>
              <a:rPr lang="en-US" altLang="zh-CN" sz="1600" b="1" dirty="0">
                <a:solidFill>
                  <a:srgbClr val="0096FF"/>
                </a:solidFill>
                <a:latin typeface="Myriad Pro Light" panose="020B0403030403020204" pitchFamily="34" charset="0"/>
                <a:ea typeface="宋体" panose="02010600030101010101" pitchFamily="2" charset="-122"/>
              </a:rPr>
              <a:t>ABI</a:t>
            </a:r>
            <a:r>
              <a:rPr lang="en-US" altLang="zh-CN" sz="1600" dirty="0">
                <a:solidFill>
                  <a:srgbClr val="0096FF"/>
                </a:solidFill>
                <a:latin typeface="Myriad Pro Light" panose="020B0403030403020204" pitchFamily="34" charset="0"/>
                <a:ea typeface="宋体" panose="02010600030101010101" pitchFamily="2" charset="-122"/>
              </a:rPr>
              <a:t> – application binary interface</a:t>
            </a:r>
          </a:p>
          <a:p>
            <a:pPr marL="0" indent="0">
              <a:lnSpc>
                <a:spcPct val="90000"/>
              </a:lnSpc>
              <a:buNone/>
            </a:pPr>
            <a:endParaRPr lang="en-US" altLang="zh-CN" sz="1600" dirty="0">
              <a:latin typeface="Myriad Pro Light" panose="020B0403030403020204" pitchFamily="34" charset="0"/>
              <a:ea typeface="宋体" panose="02010600030101010101" pitchFamily="2" charset="-122"/>
            </a:endParaRPr>
          </a:p>
        </p:txBody>
      </p:sp>
      <p:sp>
        <p:nvSpPr>
          <p:cNvPr id="44" name="Rectangle 51">
            <a:extLst>
              <a:ext uri="{FF2B5EF4-FFF2-40B4-BE49-F238E27FC236}">
                <a16:creationId xmlns:a16="http://schemas.microsoft.com/office/drawing/2014/main" id="{883E9E74-5162-F54A-97FD-1798DB0219DC}"/>
              </a:ext>
            </a:extLst>
          </p:cNvPr>
          <p:cNvSpPr>
            <a:spLocks noChangeArrowheads="1"/>
          </p:cNvSpPr>
          <p:nvPr/>
        </p:nvSpPr>
        <p:spPr bwMode="auto">
          <a:xfrm>
            <a:off x="5585666" y="4420716"/>
            <a:ext cx="3746500" cy="381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marL="342900" indent="-342900">
              <a:spcBef>
                <a:spcPct val="20000"/>
              </a:spcBef>
              <a:buClr>
                <a:schemeClr val="accent1"/>
              </a:buClr>
              <a:buSzPct val="75000"/>
              <a:buFont typeface="Wingdings" panose="05000000000000000000" pitchFamily="2" charset="2"/>
              <a:buChar char="n"/>
              <a:defRPr sz="3000">
                <a:solidFill>
                  <a:schemeClr val="tx1"/>
                </a:solidFill>
                <a:latin typeface="Times New Roman" panose="02020603050405020304" pitchFamily="18" charset="0"/>
              </a:defRPr>
            </a:lvl1pPr>
            <a:lvl2pPr marL="742950" indent="-285750">
              <a:spcBef>
                <a:spcPct val="20000"/>
              </a:spcBef>
              <a:buClr>
                <a:schemeClr val="accent2"/>
              </a:buClr>
              <a:buSzPct val="80000"/>
              <a:buFont typeface="Wingdings" panose="05000000000000000000" pitchFamily="2" charset="2"/>
              <a:buChar char="¨"/>
              <a:defRPr sz="2000">
                <a:solidFill>
                  <a:schemeClr val="tx1"/>
                </a:solidFill>
                <a:latin typeface="Arial Black" panose="020B0A04020102020204" pitchFamily="34" charset="0"/>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Black" panose="020B0A040201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Times New Roman" panose="02020603050405020304" pitchFamily="18" charset="0"/>
              </a:defRPr>
            </a:lvl5pPr>
            <a:lvl6pPr marL="25146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6pPr>
            <a:lvl7pPr marL="29718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7pPr>
            <a:lvl8pPr marL="34290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8pPr>
            <a:lvl9pPr marL="38862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9pPr>
          </a:lstStyle>
          <a:p>
            <a:pPr marL="0" indent="0">
              <a:lnSpc>
                <a:spcPct val="90000"/>
              </a:lnSpc>
              <a:buNone/>
            </a:pPr>
            <a:r>
              <a:rPr lang="en-US" altLang="zh-CN" sz="1600" b="1" dirty="0">
                <a:solidFill>
                  <a:schemeClr val="accent2"/>
                </a:solidFill>
                <a:latin typeface="Myriad Pro Light" panose="020B0403030403020204" pitchFamily="34" charset="0"/>
                <a:ea typeface="宋体" panose="02010600030101010101" pitchFamily="2" charset="-122"/>
              </a:rPr>
              <a:t>ISA</a:t>
            </a:r>
            <a:r>
              <a:rPr lang="en-US" altLang="zh-CN" sz="1600" dirty="0">
                <a:solidFill>
                  <a:schemeClr val="accent2"/>
                </a:solidFill>
                <a:latin typeface="Myriad Pro Light" panose="020B0403030403020204" pitchFamily="34" charset="0"/>
                <a:ea typeface="宋体" panose="02010600030101010101" pitchFamily="2" charset="-122"/>
              </a:rPr>
              <a:t> – instruction set architecture</a:t>
            </a:r>
          </a:p>
        </p:txBody>
      </p:sp>
    </p:spTree>
    <p:extLst>
      <p:ext uri="{BB962C8B-B14F-4D97-AF65-F5344CB8AC3E}">
        <p14:creationId xmlns:p14="http://schemas.microsoft.com/office/powerpoint/2010/main" val="9443368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D0FD15-5D47-5D45-86BA-3B1610C67F26}"/>
              </a:ext>
            </a:extLst>
          </p:cNvPr>
          <p:cNvSpPr>
            <a:spLocks noGrp="1"/>
          </p:cNvSpPr>
          <p:nvPr>
            <p:ph type="title"/>
          </p:nvPr>
        </p:nvSpPr>
        <p:spPr/>
        <p:txBody>
          <a:bodyPr/>
          <a:lstStyle/>
          <a:p>
            <a:r>
              <a:rPr kumimoji="1" lang="zh-CN" altLang="en-US" dirty="0"/>
              <a:t>操作系统中的接口层次</a:t>
            </a:r>
            <a:r>
              <a:rPr kumimoji="1" lang="en-US" altLang="zh-CN" dirty="0"/>
              <a:t>:</a:t>
            </a:r>
            <a:r>
              <a:rPr kumimoji="1" lang="zh-CN" altLang="en-US" dirty="0"/>
              <a:t> </a:t>
            </a:r>
            <a:r>
              <a:rPr kumimoji="1" lang="en-US" altLang="zh-CN" dirty="0"/>
              <a:t>API</a:t>
            </a:r>
            <a:endParaRPr kumimoji="1" lang="zh-CN" altLang="en-US" dirty="0"/>
          </a:p>
        </p:txBody>
      </p:sp>
      <p:sp>
        <p:nvSpPr>
          <p:cNvPr id="3" name="内容占位符 2">
            <a:extLst>
              <a:ext uri="{FF2B5EF4-FFF2-40B4-BE49-F238E27FC236}">
                <a16:creationId xmlns:a16="http://schemas.microsoft.com/office/drawing/2014/main" id="{29F28F64-E3F3-C14A-B759-9C139AEC915E}"/>
              </a:ext>
            </a:extLst>
          </p:cNvPr>
          <p:cNvSpPr>
            <a:spLocks noGrp="1"/>
          </p:cNvSpPr>
          <p:nvPr>
            <p:ph idx="1"/>
          </p:nvPr>
        </p:nvSpPr>
        <p:spPr/>
        <p:txBody>
          <a:bodyPr/>
          <a:lstStyle/>
          <a:p>
            <a:r>
              <a:rPr lang="en-US" altLang="zh-CN" dirty="0"/>
              <a:t>API</a:t>
            </a:r>
          </a:p>
          <a:p>
            <a:pPr lvl="1"/>
            <a:r>
              <a:rPr lang="en-US" altLang="zh-CN" dirty="0"/>
              <a:t>Application Programming Interface</a:t>
            </a:r>
          </a:p>
          <a:p>
            <a:pPr lvl="1"/>
            <a:r>
              <a:rPr lang="zh-CN" altLang="en-US" dirty="0"/>
              <a:t>不同用户态库提供的接口</a:t>
            </a:r>
            <a:endParaRPr lang="en-US" altLang="zh-CN" dirty="0"/>
          </a:p>
          <a:p>
            <a:pPr lvl="1"/>
            <a:r>
              <a:rPr lang="zh-CN" altLang="en-US" dirty="0"/>
              <a:t>包含库的接口和用户</a:t>
            </a:r>
            <a:r>
              <a:rPr lang="en-US" altLang="zh-CN" dirty="0"/>
              <a:t>ISA</a:t>
            </a:r>
          </a:p>
          <a:p>
            <a:pPr lvl="1"/>
            <a:r>
              <a:rPr lang="en-US" altLang="zh-CN" dirty="0"/>
              <a:t>UNIX</a:t>
            </a:r>
            <a:r>
              <a:rPr lang="zh-CN" altLang="en-US" dirty="0"/>
              <a:t>环境中的</a:t>
            </a:r>
            <a:r>
              <a:rPr lang="en-US" altLang="zh-CN" b="1" dirty="0" err="1"/>
              <a:t>clib</a:t>
            </a:r>
            <a:r>
              <a:rPr lang="en-US" altLang="zh-CN" dirty="0"/>
              <a:t>: </a:t>
            </a:r>
          </a:p>
          <a:p>
            <a:pPr lvl="2"/>
            <a:r>
              <a:rPr lang="zh-CN" altLang="en-US" dirty="0"/>
              <a:t>支持</a:t>
            </a:r>
            <a:r>
              <a:rPr lang="en-US" altLang="zh-CN" dirty="0"/>
              <a:t>UNIX/C</a:t>
            </a:r>
            <a:r>
              <a:rPr lang="zh-CN" altLang="en-US" dirty="0"/>
              <a:t>编程语言</a:t>
            </a:r>
            <a:endParaRPr lang="en-US" altLang="zh-CN" dirty="0"/>
          </a:p>
        </p:txBody>
      </p:sp>
      <p:sp>
        <p:nvSpPr>
          <p:cNvPr id="4" name="灯片编号占位符 3">
            <a:extLst>
              <a:ext uri="{FF2B5EF4-FFF2-40B4-BE49-F238E27FC236}">
                <a16:creationId xmlns:a16="http://schemas.microsoft.com/office/drawing/2014/main" id="{82B3CDF8-AA61-F749-9CE7-B03A3775A589}"/>
              </a:ext>
            </a:extLst>
          </p:cNvPr>
          <p:cNvSpPr>
            <a:spLocks noGrp="1"/>
          </p:cNvSpPr>
          <p:nvPr>
            <p:ph type="sldNum" sz="quarter" idx="12"/>
          </p:nvPr>
        </p:nvSpPr>
        <p:spPr/>
        <p:txBody>
          <a:bodyPr/>
          <a:lstStyle/>
          <a:p>
            <a:fld id="{ADE361C3-C043-4A6E-BDCE-8DA1E7D90A3B}" type="slidenum">
              <a:rPr lang="zh-CN" altLang="en-US" smtClean="0"/>
              <a:t>14</a:t>
            </a:fld>
            <a:endParaRPr lang="zh-CN" altLang="en-US" dirty="0"/>
          </a:p>
        </p:txBody>
      </p:sp>
      <p:sp>
        <p:nvSpPr>
          <p:cNvPr id="5" name="页脚占位符 4">
            <a:extLst>
              <a:ext uri="{FF2B5EF4-FFF2-40B4-BE49-F238E27FC236}">
                <a16:creationId xmlns:a16="http://schemas.microsoft.com/office/drawing/2014/main" id="{40568454-89C9-4C40-8D22-73B18059ABC4}"/>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grpSp>
        <p:nvGrpSpPr>
          <p:cNvPr id="7" name="Group 28">
            <a:extLst>
              <a:ext uri="{FF2B5EF4-FFF2-40B4-BE49-F238E27FC236}">
                <a16:creationId xmlns:a16="http://schemas.microsoft.com/office/drawing/2014/main" id="{CDD2BC67-C305-D440-86D9-ACA8EDFA055C}"/>
              </a:ext>
            </a:extLst>
          </p:cNvPr>
          <p:cNvGrpSpPr>
            <a:grpSpLocks/>
          </p:cNvGrpSpPr>
          <p:nvPr/>
        </p:nvGrpSpPr>
        <p:grpSpPr bwMode="auto">
          <a:xfrm>
            <a:off x="5702298" y="985292"/>
            <a:ext cx="2984502" cy="2603500"/>
            <a:chOff x="864" y="1056"/>
            <a:chExt cx="2256" cy="1968"/>
          </a:xfrm>
        </p:grpSpPr>
        <p:sp>
          <p:nvSpPr>
            <p:cNvPr id="8" name="Rectangle 4">
              <a:extLst>
                <a:ext uri="{FF2B5EF4-FFF2-40B4-BE49-F238E27FC236}">
                  <a16:creationId xmlns:a16="http://schemas.microsoft.com/office/drawing/2014/main" id="{1E31299E-A430-0D4A-A6E8-A2BB8A7B19F3}"/>
                </a:ext>
              </a:extLst>
            </p:cNvPr>
            <p:cNvSpPr>
              <a:spLocks noChangeArrowheads="1"/>
            </p:cNvSpPr>
            <p:nvPr/>
          </p:nvSpPr>
          <p:spPr bwMode="auto">
            <a:xfrm>
              <a:off x="864" y="2160"/>
              <a:ext cx="2256" cy="864"/>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hlink"/>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500"/>
            </a:p>
          </p:txBody>
        </p:sp>
        <p:sp>
          <p:nvSpPr>
            <p:cNvPr id="9" name="Text Box 5">
              <a:extLst>
                <a:ext uri="{FF2B5EF4-FFF2-40B4-BE49-F238E27FC236}">
                  <a16:creationId xmlns:a16="http://schemas.microsoft.com/office/drawing/2014/main" id="{139BED65-D184-434B-99F0-B93209F0DF44}"/>
                </a:ext>
              </a:extLst>
            </p:cNvPr>
            <p:cNvSpPr txBox="1">
              <a:spLocks noChangeArrowheads="1"/>
            </p:cNvSpPr>
            <p:nvPr/>
          </p:nvSpPr>
          <p:spPr bwMode="auto">
            <a:xfrm>
              <a:off x="1536" y="2496"/>
              <a:ext cx="399" cy="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zh-CN" altLang="en-US" sz="1333" i="1" dirty="0">
                  <a:latin typeface="Arial Black" panose="020B0A04020102020204" pitchFamily="34" charset="0"/>
                </a:rPr>
                <a:t>硬件</a:t>
              </a:r>
              <a:endParaRPr lang="en-US" altLang="zh-CN" sz="1333" i="1" dirty="0">
                <a:latin typeface="Arial Black" panose="020B0A04020102020204" pitchFamily="34" charset="0"/>
              </a:endParaRPr>
            </a:p>
          </p:txBody>
        </p:sp>
        <p:sp>
          <p:nvSpPr>
            <p:cNvPr id="10" name="Text Box 6">
              <a:extLst>
                <a:ext uri="{FF2B5EF4-FFF2-40B4-BE49-F238E27FC236}">
                  <a16:creationId xmlns:a16="http://schemas.microsoft.com/office/drawing/2014/main" id="{133408F7-0F7F-B642-8114-BCDF8B9718F1}"/>
                </a:ext>
              </a:extLst>
            </p:cNvPr>
            <p:cNvSpPr txBox="1">
              <a:spLocks noChangeArrowheads="1"/>
            </p:cNvSpPr>
            <p:nvPr/>
          </p:nvSpPr>
          <p:spPr bwMode="auto">
            <a:xfrm>
              <a:off x="1249" y="2160"/>
              <a:ext cx="516" cy="1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zh-CN" altLang="en-US" sz="1000" dirty="0">
                  <a:latin typeface="Arial Black" panose="020B0A04020102020204" pitchFamily="34" charset="0"/>
                </a:rPr>
                <a:t>系统</a:t>
              </a:r>
              <a:r>
                <a:rPr lang="en-US" altLang="zh-CN" sz="1000" dirty="0">
                  <a:latin typeface="Arial Black" panose="020B0A04020102020204" pitchFamily="34" charset="0"/>
                </a:rPr>
                <a:t>ISA</a:t>
              </a:r>
            </a:p>
          </p:txBody>
        </p:sp>
        <p:sp>
          <p:nvSpPr>
            <p:cNvPr id="11" name="Text Box 7">
              <a:extLst>
                <a:ext uri="{FF2B5EF4-FFF2-40B4-BE49-F238E27FC236}">
                  <a16:creationId xmlns:a16="http://schemas.microsoft.com/office/drawing/2014/main" id="{78802078-2280-0B47-B376-43C4D4FE1F6B}"/>
                </a:ext>
              </a:extLst>
            </p:cNvPr>
            <p:cNvSpPr txBox="1">
              <a:spLocks noChangeArrowheads="1"/>
            </p:cNvSpPr>
            <p:nvPr/>
          </p:nvSpPr>
          <p:spPr bwMode="auto">
            <a:xfrm>
              <a:off x="2496" y="2160"/>
              <a:ext cx="549" cy="1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zh-CN" altLang="en-US" sz="1000" dirty="0">
                  <a:latin typeface="Arial Black" panose="020B0A04020102020204" pitchFamily="34" charset="0"/>
                </a:rPr>
                <a:t>用户</a:t>
              </a:r>
              <a:r>
                <a:rPr lang="en-US" altLang="zh-CN" sz="1000" dirty="0">
                  <a:latin typeface="Arial Black" panose="020B0A04020102020204" pitchFamily="34" charset="0"/>
                </a:rPr>
                <a:t> ISA</a:t>
              </a:r>
            </a:p>
          </p:txBody>
        </p:sp>
        <p:sp>
          <p:nvSpPr>
            <p:cNvPr id="12" name="Rectangle 8">
              <a:extLst>
                <a:ext uri="{FF2B5EF4-FFF2-40B4-BE49-F238E27FC236}">
                  <a16:creationId xmlns:a16="http://schemas.microsoft.com/office/drawing/2014/main" id="{EDBD6FA5-20AD-3348-9B64-50E5AC0C7752}"/>
                </a:ext>
              </a:extLst>
            </p:cNvPr>
            <p:cNvSpPr>
              <a:spLocks noChangeArrowheads="1"/>
            </p:cNvSpPr>
            <p:nvPr/>
          </p:nvSpPr>
          <p:spPr bwMode="auto">
            <a:xfrm>
              <a:off x="864" y="1680"/>
              <a:ext cx="1488" cy="480"/>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500"/>
            </a:p>
          </p:txBody>
        </p:sp>
        <p:sp>
          <p:nvSpPr>
            <p:cNvPr id="13" name="Text Box 9">
              <a:extLst>
                <a:ext uri="{FF2B5EF4-FFF2-40B4-BE49-F238E27FC236}">
                  <a16:creationId xmlns:a16="http://schemas.microsoft.com/office/drawing/2014/main" id="{08042E2B-75D1-7440-89B1-21434AC7BEE9}"/>
                </a:ext>
              </a:extLst>
            </p:cNvPr>
            <p:cNvSpPr txBox="1">
              <a:spLocks noChangeArrowheads="1"/>
            </p:cNvSpPr>
            <p:nvPr/>
          </p:nvSpPr>
          <p:spPr bwMode="auto">
            <a:xfrm>
              <a:off x="912" y="1680"/>
              <a:ext cx="527" cy="1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zh-CN" altLang="en-US" sz="1000" i="1" dirty="0">
                  <a:latin typeface="Arial Black" panose="020B0A04020102020204" pitchFamily="34" charset="0"/>
                </a:rPr>
                <a:t>操作系统</a:t>
              </a:r>
              <a:endParaRPr lang="en-US" altLang="zh-CN" sz="1000" i="1" dirty="0">
                <a:latin typeface="Arial Black" panose="020B0A04020102020204" pitchFamily="34" charset="0"/>
              </a:endParaRPr>
            </a:p>
          </p:txBody>
        </p:sp>
        <p:grpSp>
          <p:nvGrpSpPr>
            <p:cNvPr id="14" name="Group 15">
              <a:extLst>
                <a:ext uri="{FF2B5EF4-FFF2-40B4-BE49-F238E27FC236}">
                  <a16:creationId xmlns:a16="http://schemas.microsoft.com/office/drawing/2014/main" id="{AB63E205-51A7-9C4D-9455-F6E722389A0F}"/>
                </a:ext>
              </a:extLst>
            </p:cNvPr>
            <p:cNvGrpSpPr>
              <a:grpSpLocks/>
            </p:cNvGrpSpPr>
            <p:nvPr/>
          </p:nvGrpSpPr>
          <p:grpSpPr bwMode="auto">
            <a:xfrm>
              <a:off x="1630" y="1414"/>
              <a:ext cx="581" cy="362"/>
              <a:chOff x="1287" y="1174"/>
              <a:chExt cx="581" cy="362"/>
            </a:xfrm>
          </p:grpSpPr>
          <p:sp>
            <p:nvSpPr>
              <p:cNvPr id="21" name="Text Box 10">
                <a:extLst>
                  <a:ext uri="{FF2B5EF4-FFF2-40B4-BE49-F238E27FC236}">
                    <a16:creationId xmlns:a16="http://schemas.microsoft.com/office/drawing/2014/main" id="{74E9AA5D-55DF-9B45-A9B9-8E5E48D24912}"/>
                  </a:ext>
                </a:extLst>
              </p:cNvPr>
              <p:cNvSpPr txBox="1">
                <a:spLocks noChangeArrowheads="1"/>
              </p:cNvSpPr>
              <p:nvPr/>
            </p:nvSpPr>
            <p:spPr bwMode="auto">
              <a:xfrm>
                <a:off x="1287" y="1174"/>
                <a:ext cx="581" cy="1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zh-CN" altLang="en-US" sz="1000" dirty="0"/>
                  <a:t>系统  调用</a:t>
                </a:r>
                <a:endParaRPr lang="en-US" altLang="zh-CN" sz="1000" dirty="0"/>
              </a:p>
            </p:txBody>
          </p:sp>
          <p:sp>
            <p:nvSpPr>
              <p:cNvPr id="22" name="Line 11">
                <a:extLst>
                  <a:ext uri="{FF2B5EF4-FFF2-40B4-BE49-F238E27FC236}">
                    <a16:creationId xmlns:a16="http://schemas.microsoft.com/office/drawing/2014/main" id="{6D521F83-0EE1-604C-A3F0-20ABA5299867}"/>
                  </a:ext>
                </a:extLst>
              </p:cNvPr>
              <p:cNvSpPr>
                <a:spLocks noChangeShapeType="1"/>
              </p:cNvSpPr>
              <p:nvPr/>
            </p:nvSpPr>
            <p:spPr bwMode="auto">
              <a:xfrm>
                <a:off x="1296" y="1344"/>
                <a:ext cx="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sp>
            <p:nvSpPr>
              <p:cNvPr id="23" name="Line 12">
                <a:extLst>
                  <a:ext uri="{FF2B5EF4-FFF2-40B4-BE49-F238E27FC236}">
                    <a16:creationId xmlns:a16="http://schemas.microsoft.com/office/drawing/2014/main" id="{58CE24ED-A44C-E04A-8FA5-BE19BAAACFBC}"/>
                  </a:ext>
                </a:extLst>
              </p:cNvPr>
              <p:cNvSpPr>
                <a:spLocks noChangeShapeType="1"/>
              </p:cNvSpPr>
              <p:nvPr/>
            </p:nvSpPr>
            <p:spPr bwMode="auto">
              <a:xfrm>
                <a:off x="1488" y="1344"/>
                <a:ext cx="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sp>
            <p:nvSpPr>
              <p:cNvPr id="24" name="Line 13">
                <a:extLst>
                  <a:ext uri="{FF2B5EF4-FFF2-40B4-BE49-F238E27FC236}">
                    <a16:creationId xmlns:a16="http://schemas.microsoft.com/office/drawing/2014/main" id="{714EB6A4-B77F-6C42-8B13-20F010EDA251}"/>
                  </a:ext>
                </a:extLst>
              </p:cNvPr>
              <p:cNvSpPr>
                <a:spLocks noChangeShapeType="1"/>
              </p:cNvSpPr>
              <p:nvPr/>
            </p:nvSpPr>
            <p:spPr bwMode="auto">
              <a:xfrm>
                <a:off x="1728" y="1344"/>
                <a:ext cx="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grpSp>
        <p:sp>
          <p:nvSpPr>
            <p:cNvPr id="15" name="Rectangle 14">
              <a:extLst>
                <a:ext uri="{FF2B5EF4-FFF2-40B4-BE49-F238E27FC236}">
                  <a16:creationId xmlns:a16="http://schemas.microsoft.com/office/drawing/2014/main" id="{ACD67C81-00F3-D943-8800-7B6433D6F2A4}"/>
                </a:ext>
              </a:extLst>
            </p:cNvPr>
            <p:cNvSpPr>
              <a:spLocks noChangeArrowheads="1"/>
            </p:cNvSpPr>
            <p:nvPr/>
          </p:nvSpPr>
          <p:spPr bwMode="auto">
            <a:xfrm>
              <a:off x="864" y="1296"/>
              <a:ext cx="1056" cy="384"/>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500"/>
            </a:p>
          </p:txBody>
        </p:sp>
        <p:sp>
          <p:nvSpPr>
            <p:cNvPr id="16" name="Text Box 16">
              <a:extLst>
                <a:ext uri="{FF2B5EF4-FFF2-40B4-BE49-F238E27FC236}">
                  <a16:creationId xmlns:a16="http://schemas.microsoft.com/office/drawing/2014/main" id="{D6406269-0AFF-9D48-93B2-9B9A703A90EE}"/>
                </a:ext>
              </a:extLst>
            </p:cNvPr>
            <p:cNvSpPr txBox="1">
              <a:spLocks noChangeArrowheads="1"/>
            </p:cNvSpPr>
            <p:nvPr/>
          </p:nvSpPr>
          <p:spPr bwMode="auto">
            <a:xfrm>
              <a:off x="957" y="1352"/>
              <a:ext cx="237" cy="1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zh-CN" altLang="en-US" sz="1000" i="1" dirty="0">
                  <a:latin typeface="Arial Black" panose="020B0A04020102020204" pitchFamily="34" charset="0"/>
                </a:rPr>
                <a:t>库</a:t>
              </a:r>
              <a:endParaRPr lang="en-US" altLang="zh-CN" sz="1000" i="1" dirty="0">
                <a:latin typeface="Arial Black" panose="020B0A04020102020204" pitchFamily="34" charset="0"/>
              </a:endParaRPr>
            </a:p>
          </p:txBody>
        </p:sp>
        <p:sp>
          <p:nvSpPr>
            <p:cNvPr id="17" name="Line 17">
              <a:extLst>
                <a:ext uri="{FF2B5EF4-FFF2-40B4-BE49-F238E27FC236}">
                  <a16:creationId xmlns:a16="http://schemas.microsoft.com/office/drawing/2014/main" id="{DE5E11EA-CD44-6440-9FB1-DB78EB049579}"/>
                </a:ext>
              </a:extLst>
            </p:cNvPr>
            <p:cNvSpPr>
              <a:spLocks noChangeShapeType="1"/>
            </p:cNvSpPr>
            <p:nvPr/>
          </p:nvSpPr>
          <p:spPr bwMode="auto">
            <a:xfrm flipV="1">
              <a:off x="864" y="1056"/>
              <a:ext cx="0" cy="24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sp>
          <p:nvSpPr>
            <p:cNvPr id="18" name="Line 18">
              <a:extLst>
                <a:ext uri="{FF2B5EF4-FFF2-40B4-BE49-F238E27FC236}">
                  <a16:creationId xmlns:a16="http://schemas.microsoft.com/office/drawing/2014/main" id="{A52C9053-8C32-FA4B-807B-82C2965DF99F}"/>
                </a:ext>
              </a:extLst>
            </p:cNvPr>
            <p:cNvSpPr>
              <a:spLocks noChangeShapeType="1"/>
            </p:cNvSpPr>
            <p:nvPr/>
          </p:nvSpPr>
          <p:spPr bwMode="auto">
            <a:xfrm>
              <a:off x="864" y="1056"/>
              <a:ext cx="2256"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sp>
          <p:nvSpPr>
            <p:cNvPr id="19" name="Line 19">
              <a:extLst>
                <a:ext uri="{FF2B5EF4-FFF2-40B4-BE49-F238E27FC236}">
                  <a16:creationId xmlns:a16="http://schemas.microsoft.com/office/drawing/2014/main" id="{DB94AC95-BEA9-7C40-8DB1-9C81D1824779}"/>
                </a:ext>
              </a:extLst>
            </p:cNvPr>
            <p:cNvSpPr>
              <a:spLocks noChangeShapeType="1"/>
            </p:cNvSpPr>
            <p:nvPr/>
          </p:nvSpPr>
          <p:spPr bwMode="auto">
            <a:xfrm flipV="1">
              <a:off x="3120" y="1056"/>
              <a:ext cx="0" cy="1104"/>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sp>
          <p:nvSpPr>
            <p:cNvPr id="20" name="Text Box 21">
              <a:extLst>
                <a:ext uri="{FF2B5EF4-FFF2-40B4-BE49-F238E27FC236}">
                  <a16:creationId xmlns:a16="http://schemas.microsoft.com/office/drawing/2014/main" id="{8956F013-BACD-2C48-BACF-01EE0A1D6528}"/>
                </a:ext>
              </a:extLst>
            </p:cNvPr>
            <p:cNvSpPr txBox="1">
              <a:spLocks noChangeArrowheads="1"/>
            </p:cNvSpPr>
            <p:nvPr/>
          </p:nvSpPr>
          <p:spPr bwMode="auto">
            <a:xfrm>
              <a:off x="2632" y="1095"/>
              <a:ext cx="333" cy="1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zh-CN" altLang="en-US" sz="1000" i="1" dirty="0">
                  <a:latin typeface="Arial Black" panose="020B0A04020102020204" pitchFamily="34" charset="0"/>
                </a:rPr>
                <a:t>应用</a:t>
              </a:r>
              <a:endParaRPr lang="en-US" altLang="zh-CN" sz="1000" i="1" dirty="0">
                <a:latin typeface="Arial Black" panose="020B0A04020102020204" pitchFamily="34" charset="0"/>
              </a:endParaRPr>
            </a:p>
          </p:txBody>
        </p:sp>
      </p:grpSp>
      <p:grpSp>
        <p:nvGrpSpPr>
          <p:cNvPr id="25" name="Group 54">
            <a:extLst>
              <a:ext uri="{FF2B5EF4-FFF2-40B4-BE49-F238E27FC236}">
                <a16:creationId xmlns:a16="http://schemas.microsoft.com/office/drawing/2014/main" id="{FA1E36EF-DB77-864C-99D4-794BC4B5E408}"/>
              </a:ext>
            </a:extLst>
          </p:cNvPr>
          <p:cNvGrpSpPr>
            <a:grpSpLocks/>
          </p:cNvGrpSpPr>
          <p:nvPr/>
        </p:nvGrpSpPr>
        <p:grpSpPr bwMode="auto">
          <a:xfrm>
            <a:off x="4935611" y="2268694"/>
            <a:ext cx="4016375" cy="322792"/>
            <a:chOff x="1356" y="2112"/>
            <a:chExt cx="3036" cy="244"/>
          </a:xfrm>
        </p:grpSpPr>
        <p:sp>
          <p:nvSpPr>
            <p:cNvPr id="26" name="Line 23">
              <a:extLst>
                <a:ext uri="{FF2B5EF4-FFF2-40B4-BE49-F238E27FC236}">
                  <a16:creationId xmlns:a16="http://schemas.microsoft.com/office/drawing/2014/main" id="{9C7E54A2-08D2-C347-B10F-FCA9767E5185}"/>
                </a:ext>
              </a:extLst>
            </p:cNvPr>
            <p:cNvSpPr>
              <a:spLocks noChangeShapeType="1"/>
            </p:cNvSpPr>
            <p:nvPr/>
          </p:nvSpPr>
          <p:spPr bwMode="auto">
            <a:xfrm>
              <a:off x="1688" y="2256"/>
              <a:ext cx="2704" cy="0"/>
            </a:xfrm>
            <a:prstGeom prst="line">
              <a:avLst/>
            </a:prstGeom>
            <a:noFill/>
            <a:ln w="3810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sp>
          <p:nvSpPr>
            <p:cNvPr id="27" name="Text Box 24">
              <a:extLst>
                <a:ext uri="{FF2B5EF4-FFF2-40B4-BE49-F238E27FC236}">
                  <a16:creationId xmlns:a16="http://schemas.microsoft.com/office/drawing/2014/main" id="{87B0ED9A-D28B-5A46-9FC2-6732F175CF38}"/>
                </a:ext>
              </a:extLst>
            </p:cNvPr>
            <p:cNvSpPr txBox="1">
              <a:spLocks noChangeArrowheads="1"/>
            </p:cNvSpPr>
            <p:nvPr/>
          </p:nvSpPr>
          <p:spPr bwMode="auto">
            <a:xfrm>
              <a:off x="1356" y="2112"/>
              <a:ext cx="390" cy="2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381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r>
                <a:rPr lang="en-US" altLang="zh-CN" sz="1500" b="1" dirty="0">
                  <a:solidFill>
                    <a:schemeClr val="accent2"/>
                  </a:solidFill>
                </a:rPr>
                <a:t>ISA</a:t>
              </a:r>
            </a:p>
          </p:txBody>
        </p:sp>
      </p:grpSp>
      <p:grpSp>
        <p:nvGrpSpPr>
          <p:cNvPr id="28" name="Group 53">
            <a:extLst>
              <a:ext uri="{FF2B5EF4-FFF2-40B4-BE49-F238E27FC236}">
                <a16:creationId xmlns:a16="http://schemas.microsoft.com/office/drawing/2014/main" id="{C5684994-4ED7-0346-9995-D3E11302B093}"/>
              </a:ext>
            </a:extLst>
          </p:cNvPr>
          <p:cNvGrpSpPr>
            <a:grpSpLocks/>
          </p:cNvGrpSpPr>
          <p:nvPr/>
        </p:nvGrpSpPr>
        <p:grpSpPr bwMode="auto">
          <a:xfrm>
            <a:off x="4935610" y="1645602"/>
            <a:ext cx="4000500" cy="750093"/>
            <a:chOff x="1356" y="1641"/>
            <a:chExt cx="3024" cy="567"/>
          </a:xfrm>
        </p:grpSpPr>
        <p:grpSp>
          <p:nvGrpSpPr>
            <p:cNvPr id="29" name="Group 45">
              <a:extLst>
                <a:ext uri="{FF2B5EF4-FFF2-40B4-BE49-F238E27FC236}">
                  <a16:creationId xmlns:a16="http://schemas.microsoft.com/office/drawing/2014/main" id="{6CABD30D-4928-2242-8C72-069334563B9C}"/>
                </a:ext>
              </a:extLst>
            </p:cNvPr>
            <p:cNvGrpSpPr>
              <a:grpSpLocks/>
            </p:cNvGrpSpPr>
            <p:nvPr/>
          </p:nvGrpSpPr>
          <p:grpSpPr bwMode="auto">
            <a:xfrm>
              <a:off x="1692" y="1776"/>
              <a:ext cx="2688" cy="432"/>
              <a:chOff x="672" y="1632"/>
              <a:chExt cx="2688" cy="432"/>
            </a:xfrm>
          </p:grpSpPr>
          <p:sp>
            <p:nvSpPr>
              <p:cNvPr id="31" name="Line 25">
                <a:extLst>
                  <a:ext uri="{FF2B5EF4-FFF2-40B4-BE49-F238E27FC236}">
                    <a16:creationId xmlns:a16="http://schemas.microsoft.com/office/drawing/2014/main" id="{EC0F47D5-001B-8346-BC1C-114F94E8C19E}"/>
                  </a:ext>
                </a:extLst>
              </p:cNvPr>
              <p:cNvSpPr>
                <a:spLocks noChangeShapeType="1"/>
              </p:cNvSpPr>
              <p:nvPr/>
            </p:nvSpPr>
            <p:spPr bwMode="auto">
              <a:xfrm>
                <a:off x="672" y="1632"/>
                <a:ext cx="1824" cy="0"/>
              </a:xfrm>
              <a:prstGeom prst="line">
                <a:avLst/>
              </a:prstGeom>
              <a:noFill/>
              <a:ln w="38100">
                <a:solidFill>
                  <a:srgbClr val="3399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sp>
            <p:nvSpPr>
              <p:cNvPr id="32" name="Line 26">
                <a:extLst>
                  <a:ext uri="{FF2B5EF4-FFF2-40B4-BE49-F238E27FC236}">
                    <a16:creationId xmlns:a16="http://schemas.microsoft.com/office/drawing/2014/main" id="{E2BB2F53-E826-5545-9203-B12B2BDA8531}"/>
                  </a:ext>
                </a:extLst>
              </p:cNvPr>
              <p:cNvSpPr>
                <a:spLocks noChangeShapeType="1"/>
              </p:cNvSpPr>
              <p:nvPr/>
            </p:nvSpPr>
            <p:spPr bwMode="auto">
              <a:xfrm>
                <a:off x="2496" y="1632"/>
                <a:ext cx="0" cy="432"/>
              </a:xfrm>
              <a:prstGeom prst="line">
                <a:avLst/>
              </a:prstGeom>
              <a:noFill/>
              <a:ln w="38100">
                <a:solidFill>
                  <a:srgbClr val="3399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sp>
            <p:nvSpPr>
              <p:cNvPr id="33" name="Line 32">
                <a:extLst>
                  <a:ext uri="{FF2B5EF4-FFF2-40B4-BE49-F238E27FC236}">
                    <a16:creationId xmlns:a16="http://schemas.microsoft.com/office/drawing/2014/main" id="{32DCDE5D-72D5-2C47-A358-38FE81C43BA1}"/>
                  </a:ext>
                </a:extLst>
              </p:cNvPr>
              <p:cNvSpPr>
                <a:spLocks noChangeShapeType="1"/>
              </p:cNvSpPr>
              <p:nvPr/>
            </p:nvSpPr>
            <p:spPr bwMode="auto">
              <a:xfrm>
                <a:off x="2496" y="2064"/>
                <a:ext cx="864" cy="0"/>
              </a:xfrm>
              <a:prstGeom prst="line">
                <a:avLst/>
              </a:prstGeom>
              <a:noFill/>
              <a:ln w="38100">
                <a:solidFill>
                  <a:srgbClr val="3399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grpSp>
        <p:sp>
          <p:nvSpPr>
            <p:cNvPr id="30" name="Text Box 34">
              <a:extLst>
                <a:ext uri="{FF2B5EF4-FFF2-40B4-BE49-F238E27FC236}">
                  <a16:creationId xmlns:a16="http://schemas.microsoft.com/office/drawing/2014/main" id="{E4FF3F88-A781-EF44-B5E3-1C324B18DE0E}"/>
                </a:ext>
              </a:extLst>
            </p:cNvPr>
            <p:cNvSpPr txBox="1">
              <a:spLocks noChangeArrowheads="1"/>
            </p:cNvSpPr>
            <p:nvPr/>
          </p:nvSpPr>
          <p:spPr bwMode="auto">
            <a:xfrm>
              <a:off x="1356" y="1641"/>
              <a:ext cx="390" cy="2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381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US" altLang="zh-CN" sz="1500" b="1" dirty="0">
                  <a:solidFill>
                    <a:srgbClr val="3399FF"/>
                  </a:solidFill>
                </a:rPr>
                <a:t>ABI</a:t>
              </a:r>
            </a:p>
          </p:txBody>
        </p:sp>
      </p:grpSp>
      <p:grpSp>
        <p:nvGrpSpPr>
          <p:cNvPr id="34" name="Group 52">
            <a:extLst>
              <a:ext uri="{FF2B5EF4-FFF2-40B4-BE49-F238E27FC236}">
                <a16:creationId xmlns:a16="http://schemas.microsoft.com/office/drawing/2014/main" id="{B3AC2225-AA99-734D-A235-4986AF71A75C}"/>
              </a:ext>
            </a:extLst>
          </p:cNvPr>
          <p:cNvGrpSpPr>
            <a:grpSpLocks/>
          </p:cNvGrpSpPr>
          <p:nvPr/>
        </p:nvGrpSpPr>
        <p:grpSpPr bwMode="auto">
          <a:xfrm>
            <a:off x="4919736" y="1137602"/>
            <a:ext cx="4016375" cy="1194593"/>
            <a:chOff x="1344" y="1257"/>
            <a:chExt cx="3036" cy="903"/>
          </a:xfrm>
        </p:grpSpPr>
        <p:sp>
          <p:nvSpPr>
            <p:cNvPr id="35" name="Text Box 40">
              <a:extLst>
                <a:ext uri="{FF2B5EF4-FFF2-40B4-BE49-F238E27FC236}">
                  <a16:creationId xmlns:a16="http://schemas.microsoft.com/office/drawing/2014/main" id="{6D6ADC7E-C9E5-9D4C-AF4E-82887774694F}"/>
                </a:ext>
              </a:extLst>
            </p:cNvPr>
            <p:cNvSpPr txBox="1">
              <a:spLocks noChangeArrowheads="1"/>
            </p:cNvSpPr>
            <p:nvPr/>
          </p:nvSpPr>
          <p:spPr bwMode="auto">
            <a:xfrm>
              <a:off x="1344" y="1257"/>
              <a:ext cx="382" cy="2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381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US" altLang="zh-CN" sz="1500" b="1" dirty="0">
                  <a:solidFill>
                    <a:schemeClr val="accent5"/>
                  </a:solidFill>
                </a:rPr>
                <a:t>API</a:t>
              </a:r>
            </a:p>
          </p:txBody>
        </p:sp>
        <p:grpSp>
          <p:nvGrpSpPr>
            <p:cNvPr id="36" name="Group 44">
              <a:extLst>
                <a:ext uri="{FF2B5EF4-FFF2-40B4-BE49-F238E27FC236}">
                  <a16:creationId xmlns:a16="http://schemas.microsoft.com/office/drawing/2014/main" id="{5A14F7AF-6CC8-9043-B02A-C5AB80A44CDE}"/>
                </a:ext>
              </a:extLst>
            </p:cNvPr>
            <p:cNvGrpSpPr>
              <a:grpSpLocks/>
            </p:cNvGrpSpPr>
            <p:nvPr/>
          </p:nvGrpSpPr>
          <p:grpSpPr bwMode="auto">
            <a:xfrm>
              <a:off x="1692" y="1392"/>
              <a:ext cx="2688" cy="768"/>
              <a:chOff x="672" y="1248"/>
              <a:chExt cx="2688" cy="768"/>
            </a:xfrm>
          </p:grpSpPr>
          <p:sp>
            <p:nvSpPr>
              <p:cNvPr id="37" name="Line 37">
                <a:extLst>
                  <a:ext uri="{FF2B5EF4-FFF2-40B4-BE49-F238E27FC236}">
                    <a16:creationId xmlns:a16="http://schemas.microsoft.com/office/drawing/2014/main" id="{87A0AD29-DEA4-AC4A-A2D2-28C80964DA4E}"/>
                  </a:ext>
                </a:extLst>
              </p:cNvPr>
              <p:cNvSpPr>
                <a:spLocks noChangeShapeType="1"/>
              </p:cNvSpPr>
              <p:nvPr/>
            </p:nvSpPr>
            <p:spPr bwMode="auto">
              <a:xfrm>
                <a:off x="1968" y="1248"/>
                <a:ext cx="0" cy="336"/>
              </a:xfrm>
              <a:prstGeom prst="line">
                <a:avLst/>
              </a:prstGeom>
              <a:noFill/>
              <a:ln w="38100">
                <a:solidFill>
                  <a:schemeClr val="accent5"/>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sp>
            <p:nvSpPr>
              <p:cNvPr id="38" name="Line 36">
                <a:extLst>
                  <a:ext uri="{FF2B5EF4-FFF2-40B4-BE49-F238E27FC236}">
                    <a16:creationId xmlns:a16="http://schemas.microsoft.com/office/drawing/2014/main" id="{74FB4101-C54E-0C4F-9764-B8B69FC1DFD1}"/>
                  </a:ext>
                </a:extLst>
              </p:cNvPr>
              <p:cNvSpPr>
                <a:spLocks noChangeShapeType="1"/>
              </p:cNvSpPr>
              <p:nvPr/>
            </p:nvSpPr>
            <p:spPr bwMode="auto">
              <a:xfrm>
                <a:off x="672" y="1248"/>
                <a:ext cx="1296" cy="0"/>
              </a:xfrm>
              <a:prstGeom prst="line">
                <a:avLst/>
              </a:prstGeom>
              <a:noFill/>
              <a:ln w="38100">
                <a:solidFill>
                  <a:schemeClr val="accent5"/>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solidFill>
                    <a:schemeClr val="accent3">
                      <a:lumMod val="50000"/>
                    </a:schemeClr>
                  </a:solidFill>
                </a:endParaRPr>
              </a:p>
            </p:txBody>
          </p:sp>
          <p:sp>
            <p:nvSpPr>
              <p:cNvPr id="39" name="Line 38">
                <a:extLst>
                  <a:ext uri="{FF2B5EF4-FFF2-40B4-BE49-F238E27FC236}">
                    <a16:creationId xmlns:a16="http://schemas.microsoft.com/office/drawing/2014/main" id="{38A1EF59-8A0A-4042-A5D6-EC9D3EC4946D}"/>
                  </a:ext>
                </a:extLst>
              </p:cNvPr>
              <p:cNvSpPr>
                <a:spLocks noChangeShapeType="1"/>
              </p:cNvSpPr>
              <p:nvPr/>
            </p:nvSpPr>
            <p:spPr bwMode="auto">
              <a:xfrm>
                <a:off x="1968" y="1584"/>
                <a:ext cx="624" cy="0"/>
              </a:xfrm>
              <a:prstGeom prst="line">
                <a:avLst/>
              </a:prstGeom>
              <a:noFill/>
              <a:ln w="38100">
                <a:solidFill>
                  <a:schemeClr val="accent5"/>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sp>
            <p:nvSpPr>
              <p:cNvPr id="40" name="Line 41">
                <a:extLst>
                  <a:ext uri="{FF2B5EF4-FFF2-40B4-BE49-F238E27FC236}">
                    <a16:creationId xmlns:a16="http://schemas.microsoft.com/office/drawing/2014/main" id="{C370EAC9-6837-B54B-AE05-7C2204D514DF}"/>
                  </a:ext>
                </a:extLst>
              </p:cNvPr>
              <p:cNvSpPr>
                <a:spLocks noChangeShapeType="1"/>
              </p:cNvSpPr>
              <p:nvPr/>
            </p:nvSpPr>
            <p:spPr bwMode="auto">
              <a:xfrm>
                <a:off x="2592" y="1584"/>
                <a:ext cx="0" cy="432"/>
              </a:xfrm>
              <a:prstGeom prst="line">
                <a:avLst/>
              </a:prstGeom>
              <a:noFill/>
              <a:ln w="38100">
                <a:solidFill>
                  <a:schemeClr val="accent5"/>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sp>
            <p:nvSpPr>
              <p:cNvPr id="41" name="Line 42">
                <a:extLst>
                  <a:ext uri="{FF2B5EF4-FFF2-40B4-BE49-F238E27FC236}">
                    <a16:creationId xmlns:a16="http://schemas.microsoft.com/office/drawing/2014/main" id="{8BF2008A-859B-3A46-9D28-02613A511A19}"/>
                  </a:ext>
                </a:extLst>
              </p:cNvPr>
              <p:cNvSpPr>
                <a:spLocks noChangeShapeType="1"/>
              </p:cNvSpPr>
              <p:nvPr/>
            </p:nvSpPr>
            <p:spPr bwMode="auto">
              <a:xfrm>
                <a:off x="2592" y="2016"/>
                <a:ext cx="768" cy="0"/>
              </a:xfrm>
              <a:prstGeom prst="line">
                <a:avLst/>
              </a:prstGeom>
              <a:noFill/>
              <a:ln w="38100">
                <a:solidFill>
                  <a:schemeClr val="accent5"/>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grpSp>
      </p:grpSp>
      <p:sp>
        <p:nvSpPr>
          <p:cNvPr id="42" name="Rectangle 47">
            <a:extLst>
              <a:ext uri="{FF2B5EF4-FFF2-40B4-BE49-F238E27FC236}">
                <a16:creationId xmlns:a16="http://schemas.microsoft.com/office/drawing/2014/main" id="{B33AEB72-6FD8-5B42-BC05-ABA73E1EA0C3}"/>
              </a:ext>
            </a:extLst>
          </p:cNvPr>
          <p:cNvSpPr>
            <a:spLocks noChangeArrowheads="1"/>
          </p:cNvSpPr>
          <p:nvPr/>
        </p:nvSpPr>
        <p:spPr bwMode="auto">
          <a:xfrm>
            <a:off x="5585666" y="3785716"/>
            <a:ext cx="3645024" cy="403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marL="342900" indent="-342900">
              <a:spcBef>
                <a:spcPct val="20000"/>
              </a:spcBef>
              <a:buClr>
                <a:schemeClr val="accent1"/>
              </a:buClr>
              <a:buSzPct val="75000"/>
              <a:buFont typeface="Wingdings" panose="05000000000000000000" pitchFamily="2" charset="2"/>
              <a:buChar char="n"/>
              <a:defRPr sz="3000">
                <a:solidFill>
                  <a:schemeClr val="tx1"/>
                </a:solidFill>
                <a:latin typeface="Times New Roman" panose="02020603050405020304" pitchFamily="18" charset="0"/>
              </a:defRPr>
            </a:lvl1pPr>
            <a:lvl2pPr marL="742950" indent="-285750">
              <a:spcBef>
                <a:spcPct val="20000"/>
              </a:spcBef>
              <a:buClr>
                <a:schemeClr val="accent2"/>
              </a:buClr>
              <a:buSzPct val="80000"/>
              <a:buFont typeface="Wingdings" panose="05000000000000000000" pitchFamily="2" charset="2"/>
              <a:buChar char="¨"/>
              <a:defRPr sz="2000">
                <a:solidFill>
                  <a:schemeClr val="tx1"/>
                </a:solidFill>
                <a:latin typeface="Arial Black" panose="020B0A04020102020204" pitchFamily="34" charset="0"/>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Black" panose="020B0A040201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Times New Roman" panose="02020603050405020304" pitchFamily="18" charset="0"/>
              </a:defRPr>
            </a:lvl5pPr>
            <a:lvl6pPr marL="25146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6pPr>
            <a:lvl7pPr marL="29718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7pPr>
            <a:lvl8pPr marL="34290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8pPr>
            <a:lvl9pPr marL="38862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9pPr>
          </a:lstStyle>
          <a:p>
            <a:pPr marL="0" indent="0">
              <a:lnSpc>
                <a:spcPct val="90000"/>
              </a:lnSpc>
              <a:buNone/>
            </a:pPr>
            <a:r>
              <a:rPr lang="en-US" altLang="zh-CN" sz="1600" b="1" dirty="0">
                <a:solidFill>
                  <a:schemeClr val="accent5"/>
                </a:solidFill>
                <a:latin typeface="Myriad Pro Light" panose="020B0403030403020204" pitchFamily="34" charset="0"/>
                <a:ea typeface="宋体" panose="02010600030101010101" pitchFamily="2" charset="-122"/>
              </a:rPr>
              <a:t>API</a:t>
            </a:r>
            <a:r>
              <a:rPr lang="en-US" altLang="zh-CN" sz="1600" dirty="0">
                <a:solidFill>
                  <a:schemeClr val="accent5"/>
                </a:solidFill>
                <a:latin typeface="Myriad Pro Light" panose="020B0403030403020204" pitchFamily="34" charset="0"/>
                <a:ea typeface="宋体" panose="02010600030101010101" pitchFamily="2" charset="-122"/>
              </a:rPr>
              <a:t> – application programming interface</a:t>
            </a:r>
          </a:p>
        </p:txBody>
      </p:sp>
      <p:sp>
        <p:nvSpPr>
          <p:cNvPr id="43" name="Rectangle 50">
            <a:extLst>
              <a:ext uri="{FF2B5EF4-FFF2-40B4-BE49-F238E27FC236}">
                <a16:creationId xmlns:a16="http://schemas.microsoft.com/office/drawing/2014/main" id="{8D1BCFC9-A771-F742-AEB9-CEE62520A1E2}"/>
              </a:ext>
            </a:extLst>
          </p:cNvPr>
          <p:cNvSpPr>
            <a:spLocks noChangeArrowheads="1"/>
          </p:cNvSpPr>
          <p:nvPr/>
        </p:nvSpPr>
        <p:spPr bwMode="auto">
          <a:xfrm>
            <a:off x="5585666" y="4103216"/>
            <a:ext cx="3746500" cy="381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marL="342900" indent="-342900">
              <a:spcBef>
                <a:spcPct val="20000"/>
              </a:spcBef>
              <a:buClr>
                <a:schemeClr val="accent1"/>
              </a:buClr>
              <a:buSzPct val="75000"/>
              <a:buFont typeface="Wingdings" panose="05000000000000000000" pitchFamily="2" charset="2"/>
              <a:buChar char="n"/>
              <a:defRPr sz="3000">
                <a:solidFill>
                  <a:schemeClr val="tx1"/>
                </a:solidFill>
                <a:latin typeface="Times New Roman" panose="02020603050405020304" pitchFamily="18" charset="0"/>
              </a:defRPr>
            </a:lvl1pPr>
            <a:lvl2pPr marL="742950" indent="-285750">
              <a:spcBef>
                <a:spcPct val="20000"/>
              </a:spcBef>
              <a:buClr>
                <a:schemeClr val="accent2"/>
              </a:buClr>
              <a:buSzPct val="80000"/>
              <a:buFont typeface="Wingdings" panose="05000000000000000000" pitchFamily="2" charset="2"/>
              <a:buChar char="¨"/>
              <a:defRPr sz="2000">
                <a:solidFill>
                  <a:schemeClr val="tx1"/>
                </a:solidFill>
                <a:latin typeface="Arial Black" panose="020B0A04020102020204" pitchFamily="34" charset="0"/>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Black" panose="020B0A040201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Times New Roman" panose="02020603050405020304" pitchFamily="18" charset="0"/>
              </a:defRPr>
            </a:lvl5pPr>
            <a:lvl6pPr marL="25146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6pPr>
            <a:lvl7pPr marL="29718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7pPr>
            <a:lvl8pPr marL="34290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8pPr>
            <a:lvl9pPr marL="38862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9pPr>
          </a:lstStyle>
          <a:p>
            <a:pPr marL="0" indent="0">
              <a:lnSpc>
                <a:spcPct val="90000"/>
              </a:lnSpc>
              <a:buNone/>
            </a:pPr>
            <a:r>
              <a:rPr lang="en-US" altLang="zh-CN" sz="1600" b="1" dirty="0">
                <a:solidFill>
                  <a:srgbClr val="0096FF"/>
                </a:solidFill>
                <a:latin typeface="Myriad Pro Light" panose="020B0403030403020204" pitchFamily="34" charset="0"/>
                <a:ea typeface="宋体" panose="02010600030101010101" pitchFamily="2" charset="-122"/>
              </a:rPr>
              <a:t>ABI</a:t>
            </a:r>
            <a:r>
              <a:rPr lang="en-US" altLang="zh-CN" sz="1600" dirty="0">
                <a:solidFill>
                  <a:srgbClr val="0096FF"/>
                </a:solidFill>
                <a:latin typeface="Myriad Pro Light" panose="020B0403030403020204" pitchFamily="34" charset="0"/>
                <a:ea typeface="宋体" panose="02010600030101010101" pitchFamily="2" charset="-122"/>
              </a:rPr>
              <a:t> – application binary interface</a:t>
            </a:r>
          </a:p>
          <a:p>
            <a:pPr marL="0" indent="0">
              <a:lnSpc>
                <a:spcPct val="90000"/>
              </a:lnSpc>
              <a:buNone/>
            </a:pPr>
            <a:endParaRPr lang="en-US" altLang="zh-CN" sz="1600" dirty="0">
              <a:latin typeface="Myriad Pro Light" panose="020B0403030403020204" pitchFamily="34" charset="0"/>
              <a:ea typeface="宋体" panose="02010600030101010101" pitchFamily="2" charset="-122"/>
            </a:endParaRPr>
          </a:p>
        </p:txBody>
      </p:sp>
      <p:sp>
        <p:nvSpPr>
          <p:cNvPr id="44" name="Rectangle 51">
            <a:extLst>
              <a:ext uri="{FF2B5EF4-FFF2-40B4-BE49-F238E27FC236}">
                <a16:creationId xmlns:a16="http://schemas.microsoft.com/office/drawing/2014/main" id="{883E9E74-5162-F54A-97FD-1798DB0219DC}"/>
              </a:ext>
            </a:extLst>
          </p:cNvPr>
          <p:cNvSpPr>
            <a:spLocks noChangeArrowheads="1"/>
          </p:cNvSpPr>
          <p:nvPr/>
        </p:nvSpPr>
        <p:spPr bwMode="auto">
          <a:xfrm>
            <a:off x="5585666" y="4420716"/>
            <a:ext cx="3746500" cy="381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marL="342900" indent="-342900">
              <a:spcBef>
                <a:spcPct val="20000"/>
              </a:spcBef>
              <a:buClr>
                <a:schemeClr val="accent1"/>
              </a:buClr>
              <a:buSzPct val="75000"/>
              <a:buFont typeface="Wingdings" panose="05000000000000000000" pitchFamily="2" charset="2"/>
              <a:buChar char="n"/>
              <a:defRPr sz="3000">
                <a:solidFill>
                  <a:schemeClr val="tx1"/>
                </a:solidFill>
                <a:latin typeface="Times New Roman" panose="02020603050405020304" pitchFamily="18" charset="0"/>
              </a:defRPr>
            </a:lvl1pPr>
            <a:lvl2pPr marL="742950" indent="-285750">
              <a:spcBef>
                <a:spcPct val="20000"/>
              </a:spcBef>
              <a:buClr>
                <a:schemeClr val="accent2"/>
              </a:buClr>
              <a:buSzPct val="80000"/>
              <a:buFont typeface="Wingdings" panose="05000000000000000000" pitchFamily="2" charset="2"/>
              <a:buChar char="¨"/>
              <a:defRPr sz="2000">
                <a:solidFill>
                  <a:schemeClr val="tx1"/>
                </a:solidFill>
                <a:latin typeface="Arial Black" panose="020B0A04020102020204" pitchFamily="34" charset="0"/>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Black" panose="020B0A040201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Times New Roman" panose="02020603050405020304" pitchFamily="18" charset="0"/>
              </a:defRPr>
            </a:lvl5pPr>
            <a:lvl6pPr marL="25146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6pPr>
            <a:lvl7pPr marL="29718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7pPr>
            <a:lvl8pPr marL="34290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8pPr>
            <a:lvl9pPr marL="38862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9pPr>
          </a:lstStyle>
          <a:p>
            <a:pPr marL="0" indent="0">
              <a:lnSpc>
                <a:spcPct val="90000"/>
              </a:lnSpc>
              <a:buNone/>
            </a:pPr>
            <a:r>
              <a:rPr lang="en-US" altLang="zh-CN" sz="1600" b="1" dirty="0">
                <a:solidFill>
                  <a:schemeClr val="accent2"/>
                </a:solidFill>
                <a:latin typeface="Myriad Pro Light" panose="020B0403030403020204" pitchFamily="34" charset="0"/>
                <a:ea typeface="宋体" panose="02010600030101010101" pitchFamily="2" charset="-122"/>
              </a:rPr>
              <a:t>ISA</a:t>
            </a:r>
            <a:r>
              <a:rPr lang="en-US" altLang="zh-CN" sz="1600" dirty="0">
                <a:solidFill>
                  <a:schemeClr val="accent2"/>
                </a:solidFill>
                <a:latin typeface="Myriad Pro Light" panose="020B0403030403020204" pitchFamily="34" charset="0"/>
                <a:ea typeface="宋体" panose="02010600030101010101" pitchFamily="2" charset="-122"/>
              </a:rPr>
              <a:t> – instruction set architecture</a:t>
            </a:r>
          </a:p>
        </p:txBody>
      </p:sp>
    </p:spTree>
    <p:extLst>
      <p:ext uri="{BB962C8B-B14F-4D97-AF65-F5344CB8AC3E}">
        <p14:creationId xmlns:p14="http://schemas.microsoft.com/office/powerpoint/2010/main" val="38527234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D0FD15-5D47-5D45-86BA-3B1610C67F26}"/>
              </a:ext>
            </a:extLst>
          </p:cNvPr>
          <p:cNvSpPr>
            <a:spLocks noGrp="1"/>
          </p:cNvSpPr>
          <p:nvPr>
            <p:ph type="title"/>
          </p:nvPr>
        </p:nvSpPr>
        <p:spPr/>
        <p:txBody>
          <a:bodyPr/>
          <a:lstStyle/>
          <a:p>
            <a:r>
              <a:rPr kumimoji="1" lang="zh-CN" altLang="en-US" dirty="0"/>
              <a:t>思考：这些程序用了哪层接口？</a:t>
            </a:r>
          </a:p>
        </p:txBody>
      </p:sp>
      <p:sp>
        <p:nvSpPr>
          <p:cNvPr id="3" name="内容占位符 2">
            <a:extLst>
              <a:ext uri="{FF2B5EF4-FFF2-40B4-BE49-F238E27FC236}">
                <a16:creationId xmlns:a16="http://schemas.microsoft.com/office/drawing/2014/main" id="{29F28F64-E3F3-C14A-B759-9C139AEC915E}"/>
              </a:ext>
            </a:extLst>
          </p:cNvPr>
          <p:cNvSpPr>
            <a:spLocks noGrp="1"/>
          </p:cNvSpPr>
          <p:nvPr>
            <p:ph idx="1"/>
          </p:nvPr>
        </p:nvSpPr>
        <p:spPr/>
        <p:txBody>
          <a:bodyPr>
            <a:normAutofit fontScale="92500" lnSpcReduction="10000"/>
          </a:bodyPr>
          <a:lstStyle/>
          <a:p>
            <a:r>
              <a:rPr kumimoji="1" lang="en-US" altLang="zh-CN" dirty="0"/>
              <a:t>Hello</a:t>
            </a:r>
            <a:r>
              <a:rPr kumimoji="1" lang="zh-CN" altLang="en-US" dirty="0"/>
              <a:t> </a:t>
            </a:r>
            <a:r>
              <a:rPr kumimoji="1" lang="en-US" altLang="zh-CN" dirty="0"/>
              <a:t>world</a:t>
            </a:r>
          </a:p>
          <a:p>
            <a:r>
              <a:rPr kumimoji="1" lang="en-US" altLang="zh-CN" dirty="0"/>
              <a:t>Web</a:t>
            </a:r>
            <a:r>
              <a:rPr kumimoji="1" lang="zh-CN" altLang="en-US" dirty="0"/>
              <a:t> </a:t>
            </a:r>
            <a:r>
              <a:rPr kumimoji="1" lang="en-US" altLang="zh-CN" dirty="0"/>
              <a:t>game</a:t>
            </a:r>
          </a:p>
          <a:p>
            <a:r>
              <a:rPr kumimoji="1" lang="en-US" altLang="zh-CN" dirty="0" err="1"/>
              <a:t>Dota</a:t>
            </a:r>
            <a:endParaRPr kumimoji="1" lang="en-US" altLang="zh-CN" dirty="0"/>
          </a:p>
          <a:p>
            <a:r>
              <a:rPr kumimoji="1" lang="en-US" altLang="zh-CN" dirty="0"/>
              <a:t>Office</a:t>
            </a:r>
            <a:r>
              <a:rPr kumimoji="1" lang="zh-CN" altLang="en-US" dirty="0"/>
              <a:t> </a:t>
            </a:r>
            <a:r>
              <a:rPr kumimoji="1" lang="en-US" altLang="zh-CN" dirty="0"/>
              <a:t>2016</a:t>
            </a:r>
          </a:p>
          <a:p>
            <a:r>
              <a:rPr kumimoji="1" lang="en-US" altLang="zh-CN" dirty="0"/>
              <a:t>Windows</a:t>
            </a:r>
            <a:r>
              <a:rPr kumimoji="1" lang="zh-CN" altLang="en-US" dirty="0"/>
              <a:t> </a:t>
            </a:r>
            <a:r>
              <a:rPr kumimoji="1" lang="en-US" altLang="zh-CN" dirty="0"/>
              <a:t>10</a:t>
            </a:r>
          </a:p>
          <a:p>
            <a:r>
              <a:rPr kumimoji="1" lang="en-US" altLang="zh-CN" dirty="0"/>
              <a:t>Java</a:t>
            </a:r>
            <a:r>
              <a:rPr kumimoji="1" lang="zh-CN" altLang="en-US" dirty="0"/>
              <a:t> </a:t>
            </a:r>
            <a:r>
              <a:rPr kumimoji="1" lang="en-US" altLang="zh-CN" dirty="0"/>
              <a:t>applications</a:t>
            </a:r>
          </a:p>
          <a:p>
            <a:r>
              <a:rPr kumimoji="1" lang="en-US" altLang="zh-CN" dirty="0"/>
              <a:t>ChCore</a:t>
            </a:r>
          </a:p>
          <a:p>
            <a:pPr lvl="1"/>
            <a:endParaRPr kumimoji="1" lang="zh-CN" altLang="en-US" dirty="0"/>
          </a:p>
        </p:txBody>
      </p:sp>
      <p:sp>
        <p:nvSpPr>
          <p:cNvPr id="4" name="灯片编号占位符 3">
            <a:extLst>
              <a:ext uri="{FF2B5EF4-FFF2-40B4-BE49-F238E27FC236}">
                <a16:creationId xmlns:a16="http://schemas.microsoft.com/office/drawing/2014/main" id="{82B3CDF8-AA61-F749-9CE7-B03A3775A589}"/>
              </a:ext>
            </a:extLst>
          </p:cNvPr>
          <p:cNvSpPr>
            <a:spLocks noGrp="1"/>
          </p:cNvSpPr>
          <p:nvPr>
            <p:ph type="sldNum" sz="quarter" idx="12"/>
          </p:nvPr>
        </p:nvSpPr>
        <p:spPr/>
        <p:txBody>
          <a:bodyPr/>
          <a:lstStyle/>
          <a:p>
            <a:fld id="{ADE361C3-C043-4A6E-BDCE-8DA1E7D90A3B}" type="slidenum">
              <a:rPr lang="zh-CN" altLang="en-US" smtClean="0"/>
              <a:t>15</a:t>
            </a:fld>
            <a:endParaRPr lang="zh-CN" altLang="en-US"/>
          </a:p>
        </p:txBody>
      </p:sp>
      <p:sp>
        <p:nvSpPr>
          <p:cNvPr id="5" name="页脚占位符 4">
            <a:extLst>
              <a:ext uri="{FF2B5EF4-FFF2-40B4-BE49-F238E27FC236}">
                <a16:creationId xmlns:a16="http://schemas.microsoft.com/office/drawing/2014/main" id="{40568454-89C9-4C40-8D22-73B18059ABC4}"/>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grpSp>
        <p:nvGrpSpPr>
          <p:cNvPr id="7" name="Group 28">
            <a:extLst>
              <a:ext uri="{FF2B5EF4-FFF2-40B4-BE49-F238E27FC236}">
                <a16:creationId xmlns:a16="http://schemas.microsoft.com/office/drawing/2014/main" id="{CDD2BC67-C305-D440-86D9-ACA8EDFA055C}"/>
              </a:ext>
            </a:extLst>
          </p:cNvPr>
          <p:cNvGrpSpPr>
            <a:grpSpLocks/>
          </p:cNvGrpSpPr>
          <p:nvPr/>
        </p:nvGrpSpPr>
        <p:grpSpPr bwMode="auto">
          <a:xfrm>
            <a:off x="5702298" y="985292"/>
            <a:ext cx="2984502" cy="2603500"/>
            <a:chOff x="864" y="1056"/>
            <a:chExt cx="2256" cy="1968"/>
          </a:xfrm>
        </p:grpSpPr>
        <p:sp>
          <p:nvSpPr>
            <p:cNvPr id="8" name="Rectangle 4">
              <a:extLst>
                <a:ext uri="{FF2B5EF4-FFF2-40B4-BE49-F238E27FC236}">
                  <a16:creationId xmlns:a16="http://schemas.microsoft.com/office/drawing/2014/main" id="{1E31299E-A430-0D4A-A6E8-A2BB8A7B19F3}"/>
                </a:ext>
              </a:extLst>
            </p:cNvPr>
            <p:cNvSpPr>
              <a:spLocks noChangeArrowheads="1"/>
            </p:cNvSpPr>
            <p:nvPr/>
          </p:nvSpPr>
          <p:spPr bwMode="auto">
            <a:xfrm>
              <a:off x="864" y="2160"/>
              <a:ext cx="2256" cy="864"/>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hlink"/>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500"/>
            </a:p>
          </p:txBody>
        </p:sp>
        <p:sp>
          <p:nvSpPr>
            <p:cNvPr id="9" name="Text Box 5">
              <a:extLst>
                <a:ext uri="{FF2B5EF4-FFF2-40B4-BE49-F238E27FC236}">
                  <a16:creationId xmlns:a16="http://schemas.microsoft.com/office/drawing/2014/main" id="{139BED65-D184-434B-99F0-B93209F0DF44}"/>
                </a:ext>
              </a:extLst>
            </p:cNvPr>
            <p:cNvSpPr txBox="1">
              <a:spLocks noChangeArrowheads="1"/>
            </p:cNvSpPr>
            <p:nvPr/>
          </p:nvSpPr>
          <p:spPr bwMode="auto">
            <a:xfrm>
              <a:off x="1536" y="2496"/>
              <a:ext cx="399" cy="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zh-CN" altLang="en-US" sz="1333" i="1" dirty="0">
                  <a:latin typeface="Arial Black" panose="020B0A04020102020204" pitchFamily="34" charset="0"/>
                </a:rPr>
                <a:t>硬件</a:t>
              </a:r>
              <a:endParaRPr lang="en-US" altLang="zh-CN" sz="1333" i="1" dirty="0">
                <a:latin typeface="Arial Black" panose="020B0A04020102020204" pitchFamily="34" charset="0"/>
              </a:endParaRPr>
            </a:p>
          </p:txBody>
        </p:sp>
        <p:sp>
          <p:nvSpPr>
            <p:cNvPr id="10" name="Text Box 6">
              <a:extLst>
                <a:ext uri="{FF2B5EF4-FFF2-40B4-BE49-F238E27FC236}">
                  <a16:creationId xmlns:a16="http://schemas.microsoft.com/office/drawing/2014/main" id="{133408F7-0F7F-B642-8114-BCDF8B9718F1}"/>
                </a:ext>
              </a:extLst>
            </p:cNvPr>
            <p:cNvSpPr txBox="1">
              <a:spLocks noChangeArrowheads="1"/>
            </p:cNvSpPr>
            <p:nvPr/>
          </p:nvSpPr>
          <p:spPr bwMode="auto">
            <a:xfrm>
              <a:off x="1249" y="2160"/>
              <a:ext cx="516" cy="1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zh-CN" altLang="en-US" sz="1000" dirty="0">
                  <a:latin typeface="Arial Black" panose="020B0A04020102020204" pitchFamily="34" charset="0"/>
                </a:rPr>
                <a:t>系统</a:t>
              </a:r>
              <a:r>
                <a:rPr lang="en-US" altLang="zh-CN" sz="1000" dirty="0">
                  <a:latin typeface="Arial Black" panose="020B0A04020102020204" pitchFamily="34" charset="0"/>
                </a:rPr>
                <a:t>ISA</a:t>
              </a:r>
            </a:p>
          </p:txBody>
        </p:sp>
        <p:sp>
          <p:nvSpPr>
            <p:cNvPr id="11" name="Text Box 7">
              <a:extLst>
                <a:ext uri="{FF2B5EF4-FFF2-40B4-BE49-F238E27FC236}">
                  <a16:creationId xmlns:a16="http://schemas.microsoft.com/office/drawing/2014/main" id="{78802078-2280-0B47-B376-43C4D4FE1F6B}"/>
                </a:ext>
              </a:extLst>
            </p:cNvPr>
            <p:cNvSpPr txBox="1">
              <a:spLocks noChangeArrowheads="1"/>
            </p:cNvSpPr>
            <p:nvPr/>
          </p:nvSpPr>
          <p:spPr bwMode="auto">
            <a:xfrm>
              <a:off x="2496" y="2160"/>
              <a:ext cx="549" cy="1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zh-CN" altLang="en-US" sz="1000" dirty="0">
                  <a:latin typeface="Arial Black" panose="020B0A04020102020204" pitchFamily="34" charset="0"/>
                </a:rPr>
                <a:t>用户</a:t>
              </a:r>
              <a:r>
                <a:rPr lang="en-US" altLang="zh-CN" sz="1000" dirty="0">
                  <a:latin typeface="Arial Black" panose="020B0A04020102020204" pitchFamily="34" charset="0"/>
                </a:rPr>
                <a:t> ISA</a:t>
              </a:r>
            </a:p>
          </p:txBody>
        </p:sp>
        <p:sp>
          <p:nvSpPr>
            <p:cNvPr id="12" name="Rectangle 8">
              <a:extLst>
                <a:ext uri="{FF2B5EF4-FFF2-40B4-BE49-F238E27FC236}">
                  <a16:creationId xmlns:a16="http://schemas.microsoft.com/office/drawing/2014/main" id="{EDBD6FA5-20AD-3348-9B64-50E5AC0C7752}"/>
                </a:ext>
              </a:extLst>
            </p:cNvPr>
            <p:cNvSpPr>
              <a:spLocks noChangeArrowheads="1"/>
            </p:cNvSpPr>
            <p:nvPr/>
          </p:nvSpPr>
          <p:spPr bwMode="auto">
            <a:xfrm>
              <a:off x="864" y="1680"/>
              <a:ext cx="1488" cy="480"/>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500"/>
            </a:p>
          </p:txBody>
        </p:sp>
        <p:sp>
          <p:nvSpPr>
            <p:cNvPr id="13" name="Text Box 9">
              <a:extLst>
                <a:ext uri="{FF2B5EF4-FFF2-40B4-BE49-F238E27FC236}">
                  <a16:creationId xmlns:a16="http://schemas.microsoft.com/office/drawing/2014/main" id="{08042E2B-75D1-7440-89B1-21434AC7BEE9}"/>
                </a:ext>
              </a:extLst>
            </p:cNvPr>
            <p:cNvSpPr txBox="1">
              <a:spLocks noChangeArrowheads="1"/>
            </p:cNvSpPr>
            <p:nvPr/>
          </p:nvSpPr>
          <p:spPr bwMode="auto">
            <a:xfrm>
              <a:off x="912" y="1680"/>
              <a:ext cx="527" cy="1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zh-CN" altLang="en-US" sz="1000" i="1" dirty="0">
                  <a:latin typeface="Arial Black" panose="020B0A04020102020204" pitchFamily="34" charset="0"/>
                </a:rPr>
                <a:t>操作系统</a:t>
              </a:r>
              <a:endParaRPr lang="en-US" altLang="zh-CN" sz="1000" i="1" dirty="0">
                <a:latin typeface="Arial Black" panose="020B0A04020102020204" pitchFamily="34" charset="0"/>
              </a:endParaRPr>
            </a:p>
          </p:txBody>
        </p:sp>
        <p:grpSp>
          <p:nvGrpSpPr>
            <p:cNvPr id="14" name="Group 15">
              <a:extLst>
                <a:ext uri="{FF2B5EF4-FFF2-40B4-BE49-F238E27FC236}">
                  <a16:creationId xmlns:a16="http://schemas.microsoft.com/office/drawing/2014/main" id="{AB63E205-51A7-9C4D-9455-F6E722389A0F}"/>
                </a:ext>
              </a:extLst>
            </p:cNvPr>
            <p:cNvGrpSpPr>
              <a:grpSpLocks/>
            </p:cNvGrpSpPr>
            <p:nvPr/>
          </p:nvGrpSpPr>
          <p:grpSpPr bwMode="auto">
            <a:xfrm>
              <a:off x="1630" y="1414"/>
              <a:ext cx="581" cy="362"/>
              <a:chOff x="1287" y="1174"/>
              <a:chExt cx="581" cy="362"/>
            </a:xfrm>
          </p:grpSpPr>
          <p:sp>
            <p:nvSpPr>
              <p:cNvPr id="21" name="Text Box 10">
                <a:extLst>
                  <a:ext uri="{FF2B5EF4-FFF2-40B4-BE49-F238E27FC236}">
                    <a16:creationId xmlns:a16="http://schemas.microsoft.com/office/drawing/2014/main" id="{74E9AA5D-55DF-9B45-A9B9-8E5E48D24912}"/>
                  </a:ext>
                </a:extLst>
              </p:cNvPr>
              <p:cNvSpPr txBox="1">
                <a:spLocks noChangeArrowheads="1"/>
              </p:cNvSpPr>
              <p:nvPr/>
            </p:nvSpPr>
            <p:spPr bwMode="auto">
              <a:xfrm>
                <a:off x="1287" y="1174"/>
                <a:ext cx="581" cy="1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zh-CN" altLang="en-US" sz="1000" dirty="0"/>
                  <a:t>系统  调用</a:t>
                </a:r>
                <a:endParaRPr lang="en-US" altLang="zh-CN" sz="1000" dirty="0"/>
              </a:p>
            </p:txBody>
          </p:sp>
          <p:sp>
            <p:nvSpPr>
              <p:cNvPr id="22" name="Line 11">
                <a:extLst>
                  <a:ext uri="{FF2B5EF4-FFF2-40B4-BE49-F238E27FC236}">
                    <a16:creationId xmlns:a16="http://schemas.microsoft.com/office/drawing/2014/main" id="{6D521F83-0EE1-604C-A3F0-20ABA5299867}"/>
                  </a:ext>
                </a:extLst>
              </p:cNvPr>
              <p:cNvSpPr>
                <a:spLocks noChangeShapeType="1"/>
              </p:cNvSpPr>
              <p:nvPr/>
            </p:nvSpPr>
            <p:spPr bwMode="auto">
              <a:xfrm>
                <a:off x="1296" y="1344"/>
                <a:ext cx="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sp>
            <p:nvSpPr>
              <p:cNvPr id="23" name="Line 12">
                <a:extLst>
                  <a:ext uri="{FF2B5EF4-FFF2-40B4-BE49-F238E27FC236}">
                    <a16:creationId xmlns:a16="http://schemas.microsoft.com/office/drawing/2014/main" id="{58CE24ED-A44C-E04A-8FA5-BE19BAAACFBC}"/>
                  </a:ext>
                </a:extLst>
              </p:cNvPr>
              <p:cNvSpPr>
                <a:spLocks noChangeShapeType="1"/>
              </p:cNvSpPr>
              <p:nvPr/>
            </p:nvSpPr>
            <p:spPr bwMode="auto">
              <a:xfrm>
                <a:off x="1488" y="1344"/>
                <a:ext cx="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sp>
            <p:nvSpPr>
              <p:cNvPr id="24" name="Line 13">
                <a:extLst>
                  <a:ext uri="{FF2B5EF4-FFF2-40B4-BE49-F238E27FC236}">
                    <a16:creationId xmlns:a16="http://schemas.microsoft.com/office/drawing/2014/main" id="{714EB6A4-B77F-6C42-8B13-20F010EDA251}"/>
                  </a:ext>
                </a:extLst>
              </p:cNvPr>
              <p:cNvSpPr>
                <a:spLocks noChangeShapeType="1"/>
              </p:cNvSpPr>
              <p:nvPr/>
            </p:nvSpPr>
            <p:spPr bwMode="auto">
              <a:xfrm>
                <a:off x="1728" y="1344"/>
                <a:ext cx="0" cy="19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grpSp>
        <p:sp>
          <p:nvSpPr>
            <p:cNvPr id="15" name="Rectangle 14">
              <a:extLst>
                <a:ext uri="{FF2B5EF4-FFF2-40B4-BE49-F238E27FC236}">
                  <a16:creationId xmlns:a16="http://schemas.microsoft.com/office/drawing/2014/main" id="{ACD67C81-00F3-D943-8800-7B6433D6F2A4}"/>
                </a:ext>
              </a:extLst>
            </p:cNvPr>
            <p:cNvSpPr>
              <a:spLocks noChangeArrowheads="1"/>
            </p:cNvSpPr>
            <p:nvPr/>
          </p:nvSpPr>
          <p:spPr bwMode="auto">
            <a:xfrm>
              <a:off x="864" y="1296"/>
              <a:ext cx="1056" cy="384"/>
            </a:xfrm>
            <a:prstGeom prst="rect">
              <a:avLst/>
            </a:prstGeom>
            <a:noFill/>
            <a:ln w="952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500"/>
            </a:p>
          </p:txBody>
        </p:sp>
        <p:sp>
          <p:nvSpPr>
            <p:cNvPr id="16" name="Text Box 16">
              <a:extLst>
                <a:ext uri="{FF2B5EF4-FFF2-40B4-BE49-F238E27FC236}">
                  <a16:creationId xmlns:a16="http://schemas.microsoft.com/office/drawing/2014/main" id="{D6406269-0AFF-9D48-93B2-9B9A703A90EE}"/>
                </a:ext>
              </a:extLst>
            </p:cNvPr>
            <p:cNvSpPr txBox="1">
              <a:spLocks noChangeArrowheads="1"/>
            </p:cNvSpPr>
            <p:nvPr/>
          </p:nvSpPr>
          <p:spPr bwMode="auto">
            <a:xfrm>
              <a:off x="957" y="1352"/>
              <a:ext cx="237" cy="1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zh-CN" altLang="en-US" sz="1000" i="1" dirty="0">
                  <a:latin typeface="Arial Black" panose="020B0A04020102020204" pitchFamily="34" charset="0"/>
                </a:rPr>
                <a:t>库</a:t>
              </a:r>
              <a:endParaRPr lang="en-US" altLang="zh-CN" sz="1000" i="1" dirty="0">
                <a:latin typeface="Arial Black" panose="020B0A04020102020204" pitchFamily="34" charset="0"/>
              </a:endParaRPr>
            </a:p>
          </p:txBody>
        </p:sp>
        <p:sp>
          <p:nvSpPr>
            <p:cNvPr id="17" name="Line 17">
              <a:extLst>
                <a:ext uri="{FF2B5EF4-FFF2-40B4-BE49-F238E27FC236}">
                  <a16:creationId xmlns:a16="http://schemas.microsoft.com/office/drawing/2014/main" id="{DE5E11EA-CD44-6440-9FB1-DB78EB049579}"/>
                </a:ext>
              </a:extLst>
            </p:cNvPr>
            <p:cNvSpPr>
              <a:spLocks noChangeShapeType="1"/>
            </p:cNvSpPr>
            <p:nvPr/>
          </p:nvSpPr>
          <p:spPr bwMode="auto">
            <a:xfrm flipV="1">
              <a:off x="864" y="1056"/>
              <a:ext cx="0" cy="24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sp>
          <p:nvSpPr>
            <p:cNvPr id="18" name="Line 18">
              <a:extLst>
                <a:ext uri="{FF2B5EF4-FFF2-40B4-BE49-F238E27FC236}">
                  <a16:creationId xmlns:a16="http://schemas.microsoft.com/office/drawing/2014/main" id="{A52C9053-8C32-FA4B-807B-82C2965DF99F}"/>
                </a:ext>
              </a:extLst>
            </p:cNvPr>
            <p:cNvSpPr>
              <a:spLocks noChangeShapeType="1"/>
            </p:cNvSpPr>
            <p:nvPr/>
          </p:nvSpPr>
          <p:spPr bwMode="auto">
            <a:xfrm>
              <a:off x="864" y="1056"/>
              <a:ext cx="2256"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sp>
          <p:nvSpPr>
            <p:cNvPr id="19" name="Line 19">
              <a:extLst>
                <a:ext uri="{FF2B5EF4-FFF2-40B4-BE49-F238E27FC236}">
                  <a16:creationId xmlns:a16="http://schemas.microsoft.com/office/drawing/2014/main" id="{DB94AC95-BEA9-7C40-8DB1-9C81D1824779}"/>
                </a:ext>
              </a:extLst>
            </p:cNvPr>
            <p:cNvSpPr>
              <a:spLocks noChangeShapeType="1"/>
            </p:cNvSpPr>
            <p:nvPr/>
          </p:nvSpPr>
          <p:spPr bwMode="auto">
            <a:xfrm flipV="1">
              <a:off x="3120" y="1056"/>
              <a:ext cx="0" cy="1104"/>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sp>
          <p:nvSpPr>
            <p:cNvPr id="20" name="Text Box 21">
              <a:extLst>
                <a:ext uri="{FF2B5EF4-FFF2-40B4-BE49-F238E27FC236}">
                  <a16:creationId xmlns:a16="http://schemas.microsoft.com/office/drawing/2014/main" id="{8956F013-BACD-2C48-BACF-01EE0A1D6528}"/>
                </a:ext>
              </a:extLst>
            </p:cNvPr>
            <p:cNvSpPr txBox="1">
              <a:spLocks noChangeArrowheads="1"/>
            </p:cNvSpPr>
            <p:nvPr/>
          </p:nvSpPr>
          <p:spPr bwMode="auto">
            <a:xfrm>
              <a:off x="2632" y="1095"/>
              <a:ext cx="333" cy="1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zh-CN" altLang="en-US" sz="1000" i="1" dirty="0">
                  <a:latin typeface="Arial Black" panose="020B0A04020102020204" pitchFamily="34" charset="0"/>
                </a:rPr>
                <a:t>应用</a:t>
              </a:r>
              <a:endParaRPr lang="en-US" altLang="zh-CN" sz="1000" i="1" dirty="0">
                <a:latin typeface="Arial Black" panose="020B0A04020102020204" pitchFamily="34" charset="0"/>
              </a:endParaRPr>
            </a:p>
          </p:txBody>
        </p:sp>
      </p:grpSp>
      <p:grpSp>
        <p:nvGrpSpPr>
          <p:cNvPr id="25" name="Group 54">
            <a:extLst>
              <a:ext uri="{FF2B5EF4-FFF2-40B4-BE49-F238E27FC236}">
                <a16:creationId xmlns:a16="http://schemas.microsoft.com/office/drawing/2014/main" id="{FA1E36EF-DB77-864C-99D4-794BC4B5E408}"/>
              </a:ext>
            </a:extLst>
          </p:cNvPr>
          <p:cNvGrpSpPr>
            <a:grpSpLocks/>
          </p:cNvGrpSpPr>
          <p:nvPr/>
        </p:nvGrpSpPr>
        <p:grpSpPr bwMode="auto">
          <a:xfrm>
            <a:off x="4935611" y="2268694"/>
            <a:ext cx="4016375" cy="322792"/>
            <a:chOff x="1356" y="2112"/>
            <a:chExt cx="3036" cy="244"/>
          </a:xfrm>
        </p:grpSpPr>
        <p:sp>
          <p:nvSpPr>
            <p:cNvPr id="26" name="Line 23">
              <a:extLst>
                <a:ext uri="{FF2B5EF4-FFF2-40B4-BE49-F238E27FC236}">
                  <a16:creationId xmlns:a16="http://schemas.microsoft.com/office/drawing/2014/main" id="{9C7E54A2-08D2-C347-B10F-FCA9767E5185}"/>
                </a:ext>
              </a:extLst>
            </p:cNvPr>
            <p:cNvSpPr>
              <a:spLocks noChangeShapeType="1"/>
            </p:cNvSpPr>
            <p:nvPr/>
          </p:nvSpPr>
          <p:spPr bwMode="auto">
            <a:xfrm>
              <a:off x="1688" y="2256"/>
              <a:ext cx="2704" cy="0"/>
            </a:xfrm>
            <a:prstGeom prst="line">
              <a:avLst/>
            </a:prstGeom>
            <a:noFill/>
            <a:ln w="38100">
              <a:solidFill>
                <a:schemeClr val="accent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sp>
          <p:nvSpPr>
            <p:cNvPr id="27" name="Text Box 24">
              <a:extLst>
                <a:ext uri="{FF2B5EF4-FFF2-40B4-BE49-F238E27FC236}">
                  <a16:creationId xmlns:a16="http://schemas.microsoft.com/office/drawing/2014/main" id="{87B0ED9A-D28B-5A46-9FC2-6732F175CF38}"/>
                </a:ext>
              </a:extLst>
            </p:cNvPr>
            <p:cNvSpPr txBox="1">
              <a:spLocks noChangeArrowheads="1"/>
            </p:cNvSpPr>
            <p:nvPr/>
          </p:nvSpPr>
          <p:spPr bwMode="auto">
            <a:xfrm>
              <a:off x="1356" y="2112"/>
              <a:ext cx="390" cy="2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381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r>
                <a:rPr lang="en-US" altLang="zh-CN" sz="1500" b="1" dirty="0">
                  <a:solidFill>
                    <a:schemeClr val="accent2"/>
                  </a:solidFill>
                </a:rPr>
                <a:t>ISA</a:t>
              </a:r>
            </a:p>
          </p:txBody>
        </p:sp>
      </p:grpSp>
      <p:grpSp>
        <p:nvGrpSpPr>
          <p:cNvPr id="28" name="Group 53">
            <a:extLst>
              <a:ext uri="{FF2B5EF4-FFF2-40B4-BE49-F238E27FC236}">
                <a16:creationId xmlns:a16="http://schemas.microsoft.com/office/drawing/2014/main" id="{C5684994-4ED7-0346-9995-D3E11302B093}"/>
              </a:ext>
            </a:extLst>
          </p:cNvPr>
          <p:cNvGrpSpPr>
            <a:grpSpLocks/>
          </p:cNvGrpSpPr>
          <p:nvPr/>
        </p:nvGrpSpPr>
        <p:grpSpPr bwMode="auto">
          <a:xfrm>
            <a:off x="4935610" y="1645602"/>
            <a:ext cx="4000500" cy="750093"/>
            <a:chOff x="1356" y="1641"/>
            <a:chExt cx="3024" cy="567"/>
          </a:xfrm>
        </p:grpSpPr>
        <p:grpSp>
          <p:nvGrpSpPr>
            <p:cNvPr id="29" name="Group 45">
              <a:extLst>
                <a:ext uri="{FF2B5EF4-FFF2-40B4-BE49-F238E27FC236}">
                  <a16:creationId xmlns:a16="http://schemas.microsoft.com/office/drawing/2014/main" id="{6CABD30D-4928-2242-8C72-069334563B9C}"/>
                </a:ext>
              </a:extLst>
            </p:cNvPr>
            <p:cNvGrpSpPr>
              <a:grpSpLocks/>
            </p:cNvGrpSpPr>
            <p:nvPr/>
          </p:nvGrpSpPr>
          <p:grpSpPr bwMode="auto">
            <a:xfrm>
              <a:off x="1692" y="1776"/>
              <a:ext cx="2688" cy="432"/>
              <a:chOff x="672" y="1632"/>
              <a:chExt cx="2688" cy="432"/>
            </a:xfrm>
          </p:grpSpPr>
          <p:sp>
            <p:nvSpPr>
              <p:cNvPr id="31" name="Line 25">
                <a:extLst>
                  <a:ext uri="{FF2B5EF4-FFF2-40B4-BE49-F238E27FC236}">
                    <a16:creationId xmlns:a16="http://schemas.microsoft.com/office/drawing/2014/main" id="{EC0F47D5-001B-8346-BC1C-114F94E8C19E}"/>
                  </a:ext>
                </a:extLst>
              </p:cNvPr>
              <p:cNvSpPr>
                <a:spLocks noChangeShapeType="1"/>
              </p:cNvSpPr>
              <p:nvPr/>
            </p:nvSpPr>
            <p:spPr bwMode="auto">
              <a:xfrm>
                <a:off x="672" y="1632"/>
                <a:ext cx="1824" cy="0"/>
              </a:xfrm>
              <a:prstGeom prst="line">
                <a:avLst/>
              </a:prstGeom>
              <a:noFill/>
              <a:ln w="38100">
                <a:solidFill>
                  <a:srgbClr val="3399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sp>
            <p:nvSpPr>
              <p:cNvPr id="32" name="Line 26">
                <a:extLst>
                  <a:ext uri="{FF2B5EF4-FFF2-40B4-BE49-F238E27FC236}">
                    <a16:creationId xmlns:a16="http://schemas.microsoft.com/office/drawing/2014/main" id="{E2BB2F53-E826-5545-9203-B12B2BDA8531}"/>
                  </a:ext>
                </a:extLst>
              </p:cNvPr>
              <p:cNvSpPr>
                <a:spLocks noChangeShapeType="1"/>
              </p:cNvSpPr>
              <p:nvPr/>
            </p:nvSpPr>
            <p:spPr bwMode="auto">
              <a:xfrm>
                <a:off x="2496" y="1632"/>
                <a:ext cx="0" cy="432"/>
              </a:xfrm>
              <a:prstGeom prst="line">
                <a:avLst/>
              </a:prstGeom>
              <a:noFill/>
              <a:ln w="38100">
                <a:solidFill>
                  <a:srgbClr val="3399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sp>
            <p:nvSpPr>
              <p:cNvPr id="33" name="Line 32">
                <a:extLst>
                  <a:ext uri="{FF2B5EF4-FFF2-40B4-BE49-F238E27FC236}">
                    <a16:creationId xmlns:a16="http://schemas.microsoft.com/office/drawing/2014/main" id="{32DCDE5D-72D5-2C47-A358-38FE81C43BA1}"/>
                  </a:ext>
                </a:extLst>
              </p:cNvPr>
              <p:cNvSpPr>
                <a:spLocks noChangeShapeType="1"/>
              </p:cNvSpPr>
              <p:nvPr/>
            </p:nvSpPr>
            <p:spPr bwMode="auto">
              <a:xfrm>
                <a:off x="2496" y="2064"/>
                <a:ext cx="864" cy="0"/>
              </a:xfrm>
              <a:prstGeom prst="line">
                <a:avLst/>
              </a:prstGeom>
              <a:noFill/>
              <a:ln w="38100">
                <a:solidFill>
                  <a:srgbClr val="3399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p>
            </p:txBody>
          </p:sp>
        </p:grpSp>
        <p:sp>
          <p:nvSpPr>
            <p:cNvPr id="30" name="Text Box 34">
              <a:extLst>
                <a:ext uri="{FF2B5EF4-FFF2-40B4-BE49-F238E27FC236}">
                  <a16:creationId xmlns:a16="http://schemas.microsoft.com/office/drawing/2014/main" id="{E4FF3F88-A781-EF44-B5E3-1C324B18DE0E}"/>
                </a:ext>
              </a:extLst>
            </p:cNvPr>
            <p:cNvSpPr txBox="1">
              <a:spLocks noChangeArrowheads="1"/>
            </p:cNvSpPr>
            <p:nvPr/>
          </p:nvSpPr>
          <p:spPr bwMode="auto">
            <a:xfrm>
              <a:off x="1356" y="1641"/>
              <a:ext cx="390" cy="2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381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US" altLang="zh-CN" sz="1500" b="1" dirty="0">
                  <a:solidFill>
                    <a:srgbClr val="3399FF"/>
                  </a:solidFill>
                </a:rPr>
                <a:t>ABI</a:t>
              </a:r>
            </a:p>
          </p:txBody>
        </p:sp>
      </p:grpSp>
      <p:grpSp>
        <p:nvGrpSpPr>
          <p:cNvPr id="34" name="Group 52">
            <a:extLst>
              <a:ext uri="{FF2B5EF4-FFF2-40B4-BE49-F238E27FC236}">
                <a16:creationId xmlns:a16="http://schemas.microsoft.com/office/drawing/2014/main" id="{B3AC2225-AA99-734D-A235-4986AF71A75C}"/>
              </a:ext>
            </a:extLst>
          </p:cNvPr>
          <p:cNvGrpSpPr>
            <a:grpSpLocks/>
          </p:cNvGrpSpPr>
          <p:nvPr/>
        </p:nvGrpSpPr>
        <p:grpSpPr bwMode="auto">
          <a:xfrm>
            <a:off x="4919736" y="1137602"/>
            <a:ext cx="4016375" cy="1194593"/>
            <a:chOff x="1344" y="1257"/>
            <a:chExt cx="3036" cy="903"/>
          </a:xfrm>
        </p:grpSpPr>
        <p:sp>
          <p:nvSpPr>
            <p:cNvPr id="35" name="Text Box 40">
              <a:extLst>
                <a:ext uri="{FF2B5EF4-FFF2-40B4-BE49-F238E27FC236}">
                  <a16:creationId xmlns:a16="http://schemas.microsoft.com/office/drawing/2014/main" id="{6D6ADC7E-C9E5-9D4C-AF4E-82887774694F}"/>
                </a:ext>
              </a:extLst>
            </p:cNvPr>
            <p:cNvSpPr txBox="1">
              <a:spLocks noChangeArrowheads="1"/>
            </p:cNvSpPr>
            <p:nvPr/>
          </p:nvSpPr>
          <p:spPr bwMode="auto">
            <a:xfrm>
              <a:off x="1344" y="1257"/>
              <a:ext cx="382" cy="2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381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US" altLang="zh-CN" sz="1500" b="1" dirty="0">
                  <a:solidFill>
                    <a:schemeClr val="accent5"/>
                  </a:solidFill>
                </a:rPr>
                <a:t>API</a:t>
              </a:r>
            </a:p>
          </p:txBody>
        </p:sp>
        <p:grpSp>
          <p:nvGrpSpPr>
            <p:cNvPr id="36" name="Group 44">
              <a:extLst>
                <a:ext uri="{FF2B5EF4-FFF2-40B4-BE49-F238E27FC236}">
                  <a16:creationId xmlns:a16="http://schemas.microsoft.com/office/drawing/2014/main" id="{5A14F7AF-6CC8-9043-B02A-C5AB80A44CDE}"/>
                </a:ext>
              </a:extLst>
            </p:cNvPr>
            <p:cNvGrpSpPr>
              <a:grpSpLocks/>
            </p:cNvGrpSpPr>
            <p:nvPr/>
          </p:nvGrpSpPr>
          <p:grpSpPr bwMode="auto">
            <a:xfrm>
              <a:off x="1692" y="1392"/>
              <a:ext cx="2688" cy="768"/>
              <a:chOff x="672" y="1248"/>
              <a:chExt cx="2688" cy="768"/>
            </a:xfrm>
          </p:grpSpPr>
          <p:sp>
            <p:nvSpPr>
              <p:cNvPr id="37" name="Line 37">
                <a:extLst>
                  <a:ext uri="{FF2B5EF4-FFF2-40B4-BE49-F238E27FC236}">
                    <a16:creationId xmlns:a16="http://schemas.microsoft.com/office/drawing/2014/main" id="{87A0AD29-DEA4-AC4A-A2D2-28C80964DA4E}"/>
                  </a:ext>
                </a:extLst>
              </p:cNvPr>
              <p:cNvSpPr>
                <a:spLocks noChangeShapeType="1"/>
              </p:cNvSpPr>
              <p:nvPr/>
            </p:nvSpPr>
            <p:spPr bwMode="auto">
              <a:xfrm>
                <a:off x="1968" y="1248"/>
                <a:ext cx="0" cy="336"/>
              </a:xfrm>
              <a:prstGeom prst="line">
                <a:avLst/>
              </a:prstGeom>
              <a:noFill/>
              <a:ln w="38100">
                <a:solidFill>
                  <a:schemeClr val="accent5"/>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solidFill>
                    <a:schemeClr val="accent5"/>
                  </a:solidFill>
                </a:endParaRPr>
              </a:p>
            </p:txBody>
          </p:sp>
          <p:sp>
            <p:nvSpPr>
              <p:cNvPr id="38" name="Line 36">
                <a:extLst>
                  <a:ext uri="{FF2B5EF4-FFF2-40B4-BE49-F238E27FC236}">
                    <a16:creationId xmlns:a16="http://schemas.microsoft.com/office/drawing/2014/main" id="{74FB4101-C54E-0C4F-9764-B8B69FC1DFD1}"/>
                  </a:ext>
                </a:extLst>
              </p:cNvPr>
              <p:cNvSpPr>
                <a:spLocks noChangeShapeType="1"/>
              </p:cNvSpPr>
              <p:nvPr/>
            </p:nvSpPr>
            <p:spPr bwMode="auto">
              <a:xfrm>
                <a:off x="672" y="1248"/>
                <a:ext cx="1296" cy="0"/>
              </a:xfrm>
              <a:prstGeom prst="line">
                <a:avLst/>
              </a:prstGeom>
              <a:noFill/>
              <a:ln w="38100">
                <a:solidFill>
                  <a:schemeClr val="accent5"/>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solidFill>
                    <a:schemeClr val="accent5"/>
                  </a:solidFill>
                </a:endParaRPr>
              </a:p>
            </p:txBody>
          </p:sp>
          <p:sp>
            <p:nvSpPr>
              <p:cNvPr id="39" name="Line 38">
                <a:extLst>
                  <a:ext uri="{FF2B5EF4-FFF2-40B4-BE49-F238E27FC236}">
                    <a16:creationId xmlns:a16="http://schemas.microsoft.com/office/drawing/2014/main" id="{38A1EF59-8A0A-4042-A5D6-EC9D3EC4946D}"/>
                  </a:ext>
                </a:extLst>
              </p:cNvPr>
              <p:cNvSpPr>
                <a:spLocks noChangeShapeType="1"/>
              </p:cNvSpPr>
              <p:nvPr/>
            </p:nvSpPr>
            <p:spPr bwMode="auto">
              <a:xfrm>
                <a:off x="1968" y="1584"/>
                <a:ext cx="624" cy="0"/>
              </a:xfrm>
              <a:prstGeom prst="line">
                <a:avLst/>
              </a:prstGeom>
              <a:noFill/>
              <a:ln w="38100">
                <a:solidFill>
                  <a:schemeClr val="accent5"/>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solidFill>
                    <a:schemeClr val="accent5"/>
                  </a:solidFill>
                </a:endParaRPr>
              </a:p>
            </p:txBody>
          </p:sp>
          <p:sp>
            <p:nvSpPr>
              <p:cNvPr id="40" name="Line 41">
                <a:extLst>
                  <a:ext uri="{FF2B5EF4-FFF2-40B4-BE49-F238E27FC236}">
                    <a16:creationId xmlns:a16="http://schemas.microsoft.com/office/drawing/2014/main" id="{C370EAC9-6837-B54B-AE05-7C2204D514DF}"/>
                  </a:ext>
                </a:extLst>
              </p:cNvPr>
              <p:cNvSpPr>
                <a:spLocks noChangeShapeType="1"/>
              </p:cNvSpPr>
              <p:nvPr/>
            </p:nvSpPr>
            <p:spPr bwMode="auto">
              <a:xfrm>
                <a:off x="2592" y="1584"/>
                <a:ext cx="0" cy="432"/>
              </a:xfrm>
              <a:prstGeom prst="line">
                <a:avLst/>
              </a:prstGeom>
              <a:noFill/>
              <a:ln w="38100">
                <a:solidFill>
                  <a:schemeClr val="accent5"/>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solidFill>
                    <a:schemeClr val="accent5"/>
                  </a:solidFill>
                </a:endParaRPr>
              </a:p>
            </p:txBody>
          </p:sp>
          <p:sp>
            <p:nvSpPr>
              <p:cNvPr id="41" name="Line 42">
                <a:extLst>
                  <a:ext uri="{FF2B5EF4-FFF2-40B4-BE49-F238E27FC236}">
                    <a16:creationId xmlns:a16="http://schemas.microsoft.com/office/drawing/2014/main" id="{8BF2008A-859B-3A46-9D28-02613A511A19}"/>
                  </a:ext>
                </a:extLst>
              </p:cNvPr>
              <p:cNvSpPr>
                <a:spLocks noChangeShapeType="1"/>
              </p:cNvSpPr>
              <p:nvPr/>
            </p:nvSpPr>
            <p:spPr bwMode="auto">
              <a:xfrm>
                <a:off x="2592" y="2016"/>
                <a:ext cx="768" cy="0"/>
              </a:xfrm>
              <a:prstGeom prst="line">
                <a:avLst/>
              </a:prstGeom>
              <a:noFill/>
              <a:ln w="38100">
                <a:solidFill>
                  <a:schemeClr val="accent5"/>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1500">
                  <a:solidFill>
                    <a:schemeClr val="accent5"/>
                  </a:solidFill>
                </a:endParaRPr>
              </a:p>
            </p:txBody>
          </p:sp>
        </p:grpSp>
      </p:grpSp>
      <p:sp>
        <p:nvSpPr>
          <p:cNvPr id="42" name="Rectangle 47">
            <a:extLst>
              <a:ext uri="{FF2B5EF4-FFF2-40B4-BE49-F238E27FC236}">
                <a16:creationId xmlns:a16="http://schemas.microsoft.com/office/drawing/2014/main" id="{B33AEB72-6FD8-5B42-BC05-ABA73E1EA0C3}"/>
              </a:ext>
            </a:extLst>
          </p:cNvPr>
          <p:cNvSpPr>
            <a:spLocks noChangeArrowheads="1"/>
          </p:cNvSpPr>
          <p:nvPr/>
        </p:nvSpPr>
        <p:spPr bwMode="auto">
          <a:xfrm>
            <a:off x="5585666" y="3785716"/>
            <a:ext cx="3645024" cy="403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marL="342900" indent="-342900">
              <a:spcBef>
                <a:spcPct val="20000"/>
              </a:spcBef>
              <a:buClr>
                <a:schemeClr val="accent1"/>
              </a:buClr>
              <a:buSzPct val="75000"/>
              <a:buFont typeface="Wingdings" panose="05000000000000000000" pitchFamily="2" charset="2"/>
              <a:buChar char="n"/>
              <a:defRPr sz="3000">
                <a:solidFill>
                  <a:schemeClr val="tx1"/>
                </a:solidFill>
                <a:latin typeface="Times New Roman" panose="02020603050405020304" pitchFamily="18" charset="0"/>
              </a:defRPr>
            </a:lvl1pPr>
            <a:lvl2pPr marL="742950" indent="-285750">
              <a:spcBef>
                <a:spcPct val="20000"/>
              </a:spcBef>
              <a:buClr>
                <a:schemeClr val="accent2"/>
              </a:buClr>
              <a:buSzPct val="80000"/>
              <a:buFont typeface="Wingdings" panose="05000000000000000000" pitchFamily="2" charset="2"/>
              <a:buChar char="¨"/>
              <a:defRPr sz="2000">
                <a:solidFill>
                  <a:schemeClr val="tx1"/>
                </a:solidFill>
                <a:latin typeface="Arial Black" panose="020B0A04020102020204" pitchFamily="34" charset="0"/>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Black" panose="020B0A040201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Times New Roman" panose="02020603050405020304" pitchFamily="18" charset="0"/>
              </a:defRPr>
            </a:lvl5pPr>
            <a:lvl6pPr marL="25146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6pPr>
            <a:lvl7pPr marL="29718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7pPr>
            <a:lvl8pPr marL="34290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8pPr>
            <a:lvl9pPr marL="38862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9pPr>
          </a:lstStyle>
          <a:p>
            <a:pPr marL="0" indent="0">
              <a:lnSpc>
                <a:spcPct val="90000"/>
              </a:lnSpc>
              <a:buNone/>
            </a:pPr>
            <a:r>
              <a:rPr lang="en-US" altLang="zh-CN" sz="1600" b="1" dirty="0">
                <a:solidFill>
                  <a:schemeClr val="accent5"/>
                </a:solidFill>
                <a:latin typeface="Myriad Pro Light" panose="020B0403030403020204" pitchFamily="34" charset="0"/>
                <a:ea typeface="宋体" panose="02010600030101010101" pitchFamily="2" charset="-122"/>
              </a:rPr>
              <a:t>API</a:t>
            </a:r>
            <a:r>
              <a:rPr lang="en-US" altLang="zh-CN" sz="1600" dirty="0">
                <a:solidFill>
                  <a:schemeClr val="accent5"/>
                </a:solidFill>
                <a:latin typeface="Myriad Pro Light" panose="020B0403030403020204" pitchFamily="34" charset="0"/>
                <a:ea typeface="宋体" panose="02010600030101010101" pitchFamily="2" charset="-122"/>
              </a:rPr>
              <a:t> – application programming interface</a:t>
            </a:r>
          </a:p>
        </p:txBody>
      </p:sp>
      <p:sp>
        <p:nvSpPr>
          <p:cNvPr id="43" name="Rectangle 50">
            <a:extLst>
              <a:ext uri="{FF2B5EF4-FFF2-40B4-BE49-F238E27FC236}">
                <a16:creationId xmlns:a16="http://schemas.microsoft.com/office/drawing/2014/main" id="{8D1BCFC9-A771-F742-AEB9-CEE62520A1E2}"/>
              </a:ext>
            </a:extLst>
          </p:cNvPr>
          <p:cNvSpPr>
            <a:spLocks noChangeArrowheads="1"/>
          </p:cNvSpPr>
          <p:nvPr/>
        </p:nvSpPr>
        <p:spPr bwMode="auto">
          <a:xfrm>
            <a:off x="5585666" y="4103216"/>
            <a:ext cx="3746500" cy="381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marL="342900" indent="-342900">
              <a:spcBef>
                <a:spcPct val="20000"/>
              </a:spcBef>
              <a:buClr>
                <a:schemeClr val="accent1"/>
              </a:buClr>
              <a:buSzPct val="75000"/>
              <a:buFont typeface="Wingdings" panose="05000000000000000000" pitchFamily="2" charset="2"/>
              <a:buChar char="n"/>
              <a:defRPr sz="3000">
                <a:solidFill>
                  <a:schemeClr val="tx1"/>
                </a:solidFill>
                <a:latin typeface="Times New Roman" panose="02020603050405020304" pitchFamily="18" charset="0"/>
              </a:defRPr>
            </a:lvl1pPr>
            <a:lvl2pPr marL="742950" indent="-285750">
              <a:spcBef>
                <a:spcPct val="20000"/>
              </a:spcBef>
              <a:buClr>
                <a:schemeClr val="accent2"/>
              </a:buClr>
              <a:buSzPct val="80000"/>
              <a:buFont typeface="Wingdings" panose="05000000000000000000" pitchFamily="2" charset="2"/>
              <a:buChar char="¨"/>
              <a:defRPr sz="2000">
                <a:solidFill>
                  <a:schemeClr val="tx1"/>
                </a:solidFill>
                <a:latin typeface="Arial Black" panose="020B0A04020102020204" pitchFamily="34" charset="0"/>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Black" panose="020B0A040201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Times New Roman" panose="02020603050405020304" pitchFamily="18" charset="0"/>
              </a:defRPr>
            </a:lvl5pPr>
            <a:lvl6pPr marL="25146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6pPr>
            <a:lvl7pPr marL="29718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7pPr>
            <a:lvl8pPr marL="34290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8pPr>
            <a:lvl9pPr marL="38862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9pPr>
          </a:lstStyle>
          <a:p>
            <a:pPr marL="0" indent="0">
              <a:lnSpc>
                <a:spcPct val="90000"/>
              </a:lnSpc>
              <a:buNone/>
            </a:pPr>
            <a:r>
              <a:rPr lang="en-US" altLang="zh-CN" sz="1600" b="1" dirty="0">
                <a:solidFill>
                  <a:srgbClr val="0096FF"/>
                </a:solidFill>
                <a:latin typeface="Myriad Pro Light" panose="020B0403030403020204" pitchFamily="34" charset="0"/>
                <a:ea typeface="宋体" panose="02010600030101010101" pitchFamily="2" charset="-122"/>
              </a:rPr>
              <a:t>ABI</a:t>
            </a:r>
            <a:r>
              <a:rPr lang="en-US" altLang="zh-CN" sz="1600" dirty="0">
                <a:solidFill>
                  <a:srgbClr val="0096FF"/>
                </a:solidFill>
                <a:latin typeface="Myriad Pro Light" panose="020B0403030403020204" pitchFamily="34" charset="0"/>
                <a:ea typeface="宋体" panose="02010600030101010101" pitchFamily="2" charset="-122"/>
              </a:rPr>
              <a:t> – application binary interface</a:t>
            </a:r>
          </a:p>
          <a:p>
            <a:pPr marL="0" indent="0">
              <a:lnSpc>
                <a:spcPct val="90000"/>
              </a:lnSpc>
              <a:buNone/>
            </a:pPr>
            <a:endParaRPr lang="en-US" altLang="zh-CN" sz="1600" dirty="0">
              <a:latin typeface="Myriad Pro Light" panose="020B0403030403020204" pitchFamily="34" charset="0"/>
              <a:ea typeface="宋体" panose="02010600030101010101" pitchFamily="2" charset="-122"/>
            </a:endParaRPr>
          </a:p>
        </p:txBody>
      </p:sp>
      <p:sp>
        <p:nvSpPr>
          <p:cNvPr id="44" name="Rectangle 51">
            <a:extLst>
              <a:ext uri="{FF2B5EF4-FFF2-40B4-BE49-F238E27FC236}">
                <a16:creationId xmlns:a16="http://schemas.microsoft.com/office/drawing/2014/main" id="{883E9E74-5162-F54A-97FD-1798DB0219DC}"/>
              </a:ext>
            </a:extLst>
          </p:cNvPr>
          <p:cNvSpPr>
            <a:spLocks noChangeArrowheads="1"/>
          </p:cNvSpPr>
          <p:nvPr/>
        </p:nvSpPr>
        <p:spPr bwMode="auto">
          <a:xfrm>
            <a:off x="5585666" y="4420716"/>
            <a:ext cx="3746500" cy="381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lvl1pPr marL="342900" indent="-342900">
              <a:spcBef>
                <a:spcPct val="20000"/>
              </a:spcBef>
              <a:buClr>
                <a:schemeClr val="accent1"/>
              </a:buClr>
              <a:buSzPct val="75000"/>
              <a:buFont typeface="Wingdings" panose="05000000000000000000" pitchFamily="2" charset="2"/>
              <a:buChar char="n"/>
              <a:defRPr sz="3000">
                <a:solidFill>
                  <a:schemeClr val="tx1"/>
                </a:solidFill>
                <a:latin typeface="Times New Roman" panose="02020603050405020304" pitchFamily="18" charset="0"/>
              </a:defRPr>
            </a:lvl1pPr>
            <a:lvl2pPr marL="742950" indent="-285750">
              <a:spcBef>
                <a:spcPct val="20000"/>
              </a:spcBef>
              <a:buClr>
                <a:schemeClr val="accent2"/>
              </a:buClr>
              <a:buSzPct val="80000"/>
              <a:buFont typeface="Wingdings" panose="05000000000000000000" pitchFamily="2" charset="2"/>
              <a:buChar char="¨"/>
              <a:defRPr sz="2000">
                <a:solidFill>
                  <a:schemeClr val="tx1"/>
                </a:solidFill>
                <a:latin typeface="Arial Black" panose="020B0A04020102020204" pitchFamily="34" charset="0"/>
              </a:defRPr>
            </a:lvl2pPr>
            <a:lvl3pPr marL="1143000" indent="-228600">
              <a:spcBef>
                <a:spcPct val="20000"/>
              </a:spcBef>
              <a:buClr>
                <a:schemeClr val="accent1"/>
              </a:buClr>
              <a:buSzPct val="65000"/>
              <a:buFont typeface="Wingdings" panose="05000000000000000000" pitchFamily="2" charset="2"/>
              <a:buChar char="n"/>
              <a:defRPr sz="2400">
                <a:solidFill>
                  <a:schemeClr val="tx1"/>
                </a:solidFill>
                <a:latin typeface="Times New Roman" panose="02020603050405020304" pitchFamily="18" charset="0"/>
              </a:defRPr>
            </a:lvl3pPr>
            <a:lvl4pPr marL="1600200" indent="-228600">
              <a:spcBef>
                <a:spcPct val="20000"/>
              </a:spcBef>
              <a:buClr>
                <a:schemeClr val="accent2"/>
              </a:buClr>
              <a:buSzPct val="70000"/>
              <a:buFont typeface="Wingdings" panose="05000000000000000000" pitchFamily="2" charset="2"/>
              <a:buChar char="¨"/>
              <a:defRPr>
                <a:solidFill>
                  <a:schemeClr val="tx1"/>
                </a:solidFill>
                <a:latin typeface="Arial Black" panose="020B0A04020102020204" pitchFamily="34" charset="0"/>
              </a:defRPr>
            </a:lvl4pPr>
            <a:lvl5pPr marL="2057400" indent="-228600">
              <a:spcBef>
                <a:spcPct val="20000"/>
              </a:spcBef>
              <a:buClr>
                <a:schemeClr val="accent1"/>
              </a:buClr>
              <a:buFont typeface="Wingdings" panose="05000000000000000000" pitchFamily="2" charset="2"/>
              <a:buChar char="§"/>
              <a:defRPr sz="2000">
                <a:solidFill>
                  <a:schemeClr val="tx1"/>
                </a:solidFill>
                <a:latin typeface="Times New Roman" panose="02020603050405020304" pitchFamily="18" charset="0"/>
              </a:defRPr>
            </a:lvl5pPr>
            <a:lvl6pPr marL="25146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6pPr>
            <a:lvl7pPr marL="29718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7pPr>
            <a:lvl8pPr marL="34290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8pPr>
            <a:lvl9pPr marL="3886200" indent="-228600" fontAlgn="base">
              <a:spcBef>
                <a:spcPct val="20000"/>
              </a:spcBef>
              <a:spcAft>
                <a:spcPct val="0"/>
              </a:spcAft>
              <a:buClr>
                <a:schemeClr val="accent1"/>
              </a:buClr>
              <a:buFont typeface="Wingdings" panose="05000000000000000000" pitchFamily="2" charset="2"/>
              <a:buChar char="§"/>
              <a:defRPr sz="2000">
                <a:solidFill>
                  <a:schemeClr val="tx1"/>
                </a:solidFill>
                <a:latin typeface="Times New Roman" panose="02020603050405020304" pitchFamily="18" charset="0"/>
              </a:defRPr>
            </a:lvl9pPr>
          </a:lstStyle>
          <a:p>
            <a:pPr marL="0" indent="0">
              <a:lnSpc>
                <a:spcPct val="90000"/>
              </a:lnSpc>
              <a:buNone/>
            </a:pPr>
            <a:r>
              <a:rPr lang="en-US" altLang="zh-CN" sz="1600" b="1" dirty="0">
                <a:solidFill>
                  <a:schemeClr val="accent2"/>
                </a:solidFill>
                <a:latin typeface="Myriad Pro Light" panose="020B0403030403020204" pitchFamily="34" charset="0"/>
                <a:ea typeface="宋体" panose="02010600030101010101" pitchFamily="2" charset="-122"/>
              </a:rPr>
              <a:t>ISA</a:t>
            </a:r>
            <a:r>
              <a:rPr lang="en-US" altLang="zh-CN" sz="1600" dirty="0">
                <a:solidFill>
                  <a:schemeClr val="accent2"/>
                </a:solidFill>
                <a:latin typeface="Myriad Pro Light" panose="020B0403030403020204" pitchFamily="34" charset="0"/>
                <a:ea typeface="宋体" panose="02010600030101010101" pitchFamily="2" charset="-122"/>
              </a:rPr>
              <a:t> – instruction set architecture</a:t>
            </a:r>
          </a:p>
        </p:txBody>
      </p:sp>
    </p:spTree>
    <p:extLst>
      <p:ext uri="{BB962C8B-B14F-4D97-AF65-F5344CB8AC3E}">
        <p14:creationId xmlns:p14="http://schemas.microsoft.com/office/powerpoint/2010/main" val="30081875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B40B59-9C6A-0645-B809-4B5BB2A35F5B}"/>
              </a:ext>
            </a:extLst>
          </p:cNvPr>
          <p:cNvSpPr>
            <a:spLocks noGrp="1"/>
          </p:cNvSpPr>
          <p:nvPr>
            <p:ph type="title"/>
          </p:nvPr>
        </p:nvSpPr>
        <p:spPr/>
        <p:txBody>
          <a:bodyPr/>
          <a:lstStyle/>
          <a:p>
            <a:r>
              <a:rPr kumimoji="1" lang="zh-CN" altLang="en-US" dirty="0"/>
              <a:t>如何定义虚拟机</a:t>
            </a:r>
            <a:r>
              <a:rPr kumimoji="1" lang="en-US" altLang="zh-CN" dirty="0"/>
              <a:t>?</a:t>
            </a:r>
            <a:endParaRPr kumimoji="1" lang="zh-CN" altLang="en-US" dirty="0"/>
          </a:p>
        </p:txBody>
      </p:sp>
      <p:sp>
        <p:nvSpPr>
          <p:cNvPr id="3" name="内容占位符 2">
            <a:extLst>
              <a:ext uri="{FF2B5EF4-FFF2-40B4-BE49-F238E27FC236}">
                <a16:creationId xmlns:a16="http://schemas.microsoft.com/office/drawing/2014/main" id="{6E4DBDDD-9081-0640-82FE-BC57568B421C}"/>
              </a:ext>
            </a:extLst>
          </p:cNvPr>
          <p:cNvSpPr>
            <a:spLocks noGrp="1"/>
          </p:cNvSpPr>
          <p:nvPr>
            <p:ph idx="1"/>
          </p:nvPr>
        </p:nvSpPr>
        <p:spPr/>
        <p:txBody>
          <a:bodyPr/>
          <a:lstStyle/>
          <a:p>
            <a:r>
              <a:rPr kumimoji="1" lang="zh-CN" altLang="en-US" dirty="0"/>
              <a:t>从操作系统角度看</a:t>
            </a:r>
            <a:r>
              <a:rPr kumimoji="1" lang="en-US" altLang="zh-CN" dirty="0"/>
              <a:t>"Machine"</a:t>
            </a:r>
          </a:p>
          <a:p>
            <a:pPr lvl="1"/>
            <a:r>
              <a:rPr lang="en-US" altLang="ko-KR" dirty="0">
                <a:latin typeface="Arial" panose="020B0604020202020204" pitchFamily="34" charset="0"/>
                <a:cs typeface="Arial" panose="020B0604020202020204" pitchFamily="34" charset="0"/>
              </a:rPr>
              <a:t>ISA </a:t>
            </a:r>
            <a:r>
              <a:rPr lang="zh-CN" altLang="en-US" dirty="0">
                <a:latin typeface="Arial" panose="020B0604020202020204" pitchFamily="34" charset="0"/>
                <a:cs typeface="Arial" panose="020B0604020202020204" pitchFamily="34" charset="0"/>
              </a:rPr>
              <a:t>提供了操作系统和</a:t>
            </a:r>
            <a:r>
              <a:rPr lang="en-US" altLang="zh-CN" dirty="0">
                <a:latin typeface="Arial" panose="020B0604020202020204" pitchFamily="34" charset="0"/>
                <a:cs typeface="Arial" panose="020B0604020202020204" pitchFamily="34" charset="0"/>
              </a:rPr>
              <a:t>Machine</a:t>
            </a:r>
            <a:r>
              <a:rPr lang="zh-CN" altLang="en-US" dirty="0">
                <a:latin typeface="Arial" panose="020B0604020202020204" pitchFamily="34" charset="0"/>
                <a:cs typeface="Arial" panose="020B0604020202020204" pitchFamily="34" charset="0"/>
              </a:rPr>
              <a:t>之间的界限</a:t>
            </a:r>
            <a:endParaRPr lang="en-US" altLang="zh-CN" dirty="0">
              <a:latin typeface="Arial" panose="020B0604020202020204" pitchFamily="34" charset="0"/>
              <a:cs typeface="Arial" panose="020B0604020202020204" pitchFamily="34" charset="0"/>
            </a:endParaRPr>
          </a:p>
          <a:p>
            <a:endParaRPr lang="en-US" altLang="ko-KR" dirty="0">
              <a:latin typeface="Arial" panose="020B0604020202020204" pitchFamily="34" charset="0"/>
              <a:cs typeface="Arial" panose="020B0604020202020204" pitchFamily="34" charset="0"/>
            </a:endParaRPr>
          </a:p>
          <a:p>
            <a:pPr lvl="1"/>
            <a:endParaRPr kumimoji="1" lang="en-US" altLang="zh-CN" dirty="0"/>
          </a:p>
          <a:p>
            <a:pPr lvl="1"/>
            <a:endParaRPr kumimoji="1" lang="zh-CN" altLang="en-US" dirty="0"/>
          </a:p>
        </p:txBody>
      </p:sp>
      <p:sp>
        <p:nvSpPr>
          <p:cNvPr id="4" name="灯片编号占位符 3">
            <a:extLst>
              <a:ext uri="{FF2B5EF4-FFF2-40B4-BE49-F238E27FC236}">
                <a16:creationId xmlns:a16="http://schemas.microsoft.com/office/drawing/2014/main" id="{EAE9055E-DCF2-EF4A-8BD1-10E80E2C0A17}"/>
              </a:ext>
            </a:extLst>
          </p:cNvPr>
          <p:cNvSpPr>
            <a:spLocks noGrp="1"/>
          </p:cNvSpPr>
          <p:nvPr>
            <p:ph type="sldNum" sz="quarter" idx="12"/>
          </p:nvPr>
        </p:nvSpPr>
        <p:spPr/>
        <p:txBody>
          <a:bodyPr/>
          <a:lstStyle/>
          <a:p>
            <a:fld id="{ADE361C3-C043-4A6E-BDCE-8DA1E7D90A3B}" type="slidenum">
              <a:rPr lang="zh-CN" altLang="en-US" smtClean="0"/>
              <a:t>16</a:t>
            </a:fld>
            <a:endParaRPr lang="zh-CN" altLang="en-US"/>
          </a:p>
        </p:txBody>
      </p:sp>
      <p:sp>
        <p:nvSpPr>
          <p:cNvPr id="5" name="页脚占位符 4">
            <a:extLst>
              <a:ext uri="{FF2B5EF4-FFF2-40B4-BE49-F238E27FC236}">
                <a16:creationId xmlns:a16="http://schemas.microsoft.com/office/drawing/2014/main" id="{8C07E204-9385-764D-8B2A-9C41F28FA9AB}"/>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grpSp>
        <p:nvGrpSpPr>
          <p:cNvPr id="6" name="Group 22">
            <a:extLst>
              <a:ext uri="{FF2B5EF4-FFF2-40B4-BE49-F238E27FC236}">
                <a16:creationId xmlns:a16="http://schemas.microsoft.com/office/drawing/2014/main" id="{540E4EBB-ECB4-9B4A-97F0-D155CECC8237}"/>
              </a:ext>
            </a:extLst>
          </p:cNvPr>
          <p:cNvGrpSpPr>
            <a:grpSpLocks/>
          </p:cNvGrpSpPr>
          <p:nvPr/>
        </p:nvGrpSpPr>
        <p:grpSpPr bwMode="auto">
          <a:xfrm>
            <a:off x="1039563" y="2553802"/>
            <a:ext cx="2760928" cy="2579688"/>
            <a:chOff x="1156" y="1888"/>
            <a:chExt cx="2087" cy="1950"/>
          </a:xfrm>
        </p:grpSpPr>
        <p:sp>
          <p:nvSpPr>
            <p:cNvPr id="7" name="Rectangle 23">
              <a:extLst>
                <a:ext uri="{FF2B5EF4-FFF2-40B4-BE49-F238E27FC236}">
                  <a16:creationId xmlns:a16="http://schemas.microsoft.com/office/drawing/2014/main" id="{8BA30B6C-8FB3-E04C-8A81-FE4BB35B359E}"/>
                </a:ext>
              </a:extLst>
            </p:cNvPr>
            <p:cNvSpPr>
              <a:spLocks noChangeArrowheads="1"/>
            </p:cNvSpPr>
            <p:nvPr/>
          </p:nvSpPr>
          <p:spPr bwMode="auto">
            <a:xfrm>
              <a:off x="1156" y="1888"/>
              <a:ext cx="2087" cy="817"/>
            </a:xfrm>
            <a:prstGeom prst="rect">
              <a:avLst/>
            </a:prstGeom>
            <a:solidFill>
              <a:srgbClr val="FFFF99">
                <a:alpha val="89999"/>
              </a:srgbClr>
            </a:solidFill>
            <a:ln w="952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en-US" altLang="ko-KR" sz="1100">
                  <a:latin typeface="Arial Narrow" panose="020B0606020202030204" pitchFamily="34" charset="0"/>
                </a:rPr>
                <a:t>Application                                                 </a:t>
              </a:r>
            </a:p>
            <a:p>
              <a:r>
                <a:rPr lang="en-US" altLang="ko-KR" sz="1100">
                  <a:latin typeface="Arial Narrow" panose="020B0606020202030204" pitchFamily="34" charset="0"/>
                </a:rPr>
                <a:t>Programs                                                   </a:t>
              </a:r>
            </a:p>
            <a:p>
              <a:endParaRPr lang="en-US" altLang="ko-KR" sz="1100">
                <a:latin typeface="Arial Narrow" panose="020B0606020202030204" pitchFamily="34" charset="0"/>
              </a:endParaRPr>
            </a:p>
            <a:p>
              <a:endParaRPr lang="en-US" altLang="ko-KR" sz="1100">
                <a:latin typeface="Arial Narrow" panose="020B0606020202030204" pitchFamily="34" charset="0"/>
              </a:endParaRPr>
            </a:p>
            <a:p>
              <a:endParaRPr lang="en-US" altLang="ko-KR" sz="1100">
                <a:latin typeface="Arial Narrow" panose="020B0606020202030204" pitchFamily="34" charset="0"/>
              </a:endParaRPr>
            </a:p>
            <a:p>
              <a:endParaRPr lang="en-US" altLang="ko-KR" sz="1100">
                <a:latin typeface="Arial Narrow" panose="020B0606020202030204" pitchFamily="34" charset="0"/>
              </a:endParaRPr>
            </a:p>
          </p:txBody>
        </p:sp>
        <p:sp>
          <p:nvSpPr>
            <p:cNvPr id="8" name="Rectangle 24">
              <a:extLst>
                <a:ext uri="{FF2B5EF4-FFF2-40B4-BE49-F238E27FC236}">
                  <a16:creationId xmlns:a16="http://schemas.microsoft.com/office/drawing/2014/main" id="{BD2B2B57-483E-584C-896F-53696112A4AB}"/>
                </a:ext>
              </a:extLst>
            </p:cNvPr>
            <p:cNvSpPr>
              <a:spLocks noChangeArrowheads="1"/>
            </p:cNvSpPr>
            <p:nvPr/>
          </p:nvSpPr>
          <p:spPr bwMode="auto">
            <a:xfrm>
              <a:off x="2064" y="2024"/>
              <a:ext cx="952" cy="681"/>
            </a:xfrm>
            <a:prstGeom prst="rect">
              <a:avLst/>
            </a:prstGeom>
            <a:solidFill>
              <a:srgbClr val="FFFF99"/>
            </a:solidFill>
            <a:ln w="952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en-US" altLang="ko-KR" sz="1100">
                  <a:latin typeface="Arial Narrow" panose="020B0606020202030204" pitchFamily="34" charset="0"/>
                </a:rPr>
                <a:t>Libraries</a:t>
              </a:r>
            </a:p>
            <a:p>
              <a:endParaRPr lang="en-US" altLang="ko-KR" sz="1100">
                <a:latin typeface="Arial Narrow" panose="020B0606020202030204" pitchFamily="34" charset="0"/>
              </a:endParaRPr>
            </a:p>
            <a:p>
              <a:endParaRPr lang="en-US" altLang="ko-KR" sz="1100">
                <a:latin typeface="Arial Narrow" panose="020B0606020202030204" pitchFamily="34" charset="0"/>
              </a:endParaRPr>
            </a:p>
            <a:p>
              <a:endParaRPr lang="en-US" altLang="ko-KR" sz="1100">
                <a:latin typeface="Arial Narrow" panose="020B0606020202030204" pitchFamily="34" charset="0"/>
              </a:endParaRPr>
            </a:p>
            <a:p>
              <a:endParaRPr lang="en-US" altLang="ko-KR" sz="1100">
                <a:latin typeface="Arial Narrow" panose="020B0606020202030204" pitchFamily="34" charset="0"/>
              </a:endParaRPr>
            </a:p>
          </p:txBody>
        </p:sp>
        <p:sp>
          <p:nvSpPr>
            <p:cNvPr id="9" name="Rectangle 25">
              <a:extLst>
                <a:ext uri="{FF2B5EF4-FFF2-40B4-BE49-F238E27FC236}">
                  <a16:creationId xmlns:a16="http://schemas.microsoft.com/office/drawing/2014/main" id="{A88830A2-133D-4E47-A389-8ED3AD060ED3}"/>
                </a:ext>
              </a:extLst>
            </p:cNvPr>
            <p:cNvSpPr>
              <a:spLocks noChangeArrowheads="1"/>
            </p:cNvSpPr>
            <p:nvPr/>
          </p:nvSpPr>
          <p:spPr bwMode="auto">
            <a:xfrm>
              <a:off x="1156" y="2251"/>
              <a:ext cx="1588" cy="454"/>
            </a:xfrm>
            <a:prstGeom prst="rect">
              <a:avLst/>
            </a:prstGeom>
            <a:solidFill>
              <a:srgbClr val="FFFF99"/>
            </a:solidFill>
            <a:ln w="952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en-US" altLang="ko-KR" sz="1100">
                  <a:latin typeface="Arial Narrow" panose="020B0606020202030204" pitchFamily="34" charset="0"/>
                </a:rPr>
                <a:t>Operating System            </a:t>
              </a:r>
            </a:p>
            <a:p>
              <a:endParaRPr lang="en-US" altLang="ko-KR" sz="1100">
                <a:latin typeface="Arial Narrow" panose="020B0606020202030204" pitchFamily="34" charset="0"/>
              </a:endParaRPr>
            </a:p>
            <a:p>
              <a:endParaRPr lang="en-US" altLang="ko-KR" sz="1100">
                <a:latin typeface="Arial Narrow" panose="020B0606020202030204" pitchFamily="34" charset="0"/>
              </a:endParaRPr>
            </a:p>
          </p:txBody>
        </p:sp>
        <p:sp>
          <p:nvSpPr>
            <p:cNvPr id="10" name="Rectangle 26">
              <a:extLst>
                <a:ext uri="{FF2B5EF4-FFF2-40B4-BE49-F238E27FC236}">
                  <a16:creationId xmlns:a16="http://schemas.microsoft.com/office/drawing/2014/main" id="{E7132CC8-B20A-5F4D-B513-C74790178613}"/>
                </a:ext>
              </a:extLst>
            </p:cNvPr>
            <p:cNvSpPr>
              <a:spLocks noChangeArrowheads="1"/>
            </p:cNvSpPr>
            <p:nvPr/>
          </p:nvSpPr>
          <p:spPr bwMode="auto">
            <a:xfrm>
              <a:off x="1156" y="2704"/>
              <a:ext cx="2087" cy="363"/>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en-US" altLang="ko-KR" sz="1100">
                <a:latin typeface="Arial Narrow" panose="020B0606020202030204" pitchFamily="34" charset="0"/>
              </a:endParaRPr>
            </a:p>
            <a:p>
              <a:r>
                <a:rPr lang="en-US" altLang="ko-KR" sz="1100">
                  <a:latin typeface="Arial Narrow" panose="020B0606020202030204" pitchFamily="34" charset="0"/>
                </a:rPr>
                <a:t>Execution Hardware                            </a:t>
              </a:r>
            </a:p>
            <a:p>
              <a:endParaRPr lang="en-US" altLang="ko-KR" sz="1100">
                <a:latin typeface="Arial Narrow" panose="020B0606020202030204" pitchFamily="34" charset="0"/>
              </a:endParaRPr>
            </a:p>
          </p:txBody>
        </p:sp>
        <p:sp>
          <p:nvSpPr>
            <p:cNvPr id="11" name="Rectangle 27">
              <a:extLst>
                <a:ext uri="{FF2B5EF4-FFF2-40B4-BE49-F238E27FC236}">
                  <a16:creationId xmlns:a16="http://schemas.microsoft.com/office/drawing/2014/main" id="{8C53D7C2-55D4-A240-8CBC-179E4A5B9B52}"/>
                </a:ext>
              </a:extLst>
            </p:cNvPr>
            <p:cNvSpPr>
              <a:spLocks noChangeArrowheads="1"/>
            </p:cNvSpPr>
            <p:nvPr/>
          </p:nvSpPr>
          <p:spPr bwMode="auto">
            <a:xfrm>
              <a:off x="2336" y="2795"/>
              <a:ext cx="907" cy="499"/>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en-US" altLang="ko-KR" sz="1100">
                  <a:latin typeface="Arial Narrow" panose="020B0606020202030204" pitchFamily="34" charset="0"/>
                </a:rPr>
                <a:t>Memory</a:t>
              </a:r>
            </a:p>
            <a:p>
              <a:r>
                <a:rPr lang="en-US" altLang="ko-KR" sz="1100">
                  <a:latin typeface="Arial Narrow" panose="020B0606020202030204" pitchFamily="34" charset="0"/>
                </a:rPr>
                <a:t>Translation</a:t>
              </a:r>
            </a:p>
            <a:p>
              <a:endParaRPr lang="en-US" altLang="ko-KR" sz="1100">
                <a:latin typeface="Arial Narrow" panose="020B0606020202030204" pitchFamily="34" charset="0"/>
              </a:endParaRPr>
            </a:p>
            <a:p>
              <a:endParaRPr lang="en-US" altLang="ko-KR" sz="1100">
                <a:latin typeface="Arial Narrow" panose="020B0606020202030204" pitchFamily="34" charset="0"/>
              </a:endParaRPr>
            </a:p>
          </p:txBody>
        </p:sp>
        <p:sp>
          <p:nvSpPr>
            <p:cNvPr id="12" name="Rectangle 28">
              <a:extLst>
                <a:ext uri="{FF2B5EF4-FFF2-40B4-BE49-F238E27FC236}">
                  <a16:creationId xmlns:a16="http://schemas.microsoft.com/office/drawing/2014/main" id="{9E15D36D-0BBD-CB43-AA02-F0A10C2D30E6}"/>
                </a:ext>
              </a:extLst>
            </p:cNvPr>
            <p:cNvSpPr>
              <a:spLocks noChangeArrowheads="1"/>
            </p:cNvSpPr>
            <p:nvPr/>
          </p:nvSpPr>
          <p:spPr bwMode="auto">
            <a:xfrm>
              <a:off x="1156" y="3521"/>
              <a:ext cx="726" cy="317"/>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en-US" altLang="ko-KR" sz="1100">
                  <a:latin typeface="Arial Narrow" panose="020B0606020202030204" pitchFamily="34" charset="0"/>
                </a:rPr>
                <a:t>IO Devices,</a:t>
              </a:r>
            </a:p>
            <a:p>
              <a:r>
                <a:rPr lang="en-US" altLang="ko-KR" sz="1100">
                  <a:latin typeface="Arial Narrow" panose="020B0606020202030204" pitchFamily="34" charset="0"/>
                </a:rPr>
                <a:t>Networking</a:t>
              </a:r>
            </a:p>
          </p:txBody>
        </p:sp>
        <p:sp>
          <p:nvSpPr>
            <p:cNvPr id="13" name="Rectangle 29">
              <a:extLst>
                <a:ext uri="{FF2B5EF4-FFF2-40B4-BE49-F238E27FC236}">
                  <a16:creationId xmlns:a16="http://schemas.microsoft.com/office/drawing/2014/main" id="{91665E50-A082-4F4A-90AC-1A12E0B7D474}"/>
                </a:ext>
              </a:extLst>
            </p:cNvPr>
            <p:cNvSpPr>
              <a:spLocks noChangeArrowheads="1"/>
            </p:cNvSpPr>
            <p:nvPr/>
          </p:nvSpPr>
          <p:spPr bwMode="auto">
            <a:xfrm>
              <a:off x="1156" y="3294"/>
              <a:ext cx="726" cy="227"/>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en-US" altLang="ko-KR" sz="1100">
                  <a:latin typeface="Arial Narrow" panose="020B0606020202030204" pitchFamily="34" charset="0"/>
                </a:rPr>
                <a:t>Controllers</a:t>
              </a:r>
            </a:p>
          </p:txBody>
        </p:sp>
        <p:sp>
          <p:nvSpPr>
            <p:cNvPr id="14" name="Rectangle 30">
              <a:extLst>
                <a:ext uri="{FF2B5EF4-FFF2-40B4-BE49-F238E27FC236}">
                  <a16:creationId xmlns:a16="http://schemas.microsoft.com/office/drawing/2014/main" id="{E31BB420-EFD4-EB4F-BA1E-9F520E2681AE}"/>
                </a:ext>
              </a:extLst>
            </p:cNvPr>
            <p:cNvSpPr>
              <a:spLocks noChangeArrowheads="1"/>
            </p:cNvSpPr>
            <p:nvPr/>
          </p:nvSpPr>
          <p:spPr bwMode="auto">
            <a:xfrm>
              <a:off x="1156" y="3067"/>
              <a:ext cx="1679" cy="227"/>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en-US" altLang="ko-KR" sz="1100">
                  <a:latin typeface="Arial Narrow" panose="020B0606020202030204" pitchFamily="34" charset="0"/>
                </a:rPr>
                <a:t>System Interconnect (Bus)</a:t>
              </a:r>
            </a:p>
          </p:txBody>
        </p:sp>
        <p:sp>
          <p:nvSpPr>
            <p:cNvPr id="15" name="Rectangle 31">
              <a:extLst>
                <a:ext uri="{FF2B5EF4-FFF2-40B4-BE49-F238E27FC236}">
                  <a16:creationId xmlns:a16="http://schemas.microsoft.com/office/drawing/2014/main" id="{DD6C2C5D-611A-4345-BD71-BCED5AB8D76E}"/>
                </a:ext>
              </a:extLst>
            </p:cNvPr>
            <p:cNvSpPr>
              <a:spLocks noChangeArrowheads="1"/>
            </p:cNvSpPr>
            <p:nvPr/>
          </p:nvSpPr>
          <p:spPr bwMode="auto">
            <a:xfrm>
              <a:off x="2517" y="3294"/>
              <a:ext cx="726" cy="227"/>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en-US" altLang="ko-KR" sz="1100">
                  <a:latin typeface="Arial Narrow" panose="020B0606020202030204" pitchFamily="34" charset="0"/>
                </a:rPr>
                <a:t>Controllers</a:t>
              </a:r>
            </a:p>
          </p:txBody>
        </p:sp>
        <p:sp>
          <p:nvSpPr>
            <p:cNvPr id="16" name="Rectangle 32">
              <a:extLst>
                <a:ext uri="{FF2B5EF4-FFF2-40B4-BE49-F238E27FC236}">
                  <a16:creationId xmlns:a16="http://schemas.microsoft.com/office/drawing/2014/main" id="{072A001D-C49C-D049-A84A-5CCC403B37F2}"/>
                </a:ext>
              </a:extLst>
            </p:cNvPr>
            <p:cNvSpPr>
              <a:spLocks noChangeArrowheads="1"/>
            </p:cNvSpPr>
            <p:nvPr/>
          </p:nvSpPr>
          <p:spPr bwMode="auto">
            <a:xfrm>
              <a:off x="2517" y="3521"/>
              <a:ext cx="726" cy="317"/>
            </a:xfrm>
            <a:prstGeom prst="rect">
              <a:avLst/>
            </a:prstGeom>
            <a:solidFill>
              <a:schemeClr val="bg1"/>
            </a:solidFill>
            <a:ln w="952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en-US" altLang="ko-KR" sz="1100">
                  <a:latin typeface="Arial Narrow" panose="020B0606020202030204" pitchFamily="34" charset="0"/>
                </a:rPr>
                <a:t>Main Memory</a:t>
              </a:r>
            </a:p>
          </p:txBody>
        </p:sp>
        <p:sp>
          <p:nvSpPr>
            <p:cNvPr id="17" name="Rectangle 33">
              <a:extLst>
                <a:ext uri="{FF2B5EF4-FFF2-40B4-BE49-F238E27FC236}">
                  <a16:creationId xmlns:a16="http://schemas.microsoft.com/office/drawing/2014/main" id="{B19FC285-78FC-2E4E-831F-A6DD02E531C3}"/>
                </a:ext>
              </a:extLst>
            </p:cNvPr>
            <p:cNvSpPr>
              <a:spLocks noChangeArrowheads="1"/>
            </p:cNvSpPr>
            <p:nvPr/>
          </p:nvSpPr>
          <p:spPr bwMode="auto">
            <a:xfrm>
              <a:off x="1156" y="2478"/>
              <a:ext cx="454" cy="227"/>
            </a:xfrm>
            <a:prstGeom prst="rect">
              <a:avLst/>
            </a:prstGeom>
            <a:solidFill>
              <a:srgbClr val="FFFF99"/>
            </a:solidFill>
            <a:ln w="952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en-US" altLang="ko-KR" sz="1100">
                  <a:latin typeface="Arial Narrow" panose="020B0606020202030204" pitchFamily="34" charset="0"/>
                </a:rPr>
                <a:t>Drivers</a:t>
              </a:r>
            </a:p>
          </p:txBody>
        </p:sp>
        <p:sp>
          <p:nvSpPr>
            <p:cNvPr id="18" name="Rectangle 34">
              <a:extLst>
                <a:ext uri="{FF2B5EF4-FFF2-40B4-BE49-F238E27FC236}">
                  <a16:creationId xmlns:a16="http://schemas.microsoft.com/office/drawing/2014/main" id="{86CF1507-214C-E946-B111-649258E367D5}"/>
                </a:ext>
              </a:extLst>
            </p:cNvPr>
            <p:cNvSpPr>
              <a:spLocks noChangeArrowheads="1"/>
            </p:cNvSpPr>
            <p:nvPr/>
          </p:nvSpPr>
          <p:spPr bwMode="auto">
            <a:xfrm>
              <a:off x="1610" y="2478"/>
              <a:ext cx="454" cy="227"/>
            </a:xfrm>
            <a:prstGeom prst="rect">
              <a:avLst/>
            </a:prstGeom>
            <a:solidFill>
              <a:srgbClr val="FFFF99"/>
            </a:solidFill>
            <a:ln w="952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en-US" altLang="ko-KR" sz="1100" dirty="0">
                  <a:latin typeface="Arial Narrow" panose="020B0606020202030204" pitchFamily="34" charset="0"/>
                </a:rPr>
                <a:t>Memory</a:t>
              </a:r>
            </a:p>
            <a:p>
              <a:r>
                <a:rPr lang="en-US" altLang="ko-KR" sz="1100" dirty="0">
                  <a:latin typeface="Arial Narrow" panose="020B0606020202030204" pitchFamily="34" charset="0"/>
                </a:rPr>
                <a:t>Manager</a:t>
              </a:r>
            </a:p>
          </p:txBody>
        </p:sp>
        <p:sp>
          <p:nvSpPr>
            <p:cNvPr id="19" name="Rectangle 35">
              <a:extLst>
                <a:ext uri="{FF2B5EF4-FFF2-40B4-BE49-F238E27FC236}">
                  <a16:creationId xmlns:a16="http://schemas.microsoft.com/office/drawing/2014/main" id="{74D914F6-694B-5542-ABFC-9952F332A656}"/>
                </a:ext>
              </a:extLst>
            </p:cNvPr>
            <p:cNvSpPr>
              <a:spLocks noChangeArrowheads="1"/>
            </p:cNvSpPr>
            <p:nvPr/>
          </p:nvSpPr>
          <p:spPr bwMode="auto">
            <a:xfrm>
              <a:off x="2064" y="2478"/>
              <a:ext cx="454" cy="227"/>
            </a:xfrm>
            <a:prstGeom prst="rect">
              <a:avLst/>
            </a:prstGeom>
            <a:solidFill>
              <a:srgbClr val="FFFF99"/>
            </a:solidFill>
            <a:ln w="952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en-US" altLang="ko-KR" sz="1100">
                  <a:latin typeface="Arial Narrow" panose="020B0606020202030204" pitchFamily="34" charset="0"/>
                </a:rPr>
                <a:t>Scheduler</a:t>
              </a:r>
            </a:p>
          </p:txBody>
        </p:sp>
      </p:grpSp>
      <p:grpSp>
        <p:nvGrpSpPr>
          <p:cNvPr id="20" name="Group 38">
            <a:extLst>
              <a:ext uri="{FF2B5EF4-FFF2-40B4-BE49-F238E27FC236}">
                <a16:creationId xmlns:a16="http://schemas.microsoft.com/office/drawing/2014/main" id="{A0373177-536D-0E47-880C-DA7CECA02ADC}"/>
              </a:ext>
            </a:extLst>
          </p:cNvPr>
          <p:cNvGrpSpPr>
            <a:grpSpLocks/>
          </p:cNvGrpSpPr>
          <p:nvPr/>
        </p:nvGrpSpPr>
        <p:grpSpPr bwMode="auto">
          <a:xfrm>
            <a:off x="5796136" y="2883869"/>
            <a:ext cx="2701396" cy="2039938"/>
            <a:chOff x="793" y="1933"/>
            <a:chExt cx="2042" cy="1542"/>
          </a:xfrm>
        </p:grpSpPr>
        <p:sp>
          <p:nvSpPr>
            <p:cNvPr id="21" name="Rectangle 5">
              <a:extLst>
                <a:ext uri="{FF2B5EF4-FFF2-40B4-BE49-F238E27FC236}">
                  <a16:creationId xmlns:a16="http://schemas.microsoft.com/office/drawing/2014/main" id="{83173246-0567-1D47-ACFC-9F83E6D015DC}"/>
                </a:ext>
              </a:extLst>
            </p:cNvPr>
            <p:cNvSpPr>
              <a:spLocks noChangeArrowheads="1"/>
            </p:cNvSpPr>
            <p:nvPr/>
          </p:nvSpPr>
          <p:spPr bwMode="auto">
            <a:xfrm>
              <a:off x="930" y="1933"/>
              <a:ext cx="1451" cy="1542"/>
            </a:xfrm>
            <a:prstGeom prst="rect">
              <a:avLst/>
            </a:prstGeom>
            <a:noFill/>
            <a:ln w="9525" algn="ctr">
              <a:solidFill>
                <a:schemeClr val="tx1"/>
              </a:solidFill>
              <a:miter lim="800000"/>
              <a:headEnd/>
              <a:tailEn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22" name="Rectangle 6">
              <a:extLst>
                <a:ext uri="{FF2B5EF4-FFF2-40B4-BE49-F238E27FC236}">
                  <a16:creationId xmlns:a16="http://schemas.microsoft.com/office/drawing/2014/main" id="{2B382B66-FF61-9742-989E-736EE2095356}"/>
                </a:ext>
              </a:extLst>
            </p:cNvPr>
            <p:cNvSpPr>
              <a:spLocks noChangeArrowheads="1"/>
            </p:cNvSpPr>
            <p:nvPr/>
          </p:nvSpPr>
          <p:spPr bwMode="auto">
            <a:xfrm>
              <a:off x="930" y="2886"/>
              <a:ext cx="907" cy="589"/>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zh-CN" sz="1100">
                <a:latin typeface="Arial Narrow" panose="020B0606020202030204" pitchFamily="34" charset="0"/>
              </a:endParaRPr>
            </a:p>
          </p:txBody>
        </p:sp>
        <p:sp>
          <p:nvSpPr>
            <p:cNvPr id="23" name="Rectangle 7">
              <a:extLst>
                <a:ext uri="{FF2B5EF4-FFF2-40B4-BE49-F238E27FC236}">
                  <a16:creationId xmlns:a16="http://schemas.microsoft.com/office/drawing/2014/main" id="{5A086AD7-BCD9-1542-81FD-F44613E0D11E}"/>
                </a:ext>
              </a:extLst>
            </p:cNvPr>
            <p:cNvSpPr>
              <a:spLocks noChangeArrowheads="1"/>
            </p:cNvSpPr>
            <p:nvPr/>
          </p:nvSpPr>
          <p:spPr bwMode="auto">
            <a:xfrm>
              <a:off x="1973" y="2885"/>
              <a:ext cx="408" cy="590"/>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24" name="Rectangle 8">
              <a:extLst>
                <a:ext uri="{FF2B5EF4-FFF2-40B4-BE49-F238E27FC236}">
                  <a16:creationId xmlns:a16="http://schemas.microsoft.com/office/drawing/2014/main" id="{8AB3D5B0-83A4-9248-B29F-E12A99EA4B32}"/>
                </a:ext>
              </a:extLst>
            </p:cNvPr>
            <p:cNvSpPr>
              <a:spLocks noChangeArrowheads="1"/>
            </p:cNvSpPr>
            <p:nvPr/>
          </p:nvSpPr>
          <p:spPr bwMode="auto">
            <a:xfrm>
              <a:off x="1791" y="2885"/>
              <a:ext cx="409" cy="590"/>
            </a:xfrm>
            <a:prstGeom prst="rect">
              <a:avLst/>
            </a:prstGeom>
            <a:solidFill>
              <a:schemeClr val="accent1"/>
            </a:solidFill>
            <a:ln>
              <a:noFill/>
            </a:ln>
            <a:effectLst/>
            <a:extLs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25" name="Line 9">
              <a:extLst>
                <a:ext uri="{FF2B5EF4-FFF2-40B4-BE49-F238E27FC236}">
                  <a16:creationId xmlns:a16="http://schemas.microsoft.com/office/drawing/2014/main" id="{E2482B98-9EDD-D241-B036-139509E6C5A4}"/>
                </a:ext>
              </a:extLst>
            </p:cNvPr>
            <p:cNvSpPr>
              <a:spLocks noChangeShapeType="1"/>
            </p:cNvSpPr>
            <p:nvPr/>
          </p:nvSpPr>
          <p:spPr bwMode="auto">
            <a:xfrm>
              <a:off x="1746" y="3475"/>
              <a:ext cx="454"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26" name="Rectangle 10">
              <a:extLst>
                <a:ext uri="{FF2B5EF4-FFF2-40B4-BE49-F238E27FC236}">
                  <a16:creationId xmlns:a16="http://schemas.microsoft.com/office/drawing/2014/main" id="{80719262-4EB3-B74D-8C8A-47EDF6FFF0D9}"/>
                </a:ext>
              </a:extLst>
            </p:cNvPr>
            <p:cNvSpPr>
              <a:spLocks noChangeArrowheads="1"/>
            </p:cNvSpPr>
            <p:nvPr/>
          </p:nvSpPr>
          <p:spPr bwMode="auto">
            <a:xfrm>
              <a:off x="1247" y="3067"/>
              <a:ext cx="816" cy="227"/>
            </a:xfrm>
            <a:prstGeom prst="rect">
              <a:avLst/>
            </a:prstGeom>
            <a:solidFill>
              <a:schemeClr val="accent1"/>
            </a:solidFill>
            <a:ln>
              <a:noFill/>
            </a:ln>
            <a:effectLst/>
            <a:extLs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en-US" altLang="ko-KR" sz="1100" dirty="0">
                  <a:latin typeface="Arial Narrow" panose="020B0606020202030204" pitchFamily="34" charset="0"/>
                </a:rPr>
                <a:t>Machine</a:t>
              </a:r>
            </a:p>
          </p:txBody>
        </p:sp>
        <p:sp>
          <p:nvSpPr>
            <p:cNvPr id="27" name="Rectangle 12">
              <a:extLst>
                <a:ext uri="{FF2B5EF4-FFF2-40B4-BE49-F238E27FC236}">
                  <a16:creationId xmlns:a16="http://schemas.microsoft.com/office/drawing/2014/main" id="{D2BEDF1A-A9CC-CE41-88F2-E07CD0A22184}"/>
                </a:ext>
              </a:extLst>
            </p:cNvPr>
            <p:cNvSpPr>
              <a:spLocks noChangeArrowheads="1"/>
            </p:cNvSpPr>
            <p:nvPr/>
          </p:nvSpPr>
          <p:spPr bwMode="auto">
            <a:xfrm>
              <a:off x="1837" y="2704"/>
              <a:ext cx="544" cy="1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zh-CN" altLang="en-US" sz="1100" dirty="0">
                  <a:latin typeface="Arial Narrow" panose="020B0606020202030204" pitchFamily="34" charset="0"/>
                </a:rPr>
                <a:t>用户</a:t>
              </a:r>
              <a:r>
                <a:rPr lang="en-US" altLang="ko-KR" sz="1100" dirty="0">
                  <a:latin typeface="Arial Narrow" panose="020B0606020202030204" pitchFamily="34" charset="0"/>
                </a:rPr>
                <a:t> ISA</a:t>
              </a:r>
            </a:p>
          </p:txBody>
        </p:sp>
        <p:sp>
          <p:nvSpPr>
            <p:cNvPr id="28" name="Line 13">
              <a:extLst>
                <a:ext uri="{FF2B5EF4-FFF2-40B4-BE49-F238E27FC236}">
                  <a16:creationId xmlns:a16="http://schemas.microsoft.com/office/drawing/2014/main" id="{A581CDA9-B290-0248-978F-A8F773602411}"/>
                </a:ext>
              </a:extLst>
            </p:cNvPr>
            <p:cNvSpPr>
              <a:spLocks noChangeShapeType="1"/>
            </p:cNvSpPr>
            <p:nvPr/>
          </p:nvSpPr>
          <p:spPr bwMode="auto">
            <a:xfrm flipV="1">
              <a:off x="1429" y="2885"/>
              <a:ext cx="771" cy="1"/>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29" name="Line 14">
              <a:extLst>
                <a:ext uri="{FF2B5EF4-FFF2-40B4-BE49-F238E27FC236}">
                  <a16:creationId xmlns:a16="http://schemas.microsoft.com/office/drawing/2014/main" id="{76FD347D-AF5C-714F-A0A3-31D127D5353F}"/>
                </a:ext>
              </a:extLst>
            </p:cNvPr>
            <p:cNvSpPr>
              <a:spLocks noChangeShapeType="1"/>
            </p:cNvSpPr>
            <p:nvPr/>
          </p:nvSpPr>
          <p:spPr bwMode="auto">
            <a:xfrm>
              <a:off x="793" y="2886"/>
              <a:ext cx="817"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30" name="Line 16">
              <a:extLst>
                <a:ext uri="{FF2B5EF4-FFF2-40B4-BE49-F238E27FC236}">
                  <a16:creationId xmlns:a16="http://schemas.microsoft.com/office/drawing/2014/main" id="{CC90F3F5-00C6-5C4A-880C-8F63FC8EFB49}"/>
                </a:ext>
              </a:extLst>
            </p:cNvPr>
            <p:cNvSpPr>
              <a:spLocks noChangeShapeType="1"/>
            </p:cNvSpPr>
            <p:nvPr/>
          </p:nvSpPr>
          <p:spPr bwMode="auto">
            <a:xfrm flipV="1">
              <a:off x="1791" y="2885"/>
              <a:ext cx="726" cy="1"/>
            </a:xfrm>
            <a:prstGeom prst="line">
              <a:avLst/>
            </a:prstGeom>
            <a:noFill/>
            <a:ln w="38100">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31" name="Rectangle 17">
              <a:extLst>
                <a:ext uri="{FF2B5EF4-FFF2-40B4-BE49-F238E27FC236}">
                  <a16:creationId xmlns:a16="http://schemas.microsoft.com/office/drawing/2014/main" id="{4083E674-850B-8C47-8195-7F9B8581A170}"/>
                </a:ext>
              </a:extLst>
            </p:cNvPr>
            <p:cNvSpPr>
              <a:spLocks noChangeArrowheads="1"/>
            </p:cNvSpPr>
            <p:nvPr/>
          </p:nvSpPr>
          <p:spPr bwMode="auto">
            <a:xfrm>
              <a:off x="2517" y="2795"/>
              <a:ext cx="318" cy="1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en-US" altLang="ko-KR" sz="1100">
                  <a:latin typeface="Arial Narrow" panose="020B0606020202030204" pitchFamily="34" charset="0"/>
                </a:rPr>
                <a:t>ISA</a:t>
              </a:r>
            </a:p>
          </p:txBody>
        </p:sp>
        <p:sp>
          <p:nvSpPr>
            <p:cNvPr id="32" name="Rectangle 18">
              <a:extLst>
                <a:ext uri="{FF2B5EF4-FFF2-40B4-BE49-F238E27FC236}">
                  <a16:creationId xmlns:a16="http://schemas.microsoft.com/office/drawing/2014/main" id="{3E02CAAB-4E8A-5E4F-A0E0-AF639DB84107}"/>
                </a:ext>
              </a:extLst>
            </p:cNvPr>
            <p:cNvSpPr>
              <a:spLocks noChangeArrowheads="1"/>
            </p:cNvSpPr>
            <p:nvPr/>
          </p:nvSpPr>
          <p:spPr bwMode="auto">
            <a:xfrm>
              <a:off x="929" y="1942"/>
              <a:ext cx="1043" cy="18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zh-CN" altLang="en-US" sz="1100" dirty="0">
                  <a:latin typeface="Arial Narrow" panose="020B0606020202030204" pitchFamily="34" charset="0"/>
                </a:rPr>
                <a:t>应用程序</a:t>
              </a:r>
              <a:endParaRPr lang="en-US" altLang="ko-KR" sz="1100" dirty="0">
                <a:latin typeface="Arial Narrow" panose="020B0606020202030204" pitchFamily="34" charset="0"/>
              </a:endParaRPr>
            </a:p>
          </p:txBody>
        </p:sp>
        <p:sp>
          <p:nvSpPr>
            <p:cNvPr id="33" name="Rectangle 36">
              <a:extLst>
                <a:ext uri="{FF2B5EF4-FFF2-40B4-BE49-F238E27FC236}">
                  <a16:creationId xmlns:a16="http://schemas.microsoft.com/office/drawing/2014/main" id="{955D187F-4538-014F-BC13-6A1BB76A44A3}"/>
                </a:ext>
              </a:extLst>
            </p:cNvPr>
            <p:cNvSpPr>
              <a:spLocks noChangeArrowheads="1"/>
            </p:cNvSpPr>
            <p:nvPr/>
          </p:nvSpPr>
          <p:spPr bwMode="auto">
            <a:xfrm>
              <a:off x="975" y="2704"/>
              <a:ext cx="544" cy="1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zh-CN" altLang="en-US" sz="1100" dirty="0">
                  <a:latin typeface="Arial Narrow" panose="020B0606020202030204" pitchFamily="34" charset="0"/>
                </a:rPr>
                <a:t>系统</a:t>
              </a:r>
              <a:r>
                <a:rPr lang="en-US" altLang="ko-KR" sz="1100" dirty="0">
                  <a:latin typeface="Arial Narrow" panose="020B0606020202030204" pitchFamily="34" charset="0"/>
                </a:rPr>
                <a:t>ISA</a:t>
              </a:r>
            </a:p>
          </p:txBody>
        </p:sp>
        <p:sp>
          <p:nvSpPr>
            <p:cNvPr id="34" name="Rectangle 37">
              <a:extLst>
                <a:ext uri="{FF2B5EF4-FFF2-40B4-BE49-F238E27FC236}">
                  <a16:creationId xmlns:a16="http://schemas.microsoft.com/office/drawing/2014/main" id="{3D615EFC-2753-2445-A13A-1A7B1CBE0DB2}"/>
                </a:ext>
              </a:extLst>
            </p:cNvPr>
            <p:cNvSpPr>
              <a:spLocks noChangeArrowheads="1"/>
            </p:cNvSpPr>
            <p:nvPr/>
          </p:nvSpPr>
          <p:spPr bwMode="auto">
            <a:xfrm>
              <a:off x="930" y="2341"/>
              <a:ext cx="1179" cy="545"/>
            </a:xfrm>
            <a:prstGeom prst="rect">
              <a:avLst/>
            </a:prstGeom>
            <a:noFill/>
            <a:ln w="9525" algn="ctr">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zh-CN" altLang="en-US" sz="1100" dirty="0">
                  <a:latin typeface="Arial Narrow" panose="020B0606020202030204" pitchFamily="34" charset="0"/>
                </a:rPr>
                <a:t>操作系统</a:t>
              </a:r>
              <a:endParaRPr lang="en-US" altLang="ko-KR" sz="1100" dirty="0">
                <a:latin typeface="Arial Narrow" panose="020B0606020202030204" pitchFamily="34" charset="0"/>
              </a:endParaRPr>
            </a:p>
            <a:p>
              <a:endParaRPr lang="en-US" altLang="ko-KR" sz="1100" dirty="0">
                <a:latin typeface="Arial Narrow" panose="020B0606020202030204" pitchFamily="34" charset="0"/>
              </a:endParaRPr>
            </a:p>
            <a:p>
              <a:endParaRPr lang="en-US" altLang="ko-KR" sz="1100" dirty="0">
                <a:latin typeface="Arial Narrow" panose="020B0606020202030204" pitchFamily="34" charset="0"/>
              </a:endParaRPr>
            </a:p>
            <a:p>
              <a:endParaRPr lang="en-US" altLang="ko-KR" sz="1100" dirty="0">
                <a:latin typeface="Arial Narrow" panose="020B0606020202030204" pitchFamily="34" charset="0"/>
              </a:endParaRPr>
            </a:p>
          </p:txBody>
        </p:sp>
      </p:grpSp>
    </p:spTree>
    <p:extLst>
      <p:ext uri="{BB962C8B-B14F-4D97-AF65-F5344CB8AC3E}">
        <p14:creationId xmlns:p14="http://schemas.microsoft.com/office/powerpoint/2010/main" val="22743156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6">
            <a:extLst>
              <a:ext uri="{FF2B5EF4-FFF2-40B4-BE49-F238E27FC236}">
                <a16:creationId xmlns:a16="http://schemas.microsoft.com/office/drawing/2014/main" id="{62805AF6-C4A8-AC44-89F3-E8731ACBBED4}"/>
              </a:ext>
            </a:extLst>
          </p:cNvPr>
          <p:cNvSpPr>
            <a:spLocks noChangeArrowheads="1"/>
          </p:cNvSpPr>
          <p:nvPr/>
        </p:nvSpPr>
        <p:spPr bwMode="auto">
          <a:xfrm>
            <a:off x="4571728" y="3755405"/>
            <a:ext cx="4123170" cy="602035"/>
          </a:xfrm>
          <a:prstGeom prst="rect">
            <a:avLst/>
          </a:prstGeom>
          <a:solidFill>
            <a:srgbClr val="FFFF99"/>
          </a:solidFill>
          <a:ln w="952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zh-CN" sz="1100">
              <a:solidFill>
                <a:srgbClr val="FFFF00"/>
              </a:solidFill>
              <a:latin typeface="Arial Narrow" panose="020B0606020202030204" pitchFamily="34" charset="0"/>
            </a:endParaRPr>
          </a:p>
        </p:txBody>
      </p:sp>
      <p:sp>
        <p:nvSpPr>
          <p:cNvPr id="2" name="标题 1">
            <a:extLst>
              <a:ext uri="{FF2B5EF4-FFF2-40B4-BE49-F238E27FC236}">
                <a16:creationId xmlns:a16="http://schemas.microsoft.com/office/drawing/2014/main" id="{60FB9A6F-5C25-8044-879B-D727157391F2}"/>
              </a:ext>
            </a:extLst>
          </p:cNvPr>
          <p:cNvSpPr>
            <a:spLocks noGrp="1"/>
          </p:cNvSpPr>
          <p:nvPr>
            <p:ph type="title"/>
          </p:nvPr>
        </p:nvSpPr>
        <p:spPr/>
        <p:txBody>
          <a:bodyPr/>
          <a:lstStyle/>
          <a:p>
            <a:r>
              <a:rPr kumimoji="1" lang="zh-CN" altLang="en-US" dirty="0"/>
              <a:t>虚拟机和虚拟机监控器</a:t>
            </a:r>
          </a:p>
        </p:txBody>
      </p:sp>
      <p:sp>
        <p:nvSpPr>
          <p:cNvPr id="3" name="内容占位符 2">
            <a:extLst>
              <a:ext uri="{FF2B5EF4-FFF2-40B4-BE49-F238E27FC236}">
                <a16:creationId xmlns:a16="http://schemas.microsoft.com/office/drawing/2014/main" id="{75E6B706-EE33-D546-A330-1A2C20655F26}"/>
              </a:ext>
            </a:extLst>
          </p:cNvPr>
          <p:cNvSpPr>
            <a:spLocks noGrp="1"/>
          </p:cNvSpPr>
          <p:nvPr>
            <p:ph idx="1"/>
          </p:nvPr>
        </p:nvSpPr>
        <p:spPr/>
        <p:txBody>
          <a:bodyPr/>
          <a:lstStyle/>
          <a:p>
            <a:r>
              <a:rPr kumimoji="1" lang="zh-CN" altLang="en-US" dirty="0"/>
              <a:t>虚拟机监控器 </a:t>
            </a:r>
            <a:r>
              <a:rPr kumimoji="1" lang="en-US" altLang="zh-CN" dirty="0"/>
              <a:t>(VMM/Hypervisor)</a:t>
            </a:r>
          </a:p>
          <a:p>
            <a:pPr lvl="1"/>
            <a:r>
              <a:rPr kumimoji="1" lang="zh-CN" altLang="en-US" dirty="0"/>
              <a:t>向上层虚拟机暴露其所需要的</a:t>
            </a:r>
            <a:r>
              <a:rPr kumimoji="1" lang="en-US" altLang="zh-CN" dirty="0"/>
              <a:t>ISA</a:t>
            </a:r>
          </a:p>
          <a:p>
            <a:pPr lvl="1"/>
            <a:r>
              <a:rPr kumimoji="1" lang="zh-CN" altLang="en-US" dirty="0"/>
              <a:t>可同时运行多台虚拟机 </a:t>
            </a:r>
            <a:r>
              <a:rPr kumimoji="1" lang="en-US" altLang="zh-CN" dirty="0"/>
              <a:t>(VM)</a:t>
            </a:r>
            <a:endParaRPr kumimoji="1" lang="zh-CN" altLang="en-US" dirty="0"/>
          </a:p>
          <a:p>
            <a:endParaRPr kumimoji="1" lang="zh-CN" altLang="en-US" dirty="0"/>
          </a:p>
        </p:txBody>
      </p:sp>
      <p:sp>
        <p:nvSpPr>
          <p:cNvPr id="4" name="灯片编号占位符 3">
            <a:extLst>
              <a:ext uri="{FF2B5EF4-FFF2-40B4-BE49-F238E27FC236}">
                <a16:creationId xmlns:a16="http://schemas.microsoft.com/office/drawing/2014/main" id="{41C85F5F-546C-4740-B5E2-99691C986963}"/>
              </a:ext>
            </a:extLst>
          </p:cNvPr>
          <p:cNvSpPr>
            <a:spLocks noGrp="1"/>
          </p:cNvSpPr>
          <p:nvPr>
            <p:ph type="sldNum" sz="quarter" idx="12"/>
          </p:nvPr>
        </p:nvSpPr>
        <p:spPr/>
        <p:txBody>
          <a:bodyPr/>
          <a:lstStyle/>
          <a:p>
            <a:fld id="{ADE361C3-C043-4A6E-BDCE-8DA1E7D90A3B}" type="slidenum">
              <a:rPr lang="zh-CN" altLang="en-US" smtClean="0"/>
              <a:t>17</a:t>
            </a:fld>
            <a:endParaRPr lang="zh-CN" altLang="en-US"/>
          </a:p>
        </p:txBody>
      </p:sp>
      <p:sp>
        <p:nvSpPr>
          <p:cNvPr id="5" name="页脚占位符 4">
            <a:extLst>
              <a:ext uri="{FF2B5EF4-FFF2-40B4-BE49-F238E27FC236}">
                <a16:creationId xmlns:a16="http://schemas.microsoft.com/office/drawing/2014/main" id="{735BEC89-3E1F-7345-97D4-147110ADDF2C}"/>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grpSp>
        <p:nvGrpSpPr>
          <p:cNvPr id="6" name="Group 38">
            <a:extLst>
              <a:ext uri="{FF2B5EF4-FFF2-40B4-BE49-F238E27FC236}">
                <a16:creationId xmlns:a16="http://schemas.microsoft.com/office/drawing/2014/main" id="{E19E22AB-82AD-734F-B9B9-6CD897D9C53E}"/>
              </a:ext>
            </a:extLst>
          </p:cNvPr>
          <p:cNvGrpSpPr>
            <a:grpSpLocks/>
          </p:cNvGrpSpPr>
          <p:nvPr/>
        </p:nvGrpSpPr>
        <p:grpSpPr bwMode="auto">
          <a:xfrm>
            <a:off x="231465" y="3131998"/>
            <a:ext cx="2701396" cy="2039938"/>
            <a:chOff x="793" y="1933"/>
            <a:chExt cx="2042" cy="1542"/>
          </a:xfrm>
        </p:grpSpPr>
        <p:sp>
          <p:nvSpPr>
            <p:cNvPr id="7" name="Rectangle 5">
              <a:extLst>
                <a:ext uri="{FF2B5EF4-FFF2-40B4-BE49-F238E27FC236}">
                  <a16:creationId xmlns:a16="http://schemas.microsoft.com/office/drawing/2014/main" id="{CBC5143D-3414-B242-865A-13EB608D64D9}"/>
                </a:ext>
              </a:extLst>
            </p:cNvPr>
            <p:cNvSpPr>
              <a:spLocks noChangeArrowheads="1"/>
            </p:cNvSpPr>
            <p:nvPr/>
          </p:nvSpPr>
          <p:spPr bwMode="auto">
            <a:xfrm>
              <a:off x="930" y="1933"/>
              <a:ext cx="1451" cy="1542"/>
            </a:xfrm>
            <a:prstGeom prst="rect">
              <a:avLst/>
            </a:prstGeom>
            <a:noFill/>
            <a:ln w="9525" algn="ctr">
              <a:solidFill>
                <a:schemeClr val="tx1"/>
              </a:solidFill>
              <a:miter lim="800000"/>
              <a:headEnd/>
              <a:tailEn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8" name="Rectangle 6">
              <a:extLst>
                <a:ext uri="{FF2B5EF4-FFF2-40B4-BE49-F238E27FC236}">
                  <a16:creationId xmlns:a16="http://schemas.microsoft.com/office/drawing/2014/main" id="{AA2312F3-E630-C14E-88D1-12CD6759510C}"/>
                </a:ext>
              </a:extLst>
            </p:cNvPr>
            <p:cNvSpPr>
              <a:spLocks noChangeArrowheads="1"/>
            </p:cNvSpPr>
            <p:nvPr/>
          </p:nvSpPr>
          <p:spPr bwMode="auto">
            <a:xfrm>
              <a:off x="930" y="2886"/>
              <a:ext cx="907" cy="589"/>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zh-CN" sz="1100">
                <a:latin typeface="Arial Narrow" panose="020B0606020202030204" pitchFamily="34" charset="0"/>
              </a:endParaRPr>
            </a:p>
          </p:txBody>
        </p:sp>
        <p:sp>
          <p:nvSpPr>
            <p:cNvPr id="9" name="Rectangle 7">
              <a:extLst>
                <a:ext uri="{FF2B5EF4-FFF2-40B4-BE49-F238E27FC236}">
                  <a16:creationId xmlns:a16="http://schemas.microsoft.com/office/drawing/2014/main" id="{F6A580C1-D844-1A42-8103-1878F662247A}"/>
                </a:ext>
              </a:extLst>
            </p:cNvPr>
            <p:cNvSpPr>
              <a:spLocks noChangeArrowheads="1"/>
            </p:cNvSpPr>
            <p:nvPr/>
          </p:nvSpPr>
          <p:spPr bwMode="auto">
            <a:xfrm>
              <a:off x="1973" y="2885"/>
              <a:ext cx="408" cy="590"/>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10" name="Rectangle 8">
              <a:extLst>
                <a:ext uri="{FF2B5EF4-FFF2-40B4-BE49-F238E27FC236}">
                  <a16:creationId xmlns:a16="http://schemas.microsoft.com/office/drawing/2014/main" id="{FCE2737D-76E1-2449-9A4C-562D5BB3A241}"/>
                </a:ext>
              </a:extLst>
            </p:cNvPr>
            <p:cNvSpPr>
              <a:spLocks noChangeArrowheads="1"/>
            </p:cNvSpPr>
            <p:nvPr/>
          </p:nvSpPr>
          <p:spPr bwMode="auto">
            <a:xfrm>
              <a:off x="1791" y="2885"/>
              <a:ext cx="409" cy="590"/>
            </a:xfrm>
            <a:prstGeom prst="rect">
              <a:avLst/>
            </a:prstGeom>
            <a:solidFill>
              <a:schemeClr val="accent1"/>
            </a:solidFill>
            <a:ln>
              <a:noFill/>
            </a:ln>
            <a:effectLst/>
            <a:extLs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11" name="Line 9">
              <a:extLst>
                <a:ext uri="{FF2B5EF4-FFF2-40B4-BE49-F238E27FC236}">
                  <a16:creationId xmlns:a16="http://schemas.microsoft.com/office/drawing/2014/main" id="{CD3676C0-A8D0-9245-9A35-2ACB134F075D}"/>
                </a:ext>
              </a:extLst>
            </p:cNvPr>
            <p:cNvSpPr>
              <a:spLocks noChangeShapeType="1"/>
            </p:cNvSpPr>
            <p:nvPr/>
          </p:nvSpPr>
          <p:spPr bwMode="auto">
            <a:xfrm>
              <a:off x="1746" y="3475"/>
              <a:ext cx="454"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12" name="Rectangle 10">
              <a:extLst>
                <a:ext uri="{FF2B5EF4-FFF2-40B4-BE49-F238E27FC236}">
                  <a16:creationId xmlns:a16="http://schemas.microsoft.com/office/drawing/2014/main" id="{8187EE1F-0372-B84A-B59B-1B2D5C23E9CA}"/>
                </a:ext>
              </a:extLst>
            </p:cNvPr>
            <p:cNvSpPr>
              <a:spLocks noChangeArrowheads="1"/>
            </p:cNvSpPr>
            <p:nvPr/>
          </p:nvSpPr>
          <p:spPr bwMode="auto">
            <a:xfrm>
              <a:off x="1418" y="3085"/>
              <a:ext cx="816" cy="227"/>
            </a:xfrm>
            <a:prstGeom prst="rect">
              <a:avLst/>
            </a:prstGeom>
            <a:solidFill>
              <a:schemeClr val="accent1"/>
            </a:solidFill>
            <a:ln>
              <a:noFill/>
            </a:ln>
            <a:effectLst/>
            <a:extLs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en-US" altLang="ko-KR" sz="1100" dirty="0">
                  <a:solidFill>
                    <a:schemeClr val="bg1"/>
                  </a:solidFill>
                  <a:latin typeface="Arial Narrow" panose="020B0606020202030204" pitchFamily="34" charset="0"/>
                </a:rPr>
                <a:t>Machine</a:t>
              </a:r>
            </a:p>
          </p:txBody>
        </p:sp>
        <p:sp>
          <p:nvSpPr>
            <p:cNvPr id="13" name="Rectangle 12">
              <a:extLst>
                <a:ext uri="{FF2B5EF4-FFF2-40B4-BE49-F238E27FC236}">
                  <a16:creationId xmlns:a16="http://schemas.microsoft.com/office/drawing/2014/main" id="{01A3CC8F-7815-6B47-BE9F-768AF869F9DC}"/>
                </a:ext>
              </a:extLst>
            </p:cNvPr>
            <p:cNvSpPr>
              <a:spLocks noChangeArrowheads="1"/>
            </p:cNvSpPr>
            <p:nvPr/>
          </p:nvSpPr>
          <p:spPr bwMode="auto">
            <a:xfrm>
              <a:off x="1837" y="2704"/>
              <a:ext cx="544" cy="1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zh-CN" altLang="en-US" sz="1100" dirty="0">
                  <a:latin typeface="Arial Narrow" panose="020B0606020202030204" pitchFamily="34" charset="0"/>
                </a:rPr>
                <a:t>用户</a:t>
              </a:r>
              <a:r>
                <a:rPr lang="en-US" altLang="ko-KR" sz="1100" dirty="0">
                  <a:latin typeface="Arial Narrow" panose="020B0606020202030204" pitchFamily="34" charset="0"/>
                </a:rPr>
                <a:t> ISA</a:t>
              </a:r>
            </a:p>
          </p:txBody>
        </p:sp>
        <p:sp>
          <p:nvSpPr>
            <p:cNvPr id="14" name="Line 13">
              <a:extLst>
                <a:ext uri="{FF2B5EF4-FFF2-40B4-BE49-F238E27FC236}">
                  <a16:creationId xmlns:a16="http://schemas.microsoft.com/office/drawing/2014/main" id="{CC17EBF2-96E1-FC4D-AF4D-6BF03965C379}"/>
                </a:ext>
              </a:extLst>
            </p:cNvPr>
            <p:cNvSpPr>
              <a:spLocks noChangeShapeType="1"/>
            </p:cNvSpPr>
            <p:nvPr/>
          </p:nvSpPr>
          <p:spPr bwMode="auto">
            <a:xfrm flipV="1">
              <a:off x="1429" y="2885"/>
              <a:ext cx="771" cy="1"/>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15" name="Line 14">
              <a:extLst>
                <a:ext uri="{FF2B5EF4-FFF2-40B4-BE49-F238E27FC236}">
                  <a16:creationId xmlns:a16="http://schemas.microsoft.com/office/drawing/2014/main" id="{11D2AEB8-9152-1A42-AFDD-E31267F71F1F}"/>
                </a:ext>
              </a:extLst>
            </p:cNvPr>
            <p:cNvSpPr>
              <a:spLocks noChangeShapeType="1"/>
            </p:cNvSpPr>
            <p:nvPr/>
          </p:nvSpPr>
          <p:spPr bwMode="auto">
            <a:xfrm>
              <a:off x="793" y="2886"/>
              <a:ext cx="817"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16" name="Line 16">
              <a:extLst>
                <a:ext uri="{FF2B5EF4-FFF2-40B4-BE49-F238E27FC236}">
                  <a16:creationId xmlns:a16="http://schemas.microsoft.com/office/drawing/2014/main" id="{45769030-4455-9049-BE4B-4B45AE0EBB1F}"/>
                </a:ext>
              </a:extLst>
            </p:cNvPr>
            <p:cNvSpPr>
              <a:spLocks noChangeShapeType="1"/>
            </p:cNvSpPr>
            <p:nvPr/>
          </p:nvSpPr>
          <p:spPr bwMode="auto">
            <a:xfrm flipV="1">
              <a:off x="1791" y="2885"/>
              <a:ext cx="726" cy="1"/>
            </a:xfrm>
            <a:prstGeom prst="line">
              <a:avLst/>
            </a:prstGeom>
            <a:noFill/>
            <a:ln w="38100">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17" name="Rectangle 17">
              <a:extLst>
                <a:ext uri="{FF2B5EF4-FFF2-40B4-BE49-F238E27FC236}">
                  <a16:creationId xmlns:a16="http://schemas.microsoft.com/office/drawing/2014/main" id="{385B14B3-2D6A-964F-8F94-529A522916DA}"/>
                </a:ext>
              </a:extLst>
            </p:cNvPr>
            <p:cNvSpPr>
              <a:spLocks noChangeArrowheads="1"/>
            </p:cNvSpPr>
            <p:nvPr/>
          </p:nvSpPr>
          <p:spPr bwMode="auto">
            <a:xfrm>
              <a:off x="2517" y="2795"/>
              <a:ext cx="318" cy="1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en-US" altLang="ko-KR" sz="1100" dirty="0">
                  <a:latin typeface="Arial Narrow" panose="020B0606020202030204" pitchFamily="34" charset="0"/>
                </a:rPr>
                <a:t>ISA</a:t>
              </a:r>
            </a:p>
          </p:txBody>
        </p:sp>
        <p:sp>
          <p:nvSpPr>
            <p:cNvPr id="18" name="Rectangle 18">
              <a:extLst>
                <a:ext uri="{FF2B5EF4-FFF2-40B4-BE49-F238E27FC236}">
                  <a16:creationId xmlns:a16="http://schemas.microsoft.com/office/drawing/2014/main" id="{264CDF96-DFD0-9D46-88D5-9F47EE7577BF}"/>
                </a:ext>
              </a:extLst>
            </p:cNvPr>
            <p:cNvSpPr>
              <a:spLocks noChangeArrowheads="1"/>
            </p:cNvSpPr>
            <p:nvPr/>
          </p:nvSpPr>
          <p:spPr bwMode="auto">
            <a:xfrm>
              <a:off x="929" y="1942"/>
              <a:ext cx="1043" cy="18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zh-CN" altLang="en-US" sz="1100" dirty="0">
                  <a:latin typeface="Arial Narrow" panose="020B0606020202030204" pitchFamily="34" charset="0"/>
                </a:rPr>
                <a:t>应用程序</a:t>
              </a:r>
              <a:endParaRPr lang="en-US" altLang="ko-KR" sz="1100" dirty="0">
                <a:latin typeface="Arial Narrow" panose="020B0606020202030204" pitchFamily="34" charset="0"/>
              </a:endParaRPr>
            </a:p>
          </p:txBody>
        </p:sp>
        <p:sp>
          <p:nvSpPr>
            <p:cNvPr id="19" name="Rectangle 36">
              <a:extLst>
                <a:ext uri="{FF2B5EF4-FFF2-40B4-BE49-F238E27FC236}">
                  <a16:creationId xmlns:a16="http://schemas.microsoft.com/office/drawing/2014/main" id="{48DEE2C2-2983-9049-9B12-357A40A072DC}"/>
                </a:ext>
              </a:extLst>
            </p:cNvPr>
            <p:cNvSpPr>
              <a:spLocks noChangeArrowheads="1"/>
            </p:cNvSpPr>
            <p:nvPr/>
          </p:nvSpPr>
          <p:spPr bwMode="auto">
            <a:xfrm>
              <a:off x="975" y="2704"/>
              <a:ext cx="544" cy="18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zh-CN" altLang="en-US" sz="1100" dirty="0">
                  <a:latin typeface="Arial Narrow" panose="020B0606020202030204" pitchFamily="34" charset="0"/>
                </a:rPr>
                <a:t>系统</a:t>
              </a:r>
              <a:r>
                <a:rPr lang="en-US" altLang="ko-KR" sz="1100" dirty="0">
                  <a:latin typeface="Arial Narrow" panose="020B0606020202030204" pitchFamily="34" charset="0"/>
                </a:rPr>
                <a:t>ISA</a:t>
              </a:r>
            </a:p>
          </p:txBody>
        </p:sp>
        <p:sp>
          <p:nvSpPr>
            <p:cNvPr id="20" name="Rectangle 37">
              <a:extLst>
                <a:ext uri="{FF2B5EF4-FFF2-40B4-BE49-F238E27FC236}">
                  <a16:creationId xmlns:a16="http://schemas.microsoft.com/office/drawing/2014/main" id="{F99EB047-0724-D649-975B-7B9A3E06EFC5}"/>
                </a:ext>
              </a:extLst>
            </p:cNvPr>
            <p:cNvSpPr>
              <a:spLocks noChangeArrowheads="1"/>
            </p:cNvSpPr>
            <p:nvPr/>
          </p:nvSpPr>
          <p:spPr bwMode="auto">
            <a:xfrm>
              <a:off x="930" y="2341"/>
              <a:ext cx="1179" cy="545"/>
            </a:xfrm>
            <a:prstGeom prst="rect">
              <a:avLst/>
            </a:prstGeom>
            <a:noFill/>
            <a:ln w="9525" algn="ctr">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zh-CN" altLang="en-US" sz="1100" dirty="0">
                  <a:latin typeface="Arial Narrow" panose="020B0606020202030204" pitchFamily="34" charset="0"/>
                </a:rPr>
                <a:t>操作系统</a:t>
              </a:r>
              <a:endParaRPr lang="en-US" altLang="ko-KR" sz="1100" dirty="0">
                <a:latin typeface="Arial Narrow" panose="020B0606020202030204" pitchFamily="34" charset="0"/>
              </a:endParaRPr>
            </a:p>
            <a:p>
              <a:endParaRPr lang="en-US" altLang="ko-KR" sz="1100" dirty="0">
                <a:latin typeface="Arial Narrow" panose="020B0606020202030204" pitchFamily="34" charset="0"/>
              </a:endParaRPr>
            </a:p>
            <a:p>
              <a:endParaRPr lang="en-US" altLang="ko-KR" sz="1100" dirty="0">
                <a:latin typeface="Arial Narrow" panose="020B0606020202030204" pitchFamily="34" charset="0"/>
              </a:endParaRPr>
            </a:p>
            <a:p>
              <a:endParaRPr lang="en-US" altLang="ko-KR" sz="1100" dirty="0">
                <a:latin typeface="Arial Narrow" panose="020B0606020202030204" pitchFamily="34" charset="0"/>
              </a:endParaRPr>
            </a:p>
          </p:txBody>
        </p:sp>
      </p:grpSp>
      <p:sp>
        <p:nvSpPr>
          <p:cNvPr id="22" name="Rectangle 5">
            <a:extLst>
              <a:ext uri="{FF2B5EF4-FFF2-40B4-BE49-F238E27FC236}">
                <a16:creationId xmlns:a16="http://schemas.microsoft.com/office/drawing/2014/main" id="{C7A0251F-B6FB-8842-A324-F5D6584E6DCA}"/>
              </a:ext>
            </a:extLst>
          </p:cNvPr>
          <p:cNvSpPr>
            <a:spLocks noChangeArrowheads="1"/>
          </p:cNvSpPr>
          <p:nvPr/>
        </p:nvSpPr>
        <p:spPr bwMode="auto">
          <a:xfrm>
            <a:off x="4574375" y="3753184"/>
            <a:ext cx="4109134" cy="1379345"/>
          </a:xfrm>
          <a:prstGeom prst="rect">
            <a:avLst/>
          </a:prstGeom>
          <a:noFill/>
          <a:ln w="9525" algn="ctr">
            <a:solidFill>
              <a:schemeClr val="tx1"/>
            </a:solidFill>
            <a:miter lim="800000"/>
            <a:headEnd/>
            <a:tailEn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23" name="Rectangle 6">
            <a:extLst>
              <a:ext uri="{FF2B5EF4-FFF2-40B4-BE49-F238E27FC236}">
                <a16:creationId xmlns:a16="http://schemas.microsoft.com/office/drawing/2014/main" id="{65CC031F-F8D0-FD48-B653-A0E8BBBAE6B2}"/>
              </a:ext>
            </a:extLst>
          </p:cNvPr>
          <p:cNvSpPr>
            <a:spLocks noChangeArrowheads="1"/>
          </p:cNvSpPr>
          <p:nvPr/>
        </p:nvSpPr>
        <p:spPr bwMode="auto">
          <a:xfrm>
            <a:off x="4574375" y="4353331"/>
            <a:ext cx="1199885" cy="779198"/>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zh-CN" sz="1100">
              <a:latin typeface="Arial Narrow" panose="020B0606020202030204" pitchFamily="34" charset="0"/>
            </a:endParaRPr>
          </a:p>
        </p:txBody>
      </p:sp>
      <p:sp>
        <p:nvSpPr>
          <p:cNvPr id="24" name="Rectangle 7">
            <a:extLst>
              <a:ext uri="{FF2B5EF4-FFF2-40B4-BE49-F238E27FC236}">
                <a16:creationId xmlns:a16="http://schemas.microsoft.com/office/drawing/2014/main" id="{E648B39D-16F3-E941-B6F9-90FDE2402BBA}"/>
              </a:ext>
            </a:extLst>
          </p:cNvPr>
          <p:cNvSpPr>
            <a:spLocks noChangeArrowheads="1"/>
          </p:cNvSpPr>
          <p:nvPr/>
        </p:nvSpPr>
        <p:spPr bwMode="auto">
          <a:xfrm>
            <a:off x="5954176" y="4352008"/>
            <a:ext cx="2740722" cy="780521"/>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25" name="Rectangle 8">
            <a:extLst>
              <a:ext uri="{FF2B5EF4-FFF2-40B4-BE49-F238E27FC236}">
                <a16:creationId xmlns:a16="http://schemas.microsoft.com/office/drawing/2014/main" id="{CCD6399E-9F86-534C-90E7-9230708273B1}"/>
              </a:ext>
            </a:extLst>
          </p:cNvPr>
          <p:cNvSpPr>
            <a:spLocks noChangeArrowheads="1"/>
          </p:cNvSpPr>
          <p:nvPr/>
        </p:nvSpPr>
        <p:spPr bwMode="auto">
          <a:xfrm>
            <a:off x="5713406" y="4352008"/>
            <a:ext cx="541073" cy="780521"/>
          </a:xfrm>
          <a:prstGeom prst="rect">
            <a:avLst/>
          </a:prstGeom>
          <a:solidFill>
            <a:schemeClr val="accent1"/>
          </a:solidFill>
          <a:ln>
            <a:noFill/>
          </a:ln>
          <a:effectLst/>
          <a:extLs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26" name="Line 9">
            <a:extLst>
              <a:ext uri="{FF2B5EF4-FFF2-40B4-BE49-F238E27FC236}">
                <a16:creationId xmlns:a16="http://schemas.microsoft.com/office/drawing/2014/main" id="{9AF7B1C7-7C2B-CF42-A74E-7091F5951ACB}"/>
              </a:ext>
            </a:extLst>
          </p:cNvPr>
          <p:cNvSpPr>
            <a:spLocks noChangeShapeType="1"/>
          </p:cNvSpPr>
          <p:nvPr/>
        </p:nvSpPr>
        <p:spPr bwMode="auto">
          <a:xfrm>
            <a:off x="5653875" y="5132529"/>
            <a:ext cx="600604"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27" name="Rectangle 10">
            <a:extLst>
              <a:ext uri="{FF2B5EF4-FFF2-40B4-BE49-F238E27FC236}">
                <a16:creationId xmlns:a16="http://schemas.microsoft.com/office/drawing/2014/main" id="{CDE17D0C-EE93-DC4C-B06D-F2072B883998}"/>
              </a:ext>
            </a:extLst>
          </p:cNvPr>
          <p:cNvSpPr>
            <a:spLocks noChangeArrowheads="1"/>
          </p:cNvSpPr>
          <p:nvPr/>
        </p:nvSpPr>
        <p:spPr bwMode="auto">
          <a:xfrm>
            <a:off x="6287190" y="4620924"/>
            <a:ext cx="1079500" cy="300302"/>
          </a:xfrm>
          <a:prstGeom prst="rect">
            <a:avLst/>
          </a:prstGeom>
          <a:solidFill>
            <a:schemeClr val="accent1"/>
          </a:solidFill>
          <a:ln>
            <a:noFill/>
          </a:ln>
          <a:effectLst/>
          <a:extLs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en-US" altLang="ko-KR" sz="1100" dirty="0">
                <a:solidFill>
                  <a:schemeClr val="bg1"/>
                </a:solidFill>
                <a:latin typeface="Arial Narrow" panose="020B0606020202030204" pitchFamily="34" charset="0"/>
              </a:rPr>
              <a:t>Machine</a:t>
            </a:r>
          </a:p>
        </p:txBody>
      </p:sp>
      <p:sp>
        <p:nvSpPr>
          <p:cNvPr id="28" name="Rectangle 12">
            <a:extLst>
              <a:ext uri="{FF2B5EF4-FFF2-40B4-BE49-F238E27FC236}">
                <a16:creationId xmlns:a16="http://schemas.microsoft.com/office/drawing/2014/main" id="{E70D34E8-DEAA-CD45-B4C8-D24CEF4DE154}"/>
              </a:ext>
            </a:extLst>
          </p:cNvPr>
          <p:cNvSpPr>
            <a:spLocks noChangeArrowheads="1"/>
          </p:cNvSpPr>
          <p:nvPr/>
        </p:nvSpPr>
        <p:spPr bwMode="auto">
          <a:xfrm>
            <a:off x="5775583" y="3500056"/>
            <a:ext cx="719667" cy="24077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zh-CN" altLang="en-US" sz="1100" dirty="0">
                <a:latin typeface="Arial Narrow" panose="020B0606020202030204" pitchFamily="34" charset="0"/>
              </a:rPr>
              <a:t>用户</a:t>
            </a:r>
            <a:r>
              <a:rPr lang="en-US" altLang="ko-KR" sz="1100" dirty="0">
                <a:latin typeface="Arial Narrow" panose="020B0606020202030204" pitchFamily="34" charset="0"/>
              </a:rPr>
              <a:t> ISA</a:t>
            </a:r>
          </a:p>
        </p:txBody>
      </p:sp>
      <p:sp>
        <p:nvSpPr>
          <p:cNvPr id="30" name="Line 14">
            <a:extLst>
              <a:ext uri="{FF2B5EF4-FFF2-40B4-BE49-F238E27FC236}">
                <a16:creationId xmlns:a16="http://schemas.microsoft.com/office/drawing/2014/main" id="{D49EC263-1C5C-094B-98B5-46E73E2866A6}"/>
              </a:ext>
            </a:extLst>
          </p:cNvPr>
          <p:cNvSpPr>
            <a:spLocks noChangeShapeType="1"/>
          </p:cNvSpPr>
          <p:nvPr/>
        </p:nvSpPr>
        <p:spPr bwMode="auto">
          <a:xfrm>
            <a:off x="4393133" y="3751537"/>
            <a:ext cx="1080823"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31" name="Line 16">
            <a:extLst>
              <a:ext uri="{FF2B5EF4-FFF2-40B4-BE49-F238E27FC236}">
                <a16:creationId xmlns:a16="http://schemas.microsoft.com/office/drawing/2014/main" id="{FE44021C-4300-5847-9CE4-49F1AC0BDC41}"/>
              </a:ext>
            </a:extLst>
          </p:cNvPr>
          <p:cNvSpPr>
            <a:spLocks noChangeShapeType="1"/>
          </p:cNvSpPr>
          <p:nvPr/>
        </p:nvSpPr>
        <p:spPr bwMode="auto">
          <a:xfrm flipV="1">
            <a:off x="5714729" y="3739504"/>
            <a:ext cx="960438" cy="1323"/>
          </a:xfrm>
          <a:prstGeom prst="line">
            <a:avLst/>
          </a:prstGeom>
          <a:noFill/>
          <a:ln w="38100">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33" name="Rectangle 18">
            <a:extLst>
              <a:ext uri="{FF2B5EF4-FFF2-40B4-BE49-F238E27FC236}">
                <a16:creationId xmlns:a16="http://schemas.microsoft.com/office/drawing/2014/main" id="{CF1D047D-05F7-4749-BC31-6DFA24CEDA85}"/>
              </a:ext>
            </a:extLst>
          </p:cNvPr>
          <p:cNvSpPr>
            <a:spLocks noChangeArrowheads="1"/>
          </p:cNvSpPr>
          <p:nvPr/>
        </p:nvSpPr>
        <p:spPr bwMode="auto">
          <a:xfrm>
            <a:off x="4574375" y="2491993"/>
            <a:ext cx="1379802" cy="2394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zh-CN" altLang="en-US" sz="1100" dirty="0">
                <a:latin typeface="Arial Narrow" panose="020B0606020202030204" pitchFamily="34" charset="0"/>
              </a:rPr>
              <a:t>应用程序</a:t>
            </a:r>
            <a:endParaRPr lang="en-US" altLang="ko-KR" sz="1100" dirty="0">
              <a:latin typeface="Arial Narrow" panose="020B0606020202030204" pitchFamily="34" charset="0"/>
            </a:endParaRPr>
          </a:p>
        </p:txBody>
      </p:sp>
      <p:sp>
        <p:nvSpPr>
          <p:cNvPr id="34" name="Rectangle 36">
            <a:extLst>
              <a:ext uri="{FF2B5EF4-FFF2-40B4-BE49-F238E27FC236}">
                <a16:creationId xmlns:a16="http://schemas.microsoft.com/office/drawing/2014/main" id="{5DB2BCEC-70AA-F144-85FF-172A4034C733}"/>
              </a:ext>
            </a:extLst>
          </p:cNvPr>
          <p:cNvSpPr>
            <a:spLocks noChangeArrowheads="1"/>
          </p:cNvSpPr>
          <p:nvPr/>
        </p:nvSpPr>
        <p:spPr bwMode="auto">
          <a:xfrm>
            <a:off x="4635229" y="3500056"/>
            <a:ext cx="719667" cy="24077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zh-CN" altLang="en-US" sz="1100" dirty="0">
                <a:latin typeface="Arial Narrow" panose="020B0606020202030204" pitchFamily="34" charset="0"/>
              </a:rPr>
              <a:t>系统</a:t>
            </a:r>
            <a:r>
              <a:rPr lang="en-US" altLang="ko-KR" sz="1100" dirty="0">
                <a:latin typeface="Arial Narrow" panose="020B0606020202030204" pitchFamily="34" charset="0"/>
              </a:rPr>
              <a:t>ISA</a:t>
            </a:r>
          </a:p>
        </p:txBody>
      </p:sp>
      <p:sp>
        <p:nvSpPr>
          <p:cNvPr id="35" name="Rectangle 37">
            <a:extLst>
              <a:ext uri="{FF2B5EF4-FFF2-40B4-BE49-F238E27FC236}">
                <a16:creationId xmlns:a16="http://schemas.microsoft.com/office/drawing/2014/main" id="{3B1CABA3-B77C-4A4A-B087-04A8FCC1C056}"/>
              </a:ext>
            </a:extLst>
          </p:cNvPr>
          <p:cNvSpPr>
            <a:spLocks noChangeArrowheads="1"/>
          </p:cNvSpPr>
          <p:nvPr/>
        </p:nvSpPr>
        <p:spPr bwMode="auto">
          <a:xfrm>
            <a:off x="4575697" y="3025987"/>
            <a:ext cx="1559719" cy="720990"/>
          </a:xfrm>
          <a:prstGeom prst="rect">
            <a:avLst/>
          </a:prstGeom>
          <a:noFill/>
          <a:ln w="9525" algn="ctr">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zh-CN" altLang="en-US" sz="1100" dirty="0">
                <a:latin typeface="Arial Narrow" panose="020B0606020202030204" pitchFamily="34" charset="0"/>
              </a:rPr>
              <a:t>操作系统</a:t>
            </a:r>
            <a:r>
              <a:rPr lang="en-US" altLang="zh-CN" sz="1100" dirty="0">
                <a:latin typeface="Arial Narrow" panose="020B0606020202030204" pitchFamily="34" charset="0"/>
              </a:rPr>
              <a:t>A</a:t>
            </a:r>
            <a:endParaRPr lang="en-US" altLang="ko-KR" sz="1100" dirty="0">
              <a:latin typeface="Arial Narrow" panose="020B0606020202030204" pitchFamily="34" charset="0"/>
            </a:endParaRPr>
          </a:p>
          <a:p>
            <a:endParaRPr lang="en-US" altLang="ko-KR" sz="1100" dirty="0">
              <a:latin typeface="Arial Narrow" panose="020B0606020202030204" pitchFamily="34" charset="0"/>
            </a:endParaRPr>
          </a:p>
          <a:p>
            <a:endParaRPr lang="en-US" altLang="ko-KR" sz="1100" dirty="0">
              <a:latin typeface="Arial Narrow" panose="020B0606020202030204" pitchFamily="34" charset="0"/>
            </a:endParaRPr>
          </a:p>
          <a:p>
            <a:endParaRPr lang="en-US" altLang="ko-KR" sz="1100" dirty="0">
              <a:latin typeface="Arial Narrow" panose="020B0606020202030204" pitchFamily="34" charset="0"/>
            </a:endParaRPr>
          </a:p>
        </p:txBody>
      </p:sp>
      <p:sp>
        <p:nvSpPr>
          <p:cNvPr id="36" name="Rectangle 12">
            <a:extLst>
              <a:ext uri="{FF2B5EF4-FFF2-40B4-BE49-F238E27FC236}">
                <a16:creationId xmlns:a16="http://schemas.microsoft.com/office/drawing/2014/main" id="{17A26C72-58C7-0145-BC3D-23CFC79B50BD}"/>
              </a:ext>
            </a:extLst>
          </p:cNvPr>
          <p:cNvSpPr>
            <a:spLocks noChangeArrowheads="1"/>
          </p:cNvSpPr>
          <p:nvPr/>
        </p:nvSpPr>
        <p:spPr bwMode="auto">
          <a:xfrm>
            <a:off x="7767872" y="4072257"/>
            <a:ext cx="719667" cy="24077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zh-CN" altLang="en-US" sz="1100" dirty="0">
                <a:latin typeface="Arial Narrow" panose="020B0606020202030204" pitchFamily="34" charset="0"/>
              </a:rPr>
              <a:t>用户</a:t>
            </a:r>
            <a:r>
              <a:rPr lang="en-US" altLang="ko-KR" sz="1100" dirty="0">
                <a:latin typeface="Arial Narrow" panose="020B0606020202030204" pitchFamily="34" charset="0"/>
              </a:rPr>
              <a:t> ISA</a:t>
            </a:r>
          </a:p>
        </p:txBody>
      </p:sp>
      <p:sp>
        <p:nvSpPr>
          <p:cNvPr id="37" name="Line 13">
            <a:extLst>
              <a:ext uri="{FF2B5EF4-FFF2-40B4-BE49-F238E27FC236}">
                <a16:creationId xmlns:a16="http://schemas.microsoft.com/office/drawing/2014/main" id="{F272263D-DF1A-024D-9595-82870B581F66}"/>
              </a:ext>
            </a:extLst>
          </p:cNvPr>
          <p:cNvSpPr>
            <a:spLocks noChangeShapeType="1"/>
          </p:cNvSpPr>
          <p:nvPr/>
        </p:nvSpPr>
        <p:spPr bwMode="auto">
          <a:xfrm flipV="1">
            <a:off x="5473957" y="4354794"/>
            <a:ext cx="1019969" cy="1323"/>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38" name="Line 14">
            <a:extLst>
              <a:ext uri="{FF2B5EF4-FFF2-40B4-BE49-F238E27FC236}">
                <a16:creationId xmlns:a16="http://schemas.microsoft.com/office/drawing/2014/main" id="{79ABFB9F-231D-8C46-AE1A-02ADA4E86D39}"/>
              </a:ext>
            </a:extLst>
          </p:cNvPr>
          <p:cNvSpPr>
            <a:spLocks noChangeShapeType="1"/>
          </p:cNvSpPr>
          <p:nvPr/>
        </p:nvSpPr>
        <p:spPr bwMode="auto">
          <a:xfrm>
            <a:off x="4564872" y="4343808"/>
            <a:ext cx="2973062" cy="17499"/>
          </a:xfrm>
          <a:prstGeom prst="line">
            <a:avLst/>
          </a:prstGeom>
          <a:noFill/>
          <a:ln w="38100">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39" name="Line 16">
            <a:extLst>
              <a:ext uri="{FF2B5EF4-FFF2-40B4-BE49-F238E27FC236}">
                <a16:creationId xmlns:a16="http://schemas.microsoft.com/office/drawing/2014/main" id="{FA301956-8093-AC42-9B00-EFDE15144A12}"/>
              </a:ext>
            </a:extLst>
          </p:cNvPr>
          <p:cNvSpPr>
            <a:spLocks noChangeShapeType="1"/>
          </p:cNvSpPr>
          <p:nvPr/>
        </p:nvSpPr>
        <p:spPr bwMode="auto">
          <a:xfrm flipV="1">
            <a:off x="7542809" y="4327583"/>
            <a:ext cx="1188486" cy="16886"/>
          </a:xfrm>
          <a:prstGeom prst="line">
            <a:avLst/>
          </a:prstGeom>
          <a:noFill/>
          <a:ln w="38100">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40" name="Rectangle 17">
            <a:extLst>
              <a:ext uri="{FF2B5EF4-FFF2-40B4-BE49-F238E27FC236}">
                <a16:creationId xmlns:a16="http://schemas.microsoft.com/office/drawing/2014/main" id="{B0E357DD-787D-0F44-9B7E-72FE4A78DAB9}"/>
              </a:ext>
            </a:extLst>
          </p:cNvPr>
          <p:cNvSpPr>
            <a:spLocks noChangeArrowheads="1"/>
          </p:cNvSpPr>
          <p:nvPr/>
        </p:nvSpPr>
        <p:spPr bwMode="auto">
          <a:xfrm>
            <a:off x="8759824" y="4237054"/>
            <a:ext cx="420688" cy="24077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en-US" altLang="ko-KR" sz="1100" dirty="0">
                <a:latin typeface="Arial Narrow" panose="020B0606020202030204" pitchFamily="34" charset="0"/>
              </a:rPr>
              <a:t>ISA</a:t>
            </a:r>
          </a:p>
        </p:txBody>
      </p:sp>
      <p:sp>
        <p:nvSpPr>
          <p:cNvPr id="41" name="Rectangle 36">
            <a:extLst>
              <a:ext uri="{FF2B5EF4-FFF2-40B4-BE49-F238E27FC236}">
                <a16:creationId xmlns:a16="http://schemas.microsoft.com/office/drawing/2014/main" id="{BCCF04C6-A8C3-284E-832C-67E406CA05E1}"/>
              </a:ext>
            </a:extLst>
          </p:cNvPr>
          <p:cNvSpPr>
            <a:spLocks noChangeArrowheads="1"/>
          </p:cNvSpPr>
          <p:nvPr/>
        </p:nvSpPr>
        <p:spPr bwMode="auto">
          <a:xfrm>
            <a:off x="5404212" y="4103556"/>
            <a:ext cx="719667" cy="24077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zh-CN" altLang="en-US" sz="1100" dirty="0">
                <a:latin typeface="Arial Narrow" panose="020B0606020202030204" pitchFamily="34" charset="0"/>
              </a:rPr>
              <a:t>系统</a:t>
            </a:r>
            <a:r>
              <a:rPr lang="en-US" altLang="ko-KR" sz="1100" dirty="0">
                <a:latin typeface="Arial Narrow" panose="020B0606020202030204" pitchFamily="34" charset="0"/>
              </a:rPr>
              <a:t>ISA</a:t>
            </a:r>
          </a:p>
        </p:txBody>
      </p:sp>
      <p:sp>
        <p:nvSpPr>
          <p:cNvPr id="42" name="Rectangle 17">
            <a:extLst>
              <a:ext uri="{FF2B5EF4-FFF2-40B4-BE49-F238E27FC236}">
                <a16:creationId xmlns:a16="http://schemas.microsoft.com/office/drawing/2014/main" id="{60E56E38-EA59-B44B-A83E-F81CED76739B}"/>
              </a:ext>
            </a:extLst>
          </p:cNvPr>
          <p:cNvSpPr>
            <a:spLocks noChangeArrowheads="1"/>
          </p:cNvSpPr>
          <p:nvPr/>
        </p:nvSpPr>
        <p:spPr bwMode="auto">
          <a:xfrm>
            <a:off x="6051403" y="3894197"/>
            <a:ext cx="1019969" cy="2522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zh-CN" altLang="en-US" sz="1100" dirty="0">
                <a:latin typeface="Arial Narrow" panose="020B0606020202030204" pitchFamily="34" charset="0"/>
              </a:rPr>
              <a:t>虚拟机监控器</a:t>
            </a:r>
            <a:endParaRPr lang="en-US" altLang="ko-KR" sz="1100" dirty="0">
              <a:latin typeface="Arial Narrow" panose="020B0606020202030204" pitchFamily="34" charset="0"/>
            </a:endParaRPr>
          </a:p>
        </p:txBody>
      </p:sp>
      <p:sp>
        <p:nvSpPr>
          <p:cNvPr id="43" name="Line 13">
            <a:extLst>
              <a:ext uri="{FF2B5EF4-FFF2-40B4-BE49-F238E27FC236}">
                <a16:creationId xmlns:a16="http://schemas.microsoft.com/office/drawing/2014/main" id="{D3D7154C-FD71-444F-BC3E-55461976E6DD}"/>
              </a:ext>
            </a:extLst>
          </p:cNvPr>
          <p:cNvSpPr>
            <a:spLocks noChangeShapeType="1"/>
          </p:cNvSpPr>
          <p:nvPr/>
        </p:nvSpPr>
        <p:spPr bwMode="auto">
          <a:xfrm flipV="1">
            <a:off x="5473956" y="3743240"/>
            <a:ext cx="1019969" cy="1323"/>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45" name="右箭头 44">
            <a:extLst>
              <a:ext uri="{FF2B5EF4-FFF2-40B4-BE49-F238E27FC236}">
                <a16:creationId xmlns:a16="http://schemas.microsoft.com/office/drawing/2014/main" id="{61EEDDFC-E121-2F41-8888-DDBBD320BB8F}"/>
              </a:ext>
            </a:extLst>
          </p:cNvPr>
          <p:cNvSpPr/>
          <p:nvPr/>
        </p:nvSpPr>
        <p:spPr>
          <a:xfrm>
            <a:off x="3039796" y="4620924"/>
            <a:ext cx="1296144" cy="300302"/>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6" name="Rectangle 5">
            <a:extLst>
              <a:ext uri="{FF2B5EF4-FFF2-40B4-BE49-F238E27FC236}">
                <a16:creationId xmlns:a16="http://schemas.microsoft.com/office/drawing/2014/main" id="{BBD60B75-AAE5-1B49-AC73-265C152CDE7C}"/>
              </a:ext>
            </a:extLst>
          </p:cNvPr>
          <p:cNvSpPr>
            <a:spLocks noChangeArrowheads="1"/>
          </p:cNvSpPr>
          <p:nvPr/>
        </p:nvSpPr>
        <p:spPr bwMode="auto">
          <a:xfrm>
            <a:off x="4578137" y="2480518"/>
            <a:ext cx="1971898" cy="1272666"/>
          </a:xfrm>
          <a:prstGeom prst="rect">
            <a:avLst/>
          </a:prstGeom>
          <a:noFill/>
          <a:ln w="9525" algn="ctr">
            <a:solidFill>
              <a:schemeClr val="tx1"/>
            </a:solidFill>
            <a:miter lim="800000"/>
            <a:headEnd/>
            <a:tailEn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47" name="Rectangle 12">
            <a:extLst>
              <a:ext uri="{FF2B5EF4-FFF2-40B4-BE49-F238E27FC236}">
                <a16:creationId xmlns:a16="http://schemas.microsoft.com/office/drawing/2014/main" id="{53BCFDED-860F-964D-9A24-E3113625183B}"/>
              </a:ext>
            </a:extLst>
          </p:cNvPr>
          <p:cNvSpPr>
            <a:spLocks noChangeArrowheads="1"/>
          </p:cNvSpPr>
          <p:nvPr/>
        </p:nvSpPr>
        <p:spPr bwMode="auto">
          <a:xfrm>
            <a:off x="7920446" y="3498409"/>
            <a:ext cx="719667" cy="24077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zh-CN" altLang="en-US" sz="1100" dirty="0">
                <a:latin typeface="Arial Narrow" panose="020B0606020202030204" pitchFamily="34" charset="0"/>
              </a:rPr>
              <a:t>用户</a:t>
            </a:r>
            <a:r>
              <a:rPr lang="en-US" altLang="ko-KR" sz="1100" dirty="0">
                <a:latin typeface="Arial Narrow" panose="020B0606020202030204" pitchFamily="34" charset="0"/>
              </a:rPr>
              <a:t> ISA</a:t>
            </a:r>
          </a:p>
        </p:txBody>
      </p:sp>
      <p:sp>
        <p:nvSpPr>
          <p:cNvPr id="48" name="Line 14">
            <a:extLst>
              <a:ext uri="{FF2B5EF4-FFF2-40B4-BE49-F238E27FC236}">
                <a16:creationId xmlns:a16="http://schemas.microsoft.com/office/drawing/2014/main" id="{43D4A25F-A0A0-0743-B0FA-B6DEB9ED2C98}"/>
              </a:ext>
            </a:extLst>
          </p:cNvPr>
          <p:cNvSpPr>
            <a:spLocks noChangeShapeType="1"/>
          </p:cNvSpPr>
          <p:nvPr/>
        </p:nvSpPr>
        <p:spPr bwMode="auto">
          <a:xfrm>
            <a:off x="6366356" y="3739180"/>
            <a:ext cx="1080823"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49" name="Line 16">
            <a:extLst>
              <a:ext uri="{FF2B5EF4-FFF2-40B4-BE49-F238E27FC236}">
                <a16:creationId xmlns:a16="http://schemas.microsoft.com/office/drawing/2014/main" id="{84E6A70A-41E2-1E40-A69C-BDE4ECE20C41}"/>
              </a:ext>
            </a:extLst>
          </p:cNvPr>
          <p:cNvSpPr>
            <a:spLocks noChangeShapeType="1"/>
          </p:cNvSpPr>
          <p:nvPr/>
        </p:nvSpPr>
        <p:spPr bwMode="auto">
          <a:xfrm flipV="1">
            <a:off x="7859592" y="3737857"/>
            <a:ext cx="960438" cy="1323"/>
          </a:xfrm>
          <a:prstGeom prst="line">
            <a:avLst/>
          </a:prstGeom>
          <a:noFill/>
          <a:ln w="38100">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50" name="Rectangle 18">
            <a:extLst>
              <a:ext uri="{FF2B5EF4-FFF2-40B4-BE49-F238E27FC236}">
                <a16:creationId xmlns:a16="http://schemas.microsoft.com/office/drawing/2014/main" id="{4C242BF3-9D44-A04C-9F93-94ED0F35B68C}"/>
              </a:ext>
            </a:extLst>
          </p:cNvPr>
          <p:cNvSpPr>
            <a:spLocks noChangeArrowheads="1"/>
          </p:cNvSpPr>
          <p:nvPr/>
        </p:nvSpPr>
        <p:spPr bwMode="auto">
          <a:xfrm>
            <a:off x="6719238" y="2490346"/>
            <a:ext cx="1379802" cy="2394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zh-CN" altLang="en-US" sz="1100" dirty="0">
                <a:latin typeface="Arial Narrow" panose="020B0606020202030204" pitchFamily="34" charset="0"/>
              </a:rPr>
              <a:t>应用程序</a:t>
            </a:r>
            <a:endParaRPr lang="en-US" altLang="ko-KR" sz="1100" dirty="0">
              <a:latin typeface="Arial Narrow" panose="020B0606020202030204" pitchFamily="34" charset="0"/>
            </a:endParaRPr>
          </a:p>
        </p:txBody>
      </p:sp>
      <p:sp>
        <p:nvSpPr>
          <p:cNvPr id="51" name="Rectangle 36">
            <a:extLst>
              <a:ext uri="{FF2B5EF4-FFF2-40B4-BE49-F238E27FC236}">
                <a16:creationId xmlns:a16="http://schemas.microsoft.com/office/drawing/2014/main" id="{AC7ED806-D647-E94F-AD15-99042640ACDD}"/>
              </a:ext>
            </a:extLst>
          </p:cNvPr>
          <p:cNvSpPr>
            <a:spLocks noChangeArrowheads="1"/>
          </p:cNvSpPr>
          <p:nvPr/>
        </p:nvSpPr>
        <p:spPr bwMode="auto">
          <a:xfrm>
            <a:off x="6780092" y="3498409"/>
            <a:ext cx="719667" cy="24077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zh-CN" altLang="en-US" sz="1100" dirty="0">
                <a:latin typeface="Arial Narrow" panose="020B0606020202030204" pitchFamily="34" charset="0"/>
              </a:rPr>
              <a:t>系统</a:t>
            </a:r>
            <a:r>
              <a:rPr lang="en-US" altLang="ko-KR" sz="1100" dirty="0">
                <a:latin typeface="Arial Narrow" panose="020B0606020202030204" pitchFamily="34" charset="0"/>
              </a:rPr>
              <a:t>ISA</a:t>
            </a:r>
          </a:p>
        </p:txBody>
      </p:sp>
      <p:sp>
        <p:nvSpPr>
          <p:cNvPr id="52" name="Rectangle 37">
            <a:extLst>
              <a:ext uri="{FF2B5EF4-FFF2-40B4-BE49-F238E27FC236}">
                <a16:creationId xmlns:a16="http://schemas.microsoft.com/office/drawing/2014/main" id="{AEB08387-6EA1-DF4D-913A-1D50F905B638}"/>
              </a:ext>
            </a:extLst>
          </p:cNvPr>
          <p:cNvSpPr>
            <a:spLocks noChangeArrowheads="1"/>
          </p:cNvSpPr>
          <p:nvPr/>
        </p:nvSpPr>
        <p:spPr bwMode="auto">
          <a:xfrm>
            <a:off x="6720560" y="3024340"/>
            <a:ext cx="1559719" cy="720990"/>
          </a:xfrm>
          <a:prstGeom prst="rect">
            <a:avLst/>
          </a:prstGeom>
          <a:noFill/>
          <a:ln w="9525" algn="ctr">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zh-CN" altLang="en-US" sz="1100" dirty="0">
                <a:latin typeface="Arial Narrow" panose="020B0606020202030204" pitchFamily="34" charset="0"/>
              </a:rPr>
              <a:t>操作系统</a:t>
            </a:r>
            <a:r>
              <a:rPr lang="en-US" altLang="zh-CN" sz="1100" dirty="0">
                <a:latin typeface="Arial Narrow" panose="020B0606020202030204" pitchFamily="34" charset="0"/>
              </a:rPr>
              <a:t>B</a:t>
            </a:r>
            <a:endParaRPr lang="en-US" altLang="ko-KR" sz="1100" dirty="0">
              <a:latin typeface="Arial Narrow" panose="020B0606020202030204" pitchFamily="34" charset="0"/>
            </a:endParaRPr>
          </a:p>
          <a:p>
            <a:endParaRPr lang="en-US" altLang="ko-KR" sz="1100" dirty="0">
              <a:latin typeface="Arial Narrow" panose="020B0606020202030204" pitchFamily="34" charset="0"/>
            </a:endParaRPr>
          </a:p>
          <a:p>
            <a:endParaRPr lang="en-US" altLang="ko-KR" sz="1100" dirty="0">
              <a:latin typeface="Arial Narrow" panose="020B0606020202030204" pitchFamily="34" charset="0"/>
            </a:endParaRPr>
          </a:p>
          <a:p>
            <a:endParaRPr lang="en-US" altLang="ko-KR" sz="1100" dirty="0">
              <a:latin typeface="Arial Narrow" panose="020B0606020202030204" pitchFamily="34" charset="0"/>
            </a:endParaRPr>
          </a:p>
        </p:txBody>
      </p:sp>
      <p:sp>
        <p:nvSpPr>
          <p:cNvPr id="53" name="Line 13">
            <a:extLst>
              <a:ext uri="{FF2B5EF4-FFF2-40B4-BE49-F238E27FC236}">
                <a16:creationId xmlns:a16="http://schemas.microsoft.com/office/drawing/2014/main" id="{FF88010A-D54F-8D45-B803-01DC6903D21E}"/>
              </a:ext>
            </a:extLst>
          </p:cNvPr>
          <p:cNvSpPr>
            <a:spLocks noChangeShapeType="1"/>
          </p:cNvSpPr>
          <p:nvPr/>
        </p:nvSpPr>
        <p:spPr bwMode="auto">
          <a:xfrm flipV="1">
            <a:off x="7618819" y="3741593"/>
            <a:ext cx="1019969" cy="1323"/>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54" name="Rectangle 5">
            <a:extLst>
              <a:ext uri="{FF2B5EF4-FFF2-40B4-BE49-F238E27FC236}">
                <a16:creationId xmlns:a16="http://schemas.microsoft.com/office/drawing/2014/main" id="{2B3EEBE9-F3C7-084B-823D-ABF5534F5EEE}"/>
              </a:ext>
            </a:extLst>
          </p:cNvPr>
          <p:cNvSpPr>
            <a:spLocks noChangeArrowheads="1"/>
          </p:cNvSpPr>
          <p:nvPr/>
        </p:nvSpPr>
        <p:spPr bwMode="auto">
          <a:xfrm>
            <a:off x="6723000" y="2478871"/>
            <a:ext cx="1971898" cy="1272666"/>
          </a:xfrm>
          <a:prstGeom prst="rect">
            <a:avLst/>
          </a:prstGeom>
          <a:noFill/>
          <a:ln w="9525" algn="ctr">
            <a:solidFill>
              <a:schemeClr val="tx1"/>
            </a:solidFill>
            <a:miter lim="800000"/>
            <a:headEnd/>
            <a:tailEn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Tree>
    <p:extLst>
      <p:ext uri="{BB962C8B-B14F-4D97-AF65-F5344CB8AC3E}">
        <p14:creationId xmlns:p14="http://schemas.microsoft.com/office/powerpoint/2010/main" val="8481571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C1D93F-3649-BA4D-B7EF-8C78AD8D0CD1}"/>
              </a:ext>
            </a:extLst>
          </p:cNvPr>
          <p:cNvSpPr>
            <a:spLocks noGrp="1"/>
          </p:cNvSpPr>
          <p:nvPr>
            <p:ph type="title"/>
          </p:nvPr>
        </p:nvSpPr>
        <p:spPr/>
        <p:txBody>
          <a:bodyPr/>
          <a:lstStyle/>
          <a:p>
            <a:r>
              <a:rPr kumimoji="1" lang="zh-CN" altLang="en-US" dirty="0"/>
              <a:t>系统虚拟化的标准</a:t>
            </a:r>
          </a:p>
        </p:txBody>
      </p:sp>
      <p:sp>
        <p:nvSpPr>
          <p:cNvPr id="3" name="内容占位符 2">
            <a:extLst>
              <a:ext uri="{FF2B5EF4-FFF2-40B4-BE49-F238E27FC236}">
                <a16:creationId xmlns:a16="http://schemas.microsoft.com/office/drawing/2014/main" id="{E6177A40-366F-944F-B539-09007BACE6D7}"/>
              </a:ext>
            </a:extLst>
          </p:cNvPr>
          <p:cNvSpPr>
            <a:spLocks noGrp="1"/>
          </p:cNvSpPr>
          <p:nvPr>
            <p:ph idx="1"/>
          </p:nvPr>
        </p:nvSpPr>
        <p:spPr/>
        <p:txBody>
          <a:bodyPr/>
          <a:lstStyle/>
          <a:p>
            <a:r>
              <a:rPr lang="en-US" altLang="zh-TW" dirty="0" err="1"/>
              <a:t>Popek</a:t>
            </a:r>
            <a:r>
              <a:rPr lang="en-US" altLang="zh-TW" dirty="0"/>
              <a:t> &amp; Goldberg, 1974 “Formal Requirements for Virtualizable Third Generation Architectures”</a:t>
            </a:r>
          </a:p>
          <a:p>
            <a:endParaRPr kumimoji="1" lang="en-US" altLang="zh-CN" dirty="0"/>
          </a:p>
          <a:p>
            <a:r>
              <a:rPr kumimoji="1" lang="zh-CN" altLang="en-US" dirty="0">
                <a:solidFill>
                  <a:srgbClr val="BE384B"/>
                </a:solidFill>
              </a:rPr>
              <a:t>高效</a:t>
            </a:r>
            <a:r>
              <a:rPr kumimoji="1" lang="zh-CN" altLang="en-US" dirty="0"/>
              <a:t>系统虚拟化的三个特性</a:t>
            </a:r>
            <a:endParaRPr kumimoji="1" lang="en-US" altLang="zh-CN" dirty="0"/>
          </a:p>
          <a:p>
            <a:pPr lvl="1"/>
            <a:r>
              <a:rPr kumimoji="1" lang="zh-CN" altLang="en-US" dirty="0"/>
              <a:t>为虚拟机内程序提供与该程序原先执行的硬件</a:t>
            </a:r>
            <a:r>
              <a:rPr kumimoji="1" lang="zh-CN" altLang="en-US" dirty="0">
                <a:solidFill>
                  <a:srgbClr val="C00000"/>
                </a:solidFill>
              </a:rPr>
              <a:t>完全一样的接口</a:t>
            </a:r>
            <a:endParaRPr kumimoji="1" lang="zh-CN" altLang="en-US" dirty="0">
              <a:solidFill>
                <a:schemeClr val="tx1"/>
              </a:solidFill>
            </a:endParaRPr>
          </a:p>
          <a:p>
            <a:pPr lvl="1"/>
            <a:r>
              <a:rPr kumimoji="1" lang="zh-CN" altLang="en-US" dirty="0"/>
              <a:t>虚拟机只比在无虚拟化的情况下</a:t>
            </a:r>
            <a:r>
              <a:rPr kumimoji="1" lang="zh-CN" altLang="en-US" dirty="0">
                <a:solidFill>
                  <a:srgbClr val="C00000"/>
                </a:solidFill>
              </a:rPr>
              <a:t>性能略差一点 </a:t>
            </a:r>
            <a:endParaRPr kumimoji="1" lang="en-US" altLang="zh-CN" dirty="0">
              <a:solidFill>
                <a:srgbClr val="C00000"/>
              </a:solidFill>
            </a:endParaRPr>
          </a:p>
          <a:p>
            <a:pPr lvl="1"/>
            <a:r>
              <a:rPr lang="zh-CN" altLang="en-US" dirty="0"/>
              <a:t>虚拟机监控器</a:t>
            </a:r>
            <a:r>
              <a:rPr lang="zh-CN" altLang="en-US" dirty="0">
                <a:solidFill>
                  <a:srgbClr val="C00000"/>
                </a:solidFill>
              </a:rPr>
              <a:t>控制所有物理资源 </a:t>
            </a:r>
          </a:p>
          <a:p>
            <a:pPr lvl="1"/>
            <a:endParaRPr kumimoji="1" lang="zh-CN" altLang="en-US" dirty="0"/>
          </a:p>
        </p:txBody>
      </p:sp>
      <p:sp>
        <p:nvSpPr>
          <p:cNvPr id="4" name="灯片编号占位符 3">
            <a:extLst>
              <a:ext uri="{FF2B5EF4-FFF2-40B4-BE49-F238E27FC236}">
                <a16:creationId xmlns:a16="http://schemas.microsoft.com/office/drawing/2014/main" id="{A259DC10-1874-A348-99B9-24E3D409DEDE}"/>
              </a:ext>
            </a:extLst>
          </p:cNvPr>
          <p:cNvSpPr>
            <a:spLocks noGrp="1"/>
          </p:cNvSpPr>
          <p:nvPr>
            <p:ph type="sldNum" sz="quarter" idx="12"/>
          </p:nvPr>
        </p:nvSpPr>
        <p:spPr/>
        <p:txBody>
          <a:bodyPr/>
          <a:lstStyle/>
          <a:p>
            <a:fld id="{ADE361C3-C043-4A6E-BDCE-8DA1E7D90A3B}" type="slidenum">
              <a:rPr lang="zh-CN" altLang="en-US" smtClean="0"/>
              <a:t>18</a:t>
            </a:fld>
            <a:endParaRPr lang="zh-CN" altLang="en-US"/>
          </a:p>
        </p:txBody>
      </p:sp>
      <p:sp>
        <p:nvSpPr>
          <p:cNvPr id="5" name="页脚占位符 4">
            <a:extLst>
              <a:ext uri="{FF2B5EF4-FFF2-40B4-BE49-F238E27FC236}">
                <a16:creationId xmlns:a16="http://schemas.microsoft.com/office/drawing/2014/main" id="{F1A49A0A-3C45-A74B-A575-AB43663E175C}"/>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9134132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C3CFBB2-29A4-9845-909C-D2C6211C1301}"/>
              </a:ext>
            </a:extLst>
          </p:cNvPr>
          <p:cNvSpPr>
            <a:spLocks noGrp="1"/>
          </p:cNvSpPr>
          <p:nvPr>
            <p:ph type="title"/>
          </p:nvPr>
        </p:nvSpPr>
        <p:spPr/>
        <p:txBody>
          <a:bodyPr/>
          <a:lstStyle/>
          <a:p>
            <a:r>
              <a:rPr kumimoji="1" lang="zh-CN" altLang="en-US" dirty="0"/>
              <a:t>虚拟机监控器的分类</a:t>
            </a:r>
            <a:endParaRPr kumimoji="1" lang="zh-CN" altLang="en-US" b="1" dirty="0"/>
          </a:p>
        </p:txBody>
      </p:sp>
      <p:sp>
        <p:nvSpPr>
          <p:cNvPr id="6" name="文本占位符 5">
            <a:extLst>
              <a:ext uri="{FF2B5EF4-FFF2-40B4-BE49-F238E27FC236}">
                <a16:creationId xmlns:a16="http://schemas.microsoft.com/office/drawing/2014/main" id="{88326478-0DD6-F849-B334-5BDB7DEEC82C}"/>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45F61D95-77C6-4F44-A6A2-DDF144D592FE}"/>
              </a:ext>
            </a:extLst>
          </p:cNvPr>
          <p:cNvSpPr>
            <a:spLocks noGrp="1"/>
          </p:cNvSpPr>
          <p:nvPr>
            <p:ph type="sldNum" sz="quarter" idx="12"/>
          </p:nvPr>
        </p:nvSpPr>
        <p:spPr/>
        <p:txBody>
          <a:bodyPr/>
          <a:lstStyle/>
          <a:p>
            <a:fld id="{ADE361C3-C043-4A6E-BDCE-8DA1E7D90A3B}" type="slidenum">
              <a:rPr lang="zh-CN" altLang="en-US" smtClean="0"/>
              <a:t>19</a:t>
            </a:fld>
            <a:endParaRPr lang="zh-CN" altLang="en-US"/>
          </a:p>
        </p:txBody>
      </p:sp>
      <p:sp>
        <p:nvSpPr>
          <p:cNvPr id="7" name="页脚占位符 4">
            <a:extLst>
              <a:ext uri="{FF2B5EF4-FFF2-40B4-BE49-F238E27FC236}">
                <a16:creationId xmlns:a16="http://schemas.microsoft.com/office/drawing/2014/main" id="{68F72CF8-9211-EE45-9468-F698C90541EC}"/>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9345959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2B93B7-95B2-C647-A672-CFE64BE40018}"/>
              </a:ext>
            </a:extLst>
          </p:cNvPr>
          <p:cNvSpPr>
            <a:spLocks noGrp="1"/>
          </p:cNvSpPr>
          <p:nvPr>
            <p:ph type="title"/>
          </p:nvPr>
        </p:nvSpPr>
        <p:spPr/>
        <p:txBody>
          <a:bodyPr>
            <a:normAutofit/>
          </a:bodyPr>
          <a:lstStyle/>
          <a:p>
            <a:r>
              <a:rPr kumimoji="1" lang="en-US" altLang="zh-CN" dirty="0"/>
              <a:t>Type-1</a:t>
            </a:r>
            <a:r>
              <a:rPr kumimoji="1" lang="zh-CN" altLang="en-US" dirty="0"/>
              <a:t>虚拟机监控器</a:t>
            </a:r>
          </a:p>
        </p:txBody>
      </p:sp>
      <p:sp>
        <p:nvSpPr>
          <p:cNvPr id="3" name="内容占位符 2">
            <a:extLst>
              <a:ext uri="{FF2B5EF4-FFF2-40B4-BE49-F238E27FC236}">
                <a16:creationId xmlns:a16="http://schemas.microsoft.com/office/drawing/2014/main" id="{463171EC-F059-CC43-8601-4FF2D09158C6}"/>
              </a:ext>
            </a:extLst>
          </p:cNvPr>
          <p:cNvSpPr>
            <a:spLocks noGrp="1"/>
          </p:cNvSpPr>
          <p:nvPr>
            <p:ph idx="1"/>
          </p:nvPr>
        </p:nvSpPr>
        <p:spPr/>
        <p:txBody>
          <a:bodyPr/>
          <a:lstStyle/>
          <a:p>
            <a:r>
              <a:rPr kumimoji="1" lang="en-US" altLang="zh-CN" dirty="0"/>
              <a:t>VMM</a:t>
            </a:r>
            <a:r>
              <a:rPr kumimoji="1" lang="zh-CN" altLang="en-US" dirty="0"/>
              <a:t>直接运行在硬件之上</a:t>
            </a:r>
            <a:endParaRPr kumimoji="1" lang="en-US" altLang="zh-CN" dirty="0"/>
          </a:p>
          <a:p>
            <a:pPr lvl="1"/>
            <a:r>
              <a:rPr kumimoji="1" lang="zh-CN" altLang="en-US" dirty="0"/>
              <a:t>充当操作系统的角色</a:t>
            </a:r>
            <a:endParaRPr kumimoji="1" lang="en-US" altLang="zh-CN" dirty="0"/>
          </a:p>
          <a:p>
            <a:pPr lvl="1"/>
            <a:r>
              <a:rPr kumimoji="1" lang="zh-CN" altLang="en-US" dirty="0"/>
              <a:t>直接管理所有物理资源</a:t>
            </a:r>
            <a:endParaRPr kumimoji="1" lang="en-US" altLang="zh-CN" dirty="0"/>
          </a:p>
          <a:p>
            <a:pPr lvl="2"/>
            <a:r>
              <a:rPr kumimoji="1" lang="zh-CN" altLang="en-US" dirty="0"/>
              <a:t>实现调度、内存管理、驱动等功能</a:t>
            </a:r>
            <a:endParaRPr kumimoji="1" lang="en-US" altLang="zh-CN" dirty="0"/>
          </a:p>
          <a:p>
            <a:r>
              <a:rPr kumimoji="1" lang="zh-CN" altLang="en-US" dirty="0"/>
              <a:t>性能损失较少</a:t>
            </a:r>
            <a:endParaRPr kumimoji="1" lang="en-US" altLang="zh-CN" dirty="0"/>
          </a:p>
          <a:p>
            <a:r>
              <a:rPr kumimoji="1" lang="zh-CN" altLang="en-US" dirty="0"/>
              <a:t>例如</a:t>
            </a:r>
            <a:r>
              <a:rPr kumimoji="1" lang="en-US" altLang="zh-CN" dirty="0"/>
              <a:t>Xen,</a:t>
            </a:r>
            <a:r>
              <a:rPr kumimoji="1" lang="zh-CN" altLang="en-US" dirty="0"/>
              <a:t> </a:t>
            </a:r>
            <a:r>
              <a:rPr kumimoji="1" lang="en-US" altLang="zh-CN" dirty="0"/>
              <a:t>VMware</a:t>
            </a:r>
            <a:r>
              <a:rPr kumimoji="1" lang="zh-CN" altLang="en-US" dirty="0"/>
              <a:t> </a:t>
            </a:r>
            <a:r>
              <a:rPr kumimoji="1" lang="en-US" altLang="zh-CN" dirty="0"/>
              <a:t>ESX</a:t>
            </a:r>
            <a:r>
              <a:rPr kumimoji="1" lang="zh-CN" altLang="en-US" dirty="0"/>
              <a:t> </a:t>
            </a:r>
            <a:r>
              <a:rPr kumimoji="1" lang="en-US" altLang="zh-CN" dirty="0"/>
              <a:t>Server</a:t>
            </a:r>
            <a:endParaRPr kumimoji="1" lang="zh-CN" altLang="en-US" dirty="0"/>
          </a:p>
        </p:txBody>
      </p:sp>
      <p:sp>
        <p:nvSpPr>
          <p:cNvPr id="4" name="灯片编号占位符 3">
            <a:extLst>
              <a:ext uri="{FF2B5EF4-FFF2-40B4-BE49-F238E27FC236}">
                <a16:creationId xmlns:a16="http://schemas.microsoft.com/office/drawing/2014/main" id="{3A03D2A2-C0ED-D34A-99FA-87FF3394C3BC}"/>
              </a:ext>
            </a:extLst>
          </p:cNvPr>
          <p:cNvSpPr>
            <a:spLocks noGrp="1"/>
          </p:cNvSpPr>
          <p:nvPr>
            <p:ph type="sldNum" sz="quarter" idx="12"/>
          </p:nvPr>
        </p:nvSpPr>
        <p:spPr/>
        <p:txBody>
          <a:bodyPr/>
          <a:lstStyle/>
          <a:p>
            <a:fld id="{ADE361C3-C043-4A6E-BDCE-8DA1E7D90A3B}" type="slidenum">
              <a:rPr lang="zh-CN" altLang="en-US" smtClean="0"/>
              <a:t>20</a:t>
            </a:fld>
            <a:endParaRPr lang="zh-CN" altLang="en-US"/>
          </a:p>
        </p:txBody>
      </p:sp>
      <p:sp>
        <p:nvSpPr>
          <p:cNvPr id="5" name="页脚占位符 4">
            <a:extLst>
              <a:ext uri="{FF2B5EF4-FFF2-40B4-BE49-F238E27FC236}">
                <a16:creationId xmlns:a16="http://schemas.microsoft.com/office/drawing/2014/main" id="{FE8A309F-9D97-594C-A465-3B80769EB4D7}"/>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22">
            <a:extLst>
              <a:ext uri="{FF2B5EF4-FFF2-40B4-BE49-F238E27FC236}">
                <a16:creationId xmlns:a16="http://schemas.microsoft.com/office/drawing/2014/main" id="{93553D00-3639-DE45-AF3C-613C7E7E5159}"/>
              </a:ext>
            </a:extLst>
          </p:cNvPr>
          <p:cNvSpPr/>
          <p:nvPr/>
        </p:nvSpPr>
        <p:spPr>
          <a:xfrm>
            <a:off x="6548861" y="3362577"/>
            <a:ext cx="1761833" cy="322200"/>
          </a:xfrm>
          <a:prstGeom prst="rect">
            <a:avLst/>
          </a:prstGeom>
          <a:solidFill>
            <a:srgbClr val="BE384B"/>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solidFill>
                  <a:schemeClr val="bg1"/>
                </a:solidFill>
                <a:cs typeface="Arial Narrow"/>
              </a:rPr>
              <a:t>VMM</a:t>
            </a:r>
            <a:endParaRPr lang="en-US" sz="1600" dirty="0">
              <a:solidFill>
                <a:schemeClr val="bg1"/>
              </a:solidFill>
              <a:cs typeface="Arial Narrow"/>
            </a:endParaRPr>
          </a:p>
        </p:txBody>
      </p:sp>
      <p:sp>
        <p:nvSpPr>
          <p:cNvPr id="7" name="Rectangle 23">
            <a:extLst>
              <a:ext uri="{FF2B5EF4-FFF2-40B4-BE49-F238E27FC236}">
                <a16:creationId xmlns:a16="http://schemas.microsoft.com/office/drawing/2014/main" id="{AC892504-E7AC-1F4C-A2F9-D686CC9B7672}"/>
              </a:ext>
            </a:extLst>
          </p:cNvPr>
          <p:cNvSpPr/>
          <p:nvPr/>
        </p:nvSpPr>
        <p:spPr>
          <a:xfrm>
            <a:off x="7480624" y="2767142"/>
            <a:ext cx="835531" cy="462028"/>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solidFill>
                  <a:srgbClr val="BE384B"/>
                </a:solidFill>
                <a:cs typeface="Arial Narrow"/>
              </a:rPr>
              <a:t>VM-2</a:t>
            </a:r>
          </a:p>
        </p:txBody>
      </p:sp>
      <p:sp>
        <p:nvSpPr>
          <p:cNvPr id="8" name="Rectangle 24">
            <a:extLst>
              <a:ext uri="{FF2B5EF4-FFF2-40B4-BE49-F238E27FC236}">
                <a16:creationId xmlns:a16="http://schemas.microsoft.com/office/drawing/2014/main" id="{E7353EFD-B5CE-9243-B478-909B177BB420}"/>
              </a:ext>
            </a:extLst>
          </p:cNvPr>
          <p:cNvSpPr/>
          <p:nvPr/>
        </p:nvSpPr>
        <p:spPr>
          <a:xfrm>
            <a:off x="6548861" y="3963582"/>
            <a:ext cx="1761832" cy="385466"/>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a:solidFill>
                  <a:srgbClr val="BE384B"/>
                </a:solidFill>
                <a:cs typeface="Arial Narrow"/>
              </a:rPr>
              <a:t>Hardware</a:t>
            </a:r>
            <a:endParaRPr lang="en-US" sz="1600" dirty="0">
              <a:solidFill>
                <a:srgbClr val="BE384B"/>
              </a:solidFill>
              <a:cs typeface="Arial Narrow"/>
            </a:endParaRPr>
          </a:p>
        </p:txBody>
      </p:sp>
      <p:sp>
        <p:nvSpPr>
          <p:cNvPr id="9" name="Rectangle 27">
            <a:extLst>
              <a:ext uri="{FF2B5EF4-FFF2-40B4-BE49-F238E27FC236}">
                <a16:creationId xmlns:a16="http://schemas.microsoft.com/office/drawing/2014/main" id="{4E51E0F4-26B2-964A-88B4-6135757A4EA5}"/>
              </a:ext>
            </a:extLst>
          </p:cNvPr>
          <p:cNvSpPr/>
          <p:nvPr/>
        </p:nvSpPr>
        <p:spPr>
          <a:xfrm>
            <a:off x="6553792" y="2767142"/>
            <a:ext cx="835531" cy="462028"/>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solidFill>
                  <a:srgbClr val="BE384B"/>
                </a:solidFill>
                <a:cs typeface="Arial Narrow"/>
              </a:rPr>
              <a:t>VM-1</a:t>
            </a:r>
            <a:endParaRPr lang="en-US" sz="1600" dirty="0">
              <a:solidFill>
                <a:srgbClr val="BE384B"/>
              </a:solidFill>
              <a:cs typeface="Arial Narrow"/>
            </a:endParaRPr>
          </a:p>
        </p:txBody>
      </p:sp>
      <p:cxnSp>
        <p:nvCxnSpPr>
          <p:cNvPr id="10" name="Straight Connector 13">
            <a:extLst>
              <a:ext uri="{FF2B5EF4-FFF2-40B4-BE49-F238E27FC236}">
                <a16:creationId xmlns:a16="http://schemas.microsoft.com/office/drawing/2014/main" id="{3F653704-23E1-5742-AE73-9CC45C25D335}"/>
              </a:ext>
            </a:extLst>
          </p:cNvPr>
          <p:cNvCxnSpPr/>
          <p:nvPr/>
        </p:nvCxnSpPr>
        <p:spPr>
          <a:xfrm>
            <a:off x="6439499" y="3819777"/>
            <a:ext cx="1981280" cy="0"/>
          </a:xfrm>
          <a:prstGeom prst="line">
            <a:avLst/>
          </a:prstGeom>
          <a:ln>
            <a:solidFill>
              <a:srgbClr val="BE384B"/>
            </a:solidFill>
          </a:ln>
          <a:effectLst/>
        </p:spPr>
        <p:style>
          <a:lnRef idx="2">
            <a:schemeClr val="accent1"/>
          </a:lnRef>
          <a:fillRef idx="0">
            <a:schemeClr val="accent1"/>
          </a:fillRef>
          <a:effectRef idx="1">
            <a:schemeClr val="accent1"/>
          </a:effectRef>
          <a:fontRef idx="minor">
            <a:schemeClr val="tx1"/>
          </a:fontRef>
        </p:style>
      </p:cxnSp>
      <p:sp>
        <p:nvSpPr>
          <p:cNvPr id="11" name="Rectangle 27">
            <a:extLst>
              <a:ext uri="{FF2B5EF4-FFF2-40B4-BE49-F238E27FC236}">
                <a16:creationId xmlns:a16="http://schemas.microsoft.com/office/drawing/2014/main" id="{92443C1F-9B62-2D40-949B-FA463A751109}"/>
              </a:ext>
            </a:extLst>
          </p:cNvPr>
          <p:cNvSpPr/>
          <p:nvPr/>
        </p:nvSpPr>
        <p:spPr>
          <a:xfrm>
            <a:off x="6559204" y="2282457"/>
            <a:ext cx="370384" cy="321946"/>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rgbClr val="BE384B"/>
              </a:solidFill>
              <a:cs typeface="Arial Narrow"/>
            </a:endParaRPr>
          </a:p>
        </p:txBody>
      </p:sp>
      <p:sp>
        <p:nvSpPr>
          <p:cNvPr id="12" name="Rectangle 27">
            <a:extLst>
              <a:ext uri="{FF2B5EF4-FFF2-40B4-BE49-F238E27FC236}">
                <a16:creationId xmlns:a16="http://schemas.microsoft.com/office/drawing/2014/main" id="{1B242DDF-C20A-2944-8F69-EEF2E2DABC2D}"/>
              </a:ext>
            </a:extLst>
          </p:cNvPr>
          <p:cNvSpPr/>
          <p:nvPr/>
        </p:nvSpPr>
        <p:spPr>
          <a:xfrm>
            <a:off x="7026310" y="2282457"/>
            <a:ext cx="370384" cy="321946"/>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rgbClr val="BE384B"/>
              </a:solidFill>
              <a:cs typeface="Arial Narrow"/>
            </a:endParaRPr>
          </a:p>
        </p:txBody>
      </p:sp>
      <p:sp>
        <p:nvSpPr>
          <p:cNvPr id="13" name="Rectangle 27">
            <a:extLst>
              <a:ext uri="{FF2B5EF4-FFF2-40B4-BE49-F238E27FC236}">
                <a16:creationId xmlns:a16="http://schemas.microsoft.com/office/drawing/2014/main" id="{2CFF1932-04A9-FB42-A3EA-ACCC7D46F4C4}"/>
              </a:ext>
            </a:extLst>
          </p:cNvPr>
          <p:cNvSpPr/>
          <p:nvPr/>
        </p:nvSpPr>
        <p:spPr>
          <a:xfrm>
            <a:off x="7490966" y="2282457"/>
            <a:ext cx="370384" cy="321946"/>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rgbClr val="BE384B"/>
              </a:solidFill>
              <a:cs typeface="Arial Narrow"/>
            </a:endParaRPr>
          </a:p>
        </p:txBody>
      </p:sp>
      <p:sp>
        <p:nvSpPr>
          <p:cNvPr id="14" name="Rectangle 27">
            <a:extLst>
              <a:ext uri="{FF2B5EF4-FFF2-40B4-BE49-F238E27FC236}">
                <a16:creationId xmlns:a16="http://schemas.microsoft.com/office/drawing/2014/main" id="{0C03E120-5D83-3F46-8CCB-52BFCF5A5B45}"/>
              </a:ext>
            </a:extLst>
          </p:cNvPr>
          <p:cNvSpPr/>
          <p:nvPr/>
        </p:nvSpPr>
        <p:spPr>
          <a:xfrm>
            <a:off x="7958072" y="2282457"/>
            <a:ext cx="370384" cy="321946"/>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rgbClr val="BE384B"/>
              </a:solidFill>
              <a:cs typeface="Arial Narrow"/>
            </a:endParaRPr>
          </a:p>
        </p:txBody>
      </p:sp>
    </p:spTree>
    <p:extLst>
      <p:ext uri="{BB962C8B-B14F-4D97-AF65-F5344CB8AC3E}">
        <p14:creationId xmlns:p14="http://schemas.microsoft.com/office/powerpoint/2010/main" val="23383164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C5882F-2096-2845-98B3-9847429DF565}"/>
              </a:ext>
            </a:extLst>
          </p:cNvPr>
          <p:cNvSpPr>
            <a:spLocks noGrp="1"/>
          </p:cNvSpPr>
          <p:nvPr>
            <p:ph type="title"/>
          </p:nvPr>
        </p:nvSpPr>
        <p:spPr/>
        <p:txBody>
          <a:bodyPr/>
          <a:lstStyle/>
          <a:p>
            <a:r>
              <a:rPr kumimoji="1" lang="en-US" altLang="zh-CN" dirty="0"/>
              <a:t>Type-2</a:t>
            </a:r>
            <a:r>
              <a:rPr kumimoji="1" lang="zh-CN" altLang="en-US" dirty="0"/>
              <a:t>虚拟机监控器（基于</a:t>
            </a:r>
            <a:r>
              <a:rPr kumimoji="1" lang="en-US" altLang="zh-CN" dirty="0"/>
              <a:t>Host</a:t>
            </a:r>
            <a:r>
              <a:rPr kumimoji="1" lang="zh-CN" altLang="en-US" dirty="0"/>
              <a:t> </a:t>
            </a:r>
            <a:r>
              <a:rPr kumimoji="1" lang="en-US" altLang="zh-CN" dirty="0"/>
              <a:t>OS</a:t>
            </a:r>
            <a:r>
              <a:rPr kumimoji="1" lang="zh-CN" altLang="en-US" dirty="0"/>
              <a:t>）</a:t>
            </a:r>
          </a:p>
        </p:txBody>
      </p:sp>
      <p:sp>
        <p:nvSpPr>
          <p:cNvPr id="3" name="内容占位符 2">
            <a:extLst>
              <a:ext uri="{FF2B5EF4-FFF2-40B4-BE49-F238E27FC236}">
                <a16:creationId xmlns:a16="http://schemas.microsoft.com/office/drawing/2014/main" id="{94DE9C5D-DD51-C145-9370-DDBD62863D4D}"/>
              </a:ext>
            </a:extLst>
          </p:cNvPr>
          <p:cNvSpPr>
            <a:spLocks noGrp="1"/>
          </p:cNvSpPr>
          <p:nvPr>
            <p:ph idx="1"/>
          </p:nvPr>
        </p:nvSpPr>
        <p:spPr/>
        <p:txBody>
          <a:bodyPr/>
          <a:lstStyle/>
          <a:p>
            <a:r>
              <a:rPr kumimoji="1" lang="en-US" altLang="zh-CN" dirty="0"/>
              <a:t>VMM</a:t>
            </a:r>
            <a:r>
              <a:rPr kumimoji="1" lang="zh-CN" altLang="en-US" dirty="0"/>
              <a:t>依托于主机操作系统</a:t>
            </a:r>
            <a:endParaRPr kumimoji="1" lang="en-US" altLang="zh-CN" dirty="0"/>
          </a:p>
          <a:p>
            <a:pPr lvl="1"/>
            <a:r>
              <a:rPr kumimoji="1" lang="zh-CN" altLang="en-US" dirty="0"/>
              <a:t>主机操作系统管理物理资源</a:t>
            </a:r>
            <a:endParaRPr kumimoji="1" lang="en-US" altLang="zh-CN" dirty="0"/>
          </a:p>
          <a:p>
            <a:pPr lvl="1"/>
            <a:r>
              <a:rPr kumimoji="1" lang="zh-CN" altLang="en-US" dirty="0"/>
              <a:t>虚拟机监控器以进程</a:t>
            </a:r>
            <a:r>
              <a:rPr kumimoji="1" lang="en-US" altLang="zh-CN" dirty="0"/>
              <a:t>/</a:t>
            </a:r>
            <a:r>
              <a:rPr kumimoji="1" lang="zh-CN" altLang="en-US" dirty="0"/>
              <a:t>内核模块的形态运行</a:t>
            </a:r>
            <a:endParaRPr kumimoji="1" lang="en-US" altLang="zh-CN" dirty="0"/>
          </a:p>
          <a:p>
            <a:pPr lvl="1"/>
            <a:r>
              <a:rPr kumimoji="1" lang="zh-CN" altLang="en-US" dirty="0"/>
              <a:t>易于实现和安装</a:t>
            </a:r>
            <a:endParaRPr kumimoji="1" lang="en-US" altLang="zh-CN" dirty="0"/>
          </a:p>
          <a:p>
            <a:pPr lvl="1"/>
            <a:r>
              <a:rPr kumimoji="1" lang="zh-CN" altLang="en-US" dirty="0"/>
              <a:t>例如：</a:t>
            </a:r>
            <a:r>
              <a:rPr kumimoji="1" lang="en-US" altLang="zh-CN" dirty="0"/>
              <a:t>QEMU/KVM</a:t>
            </a:r>
          </a:p>
          <a:p>
            <a:r>
              <a:rPr kumimoji="1" lang="zh-CN" altLang="en-US" dirty="0">
                <a:solidFill>
                  <a:srgbClr val="BE384B"/>
                </a:solidFill>
              </a:rPr>
              <a:t>思考：</a:t>
            </a:r>
            <a:endParaRPr kumimoji="1" lang="en-US" altLang="zh-CN" dirty="0">
              <a:solidFill>
                <a:srgbClr val="BE384B"/>
              </a:solidFill>
            </a:endParaRPr>
          </a:p>
          <a:p>
            <a:pPr lvl="1"/>
            <a:r>
              <a:rPr kumimoji="1" lang="en-US" altLang="zh-CN" dirty="0">
                <a:solidFill>
                  <a:srgbClr val="BE384B"/>
                </a:solidFill>
              </a:rPr>
              <a:t>Type-2</a:t>
            </a:r>
            <a:r>
              <a:rPr kumimoji="1" lang="zh-CN" altLang="en-US" dirty="0">
                <a:solidFill>
                  <a:srgbClr val="BE384B"/>
                </a:solidFill>
              </a:rPr>
              <a:t>类型有什么优势？</a:t>
            </a:r>
          </a:p>
        </p:txBody>
      </p:sp>
      <p:sp>
        <p:nvSpPr>
          <p:cNvPr id="4" name="灯片编号占位符 3">
            <a:extLst>
              <a:ext uri="{FF2B5EF4-FFF2-40B4-BE49-F238E27FC236}">
                <a16:creationId xmlns:a16="http://schemas.microsoft.com/office/drawing/2014/main" id="{30C52B85-B519-2C41-BFC0-C5EC25E8FECD}"/>
              </a:ext>
            </a:extLst>
          </p:cNvPr>
          <p:cNvSpPr>
            <a:spLocks noGrp="1"/>
          </p:cNvSpPr>
          <p:nvPr>
            <p:ph type="sldNum" sz="quarter" idx="12"/>
          </p:nvPr>
        </p:nvSpPr>
        <p:spPr/>
        <p:txBody>
          <a:bodyPr/>
          <a:lstStyle/>
          <a:p>
            <a:fld id="{ADE361C3-C043-4A6E-BDCE-8DA1E7D90A3B}" type="slidenum">
              <a:rPr lang="zh-CN" altLang="en-US" smtClean="0"/>
              <a:t>21</a:t>
            </a:fld>
            <a:endParaRPr lang="zh-CN" altLang="en-US"/>
          </a:p>
        </p:txBody>
      </p:sp>
      <p:sp>
        <p:nvSpPr>
          <p:cNvPr id="5" name="页脚占位符 4">
            <a:extLst>
              <a:ext uri="{FF2B5EF4-FFF2-40B4-BE49-F238E27FC236}">
                <a16:creationId xmlns:a16="http://schemas.microsoft.com/office/drawing/2014/main" id="{9D7EE6FD-14BE-414D-91FE-DE23D0183E4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52" name="Rectangle 22">
            <a:extLst>
              <a:ext uri="{FF2B5EF4-FFF2-40B4-BE49-F238E27FC236}">
                <a16:creationId xmlns:a16="http://schemas.microsoft.com/office/drawing/2014/main" id="{7056876B-0188-994D-BF98-89BE406EC95C}"/>
              </a:ext>
            </a:extLst>
          </p:cNvPr>
          <p:cNvSpPr/>
          <p:nvPr/>
        </p:nvSpPr>
        <p:spPr>
          <a:xfrm>
            <a:off x="6228183" y="3364927"/>
            <a:ext cx="2112348" cy="322200"/>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solidFill>
                  <a:srgbClr val="BE384B"/>
                </a:solidFill>
                <a:cs typeface="Arial Narrow"/>
              </a:rPr>
              <a:t>Host</a:t>
            </a:r>
            <a:r>
              <a:rPr lang="zh-CN" altLang="en-US" sz="1600" dirty="0">
                <a:solidFill>
                  <a:srgbClr val="BE384B"/>
                </a:solidFill>
                <a:cs typeface="Arial Narrow"/>
              </a:rPr>
              <a:t> </a:t>
            </a:r>
            <a:r>
              <a:rPr lang="en-US" altLang="zh-CN" sz="1600" dirty="0">
                <a:solidFill>
                  <a:srgbClr val="BE384B"/>
                </a:solidFill>
                <a:cs typeface="Arial Narrow"/>
              </a:rPr>
              <a:t>OS</a:t>
            </a:r>
            <a:endParaRPr lang="en-US" sz="1600" dirty="0">
              <a:solidFill>
                <a:srgbClr val="BE384B"/>
              </a:solidFill>
              <a:cs typeface="Arial Narrow"/>
            </a:endParaRPr>
          </a:p>
        </p:txBody>
      </p:sp>
      <p:sp>
        <p:nvSpPr>
          <p:cNvPr id="53" name="Rectangle 23">
            <a:extLst>
              <a:ext uri="{FF2B5EF4-FFF2-40B4-BE49-F238E27FC236}">
                <a16:creationId xmlns:a16="http://schemas.microsoft.com/office/drawing/2014/main" id="{9B0E2E27-6247-F340-8D4A-95DC3B17234B}"/>
              </a:ext>
            </a:extLst>
          </p:cNvPr>
          <p:cNvSpPr/>
          <p:nvPr/>
        </p:nvSpPr>
        <p:spPr>
          <a:xfrm>
            <a:off x="7698715" y="2860870"/>
            <a:ext cx="641817" cy="370650"/>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tLang="zh-CN" sz="1600" dirty="0">
              <a:solidFill>
                <a:srgbClr val="BE384B"/>
              </a:solidFill>
              <a:cs typeface="Arial Narrow"/>
            </a:endParaRPr>
          </a:p>
        </p:txBody>
      </p:sp>
      <p:sp>
        <p:nvSpPr>
          <p:cNvPr id="54" name="Rectangle 24">
            <a:extLst>
              <a:ext uri="{FF2B5EF4-FFF2-40B4-BE49-F238E27FC236}">
                <a16:creationId xmlns:a16="http://schemas.microsoft.com/office/drawing/2014/main" id="{90D1E167-D7D2-E241-8E89-5D5CC931FEAF}"/>
              </a:ext>
            </a:extLst>
          </p:cNvPr>
          <p:cNvSpPr/>
          <p:nvPr/>
        </p:nvSpPr>
        <p:spPr>
          <a:xfrm>
            <a:off x="6228184" y="3965932"/>
            <a:ext cx="2112347" cy="385466"/>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solidFill>
                  <a:srgbClr val="BE384B"/>
                </a:solidFill>
                <a:cs typeface="Arial Narrow"/>
              </a:rPr>
              <a:t>Hardware</a:t>
            </a:r>
            <a:endParaRPr lang="en-US" sz="1600" dirty="0">
              <a:solidFill>
                <a:srgbClr val="BE384B"/>
              </a:solidFill>
              <a:cs typeface="Arial Narrow"/>
            </a:endParaRPr>
          </a:p>
        </p:txBody>
      </p:sp>
      <p:sp>
        <p:nvSpPr>
          <p:cNvPr id="55" name="Rectangle 27">
            <a:extLst>
              <a:ext uri="{FF2B5EF4-FFF2-40B4-BE49-F238E27FC236}">
                <a16:creationId xmlns:a16="http://schemas.microsoft.com/office/drawing/2014/main" id="{8A6FFB14-E082-8F44-A476-5EEB1DB13259}"/>
              </a:ext>
            </a:extLst>
          </p:cNvPr>
          <p:cNvSpPr/>
          <p:nvPr/>
        </p:nvSpPr>
        <p:spPr>
          <a:xfrm>
            <a:off x="6246045" y="2860871"/>
            <a:ext cx="643311" cy="370649"/>
          </a:xfrm>
          <a:prstGeom prst="rect">
            <a:avLst/>
          </a:prstGeom>
          <a:solidFill>
            <a:srgbClr val="BE384B"/>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dirty="0">
                <a:solidFill>
                  <a:schemeClr val="bg1"/>
                </a:solidFill>
                <a:cs typeface="Arial Narrow"/>
              </a:rPr>
              <a:t>VMM</a:t>
            </a:r>
            <a:endParaRPr lang="en-US" sz="1400" dirty="0">
              <a:solidFill>
                <a:schemeClr val="bg1"/>
              </a:solidFill>
              <a:cs typeface="Arial Narrow"/>
            </a:endParaRPr>
          </a:p>
        </p:txBody>
      </p:sp>
      <p:cxnSp>
        <p:nvCxnSpPr>
          <p:cNvPr id="56" name="Straight Connector 13">
            <a:extLst>
              <a:ext uri="{FF2B5EF4-FFF2-40B4-BE49-F238E27FC236}">
                <a16:creationId xmlns:a16="http://schemas.microsoft.com/office/drawing/2014/main" id="{ED0C0A06-8188-3743-A4A3-897C798614AA}"/>
              </a:ext>
            </a:extLst>
          </p:cNvPr>
          <p:cNvCxnSpPr/>
          <p:nvPr/>
        </p:nvCxnSpPr>
        <p:spPr>
          <a:xfrm>
            <a:off x="6118823" y="3822127"/>
            <a:ext cx="2293717" cy="0"/>
          </a:xfrm>
          <a:prstGeom prst="line">
            <a:avLst/>
          </a:prstGeom>
          <a:ln>
            <a:solidFill>
              <a:srgbClr val="BE384B"/>
            </a:solidFill>
          </a:ln>
          <a:effectLst/>
        </p:spPr>
        <p:style>
          <a:lnRef idx="2">
            <a:schemeClr val="accent1"/>
          </a:lnRef>
          <a:fillRef idx="0">
            <a:schemeClr val="accent1"/>
          </a:fillRef>
          <a:effectRef idx="1">
            <a:schemeClr val="accent1"/>
          </a:effectRef>
          <a:fontRef idx="minor">
            <a:schemeClr val="tx1"/>
          </a:fontRef>
        </p:style>
      </p:cxnSp>
      <p:sp>
        <p:nvSpPr>
          <p:cNvPr id="57" name="Rectangle 27">
            <a:extLst>
              <a:ext uri="{FF2B5EF4-FFF2-40B4-BE49-F238E27FC236}">
                <a16:creationId xmlns:a16="http://schemas.microsoft.com/office/drawing/2014/main" id="{12E1E021-7609-8249-A156-7BD7A47A3186}"/>
              </a:ext>
            </a:extLst>
          </p:cNvPr>
          <p:cNvSpPr/>
          <p:nvPr/>
        </p:nvSpPr>
        <p:spPr>
          <a:xfrm>
            <a:off x="6246045" y="2302649"/>
            <a:ext cx="643311" cy="462028"/>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dirty="0">
                <a:solidFill>
                  <a:srgbClr val="BE384B"/>
                </a:solidFill>
                <a:cs typeface="Arial Narrow"/>
              </a:rPr>
              <a:t>VM-1</a:t>
            </a:r>
            <a:endParaRPr lang="en-US" sz="1400" dirty="0">
              <a:solidFill>
                <a:srgbClr val="BE384B"/>
              </a:solidFill>
              <a:cs typeface="Arial Narrow"/>
            </a:endParaRPr>
          </a:p>
        </p:txBody>
      </p:sp>
      <p:sp>
        <p:nvSpPr>
          <p:cNvPr id="58" name="Rectangle 27">
            <a:extLst>
              <a:ext uri="{FF2B5EF4-FFF2-40B4-BE49-F238E27FC236}">
                <a16:creationId xmlns:a16="http://schemas.microsoft.com/office/drawing/2014/main" id="{EC038E0A-6CA0-964A-99A1-01809D0E400E}"/>
              </a:ext>
            </a:extLst>
          </p:cNvPr>
          <p:cNvSpPr/>
          <p:nvPr/>
        </p:nvSpPr>
        <p:spPr>
          <a:xfrm>
            <a:off x="6246621" y="1889972"/>
            <a:ext cx="288202" cy="321946"/>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rgbClr val="BE384B"/>
              </a:solidFill>
              <a:cs typeface="Arial Narrow"/>
            </a:endParaRPr>
          </a:p>
        </p:txBody>
      </p:sp>
      <p:sp>
        <p:nvSpPr>
          <p:cNvPr id="59" name="Rectangle 27">
            <a:extLst>
              <a:ext uri="{FF2B5EF4-FFF2-40B4-BE49-F238E27FC236}">
                <a16:creationId xmlns:a16="http://schemas.microsoft.com/office/drawing/2014/main" id="{2993CBE9-F1B0-BD49-91EF-AE1040D5F3C5}"/>
              </a:ext>
            </a:extLst>
          </p:cNvPr>
          <p:cNvSpPr/>
          <p:nvPr/>
        </p:nvSpPr>
        <p:spPr>
          <a:xfrm>
            <a:off x="6972380" y="2303015"/>
            <a:ext cx="643311" cy="462028"/>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dirty="0">
                <a:solidFill>
                  <a:srgbClr val="BE384B"/>
                </a:solidFill>
                <a:cs typeface="Arial Narrow"/>
              </a:rPr>
              <a:t>VM-2</a:t>
            </a:r>
            <a:endParaRPr lang="en-US" sz="1400" dirty="0">
              <a:solidFill>
                <a:srgbClr val="BE384B"/>
              </a:solidFill>
              <a:cs typeface="Arial Narrow"/>
            </a:endParaRPr>
          </a:p>
        </p:txBody>
      </p:sp>
      <p:sp>
        <p:nvSpPr>
          <p:cNvPr id="60" name="Rectangle 27">
            <a:extLst>
              <a:ext uri="{FF2B5EF4-FFF2-40B4-BE49-F238E27FC236}">
                <a16:creationId xmlns:a16="http://schemas.microsoft.com/office/drawing/2014/main" id="{1625BAC2-4E72-B540-8BC1-E4ED3EA21585}"/>
              </a:ext>
            </a:extLst>
          </p:cNvPr>
          <p:cNvSpPr/>
          <p:nvPr/>
        </p:nvSpPr>
        <p:spPr>
          <a:xfrm>
            <a:off x="6612169" y="1890853"/>
            <a:ext cx="288202" cy="321946"/>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rgbClr val="BE384B"/>
              </a:solidFill>
              <a:cs typeface="Arial Narrow"/>
            </a:endParaRPr>
          </a:p>
        </p:txBody>
      </p:sp>
      <p:sp>
        <p:nvSpPr>
          <p:cNvPr id="61" name="Rectangle 27">
            <a:extLst>
              <a:ext uri="{FF2B5EF4-FFF2-40B4-BE49-F238E27FC236}">
                <a16:creationId xmlns:a16="http://schemas.microsoft.com/office/drawing/2014/main" id="{042B3B51-6EB7-7F4B-A47E-0CAE832C0136}"/>
              </a:ext>
            </a:extLst>
          </p:cNvPr>
          <p:cNvSpPr/>
          <p:nvPr/>
        </p:nvSpPr>
        <p:spPr>
          <a:xfrm>
            <a:off x="6972379" y="1889972"/>
            <a:ext cx="288202" cy="321946"/>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rgbClr val="BE384B"/>
              </a:solidFill>
              <a:cs typeface="Arial Narrow"/>
            </a:endParaRPr>
          </a:p>
        </p:txBody>
      </p:sp>
      <p:sp>
        <p:nvSpPr>
          <p:cNvPr id="62" name="Rectangle 27">
            <a:extLst>
              <a:ext uri="{FF2B5EF4-FFF2-40B4-BE49-F238E27FC236}">
                <a16:creationId xmlns:a16="http://schemas.microsoft.com/office/drawing/2014/main" id="{7F123B4F-7F8C-3847-9B3F-188381C5CB24}"/>
              </a:ext>
            </a:extLst>
          </p:cNvPr>
          <p:cNvSpPr/>
          <p:nvPr/>
        </p:nvSpPr>
        <p:spPr>
          <a:xfrm>
            <a:off x="7332419" y="1890853"/>
            <a:ext cx="288202" cy="321946"/>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rgbClr val="BE384B"/>
              </a:solidFill>
              <a:cs typeface="Arial Narrow"/>
            </a:endParaRPr>
          </a:p>
        </p:txBody>
      </p:sp>
      <p:sp>
        <p:nvSpPr>
          <p:cNvPr id="63" name="Rectangle 27">
            <a:extLst>
              <a:ext uri="{FF2B5EF4-FFF2-40B4-BE49-F238E27FC236}">
                <a16:creationId xmlns:a16="http://schemas.microsoft.com/office/drawing/2014/main" id="{3E26B597-A265-3442-A082-1263A751BB41}"/>
              </a:ext>
            </a:extLst>
          </p:cNvPr>
          <p:cNvSpPr/>
          <p:nvPr/>
        </p:nvSpPr>
        <p:spPr>
          <a:xfrm>
            <a:off x="6972380" y="2863288"/>
            <a:ext cx="656241" cy="370649"/>
          </a:xfrm>
          <a:prstGeom prst="rect">
            <a:avLst/>
          </a:prstGeom>
          <a:solidFill>
            <a:srgbClr val="BE384B"/>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dirty="0">
                <a:solidFill>
                  <a:schemeClr val="bg1"/>
                </a:solidFill>
                <a:cs typeface="Arial Narrow"/>
              </a:rPr>
              <a:t>VMM</a:t>
            </a:r>
            <a:endParaRPr lang="en-US" sz="1400" dirty="0">
              <a:solidFill>
                <a:schemeClr val="bg1"/>
              </a:solidFill>
              <a:cs typeface="Arial Narrow"/>
            </a:endParaRPr>
          </a:p>
        </p:txBody>
      </p:sp>
    </p:spTree>
    <p:extLst>
      <p:ext uri="{BB962C8B-B14F-4D97-AF65-F5344CB8AC3E}">
        <p14:creationId xmlns:p14="http://schemas.microsoft.com/office/powerpoint/2010/main" val="17627169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580C27-35E7-9347-BAB9-0A05954B86C8}"/>
              </a:ext>
            </a:extLst>
          </p:cNvPr>
          <p:cNvSpPr>
            <a:spLocks noGrp="1"/>
          </p:cNvSpPr>
          <p:nvPr>
            <p:ph type="title"/>
          </p:nvPr>
        </p:nvSpPr>
        <p:spPr/>
        <p:txBody>
          <a:bodyPr/>
          <a:lstStyle/>
          <a:p>
            <a:r>
              <a:rPr kumimoji="1" lang="en-US" altLang="zh-CN" dirty="0"/>
              <a:t>Type-2</a:t>
            </a:r>
            <a:r>
              <a:rPr kumimoji="1" lang="zh-CN" altLang="en-US" dirty="0"/>
              <a:t>的优势</a:t>
            </a:r>
          </a:p>
        </p:txBody>
      </p:sp>
      <p:sp>
        <p:nvSpPr>
          <p:cNvPr id="3" name="内容占位符 2">
            <a:extLst>
              <a:ext uri="{FF2B5EF4-FFF2-40B4-BE49-F238E27FC236}">
                <a16:creationId xmlns:a16="http://schemas.microsoft.com/office/drawing/2014/main" id="{C45F9F84-B90D-CE47-8F3F-9C3A4C66EDE2}"/>
              </a:ext>
            </a:extLst>
          </p:cNvPr>
          <p:cNvSpPr>
            <a:spLocks noGrp="1"/>
          </p:cNvSpPr>
          <p:nvPr>
            <p:ph idx="1"/>
          </p:nvPr>
        </p:nvSpPr>
        <p:spPr/>
        <p:txBody>
          <a:bodyPr/>
          <a:lstStyle/>
          <a:p>
            <a:r>
              <a:rPr lang="zh-CN" altLang="en-US" dirty="0"/>
              <a:t>在已有的操作系统之上将虚拟机当做应用运行</a:t>
            </a:r>
            <a:endParaRPr lang="en-US" altLang="zh-CN" dirty="0"/>
          </a:p>
          <a:p>
            <a:r>
              <a:rPr lang="zh-CN" altLang="en-US" dirty="0"/>
              <a:t>复用主机操作系统的大部分功能</a:t>
            </a:r>
            <a:endParaRPr lang="en-US" altLang="zh-CN" dirty="0"/>
          </a:p>
          <a:p>
            <a:pPr lvl="1"/>
            <a:r>
              <a:rPr lang="zh-CN" altLang="en-US" dirty="0"/>
              <a:t>文件系统</a:t>
            </a:r>
            <a:endParaRPr lang="en-US" altLang="zh-CN" dirty="0"/>
          </a:p>
          <a:p>
            <a:pPr lvl="1"/>
            <a:r>
              <a:rPr lang="zh-CN" altLang="en-US" dirty="0"/>
              <a:t>驱动程序</a:t>
            </a:r>
            <a:endParaRPr lang="en-US" altLang="zh-CN" dirty="0"/>
          </a:p>
          <a:p>
            <a:pPr lvl="1"/>
            <a:r>
              <a:rPr lang="zh-CN" altLang="en-US" dirty="0"/>
              <a:t>处理器调度</a:t>
            </a:r>
            <a:endParaRPr lang="en-US" altLang="zh-CN" dirty="0"/>
          </a:p>
          <a:p>
            <a:pPr lvl="1"/>
            <a:r>
              <a:rPr lang="zh-CN" altLang="en-US" dirty="0"/>
              <a:t>物理内存管理</a:t>
            </a:r>
            <a:endParaRPr lang="en-US" altLang="zh-CN" dirty="0"/>
          </a:p>
          <a:p>
            <a:endParaRPr kumimoji="1" lang="zh-CN" altLang="en-US" dirty="0"/>
          </a:p>
        </p:txBody>
      </p:sp>
      <p:sp>
        <p:nvSpPr>
          <p:cNvPr id="4" name="灯片编号占位符 3">
            <a:extLst>
              <a:ext uri="{FF2B5EF4-FFF2-40B4-BE49-F238E27FC236}">
                <a16:creationId xmlns:a16="http://schemas.microsoft.com/office/drawing/2014/main" id="{93BB8A87-569E-5A44-9CBA-D1BA05598C9D}"/>
              </a:ext>
            </a:extLst>
          </p:cNvPr>
          <p:cNvSpPr>
            <a:spLocks noGrp="1"/>
          </p:cNvSpPr>
          <p:nvPr>
            <p:ph type="sldNum" sz="quarter" idx="12"/>
          </p:nvPr>
        </p:nvSpPr>
        <p:spPr/>
        <p:txBody>
          <a:bodyPr/>
          <a:lstStyle/>
          <a:p>
            <a:fld id="{ADE361C3-C043-4A6E-BDCE-8DA1E7D90A3B}" type="slidenum">
              <a:rPr lang="zh-CN" altLang="en-US" smtClean="0"/>
              <a:t>22</a:t>
            </a:fld>
            <a:endParaRPr lang="zh-CN" altLang="en-US"/>
          </a:p>
        </p:txBody>
      </p:sp>
      <p:sp>
        <p:nvSpPr>
          <p:cNvPr id="5" name="页脚占位符 4">
            <a:extLst>
              <a:ext uri="{FF2B5EF4-FFF2-40B4-BE49-F238E27FC236}">
                <a16:creationId xmlns:a16="http://schemas.microsoft.com/office/drawing/2014/main" id="{16462CA1-6137-8249-B568-393F6BF9B8EE}"/>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18" name="Rectangle 22">
            <a:extLst>
              <a:ext uri="{FF2B5EF4-FFF2-40B4-BE49-F238E27FC236}">
                <a16:creationId xmlns:a16="http://schemas.microsoft.com/office/drawing/2014/main" id="{A13FD5D1-92A2-7F4D-BEC0-564464E727DB}"/>
              </a:ext>
            </a:extLst>
          </p:cNvPr>
          <p:cNvSpPr/>
          <p:nvPr/>
        </p:nvSpPr>
        <p:spPr>
          <a:xfrm>
            <a:off x="6228183" y="3364927"/>
            <a:ext cx="2112348" cy="322200"/>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solidFill>
                  <a:srgbClr val="BE384B"/>
                </a:solidFill>
                <a:cs typeface="Arial Narrow"/>
              </a:rPr>
              <a:t>Host</a:t>
            </a:r>
            <a:r>
              <a:rPr lang="zh-CN" altLang="en-US" sz="1600" dirty="0">
                <a:solidFill>
                  <a:srgbClr val="BE384B"/>
                </a:solidFill>
                <a:cs typeface="Arial Narrow"/>
              </a:rPr>
              <a:t> </a:t>
            </a:r>
            <a:r>
              <a:rPr lang="en-US" altLang="zh-CN" sz="1600" dirty="0">
                <a:solidFill>
                  <a:srgbClr val="BE384B"/>
                </a:solidFill>
                <a:cs typeface="Arial Narrow"/>
              </a:rPr>
              <a:t>OS</a:t>
            </a:r>
            <a:endParaRPr lang="en-US" sz="1600" dirty="0">
              <a:solidFill>
                <a:srgbClr val="BE384B"/>
              </a:solidFill>
              <a:cs typeface="Arial Narrow"/>
            </a:endParaRPr>
          </a:p>
        </p:txBody>
      </p:sp>
      <p:sp>
        <p:nvSpPr>
          <p:cNvPr id="19" name="Rectangle 23">
            <a:extLst>
              <a:ext uri="{FF2B5EF4-FFF2-40B4-BE49-F238E27FC236}">
                <a16:creationId xmlns:a16="http://schemas.microsoft.com/office/drawing/2014/main" id="{A89DDBA4-52FE-684E-A7E2-E10864F6D473}"/>
              </a:ext>
            </a:extLst>
          </p:cNvPr>
          <p:cNvSpPr/>
          <p:nvPr/>
        </p:nvSpPr>
        <p:spPr>
          <a:xfrm>
            <a:off x="7698715" y="2860870"/>
            <a:ext cx="641817" cy="370650"/>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tLang="zh-CN" sz="1600" dirty="0">
              <a:solidFill>
                <a:srgbClr val="BE384B"/>
              </a:solidFill>
              <a:cs typeface="Arial Narrow"/>
            </a:endParaRPr>
          </a:p>
        </p:txBody>
      </p:sp>
      <p:sp>
        <p:nvSpPr>
          <p:cNvPr id="20" name="Rectangle 24">
            <a:extLst>
              <a:ext uri="{FF2B5EF4-FFF2-40B4-BE49-F238E27FC236}">
                <a16:creationId xmlns:a16="http://schemas.microsoft.com/office/drawing/2014/main" id="{4A66657E-DD1E-0649-B303-6451C97AF779}"/>
              </a:ext>
            </a:extLst>
          </p:cNvPr>
          <p:cNvSpPr/>
          <p:nvPr/>
        </p:nvSpPr>
        <p:spPr>
          <a:xfrm>
            <a:off x="6228184" y="3965932"/>
            <a:ext cx="2112347" cy="385466"/>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solidFill>
                  <a:srgbClr val="BE384B"/>
                </a:solidFill>
                <a:cs typeface="Arial Narrow"/>
              </a:rPr>
              <a:t>Hardware</a:t>
            </a:r>
            <a:endParaRPr lang="en-US" sz="1600" dirty="0">
              <a:solidFill>
                <a:srgbClr val="BE384B"/>
              </a:solidFill>
              <a:cs typeface="Arial Narrow"/>
            </a:endParaRPr>
          </a:p>
        </p:txBody>
      </p:sp>
      <p:sp>
        <p:nvSpPr>
          <p:cNvPr id="21" name="Rectangle 27">
            <a:extLst>
              <a:ext uri="{FF2B5EF4-FFF2-40B4-BE49-F238E27FC236}">
                <a16:creationId xmlns:a16="http://schemas.microsoft.com/office/drawing/2014/main" id="{490CD4C6-5B3A-C441-97F5-5789C80B084C}"/>
              </a:ext>
            </a:extLst>
          </p:cNvPr>
          <p:cNvSpPr/>
          <p:nvPr/>
        </p:nvSpPr>
        <p:spPr>
          <a:xfrm>
            <a:off x="6246045" y="2860871"/>
            <a:ext cx="643311" cy="370649"/>
          </a:xfrm>
          <a:prstGeom prst="rect">
            <a:avLst/>
          </a:prstGeom>
          <a:solidFill>
            <a:srgbClr val="BE384B"/>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dirty="0">
                <a:solidFill>
                  <a:schemeClr val="bg1"/>
                </a:solidFill>
                <a:cs typeface="Arial Narrow"/>
              </a:rPr>
              <a:t>VMM</a:t>
            </a:r>
            <a:endParaRPr lang="en-US" sz="1400" dirty="0">
              <a:solidFill>
                <a:schemeClr val="bg1"/>
              </a:solidFill>
              <a:cs typeface="Arial Narrow"/>
            </a:endParaRPr>
          </a:p>
        </p:txBody>
      </p:sp>
      <p:cxnSp>
        <p:nvCxnSpPr>
          <p:cNvPr id="22" name="Straight Connector 13">
            <a:extLst>
              <a:ext uri="{FF2B5EF4-FFF2-40B4-BE49-F238E27FC236}">
                <a16:creationId xmlns:a16="http://schemas.microsoft.com/office/drawing/2014/main" id="{D2354F4A-CB59-8043-8E8D-BBBA1B5DAF7A}"/>
              </a:ext>
            </a:extLst>
          </p:cNvPr>
          <p:cNvCxnSpPr/>
          <p:nvPr/>
        </p:nvCxnSpPr>
        <p:spPr>
          <a:xfrm>
            <a:off x="6118823" y="3822127"/>
            <a:ext cx="2293717" cy="0"/>
          </a:xfrm>
          <a:prstGeom prst="line">
            <a:avLst/>
          </a:prstGeom>
          <a:ln>
            <a:solidFill>
              <a:srgbClr val="BE384B"/>
            </a:solidFill>
          </a:ln>
          <a:effectLst/>
        </p:spPr>
        <p:style>
          <a:lnRef idx="2">
            <a:schemeClr val="accent1"/>
          </a:lnRef>
          <a:fillRef idx="0">
            <a:schemeClr val="accent1"/>
          </a:fillRef>
          <a:effectRef idx="1">
            <a:schemeClr val="accent1"/>
          </a:effectRef>
          <a:fontRef idx="minor">
            <a:schemeClr val="tx1"/>
          </a:fontRef>
        </p:style>
      </p:cxnSp>
      <p:sp>
        <p:nvSpPr>
          <p:cNvPr id="23" name="Rectangle 27">
            <a:extLst>
              <a:ext uri="{FF2B5EF4-FFF2-40B4-BE49-F238E27FC236}">
                <a16:creationId xmlns:a16="http://schemas.microsoft.com/office/drawing/2014/main" id="{14FA64C2-F31E-BB41-9C33-A4484AD77BF1}"/>
              </a:ext>
            </a:extLst>
          </p:cNvPr>
          <p:cNvSpPr/>
          <p:nvPr/>
        </p:nvSpPr>
        <p:spPr>
          <a:xfrm>
            <a:off x="6246045" y="2302649"/>
            <a:ext cx="643311" cy="462028"/>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dirty="0">
                <a:solidFill>
                  <a:srgbClr val="BE384B"/>
                </a:solidFill>
                <a:cs typeface="Arial Narrow"/>
              </a:rPr>
              <a:t>VM-1</a:t>
            </a:r>
            <a:endParaRPr lang="en-US" sz="1400" dirty="0">
              <a:solidFill>
                <a:srgbClr val="BE384B"/>
              </a:solidFill>
              <a:cs typeface="Arial Narrow"/>
            </a:endParaRPr>
          </a:p>
        </p:txBody>
      </p:sp>
      <p:sp>
        <p:nvSpPr>
          <p:cNvPr id="24" name="Rectangle 27">
            <a:extLst>
              <a:ext uri="{FF2B5EF4-FFF2-40B4-BE49-F238E27FC236}">
                <a16:creationId xmlns:a16="http://schemas.microsoft.com/office/drawing/2014/main" id="{8CC33835-3EC9-DC47-BA48-79F5B8E5D383}"/>
              </a:ext>
            </a:extLst>
          </p:cNvPr>
          <p:cNvSpPr/>
          <p:nvPr/>
        </p:nvSpPr>
        <p:spPr>
          <a:xfrm>
            <a:off x="6246621" y="1889972"/>
            <a:ext cx="288202" cy="321946"/>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rgbClr val="BE384B"/>
              </a:solidFill>
              <a:cs typeface="Arial Narrow"/>
            </a:endParaRPr>
          </a:p>
        </p:txBody>
      </p:sp>
      <p:sp>
        <p:nvSpPr>
          <p:cNvPr id="25" name="Rectangle 27">
            <a:extLst>
              <a:ext uri="{FF2B5EF4-FFF2-40B4-BE49-F238E27FC236}">
                <a16:creationId xmlns:a16="http://schemas.microsoft.com/office/drawing/2014/main" id="{6552EB73-6A79-1B4C-B75D-81E7598FC3AA}"/>
              </a:ext>
            </a:extLst>
          </p:cNvPr>
          <p:cNvSpPr/>
          <p:nvPr/>
        </p:nvSpPr>
        <p:spPr>
          <a:xfrm>
            <a:off x="6972380" y="2303015"/>
            <a:ext cx="643311" cy="462028"/>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dirty="0">
                <a:solidFill>
                  <a:srgbClr val="BE384B"/>
                </a:solidFill>
                <a:cs typeface="Arial Narrow"/>
              </a:rPr>
              <a:t>VM-2</a:t>
            </a:r>
            <a:endParaRPr lang="en-US" sz="1400" dirty="0">
              <a:solidFill>
                <a:srgbClr val="BE384B"/>
              </a:solidFill>
              <a:cs typeface="Arial Narrow"/>
            </a:endParaRPr>
          </a:p>
        </p:txBody>
      </p:sp>
      <p:sp>
        <p:nvSpPr>
          <p:cNvPr id="26" name="Rectangle 27">
            <a:extLst>
              <a:ext uri="{FF2B5EF4-FFF2-40B4-BE49-F238E27FC236}">
                <a16:creationId xmlns:a16="http://schemas.microsoft.com/office/drawing/2014/main" id="{EF70D5AF-3E64-1148-AB92-0A75375C3EDB}"/>
              </a:ext>
            </a:extLst>
          </p:cNvPr>
          <p:cNvSpPr/>
          <p:nvPr/>
        </p:nvSpPr>
        <p:spPr>
          <a:xfrm>
            <a:off x="6612169" y="1890853"/>
            <a:ext cx="288202" cy="321946"/>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rgbClr val="BE384B"/>
              </a:solidFill>
              <a:cs typeface="Arial Narrow"/>
            </a:endParaRPr>
          </a:p>
        </p:txBody>
      </p:sp>
      <p:sp>
        <p:nvSpPr>
          <p:cNvPr id="27" name="Rectangle 27">
            <a:extLst>
              <a:ext uri="{FF2B5EF4-FFF2-40B4-BE49-F238E27FC236}">
                <a16:creationId xmlns:a16="http://schemas.microsoft.com/office/drawing/2014/main" id="{2F0989F1-9517-4841-8AFC-92A4DA23F8D0}"/>
              </a:ext>
            </a:extLst>
          </p:cNvPr>
          <p:cNvSpPr/>
          <p:nvPr/>
        </p:nvSpPr>
        <p:spPr>
          <a:xfrm>
            <a:off x="6972379" y="1889972"/>
            <a:ext cx="288202" cy="321946"/>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rgbClr val="BE384B"/>
              </a:solidFill>
              <a:cs typeface="Arial Narrow"/>
            </a:endParaRPr>
          </a:p>
        </p:txBody>
      </p:sp>
      <p:sp>
        <p:nvSpPr>
          <p:cNvPr id="28" name="Rectangle 27">
            <a:extLst>
              <a:ext uri="{FF2B5EF4-FFF2-40B4-BE49-F238E27FC236}">
                <a16:creationId xmlns:a16="http://schemas.microsoft.com/office/drawing/2014/main" id="{F356B24A-9FE8-644D-B55C-EE7274C704D1}"/>
              </a:ext>
            </a:extLst>
          </p:cNvPr>
          <p:cNvSpPr/>
          <p:nvPr/>
        </p:nvSpPr>
        <p:spPr>
          <a:xfrm>
            <a:off x="7332419" y="1890853"/>
            <a:ext cx="288202" cy="321946"/>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rgbClr val="BE384B"/>
              </a:solidFill>
              <a:cs typeface="Arial Narrow"/>
            </a:endParaRPr>
          </a:p>
        </p:txBody>
      </p:sp>
      <p:sp>
        <p:nvSpPr>
          <p:cNvPr id="29" name="Rectangle 27">
            <a:extLst>
              <a:ext uri="{FF2B5EF4-FFF2-40B4-BE49-F238E27FC236}">
                <a16:creationId xmlns:a16="http://schemas.microsoft.com/office/drawing/2014/main" id="{C3E52335-0004-8D48-96E6-624B3A46F759}"/>
              </a:ext>
            </a:extLst>
          </p:cNvPr>
          <p:cNvSpPr/>
          <p:nvPr/>
        </p:nvSpPr>
        <p:spPr>
          <a:xfrm>
            <a:off x="6972380" y="2863288"/>
            <a:ext cx="656241" cy="370649"/>
          </a:xfrm>
          <a:prstGeom prst="rect">
            <a:avLst/>
          </a:prstGeom>
          <a:solidFill>
            <a:srgbClr val="BE384B"/>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400" dirty="0">
                <a:solidFill>
                  <a:schemeClr val="bg1"/>
                </a:solidFill>
                <a:cs typeface="Arial Narrow"/>
              </a:rPr>
              <a:t>VMM</a:t>
            </a:r>
            <a:endParaRPr lang="en-US" sz="1400" dirty="0">
              <a:solidFill>
                <a:schemeClr val="bg1"/>
              </a:solidFill>
              <a:cs typeface="Arial Narrow"/>
            </a:endParaRPr>
          </a:p>
        </p:txBody>
      </p:sp>
    </p:spTree>
    <p:extLst>
      <p:ext uri="{BB962C8B-B14F-4D97-AF65-F5344CB8AC3E}">
        <p14:creationId xmlns:p14="http://schemas.microsoft.com/office/powerpoint/2010/main" val="8537738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C3CFBB2-29A4-9845-909C-D2C6211C1301}"/>
              </a:ext>
            </a:extLst>
          </p:cNvPr>
          <p:cNvSpPr>
            <a:spLocks noGrp="1"/>
          </p:cNvSpPr>
          <p:nvPr>
            <p:ph type="title"/>
          </p:nvPr>
        </p:nvSpPr>
        <p:spPr/>
        <p:txBody>
          <a:bodyPr/>
          <a:lstStyle/>
          <a:p>
            <a:r>
              <a:rPr kumimoji="1" lang="zh-CN" altLang="en-US" dirty="0"/>
              <a:t>如何实现系统虚拟化</a:t>
            </a:r>
            <a:r>
              <a:rPr kumimoji="1" lang="en-US" altLang="zh-CN" dirty="0"/>
              <a:t>?</a:t>
            </a:r>
            <a:endParaRPr kumimoji="1" lang="zh-CN" altLang="en-US" b="1" dirty="0"/>
          </a:p>
        </p:txBody>
      </p:sp>
      <p:sp>
        <p:nvSpPr>
          <p:cNvPr id="6" name="文本占位符 5">
            <a:extLst>
              <a:ext uri="{FF2B5EF4-FFF2-40B4-BE49-F238E27FC236}">
                <a16:creationId xmlns:a16="http://schemas.microsoft.com/office/drawing/2014/main" id="{88326478-0DD6-F849-B334-5BDB7DEEC82C}"/>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45F61D95-77C6-4F44-A6A2-DDF144D592FE}"/>
              </a:ext>
            </a:extLst>
          </p:cNvPr>
          <p:cNvSpPr>
            <a:spLocks noGrp="1"/>
          </p:cNvSpPr>
          <p:nvPr>
            <p:ph type="sldNum" sz="quarter" idx="12"/>
          </p:nvPr>
        </p:nvSpPr>
        <p:spPr/>
        <p:txBody>
          <a:bodyPr/>
          <a:lstStyle/>
          <a:p>
            <a:fld id="{ADE361C3-C043-4A6E-BDCE-8DA1E7D90A3B}" type="slidenum">
              <a:rPr lang="zh-CN" altLang="en-US" smtClean="0"/>
              <a:t>23</a:t>
            </a:fld>
            <a:endParaRPr lang="zh-CN" altLang="en-US"/>
          </a:p>
        </p:txBody>
      </p:sp>
      <p:sp>
        <p:nvSpPr>
          <p:cNvPr id="7" name="页脚占位符 4">
            <a:extLst>
              <a:ext uri="{FF2B5EF4-FFF2-40B4-BE49-F238E27FC236}">
                <a16:creationId xmlns:a16="http://schemas.microsoft.com/office/drawing/2014/main" id="{68F72CF8-9211-EE45-9468-F698C90541EC}"/>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5288260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7">
            <a:extLst>
              <a:ext uri="{FF2B5EF4-FFF2-40B4-BE49-F238E27FC236}">
                <a16:creationId xmlns:a16="http://schemas.microsoft.com/office/drawing/2014/main" id="{8805C6AF-919A-B04D-AA63-87FDD86B5ACB}"/>
              </a:ext>
            </a:extLst>
          </p:cNvPr>
          <p:cNvSpPr>
            <a:spLocks noChangeArrowheads="1"/>
          </p:cNvSpPr>
          <p:nvPr/>
        </p:nvSpPr>
        <p:spPr bwMode="auto">
          <a:xfrm>
            <a:off x="6829490" y="2764989"/>
            <a:ext cx="1559719" cy="720990"/>
          </a:xfrm>
          <a:prstGeom prst="rect">
            <a:avLst/>
          </a:prstGeom>
          <a:noFill/>
          <a:ln w="9525" algn="ctr">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zh-CN" altLang="en-US" sz="1100" dirty="0">
                <a:latin typeface="Arial Narrow" panose="020B0606020202030204" pitchFamily="34" charset="0"/>
              </a:rPr>
              <a:t>操作系统</a:t>
            </a:r>
            <a:r>
              <a:rPr lang="en-US" altLang="zh-CN" sz="1100" dirty="0">
                <a:latin typeface="Arial Narrow" panose="020B0606020202030204" pitchFamily="34" charset="0"/>
              </a:rPr>
              <a:t>B</a:t>
            </a:r>
            <a:endParaRPr lang="en-US" altLang="ko-KR" sz="1100" dirty="0">
              <a:latin typeface="Arial Narrow" panose="020B0606020202030204" pitchFamily="34" charset="0"/>
            </a:endParaRPr>
          </a:p>
          <a:p>
            <a:endParaRPr lang="en-US" altLang="ko-KR" sz="1100" dirty="0">
              <a:latin typeface="Arial Narrow" panose="020B0606020202030204" pitchFamily="34" charset="0"/>
            </a:endParaRPr>
          </a:p>
          <a:p>
            <a:endParaRPr lang="en-US" altLang="ko-KR" sz="1100" dirty="0">
              <a:latin typeface="Arial Narrow" panose="020B0606020202030204" pitchFamily="34" charset="0"/>
            </a:endParaRPr>
          </a:p>
          <a:p>
            <a:endParaRPr lang="en-US" altLang="ko-KR" sz="1100" dirty="0">
              <a:latin typeface="Arial Narrow" panose="020B0606020202030204" pitchFamily="34" charset="0"/>
            </a:endParaRPr>
          </a:p>
        </p:txBody>
      </p:sp>
      <p:sp>
        <p:nvSpPr>
          <p:cNvPr id="18" name="Rectangle 37">
            <a:extLst>
              <a:ext uri="{FF2B5EF4-FFF2-40B4-BE49-F238E27FC236}">
                <a16:creationId xmlns:a16="http://schemas.microsoft.com/office/drawing/2014/main" id="{31BB4139-D36B-7247-BD02-F723537B9975}"/>
              </a:ext>
            </a:extLst>
          </p:cNvPr>
          <p:cNvSpPr>
            <a:spLocks noChangeArrowheads="1"/>
          </p:cNvSpPr>
          <p:nvPr/>
        </p:nvSpPr>
        <p:spPr bwMode="auto">
          <a:xfrm>
            <a:off x="4857592" y="2766636"/>
            <a:ext cx="1559719" cy="720990"/>
          </a:xfrm>
          <a:prstGeom prst="rect">
            <a:avLst/>
          </a:prstGeom>
          <a:noFill/>
          <a:ln w="9525" algn="ctr">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zh-CN" altLang="en-US" sz="1100" dirty="0">
                <a:latin typeface="Arial Narrow" panose="020B0606020202030204" pitchFamily="34" charset="0"/>
              </a:rPr>
              <a:t>操作系统</a:t>
            </a:r>
            <a:r>
              <a:rPr lang="en-US" altLang="zh-CN" sz="1100" dirty="0">
                <a:latin typeface="Arial Narrow" panose="020B0606020202030204" pitchFamily="34" charset="0"/>
              </a:rPr>
              <a:t>A</a:t>
            </a:r>
            <a:endParaRPr lang="en-US" altLang="ko-KR" sz="1100" dirty="0">
              <a:latin typeface="Arial Narrow" panose="020B0606020202030204" pitchFamily="34" charset="0"/>
            </a:endParaRPr>
          </a:p>
          <a:p>
            <a:endParaRPr lang="en-US" altLang="ko-KR" sz="1100" dirty="0">
              <a:latin typeface="Arial Narrow" panose="020B0606020202030204" pitchFamily="34" charset="0"/>
            </a:endParaRPr>
          </a:p>
          <a:p>
            <a:endParaRPr lang="en-US" altLang="ko-KR" sz="1100" dirty="0">
              <a:latin typeface="Arial Narrow" panose="020B0606020202030204" pitchFamily="34" charset="0"/>
            </a:endParaRPr>
          </a:p>
          <a:p>
            <a:endParaRPr lang="en-US" altLang="ko-KR" sz="1100" dirty="0">
              <a:latin typeface="Arial Narrow" panose="020B0606020202030204" pitchFamily="34" charset="0"/>
            </a:endParaRPr>
          </a:p>
        </p:txBody>
      </p:sp>
      <p:sp>
        <p:nvSpPr>
          <p:cNvPr id="2" name="标题 1">
            <a:extLst>
              <a:ext uri="{FF2B5EF4-FFF2-40B4-BE49-F238E27FC236}">
                <a16:creationId xmlns:a16="http://schemas.microsoft.com/office/drawing/2014/main" id="{D72D60B6-BD2F-4049-A066-906B607FF990}"/>
              </a:ext>
            </a:extLst>
          </p:cNvPr>
          <p:cNvSpPr>
            <a:spLocks noGrp="1"/>
          </p:cNvSpPr>
          <p:nvPr>
            <p:ph type="title"/>
          </p:nvPr>
        </p:nvSpPr>
        <p:spPr/>
        <p:txBody>
          <a:bodyPr/>
          <a:lstStyle/>
          <a:p>
            <a:r>
              <a:rPr kumimoji="1" lang="zh-CN" altLang="en-US" dirty="0"/>
              <a:t>系统</a:t>
            </a:r>
            <a:r>
              <a:rPr kumimoji="1" lang="en-US" altLang="zh-CN" dirty="0"/>
              <a:t>ISA</a:t>
            </a:r>
            <a:r>
              <a:rPr kumimoji="1" lang="zh-CN" altLang="en-US" dirty="0"/>
              <a:t>：操作系统运行环境</a:t>
            </a:r>
          </a:p>
        </p:txBody>
      </p:sp>
      <p:sp>
        <p:nvSpPr>
          <p:cNvPr id="3" name="内容占位符 2">
            <a:extLst>
              <a:ext uri="{FF2B5EF4-FFF2-40B4-BE49-F238E27FC236}">
                <a16:creationId xmlns:a16="http://schemas.microsoft.com/office/drawing/2014/main" id="{41881D5F-6F4B-C84C-A7A3-C47BE342E31A}"/>
              </a:ext>
            </a:extLst>
          </p:cNvPr>
          <p:cNvSpPr>
            <a:spLocks noGrp="1"/>
          </p:cNvSpPr>
          <p:nvPr>
            <p:ph idx="1"/>
          </p:nvPr>
        </p:nvSpPr>
        <p:spPr/>
        <p:txBody>
          <a:bodyPr>
            <a:normAutofit lnSpcReduction="10000"/>
          </a:bodyPr>
          <a:lstStyle/>
          <a:p>
            <a:r>
              <a:rPr kumimoji="1" lang="zh-CN" altLang="en-US" dirty="0"/>
              <a:t>读写敏感寄存器</a:t>
            </a:r>
            <a:endParaRPr kumimoji="1" lang="en-US" altLang="zh-CN" dirty="0"/>
          </a:p>
          <a:p>
            <a:pPr lvl="1"/>
            <a:r>
              <a:rPr kumimoji="1" lang="en-US" altLang="zh-CN" dirty="0"/>
              <a:t>sctrl_el1</a:t>
            </a:r>
            <a:r>
              <a:rPr kumimoji="1" lang="zh-CN" altLang="en-US" dirty="0"/>
              <a:t>、</a:t>
            </a:r>
            <a:r>
              <a:rPr kumimoji="1" lang="en-US" altLang="zh-CN" dirty="0"/>
              <a:t>ttbr0_el1/ttbr1_el1…</a:t>
            </a:r>
          </a:p>
          <a:p>
            <a:r>
              <a:rPr kumimoji="1" lang="zh-CN" altLang="en-US" dirty="0"/>
              <a:t>控制处理器行为</a:t>
            </a:r>
            <a:endParaRPr kumimoji="1" lang="en-US" altLang="zh-CN" dirty="0"/>
          </a:p>
          <a:p>
            <a:pPr lvl="1"/>
            <a:r>
              <a:rPr kumimoji="1" lang="zh-CN" altLang="en-US" dirty="0"/>
              <a:t>例如</a:t>
            </a:r>
            <a:r>
              <a:rPr kumimoji="1" lang="en-US" altLang="zh-CN" dirty="0"/>
              <a:t>:</a:t>
            </a:r>
            <a:r>
              <a:rPr kumimoji="1" lang="zh-CN" altLang="en-US" dirty="0"/>
              <a:t> </a:t>
            </a:r>
            <a:r>
              <a:rPr kumimoji="1" lang="en-US" altLang="zh-CN" dirty="0"/>
              <a:t>WFI</a:t>
            </a:r>
            <a:r>
              <a:rPr kumimoji="1" lang="zh-CN" altLang="en-US" dirty="0"/>
              <a:t> </a:t>
            </a:r>
            <a:r>
              <a:rPr kumimoji="1" lang="en-US" altLang="zh-CN" dirty="0"/>
              <a:t>(</a:t>
            </a:r>
            <a:r>
              <a:rPr kumimoji="1" lang="zh-CN" altLang="en-US" dirty="0"/>
              <a:t>陷入低功耗状态</a:t>
            </a:r>
            <a:r>
              <a:rPr kumimoji="1" lang="en-US" altLang="zh-CN" dirty="0"/>
              <a:t>)</a:t>
            </a:r>
          </a:p>
          <a:p>
            <a:r>
              <a:rPr kumimoji="1" lang="zh-CN" altLang="en-US" dirty="0"/>
              <a:t>控制虚拟</a:t>
            </a:r>
            <a:r>
              <a:rPr kumimoji="1" lang="en-US" altLang="zh-CN" dirty="0"/>
              <a:t>/</a:t>
            </a:r>
            <a:r>
              <a:rPr kumimoji="1" lang="zh-CN" altLang="en-US" dirty="0"/>
              <a:t>物理内存</a:t>
            </a:r>
            <a:endParaRPr kumimoji="1" lang="en-US" altLang="zh-CN" dirty="0"/>
          </a:p>
          <a:p>
            <a:pPr lvl="1"/>
            <a:r>
              <a:rPr kumimoji="1" lang="zh-CN" altLang="en-US" dirty="0"/>
              <a:t>打开、配置、安装页表</a:t>
            </a:r>
            <a:endParaRPr kumimoji="1" lang="en-US" altLang="zh-CN" dirty="0"/>
          </a:p>
          <a:p>
            <a:r>
              <a:rPr kumimoji="1" lang="zh-CN" altLang="en-US" dirty="0"/>
              <a:t>控制外设</a:t>
            </a:r>
            <a:endParaRPr kumimoji="1" lang="en-US" altLang="zh-CN" dirty="0"/>
          </a:p>
          <a:p>
            <a:pPr lvl="1"/>
            <a:r>
              <a:rPr kumimoji="1" lang="en-US" altLang="zh-CN" dirty="0"/>
              <a:t>DMA</a:t>
            </a:r>
            <a:r>
              <a:rPr kumimoji="1" lang="zh-CN" altLang="en-US" dirty="0"/>
              <a:t>、中断</a:t>
            </a:r>
          </a:p>
        </p:txBody>
      </p:sp>
      <p:sp>
        <p:nvSpPr>
          <p:cNvPr id="4" name="灯片编号占位符 3">
            <a:extLst>
              <a:ext uri="{FF2B5EF4-FFF2-40B4-BE49-F238E27FC236}">
                <a16:creationId xmlns:a16="http://schemas.microsoft.com/office/drawing/2014/main" id="{62A0FF17-1B30-5C46-B2D6-DE95C34E1274}"/>
              </a:ext>
            </a:extLst>
          </p:cNvPr>
          <p:cNvSpPr>
            <a:spLocks noGrp="1"/>
          </p:cNvSpPr>
          <p:nvPr>
            <p:ph type="sldNum" sz="quarter" idx="12"/>
          </p:nvPr>
        </p:nvSpPr>
        <p:spPr/>
        <p:txBody>
          <a:bodyPr/>
          <a:lstStyle/>
          <a:p>
            <a:fld id="{ADE361C3-C043-4A6E-BDCE-8DA1E7D90A3B}" type="slidenum">
              <a:rPr lang="zh-CN" altLang="en-US" smtClean="0"/>
              <a:t>24</a:t>
            </a:fld>
            <a:endParaRPr lang="zh-CN" altLang="en-US"/>
          </a:p>
        </p:txBody>
      </p:sp>
      <p:sp>
        <p:nvSpPr>
          <p:cNvPr id="5" name="页脚占位符 4">
            <a:extLst>
              <a:ext uri="{FF2B5EF4-FFF2-40B4-BE49-F238E27FC236}">
                <a16:creationId xmlns:a16="http://schemas.microsoft.com/office/drawing/2014/main" id="{6D078D78-9422-3C49-9254-BABF778B2963}"/>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6">
            <a:extLst>
              <a:ext uri="{FF2B5EF4-FFF2-40B4-BE49-F238E27FC236}">
                <a16:creationId xmlns:a16="http://schemas.microsoft.com/office/drawing/2014/main" id="{ED925165-05F5-1745-B21B-EB0B396FCAD8}"/>
              </a:ext>
            </a:extLst>
          </p:cNvPr>
          <p:cNvSpPr>
            <a:spLocks noChangeArrowheads="1"/>
          </p:cNvSpPr>
          <p:nvPr/>
        </p:nvSpPr>
        <p:spPr bwMode="auto">
          <a:xfrm>
            <a:off x="4853623" y="3496054"/>
            <a:ext cx="3950205" cy="602035"/>
          </a:xfrm>
          <a:prstGeom prst="rect">
            <a:avLst/>
          </a:prstGeom>
          <a:solidFill>
            <a:srgbClr val="FFFF99"/>
          </a:solidFill>
          <a:ln w="952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zh-CN" sz="1100">
              <a:solidFill>
                <a:srgbClr val="FFFF00"/>
              </a:solidFill>
              <a:latin typeface="Arial Narrow" panose="020B0606020202030204" pitchFamily="34" charset="0"/>
            </a:endParaRPr>
          </a:p>
        </p:txBody>
      </p:sp>
      <p:sp>
        <p:nvSpPr>
          <p:cNvPr id="7" name="Rectangle 5">
            <a:extLst>
              <a:ext uri="{FF2B5EF4-FFF2-40B4-BE49-F238E27FC236}">
                <a16:creationId xmlns:a16="http://schemas.microsoft.com/office/drawing/2014/main" id="{03D3FCB2-EB52-C647-AD89-D02C13A7B07E}"/>
              </a:ext>
            </a:extLst>
          </p:cNvPr>
          <p:cNvSpPr>
            <a:spLocks noChangeArrowheads="1"/>
          </p:cNvSpPr>
          <p:nvPr/>
        </p:nvSpPr>
        <p:spPr bwMode="auto">
          <a:xfrm>
            <a:off x="4856270" y="3493833"/>
            <a:ext cx="3942930" cy="1379345"/>
          </a:xfrm>
          <a:prstGeom prst="rect">
            <a:avLst/>
          </a:prstGeom>
          <a:noFill/>
          <a:ln w="9525" algn="ctr">
            <a:solidFill>
              <a:schemeClr val="tx1"/>
            </a:solidFill>
            <a:miter lim="800000"/>
            <a:headEnd/>
            <a:tailEn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8" name="Rectangle 6">
            <a:extLst>
              <a:ext uri="{FF2B5EF4-FFF2-40B4-BE49-F238E27FC236}">
                <a16:creationId xmlns:a16="http://schemas.microsoft.com/office/drawing/2014/main" id="{84F9F88A-2171-A94B-AC5C-8DCB847319CA}"/>
              </a:ext>
            </a:extLst>
          </p:cNvPr>
          <p:cNvSpPr>
            <a:spLocks noChangeArrowheads="1"/>
          </p:cNvSpPr>
          <p:nvPr/>
        </p:nvSpPr>
        <p:spPr bwMode="auto">
          <a:xfrm>
            <a:off x="4856270" y="4093980"/>
            <a:ext cx="1199885" cy="779198"/>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zh-CN" sz="1100">
              <a:latin typeface="Arial Narrow" panose="020B0606020202030204" pitchFamily="34" charset="0"/>
            </a:endParaRPr>
          </a:p>
        </p:txBody>
      </p:sp>
      <p:sp>
        <p:nvSpPr>
          <p:cNvPr id="9" name="Rectangle 7">
            <a:extLst>
              <a:ext uri="{FF2B5EF4-FFF2-40B4-BE49-F238E27FC236}">
                <a16:creationId xmlns:a16="http://schemas.microsoft.com/office/drawing/2014/main" id="{998E892B-C141-A848-81BF-B69A3B083C87}"/>
              </a:ext>
            </a:extLst>
          </p:cNvPr>
          <p:cNvSpPr>
            <a:spLocks noChangeArrowheads="1"/>
          </p:cNvSpPr>
          <p:nvPr/>
        </p:nvSpPr>
        <p:spPr bwMode="auto">
          <a:xfrm>
            <a:off x="6236071" y="4092657"/>
            <a:ext cx="2572632" cy="780521"/>
          </a:xfrm>
          <a:prstGeom prst="rect">
            <a:avLst/>
          </a:prstGeom>
          <a:solidFill>
            <a:schemeClr val="accent1"/>
          </a:solidFill>
          <a:ln w="9525" algn="ctr">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10" name="Rectangle 8">
            <a:extLst>
              <a:ext uri="{FF2B5EF4-FFF2-40B4-BE49-F238E27FC236}">
                <a16:creationId xmlns:a16="http://schemas.microsoft.com/office/drawing/2014/main" id="{929D9CC8-2295-0342-9B62-649F6CDAD091}"/>
              </a:ext>
            </a:extLst>
          </p:cNvPr>
          <p:cNvSpPr>
            <a:spLocks noChangeArrowheads="1"/>
          </p:cNvSpPr>
          <p:nvPr/>
        </p:nvSpPr>
        <p:spPr bwMode="auto">
          <a:xfrm>
            <a:off x="5995301" y="4092657"/>
            <a:ext cx="541073" cy="780521"/>
          </a:xfrm>
          <a:prstGeom prst="rect">
            <a:avLst/>
          </a:prstGeom>
          <a:solidFill>
            <a:schemeClr val="accent1"/>
          </a:solidFill>
          <a:ln>
            <a:noFill/>
          </a:ln>
          <a:effectLst/>
          <a:extLs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11" name="Line 9">
            <a:extLst>
              <a:ext uri="{FF2B5EF4-FFF2-40B4-BE49-F238E27FC236}">
                <a16:creationId xmlns:a16="http://schemas.microsoft.com/office/drawing/2014/main" id="{F1491F48-A75F-504B-B831-E92E06145A71}"/>
              </a:ext>
            </a:extLst>
          </p:cNvPr>
          <p:cNvSpPr>
            <a:spLocks noChangeShapeType="1"/>
          </p:cNvSpPr>
          <p:nvPr/>
        </p:nvSpPr>
        <p:spPr bwMode="auto">
          <a:xfrm>
            <a:off x="5935770" y="4873178"/>
            <a:ext cx="600604" cy="0"/>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12" name="Rectangle 10">
            <a:extLst>
              <a:ext uri="{FF2B5EF4-FFF2-40B4-BE49-F238E27FC236}">
                <a16:creationId xmlns:a16="http://schemas.microsoft.com/office/drawing/2014/main" id="{99DC15AE-9F52-094A-BA70-A95FBDA73E4B}"/>
              </a:ext>
            </a:extLst>
          </p:cNvPr>
          <p:cNvSpPr>
            <a:spLocks noChangeArrowheads="1"/>
          </p:cNvSpPr>
          <p:nvPr/>
        </p:nvSpPr>
        <p:spPr bwMode="auto">
          <a:xfrm>
            <a:off x="6569085" y="4361573"/>
            <a:ext cx="1079500" cy="300302"/>
          </a:xfrm>
          <a:prstGeom prst="rect">
            <a:avLst/>
          </a:prstGeom>
          <a:solidFill>
            <a:schemeClr val="accent1"/>
          </a:solidFill>
          <a:ln>
            <a:noFill/>
          </a:ln>
          <a:effectLst/>
          <a:extLs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en-US" altLang="ko-KR" sz="1100" dirty="0">
                <a:solidFill>
                  <a:schemeClr val="bg1"/>
                </a:solidFill>
                <a:latin typeface="Arial Narrow" panose="020B0606020202030204" pitchFamily="34" charset="0"/>
              </a:rPr>
              <a:t>Machine</a:t>
            </a:r>
          </a:p>
        </p:txBody>
      </p:sp>
      <p:sp>
        <p:nvSpPr>
          <p:cNvPr id="13" name="Rectangle 12">
            <a:extLst>
              <a:ext uri="{FF2B5EF4-FFF2-40B4-BE49-F238E27FC236}">
                <a16:creationId xmlns:a16="http://schemas.microsoft.com/office/drawing/2014/main" id="{97551204-C201-8B47-831F-BCC5439420FA}"/>
              </a:ext>
            </a:extLst>
          </p:cNvPr>
          <p:cNvSpPr>
            <a:spLocks noChangeArrowheads="1"/>
          </p:cNvSpPr>
          <p:nvPr/>
        </p:nvSpPr>
        <p:spPr bwMode="auto">
          <a:xfrm>
            <a:off x="6057478" y="3240705"/>
            <a:ext cx="719667" cy="24077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zh-CN" altLang="en-US" sz="1100" dirty="0">
                <a:latin typeface="Arial Narrow" panose="020B0606020202030204" pitchFamily="34" charset="0"/>
              </a:rPr>
              <a:t>用户</a:t>
            </a:r>
            <a:r>
              <a:rPr lang="en-US" altLang="ko-KR" sz="1100" dirty="0">
                <a:latin typeface="Arial Narrow" panose="020B0606020202030204" pitchFamily="34" charset="0"/>
              </a:rPr>
              <a:t> ISA</a:t>
            </a:r>
          </a:p>
        </p:txBody>
      </p:sp>
      <p:sp>
        <p:nvSpPr>
          <p:cNvPr id="14" name="Line 14">
            <a:extLst>
              <a:ext uri="{FF2B5EF4-FFF2-40B4-BE49-F238E27FC236}">
                <a16:creationId xmlns:a16="http://schemas.microsoft.com/office/drawing/2014/main" id="{88F10877-B62E-774D-BB09-4B9C402DD747}"/>
              </a:ext>
            </a:extLst>
          </p:cNvPr>
          <p:cNvSpPr>
            <a:spLocks noChangeShapeType="1"/>
          </p:cNvSpPr>
          <p:nvPr/>
        </p:nvSpPr>
        <p:spPr bwMode="auto">
          <a:xfrm>
            <a:off x="4675028" y="3492186"/>
            <a:ext cx="1080823"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15" name="Line 16">
            <a:extLst>
              <a:ext uri="{FF2B5EF4-FFF2-40B4-BE49-F238E27FC236}">
                <a16:creationId xmlns:a16="http://schemas.microsoft.com/office/drawing/2014/main" id="{D354811A-0070-0E4D-9460-26D82BAB177A}"/>
              </a:ext>
            </a:extLst>
          </p:cNvPr>
          <p:cNvSpPr>
            <a:spLocks noChangeShapeType="1"/>
          </p:cNvSpPr>
          <p:nvPr/>
        </p:nvSpPr>
        <p:spPr bwMode="auto">
          <a:xfrm flipV="1">
            <a:off x="5996624" y="3480153"/>
            <a:ext cx="960438" cy="1323"/>
          </a:xfrm>
          <a:prstGeom prst="line">
            <a:avLst/>
          </a:prstGeom>
          <a:noFill/>
          <a:ln w="38100">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16" name="Rectangle 18">
            <a:extLst>
              <a:ext uri="{FF2B5EF4-FFF2-40B4-BE49-F238E27FC236}">
                <a16:creationId xmlns:a16="http://schemas.microsoft.com/office/drawing/2014/main" id="{B40F04F4-B400-B544-8F4E-49A1439759CA}"/>
              </a:ext>
            </a:extLst>
          </p:cNvPr>
          <p:cNvSpPr>
            <a:spLocks noChangeArrowheads="1"/>
          </p:cNvSpPr>
          <p:nvPr/>
        </p:nvSpPr>
        <p:spPr bwMode="auto">
          <a:xfrm>
            <a:off x="4856270" y="2232642"/>
            <a:ext cx="1379802" cy="2394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zh-CN" altLang="en-US" sz="1100" dirty="0">
                <a:latin typeface="Arial Narrow" panose="020B0606020202030204" pitchFamily="34" charset="0"/>
              </a:rPr>
              <a:t>应用程序</a:t>
            </a:r>
            <a:endParaRPr lang="en-US" altLang="ko-KR" sz="1100" dirty="0">
              <a:latin typeface="Arial Narrow" panose="020B0606020202030204" pitchFamily="34" charset="0"/>
            </a:endParaRPr>
          </a:p>
        </p:txBody>
      </p:sp>
      <p:sp>
        <p:nvSpPr>
          <p:cNvPr id="17" name="Rectangle 36">
            <a:extLst>
              <a:ext uri="{FF2B5EF4-FFF2-40B4-BE49-F238E27FC236}">
                <a16:creationId xmlns:a16="http://schemas.microsoft.com/office/drawing/2014/main" id="{731CEE52-1239-B14D-8B49-C46DF529C5F2}"/>
              </a:ext>
            </a:extLst>
          </p:cNvPr>
          <p:cNvSpPr>
            <a:spLocks noChangeArrowheads="1"/>
          </p:cNvSpPr>
          <p:nvPr/>
        </p:nvSpPr>
        <p:spPr bwMode="auto">
          <a:xfrm>
            <a:off x="4917124" y="3240705"/>
            <a:ext cx="719667" cy="24077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zh-CN" altLang="en-US" sz="1100" dirty="0">
                <a:solidFill>
                  <a:srgbClr val="BE384B"/>
                </a:solidFill>
                <a:latin typeface="Arial Narrow" panose="020B0606020202030204" pitchFamily="34" charset="0"/>
              </a:rPr>
              <a:t>系统</a:t>
            </a:r>
            <a:r>
              <a:rPr lang="en-US" altLang="ko-KR" sz="1100" dirty="0">
                <a:solidFill>
                  <a:srgbClr val="BE384B"/>
                </a:solidFill>
                <a:latin typeface="Arial Narrow" panose="020B0606020202030204" pitchFamily="34" charset="0"/>
              </a:rPr>
              <a:t>ISA</a:t>
            </a:r>
          </a:p>
        </p:txBody>
      </p:sp>
      <p:sp>
        <p:nvSpPr>
          <p:cNvPr id="19" name="Rectangle 12">
            <a:extLst>
              <a:ext uri="{FF2B5EF4-FFF2-40B4-BE49-F238E27FC236}">
                <a16:creationId xmlns:a16="http://schemas.microsoft.com/office/drawing/2014/main" id="{6E1D8C37-ED13-A44F-9226-99416812E6F9}"/>
              </a:ext>
            </a:extLst>
          </p:cNvPr>
          <p:cNvSpPr>
            <a:spLocks noChangeArrowheads="1"/>
          </p:cNvSpPr>
          <p:nvPr/>
        </p:nvSpPr>
        <p:spPr bwMode="auto">
          <a:xfrm>
            <a:off x="8049767" y="3812906"/>
            <a:ext cx="719667" cy="24077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zh-CN" altLang="en-US" sz="1100" dirty="0">
                <a:latin typeface="Arial Narrow" panose="020B0606020202030204" pitchFamily="34" charset="0"/>
              </a:rPr>
              <a:t>用户</a:t>
            </a:r>
            <a:r>
              <a:rPr lang="en-US" altLang="ko-KR" sz="1100" dirty="0">
                <a:latin typeface="Arial Narrow" panose="020B0606020202030204" pitchFamily="34" charset="0"/>
              </a:rPr>
              <a:t> ISA</a:t>
            </a:r>
          </a:p>
        </p:txBody>
      </p:sp>
      <p:sp>
        <p:nvSpPr>
          <p:cNvPr id="20" name="Line 13">
            <a:extLst>
              <a:ext uri="{FF2B5EF4-FFF2-40B4-BE49-F238E27FC236}">
                <a16:creationId xmlns:a16="http://schemas.microsoft.com/office/drawing/2014/main" id="{98726624-EE97-5B47-92CC-152AA1029B39}"/>
              </a:ext>
            </a:extLst>
          </p:cNvPr>
          <p:cNvSpPr>
            <a:spLocks noChangeShapeType="1"/>
          </p:cNvSpPr>
          <p:nvPr/>
        </p:nvSpPr>
        <p:spPr bwMode="auto">
          <a:xfrm flipV="1">
            <a:off x="5755852" y="4095443"/>
            <a:ext cx="1019969" cy="1323"/>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21" name="Line 14">
            <a:extLst>
              <a:ext uri="{FF2B5EF4-FFF2-40B4-BE49-F238E27FC236}">
                <a16:creationId xmlns:a16="http://schemas.microsoft.com/office/drawing/2014/main" id="{2DDF0B98-449E-FF4D-9FF6-9B8F234D26DE}"/>
              </a:ext>
            </a:extLst>
          </p:cNvPr>
          <p:cNvSpPr>
            <a:spLocks noChangeShapeType="1"/>
          </p:cNvSpPr>
          <p:nvPr/>
        </p:nvSpPr>
        <p:spPr bwMode="auto">
          <a:xfrm>
            <a:off x="4846767" y="4084457"/>
            <a:ext cx="2973062" cy="17499"/>
          </a:xfrm>
          <a:prstGeom prst="line">
            <a:avLst/>
          </a:prstGeom>
          <a:noFill/>
          <a:ln w="38100">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22" name="Line 16">
            <a:extLst>
              <a:ext uri="{FF2B5EF4-FFF2-40B4-BE49-F238E27FC236}">
                <a16:creationId xmlns:a16="http://schemas.microsoft.com/office/drawing/2014/main" id="{2E8BF3E1-A4B3-7241-AC18-B5BB5AE9467D}"/>
              </a:ext>
            </a:extLst>
          </p:cNvPr>
          <p:cNvSpPr>
            <a:spLocks noChangeShapeType="1"/>
          </p:cNvSpPr>
          <p:nvPr/>
        </p:nvSpPr>
        <p:spPr bwMode="auto">
          <a:xfrm flipV="1">
            <a:off x="7824704" y="4083795"/>
            <a:ext cx="960438" cy="1323"/>
          </a:xfrm>
          <a:prstGeom prst="line">
            <a:avLst/>
          </a:prstGeom>
          <a:noFill/>
          <a:ln w="38100">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23" name="Rectangle 17">
            <a:extLst>
              <a:ext uri="{FF2B5EF4-FFF2-40B4-BE49-F238E27FC236}">
                <a16:creationId xmlns:a16="http://schemas.microsoft.com/office/drawing/2014/main" id="{7ABB81F6-E45C-8642-99CF-CD2C8B8FDC39}"/>
              </a:ext>
            </a:extLst>
          </p:cNvPr>
          <p:cNvSpPr>
            <a:spLocks noChangeArrowheads="1"/>
          </p:cNvSpPr>
          <p:nvPr/>
        </p:nvSpPr>
        <p:spPr bwMode="auto">
          <a:xfrm>
            <a:off x="8825695" y="3977703"/>
            <a:ext cx="420688" cy="24077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en-US" altLang="ko-KR" sz="1100" dirty="0">
                <a:latin typeface="Arial Narrow" panose="020B0606020202030204" pitchFamily="34" charset="0"/>
              </a:rPr>
              <a:t>ISA</a:t>
            </a:r>
          </a:p>
        </p:txBody>
      </p:sp>
      <p:sp>
        <p:nvSpPr>
          <p:cNvPr id="24" name="Rectangle 36">
            <a:extLst>
              <a:ext uri="{FF2B5EF4-FFF2-40B4-BE49-F238E27FC236}">
                <a16:creationId xmlns:a16="http://schemas.microsoft.com/office/drawing/2014/main" id="{A244F075-16F4-D64B-B3FA-00BFADF5728C}"/>
              </a:ext>
            </a:extLst>
          </p:cNvPr>
          <p:cNvSpPr>
            <a:spLocks noChangeArrowheads="1"/>
          </p:cNvSpPr>
          <p:nvPr/>
        </p:nvSpPr>
        <p:spPr bwMode="auto">
          <a:xfrm>
            <a:off x="5686107" y="3844205"/>
            <a:ext cx="719667" cy="24077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zh-CN" altLang="en-US" sz="1100" dirty="0">
                <a:latin typeface="Arial Narrow" panose="020B0606020202030204" pitchFamily="34" charset="0"/>
              </a:rPr>
              <a:t>系统</a:t>
            </a:r>
            <a:r>
              <a:rPr lang="en-US" altLang="ko-KR" sz="1100" dirty="0">
                <a:latin typeface="Arial Narrow" panose="020B0606020202030204" pitchFamily="34" charset="0"/>
              </a:rPr>
              <a:t>ISA</a:t>
            </a:r>
          </a:p>
        </p:txBody>
      </p:sp>
      <p:sp>
        <p:nvSpPr>
          <p:cNvPr id="25" name="Rectangle 17">
            <a:extLst>
              <a:ext uri="{FF2B5EF4-FFF2-40B4-BE49-F238E27FC236}">
                <a16:creationId xmlns:a16="http://schemas.microsoft.com/office/drawing/2014/main" id="{4AB598F0-3463-7F4D-8318-3E433CBCCD1E}"/>
              </a:ext>
            </a:extLst>
          </p:cNvPr>
          <p:cNvSpPr>
            <a:spLocks noChangeArrowheads="1"/>
          </p:cNvSpPr>
          <p:nvPr/>
        </p:nvSpPr>
        <p:spPr bwMode="auto">
          <a:xfrm>
            <a:off x="6333298" y="3634846"/>
            <a:ext cx="1019969" cy="2522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zh-CN" altLang="en-US" sz="1100" dirty="0">
                <a:latin typeface="Arial Narrow" panose="020B0606020202030204" pitchFamily="34" charset="0"/>
              </a:rPr>
              <a:t>虚拟机监控器</a:t>
            </a:r>
            <a:endParaRPr lang="en-US" altLang="ko-KR" sz="1100" dirty="0">
              <a:latin typeface="Arial Narrow" panose="020B0606020202030204" pitchFamily="34" charset="0"/>
            </a:endParaRPr>
          </a:p>
        </p:txBody>
      </p:sp>
      <p:sp>
        <p:nvSpPr>
          <p:cNvPr id="26" name="Line 13">
            <a:extLst>
              <a:ext uri="{FF2B5EF4-FFF2-40B4-BE49-F238E27FC236}">
                <a16:creationId xmlns:a16="http://schemas.microsoft.com/office/drawing/2014/main" id="{17FB65FC-E869-EF4C-AE24-F0260EB99484}"/>
              </a:ext>
            </a:extLst>
          </p:cNvPr>
          <p:cNvSpPr>
            <a:spLocks noChangeShapeType="1"/>
          </p:cNvSpPr>
          <p:nvPr/>
        </p:nvSpPr>
        <p:spPr bwMode="auto">
          <a:xfrm flipV="1">
            <a:off x="5755851" y="3483889"/>
            <a:ext cx="1019969" cy="1323"/>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27" name="Rectangle 5">
            <a:extLst>
              <a:ext uri="{FF2B5EF4-FFF2-40B4-BE49-F238E27FC236}">
                <a16:creationId xmlns:a16="http://schemas.microsoft.com/office/drawing/2014/main" id="{853171EF-6659-6C46-A2B5-ECD50CDE9061}"/>
              </a:ext>
            </a:extLst>
          </p:cNvPr>
          <p:cNvSpPr>
            <a:spLocks noChangeArrowheads="1"/>
          </p:cNvSpPr>
          <p:nvPr/>
        </p:nvSpPr>
        <p:spPr bwMode="auto">
          <a:xfrm>
            <a:off x="4860032" y="2221167"/>
            <a:ext cx="1971898" cy="1272666"/>
          </a:xfrm>
          <a:prstGeom prst="rect">
            <a:avLst/>
          </a:prstGeom>
          <a:noFill/>
          <a:ln w="9525" algn="ctr">
            <a:solidFill>
              <a:schemeClr val="tx1"/>
            </a:solidFill>
            <a:miter lim="800000"/>
            <a:headEnd/>
            <a:tailEn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28" name="Rectangle 12">
            <a:extLst>
              <a:ext uri="{FF2B5EF4-FFF2-40B4-BE49-F238E27FC236}">
                <a16:creationId xmlns:a16="http://schemas.microsoft.com/office/drawing/2014/main" id="{8E36488A-78E3-3A40-97E2-6318EBBE2332}"/>
              </a:ext>
            </a:extLst>
          </p:cNvPr>
          <p:cNvSpPr>
            <a:spLocks noChangeArrowheads="1"/>
          </p:cNvSpPr>
          <p:nvPr/>
        </p:nvSpPr>
        <p:spPr bwMode="auto">
          <a:xfrm>
            <a:off x="8029376" y="3239058"/>
            <a:ext cx="719667" cy="24077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zh-CN" altLang="en-US" sz="1100" dirty="0">
                <a:latin typeface="Arial Narrow" panose="020B0606020202030204" pitchFamily="34" charset="0"/>
              </a:rPr>
              <a:t>用户</a:t>
            </a:r>
            <a:r>
              <a:rPr lang="en-US" altLang="ko-KR" sz="1100" dirty="0">
                <a:latin typeface="Arial Narrow" panose="020B0606020202030204" pitchFamily="34" charset="0"/>
              </a:rPr>
              <a:t> ISA</a:t>
            </a:r>
          </a:p>
        </p:txBody>
      </p:sp>
      <p:sp>
        <p:nvSpPr>
          <p:cNvPr id="29" name="Line 14">
            <a:extLst>
              <a:ext uri="{FF2B5EF4-FFF2-40B4-BE49-F238E27FC236}">
                <a16:creationId xmlns:a16="http://schemas.microsoft.com/office/drawing/2014/main" id="{89C7C74D-116A-6444-9033-D758142AF448}"/>
              </a:ext>
            </a:extLst>
          </p:cNvPr>
          <p:cNvSpPr>
            <a:spLocks noChangeShapeType="1"/>
          </p:cNvSpPr>
          <p:nvPr/>
        </p:nvSpPr>
        <p:spPr bwMode="auto">
          <a:xfrm>
            <a:off x="6648251" y="3479829"/>
            <a:ext cx="1080823" cy="0"/>
          </a:xfrm>
          <a:prstGeom prst="line">
            <a:avLst/>
          </a:prstGeom>
          <a:noFill/>
          <a:ln w="38100">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30" name="Line 16">
            <a:extLst>
              <a:ext uri="{FF2B5EF4-FFF2-40B4-BE49-F238E27FC236}">
                <a16:creationId xmlns:a16="http://schemas.microsoft.com/office/drawing/2014/main" id="{201B31D6-5770-B84D-B484-CF2D6CFFA370}"/>
              </a:ext>
            </a:extLst>
          </p:cNvPr>
          <p:cNvSpPr>
            <a:spLocks noChangeShapeType="1"/>
          </p:cNvSpPr>
          <p:nvPr/>
        </p:nvSpPr>
        <p:spPr bwMode="auto">
          <a:xfrm flipV="1">
            <a:off x="7968522" y="3478506"/>
            <a:ext cx="960438" cy="1323"/>
          </a:xfrm>
          <a:prstGeom prst="line">
            <a:avLst/>
          </a:prstGeom>
          <a:noFill/>
          <a:ln w="38100">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31" name="Rectangle 18">
            <a:extLst>
              <a:ext uri="{FF2B5EF4-FFF2-40B4-BE49-F238E27FC236}">
                <a16:creationId xmlns:a16="http://schemas.microsoft.com/office/drawing/2014/main" id="{67517376-2C04-E541-B33D-FCABD43C7919}"/>
              </a:ext>
            </a:extLst>
          </p:cNvPr>
          <p:cNvSpPr>
            <a:spLocks noChangeArrowheads="1"/>
          </p:cNvSpPr>
          <p:nvPr/>
        </p:nvSpPr>
        <p:spPr bwMode="auto">
          <a:xfrm>
            <a:off x="6828168" y="2230995"/>
            <a:ext cx="1379802" cy="2394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zh-CN" altLang="en-US" sz="1100" dirty="0">
                <a:latin typeface="Arial Narrow" panose="020B0606020202030204" pitchFamily="34" charset="0"/>
              </a:rPr>
              <a:t>应用程序</a:t>
            </a:r>
            <a:endParaRPr lang="en-US" altLang="ko-KR" sz="1100" dirty="0">
              <a:latin typeface="Arial Narrow" panose="020B0606020202030204" pitchFamily="34" charset="0"/>
            </a:endParaRPr>
          </a:p>
        </p:txBody>
      </p:sp>
      <p:sp>
        <p:nvSpPr>
          <p:cNvPr id="32" name="Rectangle 36">
            <a:extLst>
              <a:ext uri="{FF2B5EF4-FFF2-40B4-BE49-F238E27FC236}">
                <a16:creationId xmlns:a16="http://schemas.microsoft.com/office/drawing/2014/main" id="{614B806F-BF3D-8C47-82F2-9D8B89326E2B}"/>
              </a:ext>
            </a:extLst>
          </p:cNvPr>
          <p:cNvSpPr>
            <a:spLocks noChangeArrowheads="1"/>
          </p:cNvSpPr>
          <p:nvPr/>
        </p:nvSpPr>
        <p:spPr bwMode="auto">
          <a:xfrm>
            <a:off x="6889022" y="3239058"/>
            <a:ext cx="719667" cy="24077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r>
              <a:rPr lang="zh-CN" altLang="en-US" sz="1100" dirty="0">
                <a:solidFill>
                  <a:srgbClr val="BE384B"/>
                </a:solidFill>
                <a:latin typeface="Arial Narrow" panose="020B0606020202030204" pitchFamily="34" charset="0"/>
              </a:rPr>
              <a:t>系统</a:t>
            </a:r>
            <a:r>
              <a:rPr lang="en-US" altLang="ko-KR" sz="1100" dirty="0">
                <a:solidFill>
                  <a:srgbClr val="BE384B"/>
                </a:solidFill>
                <a:latin typeface="Arial Narrow" panose="020B0606020202030204" pitchFamily="34" charset="0"/>
              </a:rPr>
              <a:t>ISA</a:t>
            </a:r>
          </a:p>
        </p:txBody>
      </p:sp>
      <p:sp>
        <p:nvSpPr>
          <p:cNvPr id="34" name="Line 13">
            <a:extLst>
              <a:ext uri="{FF2B5EF4-FFF2-40B4-BE49-F238E27FC236}">
                <a16:creationId xmlns:a16="http://schemas.microsoft.com/office/drawing/2014/main" id="{D938A41F-C9D5-1446-926E-5883A396CEA6}"/>
              </a:ext>
            </a:extLst>
          </p:cNvPr>
          <p:cNvSpPr>
            <a:spLocks noChangeShapeType="1"/>
          </p:cNvSpPr>
          <p:nvPr/>
        </p:nvSpPr>
        <p:spPr bwMode="auto">
          <a:xfrm flipV="1">
            <a:off x="7727749" y="3482242"/>
            <a:ext cx="1019969" cy="1323"/>
          </a:xfrm>
          <a:prstGeom prst="line">
            <a:avLst/>
          </a:prstGeom>
          <a:noFill/>
          <a:ln w="9525">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
        <p:nvSpPr>
          <p:cNvPr id="35" name="Rectangle 5">
            <a:extLst>
              <a:ext uri="{FF2B5EF4-FFF2-40B4-BE49-F238E27FC236}">
                <a16:creationId xmlns:a16="http://schemas.microsoft.com/office/drawing/2014/main" id="{6303B9A5-1C57-E547-943E-5C392EF4A065}"/>
              </a:ext>
            </a:extLst>
          </p:cNvPr>
          <p:cNvSpPr>
            <a:spLocks noChangeArrowheads="1"/>
          </p:cNvSpPr>
          <p:nvPr/>
        </p:nvSpPr>
        <p:spPr bwMode="auto">
          <a:xfrm>
            <a:off x="6831930" y="2219520"/>
            <a:ext cx="1971898" cy="1272666"/>
          </a:xfrm>
          <a:prstGeom prst="rect">
            <a:avLst/>
          </a:prstGeom>
          <a:noFill/>
          <a:ln w="9525" algn="ctr">
            <a:solidFill>
              <a:schemeClr val="tx1"/>
            </a:solidFill>
            <a:miter lim="800000"/>
            <a:headEnd/>
            <a:tailEnd/>
          </a:ln>
          <a:effectLst/>
          <a:extLst>
            <a:ext uri="{909E8E84-426E-40dd-AFC4-6F175D3DCCD1}">
              <a14:hiddenFill xmlns:a14="http://schemas.microsoft.com/office/drawing/2010/main" xmlns="">
                <a:solidFill>
                  <a:schemeClr val="bg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1100">
              <a:latin typeface="Arial Narrow" panose="020B0606020202030204" pitchFamily="34" charset="0"/>
            </a:endParaRPr>
          </a:p>
        </p:txBody>
      </p:sp>
    </p:spTree>
    <p:extLst>
      <p:ext uri="{BB962C8B-B14F-4D97-AF65-F5344CB8AC3E}">
        <p14:creationId xmlns:p14="http://schemas.microsoft.com/office/powerpoint/2010/main" val="5770745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4B47C6-4FDC-F043-A41B-7A0F5516C2D3}"/>
              </a:ext>
            </a:extLst>
          </p:cNvPr>
          <p:cNvSpPr>
            <a:spLocks noGrp="1"/>
          </p:cNvSpPr>
          <p:nvPr>
            <p:ph type="title"/>
          </p:nvPr>
        </p:nvSpPr>
        <p:spPr/>
        <p:txBody>
          <a:bodyPr/>
          <a:lstStyle/>
          <a:p>
            <a:r>
              <a:rPr kumimoji="1" lang="zh-CN" altLang="en-US" dirty="0"/>
              <a:t>系统虚拟化的流程：</a:t>
            </a:r>
            <a:r>
              <a:rPr kumimoji="1" lang="en-US" altLang="zh-CN" dirty="0"/>
              <a:t>Trap</a:t>
            </a:r>
            <a:r>
              <a:rPr kumimoji="1" lang="zh-CN" altLang="en-US" dirty="0"/>
              <a:t> </a:t>
            </a:r>
            <a:r>
              <a:rPr kumimoji="1" lang="en-US" altLang="zh-CN" dirty="0"/>
              <a:t>&amp;</a:t>
            </a:r>
            <a:r>
              <a:rPr kumimoji="1" lang="zh-CN" altLang="en-US" dirty="0"/>
              <a:t> </a:t>
            </a:r>
            <a:r>
              <a:rPr kumimoji="1" lang="en-US" altLang="zh-CN" dirty="0"/>
              <a:t>Emulate</a:t>
            </a:r>
            <a:endParaRPr kumimoji="1" lang="zh-CN" altLang="en-US" dirty="0"/>
          </a:p>
        </p:txBody>
      </p:sp>
      <p:sp>
        <p:nvSpPr>
          <p:cNvPr id="3" name="内容占位符 2">
            <a:extLst>
              <a:ext uri="{FF2B5EF4-FFF2-40B4-BE49-F238E27FC236}">
                <a16:creationId xmlns:a16="http://schemas.microsoft.com/office/drawing/2014/main" id="{290A2158-E21D-824D-8BEC-157EE3780500}"/>
              </a:ext>
            </a:extLst>
          </p:cNvPr>
          <p:cNvSpPr>
            <a:spLocks noGrp="1"/>
          </p:cNvSpPr>
          <p:nvPr>
            <p:ph idx="1"/>
          </p:nvPr>
        </p:nvSpPr>
        <p:spPr/>
        <p:txBody>
          <a:bodyPr>
            <a:normAutofit/>
          </a:bodyPr>
          <a:lstStyle/>
          <a:p>
            <a:r>
              <a:rPr kumimoji="1" lang="zh-CN" altLang="en-US" sz="2000" dirty="0"/>
              <a:t>第一步（</a:t>
            </a:r>
            <a:r>
              <a:rPr kumimoji="1" lang="en-US" altLang="zh-CN" sz="2000" dirty="0"/>
              <a:t>Trap</a:t>
            </a:r>
            <a:r>
              <a:rPr kumimoji="1" lang="zh-CN" altLang="en-US" sz="2000" dirty="0"/>
              <a:t>）</a:t>
            </a:r>
            <a:endParaRPr kumimoji="1" lang="en-US" altLang="zh-CN" sz="2000" dirty="0"/>
          </a:p>
          <a:p>
            <a:pPr lvl="1"/>
            <a:r>
              <a:rPr kumimoji="1" lang="zh-CN" altLang="en-US" sz="1800" dirty="0"/>
              <a:t>捕捉所有系统</a:t>
            </a:r>
            <a:r>
              <a:rPr kumimoji="1" lang="en-US" altLang="zh-CN" sz="1800" dirty="0"/>
              <a:t>ISA</a:t>
            </a:r>
            <a:r>
              <a:rPr kumimoji="1" lang="zh-CN" altLang="en-US" sz="1800" dirty="0"/>
              <a:t>并陷入</a:t>
            </a:r>
            <a:endParaRPr kumimoji="1" lang="en-US" altLang="zh-CN" sz="1800" dirty="0"/>
          </a:p>
          <a:p>
            <a:r>
              <a:rPr kumimoji="1" lang="zh-CN" altLang="en-US" sz="2000" dirty="0"/>
              <a:t>第二步（</a:t>
            </a:r>
            <a:r>
              <a:rPr kumimoji="1" lang="en-US" altLang="zh-CN" sz="2000" dirty="0"/>
              <a:t>Emulate</a:t>
            </a:r>
            <a:r>
              <a:rPr kumimoji="1" lang="zh-CN" altLang="en-US" sz="2000" dirty="0"/>
              <a:t>）</a:t>
            </a:r>
            <a:endParaRPr kumimoji="1" lang="en-US" altLang="zh-CN" sz="2000" dirty="0"/>
          </a:p>
          <a:p>
            <a:pPr lvl="1"/>
            <a:r>
              <a:rPr kumimoji="1" lang="zh-CN" altLang="en-US" sz="1800" dirty="0"/>
              <a:t>由具体指令实现相应虚拟化</a:t>
            </a:r>
            <a:endParaRPr kumimoji="1" lang="en-US" altLang="zh-CN" sz="1800" dirty="0"/>
          </a:p>
          <a:p>
            <a:pPr lvl="2"/>
            <a:r>
              <a:rPr kumimoji="1" lang="zh-CN" altLang="en-US" sz="1800" dirty="0"/>
              <a:t>控制虚拟处理器行为</a:t>
            </a:r>
            <a:endParaRPr kumimoji="1" lang="en-US" altLang="zh-CN" sz="1800" dirty="0"/>
          </a:p>
          <a:p>
            <a:pPr lvl="2"/>
            <a:r>
              <a:rPr kumimoji="1" lang="zh-CN" altLang="en-US" sz="1800" dirty="0"/>
              <a:t>控制虚拟内存行为</a:t>
            </a:r>
            <a:endParaRPr kumimoji="1" lang="en-US" altLang="zh-CN" sz="1800" dirty="0"/>
          </a:p>
          <a:p>
            <a:pPr lvl="2"/>
            <a:r>
              <a:rPr kumimoji="1" lang="zh-CN" altLang="en-US" sz="1800" dirty="0"/>
              <a:t>控制虚拟设备行为</a:t>
            </a:r>
            <a:endParaRPr kumimoji="1" lang="en-US" altLang="zh-CN" sz="1800" dirty="0"/>
          </a:p>
          <a:p>
            <a:r>
              <a:rPr kumimoji="1" lang="zh-CN" altLang="en-US" sz="2000" dirty="0"/>
              <a:t>第三步</a:t>
            </a:r>
            <a:endParaRPr kumimoji="1" lang="en-US" altLang="zh-CN" sz="2000" dirty="0"/>
          </a:p>
          <a:p>
            <a:pPr lvl="1"/>
            <a:r>
              <a:rPr kumimoji="1" lang="zh-CN" altLang="en-US" sz="1800" dirty="0"/>
              <a:t>回到虚拟机继续执行</a:t>
            </a:r>
          </a:p>
        </p:txBody>
      </p:sp>
      <p:sp>
        <p:nvSpPr>
          <p:cNvPr id="4" name="灯片编号占位符 3">
            <a:extLst>
              <a:ext uri="{FF2B5EF4-FFF2-40B4-BE49-F238E27FC236}">
                <a16:creationId xmlns:a16="http://schemas.microsoft.com/office/drawing/2014/main" id="{53C6FC0B-1666-3D45-B74E-B4EDC545F86C}"/>
              </a:ext>
            </a:extLst>
          </p:cNvPr>
          <p:cNvSpPr>
            <a:spLocks noGrp="1"/>
          </p:cNvSpPr>
          <p:nvPr>
            <p:ph type="sldNum" sz="quarter" idx="12"/>
          </p:nvPr>
        </p:nvSpPr>
        <p:spPr/>
        <p:txBody>
          <a:bodyPr/>
          <a:lstStyle/>
          <a:p>
            <a:fld id="{ADE361C3-C043-4A6E-BDCE-8DA1E7D90A3B}" type="slidenum">
              <a:rPr lang="zh-CN" altLang="en-US" smtClean="0"/>
              <a:t>25</a:t>
            </a:fld>
            <a:endParaRPr lang="zh-CN" altLang="en-US"/>
          </a:p>
        </p:txBody>
      </p:sp>
      <p:sp>
        <p:nvSpPr>
          <p:cNvPr id="5" name="页脚占位符 4">
            <a:extLst>
              <a:ext uri="{FF2B5EF4-FFF2-40B4-BE49-F238E27FC236}">
                <a16:creationId xmlns:a16="http://schemas.microsoft.com/office/drawing/2014/main" id="{FBDC638F-1CE1-8543-AEF2-D35C4235E7F3}"/>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37" name="Rectangle 22">
            <a:extLst>
              <a:ext uri="{FF2B5EF4-FFF2-40B4-BE49-F238E27FC236}">
                <a16:creationId xmlns:a16="http://schemas.microsoft.com/office/drawing/2014/main" id="{0B7744F1-D46A-384D-BC7B-5242B14016F6}"/>
              </a:ext>
            </a:extLst>
          </p:cNvPr>
          <p:cNvSpPr/>
          <p:nvPr/>
        </p:nvSpPr>
        <p:spPr>
          <a:xfrm>
            <a:off x="4536639" y="2274605"/>
            <a:ext cx="4524805" cy="1580817"/>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b" anchorCtr="0"/>
          <a:lstStyle/>
          <a:p>
            <a:pPr algn="r"/>
            <a:r>
              <a:rPr lang="en-US" altLang="zh-CN" sz="1600" dirty="0">
                <a:solidFill>
                  <a:srgbClr val="BE384B"/>
                </a:solidFill>
                <a:cs typeface="Arial Narrow"/>
              </a:rPr>
              <a:t>VMM</a:t>
            </a:r>
            <a:endParaRPr lang="en-US" sz="1600" dirty="0">
              <a:solidFill>
                <a:srgbClr val="BE384B"/>
              </a:solidFill>
              <a:cs typeface="Arial Narrow"/>
            </a:endParaRPr>
          </a:p>
        </p:txBody>
      </p:sp>
      <p:sp>
        <p:nvSpPr>
          <p:cNvPr id="39" name="Rectangle 24">
            <a:extLst>
              <a:ext uri="{FF2B5EF4-FFF2-40B4-BE49-F238E27FC236}">
                <a16:creationId xmlns:a16="http://schemas.microsoft.com/office/drawing/2014/main" id="{1AB87D7B-C715-574F-B068-5BB37DAF80FF}"/>
              </a:ext>
            </a:extLst>
          </p:cNvPr>
          <p:cNvSpPr/>
          <p:nvPr/>
        </p:nvSpPr>
        <p:spPr>
          <a:xfrm>
            <a:off x="4534988" y="4170675"/>
            <a:ext cx="4524805" cy="343940"/>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a:solidFill>
                  <a:srgbClr val="BE384B"/>
                </a:solidFill>
                <a:cs typeface="Arial Narrow"/>
              </a:rPr>
              <a:t>Hardware</a:t>
            </a:r>
            <a:endParaRPr lang="en-US" sz="1600" dirty="0">
              <a:solidFill>
                <a:srgbClr val="BE384B"/>
              </a:solidFill>
              <a:cs typeface="Arial Narrow"/>
            </a:endParaRPr>
          </a:p>
        </p:txBody>
      </p:sp>
      <p:sp>
        <p:nvSpPr>
          <p:cNvPr id="40" name="Rectangle 27">
            <a:extLst>
              <a:ext uri="{FF2B5EF4-FFF2-40B4-BE49-F238E27FC236}">
                <a16:creationId xmlns:a16="http://schemas.microsoft.com/office/drawing/2014/main" id="{7D185C25-ADC0-A142-A161-66F21FBA8F7B}"/>
              </a:ext>
            </a:extLst>
          </p:cNvPr>
          <p:cNvSpPr/>
          <p:nvPr/>
        </p:nvSpPr>
        <p:spPr>
          <a:xfrm>
            <a:off x="4536638" y="1633364"/>
            <a:ext cx="4524806" cy="365405"/>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solidFill>
                  <a:srgbClr val="BE384B"/>
                </a:solidFill>
                <a:cs typeface="Arial Narrow"/>
              </a:rPr>
              <a:t>VM</a:t>
            </a:r>
            <a:endParaRPr lang="en-US" sz="1600" dirty="0">
              <a:solidFill>
                <a:srgbClr val="BE384B"/>
              </a:solidFill>
              <a:cs typeface="Arial Narrow"/>
            </a:endParaRPr>
          </a:p>
        </p:txBody>
      </p:sp>
      <p:cxnSp>
        <p:nvCxnSpPr>
          <p:cNvPr id="41" name="Straight Connector 13">
            <a:extLst>
              <a:ext uri="{FF2B5EF4-FFF2-40B4-BE49-F238E27FC236}">
                <a16:creationId xmlns:a16="http://schemas.microsoft.com/office/drawing/2014/main" id="{99CAE213-E38C-A442-AFFC-F30364961B77}"/>
              </a:ext>
            </a:extLst>
          </p:cNvPr>
          <p:cNvCxnSpPr>
            <a:cxnSpLocks/>
          </p:cNvCxnSpPr>
          <p:nvPr/>
        </p:nvCxnSpPr>
        <p:spPr>
          <a:xfrm>
            <a:off x="4211960" y="4030356"/>
            <a:ext cx="5012092" cy="0"/>
          </a:xfrm>
          <a:prstGeom prst="line">
            <a:avLst/>
          </a:prstGeom>
          <a:ln>
            <a:solidFill>
              <a:srgbClr val="BE384B"/>
            </a:solidFill>
          </a:ln>
          <a:effectLst/>
        </p:spPr>
        <p:style>
          <a:lnRef idx="2">
            <a:schemeClr val="accent1"/>
          </a:lnRef>
          <a:fillRef idx="0">
            <a:schemeClr val="accent1"/>
          </a:fillRef>
          <a:effectRef idx="1">
            <a:schemeClr val="accent1"/>
          </a:effectRef>
          <a:fontRef idx="minor">
            <a:schemeClr val="tx1"/>
          </a:fontRef>
        </p:style>
      </p:cxnSp>
      <p:sp>
        <p:nvSpPr>
          <p:cNvPr id="54" name="文本框 53">
            <a:extLst>
              <a:ext uri="{FF2B5EF4-FFF2-40B4-BE49-F238E27FC236}">
                <a16:creationId xmlns:a16="http://schemas.microsoft.com/office/drawing/2014/main" id="{A95602EE-5390-9045-BE45-57EEDF9CA4C3}"/>
              </a:ext>
            </a:extLst>
          </p:cNvPr>
          <p:cNvSpPr txBox="1"/>
          <p:nvPr/>
        </p:nvSpPr>
        <p:spPr>
          <a:xfrm>
            <a:off x="5043708" y="1950862"/>
            <a:ext cx="1045782" cy="357045"/>
          </a:xfrm>
          <a:prstGeom prst="rect">
            <a:avLst/>
          </a:prstGeom>
          <a:noFill/>
        </p:spPr>
        <p:txBody>
          <a:bodyPr wrap="square" rtlCol="0">
            <a:spAutoFit/>
          </a:bodyPr>
          <a:lstStyle/>
          <a:p>
            <a:r>
              <a:rPr kumimoji="1" lang="zh-CN" altLang="en-US" dirty="0"/>
              <a:t>系统</a:t>
            </a:r>
            <a:r>
              <a:rPr kumimoji="1" lang="en-US" altLang="zh-CN" dirty="0"/>
              <a:t>ISA</a:t>
            </a:r>
            <a:endParaRPr kumimoji="1" lang="zh-CN" altLang="en-US" dirty="0"/>
          </a:p>
        </p:txBody>
      </p:sp>
      <p:sp>
        <p:nvSpPr>
          <p:cNvPr id="56" name="Rectangle 27">
            <a:extLst>
              <a:ext uri="{FF2B5EF4-FFF2-40B4-BE49-F238E27FC236}">
                <a16:creationId xmlns:a16="http://schemas.microsoft.com/office/drawing/2014/main" id="{EC97DA4C-8220-3740-952B-E6C6491255F5}"/>
              </a:ext>
            </a:extLst>
          </p:cNvPr>
          <p:cNvSpPr/>
          <p:nvPr/>
        </p:nvSpPr>
        <p:spPr>
          <a:xfrm>
            <a:off x="6089489" y="2350707"/>
            <a:ext cx="1751530" cy="420070"/>
          </a:xfrm>
          <a:prstGeom prst="rect">
            <a:avLst/>
          </a:prstGeom>
          <a:solidFill>
            <a:srgbClr val="BE384B"/>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600" dirty="0">
                <a:solidFill>
                  <a:schemeClr val="bg1"/>
                </a:solidFill>
                <a:cs typeface="Arial Narrow"/>
              </a:rPr>
              <a:t>虚拟处理器</a:t>
            </a:r>
            <a:endParaRPr lang="en-US" sz="1600" dirty="0">
              <a:solidFill>
                <a:schemeClr val="bg1"/>
              </a:solidFill>
              <a:cs typeface="Arial Narrow"/>
            </a:endParaRPr>
          </a:p>
        </p:txBody>
      </p:sp>
      <p:sp>
        <p:nvSpPr>
          <p:cNvPr id="57" name="Rectangle 27">
            <a:extLst>
              <a:ext uri="{FF2B5EF4-FFF2-40B4-BE49-F238E27FC236}">
                <a16:creationId xmlns:a16="http://schemas.microsoft.com/office/drawing/2014/main" id="{B426F52E-AAE6-AE49-972E-92572C9DEBC7}"/>
              </a:ext>
            </a:extLst>
          </p:cNvPr>
          <p:cNvSpPr/>
          <p:nvPr/>
        </p:nvSpPr>
        <p:spPr>
          <a:xfrm>
            <a:off x="6089489" y="2866015"/>
            <a:ext cx="1749525" cy="420070"/>
          </a:xfrm>
          <a:prstGeom prst="rect">
            <a:avLst/>
          </a:prstGeom>
          <a:solidFill>
            <a:srgbClr val="BE384B"/>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600" dirty="0">
                <a:solidFill>
                  <a:schemeClr val="bg1"/>
                </a:solidFill>
                <a:cs typeface="Arial Narrow"/>
              </a:rPr>
              <a:t>虚拟</a:t>
            </a:r>
            <a:r>
              <a:rPr lang="en-US" altLang="zh-CN" sz="1600" dirty="0">
                <a:solidFill>
                  <a:schemeClr val="bg1"/>
                </a:solidFill>
                <a:cs typeface="Arial Narrow"/>
              </a:rPr>
              <a:t>(</a:t>
            </a:r>
            <a:r>
              <a:rPr lang="zh-CN" altLang="en-US" sz="1600" dirty="0">
                <a:solidFill>
                  <a:schemeClr val="bg1"/>
                </a:solidFill>
                <a:cs typeface="Arial Narrow"/>
              </a:rPr>
              <a:t>物理</a:t>
            </a:r>
            <a:r>
              <a:rPr lang="en-US" altLang="zh-CN" sz="1600" dirty="0">
                <a:solidFill>
                  <a:schemeClr val="bg1"/>
                </a:solidFill>
                <a:cs typeface="Arial Narrow"/>
              </a:rPr>
              <a:t>)</a:t>
            </a:r>
            <a:r>
              <a:rPr lang="zh-CN" altLang="en-US" sz="1600" dirty="0">
                <a:solidFill>
                  <a:schemeClr val="bg1"/>
                </a:solidFill>
                <a:cs typeface="Arial Narrow"/>
              </a:rPr>
              <a:t>内存</a:t>
            </a:r>
            <a:endParaRPr lang="en-US" sz="1600" dirty="0">
              <a:solidFill>
                <a:schemeClr val="bg1"/>
              </a:solidFill>
              <a:cs typeface="Arial Narrow"/>
            </a:endParaRPr>
          </a:p>
        </p:txBody>
      </p:sp>
      <p:sp>
        <p:nvSpPr>
          <p:cNvPr id="58" name="Rectangle 27">
            <a:extLst>
              <a:ext uri="{FF2B5EF4-FFF2-40B4-BE49-F238E27FC236}">
                <a16:creationId xmlns:a16="http://schemas.microsoft.com/office/drawing/2014/main" id="{C4C89E03-3154-184A-BA59-304607522B41}"/>
              </a:ext>
            </a:extLst>
          </p:cNvPr>
          <p:cNvSpPr/>
          <p:nvPr/>
        </p:nvSpPr>
        <p:spPr>
          <a:xfrm>
            <a:off x="6089489" y="3371686"/>
            <a:ext cx="1749524" cy="420070"/>
          </a:xfrm>
          <a:prstGeom prst="rect">
            <a:avLst/>
          </a:prstGeom>
          <a:solidFill>
            <a:srgbClr val="BE384B"/>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600" dirty="0">
                <a:solidFill>
                  <a:schemeClr val="bg1"/>
                </a:solidFill>
                <a:cs typeface="Arial Narrow"/>
              </a:rPr>
              <a:t>虚拟设备</a:t>
            </a:r>
            <a:endParaRPr lang="en-US" sz="1600" dirty="0">
              <a:solidFill>
                <a:schemeClr val="bg1"/>
              </a:solidFill>
              <a:cs typeface="Arial Narrow"/>
            </a:endParaRPr>
          </a:p>
        </p:txBody>
      </p:sp>
      <p:cxnSp>
        <p:nvCxnSpPr>
          <p:cNvPr id="79" name="肘形连接符 78">
            <a:extLst>
              <a:ext uri="{FF2B5EF4-FFF2-40B4-BE49-F238E27FC236}">
                <a16:creationId xmlns:a16="http://schemas.microsoft.com/office/drawing/2014/main" id="{53CDDE60-66CF-1C41-9263-C61A258ABB53}"/>
              </a:ext>
            </a:extLst>
          </p:cNvPr>
          <p:cNvCxnSpPr>
            <a:cxnSpLocks/>
            <a:stCxn id="58" idx="3"/>
          </p:cNvCxnSpPr>
          <p:nvPr/>
        </p:nvCxnSpPr>
        <p:spPr>
          <a:xfrm flipV="1">
            <a:off x="7839012" y="1830764"/>
            <a:ext cx="688916" cy="1750957"/>
          </a:xfrm>
          <a:prstGeom prst="bentConnector2">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4" name="直线连接符 83">
            <a:extLst>
              <a:ext uri="{FF2B5EF4-FFF2-40B4-BE49-F238E27FC236}">
                <a16:creationId xmlns:a16="http://schemas.microsoft.com/office/drawing/2014/main" id="{2389B498-6A64-E049-9347-FB2059991074}"/>
              </a:ext>
            </a:extLst>
          </p:cNvPr>
          <p:cNvCxnSpPr/>
          <p:nvPr/>
        </p:nvCxnSpPr>
        <p:spPr>
          <a:xfrm>
            <a:off x="7839012" y="2560742"/>
            <a:ext cx="68891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线连接符 84">
            <a:extLst>
              <a:ext uri="{FF2B5EF4-FFF2-40B4-BE49-F238E27FC236}">
                <a16:creationId xmlns:a16="http://schemas.microsoft.com/office/drawing/2014/main" id="{3E283653-475D-764F-908E-00CFE74D1FD9}"/>
              </a:ext>
            </a:extLst>
          </p:cNvPr>
          <p:cNvCxnSpPr/>
          <p:nvPr/>
        </p:nvCxnSpPr>
        <p:spPr>
          <a:xfrm>
            <a:off x="7839012" y="3076050"/>
            <a:ext cx="68891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肘形连接符 86">
            <a:extLst>
              <a:ext uri="{FF2B5EF4-FFF2-40B4-BE49-F238E27FC236}">
                <a16:creationId xmlns:a16="http://schemas.microsoft.com/office/drawing/2014/main" id="{11B87CC9-18EC-2644-90E1-45A904785D33}"/>
              </a:ext>
            </a:extLst>
          </p:cNvPr>
          <p:cNvCxnSpPr>
            <a:cxnSpLocks/>
            <a:stCxn id="58" idx="1"/>
          </p:cNvCxnSpPr>
          <p:nvPr/>
        </p:nvCxnSpPr>
        <p:spPr>
          <a:xfrm rot="10800000">
            <a:off x="5043708" y="1844513"/>
            <a:ext cx="1045782" cy="1737209"/>
          </a:xfrm>
          <a:prstGeom prst="bentConnector2">
            <a:avLst/>
          </a:prstGeom>
          <a:ln w="38100">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89" name="直线连接符 88">
            <a:extLst>
              <a:ext uri="{FF2B5EF4-FFF2-40B4-BE49-F238E27FC236}">
                <a16:creationId xmlns:a16="http://schemas.microsoft.com/office/drawing/2014/main" id="{E8B82BEF-C0D4-7F41-B104-FE0A41EEB1DF}"/>
              </a:ext>
            </a:extLst>
          </p:cNvPr>
          <p:cNvCxnSpPr>
            <a:cxnSpLocks/>
          </p:cNvCxnSpPr>
          <p:nvPr/>
        </p:nvCxnSpPr>
        <p:spPr>
          <a:xfrm>
            <a:off x="5036436" y="3065013"/>
            <a:ext cx="1053053" cy="0"/>
          </a:xfrm>
          <a:prstGeom prst="line">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2" name="直线连接符 91">
            <a:extLst>
              <a:ext uri="{FF2B5EF4-FFF2-40B4-BE49-F238E27FC236}">
                <a16:creationId xmlns:a16="http://schemas.microsoft.com/office/drawing/2014/main" id="{6288B248-1ACA-C144-AFCB-F9240492EA4C}"/>
              </a:ext>
            </a:extLst>
          </p:cNvPr>
          <p:cNvCxnSpPr>
            <a:cxnSpLocks/>
          </p:cNvCxnSpPr>
          <p:nvPr/>
        </p:nvCxnSpPr>
        <p:spPr>
          <a:xfrm>
            <a:off x="5043707" y="2560742"/>
            <a:ext cx="1053053" cy="0"/>
          </a:xfrm>
          <a:prstGeom prst="line">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0898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9"/>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8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8"/>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6"/>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84"/>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85"/>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6" grpId="0" animBg="1"/>
      <p:bldP spid="57" grpId="0" animBg="1"/>
      <p:bldP spid="5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1FB807-34AA-194F-90EC-3749FC0AACDF}"/>
              </a:ext>
            </a:extLst>
          </p:cNvPr>
          <p:cNvSpPr>
            <a:spLocks noGrp="1"/>
          </p:cNvSpPr>
          <p:nvPr>
            <p:ph type="title"/>
          </p:nvPr>
        </p:nvSpPr>
        <p:spPr/>
        <p:txBody>
          <a:bodyPr/>
          <a:lstStyle/>
          <a:p>
            <a:r>
              <a:rPr kumimoji="1" lang="zh-CN" altLang="en-US" dirty="0"/>
              <a:t>系统虚拟化技术</a:t>
            </a:r>
          </a:p>
        </p:txBody>
      </p:sp>
      <p:sp>
        <p:nvSpPr>
          <p:cNvPr id="3" name="内容占位符 2">
            <a:extLst>
              <a:ext uri="{FF2B5EF4-FFF2-40B4-BE49-F238E27FC236}">
                <a16:creationId xmlns:a16="http://schemas.microsoft.com/office/drawing/2014/main" id="{EAF549AD-7F02-374B-A2F9-85A22995C62F}"/>
              </a:ext>
            </a:extLst>
          </p:cNvPr>
          <p:cNvSpPr>
            <a:spLocks noGrp="1"/>
          </p:cNvSpPr>
          <p:nvPr>
            <p:ph idx="1"/>
          </p:nvPr>
        </p:nvSpPr>
        <p:spPr/>
        <p:txBody>
          <a:bodyPr/>
          <a:lstStyle/>
          <a:p>
            <a:r>
              <a:rPr kumimoji="1" lang="zh-CN" altLang="en-US" dirty="0"/>
              <a:t>处理器虚拟化</a:t>
            </a:r>
            <a:endParaRPr kumimoji="1" lang="en-US" altLang="zh-CN" dirty="0"/>
          </a:p>
          <a:p>
            <a:pPr lvl="1"/>
            <a:r>
              <a:rPr kumimoji="1" lang="zh-CN" altLang="en-US" dirty="0"/>
              <a:t>捕捉系统</a:t>
            </a:r>
            <a:r>
              <a:rPr kumimoji="1" lang="en-US" altLang="zh-CN" dirty="0"/>
              <a:t>ISA</a:t>
            </a:r>
          </a:p>
          <a:p>
            <a:pPr lvl="1"/>
            <a:r>
              <a:rPr kumimoji="1" lang="zh-CN" altLang="en-US" dirty="0"/>
              <a:t>控制虚拟处理器的行为</a:t>
            </a:r>
            <a:endParaRPr kumimoji="1" lang="en-US" altLang="zh-CN" dirty="0"/>
          </a:p>
          <a:p>
            <a:r>
              <a:rPr kumimoji="1" lang="zh-CN" altLang="en-US" dirty="0"/>
              <a:t>内存虚拟化</a:t>
            </a:r>
            <a:endParaRPr kumimoji="1" lang="en-US" altLang="zh-CN" dirty="0"/>
          </a:p>
          <a:p>
            <a:pPr lvl="1"/>
            <a:r>
              <a:rPr kumimoji="1" lang="zh-CN" altLang="en-US" dirty="0"/>
              <a:t>提供“假”物理内存的抽象</a:t>
            </a:r>
            <a:endParaRPr kumimoji="1" lang="en-US" altLang="zh-CN" dirty="0"/>
          </a:p>
          <a:p>
            <a:r>
              <a:rPr kumimoji="1" lang="zh-CN" altLang="en-US" dirty="0"/>
              <a:t>设备虚拟化</a:t>
            </a:r>
            <a:endParaRPr kumimoji="1" lang="en-US" altLang="zh-CN" dirty="0"/>
          </a:p>
          <a:p>
            <a:pPr lvl="1"/>
            <a:r>
              <a:rPr kumimoji="1" lang="zh-CN" altLang="en-US" dirty="0"/>
              <a:t>提供虚拟的</a:t>
            </a:r>
            <a:r>
              <a:rPr kumimoji="1" lang="en-US" altLang="zh-CN" dirty="0"/>
              <a:t>I/O</a:t>
            </a:r>
            <a:r>
              <a:rPr kumimoji="1" lang="zh-CN" altLang="en-US" dirty="0"/>
              <a:t>设备</a:t>
            </a:r>
          </a:p>
        </p:txBody>
      </p:sp>
      <p:sp>
        <p:nvSpPr>
          <p:cNvPr id="4" name="灯片编号占位符 3">
            <a:extLst>
              <a:ext uri="{FF2B5EF4-FFF2-40B4-BE49-F238E27FC236}">
                <a16:creationId xmlns:a16="http://schemas.microsoft.com/office/drawing/2014/main" id="{B41EEA78-4114-9141-B3D4-9D07F1AA2C24}"/>
              </a:ext>
            </a:extLst>
          </p:cNvPr>
          <p:cNvSpPr>
            <a:spLocks noGrp="1"/>
          </p:cNvSpPr>
          <p:nvPr>
            <p:ph type="sldNum" sz="quarter" idx="12"/>
          </p:nvPr>
        </p:nvSpPr>
        <p:spPr/>
        <p:txBody>
          <a:bodyPr/>
          <a:lstStyle/>
          <a:p>
            <a:fld id="{ADE361C3-C043-4A6E-BDCE-8DA1E7D90A3B}" type="slidenum">
              <a:rPr lang="zh-CN" altLang="en-US" smtClean="0"/>
              <a:t>26</a:t>
            </a:fld>
            <a:endParaRPr lang="zh-CN" altLang="en-US"/>
          </a:p>
        </p:txBody>
      </p:sp>
      <p:sp>
        <p:nvSpPr>
          <p:cNvPr id="5" name="页脚占位符 4">
            <a:extLst>
              <a:ext uri="{FF2B5EF4-FFF2-40B4-BE49-F238E27FC236}">
                <a16:creationId xmlns:a16="http://schemas.microsoft.com/office/drawing/2014/main" id="{24A25645-F8C1-4F47-9894-CDA282A59125}"/>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2087772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7C3CFBB2-29A4-9845-909C-D2C6211C1301}"/>
              </a:ext>
            </a:extLst>
          </p:cNvPr>
          <p:cNvSpPr>
            <a:spLocks noGrp="1"/>
          </p:cNvSpPr>
          <p:nvPr>
            <p:ph type="title"/>
          </p:nvPr>
        </p:nvSpPr>
        <p:spPr/>
        <p:txBody>
          <a:bodyPr/>
          <a:lstStyle/>
          <a:p>
            <a:r>
              <a:rPr kumimoji="1" lang="zh-CN" altLang="en-US" b="1" dirty="0"/>
              <a:t>处理器虚拟化</a:t>
            </a:r>
          </a:p>
        </p:txBody>
      </p:sp>
      <p:sp>
        <p:nvSpPr>
          <p:cNvPr id="6" name="文本占位符 5">
            <a:extLst>
              <a:ext uri="{FF2B5EF4-FFF2-40B4-BE49-F238E27FC236}">
                <a16:creationId xmlns:a16="http://schemas.microsoft.com/office/drawing/2014/main" id="{88326478-0DD6-F849-B334-5BDB7DEEC82C}"/>
              </a:ext>
            </a:extLst>
          </p:cNvPr>
          <p:cNvSpPr>
            <a:spLocks noGrp="1"/>
          </p:cNvSpPr>
          <p:nvPr>
            <p:ph type="body" idx="1"/>
          </p:nvPr>
        </p:nvSpPr>
        <p:spPr/>
        <p:txBody>
          <a:bodyPr/>
          <a:lstStyle/>
          <a:p>
            <a:r>
              <a:rPr kumimoji="1" lang="en-US" altLang="zh-CN" dirty="0"/>
              <a:t>CPU</a:t>
            </a:r>
            <a:r>
              <a:rPr kumimoji="1" lang="zh-CN" altLang="en-US" dirty="0"/>
              <a:t> </a:t>
            </a:r>
            <a:r>
              <a:rPr kumimoji="1" lang="en-US" altLang="zh-CN" dirty="0"/>
              <a:t>Virtualization</a:t>
            </a:r>
            <a:endParaRPr kumimoji="1" lang="zh-CN" altLang="en-US" dirty="0"/>
          </a:p>
        </p:txBody>
      </p:sp>
      <p:sp>
        <p:nvSpPr>
          <p:cNvPr id="4" name="灯片编号占位符 3">
            <a:extLst>
              <a:ext uri="{FF2B5EF4-FFF2-40B4-BE49-F238E27FC236}">
                <a16:creationId xmlns:a16="http://schemas.microsoft.com/office/drawing/2014/main" id="{45F61D95-77C6-4F44-A6A2-DDF144D592FE}"/>
              </a:ext>
            </a:extLst>
          </p:cNvPr>
          <p:cNvSpPr>
            <a:spLocks noGrp="1"/>
          </p:cNvSpPr>
          <p:nvPr>
            <p:ph type="sldNum" sz="quarter" idx="12"/>
          </p:nvPr>
        </p:nvSpPr>
        <p:spPr/>
        <p:txBody>
          <a:bodyPr/>
          <a:lstStyle/>
          <a:p>
            <a:fld id="{ADE361C3-C043-4A6E-BDCE-8DA1E7D90A3B}" type="slidenum">
              <a:rPr lang="zh-CN" altLang="en-US" smtClean="0"/>
              <a:t>27</a:t>
            </a:fld>
            <a:endParaRPr lang="zh-CN" altLang="en-US"/>
          </a:p>
        </p:txBody>
      </p:sp>
      <p:sp>
        <p:nvSpPr>
          <p:cNvPr id="7" name="页脚占位符 4">
            <a:extLst>
              <a:ext uri="{FF2B5EF4-FFF2-40B4-BE49-F238E27FC236}">
                <a16:creationId xmlns:a16="http://schemas.microsoft.com/office/drawing/2014/main" id="{68F72CF8-9211-EE45-9468-F698C90541EC}"/>
              </a:ext>
            </a:extLst>
          </p:cNvPr>
          <p:cNvSpPr>
            <a:spLocks noGrp="1"/>
          </p:cNvSpPr>
          <p:nvPr>
            <p:ph type="ftr" sz="quarter" idx="3"/>
          </p:nvPr>
        </p:nvSpPr>
        <p:spPr>
          <a:xfrm>
            <a:off x="2553817" y="5305772"/>
            <a:ext cx="3962399" cy="304271"/>
          </a:xfrm>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7935659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616611A-1A07-DE4E-9A1C-2720C21AB3F6}"/>
              </a:ext>
            </a:extLst>
          </p:cNvPr>
          <p:cNvSpPr>
            <a:spLocks noGrp="1"/>
          </p:cNvSpPr>
          <p:nvPr>
            <p:ph type="title"/>
          </p:nvPr>
        </p:nvSpPr>
        <p:spPr/>
        <p:txBody>
          <a:bodyPr/>
          <a:lstStyle/>
          <a:p>
            <a:r>
              <a:rPr kumimoji="1" lang="zh-CN" altLang="en-US" dirty="0"/>
              <a:t>回顾：</a:t>
            </a:r>
            <a:r>
              <a:rPr kumimoji="1" lang="en-US" altLang="zh-CN" dirty="0"/>
              <a:t>ARM</a:t>
            </a:r>
            <a:r>
              <a:rPr kumimoji="1" lang="zh-CN" altLang="en-US" dirty="0"/>
              <a:t>的特权级</a:t>
            </a:r>
          </a:p>
        </p:txBody>
      </p:sp>
      <p:sp>
        <p:nvSpPr>
          <p:cNvPr id="3" name="内容占位符 2">
            <a:extLst>
              <a:ext uri="{FF2B5EF4-FFF2-40B4-BE49-F238E27FC236}">
                <a16:creationId xmlns:a16="http://schemas.microsoft.com/office/drawing/2014/main" id="{D3341415-20BD-1E46-B259-DAD29030BCEA}"/>
              </a:ext>
            </a:extLst>
          </p:cNvPr>
          <p:cNvSpPr>
            <a:spLocks noGrp="1"/>
          </p:cNvSpPr>
          <p:nvPr>
            <p:ph idx="1"/>
          </p:nvPr>
        </p:nvSpPr>
        <p:spPr/>
        <p:txBody>
          <a:bodyPr/>
          <a:lstStyle/>
          <a:p>
            <a:r>
              <a:rPr kumimoji="1" lang="en-US" altLang="zh-CN" dirty="0"/>
              <a:t>EL0:</a:t>
            </a:r>
            <a:r>
              <a:rPr kumimoji="1" lang="zh-CN" altLang="en-US" dirty="0"/>
              <a:t> 用户态进程</a:t>
            </a:r>
            <a:endParaRPr kumimoji="1" lang="en-US" altLang="zh-CN" dirty="0"/>
          </a:p>
          <a:p>
            <a:r>
              <a:rPr kumimoji="1" lang="en-US" altLang="zh-CN" dirty="0"/>
              <a:t>EL1:</a:t>
            </a:r>
            <a:r>
              <a:rPr kumimoji="1" lang="zh-CN" altLang="en-US" dirty="0"/>
              <a:t> 操作系统内核</a:t>
            </a:r>
          </a:p>
        </p:txBody>
      </p:sp>
      <p:sp>
        <p:nvSpPr>
          <p:cNvPr id="4" name="灯片编号占位符 3">
            <a:extLst>
              <a:ext uri="{FF2B5EF4-FFF2-40B4-BE49-F238E27FC236}">
                <a16:creationId xmlns:a16="http://schemas.microsoft.com/office/drawing/2014/main" id="{F6082A08-29B4-734C-9025-49A9786D4A3A}"/>
              </a:ext>
            </a:extLst>
          </p:cNvPr>
          <p:cNvSpPr>
            <a:spLocks noGrp="1"/>
          </p:cNvSpPr>
          <p:nvPr>
            <p:ph type="sldNum" sz="quarter" idx="12"/>
          </p:nvPr>
        </p:nvSpPr>
        <p:spPr/>
        <p:txBody>
          <a:bodyPr/>
          <a:lstStyle/>
          <a:p>
            <a:fld id="{ADE361C3-C043-4A6E-BDCE-8DA1E7D90A3B}" type="slidenum">
              <a:rPr lang="zh-CN" altLang="en-US" smtClean="0"/>
              <a:t>28</a:t>
            </a:fld>
            <a:endParaRPr lang="zh-CN" altLang="en-US" dirty="0"/>
          </a:p>
        </p:txBody>
      </p:sp>
      <p:sp>
        <p:nvSpPr>
          <p:cNvPr id="5" name="页脚占位符 4">
            <a:extLst>
              <a:ext uri="{FF2B5EF4-FFF2-40B4-BE49-F238E27FC236}">
                <a16:creationId xmlns:a16="http://schemas.microsoft.com/office/drawing/2014/main" id="{4CF379E8-2CD0-CF4B-8BEF-780E486A657E}"/>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
        <p:nvSpPr>
          <p:cNvPr id="7" name="Rectangle 22">
            <a:extLst>
              <a:ext uri="{FF2B5EF4-FFF2-40B4-BE49-F238E27FC236}">
                <a16:creationId xmlns:a16="http://schemas.microsoft.com/office/drawing/2014/main" id="{9D39D100-09F5-6B44-86DC-62062FC7B6E9}"/>
              </a:ext>
            </a:extLst>
          </p:cNvPr>
          <p:cNvSpPr/>
          <p:nvPr/>
        </p:nvSpPr>
        <p:spPr>
          <a:xfrm>
            <a:off x="4429636" y="2735209"/>
            <a:ext cx="4524805" cy="493860"/>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pPr algn="r"/>
            <a:r>
              <a:rPr lang="zh-CN" altLang="en-US" sz="1600" dirty="0">
                <a:solidFill>
                  <a:srgbClr val="BE384B"/>
                </a:solidFill>
                <a:cs typeface="Arial Narrow"/>
              </a:rPr>
              <a:t>操作系统</a:t>
            </a:r>
            <a:endParaRPr lang="en-US" sz="1600" dirty="0">
              <a:solidFill>
                <a:srgbClr val="BE384B"/>
              </a:solidFill>
              <a:cs typeface="Arial Narrow"/>
            </a:endParaRPr>
          </a:p>
        </p:txBody>
      </p:sp>
      <p:sp>
        <p:nvSpPr>
          <p:cNvPr id="8" name="Rectangle 24">
            <a:extLst>
              <a:ext uri="{FF2B5EF4-FFF2-40B4-BE49-F238E27FC236}">
                <a16:creationId xmlns:a16="http://schemas.microsoft.com/office/drawing/2014/main" id="{44882850-D759-F341-A93F-16A0F578A490}"/>
              </a:ext>
            </a:extLst>
          </p:cNvPr>
          <p:cNvSpPr/>
          <p:nvPr/>
        </p:nvSpPr>
        <p:spPr>
          <a:xfrm>
            <a:off x="4427985" y="3544322"/>
            <a:ext cx="4524805" cy="343940"/>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600" dirty="0">
                <a:solidFill>
                  <a:srgbClr val="BE384B"/>
                </a:solidFill>
                <a:cs typeface="Arial Narrow"/>
              </a:rPr>
              <a:t>硬件</a:t>
            </a:r>
            <a:endParaRPr lang="en-US" sz="1600" dirty="0">
              <a:solidFill>
                <a:srgbClr val="BE384B"/>
              </a:solidFill>
              <a:cs typeface="Arial Narrow"/>
            </a:endParaRPr>
          </a:p>
        </p:txBody>
      </p:sp>
      <p:sp>
        <p:nvSpPr>
          <p:cNvPr id="9" name="Rectangle 27">
            <a:extLst>
              <a:ext uri="{FF2B5EF4-FFF2-40B4-BE49-F238E27FC236}">
                <a16:creationId xmlns:a16="http://schemas.microsoft.com/office/drawing/2014/main" id="{8E35CD61-292F-2A4A-B4B6-6E56B20CAD9A}"/>
              </a:ext>
            </a:extLst>
          </p:cNvPr>
          <p:cNvSpPr/>
          <p:nvPr/>
        </p:nvSpPr>
        <p:spPr>
          <a:xfrm>
            <a:off x="4427984" y="2065412"/>
            <a:ext cx="4524806" cy="493859"/>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600" dirty="0">
                <a:solidFill>
                  <a:srgbClr val="BE384B"/>
                </a:solidFill>
                <a:cs typeface="Arial Narrow"/>
              </a:rPr>
              <a:t>进程</a:t>
            </a:r>
            <a:endParaRPr lang="en-US" sz="1600" dirty="0">
              <a:solidFill>
                <a:srgbClr val="BE384B"/>
              </a:solidFill>
              <a:cs typeface="Arial Narrow"/>
            </a:endParaRPr>
          </a:p>
        </p:txBody>
      </p:sp>
      <p:cxnSp>
        <p:nvCxnSpPr>
          <p:cNvPr id="10" name="Straight Connector 13">
            <a:extLst>
              <a:ext uri="{FF2B5EF4-FFF2-40B4-BE49-F238E27FC236}">
                <a16:creationId xmlns:a16="http://schemas.microsoft.com/office/drawing/2014/main" id="{408DDC4E-87EA-514F-B747-982862A89E40}"/>
              </a:ext>
            </a:extLst>
          </p:cNvPr>
          <p:cNvCxnSpPr>
            <a:cxnSpLocks/>
          </p:cNvCxnSpPr>
          <p:nvPr/>
        </p:nvCxnSpPr>
        <p:spPr>
          <a:xfrm>
            <a:off x="4104957" y="3404003"/>
            <a:ext cx="5012092" cy="0"/>
          </a:xfrm>
          <a:prstGeom prst="line">
            <a:avLst/>
          </a:prstGeom>
          <a:ln>
            <a:solidFill>
              <a:srgbClr val="BE384B"/>
            </a:solidFill>
          </a:ln>
          <a:effectLst/>
        </p:spPr>
        <p:style>
          <a:lnRef idx="2">
            <a:schemeClr val="accent1"/>
          </a:lnRef>
          <a:fillRef idx="0">
            <a:schemeClr val="accent1"/>
          </a:fillRef>
          <a:effectRef idx="1">
            <a:schemeClr val="accent1"/>
          </a:effectRef>
          <a:fontRef idx="minor">
            <a:schemeClr val="tx1"/>
          </a:fontRef>
        </p:style>
      </p:cxnSp>
      <p:sp>
        <p:nvSpPr>
          <p:cNvPr id="21" name="文本框 20">
            <a:extLst>
              <a:ext uri="{FF2B5EF4-FFF2-40B4-BE49-F238E27FC236}">
                <a16:creationId xmlns:a16="http://schemas.microsoft.com/office/drawing/2014/main" id="{1D3EB2AB-DDAD-F84B-A2AD-35551DA711AB}"/>
              </a:ext>
            </a:extLst>
          </p:cNvPr>
          <p:cNvSpPr txBox="1"/>
          <p:nvPr/>
        </p:nvSpPr>
        <p:spPr>
          <a:xfrm>
            <a:off x="3857702" y="2807586"/>
            <a:ext cx="595035" cy="369332"/>
          </a:xfrm>
          <a:prstGeom prst="rect">
            <a:avLst/>
          </a:prstGeom>
          <a:noFill/>
        </p:spPr>
        <p:txBody>
          <a:bodyPr wrap="none" rtlCol="0">
            <a:spAutoFit/>
          </a:bodyPr>
          <a:lstStyle/>
          <a:p>
            <a:r>
              <a:rPr kumimoji="1" lang="en-US" altLang="zh-CN" dirty="0"/>
              <a:t>EL1</a:t>
            </a:r>
            <a:endParaRPr kumimoji="1" lang="zh-CN" altLang="en-US" dirty="0"/>
          </a:p>
        </p:txBody>
      </p:sp>
      <p:sp>
        <p:nvSpPr>
          <p:cNvPr id="22" name="文本框 21">
            <a:extLst>
              <a:ext uri="{FF2B5EF4-FFF2-40B4-BE49-F238E27FC236}">
                <a16:creationId xmlns:a16="http://schemas.microsoft.com/office/drawing/2014/main" id="{2AD22DC7-41FB-9942-9F7A-0D7B78F87A35}"/>
              </a:ext>
            </a:extLst>
          </p:cNvPr>
          <p:cNvSpPr txBox="1"/>
          <p:nvPr/>
        </p:nvSpPr>
        <p:spPr>
          <a:xfrm>
            <a:off x="3857702" y="2163837"/>
            <a:ext cx="595035" cy="369332"/>
          </a:xfrm>
          <a:prstGeom prst="rect">
            <a:avLst/>
          </a:prstGeom>
          <a:noFill/>
        </p:spPr>
        <p:txBody>
          <a:bodyPr wrap="none" rtlCol="0">
            <a:spAutoFit/>
          </a:bodyPr>
          <a:lstStyle/>
          <a:p>
            <a:r>
              <a:rPr kumimoji="1" lang="en-US" altLang="zh-CN" dirty="0"/>
              <a:t>EL0</a:t>
            </a:r>
            <a:endParaRPr kumimoji="1" lang="zh-CN" altLang="en-US" dirty="0"/>
          </a:p>
        </p:txBody>
      </p:sp>
    </p:spTree>
    <p:extLst>
      <p:ext uri="{BB962C8B-B14F-4D97-AF65-F5344CB8AC3E}">
        <p14:creationId xmlns:p14="http://schemas.microsoft.com/office/powerpoint/2010/main" val="11189803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162BC4-C9DF-3740-83B9-36E17D0F3DC1}"/>
              </a:ext>
            </a:extLst>
          </p:cNvPr>
          <p:cNvSpPr>
            <a:spLocks noGrp="1"/>
          </p:cNvSpPr>
          <p:nvPr>
            <p:ph type="title"/>
          </p:nvPr>
        </p:nvSpPr>
        <p:spPr/>
        <p:txBody>
          <a:bodyPr/>
          <a:lstStyle/>
          <a:p>
            <a:r>
              <a:rPr kumimoji="1" lang="zh-CN" altLang="en-US" dirty="0"/>
              <a:t>处理器虚拟化：一种直接的实现方法</a:t>
            </a:r>
          </a:p>
        </p:txBody>
      </p:sp>
      <p:sp>
        <p:nvSpPr>
          <p:cNvPr id="3" name="内容占位符 2">
            <a:extLst>
              <a:ext uri="{FF2B5EF4-FFF2-40B4-BE49-F238E27FC236}">
                <a16:creationId xmlns:a16="http://schemas.microsoft.com/office/drawing/2014/main" id="{F523F786-DFFF-5746-B168-753B5CD3776E}"/>
              </a:ext>
            </a:extLst>
          </p:cNvPr>
          <p:cNvSpPr>
            <a:spLocks noGrp="1"/>
          </p:cNvSpPr>
          <p:nvPr>
            <p:ph idx="1"/>
          </p:nvPr>
        </p:nvSpPr>
        <p:spPr/>
        <p:txBody>
          <a:bodyPr>
            <a:normAutofit/>
          </a:bodyPr>
          <a:lstStyle/>
          <a:p>
            <a:r>
              <a:rPr kumimoji="1" lang="zh-CN" altLang="en-US" sz="2000" dirty="0"/>
              <a:t>把虚拟机当做应用程序</a:t>
            </a:r>
            <a:endParaRPr kumimoji="1" lang="en-US" altLang="zh-CN" sz="2000" dirty="0"/>
          </a:p>
          <a:p>
            <a:pPr lvl="1"/>
            <a:r>
              <a:rPr kumimoji="1" lang="zh-CN" altLang="en-US" sz="1800" dirty="0"/>
              <a:t>将虚拟机监控器运行在</a:t>
            </a:r>
            <a:r>
              <a:rPr kumimoji="1" lang="en-US" altLang="zh-CN" sz="1800" dirty="0"/>
              <a:t>EL1</a:t>
            </a:r>
          </a:p>
          <a:p>
            <a:pPr lvl="1"/>
            <a:r>
              <a:rPr kumimoji="1" lang="zh-CN" altLang="en-US" sz="1800" dirty="0"/>
              <a:t>将客户操作系统和其上的进程都运行在</a:t>
            </a:r>
            <a:r>
              <a:rPr kumimoji="1" lang="en-US" altLang="zh-CN" sz="1800" dirty="0"/>
              <a:t>EL0</a:t>
            </a:r>
          </a:p>
          <a:p>
            <a:pPr lvl="1"/>
            <a:r>
              <a:rPr kumimoji="1" lang="zh-CN" altLang="en-US" sz="1800" dirty="0"/>
              <a:t>当操作系统执行系统</a:t>
            </a:r>
            <a:r>
              <a:rPr kumimoji="1" lang="en-US" altLang="zh-CN" sz="1800" dirty="0"/>
              <a:t>ISA</a:t>
            </a:r>
            <a:r>
              <a:rPr kumimoji="1" lang="zh-CN" altLang="en-US" sz="1800" dirty="0"/>
              <a:t>指令时下陷</a:t>
            </a:r>
            <a:endParaRPr kumimoji="1" lang="en-US" altLang="zh-CN" sz="1800" dirty="0"/>
          </a:p>
          <a:p>
            <a:pPr lvl="2"/>
            <a:r>
              <a:rPr kumimoji="1" lang="zh-CN" altLang="en-US" sz="1600" dirty="0"/>
              <a:t>写入</a:t>
            </a:r>
            <a:r>
              <a:rPr kumimoji="1" lang="en-US" altLang="zh-CN" sz="1600" dirty="0"/>
              <a:t>TTBR0_EL1</a:t>
            </a:r>
          </a:p>
          <a:p>
            <a:pPr lvl="2"/>
            <a:r>
              <a:rPr kumimoji="1" lang="zh-CN" altLang="en-US" sz="1600" dirty="0"/>
              <a:t>执行</a:t>
            </a:r>
            <a:r>
              <a:rPr kumimoji="1" lang="en-US" altLang="zh-CN" sz="1600" dirty="0"/>
              <a:t>WFI</a:t>
            </a:r>
            <a:r>
              <a:rPr kumimoji="1" lang="zh-CN" altLang="en-US" sz="1600" dirty="0"/>
              <a:t>指令</a:t>
            </a:r>
            <a:endParaRPr kumimoji="1" lang="en-US" altLang="zh-CN" sz="1600" dirty="0"/>
          </a:p>
          <a:p>
            <a:pPr lvl="2"/>
            <a:r>
              <a:rPr kumimoji="1" lang="en-US" altLang="zh-CN" sz="1600" dirty="0"/>
              <a:t>…</a:t>
            </a:r>
          </a:p>
          <a:p>
            <a:pPr lvl="1"/>
            <a:endParaRPr kumimoji="1" lang="zh-CN" altLang="en-US" sz="1800" dirty="0"/>
          </a:p>
        </p:txBody>
      </p:sp>
      <p:sp>
        <p:nvSpPr>
          <p:cNvPr id="4" name="灯片编号占位符 3">
            <a:extLst>
              <a:ext uri="{FF2B5EF4-FFF2-40B4-BE49-F238E27FC236}">
                <a16:creationId xmlns:a16="http://schemas.microsoft.com/office/drawing/2014/main" id="{854863F1-55BE-6B46-B7E3-771EE542BE71}"/>
              </a:ext>
            </a:extLst>
          </p:cNvPr>
          <p:cNvSpPr>
            <a:spLocks noGrp="1"/>
          </p:cNvSpPr>
          <p:nvPr>
            <p:ph type="sldNum" sz="quarter" idx="12"/>
          </p:nvPr>
        </p:nvSpPr>
        <p:spPr/>
        <p:txBody>
          <a:bodyPr/>
          <a:lstStyle/>
          <a:p>
            <a:fld id="{ADE361C3-C043-4A6E-BDCE-8DA1E7D90A3B}" type="slidenum">
              <a:rPr lang="zh-CN" altLang="en-US" smtClean="0"/>
              <a:t>29</a:t>
            </a:fld>
            <a:endParaRPr lang="zh-CN" altLang="en-US"/>
          </a:p>
        </p:txBody>
      </p:sp>
      <p:sp>
        <p:nvSpPr>
          <p:cNvPr id="5" name="页脚占位符 4">
            <a:extLst>
              <a:ext uri="{FF2B5EF4-FFF2-40B4-BE49-F238E27FC236}">
                <a16:creationId xmlns:a16="http://schemas.microsoft.com/office/drawing/2014/main" id="{2CC34D61-73E3-5540-8DAB-34767657FC53}"/>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Rectangle 22">
            <a:extLst>
              <a:ext uri="{FF2B5EF4-FFF2-40B4-BE49-F238E27FC236}">
                <a16:creationId xmlns:a16="http://schemas.microsoft.com/office/drawing/2014/main" id="{27762E39-8086-8048-AC97-C79C99373D57}"/>
              </a:ext>
            </a:extLst>
          </p:cNvPr>
          <p:cNvSpPr/>
          <p:nvPr/>
        </p:nvSpPr>
        <p:spPr>
          <a:xfrm>
            <a:off x="3997588" y="3967627"/>
            <a:ext cx="5007779" cy="493860"/>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pPr algn="r"/>
            <a:r>
              <a:rPr lang="zh-CN" altLang="en-US" sz="1600" dirty="0">
                <a:solidFill>
                  <a:srgbClr val="BE384B"/>
                </a:solidFill>
                <a:cs typeface="Arial Narrow"/>
              </a:rPr>
              <a:t>虚拟机监控器</a:t>
            </a:r>
            <a:endParaRPr lang="en-US" sz="1600" dirty="0">
              <a:solidFill>
                <a:srgbClr val="BE384B"/>
              </a:solidFill>
              <a:cs typeface="Arial Narrow"/>
            </a:endParaRPr>
          </a:p>
        </p:txBody>
      </p:sp>
      <p:sp>
        <p:nvSpPr>
          <p:cNvPr id="7" name="Rectangle 24">
            <a:extLst>
              <a:ext uri="{FF2B5EF4-FFF2-40B4-BE49-F238E27FC236}">
                <a16:creationId xmlns:a16="http://schemas.microsoft.com/office/drawing/2014/main" id="{A9CF7902-0641-E74C-B98B-E84659385CDE}"/>
              </a:ext>
            </a:extLst>
          </p:cNvPr>
          <p:cNvSpPr/>
          <p:nvPr/>
        </p:nvSpPr>
        <p:spPr>
          <a:xfrm>
            <a:off x="3995937" y="4776740"/>
            <a:ext cx="5007779" cy="343940"/>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600" dirty="0">
                <a:solidFill>
                  <a:srgbClr val="BE384B"/>
                </a:solidFill>
                <a:cs typeface="Arial Narrow"/>
              </a:rPr>
              <a:t>硬件</a:t>
            </a:r>
            <a:endParaRPr lang="en-US" sz="1600" dirty="0">
              <a:solidFill>
                <a:srgbClr val="BE384B"/>
              </a:solidFill>
              <a:cs typeface="Arial Narrow"/>
            </a:endParaRPr>
          </a:p>
        </p:txBody>
      </p:sp>
      <p:sp>
        <p:nvSpPr>
          <p:cNvPr id="8" name="Rectangle 27">
            <a:extLst>
              <a:ext uri="{FF2B5EF4-FFF2-40B4-BE49-F238E27FC236}">
                <a16:creationId xmlns:a16="http://schemas.microsoft.com/office/drawing/2014/main" id="{420CFA05-79F5-8940-8A50-5D5EE6BD3D91}"/>
              </a:ext>
            </a:extLst>
          </p:cNvPr>
          <p:cNvSpPr/>
          <p:nvPr/>
        </p:nvSpPr>
        <p:spPr>
          <a:xfrm>
            <a:off x="3995936" y="3297830"/>
            <a:ext cx="1584176" cy="493859"/>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600" dirty="0">
                <a:solidFill>
                  <a:srgbClr val="BE384B"/>
                </a:solidFill>
                <a:cs typeface="Arial Narrow"/>
              </a:rPr>
              <a:t>虚拟机</a:t>
            </a:r>
            <a:r>
              <a:rPr lang="en-US" altLang="zh-CN" sz="1600" dirty="0">
                <a:solidFill>
                  <a:srgbClr val="BE384B"/>
                </a:solidFill>
                <a:cs typeface="Arial Narrow"/>
              </a:rPr>
              <a:t>1</a:t>
            </a:r>
            <a:endParaRPr lang="en-US" sz="1600" dirty="0">
              <a:solidFill>
                <a:srgbClr val="BE384B"/>
              </a:solidFill>
              <a:cs typeface="Arial Narrow"/>
            </a:endParaRPr>
          </a:p>
        </p:txBody>
      </p:sp>
      <p:cxnSp>
        <p:nvCxnSpPr>
          <p:cNvPr id="9" name="Straight Connector 13">
            <a:extLst>
              <a:ext uri="{FF2B5EF4-FFF2-40B4-BE49-F238E27FC236}">
                <a16:creationId xmlns:a16="http://schemas.microsoft.com/office/drawing/2014/main" id="{C44F0F31-A973-A44A-828F-513A7924C2C5}"/>
              </a:ext>
            </a:extLst>
          </p:cNvPr>
          <p:cNvCxnSpPr>
            <a:cxnSpLocks/>
          </p:cNvCxnSpPr>
          <p:nvPr/>
        </p:nvCxnSpPr>
        <p:spPr>
          <a:xfrm>
            <a:off x="3672909" y="4636421"/>
            <a:ext cx="5547079" cy="0"/>
          </a:xfrm>
          <a:prstGeom prst="line">
            <a:avLst/>
          </a:prstGeom>
          <a:ln>
            <a:solidFill>
              <a:srgbClr val="BE384B"/>
            </a:solidFill>
          </a:ln>
          <a:effectLst/>
        </p:spPr>
        <p:style>
          <a:lnRef idx="2">
            <a:schemeClr val="accent1"/>
          </a:lnRef>
          <a:fillRef idx="0">
            <a:schemeClr val="accent1"/>
          </a:fillRef>
          <a:effectRef idx="1">
            <a:schemeClr val="accent1"/>
          </a:effectRef>
          <a:fontRef idx="minor">
            <a:schemeClr val="tx1"/>
          </a:fontRef>
        </p:style>
      </p:cxnSp>
      <p:sp>
        <p:nvSpPr>
          <p:cNvPr id="10" name="文本框 9">
            <a:extLst>
              <a:ext uri="{FF2B5EF4-FFF2-40B4-BE49-F238E27FC236}">
                <a16:creationId xmlns:a16="http://schemas.microsoft.com/office/drawing/2014/main" id="{AC5D1B07-29DA-6846-A8BC-229EACFDFFED}"/>
              </a:ext>
            </a:extLst>
          </p:cNvPr>
          <p:cNvSpPr txBox="1"/>
          <p:nvPr/>
        </p:nvSpPr>
        <p:spPr>
          <a:xfrm>
            <a:off x="3425654" y="4040004"/>
            <a:ext cx="595035" cy="369332"/>
          </a:xfrm>
          <a:prstGeom prst="rect">
            <a:avLst/>
          </a:prstGeom>
          <a:noFill/>
        </p:spPr>
        <p:txBody>
          <a:bodyPr wrap="none" rtlCol="0">
            <a:spAutoFit/>
          </a:bodyPr>
          <a:lstStyle/>
          <a:p>
            <a:r>
              <a:rPr kumimoji="1" lang="en-US" altLang="zh-CN" dirty="0"/>
              <a:t>EL1</a:t>
            </a:r>
            <a:endParaRPr kumimoji="1" lang="zh-CN" altLang="en-US" dirty="0"/>
          </a:p>
        </p:txBody>
      </p:sp>
      <p:sp>
        <p:nvSpPr>
          <p:cNvPr id="11" name="文本框 10">
            <a:extLst>
              <a:ext uri="{FF2B5EF4-FFF2-40B4-BE49-F238E27FC236}">
                <a16:creationId xmlns:a16="http://schemas.microsoft.com/office/drawing/2014/main" id="{628AE5C3-AEED-C941-AAB7-1D5DFBC41F88}"/>
              </a:ext>
            </a:extLst>
          </p:cNvPr>
          <p:cNvSpPr txBox="1"/>
          <p:nvPr/>
        </p:nvSpPr>
        <p:spPr>
          <a:xfrm>
            <a:off x="3425654" y="3396255"/>
            <a:ext cx="595035" cy="369332"/>
          </a:xfrm>
          <a:prstGeom prst="rect">
            <a:avLst/>
          </a:prstGeom>
          <a:noFill/>
        </p:spPr>
        <p:txBody>
          <a:bodyPr wrap="none" rtlCol="0">
            <a:spAutoFit/>
          </a:bodyPr>
          <a:lstStyle/>
          <a:p>
            <a:r>
              <a:rPr kumimoji="1" lang="en-US" altLang="zh-CN" dirty="0"/>
              <a:t>EL0</a:t>
            </a:r>
            <a:endParaRPr kumimoji="1" lang="zh-CN" altLang="en-US" dirty="0"/>
          </a:p>
        </p:txBody>
      </p:sp>
      <p:sp>
        <p:nvSpPr>
          <p:cNvPr id="13" name="Rectangle 27">
            <a:extLst>
              <a:ext uri="{FF2B5EF4-FFF2-40B4-BE49-F238E27FC236}">
                <a16:creationId xmlns:a16="http://schemas.microsoft.com/office/drawing/2014/main" id="{AC2BDF07-93D8-8947-9B28-69EC64722531}"/>
              </a:ext>
            </a:extLst>
          </p:cNvPr>
          <p:cNvSpPr/>
          <p:nvPr/>
        </p:nvSpPr>
        <p:spPr>
          <a:xfrm>
            <a:off x="5725943" y="3285583"/>
            <a:ext cx="1584176" cy="493859"/>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600" dirty="0">
                <a:solidFill>
                  <a:srgbClr val="BE384B"/>
                </a:solidFill>
                <a:cs typeface="Arial Narrow"/>
              </a:rPr>
              <a:t>虚拟机</a:t>
            </a:r>
            <a:r>
              <a:rPr lang="en-US" altLang="zh-CN" sz="1600" dirty="0">
                <a:solidFill>
                  <a:srgbClr val="BE384B"/>
                </a:solidFill>
                <a:cs typeface="Arial Narrow"/>
              </a:rPr>
              <a:t>2</a:t>
            </a:r>
            <a:endParaRPr lang="en-US" sz="1600" dirty="0">
              <a:solidFill>
                <a:srgbClr val="BE384B"/>
              </a:solidFill>
              <a:cs typeface="Arial Narrow"/>
            </a:endParaRPr>
          </a:p>
        </p:txBody>
      </p:sp>
      <p:sp>
        <p:nvSpPr>
          <p:cNvPr id="14" name="Rectangle 27">
            <a:extLst>
              <a:ext uri="{FF2B5EF4-FFF2-40B4-BE49-F238E27FC236}">
                <a16:creationId xmlns:a16="http://schemas.microsoft.com/office/drawing/2014/main" id="{F06A6645-0AE9-1348-9067-FF3B197BE076}"/>
              </a:ext>
            </a:extLst>
          </p:cNvPr>
          <p:cNvSpPr/>
          <p:nvPr/>
        </p:nvSpPr>
        <p:spPr>
          <a:xfrm>
            <a:off x="7421191" y="3297830"/>
            <a:ext cx="1584176" cy="493859"/>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600" dirty="0">
                <a:solidFill>
                  <a:srgbClr val="BE384B"/>
                </a:solidFill>
                <a:cs typeface="Arial Narrow"/>
              </a:rPr>
              <a:t>虚拟机</a:t>
            </a:r>
            <a:r>
              <a:rPr lang="en-US" altLang="zh-CN" sz="1600" dirty="0">
                <a:solidFill>
                  <a:srgbClr val="BE384B"/>
                </a:solidFill>
                <a:cs typeface="Arial Narrow"/>
              </a:rPr>
              <a:t>N</a:t>
            </a:r>
            <a:endParaRPr lang="en-US" sz="1600" dirty="0">
              <a:solidFill>
                <a:srgbClr val="BE384B"/>
              </a:solidFill>
              <a:cs typeface="Arial Narrow"/>
            </a:endParaRPr>
          </a:p>
        </p:txBody>
      </p:sp>
    </p:spTree>
    <p:extLst>
      <p:ext uri="{BB962C8B-B14F-4D97-AF65-F5344CB8AC3E}">
        <p14:creationId xmlns:p14="http://schemas.microsoft.com/office/powerpoint/2010/main" val="1973904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05ADBB-23B9-8F45-8FEE-747DB1FA880E}"/>
              </a:ext>
            </a:extLst>
          </p:cNvPr>
          <p:cNvSpPr>
            <a:spLocks noGrp="1"/>
          </p:cNvSpPr>
          <p:nvPr>
            <p:ph type="title"/>
          </p:nvPr>
        </p:nvSpPr>
        <p:spPr/>
        <p:txBody>
          <a:bodyPr/>
          <a:lstStyle/>
          <a:p>
            <a:r>
              <a:rPr kumimoji="1" lang="en-US" altLang="zh-CN" dirty="0"/>
              <a:t>Trap</a:t>
            </a:r>
            <a:r>
              <a:rPr kumimoji="1" lang="zh-CN" altLang="en-US" dirty="0"/>
              <a:t> </a:t>
            </a:r>
            <a:r>
              <a:rPr kumimoji="1" lang="en-US" altLang="zh-CN" dirty="0"/>
              <a:t>&amp;</a:t>
            </a:r>
            <a:r>
              <a:rPr kumimoji="1" lang="zh-CN" altLang="en-US" dirty="0"/>
              <a:t> </a:t>
            </a:r>
            <a:r>
              <a:rPr kumimoji="1" lang="en-US" altLang="zh-CN" dirty="0"/>
              <a:t>Emulate</a:t>
            </a:r>
            <a:endParaRPr kumimoji="1" lang="zh-CN" altLang="en-US" dirty="0"/>
          </a:p>
        </p:txBody>
      </p:sp>
      <p:sp>
        <p:nvSpPr>
          <p:cNvPr id="3" name="内容占位符 2">
            <a:extLst>
              <a:ext uri="{FF2B5EF4-FFF2-40B4-BE49-F238E27FC236}">
                <a16:creationId xmlns:a16="http://schemas.microsoft.com/office/drawing/2014/main" id="{A52188D8-D84A-D149-8D3F-A40AC09F0E9F}"/>
              </a:ext>
            </a:extLst>
          </p:cNvPr>
          <p:cNvSpPr>
            <a:spLocks noGrp="1"/>
          </p:cNvSpPr>
          <p:nvPr>
            <p:ph idx="1"/>
          </p:nvPr>
        </p:nvSpPr>
        <p:spPr/>
        <p:txBody>
          <a:bodyPr/>
          <a:lstStyle/>
          <a:p>
            <a:r>
              <a:rPr kumimoji="1" lang="en-US" altLang="zh-CN" dirty="0"/>
              <a:t>Trap:</a:t>
            </a:r>
            <a:r>
              <a:rPr kumimoji="1" lang="zh-CN" altLang="en-US" dirty="0"/>
              <a:t> 在用户态</a:t>
            </a:r>
            <a:r>
              <a:rPr kumimoji="1" lang="en-US" altLang="zh-CN" dirty="0"/>
              <a:t>EL0</a:t>
            </a:r>
            <a:r>
              <a:rPr kumimoji="1" lang="zh-CN" altLang="en-US" dirty="0"/>
              <a:t>执行特权指令将陷入</a:t>
            </a:r>
            <a:r>
              <a:rPr kumimoji="1" lang="en-US" altLang="zh-CN" dirty="0"/>
              <a:t>EL1</a:t>
            </a:r>
            <a:r>
              <a:rPr kumimoji="1" lang="zh-CN" altLang="en-US" dirty="0"/>
              <a:t>的</a:t>
            </a:r>
            <a:r>
              <a:rPr kumimoji="1" lang="en-US" altLang="zh-CN" dirty="0"/>
              <a:t>VMM</a:t>
            </a:r>
            <a:r>
              <a:rPr kumimoji="1" lang="zh-CN" altLang="en-US" dirty="0"/>
              <a:t>中</a:t>
            </a:r>
            <a:endParaRPr kumimoji="1" lang="en-US" altLang="zh-CN" dirty="0"/>
          </a:p>
          <a:p>
            <a:r>
              <a:rPr kumimoji="1" lang="en-US" altLang="zh-CN" dirty="0"/>
              <a:t>Emulate</a:t>
            </a:r>
            <a:r>
              <a:rPr kumimoji="1" lang="zh-CN" altLang="en-US" dirty="0"/>
              <a:t>：这些指令的功能都由</a:t>
            </a:r>
            <a:r>
              <a:rPr kumimoji="1" lang="en-US" altLang="zh-CN" dirty="0"/>
              <a:t>VMM</a:t>
            </a:r>
            <a:r>
              <a:rPr kumimoji="1" lang="zh-CN" altLang="en-US" dirty="0"/>
              <a:t>内的函数实现</a:t>
            </a:r>
          </a:p>
        </p:txBody>
      </p:sp>
      <p:sp>
        <p:nvSpPr>
          <p:cNvPr id="4" name="灯片编号占位符 3">
            <a:extLst>
              <a:ext uri="{FF2B5EF4-FFF2-40B4-BE49-F238E27FC236}">
                <a16:creationId xmlns:a16="http://schemas.microsoft.com/office/drawing/2014/main" id="{8258BAD9-210E-1645-BC67-9987A237FFC9}"/>
              </a:ext>
            </a:extLst>
          </p:cNvPr>
          <p:cNvSpPr>
            <a:spLocks noGrp="1"/>
          </p:cNvSpPr>
          <p:nvPr>
            <p:ph type="sldNum" sz="quarter" idx="12"/>
          </p:nvPr>
        </p:nvSpPr>
        <p:spPr/>
        <p:txBody>
          <a:bodyPr/>
          <a:lstStyle/>
          <a:p>
            <a:fld id="{ADE361C3-C043-4A6E-BDCE-8DA1E7D90A3B}" type="slidenum">
              <a:rPr lang="zh-CN" altLang="en-US" smtClean="0"/>
              <a:t>30</a:t>
            </a:fld>
            <a:endParaRPr lang="zh-CN" altLang="en-US"/>
          </a:p>
        </p:txBody>
      </p:sp>
      <p:sp>
        <p:nvSpPr>
          <p:cNvPr id="5" name="页脚占位符 4">
            <a:extLst>
              <a:ext uri="{FF2B5EF4-FFF2-40B4-BE49-F238E27FC236}">
                <a16:creationId xmlns:a16="http://schemas.microsoft.com/office/drawing/2014/main" id="{E9087837-2495-1C47-BFE8-77E67C6E0811}"/>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21" name="Rectangle 22">
            <a:extLst>
              <a:ext uri="{FF2B5EF4-FFF2-40B4-BE49-F238E27FC236}">
                <a16:creationId xmlns:a16="http://schemas.microsoft.com/office/drawing/2014/main" id="{01F76485-BD6E-A24D-8072-F4CD1918EDAD}"/>
              </a:ext>
            </a:extLst>
          </p:cNvPr>
          <p:cNvSpPr/>
          <p:nvPr/>
        </p:nvSpPr>
        <p:spPr>
          <a:xfrm>
            <a:off x="2123728" y="3785235"/>
            <a:ext cx="5007779" cy="956119"/>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pPr algn="r"/>
            <a:r>
              <a:rPr lang="zh-CN" altLang="en-US" sz="1600" dirty="0">
                <a:solidFill>
                  <a:srgbClr val="BE384B"/>
                </a:solidFill>
                <a:cs typeface="Arial Narrow"/>
              </a:rPr>
              <a:t>虚拟机监控器</a:t>
            </a:r>
            <a:endParaRPr lang="en-US" sz="1600" dirty="0">
              <a:solidFill>
                <a:srgbClr val="BE384B"/>
              </a:solidFill>
              <a:cs typeface="Arial Narrow"/>
            </a:endParaRPr>
          </a:p>
        </p:txBody>
      </p:sp>
      <p:sp>
        <p:nvSpPr>
          <p:cNvPr id="22" name="Rectangle 24">
            <a:extLst>
              <a:ext uri="{FF2B5EF4-FFF2-40B4-BE49-F238E27FC236}">
                <a16:creationId xmlns:a16="http://schemas.microsoft.com/office/drawing/2014/main" id="{FB8151F0-DA50-CF42-AAA8-4DBB36FB19ED}"/>
              </a:ext>
            </a:extLst>
          </p:cNvPr>
          <p:cNvSpPr/>
          <p:nvPr/>
        </p:nvSpPr>
        <p:spPr>
          <a:xfrm>
            <a:off x="2122077" y="4847300"/>
            <a:ext cx="5007779" cy="343940"/>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zh-CN" altLang="en-US" sz="1600" dirty="0">
                <a:solidFill>
                  <a:srgbClr val="BE384B"/>
                </a:solidFill>
                <a:cs typeface="Arial Narrow"/>
              </a:rPr>
              <a:t>硬件</a:t>
            </a:r>
            <a:endParaRPr lang="en-US" sz="1600" dirty="0">
              <a:solidFill>
                <a:srgbClr val="BE384B"/>
              </a:solidFill>
              <a:cs typeface="Arial Narrow"/>
            </a:endParaRPr>
          </a:p>
        </p:txBody>
      </p:sp>
      <p:sp>
        <p:nvSpPr>
          <p:cNvPr id="23" name="Rectangle 27">
            <a:extLst>
              <a:ext uri="{FF2B5EF4-FFF2-40B4-BE49-F238E27FC236}">
                <a16:creationId xmlns:a16="http://schemas.microsoft.com/office/drawing/2014/main" id="{EA70F06E-AECF-6047-983E-8FAEE1291CBA}"/>
              </a:ext>
            </a:extLst>
          </p:cNvPr>
          <p:cNvSpPr/>
          <p:nvPr/>
        </p:nvSpPr>
        <p:spPr>
          <a:xfrm>
            <a:off x="2122077" y="2857500"/>
            <a:ext cx="1584176" cy="493859"/>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solidFill>
                  <a:srgbClr val="BE384B"/>
                </a:solidFill>
                <a:cs typeface="Arial Narrow"/>
              </a:rPr>
              <a:t>VM</a:t>
            </a:r>
            <a:r>
              <a:rPr lang="zh-CN" altLang="en-US" sz="1600" dirty="0">
                <a:solidFill>
                  <a:srgbClr val="BE384B"/>
                </a:solidFill>
                <a:cs typeface="Arial Narrow"/>
              </a:rPr>
              <a:t>操作系统</a:t>
            </a:r>
            <a:endParaRPr lang="en-US" sz="1600" dirty="0">
              <a:solidFill>
                <a:srgbClr val="BE384B"/>
              </a:solidFill>
              <a:cs typeface="Arial Narrow"/>
            </a:endParaRPr>
          </a:p>
        </p:txBody>
      </p:sp>
      <p:sp>
        <p:nvSpPr>
          <p:cNvPr id="25" name="文本框 24">
            <a:extLst>
              <a:ext uri="{FF2B5EF4-FFF2-40B4-BE49-F238E27FC236}">
                <a16:creationId xmlns:a16="http://schemas.microsoft.com/office/drawing/2014/main" id="{4983FA1A-9BF1-7440-AE10-86D860DD6580}"/>
              </a:ext>
            </a:extLst>
          </p:cNvPr>
          <p:cNvSpPr txBox="1"/>
          <p:nvPr/>
        </p:nvSpPr>
        <p:spPr>
          <a:xfrm>
            <a:off x="1551794" y="3857613"/>
            <a:ext cx="595035" cy="369332"/>
          </a:xfrm>
          <a:prstGeom prst="rect">
            <a:avLst/>
          </a:prstGeom>
          <a:noFill/>
        </p:spPr>
        <p:txBody>
          <a:bodyPr wrap="none" rtlCol="0">
            <a:spAutoFit/>
          </a:bodyPr>
          <a:lstStyle/>
          <a:p>
            <a:r>
              <a:rPr kumimoji="1" lang="en-US" altLang="zh-CN" dirty="0"/>
              <a:t>EL1</a:t>
            </a:r>
            <a:endParaRPr kumimoji="1" lang="zh-CN" altLang="en-US" dirty="0"/>
          </a:p>
        </p:txBody>
      </p:sp>
      <p:sp>
        <p:nvSpPr>
          <p:cNvPr id="26" name="文本框 25">
            <a:extLst>
              <a:ext uri="{FF2B5EF4-FFF2-40B4-BE49-F238E27FC236}">
                <a16:creationId xmlns:a16="http://schemas.microsoft.com/office/drawing/2014/main" id="{C411CAF2-EE54-4747-B46D-472548ACF17E}"/>
              </a:ext>
            </a:extLst>
          </p:cNvPr>
          <p:cNvSpPr txBox="1"/>
          <p:nvPr/>
        </p:nvSpPr>
        <p:spPr>
          <a:xfrm>
            <a:off x="1551795" y="2955925"/>
            <a:ext cx="595035" cy="369332"/>
          </a:xfrm>
          <a:prstGeom prst="rect">
            <a:avLst/>
          </a:prstGeom>
          <a:noFill/>
        </p:spPr>
        <p:txBody>
          <a:bodyPr wrap="none" rtlCol="0">
            <a:spAutoFit/>
          </a:bodyPr>
          <a:lstStyle/>
          <a:p>
            <a:r>
              <a:rPr kumimoji="1" lang="en-US" altLang="zh-CN" dirty="0"/>
              <a:t>EL0</a:t>
            </a:r>
            <a:endParaRPr kumimoji="1" lang="zh-CN" altLang="en-US" dirty="0"/>
          </a:p>
        </p:txBody>
      </p:sp>
      <p:sp>
        <p:nvSpPr>
          <p:cNvPr id="27" name="Rectangle 27">
            <a:extLst>
              <a:ext uri="{FF2B5EF4-FFF2-40B4-BE49-F238E27FC236}">
                <a16:creationId xmlns:a16="http://schemas.microsoft.com/office/drawing/2014/main" id="{C51EE7C4-96DB-7A4B-BAEB-8968AA4FB30D}"/>
              </a:ext>
            </a:extLst>
          </p:cNvPr>
          <p:cNvSpPr/>
          <p:nvPr/>
        </p:nvSpPr>
        <p:spPr>
          <a:xfrm>
            <a:off x="3834704" y="2855408"/>
            <a:ext cx="1584176" cy="493859"/>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solidFill>
                  <a:srgbClr val="BE384B"/>
                </a:solidFill>
                <a:cs typeface="Arial Narrow"/>
              </a:rPr>
              <a:t>VM</a:t>
            </a:r>
            <a:r>
              <a:rPr lang="zh-CN" altLang="en-US" sz="1600" dirty="0">
                <a:solidFill>
                  <a:srgbClr val="BE384B"/>
                </a:solidFill>
                <a:cs typeface="Arial Narrow"/>
              </a:rPr>
              <a:t>进程</a:t>
            </a:r>
            <a:endParaRPr lang="en-US" sz="1600" dirty="0">
              <a:solidFill>
                <a:srgbClr val="BE384B"/>
              </a:solidFill>
              <a:cs typeface="Arial Narrow"/>
            </a:endParaRPr>
          </a:p>
        </p:txBody>
      </p:sp>
      <p:sp>
        <p:nvSpPr>
          <p:cNvPr id="28" name="Rectangle 27">
            <a:extLst>
              <a:ext uri="{FF2B5EF4-FFF2-40B4-BE49-F238E27FC236}">
                <a16:creationId xmlns:a16="http://schemas.microsoft.com/office/drawing/2014/main" id="{336E9C41-6E74-3D44-B3BB-87D3EF6D57E3}"/>
              </a:ext>
            </a:extLst>
          </p:cNvPr>
          <p:cNvSpPr/>
          <p:nvPr/>
        </p:nvSpPr>
        <p:spPr>
          <a:xfrm>
            <a:off x="5547332" y="2857500"/>
            <a:ext cx="1584176" cy="493859"/>
          </a:xfrm>
          <a:prstGeom prst="rect">
            <a:avLst/>
          </a:prstGeom>
          <a:solidFill>
            <a:schemeClr val="bg1"/>
          </a:solidFill>
          <a:ln>
            <a:solidFill>
              <a:srgbClr val="BE38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CN" sz="1600" dirty="0">
                <a:solidFill>
                  <a:srgbClr val="BE384B"/>
                </a:solidFill>
                <a:cs typeface="Arial Narrow"/>
              </a:rPr>
              <a:t>VM</a:t>
            </a:r>
            <a:r>
              <a:rPr lang="zh-CN" altLang="en-US" sz="1600" dirty="0">
                <a:solidFill>
                  <a:srgbClr val="BE384B"/>
                </a:solidFill>
                <a:cs typeface="Arial Narrow"/>
              </a:rPr>
              <a:t>进程</a:t>
            </a:r>
            <a:endParaRPr lang="en-US" sz="1600" dirty="0">
              <a:solidFill>
                <a:srgbClr val="BE384B"/>
              </a:solidFill>
              <a:cs typeface="Arial Narrow"/>
            </a:endParaRPr>
          </a:p>
        </p:txBody>
      </p:sp>
      <p:sp>
        <p:nvSpPr>
          <p:cNvPr id="37" name="Rectangle 41">
            <a:extLst>
              <a:ext uri="{FF2B5EF4-FFF2-40B4-BE49-F238E27FC236}">
                <a16:creationId xmlns:a16="http://schemas.microsoft.com/office/drawing/2014/main" id="{9ED81F71-3744-C94B-89CB-5C218D5C8F04}"/>
              </a:ext>
            </a:extLst>
          </p:cNvPr>
          <p:cNvSpPr/>
          <p:nvPr/>
        </p:nvSpPr>
        <p:spPr>
          <a:xfrm>
            <a:off x="2284991" y="3394368"/>
            <a:ext cx="1782953" cy="350042"/>
          </a:xfrm>
          <a:prstGeom prst="rect">
            <a:avLst/>
          </a:prstGeom>
          <a:solidFill>
            <a:schemeClr val="accent1"/>
          </a:solidFill>
          <a:ln w="19050">
            <a:no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lgn="ctr">
              <a:defRPr/>
            </a:pPr>
            <a:r>
              <a:rPr lang="en-US" sz="972" b="1" dirty="0">
                <a:solidFill>
                  <a:schemeClr val="bg1"/>
                </a:solidFill>
                <a:latin typeface="DengXian" charset="0"/>
                <a:ea typeface="DengXian" charset="0"/>
                <a:cs typeface="DengXian" charset="0"/>
              </a:rPr>
              <a:t>LDR     x0, =0x80004000</a:t>
            </a:r>
          </a:p>
          <a:p>
            <a:pPr>
              <a:defRPr/>
            </a:pPr>
            <a:r>
              <a:rPr lang="zh-CN" altLang="en-US" sz="972" b="1" dirty="0">
                <a:solidFill>
                  <a:schemeClr val="bg1"/>
                </a:solidFill>
                <a:latin typeface="DengXian" charset="0"/>
                <a:ea typeface="DengXian" charset="0"/>
                <a:cs typeface="DengXian" charset="0"/>
              </a:rPr>
              <a:t>    </a:t>
            </a:r>
            <a:r>
              <a:rPr lang="en-US" altLang="zh-CN" sz="972" b="1" dirty="0">
                <a:solidFill>
                  <a:schemeClr val="bg1"/>
                </a:solidFill>
                <a:latin typeface="DengXian" charset="0"/>
                <a:ea typeface="DengXian" charset="0"/>
                <a:cs typeface="DengXian" charset="0"/>
              </a:rPr>
              <a:t>MSR</a:t>
            </a:r>
            <a:r>
              <a:rPr lang="en-US" sz="972" b="1" dirty="0">
                <a:solidFill>
                  <a:schemeClr val="bg1"/>
                </a:solidFill>
                <a:latin typeface="DengXian" charset="0"/>
                <a:ea typeface="DengXian" charset="0"/>
                <a:cs typeface="DengXian" charset="0"/>
              </a:rPr>
              <a:t> </a:t>
            </a:r>
            <a:r>
              <a:rPr lang="zh-CN" altLang="en-US" sz="972" b="1" dirty="0">
                <a:solidFill>
                  <a:schemeClr val="bg1"/>
                </a:solidFill>
                <a:latin typeface="DengXian" charset="0"/>
                <a:ea typeface="DengXian" charset="0"/>
                <a:cs typeface="DengXian" charset="0"/>
              </a:rPr>
              <a:t>  </a:t>
            </a:r>
            <a:r>
              <a:rPr lang="en-US" altLang="zh-CN" sz="972" b="1" dirty="0">
                <a:solidFill>
                  <a:schemeClr val="bg1"/>
                </a:solidFill>
                <a:latin typeface="DengXian" charset="0"/>
                <a:ea typeface="DengXian" charset="0"/>
                <a:cs typeface="DengXian" charset="0"/>
              </a:rPr>
              <a:t>ttbr0_el1,</a:t>
            </a:r>
            <a:r>
              <a:rPr lang="zh-CN" altLang="en-US" sz="972" b="1" dirty="0">
                <a:solidFill>
                  <a:schemeClr val="bg1"/>
                </a:solidFill>
                <a:latin typeface="DengXian" charset="0"/>
                <a:ea typeface="DengXian" charset="0"/>
                <a:cs typeface="DengXian" charset="0"/>
              </a:rPr>
              <a:t> </a:t>
            </a:r>
            <a:r>
              <a:rPr lang="en-US" altLang="zh-CN" sz="972" b="1" dirty="0">
                <a:solidFill>
                  <a:schemeClr val="bg1"/>
                </a:solidFill>
                <a:latin typeface="DengXian" charset="0"/>
                <a:ea typeface="DengXian" charset="0"/>
                <a:cs typeface="DengXian" charset="0"/>
              </a:rPr>
              <a:t>x0</a:t>
            </a:r>
            <a:endParaRPr lang="en-US" sz="972" b="1" dirty="0">
              <a:solidFill>
                <a:schemeClr val="bg1"/>
              </a:solidFill>
              <a:latin typeface="DengXian" charset="0"/>
              <a:ea typeface="DengXian" charset="0"/>
              <a:cs typeface="DengXian" charset="0"/>
            </a:endParaRPr>
          </a:p>
        </p:txBody>
      </p:sp>
      <p:sp>
        <p:nvSpPr>
          <p:cNvPr id="38" name="Rectangle 41">
            <a:extLst>
              <a:ext uri="{FF2B5EF4-FFF2-40B4-BE49-F238E27FC236}">
                <a16:creationId xmlns:a16="http://schemas.microsoft.com/office/drawing/2014/main" id="{016C624E-0434-CD41-BDAE-A49D98403E6B}"/>
              </a:ext>
            </a:extLst>
          </p:cNvPr>
          <p:cNvSpPr/>
          <p:nvPr/>
        </p:nvSpPr>
        <p:spPr>
          <a:xfrm>
            <a:off x="2373925" y="4377442"/>
            <a:ext cx="1694017" cy="323165"/>
          </a:xfrm>
          <a:prstGeom prst="rect">
            <a:avLst/>
          </a:prstGeom>
          <a:solidFill>
            <a:schemeClr val="accent1"/>
          </a:solidFill>
          <a:ln w="19050">
            <a:no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altLang="zh-CN" sz="972" b="1" dirty="0">
                <a:solidFill>
                  <a:schemeClr val="bg1"/>
                </a:solidFill>
                <a:latin typeface="DengXian" charset="0"/>
                <a:ea typeface="DengXian" charset="0"/>
                <a:cs typeface="DengXian" charset="0"/>
              </a:rPr>
              <a:t>LDR     x0,</a:t>
            </a:r>
            <a:r>
              <a:rPr lang="zh-CN" altLang="en-US" sz="972" b="1" dirty="0">
                <a:solidFill>
                  <a:schemeClr val="bg1"/>
                </a:solidFill>
                <a:latin typeface="DengXian" charset="0"/>
                <a:ea typeface="DengXian" charset="0"/>
                <a:cs typeface="DengXian" charset="0"/>
              </a:rPr>
              <a:t> </a:t>
            </a:r>
            <a:r>
              <a:rPr lang="en-US" altLang="zh-CN" sz="972" b="1" dirty="0">
                <a:solidFill>
                  <a:schemeClr val="bg1"/>
                </a:solidFill>
                <a:latin typeface="DengXian" charset="0"/>
                <a:ea typeface="DengXian" charset="0"/>
                <a:cs typeface="DengXian" charset="0"/>
              </a:rPr>
              <a:t>=0x20001000 </a:t>
            </a:r>
          </a:p>
          <a:p>
            <a:pPr>
              <a:defRPr/>
            </a:pPr>
            <a:r>
              <a:rPr lang="en-US" altLang="zh-CN" sz="972" b="1" dirty="0">
                <a:solidFill>
                  <a:schemeClr val="bg1"/>
                </a:solidFill>
                <a:latin typeface="DengXian" charset="0"/>
                <a:ea typeface="DengXian" charset="0"/>
                <a:cs typeface="DengXian" charset="0"/>
              </a:rPr>
              <a:t>MSR</a:t>
            </a:r>
            <a:r>
              <a:rPr lang="en-US" sz="972" b="1" dirty="0">
                <a:solidFill>
                  <a:schemeClr val="bg1"/>
                </a:solidFill>
                <a:latin typeface="DengXian" charset="0"/>
                <a:ea typeface="DengXian" charset="0"/>
                <a:cs typeface="DengXian" charset="0"/>
              </a:rPr>
              <a:t> </a:t>
            </a:r>
            <a:r>
              <a:rPr lang="zh-CN" altLang="en-US" sz="972" b="1" dirty="0">
                <a:solidFill>
                  <a:schemeClr val="bg1"/>
                </a:solidFill>
                <a:latin typeface="DengXian" charset="0"/>
                <a:ea typeface="DengXian" charset="0"/>
                <a:cs typeface="DengXian" charset="0"/>
              </a:rPr>
              <a:t>   </a:t>
            </a:r>
            <a:r>
              <a:rPr lang="en-US" altLang="zh-CN" sz="972" b="1" dirty="0">
                <a:solidFill>
                  <a:schemeClr val="bg1"/>
                </a:solidFill>
                <a:latin typeface="DengXian" charset="0"/>
                <a:ea typeface="DengXian" charset="0"/>
                <a:cs typeface="DengXian" charset="0"/>
              </a:rPr>
              <a:t>ttbr0_el1</a:t>
            </a:r>
            <a:r>
              <a:rPr lang="en-US" sz="972" b="1" dirty="0">
                <a:solidFill>
                  <a:schemeClr val="bg1"/>
                </a:solidFill>
                <a:latin typeface="DengXian" charset="0"/>
                <a:ea typeface="DengXian" charset="0"/>
                <a:cs typeface="DengXian" charset="0"/>
              </a:rPr>
              <a:t>, </a:t>
            </a:r>
            <a:r>
              <a:rPr lang="en-US" altLang="zh-CN" sz="972" b="1" dirty="0">
                <a:solidFill>
                  <a:schemeClr val="bg1"/>
                </a:solidFill>
                <a:latin typeface="DengXian" charset="0"/>
                <a:ea typeface="DengXian" charset="0"/>
                <a:cs typeface="DengXian" charset="0"/>
              </a:rPr>
              <a:t>x0</a:t>
            </a:r>
            <a:endParaRPr lang="en-US" sz="972" b="1" dirty="0">
              <a:solidFill>
                <a:schemeClr val="bg1"/>
              </a:solidFill>
              <a:latin typeface="DengXian" charset="0"/>
              <a:ea typeface="DengXian" charset="0"/>
              <a:cs typeface="DengXian" charset="0"/>
            </a:endParaRPr>
          </a:p>
        </p:txBody>
      </p:sp>
      <p:cxnSp>
        <p:nvCxnSpPr>
          <p:cNvPr id="39" name="曲线连接符 38">
            <a:extLst>
              <a:ext uri="{FF2B5EF4-FFF2-40B4-BE49-F238E27FC236}">
                <a16:creationId xmlns:a16="http://schemas.microsoft.com/office/drawing/2014/main" id="{EE970DE3-C6B9-FA48-8A98-521724F7B490}"/>
              </a:ext>
            </a:extLst>
          </p:cNvPr>
          <p:cNvCxnSpPr>
            <a:cxnSpLocks/>
          </p:cNvCxnSpPr>
          <p:nvPr/>
        </p:nvCxnSpPr>
        <p:spPr>
          <a:xfrm rot="10800000" flipH="1" flipV="1">
            <a:off x="2196991" y="3650156"/>
            <a:ext cx="209598" cy="379630"/>
          </a:xfrm>
          <a:prstGeom prst="curvedConnector4">
            <a:avLst>
              <a:gd name="adj1" fmla="val -109066"/>
              <a:gd name="adj2" fmla="val 97755"/>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0" name="Rectangle 41">
            <a:extLst>
              <a:ext uri="{FF2B5EF4-FFF2-40B4-BE49-F238E27FC236}">
                <a16:creationId xmlns:a16="http://schemas.microsoft.com/office/drawing/2014/main" id="{9F76C52A-65F9-4543-A421-38499E19F097}"/>
              </a:ext>
            </a:extLst>
          </p:cNvPr>
          <p:cNvSpPr/>
          <p:nvPr/>
        </p:nvSpPr>
        <p:spPr>
          <a:xfrm>
            <a:off x="2417987" y="3970239"/>
            <a:ext cx="702139" cy="182353"/>
          </a:xfrm>
          <a:prstGeom prst="rect">
            <a:avLst/>
          </a:prstGeom>
          <a:solidFill>
            <a:schemeClr val="accent1"/>
          </a:solidFill>
          <a:ln w="19050">
            <a:no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lgn="ctr">
              <a:defRPr/>
            </a:pPr>
            <a:r>
              <a:rPr lang="en-US" altLang="zh-CN" sz="972" b="1" dirty="0">
                <a:solidFill>
                  <a:schemeClr val="bg1"/>
                </a:solidFill>
                <a:latin typeface="DengXian" charset="0"/>
                <a:ea typeface="DengXian" charset="0"/>
                <a:cs typeface="DengXian" charset="0"/>
              </a:rPr>
              <a:t>Emulate</a:t>
            </a:r>
            <a:endParaRPr lang="en-US" sz="972" b="1" dirty="0">
              <a:solidFill>
                <a:schemeClr val="bg1"/>
              </a:solidFill>
              <a:latin typeface="DengXian" charset="0"/>
              <a:ea typeface="DengXian" charset="0"/>
              <a:cs typeface="DengXian" charset="0"/>
            </a:endParaRPr>
          </a:p>
        </p:txBody>
      </p:sp>
      <p:sp>
        <p:nvSpPr>
          <p:cNvPr id="41" name="矩形 40">
            <a:extLst>
              <a:ext uri="{FF2B5EF4-FFF2-40B4-BE49-F238E27FC236}">
                <a16:creationId xmlns:a16="http://schemas.microsoft.com/office/drawing/2014/main" id="{C1C0095C-58DA-274B-8756-47B3FF0419BD}"/>
              </a:ext>
            </a:extLst>
          </p:cNvPr>
          <p:cNvSpPr/>
          <p:nvPr/>
        </p:nvSpPr>
        <p:spPr>
          <a:xfrm>
            <a:off x="2058372" y="3717907"/>
            <a:ext cx="577402" cy="323165"/>
          </a:xfrm>
          <a:prstGeom prst="rect">
            <a:avLst/>
          </a:prstGeom>
        </p:spPr>
        <p:txBody>
          <a:bodyPr wrap="none">
            <a:spAutoFit/>
          </a:bodyPr>
          <a:lstStyle/>
          <a:p>
            <a:r>
              <a:rPr lang="en-US" altLang="zh-CN" sz="1500" b="1" dirty="0">
                <a:solidFill>
                  <a:srgbClr val="0096FF"/>
                </a:solidFill>
                <a:latin typeface="DengXian" charset="0"/>
                <a:ea typeface="DengXian" charset="0"/>
                <a:cs typeface="DengXian" charset="0"/>
              </a:rPr>
              <a:t>Trap</a:t>
            </a:r>
            <a:endParaRPr lang="zh-CN" altLang="en-US" sz="1500" dirty="0">
              <a:solidFill>
                <a:srgbClr val="0096FF"/>
              </a:solidFill>
              <a:latin typeface="DengXian" charset="0"/>
              <a:ea typeface="DengXian" charset="0"/>
              <a:cs typeface="DengXian" charset="0"/>
            </a:endParaRPr>
          </a:p>
        </p:txBody>
      </p:sp>
      <p:sp>
        <p:nvSpPr>
          <p:cNvPr id="42" name="矩形 41">
            <a:extLst>
              <a:ext uri="{FF2B5EF4-FFF2-40B4-BE49-F238E27FC236}">
                <a16:creationId xmlns:a16="http://schemas.microsoft.com/office/drawing/2014/main" id="{7670F47E-97B0-864C-9ED3-E6E354BE26B0}"/>
              </a:ext>
            </a:extLst>
          </p:cNvPr>
          <p:cNvSpPr/>
          <p:nvPr/>
        </p:nvSpPr>
        <p:spPr>
          <a:xfrm>
            <a:off x="1523192" y="4356565"/>
            <a:ext cx="888385" cy="323165"/>
          </a:xfrm>
          <a:prstGeom prst="rect">
            <a:avLst/>
          </a:prstGeom>
        </p:spPr>
        <p:txBody>
          <a:bodyPr wrap="none">
            <a:spAutoFit/>
          </a:bodyPr>
          <a:lstStyle/>
          <a:p>
            <a:r>
              <a:rPr lang="en-US" altLang="zh-CN" sz="1500" b="1" dirty="0">
                <a:solidFill>
                  <a:srgbClr val="0096FF"/>
                </a:solidFill>
                <a:latin typeface="DengXian" charset="0"/>
                <a:ea typeface="DengXian" charset="0"/>
                <a:cs typeface="DengXian" charset="0"/>
              </a:rPr>
              <a:t>Emulate</a:t>
            </a:r>
            <a:endParaRPr lang="zh-CN" altLang="en-US" sz="1500" dirty="0">
              <a:solidFill>
                <a:srgbClr val="0096FF"/>
              </a:solidFill>
              <a:latin typeface="DengXian" charset="0"/>
              <a:ea typeface="DengXian" charset="0"/>
              <a:cs typeface="DengXian" charset="0"/>
            </a:endParaRPr>
          </a:p>
        </p:txBody>
      </p:sp>
      <p:cxnSp>
        <p:nvCxnSpPr>
          <p:cNvPr id="50" name="直线箭头连接符 49">
            <a:extLst>
              <a:ext uri="{FF2B5EF4-FFF2-40B4-BE49-F238E27FC236}">
                <a16:creationId xmlns:a16="http://schemas.microsoft.com/office/drawing/2014/main" id="{4F4BA11D-AE2B-7E49-ADB3-37987A543B78}"/>
              </a:ext>
            </a:extLst>
          </p:cNvPr>
          <p:cNvCxnSpPr>
            <a:cxnSpLocks/>
          </p:cNvCxnSpPr>
          <p:nvPr/>
        </p:nvCxnSpPr>
        <p:spPr>
          <a:xfrm>
            <a:off x="2843808" y="4101064"/>
            <a:ext cx="0" cy="251762"/>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6499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ARM</a:t>
            </a:r>
            <a:r>
              <a:rPr lang="zh-CN" altLang="en-US" dirty="0"/>
              <a:t>不是严格的可虚拟化架构</a:t>
            </a:r>
            <a:endParaRPr lang="en-US" altLang="zh-CN" dirty="0"/>
          </a:p>
        </p:txBody>
      </p:sp>
      <p:sp>
        <p:nvSpPr>
          <p:cNvPr id="3" name="内容占位符 2"/>
          <p:cNvSpPr>
            <a:spLocks noGrp="1"/>
          </p:cNvSpPr>
          <p:nvPr>
            <p:ph idx="1"/>
          </p:nvPr>
        </p:nvSpPr>
        <p:spPr/>
        <p:txBody>
          <a:bodyPr>
            <a:normAutofit/>
          </a:bodyPr>
          <a:lstStyle/>
          <a:p>
            <a:r>
              <a:rPr lang="zh-CN" altLang="en-US" dirty="0"/>
              <a:t>敏感指令</a:t>
            </a:r>
            <a:endParaRPr lang="en-US" altLang="zh-CN" dirty="0"/>
          </a:p>
          <a:p>
            <a:pPr lvl="1"/>
            <a:r>
              <a:rPr lang="zh-CN" altLang="en-US" sz="1800" dirty="0"/>
              <a:t>读写特殊寄存器或更改处理器状态</a:t>
            </a:r>
            <a:endParaRPr lang="en-US" altLang="zh-CN" sz="1800" dirty="0"/>
          </a:p>
          <a:p>
            <a:pPr lvl="1"/>
            <a:r>
              <a:rPr lang="zh-CN" altLang="en-US" sz="1800" dirty="0"/>
              <a:t>读写敏感内存：例如访问未映射内存、写入只读内存</a:t>
            </a:r>
            <a:endParaRPr lang="en-US" altLang="zh-CN" sz="1800" dirty="0"/>
          </a:p>
          <a:p>
            <a:pPr lvl="1"/>
            <a:r>
              <a:rPr lang="en-US" altLang="zh-CN" sz="1800" dirty="0"/>
              <a:t>I/O</a:t>
            </a:r>
            <a:r>
              <a:rPr lang="zh-CN" altLang="en-US" sz="1800" dirty="0"/>
              <a:t>指令</a:t>
            </a:r>
            <a:endParaRPr lang="en-US" altLang="zh-CN" sz="1800" dirty="0"/>
          </a:p>
          <a:p>
            <a:r>
              <a:rPr lang="zh-CN" altLang="en-US" dirty="0"/>
              <a:t>特权指令</a:t>
            </a:r>
            <a:endParaRPr lang="en-US" altLang="zh-CN" dirty="0"/>
          </a:p>
          <a:p>
            <a:pPr lvl="1"/>
            <a:r>
              <a:rPr lang="zh-CN" altLang="en-US" sz="1800" dirty="0"/>
              <a:t>在用户态执行会触发</a:t>
            </a:r>
            <a:r>
              <a:rPr lang="zh-CN" altLang="en-US" sz="1800" dirty="0">
                <a:solidFill>
                  <a:srgbClr val="BE384B"/>
                </a:solidFill>
              </a:rPr>
              <a:t>异常</a:t>
            </a:r>
            <a:r>
              <a:rPr lang="zh-CN" altLang="en-US" sz="1800" dirty="0">
                <a:solidFill>
                  <a:srgbClr val="404040"/>
                </a:solidFill>
              </a:rPr>
              <a:t>，并陷入内核态</a:t>
            </a:r>
            <a:endParaRPr lang="en-US" altLang="zh-CN" sz="1800" dirty="0">
              <a:solidFill>
                <a:srgbClr val="404040"/>
              </a:solidFill>
            </a:endParaRPr>
          </a:p>
          <a:p>
            <a:endParaRPr lang="zh-CN" altLang="en-US" sz="2000" dirty="0"/>
          </a:p>
        </p:txBody>
      </p:sp>
    </p:spTree>
    <p:extLst>
      <p:ext uri="{BB962C8B-B14F-4D97-AF65-F5344CB8AC3E}">
        <p14:creationId xmlns:p14="http://schemas.microsoft.com/office/powerpoint/2010/main" val="38806522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C954E9F-6039-9E41-BC35-6EB441CF044C}"/>
              </a:ext>
            </a:extLst>
          </p:cNvPr>
          <p:cNvSpPr>
            <a:spLocks noGrp="1"/>
          </p:cNvSpPr>
          <p:nvPr>
            <p:ph type="title"/>
          </p:nvPr>
        </p:nvSpPr>
        <p:spPr/>
        <p:txBody>
          <a:bodyPr/>
          <a:lstStyle/>
          <a:p>
            <a:r>
              <a:rPr lang="en-US" altLang="zh-CN" dirty="0"/>
              <a:t>ARM</a:t>
            </a:r>
            <a:r>
              <a:rPr lang="zh-CN" altLang="en-US" dirty="0"/>
              <a:t>不是严格的可虚拟化架构</a:t>
            </a:r>
            <a:endParaRPr kumimoji="1" lang="zh-CN" altLang="en-US" dirty="0"/>
          </a:p>
        </p:txBody>
      </p:sp>
      <p:sp>
        <p:nvSpPr>
          <p:cNvPr id="3" name="内容占位符 2">
            <a:extLst>
              <a:ext uri="{FF2B5EF4-FFF2-40B4-BE49-F238E27FC236}">
                <a16:creationId xmlns:a16="http://schemas.microsoft.com/office/drawing/2014/main" id="{DCFF7C2B-5238-6643-A457-96C535448A33}"/>
              </a:ext>
            </a:extLst>
          </p:cNvPr>
          <p:cNvSpPr>
            <a:spLocks noGrp="1"/>
          </p:cNvSpPr>
          <p:nvPr>
            <p:ph idx="1"/>
          </p:nvPr>
        </p:nvSpPr>
        <p:spPr/>
        <p:txBody>
          <a:bodyPr>
            <a:normAutofit/>
          </a:bodyPr>
          <a:lstStyle/>
          <a:p>
            <a:r>
              <a:rPr lang="zh-CN" altLang="en-US" dirty="0">
                <a:solidFill>
                  <a:srgbClr val="404040"/>
                </a:solidFill>
              </a:rPr>
              <a:t>在</a:t>
            </a:r>
            <a:r>
              <a:rPr lang="en-US" altLang="zh-CN" dirty="0">
                <a:solidFill>
                  <a:srgbClr val="404040"/>
                </a:solidFill>
              </a:rPr>
              <a:t>ARM</a:t>
            </a:r>
            <a:r>
              <a:rPr lang="zh-CN" altLang="en-US" dirty="0">
                <a:solidFill>
                  <a:srgbClr val="404040"/>
                </a:solidFill>
              </a:rPr>
              <a:t>中：不是所有敏感指令都属于特权指令</a:t>
            </a:r>
            <a:endParaRPr lang="en-US" altLang="zh-CN" dirty="0">
              <a:solidFill>
                <a:srgbClr val="404040"/>
              </a:solidFill>
            </a:endParaRPr>
          </a:p>
          <a:p>
            <a:r>
              <a:rPr lang="zh-CN" altLang="en-US" dirty="0"/>
              <a:t>例子</a:t>
            </a:r>
            <a:r>
              <a:rPr lang="en-US" altLang="zh-CN" dirty="0"/>
              <a:t>:</a:t>
            </a:r>
            <a:r>
              <a:rPr lang="zh-CN" altLang="en-US" dirty="0"/>
              <a:t> </a:t>
            </a:r>
            <a:r>
              <a:rPr lang="en-US" altLang="zh-CN" dirty="0">
                <a:solidFill>
                  <a:srgbClr val="BE384B"/>
                </a:solidFill>
              </a:rPr>
              <a:t>CPSID/CPSIE</a:t>
            </a:r>
            <a:r>
              <a:rPr lang="zh-CN" altLang="en-US" dirty="0"/>
              <a:t>指令</a:t>
            </a:r>
            <a:endParaRPr lang="en-US" altLang="zh-CN" sz="2000" dirty="0"/>
          </a:p>
          <a:p>
            <a:pPr lvl="1"/>
            <a:r>
              <a:rPr lang="en-US" altLang="zh-CN" dirty="0"/>
              <a:t>CPSID</a:t>
            </a:r>
            <a:r>
              <a:rPr lang="zh-CN" altLang="en-US" dirty="0"/>
              <a:t>和</a:t>
            </a:r>
            <a:r>
              <a:rPr lang="en-US" altLang="zh-CN" dirty="0"/>
              <a:t>CPSIE</a:t>
            </a:r>
            <a:r>
              <a:rPr lang="zh-CN" altLang="en-US" dirty="0"/>
              <a:t>分别可以关闭和打开中断</a:t>
            </a:r>
            <a:endParaRPr lang="zh-CN" altLang="en-US" sz="1600" dirty="0"/>
          </a:p>
          <a:p>
            <a:pPr lvl="1"/>
            <a:r>
              <a:rPr lang="zh-CN" altLang="en-US" dirty="0"/>
              <a:t>内核态执行：</a:t>
            </a:r>
            <a:r>
              <a:rPr lang="en-US" altLang="zh-CN" dirty="0"/>
              <a:t>PSTATE.{A, I, F}</a:t>
            </a:r>
            <a:r>
              <a:rPr lang="zh-CN" altLang="en-US" dirty="0"/>
              <a:t> 可以被</a:t>
            </a:r>
            <a:r>
              <a:rPr lang="en-US" altLang="zh-CN" dirty="0"/>
              <a:t>CPS</a:t>
            </a:r>
            <a:r>
              <a:rPr lang="zh-CN" altLang="en-US" dirty="0"/>
              <a:t>指令修改</a:t>
            </a:r>
            <a:endParaRPr lang="en-US" altLang="zh-CN" dirty="0"/>
          </a:p>
          <a:p>
            <a:pPr lvl="1"/>
            <a:r>
              <a:rPr lang="zh-CN" altLang="en-US" dirty="0"/>
              <a:t>在用户态执行：</a:t>
            </a:r>
            <a:r>
              <a:rPr lang="en-US" altLang="zh-CN" dirty="0"/>
              <a:t>CPS </a:t>
            </a:r>
            <a:r>
              <a:rPr lang="zh-CN" altLang="en-US" dirty="0"/>
              <a:t>被当做</a:t>
            </a:r>
            <a:r>
              <a:rPr lang="en-US" altLang="zh-CN" dirty="0"/>
              <a:t>NOP</a:t>
            </a:r>
            <a:r>
              <a:rPr lang="zh-CN" altLang="en-US" dirty="0"/>
              <a:t>指令，不产生任何效果</a:t>
            </a:r>
            <a:endParaRPr lang="en-US" altLang="zh-CN" dirty="0"/>
          </a:p>
          <a:p>
            <a:pPr lvl="2"/>
            <a:r>
              <a:rPr lang="zh-CN" altLang="en-US" dirty="0">
                <a:solidFill>
                  <a:srgbClr val="BE384B"/>
                </a:solidFill>
              </a:rPr>
              <a:t>不是特权指令</a:t>
            </a:r>
            <a:endParaRPr kumimoji="1" lang="zh-CN" altLang="en-US" sz="2400" dirty="0"/>
          </a:p>
        </p:txBody>
      </p:sp>
      <p:sp>
        <p:nvSpPr>
          <p:cNvPr id="4" name="灯片编号占位符 3">
            <a:extLst>
              <a:ext uri="{FF2B5EF4-FFF2-40B4-BE49-F238E27FC236}">
                <a16:creationId xmlns:a16="http://schemas.microsoft.com/office/drawing/2014/main" id="{139DBB13-3472-4E4B-B6A0-9DDB41E33B8D}"/>
              </a:ext>
            </a:extLst>
          </p:cNvPr>
          <p:cNvSpPr>
            <a:spLocks noGrp="1"/>
          </p:cNvSpPr>
          <p:nvPr>
            <p:ph type="sldNum" sz="quarter" idx="12"/>
          </p:nvPr>
        </p:nvSpPr>
        <p:spPr/>
        <p:txBody>
          <a:bodyPr/>
          <a:lstStyle/>
          <a:p>
            <a:fld id="{ADE361C3-C043-4A6E-BDCE-8DA1E7D90A3B}" type="slidenum">
              <a:rPr lang="zh-CN" altLang="en-US" smtClean="0"/>
              <a:t>32</a:t>
            </a:fld>
            <a:endParaRPr lang="zh-CN" altLang="en-US"/>
          </a:p>
        </p:txBody>
      </p:sp>
      <p:sp>
        <p:nvSpPr>
          <p:cNvPr id="5" name="页脚占位符 4">
            <a:extLst>
              <a:ext uri="{FF2B5EF4-FFF2-40B4-BE49-F238E27FC236}">
                <a16:creationId xmlns:a16="http://schemas.microsoft.com/office/drawing/2014/main" id="{5D5B4D46-B91E-9E4B-8826-BCFB710C10A2}"/>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7710695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5ECF89-2338-6C4C-80E0-C9F9C3D0F9E3}"/>
              </a:ext>
            </a:extLst>
          </p:cNvPr>
          <p:cNvSpPr>
            <a:spLocks noGrp="1"/>
          </p:cNvSpPr>
          <p:nvPr>
            <p:ph type="title"/>
          </p:nvPr>
        </p:nvSpPr>
        <p:spPr/>
        <p:txBody>
          <a:bodyPr/>
          <a:lstStyle/>
          <a:p>
            <a:r>
              <a:rPr kumimoji="1" lang="zh-CN" altLang="en-US" dirty="0"/>
              <a:t>如何处理这些不会下陷的敏感指令？</a:t>
            </a:r>
          </a:p>
        </p:txBody>
      </p:sp>
      <p:sp>
        <p:nvSpPr>
          <p:cNvPr id="3" name="内容占位符 2">
            <a:extLst>
              <a:ext uri="{FF2B5EF4-FFF2-40B4-BE49-F238E27FC236}">
                <a16:creationId xmlns:a16="http://schemas.microsoft.com/office/drawing/2014/main" id="{AFD9BC47-B75F-DE4F-948A-6C8FB29993D8}"/>
              </a:ext>
            </a:extLst>
          </p:cNvPr>
          <p:cNvSpPr>
            <a:spLocks noGrp="1"/>
          </p:cNvSpPr>
          <p:nvPr>
            <p:ph idx="1"/>
          </p:nvPr>
        </p:nvSpPr>
        <p:spPr>
          <a:xfrm>
            <a:off x="457200" y="2425451"/>
            <a:ext cx="8229600" cy="2679685"/>
          </a:xfrm>
        </p:spPr>
        <p:txBody>
          <a:bodyPr/>
          <a:lstStyle/>
          <a:p>
            <a:r>
              <a:rPr kumimoji="1" lang="zh-CN" altLang="en-US" dirty="0"/>
              <a:t>方法</a:t>
            </a:r>
            <a:r>
              <a:rPr kumimoji="1" lang="en-US" altLang="zh-CN" dirty="0"/>
              <a:t>1</a:t>
            </a:r>
            <a:r>
              <a:rPr kumimoji="1" lang="zh-CN" altLang="en-US" dirty="0"/>
              <a:t>：解释执行</a:t>
            </a:r>
            <a:endParaRPr kumimoji="1" lang="en-US" altLang="zh-CN" dirty="0"/>
          </a:p>
          <a:p>
            <a:r>
              <a:rPr kumimoji="1" lang="zh-CN" altLang="en-US" dirty="0"/>
              <a:t>方法</a:t>
            </a:r>
            <a:r>
              <a:rPr kumimoji="1" lang="en-US" altLang="zh-CN" dirty="0"/>
              <a:t>2</a:t>
            </a:r>
            <a:r>
              <a:rPr kumimoji="1" lang="zh-CN" altLang="en-US" dirty="0"/>
              <a:t>：二进制翻译</a:t>
            </a:r>
            <a:endParaRPr kumimoji="1" lang="en-US" altLang="zh-CN" dirty="0"/>
          </a:p>
          <a:p>
            <a:r>
              <a:rPr kumimoji="1" lang="zh-CN" altLang="en-US" dirty="0"/>
              <a:t>方法</a:t>
            </a:r>
            <a:r>
              <a:rPr kumimoji="1" lang="en-US" altLang="zh-CN" dirty="0"/>
              <a:t>3</a:t>
            </a:r>
            <a:r>
              <a:rPr kumimoji="1" lang="zh-CN" altLang="en-US" dirty="0"/>
              <a:t>：半虚拟化</a:t>
            </a:r>
            <a:endParaRPr kumimoji="1" lang="en-US" altLang="zh-CN" dirty="0"/>
          </a:p>
          <a:p>
            <a:r>
              <a:rPr kumimoji="1" lang="zh-CN" altLang="en-US" dirty="0"/>
              <a:t>方法</a:t>
            </a:r>
            <a:r>
              <a:rPr kumimoji="1" lang="en-US" altLang="zh-CN" dirty="0"/>
              <a:t>4</a:t>
            </a:r>
            <a:r>
              <a:rPr kumimoji="1" lang="zh-CN" altLang="en-US" dirty="0"/>
              <a:t>：硬件虚拟化（改硬件）</a:t>
            </a:r>
          </a:p>
        </p:txBody>
      </p:sp>
      <p:sp>
        <p:nvSpPr>
          <p:cNvPr id="4" name="灯片编号占位符 3">
            <a:extLst>
              <a:ext uri="{FF2B5EF4-FFF2-40B4-BE49-F238E27FC236}">
                <a16:creationId xmlns:a16="http://schemas.microsoft.com/office/drawing/2014/main" id="{C0AFE993-0C78-584B-8EAB-8381BF830EC1}"/>
              </a:ext>
            </a:extLst>
          </p:cNvPr>
          <p:cNvSpPr>
            <a:spLocks noGrp="1"/>
          </p:cNvSpPr>
          <p:nvPr>
            <p:ph type="sldNum" sz="quarter" idx="12"/>
          </p:nvPr>
        </p:nvSpPr>
        <p:spPr/>
        <p:txBody>
          <a:bodyPr/>
          <a:lstStyle/>
          <a:p>
            <a:fld id="{ADE361C3-C043-4A6E-BDCE-8DA1E7D90A3B}" type="slidenum">
              <a:rPr lang="zh-CN" altLang="en-US" smtClean="0"/>
              <a:t>33</a:t>
            </a:fld>
            <a:endParaRPr lang="zh-CN" altLang="en-US"/>
          </a:p>
        </p:txBody>
      </p:sp>
      <p:sp>
        <p:nvSpPr>
          <p:cNvPr id="5" name="页脚占位符 4">
            <a:extLst>
              <a:ext uri="{FF2B5EF4-FFF2-40B4-BE49-F238E27FC236}">
                <a16:creationId xmlns:a16="http://schemas.microsoft.com/office/drawing/2014/main" id="{0C2F7CAC-E7D0-E942-9B58-11C1BE4B6DDD}"/>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标题 1">
            <a:extLst>
              <a:ext uri="{FF2B5EF4-FFF2-40B4-BE49-F238E27FC236}">
                <a16:creationId xmlns:a16="http://schemas.microsoft.com/office/drawing/2014/main" id="{2F3CC139-4210-F04D-A01B-1FFF678AB8EE}"/>
              </a:ext>
            </a:extLst>
          </p:cNvPr>
          <p:cNvSpPr txBox="1">
            <a:spLocks/>
          </p:cNvSpPr>
          <p:nvPr/>
        </p:nvSpPr>
        <p:spPr>
          <a:xfrm>
            <a:off x="457200" y="1333183"/>
            <a:ext cx="8229600" cy="900442"/>
          </a:xfrm>
          <a:prstGeom prst="rect">
            <a:avLst/>
          </a:prstGeom>
        </p:spPr>
        <p:txBody>
          <a:bodyPr vert="horz" lIns="91440" tIns="45720" rIns="91440" bIns="45720" rtlCol="0" anchor="ctr">
            <a:normAutofit lnSpcReduction="10000"/>
          </a:bodyPr>
          <a:lstStyle>
            <a:lvl1pPr algn="l" defTabSz="914400" rtl="0" eaLnBrk="1" latinLnBrk="0" hangingPunct="1">
              <a:spcBef>
                <a:spcPct val="0"/>
              </a:spcBef>
              <a:buNone/>
              <a:defRPr sz="3600" b="1" kern="1200">
                <a:solidFill>
                  <a:schemeClr val="accent1"/>
                </a:solidFill>
                <a:latin typeface="+mj-lt"/>
                <a:ea typeface="+mj-ea"/>
                <a:cs typeface="微软雅黑 Light" panose="020B0502040204020203" pitchFamily="34" charset="-122"/>
              </a:defRPr>
            </a:lvl1pPr>
          </a:lstStyle>
          <a:p>
            <a:pPr>
              <a:lnSpc>
                <a:spcPct val="120000"/>
              </a:lnSpc>
            </a:pPr>
            <a:r>
              <a:rPr kumimoji="1" lang="zh-CN" altLang="en-US" sz="2400" b="0" dirty="0">
                <a:solidFill>
                  <a:schemeClr val="tx1">
                    <a:lumMod val="75000"/>
                    <a:lumOff val="25000"/>
                  </a:schemeClr>
                </a:solidFill>
              </a:rPr>
              <a:t>处理这些不会下陷的敏感指令，使得虚拟机中的操作系统能够运行在用户态（</a:t>
            </a:r>
            <a:r>
              <a:rPr kumimoji="1" lang="en-US" altLang="zh-CN" sz="2400" b="0" dirty="0">
                <a:solidFill>
                  <a:schemeClr val="tx1">
                    <a:lumMod val="75000"/>
                    <a:lumOff val="25000"/>
                  </a:schemeClr>
                </a:solidFill>
              </a:rPr>
              <a:t>EL-0</a:t>
            </a:r>
            <a:r>
              <a:rPr kumimoji="1" lang="zh-CN" altLang="en-US" sz="2400" b="0" dirty="0">
                <a:solidFill>
                  <a:schemeClr val="tx1">
                    <a:lumMod val="75000"/>
                    <a:lumOff val="25000"/>
                  </a:schemeClr>
                </a:solidFill>
              </a:rPr>
              <a:t>）</a:t>
            </a:r>
          </a:p>
        </p:txBody>
      </p:sp>
    </p:spTree>
    <p:extLst>
      <p:ext uri="{BB962C8B-B14F-4D97-AF65-F5344CB8AC3E}">
        <p14:creationId xmlns:p14="http://schemas.microsoft.com/office/powerpoint/2010/main" val="35162407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0832F20-9AFD-CE40-869C-809195DD7028}"/>
              </a:ext>
            </a:extLst>
          </p:cNvPr>
          <p:cNvSpPr>
            <a:spLocks noGrp="1"/>
          </p:cNvSpPr>
          <p:nvPr>
            <p:ph type="title"/>
          </p:nvPr>
        </p:nvSpPr>
        <p:spPr/>
        <p:txBody>
          <a:bodyPr/>
          <a:lstStyle/>
          <a:p>
            <a:r>
              <a:rPr kumimoji="1" lang="zh-CN" altLang="en-US" dirty="0"/>
              <a:t>方法</a:t>
            </a:r>
            <a:r>
              <a:rPr kumimoji="1" lang="en-US" altLang="zh-CN" dirty="0"/>
              <a:t>1</a:t>
            </a:r>
            <a:r>
              <a:rPr kumimoji="1" lang="zh-CN" altLang="en-US" dirty="0"/>
              <a:t>：解释执行</a:t>
            </a:r>
          </a:p>
        </p:txBody>
      </p:sp>
      <p:sp>
        <p:nvSpPr>
          <p:cNvPr id="3" name="内容占位符 2">
            <a:extLst>
              <a:ext uri="{FF2B5EF4-FFF2-40B4-BE49-F238E27FC236}">
                <a16:creationId xmlns:a16="http://schemas.microsoft.com/office/drawing/2014/main" id="{26DB53A1-50CF-7548-88AC-ACE199CF2E2F}"/>
              </a:ext>
            </a:extLst>
          </p:cNvPr>
          <p:cNvSpPr>
            <a:spLocks noGrp="1"/>
          </p:cNvSpPr>
          <p:nvPr>
            <p:ph idx="1"/>
          </p:nvPr>
        </p:nvSpPr>
        <p:spPr/>
        <p:txBody>
          <a:bodyPr/>
          <a:lstStyle/>
          <a:p>
            <a:r>
              <a:rPr kumimoji="1" lang="zh-CN" altLang="en-US" dirty="0"/>
              <a:t>使用软件方法一条条对虚拟机代码进行模拟</a:t>
            </a:r>
            <a:endParaRPr kumimoji="1" lang="en-US" altLang="zh-CN" dirty="0"/>
          </a:p>
          <a:p>
            <a:pPr lvl="1"/>
            <a:r>
              <a:rPr kumimoji="1" lang="zh-CN" altLang="en-US" dirty="0"/>
              <a:t>不区分敏感指令还是其他指令</a:t>
            </a:r>
            <a:endParaRPr kumimoji="1" lang="en-US" altLang="zh-CN" dirty="0"/>
          </a:p>
          <a:p>
            <a:pPr lvl="1"/>
            <a:r>
              <a:rPr kumimoji="1" lang="zh-CN" altLang="en-US" dirty="0"/>
              <a:t>没有虚拟机指令直接在硬件上执行</a:t>
            </a:r>
            <a:endParaRPr kumimoji="1" lang="en-US" altLang="zh-CN" dirty="0"/>
          </a:p>
          <a:p>
            <a:r>
              <a:rPr kumimoji="1" lang="zh-CN" altLang="en-US" dirty="0"/>
              <a:t>使用内存维护虚拟机状态</a:t>
            </a:r>
            <a:endParaRPr kumimoji="1" lang="en-US" altLang="zh-CN" dirty="0"/>
          </a:p>
          <a:p>
            <a:pPr lvl="1"/>
            <a:r>
              <a:rPr kumimoji="1" lang="zh-CN" altLang="en-US" dirty="0"/>
              <a:t>例如：使用</a:t>
            </a:r>
            <a:r>
              <a:rPr kumimoji="1" lang="en-US" altLang="zh-CN" dirty="0"/>
              <a:t>uint64_t</a:t>
            </a:r>
            <a:r>
              <a:rPr kumimoji="1" lang="zh-CN" altLang="en-US" dirty="0"/>
              <a:t> </a:t>
            </a:r>
            <a:r>
              <a:rPr kumimoji="1" lang="en-US" altLang="zh-CN" dirty="0"/>
              <a:t>x[30]</a:t>
            </a:r>
            <a:r>
              <a:rPr kumimoji="1" lang="zh-CN" altLang="en-US" dirty="0"/>
              <a:t>数组保存所有通用寄存器的值</a:t>
            </a:r>
            <a:endParaRPr kumimoji="1" lang="en-US" altLang="zh-CN" dirty="0"/>
          </a:p>
          <a:p>
            <a:endParaRPr kumimoji="1" lang="zh-CN" altLang="en-US" dirty="0"/>
          </a:p>
        </p:txBody>
      </p:sp>
      <p:sp>
        <p:nvSpPr>
          <p:cNvPr id="4" name="灯片编号占位符 3">
            <a:extLst>
              <a:ext uri="{FF2B5EF4-FFF2-40B4-BE49-F238E27FC236}">
                <a16:creationId xmlns:a16="http://schemas.microsoft.com/office/drawing/2014/main" id="{929A5218-4201-EE47-A0E1-9CB03F32A7FC}"/>
              </a:ext>
            </a:extLst>
          </p:cNvPr>
          <p:cNvSpPr>
            <a:spLocks noGrp="1"/>
          </p:cNvSpPr>
          <p:nvPr>
            <p:ph type="sldNum" sz="quarter" idx="12"/>
          </p:nvPr>
        </p:nvSpPr>
        <p:spPr/>
        <p:txBody>
          <a:bodyPr/>
          <a:lstStyle/>
          <a:p>
            <a:fld id="{ADE361C3-C043-4A6E-BDCE-8DA1E7D90A3B}" type="slidenum">
              <a:rPr lang="zh-CN" altLang="en-US" smtClean="0"/>
              <a:t>34</a:t>
            </a:fld>
            <a:endParaRPr lang="zh-CN" altLang="en-US"/>
          </a:p>
        </p:txBody>
      </p:sp>
      <p:sp>
        <p:nvSpPr>
          <p:cNvPr id="5" name="页脚占位符 4">
            <a:extLst>
              <a:ext uri="{FF2B5EF4-FFF2-40B4-BE49-F238E27FC236}">
                <a16:creationId xmlns:a16="http://schemas.microsoft.com/office/drawing/2014/main" id="{DD22FA37-24A1-DB47-9BBB-ECFE3351E854}"/>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7516015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DFEBC5-83B1-7F43-8179-82DAE7F1FA8D}"/>
              </a:ext>
            </a:extLst>
          </p:cNvPr>
          <p:cNvSpPr>
            <a:spLocks noGrp="1"/>
          </p:cNvSpPr>
          <p:nvPr>
            <p:ph type="title"/>
          </p:nvPr>
        </p:nvSpPr>
        <p:spPr/>
        <p:txBody>
          <a:bodyPr/>
          <a:lstStyle/>
          <a:p>
            <a:r>
              <a:rPr kumimoji="1" lang="zh-CN" altLang="en-US" dirty="0"/>
              <a:t>方法</a:t>
            </a:r>
            <a:r>
              <a:rPr kumimoji="1" lang="en-US" altLang="zh-CN" dirty="0"/>
              <a:t>1</a:t>
            </a:r>
            <a:r>
              <a:rPr kumimoji="1" lang="zh-CN" altLang="en-US" dirty="0"/>
              <a:t>：解释执行</a:t>
            </a:r>
          </a:p>
        </p:txBody>
      </p:sp>
      <p:sp>
        <p:nvSpPr>
          <p:cNvPr id="4" name="灯片编号占位符 3">
            <a:extLst>
              <a:ext uri="{FF2B5EF4-FFF2-40B4-BE49-F238E27FC236}">
                <a16:creationId xmlns:a16="http://schemas.microsoft.com/office/drawing/2014/main" id="{D3274E13-E0AC-2248-92E9-97C0281D5086}"/>
              </a:ext>
            </a:extLst>
          </p:cNvPr>
          <p:cNvSpPr>
            <a:spLocks noGrp="1"/>
          </p:cNvSpPr>
          <p:nvPr>
            <p:ph type="sldNum" sz="quarter" idx="12"/>
          </p:nvPr>
        </p:nvSpPr>
        <p:spPr/>
        <p:txBody>
          <a:bodyPr/>
          <a:lstStyle/>
          <a:p>
            <a:fld id="{ADE361C3-C043-4A6E-BDCE-8DA1E7D90A3B}" type="slidenum">
              <a:rPr lang="zh-CN" altLang="en-US" smtClean="0"/>
              <a:t>35</a:t>
            </a:fld>
            <a:endParaRPr lang="zh-CN" altLang="en-US"/>
          </a:p>
        </p:txBody>
      </p:sp>
      <p:sp>
        <p:nvSpPr>
          <p:cNvPr id="5" name="页脚占位符 4">
            <a:extLst>
              <a:ext uri="{FF2B5EF4-FFF2-40B4-BE49-F238E27FC236}">
                <a16:creationId xmlns:a16="http://schemas.microsoft.com/office/drawing/2014/main" id="{4CB9645B-F997-0145-9BEA-8EEAB22AEBA7}"/>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grpSp>
        <p:nvGrpSpPr>
          <p:cNvPr id="14" name="组合 13">
            <a:extLst>
              <a:ext uri="{FF2B5EF4-FFF2-40B4-BE49-F238E27FC236}">
                <a16:creationId xmlns:a16="http://schemas.microsoft.com/office/drawing/2014/main" id="{F5BEDC1B-5996-5D43-9C9A-7007553E1F62}"/>
              </a:ext>
            </a:extLst>
          </p:cNvPr>
          <p:cNvGrpSpPr/>
          <p:nvPr/>
        </p:nvGrpSpPr>
        <p:grpSpPr>
          <a:xfrm>
            <a:off x="846216" y="1127471"/>
            <a:ext cx="1588230" cy="1670257"/>
            <a:chOff x="2950840" y="1073433"/>
            <a:chExt cx="1588230" cy="1670257"/>
          </a:xfrm>
          <a:solidFill>
            <a:schemeClr val="bg1"/>
          </a:solidFill>
        </p:grpSpPr>
        <p:sp>
          <p:nvSpPr>
            <p:cNvPr id="6" name="矩形 5">
              <a:extLst>
                <a:ext uri="{FF2B5EF4-FFF2-40B4-BE49-F238E27FC236}">
                  <a16:creationId xmlns:a16="http://schemas.microsoft.com/office/drawing/2014/main" id="{E64A1A1C-6AB2-FB42-8E66-04CCAB03C2E6}"/>
                </a:ext>
              </a:extLst>
            </p:cNvPr>
            <p:cNvSpPr/>
            <p:nvPr/>
          </p:nvSpPr>
          <p:spPr>
            <a:xfrm>
              <a:off x="2950840" y="1073433"/>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Instr.</a:t>
              </a:r>
              <a:r>
                <a:rPr kumimoji="1" lang="zh-CN" altLang="en-US" dirty="0">
                  <a:solidFill>
                    <a:schemeClr val="tx1"/>
                  </a:solidFill>
                </a:rPr>
                <a:t> </a:t>
              </a:r>
              <a:r>
                <a:rPr kumimoji="1" lang="en-US" altLang="zh-CN" dirty="0">
                  <a:solidFill>
                    <a:schemeClr val="tx1"/>
                  </a:solidFill>
                </a:rPr>
                <a:t>1</a:t>
              </a:r>
              <a:endParaRPr kumimoji="1" lang="zh-CN" altLang="en-US" dirty="0">
                <a:solidFill>
                  <a:schemeClr val="tx1"/>
                </a:solidFill>
              </a:endParaRPr>
            </a:p>
          </p:txBody>
        </p:sp>
        <p:sp>
          <p:nvSpPr>
            <p:cNvPr id="7" name="矩形 6">
              <a:extLst>
                <a:ext uri="{FF2B5EF4-FFF2-40B4-BE49-F238E27FC236}">
                  <a16:creationId xmlns:a16="http://schemas.microsoft.com/office/drawing/2014/main" id="{BBA9972A-3C59-C74A-8873-B9B8D278478E}"/>
                </a:ext>
              </a:extLst>
            </p:cNvPr>
            <p:cNvSpPr/>
            <p:nvPr/>
          </p:nvSpPr>
          <p:spPr>
            <a:xfrm>
              <a:off x="2950840" y="1287736"/>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Instr.</a:t>
              </a:r>
              <a:r>
                <a:rPr kumimoji="1" lang="zh-CN" altLang="en-US" dirty="0">
                  <a:solidFill>
                    <a:schemeClr val="tx1"/>
                  </a:solidFill>
                </a:rPr>
                <a:t> </a:t>
              </a:r>
              <a:r>
                <a:rPr kumimoji="1" lang="en-US" altLang="zh-CN" dirty="0">
                  <a:solidFill>
                    <a:schemeClr val="tx1"/>
                  </a:solidFill>
                </a:rPr>
                <a:t>2</a:t>
              </a:r>
              <a:endParaRPr kumimoji="1" lang="zh-CN" altLang="en-US" dirty="0">
                <a:solidFill>
                  <a:schemeClr val="tx1"/>
                </a:solidFill>
              </a:endParaRPr>
            </a:p>
          </p:txBody>
        </p:sp>
        <p:sp>
          <p:nvSpPr>
            <p:cNvPr id="8" name="矩形 7">
              <a:extLst>
                <a:ext uri="{FF2B5EF4-FFF2-40B4-BE49-F238E27FC236}">
                  <a16:creationId xmlns:a16="http://schemas.microsoft.com/office/drawing/2014/main" id="{38BF1C90-7591-D548-9D9A-5ECBA784AE99}"/>
                </a:ext>
              </a:extLst>
            </p:cNvPr>
            <p:cNvSpPr/>
            <p:nvPr/>
          </p:nvSpPr>
          <p:spPr>
            <a:xfrm>
              <a:off x="2954894" y="1488237"/>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Instr.</a:t>
              </a:r>
              <a:r>
                <a:rPr kumimoji="1" lang="zh-CN" altLang="en-US" dirty="0">
                  <a:solidFill>
                    <a:schemeClr val="tx1"/>
                  </a:solidFill>
                </a:rPr>
                <a:t> </a:t>
              </a:r>
              <a:r>
                <a:rPr kumimoji="1" lang="en-US" altLang="zh-CN" dirty="0">
                  <a:solidFill>
                    <a:schemeClr val="tx1"/>
                  </a:solidFill>
                </a:rPr>
                <a:t>3</a:t>
              </a:r>
              <a:endParaRPr kumimoji="1" lang="zh-CN" altLang="en-US" dirty="0">
                <a:solidFill>
                  <a:schemeClr val="tx1"/>
                </a:solidFill>
              </a:endParaRPr>
            </a:p>
          </p:txBody>
        </p:sp>
        <p:sp>
          <p:nvSpPr>
            <p:cNvPr id="9" name="矩形 8">
              <a:extLst>
                <a:ext uri="{FF2B5EF4-FFF2-40B4-BE49-F238E27FC236}">
                  <a16:creationId xmlns:a16="http://schemas.microsoft.com/office/drawing/2014/main" id="{21278907-FC4E-A643-AE9E-C0D95B3AD43A}"/>
                </a:ext>
              </a:extLst>
            </p:cNvPr>
            <p:cNvSpPr/>
            <p:nvPr/>
          </p:nvSpPr>
          <p:spPr>
            <a:xfrm>
              <a:off x="2954894" y="1704395"/>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Instr.</a:t>
              </a:r>
              <a:r>
                <a:rPr kumimoji="1" lang="zh-CN" altLang="en-US" dirty="0">
                  <a:solidFill>
                    <a:schemeClr val="tx1"/>
                  </a:solidFill>
                </a:rPr>
                <a:t> </a:t>
              </a:r>
              <a:r>
                <a:rPr kumimoji="1" lang="en-US" altLang="zh-CN" dirty="0">
                  <a:solidFill>
                    <a:schemeClr val="tx1"/>
                  </a:solidFill>
                </a:rPr>
                <a:t>4</a:t>
              </a:r>
              <a:endParaRPr kumimoji="1" lang="zh-CN" altLang="en-US" dirty="0">
                <a:solidFill>
                  <a:schemeClr val="tx1"/>
                </a:solidFill>
              </a:endParaRPr>
            </a:p>
          </p:txBody>
        </p:sp>
        <p:sp>
          <p:nvSpPr>
            <p:cNvPr id="10" name="矩形 9">
              <a:extLst>
                <a:ext uri="{FF2B5EF4-FFF2-40B4-BE49-F238E27FC236}">
                  <a16:creationId xmlns:a16="http://schemas.microsoft.com/office/drawing/2014/main" id="{617B841D-63D2-924B-9CCA-065A84ADD9DD}"/>
                </a:ext>
              </a:extLst>
            </p:cNvPr>
            <p:cNvSpPr/>
            <p:nvPr/>
          </p:nvSpPr>
          <p:spPr>
            <a:xfrm>
              <a:off x="2950840" y="1916031"/>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Instr.</a:t>
              </a:r>
              <a:r>
                <a:rPr kumimoji="1" lang="zh-CN" altLang="en-US" dirty="0">
                  <a:solidFill>
                    <a:schemeClr val="tx1"/>
                  </a:solidFill>
                </a:rPr>
                <a:t> </a:t>
              </a:r>
              <a:r>
                <a:rPr kumimoji="1" lang="en-US" altLang="zh-CN" dirty="0">
                  <a:solidFill>
                    <a:schemeClr val="tx1"/>
                  </a:solidFill>
                </a:rPr>
                <a:t>5</a:t>
              </a:r>
              <a:endParaRPr kumimoji="1" lang="zh-CN" altLang="en-US" dirty="0">
                <a:solidFill>
                  <a:schemeClr val="tx1"/>
                </a:solidFill>
              </a:endParaRPr>
            </a:p>
          </p:txBody>
        </p:sp>
        <p:sp>
          <p:nvSpPr>
            <p:cNvPr id="11" name="矩形 10">
              <a:extLst>
                <a:ext uri="{FF2B5EF4-FFF2-40B4-BE49-F238E27FC236}">
                  <a16:creationId xmlns:a16="http://schemas.microsoft.com/office/drawing/2014/main" id="{AF76654F-B123-2E4D-96B4-5B2E5F1D488B}"/>
                </a:ext>
              </a:extLst>
            </p:cNvPr>
            <p:cNvSpPr/>
            <p:nvPr/>
          </p:nvSpPr>
          <p:spPr>
            <a:xfrm>
              <a:off x="2950840" y="2127667"/>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Instr.</a:t>
              </a:r>
              <a:r>
                <a:rPr kumimoji="1" lang="zh-CN" altLang="en-US" dirty="0">
                  <a:solidFill>
                    <a:schemeClr val="tx1"/>
                  </a:solidFill>
                </a:rPr>
                <a:t> </a:t>
              </a:r>
              <a:r>
                <a:rPr kumimoji="1" lang="en-US" altLang="zh-CN" dirty="0">
                  <a:solidFill>
                    <a:schemeClr val="tx1"/>
                  </a:solidFill>
                </a:rPr>
                <a:t>6</a:t>
              </a:r>
              <a:endParaRPr kumimoji="1" lang="zh-CN" altLang="en-US" dirty="0">
                <a:solidFill>
                  <a:schemeClr val="tx1"/>
                </a:solidFill>
              </a:endParaRPr>
            </a:p>
          </p:txBody>
        </p:sp>
        <p:sp>
          <p:nvSpPr>
            <p:cNvPr id="12" name="矩形 11">
              <a:extLst>
                <a:ext uri="{FF2B5EF4-FFF2-40B4-BE49-F238E27FC236}">
                  <a16:creationId xmlns:a16="http://schemas.microsoft.com/office/drawing/2014/main" id="{64164F23-D60D-5940-A160-EF497B6688E3}"/>
                </a:ext>
              </a:extLst>
            </p:cNvPr>
            <p:cNvSpPr/>
            <p:nvPr/>
          </p:nvSpPr>
          <p:spPr>
            <a:xfrm>
              <a:off x="2950840" y="2334418"/>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a:t>
              </a:r>
              <a:endParaRPr kumimoji="1" lang="zh-CN" altLang="en-US" dirty="0">
                <a:solidFill>
                  <a:schemeClr val="tx1"/>
                </a:solidFill>
              </a:endParaRPr>
            </a:p>
          </p:txBody>
        </p:sp>
        <p:sp>
          <p:nvSpPr>
            <p:cNvPr id="13" name="矩形 12">
              <a:extLst>
                <a:ext uri="{FF2B5EF4-FFF2-40B4-BE49-F238E27FC236}">
                  <a16:creationId xmlns:a16="http://schemas.microsoft.com/office/drawing/2014/main" id="{C099D8A7-541F-B048-869D-20CD8FB04857}"/>
                </a:ext>
              </a:extLst>
            </p:cNvPr>
            <p:cNvSpPr/>
            <p:nvPr/>
          </p:nvSpPr>
          <p:spPr>
            <a:xfrm>
              <a:off x="2950840" y="2527666"/>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chemeClr val="tx1"/>
                  </a:solidFill>
                </a:rPr>
                <a:t>Instr.</a:t>
              </a:r>
              <a:r>
                <a:rPr kumimoji="1" lang="zh-CN" altLang="en-US" dirty="0">
                  <a:solidFill>
                    <a:schemeClr val="tx1"/>
                  </a:solidFill>
                </a:rPr>
                <a:t> </a:t>
              </a:r>
              <a:r>
                <a:rPr kumimoji="1" lang="en-US" altLang="zh-CN" dirty="0">
                  <a:solidFill>
                    <a:schemeClr val="tx1"/>
                  </a:solidFill>
                </a:rPr>
                <a:t>N</a:t>
              </a:r>
              <a:endParaRPr kumimoji="1" lang="zh-CN" altLang="en-US" dirty="0">
                <a:solidFill>
                  <a:schemeClr val="tx1"/>
                </a:solidFill>
              </a:endParaRPr>
            </a:p>
          </p:txBody>
        </p:sp>
      </p:grpSp>
      <p:cxnSp>
        <p:nvCxnSpPr>
          <p:cNvPr id="16" name="直线箭头连接符 15">
            <a:extLst>
              <a:ext uri="{FF2B5EF4-FFF2-40B4-BE49-F238E27FC236}">
                <a16:creationId xmlns:a16="http://schemas.microsoft.com/office/drawing/2014/main" id="{54BBA666-3D1C-FE43-9588-9CF3A8C224CD}"/>
              </a:ext>
            </a:extLst>
          </p:cNvPr>
          <p:cNvCxnSpPr>
            <a:cxnSpLocks/>
            <a:stCxn id="6" idx="3"/>
          </p:cNvCxnSpPr>
          <p:nvPr/>
        </p:nvCxnSpPr>
        <p:spPr>
          <a:xfrm>
            <a:off x="2430392" y="1235483"/>
            <a:ext cx="1219439"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D3361679-2CE6-C54D-ADF8-869BBACB3ED0}"/>
              </a:ext>
            </a:extLst>
          </p:cNvPr>
          <p:cNvSpPr txBox="1"/>
          <p:nvPr/>
        </p:nvSpPr>
        <p:spPr>
          <a:xfrm>
            <a:off x="3143913" y="898908"/>
            <a:ext cx="505267" cy="369332"/>
          </a:xfrm>
          <a:prstGeom prst="rect">
            <a:avLst/>
          </a:prstGeom>
          <a:noFill/>
        </p:spPr>
        <p:txBody>
          <a:bodyPr wrap="none" rtlCol="0">
            <a:spAutoFit/>
          </a:bodyPr>
          <a:lstStyle/>
          <a:p>
            <a:r>
              <a:rPr kumimoji="1" lang="en-US" altLang="zh-CN" dirty="0"/>
              <a:t>PC</a:t>
            </a:r>
            <a:endParaRPr kumimoji="1" lang="zh-CN" altLang="en-US" dirty="0"/>
          </a:p>
        </p:txBody>
      </p:sp>
      <p:sp>
        <p:nvSpPr>
          <p:cNvPr id="18" name="矩形 17">
            <a:extLst>
              <a:ext uri="{FF2B5EF4-FFF2-40B4-BE49-F238E27FC236}">
                <a16:creationId xmlns:a16="http://schemas.microsoft.com/office/drawing/2014/main" id="{FA94E526-7C78-5041-9BA2-97CF1737090E}"/>
              </a:ext>
            </a:extLst>
          </p:cNvPr>
          <p:cNvSpPr/>
          <p:nvPr/>
        </p:nvSpPr>
        <p:spPr>
          <a:xfrm>
            <a:off x="3649180" y="1058529"/>
            <a:ext cx="1261120" cy="33284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模拟器</a:t>
            </a:r>
          </a:p>
        </p:txBody>
      </p:sp>
      <p:sp>
        <p:nvSpPr>
          <p:cNvPr id="19" name="矩形 18">
            <a:extLst>
              <a:ext uri="{FF2B5EF4-FFF2-40B4-BE49-F238E27FC236}">
                <a16:creationId xmlns:a16="http://schemas.microsoft.com/office/drawing/2014/main" id="{2BC759F9-6E39-8F4F-A6AA-544283CE167C}"/>
              </a:ext>
            </a:extLst>
          </p:cNvPr>
          <p:cNvSpPr/>
          <p:nvPr/>
        </p:nvSpPr>
        <p:spPr>
          <a:xfrm>
            <a:off x="3014028" y="2388456"/>
            <a:ext cx="1482081" cy="103727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CPS</a:t>
            </a:r>
          </a:p>
          <a:p>
            <a:pPr algn="ctr"/>
            <a:r>
              <a:rPr kumimoji="1" lang="zh-CN" altLang="en-US" dirty="0"/>
              <a:t>模拟函数</a:t>
            </a:r>
          </a:p>
        </p:txBody>
      </p:sp>
      <p:sp>
        <p:nvSpPr>
          <p:cNvPr id="20" name="矩形 19">
            <a:extLst>
              <a:ext uri="{FF2B5EF4-FFF2-40B4-BE49-F238E27FC236}">
                <a16:creationId xmlns:a16="http://schemas.microsoft.com/office/drawing/2014/main" id="{BEE9D188-76DC-2644-B531-ABC94BAEF36B}"/>
              </a:ext>
            </a:extLst>
          </p:cNvPr>
          <p:cNvSpPr/>
          <p:nvPr/>
        </p:nvSpPr>
        <p:spPr>
          <a:xfrm>
            <a:off x="4584466" y="2388457"/>
            <a:ext cx="1482080" cy="10372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MSR</a:t>
            </a:r>
            <a:r>
              <a:rPr kumimoji="1" lang="zh-CN" altLang="en-US" dirty="0"/>
              <a:t> </a:t>
            </a:r>
            <a:r>
              <a:rPr kumimoji="1" lang="en-US" altLang="zh-CN" dirty="0"/>
              <a:t>TTRB0_EL1</a:t>
            </a:r>
          </a:p>
          <a:p>
            <a:pPr algn="ctr"/>
            <a:r>
              <a:rPr kumimoji="1" lang="zh-CN" altLang="en-US" dirty="0"/>
              <a:t>模拟函数</a:t>
            </a:r>
          </a:p>
        </p:txBody>
      </p:sp>
      <p:sp>
        <p:nvSpPr>
          <p:cNvPr id="22" name="矩形 21">
            <a:extLst>
              <a:ext uri="{FF2B5EF4-FFF2-40B4-BE49-F238E27FC236}">
                <a16:creationId xmlns:a16="http://schemas.microsoft.com/office/drawing/2014/main" id="{65723D0C-1B5C-584C-94E3-5C5E172F3C6E}"/>
              </a:ext>
            </a:extLst>
          </p:cNvPr>
          <p:cNvSpPr/>
          <p:nvPr/>
        </p:nvSpPr>
        <p:spPr>
          <a:xfrm>
            <a:off x="6927550" y="2388456"/>
            <a:ext cx="1482080" cy="10372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其他</a:t>
            </a:r>
            <a:endParaRPr kumimoji="1" lang="en-US" altLang="zh-CN" dirty="0"/>
          </a:p>
          <a:p>
            <a:pPr algn="ctr"/>
            <a:r>
              <a:rPr kumimoji="1" lang="zh-CN" altLang="en-US" dirty="0"/>
              <a:t>模拟函数</a:t>
            </a:r>
          </a:p>
        </p:txBody>
      </p:sp>
      <p:sp>
        <p:nvSpPr>
          <p:cNvPr id="23" name="文本框 22">
            <a:extLst>
              <a:ext uri="{FF2B5EF4-FFF2-40B4-BE49-F238E27FC236}">
                <a16:creationId xmlns:a16="http://schemas.microsoft.com/office/drawing/2014/main" id="{6B653FDF-FF3B-C94B-8503-3B64B4A67974}"/>
              </a:ext>
            </a:extLst>
          </p:cNvPr>
          <p:cNvSpPr txBox="1"/>
          <p:nvPr/>
        </p:nvSpPr>
        <p:spPr>
          <a:xfrm>
            <a:off x="6269890" y="2751681"/>
            <a:ext cx="415498" cy="369332"/>
          </a:xfrm>
          <a:prstGeom prst="rect">
            <a:avLst/>
          </a:prstGeom>
          <a:noFill/>
        </p:spPr>
        <p:txBody>
          <a:bodyPr wrap="none" rtlCol="0">
            <a:spAutoFit/>
          </a:bodyPr>
          <a:lstStyle/>
          <a:p>
            <a:r>
              <a:rPr kumimoji="1" lang="en-US" altLang="zh-CN" dirty="0"/>
              <a:t>…</a:t>
            </a:r>
            <a:endParaRPr kumimoji="1" lang="zh-CN" altLang="en-US" dirty="0"/>
          </a:p>
        </p:txBody>
      </p:sp>
      <p:cxnSp>
        <p:nvCxnSpPr>
          <p:cNvPr id="25" name="肘形连接符 24">
            <a:extLst>
              <a:ext uri="{FF2B5EF4-FFF2-40B4-BE49-F238E27FC236}">
                <a16:creationId xmlns:a16="http://schemas.microsoft.com/office/drawing/2014/main" id="{BB9068AE-877C-9648-9408-A91539F9BFE3}"/>
              </a:ext>
            </a:extLst>
          </p:cNvPr>
          <p:cNvCxnSpPr>
            <a:stCxn id="18" idx="2"/>
            <a:endCxn id="19" idx="0"/>
          </p:cNvCxnSpPr>
          <p:nvPr/>
        </p:nvCxnSpPr>
        <p:spPr>
          <a:xfrm rot="5400000">
            <a:off x="3518865" y="1627580"/>
            <a:ext cx="997081" cy="524671"/>
          </a:xfrm>
          <a:prstGeom prst="bentConnector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肘形连接符 31">
            <a:extLst>
              <a:ext uri="{FF2B5EF4-FFF2-40B4-BE49-F238E27FC236}">
                <a16:creationId xmlns:a16="http://schemas.microsoft.com/office/drawing/2014/main" id="{5AC3C690-AB2B-F44C-B7BB-5B191D68AAE9}"/>
              </a:ext>
            </a:extLst>
          </p:cNvPr>
          <p:cNvCxnSpPr>
            <a:cxnSpLocks/>
            <a:stCxn id="18" idx="2"/>
            <a:endCxn id="20" idx="0"/>
          </p:cNvCxnSpPr>
          <p:nvPr/>
        </p:nvCxnSpPr>
        <p:spPr>
          <a:xfrm rot="16200000" flipH="1">
            <a:off x="4304082" y="1367033"/>
            <a:ext cx="997082" cy="1045766"/>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肘形连接符 36">
            <a:extLst>
              <a:ext uri="{FF2B5EF4-FFF2-40B4-BE49-F238E27FC236}">
                <a16:creationId xmlns:a16="http://schemas.microsoft.com/office/drawing/2014/main" id="{1CCF110F-505F-B145-9C33-327C0A1D159E}"/>
              </a:ext>
            </a:extLst>
          </p:cNvPr>
          <p:cNvCxnSpPr>
            <a:cxnSpLocks/>
            <a:stCxn id="18" idx="2"/>
            <a:endCxn id="22" idx="0"/>
          </p:cNvCxnSpPr>
          <p:nvPr/>
        </p:nvCxnSpPr>
        <p:spPr>
          <a:xfrm rot="16200000" flipH="1">
            <a:off x="5475625" y="195490"/>
            <a:ext cx="997081" cy="3388850"/>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肘形连接符 40">
            <a:extLst>
              <a:ext uri="{FF2B5EF4-FFF2-40B4-BE49-F238E27FC236}">
                <a16:creationId xmlns:a16="http://schemas.microsoft.com/office/drawing/2014/main" id="{F8B61288-B898-3348-97A9-B5A060239EE7}"/>
              </a:ext>
            </a:extLst>
          </p:cNvPr>
          <p:cNvCxnSpPr>
            <a:cxnSpLocks/>
            <a:stCxn id="19" idx="2"/>
            <a:endCxn id="42" idx="3"/>
          </p:cNvCxnSpPr>
          <p:nvPr/>
        </p:nvCxnSpPr>
        <p:spPr>
          <a:xfrm rot="5400000">
            <a:off x="2640746" y="3163718"/>
            <a:ext cx="852309" cy="1376338"/>
          </a:xfrm>
          <a:prstGeom prst="bentConnector2">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矩形 41">
            <a:extLst>
              <a:ext uri="{FF2B5EF4-FFF2-40B4-BE49-F238E27FC236}">
                <a16:creationId xmlns:a16="http://schemas.microsoft.com/office/drawing/2014/main" id="{27F25F97-BB9C-014A-B874-F9F7CA3DD875}"/>
              </a:ext>
            </a:extLst>
          </p:cNvPr>
          <p:cNvSpPr/>
          <p:nvPr/>
        </p:nvSpPr>
        <p:spPr>
          <a:xfrm>
            <a:off x="896650" y="3337123"/>
            <a:ext cx="1482081" cy="18818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X[30]</a:t>
            </a:r>
          </a:p>
          <a:p>
            <a:pPr algn="ctr"/>
            <a:r>
              <a:rPr kumimoji="1" lang="en-US" altLang="zh-CN" dirty="0"/>
              <a:t>PC</a:t>
            </a:r>
          </a:p>
          <a:p>
            <a:pPr algn="ctr"/>
            <a:r>
              <a:rPr kumimoji="1" lang="en-US" altLang="zh-CN" dirty="0"/>
              <a:t>PSTATE</a:t>
            </a:r>
          </a:p>
          <a:p>
            <a:pPr algn="ctr"/>
            <a:r>
              <a:rPr kumimoji="1" lang="en-US" altLang="zh-CN" dirty="0"/>
              <a:t>TTBR0_EL1</a:t>
            </a:r>
          </a:p>
          <a:p>
            <a:pPr algn="ctr"/>
            <a:r>
              <a:rPr kumimoji="1" lang="en-US" altLang="zh-CN" dirty="0"/>
              <a:t>…</a:t>
            </a:r>
            <a:endParaRPr kumimoji="1" lang="zh-CN" altLang="en-US" dirty="0"/>
          </a:p>
        </p:txBody>
      </p:sp>
      <p:cxnSp>
        <p:nvCxnSpPr>
          <p:cNvPr id="45" name="肘形连接符 44">
            <a:extLst>
              <a:ext uri="{FF2B5EF4-FFF2-40B4-BE49-F238E27FC236}">
                <a16:creationId xmlns:a16="http://schemas.microsoft.com/office/drawing/2014/main" id="{466F95EB-5971-8F46-B6F9-2901352F3CDE}"/>
              </a:ext>
            </a:extLst>
          </p:cNvPr>
          <p:cNvCxnSpPr>
            <a:cxnSpLocks/>
            <a:stCxn id="20" idx="2"/>
            <a:endCxn id="42" idx="3"/>
          </p:cNvCxnSpPr>
          <p:nvPr/>
        </p:nvCxnSpPr>
        <p:spPr>
          <a:xfrm rot="5400000">
            <a:off x="3425965" y="2378500"/>
            <a:ext cx="852309" cy="2946775"/>
          </a:xfrm>
          <a:prstGeom prst="bentConnector2">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8" name="肘形连接符 47">
            <a:extLst>
              <a:ext uri="{FF2B5EF4-FFF2-40B4-BE49-F238E27FC236}">
                <a16:creationId xmlns:a16="http://schemas.microsoft.com/office/drawing/2014/main" id="{A03C2489-13CC-F54B-B5AC-42ED53525A75}"/>
              </a:ext>
            </a:extLst>
          </p:cNvPr>
          <p:cNvCxnSpPr>
            <a:cxnSpLocks/>
            <a:stCxn id="22" idx="2"/>
            <a:endCxn id="42" idx="3"/>
          </p:cNvCxnSpPr>
          <p:nvPr/>
        </p:nvCxnSpPr>
        <p:spPr>
          <a:xfrm rot="5400000">
            <a:off x="4597506" y="1206958"/>
            <a:ext cx="852310" cy="5289859"/>
          </a:xfrm>
          <a:prstGeom prst="bentConnector2">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6" name="椭圆 55">
            <a:extLst>
              <a:ext uri="{FF2B5EF4-FFF2-40B4-BE49-F238E27FC236}">
                <a16:creationId xmlns:a16="http://schemas.microsoft.com/office/drawing/2014/main" id="{8CC47182-408F-8944-81DA-86CD78EF34E0}"/>
              </a:ext>
            </a:extLst>
          </p:cNvPr>
          <p:cNvSpPr/>
          <p:nvPr/>
        </p:nvSpPr>
        <p:spPr>
          <a:xfrm>
            <a:off x="2838508" y="911366"/>
            <a:ext cx="353318" cy="36004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57" name="椭圆 56">
            <a:extLst>
              <a:ext uri="{FF2B5EF4-FFF2-40B4-BE49-F238E27FC236}">
                <a16:creationId xmlns:a16="http://schemas.microsoft.com/office/drawing/2014/main" id="{6F9A5459-768D-7144-87D0-8252ED86F6C4}"/>
              </a:ext>
            </a:extLst>
          </p:cNvPr>
          <p:cNvSpPr/>
          <p:nvPr/>
        </p:nvSpPr>
        <p:spPr>
          <a:xfrm>
            <a:off x="4372658" y="1438449"/>
            <a:ext cx="353318" cy="36004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58" name="文本框 57">
            <a:extLst>
              <a:ext uri="{FF2B5EF4-FFF2-40B4-BE49-F238E27FC236}">
                <a16:creationId xmlns:a16="http://schemas.microsoft.com/office/drawing/2014/main" id="{B588BAD9-9F70-0040-8AC2-04C6CDB91267}"/>
              </a:ext>
            </a:extLst>
          </p:cNvPr>
          <p:cNvSpPr txBox="1"/>
          <p:nvPr/>
        </p:nvSpPr>
        <p:spPr>
          <a:xfrm>
            <a:off x="4660996" y="1428218"/>
            <a:ext cx="646331" cy="369332"/>
          </a:xfrm>
          <a:prstGeom prst="rect">
            <a:avLst/>
          </a:prstGeom>
          <a:noFill/>
        </p:spPr>
        <p:txBody>
          <a:bodyPr wrap="none" rtlCol="0">
            <a:spAutoFit/>
          </a:bodyPr>
          <a:lstStyle/>
          <a:p>
            <a:r>
              <a:rPr kumimoji="1" lang="zh-CN" altLang="en-US" dirty="0"/>
              <a:t>调用</a:t>
            </a:r>
          </a:p>
        </p:txBody>
      </p:sp>
      <p:sp>
        <p:nvSpPr>
          <p:cNvPr id="59" name="椭圆 58">
            <a:extLst>
              <a:ext uri="{FF2B5EF4-FFF2-40B4-BE49-F238E27FC236}">
                <a16:creationId xmlns:a16="http://schemas.microsoft.com/office/drawing/2014/main" id="{82EDDC9F-7EC2-C04E-88E6-41FC8022C536}"/>
              </a:ext>
            </a:extLst>
          </p:cNvPr>
          <p:cNvSpPr/>
          <p:nvPr/>
        </p:nvSpPr>
        <p:spPr>
          <a:xfrm>
            <a:off x="2837159" y="3839731"/>
            <a:ext cx="353318" cy="36004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60" name="文本框 59">
            <a:extLst>
              <a:ext uri="{FF2B5EF4-FFF2-40B4-BE49-F238E27FC236}">
                <a16:creationId xmlns:a16="http://schemas.microsoft.com/office/drawing/2014/main" id="{29176F43-E7B2-7E46-A546-8401C967718F}"/>
              </a:ext>
            </a:extLst>
          </p:cNvPr>
          <p:cNvSpPr txBox="1"/>
          <p:nvPr/>
        </p:nvSpPr>
        <p:spPr>
          <a:xfrm>
            <a:off x="1237580" y="5273377"/>
            <a:ext cx="646331" cy="369332"/>
          </a:xfrm>
          <a:prstGeom prst="rect">
            <a:avLst/>
          </a:prstGeom>
          <a:noFill/>
        </p:spPr>
        <p:txBody>
          <a:bodyPr wrap="none" rtlCol="0">
            <a:spAutoFit/>
          </a:bodyPr>
          <a:lstStyle/>
          <a:p>
            <a:r>
              <a:rPr kumimoji="1" lang="zh-CN" altLang="en-US" dirty="0"/>
              <a:t>内存</a:t>
            </a:r>
          </a:p>
        </p:txBody>
      </p:sp>
      <p:sp>
        <p:nvSpPr>
          <p:cNvPr id="61" name="文本框 60">
            <a:extLst>
              <a:ext uri="{FF2B5EF4-FFF2-40B4-BE49-F238E27FC236}">
                <a16:creationId xmlns:a16="http://schemas.microsoft.com/office/drawing/2014/main" id="{ED5EB931-8BA1-B14B-82E0-B3AE559A7CFF}"/>
              </a:ext>
            </a:extLst>
          </p:cNvPr>
          <p:cNvSpPr txBox="1"/>
          <p:nvPr/>
        </p:nvSpPr>
        <p:spPr>
          <a:xfrm>
            <a:off x="918822" y="2949220"/>
            <a:ext cx="1338828" cy="369332"/>
          </a:xfrm>
          <a:prstGeom prst="rect">
            <a:avLst/>
          </a:prstGeom>
          <a:noFill/>
        </p:spPr>
        <p:txBody>
          <a:bodyPr wrap="none" rtlCol="0">
            <a:spAutoFit/>
          </a:bodyPr>
          <a:lstStyle/>
          <a:p>
            <a:r>
              <a:rPr kumimoji="1" lang="zh-CN" altLang="en-US" dirty="0"/>
              <a:t>虚拟机状态</a:t>
            </a:r>
          </a:p>
        </p:txBody>
      </p:sp>
      <p:sp>
        <p:nvSpPr>
          <p:cNvPr id="62" name="矩形 61">
            <a:extLst>
              <a:ext uri="{FF2B5EF4-FFF2-40B4-BE49-F238E27FC236}">
                <a16:creationId xmlns:a16="http://schemas.microsoft.com/office/drawing/2014/main" id="{861A3E77-DB12-EC43-88A3-F8D93E67DEC1}"/>
              </a:ext>
            </a:extLst>
          </p:cNvPr>
          <p:cNvSpPr/>
          <p:nvPr/>
        </p:nvSpPr>
        <p:spPr>
          <a:xfrm>
            <a:off x="529117" y="1058529"/>
            <a:ext cx="2218417" cy="4238433"/>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63" name="文本框 62">
            <a:extLst>
              <a:ext uri="{FF2B5EF4-FFF2-40B4-BE49-F238E27FC236}">
                <a16:creationId xmlns:a16="http://schemas.microsoft.com/office/drawing/2014/main" id="{AB0CCB96-A1C8-7F46-87FB-5924D47B387A}"/>
              </a:ext>
            </a:extLst>
          </p:cNvPr>
          <p:cNvSpPr txBox="1"/>
          <p:nvPr/>
        </p:nvSpPr>
        <p:spPr>
          <a:xfrm>
            <a:off x="3150829" y="3830440"/>
            <a:ext cx="646331" cy="369332"/>
          </a:xfrm>
          <a:prstGeom prst="rect">
            <a:avLst/>
          </a:prstGeom>
          <a:noFill/>
        </p:spPr>
        <p:txBody>
          <a:bodyPr wrap="none" rtlCol="0">
            <a:spAutoFit/>
          </a:bodyPr>
          <a:lstStyle/>
          <a:p>
            <a:r>
              <a:rPr kumimoji="1" lang="zh-CN" altLang="en-US" dirty="0"/>
              <a:t>读写</a:t>
            </a:r>
          </a:p>
        </p:txBody>
      </p:sp>
      <p:sp>
        <p:nvSpPr>
          <p:cNvPr id="67" name="椭圆 66">
            <a:extLst>
              <a:ext uri="{FF2B5EF4-FFF2-40B4-BE49-F238E27FC236}">
                <a16:creationId xmlns:a16="http://schemas.microsoft.com/office/drawing/2014/main" id="{E7E2F3A0-3122-FA43-B66D-71B347E8CB6D}"/>
              </a:ext>
            </a:extLst>
          </p:cNvPr>
          <p:cNvSpPr/>
          <p:nvPr/>
        </p:nvSpPr>
        <p:spPr>
          <a:xfrm>
            <a:off x="2836738" y="1513086"/>
            <a:ext cx="353318" cy="36004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cxnSp>
        <p:nvCxnSpPr>
          <p:cNvPr id="69" name="肘形连接符 68">
            <a:extLst>
              <a:ext uri="{FF2B5EF4-FFF2-40B4-BE49-F238E27FC236}">
                <a16:creationId xmlns:a16="http://schemas.microsoft.com/office/drawing/2014/main" id="{2ED85038-F621-6743-82BE-011B38E2EE25}"/>
              </a:ext>
            </a:extLst>
          </p:cNvPr>
          <p:cNvCxnSpPr>
            <a:cxnSpLocks/>
          </p:cNvCxnSpPr>
          <p:nvPr/>
        </p:nvCxnSpPr>
        <p:spPr>
          <a:xfrm rot="10800000" flipV="1">
            <a:off x="2440133" y="1233427"/>
            <a:ext cx="1218788" cy="197771"/>
          </a:xfrm>
          <a:prstGeom prst="bentConnector3">
            <a:avLst>
              <a:gd name="adj1" fmla="val 50000"/>
            </a:avLst>
          </a:prstGeom>
          <a:ln w="38100">
            <a:solidFill>
              <a:schemeClr val="tx1"/>
            </a:solidFill>
            <a:prstDash val="sysDot"/>
            <a:headEnd type="triangle"/>
            <a:tailEnd type="none"/>
          </a:ln>
        </p:spPr>
        <p:style>
          <a:lnRef idx="1">
            <a:schemeClr val="accent1"/>
          </a:lnRef>
          <a:fillRef idx="0">
            <a:schemeClr val="accent1"/>
          </a:fillRef>
          <a:effectRef idx="0">
            <a:schemeClr val="accent1"/>
          </a:effectRef>
          <a:fontRef idx="minor">
            <a:schemeClr val="tx1"/>
          </a:fontRef>
        </p:style>
      </p:cxnSp>
      <p:sp>
        <p:nvSpPr>
          <p:cNvPr id="72" name="文本框 71">
            <a:extLst>
              <a:ext uri="{FF2B5EF4-FFF2-40B4-BE49-F238E27FC236}">
                <a16:creationId xmlns:a16="http://schemas.microsoft.com/office/drawing/2014/main" id="{EF7E3D6C-B914-8143-9A53-0562E0DA0CD0}"/>
              </a:ext>
            </a:extLst>
          </p:cNvPr>
          <p:cNvSpPr txBox="1"/>
          <p:nvPr/>
        </p:nvSpPr>
        <p:spPr>
          <a:xfrm>
            <a:off x="3126931" y="1520239"/>
            <a:ext cx="646331" cy="369332"/>
          </a:xfrm>
          <a:prstGeom prst="rect">
            <a:avLst/>
          </a:prstGeom>
          <a:noFill/>
        </p:spPr>
        <p:txBody>
          <a:bodyPr wrap="none" rtlCol="0">
            <a:spAutoFit/>
          </a:bodyPr>
          <a:lstStyle/>
          <a:p>
            <a:r>
              <a:rPr kumimoji="1" lang="zh-CN" altLang="en-US" dirty="0"/>
              <a:t>更新</a:t>
            </a:r>
          </a:p>
        </p:txBody>
      </p:sp>
    </p:spTree>
    <p:extLst>
      <p:ext uri="{BB962C8B-B14F-4D97-AF65-F5344CB8AC3E}">
        <p14:creationId xmlns:p14="http://schemas.microsoft.com/office/powerpoint/2010/main" val="1733021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2"/>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56" grpId="0" animBg="1"/>
      <p:bldP spid="57" grpId="0" animBg="1"/>
      <p:bldP spid="58" grpId="0"/>
      <p:bldP spid="59" grpId="0" animBg="1"/>
      <p:bldP spid="63" grpId="0"/>
      <p:bldP spid="67" grpId="0" animBg="1"/>
      <p:bldP spid="7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428700" y="1029419"/>
            <a:ext cx="8784976" cy="4924425"/>
          </a:xfrm>
          <a:prstGeom prst="rect">
            <a:avLst/>
          </a:prstGeom>
          <a:noFill/>
          <a:ln>
            <a:noFill/>
          </a:ln>
        </p:spPr>
        <p:txBody>
          <a:bodyPr wrap="square" lIns="152400" tIns="152400" rIns="152400" bIns="152400" numCol="2">
            <a:spAutoFit/>
          </a:bodyPr>
          <a:lstStyle/>
          <a:p>
            <a:pPr>
              <a:defRPr/>
            </a:pPr>
            <a:r>
              <a:rPr lang="en-US" sz="1200" dirty="0">
                <a:latin typeface="Courier New" pitchFamily="49" charset="0"/>
                <a:cs typeface="Courier New" pitchFamily="49" charset="0"/>
              </a:rPr>
              <a:t>void </a:t>
            </a:r>
            <a:r>
              <a:rPr lang="en-US" sz="1200" dirty="0" err="1">
                <a:latin typeface="Courier New" pitchFamily="49" charset="0"/>
                <a:cs typeface="Courier New" pitchFamily="49" charset="0"/>
              </a:rPr>
              <a:t>CPU_Run</a:t>
            </a:r>
            <a:r>
              <a:rPr lang="en-US" sz="1200" dirty="0">
                <a:latin typeface="Courier New" pitchFamily="49" charset="0"/>
                <a:cs typeface="Courier New" pitchFamily="49" charset="0"/>
              </a:rPr>
              <a:t>(void)</a:t>
            </a:r>
          </a:p>
          <a:p>
            <a:pPr>
              <a:defRPr/>
            </a:pPr>
            <a:r>
              <a:rPr lang="en-US" sz="1200" dirty="0">
                <a:latin typeface="Courier New" pitchFamily="49" charset="0"/>
                <a:cs typeface="Courier New" pitchFamily="49" charset="0"/>
              </a:rPr>
              <a:t>{</a:t>
            </a:r>
          </a:p>
          <a:p>
            <a:pPr>
              <a:defRPr/>
            </a:pPr>
            <a:r>
              <a:rPr lang="en-US" sz="1200" dirty="0">
                <a:latin typeface="Courier New" pitchFamily="49" charset="0"/>
                <a:cs typeface="Courier New" pitchFamily="49" charset="0"/>
              </a:rPr>
              <a:t>   while (1) {</a:t>
            </a:r>
          </a:p>
          <a:p>
            <a:pPr>
              <a:defRPr/>
            </a:pPr>
            <a:r>
              <a:rPr lang="en-US" sz="1200" dirty="0">
                <a:latin typeface="Courier New" pitchFamily="49" charset="0"/>
                <a:cs typeface="Courier New" pitchFamily="49" charset="0"/>
              </a:rPr>
              <a:t>      inst = Fetch(</a:t>
            </a:r>
            <a:r>
              <a:rPr lang="en-US" sz="1200" dirty="0" err="1">
                <a:latin typeface="Courier New" pitchFamily="49" charset="0"/>
                <a:cs typeface="Courier New" pitchFamily="49" charset="0"/>
              </a:rPr>
              <a:t>CPUState.PC</a:t>
            </a:r>
            <a:r>
              <a:rPr lang="en-US" sz="1200" dirty="0">
                <a:latin typeface="Courier New" pitchFamily="49" charset="0"/>
                <a:cs typeface="Courier New" pitchFamily="49" charset="0"/>
              </a:rPr>
              <a:t>);</a:t>
            </a:r>
          </a:p>
          <a:p>
            <a:pPr>
              <a:defRPr/>
            </a:pPr>
            <a:endParaRPr lang="en-US" sz="1200" dirty="0">
              <a:latin typeface="Courier New" pitchFamily="49" charset="0"/>
              <a:cs typeface="Courier New" pitchFamily="49" charset="0"/>
            </a:endParaRPr>
          </a:p>
          <a:p>
            <a:pPr>
              <a:defRPr/>
            </a:pPr>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CPUState.PC</a:t>
            </a:r>
            <a:r>
              <a:rPr lang="en-US" sz="1200" dirty="0">
                <a:latin typeface="Courier New" pitchFamily="49" charset="0"/>
                <a:cs typeface="Courier New" pitchFamily="49" charset="0"/>
              </a:rPr>
              <a:t> += 4;</a:t>
            </a:r>
          </a:p>
          <a:p>
            <a:pPr>
              <a:defRPr/>
            </a:pPr>
            <a:endParaRPr lang="en-US" sz="1200" dirty="0">
              <a:latin typeface="Courier New" pitchFamily="49" charset="0"/>
              <a:cs typeface="Courier New" pitchFamily="49" charset="0"/>
            </a:endParaRPr>
          </a:p>
          <a:p>
            <a:pPr>
              <a:defRPr/>
            </a:pPr>
            <a:r>
              <a:rPr lang="en-US" sz="1200" dirty="0">
                <a:latin typeface="Courier New" pitchFamily="49" charset="0"/>
                <a:cs typeface="Courier New" pitchFamily="49" charset="0"/>
              </a:rPr>
              <a:t>      switch (inst) {</a:t>
            </a:r>
          </a:p>
          <a:p>
            <a:pPr>
              <a:defRPr/>
            </a:pPr>
            <a:r>
              <a:rPr lang="en-US" sz="1200" dirty="0">
                <a:latin typeface="Courier New" pitchFamily="49" charset="0"/>
                <a:cs typeface="Courier New" pitchFamily="49" charset="0"/>
              </a:rPr>
              <a:t>      case </a:t>
            </a:r>
            <a:r>
              <a:rPr lang="en-US" sz="1200" b="1" dirty="0">
                <a:solidFill>
                  <a:srgbClr val="0096FF"/>
                </a:solidFill>
                <a:latin typeface="Courier New" pitchFamily="49" charset="0"/>
                <a:cs typeface="Courier New" pitchFamily="49" charset="0"/>
              </a:rPr>
              <a:t>ADD</a:t>
            </a:r>
            <a:r>
              <a:rPr lang="en-US" sz="1200" dirty="0">
                <a:latin typeface="Courier New" pitchFamily="49" charset="0"/>
                <a:cs typeface="Courier New" pitchFamily="49" charset="0"/>
              </a:rPr>
              <a:t>:</a:t>
            </a:r>
          </a:p>
          <a:p>
            <a:pPr>
              <a:defRPr/>
            </a:pPr>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CPUState.GPR</a:t>
            </a:r>
            <a:r>
              <a:rPr lang="en-US" sz="1200" dirty="0">
                <a:latin typeface="Courier New" pitchFamily="49" charset="0"/>
                <a:cs typeface="Courier New" pitchFamily="49" charset="0"/>
              </a:rPr>
              <a:t>[</a:t>
            </a:r>
            <a:r>
              <a:rPr lang="en-US" sz="1200" dirty="0" err="1">
                <a:latin typeface="Courier New" pitchFamily="49" charset="0"/>
                <a:cs typeface="Courier New" pitchFamily="49" charset="0"/>
              </a:rPr>
              <a:t>rd</a:t>
            </a:r>
            <a:r>
              <a:rPr lang="en-US" sz="1200" dirty="0">
                <a:latin typeface="Courier New" pitchFamily="49" charset="0"/>
                <a:cs typeface="Courier New" pitchFamily="49" charset="0"/>
              </a:rPr>
              <a:t>] = GPR[</a:t>
            </a:r>
            <a:r>
              <a:rPr lang="en-US" sz="1200" dirty="0" err="1">
                <a:latin typeface="Courier New" pitchFamily="49" charset="0"/>
                <a:cs typeface="Courier New" pitchFamily="49" charset="0"/>
              </a:rPr>
              <a:t>rn</a:t>
            </a:r>
            <a:r>
              <a:rPr lang="en-US" sz="1200" dirty="0">
                <a:latin typeface="Courier New" pitchFamily="49" charset="0"/>
                <a:cs typeface="Courier New" pitchFamily="49" charset="0"/>
              </a:rPr>
              <a:t>] + GPR[</a:t>
            </a:r>
            <a:r>
              <a:rPr lang="en-US" sz="1200" dirty="0" err="1">
                <a:latin typeface="Courier New" pitchFamily="49" charset="0"/>
                <a:cs typeface="Courier New" pitchFamily="49" charset="0"/>
              </a:rPr>
              <a:t>rm</a:t>
            </a:r>
            <a:r>
              <a:rPr lang="en-US" sz="1200" dirty="0">
                <a:latin typeface="Courier New" pitchFamily="49" charset="0"/>
                <a:cs typeface="Courier New" pitchFamily="49" charset="0"/>
              </a:rPr>
              <a:t>];</a:t>
            </a:r>
          </a:p>
          <a:p>
            <a:pPr>
              <a:defRPr/>
            </a:pPr>
            <a:r>
              <a:rPr lang="en-US" sz="1200" dirty="0">
                <a:latin typeface="Courier New" pitchFamily="49" charset="0"/>
                <a:cs typeface="Courier New" pitchFamily="49" charset="0"/>
              </a:rPr>
              <a:t>         break;</a:t>
            </a:r>
          </a:p>
          <a:p>
            <a:pPr>
              <a:defRPr/>
            </a:pPr>
            <a:r>
              <a:rPr lang="en-US" sz="1200" dirty="0">
                <a:latin typeface="Courier New" pitchFamily="49" charset="0"/>
                <a:cs typeface="Courier New" pitchFamily="49" charset="0"/>
              </a:rPr>
              <a:t>      …</a:t>
            </a:r>
          </a:p>
          <a:p>
            <a:pPr>
              <a:defRPr/>
            </a:pPr>
            <a:r>
              <a:rPr lang="en-US" sz="1200" dirty="0">
                <a:latin typeface="Courier New" pitchFamily="49" charset="0"/>
                <a:cs typeface="Courier New" pitchFamily="49" charset="0"/>
              </a:rPr>
              <a:t>      case </a:t>
            </a:r>
            <a:r>
              <a:rPr lang="en-US" sz="1200" b="1" dirty="0">
                <a:solidFill>
                  <a:srgbClr val="0096FF"/>
                </a:solidFill>
                <a:latin typeface="Courier New" pitchFamily="49" charset="0"/>
                <a:cs typeface="Courier New" pitchFamily="49" charset="0"/>
              </a:rPr>
              <a:t>CLI</a:t>
            </a:r>
            <a:r>
              <a:rPr lang="en-US" sz="1200" dirty="0">
                <a:latin typeface="Courier New" pitchFamily="49" charset="0"/>
                <a:cs typeface="Courier New" pitchFamily="49" charset="0"/>
              </a:rPr>
              <a:t>:</a:t>
            </a:r>
          </a:p>
          <a:p>
            <a:pPr>
              <a:defRPr/>
            </a:pPr>
            <a:r>
              <a:rPr lang="en-US" sz="1200" dirty="0">
                <a:latin typeface="Courier New" pitchFamily="49" charset="0"/>
                <a:cs typeface="Courier New" pitchFamily="49" charset="0"/>
              </a:rPr>
              <a:t>         CPU_CLI(); break;</a:t>
            </a:r>
          </a:p>
          <a:p>
            <a:pPr>
              <a:defRPr/>
            </a:pPr>
            <a:r>
              <a:rPr lang="en-US" sz="1200" dirty="0">
                <a:latin typeface="Courier New" pitchFamily="49" charset="0"/>
                <a:cs typeface="Courier New" pitchFamily="49" charset="0"/>
              </a:rPr>
              <a:t>      case </a:t>
            </a:r>
            <a:r>
              <a:rPr lang="en-US" sz="1200" b="1" dirty="0">
                <a:solidFill>
                  <a:srgbClr val="0096FF"/>
                </a:solidFill>
                <a:latin typeface="Courier New" pitchFamily="49" charset="0"/>
                <a:cs typeface="Courier New" pitchFamily="49" charset="0"/>
              </a:rPr>
              <a:t>STI</a:t>
            </a:r>
            <a:r>
              <a:rPr lang="en-US" sz="1200" b="1" dirty="0">
                <a:latin typeface="Courier New" pitchFamily="49" charset="0"/>
                <a:cs typeface="Courier New" pitchFamily="49" charset="0"/>
              </a:rPr>
              <a:t>:</a:t>
            </a:r>
          </a:p>
          <a:p>
            <a:pPr>
              <a:defRPr/>
            </a:pPr>
            <a:r>
              <a:rPr lang="en-US" sz="1200" dirty="0">
                <a:latin typeface="Courier New" pitchFamily="49" charset="0"/>
                <a:cs typeface="Courier New" pitchFamily="49" charset="0"/>
              </a:rPr>
              <a:t>         CPU_STI(); break;</a:t>
            </a:r>
          </a:p>
          <a:p>
            <a:pPr>
              <a:defRPr/>
            </a:pPr>
            <a:r>
              <a:rPr lang="en-US" sz="1200" dirty="0">
                <a:latin typeface="Courier New" pitchFamily="49" charset="0"/>
                <a:cs typeface="Courier New" pitchFamily="49" charset="0"/>
              </a:rPr>
              <a:t>      }</a:t>
            </a:r>
          </a:p>
          <a:p>
            <a:pPr>
              <a:defRPr/>
            </a:pPr>
            <a:endParaRPr lang="en-US" sz="1200" dirty="0">
              <a:latin typeface="Courier New" pitchFamily="49" charset="0"/>
              <a:cs typeface="Courier New" pitchFamily="49" charset="0"/>
            </a:endParaRPr>
          </a:p>
          <a:p>
            <a:pPr>
              <a:defRPr/>
            </a:pPr>
            <a:r>
              <a:rPr lang="en-US" sz="1200" dirty="0">
                <a:latin typeface="Courier New" pitchFamily="49" charset="0"/>
                <a:cs typeface="Courier New" pitchFamily="49" charset="0"/>
              </a:rPr>
              <a:t>      if (</a:t>
            </a:r>
            <a:r>
              <a:rPr lang="en-US" sz="1200" dirty="0" err="1">
                <a:latin typeface="Courier New" pitchFamily="49" charset="0"/>
                <a:cs typeface="Courier New" pitchFamily="49" charset="0"/>
              </a:rPr>
              <a:t>CPUState.IRQ</a:t>
            </a:r>
            <a:r>
              <a:rPr lang="zh-CN" altLang="en-US" sz="1200" dirty="0">
                <a:latin typeface="Courier New" pitchFamily="49" charset="0"/>
                <a:cs typeface="Courier New" pitchFamily="49" charset="0"/>
              </a:rPr>
              <a:t> </a:t>
            </a:r>
            <a:r>
              <a:rPr lang="en-US" sz="1200" dirty="0">
                <a:latin typeface="Courier New" pitchFamily="49" charset="0"/>
                <a:cs typeface="Courier New" pitchFamily="49" charset="0"/>
              </a:rPr>
              <a:t>&amp;&amp; CPUState.IE) {</a:t>
            </a:r>
          </a:p>
          <a:p>
            <a:pPr>
              <a:defRPr/>
            </a:pPr>
            <a:r>
              <a:rPr lang="en-US" sz="1200" dirty="0">
                <a:latin typeface="Courier New" pitchFamily="49" charset="0"/>
                <a:cs typeface="Courier New" pitchFamily="49" charset="0"/>
              </a:rPr>
              <a:t>         CPUState.IE = 0;</a:t>
            </a:r>
          </a:p>
          <a:p>
            <a:pPr>
              <a:defRPr/>
            </a:pPr>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CPU_Vector</a:t>
            </a:r>
            <a:r>
              <a:rPr lang="en-US" sz="1200" dirty="0">
                <a:latin typeface="Courier New" pitchFamily="49" charset="0"/>
                <a:cs typeface="Courier New" pitchFamily="49" charset="0"/>
              </a:rPr>
              <a:t>(EXC_INT);</a:t>
            </a:r>
          </a:p>
          <a:p>
            <a:pPr>
              <a:defRPr/>
            </a:pPr>
            <a:r>
              <a:rPr lang="en-US" sz="1200" dirty="0">
                <a:latin typeface="Courier New" pitchFamily="49" charset="0"/>
                <a:cs typeface="Courier New" pitchFamily="49" charset="0"/>
              </a:rPr>
              <a:t>      }</a:t>
            </a:r>
          </a:p>
          <a:p>
            <a:pPr>
              <a:defRPr/>
            </a:pPr>
            <a:r>
              <a:rPr lang="en-US" sz="1200" dirty="0">
                <a:latin typeface="Courier New" pitchFamily="49" charset="0"/>
                <a:cs typeface="Courier New" pitchFamily="49" charset="0"/>
              </a:rPr>
              <a:t>   }</a:t>
            </a:r>
          </a:p>
          <a:p>
            <a:pPr>
              <a:defRPr/>
            </a:pPr>
            <a:r>
              <a:rPr lang="en-US" sz="1200" dirty="0">
                <a:latin typeface="Courier New" pitchFamily="49" charset="0"/>
                <a:cs typeface="Courier New" pitchFamily="49" charset="0"/>
              </a:rPr>
              <a:t>}</a:t>
            </a:r>
            <a:endParaRPr lang="zh-CN" altLang="en-US" sz="1200" dirty="0">
              <a:latin typeface="Courier New" pitchFamily="49" charset="0"/>
              <a:cs typeface="Courier New" pitchFamily="49" charset="0"/>
            </a:endParaRPr>
          </a:p>
        </p:txBody>
      </p:sp>
      <p:sp>
        <p:nvSpPr>
          <p:cNvPr id="6" name="矩形 5"/>
          <p:cNvSpPr/>
          <p:nvPr/>
        </p:nvSpPr>
        <p:spPr>
          <a:xfrm>
            <a:off x="5544616" y="1129119"/>
            <a:ext cx="4572000" cy="3231654"/>
          </a:xfrm>
          <a:prstGeom prst="rect">
            <a:avLst/>
          </a:prstGeom>
        </p:spPr>
        <p:txBody>
          <a:bodyPr>
            <a:spAutoFit/>
          </a:bodyPr>
          <a:lstStyle/>
          <a:p>
            <a:pPr>
              <a:defRPr/>
            </a:pPr>
            <a:r>
              <a:rPr lang="en-US" altLang="zh-CN" sz="1200" dirty="0">
                <a:latin typeface="Courier New" pitchFamily="49" charset="0"/>
                <a:cs typeface="Courier New" pitchFamily="49" charset="0"/>
              </a:rPr>
              <a:t>void CPU_CLI(void)</a:t>
            </a:r>
          </a:p>
          <a:p>
            <a:pPr>
              <a:defRPr/>
            </a:pPr>
            <a:r>
              <a:rPr lang="en-US" altLang="zh-CN" sz="1200" dirty="0">
                <a:latin typeface="Courier New" pitchFamily="49" charset="0"/>
                <a:cs typeface="Courier New" pitchFamily="49" charset="0"/>
              </a:rPr>
              <a:t>{</a:t>
            </a:r>
          </a:p>
          <a:p>
            <a:pPr>
              <a:defRPr/>
            </a:pPr>
            <a:r>
              <a:rPr lang="en-US" altLang="zh-CN" sz="1200" dirty="0">
                <a:latin typeface="Courier New" pitchFamily="49" charset="0"/>
                <a:cs typeface="Courier New" pitchFamily="49" charset="0"/>
              </a:rPr>
              <a:t>   </a:t>
            </a:r>
            <a:r>
              <a:rPr lang="en-US" altLang="zh-CN" sz="1200" dirty="0" err="1">
                <a:latin typeface="Courier New" pitchFamily="49" charset="0"/>
                <a:cs typeface="Courier New" pitchFamily="49" charset="0"/>
              </a:rPr>
              <a:t>CPUState.IE</a:t>
            </a:r>
            <a:r>
              <a:rPr lang="en-US" altLang="zh-CN" sz="1200" dirty="0">
                <a:latin typeface="Courier New" pitchFamily="49" charset="0"/>
                <a:cs typeface="Courier New" pitchFamily="49" charset="0"/>
              </a:rPr>
              <a:t> = 0;</a:t>
            </a:r>
          </a:p>
          <a:p>
            <a:pPr>
              <a:defRPr/>
            </a:pPr>
            <a:r>
              <a:rPr lang="en-US" altLang="zh-CN" sz="1200" dirty="0">
                <a:latin typeface="Courier New" pitchFamily="49" charset="0"/>
                <a:cs typeface="Courier New" pitchFamily="49" charset="0"/>
              </a:rPr>
              <a:t>}</a:t>
            </a:r>
          </a:p>
          <a:p>
            <a:pPr>
              <a:defRPr/>
            </a:pPr>
            <a:endParaRPr lang="zh-CN" altLang="en-US" sz="1200" dirty="0">
              <a:latin typeface="Courier New" pitchFamily="49" charset="0"/>
              <a:cs typeface="Courier New" pitchFamily="49" charset="0"/>
            </a:endParaRPr>
          </a:p>
          <a:p>
            <a:pPr>
              <a:defRPr/>
            </a:pPr>
            <a:endParaRPr lang="en-US" altLang="zh-CN" sz="1200" dirty="0">
              <a:latin typeface="Courier New" pitchFamily="49" charset="0"/>
              <a:cs typeface="Courier New" pitchFamily="49" charset="0"/>
            </a:endParaRPr>
          </a:p>
          <a:p>
            <a:pPr>
              <a:defRPr/>
            </a:pPr>
            <a:r>
              <a:rPr lang="en-US" altLang="zh-CN" sz="1200" dirty="0">
                <a:latin typeface="Courier New" pitchFamily="49" charset="0"/>
                <a:cs typeface="Courier New" pitchFamily="49" charset="0"/>
              </a:rPr>
              <a:t>void CPU_STI(void)</a:t>
            </a:r>
          </a:p>
          <a:p>
            <a:pPr>
              <a:defRPr/>
            </a:pPr>
            <a:r>
              <a:rPr lang="en-US" altLang="zh-CN" sz="1200" dirty="0">
                <a:latin typeface="Courier New" pitchFamily="49" charset="0"/>
                <a:cs typeface="Courier New" pitchFamily="49" charset="0"/>
              </a:rPr>
              <a:t>{</a:t>
            </a:r>
          </a:p>
          <a:p>
            <a:pPr>
              <a:defRPr/>
            </a:pPr>
            <a:r>
              <a:rPr lang="en-US" altLang="zh-CN" sz="1200" dirty="0">
                <a:latin typeface="Courier New" pitchFamily="49" charset="0"/>
                <a:cs typeface="Courier New" pitchFamily="49" charset="0"/>
              </a:rPr>
              <a:t>   </a:t>
            </a:r>
            <a:r>
              <a:rPr lang="en-US" altLang="zh-CN" sz="1200" dirty="0" err="1">
                <a:latin typeface="Courier New" pitchFamily="49" charset="0"/>
                <a:cs typeface="Courier New" pitchFamily="49" charset="0"/>
              </a:rPr>
              <a:t>CPUState.IE</a:t>
            </a:r>
            <a:r>
              <a:rPr lang="en-US" altLang="zh-CN" sz="1200" dirty="0">
                <a:latin typeface="Courier New" pitchFamily="49" charset="0"/>
                <a:cs typeface="Courier New" pitchFamily="49" charset="0"/>
              </a:rPr>
              <a:t> = 1;</a:t>
            </a:r>
          </a:p>
          <a:p>
            <a:pPr>
              <a:defRPr/>
            </a:pPr>
            <a:r>
              <a:rPr lang="en-US" altLang="zh-CN" sz="1200" dirty="0">
                <a:latin typeface="Courier New" pitchFamily="49" charset="0"/>
                <a:cs typeface="Courier New" pitchFamily="49" charset="0"/>
              </a:rPr>
              <a:t>}</a:t>
            </a:r>
          </a:p>
          <a:p>
            <a:pPr>
              <a:defRPr/>
            </a:pPr>
            <a:endParaRPr lang="zh-CN" altLang="en-US" sz="1200" dirty="0">
              <a:latin typeface="Courier New" pitchFamily="49" charset="0"/>
              <a:cs typeface="Courier New" pitchFamily="49" charset="0"/>
            </a:endParaRPr>
          </a:p>
          <a:p>
            <a:pPr>
              <a:defRPr/>
            </a:pPr>
            <a:endParaRPr lang="en-US" altLang="zh-CN" sz="1200" dirty="0">
              <a:latin typeface="Courier New" pitchFamily="49" charset="0"/>
              <a:cs typeface="Courier New" pitchFamily="49" charset="0"/>
            </a:endParaRPr>
          </a:p>
          <a:p>
            <a:pPr>
              <a:defRPr/>
            </a:pPr>
            <a:r>
              <a:rPr lang="en-US" altLang="zh-CN" sz="1200" dirty="0">
                <a:latin typeface="Courier New" pitchFamily="49" charset="0"/>
                <a:cs typeface="Courier New" pitchFamily="49" charset="0"/>
              </a:rPr>
              <a:t>void </a:t>
            </a:r>
            <a:r>
              <a:rPr lang="en-US" altLang="zh-CN" sz="1200" dirty="0" err="1">
                <a:latin typeface="Courier New" pitchFamily="49" charset="0"/>
                <a:cs typeface="Courier New" pitchFamily="49" charset="0"/>
              </a:rPr>
              <a:t>CPU_Vector</a:t>
            </a:r>
            <a:r>
              <a:rPr lang="en-US" altLang="zh-CN" sz="1200" dirty="0">
                <a:latin typeface="Courier New" pitchFamily="49" charset="0"/>
                <a:cs typeface="Courier New" pitchFamily="49" charset="0"/>
              </a:rPr>
              <a:t>(</a:t>
            </a:r>
            <a:r>
              <a:rPr lang="en-US" altLang="zh-CN" sz="1200" dirty="0" err="1">
                <a:latin typeface="Courier New" pitchFamily="49" charset="0"/>
                <a:cs typeface="Courier New" pitchFamily="49" charset="0"/>
              </a:rPr>
              <a:t>int</a:t>
            </a:r>
            <a:r>
              <a:rPr lang="en-US" altLang="zh-CN" sz="1200" dirty="0">
                <a:latin typeface="Courier New" pitchFamily="49" charset="0"/>
                <a:cs typeface="Courier New" pitchFamily="49" charset="0"/>
              </a:rPr>
              <a:t> </a:t>
            </a:r>
            <a:r>
              <a:rPr lang="en-US" altLang="zh-CN" sz="1200" dirty="0" err="1">
                <a:latin typeface="Courier New" pitchFamily="49" charset="0"/>
                <a:cs typeface="Courier New" pitchFamily="49" charset="0"/>
              </a:rPr>
              <a:t>exc</a:t>
            </a:r>
            <a:r>
              <a:rPr lang="en-US" altLang="zh-CN" sz="1200" dirty="0">
                <a:latin typeface="Courier New" pitchFamily="49" charset="0"/>
                <a:cs typeface="Courier New" pitchFamily="49" charset="0"/>
              </a:rPr>
              <a:t>)</a:t>
            </a:r>
          </a:p>
          <a:p>
            <a:pPr>
              <a:defRPr/>
            </a:pPr>
            <a:r>
              <a:rPr lang="en-US" altLang="zh-CN" sz="1200" dirty="0">
                <a:latin typeface="Courier New" pitchFamily="49" charset="0"/>
                <a:cs typeface="Courier New" pitchFamily="49" charset="0"/>
              </a:rPr>
              <a:t>{</a:t>
            </a:r>
          </a:p>
          <a:p>
            <a:pPr>
              <a:defRPr/>
            </a:pPr>
            <a:r>
              <a:rPr lang="en-US" altLang="zh-CN" sz="1200" dirty="0">
                <a:latin typeface="Courier New" pitchFamily="49" charset="0"/>
                <a:cs typeface="Courier New" pitchFamily="49" charset="0"/>
              </a:rPr>
              <a:t>   </a:t>
            </a:r>
            <a:r>
              <a:rPr lang="en-US" altLang="zh-CN" sz="1200" dirty="0" err="1">
                <a:latin typeface="Courier New" pitchFamily="49" charset="0"/>
                <a:cs typeface="Courier New" pitchFamily="49" charset="0"/>
              </a:rPr>
              <a:t>CPUState.LR</a:t>
            </a:r>
            <a:r>
              <a:rPr lang="en-US" altLang="zh-CN" sz="1200" dirty="0">
                <a:latin typeface="Courier New" pitchFamily="49" charset="0"/>
                <a:cs typeface="Courier New" pitchFamily="49" charset="0"/>
              </a:rPr>
              <a:t> = </a:t>
            </a:r>
            <a:r>
              <a:rPr lang="en-US" altLang="zh-CN" sz="1200" dirty="0" err="1">
                <a:latin typeface="Courier New" pitchFamily="49" charset="0"/>
                <a:cs typeface="Courier New" pitchFamily="49" charset="0"/>
              </a:rPr>
              <a:t>CPUState.PC</a:t>
            </a:r>
            <a:r>
              <a:rPr lang="en-US" altLang="zh-CN" sz="1200" dirty="0">
                <a:latin typeface="Courier New" pitchFamily="49" charset="0"/>
                <a:cs typeface="Courier New" pitchFamily="49" charset="0"/>
              </a:rPr>
              <a:t>;</a:t>
            </a:r>
          </a:p>
          <a:p>
            <a:pPr>
              <a:defRPr/>
            </a:pPr>
            <a:r>
              <a:rPr lang="en-US" altLang="zh-CN" sz="1200" dirty="0">
                <a:latin typeface="Courier New" pitchFamily="49" charset="0"/>
                <a:cs typeface="Courier New" pitchFamily="49" charset="0"/>
              </a:rPr>
              <a:t>   </a:t>
            </a:r>
            <a:r>
              <a:rPr lang="en-US" altLang="zh-CN" sz="1200" dirty="0" err="1">
                <a:latin typeface="Courier New" pitchFamily="49" charset="0"/>
                <a:cs typeface="Courier New" pitchFamily="49" charset="0"/>
              </a:rPr>
              <a:t>CPUState.PC</a:t>
            </a:r>
            <a:r>
              <a:rPr lang="en-US" altLang="zh-CN" sz="1200" dirty="0">
                <a:latin typeface="Courier New" pitchFamily="49" charset="0"/>
                <a:cs typeface="Courier New" pitchFamily="49" charset="0"/>
              </a:rPr>
              <a:t> = </a:t>
            </a:r>
            <a:r>
              <a:rPr lang="en-US" altLang="zh-CN" sz="1200" dirty="0" err="1">
                <a:latin typeface="Courier New" pitchFamily="49" charset="0"/>
                <a:cs typeface="Courier New" pitchFamily="49" charset="0"/>
              </a:rPr>
              <a:t>disTab</a:t>
            </a:r>
            <a:r>
              <a:rPr lang="en-US" altLang="zh-CN" sz="1200" dirty="0">
                <a:latin typeface="Courier New" pitchFamily="49" charset="0"/>
                <a:cs typeface="Courier New" pitchFamily="49" charset="0"/>
              </a:rPr>
              <a:t>[</a:t>
            </a:r>
            <a:r>
              <a:rPr lang="en-US" altLang="zh-CN" sz="1200" dirty="0" err="1">
                <a:latin typeface="Courier New" pitchFamily="49" charset="0"/>
                <a:cs typeface="Courier New" pitchFamily="49" charset="0"/>
              </a:rPr>
              <a:t>exc</a:t>
            </a:r>
            <a:r>
              <a:rPr lang="en-US" altLang="zh-CN" sz="1200" dirty="0">
                <a:latin typeface="Courier New" pitchFamily="49" charset="0"/>
                <a:cs typeface="Courier New" pitchFamily="49" charset="0"/>
              </a:rPr>
              <a:t>];</a:t>
            </a:r>
          </a:p>
          <a:p>
            <a:pPr>
              <a:defRPr/>
            </a:pPr>
            <a:r>
              <a:rPr lang="en-US" altLang="zh-CN" sz="1200" dirty="0">
                <a:latin typeface="Courier New" pitchFamily="49" charset="0"/>
                <a:cs typeface="Courier New" pitchFamily="49" charset="0"/>
              </a:rPr>
              <a:t>}</a:t>
            </a:r>
          </a:p>
        </p:txBody>
      </p:sp>
      <p:sp>
        <p:nvSpPr>
          <p:cNvPr id="8" name="标题 1"/>
          <p:cNvSpPr>
            <a:spLocks noGrp="1"/>
          </p:cNvSpPr>
          <p:nvPr>
            <p:ph type="title"/>
          </p:nvPr>
        </p:nvSpPr>
        <p:spPr>
          <a:xfrm>
            <a:off x="457200" y="228866"/>
            <a:ext cx="8229600" cy="900442"/>
          </a:xfrm>
        </p:spPr>
        <p:txBody>
          <a:bodyPr>
            <a:noAutofit/>
          </a:bodyPr>
          <a:lstStyle/>
          <a:p>
            <a:r>
              <a:rPr lang="zh-CN" altLang="en-US" dirty="0"/>
              <a:t>例子：使用解释执行来模拟中断的设置</a:t>
            </a:r>
            <a:endParaRPr kumimoji="1" lang="zh-CN" altLang="en-US" dirty="0"/>
          </a:p>
        </p:txBody>
      </p:sp>
      <p:sp>
        <p:nvSpPr>
          <p:cNvPr id="5" name="文本框 4">
            <a:extLst>
              <a:ext uri="{FF2B5EF4-FFF2-40B4-BE49-F238E27FC236}">
                <a16:creationId xmlns:a16="http://schemas.microsoft.com/office/drawing/2014/main" id="{6CDC4CE5-4F8C-554D-A45C-07A467907B91}"/>
              </a:ext>
            </a:extLst>
          </p:cNvPr>
          <p:cNvSpPr txBox="1"/>
          <p:nvPr/>
        </p:nvSpPr>
        <p:spPr>
          <a:xfrm>
            <a:off x="4469015" y="4761646"/>
            <a:ext cx="3775393" cy="400110"/>
          </a:xfrm>
          <a:prstGeom prst="rect">
            <a:avLst/>
          </a:prstGeom>
          <a:noFill/>
        </p:spPr>
        <p:txBody>
          <a:bodyPr wrap="none" rtlCol="0">
            <a:spAutoFit/>
          </a:bodyPr>
          <a:lstStyle/>
          <a:p>
            <a:r>
              <a:rPr kumimoji="1" lang="zh-CN" altLang="en-US" sz="2000" b="1" dirty="0">
                <a:solidFill>
                  <a:srgbClr val="BE384B"/>
                </a:solidFill>
              </a:rPr>
              <a:t>思考：这种方式有什么优缺点？</a:t>
            </a:r>
          </a:p>
        </p:txBody>
      </p:sp>
    </p:spTree>
    <p:extLst>
      <p:ext uri="{BB962C8B-B14F-4D97-AF65-F5344CB8AC3E}">
        <p14:creationId xmlns:p14="http://schemas.microsoft.com/office/powerpoint/2010/main" val="321852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F0854A-218D-8240-9C44-AAEA54B41959}"/>
              </a:ext>
            </a:extLst>
          </p:cNvPr>
          <p:cNvSpPr>
            <a:spLocks noGrp="1"/>
          </p:cNvSpPr>
          <p:nvPr>
            <p:ph type="title"/>
          </p:nvPr>
        </p:nvSpPr>
        <p:spPr/>
        <p:txBody>
          <a:bodyPr/>
          <a:lstStyle/>
          <a:p>
            <a:r>
              <a:rPr kumimoji="1" lang="zh-CN" altLang="en-US" dirty="0"/>
              <a:t>解释执行的优缺点</a:t>
            </a:r>
          </a:p>
        </p:txBody>
      </p:sp>
      <p:sp>
        <p:nvSpPr>
          <p:cNvPr id="3" name="内容占位符 2">
            <a:extLst>
              <a:ext uri="{FF2B5EF4-FFF2-40B4-BE49-F238E27FC236}">
                <a16:creationId xmlns:a16="http://schemas.microsoft.com/office/drawing/2014/main" id="{10FEFAF5-7B6F-8148-AD1A-666287F9BE33}"/>
              </a:ext>
            </a:extLst>
          </p:cNvPr>
          <p:cNvSpPr>
            <a:spLocks noGrp="1"/>
          </p:cNvSpPr>
          <p:nvPr>
            <p:ph idx="1"/>
          </p:nvPr>
        </p:nvSpPr>
        <p:spPr/>
        <p:txBody>
          <a:bodyPr/>
          <a:lstStyle/>
          <a:p>
            <a:r>
              <a:rPr kumimoji="1" lang="zh-CN" altLang="en-US" dirty="0"/>
              <a:t>优点：</a:t>
            </a:r>
            <a:endParaRPr kumimoji="1" lang="en-US" altLang="zh-CN" dirty="0"/>
          </a:p>
          <a:p>
            <a:pPr lvl="1"/>
            <a:r>
              <a:rPr kumimoji="1" lang="zh-CN" altLang="en-US" dirty="0"/>
              <a:t>解决了敏感函数不下陷的问题</a:t>
            </a:r>
            <a:endParaRPr kumimoji="1" lang="en-US" altLang="zh-CN" dirty="0"/>
          </a:p>
          <a:p>
            <a:pPr lvl="1"/>
            <a:r>
              <a:rPr kumimoji="1" lang="zh-CN" altLang="en-US" dirty="0"/>
              <a:t>可以模拟不同</a:t>
            </a:r>
            <a:r>
              <a:rPr kumimoji="1" lang="en-US" altLang="zh-CN" dirty="0"/>
              <a:t>ISA</a:t>
            </a:r>
            <a:r>
              <a:rPr kumimoji="1" lang="zh-CN" altLang="en-US" dirty="0"/>
              <a:t>的虚拟机</a:t>
            </a:r>
            <a:endParaRPr kumimoji="1" lang="en-US" altLang="zh-CN" dirty="0"/>
          </a:p>
          <a:p>
            <a:pPr lvl="1"/>
            <a:r>
              <a:rPr kumimoji="1" lang="zh-CN" altLang="en-US" dirty="0"/>
              <a:t>易于实现、复杂度低</a:t>
            </a:r>
            <a:endParaRPr kumimoji="1" lang="en-US" altLang="zh-CN" dirty="0"/>
          </a:p>
          <a:p>
            <a:r>
              <a:rPr kumimoji="1" lang="zh-CN" altLang="en-US" dirty="0"/>
              <a:t>缺点：</a:t>
            </a:r>
            <a:endParaRPr kumimoji="1" lang="en-US" altLang="zh-CN" dirty="0"/>
          </a:p>
          <a:p>
            <a:pPr lvl="1"/>
            <a:r>
              <a:rPr kumimoji="1" lang="zh-CN" altLang="en-US" dirty="0">
                <a:solidFill>
                  <a:srgbClr val="BE384B"/>
                </a:solidFill>
              </a:rPr>
              <a:t>非常慢：任何一条虚拟机指令都会转换成多条模拟指令</a:t>
            </a:r>
          </a:p>
        </p:txBody>
      </p:sp>
      <p:sp>
        <p:nvSpPr>
          <p:cNvPr id="4" name="灯片编号占位符 3">
            <a:extLst>
              <a:ext uri="{FF2B5EF4-FFF2-40B4-BE49-F238E27FC236}">
                <a16:creationId xmlns:a16="http://schemas.microsoft.com/office/drawing/2014/main" id="{F7DF8BA9-FB02-3F43-9F1F-B304B75868B6}"/>
              </a:ext>
            </a:extLst>
          </p:cNvPr>
          <p:cNvSpPr>
            <a:spLocks noGrp="1"/>
          </p:cNvSpPr>
          <p:nvPr>
            <p:ph type="sldNum" sz="quarter" idx="12"/>
          </p:nvPr>
        </p:nvSpPr>
        <p:spPr/>
        <p:txBody>
          <a:bodyPr/>
          <a:lstStyle/>
          <a:p>
            <a:fld id="{ADE361C3-C043-4A6E-BDCE-8DA1E7D90A3B}" type="slidenum">
              <a:rPr lang="zh-CN" altLang="en-US" smtClean="0"/>
              <a:t>37</a:t>
            </a:fld>
            <a:endParaRPr lang="zh-CN" altLang="en-US"/>
          </a:p>
        </p:txBody>
      </p:sp>
      <p:sp>
        <p:nvSpPr>
          <p:cNvPr id="5" name="页脚占位符 4">
            <a:extLst>
              <a:ext uri="{FF2B5EF4-FFF2-40B4-BE49-F238E27FC236}">
                <a16:creationId xmlns:a16="http://schemas.microsoft.com/office/drawing/2014/main" id="{3159AE9B-A04D-2D4E-8CF7-F30592455E8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5823505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A86C6B-8D3F-644C-8AB0-60394A8F03C9}"/>
              </a:ext>
            </a:extLst>
          </p:cNvPr>
          <p:cNvSpPr>
            <a:spLocks noGrp="1"/>
          </p:cNvSpPr>
          <p:nvPr>
            <p:ph type="title"/>
          </p:nvPr>
        </p:nvSpPr>
        <p:spPr/>
        <p:txBody>
          <a:bodyPr/>
          <a:lstStyle/>
          <a:p>
            <a:r>
              <a:rPr kumimoji="1" lang="zh-CN" altLang="en-US" dirty="0"/>
              <a:t>方法</a:t>
            </a:r>
            <a:r>
              <a:rPr kumimoji="1" lang="en-US" altLang="zh-CN" dirty="0"/>
              <a:t>2</a:t>
            </a:r>
            <a:r>
              <a:rPr kumimoji="1" lang="zh-CN" altLang="en-US" dirty="0"/>
              <a:t>：二进制翻译</a:t>
            </a:r>
          </a:p>
        </p:txBody>
      </p:sp>
      <p:sp>
        <p:nvSpPr>
          <p:cNvPr id="3" name="内容占位符 2">
            <a:extLst>
              <a:ext uri="{FF2B5EF4-FFF2-40B4-BE49-F238E27FC236}">
                <a16:creationId xmlns:a16="http://schemas.microsoft.com/office/drawing/2014/main" id="{872E2F20-AAC6-CB41-9E14-5029E5516146}"/>
              </a:ext>
            </a:extLst>
          </p:cNvPr>
          <p:cNvSpPr>
            <a:spLocks noGrp="1"/>
          </p:cNvSpPr>
          <p:nvPr>
            <p:ph idx="1"/>
          </p:nvPr>
        </p:nvSpPr>
        <p:spPr/>
        <p:txBody>
          <a:bodyPr/>
          <a:lstStyle/>
          <a:p>
            <a:r>
              <a:rPr kumimoji="1" lang="zh-CN" altLang="en-US" dirty="0"/>
              <a:t>提出两个加速技术</a:t>
            </a:r>
            <a:endParaRPr kumimoji="1" lang="en-US" altLang="zh-CN" dirty="0"/>
          </a:p>
          <a:p>
            <a:pPr lvl="1"/>
            <a:r>
              <a:rPr kumimoji="1" lang="zh-CN" altLang="en-US" dirty="0"/>
              <a:t>在执行前</a:t>
            </a:r>
            <a:r>
              <a:rPr kumimoji="1" lang="zh-CN" altLang="en-US" dirty="0">
                <a:solidFill>
                  <a:srgbClr val="BE384B"/>
                </a:solidFill>
              </a:rPr>
              <a:t>批量翻译</a:t>
            </a:r>
            <a:r>
              <a:rPr kumimoji="1" lang="zh-CN" altLang="en-US" dirty="0"/>
              <a:t>虚拟机指令</a:t>
            </a:r>
            <a:endParaRPr kumimoji="1" lang="en-US" altLang="zh-CN" dirty="0"/>
          </a:p>
          <a:p>
            <a:pPr lvl="1"/>
            <a:r>
              <a:rPr kumimoji="1" lang="zh-CN" altLang="en-US" dirty="0">
                <a:solidFill>
                  <a:srgbClr val="BE384B"/>
                </a:solidFill>
              </a:rPr>
              <a:t>缓存</a:t>
            </a:r>
            <a:r>
              <a:rPr kumimoji="1" lang="zh-CN" altLang="en-US" dirty="0"/>
              <a:t>已翻译完成的指令</a:t>
            </a:r>
            <a:endParaRPr kumimoji="1" lang="en-US" altLang="zh-CN" dirty="0"/>
          </a:p>
          <a:p>
            <a:r>
              <a:rPr kumimoji="1" lang="zh-CN" altLang="en-US" dirty="0"/>
              <a:t>使用基本块</a:t>
            </a:r>
            <a:r>
              <a:rPr kumimoji="1" lang="en-US" altLang="zh-CN" dirty="0"/>
              <a:t>(Basic</a:t>
            </a:r>
            <a:r>
              <a:rPr kumimoji="1" lang="zh-CN" altLang="en-US" dirty="0"/>
              <a:t> </a:t>
            </a:r>
            <a:r>
              <a:rPr kumimoji="1" lang="en-US" altLang="zh-CN" dirty="0"/>
              <a:t>Block)</a:t>
            </a:r>
            <a:r>
              <a:rPr kumimoji="1" lang="zh-CN" altLang="en-US" dirty="0"/>
              <a:t>的翻译粒度（</a:t>
            </a:r>
            <a:r>
              <a:rPr kumimoji="1" lang="zh-CN" altLang="en-US" dirty="0">
                <a:solidFill>
                  <a:srgbClr val="BE384B"/>
                </a:solidFill>
              </a:rPr>
              <a:t>为什么</a:t>
            </a:r>
            <a:r>
              <a:rPr kumimoji="1" lang="en-US" altLang="zh-CN" dirty="0">
                <a:solidFill>
                  <a:srgbClr val="BE384B"/>
                </a:solidFill>
              </a:rPr>
              <a:t>?</a:t>
            </a:r>
            <a:r>
              <a:rPr kumimoji="1" lang="zh-CN" altLang="en-US" dirty="0"/>
              <a:t>）</a:t>
            </a:r>
            <a:endParaRPr kumimoji="1" lang="en-US" altLang="zh-CN" dirty="0"/>
          </a:p>
          <a:p>
            <a:pPr lvl="1"/>
            <a:r>
              <a:rPr kumimoji="1" lang="zh-CN" altLang="en-US" dirty="0"/>
              <a:t>每一个基本块被翻译完后叫代码补丁</a:t>
            </a:r>
          </a:p>
        </p:txBody>
      </p:sp>
      <p:sp>
        <p:nvSpPr>
          <p:cNvPr id="4" name="灯片编号占位符 3">
            <a:extLst>
              <a:ext uri="{FF2B5EF4-FFF2-40B4-BE49-F238E27FC236}">
                <a16:creationId xmlns:a16="http://schemas.microsoft.com/office/drawing/2014/main" id="{EFD7E371-2364-A448-8474-63BEF5B60C34}"/>
              </a:ext>
            </a:extLst>
          </p:cNvPr>
          <p:cNvSpPr>
            <a:spLocks noGrp="1"/>
          </p:cNvSpPr>
          <p:nvPr>
            <p:ph type="sldNum" sz="quarter" idx="12"/>
          </p:nvPr>
        </p:nvSpPr>
        <p:spPr/>
        <p:txBody>
          <a:bodyPr/>
          <a:lstStyle/>
          <a:p>
            <a:fld id="{ADE361C3-C043-4A6E-BDCE-8DA1E7D90A3B}" type="slidenum">
              <a:rPr lang="zh-CN" altLang="en-US" smtClean="0"/>
              <a:t>38</a:t>
            </a:fld>
            <a:endParaRPr lang="zh-CN" altLang="en-US"/>
          </a:p>
        </p:txBody>
      </p:sp>
      <p:sp>
        <p:nvSpPr>
          <p:cNvPr id="5" name="页脚占位符 4">
            <a:extLst>
              <a:ext uri="{FF2B5EF4-FFF2-40B4-BE49-F238E27FC236}">
                <a16:creationId xmlns:a16="http://schemas.microsoft.com/office/drawing/2014/main" id="{D116D7A7-C662-E04F-950D-7F7221C908ED}"/>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0604767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7C8DF0-F7DD-F14E-91F3-81EA0C18488A}"/>
              </a:ext>
            </a:extLst>
          </p:cNvPr>
          <p:cNvSpPr>
            <a:spLocks noGrp="1"/>
          </p:cNvSpPr>
          <p:nvPr>
            <p:ph type="title"/>
          </p:nvPr>
        </p:nvSpPr>
        <p:spPr/>
        <p:txBody>
          <a:bodyPr/>
          <a:lstStyle/>
          <a:p>
            <a:r>
              <a:rPr kumimoji="1" lang="zh-CN" altLang="en-US" dirty="0"/>
              <a:t>二进制翻译</a:t>
            </a:r>
          </a:p>
        </p:txBody>
      </p:sp>
      <p:sp>
        <p:nvSpPr>
          <p:cNvPr id="4" name="灯片编号占位符 3">
            <a:extLst>
              <a:ext uri="{FF2B5EF4-FFF2-40B4-BE49-F238E27FC236}">
                <a16:creationId xmlns:a16="http://schemas.microsoft.com/office/drawing/2014/main" id="{16F73CC9-65E6-224A-897D-0B7F720B7B72}"/>
              </a:ext>
            </a:extLst>
          </p:cNvPr>
          <p:cNvSpPr>
            <a:spLocks noGrp="1"/>
          </p:cNvSpPr>
          <p:nvPr>
            <p:ph type="sldNum" sz="quarter" idx="12"/>
          </p:nvPr>
        </p:nvSpPr>
        <p:spPr/>
        <p:txBody>
          <a:bodyPr/>
          <a:lstStyle/>
          <a:p>
            <a:fld id="{ADE361C3-C043-4A6E-BDCE-8DA1E7D90A3B}" type="slidenum">
              <a:rPr lang="zh-CN" altLang="en-US" smtClean="0"/>
              <a:t>39</a:t>
            </a:fld>
            <a:endParaRPr lang="zh-CN" altLang="en-US"/>
          </a:p>
        </p:txBody>
      </p:sp>
      <p:sp>
        <p:nvSpPr>
          <p:cNvPr id="5" name="页脚占位符 4">
            <a:extLst>
              <a:ext uri="{FF2B5EF4-FFF2-40B4-BE49-F238E27FC236}">
                <a16:creationId xmlns:a16="http://schemas.microsoft.com/office/drawing/2014/main" id="{E7DE1C5D-17D4-FA4E-8EBF-34BDF2B96044}"/>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grpSp>
        <p:nvGrpSpPr>
          <p:cNvPr id="6" name="组合 5">
            <a:extLst>
              <a:ext uri="{FF2B5EF4-FFF2-40B4-BE49-F238E27FC236}">
                <a16:creationId xmlns:a16="http://schemas.microsoft.com/office/drawing/2014/main" id="{CBB3E0B2-39DF-714D-AC4A-C9C270592A73}"/>
              </a:ext>
            </a:extLst>
          </p:cNvPr>
          <p:cNvGrpSpPr/>
          <p:nvPr/>
        </p:nvGrpSpPr>
        <p:grpSpPr>
          <a:xfrm>
            <a:off x="1242594" y="1287858"/>
            <a:ext cx="1588230" cy="1670257"/>
            <a:chOff x="2950840" y="1073433"/>
            <a:chExt cx="1588230" cy="1670257"/>
          </a:xfrm>
          <a:solidFill>
            <a:schemeClr val="bg1"/>
          </a:solidFill>
        </p:grpSpPr>
        <p:sp>
          <p:nvSpPr>
            <p:cNvPr id="7" name="矩形 6">
              <a:extLst>
                <a:ext uri="{FF2B5EF4-FFF2-40B4-BE49-F238E27FC236}">
                  <a16:creationId xmlns:a16="http://schemas.microsoft.com/office/drawing/2014/main" id="{5C8A1DE8-BD43-AA44-993A-533AEB8AC7B1}"/>
                </a:ext>
              </a:extLst>
            </p:cNvPr>
            <p:cNvSpPr/>
            <p:nvPr/>
          </p:nvSpPr>
          <p:spPr>
            <a:xfrm>
              <a:off x="2950840" y="1073433"/>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rPr>
                <a:t>基本块</a:t>
              </a:r>
              <a:r>
                <a:rPr kumimoji="1" lang="en-US" altLang="zh-CN" sz="1600" dirty="0">
                  <a:solidFill>
                    <a:schemeClr val="tx1"/>
                  </a:solidFill>
                </a:rPr>
                <a:t>1</a:t>
              </a:r>
              <a:endParaRPr kumimoji="1" lang="zh-CN" altLang="en-US" sz="1600" dirty="0">
                <a:solidFill>
                  <a:schemeClr val="tx1"/>
                </a:solidFill>
              </a:endParaRPr>
            </a:p>
          </p:txBody>
        </p:sp>
        <p:sp>
          <p:nvSpPr>
            <p:cNvPr id="8" name="矩形 7">
              <a:extLst>
                <a:ext uri="{FF2B5EF4-FFF2-40B4-BE49-F238E27FC236}">
                  <a16:creationId xmlns:a16="http://schemas.microsoft.com/office/drawing/2014/main" id="{8A21C8F5-5672-6B41-B622-53C2CA67AD9A}"/>
                </a:ext>
              </a:extLst>
            </p:cNvPr>
            <p:cNvSpPr/>
            <p:nvPr/>
          </p:nvSpPr>
          <p:spPr>
            <a:xfrm>
              <a:off x="2950840" y="1287736"/>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rPr>
                <a:t>基本块</a:t>
              </a:r>
              <a:r>
                <a:rPr kumimoji="1" lang="en-US" altLang="zh-CN" sz="1600" dirty="0">
                  <a:solidFill>
                    <a:schemeClr val="tx1"/>
                  </a:solidFill>
                </a:rPr>
                <a:t>2</a:t>
              </a:r>
              <a:endParaRPr kumimoji="1" lang="zh-CN" altLang="en-US" sz="1600" dirty="0">
                <a:solidFill>
                  <a:schemeClr val="tx1"/>
                </a:solidFill>
              </a:endParaRPr>
            </a:p>
          </p:txBody>
        </p:sp>
        <p:sp>
          <p:nvSpPr>
            <p:cNvPr id="9" name="矩形 8">
              <a:extLst>
                <a:ext uri="{FF2B5EF4-FFF2-40B4-BE49-F238E27FC236}">
                  <a16:creationId xmlns:a16="http://schemas.microsoft.com/office/drawing/2014/main" id="{0D8DCCB1-B030-3C45-8EB3-776361F36F24}"/>
                </a:ext>
              </a:extLst>
            </p:cNvPr>
            <p:cNvSpPr/>
            <p:nvPr/>
          </p:nvSpPr>
          <p:spPr>
            <a:xfrm>
              <a:off x="2954894" y="1488237"/>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rPr>
                <a:t>基本块</a:t>
              </a:r>
              <a:r>
                <a:rPr kumimoji="1" lang="en-US" altLang="zh-CN" sz="1600" dirty="0">
                  <a:solidFill>
                    <a:schemeClr val="tx1"/>
                  </a:solidFill>
                </a:rPr>
                <a:t>3</a:t>
              </a:r>
              <a:endParaRPr kumimoji="1" lang="zh-CN" altLang="en-US" sz="1600" dirty="0">
                <a:solidFill>
                  <a:schemeClr val="tx1"/>
                </a:solidFill>
              </a:endParaRPr>
            </a:p>
          </p:txBody>
        </p:sp>
        <p:sp>
          <p:nvSpPr>
            <p:cNvPr id="10" name="矩形 9">
              <a:extLst>
                <a:ext uri="{FF2B5EF4-FFF2-40B4-BE49-F238E27FC236}">
                  <a16:creationId xmlns:a16="http://schemas.microsoft.com/office/drawing/2014/main" id="{C59F9F45-8635-9141-A84F-3EE5AA79553E}"/>
                </a:ext>
              </a:extLst>
            </p:cNvPr>
            <p:cNvSpPr/>
            <p:nvPr/>
          </p:nvSpPr>
          <p:spPr>
            <a:xfrm>
              <a:off x="2954894" y="1704395"/>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rPr>
                <a:t>基本块</a:t>
              </a:r>
              <a:r>
                <a:rPr kumimoji="1" lang="en-US" altLang="zh-CN" sz="1600" dirty="0">
                  <a:solidFill>
                    <a:schemeClr val="tx1"/>
                  </a:solidFill>
                </a:rPr>
                <a:t>4</a:t>
              </a:r>
              <a:endParaRPr kumimoji="1" lang="zh-CN" altLang="en-US" sz="1600" dirty="0">
                <a:solidFill>
                  <a:schemeClr val="tx1"/>
                </a:solidFill>
              </a:endParaRPr>
            </a:p>
          </p:txBody>
        </p:sp>
        <p:sp>
          <p:nvSpPr>
            <p:cNvPr id="11" name="矩形 10">
              <a:extLst>
                <a:ext uri="{FF2B5EF4-FFF2-40B4-BE49-F238E27FC236}">
                  <a16:creationId xmlns:a16="http://schemas.microsoft.com/office/drawing/2014/main" id="{6AAC1C39-A0D7-8947-A861-C27B4CC19CC0}"/>
                </a:ext>
              </a:extLst>
            </p:cNvPr>
            <p:cNvSpPr/>
            <p:nvPr/>
          </p:nvSpPr>
          <p:spPr>
            <a:xfrm>
              <a:off x="2950840" y="1916031"/>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rPr>
                <a:t>基本块</a:t>
              </a:r>
              <a:r>
                <a:rPr kumimoji="1" lang="en-US" altLang="zh-CN" sz="1600" dirty="0">
                  <a:solidFill>
                    <a:schemeClr val="tx1"/>
                  </a:solidFill>
                </a:rPr>
                <a:t>5</a:t>
              </a:r>
              <a:endParaRPr kumimoji="1" lang="zh-CN" altLang="en-US" sz="1600" dirty="0">
                <a:solidFill>
                  <a:schemeClr val="tx1"/>
                </a:solidFill>
              </a:endParaRPr>
            </a:p>
          </p:txBody>
        </p:sp>
        <p:sp>
          <p:nvSpPr>
            <p:cNvPr id="12" name="矩形 11">
              <a:extLst>
                <a:ext uri="{FF2B5EF4-FFF2-40B4-BE49-F238E27FC236}">
                  <a16:creationId xmlns:a16="http://schemas.microsoft.com/office/drawing/2014/main" id="{840BAB85-ADB6-9242-B72D-F1AA2F0EA5FB}"/>
                </a:ext>
              </a:extLst>
            </p:cNvPr>
            <p:cNvSpPr/>
            <p:nvPr/>
          </p:nvSpPr>
          <p:spPr>
            <a:xfrm>
              <a:off x="2950840" y="2127667"/>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rPr>
                <a:t>基本块</a:t>
              </a:r>
              <a:r>
                <a:rPr kumimoji="1" lang="en-US" altLang="zh-CN" sz="1600" dirty="0">
                  <a:solidFill>
                    <a:schemeClr val="tx1"/>
                  </a:solidFill>
                </a:rPr>
                <a:t>6</a:t>
              </a:r>
              <a:endParaRPr kumimoji="1" lang="zh-CN" altLang="en-US" sz="1600" dirty="0">
                <a:solidFill>
                  <a:schemeClr val="tx1"/>
                </a:solidFill>
              </a:endParaRPr>
            </a:p>
          </p:txBody>
        </p:sp>
        <p:sp>
          <p:nvSpPr>
            <p:cNvPr id="13" name="矩形 12">
              <a:extLst>
                <a:ext uri="{FF2B5EF4-FFF2-40B4-BE49-F238E27FC236}">
                  <a16:creationId xmlns:a16="http://schemas.microsoft.com/office/drawing/2014/main" id="{D43D13A7-9024-6C48-BE4F-C4ED5ED0B8F5}"/>
                </a:ext>
              </a:extLst>
            </p:cNvPr>
            <p:cNvSpPr/>
            <p:nvPr/>
          </p:nvSpPr>
          <p:spPr>
            <a:xfrm>
              <a:off x="2950840" y="2334418"/>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600" dirty="0">
                  <a:solidFill>
                    <a:schemeClr val="tx1"/>
                  </a:solidFill>
                </a:rPr>
                <a:t>…</a:t>
              </a:r>
              <a:endParaRPr kumimoji="1" lang="zh-CN" altLang="en-US" sz="1600" dirty="0">
                <a:solidFill>
                  <a:schemeClr val="tx1"/>
                </a:solidFill>
              </a:endParaRPr>
            </a:p>
          </p:txBody>
        </p:sp>
        <p:sp>
          <p:nvSpPr>
            <p:cNvPr id="14" name="矩形 13">
              <a:extLst>
                <a:ext uri="{FF2B5EF4-FFF2-40B4-BE49-F238E27FC236}">
                  <a16:creationId xmlns:a16="http://schemas.microsoft.com/office/drawing/2014/main" id="{58323015-A578-C042-99CE-7A1D76A28D44}"/>
                </a:ext>
              </a:extLst>
            </p:cNvPr>
            <p:cNvSpPr/>
            <p:nvPr/>
          </p:nvSpPr>
          <p:spPr>
            <a:xfrm>
              <a:off x="2950840" y="2527666"/>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rPr>
                <a:t>基本块</a:t>
              </a:r>
              <a:r>
                <a:rPr kumimoji="1" lang="en-US" altLang="zh-CN" sz="1600" dirty="0">
                  <a:solidFill>
                    <a:schemeClr val="tx1"/>
                  </a:solidFill>
                </a:rPr>
                <a:t>N</a:t>
              </a:r>
              <a:endParaRPr kumimoji="1" lang="zh-CN" altLang="en-US" sz="1600" dirty="0">
                <a:solidFill>
                  <a:schemeClr val="tx1"/>
                </a:solidFill>
              </a:endParaRPr>
            </a:p>
          </p:txBody>
        </p:sp>
      </p:grpSp>
      <p:sp>
        <p:nvSpPr>
          <p:cNvPr id="17" name="矩形 16">
            <a:extLst>
              <a:ext uri="{FF2B5EF4-FFF2-40B4-BE49-F238E27FC236}">
                <a16:creationId xmlns:a16="http://schemas.microsoft.com/office/drawing/2014/main" id="{7AE36491-3B52-FE43-BBDD-B9956542576C}"/>
              </a:ext>
            </a:extLst>
          </p:cNvPr>
          <p:cNvSpPr/>
          <p:nvPr/>
        </p:nvSpPr>
        <p:spPr>
          <a:xfrm>
            <a:off x="4045558" y="1008385"/>
            <a:ext cx="1261120" cy="33284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模拟器</a:t>
            </a:r>
          </a:p>
        </p:txBody>
      </p:sp>
      <p:cxnSp>
        <p:nvCxnSpPr>
          <p:cNvPr id="22" name="肘形连接符 21">
            <a:extLst>
              <a:ext uri="{FF2B5EF4-FFF2-40B4-BE49-F238E27FC236}">
                <a16:creationId xmlns:a16="http://schemas.microsoft.com/office/drawing/2014/main" id="{27385280-ACCA-3344-B333-E3F6C36A58D0}"/>
              </a:ext>
            </a:extLst>
          </p:cNvPr>
          <p:cNvCxnSpPr>
            <a:cxnSpLocks/>
            <a:stCxn id="17" idx="2"/>
            <a:endCxn id="73" idx="0"/>
          </p:cNvCxnSpPr>
          <p:nvPr/>
        </p:nvCxnSpPr>
        <p:spPr>
          <a:xfrm rot="16200000" flipH="1">
            <a:off x="4570457" y="1446892"/>
            <a:ext cx="557806" cy="346484"/>
          </a:xfrm>
          <a:prstGeom prst="bentConnector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肘形连接符 22">
            <a:extLst>
              <a:ext uri="{FF2B5EF4-FFF2-40B4-BE49-F238E27FC236}">
                <a16:creationId xmlns:a16="http://schemas.microsoft.com/office/drawing/2014/main" id="{CB334465-B221-3446-B442-E2D7DBE6EE55}"/>
              </a:ext>
            </a:extLst>
          </p:cNvPr>
          <p:cNvCxnSpPr>
            <a:cxnSpLocks/>
            <a:stCxn id="110" idx="2"/>
            <a:endCxn id="78" idx="3"/>
          </p:cNvCxnSpPr>
          <p:nvPr/>
        </p:nvCxnSpPr>
        <p:spPr>
          <a:xfrm rot="5400000">
            <a:off x="6478389" y="3603528"/>
            <a:ext cx="878974" cy="258234"/>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矩形 25">
            <a:extLst>
              <a:ext uri="{FF2B5EF4-FFF2-40B4-BE49-F238E27FC236}">
                <a16:creationId xmlns:a16="http://schemas.microsoft.com/office/drawing/2014/main" id="{5F546260-5A62-5D4E-AEAC-8C6BAF08B7EB}"/>
              </a:ext>
            </a:extLst>
          </p:cNvPr>
          <p:cNvSpPr/>
          <p:nvPr/>
        </p:nvSpPr>
        <p:spPr>
          <a:xfrm>
            <a:off x="1242595" y="4561413"/>
            <a:ext cx="1584176" cy="40907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a:t>
            </a:r>
            <a:endParaRPr kumimoji="1" lang="zh-CN" altLang="en-US" dirty="0"/>
          </a:p>
        </p:txBody>
      </p:sp>
      <p:cxnSp>
        <p:nvCxnSpPr>
          <p:cNvPr id="27" name="肘形连接符 26">
            <a:extLst>
              <a:ext uri="{FF2B5EF4-FFF2-40B4-BE49-F238E27FC236}">
                <a16:creationId xmlns:a16="http://schemas.microsoft.com/office/drawing/2014/main" id="{9948A607-6F76-CE4B-9426-8EB30AAEE3E3}"/>
              </a:ext>
            </a:extLst>
          </p:cNvPr>
          <p:cNvCxnSpPr>
            <a:cxnSpLocks/>
            <a:stCxn id="78" idx="2"/>
            <a:endCxn id="26" idx="3"/>
          </p:cNvCxnSpPr>
          <p:nvPr/>
        </p:nvCxnSpPr>
        <p:spPr>
          <a:xfrm rot="5400000">
            <a:off x="4217269" y="2935497"/>
            <a:ext cx="439953" cy="3220948"/>
          </a:xfrm>
          <a:prstGeom prst="bentConnector2">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9" name="椭圆 28">
            <a:extLst>
              <a:ext uri="{FF2B5EF4-FFF2-40B4-BE49-F238E27FC236}">
                <a16:creationId xmlns:a16="http://schemas.microsoft.com/office/drawing/2014/main" id="{FD801EED-81E8-BB44-BACF-81E657DDA4B1}"/>
              </a:ext>
            </a:extLst>
          </p:cNvPr>
          <p:cNvSpPr/>
          <p:nvPr/>
        </p:nvSpPr>
        <p:spPr>
          <a:xfrm>
            <a:off x="3234886" y="861222"/>
            <a:ext cx="353318" cy="36004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1</a:t>
            </a:r>
            <a:endParaRPr kumimoji="1" lang="zh-CN" altLang="en-US" dirty="0"/>
          </a:p>
        </p:txBody>
      </p:sp>
      <p:sp>
        <p:nvSpPr>
          <p:cNvPr id="32" name="椭圆 31">
            <a:extLst>
              <a:ext uri="{FF2B5EF4-FFF2-40B4-BE49-F238E27FC236}">
                <a16:creationId xmlns:a16="http://schemas.microsoft.com/office/drawing/2014/main" id="{E94B32E0-B312-7E4B-98D9-A4B6E1CEB864}"/>
              </a:ext>
            </a:extLst>
          </p:cNvPr>
          <p:cNvSpPr/>
          <p:nvPr/>
        </p:nvSpPr>
        <p:spPr>
          <a:xfrm>
            <a:off x="5074016" y="2240030"/>
            <a:ext cx="353318" cy="36004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3</a:t>
            </a:r>
            <a:endParaRPr kumimoji="1" lang="zh-CN" altLang="en-US" dirty="0"/>
          </a:p>
        </p:txBody>
      </p:sp>
      <p:sp>
        <p:nvSpPr>
          <p:cNvPr id="33" name="文本框 32">
            <a:extLst>
              <a:ext uri="{FF2B5EF4-FFF2-40B4-BE49-F238E27FC236}">
                <a16:creationId xmlns:a16="http://schemas.microsoft.com/office/drawing/2014/main" id="{B5B21400-ECF8-7645-99D5-05E9B7F79A1C}"/>
              </a:ext>
            </a:extLst>
          </p:cNvPr>
          <p:cNvSpPr txBox="1"/>
          <p:nvPr/>
        </p:nvSpPr>
        <p:spPr>
          <a:xfrm>
            <a:off x="1633958" y="5223233"/>
            <a:ext cx="800219" cy="461665"/>
          </a:xfrm>
          <a:prstGeom prst="rect">
            <a:avLst/>
          </a:prstGeom>
          <a:noFill/>
        </p:spPr>
        <p:txBody>
          <a:bodyPr wrap="none" rtlCol="0">
            <a:spAutoFit/>
          </a:bodyPr>
          <a:lstStyle/>
          <a:p>
            <a:r>
              <a:rPr kumimoji="1" lang="zh-CN" altLang="en-US" sz="2400" dirty="0"/>
              <a:t>内存</a:t>
            </a:r>
          </a:p>
        </p:txBody>
      </p:sp>
      <p:sp>
        <p:nvSpPr>
          <p:cNvPr id="34" name="文本框 33">
            <a:extLst>
              <a:ext uri="{FF2B5EF4-FFF2-40B4-BE49-F238E27FC236}">
                <a16:creationId xmlns:a16="http://schemas.microsoft.com/office/drawing/2014/main" id="{9E398753-695E-4445-9C18-608A227E2D4D}"/>
              </a:ext>
            </a:extLst>
          </p:cNvPr>
          <p:cNvSpPr txBox="1"/>
          <p:nvPr/>
        </p:nvSpPr>
        <p:spPr>
          <a:xfrm>
            <a:off x="536018" y="4475474"/>
            <a:ext cx="800219" cy="584775"/>
          </a:xfrm>
          <a:prstGeom prst="rect">
            <a:avLst/>
          </a:prstGeom>
          <a:noFill/>
        </p:spPr>
        <p:txBody>
          <a:bodyPr wrap="none" rtlCol="0">
            <a:spAutoFit/>
          </a:bodyPr>
          <a:lstStyle/>
          <a:p>
            <a:pPr algn="ctr"/>
            <a:r>
              <a:rPr kumimoji="1" lang="zh-CN" altLang="en-US" sz="1600" dirty="0"/>
              <a:t>虚拟机</a:t>
            </a:r>
            <a:endParaRPr kumimoji="1" lang="en-US" altLang="zh-CN" sz="1600" dirty="0"/>
          </a:p>
          <a:p>
            <a:pPr algn="ctr"/>
            <a:r>
              <a:rPr kumimoji="1" lang="zh-CN" altLang="en-US" sz="1600" dirty="0"/>
              <a:t>状态</a:t>
            </a:r>
          </a:p>
        </p:txBody>
      </p:sp>
      <p:sp>
        <p:nvSpPr>
          <p:cNvPr id="35" name="矩形 34">
            <a:extLst>
              <a:ext uri="{FF2B5EF4-FFF2-40B4-BE49-F238E27FC236}">
                <a16:creationId xmlns:a16="http://schemas.microsoft.com/office/drawing/2014/main" id="{317C9B45-DB31-B440-8135-E8A8E0E58A22}"/>
              </a:ext>
            </a:extLst>
          </p:cNvPr>
          <p:cNvSpPr/>
          <p:nvPr/>
        </p:nvSpPr>
        <p:spPr>
          <a:xfrm>
            <a:off x="590442" y="1008385"/>
            <a:ext cx="2553471" cy="4238433"/>
          </a:xfrm>
          <a:prstGeom prst="rect">
            <a:avLst/>
          </a:prstGeom>
          <a:noFill/>
          <a:ln>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36" name="文本框 35">
            <a:extLst>
              <a:ext uri="{FF2B5EF4-FFF2-40B4-BE49-F238E27FC236}">
                <a16:creationId xmlns:a16="http://schemas.microsoft.com/office/drawing/2014/main" id="{8985CA46-2369-E54B-9DB3-D5045EF34E89}"/>
              </a:ext>
            </a:extLst>
          </p:cNvPr>
          <p:cNvSpPr txBox="1"/>
          <p:nvPr/>
        </p:nvSpPr>
        <p:spPr>
          <a:xfrm>
            <a:off x="5401387" y="2232158"/>
            <a:ext cx="646331" cy="369332"/>
          </a:xfrm>
          <a:prstGeom prst="rect">
            <a:avLst/>
          </a:prstGeom>
          <a:noFill/>
        </p:spPr>
        <p:txBody>
          <a:bodyPr wrap="none" rtlCol="0">
            <a:spAutoFit/>
          </a:bodyPr>
          <a:lstStyle/>
          <a:p>
            <a:r>
              <a:rPr kumimoji="1" lang="zh-CN" altLang="en-US" dirty="0"/>
              <a:t>命中</a:t>
            </a:r>
          </a:p>
        </p:txBody>
      </p:sp>
      <p:cxnSp>
        <p:nvCxnSpPr>
          <p:cNvPr id="38" name="肘形连接符 37">
            <a:extLst>
              <a:ext uri="{FF2B5EF4-FFF2-40B4-BE49-F238E27FC236}">
                <a16:creationId xmlns:a16="http://schemas.microsoft.com/office/drawing/2014/main" id="{CB5D4C41-FB94-B541-ACA8-2A9A0E22066D}"/>
              </a:ext>
            </a:extLst>
          </p:cNvPr>
          <p:cNvCxnSpPr>
            <a:cxnSpLocks/>
            <a:stCxn id="17" idx="1"/>
            <a:endCxn id="7" idx="3"/>
          </p:cNvCxnSpPr>
          <p:nvPr/>
        </p:nvCxnSpPr>
        <p:spPr>
          <a:xfrm rot="10800000" flipV="1">
            <a:off x="2826770" y="1174808"/>
            <a:ext cx="1218788" cy="221062"/>
          </a:xfrm>
          <a:prstGeom prst="bentConnector3">
            <a:avLst>
              <a:gd name="adj1" fmla="val 50000"/>
            </a:avLst>
          </a:prstGeom>
          <a:ln w="38100">
            <a:solidFill>
              <a:schemeClr val="tx1"/>
            </a:solidFill>
            <a:prstDash val="solid"/>
            <a:headEnd type="triangle"/>
            <a:tailEnd type="none"/>
          </a:ln>
        </p:spPr>
        <p:style>
          <a:lnRef idx="1">
            <a:schemeClr val="accent1"/>
          </a:lnRef>
          <a:fillRef idx="0">
            <a:schemeClr val="accent1"/>
          </a:fillRef>
          <a:effectRef idx="0">
            <a:schemeClr val="accent1"/>
          </a:effectRef>
          <a:fontRef idx="minor">
            <a:schemeClr val="tx1"/>
          </a:fontRef>
        </p:style>
      </p:cxnSp>
      <p:grpSp>
        <p:nvGrpSpPr>
          <p:cNvPr id="43" name="组合 42">
            <a:extLst>
              <a:ext uri="{FF2B5EF4-FFF2-40B4-BE49-F238E27FC236}">
                <a16:creationId xmlns:a16="http://schemas.microsoft.com/office/drawing/2014/main" id="{7A376FC9-A708-AD42-91FA-83156D29AF06}"/>
              </a:ext>
            </a:extLst>
          </p:cNvPr>
          <p:cNvGrpSpPr/>
          <p:nvPr/>
        </p:nvGrpSpPr>
        <p:grpSpPr>
          <a:xfrm>
            <a:off x="1243111" y="3408843"/>
            <a:ext cx="1584176" cy="630828"/>
            <a:chOff x="2950840" y="1073433"/>
            <a:chExt cx="1584176" cy="630828"/>
          </a:xfrm>
          <a:solidFill>
            <a:schemeClr val="bg1"/>
          </a:solidFill>
        </p:grpSpPr>
        <p:sp>
          <p:nvSpPr>
            <p:cNvPr id="44" name="矩形 43">
              <a:extLst>
                <a:ext uri="{FF2B5EF4-FFF2-40B4-BE49-F238E27FC236}">
                  <a16:creationId xmlns:a16="http://schemas.microsoft.com/office/drawing/2014/main" id="{3113EB54-7139-FD45-9A03-7DF3CDD3A9B9}"/>
                </a:ext>
              </a:extLst>
            </p:cNvPr>
            <p:cNvSpPr/>
            <p:nvPr/>
          </p:nvSpPr>
          <p:spPr>
            <a:xfrm>
              <a:off x="2950840" y="1073433"/>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rPr>
                <a:t>代码补丁</a:t>
              </a:r>
              <a:r>
                <a:rPr kumimoji="1" lang="en-US" altLang="zh-CN" sz="1600" dirty="0">
                  <a:solidFill>
                    <a:schemeClr val="tx1"/>
                  </a:solidFill>
                </a:rPr>
                <a:t>1</a:t>
              </a:r>
              <a:endParaRPr kumimoji="1" lang="zh-CN" altLang="en-US" sz="1600" dirty="0">
                <a:solidFill>
                  <a:schemeClr val="tx1"/>
                </a:solidFill>
              </a:endParaRPr>
            </a:p>
          </p:txBody>
        </p:sp>
        <p:sp>
          <p:nvSpPr>
            <p:cNvPr id="45" name="矩形 44">
              <a:extLst>
                <a:ext uri="{FF2B5EF4-FFF2-40B4-BE49-F238E27FC236}">
                  <a16:creationId xmlns:a16="http://schemas.microsoft.com/office/drawing/2014/main" id="{51EF7CFE-BC58-C54E-84AE-2D47F25150D6}"/>
                </a:ext>
              </a:extLst>
            </p:cNvPr>
            <p:cNvSpPr/>
            <p:nvPr/>
          </p:nvSpPr>
          <p:spPr>
            <a:xfrm>
              <a:off x="2950840" y="1287736"/>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rPr>
                <a:t>代码补丁</a:t>
              </a:r>
              <a:r>
                <a:rPr kumimoji="1" lang="en-US" altLang="zh-CN" sz="1600" dirty="0">
                  <a:solidFill>
                    <a:schemeClr val="tx1"/>
                  </a:solidFill>
                </a:rPr>
                <a:t>2</a:t>
              </a:r>
              <a:endParaRPr kumimoji="1" lang="zh-CN" altLang="en-US" sz="1600" dirty="0">
                <a:solidFill>
                  <a:schemeClr val="tx1"/>
                </a:solidFill>
              </a:endParaRPr>
            </a:p>
          </p:txBody>
        </p:sp>
        <p:sp>
          <p:nvSpPr>
            <p:cNvPr id="46" name="矩形 45">
              <a:extLst>
                <a:ext uri="{FF2B5EF4-FFF2-40B4-BE49-F238E27FC236}">
                  <a16:creationId xmlns:a16="http://schemas.microsoft.com/office/drawing/2014/main" id="{C3C34590-CA76-DC4E-8F3A-30B0F00AF2C7}"/>
                </a:ext>
              </a:extLst>
            </p:cNvPr>
            <p:cNvSpPr/>
            <p:nvPr/>
          </p:nvSpPr>
          <p:spPr>
            <a:xfrm>
              <a:off x="2950840" y="1488237"/>
              <a:ext cx="1584176" cy="216024"/>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600" dirty="0">
                  <a:solidFill>
                    <a:schemeClr val="tx1"/>
                  </a:solidFill>
                </a:rPr>
                <a:t>代码补丁</a:t>
              </a:r>
              <a:r>
                <a:rPr kumimoji="1" lang="en-US" altLang="zh-CN" sz="1600" dirty="0">
                  <a:solidFill>
                    <a:schemeClr val="tx1"/>
                  </a:solidFill>
                </a:rPr>
                <a:t>3</a:t>
              </a:r>
              <a:endParaRPr kumimoji="1" lang="zh-CN" altLang="en-US" sz="1600" dirty="0">
                <a:solidFill>
                  <a:schemeClr val="tx1"/>
                </a:solidFill>
              </a:endParaRPr>
            </a:p>
          </p:txBody>
        </p:sp>
      </p:grpSp>
      <p:sp>
        <p:nvSpPr>
          <p:cNvPr id="52" name="文本框 51">
            <a:extLst>
              <a:ext uri="{FF2B5EF4-FFF2-40B4-BE49-F238E27FC236}">
                <a16:creationId xmlns:a16="http://schemas.microsoft.com/office/drawing/2014/main" id="{F322BB71-1E61-9A45-87DA-DE7A61F1E602}"/>
              </a:ext>
            </a:extLst>
          </p:cNvPr>
          <p:cNvSpPr txBox="1"/>
          <p:nvPr/>
        </p:nvSpPr>
        <p:spPr>
          <a:xfrm>
            <a:off x="596263" y="3577247"/>
            <a:ext cx="595035" cy="338554"/>
          </a:xfrm>
          <a:prstGeom prst="rect">
            <a:avLst/>
          </a:prstGeom>
          <a:noFill/>
        </p:spPr>
        <p:txBody>
          <a:bodyPr wrap="none" rtlCol="0">
            <a:spAutoFit/>
          </a:bodyPr>
          <a:lstStyle/>
          <a:p>
            <a:r>
              <a:rPr kumimoji="1" lang="zh-CN" altLang="en-US" sz="1600" dirty="0"/>
              <a:t>缓存</a:t>
            </a:r>
          </a:p>
        </p:txBody>
      </p:sp>
      <p:sp>
        <p:nvSpPr>
          <p:cNvPr id="63" name="文本框 62">
            <a:extLst>
              <a:ext uri="{FF2B5EF4-FFF2-40B4-BE49-F238E27FC236}">
                <a16:creationId xmlns:a16="http://schemas.microsoft.com/office/drawing/2014/main" id="{D2B264C3-0704-0041-B91E-BFE439CB68CF}"/>
              </a:ext>
            </a:extLst>
          </p:cNvPr>
          <p:cNvSpPr txBox="1"/>
          <p:nvPr/>
        </p:nvSpPr>
        <p:spPr>
          <a:xfrm>
            <a:off x="514382" y="1925165"/>
            <a:ext cx="800219" cy="584775"/>
          </a:xfrm>
          <a:prstGeom prst="rect">
            <a:avLst/>
          </a:prstGeom>
          <a:noFill/>
        </p:spPr>
        <p:txBody>
          <a:bodyPr wrap="none" rtlCol="0">
            <a:spAutoFit/>
          </a:bodyPr>
          <a:lstStyle/>
          <a:p>
            <a:pPr algn="ctr"/>
            <a:r>
              <a:rPr kumimoji="1" lang="zh-CN" altLang="en-US" sz="1600" dirty="0"/>
              <a:t>虚拟机</a:t>
            </a:r>
            <a:endParaRPr kumimoji="1" lang="en-US" altLang="zh-CN" sz="1600" dirty="0"/>
          </a:p>
          <a:p>
            <a:pPr algn="ctr"/>
            <a:r>
              <a:rPr kumimoji="1" lang="zh-CN" altLang="en-US" sz="1600" dirty="0"/>
              <a:t>内存</a:t>
            </a:r>
          </a:p>
        </p:txBody>
      </p:sp>
      <p:sp>
        <p:nvSpPr>
          <p:cNvPr id="64" name="矩形 63">
            <a:extLst>
              <a:ext uri="{FF2B5EF4-FFF2-40B4-BE49-F238E27FC236}">
                <a16:creationId xmlns:a16="http://schemas.microsoft.com/office/drawing/2014/main" id="{65FECA86-8AD2-114F-BCD5-7EA25C38EF1A}"/>
              </a:ext>
            </a:extLst>
          </p:cNvPr>
          <p:cNvSpPr/>
          <p:nvPr/>
        </p:nvSpPr>
        <p:spPr>
          <a:xfrm>
            <a:off x="6305953" y="1905300"/>
            <a:ext cx="1482081" cy="30772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翻译</a:t>
            </a:r>
          </a:p>
        </p:txBody>
      </p:sp>
      <p:sp>
        <p:nvSpPr>
          <p:cNvPr id="73" name="矩形 72">
            <a:extLst>
              <a:ext uri="{FF2B5EF4-FFF2-40B4-BE49-F238E27FC236}">
                <a16:creationId xmlns:a16="http://schemas.microsoft.com/office/drawing/2014/main" id="{0465605C-D8E4-174C-A335-6E0F53342FD2}"/>
              </a:ext>
            </a:extLst>
          </p:cNvPr>
          <p:cNvSpPr/>
          <p:nvPr/>
        </p:nvSpPr>
        <p:spPr>
          <a:xfrm>
            <a:off x="4281561" y="1899037"/>
            <a:ext cx="1482081" cy="29781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查询</a:t>
            </a:r>
          </a:p>
        </p:txBody>
      </p:sp>
      <p:cxnSp>
        <p:nvCxnSpPr>
          <p:cNvPr id="75" name="肘形连接符 74">
            <a:extLst>
              <a:ext uri="{FF2B5EF4-FFF2-40B4-BE49-F238E27FC236}">
                <a16:creationId xmlns:a16="http://schemas.microsoft.com/office/drawing/2014/main" id="{4D462F14-E6DC-7449-B5BA-020A731D8AF2}"/>
              </a:ext>
            </a:extLst>
          </p:cNvPr>
          <p:cNvCxnSpPr>
            <a:cxnSpLocks/>
            <a:stCxn id="17" idx="2"/>
            <a:endCxn id="64" idx="0"/>
          </p:cNvCxnSpPr>
          <p:nvPr/>
        </p:nvCxnSpPr>
        <p:spPr>
          <a:xfrm rot="16200000" flipH="1">
            <a:off x="5579522" y="437827"/>
            <a:ext cx="564069" cy="2370876"/>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8" name="矩形 77">
            <a:extLst>
              <a:ext uri="{FF2B5EF4-FFF2-40B4-BE49-F238E27FC236}">
                <a16:creationId xmlns:a16="http://schemas.microsoft.com/office/drawing/2014/main" id="{8E094270-64E9-A847-B5F6-09259F630155}"/>
              </a:ext>
            </a:extLst>
          </p:cNvPr>
          <p:cNvSpPr/>
          <p:nvPr/>
        </p:nvSpPr>
        <p:spPr>
          <a:xfrm>
            <a:off x="5306678" y="4018268"/>
            <a:ext cx="1482081" cy="30772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执行</a:t>
            </a:r>
          </a:p>
        </p:txBody>
      </p:sp>
      <p:cxnSp>
        <p:nvCxnSpPr>
          <p:cNvPr id="80" name="肘形连接符 79">
            <a:extLst>
              <a:ext uri="{FF2B5EF4-FFF2-40B4-BE49-F238E27FC236}">
                <a16:creationId xmlns:a16="http://schemas.microsoft.com/office/drawing/2014/main" id="{7DB5D314-8F28-4C43-8AC9-B69144105A83}"/>
              </a:ext>
            </a:extLst>
          </p:cNvPr>
          <p:cNvCxnSpPr>
            <a:cxnSpLocks/>
            <a:stCxn id="73" idx="2"/>
            <a:endCxn id="78" idx="1"/>
          </p:cNvCxnSpPr>
          <p:nvPr/>
        </p:nvCxnSpPr>
        <p:spPr>
          <a:xfrm rot="16200000" flipH="1">
            <a:off x="4176998" y="3042452"/>
            <a:ext cx="1975284" cy="284076"/>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肘形连接符 86">
            <a:extLst>
              <a:ext uri="{FF2B5EF4-FFF2-40B4-BE49-F238E27FC236}">
                <a16:creationId xmlns:a16="http://schemas.microsoft.com/office/drawing/2014/main" id="{6794DE28-D4EC-6448-9128-8DE529CECDE8}"/>
              </a:ext>
            </a:extLst>
          </p:cNvPr>
          <p:cNvCxnSpPr>
            <a:cxnSpLocks/>
            <a:stCxn id="73" idx="1"/>
            <a:endCxn id="45" idx="3"/>
          </p:cNvCxnSpPr>
          <p:nvPr/>
        </p:nvCxnSpPr>
        <p:spPr>
          <a:xfrm rot="10800000" flipV="1">
            <a:off x="2827287" y="2047942"/>
            <a:ext cx="1454274" cy="1683215"/>
          </a:xfrm>
          <a:prstGeom prst="bentConnector3">
            <a:avLst>
              <a:gd name="adj1" fmla="val 50000"/>
            </a:avLst>
          </a:prstGeom>
          <a:ln w="381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89" name="椭圆 88">
            <a:extLst>
              <a:ext uri="{FF2B5EF4-FFF2-40B4-BE49-F238E27FC236}">
                <a16:creationId xmlns:a16="http://schemas.microsoft.com/office/drawing/2014/main" id="{55F22BA6-AA9A-C242-971F-399A166FD676}"/>
              </a:ext>
            </a:extLst>
          </p:cNvPr>
          <p:cNvSpPr/>
          <p:nvPr/>
        </p:nvSpPr>
        <p:spPr>
          <a:xfrm>
            <a:off x="3274008" y="3960551"/>
            <a:ext cx="353318" cy="36004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5</a:t>
            </a:r>
            <a:endParaRPr kumimoji="1" lang="zh-CN" altLang="en-US" dirty="0"/>
          </a:p>
        </p:txBody>
      </p:sp>
      <p:sp>
        <p:nvSpPr>
          <p:cNvPr id="90" name="文本框 89">
            <a:extLst>
              <a:ext uri="{FF2B5EF4-FFF2-40B4-BE49-F238E27FC236}">
                <a16:creationId xmlns:a16="http://schemas.microsoft.com/office/drawing/2014/main" id="{CCBF11A1-A1FA-C34E-8C61-BDE65CD0476B}"/>
              </a:ext>
            </a:extLst>
          </p:cNvPr>
          <p:cNvSpPr txBox="1"/>
          <p:nvPr/>
        </p:nvSpPr>
        <p:spPr>
          <a:xfrm>
            <a:off x="3613377" y="3951259"/>
            <a:ext cx="646331" cy="369332"/>
          </a:xfrm>
          <a:prstGeom prst="rect">
            <a:avLst/>
          </a:prstGeom>
          <a:noFill/>
        </p:spPr>
        <p:txBody>
          <a:bodyPr wrap="none" rtlCol="0">
            <a:spAutoFit/>
          </a:bodyPr>
          <a:lstStyle/>
          <a:p>
            <a:r>
              <a:rPr kumimoji="1" lang="zh-CN" altLang="en-US" dirty="0"/>
              <a:t>写入</a:t>
            </a:r>
          </a:p>
        </p:txBody>
      </p:sp>
      <p:sp>
        <p:nvSpPr>
          <p:cNvPr id="110" name="矩形 109">
            <a:extLst>
              <a:ext uri="{FF2B5EF4-FFF2-40B4-BE49-F238E27FC236}">
                <a16:creationId xmlns:a16="http://schemas.microsoft.com/office/drawing/2014/main" id="{92A9DCDD-56A7-424E-9379-80B77B6F31D9}"/>
              </a:ext>
            </a:extLst>
          </p:cNvPr>
          <p:cNvSpPr/>
          <p:nvPr/>
        </p:nvSpPr>
        <p:spPr>
          <a:xfrm>
            <a:off x="6305952" y="2985431"/>
            <a:ext cx="1482081" cy="30772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写入</a:t>
            </a:r>
          </a:p>
        </p:txBody>
      </p:sp>
      <p:cxnSp>
        <p:nvCxnSpPr>
          <p:cNvPr id="112" name="肘形连接符 111">
            <a:extLst>
              <a:ext uri="{FF2B5EF4-FFF2-40B4-BE49-F238E27FC236}">
                <a16:creationId xmlns:a16="http://schemas.microsoft.com/office/drawing/2014/main" id="{70892127-E3F2-B848-B23C-1B12933B492F}"/>
              </a:ext>
            </a:extLst>
          </p:cNvPr>
          <p:cNvCxnSpPr>
            <a:cxnSpLocks/>
            <a:stCxn id="64" idx="2"/>
            <a:endCxn id="110" idx="0"/>
          </p:cNvCxnSpPr>
          <p:nvPr/>
        </p:nvCxnSpPr>
        <p:spPr>
          <a:xfrm rot="5400000">
            <a:off x="6660792" y="2599229"/>
            <a:ext cx="772404" cy="1"/>
          </a:xfrm>
          <a:prstGeom prst="bentConnector3">
            <a:avLst>
              <a:gd name="adj1" fmla="val 50000"/>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肘形连接符 114">
            <a:extLst>
              <a:ext uri="{FF2B5EF4-FFF2-40B4-BE49-F238E27FC236}">
                <a16:creationId xmlns:a16="http://schemas.microsoft.com/office/drawing/2014/main" id="{97D5D7DB-10B4-DD43-A52B-1473CCF30F33}"/>
              </a:ext>
            </a:extLst>
          </p:cNvPr>
          <p:cNvCxnSpPr>
            <a:cxnSpLocks/>
            <a:endCxn id="46" idx="3"/>
          </p:cNvCxnSpPr>
          <p:nvPr/>
        </p:nvCxnSpPr>
        <p:spPr>
          <a:xfrm rot="10800000" flipV="1">
            <a:off x="2827288" y="3074891"/>
            <a:ext cx="3450635" cy="856768"/>
          </a:xfrm>
          <a:prstGeom prst="bentConnector3">
            <a:avLst>
              <a:gd name="adj1" fmla="val 50000"/>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18" name="椭圆 117">
            <a:extLst>
              <a:ext uri="{FF2B5EF4-FFF2-40B4-BE49-F238E27FC236}">
                <a16:creationId xmlns:a16="http://schemas.microsoft.com/office/drawing/2014/main" id="{2E7BAE73-7AF7-BE4A-9C73-02849E46684E}"/>
              </a:ext>
            </a:extLst>
          </p:cNvPr>
          <p:cNvSpPr/>
          <p:nvPr/>
        </p:nvSpPr>
        <p:spPr>
          <a:xfrm>
            <a:off x="5978581" y="1215032"/>
            <a:ext cx="353318" cy="36004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4</a:t>
            </a:r>
            <a:endParaRPr kumimoji="1" lang="zh-CN" altLang="en-US" dirty="0"/>
          </a:p>
        </p:txBody>
      </p:sp>
      <p:sp>
        <p:nvSpPr>
          <p:cNvPr id="119" name="文本框 118">
            <a:extLst>
              <a:ext uri="{FF2B5EF4-FFF2-40B4-BE49-F238E27FC236}">
                <a16:creationId xmlns:a16="http://schemas.microsoft.com/office/drawing/2014/main" id="{313A0C4E-3441-A745-8801-9E7258CFB5D6}"/>
              </a:ext>
            </a:extLst>
          </p:cNvPr>
          <p:cNvSpPr txBox="1"/>
          <p:nvPr/>
        </p:nvSpPr>
        <p:spPr>
          <a:xfrm>
            <a:off x="6305952" y="1207160"/>
            <a:ext cx="877163" cy="369332"/>
          </a:xfrm>
          <a:prstGeom prst="rect">
            <a:avLst/>
          </a:prstGeom>
          <a:noFill/>
        </p:spPr>
        <p:txBody>
          <a:bodyPr wrap="none" rtlCol="0">
            <a:spAutoFit/>
          </a:bodyPr>
          <a:lstStyle/>
          <a:p>
            <a:r>
              <a:rPr kumimoji="1" lang="zh-CN" altLang="en-US" dirty="0"/>
              <a:t>未命中</a:t>
            </a:r>
          </a:p>
        </p:txBody>
      </p:sp>
      <p:sp>
        <p:nvSpPr>
          <p:cNvPr id="134" name="椭圆 133">
            <a:extLst>
              <a:ext uri="{FF2B5EF4-FFF2-40B4-BE49-F238E27FC236}">
                <a16:creationId xmlns:a16="http://schemas.microsoft.com/office/drawing/2014/main" id="{580E51A2-B0F7-2D45-AF84-27B64FDF9805}"/>
              </a:ext>
            </a:extLst>
          </p:cNvPr>
          <p:cNvSpPr/>
          <p:nvPr/>
        </p:nvSpPr>
        <p:spPr>
          <a:xfrm>
            <a:off x="3203441" y="1652881"/>
            <a:ext cx="353318" cy="36004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2</a:t>
            </a:r>
            <a:endParaRPr kumimoji="1" lang="zh-CN" altLang="en-US" dirty="0"/>
          </a:p>
        </p:txBody>
      </p:sp>
      <p:sp>
        <p:nvSpPr>
          <p:cNvPr id="135" name="文本框 134">
            <a:extLst>
              <a:ext uri="{FF2B5EF4-FFF2-40B4-BE49-F238E27FC236}">
                <a16:creationId xmlns:a16="http://schemas.microsoft.com/office/drawing/2014/main" id="{FEBDE3CD-C443-8E4E-A557-71145EE99E1C}"/>
              </a:ext>
            </a:extLst>
          </p:cNvPr>
          <p:cNvSpPr txBox="1"/>
          <p:nvPr/>
        </p:nvSpPr>
        <p:spPr>
          <a:xfrm>
            <a:off x="3530812" y="1645009"/>
            <a:ext cx="646331" cy="369332"/>
          </a:xfrm>
          <a:prstGeom prst="rect">
            <a:avLst/>
          </a:prstGeom>
          <a:noFill/>
        </p:spPr>
        <p:txBody>
          <a:bodyPr wrap="none" rtlCol="0">
            <a:spAutoFit/>
          </a:bodyPr>
          <a:lstStyle/>
          <a:p>
            <a:r>
              <a:rPr kumimoji="1" lang="zh-CN" altLang="en-US" dirty="0"/>
              <a:t>查询</a:t>
            </a:r>
          </a:p>
        </p:txBody>
      </p:sp>
      <p:sp>
        <p:nvSpPr>
          <p:cNvPr id="136" name="文本框 135">
            <a:extLst>
              <a:ext uri="{FF2B5EF4-FFF2-40B4-BE49-F238E27FC236}">
                <a16:creationId xmlns:a16="http://schemas.microsoft.com/office/drawing/2014/main" id="{7F257ACE-253A-7F48-B91E-C07DF91471CA}"/>
              </a:ext>
            </a:extLst>
          </p:cNvPr>
          <p:cNvSpPr txBox="1"/>
          <p:nvPr/>
        </p:nvSpPr>
        <p:spPr>
          <a:xfrm>
            <a:off x="3517270" y="826201"/>
            <a:ext cx="505267" cy="369332"/>
          </a:xfrm>
          <a:prstGeom prst="rect">
            <a:avLst/>
          </a:prstGeom>
          <a:noFill/>
        </p:spPr>
        <p:txBody>
          <a:bodyPr wrap="none" rtlCol="0">
            <a:spAutoFit/>
          </a:bodyPr>
          <a:lstStyle/>
          <a:p>
            <a:r>
              <a:rPr kumimoji="1" lang="en-US" altLang="zh-CN" dirty="0"/>
              <a:t>PC</a:t>
            </a:r>
            <a:endParaRPr kumimoji="1" lang="zh-CN" altLang="en-US" dirty="0"/>
          </a:p>
        </p:txBody>
      </p:sp>
      <p:sp>
        <p:nvSpPr>
          <p:cNvPr id="137" name="椭圆 136">
            <a:extLst>
              <a:ext uri="{FF2B5EF4-FFF2-40B4-BE49-F238E27FC236}">
                <a16:creationId xmlns:a16="http://schemas.microsoft.com/office/drawing/2014/main" id="{A9412126-40E0-1444-95AB-07EC41E63DAC}"/>
              </a:ext>
            </a:extLst>
          </p:cNvPr>
          <p:cNvSpPr/>
          <p:nvPr/>
        </p:nvSpPr>
        <p:spPr>
          <a:xfrm>
            <a:off x="4336749" y="4795109"/>
            <a:ext cx="353318" cy="36004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t>6</a:t>
            </a:r>
            <a:endParaRPr kumimoji="1" lang="zh-CN" altLang="en-US" dirty="0"/>
          </a:p>
        </p:txBody>
      </p:sp>
      <p:sp>
        <p:nvSpPr>
          <p:cNvPr id="138" name="文本框 137">
            <a:extLst>
              <a:ext uri="{FF2B5EF4-FFF2-40B4-BE49-F238E27FC236}">
                <a16:creationId xmlns:a16="http://schemas.microsoft.com/office/drawing/2014/main" id="{5B322022-0A9B-274F-BB43-76EC869F48CE}"/>
              </a:ext>
            </a:extLst>
          </p:cNvPr>
          <p:cNvSpPr txBox="1"/>
          <p:nvPr/>
        </p:nvSpPr>
        <p:spPr>
          <a:xfrm>
            <a:off x="4676118" y="4785817"/>
            <a:ext cx="646331" cy="369332"/>
          </a:xfrm>
          <a:prstGeom prst="rect">
            <a:avLst/>
          </a:prstGeom>
          <a:noFill/>
        </p:spPr>
        <p:txBody>
          <a:bodyPr wrap="none" rtlCol="0">
            <a:spAutoFit/>
          </a:bodyPr>
          <a:lstStyle/>
          <a:p>
            <a:r>
              <a:rPr kumimoji="1" lang="zh-CN" altLang="en-US" dirty="0"/>
              <a:t>读写</a:t>
            </a:r>
          </a:p>
        </p:txBody>
      </p:sp>
    </p:spTree>
    <p:extLst>
      <p:ext uri="{BB962C8B-B14F-4D97-AF65-F5344CB8AC3E}">
        <p14:creationId xmlns:p14="http://schemas.microsoft.com/office/powerpoint/2010/main" val="864745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3" presetClass="exit" presetSubtype="10" fill="hold" grpId="1" nodeType="clickEffect">
                                  <p:stCondLst>
                                    <p:cond delay="0"/>
                                  </p:stCondLst>
                                  <p:childTnLst>
                                    <p:animEffect transition="out" filter="blinds(horizontal)">
                                      <p:cBhvr>
                                        <p:cTn id="38" dur="500"/>
                                        <p:tgtEl>
                                          <p:spTgt spid="135"/>
                                        </p:tgtEl>
                                      </p:cBhvr>
                                    </p:animEffect>
                                    <p:set>
                                      <p:cBhvr>
                                        <p:cTn id="39" dur="1" fill="hold">
                                          <p:stCondLst>
                                            <p:cond delay="499"/>
                                          </p:stCondLst>
                                        </p:cTn>
                                        <p:tgtEl>
                                          <p:spTgt spid="135"/>
                                        </p:tgtEl>
                                        <p:attrNameLst>
                                          <p:attrName>style.visibility</p:attrName>
                                        </p:attrNameLst>
                                      </p:cBhvr>
                                      <p:to>
                                        <p:strVal val="hidden"/>
                                      </p:to>
                                    </p:set>
                                  </p:childTnLst>
                                </p:cTn>
                              </p:par>
                              <p:par>
                                <p:cTn id="40" presetID="3" presetClass="exit" presetSubtype="10" fill="hold" grpId="1" nodeType="withEffect">
                                  <p:stCondLst>
                                    <p:cond delay="0"/>
                                  </p:stCondLst>
                                  <p:childTnLst>
                                    <p:animEffect transition="out" filter="blinds(horizontal)">
                                      <p:cBhvr>
                                        <p:cTn id="41" dur="500"/>
                                        <p:tgtEl>
                                          <p:spTgt spid="134"/>
                                        </p:tgtEl>
                                      </p:cBhvr>
                                    </p:animEffect>
                                    <p:set>
                                      <p:cBhvr>
                                        <p:cTn id="42" dur="1" fill="hold">
                                          <p:stCondLst>
                                            <p:cond delay="499"/>
                                          </p:stCondLst>
                                        </p:cTn>
                                        <p:tgtEl>
                                          <p:spTgt spid="134"/>
                                        </p:tgtEl>
                                        <p:attrNameLst>
                                          <p:attrName>style.visibility</p:attrName>
                                        </p:attrNameLst>
                                      </p:cBhvr>
                                      <p:to>
                                        <p:strVal val="hidden"/>
                                      </p:to>
                                    </p:set>
                                  </p:childTnLst>
                                </p:cTn>
                              </p:par>
                              <p:par>
                                <p:cTn id="43" presetID="3" presetClass="exit" presetSubtype="10" fill="hold" nodeType="withEffect">
                                  <p:stCondLst>
                                    <p:cond delay="0"/>
                                  </p:stCondLst>
                                  <p:childTnLst>
                                    <p:animEffect transition="out" filter="blinds(horizontal)">
                                      <p:cBhvr>
                                        <p:cTn id="44" dur="500"/>
                                        <p:tgtEl>
                                          <p:spTgt spid="87"/>
                                        </p:tgtEl>
                                      </p:cBhvr>
                                    </p:animEffect>
                                    <p:set>
                                      <p:cBhvr>
                                        <p:cTn id="45" dur="1" fill="hold">
                                          <p:stCondLst>
                                            <p:cond delay="499"/>
                                          </p:stCondLst>
                                        </p:cTn>
                                        <p:tgtEl>
                                          <p:spTgt spid="87"/>
                                        </p:tgtEl>
                                        <p:attrNameLst>
                                          <p:attrName>style.visibility</p:attrName>
                                        </p:attrNameLst>
                                      </p:cBhvr>
                                      <p:to>
                                        <p:strVal val="hidden"/>
                                      </p:to>
                                    </p:set>
                                  </p:childTnLst>
                                </p:cTn>
                              </p:par>
                              <p:par>
                                <p:cTn id="46" presetID="3" presetClass="exit" presetSubtype="10" fill="hold" grpId="1" nodeType="withEffect">
                                  <p:stCondLst>
                                    <p:cond delay="0"/>
                                  </p:stCondLst>
                                  <p:childTnLst>
                                    <p:animEffect transition="out" filter="blinds(horizontal)">
                                      <p:cBhvr>
                                        <p:cTn id="47" dur="500"/>
                                        <p:tgtEl>
                                          <p:spTgt spid="36"/>
                                        </p:tgtEl>
                                      </p:cBhvr>
                                    </p:animEffect>
                                    <p:set>
                                      <p:cBhvr>
                                        <p:cTn id="48" dur="1" fill="hold">
                                          <p:stCondLst>
                                            <p:cond delay="499"/>
                                          </p:stCondLst>
                                        </p:cTn>
                                        <p:tgtEl>
                                          <p:spTgt spid="36"/>
                                        </p:tgtEl>
                                        <p:attrNameLst>
                                          <p:attrName>style.visibility</p:attrName>
                                        </p:attrNameLst>
                                      </p:cBhvr>
                                      <p:to>
                                        <p:strVal val="hidden"/>
                                      </p:to>
                                    </p:set>
                                  </p:childTnLst>
                                </p:cTn>
                              </p:par>
                              <p:par>
                                <p:cTn id="49" presetID="3" presetClass="exit" presetSubtype="10" fill="hold" grpId="1" nodeType="withEffect">
                                  <p:stCondLst>
                                    <p:cond delay="0"/>
                                  </p:stCondLst>
                                  <p:childTnLst>
                                    <p:animEffect transition="out" filter="blinds(horizontal)">
                                      <p:cBhvr>
                                        <p:cTn id="50" dur="500"/>
                                        <p:tgtEl>
                                          <p:spTgt spid="32"/>
                                        </p:tgtEl>
                                      </p:cBhvr>
                                    </p:animEffect>
                                    <p:set>
                                      <p:cBhvr>
                                        <p:cTn id="51" dur="1" fill="hold">
                                          <p:stCondLst>
                                            <p:cond delay="499"/>
                                          </p:stCondLst>
                                        </p:cTn>
                                        <p:tgtEl>
                                          <p:spTgt spid="32"/>
                                        </p:tgtEl>
                                        <p:attrNameLst>
                                          <p:attrName>style.visibility</p:attrName>
                                        </p:attrNameLst>
                                      </p:cBhvr>
                                      <p:to>
                                        <p:strVal val="hidden"/>
                                      </p:to>
                                    </p:set>
                                  </p:childTnLst>
                                </p:cTn>
                              </p:par>
                              <p:par>
                                <p:cTn id="52" presetID="3" presetClass="exit" presetSubtype="10" fill="hold" grpId="2" nodeType="withEffect">
                                  <p:stCondLst>
                                    <p:cond delay="0"/>
                                  </p:stCondLst>
                                  <p:childTnLst>
                                    <p:animEffect transition="out" filter="blinds(horizontal)">
                                      <p:cBhvr>
                                        <p:cTn id="53" dur="500"/>
                                        <p:tgtEl>
                                          <p:spTgt spid="78"/>
                                        </p:tgtEl>
                                      </p:cBhvr>
                                    </p:animEffect>
                                    <p:set>
                                      <p:cBhvr>
                                        <p:cTn id="54" dur="1" fill="hold">
                                          <p:stCondLst>
                                            <p:cond delay="499"/>
                                          </p:stCondLst>
                                        </p:cTn>
                                        <p:tgtEl>
                                          <p:spTgt spid="78"/>
                                        </p:tgtEl>
                                        <p:attrNameLst>
                                          <p:attrName>style.visibility</p:attrName>
                                        </p:attrNameLst>
                                      </p:cBhvr>
                                      <p:to>
                                        <p:strVal val="hidden"/>
                                      </p:to>
                                    </p:set>
                                  </p:childTnLst>
                                </p:cTn>
                              </p:par>
                              <p:par>
                                <p:cTn id="55" presetID="3" presetClass="exit" presetSubtype="10" fill="hold" nodeType="withEffect">
                                  <p:stCondLst>
                                    <p:cond delay="0"/>
                                  </p:stCondLst>
                                  <p:childTnLst>
                                    <p:animEffect transition="out" filter="blinds(horizontal)">
                                      <p:cBhvr>
                                        <p:cTn id="56" dur="500"/>
                                        <p:tgtEl>
                                          <p:spTgt spid="80"/>
                                        </p:tgtEl>
                                      </p:cBhvr>
                                    </p:animEffect>
                                    <p:set>
                                      <p:cBhvr>
                                        <p:cTn id="57" dur="1" fill="hold">
                                          <p:stCondLst>
                                            <p:cond delay="499"/>
                                          </p:stCondLst>
                                        </p:cTn>
                                        <p:tgtEl>
                                          <p:spTgt spid="80"/>
                                        </p:tgtEl>
                                        <p:attrNameLst>
                                          <p:attrName>style.visibility</p:attrName>
                                        </p:attrNameLst>
                                      </p:cBhvr>
                                      <p:to>
                                        <p:strVal val="hidden"/>
                                      </p:to>
                                    </p:set>
                                  </p:childTnLst>
                                </p:cTn>
                              </p:par>
                              <p:par>
                                <p:cTn id="58" presetID="3" presetClass="exit" presetSubtype="10" fill="hold" nodeType="withEffect">
                                  <p:stCondLst>
                                    <p:cond delay="0"/>
                                  </p:stCondLst>
                                  <p:childTnLst>
                                    <p:animEffect transition="out" filter="blinds(horizontal)">
                                      <p:cBhvr>
                                        <p:cTn id="59" dur="500"/>
                                        <p:tgtEl>
                                          <p:spTgt spid="22"/>
                                        </p:tgtEl>
                                      </p:cBhvr>
                                    </p:animEffect>
                                    <p:set>
                                      <p:cBhvr>
                                        <p:cTn id="60" dur="1" fill="hold">
                                          <p:stCondLst>
                                            <p:cond delay="499"/>
                                          </p:stCondLst>
                                        </p:cTn>
                                        <p:tgtEl>
                                          <p:spTgt spid="22"/>
                                        </p:tgtEl>
                                        <p:attrNameLst>
                                          <p:attrName>style.visibility</p:attrName>
                                        </p:attrNameLst>
                                      </p:cBhvr>
                                      <p:to>
                                        <p:strVal val="hidden"/>
                                      </p:to>
                                    </p:set>
                                  </p:childTnLst>
                                </p:cTn>
                              </p:par>
                              <p:par>
                                <p:cTn id="61" presetID="3" presetClass="exit" presetSubtype="10" fill="hold" grpId="1" nodeType="withEffect">
                                  <p:stCondLst>
                                    <p:cond delay="0"/>
                                  </p:stCondLst>
                                  <p:childTnLst>
                                    <p:animEffect transition="out" filter="blinds(horizontal)">
                                      <p:cBhvr>
                                        <p:cTn id="62" dur="500"/>
                                        <p:tgtEl>
                                          <p:spTgt spid="73"/>
                                        </p:tgtEl>
                                      </p:cBhvr>
                                    </p:animEffect>
                                    <p:set>
                                      <p:cBhvr>
                                        <p:cTn id="63" dur="1" fill="hold">
                                          <p:stCondLst>
                                            <p:cond delay="499"/>
                                          </p:stCondLst>
                                        </p:cTn>
                                        <p:tgtEl>
                                          <p:spTgt spid="73"/>
                                        </p:tgtEl>
                                        <p:attrNameLst>
                                          <p:attrName>style.visibility</p:attrName>
                                        </p:attrNameLst>
                                      </p:cBhvr>
                                      <p:to>
                                        <p:strVal val="hidden"/>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75"/>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64"/>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118"/>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119"/>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nodeType="clickEffect">
                                  <p:stCondLst>
                                    <p:cond delay="0"/>
                                  </p:stCondLst>
                                  <p:childTnLst>
                                    <p:set>
                                      <p:cBhvr>
                                        <p:cTn id="77" dur="1" fill="hold">
                                          <p:stCondLst>
                                            <p:cond delay="0"/>
                                          </p:stCondLst>
                                        </p:cTn>
                                        <p:tgtEl>
                                          <p:spTgt spid="112"/>
                                        </p:tgtEl>
                                        <p:attrNameLst>
                                          <p:attrName>style.visibility</p:attrName>
                                        </p:attrNameLst>
                                      </p:cBhvr>
                                      <p:to>
                                        <p:strVal val="visible"/>
                                      </p:to>
                                    </p:set>
                                  </p:childTnLst>
                                </p:cTn>
                              </p:par>
                              <p:par>
                                <p:cTn id="78" presetID="1" presetClass="entr" presetSubtype="0" fill="hold" grpId="0" nodeType="withEffect">
                                  <p:stCondLst>
                                    <p:cond delay="0"/>
                                  </p:stCondLst>
                                  <p:childTnLst>
                                    <p:set>
                                      <p:cBhvr>
                                        <p:cTn id="79" dur="1" fill="hold">
                                          <p:stCondLst>
                                            <p:cond delay="0"/>
                                          </p:stCondLst>
                                        </p:cTn>
                                        <p:tgtEl>
                                          <p:spTgt spid="110"/>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90"/>
                                        </p:tgtEl>
                                        <p:attrNameLst>
                                          <p:attrName>style.visibility</p:attrName>
                                        </p:attrNameLst>
                                      </p:cBhvr>
                                      <p:to>
                                        <p:strVal val="visible"/>
                                      </p:to>
                                    </p:set>
                                  </p:childTnLst>
                                </p:cTn>
                              </p:par>
                              <p:par>
                                <p:cTn id="82" presetID="1" presetClass="entr" presetSubtype="0" fill="hold" grpId="0" nodeType="withEffect">
                                  <p:stCondLst>
                                    <p:cond delay="0"/>
                                  </p:stCondLst>
                                  <p:childTnLst>
                                    <p:set>
                                      <p:cBhvr>
                                        <p:cTn id="83" dur="1" fill="hold">
                                          <p:stCondLst>
                                            <p:cond delay="0"/>
                                          </p:stCondLst>
                                        </p:cTn>
                                        <p:tgtEl>
                                          <p:spTgt spid="89"/>
                                        </p:tgtEl>
                                        <p:attrNameLst>
                                          <p:attrName>style.visibility</p:attrName>
                                        </p:attrNameLst>
                                      </p:cBhvr>
                                      <p:to>
                                        <p:strVal val="visible"/>
                                      </p:to>
                                    </p:set>
                                  </p:childTnLst>
                                </p:cTn>
                              </p:par>
                              <p:par>
                                <p:cTn id="84" presetID="1" presetClass="entr" presetSubtype="0" fill="hold" nodeType="withEffect">
                                  <p:stCondLst>
                                    <p:cond delay="0"/>
                                  </p:stCondLst>
                                  <p:childTnLst>
                                    <p:set>
                                      <p:cBhvr>
                                        <p:cTn id="85" dur="1" fill="hold">
                                          <p:stCondLst>
                                            <p:cond delay="0"/>
                                          </p:stCondLst>
                                        </p:cTn>
                                        <p:tgtEl>
                                          <p:spTgt spid="115"/>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nodeType="clickEffect">
                                  <p:stCondLst>
                                    <p:cond delay="0"/>
                                  </p:stCondLst>
                                  <p:childTnLst>
                                    <p:set>
                                      <p:cBhvr>
                                        <p:cTn id="89" dur="1" fill="hold">
                                          <p:stCondLst>
                                            <p:cond delay="0"/>
                                          </p:stCondLst>
                                        </p:cTn>
                                        <p:tgtEl>
                                          <p:spTgt spid="23"/>
                                        </p:tgtEl>
                                        <p:attrNameLst>
                                          <p:attrName>style.visibility</p:attrName>
                                        </p:attrNameLst>
                                      </p:cBhvr>
                                      <p:to>
                                        <p:strVal val="visible"/>
                                      </p:to>
                                    </p:set>
                                  </p:childTnLst>
                                </p:cTn>
                              </p:par>
                              <p:par>
                                <p:cTn id="90" presetID="1" presetClass="entr" presetSubtype="0" fill="hold" grpId="1" nodeType="withEffect">
                                  <p:stCondLst>
                                    <p:cond delay="0"/>
                                  </p:stCondLst>
                                  <p:childTnLst>
                                    <p:set>
                                      <p:cBhvr>
                                        <p:cTn id="91" dur="1" fill="hold">
                                          <p:stCondLst>
                                            <p:cond delay="0"/>
                                          </p:stCondLst>
                                        </p:cTn>
                                        <p:tgtEl>
                                          <p:spTgt spid="78"/>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nodeType="clickEffect">
                                  <p:stCondLst>
                                    <p:cond delay="0"/>
                                  </p:stCondLst>
                                  <p:childTnLst>
                                    <p:set>
                                      <p:cBhvr>
                                        <p:cTn id="95" dur="1" fill="hold">
                                          <p:stCondLst>
                                            <p:cond delay="0"/>
                                          </p:stCondLst>
                                        </p:cTn>
                                        <p:tgtEl>
                                          <p:spTgt spid="27"/>
                                        </p:tgtEl>
                                        <p:attrNameLst>
                                          <p:attrName>style.visibility</p:attrName>
                                        </p:attrNameLst>
                                      </p:cBhvr>
                                      <p:to>
                                        <p:strVal val="visible"/>
                                      </p:to>
                                    </p:set>
                                  </p:childTnLst>
                                </p:cTn>
                              </p:par>
                              <p:par>
                                <p:cTn id="96" presetID="1" presetClass="entr" presetSubtype="0" fill="hold" grpId="0" nodeType="withEffect">
                                  <p:stCondLst>
                                    <p:cond delay="0"/>
                                  </p:stCondLst>
                                  <p:childTnLst>
                                    <p:set>
                                      <p:cBhvr>
                                        <p:cTn id="97" dur="1" fill="hold">
                                          <p:stCondLst>
                                            <p:cond delay="0"/>
                                          </p:stCondLst>
                                        </p:cTn>
                                        <p:tgtEl>
                                          <p:spTgt spid="138"/>
                                        </p:tgtEl>
                                        <p:attrNameLst>
                                          <p:attrName>style.visibility</p:attrName>
                                        </p:attrNameLst>
                                      </p:cBhvr>
                                      <p:to>
                                        <p:strVal val="visible"/>
                                      </p:to>
                                    </p:set>
                                  </p:childTnLst>
                                </p:cTn>
                              </p:par>
                              <p:par>
                                <p:cTn id="98" presetID="1" presetClass="entr" presetSubtype="0" fill="hold" grpId="0" nodeType="withEffect">
                                  <p:stCondLst>
                                    <p:cond delay="0"/>
                                  </p:stCondLst>
                                  <p:childTnLst>
                                    <p:set>
                                      <p:cBhvr>
                                        <p:cTn id="99" dur="1" fill="hold">
                                          <p:stCondLst>
                                            <p:cond delay="0"/>
                                          </p:stCondLst>
                                        </p:cTn>
                                        <p:tgtEl>
                                          <p:spTgt spid="1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2" grpId="0" animBg="1"/>
      <p:bldP spid="32" grpId="1" animBg="1"/>
      <p:bldP spid="36" grpId="0"/>
      <p:bldP spid="36" grpId="1"/>
      <p:bldP spid="64" grpId="0" animBg="1"/>
      <p:bldP spid="73" grpId="0" animBg="1"/>
      <p:bldP spid="73" grpId="1" animBg="1"/>
      <p:bldP spid="78" grpId="0" animBg="1"/>
      <p:bldP spid="78" grpId="1" animBg="1"/>
      <p:bldP spid="78" grpId="2" animBg="1"/>
      <p:bldP spid="89" grpId="0" animBg="1"/>
      <p:bldP spid="90" grpId="0"/>
      <p:bldP spid="110" grpId="0" animBg="1"/>
      <p:bldP spid="118" grpId="0" animBg="1"/>
      <p:bldP spid="119" grpId="0"/>
      <p:bldP spid="134" grpId="0" animBg="1"/>
      <p:bldP spid="134" grpId="1" animBg="1"/>
      <p:bldP spid="135" grpId="0"/>
      <p:bldP spid="135" grpId="1"/>
      <p:bldP spid="136" grpId="0"/>
      <p:bldP spid="137" grpId="0" animBg="1"/>
      <p:bldP spid="13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r>
              <a:rPr kumimoji="1" lang="zh-CN" altLang="en-US" dirty="0"/>
              <a:t>二进制翻译的 </a:t>
            </a:r>
            <a:r>
              <a:rPr lang="en-US" altLang="zh-TW" dirty="0"/>
              <a:t>Basic Blocks</a:t>
            </a:r>
          </a:p>
        </p:txBody>
      </p:sp>
      <p:cxnSp>
        <p:nvCxnSpPr>
          <p:cNvPr id="7" name="Straight Arrow Connector 6"/>
          <p:cNvCxnSpPr>
            <a:stCxn id="14" idx="3"/>
            <a:endCxn id="32" idx="1"/>
          </p:cNvCxnSpPr>
          <p:nvPr/>
        </p:nvCxnSpPr>
        <p:spPr>
          <a:xfrm>
            <a:off x="1841500" y="1841500"/>
            <a:ext cx="190500" cy="1323"/>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1270000" y="1714500"/>
            <a:ext cx="571500" cy="254000"/>
          </a:xfrm>
          <a:prstGeom prst="rect">
            <a:avLst/>
          </a:prstGeom>
          <a:solidFill>
            <a:schemeClr val="tx1"/>
          </a:solidFill>
          <a:ln w="9525">
            <a:no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lgn="ctr">
              <a:defRPr/>
            </a:pPr>
            <a:r>
              <a:rPr lang="en-US" sz="1333" b="1" dirty="0" err="1">
                <a:solidFill>
                  <a:schemeClr val="bg1"/>
                </a:solidFill>
                <a:latin typeface="DengXian" charset="0"/>
                <a:ea typeface="DengXian" charset="0"/>
                <a:cs typeface="DengXian" charset="0"/>
              </a:rPr>
              <a:t>vPC</a:t>
            </a:r>
            <a:endParaRPr lang="en-US" sz="1333" b="1" dirty="0">
              <a:solidFill>
                <a:schemeClr val="bg1"/>
              </a:solidFill>
              <a:latin typeface="DengXian" charset="0"/>
              <a:ea typeface="DengXian" charset="0"/>
              <a:cs typeface="DengXian" charset="0"/>
            </a:endParaRPr>
          </a:p>
        </p:txBody>
      </p:sp>
      <p:sp>
        <p:nvSpPr>
          <p:cNvPr id="32" name="Rectangle 31"/>
          <p:cNvSpPr/>
          <p:nvPr/>
        </p:nvSpPr>
        <p:spPr>
          <a:xfrm>
            <a:off x="2032000" y="1714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err="1">
                <a:solidFill>
                  <a:schemeClr val="tx1"/>
                </a:solidFill>
                <a:latin typeface="Courier New" pitchFamily="49" charset="0"/>
                <a:cs typeface="Courier New" pitchFamily="49" charset="0"/>
              </a:rPr>
              <a:t>mov</a:t>
            </a:r>
            <a:r>
              <a:rPr lang="en-US" sz="1167" b="1" dirty="0">
                <a:solidFill>
                  <a:schemeClr val="tx1"/>
                </a:solidFill>
                <a:latin typeface="Courier New" pitchFamily="49" charset="0"/>
                <a:cs typeface="Courier New" pitchFamily="49" charset="0"/>
              </a:rPr>
              <a:t>   </a:t>
            </a:r>
            <a:r>
              <a:rPr lang="en-US" sz="1167" b="1" dirty="0" err="1">
                <a:solidFill>
                  <a:schemeClr val="tx1"/>
                </a:solidFill>
                <a:latin typeface="Courier New" pitchFamily="49" charset="0"/>
                <a:cs typeface="Courier New" pitchFamily="49" charset="0"/>
              </a:rPr>
              <a:t>ebx</a:t>
            </a:r>
            <a:r>
              <a:rPr lang="en-US" sz="1167" b="1" dirty="0">
                <a:solidFill>
                  <a:schemeClr val="tx1"/>
                </a:solidFill>
                <a:latin typeface="Courier New" pitchFamily="49" charset="0"/>
                <a:cs typeface="Courier New" pitchFamily="49" charset="0"/>
              </a:rPr>
              <a:t>, </a:t>
            </a:r>
            <a:r>
              <a:rPr lang="en-US" sz="1167" b="1" dirty="0" err="1">
                <a:solidFill>
                  <a:schemeClr val="tx1"/>
                </a:solidFill>
                <a:latin typeface="Courier New" pitchFamily="49" charset="0"/>
                <a:cs typeface="Courier New" pitchFamily="49" charset="0"/>
              </a:rPr>
              <a:t>eax</a:t>
            </a:r>
            <a:endParaRPr lang="en-US" sz="1167" b="1" dirty="0">
              <a:solidFill>
                <a:schemeClr val="tx1"/>
              </a:solidFill>
              <a:latin typeface="Courier New" pitchFamily="49" charset="0"/>
              <a:cs typeface="Courier New" pitchFamily="49" charset="0"/>
            </a:endParaRPr>
          </a:p>
        </p:txBody>
      </p:sp>
      <p:sp>
        <p:nvSpPr>
          <p:cNvPr id="33" name="Rectangle 32"/>
          <p:cNvSpPr/>
          <p:nvPr/>
        </p:nvSpPr>
        <p:spPr>
          <a:xfrm>
            <a:off x="2032000" y="1968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err="1">
                <a:solidFill>
                  <a:schemeClr val="tx1"/>
                </a:solidFill>
                <a:latin typeface="Courier New" pitchFamily="49" charset="0"/>
                <a:cs typeface="Courier New" pitchFamily="49" charset="0"/>
              </a:rPr>
              <a:t>cli</a:t>
            </a:r>
            <a:endParaRPr lang="en-US" sz="1167" b="1" dirty="0">
              <a:solidFill>
                <a:schemeClr val="tx1"/>
              </a:solidFill>
              <a:latin typeface="Courier New" pitchFamily="49" charset="0"/>
              <a:cs typeface="Courier New" pitchFamily="49" charset="0"/>
            </a:endParaRPr>
          </a:p>
        </p:txBody>
      </p:sp>
      <p:sp>
        <p:nvSpPr>
          <p:cNvPr id="34" name="Rectangle 33"/>
          <p:cNvSpPr/>
          <p:nvPr/>
        </p:nvSpPr>
        <p:spPr>
          <a:xfrm>
            <a:off x="2032000" y="2222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a:solidFill>
                  <a:schemeClr val="tx1"/>
                </a:solidFill>
                <a:latin typeface="Courier New" pitchFamily="49" charset="0"/>
                <a:cs typeface="Courier New" pitchFamily="49" charset="0"/>
              </a:rPr>
              <a:t>and   </a:t>
            </a:r>
            <a:r>
              <a:rPr lang="en-US" sz="1167" b="1" dirty="0" err="1">
                <a:solidFill>
                  <a:schemeClr val="tx1"/>
                </a:solidFill>
                <a:latin typeface="Courier New" pitchFamily="49" charset="0"/>
                <a:cs typeface="Courier New" pitchFamily="49" charset="0"/>
              </a:rPr>
              <a:t>ebx</a:t>
            </a:r>
            <a:r>
              <a:rPr lang="en-US" sz="1167" b="1" dirty="0">
                <a:solidFill>
                  <a:schemeClr val="tx1"/>
                </a:solidFill>
                <a:latin typeface="Courier New" pitchFamily="49" charset="0"/>
                <a:cs typeface="Courier New" pitchFamily="49" charset="0"/>
              </a:rPr>
              <a:t>, ~0xfff</a:t>
            </a:r>
          </a:p>
        </p:txBody>
      </p:sp>
      <p:sp>
        <p:nvSpPr>
          <p:cNvPr id="35" name="Rectangle 34"/>
          <p:cNvSpPr/>
          <p:nvPr/>
        </p:nvSpPr>
        <p:spPr>
          <a:xfrm>
            <a:off x="2032000" y="2476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err="1">
                <a:solidFill>
                  <a:schemeClr val="tx1"/>
                </a:solidFill>
                <a:latin typeface="Courier New" pitchFamily="49" charset="0"/>
                <a:cs typeface="Courier New" pitchFamily="49" charset="0"/>
              </a:rPr>
              <a:t>mov</a:t>
            </a:r>
            <a:r>
              <a:rPr lang="en-US" sz="1167" b="1" dirty="0">
                <a:solidFill>
                  <a:schemeClr val="tx1"/>
                </a:solidFill>
                <a:latin typeface="Courier New" pitchFamily="49" charset="0"/>
                <a:cs typeface="Courier New" pitchFamily="49" charset="0"/>
              </a:rPr>
              <a:t>   </a:t>
            </a:r>
            <a:r>
              <a:rPr lang="en-US" sz="1167" b="1" dirty="0" err="1">
                <a:solidFill>
                  <a:schemeClr val="tx1"/>
                </a:solidFill>
                <a:latin typeface="Courier New" pitchFamily="49" charset="0"/>
                <a:cs typeface="Courier New" pitchFamily="49" charset="0"/>
              </a:rPr>
              <a:t>ebx</a:t>
            </a:r>
            <a:r>
              <a:rPr lang="en-US" sz="1167" b="1" dirty="0">
                <a:solidFill>
                  <a:schemeClr val="tx1"/>
                </a:solidFill>
                <a:latin typeface="Courier New" pitchFamily="49" charset="0"/>
                <a:cs typeface="Courier New" pitchFamily="49" charset="0"/>
              </a:rPr>
              <a:t>, cr3</a:t>
            </a:r>
          </a:p>
        </p:txBody>
      </p:sp>
      <p:sp>
        <p:nvSpPr>
          <p:cNvPr id="36" name="Rectangle 35"/>
          <p:cNvSpPr/>
          <p:nvPr/>
        </p:nvSpPr>
        <p:spPr>
          <a:xfrm>
            <a:off x="2032000" y="2730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err="1">
                <a:solidFill>
                  <a:schemeClr val="tx1"/>
                </a:solidFill>
                <a:latin typeface="Courier New" pitchFamily="49" charset="0"/>
                <a:cs typeface="Courier New" pitchFamily="49" charset="0"/>
              </a:rPr>
              <a:t>sti</a:t>
            </a:r>
            <a:endParaRPr lang="en-US" sz="1167" b="1" dirty="0">
              <a:solidFill>
                <a:schemeClr val="tx1"/>
              </a:solidFill>
              <a:latin typeface="Courier New" pitchFamily="49" charset="0"/>
              <a:cs typeface="Courier New" pitchFamily="49" charset="0"/>
            </a:endParaRPr>
          </a:p>
        </p:txBody>
      </p:sp>
      <p:sp>
        <p:nvSpPr>
          <p:cNvPr id="37" name="Rectangle 36"/>
          <p:cNvSpPr/>
          <p:nvPr/>
        </p:nvSpPr>
        <p:spPr>
          <a:xfrm>
            <a:off x="2032000" y="2984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a:solidFill>
                  <a:schemeClr val="tx1"/>
                </a:solidFill>
                <a:latin typeface="Courier New" pitchFamily="49" charset="0"/>
                <a:cs typeface="Courier New" pitchFamily="49" charset="0"/>
              </a:rPr>
              <a:t>ret</a:t>
            </a:r>
          </a:p>
        </p:txBody>
      </p:sp>
      <p:cxnSp>
        <p:nvCxnSpPr>
          <p:cNvPr id="39" name="Straight Connector 38"/>
          <p:cNvCxnSpPr/>
          <p:nvPr/>
        </p:nvCxnSpPr>
        <p:spPr>
          <a:xfrm rot="5400000">
            <a:off x="1016001" y="2476500"/>
            <a:ext cx="2032000" cy="264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5400000">
            <a:off x="2858162" y="2475839"/>
            <a:ext cx="2032000" cy="13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4829" name="TextBox 107"/>
          <p:cNvSpPr txBox="1">
            <a:spLocks noChangeArrowheads="1"/>
          </p:cNvSpPr>
          <p:nvPr/>
        </p:nvSpPr>
        <p:spPr bwMode="auto">
          <a:xfrm>
            <a:off x="2356274" y="1079501"/>
            <a:ext cx="1192955" cy="323165"/>
          </a:xfrm>
          <a:prstGeom prst="rect">
            <a:avLst/>
          </a:prstGeom>
          <a:noFill/>
          <a:ln w="9525">
            <a:noFill/>
            <a:miter lim="800000"/>
            <a:headEnd/>
            <a:tailEnd/>
          </a:ln>
        </p:spPr>
        <p:txBody>
          <a:bodyPr wrap="none">
            <a:spAutoFit/>
          </a:bodyPr>
          <a:lstStyle/>
          <a:p>
            <a:pPr algn="ctr"/>
            <a:r>
              <a:rPr lang="en-US" altLang="zh-TW" sz="1500" b="1">
                <a:latin typeface="DengXian" charset="0"/>
                <a:ea typeface="DengXian" charset="0"/>
                <a:cs typeface="DengXian" charset="0"/>
              </a:rPr>
              <a:t>Guest Code</a:t>
            </a:r>
          </a:p>
        </p:txBody>
      </p:sp>
      <p:sp>
        <p:nvSpPr>
          <p:cNvPr id="53" name="Right Brace 52"/>
          <p:cNvSpPr/>
          <p:nvPr/>
        </p:nvSpPr>
        <p:spPr>
          <a:xfrm>
            <a:off x="3937000" y="1714500"/>
            <a:ext cx="190500" cy="1270000"/>
          </a:xfrm>
          <a:prstGeom prst="rightBrace">
            <a:avLst/>
          </a:prstGeom>
          <a:ln w="12700">
            <a:solidFill>
              <a:srgbClr val="00935D"/>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a:endParaRPr lang="en-US" altLang="zh-TW" sz="1500"/>
          </a:p>
        </p:txBody>
      </p:sp>
      <p:sp>
        <p:nvSpPr>
          <p:cNvPr id="34831" name="TextBox 53"/>
          <p:cNvSpPr txBox="1">
            <a:spLocks noChangeArrowheads="1"/>
          </p:cNvSpPr>
          <p:nvPr/>
        </p:nvSpPr>
        <p:spPr bwMode="auto">
          <a:xfrm>
            <a:off x="4127500" y="2196042"/>
            <a:ext cx="1762021" cy="323165"/>
          </a:xfrm>
          <a:prstGeom prst="rect">
            <a:avLst/>
          </a:prstGeom>
          <a:noFill/>
          <a:ln w="9525">
            <a:noFill/>
            <a:miter lim="800000"/>
            <a:headEnd/>
            <a:tailEnd/>
          </a:ln>
        </p:spPr>
        <p:txBody>
          <a:bodyPr wrap="none">
            <a:spAutoFit/>
          </a:bodyPr>
          <a:lstStyle/>
          <a:p>
            <a:r>
              <a:rPr lang="en-US" altLang="zh-TW" sz="1500" b="1">
                <a:solidFill>
                  <a:srgbClr val="00935D"/>
                </a:solidFill>
                <a:latin typeface="DengXian" charset="0"/>
                <a:ea typeface="DengXian" charset="0"/>
                <a:cs typeface="DengXian" charset="0"/>
              </a:rPr>
              <a:t>Straight-line code</a:t>
            </a:r>
          </a:p>
        </p:txBody>
      </p:sp>
      <p:sp>
        <p:nvSpPr>
          <p:cNvPr id="55" name="Right Brace 54"/>
          <p:cNvSpPr/>
          <p:nvPr/>
        </p:nvSpPr>
        <p:spPr>
          <a:xfrm>
            <a:off x="3937000" y="3048000"/>
            <a:ext cx="190500" cy="190500"/>
          </a:xfrm>
          <a:prstGeom prst="rightBrace">
            <a:avLst/>
          </a:prstGeom>
          <a:ln w="12700">
            <a:solidFill>
              <a:srgbClr val="00935D"/>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a:endParaRPr lang="en-US" altLang="zh-TW" sz="1500"/>
          </a:p>
        </p:txBody>
      </p:sp>
      <p:sp>
        <p:nvSpPr>
          <p:cNvPr id="34833" name="TextBox 55"/>
          <p:cNvSpPr txBox="1">
            <a:spLocks noChangeArrowheads="1"/>
          </p:cNvSpPr>
          <p:nvPr/>
        </p:nvSpPr>
        <p:spPr bwMode="auto">
          <a:xfrm>
            <a:off x="4127500" y="2984501"/>
            <a:ext cx="1266693" cy="323165"/>
          </a:xfrm>
          <a:prstGeom prst="rect">
            <a:avLst/>
          </a:prstGeom>
          <a:noFill/>
          <a:ln w="9525">
            <a:noFill/>
            <a:miter lim="800000"/>
            <a:headEnd/>
            <a:tailEnd/>
          </a:ln>
        </p:spPr>
        <p:txBody>
          <a:bodyPr wrap="none">
            <a:spAutoFit/>
          </a:bodyPr>
          <a:lstStyle/>
          <a:p>
            <a:r>
              <a:rPr lang="en-US" altLang="zh-TW" sz="1500" b="1">
                <a:solidFill>
                  <a:srgbClr val="00935D"/>
                </a:solidFill>
                <a:latin typeface="DengXian" charset="0"/>
                <a:ea typeface="DengXian" charset="0"/>
                <a:cs typeface="DengXian" charset="0"/>
              </a:rPr>
              <a:t>Control flow</a:t>
            </a:r>
          </a:p>
        </p:txBody>
      </p:sp>
      <p:sp>
        <p:nvSpPr>
          <p:cNvPr id="57" name="Right Brace 56"/>
          <p:cNvSpPr/>
          <p:nvPr/>
        </p:nvSpPr>
        <p:spPr>
          <a:xfrm>
            <a:off x="5825717" y="1714500"/>
            <a:ext cx="190500" cy="1524000"/>
          </a:xfrm>
          <a:prstGeom prst="rightBrace">
            <a:avLst/>
          </a:prstGeom>
          <a:ln w="12700">
            <a:solidFill>
              <a:srgbClr val="00935D"/>
            </a:solidFill>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a:endParaRPr lang="en-US" altLang="zh-TW" sz="1500"/>
          </a:p>
        </p:txBody>
      </p:sp>
      <p:sp>
        <p:nvSpPr>
          <p:cNvPr id="34835" name="TextBox 58"/>
          <p:cNvSpPr txBox="1">
            <a:spLocks noChangeArrowheads="1"/>
          </p:cNvSpPr>
          <p:nvPr/>
        </p:nvSpPr>
        <p:spPr bwMode="auto">
          <a:xfrm>
            <a:off x="6016217" y="2323042"/>
            <a:ext cx="1148071" cy="323165"/>
          </a:xfrm>
          <a:prstGeom prst="rect">
            <a:avLst/>
          </a:prstGeom>
          <a:noFill/>
          <a:ln w="9525">
            <a:noFill/>
            <a:miter lim="800000"/>
            <a:headEnd/>
            <a:tailEnd/>
          </a:ln>
        </p:spPr>
        <p:txBody>
          <a:bodyPr wrap="none">
            <a:spAutoFit/>
          </a:bodyPr>
          <a:lstStyle/>
          <a:p>
            <a:r>
              <a:rPr lang="en-US" altLang="zh-TW" sz="1500" b="1">
                <a:solidFill>
                  <a:srgbClr val="00935D"/>
                </a:solidFill>
                <a:latin typeface="DengXian" charset="0"/>
                <a:ea typeface="DengXian" charset="0"/>
                <a:cs typeface="DengXian" charset="0"/>
              </a:rPr>
              <a:t>Basic Block</a:t>
            </a:r>
          </a:p>
        </p:txBody>
      </p:sp>
    </p:spTree>
    <p:extLst>
      <p:ext uri="{BB962C8B-B14F-4D97-AF65-F5344CB8AC3E}">
        <p14:creationId xmlns:p14="http://schemas.microsoft.com/office/powerpoint/2010/main" val="20778675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1" name="Straight Arrow Connector 60"/>
          <p:cNvCxnSpPr>
            <a:stCxn id="33" idx="3"/>
            <a:endCxn id="21" idx="1"/>
          </p:cNvCxnSpPr>
          <p:nvPr/>
        </p:nvCxnSpPr>
        <p:spPr>
          <a:xfrm>
            <a:off x="3873500" y="2095500"/>
            <a:ext cx="1143000" cy="1323"/>
          </a:xfrm>
          <a:prstGeom prst="straightConnector1">
            <a:avLst/>
          </a:prstGeom>
          <a:ln w="19050">
            <a:solidFill>
              <a:schemeClr val="bg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35" idx="3"/>
            <a:endCxn id="22" idx="1"/>
          </p:cNvCxnSpPr>
          <p:nvPr/>
        </p:nvCxnSpPr>
        <p:spPr>
          <a:xfrm>
            <a:off x="3873500" y="2603500"/>
            <a:ext cx="1143000" cy="127000"/>
          </a:xfrm>
          <a:prstGeom prst="straightConnector1">
            <a:avLst/>
          </a:prstGeom>
          <a:ln w="19050">
            <a:solidFill>
              <a:schemeClr val="bg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36" idx="3"/>
            <a:endCxn id="23" idx="1"/>
          </p:cNvCxnSpPr>
          <p:nvPr/>
        </p:nvCxnSpPr>
        <p:spPr>
          <a:xfrm>
            <a:off x="3873500" y="2857500"/>
            <a:ext cx="1143000" cy="254000"/>
          </a:xfrm>
          <a:prstGeom prst="straightConnector1">
            <a:avLst/>
          </a:prstGeom>
          <a:ln w="19050">
            <a:solidFill>
              <a:schemeClr val="bg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37" idx="3"/>
            <a:endCxn id="24" idx="1"/>
          </p:cNvCxnSpPr>
          <p:nvPr/>
        </p:nvCxnSpPr>
        <p:spPr>
          <a:xfrm>
            <a:off x="3873500" y="3111500"/>
            <a:ext cx="1143000" cy="254000"/>
          </a:xfrm>
          <a:prstGeom prst="straightConnector1">
            <a:avLst/>
          </a:prstGeom>
          <a:ln w="19050">
            <a:solidFill>
              <a:schemeClr val="bg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4" name="Straight Arrow Connector 93"/>
          <p:cNvCxnSpPr>
            <a:stCxn id="32" idx="3"/>
            <a:endCxn id="96" idx="1"/>
          </p:cNvCxnSpPr>
          <p:nvPr/>
        </p:nvCxnSpPr>
        <p:spPr>
          <a:xfrm>
            <a:off x="3873500" y="1841500"/>
            <a:ext cx="1143000" cy="1323"/>
          </a:xfrm>
          <a:prstGeom prst="straightConnector1">
            <a:avLst/>
          </a:prstGeom>
          <a:ln w="19050">
            <a:solidFill>
              <a:schemeClr val="bg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Left Brace 20"/>
          <p:cNvSpPr/>
          <p:nvPr/>
        </p:nvSpPr>
        <p:spPr>
          <a:xfrm>
            <a:off x="5016500" y="2032000"/>
            <a:ext cx="63500" cy="127000"/>
          </a:xfrm>
          <a:prstGeom prst="leftBrac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a:endParaRPr lang="en-US" altLang="zh-TW" sz="1500"/>
          </a:p>
        </p:txBody>
      </p:sp>
      <p:sp>
        <p:nvSpPr>
          <p:cNvPr id="22" name="Left Brace 21"/>
          <p:cNvSpPr/>
          <p:nvPr/>
        </p:nvSpPr>
        <p:spPr>
          <a:xfrm>
            <a:off x="5016500" y="2540000"/>
            <a:ext cx="63500" cy="381000"/>
          </a:xfrm>
          <a:prstGeom prst="leftBrac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a:endParaRPr lang="en-US" altLang="zh-TW" sz="1500"/>
          </a:p>
        </p:txBody>
      </p:sp>
      <p:sp>
        <p:nvSpPr>
          <p:cNvPr id="23" name="Left Brace 22"/>
          <p:cNvSpPr/>
          <p:nvPr/>
        </p:nvSpPr>
        <p:spPr>
          <a:xfrm>
            <a:off x="5016500" y="3048000"/>
            <a:ext cx="63500" cy="127000"/>
          </a:xfrm>
          <a:prstGeom prst="leftBrac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a:endParaRPr lang="en-US" altLang="zh-TW" sz="1500"/>
          </a:p>
        </p:txBody>
      </p:sp>
      <p:sp>
        <p:nvSpPr>
          <p:cNvPr id="24" name="Left Brace 23"/>
          <p:cNvSpPr/>
          <p:nvPr/>
        </p:nvSpPr>
        <p:spPr>
          <a:xfrm>
            <a:off x="5016500" y="3302000"/>
            <a:ext cx="63500" cy="127000"/>
          </a:xfrm>
          <a:prstGeom prst="leftBrac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a:endParaRPr lang="en-US" altLang="zh-TW" sz="1500"/>
          </a:p>
        </p:txBody>
      </p:sp>
      <p:sp>
        <p:nvSpPr>
          <p:cNvPr id="96" name="Left Brace 95"/>
          <p:cNvSpPr/>
          <p:nvPr/>
        </p:nvSpPr>
        <p:spPr>
          <a:xfrm>
            <a:off x="5016500" y="1778000"/>
            <a:ext cx="63500" cy="127000"/>
          </a:xfrm>
          <a:prstGeom prst="leftBrac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a:endParaRPr lang="en-US" altLang="zh-TW" sz="1500"/>
          </a:p>
        </p:txBody>
      </p:sp>
      <p:sp>
        <p:nvSpPr>
          <p:cNvPr id="97" name="Left Brace 96"/>
          <p:cNvSpPr/>
          <p:nvPr/>
        </p:nvSpPr>
        <p:spPr>
          <a:xfrm>
            <a:off x="5016500" y="2286000"/>
            <a:ext cx="63500" cy="127000"/>
          </a:xfrm>
          <a:prstGeom prst="leftBrac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anchor="ctr"/>
          <a:lstStyle/>
          <a:p>
            <a:pPr algn="ctr"/>
            <a:endParaRPr lang="en-US" altLang="zh-TW" sz="1500"/>
          </a:p>
        </p:txBody>
      </p:sp>
      <p:cxnSp>
        <p:nvCxnSpPr>
          <p:cNvPr id="98" name="Straight Arrow Connector 97"/>
          <p:cNvCxnSpPr>
            <a:stCxn id="34" idx="3"/>
            <a:endCxn id="97" idx="1"/>
          </p:cNvCxnSpPr>
          <p:nvPr/>
        </p:nvCxnSpPr>
        <p:spPr>
          <a:xfrm>
            <a:off x="3873500" y="2349500"/>
            <a:ext cx="1143000" cy="1323"/>
          </a:xfrm>
          <a:prstGeom prst="straightConnector1">
            <a:avLst/>
          </a:prstGeom>
          <a:ln w="19050">
            <a:solidFill>
              <a:schemeClr val="bg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5854" name="Title 1"/>
          <p:cNvSpPr>
            <a:spLocks noGrp="1"/>
          </p:cNvSpPr>
          <p:nvPr>
            <p:ph type="title"/>
          </p:nvPr>
        </p:nvSpPr>
        <p:spPr/>
        <p:txBody>
          <a:bodyPr/>
          <a:lstStyle/>
          <a:p>
            <a:r>
              <a:rPr kumimoji="1" lang="zh-CN" altLang="en-US" dirty="0"/>
              <a:t>二进制翻译举例</a:t>
            </a:r>
            <a:endParaRPr lang="en-US" altLang="zh-TW" dirty="0"/>
          </a:p>
        </p:txBody>
      </p:sp>
      <p:cxnSp>
        <p:nvCxnSpPr>
          <p:cNvPr id="7" name="Straight Arrow Connector 6"/>
          <p:cNvCxnSpPr>
            <a:stCxn id="14" idx="3"/>
            <a:endCxn id="32" idx="1"/>
          </p:cNvCxnSpPr>
          <p:nvPr/>
        </p:nvCxnSpPr>
        <p:spPr>
          <a:xfrm>
            <a:off x="1841500" y="1841500"/>
            <a:ext cx="190500" cy="1323"/>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1270000" y="1714500"/>
            <a:ext cx="571500" cy="254000"/>
          </a:xfrm>
          <a:prstGeom prst="rect">
            <a:avLst/>
          </a:prstGeom>
          <a:solidFill>
            <a:schemeClr val="tx1"/>
          </a:solidFill>
          <a:ln w="9525">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lgn="ctr">
              <a:defRPr/>
            </a:pPr>
            <a:r>
              <a:rPr lang="en-US" sz="1333" b="1" dirty="0" err="1">
                <a:solidFill>
                  <a:schemeClr val="bg1"/>
                </a:solidFill>
              </a:rPr>
              <a:t>vPC</a:t>
            </a:r>
            <a:endParaRPr lang="en-US" sz="1333" b="1" dirty="0">
              <a:solidFill>
                <a:schemeClr val="bg1"/>
              </a:solidFill>
            </a:endParaRPr>
          </a:p>
        </p:txBody>
      </p:sp>
      <p:sp>
        <p:nvSpPr>
          <p:cNvPr id="32" name="Rectangle 31"/>
          <p:cNvSpPr/>
          <p:nvPr/>
        </p:nvSpPr>
        <p:spPr>
          <a:xfrm>
            <a:off x="2032000" y="1714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err="1">
                <a:solidFill>
                  <a:schemeClr val="tx1"/>
                </a:solidFill>
                <a:latin typeface="Courier New" pitchFamily="49" charset="0"/>
                <a:cs typeface="Courier New" pitchFamily="49" charset="0"/>
              </a:rPr>
              <a:t>mov</a:t>
            </a:r>
            <a:r>
              <a:rPr lang="en-US" sz="1167" b="1" dirty="0">
                <a:solidFill>
                  <a:schemeClr val="tx1"/>
                </a:solidFill>
                <a:latin typeface="Courier New" pitchFamily="49" charset="0"/>
                <a:cs typeface="Courier New" pitchFamily="49" charset="0"/>
              </a:rPr>
              <a:t>   </a:t>
            </a:r>
            <a:r>
              <a:rPr lang="en-US" sz="1167" b="1" dirty="0" err="1">
                <a:solidFill>
                  <a:schemeClr val="tx1"/>
                </a:solidFill>
                <a:latin typeface="Courier New" pitchFamily="49" charset="0"/>
                <a:cs typeface="Courier New" pitchFamily="49" charset="0"/>
              </a:rPr>
              <a:t>ebx</a:t>
            </a:r>
            <a:r>
              <a:rPr lang="en-US" sz="1167" b="1" dirty="0">
                <a:solidFill>
                  <a:schemeClr val="tx1"/>
                </a:solidFill>
                <a:latin typeface="Courier New" pitchFamily="49" charset="0"/>
                <a:cs typeface="Courier New" pitchFamily="49" charset="0"/>
              </a:rPr>
              <a:t>, </a:t>
            </a:r>
            <a:r>
              <a:rPr lang="en-US" sz="1167" b="1" dirty="0" err="1">
                <a:solidFill>
                  <a:schemeClr val="tx1"/>
                </a:solidFill>
                <a:latin typeface="Courier New" pitchFamily="49" charset="0"/>
                <a:cs typeface="Courier New" pitchFamily="49" charset="0"/>
              </a:rPr>
              <a:t>eax</a:t>
            </a:r>
            <a:endParaRPr lang="en-US" sz="1167" b="1" dirty="0">
              <a:solidFill>
                <a:schemeClr val="tx1"/>
              </a:solidFill>
              <a:latin typeface="Courier New" pitchFamily="49" charset="0"/>
              <a:cs typeface="Courier New" pitchFamily="49" charset="0"/>
            </a:endParaRPr>
          </a:p>
        </p:txBody>
      </p:sp>
      <p:sp>
        <p:nvSpPr>
          <p:cNvPr id="33" name="Rectangle 32"/>
          <p:cNvSpPr/>
          <p:nvPr/>
        </p:nvSpPr>
        <p:spPr>
          <a:xfrm>
            <a:off x="2032000" y="1968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err="1">
                <a:solidFill>
                  <a:schemeClr val="tx1"/>
                </a:solidFill>
                <a:latin typeface="Courier New" pitchFamily="49" charset="0"/>
                <a:cs typeface="Courier New" pitchFamily="49" charset="0"/>
              </a:rPr>
              <a:t>cli</a:t>
            </a:r>
            <a:endParaRPr lang="en-US" sz="1167" b="1" dirty="0">
              <a:solidFill>
                <a:schemeClr val="tx1"/>
              </a:solidFill>
              <a:latin typeface="Courier New" pitchFamily="49" charset="0"/>
              <a:cs typeface="Courier New" pitchFamily="49" charset="0"/>
            </a:endParaRPr>
          </a:p>
        </p:txBody>
      </p:sp>
      <p:sp>
        <p:nvSpPr>
          <p:cNvPr id="34" name="Rectangle 33"/>
          <p:cNvSpPr/>
          <p:nvPr/>
        </p:nvSpPr>
        <p:spPr>
          <a:xfrm>
            <a:off x="2032000" y="2222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a:solidFill>
                  <a:schemeClr val="tx1"/>
                </a:solidFill>
                <a:latin typeface="Courier New" pitchFamily="49" charset="0"/>
                <a:cs typeface="Courier New" pitchFamily="49" charset="0"/>
              </a:rPr>
              <a:t>and   </a:t>
            </a:r>
            <a:r>
              <a:rPr lang="en-US" sz="1167" b="1" dirty="0" err="1">
                <a:solidFill>
                  <a:schemeClr val="tx1"/>
                </a:solidFill>
                <a:latin typeface="Courier New" pitchFamily="49" charset="0"/>
                <a:cs typeface="Courier New" pitchFamily="49" charset="0"/>
              </a:rPr>
              <a:t>ebx</a:t>
            </a:r>
            <a:r>
              <a:rPr lang="en-US" sz="1167" b="1" dirty="0">
                <a:solidFill>
                  <a:schemeClr val="tx1"/>
                </a:solidFill>
                <a:latin typeface="Courier New" pitchFamily="49" charset="0"/>
                <a:cs typeface="Courier New" pitchFamily="49" charset="0"/>
              </a:rPr>
              <a:t>, ~0xfff</a:t>
            </a:r>
          </a:p>
        </p:txBody>
      </p:sp>
      <p:sp>
        <p:nvSpPr>
          <p:cNvPr id="35" name="Rectangle 34"/>
          <p:cNvSpPr/>
          <p:nvPr/>
        </p:nvSpPr>
        <p:spPr>
          <a:xfrm>
            <a:off x="2032000" y="2476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err="1">
                <a:solidFill>
                  <a:schemeClr val="tx1"/>
                </a:solidFill>
                <a:latin typeface="Courier New" pitchFamily="49" charset="0"/>
                <a:cs typeface="Courier New" pitchFamily="49" charset="0"/>
              </a:rPr>
              <a:t>mov</a:t>
            </a:r>
            <a:r>
              <a:rPr lang="en-US" sz="1167" b="1" dirty="0">
                <a:solidFill>
                  <a:schemeClr val="tx1"/>
                </a:solidFill>
                <a:latin typeface="Courier New" pitchFamily="49" charset="0"/>
                <a:cs typeface="Courier New" pitchFamily="49" charset="0"/>
              </a:rPr>
              <a:t>   </a:t>
            </a:r>
            <a:r>
              <a:rPr lang="en-US" sz="1167" b="1" dirty="0" err="1">
                <a:solidFill>
                  <a:schemeClr val="tx1"/>
                </a:solidFill>
                <a:latin typeface="Courier New" pitchFamily="49" charset="0"/>
                <a:cs typeface="Courier New" pitchFamily="49" charset="0"/>
              </a:rPr>
              <a:t>ebx</a:t>
            </a:r>
            <a:r>
              <a:rPr lang="en-US" sz="1167" b="1" dirty="0">
                <a:solidFill>
                  <a:schemeClr val="tx1"/>
                </a:solidFill>
                <a:latin typeface="Courier New" pitchFamily="49" charset="0"/>
                <a:cs typeface="Courier New" pitchFamily="49" charset="0"/>
              </a:rPr>
              <a:t>, cr3</a:t>
            </a:r>
          </a:p>
        </p:txBody>
      </p:sp>
      <p:sp>
        <p:nvSpPr>
          <p:cNvPr id="36" name="Rectangle 35"/>
          <p:cNvSpPr/>
          <p:nvPr/>
        </p:nvSpPr>
        <p:spPr>
          <a:xfrm>
            <a:off x="2032000" y="2730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err="1">
                <a:solidFill>
                  <a:schemeClr val="tx1"/>
                </a:solidFill>
                <a:latin typeface="Courier New" pitchFamily="49" charset="0"/>
                <a:cs typeface="Courier New" pitchFamily="49" charset="0"/>
              </a:rPr>
              <a:t>sti</a:t>
            </a:r>
            <a:endParaRPr lang="en-US" sz="1167" b="1" dirty="0">
              <a:solidFill>
                <a:schemeClr val="tx1"/>
              </a:solidFill>
              <a:latin typeface="Courier New" pitchFamily="49" charset="0"/>
              <a:cs typeface="Courier New" pitchFamily="49" charset="0"/>
            </a:endParaRPr>
          </a:p>
        </p:txBody>
      </p:sp>
      <p:sp>
        <p:nvSpPr>
          <p:cNvPr id="37" name="Rectangle 36"/>
          <p:cNvSpPr/>
          <p:nvPr/>
        </p:nvSpPr>
        <p:spPr>
          <a:xfrm>
            <a:off x="2032000" y="2984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a:solidFill>
                  <a:schemeClr val="tx1"/>
                </a:solidFill>
                <a:latin typeface="Courier New" pitchFamily="49" charset="0"/>
                <a:cs typeface="Courier New" pitchFamily="49" charset="0"/>
              </a:rPr>
              <a:t>ret</a:t>
            </a:r>
          </a:p>
        </p:txBody>
      </p:sp>
      <p:cxnSp>
        <p:nvCxnSpPr>
          <p:cNvPr id="39" name="Straight Connector 38"/>
          <p:cNvCxnSpPr/>
          <p:nvPr/>
        </p:nvCxnSpPr>
        <p:spPr>
          <a:xfrm rot="5400000">
            <a:off x="1016001" y="2476500"/>
            <a:ext cx="2032000" cy="264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5400000">
            <a:off x="2858162" y="2475839"/>
            <a:ext cx="2032000" cy="13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Rectangle 40"/>
          <p:cNvSpPr/>
          <p:nvPr/>
        </p:nvSpPr>
        <p:spPr>
          <a:xfrm>
            <a:off x="5143500" y="1714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err="1">
                <a:solidFill>
                  <a:schemeClr val="tx1"/>
                </a:solidFill>
                <a:latin typeface="Courier New" pitchFamily="49" charset="0"/>
                <a:cs typeface="Courier New" pitchFamily="49" charset="0"/>
              </a:rPr>
              <a:t>mov</a:t>
            </a:r>
            <a:r>
              <a:rPr lang="en-US" sz="1167" b="1" dirty="0">
                <a:solidFill>
                  <a:schemeClr val="tx1"/>
                </a:solidFill>
                <a:latin typeface="Courier New" pitchFamily="49" charset="0"/>
                <a:cs typeface="Courier New" pitchFamily="49" charset="0"/>
              </a:rPr>
              <a:t>   </a:t>
            </a:r>
            <a:r>
              <a:rPr lang="en-US" sz="1167" b="1" dirty="0" err="1">
                <a:solidFill>
                  <a:schemeClr val="tx1"/>
                </a:solidFill>
                <a:latin typeface="Courier New" pitchFamily="49" charset="0"/>
                <a:cs typeface="Courier New" pitchFamily="49" charset="0"/>
              </a:rPr>
              <a:t>ebx</a:t>
            </a:r>
            <a:r>
              <a:rPr lang="en-US" sz="1167" b="1" dirty="0">
                <a:solidFill>
                  <a:schemeClr val="tx1"/>
                </a:solidFill>
                <a:latin typeface="Courier New" pitchFamily="49" charset="0"/>
                <a:cs typeface="Courier New" pitchFamily="49" charset="0"/>
              </a:rPr>
              <a:t>, </a:t>
            </a:r>
            <a:r>
              <a:rPr lang="en-US" sz="1167" b="1" dirty="0" err="1">
                <a:solidFill>
                  <a:schemeClr val="tx1"/>
                </a:solidFill>
                <a:latin typeface="Courier New" pitchFamily="49" charset="0"/>
                <a:cs typeface="Courier New" pitchFamily="49" charset="0"/>
              </a:rPr>
              <a:t>eax</a:t>
            </a:r>
            <a:endParaRPr lang="en-US" sz="1167" b="1" dirty="0">
              <a:solidFill>
                <a:schemeClr val="tx1"/>
              </a:solidFill>
              <a:latin typeface="Courier New" pitchFamily="49" charset="0"/>
              <a:cs typeface="Courier New" pitchFamily="49" charset="0"/>
            </a:endParaRPr>
          </a:p>
        </p:txBody>
      </p:sp>
      <p:sp>
        <p:nvSpPr>
          <p:cNvPr id="42" name="Rectangle 41"/>
          <p:cNvSpPr/>
          <p:nvPr/>
        </p:nvSpPr>
        <p:spPr>
          <a:xfrm>
            <a:off x="5143500" y="1968500"/>
            <a:ext cx="1841500" cy="254000"/>
          </a:xfrm>
          <a:prstGeom prst="rect">
            <a:avLst/>
          </a:prstGeom>
          <a:solidFill>
            <a:schemeClr val="bg2"/>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a:solidFill>
                  <a:schemeClr val="tx1"/>
                </a:solidFill>
                <a:latin typeface="Courier New" pitchFamily="49" charset="0"/>
                <a:cs typeface="Courier New" pitchFamily="49" charset="0"/>
              </a:rPr>
              <a:t>call  HANDLE_CLI</a:t>
            </a:r>
          </a:p>
        </p:txBody>
      </p:sp>
      <p:sp>
        <p:nvSpPr>
          <p:cNvPr id="43" name="Rectangle 42"/>
          <p:cNvSpPr/>
          <p:nvPr/>
        </p:nvSpPr>
        <p:spPr>
          <a:xfrm>
            <a:off x="5143500" y="2222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a:solidFill>
                  <a:schemeClr val="tx1"/>
                </a:solidFill>
                <a:latin typeface="Courier New" pitchFamily="49" charset="0"/>
                <a:cs typeface="Courier New" pitchFamily="49" charset="0"/>
              </a:rPr>
              <a:t>and   </a:t>
            </a:r>
            <a:r>
              <a:rPr lang="en-US" sz="1167" b="1" dirty="0" err="1">
                <a:solidFill>
                  <a:schemeClr val="tx1"/>
                </a:solidFill>
                <a:latin typeface="Courier New" pitchFamily="49" charset="0"/>
                <a:cs typeface="Courier New" pitchFamily="49" charset="0"/>
              </a:rPr>
              <a:t>ebx</a:t>
            </a:r>
            <a:r>
              <a:rPr lang="en-US" sz="1167" b="1" dirty="0">
                <a:solidFill>
                  <a:schemeClr val="tx1"/>
                </a:solidFill>
                <a:latin typeface="Courier New" pitchFamily="49" charset="0"/>
                <a:cs typeface="Courier New" pitchFamily="49" charset="0"/>
              </a:rPr>
              <a:t>, ~0xfff</a:t>
            </a:r>
          </a:p>
        </p:txBody>
      </p:sp>
      <p:sp>
        <p:nvSpPr>
          <p:cNvPr id="44" name="Rectangle 43"/>
          <p:cNvSpPr/>
          <p:nvPr/>
        </p:nvSpPr>
        <p:spPr>
          <a:xfrm>
            <a:off x="5143500" y="2476500"/>
            <a:ext cx="1841500" cy="254000"/>
          </a:xfrm>
          <a:prstGeom prst="rect">
            <a:avLst/>
          </a:prstGeom>
          <a:solidFill>
            <a:schemeClr val="bg2"/>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00" b="1" dirty="0" err="1">
                <a:solidFill>
                  <a:schemeClr val="tx1"/>
                </a:solidFill>
                <a:latin typeface="Courier New" pitchFamily="49" charset="0"/>
                <a:cs typeface="Courier New" pitchFamily="49" charset="0"/>
              </a:rPr>
              <a:t>mov</a:t>
            </a:r>
            <a:r>
              <a:rPr lang="en-US" sz="1100" b="1" dirty="0">
                <a:solidFill>
                  <a:schemeClr val="tx1"/>
                </a:solidFill>
                <a:latin typeface="Courier New" pitchFamily="49" charset="0"/>
                <a:cs typeface="Courier New" pitchFamily="49" charset="0"/>
              </a:rPr>
              <a:t>   [CO_ARG], </a:t>
            </a:r>
            <a:r>
              <a:rPr lang="en-US" sz="1100" b="1" dirty="0" err="1">
                <a:solidFill>
                  <a:schemeClr val="tx1"/>
                </a:solidFill>
                <a:latin typeface="Courier New" pitchFamily="49" charset="0"/>
                <a:cs typeface="Courier New" pitchFamily="49" charset="0"/>
              </a:rPr>
              <a:t>ebx</a:t>
            </a:r>
            <a:endParaRPr lang="en-US" sz="1100" b="1" dirty="0">
              <a:solidFill>
                <a:schemeClr val="tx1"/>
              </a:solidFill>
              <a:latin typeface="Courier New" pitchFamily="49" charset="0"/>
              <a:cs typeface="Courier New" pitchFamily="49" charset="0"/>
            </a:endParaRPr>
          </a:p>
        </p:txBody>
      </p:sp>
      <p:sp>
        <p:nvSpPr>
          <p:cNvPr id="45" name="Rectangle 44"/>
          <p:cNvSpPr/>
          <p:nvPr/>
        </p:nvSpPr>
        <p:spPr>
          <a:xfrm>
            <a:off x="5143500" y="2730500"/>
            <a:ext cx="1841500" cy="254000"/>
          </a:xfrm>
          <a:prstGeom prst="rect">
            <a:avLst/>
          </a:prstGeom>
          <a:solidFill>
            <a:schemeClr val="bg2"/>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a:solidFill>
                  <a:schemeClr val="tx1"/>
                </a:solidFill>
                <a:latin typeface="Courier New" pitchFamily="49" charset="0"/>
                <a:cs typeface="Courier New" pitchFamily="49" charset="0"/>
              </a:rPr>
              <a:t>call  HANDLE_CR3</a:t>
            </a:r>
          </a:p>
        </p:txBody>
      </p:sp>
      <p:sp>
        <p:nvSpPr>
          <p:cNvPr id="46" name="Rectangle 45"/>
          <p:cNvSpPr/>
          <p:nvPr/>
        </p:nvSpPr>
        <p:spPr>
          <a:xfrm>
            <a:off x="5143500" y="2984500"/>
            <a:ext cx="1841500" cy="254000"/>
          </a:xfrm>
          <a:prstGeom prst="rect">
            <a:avLst/>
          </a:prstGeom>
          <a:solidFill>
            <a:schemeClr val="bg2"/>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a:solidFill>
                  <a:schemeClr val="tx1"/>
                </a:solidFill>
                <a:latin typeface="Courier New" pitchFamily="49" charset="0"/>
                <a:cs typeface="Courier New" pitchFamily="49" charset="0"/>
              </a:rPr>
              <a:t>call  HANDLE_STI</a:t>
            </a:r>
          </a:p>
        </p:txBody>
      </p:sp>
      <p:cxnSp>
        <p:nvCxnSpPr>
          <p:cNvPr id="47" name="Straight Connector 46"/>
          <p:cNvCxnSpPr/>
          <p:nvPr/>
        </p:nvCxnSpPr>
        <p:spPr>
          <a:xfrm rot="5400000">
            <a:off x="4033573" y="2571750"/>
            <a:ext cx="2221177" cy="13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rot="5400000">
            <a:off x="5874412" y="2571089"/>
            <a:ext cx="2222500" cy="13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Rectangle 51"/>
          <p:cNvSpPr/>
          <p:nvPr/>
        </p:nvSpPr>
        <p:spPr>
          <a:xfrm>
            <a:off x="5143500" y="3238500"/>
            <a:ext cx="1841500" cy="254000"/>
          </a:xfrm>
          <a:prstGeom prst="rect">
            <a:avLst/>
          </a:prstGeom>
          <a:solidFill>
            <a:schemeClr val="bg2"/>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defRPr/>
            </a:pPr>
            <a:r>
              <a:rPr lang="en-US" sz="1167" b="1" dirty="0" err="1">
                <a:solidFill>
                  <a:schemeClr val="tx1"/>
                </a:solidFill>
                <a:latin typeface="Courier New" pitchFamily="49" charset="0"/>
                <a:cs typeface="Courier New" pitchFamily="49" charset="0"/>
              </a:rPr>
              <a:t>jmp</a:t>
            </a:r>
            <a:r>
              <a:rPr lang="en-US" sz="1167" b="1" dirty="0">
                <a:solidFill>
                  <a:schemeClr val="tx1"/>
                </a:solidFill>
                <a:latin typeface="Courier New" pitchFamily="49" charset="0"/>
                <a:cs typeface="Courier New" pitchFamily="49" charset="0"/>
              </a:rPr>
              <a:t>   HANDLE_RET</a:t>
            </a:r>
          </a:p>
        </p:txBody>
      </p:sp>
      <p:sp>
        <p:nvSpPr>
          <p:cNvPr id="78" name="Rectangle 77"/>
          <p:cNvSpPr/>
          <p:nvPr/>
        </p:nvSpPr>
        <p:spPr>
          <a:xfrm>
            <a:off x="7239000" y="1714500"/>
            <a:ext cx="571500" cy="254000"/>
          </a:xfrm>
          <a:prstGeom prst="rect">
            <a:avLst/>
          </a:prstGeom>
          <a:solidFill>
            <a:srgbClr val="C00000"/>
          </a:solidFill>
          <a:ln w="9525">
            <a:no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lgn="ctr">
              <a:defRPr/>
            </a:pPr>
            <a:r>
              <a:rPr lang="en-US" sz="1333" b="1" dirty="0">
                <a:solidFill>
                  <a:schemeClr val="bg1"/>
                </a:solidFill>
              </a:rPr>
              <a:t>start</a:t>
            </a:r>
          </a:p>
        </p:txBody>
      </p:sp>
      <p:sp>
        <p:nvSpPr>
          <p:cNvPr id="35875" name="TextBox 107"/>
          <p:cNvSpPr txBox="1">
            <a:spLocks noChangeArrowheads="1"/>
          </p:cNvSpPr>
          <p:nvPr/>
        </p:nvSpPr>
        <p:spPr bwMode="auto">
          <a:xfrm>
            <a:off x="2404620" y="1079501"/>
            <a:ext cx="1096262" cy="323165"/>
          </a:xfrm>
          <a:prstGeom prst="rect">
            <a:avLst/>
          </a:prstGeom>
          <a:noFill/>
          <a:ln w="9525">
            <a:noFill/>
            <a:miter lim="800000"/>
            <a:headEnd/>
            <a:tailEnd/>
          </a:ln>
        </p:spPr>
        <p:txBody>
          <a:bodyPr wrap="none">
            <a:spAutoFit/>
          </a:bodyPr>
          <a:lstStyle/>
          <a:p>
            <a:pPr algn="ctr"/>
            <a:r>
              <a:rPr lang="en-US" altLang="zh-TW" sz="1500" b="1"/>
              <a:t>Guest Code</a:t>
            </a:r>
          </a:p>
        </p:txBody>
      </p:sp>
      <p:sp>
        <p:nvSpPr>
          <p:cNvPr id="35876" name="TextBox 109"/>
          <p:cNvSpPr txBox="1">
            <a:spLocks noChangeArrowheads="1"/>
          </p:cNvSpPr>
          <p:nvPr/>
        </p:nvSpPr>
        <p:spPr bwMode="auto">
          <a:xfrm>
            <a:off x="5270379" y="1079501"/>
            <a:ext cx="1587742" cy="323165"/>
          </a:xfrm>
          <a:prstGeom prst="rect">
            <a:avLst/>
          </a:prstGeom>
          <a:noFill/>
          <a:ln w="9525">
            <a:noFill/>
            <a:miter lim="800000"/>
            <a:headEnd/>
            <a:tailEnd/>
          </a:ln>
        </p:spPr>
        <p:txBody>
          <a:bodyPr wrap="none">
            <a:spAutoFit/>
          </a:bodyPr>
          <a:lstStyle/>
          <a:p>
            <a:pPr algn="ctr"/>
            <a:r>
              <a:rPr lang="en-US" altLang="zh-TW" sz="1500" b="1"/>
              <a:t>Translation Cache</a:t>
            </a:r>
          </a:p>
        </p:txBody>
      </p:sp>
      <p:sp>
        <p:nvSpPr>
          <p:cNvPr id="121" name="Right Arrow 120"/>
          <p:cNvSpPr/>
          <p:nvPr/>
        </p:nvSpPr>
        <p:spPr>
          <a:xfrm>
            <a:off x="6985000" y="3302000"/>
            <a:ext cx="317500" cy="127000"/>
          </a:xfrm>
          <a:prstGeom prst="rightArrow">
            <a:avLst/>
          </a:prstGeom>
          <a:solidFill>
            <a:srgbClr val="C00000"/>
          </a:solidFill>
          <a:ln w="6350">
            <a:no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lgn="ctr"/>
            <a:endParaRPr lang="en-US" altLang="zh-TW" sz="1333" b="1">
              <a:solidFill>
                <a:schemeClr val="tx1"/>
              </a:solidFill>
            </a:endParaRPr>
          </a:p>
        </p:txBody>
      </p:sp>
      <p:sp>
        <p:nvSpPr>
          <p:cNvPr id="126" name="Left-Right Arrow 125"/>
          <p:cNvSpPr/>
          <p:nvPr/>
        </p:nvSpPr>
        <p:spPr>
          <a:xfrm>
            <a:off x="6985000" y="3048000"/>
            <a:ext cx="317500" cy="127000"/>
          </a:xfrm>
          <a:prstGeom prst="leftRightArrow">
            <a:avLst/>
          </a:prstGeom>
          <a:solidFill>
            <a:srgbClr val="C00000"/>
          </a:solidFill>
          <a:ln w="9525">
            <a:no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lgn="ctr"/>
            <a:endParaRPr lang="en-US" altLang="zh-TW" sz="1333" b="1">
              <a:solidFill>
                <a:schemeClr val="tx1"/>
              </a:solidFill>
            </a:endParaRPr>
          </a:p>
        </p:txBody>
      </p:sp>
      <p:sp>
        <p:nvSpPr>
          <p:cNvPr id="127" name="Left-Right Arrow 126"/>
          <p:cNvSpPr/>
          <p:nvPr/>
        </p:nvSpPr>
        <p:spPr>
          <a:xfrm>
            <a:off x="6985000" y="2794000"/>
            <a:ext cx="317500" cy="127000"/>
          </a:xfrm>
          <a:prstGeom prst="leftRightArrow">
            <a:avLst/>
          </a:prstGeom>
          <a:solidFill>
            <a:srgbClr val="C00000"/>
          </a:solidFill>
          <a:ln w="9525">
            <a:no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lgn="ctr"/>
            <a:endParaRPr lang="en-US" altLang="zh-TW" sz="1333" b="1">
              <a:solidFill>
                <a:schemeClr val="tx1"/>
              </a:solidFill>
            </a:endParaRPr>
          </a:p>
        </p:txBody>
      </p:sp>
      <p:sp>
        <p:nvSpPr>
          <p:cNvPr id="128" name="Right Arrow 127"/>
          <p:cNvSpPr/>
          <p:nvPr/>
        </p:nvSpPr>
        <p:spPr>
          <a:xfrm flipH="1">
            <a:off x="6966480" y="1778000"/>
            <a:ext cx="336021" cy="127000"/>
          </a:xfrm>
          <a:prstGeom prst="rightArrow">
            <a:avLst/>
          </a:prstGeom>
          <a:solidFill>
            <a:srgbClr val="C00000"/>
          </a:solidFill>
          <a:ln w="6350">
            <a:noFill/>
          </a:ln>
        </p:spPr>
        <p:style>
          <a:lnRef idx="2">
            <a:schemeClr val="accent1">
              <a:shade val="50000"/>
            </a:schemeClr>
          </a:lnRef>
          <a:fillRef idx="1001">
            <a:schemeClr val="lt1"/>
          </a:fillRef>
          <a:effectRef idx="0">
            <a:schemeClr val="accent1"/>
          </a:effectRef>
          <a:fontRef idx="minor">
            <a:schemeClr val="lt1"/>
          </a:fontRef>
        </p:style>
        <p:txBody>
          <a:bodyPr anchor="ctr"/>
          <a:lstStyle/>
          <a:p>
            <a:pPr algn="ctr"/>
            <a:endParaRPr lang="en-US" altLang="zh-TW" sz="1333" b="1">
              <a:solidFill>
                <a:schemeClr val="tx1"/>
              </a:solidFill>
            </a:endParaRPr>
          </a:p>
        </p:txBody>
      </p:sp>
    </p:spTree>
    <p:extLst>
      <p:ext uri="{BB962C8B-B14F-4D97-AF65-F5344CB8AC3E}">
        <p14:creationId xmlns:p14="http://schemas.microsoft.com/office/powerpoint/2010/main" val="16304093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1" name="Straight Arrow Connector 60"/>
          <p:cNvCxnSpPr>
            <a:stCxn id="33" idx="3"/>
            <a:endCxn id="21" idx="1"/>
          </p:cNvCxnSpPr>
          <p:nvPr/>
        </p:nvCxnSpPr>
        <p:spPr>
          <a:xfrm>
            <a:off x="3873500" y="2095500"/>
            <a:ext cx="1143000" cy="1323"/>
          </a:xfrm>
          <a:prstGeom prst="straightConnector1">
            <a:avLst/>
          </a:prstGeom>
          <a:ln w="19050">
            <a:solidFill>
              <a:schemeClr val="bg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p:cNvCxnSpPr>
            <a:stCxn id="35" idx="3"/>
            <a:endCxn id="22" idx="1"/>
          </p:cNvCxnSpPr>
          <p:nvPr/>
        </p:nvCxnSpPr>
        <p:spPr>
          <a:xfrm>
            <a:off x="3873500" y="2603500"/>
            <a:ext cx="1143000" cy="127000"/>
          </a:xfrm>
          <a:prstGeom prst="straightConnector1">
            <a:avLst/>
          </a:prstGeom>
          <a:ln w="19050">
            <a:solidFill>
              <a:schemeClr val="bg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6" name="Straight Arrow Connector 65"/>
          <p:cNvCxnSpPr>
            <a:stCxn id="36" idx="3"/>
            <a:endCxn id="23" idx="1"/>
          </p:cNvCxnSpPr>
          <p:nvPr/>
        </p:nvCxnSpPr>
        <p:spPr>
          <a:xfrm>
            <a:off x="3873500" y="2857500"/>
            <a:ext cx="1143000" cy="635000"/>
          </a:xfrm>
          <a:prstGeom prst="straightConnector1">
            <a:avLst/>
          </a:prstGeom>
          <a:ln w="19050">
            <a:solidFill>
              <a:schemeClr val="bg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a:stCxn id="37" idx="3"/>
            <a:endCxn id="24" idx="1"/>
          </p:cNvCxnSpPr>
          <p:nvPr/>
        </p:nvCxnSpPr>
        <p:spPr>
          <a:xfrm>
            <a:off x="3873500" y="3111500"/>
            <a:ext cx="1143000" cy="1016000"/>
          </a:xfrm>
          <a:prstGeom prst="straightConnector1">
            <a:avLst/>
          </a:prstGeom>
          <a:ln w="19050">
            <a:solidFill>
              <a:schemeClr val="bg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4" name="Straight Arrow Connector 93"/>
          <p:cNvCxnSpPr>
            <a:stCxn id="32" idx="3"/>
            <a:endCxn id="96" idx="1"/>
          </p:cNvCxnSpPr>
          <p:nvPr/>
        </p:nvCxnSpPr>
        <p:spPr>
          <a:xfrm>
            <a:off x="3873500" y="1841500"/>
            <a:ext cx="1143000" cy="1323"/>
          </a:xfrm>
          <a:prstGeom prst="straightConnector1">
            <a:avLst/>
          </a:prstGeom>
          <a:ln w="19050">
            <a:solidFill>
              <a:schemeClr val="bg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Left Brace 20"/>
          <p:cNvSpPr/>
          <p:nvPr/>
        </p:nvSpPr>
        <p:spPr>
          <a:xfrm>
            <a:off x="5016500" y="2032000"/>
            <a:ext cx="63500" cy="127000"/>
          </a:xfrm>
          <a:prstGeom prst="leftBrac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500"/>
          </a:p>
        </p:txBody>
      </p:sp>
      <p:sp>
        <p:nvSpPr>
          <p:cNvPr id="22" name="Left Brace 21"/>
          <p:cNvSpPr/>
          <p:nvPr/>
        </p:nvSpPr>
        <p:spPr>
          <a:xfrm>
            <a:off x="5016500" y="2540000"/>
            <a:ext cx="63500" cy="381000"/>
          </a:xfrm>
          <a:prstGeom prst="leftBrac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500"/>
          </a:p>
        </p:txBody>
      </p:sp>
      <p:sp>
        <p:nvSpPr>
          <p:cNvPr id="23" name="Left Brace 22"/>
          <p:cNvSpPr/>
          <p:nvPr/>
        </p:nvSpPr>
        <p:spPr>
          <a:xfrm>
            <a:off x="5016500" y="3048000"/>
            <a:ext cx="63500" cy="889000"/>
          </a:xfrm>
          <a:prstGeom prst="leftBrac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500"/>
          </a:p>
        </p:txBody>
      </p:sp>
      <p:sp>
        <p:nvSpPr>
          <p:cNvPr id="24" name="Left Brace 23"/>
          <p:cNvSpPr/>
          <p:nvPr/>
        </p:nvSpPr>
        <p:spPr>
          <a:xfrm>
            <a:off x="5016500" y="4064000"/>
            <a:ext cx="63500" cy="127000"/>
          </a:xfrm>
          <a:prstGeom prst="leftBrac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500"/>
          </a:p>
        </p:txBody>
      </p:sp>
      <p:sp>
        <p:nvSpPr>
          <p:cNvPr id="96" name="Left Brace 95"/>
          <p:cNvSpPr/>
          <p:nvPr/>
        </p:nvSpPr>
        <p:spPr>
          <a:xfrm>
            <a:off x="5016500" y="1778000"/>
            <a:ext cx="63500" cy="127000"/>
          </a:xfrm>
          <a:prstGeom prst="leftBrac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500"/>
          </a:p>
        </p:txBody>
      </p:sp>
      <p:sp>
        <p:nvSpPr>
          <p:cNvPr id="97" name="Left Brace 96"/>
          <p:cNvSpPr/>
          <p:nvPr/>
        </p:nvSpPr>
        <p:spPr>
          <a:xfrm>
            <a:off x="5016500" y="2286000"/>
            <a:ext cx="63500" cy="127000"/>
          </a:xfrm>
          <a:prstGeom prst="leftBrac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500"/>
          </a:p>
        </p:txBody>
      </p:sp>
      <p:cxnSp>
        <p:nvCxnSpPr>
          <p:cNvPr id="98" name="Straight Arrow Connector 97"/>
          <p:cNvCxnSpPr>
            <a:stCxn id="34" idx="3"/>
            <a:endCxn id="97" idx="1"/>
          </p:cNvCxnSpPr>
          <p:nvPr/>
        </p:nvCxnSpPr>
        <p:spPr>
          <a:xfrm>
            <a:off x="3873500" y="2349500"/>
            <a:ext cx="1143000" cy="1323"/>
          </a:xfrm>
          <a:prstGeom prst="straightConnector1">
            <a:avLst/>
          </a:prstGeom>
          <a:ln w="19050">
            <a:solidFill>
              <a:schemeClr val="bg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kumimoji="1" lang="zh-CN" altLang="en-US" dirty="0"/>
              <a:t>二进制翻译举例</a:t>
            </a:r>
            <a:endParaRPr lang="en-US" dirty="0"/>
          </a:p>
        </p:txBody>
      </p:sp>
      <p:cxnSp>
        <p:nvCxnSpPr>
          <p:cNvPr id="7" name="Straight Arrow Connector 6"/>
          <p:cNvCxnSpPr>
            <a:stCxn id="14" idx="3"/>
            <a:endCxn id="32" idx="1"/>
          </p:cNvCxnSpPr>
          <p:nvPr/>
        </p:nvCxnSpPr>
        <p:spPr>
          <a:xfrm>
            <a:off x="1841500" y="1841500"/>
            <a:ext cx="190500" cy="1323"/>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1270000" y="1714500"/>
            <a:ext cx="571500" cy="254000"/>
          </a:xfrm>
          <a:prstGeom prst="rect">
            <a:avLst/>
          </a:prstGeom>
          <a:solidFill>
            <a:schemeClr val="tx1"/>
          </a:solidFill>
          <a:ln w="9525">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pPr algn="ctr"/>
            <a:r>
              <a:rPr lang="en-US" sz="1333" b="1" dirty="0" err="1">
                <a:solidFill>
                  <a:schemeClr val="bg1"/>
                </a:solidFill>
              </a:rPr>
              <a:t>vPC</a:t>
            </a:r>
            <a:endParaRPr lang="en-US" sz="1333" b="1" dirty="0">
              <a:solidFill>
                <a:schemeClr val="bg1"/>
              </a:solidFill>
            </a:endParaRPr>
          </a:p>
        </p:txBody>
      </p:sp>
      <p:sp>
        <p:nvSpPr>
          <p:cNvPr id="32" name="Rectangle 31"/>
          <p:cNvSpPr/>
          <p:nvPr/>
        </p:nvSpPr>
        <p:spPr>
          <a:xfrm>
            <a:off x="2032000" y="1714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r>
              <a:rPr lang="en-US" sz="1167" b="1" dirty="0" err="1">
                <a:solidFill>
                  <a:schemeClr val="tx1"/>
                </a:solidFill>
                <a:latin typeface="Courier New" pitchFamily="49" charset="0"/>
                <a:cs typeface="Courier New" pitchFamily="49" charset="0"/>
              </a:rPr>
              <a:t>mov</a:t>
            </a:r>
            <a:r>
              <a:rPr lang="en-US" sz="1167" b="1" dirty="0">
                <a:solidFill>
                  <a:schemeClr val="tx1"/>
                </a:solidFill>
                <a:latin typeface="Courier New" pitchFamily="49" charset="0"/>
                <a:cs typeface="Courier New" pitchFamily="49" charset="0"/>
              </a:rPr>
              <a:t>   </a:t>
            </a:r>
            <a:r>
              <a:rPr lang="en-US" sz="1167" b="1" dirty="0" err="1">
                <a:solidFill>
                  <a:schemeClr val="tx1"/>
                </a:solidFill>
                <a:latin typeface="Courier New" pitchFamily="49" charset="0"/>
                <a:cs typeface="Courier New" pitchFamily="49" charset="0"/>
              </a:rPr>
              <a:t>ebx</a:t>
            </a:r>
            <a:r>
              <a:rPr lang="en-US" sz="1167" b="1" dirty="0">
                <a:solidFill>
                  <a:schemeClr val="tx1"/>
                </a:solidFill>
                <a:latin typeface="Courier New" pitchFamily="49" charset="0"/>
                <a:cs typeface="Courier New" pitchFamily="49" charset="0"/>
              </a:rPr>
              <a:t>, </a:t>
            </a:r>
            <a:r>
              <a:rPr lang="en-US" sz="1167" b="1" dirty="0" err="1">
                <a:solidFill>
                  <a:schemeClr val="tx1"/>
                </a:solidFill>
                <a:latin typeface="Courier New" pitchFamily="49" charset="0"/>
                <a:cs typeface="Courier New" pitchFamily="49" charset="0"/>
              </a:rPr>
              <a:t>eax</a:t>
            </a:r>
            <a:endParaRPr lang="en-US" sz="1167" b="1" dirty="0">
              <a:solidFill>
                <a:schemeClr val="tx1"/>
              </a:solidFill>
              <a:latin typeface="Courier New" pitchFamily="49" charset="0"/>
              <a:cs typeface="Courier New" pitchFamily="49" charset="0"/>
            </a:endParaRPr>
          </a:p>
        </p:txBody>
      </p:sp>
      <p:sp>
        <p:nvSpPr>
          <p:cNvPr id="33" name="Rectangle 32"/>
          <p:cNvSpPr/>
          <p:nvPr/>
        </p:nvSpPr>
        <p:spPr>
          <a:xfrm>
            <a:off x="2032000" y="1968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r>
              <a:rPr lang="en-US" sz="1167" b="1" dirty="0" err="1">
                <a:solidFill>
                  <a:schemeClr val="tx1"/>
                </a:solidFill>
                <a:latin typeface="Courier New" pitchFamily="49" charset="0"/>
                <a:cs typeface="Courier New" pitchFamily="49" charset="0"/>
              </a:rPr>
              <a:t>cli</a:t>
            </a:r>
            <a:endParaRPr lang="en-US" sz="1167" b="1" dirty="0">
              <a:solidFill>
                <a:schemeClr val="tx1"/>
              </a:solidFill>
              <a:latin typeface="Courier New" pitchFamily="49" charset="0"/>
              <a:cs typeface="Courier New" pitchFamily="49" charset="0"/>
            </a:endParaRPr>
          </a:p>
        </p:txBody>
      </p:sp>
      <p:sp>
        <p:nvSpPr>
          <p:cNvPr id="34" name="Rectangle 33"/>
          <p:cNvSpPr/>
          <p:nvPr/>
        </p:nvSpPr>
        <p:spPr>
          <a:xfrm>
            <a:off x="2032000" y="2222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r>
              <a:rPr lang="en-US" sz="1167" b="1" dirty="0">
                <a:solidFill>
                  <a:schemeClr val="tx1"/>
                </a:solidFill>
                <a:latin typeface="Courier New" pitchFamily="49" charset="0"/>
                <a:cs typeface="Courier New" pitchFamily="49" charset="0"/>
              </a:rPr>
              <a:t>and   </a:t>
            </a:r>
            <a:r>
              <a:rPr lang="en-US" sz="1167" b="1" dirty="0" err="1">
                <a:solidFill>
                  <a:schemeClr val="tx1"/>
                </a:solidFill>
                <a:latin typeface="Courier New" pitchFamily="49" charset="0"/>
                <a:cs typeface="Courier New" pitchFamily="49" charset="0"/>
              </a:rPr>
              <a:t>ebx</a:t>
            </a:r>
            <a:r>
              <a:rPr lang="en-US" sz="1167" b="1" dirty="0">
                <a:solidFill>
                  <a:schemeClr val="tx1"/>
                </a:solidFill>
                <a:latin typeface="Courier New" pitchFamily="49" charset="0"/>
                <a:cs typeface="Courier New" pitchFamily="49" charset="0"/>
              </a:rPr>
              <a:t>, ~0xfff</a:t>
            </a:r>
          </a:p>
        </p:txBody>
      </p:sp>
      <p:sp>
        <p:nvSpPr>
          <p:cNvPr id="35" name="Rectangle 34"/>
          <p:cNvSpPr/>
          <p:nvPr/>
        </p:nvSpPr>
        <p:spPr>
          <a:xfrm>
            <a:off x="2032000" y="2476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r>
              <a:rPr lang="en-US" sz="1167" b="1" dirty="0" err="1">
                <a:solidFill>
                  <a:schemeClr val="tx1"/>
                </a:solidFill>
                <a:latin typeface="Courier New" pitchFamily="49" charset="0"/>
                <a:cs typeface="Courier New" pitchFamily="49" charset="0"/>
              </a:rPr>
              <a:t>mov</a:t>
            </a:r>
            <a:r>
              <a:rPr lang="en-US" sz="1167" b="1" dirty="0">
                <a:solidFill>
                  <a:schemeClr val="tx1"/>
                </a:solidFill>
                <a:latin typeface="Courier New" pitchFamily="49" charset="0"/>
                <a:cs typeface="Courier New" pitchFamily="49" charset="0"/>
              </a:rPr>
              <a:t>   </a:t>
            </a:r>
            <a:r>
              <a:rPr lang="en-US" sz="1167" b="1" dirty="0" err="1">
                <a:solidFill>
                  <a:schemeClr val="tx1"/>
                </a:solidFill>
                <a:latin typeface="Courier New" pitchFamily="49" charset="0"/>
                <a:cs typeface="Courier New" pitchFamily="49" charset="0"/>
              </a:rPr>
              <a:t>ebx</a:t>
            </a:r>
            <a:r>
              <a:rPr lang="en-US" sz="1167" b="1" dirty="0">
                <a:solidFill>
                  <a:schemeClr val="tx1"/>
                </a:solidFill>
                <a:latin typeface="Courier New" pitchFamily="49" charset="0"/>
                <a:cs typeface="Courier New" pitchFamily="49" charset="0"/>
              </a:rPr>
              <a:t>, cr3</a:t>
            </a:r>
          </a:p>
        </p:txBody>
      </p:sp>
      <p:sp>
        <p:nvSpPr>
          <p:cNvPr id="36" name="Rectangle 35"/>
          <p:cNvSpPr/>
          <p:nvPr/>
        </p:nvSpPr>
        <p:spPr>
          <a:xfrm>
            <a:off x="2032000" y="2730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r>
              <a:rPr lang="en-US" sz="1167" b="1" dirty="0" err="1">
                <a:solidFill>
                  <a:schemeClr val="tx1"/>
                </a:solidFill>
                <a:latin typeface="Courier New" pitchFamily="49" charset="0"/>
                <a:cs typeface="Courier New" pitchFamily="49" charset="0"/>
              </a:rPr>
              <a:t>sti</a:t>
            </a:r>
            <a:endParaRPr lang="en-US" sz="1167" b="1" dirty="0">
              <a:solidFill>
                <a:schemeClr val="tx1"/>
              </a:solidFill>
              <a:latin typeface="Courier New" pitchFamily="49" charset="0"/>
              <a:cs typeface="Courier New" pitchFamily="49" charset="0"/>
            </a:endParaRPr>
          </a:p>
        </p:txBody>
      </p:sp>
      <p:sp>
        <p:nvSpPr>
          <p:cNvPr id="37" name="Rectangle 36"/>
          <p:cNvSpPr/>
          <p:nvPr/>
        </p:nvSpPr>
        <p:spPr>
          <a:xfrm>
            <a:off x="2032000" y="2984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r>
              <a:rPr lang="en-US" sz="1167" b="1" dirty="0">
                <a:solidFill>
                  <a:schemeClr val="tx1"/>
                </a:solidFill>
                <a:latin typeface="Courier New" pitchFamily="49" charset="0"/>
                <a:cs typeface="Courier New" pitchFamily="49" charset="0"/>
              </a:rPr>
              <a:t>ret</a:t>
            </a:r>
          </a:p>
        </p:txBody>
      </p:sp>
      <p:cxnSp>
        <p:nvCxnSpPr>
          <p:cNvPr id="39" name="Straight Connector 38"/>
          <p:cNvCxnSpPr/>
          <p:nvPr/>
        </p:nvCxnSpPr>
        <p:spPr>
          <a:xfrm rot="5400000">
            <a:off x="1016000" y="2476500"/>
            <a:ext cx="2032000" cy="13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rot="5400000">
            <a:off x="2858162" y="2475839"/>
            <a:ext cx="2032000" cy="13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Rectangle 40"/>
          <p:cNvSpPr/>
          <p:nvPr/>
        </p:nvSpPr>
        <p:spPr>
          <a:xfrm>
            <a:off x="5143500" y="1714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r>
              <a:rPr lang="en-US" sz="1167" b="1" dirty="0" err="1">
                <a:solidFill>
                  <a:schemeClr val="tx1"/>
                </a:solidFill>
                <a:latin typeface="Courier New" pitchFamily="49" charset="0"/>
                <a:cs typeface="Courier New" pitchFamily="49" charset="0"/>
              </a:rPr>
              <a:t>mov</a:t>
            </a:r>
            <a:r>
              <a:rPr lang="en-US" sz="1167" b="1" dirty="0">
                <a:solidFill>
                  <a:schemeClr val="tx1"/>
                </a:solidFill>
                <a:latin typeface="Courier New" pitchFamily="49" charset="0"/>
                <a:cs typeface="Courier New" pitchFamily="49" charset="0"/>
              </a:rPr>
              <a:t>   </a:t>
            </a:r>
            <a:r>
              <a:rPr lang="en-US" sz="1167" b="1" dirty="0" err="1">
                <a:solidFill>
                  <a:schemeClr val="tx1"/>
                </a:solidFill>
                <a:latin typeface="Courier New" pitchFamily="49" charset="0"/>
                <a:cs typeface="Courier New" pitchFamily="49" charset="0"/>
              </a:rPr>
              <a:t>ebx</a:t>
            </a:r>
            <a:r>
              <a:rPr lang="en-US" sz="1167" b="1" dirty="0">
                <a:solidFill>
                  <a:schemeClr val="tx1"/>
                </a:solidFill>
                <a:latin typeface="Courier New" pitchFamily="49" charset="0"/>
                <a:cs typeface="Courier New" pitchFamily="49" charset="0"/>
              </a:rPr>
              <a:t>, </a:t>
            </a:r>
            <a:r>
              <a:rPr lang="en-US" sz="1167" b="1" dirty="0" err="1">
                <a:solidFill>
                  <a:schemeClr val="tx1"/>
                </a:solidFill>
                <a:latin typeface="Courier New" pitchFamily="49" charset="0"/>
                <a:cs typeface="Courier New" pitchFamily="49" charset="0"/>
              </a:rPr>
              <a:t>eax</a:t>
            </a:r>
            <a:endParaRPr lang="en-US" sz="1167" b="1" dirty="0">
              <a:solidFill>
                <a:schemeClr val="tx1"/>
              </a:solidFill>
              <a:latin typeface="Courier New" pitchFamily="49" charset="0"/>
              <a:cs typeface="Courier New" pitchFamily="49" charset="0"/>
            </a:endParaRPr>
          </a:p>
        </p:txBody>
      </p:sp>
      <p:sp>
        <p:nvSpPr>
          <p:cNvPr id="42" name="Rectangle 41"/>
          <p:cNvSpPr/>
          <p:nvPr/>
        </p:nvSpPr>
        <p:spPr>
          <a:xfrm>
            <a:off x="5143500" y="1968500"/>
            <a:ext cx="1841500" cy="254000"/>
          </a:xfrm>
          <a:prstGeom prst="rect">
            <a:avLst/>
          </a:prstGeom>
          <a:solidFill>
            <a:schemeClr val="bg2"/>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r>
              <a:rPr lang="en-US" sz="1167" b="1" dirty="0" err="1">
                <a:solidFill>
                  <a:schemeClr val="tx1"/>
                </a:solidFill>
                <a:latin typeface="Courier New" pitchFamily="49" charset="0"/>
                <a:cs typeface="Courier New" pitchFamily="49" charset="0"/>
              </a:rPr>
              <a:t>mov</a:t>
            </a:r>
            <a:r>
              <a:rPr lang="en-US" sz="1167" b="1" dirty="0">
                <a:solidFill>
                  <a:schemeClr val="tx1"/>
                </a:solidFill>
                <a:latin typeface="Courier New" pitchFamily="49" charset="0"/>
                <a:cs typeface="Courier New" pitchFamily="49" charset="0"/>
              </a:rPr>
              <a:t>   [CPU_IE], 0</a:t>
            </a:r>
          </a:p>
        </p:txBody>
      </p:sp>
      <p:sp>
        <p:nvSpPr>
          <p:cNvPr id="43" name="Rectangle 42"/>
          <p:cNvSpPr/>
          <p:nvPr/>
        </p:nvSpPr>
        <p:spPr>
          <a:xfrm>
            <a:off x="5143500" y="2222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r>
              <a:rPr lang="en-US" sz="1167" b="1" dirty="0">
                <a:solidFill>
                  <a:schemeClr val="tx1"/>
                </a:solidFill>
                <a:latin typeface="Courier New" pitchFamily="49" charset="0"/>
                <a:cs typeface="Courier New" pitchFamily="49" charset="0"/>
              </a:rPr>
              <a:t>and   </a:t>
            </a:r>
            <a:r>
              <a:rPr lang="en-US" sz="1167" b="1" dirty="0" err="1">
                <a:solidFill>
                  <a:schemeClr val="tx1"/>
                </a:solidFill>
                <a:latin typeface="Courier New" pitchFamily="49" charset="0"/>
                <a:cs typeface="Courier New" pitchFamily="49" charset="0"/>
              </a:rPr>
              <a:t>ebx</a:t>
            </a:r>
            <a:r>
              <a:rPr lang="en-US" sz="1167" b="1" dirty="0">
                <a:solidFill>
                  <a:schemeClr val="tx1"/>
                </a:solidFill>
                <a:latin typeface="Courier New" pitchFamily="49" charset="0"/>
                <a:cs typeface="Courier New" pitchFamily="49" charset="0"/>
              </a:rPr>
              <a:t>, ~0xfff</a:t>
            </a:r>
          </a:p>
        </p:txBody>
      </p:sp>
      <p:sp>
        <p:nvSpPr>
          <p:cNvPr id="44" name="Rectangle 43"/>
          <p:cNvSpPr/>
          <p:nvPr/>
        </p:nvSpPr>
        <p:spPr>
          <a:xfrm>
            <a:off x="5143500" y="2476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r>
              <a:rPr lang="en-US" sz="1100" b="1" dirty="0" err="1">
                <a:solidFill>
                  <a:schemeClr val="tx1"/>
                </a:solidFill>
                <a:latin typeface="Courier New" pitchFamily="49" charset="0"/>
                <a:cs typeface="Courier New" pitchFamily="49" charset="0"/>
              </a:rPr>
              <a:t>mov</a:t>
            </a:r>
            <a:r>
              <a:rPr lang="en-US" sz="1100" b="1" dirty="0">
                <a:solidFill>
                  <a:schemeClr val="tx1"/>
                </a:solidFill>
                <a:latin typeface="Courier New" pitchFamily="49" charset="0"/>
                <a:cs typeface="Courier New" pitchFamily="49" charset="0"/>
              </a:rPr>
              <a:t>   [CO_ARG], </a:t>
            </a:r>
            <a:r>
              <a:rPr lang="en-US" sz="1100" b="1" dirty="0" err="1">
                <a:solidFill>
                  <a:schemeClr val="tx1"/>
                </a:solidFill>
                <a:latin typeface="Courier New" pitchFamily="49" charset="0"/>
                <a:cs typeface="Courier New" pitchFamily="49" charset="0"/>
              </a:rPr>
              <a:t>ebx</a:t>
            </a:r>
            <a:endParaRPr lang="en-US" sz="1100" b="1" dirty="0">
              <a:solidFill>
                <a:schemeClr val="tx1"/>
              </a:solidFill>
              <a:latin typeface="Courier New" pitchFamily="49" charset="0"/>
              <a:cs typeface="Courier New" pitchFamily="49" charset="0"/>
            </a:endParaRPr>
          </a:p>
        </p:txBody>
      </p:sp>
      <p:sp>
        <p:nvSpPr>
          <p:cNvPr id="45" name="Rectangle 44"/>
          <p:cNvSpPr/>
          <p:nvPr/>
        </p:nvSpPr>
        <p:spPr>
          <a:xfrm>
            <a:off x="5143500" y="2730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r>
              <a:rPr lang="en-US" sz="1167" b="1" dirty="0">
                <a:solidFill>
                  <a:schemeClr val="tx1"/>
                </a:solidFill>
                <a:latin typeface="Courier New" pitchFamily="49" charset="0"/>
                <a:cs typeface="Courier New" pitchFamily="49" charset="0"/>
              </a:rPr>
              <a:t>call  HANDLE_CR3</a:t>
            </a:r>
          </a:p>
        </p:txBody>
      </p:sp>
      <p:sp>
        <p:nvSpPr>
          <p:cNvPr id="46" name="Rectangle 45"/>
          <p:cNvSpPr/>
          <p:nvPr/>
        </p:nvSpPr>
        <p:spPr>
          <a:xfrm>
            <a:off x="5143500" y="2984500"/>
            <a:ext cx="1841500" cy="254000"/>
          </a:xfrm>
          <a:prstGeom prst="rect">
            <a:avLst/>
          </a:prstGeom>
          <a:solidFill>
            <a:schemeClr val="bg2"/>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r>
              <a:rPr lang="en-US" sz="1167" b="1" dirty="0" err="1">
                <a:solidFill>
                  <a:schemeClr val="tx1"/>
                </a:solidFill>
                <a:latin typeface="Courier New" pitchFamily="49" charset="0"/>
                <a:cs typeface="Courier New" pitchFamily="49" charset="0"/>
              </a:rPr>
              <a:t>mov</a:t>
            </a:r>
            <a:r>
              <a:rPr lang="en-US" sz="1167" b="1" dirty="0">
                <a:solidFill>
                  <a:schemeClr val="tx1"/>
                </a:solidFill>
                <a:latin typeface="Courier New" pitchFamily="49" charset="0"/>
                <a:cs typeface="Courier New" pitchFamily="49" charset="0"/>
              </a:rPr>
              <a:t>   [CPU_IE], 1</a:t>
            </a:r>
          </a:p>
        </p:txBody>
      </p:sp>
      <p:cxnSp>
        <p:nvCxnSpPr>
          <p:cNvPr id="47" name="Straight Connector 46"/>
          <p:cNvCxnSpPr/>
          <p:nvPr/>
        </p:nvCxnSpPr>
        <p:spPr>
          <a:xfrm rot="5400000">
            <a:off x="3620162" y="2984500"/>
            <a:ext cx="3047338" cy="66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rot="5400000">
            <a:off x="5461662" y="2983839"/>
            <a:ext cx="3048000" cy="132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Rectangle 48"/>
          <p:cNvSpPr/>
          <p:nvPr/>
        </p:nvSpPr>
        <p:spPr>
          <a:xfrm>
            <a:off x="5143500" y="3238500"/>
            <a:ext cx="1841500" cy="254000"/>
          </a:xfrm>
          <a:prstGeom prst="rect">
            <a:avLst/>
          </a:prstGeom>
          <a:solidFill>
            <a:schemeClr val="bg2"/>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r>
              <a:rPr lang="en-US" sz="1167" b="1" dirty="0">
                <a:solidFill>
                  <a:schemeClr val="tx1"/>
                </a:solidFill>
                <a:latin typeface="Courier New" pitchFamily="49" charset="0"/>
                <a:cs typeface="Courier New" pitchFamily="49" charset="0"/>
              </a:rPr>
              <a:t>test  [CPU_IRQ], 1</a:t>
            </a:r>
          </a:p>
        </p:txBody>
      </p:sp>
      <p:sp>
        <p:nvSpPr>
          <p:cNvPr id="50" name="Rectangle 49"/>
          <p:cNvSpPr/>
          <p:nvPr/>
        </p:nvSpPr>
        <p:spPr>
          <a:xfrm>
            <a:off x="5143500" y="3492500"/>
            <a:ext cx="1841500" cy="254000"/>
          </a:xfrm>
          <a:prstGeom prst="rect">
            <a:avLst/>
          </a:prstGeom>
          <a:solidFill>
            <a:schemeClr val="bg2"/>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r>
              <a:rPr lang="en-US" sz="1167" b="1" dirty="0" err="1">
                <a:solidFill>
                  <a:schemeClr val="tx1"/>
                </a:solidFill>
                <a:latin typeface="Courier New" pitchFamily="49" charset="0"/>
                <a:cs typeface="Courier New" pitchFamily="49" charset="0"/>
              </a:rPr>
              <a:t>jne</a:t>
            </a:r>
            <a:endParaRPr lang="en-US" sz="1167" b="1" dirty="0">
              <a:solidFill>
                <a:schemeClr val="tx1"/>
              </a:solidFill>
              <a:latin typeface="Courier New" pitchFamily="49" charset="0"/>
              <a:cs typeface="Courier New" pitchFamily="49" charset="0"/>
            </a:endParaRPr>
          </a:p>
        </p:txBody>
      </p:sp>
      <p:sp>
        <p:nvSpPr>
          <p:cNvPr id="51" name="Rectangle 50"/>
          <p:cNvSpPr/>
          <p:nvPr/>
        </p:nvSpPr>
        <p:spPr>
          <a:xfrm>
            <a:off x="5143500" y="3746500"/>
            <a:ext cx="1841500" cy="254000"/>
          </a:xfrm>
          <a:prstGeom prst="rect">
            <a:avLst/>
          </a:prstGeom>
          <a:solidFill>
            <a:schemeClr val="bg2"/>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r>
              <a:rPr lang="en-US" sz="1167" b="1" dirty="0">
                <a:solidFill>
                  <a:schemeClr val="tx1"/>
                </a:solidFill>
                <a:latin typeface="Courier New" pitchFamily="49" charset="0"/>
                <a:cs typeface="Courier New" pitchFamily="49" charset="0"/>
              </a:rPr>
              <a:t>call  HANDLE_INTS</a:t>
            </a:r>
          </a:p>
        </p:txBody>
      </p:sp>
      <p:sp>
        <p:nvSpPr>
          <p:cNvPr id="52" name="Rectangle 51"/>
          <p:cNvSpPr/>
          <p:nvPr/>
        </p:nvSpPr>
        <p:spPr>
          <a:xfrm>
            <a:off x="5143500" y="4000500"/>
            <a:ext cx="1841500" cy="254000"/>
          </a:xfrm>
          <a:prstGeom prst="rect">
            <a:avLst/>
          </a:prstGeom>
          <a:solidFill>
            <a:schemeClr val="bg1"/>
          </a:solidFill>
          <a:ln w="19050">
            <a:solidFill>
              <a:schemeClr val="tx1"/>
            </a:solid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r>
              <a:rPr lang="en-US" sz="1167" b="1" dirty="0" err="1">
                <a:solidFill>
                  <a:schemeClr val="tx1"/>
                </a:solidFill>
                <a:latin typeface="Courier New" pitchFamily="49" charset="0"/>
                <a:cs typeface="Courier New" pitchFamily="49" charset="0"/>
              </a:rPr>
              <a:t>jmp</a:t>
            </a:r>
            <a:r>
              <a:rPr lang="en-US" sz="1167" b="1" dirty="0">
                <a:solidFill>
                  <a:schemeClr val="tx1"/>
                </a:solidFill>
                <a:latin typeface="Courier New" pitchFamily="49" charset="0"/>
                <a:cs typeface="Courier New" pitchFamily="49" charset="0"/>
              </a:rPr>
              <a:t>   HANDLE_RET</a:t>
            </a:r>
          </a:p>
        </p:txBody>
      </p:sp>
      <p:sp>
        <p:nvSpPr>
          <p:cNvPr id="78" name="Rectangle 77"/>
          <p:cNvSpPr/>
          <p:nvPr/>
        </p:nvSpPr>
        <p:spPr>
          <a:xfrm>
            <a:off x="7239000" y="1714500"/>
            <a:ext cx="571500" cy="254000"/>
          </a:xfrm>
          <a:prstGeom prst="rect">
            <a:avLst/>
          </a:prstGeom>
          <a:solidFill>
            <a:srgbClr val="C00000"/>
          </a:solidFill>
          <a:ln w="9525">
            <a:no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pPr algn="ctr"/>
            <a:r>
              <a:rPr lang="en-US" sz="1333" b="1" dirty="0">
                <a:solidFill>
                  <a:schemeClr val="bg1"/>
                </a:solidFill>
              </a:rPr>
              <a:t>start</a:t>
            </a:r>
          </a:p>
        </p:txBody>
      </p:sp>
      <p:sp>
        <p:nvSpPr>
          <p:cNvPr id="108" name="TextBox 107"/>
          <p:cNvSpPr txBox="1"/>
          <p:nvPr/>
        </p:nvSpPr>
        <p:spPr>
          <a:xfrm>
            <a:off x="2404619" y="1079501"/>
            <a:ext cx="1096262" cy="323165"/>
          </a:xfrm>
          <a:prstGeom prst="rect">
            <a:avLst/>
          </a:prstGeom>
          <a:noFill/>
        </p:spPr>
        <p:txBody>
          <a:bodyPr wrap="none" rtlCol="0">
            <a:spAutoFit/>
          </a:bodyPr>
          <a:lstStyle/>
          <a:p>
            <a:pPr algn="ctr"/>
            <a:r>
              <a:rPr lang="en-US" sz="1500" b="1" dirty="0"/>
              <a:t>Guest Code</a:t>
            </a:r>
          </a:p>
        </p:txBody>
      </p:sp>
      <p:sp>
        <p:nvSpPr>
          <p:cNvPr id="110" name="TextBox 109"/>
          <p:cNvSpPr txBox="1"/>
          <p:nvPr/>
        </p:nvSpPr>
        <p:spPr>
          <a:xfrm>
            <a:off x="5270379" y="1079501"/>
            <a:ext cx="1587742" cy="323165"/>
          </a:xfrm>
          <a:prstGeom prst="rect">
            <a:avLst/>
          </a:prstGeom>
          <a:noFill/>
        </p:spPr>
        <p:txBody>
          <a:bodyPr wrap="none" rtlCol="0">
            <a:spAutoFit/>
          </a:bodyPr>
          <a:lstStyle/>
          <a:p>
            <a:pPr algn="ctr"/>
            <a:r>
              <a:rPr lang="en-US" sz="1500" b="1" dirty="0"/>
              <a:t>Translation Cache</a:t>
            </a:r>
          </a:p>
        </p:txBody>
      </p:sp>
      <p:sp>
        <p:nvSpPr>
          <p:cNvPr id="121" name="Right Arrow 120"/>
          <p:cNvSpPr/>
          <p:nvPr/>
        </p:nvSpPr>
        <p:spPr>
          <a:xfrm>
            <a:off x="6985000" y="4064000"/>
            <a:ext cx="317500" cy="127000"/>
          </a:xfrm>
          <a:prstGeom prst="rightArrow">
            <a:avLst/>
          </a:prstGeom>
          <a:solidFill>
            <a:srgbClr val="C00000"/>
          </a:solidFill>
          <a:ln w="6350">
            <a:no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pPr algn="ctr"/>
            <a:endParaRPr lang="en-US" sz="1333" b="1">
              <a:solidFill>
                <a:schemeClr val="tx1"/>
              </a:solidFill>
            </a:endParaRPr>
          </a:p>
        </p:txBody>
      </p:sp>
      <p:sp>
        <p:nvSpPr>
          <p:cNvPr id="126" name="Left-Right Arrow 125"/>
          <p:cNvSpPr/>
          <p:nvPr/>
        </p:nvSpPr>
        <p:spPr>
          <a:xfrm>
            <a:off x="6985000" y="3810000"/>
            <a:ext cx="317500" cy="127000"/>
          </a:xfrm>
          <a:prstGeom prst="leftRightArrow">
            <a:avLst/>
          </a:prstGeom>
          <a:solidFill>
            <a:srgbClr val="C00000"/>
          </a:solidFill>
          <a:ln w="9525">
            <a:no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pPr algn="ctr"/>
            <a:endParaRPr lang="en-US" sz="1333" b="1">
              <a:solidFill>
                <a:schemeClr val="tx1"/>
              </a:solidFill>
            </a:endParaRPr>
          </a:p>
        </p:txBody>
      </p:sp>
      <p:sp>
        <p:nvSpPr>
          <p:cNvPr id="127" name="Left-Right Arrow 126"/>
          <p:cNvSpPr/>
          <p:nvPr/>
        </p:nvSpPr>
        <p:spPr>
          <a:xfrm>
            <a:off x="6985000" y="2794000"/>
            <a:ext cx="317500" cy="127000"/>
          </a:xfrm>
          <a:prstGeom prst="leftRightArrow">
            <a:avLst/>
          </a:prstGeom>
          <a:solidFill>
            <a:srgbClr val="C00000"/>
          </a:solidFill>
          <a:ln w="9525">
            <a:no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pPr algn="ctr"/>
            <a:endParaRPr lang="en-US" sz="1333" b="1">
              <a:solidFill>
                <a:schemeClr val="tx1"/>
              </a:solidFill>
            </a:endParaRPr>
          </a:p>
        </p:txBody>
      </p:sp>
      <p:cxnSp>
        <p:nvCxnSpPr>
          <p:cNvPr id="133" name="Elbow Connector 132"/>
          <p:cNvCxnSpPr/>
          <p:nvPr/>
        </p:nvCxnSpPr>
        <p:spPr>
          <a:xfrm>
            <a:off x="5778500" y="3619500"/>
            <a:ext cx="1016000" cy="381000"/>
          </a:xfrm>
          <a:prstGeom prst="bentConnector3">
            <a:avLst>
              <a:gd name="adj1" fmla="val 100000"/>
            </a:avLst>
          </a:prstGeom>
          <a:ln w="19050">
            <a:solidFill>
              <a:schemeClr val="tx1"/>
            </a:solidFill>
            <a:prstDash val="sysDot"/>
            <a:tailEnd type="arrow"/>
          </a:ln>
        </p:spPr>
        <p:style>
          <a:lnRef idx="1">
            <a:schemeClr val="accent1"/>
          </a:lnRef>
          <a:fillRef idx="0">
            <a:schemeClr val="accent1"/>
          </a:fillRef>
          <a:effectRef idx="0">
            <a:schemeClr val="accent1"/>
          </a:effectRef>
          <a:fontRef idx="minor">
            <a:schemeClr val="tx1"/>
          </a:fontRef>
        </p:style>
      </p:cxnSp>
      <p:sp>
        <p:nvSpPr>
          <p:cNvPr id="128" name="Right Arrow 127"/>
          <p:cNvSpPr/>
          <p:nvPr/>
        </p:nvSpPr>
        <p:spPr>
          <a:xfrm flipH="1">
            <a:off x="6966856" y="1778000"/>
            <a:ext cx="335643" cy="127000"/>
          </a:xfrm>
          <a:prstGeom prst="rightArrow">
            <a:avLst/>
          </a:prstGeom>
          <a:solidFill>
            <a:srgbClr val="C00000"/>
          </a:solidFill>
          <a:ln w="6350">
            <a:noFill/>
          </a:ln>
        </p:spPr>
        <p:style>
          <a:lnRef idx="2">
            <a:schemeClr val="accent1">
              <a:shade val="50000"/>
            </a:schemeClr>
          </a:lnRef>
          <a:fillRef idx="1001">
            <a:schemeClr val="lt1"/>
          </a:fillRef>
          <a:effectRef idx="0">
            <a:schemeClr val="accent1"/>
          </a:effectRef>
          <a:fontRef idx="minor">
            <a:schemeClr val="lt1"/>
          </a:fontRef>
        </p:style>
        <p:txBody>
          <a:bodyPr vert="horz" rtlCol="0" anchor="ctr"/>
          <a:lstStyle/>
          <a:p>
            <a:pPr algn="ctr"/>
            <a:endParaRPr lang="en-US" sz="1333" b="1">
              <a:solidFill>
                <a:schemeClr val="tx1"/>
              </a:solidFill>
            </a:endParaRPr>
          </a:p>
        </p:txBody>
      </p:sp>
    </p:spTree>
    <p:extLst>
      <p:ext uri="{BB962C8B-B14F-4D97-AF65-F5344CB8AC3E}">
        <p14:creationId xmlns:p14="http://schemas.microsoft.com/office/powerpoint/2010/main" val="7054302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1" lang="zh-CN" altLang="en-US" dirty="0"/>
              <a:t>二进制翻译的翻译器（</a:t>
            </a:r>
            <a:r>
              <a:rPr kumimoji="1" lang="en-US" altLang="zh-CN" dirty="0"/>
              <a:t>Translator</a:t>
            </a:r>
            <a:r>
              <a:rPr kumimoji="1" lang="zh-CN" altLang="en-US" dirty="0"/>
              <a:t>）</a:t>
            </a:r>
            <a:r>
              <a:rPr kumimoji="1" lang="en-US" altLang="zh-CN" dirty="0"/>
              <a:t>-1</a:t>
            </a:r>
            <a:endParaRPr lang="en-US" dirty="0"/>
          </a:p>
        </p:txBody>
      </p:sp>
      <p:sp>
        <p:nvSpPr>
          <p:cNvPr id="5" name="TextBox 4"/>
          <p:cNvSpPr txBox="1"/>
          <p:nvPr/>
        </p:nvSpPr>
        <p:spPr>
          <a:xfrm>
            <a:off x="539552" y="1132785"/>
            <a:ext cx="8147248" cy="5109091"/>
          </a:xfrm>
          <a:prstGeom prst="rect">
            <a:avLst/>
          </a:prstGeom>
          <a:noFill/>
          <a:ln>
            <a:noFill/>
          </a:ln>
        </p:spPr>
        <p:txBody>
          <a:bodyPr wrap="square" lIns="152400" tIns="152400" rIns="152400" bIns="152400" numCol="2" rtlCol="0">
            <a:spAutoFit/>
          </a:bodyPr>
          <a:lstStyle/>
          <a:p>
            <a:r>
              <a:rPr lang="en-US" sz="1200" dirty="0">
                <a:latin typeface="Courier New" pitchFamily="49" charset="0"/>
                <a:cs typeface="Courier New" pitchFamily="49" charset="0"/>
              </a:rPr>
              <a:t>void </a:t>
            </a:r>
            <a:r>
              <a:rPr lang="en-US" sz="1200" b="1" dirty="0" err="1">
                <a:solidFill>
                  <a:srgbClr val="00935D"/>
                </a:solidFill>
                <a:latin typeface="Courier New" pitchFamily="49" charset="0"/>
                <a:cs typeface="Courier New" pitchFamily="49" charset="0"/>
              </a:rPr>
              <a:t>BT_Run</a:t>
            </a:r>
            <a:r>
              <a:rPr lang="en-US" sz="1200" dirty="0">
                <a:latin typeface="Courier New" pitchFamily="49" charset="0"/>
                <a:cs typeface="Courier New" pitchFamily="49" charset="0"/>
              </a:rPr>
              <a:t>(void)</a:t>
            </a:r>
          </a:p>
          <a:p>
            <a:r>
              <a:rPr lang="en-US" sz="1200" dirty="0">
                <a:latin typeface="Courier New" pitchFamily="49" charset="0"/>
                <a:cs typeface="Courier New" pitchFamily="49" charset="0"/>
              </a:rPr>
              <a:t>{</a:t>
            </a:r>
          </a:p>
          <a:p>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CPUState.PC</a:t>
            </a:r>
            <a:r>
              <a:rPr lang="en-US" sz="1200" dirty="0">
                <a:latin typeface="Courier New" pitchFamily="49" charset="0"/>
                <a:cs typeface="Courier New" pitchFamily="49" charset="0"/>
              </a:rPr>
              <a:t> = _start;</a:t>
            </a:r>
          </a:p>
          <a:p>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BT_Continue</a:t>
            </a:r>
            <a:r>
              <a:rPr lang="en-US" sz="1200" dirty="0">
                <a:latin typeface="Courier New" pitchFamily="49" charset="0"/>
                <a:cs typeface="Courier New" pitchFamily="49" charset="0"/>
              </a:rPr>
              <a:t>();</a:t>
            </a:r>
          </a:p>
          <a:p>
            <a:r>
              <a:rPr lang="en-US" sz="1200" dirty="0">
                <a:latin typeface="Courier New" pitchFamily="49" charset="0"/>
                <a:cs typeface="Courier New" pitchFamily="49" charset="0"/>
              </a:rPr>
              <a:t>}</a:t>
            </a:r>
          </a:p>
          <a:p>
            <a:endParaRPr lang="en-US" sz="1200" dirty="0">
              <a:latin typeface="Courier New" pitchFamily="49" charset="0"/>
              <a:cs typeface="Courier New" pitchFamily="49" charset="0"/>
            </a:endParaRPr>
          </a:p>
          <a:p>
            <a:r>
              <a:rPr lang="en-US" sz="1200" dirty="0">
                <a:latin typeface="Courier New" pitchFamily="49" charset="0"/>
                <a:cs typeface="Courier New" pitchFamily="49" charset="0"/>
              </a:rPr>
              <a:t>void </a:t>
            </a:r>
            <a:r>
              <a:rPr lang="en-US" sz="1200" b="1" dirty="0" err="1">
                <a:solidFill>
                  <a:srgbClr val="00935D"/>
                </a:solidFill>
                <a:latin typeface="Courier New" pitchFamily="49" charset="0"/>
                <a:cs typeface="Courier New" pitchFamily="49" charset="0"/>
              </a:rPr>
              <a:t>BT_Continue</a:t>
            </a:r>
            <a:r>
              <a:rPr lang="en-US" sz="1200" dirty="0">
                <a:latin typeface="Courier New" pitchFamily="49" charset="0"/>
                <a:cs typeface="Courier New" pitchFamily="49" charset="0"/>
              </a:rPr>
              <a:t>(void)</a:t>
            </a:r>
          </a:p>
          <a:p>
            <a:r>
              <a:rPr lang="en-US" sz="1200" dirty="0">
                <a:latin typeface="Courier New" pitchFamily="49" charset="0"/>
                <a:cs typeface="Courier New" pitchFamily="49" charset="0"/>
              </a:rPr>
              <a:t>{</a:t>
            </a:r>
          </a:p>
          <a:p>
            <a:r>
              <a:rPr lang="en-US" sz="1200" dirty="0">
                <a:latin typeface="Courier New" pitchFamily="49" charset="0"/>
                <a:cs typeface="Courier New" pitchFamily="49" charset="0"/>
              </a:rPr>
              <a:t>   void *</a:t>
            </a:r>
            <a:r>
              <a:rPr lang="en-US" sz="1200" dirty="0" err="1">
                <a:latin typeface="Courier New" pitchFamily="49" charset="0"/>
                <a:cs typeface="Courier New" pitchFamily="49" charset="0"/>
              </a:rPr>
              <a:t>tcpc</a:t>
            </a:r>
            <a:r>
              <a:rPr lang="en-US" sz="1200" dirty="0">
                <a:latin typeface="Courier New" pitchFamily="49" charset="0"/>
                <a:cs typeface="Courier New" pitchFamily="49" charset="0"/>
              </a:rPr>
              <a:t>;</a:t>
            </a:r>
          </a:p>
          <a:p>
            <a:endParaRPr lang="en-US" sz="1200" dirty="0">
              <a:latin typeface="Courier New" pitchFamily="49" charset="0"/>
              <a:cs typeface="Courier New" pitchFamily="49" charset="0"/>
            </a:endParaRPr>
          </a:p>
          <a:p>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tcpc</a:t>
            </a:r>
            <a:r>
              <a:rPr lang="en-US" sz="1200" dirty="0">
                <a:latin typeface="Courier New" pitchFamily="49" charset="0"/>
                <a:cs typeface="Courier New" pitchFamily="49" charset="0"/>
              </a:rPr>
              <a:t> = </a:t>
            </a:r>
            <a:r>
              <a:rPr lang="en-US" sz="1200" dirty="0" err="1">
                <a:latin typeface="Courier New" pitchFamily="49" charset="0"/>
                <a:cs typeface="Courier New" pitchFamily="49" charset="0"/>
              </a:rPr>
              <a:t>BTFindBB</a:t>
            </a:r>
            <a:r>
              <a:rPr lang="en-US" sz="1200" dirty="0">
                <a:latin typeface="Courier New" pitchFamily="49" charset="0"/>
                <a:cs typeface="Courier New" pitchFamily="49" charset="0"/>
              </a:rPr>
              <a:t>(</a:t>
            </a:r>
            <a:r>
              <a:rPr lang="en-US" sz="1200" dirty="0" err="1">
                <a:latin typeface="Courier New" pitchFamily="49" charset="0"/>
                <a:cs typeface="Courier New" pitchFamily="49" charset="0"/>
              </a:rPr>
              <a:t>CPUState.PC</a:t>
            </a:r>
            <a:r>
              <a:rPr lang="en-US" sz="1200" dirty="0">
                <a:latin typeface="Courier New" pitchFamily="49" charset="0"/>
                <a:cs typeface="Courier New" pitchFamily="49" charset="0"/>
              </a:rPr>
              <a:t>);</a:t>
            </a:r>
          </a:p>
          <a:p>
            <a:endParaRPr lang="en-US" sz="1200" dirty="0">
              <a:latin typeface="Courier New" pitchFamily="49" charset="0"/>
              <a:cs typeface="Courier New" pitchFamily="49" charset="0"/>
            </a:endParaRPr>
          </a:p>
          <a:p>
            <a:r>
              <a:rPr lang="en-US" sz="1200" dirty="0">
                <a:latin typeface="Courier New" pitchFamily="49" charset="0"/>
                <a:cs typeface="Courier New" pitchFamily="49" charset="0"/>
              </a:rPr>
              <a:t>   if (!</a:t>
            </a:r>
            <a:r>
              <a:rPr lang="en-US" sz="1200" dirty="0" err="1">
                <a:latin typeface="Courier New" pitchFamily="49" charset="0"/>
                <a:cs typeface="Courier New" pitchFamily="49" charset="0"/>
              </a:rPr>
              <a:t>tcpc</a:t>
            </a:r>
            <a:r>
              <a:rPr lang="en-US" sz="1200" dirty="0">
                <a:latin typeface="Courier New" pitchFamily="49" charset="0"/>
                <a:cs typeface="Courier New" pitchFamily="49" charset="0"/>
              </a:rPr>
              <a:t>) {</a:t>
            </a:r>
          </a:p>
          <a:p>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tcpc</a:t>
            </a:r>
            <a:r>
              <a:rPr lang="en-US" sz="1200" dirty="0">
                <a:latin typeface="Courier New" pitchFamily="49" charset="0"/>
                <a:cs typeface="Courier New" pitchFamily="49" charset="0"/>
              </a:rPr>
              <a:t> = </a:t>
            </a:r>
            <a:r>
              <a:rPr lang="en-US" sz="1200" dirty="0" err="1">
                <a:latin typeface="Courier New" pitchFamily="49" charset="0"/>
                <a:cs typeface="Courier New" pitchFamily="49" charset="0"/>
              </a:rPr>
              <a:t>BTTranslate</a:t>
            </a:r>
            <a:r>
              <a:rPr lang="en-US" sz="1200" dirty="0">
                <a:latin typeface="Courier New" pitchFamily="49" charset="0"/>
                <a:cs typeface="Courier New" pitchFamily="49" charset="0"/>
              </a:rPr>
              <a:t>(</a:t>
            </a:r>
            <a:r>
              <a:rPr lang="en-US" sz="1200" dirty="0" err="1">
                <a:latin typeface="Courier New" pitchFamily="49" charset="0"/>
                <a:cs typeface="Courier New" pitchFamily="49" charset="0"/>
              </a:rPr>
              <a:t>CPUState.PC</a:t>
            </a:r>
            <a:r>
              <a:rPr lang="en-US" sz="1200" dirty="0">
                <a:latin typeface="Courier New" pitchFamily="49" charset="0"/>
                <a:cs typeface="Courier New" pitchFamily="49" charset="0"/>
              </a:rPr>
              <a:t>);</a:t>
            </a:r>
          </a:p>
          <a:p>
            <a:r>
              <a:rPr lang="en-US" sz="1200" dirty="0">
                <a:latin typeface="Courier New" pitchFamily="49" charset="0"/>
                <a:cs typeface="Courier New" pitchFamily="49" charset="0"/>
              </a:rPr>
              <a:t>   }</a:t>
            </a:r>
          </a:p>
          <a:p>
            <a:endParaRPr lang="en-US" sz="1200" dirty="0">
              <a:latin typeface="Courier New" pitchFamily="49" charset="0"/>
              <a:cs typeface="Courier New" pitchFamily="49" charset="0"/>
            </a:endParaRPr>
          </a:p>
          <a:p>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RestoreRegsAndJump</a:t>
            </a:r>
            <a:r>
              <a:rPr lang="en-US" sz="1200" dirty="0">
                <a:latin typeface="Courier New" pitchFamily="49" charset="0"/>
                <a:cs typeface="Courier New" pitchFamily="49" charset="0"/>
              </a:rPr>
              <a:t>(</a:t>
            </a:r>
            <a:r>
              <a:rPr lang="en-US" sz="1200" dirty="0" err="1">
                <a:latin typeface="Courier New" pitchFamily="49" charset="0"/>
                <a:cs typeface="Courier New" pitchFamily="49" charset="0"/>
              </a:rPr>
              <a:t>tcpc</a:t>
            </a:r>
            <a:r>
              <a:rPr lang="en-US" sz="1200" dirty="0">
                <a:latin typeface="Courier New" pitchFamily="49" charset="0"/>
                <a:cs typeface="Courier New" pitchFamily="49" charset="0"/>
              </a:rPr>
              <a:t>);</a:t>
            </a:r>
          </a:p>
          <a:p>
            <a:r>
              <a:rPr lang="en-US" sz="1200" dirty="0">
                <a:latin typeface="Courier New" pitchFamily="49" charset="0"/>
                <a:cs typeface="Courier New" pitchFamily="49" charset="0"/>
              </a:rPr>
              <a:t>}</a:t>
            </a:r>
          </a:p>
          <a:p>
            <a:endParaRPr lang="en-US" sz="1200" dirty="0">
              <a:latin typeface="Courier New" pitchFamily="49" charset="0"/>
              <a:cs typeface="Courier New" pitchFamily="49" charset="0"/>
            </a:endParaRPr>
          </a:p>
          <a:p>
            <a:endParaRPr lang="en-US" sz="1200" dirty="0">
              <a:latin typeface="Courier New" pitchFamily="49" charset="0"/>
              <a:cs typeface="Courier New" pitchFamily="49" charset="0"/>
            </a:endParaRPr>
          </a:p>
          <a:p>
            <a:endParaRPr lang="en-US" sz="1200" dirty="0">
              <a:latin typeface="Courier New" pitchFamily="49" charset="0"/>
              <a:cs typeface="Courier New" pitchFamily="49" charset="0"/>
            </a:endParaRPr>
          </a:p>
          <a:p>
            <a:endParaRPr lang="en-US" sz="1200" dirty="0">
              <a:latin typeface="Courier New" pitchFamily="49" charset="0"/>
              <a:cs typeface="Courier New" pitchFamily="49" charset="0"/>
            </a:endParaRPr>
          </a:p>
          <a:p>
            <a:endParaRPr lang="en-US" sz="1200" dirty="0">
              <a:latin typeface="Courier New" pitchFamily="49" charset="0"/>
              <a:cs typeface="Courier New" pitchFamily="49" charset="0"/>
            </a:endParaRPr>
          </a:p>
          <a:p>
            <a:endParaRPr lang="en-US" sz="1200" dirty="0">
              <a:latin typeface="Courier New" pitchFamily="49" charset="0"/>
              <a:cs typeface="Courier New" pitchFamily="49" charset="0"/>
            </a:endParaRPr>
          </a:p>
          <a:p>
            <a:endParaRPr lang="zh-CN" altLang="en-US" sz="1200" dirty="0">
              <a:latin typeface="Courier New" pitchFamily="49" charset="0"/>
              <a:cs typeface="Courier New" pitchFamily="49" charset="0"/>
            </a:endParaRPr>
          </a:p>
          <a:p>
            <a:endParaRPr lang="en-US" sz="1200" dirty="0">
              <a:latin typeface="Courier New" pitchFamily="49" charset="0"/>
              <a:cs typeface="Courier New" pitchFamily="49" charset="0"/>
            </a:endParaRPr>
          </a:p>
          <a:p>
            <a:r>
              <a:rPr lang="en-US" sz="1200" dirty="0">
                <a:latin typeface="Courier New" pitchFamily="49" charset="0"/>
                <a:cs typeface="Courier New" pitchFamily="49" charset="0"/>
              </a:rPr>
              <a:t>void *</a:t>
            </a:r>
            <a:r>
              <a:rPr lang="en-US" sz="1200" b="1" dirty="0" err="1">
                <a:solidFill>
                  <a:srgbClr val="00935D"/>
                </a:solidFill>
                <a:latin typeface="Courier New" pitchFamily="49" charset="0"/>
                <a:cs typeface="Courier New" pitchFamily="49" charset="0"/>
              </a:rPr>
              <a:t>BTTranslate</a:t>
            </a:r>
            <a:r>
              <a:rPr lang="en-US" sz="1200" dirty="0">
                <a:latin typeface="Courier New" pitchFamily="49" charset="0"/>
                <a:cs typeface="Courier New" pitchFamily="49" charset="0"/>
              </a:rPr>
              <a:t>(uint32 pc)</a:t>
            </a:r>
          </a:p>
          <a:p>
            <a:r>
              <a:rPr lang="en-US" sz="1200" dirty="0">
                <a:latin typeface="Courier New" pitchFamily="49" charset="0"/>
                <a:cs typeface="Courier New" pitchFamily="49" charset="0"/>
              </a:rPr>
              <a:t>{</a:t>
            </a:r>
          </a:p>
          <a:p>
            <a:r>
              <a:rPr lang="en-US" sz="1200" dirty="0">
                <a:latin typeface="Courier New" pitchFamily="49" charset="0"/>
                <a:cs typeface="Courier New" pitchFamily="49" charset="0"/>
              </a:rPr>
              <a:t>   void *start = </a:t>
            </a:r>
            <a:r>
              <a:rPr lang="en-US" sz="1200" dirty="0" err="1">
                <a:latin typeface="Courier New" pitchFamily="49" charset="0"/>
                <a:cs typeface="Courier New" pitchFamily="49" charset="0"/>
              </a:rPr>
              <a:t>TCTop</a:t>
            </a:r>
            <a:r>
              <a:rPr lang="en-US" sz="1200" dirty="0">
                <a:latin typeface="Courier New" pitchFamily="49" charset="0"/>
                <a:cs typeface="Courier New" pitchFamily="49" charset="0"/>
              </a:rPr>
              <a:t>;</a:t>
            </a:r>
          </a:p>
          <a:p>
            <a:r>
              <a:rPr lang="en-US" sz="1200" dirty="0">
                <a:latin typeface="Courier New" pitchFamily="49" charset="0"/>
                <a:cs typeface="Courier New" pitchFamily="49" charset="0"/>
              </a:rPr>
              <a:t>   uint32 TCPC = pc;</a:t>
            </a:r>
          </a:p>
          <a:p>
            <a:endParaRPr lang="en-US" sz="1200" dirty="0">
              <a:latin typeface="Courier New" pitchFamily="49" charset="0"/>
              <a:cs typeface="Courier New" pitchFamily="49" charset="0"/>
            </a:endParaRPr>
          </a:p>
          <a:p>
            <a:r>
              <a:rPr lang="en-US" sz="1200" dirty="0">
                <a:latin typeface="Courier New" pitchFamily="49" charset="0"/>
                <a:cs typeface="Courier New" pitchFamily="49" charset="0"/>
              </a:rPr>
              <a:t>   while (1) {</a:t>
            </a:r>
          </a:p>
          <a:p>
            <a:r>
              <a:rPr lang="en-US" sz="1200" dirty="0">
                <a:latin typeface="Courier New" pitchFamily="49" charset="0"/>
                <a:cs typeface="Courier New" pitchFamily="49" charset="0"/>
              </a:rPr>
              <a:t>      inst = Fetch(TCPC);</a:t>
            </a:r>
          </a:p>
          <a:p>
            <a:r>
              <a:rPr lang="en-US" sz="1200" dirty="0">
                <a:latin typeface="Courier New" pitchFamily="49" charset="0"/>
                <a:cs typeface="Courier New" pitchFamily="49" charset="0"/>
              </a:rPr>
              <a:t>      TCPC += 4;</a:t>
            </a:r>
          </a:p>
          <a:p>
            <a:endParaRPr lang="en-US" sz="1200" dirty="0">
              <a:latin typeface="Courier New" pitchFamily="49" charset="0"/>
              <a:cs typeface="Courier New" pitchFamily="49" charset="0"/>
            </a:endParaRPr>
          </a:p>
          <a:p>
            <a:r>
              <a:rPr lang="en-US" sz="1200" dirty="0">
                <a:latin typeface="Courier New" pitchFamily="49" charset="0"/>
                <a:cs typeface="Courier New" pitchFamily="49" charset="0"/>
              </a:rPr>
              <a:t>      if (</a:t>
            </a:r>
            <a:r>
              <a:rPr lang="en-US" sz="1200" dirty="0" err="1">
                <a:latin typeface="Courier New" pitchFamily="49" charset="0"/>
                <a:cs typeface="Courier New" pitchFamily="49" charset="0"/>
              </a:rPr>
              <a:t>IsPrivileged</a:t>
            </a:r>
            <a:r>
              <a:rPr lang="en-US" sz="1200" dirty="0">
                <a:latin typeface="Courier New" pitchFamily="49" charset="0"/>
                <a:cs typeface="Courier New" pitchFamily="49" charset="0"/>
              </a:rPr>
              <a:t>(inst)) {</a:t>
            </a:r>
          </a:p>
          <a:p>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EmitCallout</a:t>
            </a:r>
            <a:r>
              <a:rPr lang="en-US" sz="1200" dirty="0">
                <a:latin typeface="Courier New" pitchFamily="49" charset="0"/>
                <a:cs typeface="Courier New" pitchFamily="49" charset="0"/>
              </a:rPr>
              <a:t>();</a:t>
            </a:r>
          </a:p>
          <a:p>
            <a:r>
              <a:rPr lang="en-US" sz="1200" dirty="0">
                <a:latin typeface="Courier New" pitchFamily="49" charset="0"/>
                <a:cs typeface="Courier New" pitchFamily="49" charset="0"/>
              </a:rPr>
              <a:t>      } else if (</a:t>
            </a:r>
            <a:r>
              <a:rPr lang="en-US" sz="1200" dirty="0" err="1">
                <a:latin typeface="Courier New" pitchFamily="49" charset="0"/>
                <a:cs typeface="Courier New" pitchFamily="49" charset="0"/>
              </a:rPr>
              <a:t>IsControlFlow</a:t>
            </a:r>
            <a:r>
              <a:rPr lang="en-US" sz="1200" dirty="0">
                <a:latin typeface="Courier New" pitchFamily="49" charset="0"/>
                <a:cs typeface="Courier New" pitchFamily="49" charset="0"/>
              </a:rPr>
              <a:t>(inst)) {</a:t>
            </a:r>
          </a:p>
          <a:p>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EmitEndBB</a:t>
            </a:r>
            <a:r>
              <a:rPr lang="en-US" sz="1200" dirty="0">
                <a:latin typeface="Courier New" pitchFamily="49" charset="0"/>
                <a:cs typeface="Courier New" pitchFamily="49" charset="0"/>
              </a:rPr>
              <a:t>();</a:t>
            </a:r>
          </a:p>
          <a:p>
            <a:r>
              <a:rPr lang="en-US" sz="1200" dirty="0">
                <a:latin typeface="Courier New" pitchFamily="49" charset="0"/>
                <a:cs typeface="Courier New" pitchFamily="49" charset="0"/>
              </a:rPr>
              <a:t>         break;</a:t>
            </a:r>
          </a:p>
          <a:p>
            <a:r>
              <a:rPr lang="en-US" sz="1200" dirty="0">
                <a:latin typeface="Courier New" pitchFamily="49" charset="0"/>
                <a:cs typeface="Courier New" pitchFamily="49" charset="0"/>
              </a:rPr>
              <a:t>      } else {</a:t>
            </a:r>
          </a:p>
          <a:p>
            <a:r>
              <a:rPr lang="en-US" sz="1200" dirty="0">
                <a:latin typeface="Courier New" pitchFamily="49" charset="0"/>
                <a:cs typeface="Courier New" pitchFamily="49" charset="0"/>
              </a:rPr>
              <a:t>         /* </a:t>
            </a:r>
            <a:r>
              <a:rPr lang="en-US" sz="1200" dirty="0" err="1">
                <a:latin typeface="Courier New" pitchFamily="49" charset="0"/>
                <a:cs typeface="Courier New" pitchFamily="49" charset="0"/>
              </a:rPr>
              <a:t>ident</a:t>
            </a:r>
            <a:r>
              <a:rPr lang="en-US" sz="1200" dirty="0">
                <a:latin typeface="Courier New" pitchFamily="49" charset="0"/>
                <a:cs typeface="Courier New" pitchFamily="49" charset="0"/>
              </a:rPr>
              <a:t> translation */</a:t>
            </a:r>
          </a:p>
          <a:p>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EmitInst</a:t>
            </a:r>
            <a:r>
              <a:rPr lang="en-US" sz="1200" dirty="0">
                <a:latin typeface="Courier New" pitchFamily="49" charset="0"/>
                <a:cs typeface="Courier New" pitchFamily="49" charset="0"/>
              </a:rPr>
              <a:t>(inst);</a:t>
            </a:r>
          </a:p>
          <a:p>
            <a:r>
              <a:rPr lang="en-US" sz="1200" dirty="0">
                <a:latin typeface="Courier New" pitchFamily="49" charset="0"/>
                <a:cs typeface="Courier New" pitchFamily="49" charset="0"/>
              </a:rPr>
              <a:t>      }</a:t>
            </a:r>
          </a:p>
          <a:p>
            <a:r>
              <a:rPr lang="en-US" sz="1200" dirty="0">
                <a:latin typeface="Courier New" pitchFamily="49" charset="0"/>
                <a:cs typeface="Courier New" pitchFamily="49" charset="0"/>
              </a:rPr>
              <a:t>   }</a:t>
            </a:r>
          </a:p>
          <a:p>
            <a:endParaRPr lang="en-US" sz="1200" dirty="0">
              <a:latin typeface="Courier New" pitchFamily="49" charset="0"/>
              <a:cs typeface="Courier New" pitchFamily="49" charset="0"/>
            </a:endParaRPr>
          </a:p>
          <a:p>
            <a:r>
              <a:rPr lang="en-US" sz="1200" dirty="0">
                <a:latin typeface="Courier New" pitchFamily="49" charset="0"/>
                <a:cs typeface="Courier New" pitchFamily="49" charset="0"/>
              </a:rPr>
              <a:t>   return start;</a:t>
            </a:r>
          </a:p>
          <a:p>
            <a:r>
              <a:rPr lang="en-US" sz="1200" dirty="0">
                <a:latin typeface="Courier New" pitchFamily="49" charset="0"/>
                <a:cs typeface="Courier New" pitchFamily="49" charset="0"/>
              </a:rPr>
              <a:t>}</a:t>
            </a:r>
          </a:p>
          <a:p>
            <a:endParaRPr lang="en-US" sz="1200" dirty="0">
              <a:latin typeface="Courier New" pitchFamily="49" charset="0"/>
              <a:cs typeface="Courier New" pitchFamily="49" charset="0"/>
            </a:endParaRPr>
          </a:p>
          <a:p>
            <a:endParaRPr lang="en-US" sz="1200" dirty="0">
              <a:latin typeface="Courier New" pitchFamily="49" charset="0"/>
              <a:cs typeface="Courier New" pitchFamily="49" charset="0"/>
            </a:endParaRPr>
          </a:p>
          <a:p>
            <a:endParaRPr lang="en-US" sz="1200" dirty="0">
              <a:latin typeface="Courier New" pitchFamily="49" charset="0"/>
              <a:cs typeface="Courier New" pitchFamily="49" charset="0"/>
            </a:endParaRPr>
          </a:p>
        </p:txBody>
      </p:sp>
    </p:spTree>
    <p:extLst>
      <p:ext uri="{BB962C8B-B14F-4D97-AF65-F5344CB8AC3E}">
        <p14:creationId xmlns:p14="http://schemas.microsoft.com/office/powerpoint/2010/main" val="28567796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kumimoji="1" lang="zh-CN" altLang="en-US" dirty="0"/>
              <a:t>二进制翻译的翻译器（</a:t>
            </a:r>
            <a:r>
              <a:rPr kumimoji="1" lang="en-US" altLang="zh-CN" dirty="0"/>
              <a:t>Translator</a:t>
            </a:r>
            <a:r>
              <a:rPr kumimoji="1" lang="zh-CN" altLang="en-US" dirty="0"/>
              <a:t>）</a:t>
            </a:r>
            <a:r>
              <a:rPr kumimoji="1" lang="en-US" altLang="zh-CN" dirty="0"/>
              <a:t>-2</a:t>
            </a:r>
            <a:endParaRPr lang="en-US" dirty="0"/>
          </a:p>
        </p:txBody>
      </p:sp>
      <p:sp>
        <p:nvSpPr>
          <p:cNvPr id="5" name="TextBox 4"/>
          <p:cNvSpPr txBox="1"/>
          <p:nvPr/>
        </p:nvSpPr>
        <p:spPr>
          <a:xfrm>
            <a:off x="457200" y="1129308"/>
            <a:ext cx="7190432" cy="3816429"/>
          </a:xfrm>
          <a:prstGeom prst="rect">
            <a:avLst/>
          </a:prstGeom>
          <a:noFill/>
          <a:ln>
            <a:noFill/>
          </a:ln>
        </p:spPr>
        <p:txBody>
          <a:bodyPr wrap="square" lIns="152400" tIns="152400" rIns="152400" bIns="152400" numCol="2" rtlCol="0">
            <a:spAutoFit/>
          </a:bodyPr>
          <a:lstStyle/>
          <a:p>
            <a:r>
              <a:rPr lang="en-US" sz="1200" dirty="0">
                <a:latin typeface="Courier New" pitchFamily="49" charset="0"/>
                <a:cs typeface="Courier New" pitchFamily="49" charset="0"/>
              </a:rPr>
              <a:t>void </a:t>
            </a:r>
            <a:r>
              <a:rPr lang="en-US" sz="1200" b="1" dirty="0" err="1">
                <a:solidFill>
                  <a:srgbClr val="00935D"/>
                </a:solidFill>
                <a:latin typeface="Courier New" pitchFamily="49" charset="0"/>
                <a:cs typeface="Courier New" pitchFamily="49" charset="0"/>
              </a:rPr>
              <a:t>BT_CalloutSTI</a:t>
            </a:r>
            <a:r>
              <a:rPr lang="zh-CN" altLang="en-US" sz="1200" b="1" dirty="0">
                <a:solidFill>
                  <a:srgbClr val="00935D"/>
                </a:solidFill>
                <a:latin typeface="Courier New" pitchFamily="49" charset="0"/>
                <a:cs typeface="Courier New" pitchFamily="49" charset="0"/>
              </a:rPr>
              <a:t> </a:t>
            </a:r>
            <a:r>
              <a:rPr lang="en-US" sz="1200" dirty="0">
                <a:latin typeface="Courier New" pitchFamily="49" charset="0"/>
                <a:cs typeface="Courier New" pitchFamily="49" charset="0"/>
              </a:rPr>
              <a:t>(</a:t>
            </a:r>
            <a:r>
              <a:rPr lang="en-US" sz="1200" dirty="0" err="1">
                <a:latin typeface="Courier New" pitchFamily="49" charset="0"/>
                <a:cs typeface="Courier New" pitchFamily="49" charset="0"/>
              </a:rPr>
              <a:t>BTSavedRegs</a:t>
            </a:r>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regs</a:t>
            </a:r>
            <a:r>
              <a:rPr lang="en-US" sz="1200" dirty="0">
                <a:latin typeface="Courier New" pitchFamily="49" charset="0"/>
                <a:cs typeface="Courier New" pitchFamily="49" charset="0"/>
              </a:rPr>
              <a:t>)</a:t>
            </a:r>
          </a:p>
          <a:p>
            <a:r>
              <a:rPr lang="en-US" sz="1200" dirty="0">
                <a:latin typeface="Courier New" pitchFamily="49" charset="0"/>
                <a:cs typeface="Courier New" pitchFamily="49" charset="0"/>
              </a:rPr>
              <a:t>{</a:t>
            </a:r>
          </a:p>
          <a:p>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CPUState.PC</a:t>
            </a:r>
            <a:r>
              <a:rPr lang="en-US" sz="1200" dirty="0">
                <a:latin typeface="Courier New" pitchFamily="49" charset="0"/>
                <a:cs typeface="Courier New" pitchFamily="49" charset="0"/>
              </a:rPr>
              <a:t> = </a:t>
            </a:r>
            <a:r>
              <a:rPr lang="en-US" sz="1200" dirty="0" err="1">
                <a:latin typeface="Courier New" pitchFamily="49" charset="0"/>
                <a:cs typeface="Courier New" pitchFamily="49" charset="0"/>
              </a:rPr>
              <a:t>BTFindPC</a:t>
            </a:r>
            <a:r>
              <a:rPr lang="en-US" sz="1200" dirty="0">
                <a:latin typeface="Courier New" pitchFamily="49" charset="0"/>
                <a:cs typeface="Courier New" pitchFamily="49" charset="0"/>
              </a:rPr>
              <a:t>(</a:t>
            </a:r>
            <a:r>
              <a:rPr lang="en-US" sz="1200" dirty="0" err="1">
                <a:latin typeface="Courier New" pitchFamily="49" charset="0"/>
                <a:cs typeface="Courier New" pitchFamily="49" charset="0"/>
              </a:rPr>
              <a:t>regs.tcpc</a:t>
            </a:r>
            <a:r>
              <a:rPr lang="en-US" sz="1200" dirty="0">
                <a:latin typeface="Courier New" pitchFamily="49" charset="0"/>
                <a:cs typeface="Courier New" pitchFamily="49" charset="0"/>
              </a:rPr>
              <a:t>);</a:t>
            </a:r>
          </a:p>
          <a:p>
            <a:r>
              <a:rPr lang="en-US" sz="1200" dirty="0">
                <a:latin typeface="Courier New" pitchFamily="49" charset="0"/>
                <a:cs typeface="Courier New" pitchFamily="49" charset="0"/>
              </a:rPr>
              <a:t>   CPUState.GPR[] = regs.GPR[];</a:t>
            </a:r>
          </a:p>
          <a:p>
            <a:endParaRPr lang="en-US" sz="1200" dirty="0">
              <a:latin typeface="Courier New" pitchFamily="49" charset="0"/>
              <a:cs typeface="Courier New" pitchFamily="49" charset="0"/>
            </a:endParaRPr>
          </a:p>
          <a:p>
            <a:r>
              <a:rPr lang="en-US" sz="1200" dirty="0">
                <a:latin typeface="Courier New" pitchFamily="49" charset="0"/>
                <a:cs typeface="Courier New" pitchFamily="49" charset="0"/>
              </a:rPr>
              <a:t>   CPU_STI();</a:t>
            </a:r>
          </a:p>
          <a:p>
            <a:endParaRPr lang="en-US" sz="1200" dirty="0">
              <a:latin typeface="Courier New" pitchFamily="49" charset="0"/>
              <a:cs typeface="Courier New" pitchFamily="49" charset="0"/>
            </a:endParaRPr>
          </a:p>
          <a:p>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CPUState.PC</a:t>
            </a:r>
            <a:r>
              <a:rPr lang="en-US" sz="1200" dirty="0">
                <a:latin typeface="Courier New" pitchFamily="49" charset="0"/>
                <a:cs typeface="Courier New" pitchFamily="49" charset="0"/>
              </a:rPr>
              <a:t> += 4;</a:t>
            </a:r>
          </a:p>
          <a:p>
            <a:endParaRPr lang="en-US" sz="1200" dirty="0">
              <a:latin typeface="Courier New" pitchFamily="49" charset="0"/>
              <a:cs typeface="Courier New" pitchFamily="49" charset="0"/>
            </a:endParaRPr>
          </a:p>
          <a:p>
            <a:r>
              <a:rPr lang="en-US" sz="1200" dirty="0">
                <a:latin typeface="Courier New" pitchFamily="49" charset="0"/>
                <a:cs typeface="Courier New" pitchFamily="49" charset="0"/>
              </a:rPr>
              <a:t>   if (CPUState.IRQ</a:t>
            </a:r>
          </a:p>
          <a:p>
            <a:r>
              <a:rPr lang="en-US" sz="1200" dirty="0">
                <a:latin typeface="Courier New" pitchFamily="49" charset="0"/>
                <a:cs typeface="Courier New" pitchFamily="49" charset="0"/>
              </a:rPr>
              <a:t>         &amp;&amp; CPUState.IE) {</a:t>
            </a:r>
          </a:p>
          <a:p>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CPUVector</a:t>
            </a:r>
            <a:r>
              <a:rPr lang="en-US" sz="1200" dirty="0">
                <a:latin typeface="Courier New" pitchFamily="49" charset="0"/>
                <a:cs typeface="Courier New" pitchFamily="49" charset="0"/>
              </a:rPr>
              <a:t>();</a:t>
            </a:r>
          </a:p>
          <a:p>
            <a:r>
              <a:rPr lang="en-US" sz="1200" dirty="0">
                <a:latin typeface="Courier New" pitchFamily="49" charset="0"/>
                <a:cs typeface="Courier New" pitchFamily="49" charset="0"/>
              </a:rPr>
              <a:t>      </a:t>
            </a:r>
            <a:r>
              <a:rPr lang="en-US" sz="1200" dirty="0" err="1">
                <a:latin typeface="Courier New" pitchFamily="49" charset="0"/>
                <a:cs typeface="Courier New" pitchFamily="49" charset="0"/>
              </a:rPr>
              <a:t>BT_Continue</a:t>
            </a:r>
            <a:r>
              <a:rPr lang="en-US" sz="1200" dirty="0">
                <a:latin typeface="Courier New" pitchFamily="49" charset="0"/>
                <a:cs typeface="Courier New" pitchFamily="49" charset="0"/>
              </a:rPr>
              <a:t>();</a:t>
            </a:r>
          </a:p>
          <a:p>
            <a:r>
              <a:rPr lang="en-US" sz="1200" dirty="0">
                <a:latin typeface="Courier New" pitchFamily="49" charset="0"/>
                <a:cs typeface="Courier New" pitchFamily="49" charset="0"/>
              </a:rPr>
              <a:t>      /* NOT_REACHED */</a:t>
            </a:r>
          </a:p>
          <a:p>
            <a:r>
              <a:rPr lang="en-US" sz="1200" dirty="0">
                <a:latin typeface="Courier New" pitchFamily="49" charset="0"/>
                <a:cs typeface="Courier New" pitchFamily="49" charset="0"/>
              </a:rPr>
              <a:t>   }</a:t>
            </a:r>
          </a:p>
          <a:p>
            <a:endParaRPr lang="en-US" sz="1200" dirty="0">
              <a:latin typeface="Courier New" pitchFamily="49" charset="0"/>
              <a:cs typeface="Courier New" pitchFamily="49" charset="0"/>
            </a:endParaRPr>
          </a:p>
          <a:p>
            <a:r>
              <a:rPr lang="en-US" sz="1200" dirty="0">
                <a:latin typeface="Courier New" pitchFamily="49" charset="0"/>
                <a:cs typeface="Courier New" pitchFamily="49" charset="0"/>
              </a:rPr>
              <a:t>   return;</a:t>
            </a:r>
          </a:p>
          <a:p>
            <a:r>
              <a:rPr lang="en-US" sz="1200" dirty="0">
                <a:latin typeface="Courier New" pitchFamily="49" charset="0"/>
                <a:cs typeface="Courier New" pitchFamily="49" charset="0"/>
              </a:rPr>
              <a:t>}</a:t>
            </a:r>
          </a:p>
          <a:p>
            <a:endParaRPr lang="en-US" sz="1200" dirty="0">
              <a:latin typeface="Courier New" pitchFamily="49" charset="0"/>
              <a:cs typeface="Courier New" pitchFamily="49" charset="0"/>
            </a:endParaRPr>
          </a:p>
        </p:txBody>
      </p:sp>
    </p:spTree>
    <p:extLst>
      <p:ext uri="{BB962C8B-B14F-4D97-AF65-F5344CB8AC3E}">
        <p14:creationId xmlns:p14="http://schemas.microsoft.com/office/powerpoint/2010/main" val="25841568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FC6180-C3AB-614B-864B-E11145B00631}"/>
              </a:ext>
            </a:extLst>
          </p:cNvPr>
          <p:cNvSpPr>
            <a:spLocks noGrp="1"/>
          </p:cNvSpPr>
          <p:nvPr>
            <p:ph type="title"/>
          </p:nvPr>
        </p:nvSpPr>
        <p:spPr/>
        <p:txBody>
          <a:bodyPr/>
          <a:lstStyle/>
          <a:p>
            <a:r>
              <a:rPr kumimoji="1" lang="zh-CN" altLang="en-US" dirty="0"/>
              <a:t>二进制翻译的缺点</a:t>
            </a:r>
          </a:p>
        </p:txBody>
      </p:sp>
      <p:sp>
        <p:nvSpPr>
          <p:cNvPr id="3" name="内容占位符 2">
            <a:extLst>
              <a:ext uri="{FF2B5EF4-FFF2-40B4-BE49-F238E27FC236}">
                <a16:creationId xmlns:a16="http://schemas.microsoft.com/office/drawing/2014/main" id="{4AAF12F7-4FF1-D84E-B124-5E658956A1CC}"/>
              </a:ext>
            </a:extLst>
          </p:cNvPr>
          <p:cNvSpPr>
            <a:spLocks noGrp="1"/>
          </p:cNvSpPr>
          <p:nvPr>
            <p:ph idx="1"/>
          </p:nvPr>
        </p:nvSpPr>
        <p:spPr/>
        <p:txBody>
          <a:bodyPr/>
          <a:lstStyle/>
          <a:p>
            <a:r>
              <a:rPr kumimoji="1" lang="zh-CN" altLang="en-US" dirty="0"/>
              <a:t>不能处理自修改的代码</a:t>
            </a:r>
            <a:r>
              <a:rPr kumimoji="1" lang="en-US" altLang="zh-CN" dirty="0"/>
              <a:t>(Self-modifying</a:t>
            </a:r>
            <a:r>
              <a:rPr kumimoji="1" lang="zh-CN" altLang="en-US" dirty="0"/>
              <a:t> </a:t>
            </a:r>
            <a:r>
              <a:rPr kumimoji="1" lang="en-US" altLang="zh-CN" dirty="0"/>
              <a:t>Code)</a:t>
            </a:r>
          </a:p>
          <a:p>
            <a:r>
              <a:rPr kumimoji="1" lang="zh-CN" altLang="en-US" dirty="0"/>
              <a:t>中断插入粒度变大</a:t>
            </a:r>
            <a:endParaRPr kumimoji="1" lang="en-US" altLang="zh-CN" dirty="0"/>
          </a:p>
          <a:p>
            <a:pPr lvl="1"/>
            <a:r>
              <a:rPr kumimoji="1" lang="zh-CN" altLang="en-US" dirty="0"/>
              <a:t>模拟执行可以在任意指令位置插入虚拟中断</a:t>
            </a:r>
            <a:endParaRPr kumimoji="1" lang="en-US" altLang="zh-CN" dirty="0"/>
          </a:p>
          <a:p>
            <a:pPr lvl="1"/>
            <a:r>
              <a:rPr kumimoji="1" lang="zh-CN" altLang="en-US" dirty="0"/>
              <a:t>二进制翻译时只能在基本块边界插入虚拟中断（</a:t>
            </a:r>
            <a:r>
              <a:rPr kumimoji="1" lang="zh-CN" altLang="en-US" dirty="0">
                <a:solidFill>
                  <a:srgbClr val="BE384B"/>
                </a:solidFill>
              </a:rPr>
              <a:t>为什么？</a:t>
            </a:r>
            <a:r>
              <a:rPr kumimoji="1" lang="zh-CN" altLang="en-US" dirty="0"/>
              <a:t>）</a:t>
            </a:r>
            <a:endParaRPr kumimoji="1" lang="en-US" altLang="zh-CN" dirty="0"/>
          </a:p>
          <a:p>
            <a:pPr lvl="1"/>
            <a:endParaRPr kumimoji="1" lang="en-US" altLang="zh-CN" dirty="0"/>
          </a:p>
          <a:p>
            <a:pPr lvl="1"/>
            <a:endParaRPr kumimoji="1" lang="en-US" altLang="zh-CN" dirty="0"/>
          </a:p>
        </p:txBody>
      </p:sp>
      <p:sp>
        <p:nvSpPr>
          <p:cNvPr id="4" name="灯片编号占位符 3">
            <a:extLst>
              <a:ext uri="{FF2B5EF4-FFF2-40B4-BE49-F238E27FC236}">
                <a16:creationId xmlns:a16="http://schemas.microsoft.com/office/drawing/2014/main" id="{80D2CD24-AAE3-564D-B53C-A1F57D0BC4B6}"/>
              </a:ext>
            </a:extLst>
          </p:cNvPr>
          <p:cNvSpPr>
            <a:spLocks noGrp="1"/>
          </p:cNvSpPr>
          <p:nvPr>
            <p:ph type="sldNum" sz="quarter" idx="12"/>
          </p:nvPr>
        </p:nvSpPr>
        <p:spPr/>
        <p:txBody>
          <a:bodyPr/>
          <a:lstStyle/>
          <a:p>
            <a:fld id="{ADE361C3-C043-4A6E-BDCE-8DA1E7D90A3B}" type="slidenum">
              <a:rPr lang="zh-CN" altLang="en-US" smtClean="0"/>
              <a:t>45</a:t>
            </a:fld>
            <a:endParaRPr lang="zh-CN" altLang="en-US"/>
          </a:p>
        </p:txBody>
      </p:sp>
      <p:sp>
        <p:nvSpPr>
          <p:cNvPr id="5" name="页脚占位符 4">
            <a:extLst>
              <a:ext uri="{FF2B5EF4-FFF2-40B4-BE49-F238E27FC236}">
                <a16:creationId xmlns:a16="http://schemas.microsoft.com/office/drawing/2014/main" id="{8D530629-7728-9642-8CFB-993D492D812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8764571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A86C6B-8D3F-644C-8AB0-60394A8F03C9}"/>
              </a:ext>
            </a:extLst>
          </p:cNvPr>
          <p:cNvSpPr>
            <a:spLocks noGrp="1"/>
          </p:cNvSpPr>
          <p:nvPr>
            <p:ph type="title"/>
          </p:nvPr>
        </p:nvSpPr>
        <p:spPr/>
        <p:txBody>
          <a:bodyPr/>
          <a:lstStyle/>
          <a:p>
            <a:r>
              <a:rPr kumimoji="1" lang="zh-CN" altLang="en-US" dirty="0"/>
              <a:t>方法</a:t>
            </a:r>
            <a:r>
              <a:rPr kumimoji="1" lang="en-US" altLang="zh-CN" dirty="0"/>
              <a:t>3</a:t>
            </a:r>
            <a:r>
              <a:rPr kumimoji="1" lang="zh-CN" altLang="en-US" dirty="0"/>
              <a:t>：半虚拟化 </a:t>
            </a:r>
            <a:r>
              <a:rPr kumimoji="1" lang="en-US" altLang="zh-CN" dirty="0"/>
              <a:t>(Para-virtualization)</a:t>
            </a:r>
            <a:endParaRPr kumimoji="1" lang="zh-CN" altLang="en-US" dirty="0"/>
          </a:p>
        </p:txBody>
      </p:sp>
      <p:sp>
        <p:nvSpPr>
          <p:cNvPr id="3" name="内容占位符 2">
            <a:extLst>
              <a:ext uri="{FF2B5EF4-FFF2-40B4-BE49-F238E27FC236}">
                <a16:creationId xmlns:a16="http://schemas.microsoft.com/office/drawing/2014/main" id="{872E2F20-AAC6-CB41-9E14-5029E5516146}"/>
              </a:ext>
            </a:extLst>
          </p:cNvPr>
          <p:cNvSpPr>
            <a:spLocks noGrp="1"/>
          </p:cNvSpPr>
          <p:nvPr>
            <p:ph idx="1"/>
          </p:nvPr>
        </p:nvSpPr>
        <p:spPr/>
        <p:txBody>
          <a:bodyPr/>
          <a:lstStyle/>
          <a:p>
            <a:r>
              <a:rPr kumimoji="1" lang="zh-CN" altLang="en-US" dirty="0"/>
              <a:t>协同设计</a:t>
            </a:r>
            <a:endParaRPr kumimoji="1" lang="en-US" altLang="zh-CN" dirty="0"/>
          </a:p>
          <a:p>
            <a:pPr lvl="1"/>
            <a:r>
              <a:rPr kumimoji="1" lang="zh-CN" altLang="en-US" dirty="0"/>
              <a:t>让</a:t>
            </a:r>
            <a:r>
              <a:rPr kumimoji="1" lang="en-US" altLang="zh-CN" dirty="0"/>
              <a:t>VMM</a:t>
            </a:r>
            <a:r>
              <a:rPr kumimoji="1" lang="zh-CN" altLang="en-US" dirty="0"/>
              <a:t>提供接口给虚拟机，称为</a:t>
            </a:r>
            <a:r>
              <a:rPr kumimoji="1" lang="en-US" altLang="zh-CN" b="1" dirty="0" err="1">
                <a:highlight>
                  <a:srgbClr val="FFFF00"/>
                </a:highlight>
              </a:rPr>
              <a:t>Hypercall</a:t>
            </a:r>
            <a:endParaRPr kumimoji="1" lang="en-US" altLang="zh-CN" b="1" dirty="0">
              <a:highlight>
                <a:srgbClr val="FFFF00"/>
              </a:highlight>
            </a:endParaRPr>
          </a:p>
          <a:p>
            <a:pPr lvl="1"/>
            <a:r>
              <a:rPr kumimoji="1" lang="zh-CN" altLang="en-US" dirty="0"/>
              <a:t>修改操作系统源码，让其主动调用</a:t>
            </a:r>
            <a:r>
              <a:rPr kumimoji="1" lang="en-US" altLang="zh-CN" dirty="0"/>
              <a:t>VMM</a:t>
            </a:r>
            <a:r>
              <a:rPr kumimoji="1" lang="zh-CN" altLang="en-US" dirty="0"/>
              <a:t>接口</a:t>
            </a:r>
            <a:endParaRPr kumimoji="1" lang="en-US" altLang="zh-CN" dirty="0"/>
          </a:p>
          <a:p>
            <a:r>
              <a:rPr kumimoji="1" lang="en-US" altLang="zh-CN" dirty="0" err="1"/>
              <a:t>Hypercall</a:t>
            </a:r>
            <a:r>
              <a:rPr kumimoji="1" lang="zh-CN" altLang="en-US" dirty="0"/>
              <a:t>可以理解为</a:t>
            </a:r>
            <a:r>
              <a:rPr kumimoji="1" lang="en-US" altLang="zh-CN" dirty="0"/>
              <a:t>VMM</a:t>
            </a:r>
            <a:r>
              <a:rPr kumimoji="1" lang="zh-CN" altLang="en-US" dirty="0"/>
              <a:t>提供的系统调用</a:t>
            </a:r>
            <a:endParaRPr kumimoji="1" lang="en-US" altLang="zh-CN" dirty="0"/>
          </a:p>
          <a:p>
            <a:pPr lvl="1"/>
            <a:r>
              <a:rPr kumimoji="1" lang="zh-CN" altLang="en-US" dirty="0"/>
              <a:t>在</a:t>
            </a:r>
            <a:r>
              <a:rPr kumimoji="1" lang="en-US" altLang="zh-CN" dirty="0"/>
              <a:t>ARM</a:t>
            </a:r>
            <a:r>
              <a:rPr kumimoji="1" lang="zh-CN" altLang="en-US" dirty="0"/>
              <a:t>中是</a:t>
            </a:r>
            <a:r>
              <a:rPr kumimoji="1" lang="en-US" altLang="zh-CN" dirty="0"/>
              <a:t>HVC</a:t>
            </a:r>
            <a:r>
              <a:rPr kumimoji="1" lang="zh-CN" altLang="en-US" dirty="0"/>
              <a:t>指令</a:t>
            </a:r>
            <a:endParaRPr kumimoji="1" lang="en-US" altLang="zh-CN" dirty="0"/>
          </a:p>
          <a:p>
            <a:r>
              <a:rPr kumimoji="1" lang="zh-CN" altLang="en-US" dirty="0"/>
              <a:t>将所有不引起下陷的敏感指令替换成超级调用</a:t>
            </a:r>
            <a:endParaRPr kumimoji="1" lang="en-US" altLang="zh-CN" dirty="0"/>
          </a:p>
          <a:p>
            <a:r>
              <a:rPr kumimoji="1" lang="zh-CN" altLang="en-US" dirty="0">
                <a:solidFill>
                  <a:srgbClr val="BE384B"/>
                </a:solidFill>
              </a:rPr>
              <a:t>思考：这种方式有什么优缺点？</a:t>
            </a:r>
          </a:p>
        </p:txBody>
      </p:sp>
      <p:sp>
        <p:nvSpPr>
          <p:cNvPr id="4" name="灯片编号占位符 3">
            <a:extLst>
              <a:ext uri="{FF2B5EF4-FFF2-40B4-BE49-F238E27FC236}">
                <a16:creationId xmlns:a16="http://schemas.microsoft.com/office/drawing/2014/main" id="{EFD7E371-2364-A448-8474-63BEF5B60C34}"/>
              </a:ext>
            </a:extLst>
          </p:cNvPr>
          <p:cNvSpPr>
            <a:spLocks noGrp="1"/>
          </p:cNvSpPr>
          <p:nvPr>
            <p:ph type="sldNum" sz="quarter" idx="12"/>
          </p:nvPr>
        </p:nvSpPr>
        <p:spPr/>
        <p:txBody>
          <a:bodyPr/>
          <a:lstStyle/>
          <a:p>
            <a:fld id="{ADE361C3-C043-4A6E-BDCE-8DA1E7D90A3B}" type="slidenum">
              <a:rPr lang="zh-CN" altLang="en-US" smtClean="0"/>
              <a:t>46</a:t>
            </a:fld>
            <a:endParaRPr lang="zh-CN" altLang="en-US"/>
          </a:p>
        </p:txBody>
      </p:sp>
      <p:sp>
        <p:nvSpPr>
          <p:cNvPr id="5" name="页脚占位符 4">
            <a:extLst>
              <a:ext uri="{FF2B5EF4-FFF2-40B4-BE49-F238E27FC236}">
                <a16:creationId xmlns:a16="http://schemas.microsoft.com/office/drawing/2014/main" id="{D116D7A7-C662-E04F-950D-7F7221C908ED}"/>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9606025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EE16FD-52A5-0042-B9E9-74E77F538633}"/>
              </a:ext>
            </a:extLst>
          </p:cNvPr>
          <p:cNvSpPr>
            <a:spLocks noGrp="1"/>
          </p:cNvSpPr>
          <p:nvPr>
            <p:ph type="title"/>
          </p:nvPr>
        </p:nvSpPr>
        <p:spPr/>
        <p:txBody>
          <a:bodyPr/>
          <a:lstStyle/>
          <a:p>
            <a:r>
              <a:rPr kumimoji="1" lang="zh-CN" altLang="en-US" dirty="0"/>
              <a:t>半虚拟化方法的优缺点</a:t>
            </a:r>
          </a:p>
        </p:txBody>
      </p:sp>
      <p:sp>
        <p:nvSpPr>
          <p:cNvPr id="3" name="内容占位符 2">
            <a:extLst>
              <a:ext uri="{FF2B5EF4-FFF2-40B4-BE49-F238E27FC236}">
                <a16:creationId xmlns:a16="http://schemas.microsoft.com/office/drawing/2014/main" id="{F49A9BAF-CA4A-2D49-AA51-6D330FE54ED5}"/>
              </a:ext>
            </a:extLst>
          </p:cNvPr>
          <p:cNvSpPr>
            <a:spLocks noGrp="1"/>
          </p:cNvSpPr>
          <p:nvPr>
            <p:ph idx="1"/>
          </p:nvPr>
        </p:nvSpPr>
        <p:spPr/>
        <p:txBody>
          <a:bodyPr/>
          <a:lstStyle/>
          <a:p>
            <a:r>
              <a:rPr kumimoji="1" lang="zh-CN" altLang="en-US" dirty="0"/>
              <a:t>优点：</a:t>
            </a:r>
            <a:endParaRPr kumimoji="1" lang="en-US" altLang="zh-CN" dirty="0"/>
          </a:p>
          <a:p>
            <a:pPr lvl="1"/>
            <a:r>
              <a:rPr kumimoji="1" lang="zh-CN" altLang="en-US" dirty="0"/>
              <a:t>解决了敏感函数不下陷的问题</a:t>
            </a:r>
            <a:endParaRPr kumimoji="1" lang="en-US" altLang="zh-CN" dirty="0"/>
          </a:p>
          <a:p>
            <a:pPr lvl="1"/>
            <a:r>
              <a:rPr kumimoji="1" lang="zh-CN" altLang="en-US" dirty="0"/>
              <a:t>协同设计的思想可以提升某些场景下的系统性能</a:t>
            </a:r>
            <a:endParaRPr kumimoji="1" lang="en-US" altLang="zh-CN" dirty="0"/>
          </a:p>
          <a:p>
            <a:pPr lvl="2"/>
            <a:r>
              <a:rPr kumimoji="1" lang="en-US" altLang="zh-CN" dirty="0"/>
              <a:t>I/O</a:t>
            </a:r>
            <a:r>
              <a:rPr kumimoji="1" lang="zh-CN" altLang="en-US" dirty="0"/>
              <a:t>等场景</a:t>
            </a:r>
            <a:endParaRPr kumimoji="1" lang="en-US" altLang="zh-CN" dirty="0"/>
          </a:p>
          <a:p>
            <a:r>
              <a:rPr kumimoji="1" lang="zh-CN" altLang="en-US" dirty="0"/>
              <a:t>缺点：</a:t>
            </a:r>
            <a:endParaRPr kumimoji="1" lang="en-US" altLang="zh-CN" dirty="0"/>
          </a:p>
          <a:p>
            <a:pPr lvl="1"/>
            <a:r>
              <a:rPr kumimoji="1" lang="zh-CN" altLang="en-US" dirty="0"/>
              <a:t>需要修改操作系统代码，难以用于闭源系统</a:t>
            </a:r>
            <a:endParaRPr kumimoji="1" lang="en-US" altLang="zh-CN" dirty="0"/>
          </a:p>
          <a:p>
            <a:pPr lvl="1"/>
            <a:r>
              <a:rPr kumimoji="1" lang="zh-CN" altLang="en-US" dirty="0"/>
              <a:t>即使是开源系统，也难以同时在不同版本中实现</a:t>
            </a:r>
            <a:endParaRPr kumimoji="1" lang="en-US" altLang="zh-CN" dirty="0"/>
          </a:p>
        </p:txBody>
      </p:sp>
      <p:sp>
        <p:nvSpPr>
          <p:cNvPr id="4" name="灯片编号占位符 3">
            <a:extLst>
              <a:ext uri="{FF2B5EF4-FFF2-40B4-BE49-F238E27FC236}">
                <a16:creationId xmlns:a16="http://schemas.microsoft.com/office/drawing/2014/main" id="{80036167-1364-4E41-82DA-D006014F628F}"/>
              </a:ext>
            </a:extLst>
          </p:cNvPr>
          <p:cNvSpPr>
            <a:spLocks noGrp="1"/>
          </p:cNvSpPr>
          <p:nvPr>
            <p:ph type="sldNum" sz="quarter" idx="12"/>
          </p:nvPr>
        </p:nvSpPr>
        <p:spPr/>
        <p:txBody>
          <a:bodyPr/>
          <a:lstStyle/>
          <a:p>
            <a:fld id="{ADE361C3-C043-4A6E-BDCE-8DA1E7D90A3B}" type="slidenum">
              <a:rPr lang="zh-CN" altLang="en-US" smtClean="0"/>
              <a:t>47</a:t>
            </a:fld>
            <a:endParaRPr lang="zh-CN" altLang="en-US"/>
          </a:p>
        </p:txBody>
      </p:sp>
      <p:sp>
        <p:nvSpPr>
          <p:cNvPr id="5" name="页脚占位符 4">
            <a:extLst>
              <a:ext uri="{FF2B5EF4-FFF2-40B4-BE49-F238E27FC236}">
                <a16:creationId xmlns:a16="http://schemas.microsoft.com/office/drawing/2014/main" id="{5CCF78AD-4355-BD41-8448-E56C58DCC2DC}"/>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1927383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90C03A-3281-F64F-A4BE-F7D4F880E949}"/>
              </a:ext>
            </a:extLst>
          </p:cNvPr>
          <p:cNvSpPr>
            <a:spLocks noGrp="1"/>
          </p:cNvSpPr>
          <p:nvPr>
            <p:ph type="title"/>
          </p:nvPr>
        </p:nvSpPr>
        <p:spPr/>
        <p:txBody>
          <a:bodyPr/>
          <a:lstStyle/>
          <a:p>
            <a:r>
              <a:rPr kumimoji="1" lang="zh-CN" altLang="en-US" dirty="0"/>
              <a:t>方法</a:t>
            </a:r>
            <a:r>
              <a:rPr kumimoji="1" lang="en-US" altLang="zh-CN" dirty="0"/>
              <a:t>4</a:t>
            </a:r>
            <a:r>
              <a:rPr kumimoji="1" lang="zh-CN" altLang="en-US" dirty="0"/>
              <a:t>：硬件虚拟化</a:t>
            </a:r>
          </a:p>
        </p:txBody>
      </p:sp>
      <p:sp>
        <p:nvSpPr>
          <p:cNvPr id="3" name="内容占位符 2">
            <a:extLst>
              <a:ext uri="{FF2B5EF4-FFF2-40B4-BE49-F238E27FC236}">
                <a16:creationId xmlns:a16="http://schemas.microsoft.com/office/drawing/2014/main" id="{76B45377-6977-8448-9E29-271C513B0A2C}"/>
              </a:ext>
            </a:extLst>
          </p:cNvPr>
          <p:cNvSpPr>
            <a:spLocks noGrp="1"/>
          </p:cNvSpPr>
          <p:nvPr>
            <p:ph idx="1"/>
          </p:nvPr>
        </p:nvSpPr>
        <p:spPr/>
        <p:txBody>
          <a:bodyPr>
            <a:normAutofit fontScale="85000" lnSpcReduction="10000"/>
          </a:bodyPr>
          <a:lstStyle/>
          <a:p>
            <a:r>
              <a:rPr kumimoji="1" lang="en-US" altLang="zh-CN" dirty="0"/>
              <a:t>x86</a:t>
            </a:r>
            <a:r>
              <a:rPr kumimoji="1" lang="zh-CN" altLang="en-US" dirty="0"/>
              <a:t>和</a:t>
            </a:r>
            <a:r>
              <a:rPr kumimoji="1" lang="en-US" altLang="zh-CN" dirty="0"/>
              <a:t>ARM</a:t>
            </a:r>
            <a:r>
              <a:rPr kumimoji="1" lang="zh-CN" altLang="en-US" dirty="0"/>
              <a:t>都引入了全新的虚拟化特权级</a:t>
            </a:r>
            <a:endParaRPr kumimoji="1" lang="en-US" altLang="zh-CN" dirty="0"/>
          </a:p>
          <a:p>
            <a:r>
              <a:rPr kumimoji="1" lang="en-US" altLang="zh-CN" dirty="0"/>
              <a:t>x86</a:t>
            </a:r>
            <a:r>
              <a:rPr kumimoji="1" lang="zh-CN" altLang="en-US" dirty="0"/>
              <a:t>引入了</a:t>
            </a:r>
            <a:r>
              <a:rPr kumimoji="1" lang="en-US" altLang="zh-CN" dirty="0"/>
              <a:t>root</a:t>
            </a:r>
            <a:r>
              <a:rPr kumimoji="1" lang="zh-CN" altLang="en-US" dirty="0"/>
              <a:t>模式和</a:t>
            </a:r>
            <a:r>
              <a:rPr kumimoji="1" lang="en-US" altLang="zh-CN" dirty="0"/>
              <a:t>non-root</a:t>
            </a:r>
            <a:r>
              <a:rPr kumimoji="1" lang="zh-CN" altLang="en-US" dirty="0"/>
              <a:t>模式</a:t>
            </a:r>
            <a:endParaRPr kumimoji="1" lang="en-US" altLang="zh-CN" dirty="0"/>
          </a:p>
          <a:p>
            <a:pPr lvl="1"/>
            <a:r>
              <a:rPr kumimoji="1" lang="en-US" altLang="zh-CN" dirty="0"/>
              <a:t>Intel</a:t>
            </a:r>
            <a:r>
              <a:rPr kumimoji="1" lang="zh-CN" altLang="en-US" dirty="0"/>
              <a:t>推出了</a:t>
            </a:r>
            <a:r>
              <a:rPr kumimoji="1" lang="en-US" altLang="zh-CN" dirty="0"/>
              <a:t>VT-x</a:t>
            </a:r>
            <a:r>
              <a:rPr kumimoji="1" lang="zh-CN" altLang="en-US" dirty="0"/>
              <a:t>硬件虚拟化扩展</a:t>
            </a:r>
            <a:endParaRPr kumimoji="1" lang="en-US" altLang="zh-CN" dirty="0"/>
          </a:p>
          <a:p>
            <a:pPr lvl="1"/>
            <a:r>
              <a:rPr kumimoji="1" lang="en-US" altLang="zh-CN" dirty="0"/>
              <a:t>Root</a:t>
            </a:r>
            <a:r>
              <a:rPr kumimoji="1" lang="zh-CN" altLang="en-US" dirty="0"/>
              <a:t>模式是最高特权级别，控制物理资源</a:t>
            </a:r>
            <a:endParaRPr kumimoji="1" lang="en-US" altLang="zh-CN" dirty="0"/>
          </a:p>
          <a:p>
            <a:pPr lvl="1"/>
            <a:r>
              <a:rPr kumimoji="1" lang="en-US" altLang="zh-CN" dirty="0"/>
              <a:t>VMM</a:t>
            </a:r>
            <a:r>
              <a:rPr kumimoji="1" lang="zh-CN" altLang="en-US" dirty="0"/>
              <a:t>运行在</a:t>
            </a:r>
            <a:r>
              <a:rPr kumimoji="1" lang="en-US" altLang="zh-CN" dirty="0"/>
              <a:t>root</a:t>
            </a:r>
            <a:r>
              <a:rPr kumimoji="1" lang="zh-CN" altLang="en-US" dirty="0"/>
              <a:t>模式，虚拟机运行在</a:t>
            </a:r>
            <a:r>
              <a:rPr kumimoji="1" lang="en-US" altLang="zh-CN" dirty="0"/>
              <a:t>non-root</a:t>
            </a:r>
            <a:r>
              <a:rPr kumimoji="1" lang="zh-CN" altLang="en-US" dirty="0"/>
              <a:t>模式</a:t>
            </a:r>
            <a:endParaRPr kumimoji="1" lang="en-US" altLang="zh-CN" dirty="0"/>
          </a:p>
          <a:p>
            <a:pPr lvl="1"/>
            <a:r>
              <a:rPr kumimoji="1" lang="zh-CN" altLang="en-US" dirty="0"/>
              <a:t>两个模式内都有</a:t>
            </a:r>
            <a:r>
              <a:rPr kumimoji="1" lang="en-US" altLang="zh-CN" dirty="0"/>
              <a:t>4</a:t>
            </a:r>
            <a:r>
              <a:rPr kumimoji="1" lang="zh-CN" altLang="en-US" dirty="0"/>
              <a:t>个特权级别：</a:t>
            </a:r>
            <a:r>
              <a:rPr kumimoji="1" lang="en-US" altLang="zh-CN" dirty="0"/>
              <a:t>Ring0~Ring3</a:t>
            </a:r>
          </a:p>
          <a:p>
            <a:r>
              <a:rPr kumimoji="1" lang="en-US" altLang="zh-CN" dirty="0"/>
              <a:t>ARM</a:t>
            </a:r>
            <a:r>
              <a:rPr kumimoji="1" lang="zh-CN" altLang="en-US" dirty="0"/>
              <a:t>引入了</a:t>
            </a:r>
            <a:r>
              <a:rPr kumimoji="1" lang="en-US" altLang="zh-CN" dirty="0"/>
              <a:t>EL2</a:t>
            </a:r>
          </a:p>
          <a:p>
            <a:pPr lvl="1"/>
            <a:r>
              <a:rPr kumimoji="1" lang="en-US" altLang="zh-CN" dirty="0"/>
              <a:t>VMM</a:t>
            </a:r>
            <a:r>
              <a:rPr kumimoji="1" lang="zh-CN" altLang="en-US" dirty="0"/>
              <a:t>运行在</a:t>
            </a:r>
            <a:r>
              <a:rPr kumimoji="1" lang="en-US" altLang="zh-CN" dirty="0"/>
              <a:t>EL2</a:t>
            </a:r>
          </a:p>
          <a:p>
            <a:pPr lvl="1"/>
            <a:r>
              <a:rPr kumimoji="1" lang="en-US" altLang="zh-CN" dirty="0"/>
              <a:t>EL2</a:t>
            </a:r>
            <a:r>
              <a:rPr kumimoji="1" lang="zh-CN" altLang="en-US" dirty="0"/>
              <a:t>是最高特权级别，控制物理资源</a:t>
            </a:r>
            <a:endParaRPr kumimoji="1" lang="en-US" altLang="zh-CN" dirty="0"/>
          </a:p>
          <a:p>
            <a:pPr lvl="1"/>
            <a:r>
              <a:rPr kumimoji="1" lang="en-US" altLang="zh-CN" dirty="0"/>
              <a:t>VMM</a:t>
            </a:r>
            <a:r>
              <a:rPr kumimoji="1" lang="zh-CN" altLang="en-US" dirty="0"/>
              <a:t>的操作系统和应用程序分别运行在</a:t>
            </a:r>
            <a:r>
              <a:rPr kumimoji="1" lang="en-US" altLang="zh-CN" dirty="0"/>
              <a:t>EL1</a:t>
            </a:r>
            <a:r>
              <a:rPr kumimoji="1" lang="zh-CN" altLang="en-US" dirty="0"/>
              <a:t>和</a:t>
            </a:r>
            <a:r>
              <a:rPr kumimoji="1" lang="en-US" altLang="zh-CN" dirty="0"/>
              <a:t>EL0</a:t>
            </a:r>
          </a:p>
          <a:p>
            <a:pPr marL="0" indent="0">
              <a:buNone/>
            </a:pPr>
            <a:endParaRPr kumimoji="1" lang="en-US" altLang="zh-CN" dirty="0"/>
          </a:p>
        </p:txBody>
      </p:sp>
      <p:sp>
        <p:nvSpPr>
          <p:cNvPr id="4" name="灯片编号占位符 3">
            <a:extLst>
              <a:ext uri="{FF2B5EF4-FFF2-40B4-BE49-F238E27FC236}">
                <a16:creationId xmlns:a16="http://schemas.microsoft.com/office/drawing/2014/main" id="{7EF605BB-633A-5949-83AD-0B94688DC5BD}"/>
              </a:ext>
            </a:extLst>
          </p:cNvPr>
          <p:cNvSpPr>
            <a:spLocks noGrp="1"/>
          </p:cNvSpPr>
          <p:nvPr>
            <p:ph type="sldNum" sz="quarter" idx="12"/>
          </p:nvPr>
        </p:nvSpPr>
        <p:spPr/>
        <p:txBody>
          <a:bodyPr/>
          <a:lstStyle/>
          <a:p>
            <a:fld id="{ADE361C3-C043-4A6E-BDCE-8DA1E7D90A3B}" type="slidenum">
              <a:rPr lang="zh-CN" altLang="en-US" smtClean="0"/>
              <a:t>48</a:t>
            </a:fld>
            <a:endParaRPr lang="zh-CN" altLang="en-US"/>
          </a:p>
        </p:txBody>
      </p:sp>
      <p:sp>
        <p:nvSpPr>
          <p:cNvPr id="5" name="页脚占位符 4">
            <a:extLst>
              <a:ext uri="{FF2B5EF4-FFF2-40B4-BE49-F238E27FC236}">
                <a16:creationId xmlns:a16="http://schemas.microsoft.com/office/drawing/2014/main" id="{17EDC75F-41CC-BE49-888F-695636979711}"/>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215403461"/>
      </p:ext>
    </p:extLst>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778495"/>
      </a:dk2>
      <a:lt2>
        <a:srgbClr val="F0F0F0"/>
      </a:lt2>
      <a:accent1>
        <a:srgbClr val="BE384B"/>
      </a:accent1>
      <a:accent2>
        <a:srgbClr val="6A868F"/>
      </a:accent2>
      <a:accent3>
        <a:srgbClr val="32788E"/>
      </a:accent3>
      <a:accent4>
        <a:srgbClr val="D6C88B"/>
      </a:accent4>
      <a:accent5>
        <a:srgbClr val="D66E49"/>
      </a:accent5>
      <a:accent6>
        <a:srgbClr val="BFBFBF"/>
      </a:accent6>
      <a:hlink>
        <a:srgbClr val="BE384B"/>
      </a:hlink>
      <a:folHlink>
        <a:srgbClr val="BFBFBF"/>
      </a:folHlink>
    </a:clrScheme>
    <a:fontScheme name="2obzv3wc">
      <a:majorFont>
        <a:latin typeface="Arial" panose="020B0A04020102020204"/>
        <a:ea typeface="微软雅黑"/>
        <a:cs typeface=""/>
      </a:majorFont>
      <a:minorFont>
        <a:latin typeface="Arial" panose="020B0604020202020204"/>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JTU-Red" id="{D8CCD1CF-4E9C-2949-907F-EF4853CAD992}" vid="{47F94616-763E-7D43-9BB0-722503DC19A3}"/>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SJTU-Red</Template>
  <TotalTime>48557</TotalTime>
  <Words>3900</Words>
  <Application>Microsoft Macintosh PowerPoint</Application>
  <PresentationFormat>全屏显示(16:10)</PresentationFormat>
  <Paragraphs>780</Paragraphs>
  <Slides>48</Slides>
  <Notes>5</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48</vt:i4>
      </vt:variant>
    </vt:vector>
  </HeadingPairs>
  <TitlesOfParts>
    <vt:vector size="58" baseType="lpstr">
      <vt:lpstr>DengXian</vt:lpstr>
      <vt:lpstr>微软雅黑</vt:lpstr>
      <vt:lpstr>Arial</vt:lpstr>
      <vt:lpstr>Arial Black</vt:lpstr>
      <vt:lpstr>Arial Narrow</vt:lpstr>
      <vt:lpstr>Calibri</vt:lpstr>
      <vt:lpstr>Courier New</vt:lpstr>
      <vt:lpstr>Myriad Pro Light</vt:lpstr>
      <vt:lpstr>Wingdings</vt:lpstr>
      <vt:lpstr>Office 主题​​</vt:lpstr>
      <vt:lpstr>系统虚拟化</vt:lpstr>
      <vt:lpstr>版权声明</vt:lpstr>
      <vt:lpstr>计算设备集中与分散的变化</vt:lpstr>
      <vt:lpstr>现代公司的IT部署方式：云</vt:lpstr>
      <vt:lpstr>云计算为云租户带来的优势</vt:lpstr>
      <vt:lpstr>系统虚拟化是云计算的核心支撑技术</vt:lpstr>
      <vt:lpstr>虚拟化带来的优势</vt:lpstr>
      <vt:lpstr>虚拟化优势-1：服务器整合</vt:lpstr>
      <vt:lpstr>虚拟化优势-2：方便程序开发</vt:lpstr>
      <vt:lpstr>虚拟化优势-3：简化服务器管理</vt:lpstr>
      <vt:lpstr>什么是系统虚拟化?</vt:lpstr>
      <vt:lpstr>操作系统中的接口层次: ISA</vt:lpstr>
      <vt:lpstr>操作系统中的接口层次: ABI</vt:lpstr>
      <vt:lpstr>操作系统中的接口层次: API</vt:lpstr>
      <vt:lpstr>思考：这些程序用了哪层接口？</vt:lpstr>
      <vt:lpstr>如何定义虚拟机?</vt:lpstr>
      <vt:lpstr>虚拟机和虚拟机监控器</vt:lpstr>
      <vt:lpstr>系统虚拟化的标准</vt:lpstr>
      <vt:lpstr>虚拟机监控器的分类</vt:lpstr>
      <vt:lpstr>Type-1虚拟机监控器</vt:lpstr>
      <vt:lpstr>Type-2虚拟机监控器（基于Host OS）</vt:lpstr>
      <vt:lpstr>Type-2的优势</vt:lpstr>
      <vt:lpstr>如何实现系统虚拟化?</vt:lpstr>
      <vt:lpstr>系统ISA：操作系统运行环境</vt:lpstr>
      <vt:lpstr>系统虚拟化的流程：Trap &amp; Emulate</vt:lpstr>
      <vt:lpstr>系统虚拟化技术</vt:lpstr>
      <vt:lpstr>处理器虚拟化</vt:lpstr>
      <vt:lpstr>回顾：ARM的特权级</vt:lpstr>
      <vt:lpstr>处理器虚拟化：一种直接的实现方法</vt:lpstr>
      <vt:lpstr>Trap &amp; Emulate</vt:lpstr>
      <vt:lpstr>ARM不是严格的可虚拟化架构</vt:lpstr>
      <vt:lpstr>ARM不是严格的可虚拟化架构</vt:lpstr>
      <vt:lpstr>如何处理这些不会下陷的敏感指令？</vt:lpstr>
      <vt:lpstr>方法1：解释执行</vt:lpstr>
      <vt:lpstr>方法1：解释执行</vt:lpstr>
      <vt:lpstr>例子：使用解释执行来模拟中断的设置</vt:lpstr>
      <vt:lpstr>解释执行的优缺点</vt:lpstr>
      <vt:lpstr>方法2：二进制翻译</vt:lpstr>
      <vt:lpstr>二进制翻译</vt:lpstr>
      <vt:lpstr>二进制翻译的 Basic Blocks</vt:lpstr>
      <vt:lpstr>二进制翻译举例</vt:lpstr>
      <vt:lpstr>二进制翻译举例</vt:lpstr>
      <vt:lpstr>二进制翻译的翻译器（Translator）-1</vt:lpstr>
      <vt:lpstr>二进制翻译的翻译器（Translator）-2</vt:lpstr>
      <vt:lpstr>二进制翻译的缺点</vt:lpstr>
      <vt:lpstr>方法3：半虚拟化 (Para-virtualization)</vt:lpstr>
      <vt:lpstr>半虚拟化方法的优缺点</vt:lpstr>
      <vt:lpstr>方法4：硬件虚拟化</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虚拟机隔离与安全</dc:title>
  <dc:creator>Xia Yubin</dc:creator>
  <cp:lastModifiedBy>Yubin Xia</cp:lastModifiedBy>
  <cp:revision>5095</cp:revision>
  <cp:lastPrinted>2016-06-13T07:55:34Z</cp:lastPrinted>
  <dcterms:created xsi:type="dcterms:W3CDTF">2017-11-24T09:35:45Z</dcterms:created>
  <dcterms:modified xsi:type="dcterms:W3CDTF">2022-04-26T01:57:53Z</dcterms:modified>
</cp:coreProperties>
</file>