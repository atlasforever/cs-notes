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1306" r:id="rId2"/>
    <p:sldId id="1359" r:id="rId3"/>
    <p:sldId id="2675" r:id="rId4"/>
    <p:sldId id="2722" r:id="rId5"/>
    <p:sldId id="2724" r:id="rId6"/>
    <p:sldId id="2723" r:id="rId7"/>
    <p:sldId id="2771" r:id="rId8"/>
    <p:sldId id="2727" r:id="rId9"/>
    <p:sldId id="2735" r:id="rId10"/>
    <p:sldId id="2762" r:id="rId11"/>
    <p:sldId id="2765" r:id="rId12"/>
    <p:sldId id="2746" r:id="rId13"/>
    <p:sldId id="2747" r:id="rId14"/>
    <p:sldId id="2748" r:id="rId15"/>
    <p:sldId id="2745" r:id="rId16"/>
    <p:sldId id="2766" r:id="rId17"/>
    <p:sldId id="2736" r:id="rId18"/>
    <p:sldId id="2737" r:id="rId19"/>
    <p:sldId id="2738" r:id="rId20"/>
    <p:sldId id="2739" r:id="rId21"/>
    <p:sldId id="2767" r:id="rId22"/>
    <p:sldId id="2740" r:id="rId23"/>
    <p:sldId id="2741" r:id="rId24"/>
    <p:sldId id="2742" r:id="rId25"/>
    <p:sldId id="2743" r:id="rId26"/>
    <p:sldId id="2749" r:id="rId27"/>
    <p:sldId id="2769" r:id="rId28"/>
    <p:sldId id="2760" r:id="rId29"/>
    <p:sldId id="2764" r:id="rId30"/>
    <p:sldId id="2772" r:id="rId31"/>
    <p:sldId id="2763" r:id="rId32"/>
    <p:sldId id="2754" r:id="rId33"/>
    <p:sldId id="2756" r:id="rId34"/>
    <p:sldId id="2757" r:id="rId35"/>
    <p:sldId id="2759" r:id="rId36"/>
    <p:sldId id="2758" r:id="rId37"/>
    <p:sldId id="2751" r:id="rId38"/>
    <p:sldId id="2761" r:id="rId3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BE384B"/>
    <a:srgbClr val="FFFF99"/>
    <a:srgbClr val="515151"/>
    <a:srgbClr val="941100"/>
    <a:srgbClr val="FF2F92"/>
    <a:srgbClr val="0432FF"/>
    <a:srgbClr val="FF9300"/>
    <a:srgbClr val="00FB92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 autoAdjust="0"/>
    <p:restoredTop sz="85744" autoAdjust="0"/>
  </p:normalViewPr>
  <p:slideViewPr>
    <p:cSldViewPr>
      <p:cViewPr varScale="1">
        <p:scale>
          <a:sx n="124" d="100"/>
          <a:sy n="124" d="100"/>
        </p:scale>
        <p:origin x="176" y="264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2022/4/28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721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190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 for interrupt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，进入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lowpower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340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291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系统虚拟化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SE3357-1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·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操作系统（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2022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7">
            <a:extLst>
              <a:ext uri="{FF2B5EF4-FFF2-40B4-BE49-F238E27FC236}">
                <a16:creationId xmlns:a16="http://schemas.microsoft.com/office/drawing/2014/main" id="{8805C6AF-919A-B04D-AA63-87FDD86B5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90" y="2764989"/>
            <a:ext cx="1559719" cy="72099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latin typeface="Arial Narrow" panose="020B0606020202030204" pitchFamily="34" charset="0"/>
              </a:rPr>
              <a:t>操作系统</a:t>
            </a:r>
            <a:r>
              <a:rPr lang="en-US" altLang="zh-CN" sz="1100" dirty="0">
                <a:latin typeface="Arial Narrow" panose="020B0606020202030204" pitchFamily="34" charset="0"/>
              </a:rPr>
              <a:t>B</a:t>
            </a:r>
            <a:endParaRPr lang="en-US" altLang="ko-KR" sz="1100" dirty="0">
              <a:latin typeface="Arial Narrow" panose="020B0606020202030204" pitchFamily="34" charset="0"/>
            </a:endParaRPr>
          </a:p>
          <a:p>
            <a:endParaRPr lang="en-US" altLang="ko-KR" sz="1100" dirty="0">
              <a:latin typeface="Arial Narrow" panose="020B0606020202030204" pitchFamily="34" charset="0"/>
            </a:endParaRPr>
          </a:p>
          <a:p>
            <a:endParaRPr lang="en-US" altLang="ko-KR" sz="1100" dirty="0">
              <a:latin typeface="Arial Narrow" panose="020B0606020202030204" pitchFamily="34" charset="0"/>
            </a:endParaRPr>
          </a:p>
          <a:p>
            <a:endParaRPr lang="en-US" altLang="ko-KR" sz="1100" dirty="0">
              <a:latin typeface="Arial Narrow" panose="020B0606020202030204" pitchFamily="34" charset="0"/>
            </a:endParaRPr>
          </a:p>
        </p:txBody>
      </p:sp>
      <p:sp>
        <p:nvSpPr>
          <p:cNvPr id="18" name="Rectangle 37">
            <a:extLst>
              <a:ext uri="{FF2B5EF4-FFF2-40B4-BE49-F238E27FC236}">
                <a16:creationId xmlns:a16="http://schemas.microsoft.com/office/drawing/2014/main" id="{31BB4139-D36B-7247-BD02-F723537B9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592" y="2766636"/>
            <a:ext cx="1559719" cy="72099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latin typeface="Arial Narrow" panose="020B0606020202030204" pitchFamily="34" charset="0"/>
              </a:rPr>
              <a:t>操作系统</a:t>
            </a:r>
            <a:r>
              <a:rPr lang="en-US" altLang="zh-CN" sz="1100" dirty="0">
                <a:latin typeface="Arial Narrow" panose="020B0606020202030204" pitchFamily="34" charset="0"/>
              </a:rPr>
              <a:t>A</a:t>
            </a:r>
            <a:endParaRPr lang="en-US" altLang="ko-KR" sz="1100" dirty="0">
              <a:latin typeface="Arial Narrow" panose="020B0606020202030204" pitchFamily="34" charset="0"/>
            </a:endParaRPr>
          </a:p>
          <a:p>
            <a:endParaRPr lang="en-US" altLang="ko-KR" sz="1100" dirty="0">
              <a:latin typeface="Arial Narrow" panose="020B0606020202030204" pitchFamily="34" charset="0"/>
            </a:endParaRPr>
          </a:p>
          <a:p>
            <a:endParaRPr lang="en-US" altLang="ko-KR" sz="1100" dirty="0">
              <a:latin typeface="Arial Narrow" panose="020B0606020202030204" pitchFamily="34" charset="0"/>
            </a:endParaRPr>
          </a:p>
          <a:p>
            <a:endParaRPr lang="en-US" altLang="ko-KR" sz="1100" dirty="0">
              <a:latin typeface="Arial Narrow" panose="020B060602020203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72D60B6-BD2F-4049-A066-906B607F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系统</a:t>
            </a:r>
            <a:r>
              <a:rPr kumimoji="1" lang="en-US" altLang="zh-CN" dirty="0"/>
              <a:t>ISA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881D5F-6F4B-C84C-A7A3-C47BE342E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读写敏感寄存器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sctrl_el1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ttbr0_el1/ttbr1_el1…</a:t>
            </a:r>
          </a:p>
          <a:p>
            <a:r>
              <a:rPr kumimoji="1" lang="zh-CN" altLang="en-US" dirty="0"/>
              <a:t>控制处理器行为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WFI(</a:t>
            </a:r>
            <a:r>
              <a:rPr kumimoji="1" lang="zh-CN" altLang="en-US" dirty="0"/>
              <a:t>陷入低功耗状态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控制虚拟</a:t>
            </a:r>
            <a:r>
              <a:rPr kumimoji="1" lang="en-US" altLang="zh-CN" dirty="0"/>
              <a:t>/</a:t>
            </a:r>
            <a:r>
              <a:rPr kumimoji="1" lang="zh-CN" altLang="en-US" dirty="0"/>
              <a:t>物理内存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打开、配置、安装页表</a:t>
            </a:r>
            <a:endParaRPr kumimoji="1" lang="en-US" altLang="zh-CN" dirty="0"/>
          </a:p>
          <a:p>
            <a:r>
              <a:rPr kumimoji="1" lang="zh-CN" altLang="en-US" dirty="0"/>
              <a:t>控制外设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DMA</a:t>
            </a:r>
            <a:r>
              <a:rPr kumimoji="1" lang="zh-CN" altLang="en-US" dirty="0"/>
              <a:t>、中断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0FF17-1B30-5C46-B2D6-DE95C34E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078D78-9422-3C49-9254-BABF778B2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925165-05F5-1745-B21B-EB0B396FC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3623" y="3496054"/>
            <a:ext cx="3950205" cy="602035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10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3D3FCB2-EB52-C647-AD89-D02C13A7B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270" y="3493833"/>
            <a:ext cx="3942930" cy="137934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4F9F88A-2171-A94B-AC5C-8DCB84731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270" y="4093980"/>
            <a:ext cx="1199885" cy="77919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1100">
              <a:latin typeface="Arial Narrow" panose="020B060602020203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98E892B-C141-A848-81BF-B69A3B083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6071" y="4092657"/>
            <a:ext cx="2572632" cy="780521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29D9CC8-2295-0342-9B62-649F6CDAD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301" y="4092657"/>
            <a:ext cx="541073" cy="78052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F1491F48-A75F-504B-B831-E92E06145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5770" y="4873178"/>
            <a:ext cx="6006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9DC15AE-9F52-094A-BA70-A95FBDA73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085" y="4361573"/>
            <a:ext cx="1079500" cy="3003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00" dirty="0">
                <a:solidFill>
                  <a:schemeClr val="bg1"/>
                </a:solidFill>
                <a:latin typeface="Arial Narrow" panose="020B0606020202030204" pitchFamily="34" charset="0"/>
              </a:rPr>
              <a:t>Machine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551204-C201-8B47-831F-BCC543942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478" y="3240705"/>
            <a:ext cx="719667" cy="240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latin typeface="Arial Narrow" panose="020B0606020202030204" pitchFamily="34" charset="0"/>
              </a:rPr>
              <a:t>用户</a:t>
            </a:r>
            <a:r>
              <a:rPr lang="en-US" altLang="ko-KR" sz="1100" dirty="0">
                <a:latin typeface="Arial Narrow" panose="020B0606020202030204" pitchFamily="34" charset="0"/>
              </a:rPr>
              <a:t> ISA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88F10877-B62E-774D-BB09-4B9C402DD7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028" y="3492186"/>
            <a:ext cx="1080823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D354811A-0070-0E4D-9460-26D82BAB17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96624" y="3480153"/>
            <a:ext cx="960438" cy="132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B40F04F4-B400-B544-8F4E-49A143975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270" y="2232642"/>
            <a:ext cx="1379802" cy="239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latin typeface="Arial Narrow" panose="020B0606020202030204" pitchFamily="34" charset="0"/>
              </a:rPr>
              <a:t>应用程序</a:t>
            </a:r>
            <a:endParaRPr lang="en-US" altLang="ko-KR" sz="1100" dirty="0">
              <a:latin typeface="Arial Narrow" panose="020B0606020202030204" pitchFamily="34" charset="0"/>
            </a:endParaRPr>
          </a:p>
        </p:txBody>
      </p:sp>
      <p:sp>
        <p:nvSpPr>
          <p:cNvPr id="17" name="Rectangle 36">
            <a:extLst>
              <a:ext uri="{FF2B5EF4-FFF2-40B4-BE49-F238E27FC236}">
                <a16:creationId xmlns:a16="http://schemas.microsoft.com/office/drawing/2014/main" id="{731CEE52-1239-B14D-8B49-C46DF529C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124" y="3240705"/>
            <a:ext cx="719667" cy="240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solidFill>
                  <a:srgbClr val="BE384B"/>
                </a:solidFill>
                <a:latin typeface="Arial Narrow" panose="020B0606020202030204" pitchFamily="34" charset="0"/>
              </a:rPr>
              <a:t>系统</a:t>
            </a:r>
            <a:r>
              <a:rPr lang="en-US" altLang="ko-KR" sz="1100" dirty="0">
                <a:solidFill>
                  <a:srgbClr val="BE384B"/>
                </a:solidFill>
                <a:latin typeface="Arial Narrow" panose="020B0606020202030204" pitchFamily="34" charset="0"/>
              </a:rPr>
              <a:t>ISA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6E1D8C37-ED13-A44F-9226-99416812E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9767" y="3812906"/>
            <a:ext cx="719667" cy="240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latin typeface="Arial Narrow" panose="020B0606020202030204" pitchFamily="34" charset="0"/>
              </a:rPr>
              <a:t>用户</a:t>
            </a:r>
            <a:r>
              <a:rPr lang="en-US" altLang="ko-KR" sz="1100" dirty="0">
                <a:latin typeface="Arial Narrow" panose="020B0606020202030204" pitchFamily="34" charset="0"/>
              </a:rPr>
              <a:t> ISA</a:t>
            </a:r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98726624-EE97-5B47-92CC-152AA1029B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55852" y="4095443"/>
            <a:ext cx="1019969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2DDF0B98-449E-FF4D-9FF6-9B8F234D2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6767" y="4084457"/>
            <a:ext cx="2973062" cy="17499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22" name="Line 16">
            <a:extLst>
              <a:ext uri="{FF2B5EF4-FFF2-40B4-BE49-F238E27FC236}">
                <a16:creationId xmlns:a16="http://schemas.microsoft.com/office/drawing/2014/main" id="{2E8BF3E1-A4B3-7241-AC18-B5BB5AE946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24704" y="4083795"/>
            <a:ext cx="960438" cy="132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7ABB81F6-E45C-8642-99CF-CD2C8B8FD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695" y="3977703"/>
            <a:ext cx="420688" cy="240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00" dirty="0">
                <a:latin typeface="Arial Narrow" panose="020B0606020202030204" pitchFamily="34" charset="0"/>
              </a:rPr>
              <a:t>ISA</a:t>
            </a:r>
          </a:p>
        </p:txBody>
      </p:sp>
      <p:sp>
        <p:nvSpPr>
          <p:cNvPr id="24" name="Rectangle 36">
            <a:extLst>
              <a:ext uri="{FF2B5EF4-FFF2-40B4-BE49-F238E27FC236}">
                <a16:creationId xmlns:a16="http://schemas.microsoft.com/office/drawing/2014/main" id="{A244F075-16F4-D64B-B3FA-00BFADF57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107" y="3844205"/>
            <a:ext cx="719667" cy="240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latin typeface="Arial Narrow" panose="020B0606020202030204" pitchFamily="34" charset="0"/>
              </a:rPr>
              <a:t>系统</a:t>
            </a:r>
            <a:r>
              <a:rPr lang="en-US" altLang="ko-KR" sz="1100" dirty="0">
                <a:latin typeface="Arial Narrow" panose="020B0606020202030204" pitchFamily="34" charset="0"/>
              </a:rPr>
              <a:t>ISA</a:t>
            </a: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4AB598F0-3463-7F4D-8318-3E433CBCC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298" y="3634846"/>
            <a:ext cx="1019969" cy="252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latin typeface="Arial Narrow" panose="020B0606020202030204" pitchFamily="34" charset="0"/>
              </a:rPr>
              <a:t>虚拟机监控器</a:t>
            </a:r>
            <a:endParaRPr lang="en-US" altLang="ko-KR" sz="1100" dirty="0">
              <a:latin typeface="Arial Narrow" panose="020B0606020202030204" pitchFamily="34" charset="0"/>
            </a:endParaRPr>
          </a:p>
        </p:txBody>
      </p:sp>
      <p:sp>
        <p:nvSpPr>
          <p:cNvPr id="26" name="Line 13">
            <a:extLst>
              <a:ext uri="{FF2B5EF4-FFF2-40B4-BE49-F238E27FC236}">
                <a16:creationId xmlns:a16="http://schemas.microsoft.com/office/drawing/2014/main" id="{17FB65FC-E869-EF4C-AE24-F0260EB994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55851" y="3483889"/>
            <a:ext cx="1019969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853171EF-6659-6C46-A2B5-ECD50CDE9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2221167"/>
            <a:ext cx="1971898" cy="127266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8E36488A-78E3-3A40-97E2-6318EBBE2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376" y="3239058"/>
            <a:ext cx="719667" cy="240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latin typeface="Arial Narrow" panose="020B0606020202030204" pitchFamily="34" charset="0"/>
              </a:rPr>
              <a:t>用户</a:t>
            </a:r>
            <a:r>
              <a:rPr lang="en-US" altLang="ko-KR" sz="1100" dirty="0">
                <a:latin typeface="Arial Narrow" panose="020B0606020202030204" pitchFamily="34" charset="0"/>
              </a:rPr>
              <a:t> ISA</a:t>
            </a:r>
          </a:p>
        </p:txBody>
      </p:sp>
      <p:sp>
        <p:nvSpPr>
          <p:cNvPr id="29" name="Line 14">
            <a:extLst>
              <a:ext uri="{FF2B5EF4-FFF2-40B4-BE49-F238E27FC236}">
                <a16:creationId xmlns:a16="http://schemas.microsoft.com/office/drawing/2014/main" id="{89C7C74D-116A-6444-9033-D758142AF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8251" y="3479829"/>
            <a:ext cx="1080823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30" name="Line 16">
            <a:extLst>
              <a:ext uri="{FF2B5EF4-FFF2-40B4-BE49-F238E27FC236}">
                <a16:creationId xmlns:a16="http://schemas.microsoft.com/office/drawing/2014/main" id="{201B31D6-5770-B84D-B484-CF2D6CFFA3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8522" y="3478506"/>
            <a:ext cx="960438" cy="132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67517376-2C04-E541-B33D-FCABD43C7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168" y="2230995"/>
            <a:ext cx="1379802" cy="239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latin typeface="Arial Narrow" panose="020B0606020202030204" pitchFamily="34" charset="0"/>
              </a:rPr>
              <a:t>应用程序</a:t>
            </a:r>
            <a:endParaRPr lang="en-US" altLang="ko-KR" sz="1100" dirty="0">
              <a:latin typeface="Arial Narrow" panose="020B0606020202030204" pitchFamily="34" charset="0"/>
            </a:endParaRPr>
          </a:p>
        </p:txBody>
      </p:sp>
      <p:sp>
        <p:nvSpPr>
          <p:cNvPr id="32" name="Rectangle 36">
            <a:extLst>
              <a:ext uri="{FF2B5EF4-FFF2-40B4-BE49-F238E27FC236}">
                <a16:creationId xmlns:a16="http://schemas.microsoft.com/office/drawing/2014/main" id="{614B806F-BF3D-8C47-82F2-9D8B89326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022" y="3239058"/>
            <a:ext cx="719667" cy="240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100" dirty="0">
                <a:solidFill>
                  <a:srgbClr val="BE384B"/>
                </a:solidFill>
                <a:latin typeface="Arial Narrow" panose="020B0606020202030204" pitchFamily="34" charset="0"/>
              </a:rPr>
              <a:t>系统</a:t>
            </a:r>
            <a:r>
              <a:rPr lang="en-US" altLang="ko-KR" sz="1100" dirty="0">
                <a:solidFill>
                  <a:srgbClr val="BE384B"/>
                </a:solidFill>
                <a:latin typeface="Arial Narrow" panose="020B0606020202030204" pitchFamily="34" charset="0"/>
              </a:rPr>
              <a:t>ISA</a:t>
            </a:r>
          </a:p>
        </p:txBody>
      </p:sp>
      <p:sp>
        <p:nvSpPr>
          <p:cNvPr id="34" name="Line 13">
            <a:extLst>
              <a:ext uri="{FF2B5EF4-FFF2-40B4-BE49-F238E27FC236}">
                <a16:creationId xmlns:a16="http://schemas.microsoft.com/office/drawing/2014/main" id="{D938A41F-C9D5-1446-926E-5883A396CE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27749" y="3482242"/>
            <a:ext cx="1019969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6303B9A5-1C57-E547-943E-5C392EF4A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930" y="2219520"/>
            <a:ext cx="1971898" cy="127266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07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B47C6-4FDC-F043-A41B-7A0F5516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系统虚拟化的流程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0A2158-E21D-824D-8BEC-157EE3780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第一步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捕捉所有系统</a:t>
            </a:r>
            <a:r>
              <a:rPr kumimoji="1" lang="en-US" altLang="zh-CN" sz="1800" dirty="0"/>
              <a:t>ISA</a:t>
            </a:r>
            <a:r>
              <a:rPr kumimoji="1" lang="zh-CN" altLang="en-US" sz="1800" dirty="0"/>
              <a:t>并陷入</a:t>
            </a:r>
            <a:r>
              <a:rPr kumimoji="1" lang="en-US" altLang="zh-CN" sz="1800" dirty="0"/>
              <a:t>(Trap)</a:t>
            </a:r>
          </a:p>
          <a:p>
            <a:r>
              <a:rPr kumimoji="1" lang="zh-CN" altLang="en-US" sz="2000" dirty="0"/>
              <a:t>第二步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由具体指令实现相应虚拟化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控制虚拟处理器行为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控制虚拟内存行为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控制虚拟设备行为</a:t>
            </a:r>
            <a:endParaRPr kumimoji="1" lang="en-US" altLang="zh-CN" sz="1800" dirty="0"/>
          </a:p>
          <a:p>
            <a:r>
              <a:rPr kumimoji="1" lang="zh-CN" altLang="en-US" sz="2000" dirty="0"/>
              <a:t>第三步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回到虚拟机继续执行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C6FC0B-1666-3D45-B74E-B4EDC545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DC638F-1CE1-8543-AEF2-D35C4235E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0B7744F1-D46A-384D-BC7B-5242B14016F6}"/>
              </a:ext>
            </a:extLst>
          </p:cNvPr>
          <p:cNvSpPr/>
          <p:nvPr/>
        </p:nvSpPr>
        <p:spPr>
          <a:xfrm>
            <a:off x="4536639" y="2274605"/>
            <a:ext cx="4524805" cy="1580817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VMM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9" name="Rectangle 24">
            <a:extLst>
              <a:ext uri="{FF2B5EF4-FFF2-40B4-BE49-F238E27FC236}">
                <a16:creationId xmlns:a16="http://schemas.microsoft.com/office/drawing/2014/main" id="{1AB87D7B-C715-574F-B068-5BB37DAF80FF}"/>
              </a:ext>
            </a:extLst>
          </p:cNvPr>
          <p:cNvSpPr/>
          <p:nvPr/>
        </p:nvSpPr>
        <p:spPr>
          <a:xfrm>
            <a:off x="4534988" y="4170675"/>
            <a:ext cx="4524805" cy="3439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BE384B"/>
                </a:solidFill>
                <a:cs typeface="Arial Narrow"/>
              </a:rPr>
              <a:t>Hardware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40" name="Rectangle 27">
            <a:extLst>
              <a:ext uri="{FF2B5EF4-FFF2-40B4-BE49-F238E27FC236}">
                <a16:creationId xmlns:a16="http://schemas.microsoft.com/office/drawing/2014/main" id="{7D185C25-ADC0-A142-A161-66F21FBA8F7B}"/>
              </a:ext>
            </a:extLst>
          </p:cNvPr>
          <p:cNvSpPr/>
          <p:nvPr/>
        </p:nvSpPr>
        <p:spPr>
          <a:xfrm>
            <a:off x="4536638" y="1633364"/>
            <a:ext cx="4524806" cy="36540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41" name="Straight Connector 13">
            <a:extLst>
              <a:ext uri="{FF2B5EF4-FFF2-40B4-BE49-F238E27FC236}">
                <a16:creationId xmlns:a16="http://schemas.microsoft.com/office/drawing/2014/main" id="{99CAE213-E38C-A442-AFFC-F30364961B77}"/>
              </a:ext>
            </a:extLst>
          </p:cNvPr>
          <p:cNvCxnSpPr>
            <a:cxnSpLocks/>
          </p:cNvCxnSpPr>
          <p:nvPr/>
        </p:nvCxnSpPr>
        <p:spPr>
          <a:xfrm>
            <a:off x="4211960" y="4030356"/>
            <a:ext cx="5012092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A95602EE-5390-9045-BE45-57EEDF9CA4C3}"/>
              </a:ext>
            </a:extLst>
          </p:cNvPr>
          <p:cNvSpPr txBox="1"/>
          <p:nvPr/>
        </p:nvSpPr>
        <p:spPr>
          <a:xfrm>
            <a:off x="5043708" y="1950862"/>
            <a:ext cx="1045782" cy="35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系统</a:t>
            </a:r>
            <a:r>
              <a:rPr kumimoji="1" lang="en-US" altLang="zh-CN" dirty="0"/>
              <a:t>ISA</a:t>
            </a:r>
            <a:endParaRPr kumimoji="1" lang="zh-CN" altLang="en-US" dirty="0"/>
          </a:p>
        </p:txBody>
      </p:sp>
      <p:sp>
        <p:nvSpPr>
          <p:cNvPr id="56" name="Rectangle 27">
            <a:extLst>
              <a:ext uri="{FF2B5EF4-FFF2-40B4-BE49-F238E27FC236}">
                <a16:creationId xmlns:a16="http://schemas.microsoft.com/office/drawing/2014/main" id="{EC97DA4C-8220-3740-952B-E6C6491255F5}"/>
              </a:ext>
            </a:extLst>
          </p:cNvPr>
          <p:cNvSpPr/>
          <p:nvPr/>
        </p:nvSpPr>
        <p:spPr>
          <a:xfrm>
            <a:off x="6089489" y="2350707"/>
            <a:ext cx="1751530" cy="42007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虚拟处理器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B426F52E-AAE6-AE49-972E-92572C9DEBC7}"/>
              </a:ext>
            </a:extLst>
          </p:cNvPr>
          <p:cNvSpPr/>
          <p:nvPr/>
        </p:nvSpPr>
        <p:spPr>
          <a:xfrm>
            <a:off x="6089489" y="2866015"/>
            <a:ext cx="1749525" cy="42007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虚拟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物理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)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内存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8" name="Rectangle 27">
            <a:extLst>
              <a:ext uri="{FF2B5EF4-FFF2-40B4-BE49-F238E27FC236}">
                <a16:creationId xmlns:a16="http://schemas.microsoft.com/office/drawing/2014/main" id="{C4C89E03-3154-184A-BA59-304607522B41}"/>
              </a:ext>
            </a:extLst>
          </p:cNvPr>
          <p:cNvSpPr/>
          <p:nvPr/>
        </p:nvSpPr>
        <p:spPr>
          <a:xfrm>
            <a:off x="6089489" y="3371686"/>
            <a:ext cx="1749524" cy="42007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虚拟设备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53CDDE60-66CF-1C41-9263-C61A258ABB53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7839012" y="1830764"/>
            <a:ext cx="688916" cy="1750957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2389B498-6A64-E049-9347-FB2059991074}"/>
              </a:ext>
            </a:extLst>
          </p:cNvPr>
          <p:cNvCxnSpPr/>
          <p:nvPr/>
        </p:nvCxnSpPr>
        <p:spPr>
          <a:xfrm>
            <a:off x="7839012" y="2560742"/>
            <a:ext cx="6889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3E283653-475D-764F-908E-00CFE74D1FD9}"/>
              </a:ext>
            </a:extLst>
          </p:cNvPr>
          <p:cNvCxnSpPr/>
          <p:nvPr/>
        </p:nvCxnSpPr>
        <p:spPr>
          <a:xfrm>
            <a:off x="7839012" y="3076050"/>
            <a:ext cx="6889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肘形连接符 86">
            <a:extLst>
              <a:ext uri="{FF2B5EF4-FFF2-40B4-BE49-F238E27FC236}">
                <a16:creationId xmlns:a16="http://schemas.microsoft.com/office/drawing/2014/main" id="{11B87CC9-18EC-2644-90E1-45A904785D33}"/>
              </a:ext>
            </a:extLst>
          </p:cNvPr>
          <p:cNvCxnSpPr>
            <a:cxnSpLocks/>
            <a:stCxn id="58" idx="1"/>
          </p:cNvCxnSpPr>
          <p:nvPr/>
        </p:nvCxnSpPr>
        <p:spPr>
          <a:xfrm rot="10800000">
            <a:off x="5043708" y="1844513"/>
            <a:ext cx="1045782" cy="1737209"/>
          </a:xfrm>
          <a:prstGeom prst="bentConnector2">
            <a:avLst/>
          </a:prstGeom>
          <a:ln w="381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E8B82BEF-C0D4-7F41-B104-FE0A41EEB1DF}"/>
              </a:ext>
            </a:extLst>
          </p:cNvPr>
          <p:cNvCxnSpPr>
            <a:cxnSpLocks/>
          </p:cNvCxnSpPr>
          <p:nvPr/>
        </p:nvCxnSpPr>
        <p:spPr>
          <a:xfrm>
            <a:off x="5036436" y="3065013"/>
            <a:ext cx="1053053" cy="0"/>
          </a:xfrm>
          <a:prstGeom prst="line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6288B248-1ACA-C144-AFCB-F9240492EA4C}"/>
              </a:ext>
            </a:extLst>
          </p:cNvPr>
          <p:cNvCxnSpPr>
            <a:cxnSpLocks/>
          </p:cNvCxnSpPr>
          <p:nvPr/>
        </p:nvCxnSpPr>
        <p:spPr>
          <a:xfrm>
            <a:off x="5043707" y="2560742"/>
            <a:ext cx="1053053" cy="0"/>
          </a:xfrm>
          <a:prstGeom prst="line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89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 animBg="1"/>
      <p:bldP spid="57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FB807-34AA-194F-90EC-3749FC0A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系统虚拟化技术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F549AD-7F02-374B-A2F9-85A22995C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处理器虚拟化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捕捉系统</a:t>
            </a:r>
            <a:r>
              <a:rPr kumimoji="1" lang="en-US" altLang="zh-CN" dirty="0"/>
              <a:t>ISA</a:t>
            </a:r>
          </a:p>
          <a:p>
            <a:pPr lvl="1"/>
            <a:r>
              <a:rPr kumimoji="1" lang="zh-CN" altLang="en-US" dirty="0"/>
              <a:t>控制虚拟处理器的行为</a:t>
            </a:r>
            <a:endParaRPr kumimoji="1" lang="en-US" altLang="zh-CN" dirty="0"/>
          </a:p>
          <a:p>
            <a:r>
              <a:rPr kumimoji="1" lang="zh-CN" altLang="en-US" dirty="0"/>
              <a:t>内存虚拟化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提供“假”物理内存的抽象</a:t>
            </a:r>
            <a:endParaRPr kumimoji="1" lang="en-US" altLang="zh-CN" dirty="0"/>
          </a:p>
          <a:p>
            <a:r>
              <a:rPr kumimoji="1" lang="zh-CN" altLang="en-US" dirty="0"/>
              <a:t>设备虚拟化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提供虚拟的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设备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1EEA78-4114-9141-B3D4-9D07F1AA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A25645-F8C1-4F47-9894-CDA282A59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877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162BC4-C9DF-3740-83B9-36E17D0F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Trap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Emulate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3F786-DFFF-5746-B168-753B5CD37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客户操作系统和其上的进程都运行在</a:t>
            </a:r>
            <a:r>
              <a:rPr kumimoji="1" lang="en-US" altLang="zh-CN" dirty="0"/>
              <a:t>EL0</a:t>
            </a:r>
          </a:p>
          <a:p>
            <a:r>
              <a:rPr kumimoji="1" lang="zh-CN" altLang="en-US" dirty="0"/>
              <a:t>当操作系统执行系统</a:t>
            </a:r>
            <a:r>
              <a:rPr kumimoji="1" lang="en-US" altLang="zh-CN" dirty="0"/>
              <a:t>ISA</a:t>
            </a:r>
            <a:r>
              <a:rPr kumimoji="1" lang="zh-CN" altLang="en-US" dirty="0"/>
              <a:t>指令时下陷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写入</a:t>
            </a:r>
            <a:r>
              <a:rPr kumimoji="1" lang="en-US" altLang="zh-CN" dirty="0"/>
              <a:t>TTBR0_EL1</a:t>
            </a:r>
          </a:p>
          <a:p>
            <a:pPr lvl="1"/>
            <a:r>
              <a:rPr kumimoji="1" lang="zh-CN" altLang="en-US" dirty="0"/>
              <a:t>执行</a:t>
            </a:r>
            <a:r>
              <a:rPr kumimoji="1" lang="en-US" altLang="zh-CN" dirty="0"/>
              <a:t>WFI</a:t>
            </a:r>
            <a:r>
              <a:rPr kumimoji="1" lang="zh-CN" altLang="en-US" dirty="0"/>
              <a:t>指令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4863F1-55BE-6B46-B7E3-771EE542B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C34D61-73E3-5540-8DAB-34767657F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27762E39-8086-8048-AC97-C79C99373D57}"/>
              </a:ext>
            </a:extLst>
          </p:cNvPr>
          <p:cNvSpPr/>
          <p:nvPr/>
        </p:nvSpPr>
        <p:spPr>
          <a:xfrm>
            <a:off x="3709556" y="3671313"/>
            <a:ext cx="5007779" cy="49386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VMM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A9CF7902-0641-E74C-B98B-E84659385CDE}"/>
              </a:ext>
            </a:extLst>
          </p:cNvPr>
          <p:cNvSpPr/>
          <p:nvPr/>
        </p:nvSpPr>
        <p:spPr>
          <a:xfrm>
            <a:off x="3707905" y="4480426"/>
            <a:ext cx="5007779" cy="3439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硬件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" name="Rectangle 27">
            <a:extLst>
              <a:ext uri="{FF2B5EF4-FFF2-40B4-BE49-F238E27FC236}">
                <a16:creationId xmlns:a16="http://schemas.microsoft.com/office/drawing/2014/main" id="{420CFA05-79F5-8940-8A50-5D5EE6BD3D91}"/>
              </a:ext>
            </a:extLst>
          </p:cNvPr>
          <p:cNvSpPr/>
          <p:nvPr/>
        </p:nvSpPr>
        <p:spPr>
          <a:xfrm>
            <a:off x="3707904" y="3001516"/>
            <a:ext cx="936104" cy="493859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Kernel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44F0F31-A973-A44A-828F-513A7924C2C5}"/>
              </a:ext>
            </a:extLst>
          </p:cNvPr>
          <p:cNvCxnSpPr>
            <a:cxnSpLocks/>
          </p:cNvCxnSpPr>
          <p:nvPr/>
        </p:nvCxnSpPr>
        <p:spPr>
          <a:xfrm>
            <a:off x="3384877" y="4340107"/>
            <a:ext cx="5547079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C5D1B07-29DA-6846-A8BC-229EACFDFFED}"/>
              </a:ext>
            </a:extLst>
          </p:cNvPr>
          <p:cNvSpPr txBox="1"/>
          <p:nvPr/>
        </p:nvSpPr>
        <p:spPr>
          <a:xfrm>
            <a:off x="3137622" y="374369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8AE5C3-AEED-C941-AAB7-1D5DFBC41F88}"/>
              </a:ext>
            </a:extLst>
          </p:cNvPr>
          <p:cNvSpPr txBox="1"/>
          <p:nvPr/>
        </p:nvSpPr>
        <p:spPr>
          <a:xfrm>
            <a:off x="3137622" y="309994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31B4D910-03F5-15E9-AA4C-5E311F780F1E}"/>
              </a:ext>
            </a:extLst>
          </p:cNvPr>
          <p:cNvSpPr/>
          <p:nvPr/>
        </p:nvSpPr>
        <p:spPr>
          <a:xfrm>
            <a:off x="4716016" y="2993234"/>
            <a:ext cx="936104" cy="493859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App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endParaRPr lang="en-US" altLang="zh-CN" sz="1600" dirty="0">
              <a:solidFill>
                <a:srgbClr val="BE384B"/>
              </a:solidFill>
              <a:cs typeface="Arial Narrow"/>
            </a:endParaRPr>
          </a:p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1.1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A9B0B785-C2F2-C177-7CBB-79D15FF33EB7}"/>
              </a:ext>
            </a:extLst>
          </p:cNvPr>
          <p:cNvSpPr/>
          <p:nvPr/>
        </p:nvSpPr>
        <p:spPr>
          <a:xfrm>
            <a:off x="5724128" y="2993234"/>
            <a:ext cx="936104" cy="493859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App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endParaRPr lang="en-US" altLang="zh-CN" sz="1600" dirty="0">
              <a:solidFill>
                <a:srgbClr val="BE384B"/>
              </a:solidFill>
              <a:cs typeface="Arial Narrow"/>
            </a:endParaRPr>
          </a:p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1.2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316E70D1-88F2-04AC-959C-4D272B1EC7D9}"/>
              </a:ext>
            </a:extLst>
          </p:cNvPr>
          <p:cNvSpPr/>
          <p:nvPr/>
        </p:nvSpPr>
        <p:spPr>
          <a:xfrm>
            <a:off x="6804248" y="3001516"/>
            <a:ext cx="936104" cy="493859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Kernel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2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3977BA61-4D20-F536-95DC-BA9C351B67C5}"/>
              </a:ext>
            </a:extLst>
          </p:cNvPr>
          <p:cNvSpPr/>
          <p:nvPr/>
        </p:nvSpPr>
        <p:spPr>
          <a:xfrm>
            <a:off x="7812360" y="2993234"/>
            <a:ext cx="936104" cy="493859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App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endParaRPr lang="en-US" altLang="zh-CN" sz="1600" dirty="0">
              <a:solidFill>
                <a:srgbClr val="BE384B"/>
              </a:solidFill>
              <a:cs typeface="Arial Narrow"/>
            </a:endParaRPr>
          </a:p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2.1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9739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54E9F-6039-9E41-BC35-6EB441CF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</a:t>
            </a:r>
            <a:r>
              <a:rPr lang="zh-CN" altLang="en-US" dirty="0"/>
              <a:t> </a:t>
            </a:r>
            <a:r>
              <a:rPr lang="en-US" altLang="zh-CN" dirty="0"/>
              <a:t>ARM</a:t>
            </a:r>
            <a:r>
              <a:rPr lang="zh-CN" altLang="en-US" dirty="0"/>
              <a:t>不是严格的可虚拟化架构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FF7C2B-5238-6643-A457-96C535448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404040"/>
                </a:solidFill>
              </a:rPr>
              <a:t>在</a:t>
            </a:r>
            <a:r>
              <a:rPr lang="en-US" altLang="zh-CN" dirty="0">
                <a:solidFill>
                  <a:srgbClr val="404040"/>
                </a:solidFill>
              </a:rPr>
              <a:t>ARM</a:t>
            </a:r>
            <a:r>
              <a:rPr lang="zh-CN" altLang="en-US" dirty="0">
                <a:solidFill>
                  <a:srgbClr val="404040"/>
                </a:solidFill>
              </a:rPr>
              <a:t>中：不是所有敏感指令都属于特权指令</a:t>
            </a:r>
            <a:endParaRPr lang="en-US" altLang="zh-CN" dirty="0">
              <a:solidFill>
                <a:srgbClr val="404040"/>
              </a:solidFill>
            </a:endParaRPr>
          </a:p>
          <a:p>
            <a:r>
              <a:rPr lang="zh-CN" altLang="en-US" dirty="0"/>
              <a:t>例子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BE384B"/>
                </a:solidFill>
              </a:rPr>
              <a:t>CPSID/CPSIE</a:t>
            </a:r>
            <a:r>
              <a:rPr lang="zh-CN" altLang="en-US" dirty="0"/>
              <a:t>指令</a:t>
            </a:r>
            <a:endParaRPr lang="en-US" altLang="zh-CN" sz="2000" dirty="0"/>
          </a:p>
          <a:p>
            <a:pPr lvl="1"/>
            <a:r>
              <a:rPr lang="en-US" altLang="zh-CN" dirty="0"/>
              <a:t>CPSID</a:t>
            </a:r>
            <a:r>
              <a:rPr lang="zh-CN" altLang="en-US" dirty="0"/>
              <a:t>和</a:t>
            </a:r>
            <a:r>
              <a:rPr lang="en-US" altLang="zh-CN" dirty="0"/>
              <a:t>CPSIE</a:t>
            </a:r>
            <a:r>
              <a:rPr lang="zh-CN" altLang="en-US" dirty="0"/>
              <a:t>分别可以关闭和打开中断</a:t>
            </a:r>
            <a:endParaRPr lang="zh-CN" altLang="en-US" sz="1600" dirty="0"/>
          </a:p>
          <a:p>
            <a:pPr lvl="1"/>
            <a:r>
              <a:rPr lang="zh-CN" altLang="en-US" dirty="0"/>
              <a:t>内核态执行：</a:t>
            </a:r>
            <a:r>
              <a:rPr lang="en-US" altLang="zh-CN" dirty="0"/>
              <a:t>PSTATE.{A, I, F}</a:t>
            </a:r>
            <a:r>
              <a:rPr lang="zh-CN" altLang="en-US" dirty="0"/>
              <a:t> 可以被</a:t>
            </a:r>
            <a:r>
              <a:rPr lang="en-US" altLang="zh-CN" dirty="0"/>
              <a:t>CPS</a:t>
            </a:r>
            <a:r>
              <a:rPr lang="zh-CN" altLang="en-US" dirty="0"/>
              <a:t>指令修改</a:t>
            </a:r>
            <a:endParaRPr lang="en-US" altLang="zh-CN" dirty="0"/>
          </a:p>
          <a:p>
            <a:pPr lvl="1"/>
            <a:r>
              <a:rPr lang="zh-CN" altLang="en-US" dirty="0"/>
              <a:t>在用户态执行：</a:t>
            </a:r>
            <a:r>
              <a:rPr lang="en-US" altLang="zh-CN" dirty="0"/>
              <a:t>CPS </a:t>
            </a:r>
            <a:r>
              <a:rPr lang="zh-CN" altLang="en-US" dirty="0"/>
              <a:t>被当做</a:t>
            </a:r>
            <a:r>
              <a:rPr lang="en-US" altLang="zh-CN" dirty="0"/>
              <a:t>NOP</a:t>
            </a:r>
            <a:r>
              <a:rPr lang="zh-CN" altLang="en-US" dirty="0"/>
              <a:t>指令，不产生任何效果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BE384B"/>
                </a:solidFill>
              </a:rPr>
              <a:t>不是特权指令</a:t>
            </a:r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9DBB13-3472-4E4B-B6A0-9DDB41E3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5B4D46-B91E-9E4B-8826-BCFB710C1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106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ECF89-2338-6C4C-80E0-C9F9C3D0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如何处理这些不会下陷的敏感指令？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9BC47-B75F-DE4F-948A-6C8FB2999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5451"/>
            <a:ext cx="8229600" cy="2679685"/>
          </a:xfrm>
        </p:spPr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：解释执行</a:t>
            </a:r>
            <a:endParaRPr kumimoji="1" lang="en-US" altLang="zh-CN" dirty="0"/>
          </a:p>
          <a:p>
            <a:r>
              <a:rPr kumimoji="1" lang="zh-CN" altLang="en-US" dirty="0"/>
              <a:t>方法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：二进制翻译</a:t>
            </a:r>
            <a:endParaRPr kumimoji="1" lang="en-US" altLang="zh-CN" dirty="0"/>
          </a:p>
          <a:p>
            <a:r>
              <a:rPr kumimoji="1" lang="zh-CN" altLang="en-US" dirty="0"/>
              <a:t>方法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：半虚拟化</a:t>
            </a:r>
            <a:endParaRPr kumimoji="1" lang="en-US" altLang="zh-CN" dirty="0"/>
          </a:p>
          <a:p>
            <a:r>
              <a:rPr kumimoji="1" lang="zh-CN" altLang="en-US" dirty="0"/>
              <a:t>方法</a:t>
            </a:r>
            <a:r>
              <a:rPr kumimoji="1" lang="en-US" altLang="zh-CN" dirty="0"/>
              <a:t>4</a:t>
            </a:r>
            <a:r>
              <a:rPr kumimoji="1" lang="zh-CN" altLang="en-US" dirty="0"/>
              <a:t>：硬件虚拟化（改硬件）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FE993-0C78-584B-8EAB-8381BF830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2F7CAC-E7D0-E942-9B58-11C1BE4B6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2F3CC139-4210-F04D-A01B-1FFF678AB8EE}"/>
              </a:ext>
            </a:extLst>
          </p:cNvPr>
          <p:cNvSpPr txBox="1">
            <a:spLocks/>
          </p:cNvSpPr>
          <p:nvPr/>
        </p:nvSpPr>
        <p:spPr>
          <a:xfrm>
            <a:off x="457200" y="1333183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处理这些不会下陷的敏感指令，使得虚拟机中的操作系统能够运行在用户态（</a:t>
            </a:r>
            <a:r>
              <a:rPr kumimoji="1" lang="en-US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EL-0</a:t>
            </a:r>
            <a:r>
              <a:rPr kumimoji="1"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1624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0C03A-3281-F64F-A4BE-F7D4F880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方法</a:t>
            </a:r>
            <a:r>
              <a:rPr kumimoji="1" lang="en-US" altLang="zh-CN" dirty="0"/>
              <a:t>4</a:t>
            </a:r>
            <a:r>
              <a:rPr kumimoji="1" lang="zh-CN" altLang="en-US" dirty="0"/>
              <a:t>：硬件虚拟化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B45377-6977-8448-9E29-271C513B0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en-US" altLang="zh-CN" dirty="0"/>
              <a:t>x86</a:t>
            </a:r>
            <a:r>
              <a:rPr kumimoji="1" lang="zh-CN" altLang="en-US" dirty="0"/>
              <a:t>和</a:t>
            </a:r>
            <a:r>
              <a:rPr kumimoji="1" lang="en-US" altLang="zh-CN" dirty="0"/>
              <a:t>ARM</a:t>
            </a:r>
            <a:r>
              <a:rPr kumimoji="1" lang="zh-CN" altLang="en-US" dirty="0"/>
              <a:t>都引入了全新的虚拟化特权级</a:t>
            </a:r>
            <a:endParaRPr kumimoji="1" lang="en-US" altLang="zh-CN" dirty="0"/>
          </a:p>
          <a:p>
            <a:r>
              <a:rPr kumimoji="1" lang="en-US" altLang="zh-CN" dirty="0"/>
              <a:t>x86</a:t>
            </a:r>
            <a:r>
              <a:rPr kumimoji="1" lang="zh-CN" altLang="en-US" dirty="0"/>
              <a:t>引入了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模式和</a:t>
            </a:r>
            <a:r>
              <a:rPr kumimoji="1" lang="en-US" altLang="zh-CN" dirty="0"/>
              <a:t>non-root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Intel</a:t>
            </a:r>
            <a:r>
              <a:rPr kumimoji="1" lang="zh-CN" altLang="en-US" dirty="0"/>
              <a:t>推出了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硬件虚拟化扩展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Root</a:t>
            </a:r>
            <a:r>
              <a:rPr kumimoji="1" lang="zh-CN" altLang="en-US" dirty="0"/>
              <a:t>模式是最高特权级别，控制物理资源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运行在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模式，虚拟机运行在</a:t>
            </a:r>
            <a:r>
              <a:rPr kumimoji="1" lang="en-US" altLang="zh-CN" dirty="0"/>
              <a:t>non-root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两个模式内都有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个特权级别：</a:t>
            </a:r>
            <a:r>
              <a:rPr kumimoji="1" lang="en-US" altLang="zh-CN" dirty="0"/>
              <a:t>Ring0~Ring3</a:t>
            </a:r>
          </a:p>
          <a:p>
            <a:r>
              <a:rPr kumimoji="1" lang="en-US" altLang="zh-CN" dirty="0"/>
              <a:t>ARM</a:t>
            </a:r>
            <a:r>
              <a:rPr kumimoji="1" lang="zh-CN" altLang="en-US" dirty="0"/>
              <a:t>引入了</a:t>
            </a:r>
            <a:r>
              <a:rPr kumimoji="1" lang="en-US" altLang="zh-CN" dirty="0"/>
              <a:t>EL2</a:t>
            </a:r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运行在</a:t>
            </a:r>
            <a:r>
              <a:rPr kumimoji="1" lang="en-US" altLang="zh-CN" dirty="0"/>
              <a:t>EL2</a:t>
            </a:r>
          </a:p>
          <a:p>
            <a:pPr lvl="1"/>
            <a:r>
              <a:rPr kumimoji="1" lang="en-US" altLang="zh-CN" dirty="0"/>
              <a:t>EL2</a:t>
            </a:r>
            <a:r>
              <a:rPr kumimoji="1" lang="zh-CN" altLang="en-US" dirty="0"/>
              <a:t>是最高特权级别，控制物理资源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的操作系统和应用程序分别运行在</a:t>
            </a:r>
            <a:r>
              <a:rPr kumimoji="1" lang="en-US" altLang="zh-CN" dirty="0"/>
              <a:t>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EL0</a:t>
            </a:r>
          </a:p>
          <a:p>
            <a:pPr marL="0" indent="0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605BB-633A-5949-83AD-0B94688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DC75F-41CC-BE49-888F-695636979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5403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2C3FEF5-F933-1349-B56E-0C6158F2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Intel</a:t>
            </a:r>
            <a:r>
              <a:rPr lang="zh-CN" altLang="en-US" dirty="0"/>
              <a:t> </a:t>
            </a:r>
            <a:r>
              <a:rPr lang="en-US" altLang="zh-CN" dirty="0"/>
              <a:t>VT-x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73DB188-D648-D641-A0C1-233898237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9EE4C-EAB2-B743-8E82-87DAE4F0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54148-2DC2-D948-8ECD-0A7F1104C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6531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60C4C-D36C-5849-9FE8-57F2BC1F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VT-x</a:t>
            </a:r>
            <a:r>
              <a:rPr kumimoji="1" lang="zh-CN" altLang="en-US" dirty="0"/>
              <a:t>的处理器虚拟化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A7FFD0-7820-EA46-9D93-15006D43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B389E-4BF0-D64C-B5F0-79532C9C6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85FD986-06BE-E34F-A103-D886C3ED8444}"/>
              </a:ext>
            </a:extLst>
          </p:cNvPr>
          <p:cNvGrpSpPr/>
          <p:nvPr/>
        </p:nvGrpSpPr>
        <p:grpSpPr>
          <a:xfrm>
            <a:off x="395536" y="1582552"/>
            <a:ext cx="8376651" cy="3219164"/>
            <a:chOff x="765167" y="1805965"/>
            <a:chExt cx="8376651" cy="3219164"/>
          </a:xfrm>
        </p:grpSpPr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B1079DF0-D9BA-D141-B107-3FACC05C58DF}"/>
                </a:ext>
              </a:extLst>
            </p:cNvPr>
            <p:cNvSpPr/>
            <p:nvPr/>
          </p:nvSpPr>
          <p:spPr>
            <a:xfrm>
              <a:off x="2147290" y="2223724"/>
              <a:ext cx="1576032" cy="155989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10" name="Straight Connector 13">
              <a:extLst>
                <a:ext uri="{FF2B5EF4-FFF2-40B4-BE49-F238E27FC236}">
                  <a16:creationId xmlns:a16="http://schemas.microsoft.com/office/drawing/2014/main" id="{117C1FEE-67D1-084A-A7FB-077AC7B5444C}"/>
                </a:ext>
              </a:extLst>
            </p:cNvPr>
            <p:cNvCxnSpPr>
              <a:cxnSpLocks/>
            </p:cNvCxnSpPr>
            <p:nvPr/>
          </p:nvCxnSpPr>
          <p:spPr>
            <a:xfrm>
              <a:off x="1773279" y="4225652"/>
              <a:ext cx="6913521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1D452BE-7F9B-9F4F-AFD9-DC30DE684E3B}"/>
                </a:ext>
              </a:extLst>
            </p:cNvPr>
            <p:cNvSpPr txBox="1"/>
            <p:nvPr/>
          </p:nvSpPr>
          <p:spPr>
            <a:xfrm>
              <a:off x="7533684" y="3219477"/>
              <a:ext cx="16081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/>
                <a:t>Non-root</a:t>
              </a:r>
              <a:r>
                <a:rPr kumimoji="1" lang="zh-CN" altLang="en-US" dirty="0"/>
                <a:t> 模式</a:t>
              </a:r>
              <a:endParaRPr kumimoji="1" lang="en-US" altLang="zh-CN" dirty="0"/>
            </a:p>
            <a:p>
              <a:pPr algn="ctr"/>
              <a:r>
                <a:rPr kumimoji="1" lang="en-US" altLang="zh-CN" dirty="0"/>
                <a:t>Ring-0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996FF38-7531-7044-9761-06199BEBFD61}"/>
                </a:ext>
              </a:extLst>
            </p:cNvPr>
            <p:cNvSpPr txBox="1"/>
            <p:nvPr/>
          </p:nvSpPr>
          <p:spPr>
            <a:xfrm>
              <a:off x="7525243" y="2325099"/>
              <a:ext cx="16081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/>
                <a:t>Non-root</a:t>
              </a:r>
              <a:r>
                <a:rPr kumimoji="1" lang="zh-CN" altLang="en-US" dirty="0"/>
                <a:t> 模式</a:t>
              </a:r>
              <a:endParaRPr kumimoji="1" lang="en-US" altLang="zh-CN" dirty="0"/>
            </a:p>
            <a:p>
              <a:pPr algn="ctr"/>
              <a:r>
                <a:rPr kumimoji="1" lang="en-US" altLang="zh-CN" dirty="0"/>
                <a:t>Ring-3</a:t>
              </a:r>
              <a:endParaRPr kumimoji="1" lang="zh-CN" altLang="en-US" dirty="0"/>
            </a:p>
          </p:txBody>
        </p: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id="{1F5190EF-F564-1F40-A0E2-411D3B4D5BF5}"/>
                </a:ext>
              </a:extLst>
            </p:cNvPr>
            <p:cNvSpPr/>
            <p:nvPr/>
          </p:nvSpPr>
          <p:spPr>
            <a:xfrm>
              <a:off x="2147290" y="4354925"/>
              <a:ext cx="5224523" cy="670204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chemeClr val="bg1"/>
                  </a:solidFill>
                  <a:cs typeface="Arial Narrow"/>
                </a:rPr>
                <a:t>虚拟机监控器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C2D095C-A4E0-B240-AEF6-50CB9E19CB6D}"/>
                </a:ext>
              </a:extLst>
            </p:cNvPr>
            <p:cNvSpPr txBox="1"/>
            <p:nvPr/>
          </p:nvSpPr>
          <p:spPr>
            <a:xfrm>
              <a:off x="765167" y="4372259"/>
              <a:ext cx="11336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/>
                <a:t>Root</a:t>
              </a:r>
              <a:r>
                <a:rPr kumimoji="1" lang="zh-CN" altLang="en-US" dirty="0"/>
                <a:t>模式</a:t>
              </a:r>
              <a:endParaRPr kumimoji="1" lang="en-US" altLang="zh-CN" dirty="0"/>
            </a:p>
            <a:p>
              <a:pPr algn="ctr"/>
              <a:r>
                <a:rPr kumimoji="1" lang="en-US" altLang="zh-CN" dirty="0"/>
                <a:t>Ring-0</a:t>
              </a:r>
              <a:endParaRPr kumimoji="1" lang="zh-CN" altLang="en-US" dirty="0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23DF1B3C-70D8-F448-94CA-A7CE740D40D8}"/>
                </a:ext>
              </a:extLst>
            </p:cNvPr>
            <p:cNvSpPr/>
            <p:nvPr/>
          </p:nvSpPr>
          <p:spPr>
            <a:xfrm>
              <a:off x="4590140" y="3113416"/>
              <a:ext cx="2636232" cy="6702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操作系统内核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CBE0768-7A69-C741-8ACF-44BDA9E7E2C9}"/>
                </a:ext>
              </a:extLst>
            </p:cNvPr>
            <p:cNvSpPr/>
            <p:nvPr/>
          </p:nvSpPr>
          <p:spPr>
            <a:xfrm>
              <a:off x="4587897" y="2204453"/>
              <a:ext cx="2636232" cy="6702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837643CB-0B54-B845-B78D-507DD889631E}"/>
                </a:ext>
              </a:extLst>
            </p:cNvPr>
            <p:cNvSpPr/>
            <p:nvPr/>
          </p:nvSpPr>
          <p:spPr>
            <a:xfrm>
              <a:off x="4440212" y="1805965"/>
              <a:ext cx="2931601" cy="2133498"/>
            </a:xfrm>
            <a:prstGeom prst="roundRect">
              <a:avLst>
                <a:gd name="adj" fmla="val 6497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DF1401A-A8B3-454B-B240-EFA78CAABC90}"/>
                </a:ext>
              </a:extLst>
            </p:cNvPr>
            <p:cNvSpPr txBox="1"/>
            <p:nvPr/>
          </p:nvSpPr>
          <p:spPr>
            <a:xfrm>
              <a:off x="5436096" y="1839539"/>
              <a:ext cx="141661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虚拟机</a:t>
              </a:r>
              <a:r>
                <a:rPr kumimoji="1" lang="en-US" altLang="zh-CN" dirty="0"/>
                <a:t>N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86418850-A836-444A-85CE-21871D5D00BE}"/>
              </a:ext>
            </a:extLst>
          </p:cNvPr>
          <p:cNvSpPr txBox="1"/>
          <p:nvPr/>
        </p:nvSpPr>
        <p:spPr>
          <a:xfrm>
            <a:off x="395536" y="2595591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Ring-3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638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637B1-BF04-354A-B52E-893C70BE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Machine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Structure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(VMCS)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60AD64-5E1E-7445-BD7B-4AA634283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VMM</a:t>
            </a:r>
            <a:r>
              <a:rPr kumimoji="1" lang="zh-CN" altLang="en-US" dirty="0"/>
              <a:t>提供给硬件的内存页（</a:t>
            </a:r>
            <a:r>
              <a:rPr kumimoji="1" lang="en-US" altLang="zh-CN" dirty="0"/>
              <a:t>4KB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记录与当前</a:t>
            </a:r>
            <a:r>
              <a:rPr kumimoji="1" lang="en-US" altLang="zh-CN" dirty="0"/>
              <a:t>VM</a:t>
            </a:r>
            <a:r>
              <a:rPr kumimoji="1" lang="zh-CN" altLang="en-US" dirty="0"/>
              <a:t>运行相关的所有状态</a:t>
            </a:r>
            <a:endParaRPr kumimoji="1" lang="en-US" altLang="zh-CN" dirty="0"/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</a:p>
          <a:p>
            <a:pPr lvl="1"/>
            <a:r>
              <a:rPr kumimoji="1" lang="zh-CN" altLang="en-US" dirty="0"/>
              <a:t>硬件自动将当前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状态保存至</a:t>
            </a:r>
            <a:r>
              <a:rPr kumimoji="1" lang="en-US" altLang="zh-CN" dirty="0"/>
              <a:t>VMCS</a:t>
            </a:r>
          </a:p>
          <a:p>
            <a:pPr lvl="1"/>
            <a:r>
              <a:rPr kumimoji="1" lang="zh-CN" altLang="en-US" dirty="0"/>
              <a:t>硬件硬件自动从</a:t>
            </a:r>
            <a:r>
              <a:rPr kumimoji="1" lang="en-US" altLang="zh-CN" dirty="0"/>
              <a:t>VMCS</a:t>
            </a:r>
            <a:r>
              <a:rPr kumimoji="1" lang="zh-CN" altLang="en-US" dirty="0"/>
              <a:t>中加载</a:t>
            </a:r>
            <a:r>
              <a:rPr kumimoji="1" lang="en-US" altLang="zh-CN" dirty="0"/>
              <a:t>VM</a:t>
            </a:r>
            <a:r>
              <a:rPr kumimoji="1" lang="zh-CN" altLang="en-US" dirty="0"/>
              <a:t>状态至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</a:p>
          <a:p>
            <a:pPr lvl="1"/>
            <a:r>
              <a:rPr kumimoji="1" lang="zh-CN" altLang="en-US" dirty="0"/>
              <a:t>硬件自动将当前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VM</a:t>
            </a:r>
            <a:r>
              <a:rPr kumimoji="1" lang="zh-CN" altLang="en-US" dirty="0"/>
              <a:t>状态保存至</a:t>
            </a:r>
            <a:r>
              <a:rPr kumimoji="1" lang="en-US" altLang="zh-CN" dirty="0"/>
              <a:t>VMCS</a:t>
            </a:r>
          </a:p>
          <a:p>
            <a:pPr lvl="1"/>
            <a:r>
              <a:rPr kumimoji="1" lang="zh-CN" altLang="en-US" dirty="0"/>
              <a:t>硬件自动从</a:t>
            </a:r>
            <a:r>
              <a:rPr kumimoji="1" lang="en-US" altLang="zh-CN" dirty="0"/>
              <a:t>VMCS</a:t>
            </a:r>
            <a:r>
              <a:rPr kumimoji="1" lang="zh-CN" altLang="en-US" dirty="0"/>
              <a:t>加载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状态至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中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61F7E6-AD13-134F-9EBF-B9E75406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B2F501-E7A2-8948-8719-33A099C21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6912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B91B4-7DA0-E040-ACD5-4BD8C59F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VT-x</a:t>
            </a:r>
            <a:r>
              <a:rPr kumimoji="1" lang="zh-CN" altLang="en-US" dirty="0"/>
              <a:t> </a:t>
            </a:r>
            <a:r>
              <a:rPr kumimoji="1" lang="en-US" altLang="zh-CN" dirty="0"/>
              <a:t>VMCS</a:t>
            </a:r>
            <a:r>
              <a:rPr kumimoji="1" lang="zh-CN" altLang="en-US" dirty="0"/>
              <a:t>的内容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30ADD3-DAF6-634F-9975-B0A4068C3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包含</a:t>
            </a:r>
            <a:r>
              <a:rPr kumimoji="1" lang="en-US" altLang="zh-CN" dirty="0"/>
              <a:t>6</a:t>
            </a:r>
            <a:r>
              <a:rPr kumimoji="1" lang="zh-CN" altLang="en-US" dirty="0"/>
              <a:t>个部分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Guest-state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area:</a:t>
            </a:r>
            <a:r>
              <a:rPr kumimoji="1" lang="zh-CN" altLang="en-US" dirty="0"/>
              <a:t> 发生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时，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的状态会被硬件自动保存至该区域；发生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时，硬件自动从该区域加载状态至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Host-state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area</a:t>
            </a:r>
            <a:r>
              <a:rPr kumimoji="1" lang="zh-CN" altLang="en-US" dirty="0"/>
              <a:t>：发生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时，硬件自动从该区域加载状态至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中；发生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时，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的状态会被自动保存至该区域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VM-execution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fields</a:t>
            </a:r>
            <a:r>
              <a:rPr kumimoji="1"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控制</a:t>
            </a:r>
            <a:r>
              <a:rPr lang="en-US" altLang="zh-CN" dirty="0"/>
              <a:t>Non-root</a:t>
            </a:r>
            <a:r>
              <a:rPr lang="zh-CN" altLang="en-US" dirty="0"/>
              <a:t>模式中虚拟机的行为</a:t>
            </a:r>
            <a:endParaRPr lang="en-US" altLang="zh-CN" dirty="0"/>
          </a:p>
          <a:p>
            <a:pPr lvl="1"/>
            <a:r>
              <a:rPr kumimoji="1" lang="en-US" altLang="zh-CN" dirty="0"/>
              <a:t>VM-exit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fields</a:t>
            </a:r>
            <a:r>
              <a:rPr kumimoji="1" lang="zh-CN" altLang="en-US" dirty="0"/>
              <a:t>：控制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的行为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VM-entry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fields</a:t>
            </a:r>
            <a:r>
              <a:rPr kumimoji="1" lang="zh-CN" altLang="en-US" dirty="0"/>
              <a:t>：控制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的行为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VM-exit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information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fields</a:t>
            </a:r>
            <a:r>
              <a:rPr kumimoji="1" lang="zh-CN" altLang="en-US" dirty="0"/>
              <a:t>：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的原因和相关信息（只读区域）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C0B91A-B7A5-544A-822B-FEF23BFF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AE0A03-2AB2-F64B-80DF-3518101E8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6174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50B0B-05A3-2D43-AD42-4C9912DD7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VT-x</a:t>
            </a:r>
            <a:r>
              <a:rPr kumimoji="1" lang="zh-CN" altLang="en-US" dirty="0"/>
              <a:t>的执行过程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C30944-3BD4-8E46-9825-B3146BF9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894662-8396-584A-B408-F03957F96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D471D002-7C05-6C46-8CB4-2C439B19EBA6}"/>
              </a:ext>
            </a:extLst>
          </p:cNvPr>
          <p:cNvGrpSpPr>
            <a:grpSpLocks/>
          </p:cNvGrpSpPr>
          <p:nvPr/>
        </p:nvGrpSpPr>
        <p:grpSpPr bwMode="auto">
          <a:xfrm>
            <a:off x="2346052" y="3865612"/>
            <a:ext cx="5867400" cy="1016000"/>
            <a:chOff x="1440" y="2832"/>
            <a:chExt cx="3696" cy="76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756816DE-4CB3-3F4F-82CE-1B91E1B87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216"/>
              <a:ext cx="3696" cy="384"/>
            </a:xfrm>
            <a:prstGeom prst="rect">
              <a:avLst/>
            </a:prstGeom>
            <a:solidFill>
              <a:srgbClr val="515151"/>
            </a:solidFill>
            <a:ln w="9525">
              <a:solidFill>
                <a:srgbClr val="51515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2"/>
                  </a:solidFill>
                  <a:cs typeface="Arial Narrow"/>
                </a:rPr>
                <a:t>Ring 0</a:t>
              </a: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2D6E977B-DC69-854D-B224-AB37AB58A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832"/>
              <a:ext cx="3696" cy="384"/>
            </a:xfrm>
            <a:prstGeom prst="rect">
              <a:avLst/>
            </a:prstGeom>
            <a:solidFill>
              <a:srgbClr val="BE384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2"/>
                  </a:solidFill>
                  <a:cs typeface="Arial Narrow"/>
                </a:rPr>
                <a:t>Ring 3</a:t>
              </a:r>
            </a:p>
          </p:txBody>
        </p:sp>
      </p:grpSp>
      <p:sp>
        <p:nvSpPr>
          <p:cNvPr id="10" name="Text Box 7">
            <a:extLst>
              <a:ext uri="{FF2B5EF4-FFF2-40B4-BE49-F238E27FC236}">
                <a16:creationId xmlns:a16="http://schemas.microsoft.com/office/drawing/2014/main" id="{5F3516E8-4253-0C4A-B1F2-0A9C1D619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197" y="4014360"/>
            <a:ext cx="13532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404040"/>
                </a:solidFill>
                <a:cs typeface="Arial Narrow"/>
              </a:rPr>
              <a:t>VMX Root</a:t>
            </a:r>
          </a:p>
          <a:p>
            <a:pPr algn="l"/>
            <a:r>
              <a:rPr lang="en-US" altLang="zh-CN" sz="2000" dirty="0">
                <a:solidFill>
                  <a:srgbClr val="404040"/>
                </a:solidFill>
                <a:cs typeface="Arial Narrow"/>
              </a:rPr>
              <a:t>Operation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7A3CA0BF-BEB7-0B48-8A38-4C9AA6DD3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54" y="1579613"/>
            <a:ext cx="130997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404040"/>
                </a:solidFill>
                <a:cs typeface="Arial Narrow"/>
              </a:rPr>
              <a:t>VMX </a:t>
            </a:r>
          </a:p>
          <a:p>
            <a:pPr algn="l"/>
            <a:r>
              <a:rPr lang="en-US" altLang="zh-CN" sz="2000" dirty="0">
                <a:solidFill>
                  <a:srgbClr val="404040"/>
                </a:solidFill>
                <a:cs typeface="Arial Narrow"/>
              </a:rPr>
              <a:t>Non-root</a:t>
            </a:r>
          </a:p>
          <a:p>
            <a:pPr algn="l"/>
            <a:r>
              <a:rPr lang="en-US" altLang="zh-CN" sz="2000" dirty="0">
                <a:solidFill>
                  <a:srgbClr val="404040"/>
                </a:solidFill>
                <a:cs typeface="Arial Narrow"/>
              </a:rPr>
              <a:t>Operation</a:t>
            </a: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3D1C1813-E5D9-5E47-94A2-CB917670B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3365500"/>
            <a:ext cx="838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 Narrow"/>
              <a:cs typeface="Arial Narrow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826F7686-175F-8F44-989F-03209818B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053" y="1857425"/>
            <a:ext cx="5373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>
                <a:cs typeface="Arial Narrow"/>
              </a:rPr>
              <a:t>. . .</a:t>
            </a:r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C7E12574-09B9-504A-84FF-5C9BB1FC5AB3}"/>
              </a:ext>
            </a:extLst>
          </p:cNvPr>
          <p:cNvGrpSpPr>
            <a:grpSpLocks/>
          </p:cNvGrpSpPr>
          <p:nvPr/>
        </p:nvGrpSpPr>
        <p:grpSpPr bwMode="auto">
          <a:xfrm>
            <a:off x="2346052" y="985623"/>
            <a:ext cx="1371600" cy="1673490"/>
            <a:chOff x="1440" y="463"/>
            <a:chExt cx="864" cy="1265"/>
          </a:xfrm>
        </p:grpSpPr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5761DDBD-4263-634D-BC6C-3E0847C7A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344"/>
              <a:ext cx="864" cy="384"/>
            </a:xfrm>
            <a:prstGeom prst="rect">
              <a:avLst/>
            </a:prstGeom>
            <a:solidFill>
              <a:srgbClr val="51515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2"/>
                  </a:solidFill>
                  <a:cs typeface="Arial Narrow"/>
                </a:rPr>
                <a:t>Ring 0</a:t>
              </a: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0F0AB8B8-3305-1245-82DE-979A1C310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960"/>
              <a:ext cx="864" cy="384"/>
            </a:xfrm>
            <a:prstGeom prst="rect">
              <a:avLst/>
            </a:prstGeom>
            <a:solidFill>
              <a:srgbClr val="BE384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2"/>
                  </a:solidFill>
                  <a:cs typeface="Arial Narrow"/>
                </a:rPr>
                <a:t>Ring 3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301A5718-9C5F-8C4F-A742-49DFEE2B3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7" y="463"/>
              <a:ext cx="70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cs typeface="Arial Narrow"/>
                </a:rPr>
                <a:t>VM1</a:t>
              </a:r>
            </a:p>
            <a:p>
              <a:pPr algn="ctr"/>
              <a:r>
                <a:rPr lang="en-US" altLang="zh-CN" sz="2000" dirty="0">
                  <a:cs typeface="Arial Narrow"/>
                </a:rPr>
                <a:t>VCPU 1</a:t>
              </a:r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34B9B43B-8A11-F742-A242-812CB307657B}"/>
              </a:ext>
            </a:extLst>
          </p:cNvPr>
          <p:cNvGrpSpPr>
            <a:grpSpLocks/>
          </p:cNvGrpSpPr>
          <p:nvPr/>
        </p:nvGrpSpPr>
        <p:grpSpPr bwMode="auto">
          <a:xfrm>
            <a:off x="4098655" y="985623"/>
            <a:ext cx="1371601" cy="1673490"/>
            <a:chOff x="2544" y="463"/>
            <a:chExt cx="864" cy="1265"/>
          </a:xfrm>
        </p:grpSpPr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83D73D8C-8D1A-4D4B-A3F6-282ACF678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44"/>
              <a:ext cx="864" cy="384"/>
            </a:xfrm>
            <a:prstGeom prst="rect">
              <a:avLst/>
            </a:prstGeom>
            <a:solidFill>
              <a:srgbClr val="515151"/>
            </a:solidFill>
            <a:ln w="9525">
              <a:solidFill>
                <a:srgbClr val="51515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solidFill>
                    <a:schemeClr val="bg2"/>
                  </a:solidFill>
                  <a:cs typeface="Arial Narrow"/>
                </a:rPr>
                <a:t>Ring 0</a:t>
              </a: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75AC76B2-5D24-B247-9BB4-18B3FD854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960"/>
              <a:ext cx="864" cy="384"/>
            </a:xfrm>
            <a:prstGeom prst="rect">
              <a:avLst/>
            </a:prstGeom>
            <a:solidFill>
              <a:srgbClr val="BE384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solidFill>
                    <a:schemeClr val="bg2"/>
                  </a:solidFill>
                  <a:cs typeface="Arial Narrow"/>
                </a:rPr>
                <a:t>Ring 3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77725470-A2E9-8E46-8E9F-B900B4143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1" y="463"/>
              <a:ext cx="70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cs typeface="Arial Narrow"/>
                </a:rPr>
                <a:t>VM</a:t>
              </a:r>
              <a:r>
                <a:rPr lang="zh-CN" altLang="en-US" sz="2000" dirty="0">
                  <a:cs typeface="Arial Narrow"/>
                </a:rPr>
                <a:t> </a:t>
              </a:r>
              <a:r>
                <a:rPr lang="en-US" altLang="zh-CN" sz="2000" dirty="0">
                  <a:cs typeface="Arial Narrow"/>
                </a:rPr>
                <a:t>1</a:t>
              </a:r>
            </a:p>
            <a:p>
              <a:pPr algn="ctr"/>
              <a:r>
                <a:rPr lang="en-US" altLang="zh-CN" sz="2000" dirty="0">
                  <a:cs typeface="Arial Narrow"/>
                </a:rPr>
                <a:t>VCPU 2</a:t>
              </a:r>
            </a:p>
          </p:txBody>
        </p:sp>
      </p:grpSp>
      <p:grpSp>
        <p:nvGrpSpPr>
          <p:cNvPr id="22" name="Group 19">
            <a:extLst>
              <a:ext uri="{FF2B5EF4-FFF2-40B4-BE49-F238E27FC236}">
                <a16:creationId xmlns:a16="http://schemas.microsoft.com/office/drawing/2014/main" id="{A228DC2F-69AB-A444-A5FC-B40FACE99452}"/>
              </a:ext>
            </a:extLst>
          </p:cNvPr>
          <p:cNvGrpSpPr>
            <a:grpSpLocks/>
          </p:cNvGrpSpPr>
          <p:nvPr/>
        </p:nvGrpSpPr>
        <p:grpSpPr bwMode="auto">
          <a:xfrm>
            <a:off x="6765652" y="985623"/>
            <a:ext cx="1371600" cy="1673490"/>
            <a:chOff x="4224" y="463"/>
            <a:chExt cx="864" cy="1265"/>
          </a:xfrm>
        </p:grpSpPr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548FE740-6205-A24D-995F-1ECFEB0D8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344"/>
              <a:ext cx="864" cy="384"/>
            </a:xfrm>
            <a:prstGeom prst="rect">
              <a:avLst/>
            </a:prstGeom>
            <a:solidFill>
              <a:srgbClr val="51515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solidFill>
                    <a:schemeClr val="bg2"/>
                  </a:solidFill>
                  <a:cs typeface="Arial Narrow"/>
                </a:rPr>
                <a:t>Ring 0</a:t>
              </a: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1AE8574E-9FC3-7847-84B9-7E29C5894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960"/>
              <a:ext cx="864" cy="384"/>
            </a:xfrm>
            <a:prstGeom prst="rect">
              <a:avLst/>
            </a:prstGeom>
            <a:solidFill>
              <a:srgbClr val="BE384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2"/>
                  </a:solidFill>
                  <a:cs typeface="Arial Narrow"/>
                </a:rPr>
                <a:t>Ring 3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AAB5609A-1AAB-4A46-92DD-D1B806775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" y="463"/>
              <a:ext cx="70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cs typeface="Arial Narrow"/>
                </a:rPr>
                <a:t>VM</a:t>
              </a:r>
              <a:r>
                <a:rPr lang="zh-CN" altLang="en-US" sz="2000" dirty="0">
                  <a:cs typeface="Arial Narrow"/>
                </a:rPr>
                <a:t> </a:t>
              </a:r>
              <a:r>
                <a:rPr lang="en-US" altLang="zh-CN" sz="2000" dirty="0">
                  <a:cs typeface="Arial Narrow"/>
                </a:rPr>
                <a:t>m</a:t>
              </a:r>
            </a:p>
            <a:p>
              <a:pPr algn="ctr"/>
              <a:r>
                <a:rPr lang="en-US" altLang="zh-CN" sz="2000" dirty="0">
                  <a:cs typeface="Arial Narrow"/>
                </a:rPr>
                <a:t>VCPU n</a:t>
              </a:r>
            </a:p>
          </p:txBody>
        </p:sp>
      </p:grpSp>
      <p:sp>
        <p:nvSpPr>
          <p:cNvPr id="26" name="Line 23">
            <a:extLst>
              <a:ext uri="{FF2B5EF4-FFF2-40B4-BE49-F238E27FC236}">
                <a16:creationId xmlns:a16="http://schemas.microsoft.com/office/drawing/2014/main" id="{087FC29F-BD62-D546-9796-22597EACB4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8052" y="2659112"/>
            <a:ext cx="0" cy="171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cs typeface="Arial Narrow"/>
            </a:endParaRP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0A62B486-9F25-614E-BD34-CD38AF0595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60652" y="2659112"/>
            <a:ext cx="0" cy="171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cs typeface="Arial Narrow"/>
            </a:endParaRPr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3A3AF7D7-250D-134C-9A72-C9E4769DE3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7652" y="2659112"/>
            <a:ext cx="0" cy="171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cs typeface="Arial Narrow"/>
            </a:endParaRP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B402EA94-1F07-E74F-970B-018AF9A02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652" y="4439759"/>
            <a:ext cx="11256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  <a:cs typeface="Arial Narrow"/>
              </a:rPr>
              <a:t>VMXON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32CF8D11-735B-874E-9F4A-F9F385A13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428" y="4423612"/>
            <a:ext cx="16273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  <a:cs typeface="Arial Narrow"/>
              </a:rPr>
              <a:t>VMLAUNCH</a:t>
            </a: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C1CB3EF9-D516-5F4D-BA6A-529FCB607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428" y="4429709"/>
            <a:ext cx="16690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  <a:cs typeface="Arial Narrow"/>
              </a:rPr>
              <a:t>VMRESUME</a:t>
            </a: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24562994-EEF9-EC4F-9D3E-00BC3E263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879" y="2844026"/>
            <a:ext cx="1109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1">
                <a:cs typeface="Arial Narrow"/>
              </a:rPr>
              <a:t>VM Exit</a:t>
            </a: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1A6E3B25-C964-384C-9F7B-920142964D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8052" y="2659112"/>
            <a:ext cx="0" cy="1714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cs typeface="Arial Narrow"/>
            </a:endParaRPr>
          </a:p>
        </p:txBody>
      </p:sp>
      <p:grpSp>
        <p:nvGrpSpPr>
          <p:cNvPr id="34" name="Group 31">
            <a:extLst>
              <a:ext uri="{FF2B5EF4-FFF2-40B4-BE49-F238E27FC236}">
                <a16:creationId xmlns:a16="http://schemas.microsoft.com/office/drawing/2014/main" id="{E393FDB6-D131-EE40-B368-C0C131A8ACDC}"/>
              </a:ext>
            </a:extLst>
          </p:cNvPr>
          <p:cNvGrpSpPr>
            <a:grpSpLocks/>
          </p:cNvGrpSpPr>
          <p:nvPr/>
        </p:nvGrpSpPr>
        <p:grpSpPr bwMode="auto">
          <a:xfrm>
            <a:off x="4403452" y="2659112"/>
            <a:ext cx="838200" cy="1079500"/>
            <a:chOff x="1968" y="1920"/>
            <a:chExt cx="528" cy="816"/>
          </a:xfrm>
          <a:solidFill>
            <a:srgbClr val="FFFF99"/>
          </a:solidFill>
        </p:grpSpPr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F21AB320-EA68-5E42-89AF-9EC531E8A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307"/>
              <a:ext cx="528" cy="429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cs typeface="Arial Narrow"/>
                </a:rPr>
                <a:t>VMCS</a:t>
              </a:r>
            </a:p>
            <a:p>
              <a:pPr algn="ctr"/>
              <a:r>
                <a:rPr lang="en-US" altLang="zh-CN" sz="2000" dirty="0">
                  <a:cs typeface="Arial Narrow"/>
                </a:rPr>
                <a:t>2</a:t>
              </a:r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23E20BD8-A6C1-C444-8631-2823E8254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6" y="1920"/>
              <a:ext cx="0" cy="387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2000">
                <a:cs typeface="Arial Narrow"/>
              </a:endParaRPr>
            </a:p>
          </p:txBody>
        </p:sp>
      </p:grpSp>
      <p:grpSp>
        <p:nvGrpSpPr>
          <p:cNvPr id="37" name="Group 34">
            <a:extLst>
              <a:ext uri="{FF2B5EF4-FFF2-40B4-BE49-F238E27FC236}">
                <a16:creationId xmlns:a16="http://schemas.microsoft.com/office/drawing/2014/main" id="{0EE15572-135E-D549-9D9B-F02E804D528F}"/>
              </a:ext>
            </a:extLst>
          </p:cNvPr>
          <p:cNvGrpSpPr>
            <a:grpSpLocks/>
          </p:cNvGrpSpPr>
          <p:nvPr/>
        </p:nvGrpSpPr>
        <p:grpSpPr bwMode="auto">
          <a:xfrm>
            <a:off x="7070452" y="2659112"/>
            <a:ext cx="838200" cy="1079500"/>
            <a:chOff x="1968" y="1920"/>
            <a:chExt cx="528" cy="816"/>
          </a:xfrm>
          <a:solidFill>
            <a:srgbClr val="FFFF99"/>
          </a:solidFill>
        </p:grpSpPr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AA60C1B0-76BC-4A42-AE63-095F8DAB0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307"/>
              <a:ext cx="528" cy="429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cs typeface="Arial Narrow"/>
                </a:rPr>
                <a:t>VMCS</a:t>
              </a:r>
            </a:p>
            <a:p>
              <a:pPr algn="ctr"/>
              <a:r>
                <a:rPr lang="en-US" altLang="zh-CN" sz="2000" dirty="0">
                  <a:cs typeface="Arial Narrow"/>
                </a:rPr>
                <a:t>n</a:t>
              </a:r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CEC7B1DB-A3B6-9541-998B-6E672E740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6" y="1920"/>
              <a:ext cx="0" cy="387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2000">
                <a:cs typeface="Arial Narrow"/>
              </a:endParaRPr>
            </a:p>
          </p:txBody>
        </p:sp>
      </p:grpSp>
      <p:grpSp>
        <p:nvGrpSpPr>
          <p:cNvPr id="40" name="Group 37">
            <a:extLst>
              <a:ext uri="{FF2B5EF4-FFF2-40B4-BE49-F238E27FC236}">
                <a16:creationId xmlns:a16="http://schemas.microsoft.com/office/drawing/2014/main" id="{E067A487-75CD-E544-92F6-4236602579A1}"/>
              </a:ext>
            </a:extLst>
          </p:cNvPr>
          <p:cNvGrpSpPr>
            <a:grpSpLocks/>
          </p:cNvGrpSpPr>
          <p:nvPr/>
        </p:nvGrpSpPr>
        <p:grpSpPr bwMode="auto">
          <a:xfrm>
            <a:off x="2650852" y="2659112"/>
            <a:ext cx="838200" cy="1079500"/>
            <a:chOff x="1968" y="1920"/>
            <a:chExt cx="528" cy="816"/>
          </a:xfrm>
          <a:solidFill>
            <a:schemeClr val="accent4">
              <a:lumMod val="50000"/>
            </a:schemeClr>
          </a:solidFill>
        </p:grpSpPr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D66FD3C4-EE45-D147-A64F-BC216D963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307"/>
              <a:ext cx="528" cy="42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cs typeface="Arial Narrow"/>
                </a:rPr>
                <a:t>VMCS</a:t>
              </a:r>
            </a:p>
            <a:p>
              <a:pPr algn="ctr"/>
              <a:r>
                <a:rPr lang="en-US" altLang="zh-CN" sz="2000" dirty="0">
                  <a:cs typeface="Arial Narrow"/>
                </a:rPr>
                <a:t>1</a:t>
              </a:r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6BC240DD-6BD0-2A41-956D-1C5A2BA599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6" y="1920"/>
              <a:ext cx="0" cy="387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2000">
                <a:cs typeface="Arial Narrow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24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/>
      <p:bldP spid="26" grpId="0" animBg="1"/>
      <p:bldP spid="26" grpId="1" animBg="1"/>
      <p:bldP spid="26" grpId="2" animBg="1"/>
      <p:bldP spid="26" grpId="3" animBg="1"/>
      <p:bldP spid="27" grpId="0" animBg="1"/>
      <p:bldP spid="27" grpId="1" animBg="1"/>
      <p:bldP spid="28" grpId="0" animBg="1"/>
      <p:bldP spid="28" grpId="1" animBg="1"/>
      <p:bldP spid="29" grpId="0"/>
      <p:bldP spid="29" grpId="1"/>
      <p:bldP spid="30" grpId="0"/>
      <p:bldP spid="30" grpId="1"/>
      <p:bldP spid="30" grpId="2"/>
      <p:bldP spid="30" grpId="3"/>
      <p:bldP spid="31" grpId="0"/>
      <p:bldP spid="31" grpId="1"/>
      <p:bldP spid="32" grpId="0"/>
      <p:bldP spid="32" grpId="1"/>
      <p:bldP spid="33" grpId="0" animBg="1"/>
      <p:bldP spid="3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EA400-56D1-7944-9A70-02D15A2B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x86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5A407D-4005-8046-98F5-860F1CBEE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</a:p>
          <a:p>
            <a:pPr lvl="1"/>
            <a:r>
              <a:rPr kumimoji="1" lang="zh-CN" altLang="en-US" dirty="0"/>
              <a:t>从</a:t>
            </a:r>
            <a:r>
              <a:rPr kumimoji="1" lang="en-US" altLang="zh-CN" dirty="0"/>
              <a:t>VMM</a:t>
            </a:r>
            <a:r>
              <a:rPr kumimoji="1" lang="zh-CN" altLang="en-US" dirty="0"/>
              <a:t>进入</a:t>
            </a:r>
            <a:r>
              <a:rPr kumimoji="1" lang="en-US" altLang="zh-CN" dirty="0"/>
              <a:t>VM</a:t>
            </a:r>
          </a:p>
          <a:p>
            <a:pPr lvl="1"/>
            <a:r>
              <a:rPr kumimoji="1" lang="zh-CN" altLang="en-US" dirty="0"/>
              <a:t>从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模式切换到</a:t>
            </a:r>
            <a:r>
              <a:rPr kumimoji="1" lang="en-US" altLang="zh-CN" dirty="0"/>
              <a:t>Non-root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第一次启动虚拟机时使用</a:t>
            </a:r>
            <a:r>
              <a:rPr kumimoji="1" lang="en-US" altLang="zh-CN" dirty="0">
                <a:solidFill>
                  <a:srgbClr val="BE384B"/>
                </a:solidFill>
              </a:rPr>
              <a:t>VMLAUNCH</a:t>
            </a:r>
            <a:r>
              <a:rPr kumimoji="1" lang="zh-CN" altLang="en-US" dirty="0">
                <a:solidFill>
                  <a:srgbClr val="BE384B"/>
                </a:solidFill>
              </a:rPr>
              <a:t>指令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r>
              <a:rPr kumimoji="1" lang="zh-CN" altLang="en-US" dirty="0">
                <a:solidFill>
                  <a:srgbClr val="404040"/>
                </a:solidFill>
              </a:rPr>
              <a:t>后续的</a:t>
            </a:r>
            <a:r>
              <a:rPr kumimoji="1" lang="en-US" altLang="zh-CN" dirty="0">
                <a:solidFill>
                  <a:srgbClr val="404040"/>
                </a:solidFill>
              </a:rPr>
              <a:t>VM</a:t>
            </a:r>
            <a:r>
              <a:rPr kumimoji="1" lang="zh-CN" altLang="en-US" dirty="0">
                <a:solidFill>
                  <a:srgbClr val="404040"/>
                </a:solidFill>
              </a:rPr>
              <a:t> </a:t>
            </a:r>
            <a:r>
              <a:rPr kumimoji="1" lang="en-US" altLang="zh-CN" dirty="0">
                <a:solidFill>
                  <a:srgbClr val="404040"/>
                </a:solidFill>
              </a:rPr>
              <a:t>Entry</a:t>
            </a:r>
            <a:r>
              <a:rPr kumimoji="1" lang="zh-CN" altLang="en-US" dirty="0">
                <a:solidFill>
                  <a:srgbClr val="404040"/>
                </a:solidFill>
              </a:rPr>
              <a:t>使用</a:t>
            </a:r>
            <a:r>
              <a:rPr kumimoji="1" lang="en-US" altLang="zh-CN" dirty="0">
                <a:solidFill>
                  <a:srgbClr val="BE384B"/>
                </a:solidFill>
              </a:rPr>
              <a:t>VMRESUME</a:t>
            </a:r>
            <a:r>
              <a:rPr kumimoji="1" lang="zh-CN" altLang="en-US" dirty="0">
                <a:solidFill>
                  <a:srgbClr val="BE384B"/>
                </a:solidFill>
              </a:rPr>
              <a:t>指令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</a:p>
          <a:p>
            <a:pPr lvl="1"/>
            <a:r>
              <a:rPr kumimoji="1" lang="zh-CN" altLang="en-US" dirty="0"/>
              <a:t>从</a:t>
            </a:r>
            <a:r>
              <a:rPr kumimoji="1" lang="en-US" altLang="zh-CN" dirty="0"/>
              <a:t>VM</a:t>
            </a:r>
            <a:r>
              <a:rPr kumimoji="1" lang="zh-CN" altLang="en-US" dirty="0"/>
              <a:t>回到</a:t>
            </a:r>
            <a:r>
              <a:rPr kumimoji="1" lang="en-US" altLang="zh-CN" dirty="0"/>
              <a:t>VMM</a:t>
            </a:r>
          </a:p>
          <a:p>
            <a:pPr lvl="1"/>
            <a:r>
              <a:rPr kumimoji="1" lang="zh-CN" altLang="en-US" dirty="0"/>
              <a:t>从</a:t>
            </a:r>
            <a:r>
              <a:rPr kumimoji="1" lang="en-US" altLang="zh-CN" dirty="0"/>
              <a:t>Non-root</a:t>
            </a:r>
            <a:r>
              <a:rPr kumimoji="1" lang="zh-CN" altLang="en-US" dirty="0"/>
              <a:t>模式切换到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虚拟机执行敏感指令或发生事件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如外部中断</a:t>
            </a:r>
            <a:r>
              <a:rPr kumimoji="1" lang="en-US" altLang="zh-CN" dirty="0"/>
              <a:t>)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D340D-63D6-8843-A0D3-50B23A6F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2F736-4719-3840-92FB-FB5DE3981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D36E8B7-015D-8A4A-9C64-368241A2FAF7}"/>
              </a:ext>
            </a:extLst>
          </p:cNvPr>
          <p:cNvGrpSpPr/>
          <p:nvPr/>
        </p:nvGrpSpPr>
        <p:grpSpPr>
          <a:xfrm>
            <a:off x="5724129" y="1540642"/>
            <a:ext cx="3093376" cy="2342447"/>
            <a:chOff x="-56953" y="1805965"/>
            <a:chExt cx="8743753" cy="3219164"/>
          </a:xfrm>
        </p:grpSpPr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64452D7E-C80D-414D-9C62-854A43644187}"/>
                </a:ext>
              </a:extLst>
            </p:cNvPr>
            <p:cNvSpPr/>
            <p:nvPr/>
          </p:nvSpPr>
          <p:spPr>
            <a:xfrm>
              <a:off x="2422147" y="3132688"/>
              <a:ext cx="2636232" cy="6702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操作系统</a:t>
              </a:r>
              <a:endParaRPr lang="en-US" altLang="zh-CN" sz="11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内核</a:t>
              </a:r>
              <a:endParaRPr lang="en-US" sz="11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FB058D2A-9CF0-3245-B50E-5388ABCA2832}"/>
                </a:ext>
              </a:extLst>
            </p:cNvPr>
            <p:cNvSpPr/>
            <p:nvPr/>
          </p:nvSpPr>
          <p:spPr>
            <a:xfrm>
              <a:off x="2419904" y="2223725"/>
              <a:ext cx="2636232" cy="6702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1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28" name="Straight Connector 13">
              <a:extLst>
                <a:ext uri="{FF2B5EF4-FFF2-40B4-BE49-F238E27FC236}">
                  <a16:creationId xmlns:a16="http://schemas.microsoft.com/office/drawing/2014/main" id="{09F9FDAF-0D8F-D94B-860C-C354668D9442}"/>
                </a:ext>
              </a:extLst>
            </p:cNvPr>
            <p:cNvCxnSpPr>
              <a:cxnSpLocks/>
            </p:cNvCxnSpPr>
            <p:nvPr/>
          </p:nvCxnSpPr>
          <p:spPr>
            <a:xfrm>
              <a:off x="604293" y="4225652"/>
              <a:ext cx="8082507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2">
              <a:extLst>
                <a:ext uri="{FF2B5EF4-FFF2-40B4-BE49-F238E27FC236}">
                  <a16:creationId xmlns:a16="http://schemas.microsoft.com/office/drawing/2014/main" id="{1107B237-FE2C-7041-8602-82883C0282D4}"/>
                </a:ext>
              </a:extLst>
            </p:cNvPr>
            <p:cNvSpPr/>
            <p:nvPr/>
          </p:nvSpPr>
          <p:spPr>
            <a:xfrm>
              <a:off x="2145403" y="4354924"/>
              <a:ext cx="6243021" cy="670205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100" dirty="0">
                  <a:solidFill>
                    <a:schemeClr val="bg1"/>
                  </a:solidFill>
                  <a:cs typeface="Arial Narrow"/>
                </a:rPr>
                <a:t>虚拟机监控器</a:t>
              </a:r>
              <a:endParaRPr lang="en-US" sz="1100" dirty="0">
                <a:solidFill>
                  <a:schemeClr val="bg1"/>
                </a:solidFill>
                <a:cs typeface="Arial Narrow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AD28F15-8D55-5B46-A99C-4F4638670179}"/>
                </a:ext>
              </a:extLst>
            </p:cNvPr>
            <p:cNvSpPr txBox="1"/>
            <p:nvPr/>
          </p:nvSpPr>
          <p:spPr>
            <a:xfrm>
              <a:off x="-56953" y="4452850"/>
              <a:ext cx="1532784" cy="524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/>
                <a:t>Root</a:t>
              </a:r>
              <a:r>
                <a:rPr kumimoji="1" lang="zh-CN" altLang="en-US" sz="1100" dirty="0"/>
                <a:t>模式</a:t>
              </a:r>
            </a:p>
          </p:txBody>
        </p:sp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4D15BFAA-F48F-1D4D-9F6B-5B23382FDB1A}"/>
                </a:ext>
              </a:extLst>
            </p:cNvPr>
            <p:cNvSpPr/>
            <p:nvPr/>
          </p:nvSpPr>
          <p:spPr>
            <a:xfrm>
              <a:off x="2283046" y="1811511"/>
              <a:ext cx="2931601" cy="213349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FAC3B1C-EE63-9F48-B194-D445143BEDF7}"/>
                </a:ext>
              </a:extLst>
            </p:cNvPr>
            <p:cNvSpPr txBox="1"/>
            <p:nvPr/>
          </p:nvSpPr>
          <p:spPr>
            <a:xfrm>
              <a:off x="2843303" y="1839539"/>
              <a:ext cx="1375395" cy="524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虚拟机</a:t>
              </a:r>
              <a:r>
                <a:rPr kumimoji="1" lang="en-US" altLang="zh-CN" sz="1100" dirty="0"/>
                <a:t>1</a:t>
              </a:r>
              <a:endParaRPr kumimoji="1" lang="zh-CN" altLang="en-US" sz="1100" dirty="0"/>
            </a:p>
          </p:txBody>
        </p:sp>
        <p:sp>
          <p:nvSpPr>
            <p:cNvPr id="35" name="Rectangle 22">
              <a:extLst>
                <a:ext uri="{FF2B5EF4-FFF2-40B4-BE49-F238E27FC236}">
                  <a16:creationId xmlns:a16="http://schemas.microsoft.com/office/drawing/2014/main" id="{240B784C-396C-6745-94E1-BFB0760CA2E1}"/>
                </a:ext>
              </a:extLst>
            </p:cNvPr>
            <p:cNvSpPr/>
            <p:nvPr/>
          </p:nvSpPr>
          <p:spPr>
            <a:xfrm>
              <a:off x="5604598" y="3113416"/>
              <a:ext cx="2636232" cy="6702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操作系统</a:t>
              </a:r>
              <a:endParaRPr lang="en-US" altLang="zh-CN" sz="11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内核</a:t>
              </a:r>
              <a:endParaRPr lang="en-US" sz="11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0AE11167-1A48-034B-ACBB-EB29D6C7B300}"/>
                </a:ext>
              </a:extLst>
            </p:cNvPr>
            <p:cNvSpPr/>
            <p:nvPr/>
          </p:nvSpPr>
          <p:spPr>
            <a:xfrm>
              <a:off x="5602355" y="2204453"/>
              <a:ext cx="2636232" cy="6702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1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37" name="圆角矩形 36">
              <a:extLst>
                <a:ext uri="{FF2B5EF4-FFF2-40B4-BE49-F238E27FC236}">
                  <a16:creationId xmlns:a16="http://schemas.microsoft.com/office/drawing/2014/main" id="{33AD643B-AD47-F040-B781-DD5DF8767050}"/>
                </a:ext>
              </a:extLst>
            </p:cNvPr>
            <p:cNvSpPr/>
            <p:nvPr/>
          </p:nvSpPr>
          <p:spPr>
            <a:xfrm>
              <a:off x="5454670" y="1805965"/>
              <a:ext cx="2931601" cy="213349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450617B-B787-6F40-BD51-4987529E60D9}"/>
                </a:ext>
              </a:extLst>
            </p:cNvPr>
            <p:cNvSpPr txBox="1"/>
            <p:nvPr/>
          </p:nvSpPr>
          <p:spPr>
            <a:xfrm>
              <a:off x="5942543" y="1839539"/>
              <a:ext cx="1423575" cy="524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虚拟机</a:t>
              </a:r>
              <a:r>
                <a:rPr kumimoji="1" lang="en-US" altLang="zh-CN" sz="1100" dirty="0"/>
                <a:t>N</a:t>
              </a:r>
              <a:endParaRPr kumimoji="1" lang="zh-CN" altLang="en-US" sz="11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3EA7BFE-167C-A146-9BEA-6F1BB7741395}"/>
                </a:ext>
              </a:extLst>
            </p:cNvPr>
            <p:cNvSpPr txBox="1"/>
            <p:nvPr/>
          </p:nvSpPr>
          <p:spPr>
            <a:xfrm>
              <a:off x="250725" y="2610857"/>
              <a:ext cx="1468543" cy="8633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100" dirty="0"/>
                <a:t>Non-root</a:t>
              </a:r>
            </a:p>
            <a:p>
              <a:pPr algn="ctr"/>
              <a:r>
                <a:rPr kumimoji="1" lang="zh-CN" altLang="en-US" sz="1100" dirty="0"/>
                <a:t>模式</a:t>
              </a:r>
            </a:p>
          </p:txBody>
        </p:sp>
      </p:grpSp>
      <p:sp>
        <p:nvSpPr>
          <p:cNvPr id="21" name="Line 140">
            <a:extLst>
              <a:ext uri="{FF2B5EF4-FFF2-40B4-BE49-F238E27FC236}">
                <a16:creationId xmlns:a16="http://schemas.microsoft.com/office/drawing/2014/main" id="{522D1D40-1FAD-124F-9CA4-501AD549CC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2259" y="2857500"/>
            <a:ext cx="1" cy="70811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2" name="Line 140">
            <a:extLst>
              <a:ext uri="{FF2B5EF4-FFF2-40B4-BE49-F238E27FC236}">
                <a16:creationId xmlns:a16="http://schemas.microsoft.com/office/drawing/2014/main" id="{FFB91230-6D7A-A04E-BC3F-33F563964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304" y="2804806"/>
            <a:ext cx="0" cy="70403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8B7D16-8B3D-7C4F-87BD-F92C0814D527}"/>
              </a:ext>
            </a:extLst>
          </p:cNvPr>
          <p:cNvSpPr txBox="1"/>
          <p:nvPr/>
        </p:nvSpPr>
        <p:spPr>
          <a:xfrm>
            <a:off x="6504156" y="3585046"/>
            <a:ext cx="625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VM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Exit</a:t>
            </a:r>
            <a:endParaRPr kumimoji="1" lang="zh-CN" altLang="en-US" sz="1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FC580D-8340-FB47-95F7-04FD745EBEEB}"/>
              </a:ext>
            </a:extLst>
          </p:cNvPr>
          <p:cNvSpPr txBox="1"/>
          <p:nvPr/>
        </p:nvSpPr>
        <p:spPr>
          <a:xfrm>
            <a:off x="7302926" y="3106179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VM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Entry</a:t>
            </a:r>
            <a:endParaRPr kumimoji="1"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5376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2C3FEF5-F933-1349-B56E-0C6158F2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的虚拟化技术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73DB188-D648-D641-A0C1-233898237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9EE4C-EAB2-B743-8E82-87DAE4F0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54148-2DC2-D948-8ECD-0A7F1104C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9532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95A4D-C2D3-3B4D-8C73-8E78137D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的处理器虚拟化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12819-9064-A140-9948-FA587A70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23507-52D7-0043-AFE4-211C109AC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1869896-D5C2-B542-93D4-D5DCDD7FE510}"/>
              </a:ext>
            </a:extLst>
          </p:cNvPr>
          <p:cNvGrpSpPr/>
          <p:nvPr/>
        </p:nvGrpSpPr>
        <p:grpSpPr>
          <a:xfrm>
            <a:off x="1003343" y="1416110"/>
            <a:ext cx="7137313" cy="3656844"/>
            <a:chOff x="3785670" y="2131558"/>
            <a:chExt cx="5259347" cy="2694657"/>
          </a:xfrm>
        </p:grpSpPr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A42FEE01-01C5-9D4F-946E-BD221A3C77EF}"/>
                </a:ext>
              </a:extLst>
            </p:cNvPr>
            <p:cNvSpPr/>
            <p:nvPr/>
          </p:nvSpPr>
          <p:spPr>
            <a:xfrm>
              <a:off x="4357605" y="3109194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操作系统内核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7" name="Rectangle 24">
              <a:extLst>
                <a:ext uri="{FF2B5EF4-FFF2-40B4-BE49-F238E27FC236}">
                  <a16:creationId xmlns:a16="http://schemas.microsoft.com/office/drawing/2014/main" id="{48CA7806-AA2F-3141-B67D-2AB395B5306A}"/>
                </a:ext>
              </a:extLst>
            </p:cNvPr>
            <p:cNvSpPr/>
            <p:nvPr/>
          </p:nvSpPr>
          <p:spPr>
            <a:xfrm>
              <a:off x="4355954" y="4482275"/>
              <a:ext cx="4287673" cy="3439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硬件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185CBD85-9B21-0F4D-83A7-34508808F55B}"/>
                </a:ext>
              </a:extLst>
            </p:cNvPr>
            <p:cNvSpPr/>
            <p:nvPr/>
          </p:nvSpPr>
          <p:spPr>
            <a:xfrm>
              <a:off x="4355952" y="2439397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9" name="Straight Connector 13">
              <a:extLst>
                <a:ext uri="{FF2B5EF4-FFF2-40B4-BE49-F238E27FC236}">
                  <a16:creationId xmlns:a16="http://schemas.microsoft.com/office/drawing/2014/main" id="{9AB3EEE8-C7F4-5A40-8B8F-1C778A67A5CF}"/>
                </a:ext>
              </a:extLst>
            </p:cNvPr>
            <p:cNvCxnSpPr>
              <a:cxnSpLocks/>
            </p:cNvCxnSpPr>
            <p:nvPr/>
          </p:nvCxnSpPr>
          <p:spPr>
            <a:xfrm>
              <a:off x="4032925" y="4341956"/>
              <a:ext cx="5012092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105D18A-9F34-914E-B666-71AAED8D0156}"/>
                </a:ext>
              </a:extLst>
            </p:cNvPr>
            <p:cNvSpPr txBox="1"/>
            <p:nvPr/>
          </p:nvSpPr>
          <p:spPr>
            <a:xfrm>
              <a:off x="3785670" y="318157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EL1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D49E7E8-E3F5-F54D-AA8A-64474296D2F6}"/>
                </a:ext>
              </a:extLst>
            </p:cNvPr>
            <p:cNvSpPr txBox="1"/>
            <p:nvPr/>
          </p:nvSpPr>
          <p:spPr>
            <a:xfrm>
              <a:off x="3785670" y="253782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EL0</a:t>
              </a:r>
              <a:endParaRPr kumimoji="1" lang="zh-CN" altLang="en-US" dirty="0"/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id="{7F49D29B-D10B-274E-8827-815531C6EBD9}"/>
                </a:ext>
              </a:extLst>
            </p:cNvPr>
            <p:cNvSpPr/>
            <p:nvPr/>
          </p:nvSpPr>
          <p:spPr>
            <a:xfrm>
              <a:off x="4345922" y="3777937"/>
              <a:ext cx="4297705" cy="493860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chemeClr val="bg1"/>
                  </a:solidFill>
                  <a:cs typeface="Arial Narrow"/>
                </a:rPr>
                <a:t>虚拟机监控器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3E36288-1AA9-F946-8916-65D5C3DB2DCB}"/>
                </a:ext>
              </a:extLst>
            </p:cNvPr>
            <p:cNvSpPr txBox="1"/>
            <p:nvPr/>
          </p:nvSpPr>
          <p:spPr>
            <a:xfrm>
              <a:off x="3785670" y="382618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EL2</a:t>
              </a:r>
              <a:endParaRPr kumimoji="1" lang="zh-CN" altLang="en-US" dirty="0"/>
            </a:p>
          </p:txBody>
        </p:sp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30494FAA-C263-3D4F-AD88-1D16563C49A2}"/>
                </a:ext>
              </a:extLst>
            </p:cNvPr>
            <p:cNvSpPr/>
            <p:nvPr/>
          </p:nvSpPr>
          <p:spPr>
            <a:xfrm>
              <a:off x="4255104" y="2135645"/>
              <a:ext cx="2160240" cy="1572133"/>
            </a:xfrm>
            <a:prstGeom prst="roundRect">
              <a:avLst>
                <a:gd name="adj" fmla="val 7612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71DD093-3D7A-804C-AA62-E7A33E31DBEA}"/>
                </a:ext>
              </a:extLst>
            </p:cNvPr>
            <p:cNvSpPr txBox="1"/>
            <p:nvPr/>
          </p:nvSpPr>
          <p:spPr>
            <a:xfrm>
              <a:off x="5028292" y="2154867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虚拟机</a:t>
              </a:r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B2609B38-A75C-EE48-BA72-B827EDAABB31}"/>
                </a:ext>
              </a:extLst>
            </p:cNvPr>
            <p:cNvSpPr/>
            <p:nvPr/>
          </p:nvSpPr>
          <p:spPr>
            <a:xfrm>
              <a:off x="6702691" y="3094993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操作系统内核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0E206E98-6C17-C648-A820-E7A67799074E}"/>
                </a:ext>
              </a:extLst>
            </p:cNvPr>
            <p:cNvSpPr/>
            <p:nvPr/>
          </p:nvSpPr>
          <p:spPr>
            <a:xfrm>
              <a:off x="6701038" y="2425196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8850F2EE-E293-A04D-9E92-4C8683D0C53D}"/>
                </a:ext>
              </a:extLst>
            </p:cNvPr>
            <p:cNvSpPr/>
            <p:nvPr/>
          </p:nvSpPr>
          <p:spPr>
            <a:xfrm>
              <a:off x="6592212" y="2131558"/>
              <a:ext cx="2160240" cy="1572133"/>
            </a:xfrm>
            <a:prstGeom prst="roundRect">
              <a:avLst>
                <a:gd name="adj" fmla="val 5801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FE2106D-577B-DB4D-B66A-A2233468940B}"/>
                </a:ext>
              </a:extLst>
            </p:cNvPr>
            <p:cNvSpPr txBox="1"/>
            <p:nvPr/>
          </p:nvSpPr>
          <p:spPr>
            <a:xfrm>
              <a:off x="7326060" y="2156298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虚拟机</a:t>
              </a:r>
              <a:r>
                <a:rPr kumimoji="1" lang="en-US" altLang="zh-CN" dirty="0"/>
                <a:t>N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449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EA400-56D1-7944-9A70-02D15A2B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5A407D-4005-8046-98F5-860F1CBEE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ERET</a:t>
            </a:r>
            <a:r>
              <a:rPr kumimoji="1" lang="zh-CN" altLang="en-US" dirty="0"/>
              <a:t>指令从</a:t>
            </a:r>
            <a:r>
              <a:rPr kumimoji="1" lang="en-US" altLang="zh-CN" dirty="0"/>
              <a:t>VMM</a:t>
            </a:r>
            <a:r>
              <a:rPr kumimoji="1" lang="zh-CN" altLang="en-US" dirty="0"/>
              <a:t>进入</a:t>
            </a:r>
            <a:r>
              <a:rPr kumimoji="1" lang="en-US" altLang="zh-CN" dirty="0"/>
              <a:t>VM</a:t>
            </a:r>
          </a:p>
          <a:p>
            <a:pPr lvl="1"/>
            <a:r>
              <a:rPr kumimoji="1" lang="zh-CN" altLang="en-US" dirty="0"/>
              <a:t>在进入</a:t>
            </a:r>
            <a:r>
              <a:rPr kumimoji="1" lang="en-US" altLang="zh-CN" dirty="0"/>
              <a:t>VM</a:t>
            </a:r>
            <a:r>
              <a:rPr kumimoji="1" lang="zh-CN" altLang="en-US" dirty="0"/>
              <a:t>之前，</a:t>
            </a:r>
            <a:r>
              <a:rPr kumimoji="1" lang="en-US" altLang="zh-CN" dirty="0"/>
              <a:t>VMM</a:t>
            </a:r>
            <a:r>
              <a:rPr kumimoji="1" lang="zh-CN" altLang="en-US" dirty="0"/>
              <a:t>需要</a:t>
            </a:r>
            <a:r>
              <a:rPr kumimoji="1" lang="zh-CN" altLang="en-US" dirty="0">
                <a:solidFill>
                  <a:srgbClr val="BE384B"/>
                </a:solidFill>
              </a:rPr>
              <a:t>主动</a:t>
            </a:r>
            <a:r>
              <a:rPr kumimoji="1" lang="zh-CN" altLang="en-US" dirty="0"/>
              <a:t>加载</a:t>
            </a:r>
            <a:r>
              <a:rPr kumimoji="1" lang="en-US" altLang="zh-CN" dirty="0"/>
              <a:t>VM</a:t>
            </a:r>
            <a:r>
              <a:rPr kumimoji="1" lang="zh-CN" altLang="en-US" dirty="0"/>
              <a:t>状态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VM</a:t>
            </a:r>
            <a:r>
              <a:rPr kumimoji="1" lang="zh-CN" altLang="en-US" dirty="0"/>
              <a:t>内状态：通用寄存器、系统寄存器、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VM</a:t>
            </a:r>
            <a:r>
              <a:rPr kumimoji="1" lang="zh-CN" altLang="en-US" dirty="0"/>
              <a:t>的控制状态：</a:t>
            </a:r>
            <a:r>
              <a:rPr kumimoji="1" lang="en-US" altLang="zh-CN" dirty="0"/>
              <a:t>HCR_EL2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</a:p>
          <a:p>
            <a:pPr lvl="1"/>
            <a:r>
              <a:rPr kumimoji="1" lang="zh-CN" altLang="en-US" dirty="0"/>
              <a:t>虚拟机执行敏感指令或收到中断等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Exception</a:t>
            </a:r>
            <a:r>
              <a:rPr kumimoji="1" lang="zh-CN" altLang="en-US" dirty="0"/>
              <a:t>、</a:t>
            </a:r>
            <a:r>
              <a:rPr kumimoji="1" lang="en-US" altLang="zh-CN" dirty="0"/>
              <a:t>IRQ</a:t>
            </a:r>
            <a:r>
              <a:rPr kumimoji="1" lang="zh-CN" altLang="en-US" dirty="0"/>
              <a:t>、</a:t>
            </a:r>
            <a:r>
              <a:rPr kumimoji="1" lang="en-US" altLang="zh-CN" dirty="0"/>
              <a:t>FIQ</a:t>
            </a:r>
            <a:r>
              <a:rPr kumimoji="1" lang="zh-CN" altLang="en-US" dirty="0"/>
              <a:t>的形式回到</a:t>
            </a:r>
            <a:r>
              <a:rPr kumimoji="1" lang="en-US" altLang="zh-CN" dirty="0"/>
              <a:t>VMM</a:t>
            </a:r>
          </a:p>
          <a:p>
            <a:pPr lvl="2"/>
            <a:r>
              <a:rPr kumimoji="1" lang="zh-CN" altLang="en-US" dirty="0"/>
              <a:t>调用</a:t>
            </a:r>
            <a:r>
              <a:rPr kumimoji="1" lang="en-US" altLang="zh-CN" dirty="0"/>
              <a:t>VMM</a:t>
            </a:r>
            <a:r>
              <a:rPr kumimoji="1" lang="zh-CN" altLang="en-US" dirty="0"/>
              <a:t>记录在</a:t>
            </a:r>
            <a:r>
              <a:rPr kumimoji="1" lang="en-US" altLang="zh-CN" dirty="0"/>
              <a:t>vbar_el2</a:t>
            </a:r>
            <a:r>
              <a:rPr kumimoji="1" lang="zh-CN" altLang="en-US" dirty="0"/>
              <a:t>中的相关处理函数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下陷第一步：</a:t>
            </a:r>
            <a:r>
              <a:rPr kumimoji="1" lang="en-US" altLang="zh-CN" dirty="0"/>
              <a:t>VMM</a:t>
            </a:r>
            <a:r>
              <a:rPr kumimoji="1" lang="zh-CN" altLang="en-US" dirty="0">
                <a:solidFill>
                  <a:srgbClr val="BE384B"/>
                </a:solidFill>
              </a:rPr>
              <a:t>主动</a:t>
            </a:r>
            <a:r>
              <a:rPr kumimoji="1" lang="zh-CN" altLang="en-US" dirty="0"/>
              <a:t>保存所有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的状态</a:t>
            </a:r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D340D-63D6-8843-A0D3-50B23A6F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2F736-4719-3840-92FB-FB5DE3981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B94A576-69CF-4647-B2FF-E42A3B09DE61}"/>
              </a:ext>
            </a:extLst>
          </p:cNvPr>
          <p:cNvGrpSpPr/>
          <p:nvPr/>
        </p:nvGrpSpPr>
        <p:grpSpPr>
          <a:xfrm>
            <a:off x="6301295" y="1166310"/>
            <a:ext cx="2788674" cy="2309737"/>
            <a:chOff x="3379899" y="2131558"/>
            <a:chExt cx="5665118" cy="2694657"/>
          </a:xfrm>
        </p:grpSpPr>
        <p:sp>
          <p:nvSpPr>
            <p:cNvPr id="7" name="Rectangle 22">
              <a:extLst>
                <a:ext uri="{FF2B5EF4-FFF2-40B4-BE49-F238E27FC236}">
                  <a16:creationId xmlns:a16="http://schemas.microsoft.com/office/drawing/2014/main" id="{29D35EB8-E93E-CD47-B6C4-146A29700FD2}"/>
                </a:ext>
              </a:extLst>
            </p:cNvPr>
            <p:cNvSpPr/>
            <p:nvPr/>
          </p:nvSpPr>
          <p:spPr>
            <a:xfrm>
              <a:off x="4357605" y="3109194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操作系统</a:t>
              </a:r>
              <a:endParaRPr lang="en-US" altLang="zh-CN" sz="12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内核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8" name="Rectangle 24">
              <a:extLst>
                <a:ext uri="{FF2B5EF4-FFF2-40B4-BE49-F238E27FC236}">
                  <a16:creationId xmlns:a16="http://schemas.microsoft.com/office/drawing/2014/main" id="{61703E68-0D11-264D-A9D4-0DBF559A3EF2}"/>
                </a:ext>
              </a:extLst>
            </p:cNvPr>
            <p:cNvSpPr/>
            <p:nvPr/>
          </p:nvSpPr>
          <p:spPr>
            <a:xfrm>
              <a:off x="4355954" y="4482275"/>
              <a:ext cx="4433342" cy="3439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硬件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8EDCEE82-462C-244C-B4CF-B3B50D71F5EE}"/>
                </a:ext>
              </a:extLst>
            </p:cNvPr>
            <p:cNvSpPr/>
            <p:nvPr/>
          </p:nvSpPr>
          <p:spPr>
            <a:xfrm>
              <a:off x="4355952" y="2439397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10" name="Straight Connector 13">
              <a:extLst>
                <a:ext uri="{FF2B5EF4-FFF2-40B4-BE49-F238E27FC236}">
                  <a16:creationId xmlns:a16="http://schemas.microsoft.com/office/drawing/2014/main" id="{CFF153BE-8A3C-3D4E-BFEA-ACE57BEF919D}"/>
                </a:ext>
              </a:extLst>
            </p:cNvPr>
            <p:cNvCxnSpPr>
              <a:cxnSpLocks/>
            </p:cNvCxnSpPr>
            <p:nvPr/>
          </p:nvCxnSpPr>
          <p:spPr>
            <a:xfrm>
              <a:off x="4032925" y="4341956"/>
              <a:ext cx="5012092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EA2F06D-CCBC-2C44-A027-F099C6A1E795}"/>
                </a:ext>
              </a:extLst>
            </p:cNvPr>
            <p:cNvSpPr txBox="1"/>
            <p:nvPr/>
          </p:nvSpPr>
          <p:spPr>
            <a:xfrm>
              <a:off x="3379899" y="3176896"/>
              <a:ext cx="595035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EL1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8B80B00-1DAF-7747-97F1-70151564DDD3}"/>
                </a:ext>
              </a:extLst>
            </p:cNvPr>
            <p:cNvSpPr txBox="1"/>
            <p:nvPr/>
          </p:nvSpPr>
          <p:spPr>
            <a:xfrm>
              <a:off x="3379899" y="2533147"/>
              <a:ext cx="595035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EL0</a:t>
              </a:r>
              <a:endParaRPr kumimoji="1" lang="zh-CN" altLang="en-US" sz="1200" dirty="0"/>
            </a:p>
          </p:txBody>
        </p: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id="{28AB3515-B50D-AC47-8804-63E5451F0590}"/>
                </a:ext>
              </a:extLst>
            </p:cNvPr>
            <p:cNvSpPr/>
            <p:nvPr/>
          </p:nvSpPr>
          <p:spPr>
            <a:xfrm>
              <a:off x="4345922" y="3777937"/>
              <a:ext cx="4443373" cy="493860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200" dirty="0">
                  <a:solidFill>
                    <a:schemeClr val="bg1"/>
                  </a:solidFill>
                  <a:cs typeface="Arial Narrow"/>
                </a:rPr>
                <a:t>虚拟机监控器</a:t>
              </a:r>
              <a:endParaRPr lang="en-US" sz="1200" dirty="0">
                <a:solidFill>
                  <a:schemeClr val="bg1"/>
                </a:solidFill>
                <a:cs typeface="Arial Narrow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8CFFEBA-0871-434A-B3B4-07CD43AD3DCD}"/>
                </a:ext>
              </a:extLst>
            </p:cNvPr>
            <p:cNvSpPr txBox="1"/>
            <p:nvPr/>
          </p:nvSpPr>
          <p:spPr>
            <a:xfrm>
              <a:off x="3379899" y="3821506"/>
              <a:ext cx="595035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EL2</a:t>
              </a:r>
              <a:endParaRPr kumimoji="1" lang="zh-CN" altLang="en-US" sz="1200" dirty="0"/>
            </a:p>
          </p:txBody>
        </p:sp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8C471E18-3CF4-BE48-9310-3FC82ED25E2D}"/>
                </a:ext>
              </a:extLst>
            </p:cNvPr>
            <p:cNvSpPr/>
            <p:nvPr/>
          </p:nvSpPr>
          <p:spPr>
            <a:xfrm>
              <a:off x="4255104" y="2135645"/>
              <a:ext cx="2160240" cy="157213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BC81670-114D-DF41-892A-93669A095FFA}"/>
                </a:ext>
              </a:extLst>
            </p:cNvPr>
            <p:cNvSpPr txBox="1"/>
            <p:nvPr/>
          </p:nvSpPr>
          <p:spPr>
            <a:xfrm>
              <a:off x="4625282" y="2154504"/>
              <a:ext cx="951309" cy="360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/>
                <a:t>虚拟机</a:t>
              </a:r>
              <a:r>
                <a:rPr kumimoji="1" lang="en-US" altLang="zh-CN" sz="1200" dirty="0"/>
                <a:t>1</a:t>
              </a:r>
              <a:endParaRPr kumimoji="1" lang="zh-CN" altLang="en-US" sz="1200" dirty="0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C47ECB7D-8649-5C4D-A466-332F9604F421}"/>
                </a:ext>
              </a:extLst>
            </p:cNvPr>
            <p:cNvSpPr/>
            <p:nvPr/>
          </p:nvSpPr>
          <p:spPr>
            <a:xfrm>
              <a:off x="6702691" y="3094993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操作系统</a:t>
              </a:r>
              <a:endParaRPr lang="en-US" altLang="zh-CN" sz="12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内核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0DD68828-FCC7-4841-8A10-6FC2ABAB0BFB}"/>
                </a:ext>
              </a:extLst>
            </p:cNvPr>
            <p:cNvSpPr/>
            <p:nvPr/>
          </p:nvSpPr>
          <p:spPr>
            <a:xfrm>
              <a:off x="6701038" y="2425196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8312F9A0-59A0-4B44-8939-4F62510C2839}"/>
                </a:ext>
              </a:extLst>
            </p:cNvPr>
            <p:cNvSpPr/>
            <p:nvPr/>
          </p:nvSpPr>
          <p:spPr>
            <a:xfrm>
              <a:off x="6592212" y="2131558"/>
              <a:ext cx="2160240" cy="157213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EE3BF1E-DB6C-E64C-8E60-9D0AC36B595F}"/>
                </a:ext>
              </a:extLst>
            </p:cNvPr>
            <p:cNvSpPr txBox="1"/>
            <p:nvPr/>
          </p:nvSpPr>
          <p:spPr>
            <a:xfrm>
              <a:off x="6957798" y="2141753"/>
              <a:ext cx="984674" cy="360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/>
                <a:t>虚拟机</a:t>
              </a:r>
              <a:r>
                <a:rPr kumimoji="1" lang="en-US" altLang="zh-CN" sz="1200" dirty="0"/>
                <a:t>N</a:t>
              </a:r>
              <a:endParaRPr kumimoji="1" lang="zh-CN" altLang="en-US" sz="1200" dirty="0"/>
            </a:p>
          </p:txBody>
        </p:sp>
      </p:grpSp>
      <p:sp>
        <p:nvSpPr>
          <p:cNvPr id="21" name="Line 140">
            <a:extLst>
              <a:ext uri="{FF2B5EF4-FFF2-40B4-BE49-F238E27FC236}">
                <a16:creationId xmlns:a16="http://schemas.microsoft.com/office/drawing/2014/main" id="{522D1D40-1FAD-124F-9CA4-501AD549C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6433" y="2293096"/>
            <a:ext cx="9245" cy="4397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2" name="Line 140">
            <a:extLst>
              <a:ext uri="{FF2B5EF4-FFF2-40B4-BE49-F238E27FC236}">
                <a16:creationId xmlns:a16="http://schemas.microsoft.com/office/drawing/2014/main" id="{FFB91230-6D7A-A04E-BC3F-33F563964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2320" y="2244803"/>
            <a:ext cx="0" cy="4397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8B7D16-8B3D-7C4F-87BD-F92C0814D527}"/>
              </a:ext>
            </a:extLst>
          </p:cNvPr>
          <p:cNvSpPr txBox="1"/>
          <p:nvPr/>
        </p:nvSpPr>
        <p:spPr>
          <a:xfrm>
            <a:off x="6753629" y="2684565"/>
            <a:ext cx="625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VM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Exit</a:t>
            </a:r>
            <a:endParaRPr kumimoji="1" lang="zh-CN" altLang="en-US" sz="1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FC580D-8340-FB47-95F7-04FD745EBEEB}"/>
              </a:ext>
            </a:extLst>
          </p:cNvPr>
          <p:cNvSpPr txBox="1"/>
          <p:nvPr/>
        </p:nvSpPr>
        <p:spPr>
          <a:xfrm>
            <a:off x="7440278" y="2526974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VM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Entry</a:t>
            </a:r>
            <a:endParaRPr kumimoji="1"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3663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F5F00-2593-834A-BE6D-397788AA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硬件虚拟化的新功能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0B8DD3-993A-E443-82C2-8533E4EFB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中没有</a:t>
            </a:r>
            <a:r>
              <a:rPr kumimoji="1" lang="en-US" altLang="zh-CN" dirty="0"/>
              <a:t>VMCS</a:t>
            </a:r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能直接控制</a:t>
            </a:r>
            <a:r>
              <a:rPr kumimoji="1" lang="en-US" altLang="zh-CN" dirty="0"/>
              <a:t>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EL0</a:t>
            </a:r>
            <a:r>
              <a:rPr kumimoji="1" lang="zh-CN" altLang="en-US" dirty="0"/>
              <a:t>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自由地修改</a:t>
            </a:r>
            <a:r>
              <a:rPr kumimoji="1" lang="en-US" altLang="zh-CN" dirty="0"/>
              <a:t>PSTATE(VMM</a:t>
            </a:r>
            <a:r>
              <a:rPr kumimoji="1" lang="zh-CN" altLang="en-US" dirty="0"/>
              <a:t>不需要捕捉</a:t>
            </a:r>
            <a:r>
              <a:rPr kumimoji="1" lang="en-US" altLang="zh-CN" dirty="0"/>
              <a:t>CPS</a:t>
            </a:r>
            <a:r>
              <a:rPr kumimoji="1" lang="zh-CN" altLang="en-US" dirty="0"/>
              <a:t>指令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可以读写</a:t>
            </a:r>
            <a:r>
              <a:rPr kumimoji="1" lang="en-US" altLang="zh-CN" dirty="0"/>
              <a:t>TTBR0_EL1/SCTRL_EL1/TCR_EL1</a:t>
            </a:r>
            <a:r>
              <a:rPr kumimoji="1" lang="zh-CN" altLang="en-US" dirty="0"/>
              <a:t>等寄存器</a:t>
            </a:r>
            <a:endParaRPr kumimoji="1" lang="en-US" altLang="zh-CN" dirty="0"/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时</a:t>
            </a:r>
            <a:r>
              <a:rPr kumimoji="1" lang="en-US" altLang="zh-CN" dirty="0"/>
              <a:t>VMM</a:t>
            </a:r>
            <a:r>
              <a:rPr kumimoji="1" lang="zh-CN" altLang="en-US" dirty="0"/>
              <a:t>仍然可以直接访问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EL1</a:t>
            </a:r>
            <a:r>
              <a:rPr kumimoji="1" lang="zh-CN" altLang="en-US" dirty="0"/>
              <a:t>寄存器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>
                <a:solidFill>
                  <a:srgbClr val="BE384B"/>
                </a:solidFill>
              </a:rPr>
              <a:t>思考题</a:t>
            </a:r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r>
              <a:rPr kumimoji="1" lang="zh-CN" altLang="en-US" dirty="0">
                <a:solidFill>
                  <a:srgbClr val="BE384B"/>
                </a:solidFill>
              </a:rPr>
              <a:t>：为什么</a:t>
            </a:r>
            <a:r>
              <a:rPr kumimoji="1" lang="en-US" altLang="zh-CN" dirty="0">
                <a:solidFill>
                  <a:srgbClr val="BE384B"/>
                </a:solidFill>
              </a:rPr>
              <a:t>ARM</a:t>
            </a:r>
            <a:r>
              <a:rPr kumimoji="1" lang="zh-CN" altLang="en-US" dirty="0">
                <a:solidFill>
                  <a:srgbClr val="BE384B"/>
                </a:solidFill>
              </a:rPr>
              <a:t>中可以不需要</a:t>
            </a:r>
            <a:r>
              <a:rPr kumimoji="1" lang="en-US" altLang="zh-CN" dirty="0">
                <a:solidFill>
                  <a:srgbClr val="BE384B"/>
                </a:solidFill>
              </a:rPr>
              <a:t>VMCS</a:t>
            </a:r>
            <a:r>
              <a:rPr kumimoji="1" lang="zh-CN" altLang="en-US" dirty="0">
                <a:solidFill>
                  <a:srgbClr val="BE384B"/>
                </a:solidFill>
              </a:rPr>
              <a:t>？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zh-CN" altLang="en-US" dirty="0">
                <a:solidFill>
                  <a:srgbClr val="BE384B"/>
                </a:solidFill>
              </a:rPr>
              <a:t>思考题</a:t>
            </a:r>
            <a:r>
              <a:rPr kumimoji="1" lang="en-US" altLang="zh-CN" dirty="0">
                <a:solidFill>
                  <a:srgbClr val="BE384B"/>
                </a:solidFill>
              </a:rPr>
              <a:t>2</a:t>
            </a:r>
            <a:r>
              <a:rPr kumimoji="1" lang="zh-CN" altLang="en-US" dirty="0">
                <a:solidFill>
                  <a:srgbClr val="BE384B"/>
                </a:solidFill>
              </a:rPr>
              <a:t>：</a:t>
            </a:r>
            <a:r>
              <a:rPr kumimoji="1" lang="en-US" altLang="zh-CN" dirty="0">
                <a:solidFill>
                  <a:srgbClr val="BE384B"/>
                </a:solidFill>
              </a:rPr>
              <a:t>ARM</a:t>
            </a:r>
            <a:r>
              <a:rPr kumimoji="1" lang="zh-CN" altLang="en-US" dirty="0">
                <a:solidFill>
                  <a:srgbClr val="BE384B"/>
                </a:solidFill>
              </a:rPr>
              <a:t>中没有</a:t>
            </a:r>
            <a:r>
              <a:rPr kumimoji="1" lang="en-US" altLang="zh-CN" dirty="0">
                <a:solidFill>
                  <a:srgbClr val="BE384B"/>
                </a:solidFill>
              </a:rPr>
              <a:t>VMCS</a:t>
            </a:r>
            <a:r>
              <a:rPr kumimoji="1" lang="zh-CN" altLang="en-US" dirty="0">
                <a:solidFill>
                  <a:srgbClr val="BE384B"/>
                </a:solidFill>
              </a:rPr>
              <a:t>，对于</a:t>
            </a:r>
            <a:r>
              <a:rPr kumimoji="1" lang="en-US" altLang="zh-CN" dirty="0">
                <a:solidFill>
                  <a:srgbClr val="BE384B"/>
                </a:solidFill>
              </a:rPr>
              <a:t>VMM</a:t>
            </a:r>
            <a:r>
              <a:rPr kumimoji="1" lang="zh-CN" altLang="en-US" dirty="0">
                <a:solidFill>
                  <a:srgbClr val="BE384B"/>
                </a:solidFill>
              </a:rPr>
              <a:t>的设计和实现来说有什么优缺点？</a:t>
            </a:r>
            <a:endParaRPr kumimoji="1" lang="en-US" altLang="zh-CN" dirty="0">
              <a:solidFill>
                <a:srgbClr val="BE384B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945CA7-C988-5A47-99C4-C0B4ED56E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E0B4A3-4FFC-3F4D-B266-8E0561217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2994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24D36-9A63-804A-BBE0-361FB2272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HCR_EL2</a:t>
            </a:r>
            <a:r>
              <a:rPr kumimoji="1" lang="zh-CN" altLang="en-US" dirty="0"/>
              <a:t>寄存器简介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A3899-B3D0-2249-A1AB-424D349E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>
                <a:solidFill>
                  <a:srgbClr val="404040"/>
                </a:solidFill>
              </a:rPr>
              <a:t>HCR_EL2</a:t>
            </a:r>
            <a:r>
              <a:rPr kumimoji="1" lang="zh-CN" altLang="en-US" dirty="0">
                <a:solidFill>
                  <a:srgbClr val="404040"/>
                </a:solidFill>
              </a:rPr>
              <a:t>：</a:t>
            </a:r>
            <a:r>
              <a:rPr kumimoji="1" lang="en-US" altLang="zh-CN" dirty="0">
                <a:solidFill>
                  <a:srgbClr val="404040"/>
                </a:solidFill>
              </a:rPr>
              <a:t>VMM</a:t>
            </a:r>
            <a:r>
              <a:rPr kumimoji="1" lang="zh-CN" altLang="en-US" dirty="0">
                <a:solidFill>
                  <a:srgbClr val="404040"/>
                </a:solidFill>
              </a:rPr>
              <a:t>控制</a:t>
            </a:r>
            <a:r>
              <a:rPr kumimoji="1" lang="en-US" altLang="zh-CN" dirty="0">
                <a:solidFill>
                  <a:srgbClr val="404040"/>
                </a:solidFill>
              </a:rPr>
              <a:t>VM</a:t>
            </a:r>
            <a:r>
              <a:rPr kumimoji="1" lang="zh-CN" altLang="en-US" dirty="0">
                <a:solidFill>
                  <a:srgbClr val="404040"/>
                </a:solidFill>
              </a:rPr>
              <a:t>行为的系统寄存器</a:t>
            </a:r>
            <a:endParaRPr kumimoji="1" lang="en-US" altLang="zh-CN" dirty="0">
              <a:solidFill>
                <a:srgbClr val="404040"/>
              </a:solidFill>
            </a:endParaRPr>
          </a:p>
          <a:p>
            <a:pPr lvl="1"/>
            <a:r>
              <a:rPr kumimoji="1" lang="en-US" altLang="zh-CN" dirty="0">
                <a:solidFill>
                  <a:srgbClr val="404040"/>
                </a:solidFill>
              </a:rPr>
              <a:t>VMM</a:t>
            </a:r>
            <a:r>
              <a:rPr kumimoji="1" lang="zh-CN" altLang="en-US" dirty="0">
                <a:solidFill>
                  <a:srgbClr val="BE384B"/>
                </a:solidFill>
              </a:rPr>
              <a:t>有选择地</a:t>
            </a:r>
            <a:r>
              <a:rPr kumimoji="1" lang="zh-CN" altLang="en-US" dirty="0"/>
              <a:t>决定</a:t>
            </a:r>
            <a:r>
              <a:rPr kumimoji="1" lang="en-US" altLang="zh-CN" dirty="0"/>
              <a:t>VM</a:t>
            </a:r>
            <a:r>
              <a:rPr kumimoji="1" lang="zh-CN" altLang="en-US" dirty="0"/>
              <a:t>在某些情况时下陷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和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 </a:t>
            </a:r>
            <a:r>
              <a:rPr kumimoji="1" lang="en-US" altLang="zh-CN" dirty="0"/>
              <a:t>VMCS</a:t>
            </a:r>
            <a:r>
              <a:rPr kumimoji="1" lang="zh-CN" altLang="en-US" dirty="0"/>
              <a:t>中</a:t>
            </a:r>
            <a:r>
              <a:rPr kumimoji="1" lang="en-US" altLang="zh-CN" dirty="0"/>
              <a:t>VM-execution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area</a:t>
            </a:r>
            <a:r>
              <a:rPr kumimoji="1" lang="zh-CN" altLang="en-US" dirty="0"/>
              <a:t>类似</a:t>
            </a:r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之前设置相关位，控制虚拟机行为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TRVM(32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TVM(26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):</a:t>
            </a:r>
            <a:r>
              <a:rPr kumimoji="1" lang="zh-CN" altLang="en-US" dirty="0"/>
              <a:t> </a:t>
            </a:r>
            <a:r>
              <a:rPr kumimoji="1" lang="en-US" altLang="zh-CN" dirty="0"/>
              <a:t>VM</a:t>
            </a:r>
            <a:r>
              <a:rPr kumimoji="1" lang="zh-CN" altLang="en-US" dirty="0"/>
              <a:t>读写内存控制寄存器是否下陷，例如</a:t>
            </a:r>
            <a:r>
              <a:rPr kumimoji="1" lang="en-US" altLang="zh-CN" dirty="0"/>
              <a:t>SCTRL_EL1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TTBR0_EL1</a:t>
            </a:r>
          </a:p>
          <a:p>
            <a:pPr lvl="1"/>
            <a:r>
              <a:rPr kumimoji="1" lang="en-US" altLang="zh-CN" dirty="0"/>
              <a:t>TWE(14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TWI(13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</a:t>
            </a:r>
            <a:r>
              <a:rPr kumimoji="1" lang="zh-CN" altLang="en-US" dirty="0"/>
              <a:t>：执行</a:t>
            </a:r>
            <a:r>
              <a:rPr kumimoji="1" lang="en-US" altLang="zh-CN" dirty="0"/>
              <a:t>WFE</a:t>
            </a:r>
            <a:r>
              <a:rPr kumimoji="1" lang="zh-CN" altLang="en-US" dirty="0"/>
              <a:t>和</a:t>
            </a:r>
            <a:r>
              <a:rPr kumimoji="1" lang="en-US" altLang="zh-CN" dirty="0"/>
              <a:t>WFI</a:t>
            </a:r>
            <a:r>
              <a:rPr kumimoji="1" lang="zh-CN" altLang="en-US" dirty="0"/>
              <a:t>指令是否下陷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AMO(6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)/IMO(5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)/FMO(4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</a:t>
            </a:r>
            <a:r>
              <a:rPr kumimoji="1" lang="zh-CN" altLang="en-US" dirty="0"/>
              <a:t>：</a:t>
            </a:r>
            <a:r>
              <a:rPr kumimoji="1" lang="en-US" altLang="zh-CN" dirty="0"/>
              <a:t>Exception/IRQ/FIQ</a:t>
            </a:r>
            <a:r>
              <a:rPr kumimoji="1" lang="zh-CN" altLang="en-US" dirty="0"/>
              <a:t>是否下陷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VM(0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):</a:t>
            </a:r>
            <a:r>
              <a:rPr kumimoji="1" lang="zh-CN" altLang="en-US" dirty="0"/>
              <a:t> 是否打开第二阶段地址翻译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19C51-C12D-C543-9725-322CCB19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CEB12-99D2-3B4C-8349-C962CC85C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3395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27665-2F26-F94E-B76B-10C0327B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HCR_EL2</a:t>
            </a:r>
            <a:r>
              <a:rPr kumimoji="1" lang="zh-CN" altLang="en-US" dirty="0"/>
              <a:t>寄存器简介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A1AC7A-E4A7-4D41-8AC1-A65C4284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085620-F55B-6B44-8770-18283F713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DF0356-88D6-D44D-946F-BE93B72082D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1417340"/>
            <a:ext cx="7625826" cy="361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4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13949-97E0-A747-BA06-2A699C81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硬件虚拟化发展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A607F-583F-1043-8BFC-2352CE878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ARMv8.0</a:t>
            </a:r>
          </a:p>
          <a:p>
            <a:pPr lvl="1"/>
            <a:r>
              <a:rPr kumimoji="1" lang="zh-CN" altLang="en-US" dirty="0"/>
              <a:t>增加</a:t>
            </a:r>
            <a:r>
              <a:rPr kumimoji="1" lang="en-US" altLang="zh-CN" dirty="0"/>
              <a:t>EL2</a:t>
            </a:r>
            <a:r>
              <a:rPr kumimoji="1" lang="en-US" altLang="zh-CN" baseline="30000" dirty="0"/>
              <a:t>1</a:t>
            </a:r>
            <a:r>
              <a:rPr kumimoji="1" lang="zh-CN" altLang="en-US" dirty="0"/>
              <a:t>特权级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EL2</a:t>
            </a:r>
            <a:r>
              <a:rPr kumimoji="1" lang="zh-CN" altLang="en-US" dirty="0"/>
              <a:t>只能运行</a:t>
            </a:r>
            <a:r>
              <a:rPr kumimoji="1" lang="en-US" altLang="zh-CN" dirty="0"/>
              <a:t>VMM</a:t>
            </a:r>
            <a:r>
              <a:rPr kumimoji="1" lang="zh-CN" altLang="en-US" dirty="0"/>
              <a:t>，不能运行一般操作系统内核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OS</a:t>
            </a:r>
            <a:r>
              <a:rPr kumimoji="1" lang="zh-CN" altLang="en-US" dirty="0"/>
              <a:t>一般只使用</a:t>
            </a:r>
            <a:r>
              <a:rPr kumimoji="1" lang="en-US" altLang="zh-CN" dirty="0"/>
              <a:t>EL1</a:t>
            </a:r>
            <a:r>
              <a:rPr kumimoji="1" lang="zh-CN" altLang="en-US" dirty="0"/>
              <a:t>的寄存器，在</a:t>
            </a:r>
            <a:r>
              <a:rPr kumimoji="1" lang="en-US" altLang="zh-CN" dirty="0"/>
              <a:t>EL2</a:t>
            </a:r>
            <a:r>
              <a:rPr kumimoji="1" lang="zh-CN" altLang="en-US" dirty="0"/>
              <a:t>中不存在对应的寄存器</a:t>
            </a:r>
            <a:endParaRPr kumimoji="1" lang="en-US" altLang="zh-CN" dirty="0"/>
          </a:p>
          <a:p>
            <a:pPr lvl="3"/>
            <a:r>
              <a:rPr kumimoji="1" lang="en-US" altLang="zh-CN" dirty="0"/>
              <a:t>EL1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TTBR1_EL1</a:t>
            </a:r>
          </a:p>
          <a:p>
            <a:pPr lvl="3"/>
            <a:r>
              <a:rPr kumimoji="1" lang="en-US" altLang="zh-CN" dirty="0"/>
              <a:t>EL2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TTBR_EL2</a:t>
            </a:r>
          </a:p>
          <a:p>
            <a:pPr lvl="2"/>
            <a:r>
              <a:rPr kumimoji="1" lang="en-US" altLang="zh-CN" dirty="0"/>
              <a:t>EL2</a:t>
            </a:r>
            <a:r>
              <a:rPr kumimoji="1" lang="zh-CN" altLang="en-US" dirty="0"/>
              <a:t>不能与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共享内存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因此：无法在</a:t>
            </a:r>
            <a:r>
              <a:rPr kumimoji="1" lang="en-US" altLang="zh-CN" dirty="0">
                <a:solidFill>
                  <a:srgbClr val="BE384B"/>
                </a:solidFill>
              </a:rPr>
              <a:t>EL2</a:t>
            </a:r>
            <a:r>
              <a:rPr kumimoji="1" lang="zh-CN" altLang="en-US" dirty="0">
                <a:solidFill>
                  <a:srgbClr val="BE384B"/>
                </a:solidFill>
              </a:rPr>
              <a:t>中运行</a:t>
            </a:r>
            <a:r>
              <a:rPr kumimoji="1" lang="en-US" altLang="zh-CN" dirty="0">
                <a:solidFill>
                  <a:srgbClr val="BE384B"/>
                </a:solidFill>
              </a:rPr>
              <a:t>Type-2</a:t>
            </a:r>
            <a:r>
              <a:rPr kumimoji="1" lang="zh-CN" altLang="en-US" dirty="0">
                <a:solidFill>
                  <a:srgbClr val="BE384B"/>
                </a:solidFill>
              </a:rPr>
              <a:t>虚拟机监控器的</a:t>
            </a:r>
            <a:r>
              <a:rPr kumimoji="1" lang="en-US" altLang="zh-CN" dirty="0">
                <a:solidFill>
                  <a:srgbClr val="BE384B"/>
                </a:solidFill>
              </a:rPr>
              <a:t>Host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OS</a:t>
            </a:r>
          </a:p>
          <a:p>
            <a:pPr lvl="2"/>
            <a:r>
              <a:rPr kumimoji="1" lang="zh-CN" altLang="en-US" sz="1800" dirty="0"/>
              <a:t>或者说，</a:t>
            </a:r>
            <a:r>
              <a:rPr kumimoji="1" lang="en-US" altLang="zh-CN" sz="1800" dirty="0"/>
              <a:t>Host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OS</a:t>
            </a:r>
            <a:r>
              <a:rPr kumimoji="1" lang="zh-CN" altLang="en-US" sz="1800" dirty="0"/>
              <a:t>需要大量修改才能运行在</a:t>
            </a:r>
            <a:r>
              <a:rPr kumimoji="1" lang="en-US" altLang="zh-CN" sz="1800" dirty="0"/>
              <a:t>EL2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A72711-36D4-6649-95D5-4A49DE15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E10382-ABDD-1649-8B2C-22AE8257F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B4418D-104A-254E-9F46-7DB577F022A2}"/>
              </a:ext>
            </a:extLst>
          </p:cNvPr>
          <p:cNvSpPr txBox="1"/>
          <p:nvPr/>
        </p:nvSpPr>
        <p:spPr>
          <a:xfrm>
            <a:off x="0" y="5438001"/>
            <a:ext cx="1680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404040"/>
                </a:solidFill>
              </a:rPr>
              <a:t>1:</a:t>
            </a:r>
            <a:r>
              <a:rPr kumimoji="1" lang="zh-CN" altLang="en-US" sz="1200" dirty="0">
                <a:solidFill>
                  <a:srgbClr val="404040"/>
                </a:solidFill>
              </a:rPr>
              <a:t> 实际上名为</a:t>
            </a:r>
            <a:r>
              <a:rPr kumimoji="1" lang="en-US" altLang="zh-CN" sz="1200" dirty="0" err="1">
                <a:solidFill>
                  <a:srgbClr val="404040"/>
                </a:solidFill>
              </a:rPr>
              <a:t>hyp</a:t>
            </a:r>
            <a:r>
              <a:rPr kumimoji="1" lang="zh-CN" altLang="en-US" sz="1200" dirty="0">
                <a:solidFill>
                  <a:srgbClr val="404040"/>
                </a:solidFill>
              </a:rPr>
              <a:t>模式</a:t>
            </a:r>
          </a:p>
        </p:txBody>
      </p:sp>
    </p:spTree>
    <p:extLst>
      <p:ext uri="{BB962C8B-B14F-4D97-AF65-F5344CB8AC3E}">
        <p14:creationId xmlns:p14="http://schemas.microsoft.com/office/powerpoint/2010/main" val="248744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3E471-AB76-E447-9676-A31B7250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ARMv8.0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Type-2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119BDE-CCF5-AB43-A5A1-08E351A0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778045-0284-1542-99F7-212D68374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EAB256EA-18F1-5D45-8DFB-6BE76844916A}"/>
              </a:ext>
            </a:extLst>
          </p:cNvPr>
          <p:cNvSpPr/>
          <p:nvPr/>
        </p:nvSpPr>
        <p:spPr>
          <a:xfrm>
            <a:off x="1790025" y="2456032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318D4375-44F2-BB44-B568-10CFB4A5A886}"/>
              </a:ext>
            </a:extLst>
          </p:cNvPr>
          <p:cNvSpPr/>
          <p:nvPr/>
        </p:nvSpPr>
        <p:spPr>
          <a:xfrm>
            <a:off x="1787782" y="1547069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0" name="Straight Connector 13">
            <a:extLst>
              <a:ext uri="{FF2B5EF4-FFF2-40B4-BE49-F238E27FC236}">
                <a16:creationId xmlns:a16="http://schemas.microsoft.com/office/drawing/2014/main" id="{72A1F924-3A9C-2F4F-B69D-F57E3E89E4CF}"/>
              </a:ext>
            </a:extLst>
          </p:cNvPr>
          <p:cNvCxnSpPr>
            <a:cxnSpLocks/>
          </p:cNvCxnSpPr>
          <p:nvPr/>
        </p:nvCxnSpPr>
        <p:spPr>
          <a:xfrm>
            <a:off x="1144656" y="3382686"/>
            <a:ext cx="680177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90FFF94-E997-8144-9615-4839EF00023A}"/>
              </a:ext>
            </a:extLst>
          </p:cNvPr>
          <p:cNvSpPr txBox="1"/>
          <p:nvPr/>
        </p:nvSpPr>
        <p:spPr>
          <a:xfrm>
            <a:off x="1013868" y="2554252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EA182B-73FE-A141-936E-2F1B63AF2A46}"/>
              </a:ext>
            </a:extLst>
          </p:cNvPr>
          <p:cNvSpPr txBox="1"/>
          <p:nvPr/>
        </p:nvSpPr>
        <p:spPr>
          <a:xfrm>
            <a:off x="1013868" y="1680639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F464D9E1-6E8A-6E4A-9B3C-6C3BB04E1771}"/>
              </a:ext>
            </a:extLst>
          </p:cNvPr>
          <p:cNvSpPr/>
          <p:nvPr/>
        </p:nvSpPr>
        <p:spPr>
          <a:xfrm>
            <a:off x="1774170" y="3499181"/>
            <a:ext cx="2649844" cy="67020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endParaRPr lang="en-US" altLang="zh-CN" sz="1600" dirty="0">
              <a:solidFill>
                <a:schemeClr val="bg1"/>
              </a:solidFill>
              <a:cs typeface="Arial Narrow"/>
            </a:endParaRPr>
          </a:p>
          <a:p>
            <a:r>
              <a:rPr lang="en-US" altLang="zh-CN" sz="1600" dirty="0" err="1">
                <a:solidFill>
                  <a:schemeClr val="bg1"/>
                </a:solidFill>
                <a:cs typeface="Arial Narrow"/>
              </a:rPr>
              <a:t>Lowvisor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EC19BF-D40B-0E4D-BB96-29A9818150C4}"/>
              </a:ext>
            </a:extLst>
          </p:cNvPr>
          <p:cNvSpPr txBox="1"/>
          <p:nvPr/>
        </p:nvSpPr>
        <p:spPr>
          <a:xfrm>
            <a:off x="1013867" y="3564652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B131DD-3DE8-3645-AAB9-C235F4756E4B}"/>
              </a:ext>
            </a:extLst>
          </p:cNvPr>
          <p:cNvSpPr txBox="1"/>
          <p:nvPr/>
        </p:nvSpPr>
        <p:spPr>
          <a:xfrm>
            <a:off x="2700196" y="116094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93457CC6-5207-4441-9E18-E04A2661A4DD}"/>
              </a:ext>
            </a:extLst>
          </p:cNvPr>
          <p:cNvSpPr/>
          <p:nvPr/>
        </p:nvSpPr>
        <p:spPr>
          <a:xfrm>
            <a:off x="4972476" y="2436760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Kernel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63D5D3A1-ACDD-7B49-9954-E9799E06AE77}"/>
              </a:ext>
            </a:extLst>
          </p:cNvPr>
          <p:cNvSpPr/>
          <p:nvPr/>
        </p:nvSpPr>
        <p:spPr>
          <a:xfrm>
            <a:off x="4970233" y="1527797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8928C1F-51A6-8C4F-A32B-09FD375611F3}"/>
              </a:ext>
            </a:extLst>
          </p:cNvPr>
          <p:cNvSpPr/>
          <p:nvPr/>
        </p:nvSpPr>
        <p:spPr>
          <a:xfrm>
            <a:off x="4822548" y="1129309"/>
            <a:ext cx="2931601" cy="2085766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D478E4-0884-7B4E-AAE9-EE164EC799DA}"/>
              </a:ext>
            </a:extLst>
          </p:cNvPr>
          <p:cNvSpPr txBox="1"/>
          <p:nvPr/>
        </p:nvSpPr>
        <p:spPr>
          <a:xfrm>
            <a:off x="5995826" y="115028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702FFDE-691B-7C40-A1F6-BD4E4B8E45DC}"/>
              </a:ext>
            </a:extLst>
          </p:cNvPr>
          <p:cNvSpPr/>
          <p:nvPr/>
        </p:nvSpPr>
        <p:spPr>
          <a:xfrm>
            <a:off x="1691680" y="1129308"/>
            <a:ext cx="2931601" cy="3313593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7B7FCC12-C741-B94E-B87F-A97741388C31}"/>
              </a:ext>
            </a:extLst>
          </p:cNvPr>
          <p:cNvSpPr/>
          <p:nvPr/>
        </p:nvSpPr>
        <p:spPr>
          <a:xfrm>
            <a:off x="3099092" y="2525045"/>
            <a:ext cx="1146017" cy="53659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</a:p>
          <a:p>
            <a:pPr algn="ctr"/>
            <a:r>
              <a:rPr lang="en-US" altLang="zh-CN" sz="1600" dirty="0" err="1">
                <a:solidFill>
                  <a:schemeClr val="bg1"/>
                </a:solidFill>
                <a:cs typeface="Arial Narrow"/>
              </a:rPr>
              <a:t>Highvisor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FE20E9B1-B03A-0749-AFAE-45A913BFEA07}"/>
              </a:ext>
            </a:extLst>
          </p:cNvPr>
          <p:cNvCxnSpPr>
            <a:cxnSpLocks/>
          </p:cNvCxnSpPr>
          <p:nvPr/>
        </p:nvCxnSpPr>
        <p:spPr>
          <a:xfrm rot="5400000">
            <a:off x="5135119" y="2408642"/>
            <a:ext cx="525874" cy="194808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5445CA85-69AD-7A40-88D2-0A9A5F961847}"/>
              </a:ext>
            </a:extLst>
          </p:cNvPr>
          <p:cNvCxnSpPr>
            <a:cxnSpLocks/>
            <a:endCxn id="13" idx="3"/>
          </p:cNvCxnSpPr>
          <p:nvPr/>
        </p:nvCxnSpPr>
        <p:spPr>
          <a:xfrm rot="10800000" flipV="1">
            <a:off x="4424014" y="3135979"/>
            <a:ext cx="2343940" cy="698304"/>
          </a:xfrm>
          <a:prstGeom prst="bentConnector3">
            <a:avLst>
              <a:gd name="adj1" fmla="val 409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A547885A-D51D-DD44-8B14-44FB3B0E0AE2}"/>
              </a:ext>
            </a:extLst>
          </p:cNvPr>
          <p:cNvCxnSpPr/>
          <p:nvPr/>
        </p:nvCxnSpPr>
        <p:spPr>
          <a:xfrm flipV="1">
            <a:off x="3934453" y="3055462"/>
            <a:ext cx="0" cy="443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96A7D8E0-8324-AC4D-BF36-9E34C586951B}"/>
              </a:ext>
            </a:extLst>
          </p:cNvPr>
          <p:cNvCxnSpPr/>
          <p:nvPr/>
        </p:nvCxnSpPr>
        <p:spPr>
          <a:xfrm flipV="1">
            <a:off x="3423471" y="3069042"/>
            <a:ext cx="0" cy="44371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249B9C26-7ACC-CA43-A212-314D175EBDEF}"/>
              </a:ext>
            </a:extLst>
          </p:cNvPr>
          <p:cNvSpPr/>
          <p:nvPr/>
        </p:nvSpPr>
        <p:spPr>
          <a:xfrm>
            <a:off x="5199164" y="3279980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0E8D67C-83BA-9E44-9889-D902DD4F871B}"/>
              </a:ext>
            </a:extLst>
          </p:cNvPr>
          <p:cNvSpPr/>
          <p:nvPr/>
        </p:nvSpPr>
        <p:spPr>
          <a:xfrm>
            <a:off x="3980113" y="3097301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31378F70-B8E8-2C48-8FCD-FC33277B6A01}"/>
              </a:ext>
            </a:extLst>
          </p:cNvPr>
          <p:cNvSpPr/>
          <p:nvPr/>
        </p:nvSpPr>
        <p:spPr>
          <a:xfrm>
            <a:off x="2992000" y="3082974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BCCC4CD-5D20-9344-A161-57B1A0258656}"/>
              </a:ext>
            </a:extLst>
          </p:cNvPr>
          <p:cNvSpPr/>
          <p:nvPr/>
        </p:nvSpPr>
        <p:spPr>
          <a:xfrm>
            <a:off x="5199164" y="3894655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1AC907F-50AC-B341-B110-6429065C9D5D}"/>
              </a:ext>
            </a:extLst>
          </p:cNvPr>
          <p:cNvSpPr txBox="1"/>
          <p:nvPr/>
        </p:nvSpPr>
        <p:spPr>
          <a:xfrm>
            <a:off x="5375823" y="438270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E384B"/>
                </a:solidFill>
              </a:rPr>
              <a:t>思考：这种架构有什么缺点？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63113B-E5D2-A64F-B159-8528121DBDA5}"/>
              </a:ext>
            </a:extLst>
          </p:cNvPr>
          <p:cNvSpPr txBox="1"/>
          <p:nvPr/>
        </p:nvSpPr>
        <p:spPr>
          <a:xfrm>
            <a:off x="3287747" y="3620203"/>
            <a:ext cx="1005403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</a:rPr>
              <a:t>切换状态</a:t>
            </a: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7987C6C2-951C-BC4E-BFAF-05345763D76A}"/>
              </a:ext>
            </a:extLst>
          </p:cNvPr>
          <p:cNvGraphicFramePr>
            <a:graphicFrameLocks noGrp="1"/>
          </p:cNvGraphicFramePr>
          <p:nvPr/>
        </p:nvGraphicFramePr>
        <p:xfrm>
          <a:off x="0" y="4585692"/>
          <a:ext cx="2711624" cy="1008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490510203"/>
                    </a:ext>
                  </a:extLst>
                </a:gridCol>
                <a:gridCol w="839416">
                  <a:extLst>
                    <a:ext uri="{9D8B030D-6E8A-4147-A177-3AD203B41FA5}">
                      <a16:colId xmlns:a16="http://schemas.microsoft.com/office/drawing/2014/main" val="1598031696"/>
                    </a:ext>
                  </a:extLst>
                </a:gridCol>
              </a:tblGrid>
              <a:tr h="3420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部件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代码行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592137"/>
                  </a:ext>
                </a:extLst>
              </a:tr>
              <a:tr h="3239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404040"/>
                          </a:solidFill>
                        </a:rPr>
                        <a:t>KVM/ARM</a:t>
                      </a:r>
                      <a:r>
                        <a:rPr lang="zh-CN" altLang="en-US" sz="14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rgbClr val="404040"/>
                          </a:solidFill>
                        </a:rPr>
                        <a:t>Highvisor</a:t>
                      </a:r>
                      <a:endParaRPr lang="zh-CN" alt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404040"/>
                          </a:solidFill>
                        </a:rPr>
                        <a:t>5094</a:t>
                      </a:r>
                      <a:endParaRPr lang="zh-CN" alt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708669"/>
                  </a:ext>
                </a:extLst>
              </a:tr>
              <a:tr h="3420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404040"/>
                          </a:solidFill>
                        </a:rPr>
                        <a:t>KVM/ARM</a:t>
                      </a:r>
                      <a:r>
                        <a:rPr lang="zh-CN" altLang="en-US" sz="14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rgbClr val="404040"/>
                          </a:solidFill>
                        </a:rPr>
                        <a:t>Lowvisor</a:t>
                      </a:r>
                      <a:endParaRPr lang="zh-CN" alt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404040"/>
                          </a:solidFill>
                        </a:rPr>
                        <a:t>718</a:t>
                      </a:r>
                      <a:endParaRPr lang="zh-CN" alt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16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03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6" grpId="0" animBg="1"/>
      <p:bldP spid="37" grpId="0" animBg="1"/>
      <p:bldP spid="38" grpId="0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685C6-3350-7A43-824B-C72B68A1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ARMv8.1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Type-2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544612-1F63-404D-A51C-FB5942B44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ARMv8.1</a:t>
            </a:r>
          </a:p>
          <a:p>
            <a:pPr lvl="1"/>
            <a:r>
              <a:rPr kumimoji="1" lang="zh-CN" altLang="en-US" dirty="0"/>
              <a:t>推出</a:t>
            </a:r>
            <a:r>
              <a:rPr kumimoji="1" lang="en-US" altLang="zh-CN" dirty="0"/>
              <a:t>Virtualization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Extensions(VHE)</a:t>
            </a:r>
            <a:r>
              <a:rPr kumimoji="1" lang="zh-CN" altLang="en-US" dirty="0"/>
              <a:t>，在</a:t>
            </a:r>
            <a:r>
              <a:rPr kumimoji="1" lang="en-US" altLang="zh-CN" dirty="0"/>
              <a:t>HCR_EL2.E2H</a:t>
            </a:r>
            <a:r>
              <a:rPr kumimoji="1" lang="zh-CN" altLang="en-US" dirty="0"/>
              <a:t>打开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寄存器映射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允许与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共享内存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</a:t>
            </a:r>
            <a:r>
              <a:rPr kumimoji="1" lang="en-US" altLang="zh-CN" dirty="0"/>
              <a:t>EL2</a:t>
            </a:r>
            <a:r>
              <a:rPr kumimoji="1" lang="zh-CN" altLang="en-US" dirty="0"/>
              <a:t>中可直接运行未修改的操作系统内核（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69478A-097B-5444-9933-E1AFA1AE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92988-2588-FF4A-A683-4513AF8B0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38AD4D-44AD-A046-815A-04883ED260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3865612"/>
            <a:ext cx="7668344" cy="11775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D0F0B31-A8F7-DB41-846C-AC891200A5EF}"/>
              </a:ext>
            </a:extLst>
          </p:cNvPr>
          <p:cNvSpPr txBox="1"/>
          <p:nvPr/>
        </p:nvSpPr>
        <p:spPr>
          <a:xfrm>
            <a:off x="-22516" y="5438001"/>
            <a:ext cx="2765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图片来自于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https://</a:t>
            </a:r>
            <a:r>
              <a:rPr kumimoji="1"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developer.arm.com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endParaRPr kumimoji="1"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273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685C6-3350-7A43-824B-C72B68A1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ARMv8.1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Type-2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69478A-097B-5444-9933-E1AFA1AE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92988-2588-FF4A-A683-4513AF8B0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ED0CFC21-A66D-AA45-A201-05E3AEBC4B10}"/>
              </a:ext>
            </a:extLst>
          </p:cNvPr>
          <p:cNvSpPr/>
          <p:nvPr/>
        </p:nvSpPr>
        <p:spPr>
          <a:xfrm>
            <a:off x="1810847" y="3741374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D87BD6A2-09EC-714D-A0C8-618560403424}"/>
              </a:ext>
            </a:extLst>
          </p:cNvPr>
          <p:cNvSpPr/>
          <p:nvPr/>
        </p:nvSpPr>
        <p:spPr>
          <a:xfrm>
            <a:off x="1777257" y="1833870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0" name="Straight Connector 13">
            <a:extLst>
              <a:ext uri="{FF2B5EF4-FFF2-40B4-BE49-F238E27FC236}">
                <a16:creationId xmlns:a16="http://schemas.microsoft.com/office/drawing/2014/main" id="{A9836340-78EC-C14F-9325-7627D3246CC6}"/>
              </a:ext>
            </a:extLst>
          </p:cNvPr>
          <p:cNvCxnSpPr>
            <a:cxnSpLocks/>
          </p:cNvCxnSpPr>
          <p:nvPr/>
        </p:nvCxnSpPr>
        <p:spPr>
          <a:xfrm>
            <a:off x="1134131" y="3669487"/>
            <a:ext cx="680177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A43794A-090C-A640-8423-A7EC15C00428}"/>
              </a:ext>
            </a:extLst>
          </p:cNvPr>
          <p:cNvSpPr txBox="1"/>
          <p:nvPr/>
        </p:nvSpPr>
        <p:spPr>
          <a:xfrm>
            <a:off x="1003343" y="2841053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9C5242-F020-4D4C-99F1-51A356683269}"/>
              </a:ext>
            </a:extLst>
          </p:cNvPr>
          <p:cNvSpPr txBox="1"/>
          <p:nvPr/>
        </p:nvSpPr>
        <p:spPr>
          <a:xfrm>
            <a:off x="1003343" y="1967440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467E5C-738B-A940-B672-F82BE0C879EE}"/>
              </a:ext>
            </a:extLst>
          </p:cNvPr>
          <p:cNvSpPr txBox="1"/>
          <p:nvPr/>
        </p:nvSpPr>
        <p:spPr>
          <a:xfrm>
            <a:off x="1003342" y="3851453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0C1F04-C251-8145-A264-1D282DD5FCC1}"/>
              </a:ext>
            </a:extLst>
          </p:cNvPr>
          <p:cNvSpPr txBox="1"/>
          <p:nvPr/>
        </p:nvSpPr>
        <p:spPr>
          <a:xfrm>
            <a:off x="2689671" y="144774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DE1EAA50-3EE7-BD48-A5A5-CE58DC99FF01}"/>
              </a:ext>
            </a:extLst>
          </p:cNvPr>
          <p:cNvSpPr/>
          <p:nvPr/>
        </p:nvSpPr>
        <p:spPr>
          <a:xfrm>
            <a:off x="4961951" y="2723561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Kernel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7" name="Rectangle 27">
            <a:extLst>
              <a:ext uri="{FF2B5EF4-FFF2-40B4-BE49-F238E27FC236}">
                <a16:creationId xmlns:a16="http://schemas.microsoft.com/office/drawing/2014/main" id="{6B78C15D-9092-ED4E-9535-43F24F67DD44}"/>
              </a:ext>
            </a:extLst>
          </p:cNvPr>
          <p:cNvSpPr/>
          <p:nvPr/>
        </p:nvSpPr>
        <p:spPr>
          <a:xfrm>
            <a:off x="4959708" y="1814598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2D00EBB-6D41-2E48-9A46-A80B1865242A}"/>
              </a:ext>
            </a:extLst>
          </p:cNvPr>
          <p:cNvSpPr/>
          <p:nvPr/>
        </p:nvSpPr>
        <p:spPr>
          <a:xfrm>
            <a:off x="4812023" y="1416110"/>
            <a:ext cx="2931601" cy="2085766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21322D-728B-8545-8A9F-25CD67A08D77}"/>
              </a:ext>
            </a:extLst>
          </p:cNvPr>
          <p:cNvSpPr txBox="1"/>
          <p:nvPr/>
        </p:nvSpPr>
        <p:spPr>
          <a:xfrm>
            <a:off x="5985301" y="143708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417631C-4531-CF46-A268-F184A61B558A}"/>
              </a:ext>
            </a:extLst>
          </p:cNvPr>
          <p:cNvSpPr/>
          <p:nvPr/>
        </p:nvSpPr>
        <p:spPr>
          <a:xfrm>
            <a:off x="1681155" y="1416109"/>
            <a:ext cx="2931601" cy="3313593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7D135709-8991-8243-A064-BD810FB353FE}"/>
              </a:ext>
            </a:extLst>
          </p:cNvPr>
          <p:cNvSpPr/>
          <p:nvPr/>
        </p:nvSpPr>
        <p:spPr>
          <a:xfrm>
            <a:off x="3119914" y="3810387"/>
            <a:ext cx="1146017" cy="53659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432664A4-2563-9344-9D25-9325ABCA84D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27948" y="3406551"/>
            <a:ext cx="2133629" cy="563286"/>
          </a:xfrm>
          <a:prstGeom prst="bentConnector3">
            <a:avLst>
              <a:gd name="adj1" fmla="val 102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B6B892BF-C988-5849-8C2C-FA341F3DA2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65931" y="3422779"/>
            <a:ext cx="2491498" cy="805179"/>
          </a:xfrm>
          <a:prstGeom prst="bentConnector3">
            <a:avLst>
              <a:gd name="adj1" fmla="val -47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248A811C-7648-4947-BCA9-5627AB36398A}"/>
              </a:ext>
            </a:extLst>
          </p:cNvPr>
          <p:cNvSpPr/>
          <p:nvPr/>
        </p:nvSpPr>
        <p:spPr>
          <a:xfrm>
            <a:off x="5188639" y="3566781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2C915F6-6FF1-E948-A647-C2ADDEFB3786}"/>
              </a:ext>
            </a:extLst>
          </p:cNvPr>
          <p:cNvSpPr/>
          <p:nvPr/>
        </p:nvSpPr>
        <p:spPr>
          <a:xfrm>
            <a:off x="5221680" y="4289828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927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93F89-5272-5B4B-87F8-7F4E6773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VT-x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VHE</a:t>
            </a:r>
            <a:r>
              <a:rPr kumimoji="1" lang="zh-CN" altLang="en-US" dirty="0"/>
              <a:t>对比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F43F8C97-4360-9D40-A53A-85710D651E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33500"/>
          <a:ext cx="8229600" cy="368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4760">
                  <a:extLst>
                    <a:ext uri="{9D8B030D-6E8A-4147-A177-3AD203B41FA5}">
                      <a16:colId xmlns:a16="http://schemas.microsoft.com/office/drawing/2014/main" val="447630312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639899835"/>
                    </a:ext>
                  </a:extLst>
                </a:gridCol>
                <a:gridCol w="2242592">
                  <a:extLst>
                    <a:ext uri="{9D8B030D-6E8A-4147-A177-3AD203B41FA5}">
                      <a16:colId xmlns:a16="http://schemas.microsoft.com/office/drawing/2014/main" val="569973888"/>
                    </a:ext>
                  </a:extLst>
                </a:gridCol>
              </a:tblGrid>
              <a:tr h="5263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VT-x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VHE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035186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新特权级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Root</a:t>
                      </a:r>
                      <a:r>
                        <a:rPr lang="zh-CN" altLang="en-US" dirty="0"/>
                        <a:t>和</a:t>
                      </a:r>
                      <a:r>
                        <a:rPr lang="en-US" altLang="zh-CN" dirty="0"/>
                        <a:t>Non-root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EL2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50146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是否有</a:t>
                      </a:r>
                      <a:r>
                        <a:rPr lang="en-US" altLang="zh-CN" dirty="0"/>
                        <a:t>VMCS</a:t>
                      </a:r>
                      <a:r>
                        <a:rPr lang="zh-CN" altLang="en-US" dirty="0"/>
                        <a:t>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081217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en-US" altLang="zh-CN" dirty="0"/>
                        <a:t>VM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Entry/Exit</a:t>
                      </a:r>
                      <a:r>
                        <a:rPr lang="zh-CN" altLang="en-US" dirty="0"/>
                        <a:t>时硬件自动保存状态？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241866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是否引入新的指令？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多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少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867358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是否引入新的系统寄存器</a:t>
                      </a:r>
                      <a:r>
                        <a:rPr lang="en-US" altLang="zh-CN" dirty="0"/>
                        <a:t>?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是</a:t>
                      </a:r>
                      <a:r>
                        <a:rPr lang="en-US" altLang="zh-CN"/>
                        <a:t>(</a:t>
                      </a:r>
                      <a:r>
                        <a:rPr lang="zh-CN" altLang="en-US"/>
                        <a:t>多</a:t>
                      </a:r>
                      <a:r>
                        <a:rPr lang="en-US" altLang="zh-CN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366084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是否有扩展页表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第二阶段页表</a:t>
                      </a:r>
                      <a:r>
                        <a:rPr lang="en-US" altLang="zh-CN" dirty="0"/>
                        <a:t>)?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355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46F43F-280A-EA45-A37B-E24074A9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6A49E-0EFB-5E45-BDC8-1F117F82C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3989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5F014-419B-5942-8893-BFF6158E5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Type-1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Type-2</a:t>
            </a:r>
            <a:r>
              <a:rPr kumimoji="1" lang="zh-CN" altLang="en-US" dirty="0"/>
              <a:t>在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VHE</a:t>
            </a:r>
            <a:r>
              <a:rPr kumimoji="1" lang="zh-CN" altLang="en-US" dirty="0"/>
              <a:t>下架构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58250A-0745-2044-A079-58E6348D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5779D-DCB0-9C4B-A3E7-4CBDCE5D1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516CA86F-8F60-3741-9600-4761F85DA985}"/>
              </a:ext>
            </a:extLst>
          </p:cNvPr>
          <p:cNvSpPr/>
          <p:nvPr/>
        </p:nvSpPr>
        <p:spPr>
          <a:xfrm>
            <a:off x="2411760" y="2785492"/>
            <a:ext cx="1761833" cy="21602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BD129CE6-84DC-FB45-BFE5-70B593F9B0E0}"/>
              </a:ext>
            </a:extLst>
          </p:cNvPr>
          <p:cNvSpPr/>
          <p:nvPr/>
        </p:nvSpPr>
        <p:spPr>
          <a:xfrm>
            <a:off x="3343523" y="2093108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VM-2</a:t>
            </a: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3465EED1-ABC6-9E4D-BC38-7797267EE4AB}"/>
              </a:ext>
            </a:extLst>
          </p:cNvPr>
          <p:cNvSpPr/>
          <p:nvPr/>
        </p:nvSpPr>
        <p:spPr>
          <a:xfrm>
            <a:off x="2416691" y="2093108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VM-1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27EC1224-A952-6F40-A8CE-6177AB42B325}"/>
              </a:ext>
            </a:extLst>
          </p:cNvPr>
          <p:cNvSpPr/>
          <p:nvPr/>
        </p:nvSpPr>
        <p:spPr>
          <a:xfrm>
            <a:off x="5724129" y="2713484"/>
            <a:ext cx="1761833" cy="322200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404040"/>
                </a:solidFill>
                <a:cs typeface="Arial Narrow"/>
              </a:rPr>
              <a:t>  </a:t>
            </a:r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rgbClr val="404040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OS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BAEE7F2E-F253-C24C-8913-45BBDD1FE00B}"/>
              </a:ext>
            </a:extLst>
          </p:cNvPr>
          <p:cNvSpPr/>
          <p:nvPr/>
        </p:nvSpPr>
        <p:spPr>
          <a:xfrm>
            <a:off x="6655892" y="2118049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VM-2</a:t>
            </a: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CAB49CB3-D1AD-D445-AA20-CBF3CCFCE1B7}"/>
              </a:ext>
            </a:extLst>
          </p:cNvPr>
          <p:cNvSpPr/>
          <p:nvPr/>
        </p:nvSpPr>
        <p:spPr>
          <a:xfrm>
            <a:off x="5729060" y="2118049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VM-1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FE61F048-DAB9-4045-9E24-8AF8876B9C74}"/>
              </a:ext>
            </a:extLst>
          </p:cNvPr>
          <p:cNvSpPr/>
          <p:nvPr/>
        </p:nvSpPr>
        <p:spPr>
          <a:xfrm>
            <a:off x="2422103" y="160842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F440C695-1171-8945-A835-A74C53BE5017}"/>
              </a:ext>
            </a:extLst>
          </p:cNvPr>
          <p:cNvSpPr/>
          <p:nvPr/>
        </p:nvSpPr>
        <p:spPr>
          <a:xfrm>
            <a:off x="2889209" y="160842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A0151E6A-244C-5749-AC28-7E97C26ED655}"/>
              </a:ext>
            </a:extLst>
          </p:cNvPr>
          <p:cNvSpPr/>
          <p:nvPr/>
        </p:nvSpPr>
        <p:spPr>
          <a:xfrm>
            <a:off x="3353865" y="160842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0B67558C-EEA8-1148-8B72-C29AE1D402C9}"/>
              </a:ext>
            </a:extLst>
          </p:cNvPr>
          <p:cNvSpPr/>
          <p:nvPr/>
        </p:nvSpPr>
        <p:spPr>
          <a:xfrm>
            <a:off x="3820971" y="160842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60C554B7-180C-924A-B58A-23BBB576D6F0}"/>
              </a:ext>
            </a:extLst>
          </p:cNvPr>
          <p:cNvSpPr/>
          <p:nvPr/>
        </p:nvSpPr>
        <p:spPr>
          <a:xfrm>
            <a:off x="5724128" y="1633364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4C05BABF-7316-3F4C-9BAB-3953AEF9753D}"/>
              </a:ext>
            </a:extLst>
          </p:cNvPr>
          <p:cNvSpPr/>
          <p:nvPr/>
        </p:nvSpPr>
        <p:spPr>
          <a:xfrm>
            <a:off x="6191234" y="1633364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7A354850-6018-4C46-ABA8-3884233494F6}"/>
              </a:ext>
            </a:extLst>
          </p:cNvPr>
          <p:cNvSpPr/>
          <p:nvPr/>
        </p:nvSpPr>
        <p:spPr>
          <a:xfrm>
            <a:off x="6655890" y="1633364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989BAB-1361-FE42-AF31-34A3E3A2956E}"/>
              </a:ext>
            </a:extLst>
          </p:cNvPr>
          <p:cNvSpPr/>
          <p:nvPr/>
        </p:nvSpPr>
        <p:spPr>
          <a:xfrm>
            <a:off x="7122996" y="1633364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F958C350-FBB7-5146-9354-3C281F4D16A8}"/>
              </a:ext>
            </a:extLst>
          </p:cNvPr>
          <p:cNvSpPr/>
          <p:nvPr/>
        </p:nvSpPr>
        <p:spPr>
          <a:xfrm>
            <a:off x="6745304" y="2769057"/>
            <a:ext cx="691543" cy="21730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937B459-39CE-1343-A0AE-C9456413C398}"/>
              </a:ext>
            </a:extLst>
          </p:cNvPr>
          <p:cNvSpPr txBox="1"/>
          <p:nvPr/>
        </p:nvSpPr>
        <p:spPr>
          <a:xfrm>
            <a:off x="1691680" y="1057300"/>
            <a:ext cx="2314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404040"/>
                </a:solidFill>
                <a:latin typeface="DengXian" charset="0"/>
                <a:ea typeface="DengXian" charset="0"/>
                <a:cs typeface="DengXian" charset="0"/>
              </a:rPr>
              <a:t>Type-1</a:t>
            </a:r>
            <a:endParaRPr kumimoji="1" lang="zh-CN" altLang="en-US" b="1" dirty="0">
              <a:solidFill>
                <a:srgbClr val="40404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40" name="Straight Connector 13">
            <a:extLst>
              <a:ext uri="{FF2B5EF4-FFF2-40B4-BE49-F238E27FC236}">
                <a16:creationId xmlns:a16="http://schemas.microsoft.com/office/drawing/2014/main" id="{813447C9-2048-3F4B-A1C5-C60DFD454E16}"/>
              </a:ext>
            </a:extLst>
          </p:cNvPr>
          <p:cNvCxnSpPr>
            <a:cxnSpLocks/>
          </p:cNvCxnSpPr>
          <p:nvPr/>
        </p:nvCxnSpPr>
        <p:spPr>
          <a:xfrm>
            <a:off x="4932040" y="2641476"/>
            <a:ext cx="269701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7BDFB596-E851-BE47-8C1D-5F5619273814}"/>
              </a:ext>
            </a:extLst>
          </p:cNvPr>
          <p:cNvSpPr txBox="1"/>
          <p:nvPr/>
        </p:nvSpPr>
        <p:spPr>
          <a:xfrm>
            <a:off x="4932040" y="2641476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Root</a:t>
            </a:r>
            <a:r>
              <a:rPr kumimoji="1" lang="zh-CN" altLang="en-US" sz="1400" dirty="0"/>
              <a:t> 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Mode</a:t>
            </a:r>
            <a:endParaRPr kumimoji="1"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74DBA0A-837D-1149-9460-E34163643C35}"/>
              </a:ext>
            </a:extLst>
          </p:cNvPr>
          <p:cNvSpPr txBox="1"/>
          <p:nvPr/>
        </p:nvSpPr>
        <p:spPr>
          <a:xfrm>
            <a:off x="4788024" y="1849388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Non-root</a:t>
            </a:r>
            <a:r>
              <a:rPr kumimoji="1" lang="zh-CN" altLang="en-US" sz="1400" dirty="0"/>
              <a:t> 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Mode</a:t>
            </a:r>
            <a:endParaRPr kumimoji="1" lang="zh-CN" altLang="en-US" sz="1400" dirty="0"/>
          </a:p>
        </p:txBody>
      </p:sp>
      <p:cxnSp>
        <p:nvCxnSpPr>
          <p:cNvPr id="45" name="Straight Connector 13">
            <a:extLst>
              <a:ext uri="{FF2B5EF4-FFF2-40B4-BE49-F238E27FC236}">
                <a16:creationId xmlns:a16="http://schemas.microsoft.com/office/drawing/2014/main" id="{F0C4ED27-A218-FA41-AA07-A547F23EC19A}"/>
              </a:ext>
            </a:extLst>
          </p:cNvPr>
          <p:cNvCxnSpPr>
            <a:cxnSpLocks/>
          </p:cNvCxnSpPr>
          <p:nvPr/>
        </p:nvCxnSpPr>
        <p:spPr>
          <a:xfrm>
            <a:off x="1763688" y="2641476"/>
            <a:ext cx="2485336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62C3C2C-BE9A-C448-9896-A4CDE9D11852}"/>
              </a:ext>
            </a:extLst>
          </p:cNvPr>
          <p:cNvSpPr txBox="1"/>
          <p:nvPr/>
        </p:nvSpPr>
        <p:spPr>
          <a:xfrm>
            <a:off x="1691680" y="2641476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Root</a:t>
            </a:r>
            <a:r>
              <a:rPr kumimoji="1" lang="zh-CN" altLang="en-US" sz="1400" dirty="0"/>
              <a:t> 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Mode</a:t>
            </a:r>
            <a:endParaRPr kumimoji="1" lang="zh-CN" altLang="en-US" sz="1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06CC55C-4C20-B048-8638-E365C0AD665C}"/>
              </a:ext>
            </a:extLst>
          </p:cNvPr>
          <p:cNvSpPr txBox="1"/>
          <p:nvPr/>
        </p:nvSpPr>
        <p:spPr>
          <a:xfrm>
            <a:off x="1547664" y="1777380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Non-root</a:t>
            </a:r>
            <a:r>
              <a:rPr kumimoji="1" lang="zh-CN" altLang="en-US" sz="1400" dirty="0"/>
              <a:t> 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Mode</a:t>
            </a:r>
            <a:endParaRPr kumimoji="1"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9A4FAB6-7ABC-FC49-9A96-498A7B01BE47}"/>
              </a:ext>
            </a:extLst>
          </p:cNvPr>
          <p:cNvSpPr txBox="1"/>
          <p:nvPr/>
        </p:nvSpPr>
        <p:spPr>
          <a:xfrm>
            <a:off x="1722396" y="4657700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EL2</a:t>
            </a:r>
            <a:endParaRPr kumimoji="1" lang="zh-CN" altLang="en-US" sz="1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07BACC5-7776-FF4E-9175-2CA109305348}"/>
              </a:ext>
            </a:extLst>
          </p:cNvPr>
          <p:cNvSpPr txBox="1"/>
          <p:nvPr/>
        </p:nvSpPr>
        <p:spPr>
          <a:xfrm>
            <a:off x="1506372" y="3865612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EL0&amp;EL1</a:t>
            </a:r>
            <a:endParaRPr kumimoji="1" lang="zh-CN" altLang="en-US" sz="1400" dirty="0"/>
          </a:p>
        </p:txBody>
      </p:sp>
      <p:sp>
        <p:nvSpPr>
          <p:cNvPr id="59" name="Rectangle 22">
            <a:extLst>
              <a:ext uri="{FF2B5EF4-FFF2-40B4-BE49-F238E27FC236}">
                <a16:creationId xmlns:a16="http://schemas.microsoft.com/office/drawing/2014/main" id="{22DE1FD9-D3BF-644A-89D7-A9C8EA7149DE}"/>
              </a:ext>
            </a:extLst>
          </p:cNvPr>
          <p:cNvSpPr/>
          <p:nvPr/>
        </p:nvSpPr>
        <p:spPr>
          <a:xfrm>
            <a:off x="5724128" y="4657700"/>
            <a:ext cx="1761833" cy="322200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404040"/>
                </a:solidFill>
                <a:cs typeface="Arial Narrow"/>
              </a:rPr>
              <a:t>  </a:t>
            </a:r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rgbClr val="404040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OS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069DC9FD-1A07-EB40-93C2-43D1B45A4BCB}"/>
              </a:ext>
            </a:extLst>
          </p:cNvPr>
          <p:cNvSpPr/>
          <p:nvPr/>
        </p:nvSpPr>
        <p:spPr>
          <a:xfrm>
            <a:off x="6655891" y="4062265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VM-2</a:t>
            </a:r>
          </a:p>
        </p:txBody>
      </p:sp>
      <p:sp>
        <p:nvSpPr>
          <p:cNvPr id="61" name="Rectangle 27">
            <a:extLst>
              <a:ext uri="{FF2B5EF4-FFF2-40B4-BE49-F238E27FC236}">
                <a16:creationId xmlns:a16="http://schemas.microsoft.com/office/drawing/2014/main" id="{171008F9-3490-9E43-B1DE-8D571CD2F5CB}"/>
              </a:ext>
            </a:extLst>
          </p:cNvPr>
          <p:cNvSpPr/>
          <p:nvPr/>
        </p:nvSpPr>
        <p:spPr>
          <a:xfrm>
            <a:off x="5729059" y="4062265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VM-1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2" name="Rectangle 27">
            <a:extLst>
              <a:ext uri="{FF2B5EF4-FFF2-40B4-BE49-F238E27FC236}">
                <a16:creationId xmlns:a16="http://schemas.microsoft.com/office/drawing/2014/main" id="{7040E2BA-20C1-BF41-B882-1791ECD759AD}"/>
              </a:ext>
            </a:extLst>
          </p:cNvPr>
          <p:cNvSpPr/>
          <p:nvPr/>
        </p:nvSpPr>
        <p:spPr>
          <a:xfrm>
            <a:off x="5724127" y="3577580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3" name="Rectangle 27">
            <a:extLst>
              <a:ext uri="{FF2B5EF4-FFF2-40B4-BE49-F238E27FC236}">
                <a16:creationId xmlns:a16="http://schemas.microsoft.com/office/drawing/2014/main" id="{EFAE4218-B782-3E4C-B160-53D1026FAF41}"/>
              </a:ext>
            </a:extLst>
          </p:cNvPr>
          <p:cNvSpPr/>
          <p:nvPr/>
        </p:nvSpPr>
        <p:spPr>
          <a:xfrm>
            <a:off x="6191233" y="3577580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4" name="Rectangle 27">
            <a:extLst>
              <a:ext uri="{FF2B5EF4-FFF2-40B4-BE49-F238E27FC236}">
                <a16:creationId xmlns:a16="http://schemas.microsoft.com/office/drawing/2014/main" id="{1CD96825-8BA9-1948-A6A1-E761A2258983}"/>
              </a:ext>
            </a:extLst>
          </p:cNvPr>
          <p:cNvSpPr/>
          <p:nvPr/>
        </p:nvSpPr>
        <p:spPr>
          <a:xfrm>
            <a:off x="6655889" y="3577580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5" name="Rectangle 27">
            <a:extLst>
              <a:ext uri="{FF2B5EF4-FFF2-40B4-BE49-F238E27FC236}">
                <a16:creationId xmlns:a16="http://schemas.microsoft.com/office/drawing/2014/main" id="{68E14584-F017-C24C-8B6E-74D6A1FF7DEC}"/>
              </a:ext>
            </a:extLst>
          </p:cNvPr>
          <p:cNvSpPr/>
          <p:nvPr/>
        </p:nvSpPr>
        <p:spPr>
          <a:xfrm>
            <a:off x="7122995" y="3577580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6" name="Rectangle 27">
            <a:extLst>
              <a:ext uri="{FF2B5EF4-FFF2-40B4-BE49-F238E27FC236}">
                <a16:creationId xmlns:a16="http://schemas.microsoft.com/office/drawing/2014/main" id="{6D2CFCDD-990B-F14B-AD3F-96B5B9D45615}"/>
              </a:ext>
            </a:extLst>
          </p:cNvPr>
          <p:cNvSpPr/>
          <p:nvPr/>
        </p:nvSpPr>
        <p:spPr>
          <a:xfrm>
            <a:off x="6745303" y="4713273"/>
            <a:ext cx="691543" cy="21730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67" name="Straight Connector 13">
            <a:extLst>
              <a:ext uri="{FF2B5EF4-FFF2-40B4-BE49-F238E27FC236}">
                <a16:creationId xmlns:a16="http://schemas.microsoft.com/office/drawing/2014/main" id="{DF9EBC74-2736-7F4B-A7BE-E18656A3AFB4}"/>
              </a:ext>
            </a:extLst>
          </p:cNvPr>
          <p:cNvCxnSpPr>
            <a:cxnSpLocks/>
          </p:cNvCxnSpPr>
          <p:nvPr/>
        </p:nvCxnSpPr>
        <p:spPr>
          <a:xfrm>
            <a:off x="4932039" y="4585692"/>
            <a:ext cx="269701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0CCB9E86-4728-A844-8A7E-4337254BCA3F}"/>
              </a:ext>
            </a:extLst>
          </p:cNvPr>
          <p:cNvSpPr txBox="1"/>
          <p:nvPr/>
        </p:nvSpPr>
        <p:spPr>
          <a:xfrm>
            <a:off x="5004048" y="4657700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EL2</a:t>
            </a:r>
            <a:endParaRPr kumimoji="1" lang="zh-CN" altLang="en-US" sz="14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8D1DEC6-EC4C-CC45-ACC1-5FABCD64541E}"/>
              </a:ext>
            </a:extLst>
          </p:cNvPr>
          <p:cNvSpPr txBox="1"/>
          <p:nvPr/>
        </p:nvSpPr>
        <p:spPr>
          <a:xfrm>
            <a:off x="4860032" y="3865612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EL0&amp;EL1</a:t>
            </a:r>
            <a:endParaRPr kumimoji="1" lang="zh-CN" altLang="en-US" sz="1400" dirty="0"/>
          </a:p>
        </p:txBody>
      </p:sp>
      <p:cxnSp>
        <p:nvCxnSpPr>
          <p:cNvPr id="71" name="Straight Connector 13">
            <a:extLst>
              <a:ext uri="{FF2B5EF4-FFF2-40B4-BE49-F238E27FC236}">
                <a16:creationId xmlns:a16="http://schemas.microsoft.com/office/drawing/2014/main" id="{AB370ED3-2120-1144-9943-CEC50D090175}"/>
              </a:ext>
            </a:extLst>
          </p:cNvPr>
          <p:cNvCxnSpPr>
            <a:cxnSpLocks/>
          </p:cNvCxnSpPr>
          <p:nvPr/>
        </p:nvCxnSpPr>
        <p:spPr>
          <a:xfrm>
            <a:off x="467544" y="3361556"/>
            <a:ext cx="799288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13">
            <a:extLst>
              <a:ext uri="{FF2B5EF4-FFF2-40B4-BE49-F238E27FC236}">
                <a16:creationId xmlns:a16="http://schemas.microsoft.com/office/drawing/2014/main" id="{C12EFA4C-9F8C-3D46-BD65-E31E8643A7B3}"/>
              </a:ext>
            </a:extLst>
          </p:cNvPr>
          <p:cNvCxnSpPr>
            <a:cxnSpLocks/>
          </p:cNvCxnSpPr>
          <p:nvPr/>
        </p:nvCxnSpPr>
        <p:spPr>
          <a:xfrm>
            <a:off x="4644008" y="1057300"/>
            <a:ext cx="0" cy="41764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9E661C52-A044-C34F-8D29-A22A47F3CB7C}"/>
              </a:ext>
            </a:extLst>
          </p:cNvPr>
          <p:cNvSpPr txBox="1"/>
          <p:nvPr/>
        </p:nvSpPr>
        <p:spPr>
          <a:xfrm>
            <a:off x="5292080" y="1057300"/>
            <a:ext cx="2314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404040"/>
                </a:solidFill>
                <a:latin typeface="DengXian" charset="0"/>
                <a:ea typeface="DengXian" charset="0"/>
                <a:cs typeface="DengXian" charset="0"/>
              </a:rPr>
              <a:t>Type-2</a:t>
            </a:r>
            <a:endParaRPr kumimoji="1" lang="zh-CN" altLang="en-US" b="1" dirty="0">
              <a:solidFill>
                <a:srgbClr val="40404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99BB94A-B350-0245-BCA8-D51493935DC3}"/>
              </a:ext>
            </a:extLst>
          </p:cNvPr>
          <p:cNvSpPr txBox="1"/>
          <p:nvPr/>
        </p:nvSpPr>
        <p:spPr>
          <a:xfrm>
            <a:off x="-396552" y="2209428"/>
            <a:ext cx="2314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404040"/>
                </a:solidFill>
                <a:latin typeface="DengXian" charset="0"/>
                <a:ea typeface="DengXian" charset="0"/>
                <a:cs typeface="DengXian" charset="0"/>
              </a:rPr>
              <a:t>VT-x</a:t>
            </a:r>
            <a:endParaRPr kumimoji="1" lang="zh-CN" altLang="en-US" b="1" dirty="0">
              <a:solidFill>
                <a:srgbClr val="40404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E7C4618-5800-D845-B028-E59DF467DE39}"/>
              </a:ext>
            </a:extLst>
          </p:cNvPr>
          <p:cNvSpPr txBox="1"/>
          <p:nvPr/>
        </p:nvSpPr>
        <p:spPr>
          <a:xfrm>
            <a:off x="-396552" y="4153644"/>
            <a:ext cx="2314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404040"/>
                </a:solidFill>
                <a:latin typeface="DengXian" charset="0"/>
                <a:ea typeface="DengXian" charset="0"/>
                <a:cs typeface="DengXian" charset="0"/>
              </a:rPr>
              <a:t>VHE</a:t>
            </a:r>
            <a:endParaRPr kumimoji="1" lang="zh-CN" altLang="en-US" b="1" dirty="0">
              <a:solidFill>
                <a:srgbClr val="40404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84" name="Straight Connector 13">
            <a:extLst>
              <a:ext uri="{FF2B5EF4-FFF2-40B4-BE49-F238E27FC236}">
                <a16:creationId xmlns:a16="http://schemas.microsoft.com/office/drawing/2014/main" id="{DEC4325F-0D09-4E46-A1BF-90F7D8217BCA}"/>
              </a:ext>
            </a:extLst>
          </p:cNvPr>
          <p:cNvCxnSpPr>
            <a:cxnSpLocks/>
          </p:cNvCxnSpPr>
          <p:nvPr/>
        </p:nvCxnSpPr>
        <p:spPr>
          <a:xfrm>
            <a:off x="467544" y="5233764"/>
            <a:ext cx="799288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13">
            <a:extLst>
              <a:ext uri="{FF2B5EF4-FFF2-40B4-BE49-F238E27FC236}">
                <a16:creationId xmlns:a16="http://schemas.microsoft.com/office/drawing/2014/main" id="{A3D42C55-2E8D-9F43-B5C0-8EC5113AC1B2}"/>
              </a:ext>
            </a:extLst>
          </p:cNvPr>
          <p:cNvCxnSpPr>
            <a:cxnSpLocks/>
          </p:cNvCxnSpPr>
          <p:nvPr/>
        </p:nvCxnSpPr>
        <p:spPr>
          <a:xfrm>
            <a:off x="1259632" y="1057300"/>
            <a:ext cx="0" cy="41764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13">
            <a:extLst>
              <a:ext uri="{FF2B5EF4-FFF2-40B4-BE49-F238E27FC236}">
                <a16:creationId xmlns:a16="http://schemas.microsoft.com/office/drawing/2014/main" id="{48AC6149-6122-A547-B2D8-9AF6ED65200C}"/>
              </a:ext>
            </a:extLst>
          </p:cNvPr>
          <p:cNvCxnSpPr>
            <a:cxnSpLocks/>
          </p:cNvCxnSpPr>
          <p:nvPr/>
        </p:nvCxnSpPr>
        <p:spPr>
          <a:xfrm>
            <a:off x="467544" y="1489348"/>
            <a:ext cx="842493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22">
            <a:extLst>
              <a:ext uri="{FF2B5EF4-FFF2-40B4-BE49-F238E27FC236}">
                <a16:creationId xmlns:a16="http://schemas.microsoft.com/office/drawing/2014/main" id="{C456793D-2103-5D4E-B557-C24B1AE47FD3}"/>
              </a:ext>
            </a:extLst>
          </p:cNvPr>
          <p:cNvSpPr/>
          <p:nvPr/>
        </p:nvSpPr>
        <p:spPr>
          <a:xfrm>
            <a:off x="2416101" y="4702012"/>
            <a:ext cx="1761833" cy="21602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96" name="Rectangle 23">
            <a:extLst>
              <a:ext uri="{FF2B5EF4-FFF2-40B4-BE49-F238E27FC236}">
                <a16:creationId xmlns:a16="http://schemas.microsoft.com/office/drawing/2014/main" id="{377EAACF-AE24-274A-B8EC-BD3E39CA6244}"/>
              </a:ext>
            </a:extLst>
          </p:cNvPr>
          <p:cNvSpPr/>
          <p:nvPr/>
        </p:nvSpPr>
        <p:spPr>
          <a:xfrm>
            <a:off x="3347864" y="4009628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VM-2</a:t>
            </a:r>
          </a:p>
        </p:txBody>
      </p:sp>
      <p:sp>
        <p:nvSpPr>
          <p:cNvPr id="97" name="Rectangle 27">
            <a:extLst>
              <a:ext uri="{FF2B5EF4-FFF2-40B4-BE49-F238E27FC236}">
                <a16:creationId xmlns:a16="http://schemas.microsoft.com/office/drawing/2014/main" id="{34ABF703-DC32-E24C-95E6-456FD84FDDB5}"/>
              </a:ext>
            </a:extLst>
          </p:cNvPr>
          <p:cNvSpPr/>
          <p:nvPr/>
        </p:nvSpPr>
        <p:spPr>
          <a:xfrm>
            <a:off x="2421032" y="4009628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VM-1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98" name="Rectangle 27">
            <a:extLst>
              <a:ext uri="{FF2B5EF4-FFF2-40B4-BE49-F238E27FC236}">
                <a16:creationId xmlns:a16="http://schemas.microsoft.com/office/drawing/2014/main" id="{E1ED052F-D660-BE46-B609-67D06B4A6EE8}"/>
              </a:ext>
            </a:extLst>
          </p:cNvPr>
          <p:cNvSpPr/>
          <p:nvPr/>
        </p:nvSpPr>
        <p:spPr>
          <a:xfrm>
            <a:off x="2426444" y="352494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99" name="Rectangle 27">
            <a:extLst>
              <a:ext uri="{FF2B5EF4-FFF2-40B4-BE49-F238E27FC236}">
                <a16:creationId xmlns:a16="http://schemas.microsoft.com/office/drawing/2014/main" id="{456B770C-203F-0A45-A645-0266B1435A8F}"/>
              </a:ext>
            </a:extLst>
          </p:cNvPr>
          <p:cNvSpPr/>
          <p:nvPr/>
        </p:nvSpPr>
        <p:spPr>
          <a:xfrm>
            <a:off x="2893550" y="352494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100" name="Rectangle 27">
            <a:extLst>
              <a:ext uri="{FF2B5EF4-FFF2-40B4-BE49-F238E27FC236}">
                <a16:creationId xmlns:a16="http://schemas.microsoft.com/office/drawing/2014/main" id="{82E08288-BBE5-F843-A64E-E47346B970D9}"/>
              </a:ext>
            </a:extLst>
          </p:cNvPr>
          <p:cNvSpPr/>
          <p:nvPr/>
        </p:nvSpPr>
        <p:spPr>
          <a:xfrm>
            <a:off x="3358206" y="352494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101" name="Rectangle 27">
            <a:extLst>
              <a:ext uri="{FF2B5EF4-FFF2-40B4-BE49-F238E27FC236}">
                <a16:creationId xmlns:a16="http://schemas.microsoft.com/office/drawing/2014/main" id="{45F3A112-B2A5-344D-BE2E-AD192B7C1992}"/>
              </a:ext>
            </a:extLst>
          </p:cNvPr>
          <p:cNvSpPr/>
          <p:nvPr/>
        </p:nvSpPr>
        <p:spPr>
          <a:xfrm>
            <a:off x="3825312" y="352494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cxnSp>
        <p:nvCxnSpPr>
          <p:cNvPr id="102" name="Straight Connector 13">
            <a:extLst>
              <a:ext uri="{FF2B5EF4-FFF2-40B4-BE49-F238E27FC236}">
                <a16:creationId xmlns:a16="http://schemas.microsoft.com/office/drawing/2014/main" id="{E38A2C9D-240F-2342-A3EB-421E31DB3050}"/>
              </a:ext>
            </a:extLst>
          </p:cNvPr>
          <p:cNvCxnSpPr>
            <a:cxnSpLocks/>
          </p:cNvCxnSpPr>
          <p:nvPr/>
        </p:nvCxnSpPr>
        <p:spPr>
          <a:xfrm>
            <a:off x="1768029" y="4557996"/>
            <a:ext cx="2485336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266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案例：</a:t>
            </a:r>
            <a:r>
              <a:rPr kumimoji="1" lang="en-US" altLang="zh-CN" b="1" dirty="0"/>
              <a:t>QEMU/KVM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92809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D4E22-1181-B94C-9188-78BCFD56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发展历史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84D3CE-A106-C847-868A-0688C549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2003</a:t>
            </a:r>
            <a:r>
              <a:rPr kumimoji="1" lang="zh-CN" altLang="en-US" sz="2000" dirty="0"/>
              <a:t>年，法国程序员</a:t>
            </a:r>
            <a:r>
              <a:rPr lang="en-US" altLang="zh-CN" sz="2000" dirty="0"/>
              <a:t>Fabrice </a:t>
            </a:r>
            <a:r>
              <a:rPr lang="en-US" altLang="zh-CN" sz="2000" dirty="0" err="1"/>
              <a:t>Bellard</a:t>
            </a:r>
            <a:r>
              <a:rPr lang="zh-CN" altLang="en-US" sz="2000" dirty="0"/>
              <a:t>发布了</a:t>
            </a:r>
            <a:r>
              <a:rPr lang="en-US" altLang="zh-CN" sz="2000" dirty="0"/>
              <a:t>QEMU</a:t>
            </a:r>
            <a:r>
              <a:rPr lang="zh-CN" altLang="en-US" sz="2000" dirty="0"/>
              <a:t> </a:t>
            </a:r>
            <a:r>
              <a:rPr lang="en-US" altLang="zh-CN" sz="2000" dirty="0"/>
              <a:t>0.1</a:t>
            </a:r>
            <a:r>
              <a:rPr lang="zh-CN" altLang="en-US" sz="2000" dirty="0"/>
              <a:t>版本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目标是在非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机器上使用动态二进制翻译技术模拟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机器</a:t>
            </a:r>
            <a:endParaRPr kumimoji="1" lang="en-US" altLang="zh-CN" sz="1800" dirty="0"/>
          </a:p>
          <a:p>
            <a:r>
              <a:rPr kumimoji="1" lang="en-US" altLang="zh-CN" sz="2000" dirty="0"/>
              <a:t>2003-2006</a:t>
            </a:r>
            <a:r>
              <a:rPr kumimoji="1" lang="zh-CN" altLang="en-US" sz="2000" dirty="0"/>
              <a:t>年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能模拟出多种不同架构的虚拟机，包括</a:t>
            </a:r>
            <a:r>
              <a:rPr kumimoji="1" lang="en-US" altLang="zh-CN" sz="1800" dirty="0"/>
              <a:t>S390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MIPS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SPARC</a:t>
            </a:r>
            <a:r>
              <a:rPr kumimoji="1" lang="zh-CN" altLang="en-US" sz="1800" dirty="0"/>
              <a:t>等</a:t>
            </a:r>
            <a:endParaRPr kumimoji="1" lang="en-US" altLang="zh-CN" sz="1800" dirty="0"/>
          </a:p>
          <a:p>
            <a:pPr lvl="1"/>
            <a:r>
              <a:rPr lang="zh-CN" altLang="en-US" sz="1800" dirty="0"/>
              <a:t>在这阶段，</a:t>
            </a:r>
            <a:r>
              <a:rPr lang="en-US" altLang="zh-CN" sz="1800" dirty="0"/>
              <a:t>QEMU</a:t>
            </a:r>
            <a:r>
              <a:rPr lang="zh-CN" altLang="en-US" sz="1800" dirty="0"/>
              <a:t>一直使用</a:t>
            </a:r>
            <a:r>
              <a:rPr lang="zh-CN" altLang="en-US" sz="1800" dirty="0">
                <a:solidFill>
                  <a:srgbClr val="C00000"/>
                </a:solidFill>
              </a:rPr>
              <a:t>软件方法</a:t>
            </a:r>
            <a:r>
              <a:rPr lang="zh-CN" altLang="en-US" sz="1800" dirty="0"/>
              <a:t>进行模拟</a:t>
            </a:r>
            <a:endParaRPr lang="en-US" altLang="zh-CN" sz="1800" dirty="0"/>
          </a:p>
          <a:p>
            <a:pPr lvl="2"/>
            <a:r>
              <a:rPr lang="zh-CN" altLang="en-US" sz="1800" dirty="0"/>
              <a:t>如二进制翻译技术</a:t>
            </a: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EEE470-0AC2-034F-B86B-AB48AB26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89CFB9-FB62-484E-876B-A21C687BC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EF0AF0C-BAEC-7E44-A8F5-C19B0F869E4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5884" y="172201"/>
            <a:ext cx="2088232" cy="66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98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1B0D6-8CC3-A144-84B8-B39EA925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发展历史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1828A5-BB47-1D45-A920-A2BFAEF4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F9C36D-F1A6-2947-93C5-63BC7727E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1AE578-D8B9-C64D-A37B-A1439CB8746E}"/>
              </a:ext>
            </a:extLst>
          </p:cNvPr>
          <p:cNvGrpSpPr/>
          <p:nvPr/>
        </p:nvGrpSpPr>
        <p:grpSpPr>
          <a:xfrm>
            <a:off x="1691680" y="1547408"/>
            <a:ext cx="6194642" cy="3377915"/>
            <a:chOff x="1835696" y="1345332"/>
            <a:chExt cx="5188483" cy="282926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294DE91-5D3B-3447-B66C-93BCE71A6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35696" y="1345332"/>
              <a:ext cx="5188483" cy="2829260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2354A56-9957-7A49-87F9-7EC6B59047C8}"/>
                </a:ext>
              </a:extLst>
            </p:cNvPr>
            <p:cNvSpPr/>
            <p:nvPr/>
          </p:nvSpPr>
          <p:spPr>
            <a:xfrm>
              <a:off x="1835696" y="3505572"/>
              <a:ext cx="4608512" cy="288032"/>
            </a:xfrm>
            <a:prstGeom prst="rect">
              <a:avLst/>
            </a:prstGeom>
            <a:noFill/>
            <a:ln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427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EC8D5-2836-7443-9AA8-67CE8CA9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KVM</a:t>
            </a:r>
            <a:r>
              <a:rPr kumimoji="1" lang="zh-CN" altLang="en-US" dirty="0"/>
              <a:t>发展历史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3B456-72AE-D74E-870C-8736E8986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b="0" dirty="0"/>
              <a:t>2005</a:t>
            </a:r>
            <a:r>
              <a:rPr kumimoji="1" lang="zh-CN" altLang="en-US" sz="2000" b="0" dirty="0"/>
              <a:t>年</a:t>
            </a:r>
            <a:r>
              <a:rPr kumimoji="1" lang="en-US" altLang="zh-CN" sz="2000" b="0" dirty="0"/>
              <a:t>11</a:t>
            </a:r>
            <a:r>
              <a:rPr kumimoji="1" lang="zh-CN" altLang="en-US" sz="2000" b="0" dirty="0"/>
              <a:t>月，</a:t>
            </a:r>
            <a:r>
              <a:rPr kumimoji="1" lang="en-US" altLang="zh-CN" sz="2000" b="0" dirty="0"/>
              <a:t>Intel</a:t>
            </a:r>
            <a:r>
              <a:rPr kumimoji="1" lang="zh-CN" altLang="en-US" sz="2000" b="0" dirty="0"/>
              <a:t>发布带有</a:t>
            </a:r>
            <a:r>
              <a:rPr kumimoji="1" lang="en-US" altLang="zh-CN" sz="2000" b="0" dirty="0"/>
              <a:t>VT-x</a:t>
            </a:r>
            <a:r>
              <a:rPr kumimoji="1" lang="zh-CN" altLang="en-US" sz="2000" b="0" dirty="0"/>
              <a:t>的两款</a:t>
            </a:r>
            <a:r>
              <a:rPr kumimoji="1" lang="en-US" altLang="zh-CN" sz="2000" b="0" dirty="0"/>
              <a:t>Pentium 4</a:t>
            </a:r>
            <a:r>
              <a:rPr kumimoji="1" lang="zh-CN" altLang="en-US" sz="2000" b="0" dirty="0"/>
              <a:t>处理器</a:t>
            </a:r>
            <a:endParaRPr kumimoji="1" lang="en-US" altLang="zh-CN" sz="2000" b="0" dirty="0"/>
          </a:p>
          <a:p>
            <a:r>
              <a:rPr kumimoji="1" lang="en-US" altLang="zh-CN" sz="2000" b="0" dirty="0"/>
              <a:t>2006</a:t>
            </a:r>
            <a:r>
              <a:rPr kumimoji="1" lang="zh-CN" altLang="en-US" sz="2000" b="0" dirty="0"/>
              <a:t>年中期，</a:t>
            </a:r>
            <a:r>
              <a:rPr kumimoji="1" lang="en-US" altLang="zh-CN" sz="2000" b="0" dirty="0"/>
              <a:t> </a:t>
            </a:r>
            <a:r>
              <a:rPr kumimoji="1" lang="en-US" altLang="zh-CN" sz="2000" b="0" dirty="0" err="1"/>
              <a:t>Qumranet</a:t>
            </a:r>
            <a:r>
              <a:rPr kumimoji="1" lang="zh-CN" altLang="en-US" sz="2000" b="0" dirty="0"/>
              <a:t>公司在内部开发</a:t>
            </a:r>
            <a:r>
              <a:rPr kumimoji="1" lang="en-US" altLang="zh-CN" sz="2000" b="0" dirty="0"/>
              <a:t>KVM(Kernel-based Virtual Machine)</a:t>
            </a:r>
            <a:r>
              <a:rPr kumimoji="1" lang="zh-CN" altLang="en-US" sz="2000" b="0" dirty="0"/>
              <a:t>，并于</a:t>
            </a:r>
            <a:r>
              <a:rPr kumimoji="1" lang="en-US" altLang="zh-CN" sz="2000" b="0" dirty="0"/>
              <a:t>11</a:t>
            </a:r>
            <a:r>
              <a:rPr kumimoji="1" lang="zh-CN" altLang="en-US" sz="2000" b="0" dirty="0"/>
              <a:t>月发布</a:t>
            </a:r>
            <a:endParaRPr kumimoji="1" lang="en-US" altLang="zh-CN" sz="2000" b="0" dirty="0"/>
          </a:p>
          <a:p>
            <a:r>
              <a:rPr kumimoji="1" lang="en-US" altLang="zh-CN" sz="2000" b="0" dirty="0"/>
              <a:t>2007</a:t>
            </a:r>
            <a:r>
              <a:rPr kumimoji="1" lang="zh-CN" altLang="en-US" sz="2000" b="0" dirty="0"/>
              <a:t>年，</a:t>
            </a:r>
            <a:r>
              <a:rPr kumimoji="1" lang="en-US" altLang="zh-CN" sz="2000" b="0" dirty="0"/>
              <a:t>KVM</a:t>
            </a:r>
            <a:r>
              <a:rPr kumimoji="1" lang="zh-CN" altLang="en-US" sz="2000" b="0" dirty="0"/>
              <a:t>被整合进</a:t>
            </a:r>
            <a:r>
              <a:rPr kumimoji="1" lang="en-US" altLang="zh-CN" sz="2000" b="0" dirty="0"/>
              <a:t>Linux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2.6.20</a:t>
            </a:r>
          </a:p>
          <a:p>
            <a:r>
              <a:rPr kumimoji="1" lang="en-US" altLang="zh-CN" sz="2000" b="0" dirty="0"/>
              <a:t>2008</a:t>
            </a:r>
            <a:r>
              <a:rPr kumimoji="1" lang="zh-CN" altLang="en-US" sz="2000" b="0" dirty="0"/>
              <a:t>年</a:t>
            </a:r>
            <a:r>
              <a:rPr kumimoji="1" lang="en-US" altLang="zh-CN" sz="2000" b="0" dirty="0"/>
              <a:t>9</a:t>
            </a:r>
            <a:r>
              <a:rPr kumimoji="1" lang="zh-CN" altLang="en-US" sz="2000" b="0" dirty="0"/>
              <a:t>月，</a:t>
            </a:r>
            <a:r>
              <a:rPr kumimoji="1" lang="en-US" altLang="zh-CN" sz="2000" b="0" dirty="0" err="1"/>
              <a:t>Redhat</a:t>
            </a:r>
            <a:r>
              <a:rPr kumimoji="1" lang="zh-CN" altLang="en-US" sz="2000" b="0" dirty="0"/>
              <a:t>出资</a:t>
            </a:r>
            <a:r>
              <a:rPr kumimoji="1" lang="en-US" altLang="zh-CN" sz="2000" b="0" dirty="0"/>
              <a:t>1</a:t>
            </a:r>
            <a:r>
              <a:rPr kumimoji="1" lang="zh-CN" altLang="en-US" sz="2000" b="0" dirty="0"/>
              <a:t>亿</a:t>
            </a:r>
            <a:r>
              <a:rPr kumimoji="1" lang="en-US" altLang="zh-CN" sz="2000" b="0" dirty="0"/>
              <a:t>700</a:t>
            </a:r>
            <a:r>
              <a:rPr kumimoji="1" lang="zh-CN" altLang="en-US" sz="2000" b="0" dirty="0"/>
              <a:t>美元收购</a:t>
            </a:r>
            <a:r>
              <a:rPr kumimoji="1" lang="en-US" altLang="zh-CN" sz="2000" b="0" dirty="0" err="1"/>
              <a:t>Qumranet</a:t>
            </a:r>
            <a:endParaRPr kumimoji="1" lang="en-US" altLang="zh-CN" sz="2000" b="0" dirty="0"/>
          </a:p>
          <a:p>
            <a:r>
              <a:rPr kumimoji="1" lang="en-US" altLang="zh-CN" sz="2000" b="0" dirty="0"/>
              <a:t>2009</a:t>
            </a:r>
            <a:r>
              <a:rPr kumimoji="1" lang="zh-CN" altLang="en-US" sz="2000" b="0" dirty="0"/>
              <a:t>年，</a:t>
            </a:r>
            <a:r>
              <a:rPr kumimoji="1" lang="en-US" altLang="zh-CN" sz="2000" b="0" dirty="0"/>
              <a:t>QEMU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0.10.1</a:t>
            </a:r>
            <a:r>
              <a:rPr kumimoji="1" lang="zh-CN" altLang="en-US" sz="2000" b="0" dirty="0"/>
              <a:t>开始使用</a:t>
            </a:r>
            <a:r>
              <a:rPr kumimoji="1" lang="en-US" altLang="zh-CN" sz="2000" b="0" dirty="0"/>
              <a:t>KVM</a:t>
            </a:r>
            <a:r>
              <a:rPr kumimoji="1" lang="zh-CN" altLang="en-US" sz="2000" b="0" dirty="0"/>
              <a:t>，以替代其软件模拟的方案</a:t>
            </a:r>
          </a:p>
          <a:p>
            <a:endParaRPr kumimoji="1" lang="zh-CN" altLang="en-US" sz="20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5C1E94-8A0C-784C-AE27-6DE03E86F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EAD0C-306D-CE48-8AF9-090FE8110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7293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964B1-AFAF-0840-8F26-4606FCF4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QEMU/KVM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82EA1-7F6A-6B48-BF7E-866F3CD82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运行在用户态，负责实现</a:t>
            </a:r>
            <a:r>
              <a:rPr kumimoji="1" lang="zh-CN" altLang="en-US" dirty="0">
                <a:solidFill>
                  <a:srgbClr val="BE384B"/>
                </a:solidFill>
              </a:rPr>
              <a:t>策略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r>
              <a:rPr kumimoji="1" lang="zh-CN" altLang="en-US" dirty="0">
                <a:solidFill>
                  <a:srgbClr val="404040"/>
                </a:solidFill>
              </a:rPr>
              <a:t>也提供虚拟设备的支持</a:t>
            </a:r>
            <a:endParaRPr kumimoji="1" lang="en-US" altLang="zh-CN" dirty="0">
              <a:solidFill>
                <a:srgbClr val="404040"/>
              </a:solidFill>
            </a:endParaRPr>
          </a:p>
          <a:p>
            <a:r>
              <a:rPr kumimoji="1" lang="en-US" altLang="zh-CN" dirty="0"/>
              <a:t>KVM</a:t>
            </a:r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内核模块运行，负责实现</a:t>
            </a:r>
            <a:r>
              <a:rPr kumimoji="1" lang="zh-CN" altLang="en-US" dirty="0">
                <a:solidFill>
                  <a:srgbClr val="BE384B"/>
                </a:solidFill>
              </a:rPr>
              <a:t>机制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r>
              <a:rPr kumimoji="1" lang="zh-CN" altLang="en-US" dirty="0"/>
              <a:t>可以直接使用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例如内存管理、进程调度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使用硬件虚拟化功能</a:t>
            </a:r>
            <a:endParaRPr kumimoji="1" lang="en-US" altLang="zh-CN" dirty="0"/>
          </a:p>
          <a:p>
            <a:r>
              <a:rPr kumimoji="1" lang="zh-CN" altLang="en-US" dirty="0"/>
              <a:t>两部分合作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捕捉所有敏感指令和事件，传递给</a:t>
            </a:r>
            <a:r>
              <a:rPr kumimoji="1" lang="en-US" altLang="zh-CN" dirty="0"/>
              <a:t>QEMU</a:t>
            </a:r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不提供设备的虚拟化，需要使用</a:t>
            </a:r>
            <a:r>
              <a:rPr kumimoji="1" lang="en-US" altLang="zh-CN" dirty="0"/>
              <a:t>QEMU</a:t>
            </a:r>
            <a:r>
              <a:rPr kumimoji="1" lang="zh-CN" altLang="en-US" dirty="0"/>
              <a:t>的虚拟设备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9D2D0C-413F-A346-8DF6-0AD74E3A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4D392A-CBCE-DF40-9D93-0D38B2644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4255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4963C-174F-FC47-87FA-82EC9C82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KVM</a:t>
            </a:r>
            <a:r>
              <a:rPr kumimoji="1" lang="zh-CN" altLang="en-US" dirty="0"/>
              <a:t>的用户态接口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4E443A-0996-AE42-8F99-EBCD487B9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QEMU</a:t>
            </a:r>
            <a:r>
              <a:rPr kumimoji="1" lang="zh-CN" altLang="en-US" sz="2000" dirty="0"/>
              <a:t>使用</a:t>
            </a:r>
            <a:r>
              <a:rPr kumimoji="1" lang="en-US" altLang="zh-CN" sz="2000" dirty="0"/>
              <a:t>/dev/</a:t>
            </a:r>
            <a:r>
              <a:rPr kumimoji="1" lang="en-US" altLang="zh-CN" sz="2000" dirty="0" err="1"/>
              <a:t>kvm</a:t>
            </a:r>
            <a:r>
              <a:rPr kumimoji="1" lang="zh-CN" altLang="en-US" sz="2000" dirty="0"/>
              <a:t>与内核态的</a:t>
            </a:r>
            <a:r>
              <a:rPr kumimoji="1" lang="en-US" altLang="zh-CN" sz="2000" dirty="0"/>
              <a:t>KVM</a:t>
            </a:r>
            <a:r>
              <a:rPr kumimoji="1" lang="zh-CN" altLang="en-US" sz="2000" dirty="0"/>
              <a:t>通信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使用</a:t>
            </a:r>
            <a:r>
              <a:rPr kumimoji="1" lang="en-US" altLang="zh-CN" sz="1800" dirty="0" err="1"/>
              <a:t>ioctl</a:t>
            </a:r>
            <a:r>
              <a:rPr kumimoji="1" lang="zh-CN" altLang="en-US" sz="1800" dirty="0"/>
              <a:t>向</a:t>
            </a:r>
            <a:r>
              <a:rPr kumimoji="1" lang="en-US" altLang="zh-CN" sz="1800" dirty="0"/>
              <a:t>KVM</a:t>
            </a:r>
            <a:r>
              <a:rPr kumimoji="1" lang="zh-CN" altLang="en-US" sz="1800" dirty="0"/>
              <a:t>传递不同的命令：</a:t>
            </a:r>
            <a:r>
              <a:rPr kumimoji="1" lang="en-US" altLang="zh-CN" sz="1800" dirty="0"/>
              <a:t>CREATE_VM,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CREATE_VCPU,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KVM_RUN</a:t>
            </a:r>
            <a:r>
              <a:rPr kumimoji="1" lang="zh-CN" altLang="en-US" sz="1800" dirty="0"/>
              <a:t>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05ACDE-C4F4-BE49-8BA0-CDE7442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5CF0E1-F772-4C47-B4BD-17F5F0A67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094E9E7-0ACD-714F-85C0-4D863A624772}"/>
              </a:ext>
            </a:extLst>
          </p:cNvPr>
          <p:cNvGrpSpPr/>
          <p:nvPr/>
        </p:nvGrpSpPr>
        <p:grpSpPr>
          <a:xfrm>
            <a:off x="949366" y="2713484"/>
            <a:ext cx="6925052" cy="2592288"/>
            <a:chOff x="949366" y="2713484"/>
            <a:chExt cx="6925052" cy="2592288"/>
          </a:xfrm>
        </p:grpSpPr>
        <p:sp>
          <p:nvSpPr>
            <p:cNvPr id="7" name="Rectangle 22">
              <a:extLst>
                <a:ext uri="{FF2B5EF4-FFF2-40B4-BE49-F238E27FC236}">
                  <a16:creationId xmlns:a16="http://schemas.microsoft.com/office/drawing/2014/main" id="{45665FC4-2978-7B4F-9926-4A7061360FE9}"/>
                </a:ext>
              </a:extLst>
            </p:cNvPr>
            <p:cNvSpPr/>
            <p:nvPr/>
          </p:nvSpPr>
          <p:spPr>
            <a:xfrm>
              <a:off x="1749364" y="4441675"/>
              <a:ext cx="2636232" cy="4320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Linux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94D9C20F-4616-A848-A4EE-B4AE1B9F9B38}"/>
                </a:ext>
              </a:extLst>
            </p:cNvPr>
            <p:cNvSpPr/>
            <p:nvPr/>
          </p:nvSpPr>
          <p:spPr>
            <a:xfrm>
              <a:off x="1741454" y="3073524"/>
              <a:ext cx="2610552" cy="3600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QEMU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9" name="Straight Connector 13">
              <a:extLst>
                <a:ext uri="{FF2B5EF4-FFF2-40B4-BE49-F238E27FC236}">
                  <a16:creationId xmlns:a16="http://schemas.microsoft.com/office/drawing/2014/main" id="{D9A5A573-E5C2-B145-92DA-960AC8FE54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2648" y="4246782"/>
              <a:ext cx="6801770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1C18606-1635-8647-9CBB-6E2C62404127}"/>
                </a:ext>
              </a:extLst>
            </p:cNvPr>
            <p:cNvSpPr txBox="1"/>
            <p:nvPr/>
          </p:nvSpPr>
          <p:spPr>
            <a:xfrm>
              <a:off x="949366" y="3721596"/>
              <a:ext cx="80750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EL1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33B03D7-5E90-1E48-B251-8FBF44A35F50}"/>
                </a:ext>
              </a:extLst>
            </p:cNvPr>
            <p:cNvSpPr txBox="1"/>
            <p:nvPr/>
          </p:nvSpPr>
          <p:spPr>
            <a:xfrm>
              <a:off x="949366" y="3001516"/>
              <a:ext cx="80750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EL0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67104E4-46DB-E64A-8974-AD86E0FD6DE7}"/>
                </a:ext>
              </a:extLst>
            </p:cNvPr>
            <p:cNvSpPr txBox="1"/>
            <p:nvPr/>
          </p:nvSpPr>
          <p:spPr>
            <a:xfrm>
              <a:off x="949366" y="4513684"/>
              <a:ext cx="80750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EL2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2C2C9C7-0CD5-E047-8B3E-DB37C8EC31EE}"/>
                </a:ext>
              </a:extLst>
            </p:cNvPr>
            <p:cNvSpPr txBox="1"/>
            <p:nvPr/>
          </p:nvSpPr>
          <p:spPr>
            <a:xfrm>
              <a:off x="2677558" y="2713484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VMM</a:t>
              </a:r>
              <a:endParaRPr kumimoji="1" lang="zh-CN" altLang="en-US" dirty="0"/>
            </a:p>
          </p:txBody>
        </p:sp>
        <p:sp>
          <p:nvSpPr>
            <p:cNvPr id="14" name="Rectangle 22">
              <a:extLst>
                <a:ext uri="{FF2B5EF4-FFF2-40B4-BE49-F238E27FC236}">
                  <a16:creationId xmlns:a16="http://schemas.microsoft.com/office/drawing/2014/main" id="{82805A66-316D-B447-9B79-EEA74BE86B52}"/>
                </a:ext>
              </a:extLst>
            </p:cNvPr>
            <p:cNvSpPr/>
            <p:nvPr/>
          </p:nvSpPr>
          <p:spPr>
            <a:xfrm>
              <a:off x="4900468" y="3577580"/>
              <a:ext cx="2636232" cy="3934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OS</a:t>
              </a:r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 </a:t>
              </a:r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Kernel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C0BA65F2-E550-C24E-B152-77D4186BEFDB}"/>
                </a:ext>
              </a:extLst>
            </p:cNvPr>
            <p:cNvSpPr/>
            <p:nvPr/>
          </p:nvSpPr>
          <p:spPr>
            <a:xfrm>
              <a:off x="4909806" y="3073524"/>
              <a:ext cx="2636232" cy="34861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Processes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0AF431F2-5074-DE42-B7DC-6EA1624085E6}"/>
                </a:ext>
              </a:extLst>
            </p:cNvPr>
            <p:cNvSpPr/>
            <p:nvPr/>
          </p:nvSpPr>
          <p:spPr>
            <a:xfrm>
              <a:off x="4750540" y="2713484"/>
              <a:ext cx="2931601" cy="136568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7A9BE3D-8B61-E24D-999C-4BFD98B675A5}"/>
                </a:ext>
              </a:extLst>
            </p:cNvPr>
            <p:cNvSpPr txBox="1"/>
            <p:nvPr/>
          </p:nvSpPr>
          <p:spPr>
            <a:xfrm>
              <a:off x="5917918" y="2785492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VM</a:t>
              </a:r>
              <a:endParaRPr kumimoji="1" lang="zh-CN" altLang="en-US" dirty="0"/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3D5B65BB-81E0-4047-8C31-93D4E9D8493F}"/>
                </a:ext>
              </a:extLst>
            </p:cNvPr>
            <p:cNvSpPr/>
            <p:nvPr/>
          </p:nvSpPr>
          <p:spPr>
            <a:xfrm>
              <a:off x="1619672" y="2713484"/>
              <a:ext cx="2931601" cy="223224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id="{B3802D5A-98C3-9F43-B217-F1ABEF20F024}"/>
                </a:ext>
              </a:extLst>
            </p:cNvPr>
            <p:cNvSpPr/>
            <p:nvPr/>
          </p:nvSpPr>
          <p:spPr>
            <a:xfrm>
              <a:off x="3058431" y="4585693"/>
              <a:ext cx="1146017" cy="216024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Arial Narrow"/>
                </a:rPr>
                <a:t>KVM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cxnSp>
          <p:nvCxnSpPr>
            <p:cNvPr id="21" name="肘形连接符 20">
              <a:extLst>
                <a:ext uri="{FF2B5EF4-FFF2-40B4-BE49-F238E27FC236}">
                  <a16:creationId xmlns:a16="http://schemas.microsoft.com/office/drawing/2014/main" id="{53B5BF35-EF68-F14D-9B01-D10279E9725F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rot="16200000" flipH="1">
              <a:off x="5659239" y="4530404"/>
              <a:ext cx="1118690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9517175C-8737-2947-89D5-04AC97CAF24B}"/>
                </a:ext>
              </a:extLst>
            </p:cNvPr>
            <p:cNvSpPr/>
            <p:nvPr/>
          </p:nvSpPr>
          <p:spPr>
            <a:xfrm>
              <a:off x="3109606" y="4081636"/>
              <a:ext cx="1052056" cy="23815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BE384B"/>
                  </a:solidFill>
                  <a:cs typeface="Arial Narrow"/>
                </a:rPr>
                <a:t>/dev/</a:t>
              </a:r>
              <a:r>
                <a:rPr lang="en-US" altLang="zh-CN" sz="1200" dirty="0" err="1">
                  <a:solidFill>
                    <a:srgbClr val="BE384B"/>
                  </a:solidFill>
                  <a:cs typeface="Arial Narrow"/>
                </a:rPr>
                <a:t>kvm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F843AF32-37E4-AF4E-9565-AE24FAA27CB1}"/>
                </a:ext>
              </a:extLst>
            </p:cNvPr>
            <p:cNvCxnSpPr>
              <a:cxnSpLocks/>
            </p:cNvCxnSpPr>
            <p:nvPr/>
          </p:nvCxnSpPr>
          <p:spPr>
            <a:xfrm>
              <a:off x="3635896" y="3361556"/>
              <a:ext cx="0" cy="7920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08E848FB-269B-4147-885C-B7CE149F25A6}"/>
                </a:ext>
              </a:extLst>
            </p:cNvPr>
            <p:cNvCxnSpPr>
              <a:cxnSpLocks/>
              <a:stCxn id="24" idx="2"/>
              <a:endCxn id="19" idx="0"/>
            </p:cNvCxnSpPr>
            <p:nvPr/>
          </p:nvCxnSpPr>
          <p:spPr>
            <a:xfrm flipH="1">
              <a:off x="3631440" y="4319790"/>
              <a:ext cx="4194" cy="2659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30CA022-4CAA-2640-AE46-38B00B54C697}"/>
                </a:ext>
              </a:extLst>
            </p:cNvPr>
            <p:cNvSpPr txBox="1"/>
            <p:nvPr/>
          </p:nvSpPr>
          <p:spPr>
            <a:xfrm>
              <a:off x="3635896" y="3577580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ioctl</a:t>
              </a:r>
              <a:endParaRPr kumimoji="1"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5930B7C-3DFA-984B-9654-A491762886B6}"/>
                </a:ext>
              </a:extLst>
            </p:cNvPr>
            <p:cNvSpPr txBox="1"/>
            <p:nvPr/>
          </p:nvSpPr>
          <p:spPr>
            <a:xfrm>
              <a:off x="6214493" y="4441676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VM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Entry</a:t>
              </a:r>
              <a:endParaRPr kumimoji="1" lang="zh-CN" altLang="en-US" dirty="0"/>
            </a:p>
          </p:txBody>
        </p:sp>
        <p:sp>
          <p:nvSpPr>
            <p:cNvPr id="41" name="Rectangle 22">
              <a:extLst>
                <a:ext uri="{FF2B5EF4-FFF2-40B4-BE49-F238E27FC236}">
                  <a16:creationId xmlns:a16="http://schemas.microsoft.com/office/drawing/2014/main" id="{C8B07D3B-B543-F241-A9B9-98D34F4CAA8D}"/>
                </a:ext>
              </a:extLst>
            </p:cNvPr>
            <p:cNvSpPr/>
            <p:nvPr/>
          </p:nvSpPr>
          <p:spPr>
            <a:xfrm>
              <a:off x="1749997" y="5089748"/>
              <a:ext cx="5940152" cy="216024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Arial Narrow"/>
                </a:rPr>
                <a:t>Hardware</a:t>
              </a:r>
              <a:r>
                <a:rPr lang="zh-CN" altLang="en-US" sz="1600" dirty="0">
                  <a:solidFill>
                    <a:schemeClr val="bg1"/>
                  </a:solidFill>
                  <a:cs typeface="Arial Narrow"/>
                </a:rPr>
                <a:t> </a:t>
              </a:r>
              <a:r>
                <a:rPr lang="en-US" altLang="zh-CN" sz="1600" dirty="0">
                  <a:solidFill>
                    <a:schemeClr val="bg1"/>
                  </a:solidFill>
                  <a:cs typeface="Arial Narrow"/>
                </a:rPr>
                <a:t>Virtualization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4FF8358F-16E1-3341-8CB3-9A5070E6711B}"/>
                </a:ext>
              </a:extLst>
            </p:cNvPr>
            <p:cNvCxnSpPr>
              <a:cxnSpLocks/>
            </p:cNvCxnSpPr>
            <p:nvPr/>
          </p:nvCxnSpPr>
          <p:spPr>
            <a:xfrm>
              <a:off x="3626399" y="4801716"/>
              <a:ext cx="0" cy="3600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754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66A06-1429-C94C-9B1B-DC6053E5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KVM</a:t>
            </a:r>
            <a:r>
              <a:rPr kumimoji="1" lang="zh-CN" altLang="en-US" dirty="0"/>
              <a:t>的用户态接口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C7E0BC-8037-AE48-B94D-C4D7BD0F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7CE2A4-34E2-2A4B-A87D-7848AE4F1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6F0368-2122-6A43-9695-E3093084DDB4}"/>
              </a:ext>
            </a:extLst>
          </p:cNvPr>
          <p:cNvSpPr/>
          <p:nvPr/>
        </p:nvSpPr>
        <p:spPr>
          <a:xfrm>
            <a:off x="1547664" y="1345332"/>
            <a:ext cx="583264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open("/dev/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kvm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(KVM_CREATE_VM)</a:t>
            </a:r>
          </a:p>
          <a:p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(KVM_CREATE_VCPU)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(KVM_RUN)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exit_reason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get_exit_reason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switch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exit_reason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case KVM_EXIT_IO:  /* ... */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break;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case KVM_EXIT_MMIO: /* ... */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break;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029567-8154-0449-8180-45C67143847F}"/>
              </a:ext>
            </a:extLst>
          </p:cNvPr>
          <p:cNvSpPr/>
          <p:nvPr/>
        </p:nvSpPr>
        <p:spPr>
          <a:xfrm>
            <a:off x="5245194" y="1911525"/>
            <a:ext cx="180049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Invoke VMENTRY</a:t>
            </a:r>
            <a:endParaRPr lang="zh-CN" altLang="en-US" sz="1500" b="1" dirty="0">
              <a:solidFill>
                <a:srgbClr val="0070C0"/>
              </a:solidFill>
            </a:endParaRPr>
          </a:p>
        </p:txBody>
      </p:sp>
      <p:cxnSp>
        <p:nvCxnSpPr>
          <p:cNvPr id="8" name="直接连接符 6">
            <a:extLst>
              <a:ext uri="{FF2B5EF4-FFF2-40B4-BE49-F238E27FC236}">
                <a16:creationId xmlns:a16="http://schemas.microsoft.com/office/drawing/2014/main" id="{72F61D52-003E-6B40-8769-7FEA56EB20B8}"/>
              </a:ext>
            </a:extLst>
          </p:cNvPr>
          <p:cNvCxnSpPr/>
          <p:nvPr/>
        </p:nvCxnSpPr>
        <p:spPr>
          <a:xfrm flipV="1">
            <a:off x="4211960" y="2065412"/>
            <a:ext cx="1033234" cy="506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698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94484-CF98-3048-8CDB-4789FA2C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ioctl</a:t>
            </a:r>
            <a:r>
              <a:rPr kumimoji="1" lang="en-US" altLang="zh-CN" dirty="0"/>
              <a:t>(KVM_RUN)</a:t>
            </a:r>
            <a:r>
              <a:rPr kumimoji="1" lang="zh-CN" altLang="en-US" dirty="0"/>
              <a:t>时发生了什么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62FBD-80F2-9747-BD6E-B864060A2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x86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找到此</a:t>
            </a:r>
            <a:r>
              <a:rPr kumimoji="1" lang="en-US" altLang="zh-CN" dirty="0"/>
              <a:t>VCPU</a:t>
            </a:r>
            <a:r>
              <a:rPr kumimoji="1" lang="zh-CN" altLang="en-US" dirty="0"/>
              <a:t>对应的</a:t>
            </a:r>
            <a:r>
              <a:rPr kumimoji="1" lang="en-US" altLang="zh-CN" dirty="0"/>
              <a:t>VMCS</a:t>
            </a:r>
          </a:p>
          <a:p>
            <a:pPr lvl="1"/>
            <a:r>
              <a:rPr kumimoji="1" lang="zh-CN" altLang="en-US" dirty="0"/>
              <a:t>使用指令加载</a:t>
            </a:r>
            <a:r>
              <a:rPr kumimoji="1" lang="en-US" altLang="zh-CN" dirty="0"/>
              <a:t>VMCS</a:t>
            </a:r>
          </a:p>
          <a:p>
            <a:pPr lvl="1"/>
            <a:r>
              <a:rPr kumimoji="1" lang="en-US" altLang="zh-CN" dirty="0"/>
              <a:t>VMLAUNCH/VMRESUME</a:t>
            </a:r>
            <a:r>
              <a:rPr kumimoji="1" lang="zh-CN" altLang="en-US" dirty="0"/>
              <a:t>进入</a:t>
            </a:r>
            <a:r>
              <a:rPr kumimoji="1" lang="en-US" altLang="zh-CN" dirty="0"/>
              <a:t>Non-root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硬件自动同步状态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PC</a:t>
            </a:r>
            <a:r>
              <a:rPr kumimoji="1" lang="zh-CN" altLang="en-US" dirty="0"/>
              <a:t>切换成</a:t>
            </a:r>
            <a:r>
              <a:rPr kumimoji="1" lang="en-US" altLang="zh-CN" dirty="0"/>
              <a:t>VMCS-&gt;GUEST_RIP</a:t>
            </a:r>
            <a:r>
              <a:rPr kumimoji="1" lang="zh-CN" altLang="en-US" dirty="0"/>
              <a:t>，开始执行</a:t>
            </a:r>
            <a:endParaRPr kumimoji="1" lang="en-US" altLang="zh-CN" dirty="0"/>
          </a:p>
          <a:p>
            <a:r>
              <a:rPr kumimoji="1" lang="en-US" altLang="zh-CN" dirty="0"/>
              <a:t>ARM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主动加载</a:t>
            </a:r>
            <a:r>
              <a:rPr kumimoji="1" lang="en-US" altLang="zh-CN" dirty="0"/>
              <a:t>VCPU</a:t>
            </a:r>
            <a:r>
              <a:rPr kumimoji="1" lang="zh-CN" altLang="en-US" dirty="0"/>
              <a:t>对应的所有状态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 err="1"/>
              <a:t>eret</a:t>
            </a:r>
            <a:r>
              <a:rPr kumimoji="1" lang="zh-CN" altLang="en-US" dirty="0"/>
              <a:t>指令进入</a:t>
            </a:r>
            <a:r>
              <a:rPr kumimoji="1" lang="en-US" altLang="zh-CN"/>
              <a:t>EL1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PC</a:t>
            </a:r>
            <a:r>
              <a:rPr kumimoji="1" lang="zh-CN" altLang="en-US" dirty="0"/>
              <a:t>切换成</a:t>
            </a:r>
            <a:r>
              <a:rPr kumimoji="1" lang="en-US" altLang="zh-CN" dirty="0"/>
              <a:t>ELR_EL2</a:t>
            </a:r>
            <a:r>
              <a:rPr kumimoji="1" lang="zh-CN" altLang="en-US" dirty="0"/>
              <a:t>的值，开始执行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A49097-027F-4541-BF3F-711834E6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4F84B-059D-5346-91E0-725957D7A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2075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CA1F9-B070-6243-90B9-D05189CD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QEMU/KVM</a:t>
            </a:r>
            <a:r>
              <a:rPr kumimoji="1" lang="zh-CN" altLang="en-US" dirty="0"/>
              <a:t>的流程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C809B9-663C-CE42-9563-0EFE412A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50CA32-0CC2-CC4C-BBF8-E396A2661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2331E0-5827-CC4E-B2C9-FB843B8E4BF1}"/>
              </a:ext>
            </a:extLst>
          </p:cNvPr>
          <p:cNvSpPr/>
          <p:nvPr/>
        </p:nvSpPr>
        <p:spPr>
          <a:xfrm>
            <a:off x="971600" y="1705372"/>
            <a:ext cx="1584176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ioctl</a:t>
            </a:r>
            <a:endParaRPr kumimoji="1"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3C712A-B9A1-EE41-9A94-4017CDDE1562}"/>
              </a:ext>
            </a:extLst>
          </p:cNvPr>
          <p:cNvSpPr/>
          <p:nvPr/>
        </p:nvSpPr>
        <p:spPr>
          <a:xfrm>
            <a:off x="971600" y="4081636"/>
            <a:ext cx="1656184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QEMU</a:t>
            </a:r>
          </a:p>
          <a:p>
            <a:pPr algn="ctr"/>
            <a:r>
              <a:rPr kumimoji="1" lang="en-US" altLang="zh-CN" sz="1400" dirty="0"/>
              <a:t>Exit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handler</a:t>
            </a:r>
            <a:endParaRPr kumimoji="1"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29BFFD-1ADC-6B4C-9EAE-5CECA9B2E84F}"/>
              </a:ext>
            </a:extLst>
          </p:cNvPr>
          <p:cNvSpPr/>
          <p:nvPr/>
        </p:nvSpPr>
        <p:spPr>
          <a:xfrm>
            <a:off x="3419872" y="2281436"/>
            <a:ext cx="1656184" cy="64807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KVM_VCPU_RUN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A8D7EF-DBDA-BF4A-AB80-7D83ACCA2557}"/>
              </a:ext>
            </a:extLst>
          </p:cNvPr>
          <p:cNvSpPr/>
          <p:nvPr/>
        </p:nvSpPr>
        <p:spPr>
          <a:xfrm>
            <a:off x="3419872" y="3433564"/>
            <a:ext cx="1656184" cy="64807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KVM</a:t>
            </a:r>
          </a:p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Exit</a:t>
            </a:r>
            <a:r>
              <a:rPr kumimoji="1" lang="zh-CN" altLang="en-US" sz="1400" dirty="0">
                <a:solidFill>
                  <a:srgbClr val="404040"/>
                </a:solidFill>
              </a:rPr>
              <a:t> </a:t>
            </a:r>
            <a:r>
              <a:rPr kumimoji="1" lang="en-US" altLang="zh-CN" sz="1400" dirty="0">
                <a:solidFill>
                  <a:srgbClr val="404040"/>
                </a:solidFill>
              </a:rPr>
              <a:t>handler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60BBB6-73A7-5E4B-8478-F670E9781440}"/>
              </a:ext>
            </a:extLst>
          </p:cNvPr>
          <p:cNvSpPr/>
          <p:nvPr/>
        </p:nvSpPr>
        <p:spPr>
          <a:xfrm>
            <a:off x="6156176" y="2785492"/>
            <a:ext cx="1656184" cy="648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VM</a:t>
            </a:r>
          </a:p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Execution</a:t>
            </a:r>
          </a:p>
        </p:txBody>
      </p:sp>
      <p:cxnSp>
        <p:nvCxnSpPr>
          <p:cNvPr id="12" name="肘形连接符 11">
            <a:extLst>
              <a:ext uri="{FF2B5EF4-FFF2-40B4-BE49-F238E27FC236}">
                <a16:creationId xmlns:a16="http://schemas.microsoft.com/office/drawing/2014/main" id="{7AD0293F-F733-9642-9B47-AAC1B4E9E4C3}"/>
              </a:ext>
            </a:extLst>
          </p:cNvPr>
          <p:cNvCxnSpPr>
            <a:stCxn id="3" idx="3"/>
            <a:endCxn id="8" idx="0"/>
          </p:cNvCxnSpPr>
          <p:nvPr/>
        </p:nvCxnSpPr>
        <p:spPr>
          <a:xfrm>
            <a:off x="2555776" y="2029408"/>
            <a:ext cx="1692188" cy="25202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E2439EE5-1EC4-8343-9808-B772991E844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5076056" y="2605472"/>
            <a:ext cx="1080120" cy="504056"/>
          </a:xfrm>
          <a:prstGeom prst="bentConnector3">
            <a:avLst>
              <a:gd name="adj1" fmla="val 3139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607C1F1B-E22E-FE40-A633-EE0CD4426747}"/>
              </a:ext>
            </a:extLst>
          </p:cNvPr>
          <p:cNvCxnSpPr>
            <a:cxnSpLocks/>
            <a:stCxn id="10" idx="2"/>
            <a:endCxn id="9" idx="3"/>
          </p:cNvCxnSpPr>
          <p:nvPr/>
        </p:nvCxnSpPr>
        <p:spPr>
          <a:xfrm rot="5400000">
            <a:off x="5868144" y="2641476"/>
            <a:ext cx="324036" cy="190821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83DDDB54-C6EF-7048-A676-434CDC9D28C0}"/>
              </a:ext>
            </a:extLst>
          </p:cNvPr>
          <p:cNvCxnSpPr>
            <a:cxnSpLocks/>
            <a:stCxn id="9" idx="1"/>
            <a:endCxn id="8" idx="1"/>
          </p:cNvCxnSpPr>
          <p:nvPr/>
        </p:nvCxnSpPr>
        <p:spPr>
          <a:xfrm rot="10800000">
            <a:off x="3419872" y="2605472"/>
            <a:ext cx="12700" cy="1152128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6A7942FD-8AEB-6541-9273-3CDC0F64D592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3275856" y="3433564"/>
            <a:ext cx="324036" cy="162018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>
            <a:extLst>
              <a:ext uri="{FF2B5EF4-FFF2-40B4-BE49-F238E27FC236}">
                <a16:creationId xmlns:a16="http://schemas.microsoft.com/office/drawing/2014/main" id="{092B6A78-F362-8E4D-A27B-4E6173DF1AA8}"/>
              </a:ext>
            </a:extLst>
          </p:cNvPr>
          <p:cNvCxnSpPr>
            <a:cxnSpLocks/>
            <a:stCxn id="7" idx="1"/>
            <a:endCxn id="3" idx="1"/>
          </p:cNvCxnSpPr>
          <p:nvPr/>
        </p:nvCxnSpPr>
        <p:spPr>
          <a:xfrm rot="10800000">
            <a:off x="971600" y="2029408"/>
            <a:ext cx="12700" cy="2376264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C339FE0D-F682-1A42-A9FC-6F52D41B2479}"/>
              </a:ext>
            </a:extLst>
          </p:cNvPr>
          <p:cNvSpPr txBox="1"/>
          <p:nvPr/>
        </p:nvSpPr>
        <p:spPr>
          <a:xfrm>
            <a:off x="5184000" y="228143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78F3F8-E32E-7047-BBBB-15EBD8F7D20B}"/>
              </a:ext>
            </a:extLst>
          </p:cNvPr>
          <p:cNvSpPr txBox="1"/>
          <p:nvPr/>
        </p:nvSpPr>
        <p:spPr>
          <a:xfrm>
            <a:off x="5184000" y="386561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0D86516-A1E4-3D45-84DD-15C509C049DA}"/>
              </a:ext>
            </a:extLst>
          </p:cNvPr>
          <p:cNvSpPr txBox="1"/>
          <p:nvPr/>
        </p:nvSpPr>
        <p:spPr>
          <a:xfrm>
            <a:off x="2987824" y="170537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9E20566-E7F0-3B49-8D78-811DEC01FD88}"/>
              </a:ext>
            </a:extLst>
          </p:cNvPr>
          <p:cNvSpPr txBox="1"/>
          <p:nvPr/>
        </p:nvSpPr>
        <p:spPr>
          <a:xfrm>
            <a:off x="3059832" y="451368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Retrun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</a:t>
            </a:r>
            <a:endParaRPr kumimoji="1" lang="zh-CN" altLang="en-US" dirty="0"/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1A55BB45-FFAA-7740-9558-7FECBBFD35B9}"/>
              </a:ext>
            </a:extLst>
          </p:cNvPr>
          <p:cNvCxnSpPr>
            <a:cxnSpLocks/>
          </p:cNvCxnSpPr>
          <p:nvPr/>
        </p:nvCxnSpPr>
        <p:spPr>
          <a:xfrm>
            <a:off x="2915816" y="985292"/>
            <a:ext cx="0" cy="4176464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3357811B-B090-DC43-AE8C-27A0997A5BC6}"/>
              </a:ext>
            </a:extLst>
          </p:cNvPr>
          <p:cNvCxnSpPr>
            <a:cxnSpLocks/>
          </p:cNvCxnSpPr>
          <p:nvPr/>
        </p:nvCxnSpPr>
        <p:spPr>
          <a:xfrm>
            <a:off x="5652120" y="1057300"/>
            <a:ext cx="0" cy="4176464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98148BAB-CE09-AC43-8817-1C59B8B93B26}"/>
              </a:ext>
            </a:extLst>
          </p:cNvPr>
          <p:cNvCxnSpPr/>
          <p:nvPr/>
        </p:nvCxnSpPr>
        <p:spPr>
          <a:xfrm>
            <a:off x="2195736" y="1201316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D44DE887-1B1B-F643-A690-1A3782EBD786}"/>
              </a:ext>
            </a:extLst>
          </p:cNvPr>
          <p:cNvCxnSpPr>
            <a:cxnSpLocks/>
          </p:cNvCxnSpPr>
          <p:nvPr/>
        </p:nvCxnSpPr>
        <p:spPr>
          <a:xfrm flipH="1">
            <a:off x="683568" y="1201316"/>
            <a:ext cx="72846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A735F01-6343-F141-85C5-744CD6BBCAE8}"/>
              </a:ext>
            </a:extLst>
          </p:cNvPr>
          <p:cNvSpPr txBox="1"/>
          <p:nvPr/>
        </p:nvSpPr>
        <p:spPr>
          <a:xfrm>
            <a:off x="1368000" y="1008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QEMU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ECB68EC9-B6BB-FA43-89E2-2F58473FB59F}"/>
              </a:ext>
            </a:extLst>
          </p:cNvPr>
          <p:cNvCxnSpPr>
            <a:cxnSpLocks/>
          </p:cNvCxnSpPr>
          <p:nvPr/>
        </p:nvCxnSpPr>
        <p:spPr>
          <a:xfrm>
            <a:off x="4572000" y="1201316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085C2AB8-757B-6D4D-BD54-E08EE1E61FDD}"/>
              </a:ext>
            </a:extLst>
          </p:cNvPr>
          <p:cNvCxnSpPr>
            <a:cxnSpLocks/>
          </p:cNvCxnSpPr>
          <p:nvPr/>
        </p:nvCxnSpPr>
        <p:spPr>
          <a:xfrm flipH="1">
            <a:off x="2987824" y="1201316"/>
            <a:ext cx="800472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E2351D05-89E6-0A43-AC88-0CB3AD6748E0}"/>
              </a:ext>
            </a:extLst>
          </p:cNvPr>
          <p:cNvSpPr txBox="1"/>
          <p:nvPr/>
        </p:nvSpPr>
        <p:spPr>
          <a:xfrm>
            <a:off x="3888000" y="100800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KVM</a:t>
            </a:r>
            <a:endParaRPr kumimoji="1" lang="zh-CN" altLang="en-US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0FE1BCE9-C974-6642-8994-F907F057DAE3}"/>
              </a:ext>
            </a:extLst>
          </p:cNvPr>
          <p:cNvCxnSpPr>
            <a:cxnSpLocks/>
          </p:cNvCxnSpPr>
          <p:nvPr/>
        </p:nvCxnSpPr>
        <p:spPr>
          <a:xfrm>
            <a:off x="6732240" y="1201316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8E5251E9-A8D4-404F-B440-B051C36DBF31}"/>
              </a:ext>
            </a:extLst>
          </p:cNvPr>
          <p:cNvCxnSpPr>
            <a:cxnSpLocks/>
          </p:cNvCxnSpPr>
          <p:nvPr/>
        </p:nvCxnSpPr>
        <p:spPr>
          <a:xfrm flipH="1">
            <a:off x="5652120" y="1201316"/>
            <a:ext cx="57606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1F68F72-FB63-534A-9DE3-0ECC2896CE52}"/>
              </a:ext>
            </a:extLst>
          </p:cNvPr>
          <p:cNvSpPr txBox="1"/>
          <p:nvPr/>
        </p:nvSpPr>
        <p:spPr>
          <a:xfrm>
            <a:off x="6228000" y="100800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8230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WFI</a:t>
            </a:r>
            <a:r>
              <a:rPr kumimoji="1" lang="zh-CN" altLang="en-US" dirty="0"/>
              <a:t>指令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的处理流程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CE0AA5-CA98-1741-8F2F-8FC03B649F7D}"/>
              </a:ext>
            </a:extLst>
          </p:cNvPr>
          <p:cNvSpPr/>
          <p:nvPr/>
        </p:nvSpPr>
        <p:spPr>
          <a:xfrm>
            <a:off x="982910" y="1633364"/>
            <a:ext cx="166562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VCPU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3B7711A-C620-1D48-AA4E-5E967FD2BA33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1782410" y="2497460"/>
            <a:ext cx="359" cy="10081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06A5300-F1BE-F847-B279-8B2FC6440AFA}"/>
              </a:ext>
            </a:extLst>
          </p:cNvPr>
          <p:cNvSpPr txBox="1"/>
          <p:nvPr/>
        </p:nvSpPr>
        <p:spPr>
          <a:xfrm>
            <a:off x="1835696" y="2785492"/>
            <a:ext cx="906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DB9534-F719-A44D-89AF-11E6F12139A2}"/>
              </a:ext>
            </a:extLst>
          </p:cNvPr>
          <p:cNvSpPr/>
          <p:nvPr/>
        </p:nvSpPr>
        <p:spPr>
          <a:xfrm>
            <a:off x="1382660" y="2209428"/>
            <a:ext cx="79950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WFI</a:t>
            </a:r>
            <a:endParaRPr kumimoji="1"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00CE4A-87BE-2743-9E7C-B31198768F1F}"/>
              </a:ext>
            </a:extLst>
          </p:cNvPr>
          <p:cNvSpPr/>
          <p:nvPr/>
        </p:nvSpPr>
        <p:spPr>
          <a:xfrm>
            <a:off x="982910" y="3289548"/>
            <a:ext cx="366437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KVM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25FB28-BFD1-4543-92BD-A66FBD493521}"/>
              </a:ext>
            </a:extLst>
          </p:cNvPr>
          <p:cNvSpPr/>
          <p:nvPr/>
        </p:nvSpPr>
        <p:spPr>
          <a:xfrm>
            <a:off x="1149832" y="3505572"/>
            <a:ext cx="1265875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保存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VCPU</a:t>
            </a:r>
            <a:r>
              <a:rPr kumimoji="1" lang="zh-CN" altLang="en-US" sz="1600" dirty="0"/>
              <a:t>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C8ACC9-314D-4A4D-BF24-BA0ADE7207B7}"/>
              </a:ext>
            </a:extLst>
          </p:cNvPr>
          <p:cNvSpPr/>
          <p:nvPr/>
        </p:nvSpPr>
        <p:spPr>
          <a:xfrm>
            <a:off x="3181535" y="3505572"/>
            <a:ext cx="1365453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handle_wfx</a:t>
            </a:r>
            <a:endParaRPr kumimoji="1" lang="en-US" altLang="zh-CN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150C70F-468F-AD4F-A587-2C512F087185}"/>
              </a:ext>
            </a:extLst>
          </p:cNvPr>
          <p:cNvCxnSpPr>
            <a:cxnSpLocks/>
          </p:cNvCxnSpPr>
          <p:nvPr/>
        </p:nvCxnSpPr>
        <p:spPr>
          <a:xfrm>
            <a:off x="2448660" y="3793604"/>
            <a:ext cx="7328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E960ECB-18CC-964E-96C6-774898D0F9C1}"/>
              </a:ext>
            </a:extLst>
          </p:cNvPr>
          <p:cNvSpPr/>
          <p:nvPr/>
        </p:nvSpPr>
        <p:spPr>
          <a:xfrm>
            <a:off x="4847159" y="3289548"/>
            <a:ext cx="2131999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Linux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Kernel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4D167C-4AE6-CE4E-8652-7DFBA3A492D2}"/>
              </a:ext>
            </a:extLst>
          </p:cNvPr>
          <p:cNvSpPr/>
          <p:nvPr/>
        </p:nvSpPr>
        <p:spPr>
          <a:xfrm>
            <a:off x="5246909" y="3505572"/>
            <a:ext cx="1365453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reschedule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86B1FE98-87AB-2449-B003-7047A9010444}"/>
              </a:ext>
            </a:extLst>
          </p:cNvPr>
          <p:cNvCxnSpPr>
            <a:cxnSpLocks/>
          </p:cNvCxnSpPr>
          <p:nvPr/>
        </p:nvCxnSpPr>
        <p:spPr>
          <a:xfrm>
            <a:off x="4514034" y="3793604"/>
            <a:ext cx="7328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118F5CEF-F8DD-A641-881D-E3BFFD5CFEC6}"/>
              </a:ext>
            </a:extLst>
          </p:cNvPr>
          <p:cNvSpPr/>
          <p:nvPr/>
        </p:nvSpPr>
        <p:spPr>
          <a:xfrm>
            <a:off x="7179033" y="3289548"/>
            <a:ext cx="153237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KVM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010CA4-84B5-1840-A48F-0D2193570653}"/>
              </a:ext>
            </a:extLst>
          </p:cNvPr>
          <p:cNvSpPr/>
          <p:nvPr/>
        </p:nvSpPr>
        <p:spPr>
          <a:xfrm>
            <a:off x="7312283" y="3433564"/>
            <a:ext cx="1265875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恢复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VCPU</a:t>
            </a:r>
            <a:r>
              <a:rPr kumimoji="1" lang="zh-CN" altLang="en-US" sz="1600" dirty="0"/>
              <a:t>状态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113D68F-110D-F847-A0E4-DEE3A4A32436}"/>
              </a:ext>
            </a:extLst>
          </p:cNvPr>
          <p:cNvCxnSpPr>
            <a:cxnSpLocks/>
          </p:cNvCxnSpPr>
          <p:nvPr/>
        </p:nvCxnSpPr>
        <p:spPr>
          <a:xfrm>
            <a:off x="6579408" y="3793604"/>
            <a:ext cx="7328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B02A2B2D-0DE3-9647-9A31-C2966793C51D}"/>
              </a:ext>
            </a:extLst>
          </p:cNvPr>
          <p:cNvSpPr/>
          <p:nvPr/>
        </p:nvSpPr>
        <p:spPr>
          <a:xfrm>
            <a:off x="7045783" y="1705372"/>
            <a:ext cx="166562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VCPU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2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1B87027-58F1-CB47-A994-449517836096}"/>
              </a:ext>
            </a:extLst>
          </p:cNvPr>
          <p:cNvCxnSpPr>
            <a:cxnSpLocks/>
          </p:cNvCxnSpPr>
          <p:nvPr/>
        </p:nvCxnSpPr>
        <p:spPr>
          <a:xfrm>
            <a:off x="7911908" y="2209428"/>
            <a:ext cx="0" cy="1152128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F366FF41-5679-9945-852D-3D7F40ACC385}"/>
              </a:ext>
            </a:extLst>
          </p:cNvPr>
          <p:cNvSpPr txBox="1"/>
          <p:nvPr/>
        </p:nvSpPr>
        <p:spPr>
          <a:xfrm>
            <a:off x="7911908" y="2713484"/>
            <a:ext cx="104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09C4B836-45CA-C64A-B3D7-D2B4312CCCAD}"/>
              </a:ext>
            </a:extLst>
          </p:cNvPr>
          <p:cNvCxnSpPr/>
          <p:nvPr/>
        </p:nvCxnSpPr>
        <p:spPr>
          <a:xfrm>
            <a:off x="683568" y="2641476"/>
            <a:ext cx="8460432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C062021-0190-C14A-9CC9-B6D2606A8425}"/>
              </a:ext>
            </a:extLst>
          </p:cNvPr>
          <p:cNvSpPr txBox="1"/>
          <p:nvPr/>
        </p:nvSpPr>
        <p:spPr>
          <a:xfrm>
            <a:off x="0" y="17053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EL0&amp;1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80313D7-DE95-8F4D-88B1-BD5A0B3DFE6B}"/>
              </a:ext>
            </a:extLst>
          </p:cNvPr>
          <p:cNvSpPr txBox="1"/>
          <p:nvPr/>
        </p:nvSpPr>
        <p:spPr>
          <a:xfrm>
            <a:off x="107504" y="350557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20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7" grpId="0" animBg="1"/>
      <p:bldP spid="22" grpId="0" animBg="1"/>
      <p:bldP spid="25" grpId="0" animBg="1"/>
      <p:bldP spid="26" grpId="0" animBg="1"/>
      <p:bldP spid="29" grpId="0" animBg="1"/>
      <p:bldP spid="30" grpId="0" animBg="1"/>
      <p:bldP spid="32" grpId="0" animBg="1"/>
      <p:bldP spid="3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指令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的处理流程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CE0AA5-CA98-1741-8F2F-8FC03B649F7D}"/>
              </a:ext>
            </a:extLst>
          </p:cNvPr>
          <p:cNvSpPr/>
          <p:nvPr/>
        </p:nvSpPr>
        <p:spPr>
          <a:xfrm>
            <a:off x="2195736" y="1345332"/>
            <a:ext cx="180020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VCPU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3B7711A-C620-1D48-AA4E-5E967FD2BA33}"/>
              </a:ext>
            </a:extLst>
          </p:cNvPr>
          <p:cNvCxnSpPr>
            <a:cxnSpLocks/>
          </p:cNvCxnSpPr>
          <p:nvPr/>
        </p:nvCxnSpPr>
        <p:spPr>
          <a:xfrm>
            <a:off x="2843808" y="2209428"/>
            <a:ext cx="0" cy="10081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06A5300-F1BE-F847-B279-8B2FC6440AFA}"/>
              </a:ext>
            </a:extLst>
          </p:cNvPr>
          <p:cNvSpPr txBox="1"/>
          <p:nvPr/>
        </p:nvSpPr>
        <p:spPr>
          <a:xfrm>
            <a:off x="1872208" y="264147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DB9534-F719-A44D-89AF-11E6F12139A2}"/>
              </a:ext>
            </a:extLst>
          </p:cNvPr>
          <p:cNvSpPr/>
          <p:nvPr/>
        </p:nvSpPr>
        <p:spPr>
          <a:xfrm>
            <a:off x="2411760" y="1921396"/>
            <a:ext cx="648072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MMIO</a:t>
            </a:r>
            <a:endParaRPr kumimoji="1"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00CE4A-87BE-2743-9E7C-B31198768F1F}"/>
              </a:ext>
            </a:extLst>
          </p:cNvPr>
          <p:cNvSpPr/>
          <p:nvPr/>
        </p:nvSpPr>
        <p:spPr>
          <a:xfrm>
            <a:off x="2195736" y="3001516"/>
            <a:ext cx="1872208" cy="21602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KVM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25FB28-BFD1-4543-92BD-A66FBD493521}"/>
              </a:ext>
            </a:extLst>
          </p:cNvPr>
          <p:cNvSpPr/>
          <p:nvPr/>
        </p:nvSpPr>
        <p:spPr>
          <a:xfrm>
            <a:off x="2376144" y="3217540"/>
            <a:ext cx="1368152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保存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恢复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VCPU</a:t>
            </a:r>
            <a:r>
              <a:rPr kumimoji="1" lang="zh-CN" altLang="en-US" dirty="0"/>
              <a:t>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C8ACC9-314D-4A4D-BF24-BA0ADE7207B7}"/>
              </a:ext>
            </a:extLst>
          </p:cNvPr>
          <p:cNvSpPr/>
          <p:nvPr/>
        </p:nvSpPr>
        <p:spPr>
          <a:xfrm>
            <a:off x="2376208" y="4166765"/>
            <a:ext cx="1368152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handle_io</a:t>
            </a:r>
            <a:endParaRPr kumimoji="1" lang="en-US" altLang="zh-CN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150C70F-468F-AD4F-A587-2C512F087185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>
            <a:off x="3060220" y="3793604"/>
            <a:ext cx="64" cy="37316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E960ECB-18CC-964E-96C6-774898D0F9C1}"/>
              </a:ext>
            </a:extLst>
          </p:cNvPr>
          <p:cNvSpPr/>
          <p:nvPr/>
        </p:nvSpPr>
        <p:spPr>
          <a:xfrm>
            <a:off x="5004048" y="1273324"/>
            <a:ext cx="2304256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QEMU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4D167C-4AE6-CE4E-8652-7DFBA3A492D2}"/>
              </a:ext>
            </a:extLst>
          </p:cNvPr>
          <p:cNvSpPr/>
          <p:nvPr/>
        </p:nvSpPr>
        <p:spPr>
          <a:xfrm>
            <a:off x="5508104" y="1489348"/>
            <a:ext cx="1475776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处理</a:t>
            </a:r>
            <a:r>
              <a:rPr kumimoji="1" lang="en-US" altLang="zh-CN" dirty="0"/>
              <a:t>IO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366FF41-5679-9945-852D-3D7F40ACC385}"/>
              </a:ext>
            </a:extLst>
          </p:cNvPr>
          <p:cNvSpPr txBox="1"/>
          <p:nvPr/>
        </p:nvSpPr>
        <p:spPr>
          <a:xfrm>
            <a:off x="3203848" y="264147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997CACC6-1B46-B847-8FC1-E7F7E0D25B98}"/>
              </a:ext>
            </a:extLst>
          </p:cNvPr>
          <p:cNvCxnSpPr>
            <a:cxnSpLocks/>
            <a:stCxn id="22" idx="3"/>
            <a:endCxn id="26" idx="3"/>
          </p:cNvCxnSpPr>
          <p:nvPr/>
        </p:nvCxnSpPr>
        <p:spPr>
          <a:xfrm flipV="1">
            <a:off x="3744360" y="1777380"/>
            <a:ext cx="3239520" cy="2677417"/>
          </a:xfrm>
          <a:prstGeom prst="bentConnector3">
            <a:avLst>
              <a:gd name="adj1" fmla="val 10705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71F9722A-3E5E-8C45-927D-B75FB08CD623}"/>
              </a:ext>
            </a:extLst>
          </p:cNvPr>
          <p:cNvCxnSpPr>
            <a:cxnSpLocks/>
          </p:cNvCxnSpPr>
          <p:nvPr/>
        </p:nvCxnSpPr>
        <p:spPr>
          <a:xfrm>
            <a:off x="1259632" y="2641476"/>
            <a:ext cx="6696744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B8991A87-BD50-FF44-840A-9984591E6915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rot="10800000" flipV="1">
            <a:off x="3744296" y="1777380"/>
            <a:ext cx="1763808" cy="172819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AEE96793-4F9F-9948-95B4-1C062F6AE842}"/>
              </a:ext>
            </a:extLst>
          </p:cNvPr>
          <p:cNvCxnSpPr>
            <a:cxnSpLocks/>
          </p:cNvCxnSpPr>
          <p:nvPr/>
        </p:nvCxnSpPr>
        <p:spPr>
          <a:xfrm>
            <a:off x="3203848" y="1849388"/>
            <a:ext cx="0" cy="1368152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2EE0001D-4C98-3C45-AE07-FB112C6319F0}"/>
              </a:ext>
            </a:extLst>
          </p:cNvPr>
          <p:cNvSpPr txBox="1"/>
          <p:nvPr/>
        </p:nvSpPr>
        <p:spPr>
          <a:xfrm>
            <a:off x="1152128" y="17773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EL0&amp;1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0EDE41-36FB-0D4A-BB84-DD79F8B5B8EB}"/>
              </a:ext>
            </a:extLst>
          </p:cNvPr>
          <p:cNvSpPr txBox="1"/>
          <p:nvPr/>
        </p:nvSpPr>
        <p:spPr>
          <a:xfrm>
            <a:off x="1259632" y="35775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811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7" grpId="0" animBg="1"/>
      <p:bldP spid="22" grpId="0" animBg="1"/>
      <p:bldP spid="25" grpId="0" animBg="1"/>
      <p:bldP spid="26" grpId="0" animBg="1"/>
      <p:bldP spid="3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48788</TotalTime>
  <Words>2726</Words>
  <Application>Microsoft Macintosh PowerPoint</Application>
  <PresentationFormat>On-screen Show (16:10)</PresentationFormat>
  <Paragraphs>554</Paragraphs>
  <Slides>38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DengXian</vt:lpstr>
      <vt:lpstr>微软雅黑</vt:lpstr>
      <vt:lpstr>Arial</vt:lpstr>
      <vt:lpstr>Arial Narrow</vt:lpstr>
      <vt:lpstr>Calibri</vt:lpstr>
      <vt:lpstr>Courier New</vt:lpstr>
      <vt:lpstr>Office 主题​​</vt:lpstr>
      <vt:lpstr>系统虚拟化</vt:lpstr>
      <vt:lpstr>版权声明</vt:lpstr>
      <vt:lpstr>Review: 系统ISA</vt:lpstr>
      <vt:lpstr>Review: 系统虚拟化的流程</vt:lpstr>
      <vt:lpstr>Review: 系统虚拟化技术</vt:lpstr>
      <vt:lpstr>Review: Trap &amp; Emulate</vt:lpstr>
      <vt:lpstr>Review: ARM不是严格的可虚拟化架构</vt:lpstr>
      <vt:lpstr>Review: 如何处理这些不会下陷的敏感指令？</vt:lpstr>
      <vt:lpstr>Review: 方法4：硬件虚拟化</vt:lpstr>
      <vt:lpstr>Intel VT-x</vt:lpstr>
      <vt:lpstr>VT-x的处理器虚拟化</vt:lpstr>
      <vt:lpstr>Virtual Machine Control Structure (VMCS)</vt:lpstr>
      <vt:lpstr>VT-x VMCS的内容</vt:lpstr>
      <vt:lpstr>VT-x的执行过程</vt:lpstr>
      <vt:lpstr>x86中的VM Entry和VM Exit</vt:lpstr>
      <vt:lpstr>ARM的虚拟化技术</vt:lpstr>
      <vt:lpstr>ARM的处理器虚拟化</vt:lpstr>
      <vt:lpstr>ARM的VM Entry和VM Exit</vt:lpstr>
      <vt:lpstr>ARM硬件虚拟化的新功能</vt:lpstr>
      <vt:lpstr>HCR_EL2寄存器简介</vt:lpstr>
      <vt:lpstr>HCR_EL2寄存器简介</vt:lpstr>
      <vt:lpstr>ARM硬件虚拟化发展</vt:lpstr>
      <vt:lpstr>ARMv8.0中的Type-2 VMM架构</vt:lpstr>
      <vt:lpstr>ARMv8.1中的Type-2 VMM架构</vt:lpstr>
      <vt:lpstr>ARMv8.1中的Type-2 VMM架构</vt:lpstr>
      <vt:lpstr>VT-x和VHE对比</vt:lpstr>
      <vt:lpstr>Type-1和Type-2在VT-x和VHE下架构</vt:lpstr>
      <vt:lpstr>案例：QEMU/KVM</vt:lpstr>
      <vt:lpstr>QEMU发展历史</vt:lpstr>
      <vt:lpstr>QEMU发展历史</vt:lpstr>
      <vt:lpstr>KVM发展历史</vt:lpstr>
      <vt:lpstr>QEMU/KVM架构</vt:lpstr>
      <vt:lpstr>QEMU使用KVM的用户态接口</vt:lpstr>
      <vt:lpstr>QEMU使用KVM的用户态接口</vt:lpstr>
      <vt:lpstr>ioctl(KVM_RUN)时发生了什么</vt:lpstr>
      <vt:lpstr>QEMU/KVM的流程</vt:lpstr>
      <vt:lpstr>例：WFI指令VM Exit的处理流程</vt:lpstr>
      <vt:lpstr>例：I/O指令VM Exit的处理流程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 Nil</cp:lastModifiedBy>
  <cp:revision>5103</cp:revision>
  <cp:lastPrinted>2016-06-13T07:55:34Z</cp:lastPrinted>
  <dcterms:created xsi:type="dcterms:W3CDTF">2017-11-24T09:35:45Z</dcterms:created>
  <dcterms:modified xsi:type="dcterms:W3CDTF">2022-04-28T05:43:13Z</dcterms:modified>
</cp:coreProperties>
</file>