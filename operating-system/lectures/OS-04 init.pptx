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60"/>
  </p:notesMasterIdLst>
  <p:handoutMasterIdLst>
    <p:handoutMasterId r:id="rId61"/>
  </p:handoutMasterIdLst>
  <p:sldIdLst>
    <p:sldId id="2284" r:id="rId3"/>
    <p:sldId id="1359" r:id="rId4"/>
    <p:sldId id="845" r:id="rId5"/>
    <p:sldId id="2676" r:id="rId6"/>
    <p:sldId id="833" r:id="rId7"/>
    <p:sldId id="835" r:id="rId8"/>
    <p:sldId id="836" r:id="rId9"/>
    <p:sldId id="837" r:id="rId10"/>
    <p:sldId id="838" r:id="rId11"/>
    <p:sldId id="839" r:id="rId12"/>
    <p:sldId id="840" r:id="rId13"/>
    <p:sldId id="841" r:id="rId14"/>
    <p:sldId id="842" r:id="rId15"/>
    <p:sldId id="2303" r:id="rId16"/>
    <p:sldId id="2234" r:id="rId17"/>
    <p:sldId id="2245" r:id="rId18"/>
    <p:sldId id="2294" r:id="rId19"/>
    <p:sldId id="2253" r:id="rId20"/>
    <p:sldId id="2289" r:id="rId21"/>
    <p:sldId id="2288" r:id="rId22"/>
    <p:sldId id="2290" r:id="rId23"/>
    <p:sldId id="2254" r:id="rId24"/>
    <p:sldId id="2301" r:id="rId25"/>
    <p:sldId id="2272" r:id="rId26"/>
    <p:sldId id="2273" r:id="rId27"/>
    <p:sldId id="2274" r:id="rId28"/>
    <p:sldId id="2275" r:id="rId29"/>
    <p:sldId id="2276" r:id="rId30"/>
    <p:sldId id="2277" r:id="rId31"/>
    <p:sldId id="2278" r:id="rId32"/>
    <p:sldId id="2296" r:id="rId33"/>
    <p:sldId id="2279" r:id="rId34"/>
    <p:sldId id="2280" r:id="rId35"/>
    <p:sldId id="1215" r:id="rId36"/>
    <p:sldId id="2281" r:id="rId37"/>
    <p:sldId id="2282" r:id="rId38"/>
    <p:sldId id="2283" r:id="rId39"/>
    <p:sldId id="2299" r:id="rId40"/>
    <p:sldId id="2297" r:id="rId41"/>
    <p:sldId id="2260" r:id="rId42"/>
    <p:sldId id="2285" r:id="rId43"/>
    <p:sldId id="2302" r:id="rId44"/>
    <p:sldId id="2286" r:id="rId45"/>
    <p:sldId id="2239" r:id="rId46"/>
    <p:sldId id="2230" r:id="rId47"/>
    <p:sldId id="2235" r:id="rId48"/>
    <p:sldId id="2243" r:id="rId49"/>
    <p:sldId id="2242" r:id="rId50"/>
    <p:sldId id="2241" r:id="rId51"/>
    <p:sldId id="2238" r:id="rId52"/>
    <p:sldId id="2268" r:id="rId53"/>
    <p:sldId id="2264" r:id="rId54"/>
    <p:sldId id="2237" r:id="rId55"/>
    <p:sldId id="2265" r:id="rId56"/>
    <p:sldId id="2257" r:id="rId57"/>
    <p:sldId id="2292" r:id="rId58"/>
    <p:sldId id="2269" r:id="rId5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8" autoAdjust="0"/>
    <p:restoredTop sz="87472" autoAdjust="0"/>
  </p:normalViewPr>
  <p:slideViewPr>
    <p:cSldViewPr>
      <p:cViewPr varScale="1">
        <p:scale>
          <a:sx n="161" d="100"/>
          <a:sy n="161" d="100"/>
        </p:scale>
        <p:origin x="1728" y="20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2022/2/24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otstrapping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Question: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what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if</a:t>
            </a:r>
            <a:r>
              <a:rPr kumimoji="1" lang="zh-CN" altLang="en-US" baseline="0" dirty="0"/>
              <a:t> 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28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01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69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600" dirty="0">
                <a:hlinkClick r:id="rId3"/>
              </a:rPr>
              <a:t>Bootstrapping - Wikipedia</a:t>
            </a:r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991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745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10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7">
            <a:extLst>
              <a:ext uri="{FF2B5EF4-FFF2-40B4-BE49-F238E27FC236}">
                <a16:creationId xmlns:a16="http://schemas.microsoft.com/office/drawing/2014/main" id="{6A9B3768-1EEF-B641-8616-5526AE370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3452E22-CA4D-464A-B020-468E311E2747}" type="slidenum">
              <a:rPr lang="zh-CN" altLang="en-US" sz="1200" b="0" smtClean="0">
                <a:latin typeface="Times New Roman" panose="02020603050405020304" pitchFamily="18" charset="0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3525EA71-B3FD-B146-9399-EB0FEE299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A8C94FA-3039-6041-AE31-0F1EF5EF3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43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103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40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2022/2/24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raspberrypi.org/documentation/configuration/config-txt/boot.md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-matyukevich/raspberry-pi-os/blob/master/docs/lesson02/rpi-os.md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rm.com/documentation/ddi0500/j/System-Control/AArch64-register-descriptions/Secure-Configuration-Register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系统初始化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操作系统的执行流（简化版）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C33B95A-F563-8245-ABA2-939ACFA799D6}"/>
              </a:ext>
            </a:extLst>
          </p:cNvPr>
          <p:cNvSpPr/>
          <p:nvPr/>
        </p:nvSpPr>
        <p:spPr>
          <a:xfrm>
            <a:off x="6588224" y="2722776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342015D-14F6-3243-8FA2-D1DF6A7A42C4}"/>
              </a:ext>
            </a:extLst>
          </p:cNvPr>
          <p:cNvSpPr/>
          <p:nvPr/>
        </p:nvSpPr>
        <p:spPr>
          <a:xfrm>
            <a:off x="6588224" y="3010808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0A1EB2C-0D9F-634D-8A2D-8BEAF0DFC5E4}"/>
              </a:ext>
            </a:extLst>
          </p:cNvPr>
          <p:cNvSpPr/>
          <p:nvPr/>
        </p:nvSpPr>
        <p:spPr>
          <a:xfrm>
            <a:off x="6588224" y="3298840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403DF31-609D-FD42-8346-0552014CDC35}"/>
              </a:ext>
            </a:extLst>
          </p:cNvPr>
          <p:cNvSpPr/>
          <p:nvPr/>
        </p:nvSpPr>
        <p:spPr>
          <a:xfrm>
            <a:off x="6588224" y="3586872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2B43012-ED24-C143-8479-2BE36577D76C}"/>
              </a:ext>
            </a:extLst>
          </p:cNvPr>
          <p:cNvSpPr txBox="1"/>
          <p:nvPr/>
        </p:nvSpPr>
        <p:spPr>
          <a:xfrm>
            <a:off x="7591529" y="2794784"/>
            <a:ext cx="1512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kumimoji="1" lang="en-US" altLang="zh-CN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Exception</a:t>
            </a:r>
            <a:r>
              <a:rPr kumimoji="1" lang="zh-CN" altLang="en-US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</a:p>
          <a:p>
            <a:pPr algn="ctr" defTabSz="457200">
              <a:lnSpc>
                <a:spcPct val="150000"/>
              </a:lnSpc>
            </a:pPr>
            <a:r>
              <a:rPr kumimoji="1" lang="en-US" altLang="zh-CN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Table</a:t>
            </a:r>
            <a:endParaRPr kumimoji="1" lang="zh-CN" altLang="en-US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155C1134-5D16-7E45-BBD8-FAEC31C125E4}"/>
              </a:ext>
            </a:extLst>
          </p:cNvPr>
          <p:cNvCxnSpPr/>
          <p:nvPr/>
        </p:nvCxnSpPr>
        <p:spPr>
          <a:xfrm>
            <a:off x="755576" y="2261111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1E2E5F30-577D-DA4B-AA62-6CD810564B32}"/>
              </a:ext>
            </a:extLst>
          </p:cNvPr>
          <p:cNvCxnSpPr/>
          <p:nvPr/>
        </p:nvCxnSpPr>
        <p:spPr>
          <a:xfrm>
            <a:off x="755576" y="4522976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0865318-FC59-CF43-ACC8-327B908C7C96}"/>
              </a:ext>
            </a:extLst>
          </p:cNvPr>
          <p:cNvSpPr txBox="1"/>
          <p:nvPr/>
        </p:nvSpPr>
        <p:spPr>
          <a:xfrm>
            <a:off x="760384" y="1613039"/>
            <a:ext cx="2510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Application</a:t>
            </a:r>
            <a:r>
              <a:rPr kumimoji="1" lang="zh-CN" altLang="en-US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(CPU)</a:t>
            </a:r>
            <a:endParaRPr kumimoji="1" lang="zh-CN" altLang="en-US" sz="2400" dirty="0">
              <a:solidFill>
                <a:srgbClr val="1F497D">
                  <a:lumMod val="75000"/>
                </a:srgbClr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5E240A6-94CE-5F4F-8CFA-4CFD86A9653D}"/>
              </a:ext>
            </a:extLst>
          </p:cNvPr>
          <p:cNvSpPr txBox="1"/>
          <p:nvPr/>
        </p:nvSpPr>
        <p:spPr>
          <a:xfrm>
            <a:off x="755577" y="3125208"/>
            <a:ext cx="7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OS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7C70DFC-7EDF-CD42-BDCA-E9DC9A523387}"/>
              </a:ext>
            </a:extLst>
          </p:cNvPr>
          <p:cNvSpPr txBox="1"/>
          <p:nvPr/>
        </p:nvSpPr>
        <p:spPr>
          <a:xfrm>
            <a:off x="755577" y="4738999"/>
            <a:ext cx="2083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I/O</a:t>
            </a:r>
            <a:r>
              <a:rPr kumimoji="1" lang="zh-CN" altLang="en-US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Device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67D04F11-50C8-B44B-8827-BF7BCB74C0D9}"/>
              </a:ext>
            </a:extLst>
          </p:cNvPr>
          <p:cNvCxnSpPr>
            <a:endCxn id="67" idx="0"/>
          </p:cNvCxnSpPr>
          <p:nvPr/>
        </p:nvCxnSpPr>
        <p:spPr>
          <a:xfrm>
            <a:off x="5292080" y="1843870"/>
            <a:ext cx="1872208" cy="87890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8" name="肘形连接符 77">
            <a:extLst>
              <a:ext uri="{FF2B5EF4-FFF2-40B4-BE49-F238E27FC236}">
                <a16:creationId xmlns:a16="http://schemas.microsoft.com/office/drawing/2014/main" id="{F7158A35-3BCD-024E-BDF4-A589AB09B4C6}"/>
              </a:ext>
            </a:extLst>
          </p:cNvPr>
          <p:cNvCxnSpPr>
            <a:endCxn id="70" idx="2"/>
          </p:cNvCxnSpPr>
          <p:nvPr/>
        </p:nvCxnSpPr>
        <p:spPr>
          <a:xfrm flipV="1">
            <a:off x="5287272" y="3874904"/>
            <a:ext cx="1877016" cy="110973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94D85CCD-545F-8C43-9001-E87E800C0BC7}"/>
              </a:ext>
            </a:extLst>
          </p:cNvPr>
          <p:cNvCxnSpPr/>
          <p:nvPr/>
        </p:nvCxnSpPr>
        <p:spPr>
          <a:xfrm>
            <a:off x="3847112" y="272277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431A657C-16E1-404F-932B-62EDDCDB626E}"/>
              </a:ext>
            </a:extLst>
          </p:cNvPr>
          <p:cNvCxnSpPr/>
          <p:nvPr/>
        </p:nvCxnSpPr>
        <p:spPr>
          <a:xfrm>
            <a:off x="3847112" y="286679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F7B2CFAA-AE85-354E-BD87-8D96397ADA81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D6D5DAC5-AFB6-1548-B4AF-148ED1105E5E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0BBAAD2A-4357-244D-80BE-B0D444585437}"/>
              </a:ext>
            </a:extLst>
          </p:cNvPr>
          <p:cNvCxnSpPr/>
          <p:nvPr/>
        </p:nvCxnSpPr>
        <p:spPr>
          <a:xfrm>
            <a:off x="3847112" y="315482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10E6ED06-CB9C-F34C-AF87-3FE7AD52F4A6}"/>
              </a:ext>
            </a:extLst>
          </p:cNvPr>
          <p:cNvCxnSpPr/>
          <p:nvPr/>
        </p:nvCxnSpPr>
        <p:spPr>
          <a:xfrm>
            <a:off x="3847112" y="329884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7236E992-E794-5846-8ACF-98B52A9A241A}"/>
              </a:ext>
            </a:extLst>
          </p:cNvPr>
          <p:cNvCxnSpPr/>
          <p:nvPr/>
        </p:nvCxnSpPr>
        <p:spPr>
          <a:xfrm>
            <a:off x="3847112" y="344285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248AD4-A62B-0042-BCC5-BEAB9CB8B38D}"/>
              </a:ext>
            </a:extLst>
          </p:cNvPr>
          <p:cNvCxnSpPr/>
          <p:nvPr/>
        </p:nvCxnSpPr>
        <p:spPr>
          <a:xfrm>
            <a:off x="3847112" y="358687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AAAC4727-B0CB-264B-A62F-42D2B982D195}"/>
              </a:ext>
            </a:extLst>
          </p:cNvPr>
          <p:cNvCxnSpPr/>
          <p:nvPr/>
        </p:nvCxnSpPr>
        <p:spPr>
          <a:xfrm>
            <a:off x="3847112" y="373088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60204ED6-5405-1841-A11A-4348213F2182}"/>
              </a:ext>
            </a:extLst>
          </p:cNvPr>
          <p:cNvCxnSpPr/>
          <p:nvPr/>
        </p:nvCxnSpPr>
        <p:spPr>
          <a:xfrm>
            <a:off x="3847112" y="387490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5891C142-7CC4-7840-ACCC-B5567164D6ED}"/>
              </a:ext>
            </a:extLst>
          </p:cNvPr>
          <p:cNvCxnSpPr/>
          <p:nvPr/>
        </p:nvCxnSpPr>
        <p:spPr>
          <a:xfrm>
            <a:off x="3847112" y="401892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673E740A-3EB4-E647-BB6B-F7A7891E3745}"/>
              </a:ext>
            </a:extLst>
          </p:cNvPr>
          <p:cNvCxnSpPr/>
          <p:nvPr/>
        </p:nvCxnSpPr>
        <p:spPr>
          <a:xfrm>
            <a:off x="3847112" y="416293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9F3D84B9-E4B3-534D-8624-FF0350119DD4}"/>
              </a:ext>
            </a:extLst>
          </p:cNvPr>
          <p:cNvCxnSpPr>
            <a:stCxn id="68" idx="1"/>
          </p:cNvCxnSpPr>
          <p:nvPr/>
        </p:nvCxnSpPr>
        <p:spPr>
          <a:xfrm rot="10800000">
            <a:off x="4567193" y="2866792"/>
            <a:ext cx="2021033" cy="28803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7AF35630-642A-9441-B864-FED19DC4E207}"/>
              </a:ext>
            </a:extLst>
          </p:cNvPr>
          <p:cNvCxnSpPr>
            <a:stCxn id="69" idx="1"/>
          </p:cNvCxnSpPr>
          <p:nvPr/>
        </p:nvCxnSpPr>
        <p:spPr>
          <a:xfrm rot="10800000" flipV="1">
            <a:off x="4567192" y="3442856"/>
            <a:ext cx="2021032" cy="50405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DCD2B448-B4D2-D443-AB94-9740A5FBF606}"/>
              </a:ext>
            </a:extLst>
          </p:cNvPr>
          <p:cNvSpPr txBox="1"/>
          <p:nvPr/>
        </p:nvSpPr>
        <p:spPr>
          <a:xfrm>
            <a:off x="2312894" y="3125208"/>
            <a:ext cx="1462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Services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0708FE6-B70A-9642-9372-3A02D47E86AF}"/>
              </a:ext>
            </a:extLst>
          </p:cNvPr>
          <p:cNvSpPr txBox="1"/>
          <p:nvPr/>
        </p:nvSpPr>
        <p:spPr>
          <a:xfrm>
            <a:off x="5073651" y="1417340"/>
            <a:ext cx="229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Exception/</a:t>
            </a:r>
            <a:r>
              <a:rPr kumimoji="1" lang="en-US" altLang="zh-CN" dirty="0" err="1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syscalls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8EBB1D3-B72A-C946-A917-F66886F67F9D}"/>
              </a:ext>
            </a:extLst>
          </p:cNvPr>
          <p:cNvSpPr txBox="1"/>
          <p:nvPr/>
        </p:nvSpPr>
        <p:spPr>
          <a:xfrm>
            <a:off x="5287272" y="502703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Interrupt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34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9EA2F-28AA-824A-B69E-DC11B111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上下文保存与恢复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EB3320-FB4B-BD46-8DC8-C8F383AC6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硬件只保存了部分寄存器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只包含</a:t>
            </a:r>
            <a:r>
              <a:rPr kumimoji="1" lang="en-US" altLang="zh-CN" sz="2000" dirty="0"/>
              <a:t>PSTATE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PC</a:t>
            </a:r>
          </a:p>
          <a:p>
            <a:pPr lvl="1"/>
            <a:r>
              <a:rPr kumimoji="1" lang="zh-CN" altLang="en-US" sz="2000" dirty="0"/>
              <a:t>不包含通用寄存器、</a:t>
            </a:r>
            <a:r>
              <a:rPr kumimoji="1" lang="en-US" altLang="zh-CN" sz="2000" dirty="0"/>
              <a:t>SP</a:t>
            </a:r>
          </a:p>
          <a:p>
            <a:pPr lvl="2"/>
            <a:r>
              <a:rPr kumimoji="1" lang="en-US" altLang="zh-CN" dirty="0"/>
              <a:t>Q:</a:t>
            </a:r>
            <a:r>
              <a:rPr kumimoji="1" lang="zh-CN" altLang="en-US" dirty="0"/>
              <a:t> 为什么硬件不全部保存呢？</a:t>
            </a:r>
            <a:endParaRPr kumimoji="1" lang="en-US" altLang="zh-CN" dirty="0"/>
          </a:p>
          <a:p>
            <a:r>
              <a:rPr kumimoji="1" lang="zh-CN" altLang="en-US" sz="2400" dirty="0"/>
              <a:t>由软件来（按需）完成其他上下文寄存器的保存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主要是：通用寄存器（</a:t>
            </a:r>
            <a:r>
              <a:rPr kumimoji="1" lang="en-US" altLang="zh-CN" sz="2000" dirty="0"/>
              <a:t>X0-X30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SP</a:t>
            </a:r>
            <a:r>
              <a:rPr kumimoji="1" lang="zh-CN" altLang="en-US" sz="2000" dirty="0"/>
              <a:t>不需要保存：因为硬件有</a:t>
            </a:r>
            <a:r>
              <a:rPr kumimoji="1" lang="en-US" altLang="zh-CN" sz="2000" dirty="0"/>
              <a:t>SP_EL0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SP_EL1</a:t>
            </a:r>
            <a:r>
              <a:rPr kumimoji="1" lang="zh-CN" altLang="en-US" sz="2000" dirty="0"/>
              <a:t>两个寄存器</a:t>
            </a:r>
            <a:endParaRPr kumimoji="1" lang="en-US" altLang="zh-CN" sz="20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883063-6A81-8649-BAE6-7E5C41F4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88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vDSO</a:t>
            </a:r>
            <a:endParaRPr kumimoji="1"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394"/>
            <a:ext cx="6858000" cy="403737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内核定义</a:t>
            </a:r>
          </a:p>
          <a:p>
            <a:pPr lvl="1"/>
            <a:r>
              <a:rPr kumimoji="1" lang="zh-CN" altLang="en-US" sz="1800" dirty="0"/>
              <a:t>在编译时作为内核的一部分</a:t>
            </a:r>
          </a:p>
          <a:p>
            <a:r>
              <a:rPr kumimoji="1" lang="zh-CN" altLang="en-US" sz="2400" dirty="0"/>
              <a:t>用户态运行</a:t>
            </a:r>
          </a:p>
          <a:p>
            <a:pPr lvl="1"/>
            <a:r>
              <a:rPr kumimoji="1" lang="zh-CN" altLang="en-US" sz="1800" dirty="0"/>
              <a:t>将</a:t>
            </a:r>
            <a:r>
              <a:rPr kumimoji="1" lang="en-US" altLang="zh-CN" sz="1800" dirty="0" err="1"/>
              <a:t>gettimeofday</a:t>
            </a:r>
            <a:r>
              <a:rPr kumimoji="1" lang="zh-CN" altLang="en-US" sz="1800" dirty="0"/>
              <a:t>的代码加载到一块与应用共享的内存页</a:t>
            </a:r>
          </a:p>
          <a:p>
            <a:pPr lvl="1"/>
            <a:r>
              <a:rPr kumimoji="1" lang="zh-CN" altLang="en-US" sz="1800" dirty="0"/>
              <a:t>这个页称为：</a:t>
            </a:r>
            <a:r>
              <a:rPr kumimoji="1" lang="en-US" altLang="zh-CN" sz="1800" dirty="0" err="1"/>
              <a:t>vDSO</a:t>
            </a:r>
            <a:endParaRPr kumimoji="1" lang="zh-CN" altLang="en-US" sz="1800" dirty="0"/>
          </a:p>
          <a:p>
            <a:pPr lvl="2"/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Dynamic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Shared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Object</a:t>
            </a:r>
            <a:endParaRPr kumimoji="1" lang="zh-CN" altLang="en-US" sz="1800" dirty="0"/>
          </a:p>
          <a:p>
            <a:pPr lvl="1"/>
            <a:r>
              <a:rPr kumimoji="1" lang="en-US" altLang="zh-CN" sz="1800" dirty="0"/>
              <a:t>Time</a:t>
            </a:r>
            <a:r>
              <a:rPr kumimoji="1" lang="zh-CN" altLang="en-US" sz="1800" dirty="0"/>
              <a:t> 的值同样映射到用户态空间（只读）</a:t>
            </a:r>
          </a:p>
          <a:p>
            <a:pPr lvl="2"/>
            <a:r>
              <a:rPr kumimoji="1" lang="zh-CN" altLang="en-US" sz="1800" dirty="0"/>
              <a:t>只有在内核态才能更新这个值</a:t>
            </a:r>
            <a:endParaRPr kumimoji="1" lang="en-US" altLang="zh-CN" sz="1800" dirty="0"/>
          </a:p>
          <a:p>
            <a:r>
              <a:rPr kumimoji="1" lang="en-US" altLang="zh-CN" sz="2400" dirty="0"/>
              <a:t>Q</a:t>
            </a:r>
            <a:r>
              <a:rPr kumimoji="1" lang="zh-CN" altLang="en-US" sz="2400" dirty="0"/>
              <a:t>：和以前的</a:t>
            </a:r>
            <a:r>
              <a:rPr kumimoji="1" lang="en-US" altLang="zh-CN" sz="2400" dirty="0" err="1"/>
              <a:t>gettimeofday</a:t>
            </a:r>
            <a:r>
              <a:rPr kumimoji="1" lang="zh-CN" altLang="en-US" sz="2400" dirty="0"/>
              <a:t>相比有什么区别？</a:t>
            </a:r>
          </a:p>
        </p:txBody>
      </p:sp>
    </p:spTree>
    <p:extLst>
      <p:ext uri="{BB962C8B-B14F-4D97-AF65-F5344CB8AC3E}">
        <p14:creationId xmlns:p14="http://schemas.microsoft.com/office/powerpoint/2010/main" val="93668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Flex-SC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spcBef>
                <a:spcPts val="1000"/>
              </a:spcBef>
            </a:pPr>
            <a:r>
              <a:rPr lang="en-US" altLang="zh-CN" dirty="0"/>
              <a:t>Flexible System Call Scheduling with Exception-Less System Calls,</a:t>
            </a:r>
            <a:r>
              <a:rPr lang="zh-CN" altLang="en-US" dirty="0"/>
              <a:t> </a:t>
            </a:r>
            <a:r>
              <a:rPr lang="en-US" altLang="zh-CN" dirty="0"/>
              <a:t>OSDI’10</a:t>
            </a:r>
          </a:p>
        </p:txBody>
      </p:sp>
    </p:spTree>
    <p:extLst>
      <p:ext uri="{BB962C8B-B14F-4D97-AF65-F5344CB8AC3E}">
        <p14:creationId xmlns:p14="http://schemas.microsoft.com/office/powerpoint/2010/main" val="184049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9348"/>
            <a:ext cx="7775207" cy="3528392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如何进一步降低系统调用的时延？</a:t>
            </a:r>
          </a:p>
          <a:p>
            <a:pPr lvl="1"/>
            <a:r>
              <a:rPr kumimoji="1" lang="zh-CN" altLang="en-US" sz="2000" dirty="0"/>
              <a:t>不仅仅是 </a:t>
            </a:r>
            <a:r>
              <a:rPr kumimoji="1" lang="en-US" altLang="zh-CN" sz="2000" dirty="0" err="1"/>
              <a:t>gettimeofday</a:t>
            </a:r>
            <a:r>
              <a:rPr kumimoji="1" lang="en-US" altLang="zh-CN" sz="2000" dirty="0"/>
              <a:t>()</a:t>
            </a:r>
            <a:endParaRPr kumimoji="1" lang="zh-CN" altLang="en-US" sz="2000" dirty="0"/>
          </a:p>
          <a:p>
            <a:r>
              <a:rPr kumimoji="1" lang="en-US" altLang="zh-CN" sz="2400" dirty="0"/>
              <a:t>"</a:t>
            </a:r>
            <a:r>
              <a:rPr kumimoji="1" lang="zh-CN" altLang="en-US" sz="2400" dirty="0"/>
              <a:t>时间都去哪儿了？</a:t>
            </a:r>
            <a:r>
              <a:rPr kumimoji="1" lang="en-US" altLang="zh-CN" sz="2400" dirty="0"/>
              <a:t>"</a:t>
            </a:r>
            <a:endParaRPr kumimoji="1" lang="zh-CN" altLang="en-US" sz="2400" dirty="0"/>
          </a:p>
          <a:p>
            <a:pPr lvl="1"/>
            <a:r>
              <a:rPr kumimoji="1" lang="zh-CN" altLang="en-US" sz="2000" dirty="0"/>
              <a:t>大部分是用来做状态的切换</a:t>
            </a:r>
          </a:p>
          <a:p>
            <a:pPr lvl="2"/>
            <a:r>
              <a:rPr kumimoji="1" lang="zh-CN" altLang="en-US" sz="1800" dirty="0"/>
              <a:t>保存和恢复状态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权限的切换</a:t>
            </a:r>
          </a:p>
          <a:p>
            <a:pPr lvl="1"/>
            <a:r>
              <a:rPr kumimoji="1" lang="en-US" altLang="zh-CN" sz="2000" dirty="0"/>
              <a:t>Cache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pollution</a:t>
            </a:r>
            <a:endParaRPr kumimoji="1" lang="zh-CN" altLang="en-US" sz="2000" dirty="0"/>
          </a:p>
          <a:p>
            <a:r>
              <a:rPr kumimoji="1" lang="zh-CN" altLang="en-US" sz="2400" dirty="0"/>
              <a:t>是否有可能在不切换状态的情况下实现系统调用？</a:t>
            </a:r>
          </a:p>
        </p:txBody>
      </p:sp>
    </p:spTree>
    <p:extLst>
      <p:ext uri="{BB962C8B-B14F-4D97-AF65-F5344CB8AC3E}">
        <p14:creationId xmlns:p14="http://schemas.microsoft.com/office/powerpoint/2010/main" val="117924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Flexible System Call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一种新的</a:t>
            </a:r>
            <a:r>
              <a:rPr lang="en-US" altLang="zh-CN" sz="2000" dirty="0" err="1"/>
              <a:t>syscall</a:t>
            </a:r>
            <a:r>
              <a:rPr lang="zh-CN" altLang="en-US" sz="2000" dirty="0"/>
              <a:t>机制</a:t>
            </a:r>
            <a:endParaRPr lang="en-US" altLang="zh-CN" sz="20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667" dirty="0"/>
              <a:t>引入 </a:t>
            </a:r>
            <a:r>
              <a:rPr lang="en-US" altLang="zh-CN" sz="1667" b="1" dirty="0">
                <a:solidFill>
                  <a:srgbClr val="0070C0"/>
                </a:solidFill>
              </a:rPr>
              <a:t>system call page</a:t>
            </a:r>
            <a:r>
              <a:rPr lang="zh-CN" altLang="en-US" sz="1667" b="1" dirty="0"/>
              <a:t> </a:t>
            </a:r>
            <a:r>
              <a:rPr lang="zh-CN" altLang="en-US" sz="1667" dirty="0"/>
              <a:t>，由 </a:t>
            </a:r>
            <a:r>
              <a:rPr lang="en-US" altLang="zh-CN" sz="1667" dirty="0"/>
              <a:t>user</a:t>
            </a:r>
            <a:r>
              <a:rPr lang="zh-CN" altLang="en-US" sz="1667" dirty="0"/>
              <a:t> </a:t>
            </a:r>
            <a:r>
              <a:rPr lang="en-US" altLang="zh-CN" sz="1667" dirty="0"/>
              <a:t>&amp;</a:t>
            </a:r>
            <a:r>
              <a:rPr lang="zh-CN" altLang="en-US" sz="1667" dirty="0"/>
              <a:t> </a:t>
            </a:r>
            <a:r>
              <a:rPr lang="en-US" altLang="zh-CN" sz="1667" dirty="0"/>
              <a:t>kernel</a:t>
            </a:r>
            <a:r>
              <a:rPr lang="zh-CN" altLang="en-US" sz="1667" dirty="0"/>
              <a:t> 共享</a:t>
            </a:r>
            <a:endParaRPr lang="en-US" altLang="zh-CN" sz="1667" dirty="0"/>
          </a:p>
          <a:p>
            <a:pPr lvl="1"/>
            <a:r>
              <a:rPr lang="en-US" altLang="zh-CN" sz="1667" dirty="0"/>
              <a:t>User threads </a:t>
            </a:r>
            <a:r>
              <a:rPr lang="zh-CN" altLang="en-US" sz="1667" dirty="0"/>
              <a:t>可以将系统调用的请求</a:t>
            </a:r>
            <a:r>
              <a:rPr lang="en-US" altLang="zh-CN" sz="1667" dirty="0"/>
              <a:t> </a:t>
            </a:r>
            <a:r>
              <a:rPr lang="en-US" altLang="zh-CN" sz="1667" b="1" dirty="0">
                <a:solidFill>
                  <a:srgbClr val="0070C0"/>
                </a:solidFill>
              </a:rPr>
              <a:t>push</a:t>
            </a:r>
            <a:r>
              <a:rPr lang="en-US" altLang="zh-CN" sz="1667" dirty="0">
                <a:solidFill>
                  <a:srgbClr val="0070C0"/>
                </a:solidFill>
              </a:rPr>
              <a:t> </a:t>
            </a:r>
            <a:r>
              <a:rPr lang="zh-CN" altLang="en-US" sz="1667" dirty="0"/>
              <a:t>到</a:t>
            </a:r>
            <a:r>
              <a:rPr lang="en-US" altLang="zh-CN" sz="1667" dirty="0"/>
              <a:t> system call page</a:t>
            </a:r>
          </a:p>
          <a:p>
            <a:pPr lvl="1"/>
            <a:r>
              <a:rPr lang="en-US" altLang="zh-CN" sz="1667" dirty="0"/>
              <a:t>kernel threads </a:t>
            </a:r>
            <a:r>
              <a:rPr lang="zh-CN" altLang="en-US" sz="1667" dirty="0"/>
              <a:t>会从</a:t>
            </a:r>
            <a:r>
              <a:rPr lang="en-US" altLang="zh-CN" sz="1667" dirty="0"/>
              <a:t>system call page </a:t>
            </a:r>
            <a:r>
              <a:rPr lang="en-US" altLang="zh-CN" sz="1667" b="1" dirty="0">
                <a:solidFill>
                  <a:srgbClr val="0070C0"/>
                </a:solidFill>
              </a:rPr>
              <a:t>poll</a:t>
            </a:r>
            <a:r>
              <a:rPr lang="en-US" altLang="zh-CN" sz="1667" dirty="0"/>
              <a:t> system call </a:t>
            </a:r>
            <a:r>
              <a:rPr lang="zh-CN" altLang="en-US" sz="1667" dirty="0"/>
              <a:t>请求</a:t>
            </a:r>
          </a:p>
          <a:p>
            <a:r>
              <a:rPr lang="en-US" altLang="zh-CN" sz="2000" dirty="0"/>
              <a:t>Exception-less </a:t>
            </a:r>
            <a:r>
              <a:rPr lang="en-US" altLang="zh-CN" sz="2000" dirty="0" err="1"/>
              <a:t>syscall</a:t>
            </a:r>
            <a:endParaRPr lang="zh-CN" altLang="en-US" sz="2000" dirty="0"/>
          </a:p>
          <a:p>
            <a:pPr lvl="1"/>
            <a:r>
              <a:rPr lang="zh-CN" altLang="en-US" sz="1667" dirty="0"/>
              <a:t>将系统调用的调用和执行解耦，可分布到不同的</a:t>
            </a:r>
            <a:r>
              <a:rPr lang="en-US" altLang="zh-CN" sz="1667" dirty="0"/>
              <a:t>CPU</a:t>
            </a:r>
            <a:r>
              <a:rPr lang="zh-CN" altLang="en-US" sz="1667" dirty="0"/>
              <a:t>核</a:t>
            </a:r>
            <a:endParaRPr lang="en-US" altLang="zh-CN" sz="1667" dirty="0"/>
          </a:p>
          <a:p>
            <a:pPr lvl="1"/>
            <a:endParaRPr lang="en-US" altLang="zh-CN" sz="1667" dirty="0"/>
          </a:p>
        </p:txBody>
      </p:sp>
    </p:spTree>
    <p:extLst>
      <p:ext uri="{BB962C8B-B14F-4D97-AF65-F5344CB8AC3E}">
        <p14:creationId xmlns:p14="http://schemas.microsoft.com/office/powerpoint/2010/main" val="15812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67" dirty="0"/>
              <a:t>System Call</a:t>
            </a:r>
            <a:r>
              <a:rPr kumimoji="1" lang="zh-CN" altLang="en-US" sz="3667" dirty="0"/>
              <a:t>的另一种方法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657368"/>
            <a:ext cx="6360707" cy="3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Exception-less System Call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477347"/>
            <a:ext cx="6189307" cy="362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3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Kernel</a:t>
            </a:r>
            <a:r>
              <a:rPr kumimoji="1" lang="zh-CN" altLang="en-US" dirty="0"/>
              <a:t>填充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的返回值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24" y="1467696"/>
            <a:ext cx="6240693" cy="362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53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16" name="Straight Connector 19"/>
          <p:cNvSpPr>
            <a:spLocks noChangeShapeType="1"/>
          </p:cNvSpPr>
          <p:nvPr/>
        </p:nvSpPr>
        <p:spPr bwMode="auto">
          <a:xfrm>
            <a:off x="1901704" y="3169913"/>
            <a:ext cx="525058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endParaRPr lang="zh-CN" altLang="en-US" sz="1250"/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2051721" y="2583981"/>
            <a:ext cx="1250139" cy="1131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Calibri" pitchFamily="34" charset="0"/>
                <a:ea typeface="宋体" pitchFamily="2" charset="-122"/>
                <a:cs typeface="宋体" pitchFamily="2" charset="-122"/>
              </a:rPr>
              <a:t>User</a:t>
            </a: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389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Calibri" pitchFamily="34" charset="0"/>
                <a:ea typeface="宋体" pitchFamily="2" charset="-122"/>
                <a:cs typeface="宋体" pitchFamily="2" charset="-122"/>
              </a:rPr>
              <a:t>Kernel</a:t>
            </a:r>
            <a:endParaRPr lang="zh-CN" altLang="zh-CN" sz="2222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598178" y="2592215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98189" y="2680047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798200" y="280107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101838" y="2069842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Application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3" name="右箭头 22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4" name="TextBox 23"/>
          <p:cNvSpPr txBox="1"/>
          <p:nvPr/>
        </p:nvSpPr>
        <p:spPr>
          <a:xfrm>
            <a:off x="5245475" y="2236442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25" name="右箭头 24"/>
          <p:cNvSpPr/>
          <p:nvPr/>
        </p:nvSpPr>
        <p:spPr>
          <a:xfrm rot="1162316">
            <a:off x="4997192" y="2492046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6" name="右箭头 25"/>
          <p:cNvSpPr/>
          <p:nvPr/>
        </p:nvSpPr>
        <p:spPr>
          <a:xfrm rot="1162316">
            <a:off x="4997192" y="2492045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7" name="右箭头 26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9" name="圆角矩形 28"/>
          <p:cNvSpPr/>
          <p:nvPr/>
        </p:nvSpPr>
        <p:spPr>
          <a:xfrm>
            <a:off x="5898985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a</a:t>
            </a:r>
            <a:endParaRPr lang="zh-CN" altLang="en-US" sz="1250" dirty="0"/>
          </a:p>
        </p:txBody>
      </p:sp>
      <p:sp>
        <p:nvSpPr>
          <p:cNvPr id="33" name="圆角矩形 32"/>
          <p:cNvSpPr/>
          <p:nvPr/>
        </p:nvSpPr>
        <p:spPr>
          <a:xfrm>
            <a:off x="6188963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b</a:t>
            </a:r>
            <a:endParaRPr lang="zh-CN" altLang="en-US" sz="1250" dirty="0"/>
          </a:p>
        </p:txBody>
      </p:sp>
      <p:sp>
        <p:nvSpPr>
          <p:cNvPr id="34" name="圆角矩形 33"/>
          <p:cNvSpPr/>
          <p:nvPr/>
        </p:nvSpPr>
        <p:spPr>
          <a:xfrm>
            <a:off x="5914511" y="317002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c</a:t>
            </a:r>
            <a:endParaRPr lang="zh-CN" altLang="en-US" sz="1250" dirty="0"/>
          </a:p>
        </p:txBody>
      </p:sp>
      <p:sp>
        <p:nvSpPr>
          <p:cNvPr id="35" name="圆角矩形 34"/>
          <p:cNvSpPr/>
          <p:nvPr/>
        </p:nvSpPr>
        <p:spPr>
          <a:xfrm>
            <a:off x="6194224" y="3177343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d</a:t>
            </a:r>
            <a:endParaRPr lang="zh-CN" altLang="en-US" sz="1250" dirty="0"/>
          </a:p>
        </p:txBody>
      </p:sp>
      <p:sp>
        <p:nvSpPr>
          <p:cNvPr id="36" name="右箭头 35"/>
          <p:cNvSpPr/>
          <p:nvPr/>
        </p:nvSpPr>
        <p:spPr>
          <a:xfrm rot="5400000">
            <a:off x="4313902" y="2968877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37" name="圆角矩形 36"/>
          <p:cNvSpPr/>
          <p:nvPr/>
        </p:nvSpPr>
        <p:spPr>
          <a:xfrm>
            <a:off x="3142132" y="3581001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Kernel threads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26712" y="2860646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kernel</a:t>
            </a:r>
            <a:endParaRPr lang="zh-CN" altLang="en-US" sz="1250" dirty="0"/>
          </a:p>
        </p:txBody>
      </p:sp>
      <p:sp>
        <p:nvSpPr>
          <p:cNvPr id="41" name="右箭头 40"/>
          <p:cNvSpPr/>
          <p:nvPr/>
        </p:nvSpPr>
        <p:spPr>
          <a:xfrm rot="9521914">
            <a:off x="5038137" y="353076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3" name="TextBox 42"/>
          <p:cNvSpPr txBox="1"/>
          <p:nvPr/>
        </p:nvSpPr>
        <p:spPr>
          <a:xfrm>
            <a:off x="5186261" y="372832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pull system call</a:t>
            </a:r>
            <a:endParaRPr lang="zh-CN" altLang="en-US" sz="1250" dirty="0"/>
          </a:p>
        </p:txBody>
      </p:sp>
      <p:sp>
        <p:nvSpPr>
          <p:cNvPr id="44" name="右箭头 43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6" name="右箭头 45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7" name="右箭头 46"/>
          <p:cNvSpPr/>
          <p:nvPr/>
        </p:nvSpPr>
        <p:spPr>
          <a:xfrm rot="9521914">
            <a:off x="5038139" y="353393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8" name="右箭头 47"/>
          <p:cNvSpPr/>
          <p:nvPr/>
        </p:nvSpPr>
        <p:spPr>
          <a:xfrm rot="16200000">
            <a:off x="2940229" y="2962000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9" name="TextBox 48"/>
          <p:cNvSpPr txBox="1"/>
          <p:nvPr/>
        </p:nvSpPr>
        <p:spPr>
          <a:xfrm>
            <a:off x="3478543" y="2854784"/>
            <a:ext cx="1194558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user</a:t>
            </a:r>
            <a:endParaRPr lang="zh-CN" altLang="en-US" sz="1250" dirty="0"/>
          </a:p>
        </p:txBody>
      </p:sp>
    </p:spTree>
    <p:extLst>
      <p:ext uri="{BB962C8B-B14F-4D97-AF65-F5344CB8AC3E}">
        <p14:creationId xmlns:p14="http://schemas.microsoft.com/office/powerpoint/2010/main" val="45653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5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build="allAtOnce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8" grpId="0" build="allAtOnce"/>
      <p:bldP spid="41" grpId="0" animBg="1"/>
      <p:bldP spid="41" grpId="1" animBg="1"/>
      <p:bldP spid="43" grpId="0" build="allAtOnce"/>
      <p:bldP spid="44" grpId="0" animBg="1"/>
      <p:bldP spid="44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" name="Straight Connector 19"/>
          <p:cNvSpPr>
            <a:spLocks noChangeShapeType="1"/>
          </p:cNvSpPr>
          <p:nvPr/>
        </p:nvSpPr>
        <p:spPr bwMode="auto">
          <a:xfrm>
            <a:off x="2371757" y="4095500"/>
            <a:ext cx="490054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endParaRPr lang="zh-CN" altLang="en-US" sz="1250"/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2708651" y="4226605"/>
            <a:ext cx="1750194" cy="3500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67" dirty="0">
                <a:latin typeface="Verdana" pitchFamily="34" charset="0"/>
                <a:ea typeface="Verdana" pitchFamily="34" charset="0"/>
                <a:cs typeface="Verdana" pitchFamily="34" charset="0"/>
              </a:rPr>
              <a:t>kernel thread</a:t>
            </a:r>
            <a:endParaRPr lang="zh-CN" altLang="zh-CN" sz="1667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 Box 34"/>
          <p:cNvSpPr txBox="1">
            <a:spLocks noChangeArrowheads="1"/>
          </p:cNvSpPr>
          <p:nvPr/>
        </p:nvSpPr>
        <p:spPr bwMode="auto">
          <a:xfrm>
            <a:off x="5972155" y="3645209"/>
            <a:ext cx="1058850" cy="90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11" dirty="0">
                <a:latin typeface="Calibri" pitchFamily="34" charset="0"/>
                <a:ea typeface="宋体" pitchFamily="2" charset="-122"/>
                <a:cs typeface="宋体" pitchFamily="2" charset="-122"/>
              </a:rPr>
              <a:t>User mode</a:t>
            </a: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endParaRPr lang="en-US" altLang="zh-CN" sz="1111" dirty="0"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algn="just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11" dirty="0">
                <a:latin typeface="Calibri" pitchFamily="34" charset="0"/>
                <a:ea typeface="宋体" pitchFamily="2" charset="-122"/>
                <a:cs typeface="宋体" pitchFamily="2" charset="-122"/>
              </a:rPr>
              <a:t>Kernel mode</a:t>
            </a:r>
            <a:endParaRPr lang="zh-CN" altLang="zh-CN" sz="1667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3531064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22040" y="3308836"/>
            <a:ext cx="700078" cy="97995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022051" y="3396668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122062" y="351769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9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lang="zh-CN" altLang="en-US" sz="1389" dirty="0">
              <a:solidFill>
                <a:schemeClr val="tx1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3981114" y="2263016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7" name="右箭头 16"/>
          <p:cNvSpPr/>
          <p:nvPr/>
        </p:nvSpPr>
        <p:spPr>
          <a:xfrm rot="696842">
            <a:off x="2911882" y="3376414"/>
            <a:ext cx="2260273" cy="153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18" name="圆角矩形 17"/>
          <p:cNvSpPr/>
          <p:nvPr/>
        </p:nvSpPr>
        <p:spPr>
          <a:xfrm>
            <a:off x="5230957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a</a:t>
            </a:r>
            <a:endParaRPr lang="zh-CN" altLang="en-US" sz="1250" dirty="0"/>
          </a:p>
        </p:txBody>
      </p:sp>
      <p:sp>
        <p:nvSpPr>
          <p:cNvPr id="16" name="TextBox 15"/>
          <p:cNvSpPr txBox="1"/>
          <p:nvPr/>
        </p:nvSpPr>
        <p:spPr>
          <a:xfrm>
            <a:off x="3509802" y="3470068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19" name="环形箭头 18"/>
          <p:cNvSpPr/>
          <p:nvPr/>
        </p:nvSpPr>
        <p:spPr>
          <a:xfrm>
            <a:off x="2713789" y="197635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38593" y="184811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28" name="右箭头 27"/>
          <p:cNvSpPr/>
          <p:nvPr/>
        </p:nvSpPr>
        <p:spPr>
          <a:xfrm rot="701574">
            <a:off x="3268532" y="3414873"/>
            <a:ext cx="1933451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29" name="圆角矩形 28"/>
          <p:cNvSpPr/>
          <p:nvPr/>
        </p:nvSpPr>
        <p:spPr>
          <a:xfrm>
            <a:off x="5535699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b</a:t>
            </a:r>
            <a:endParaRPr lang="zh-CN" altLang="en-US" sz="1250" dirty="0"/>
          </a:p>
        </p:txBody>
      </p:sp>
      <p:sp>
        <p:nvSpPr>
          <p:cNvPr id="27" name="TextBox 26"/>
          <p:cNvSpPr txBox="1"/>
          <p:nvPr/>
        </p:nvSpPr>
        <p:spPr>
          <a:xfrm>
            <a:off x="3685739" y="3361054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33" name="环形箭头 32"/>
          <p:cNvSpPr/>
          <p:nvPr/>
        </p:nvSpPr>
        <p:spPr>
          <a:xfrm>
            <a:off x="3119581" y="1970890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44385" y="1842651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37" name="右箭头 36"/>
          <p:cNvSpPr/>
          <p:nvPr/>
        </p:nvSpPr>
        <p:spPr>
          <a:xfrm rot="701574">
            <a:off x="3668465" y="3462093"/>
            <a:ext cx="1527751" cy="1497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38" name="圆角矩形 37"/>
          <p:cNvSpPr/>
          <p:nvPr/>
        </p:nvSpPr>
        <p:spPr>
          <a:xfrm>
            <a:off x="5230956" y="398179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c</a:t>
            </a:r>
            <a:endParaRPr lang="zh-CN" altLang="en-US" sz="1250" dirty="0"/>
          </a:p>
        </p:txBody>
      </p:sp>
      <p:sp>
        <p:nvSpPr>
          <p:cNvPr id="39" name="TextBox 38"/>
          <p:cNvSpPr txBox="1"/>
          <p:nvPr/>
        </p:nvSpPr>
        <p:spPr>
          <a:xfrm>
            <a:off x="3804495" y="3389453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40" name="环形箭头 39"/>
          <p:cNvSpPr/>
          <p:nvPr/>
        </p:nvSpPr>
        <p:spPr>
          <a:xfrm>
            <a:off x="3589815" y="195998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14619" y="183174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</a:t>
            </a:r>
            <a:endParaRPr lang="zh-CN" altLang="en-US" sz="1250" dirty="0"/>
          </a:p>
        </p:txBody>
      </p:sp>
      <p:sp>
        <p:nvSpPr>
          <p:cNvPr id="42" name="右箭头 41"/>
          <p:cNvSpPr/>
          <p:nvPr/>
        </p:nvSpPr>
        <p:spPr>
          <a:xfrm rot="701574">
            <a:off x="4121839" y="3502009"/>
            <a:ext cx="1054782" cy="1489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3" name="圆角矩形 42"/>
          <p:cNvSpPr/>
          <p:nvPr/>
        </p:nvSpPr>
        <p:spPr>
          <a:xfrm>
            <a:off x="5535699" y="3976577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d</a:t>
            </a:r>
            <a:endParaRPr lang="zh-CN" altLang="en-US" sz="1250" dirty="0"/>
          </a:p>
        </p:txBody>
      </p:sp>
      <p:sp>
        <p:nvSpPr>
          <p:cNvPr id="44" name="TextBox 43"/>
          <p:cNvSpPr txBox="1"/>
          <p:nvPr/>
        </p:nvSpPr>
        <p:spPr>
          <a:xfrm>
            <a:off x="3788806" y="3396671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Push system call</a:t>
            </a:r>
            <a:endParaRPr lang="zh-CN" altLang="en-US" sz="1250" dirty="0"/>
          </a:p>
        </p:txBody>
      </p:sp>
      <p:sp>
        <p:nvSpPr>
          <p:cNvPr id="45" name="右箭头 44"/>
          <p:cNvSpPr/>
          <p:nvPr/>
        </p:nvSpPr>
        <p:spPr>
          <a:xfrm rot="5400000">
            <a:off x="3867606" y="3840607"/>
            <a:ext cx="754290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6" name="TextBox 45"/>
          <p:cNvSpPr txBox="1"/>
          <p:nvPr/>
        </p:nvSpPr>
        <p:spPr>
          <a:xfrm>
            <a:off x="3051913" y="3860877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Switch to kernel</a:t>
            </a:r>
            <a:endParaRPr lang="zh-CN" altLang="en-US" sz="1250" dirty="0"/>
          </a:p>
        </p:txBody>
      </p:sp>
      <p:sp>
        <p:nvSpPr>
          <p:cNvPr id="47" name="TextBox 46"/>
          <p:cNvSpPr txBox="1"/>
          <p:nvPr/>
        </p:nvSpPr>
        <p:spPr>
          <a:xfrm>
            <a:off x="4566065" y="444840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0" dirty="0"/>
              <a:t>pull system call</a:t>
            </a:r>
            <a:endParaRPr lang="zh-CN" altLang="en-US" sz="1250" dirty="0"/>
          </a:p>
        </p:txBody>
      </p:sp>
      <p:sp>
        <p:nvSpPr>
          <p:cNvPr id="48" name="右箭头 47"/>
          <p:cNvSpPr/>
          <p:nvPr/>
        </p:nvSpPr>
        <p:spPr>
          <a:xfrm rot="9817356">
            <a:off x="4443370" y="4230365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49" name="右箭头 48"/>
          <p:cNvSpPr/>
          <p:nvPr/>
        </p:nvSpPr>
        <p:spPr>
          <a:xfrm rot="9817356">
            <a:off x="4441368" y="4230368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0" name="右箭头 49"/>
          <p:cNvSpPr/>
          <p:nvPr/>
        </p:nvSpPr>
        <p:spPr>
          <a:xfrm rot="9817356">
            <a:off x="4443370" y="4230369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1" name="右箭头 50"/>
          <p:cNvSpPr/>
          <p:nvPr/>
        </p:nvSpPr>
        <p:spPr>
          <a:xfrm rot="9817356">
            <a:off x="4441368" y="4230252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2" name="右箭头 51"/>
          <p:cNvSpPr/>
          <p:nvPr/>
        </p:nvSpPr>
        <p:spPr>
          <a:xfrm rot="16200000">
            <a:off x="2456764" y="3835810"/>
            <a:ext cx="763878" cy="142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50"/>
          </a:p>
        </p:txBody>
      </p:sp>
      <p:sp>
        <p:nvSpPr>
          <p:cNvPr id="53" name="TextBox 52"/>
          <p:cNvSpPr txBox="1"/>
          <p:nvPr/>
        </p:nvSpPr>
        <p:spPr>
          <a:xfrm>
            <a:off x="2866161" y="3871961"/>
            <a:ext cx="10484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/>
              <a:t>Switch to user</a:t>
            </a:r>
            <a:endParaRPr lang="zh-CN" altLang="en-US" sz="1250" dirty="0"/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6" name="Text Box 18"/>
          <p:cNvSpPr txBox="1">
            <a:spLocks noChangeArrowheads="1"/>
          </p:cNvSpPr>
          <p:nvPr/>
        </p:nvSpPr>
        <p:spPr bwMode="auto">
          <a:xfrm>
            <a:off x="3531063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3979450" y="226333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algn="ctr" defTabSz="6349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89" dirty="0"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lang="zh-CN" altLang="zh-CN" sz="1667" dirty="0"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3040" y="4837720"/>
            <a:ext cx="6669360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333" dirty="0" err="1">
                <a:solidFill>
                  <a:schemeClr val="bg1">
                    <a:lumMod val="75000"/>
                  </a:schemeClr>
                </a:solidFill>
                <a:latin typeface="Microsoft YaHei Light" charset="0"/>
                <a:ea typeface="Microsoft YaHei Light" charset="0"/>
                <a:cs typeface="Microsoft YaHei Light" charset="0"/>
              </a:rPr>
              <a:t>FlexSC</a:t>
            </a:r>
            <a:r>
              <a:rPr lang="en-US" altLang="zh-CN" sz="1333" dirty="0">
                <a:solidFill>
                  <a:schemeClr val="bg1">
                    <a:lumMod val="75000"/>
                  </a:schemeClr>
                </a:solidFill>
                <a:latin typeface="Microsoft YaHei Light" charset="0"/>
                <a:ea typeface="Microsoft YaHei Light" charset="0"/>
                <a:cs typeface="Microsoft YaHei Light" charset="0"/>
              </a:rPr>
              <a:t>: Flexible System Call Scheduling with Exception-Less System Calls </a:t>
            </a:r>
          </a:p>
        </p:txBody>
      </p:sp>
    </p:spTree>
    <p:extLst>
      <p:ext uri="{BB962C8B-B14F-4D97-AF65-F5344CB8AC3E}">
        <p14:creationId xmlns:p14="http://schemas.microsoft.com/office/powerpoint/2010/main" val="212835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5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750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"/>
                            </p:stCondLst>
                            <p:childTnLst>
                              <p:par>
                                <p:cTn id="6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75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250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250"/>
                            </p:stCondLst>
                            <p:childTnLst>
                              <p:par>
                                <p:cTn id="89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9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0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00"/>
                            </p:stCondLst>
                            <p:childTnLst>
                              <p:par>
                                <p:cTn id="10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4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12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6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250"/>
                            </p:stCondLst>
                            <p:childTnLst>
                              <p:par>
                                <p:cTn id="13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250"/>
                            </p:stCondLst>
                            <p:childTnLst>
                              <p:par>
                                <p:cTn id="13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50"/>
                            </p:stCondLst>
                            <p:childTnLst>
                              <p:par>
                                <p:cTn id="1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5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000"/>
                            </p:stCondLst>
                            <p:childTnLst>
                              <p:par>
                                <p:cTn id="17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250"/>
                            </p:stCondLst>
                            <p:childTnLst>
                              <p:par>
                                <p:cTn id="18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250"/>
                            </p:stCondLst>
                            <p:childTnLst>
                              <p:par>
                                <p:cTn id="18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5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250"/>
                            </p:stCondLst>
                            <p:childTnLst>
                              <p:par>
                                <p:cTn id="2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5" grpId="0" animBg="1"/>
      <p:bldP spid="17" grpId="0" animBg="1"/>
      <p:bldP spid="17" grpId="1" animBg="1"/>
      <p:bldP spid="18" grpId="0" animBg="1"/>
      <p:bldP spid="18" grpId="1" animBg="1"/>
      <p:bldP spid="16" grpId="0" build="allAtOnce"/>
      <p:bldP spid="19" grpId="0" animBg="1"/>
      <p:bldP spid="19" grpId="1" animBg="1"/>
      <p:bldP spid="20" grpId="0" build="allAtOnce"/>
      <p:bldP spid="28" grpId="0" animBg="1"/>
      <p:bldP spid="28" grpId="1" animBg="1"/>
      <p:bldP spid="29" grpId="0" animBg="1"/>
      <p:bldP spid="29" grpId="1" animBg="1"/>
      <p:bldP spid="27" grpId="0" build="allAtOnce"/>
      <p:bldP spid="33" grpId="0" animBg="1"/>
      <p:bldP spid="33" grpId="1" animBg="1"/>
      <p:bldP spid="34" grpId="0" build="allAtOnce"/>
      <p:bldP spid="37" grpId="0" animBg="1"/>
      <p:bldP spid="37" grpId="1" animBg="1"/>
      <p:bldP spid="38" grpId="0" animBg="1"/>
      <p:bldP spid="38" grpId="1" animBg="1"/>
      <p:bldP spid="39" grpId="0" build="allAtOnce"/>
      <p:bldP spid="40" grpId="0" animBg="1"/>
      <p:bldP spid="40" grpId="1" animBg="1"/>
      <p:bldP spid="41" grpId="0" build="allAtOnce"/>
      <p:bldP spid="42" grpId="0" animBg="1"/>
      <p:bldP spid="42" grpId="1" animBg="1"/>
      <p:bldP spid="43" grpId="0" animBg="1"/>
      <p:bldP spid="43" grpId="1" animBg="1"/>
      <p:bldP spid="44" grpId="0" build="allAtOnce"/>
      <p:bldP spid="45" grpId="0" animBg="1"/>
      <p:bldP spid="45" grpId="1" animBg="1"/>
      <p:bldP spid="46" grpId="0" build="allAtOnce"/>
      <p:bldP spid="47" grpId="0" build="allAtOnce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build="allAtOnce"/>
      <p:bldP spid="54" grpId="0" animBg="1"/>
      <p:bldP spid="55" grpId="0" animBg="1"/>
      <p:bldP spid="56" grpId="0" animBg="1"/>
      <p:bldP spid="5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计算机启动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375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396A1-FAED-9F40-B989-BBC1F47D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启动流程：从上电到等待用户输入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26A4F-60DB-8847-A2D3-B623A0B2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AD4F2AC-85B2-FC41-93D1-06E36402BA37}"/>
              </a:ext>
            </a:extLst>
          </p:cNvPr>
          <p:cNvCxnSpPr>
            <a:cxnSpLocks/>
          </p:cNvCxnSpPr>
          <p:nvPr/>
        </p:nvCxnSpPr>
        <p:spPr>
          <a:xfrm>
            <a:off x="3398491" y="1444983"/>
            <a:ext cx="0" cy="3932797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0596111-A099-A646-8FBF-9BEF8C413E39}"/>
              </a:ext>
            </a:extLst>
          </p:cNvPr>
          <p:cNvSpPr/>
          <p:nvPr/>
        </p:nvSpPr>
        <p:spPr>
          <a:xfrm>
            <a:off x="2262907" y="148760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按下开关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0A3826-8315-CD43-A81A-7F2E25077D7B}"/>
              </a:ext>
            </a:extLst>
          </p:cNvPr>
          <p:cNvSpPr/>
          <p:nvPr/>
        </p:nvSpPr>
        <p:spPr>
          <a:xfrm>
            <a:off x="1544762" y="2313664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内核的第一行代码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099803-4A77-5447-B794-69E6A9EDE172}"/>
              </a:ext>
            </a:extLst>
          </p:cNvPr>
          <p:cNvSpPr/>
          <p:nvPr/>
        </p:nvSpPr>
        <p:spPr>
          <a:xfrm>
            <a:off x="467544" y="3139724"/>
            <a:ext cx="2698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第一个用户态应用的第一行代码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5E7FDE-2736-C24B-9142-1EE837606B50}"/>
              </a:ext>
            </a:extLst>
          </p:cNvPr>
          <p:cNvSpPr/>
          <p:nvPr/>
        </p:nvSpPr>
        <p:spPr>
          <a:xfrm>
            <a:off x="1535143" y="3965784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的第一行代码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DF2F5F-D6FF-F641-A708-40DD40FBF535}"/>
              </a:ext>
            </a:extLst>
          </p:cNvPr>
          <p:cNvSpPr/>
          <p:nvPr/>
        </p:nvSpPr>
        <p:spPr>
          <a:xfrm>
            <a:off x="1535143" y="4791843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等待用户输入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AF7EFB-45B4-BC45-B52A-90EB3BCDC6BF}"/>
              </a:ext>
            </a:extLst>
          </p:cNvPr>
          <p:cNvSpPr txBox="1"/>
          <p:nvPr/>
        </p:nvSpPr>
        <p:spPr>
          <a:xfrm>
            <a:off x="3608709" y="1735960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硬件环境（除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）初始化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加载内核代码到内存中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1E0456C8-A445-EE4E-8171-9BDEA71211DA}"/>
              </a:ext>
            </a:extLst>
          </p:cNvPr>
          <p:cNvCxnSpPr/>
          <p:nvPr/>
        </p:nvCxnSpPr>
        <p:spPr>
          <a:xfrm>
            <a:off x="3398491" y="1633364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4F0EC48-D4E8-B44E-AFC8-7C31AAC5C055}"/>
              </a:ext>
            </a:extLst>
          </p:cNvPr>
          <p:cNvCxnSpPr/>
          <p:nvPr/>
        </p:nvCxnSpPr>
        <p:spPr>
          <a:xfrm>
            <a:off x="3398491" y="2461456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FBD8E2D1-753B-864B-BB05-7239F8CAD350}"/>
              </a:ext>
            </a:extLst>
          </p:cNvPr>
          <p:cNvCxnSpPr/>
          <p:nvPr/>
        </p:nvCxnSpPr>
        <p:spPr>
          <a:xfrm>
            <a:off x="3398491" y="3289548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CC669C2-677B-9245-B183-4F9BA8DE5A45}"/>
              </a:ext>
            </a:extLst>
          </p:cNvPr>
          <p:cNvCxnSpPr/>
          <p:nvPr/>
        </p:nvCxnSpPr>
        <p:spPr>
          <a:xfrm>
            <a:off x="3398491" y="4117640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1E9F174-07B3-2043-9AAD-D462DA8654D8}"/>
              </a:ext>
            </a:extLst>
          </p:cNvPr>
          <p:cNvCxnSpPr/>
          <p:nvPr/>
        </p:nvCxnSpPr>
        <p:spPr>
          <a:xfrm>
            <a:off x="3398491" y="4945732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AD7D499-FB1D-D041-BCAA-292FA449B138}"/>
              </a:ext>
            </a:extLst>
          </p:cNvPr>
          <p:cNvSpPr txBox="1"/>
          <p:nvPr/>
        </p:nvSpPr>
        <p:spPr>
          <a:xfrm>
            <a:off x="3608709" y="2564051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初始化</a:t>
            </a:r>
            <a:r>
              <a:rPr kumimoji="1" lang="en-US" altLang="zh-CN" sz="1400" dirty="0"/>
              <a:t>MMU</a:t>
            </a:r>
            <a:r>
              <a:rPr kumimoji="1" lang="zh-CN" altLang="en-US" sz="1400" dirty="0"/>
              <a:t>、外设（如网卡、硬盘）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若有多核，则初始化其他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核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0B0298-31FC-B64A-B854-8D252896DDEE}"/>
              </a:ext>
            </a:extLst>
          </p:cNvPr>
          <p:cNvSpPr txBox="1"/>
          <p:nvPr/>
        </p:nvSpPr>
        <p:spPr>
          <a:xfrm>
            <a:off x="3631264" y="3387453"/>
            <a:ext cx="3534195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</a:t>
            </a:r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的二进制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52C279-1851-164C-A18D-0D98291C0D98}"/>
              </a:ext>
            </a:extLst>
          </p:cNvPr>
          <p:cNvSpPr txBox="1"/>
          <p:nvPr/>
        </p:nvSpPr>
        <p:spPr>
          <a:xfrm>
            <a:off x="3631264" y="4215544"/>
            <a:ext cx="3534195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等待键盘输入</a:t>
            </a: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6813E226-AE60-0E42-8125-0F712A0428CF}"/>
              </a:ext>
            </a:extLst>
          </p:cNvPr>
          <p:cNvSpPr/>
          <p:nvPr/>
        </p:nvSpPr>
        <p:spPr>
          <a:xfrm>
            <a:off x="7253050" y="1728658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ACB44733-C2E8-DE4E-9831-E50F24E255EF}"/>
              </a:ext>
            </a:extLst>
          </p:cNvPr>
          <p:cNvSpPr/>
          <p:nvPr/>
        </p:nvSpPr>
        <p:spPr>
          <a:xfrm>
            <a:off x="7253050" y="2560400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0C5266E5-D4D9-A84B-B9BA-CC9C0154C703}"/>
              </a:ext>
            </a:extLst>
          </p:cNvPr>
          <p:cNvSpPr/>
          <p:nvPr/>
        </p:nvSpPr>
        <p:spPr>
          <a:xfrm>
            <a:off x="7253050" y="3387453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右大括号 38">
            <a:extLst>
              <a:ext uri="{FF2B5EF4-FFF2-40B4-BE49-F238E27FC236}">
                <a16:creationId xmlns:a16="http://schemas.microsoft.com/office/drawing/2014/main" id="{A62E0023-B689-864A-BECD-9E127B3FCA85}"/>
              </a:ext>
            </a:extLst>
          </p:cNvPr>
          <p:cNvSpPr/>
          <p:nvPr/>
        </p:nvSpPr>
        <p:spPr>
          <a:xfrm>
            <a:off x="7253050" y="4214506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58D83B-1251-F84E-8BB7-CD3E73326A62}"/>
              </a:ext>
            </a:extLst>
          </p:cNvPr>
          <p:cNvSpPr/>
          <p:nvPr/>
        </p:nvSpPr>
        <p:spPr>
          <a:xfrm>
            <a:off x="7464418" y="1890813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bootloader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703E84-ABA0-494B-A1F0-48A2F887E37E}"/>
              </a:ext>
            </a:extLst>
          </p:cNvPr>
          <p:cNvSpPr/>
          <p:nvPr/>
        </p:nvSpPr>
        <p:spPr>
          <a:xfrm>
            <a:off x="7464417" y="2703611"/>
            <a:ext cx="6719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kernel</a:t>
            </a:r>
            <a:endParaRPr lang="zh-CN" altLang="en-US" sz="1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F1CD53-690F-2644-B59F-D74878163C1A}"/>
              </a:ext>
            </a:extLst>
          </p:cNvPr>
          <p:cNvSpPr/>
          <p:nvPr/>
        </p:nvSpPr>
        <p:spPr>
          <a:xfrm>
            <a:off x="7442875" y="3516409"/>
            <a:ext cx="11304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err="1"/>
              <a:t>init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&amp;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loader</a:t>
            </a:r>
            <a:endParaRPr lang="zh-CN" altLang="en-US" sz="1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C6ED51-1CE6-7A40-B28E-8FF0DFF9D3F0}"/>
              </a:ext>
            </a:extLst>
          </p:cNvPr>
          <p:cNvSpPr/>
          <p:nvPr/>
        </p:nvSpPr>
        <p:spPr>
          <a:xfrm>
            <a:off x="7464418" y="4373311"/>
            <a:ext cx="553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shell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34867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CCD27-2B49-C948-B8CD-AC74D9A4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启动：一个复杂的过程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54406-708C-E94E-A140-60A71C6C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为什么用</a:t>
            </a:r>
            <a:r>
              <a:rPr kumimoji="1" lang="en-US" altLang="zh-CN" sz="2000" dirty="0"/>
              <a:t>“boot”</a:t>
            </a:r>
            <a:r>
              <a:rPr kumimoji="1" lang="zh-CN" altLang="en-US" sz="2000" dirty="0"/>
              <a:t>表示启动</a:t>
            </a:r>
            <a:r>
              <a:rPr kumimoji="1" lang="en-US" altLang="zh-CN" sz="2000" dirty="0"/>
              <a:t>?</a:t>
            </a:r>
          </a:p>
          <a:p>
            <a:pPr lvl="1"/>
            <a:r>
              <a:rPr kumimoji="1" lang="en-US" altLang="zh-CN" sz="2000" dirty="0"/>
              <a:t>Boot</a:t>
            </a:r>
            <a:r>
              <a:rPr kumimoji="1" lang="zh-CN" altLang="en-US" sz="2000" dirty="0"/>
              <a:t>源自</a:t>
            </a:r>
            <a:r>
              <a:rPr kumimoji="1" lang="en-US" altLang="zh-CN" sz="2000" dirty="0"/>
              <a:t>bootstrap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–</a:t>
            </a:r>
            <a:r>
              <a:rPr kumimoji="1" lang="zh-CN" altLang="en-US" sz="2000" dirty="0"/>
              <a:t> 鞋带</a:t>
            </a:r>
            <a:endParaRPr kumimoji="1" lang="en" altLang="zh-CN" sz="2000" dirty="0"/>
          </a:p>
          <a:p>
            <a:pPr lvl="1"/>
            <a:r>
              <a:rPr kumimoji="1" lang="en" altLang="zh-CN" sz="2000" dirty="0"/>
              <a:t>"pull oneself up by one's bootstraps"</a:t>
            </a:r>
          </a:p>
          <a:p>
            <a:pPr lvl="2"/>
            <a:r>
              <a:rPr kumimoji="1" lang="zh-CN" altLang="en" sz="1800" dirty="0"/>
              <a:t>通过</a:t>
            </a:r>
            <a:r>
              <a:rPr kumimoji="1" lang="zh-CN" altLang="en-US" sz="1800" dirty="0"/>
              <a:t>拽鞋带，把自己拉起来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DBE01-8D6E-7148-9DCE-97B7D3D5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2027CB3-9C3A-314B-B5D3-BBF55E5DA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417340"/>
            <a:ext cx="1963936" cy="164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91AF96B-3EAB-E045-A502-AB3314B7A619}"/>
              </a:ext>
            </a:extLst>
          </p:cNvPr>
          <p:cNvSpPr/>
          <p:nvPr/>
        </p:nvSpPr>
        <p:spPr>
          <a:xfrm>
            <a:off x="608268" y="3365836"/>
            <a:ext cx="7927464" cy="2031325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kumimoji="1" lang="en" altLang="zh-CN" i="1" dirty="0"/>
              <a:t>The computer term bootstrap began as a metaphor in the 1950s. In computers, pressing a bootstrap button caused a hardwired program to read a bootstrap program from an input unit. The computer would then execute the bootstrap program, which caused it to read more program instructions. It became a self-sustaining process that proceeded without external help from manually entered instructions. As a computing term, bootstrap has been used since at least 1953.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950536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2BE1-5258-C14D-95B6-5D15603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内核启动的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个主要任务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C31D6-7F7A-1040-B2F4-17299072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配置页表并开启虚拟内存机制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页表究竟改如何具体配置？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难点：开启地址翻译的前一行指令使用物理地址，开启后立即使用虚拟地址，前后如何衔接？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配置异常向量表并打开中断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异常向量表如何配置？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打开后，异常处理的指令流如何流动？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E4523-DF7F-C24D-B947-FC6257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109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内核代码加载与运行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913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AEBA5-2447-6C41-9187-8FEDCD24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真</a:t>
            </a:r>
            <a:r>
              <a:rPr kumimoji="1" lang="en-US" altLang="zh-CN" dirty="0"/>
              <a:t>·</a:t>
            </a:r>
            <a:r>
              <a:rPr kumimoji="1" lang="zh-CN" altLang="en-US" dirty="0"/>
              <a:t>第一行代码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ABAAD-4335-9144-8A5D-700C09B3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80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树莓派：上电后真正运行的第一行代码</a:t>
            </a:r>
            <a:endParaRPr lang="en-US" altLang="zh-CN" sz="2400" dirty="0"/>
          </a:p>
          <a:p>
            <a:pPr lvl="1"/>
            <a:r>
              <a:rPr lang="zh-CN" altLang="en-US" sz="2000" dirty="0"/>
              <a:t>板子上电后固定从</a:t>
            </a:r>
            <a:r>
              <a:rPr lang="en-US" altLang="zh-CN" sz="2000" dirty="0"/>
              <a:t>0x0</a:t>
            </a:r>
            <a:r>
              <a:rPr lang="zh-CN" altLang="en-US" sz="2000" dirty="0"/>
              <a:t>地址运行</a:t>
            </a:r>
            <a:r>
              <a:rPr lang="en" altLang="zh-CN" sz="2000" dirty="0"/>
              <a:t>firmware</a:t>
            </a:r>
            <a:r>
              <a:rPr lang="zh-CN" altLang="en-US" sz="2000" dirty="0"/>
              <a:t>（也称 </a:t>
            </a:r>
            <a:r>
              <a:rPr lang="en-US" altLang="zh-CN" sz="2000" dirty="0"/>
              <a:t>bootloader</a:t>
            </a:r>
            <a:r>
              <a:rPr lang="zh-CN" altLang="en-US" sz="2000" dirty="0"/>
              <a:t>）</a:t>
            </a:r>
            <a:endParaRPr lang="en" altLang="zh-CN" sz="2000" dirty="0"/>
          </a:p>
          <a:p>
            <a:pPr lvl="2"/>
            <a:r>
              <a:rPr lang="en-US" altLang="zh-CN" sz="1600" dirty="0"/>
              <a:t>firmware</a:t>
            </a:r>
            <a:r>
              <a:rPr lang="zh-CN" altLang="en" sz="1600" dirty="0"/>
              <a:t>可以</a:t>
            </a:r>
            <a:r>
              <a:rPr lang="zh-CN" altLang="en-US" sz="1600" dirty="0"/>
              <a:t>放在</a:t>
            </a:r>
            <a:r>
              <a:rPr lang="en" altLang="zh-CN" sz="1600" dirty="0"/>
              <a:t>NORFLASH</a:t>
            </a:r>
            <a:r>
              <a:rPr lang="zh-CN" altLang="en-US" sz="1600" dirty="0"/>
              <a:t>（一种存储介质）</a:t>
            </a:r>
            <a:r>
              <a:rPr lang="zh-CN" altLang="en" sz="1600" dirty="0"/>
              <a:t>中</a:t>
            </a:r>
            <a:endParaRPr lang="en-US" altLang="zh-CN" sz="1600" dirty="0"/>
          </a:p>
          <a:p>
            <a:pPr lvl="1"/>
            <a:r>
              <a:rPr lang="zh-CN" altLang="en-US" sz="2000" dirty="0"/>
              <a:t>然后再由这段代码去初始化</a:t>
            </a:r>
            <a:r>
              <a:rPr lang="en" altLang="zh-CN" sz="2000" dirty="0"/>
              <a:t>CPU</a:t>
            </a:r>
            <a:r>
              <a:rPr lang="zh-CN" altLang="en" sz="2000" dirty="0"/>
              <a:t>、</a:t>
            </a:r>
            <a:r>
              <a:rPr lang="en" altLang="zh-CN" sz="2000" dirty="0"/>
              <a:t>SDRAM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pPr lvl="1"/>
            <a:r>
              <a:rPr lang="zh-CN" altLang="en-US" sz="2000" dirty="0"/>
              <a:t>最后再加载内核、根文件系统到内存，实现系统启动</a:t>
            </a:r>
            <a:endParaRPr lang="en-US" altLang="zh-CN" sz="2000" dirty="0"/>
          </a:p>
          <a:p>
            <a:r>
              <a:rPr lang="zh-CN" altLang="en-US" sz="2400" dirty="0"/>
              <a:t>不同主板厂商的实现可以不同</a:t>
            </a:r>
            <a:endParaRPr lang="en-US" altLang="zh-CN" sz="2400" dirty="0"/>
          </a:p>
          <a:p>
            <a:pPr lvl="1"/>
            <a:r>
              <a:rPr lang="zh-CN" altLang="en-US" sz="2000" dirty="0"/>
              <a:t>这部分代码由主板厂商提供，使用人员通常不用关心</a:t>
            </a:r>
            <a:endParaRPr lang="en-US" altLang="zh-CN" sz="2000" dirty="0"/>
          </a:p>
          <a:p>
            <a:pPr lvl="1"/>
            <a:r>
              <a:rPr lang="zh-CN" altLang="en-US" sz="2000" dirty="0"/>
              <a:t>树莓派的启动比较特殊：第一行代码由</a:t>
            </a:r>
            <a:r>
              <a:rPr lang="en-US" altLang="zh-CN" sz="2000" dirty="0"/>
              <a:t>GPU</a:t>
            </a:r>
            <a:r>
              <a:rPr lang="zh-CN" altLang="en-US" sz="2000" dirty="0"/>
              <a:t>运行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不同版本的树莓派也可能不一样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5A469F-0C14-EB41-9548-D06E8401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92DEAB-112F-3B4E-8859-4C39902F4A73}"/>
              </a:ext>
            </a:extLst>
          </p:cNvPr>
          <p:cNvSpPr txBox="1"/>
          <p:nvPr/>
        </p:nvSpPr>
        <p:spPr>
          <a:xfrm>
            <a:off x="6251848" y="298311"/>
            <a:ext cx="2736304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注意：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ChCore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代码中也出现过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bootloader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，是指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boot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目录下的代码，与这里不同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51693BE6-46A8-D245-B6EA-7D77F5D62383}"/>
              </a:ext>
            </a:extLst>
          </p:cNvPr>
          <p:cNvCxnSpPr>
            <a:endCxn id="6" idx="2"/>
          </p:cNvCxnSpPr>
          <p:nvPr/>
        </p:nvCxnSpPr>
        <p:spPr>
          <a:xfrm flipV="1">
            <a:off x="7092280" y="1129308"/>
            <a:ext cx="527720" cy="79208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186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9A444E1-8766-D64D-9C95-E8E2C3A5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树莓派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92C23-3AF2-C644-92B8-3542C53D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51A7381C-566C-EC49-AA1B-9946A0FE4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825" y="692997"/>
            <a:ext cx="5987008" cy="440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10428F0-6C8C-9942-A546-AED2BEF65424}"/>
              </a:ext>
            </a:extLst>
          </p:cNvPr>
          <p:cNvSpPr/>
          <p:nvPr/>
        </p:nvSpPr>
        <p:spPr>
          <a:xfrm>
            <a:off x="2771800" y="4225652"/>
            <a:ext cx="1656184" cy="360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注意：是物理地址</a:t>
            </a:r>
            <a:endParaRPr lang="en-US" altLang="zh-CN" sz="1400" b="1" dirty="0">
              <a:solidFill>
                <a:schemeClr val="accent1"/>
              </a:solidFill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7699A65-AA38-FA4A-8436-9F87174DD936}"/>
              </a:ext>
            </a:extLst>
          </p:cNvPr>
          <p:cNvCxnSpPr>
            <a:cxnSpLocks/>
          </p:cNvCxnSpPr>
          <p:nvPr/>
        </p:nvCxnSpPr>
        <p:spPr>
          <a:xfrm flipV="1">
            <a:off x="4358960" y="4225653"/>
            <a:ext cx="213040" cy="18043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609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3FE34-58AD-4545-BFA6-3B38CB23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树莓派特殊的启动</a:t>
            </a:r>
            <a:r>
              <a:rPr kumimoji="1" lang="en-US" altLang="zh-CN" dirty="0"/>
              <a:t>3</a:t>
            </a:r>
            <a:r>
              <a:rPr kumimoji="1" lang="zh-CN" altLang="en-US" dirty="0"/>
              <a:t>阶段（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GPU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84E5B9-65D3-C54F-96B4-CCEAE232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800" dirty="0"/>
              <a:t>Step-1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/>
              <a:t>0x0</a:t>
            </a:r>
            <a:r>
              <a:rPr kumimoji="1" lang="zh-CN" altLang="en-US" sz="1800" dirty="0"/>
              <a:t>地址的</a:t>
            </a:r>
            <a:r>
              <a:rPr kumimoji="1" lang="en-US" altLang="zh-CN" sz="1800" dirty="0"/>
              <a:t>firmware</a:t>
            </a:r>
            <a:r>
              <a:rPr kumimoji="1" lang="zh-CN" altLang="en-US" sz="1800" dirty="0"/>
              <a:t>，将将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bootcode.bin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en-US" altLang="zh-CN" sz="1800" dirty="0"/>
              <a:t>Step-2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 err="1"/>
              <a:t>bootcode.bin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start.elf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en-US" altLang="zh-CN" sz="1800" dirty="0"/>
              <a:t>Step-3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 err="1"/>
              <a:t>start.elf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kernel.img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zh-CN" altLang="en-US" sz="2000" dirty="0"/>
              <a:t>然后，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 跳转到</a:t>
            </a:r>
            <a:r>
              <a:rPr kumimoji="1" lang="en-US" altLang="zh-CN" sz="2000" dirty="0" err="1"/>
              <a:t>kernel.img</a:t>
            </a:r>
            <a:r>
              <a:rPr kumimoji="1" lang="zh-CN" altLang="en-US" sz="2000" dirty="0"/>
              <a:t>，开始真正运行内核代码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7EB846-7F2F-D748-96F2-7DDA3523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613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2340A11-EDAE-844C-A381-5A5BBF2A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入口函数位置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B0068F-CB99-AF43-9A02-34084C21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CPU</a:t>
            </a:r>
            <a:r>
              <a:rPr lang="zh-CN" altLang="en-US" sz="2000" dirty="0"/>
              <a:t>从预定义的</a:t>
            </a:r>
            <a:r>
              <a:rPr lang="en-US" altLang="zh-CN" sz="2000" u="sng" dirty="0"/>
              <a:t>RAM</a:t>
            </a:r>
            <a:r>
              <a:rPr lang="zh-CN" altLang="en-US" sz="2000" u="sng" dirty="0"/>
              <a:t>地址</a:t>
            </a:r>
            <a:r>
              <a:rPr lang="zh-CN" altLang="en-US" sz="2000" dirty="0"/>
              <a:t>读取第一行代码，由硬件厂商决定</a:t>
            </a:r>
            <a:endParaRPr lang="en-US" altLang="zh-CN" sz="2000" dirty="0"/>
          </a:p>
          <a:p>
            <a:pPr lvl="1"/>
            <a:r>
              <a:rPr lang="zh-CN" altLang="en-US" sz="2000" dirty="0"/>
              <a:t>树莓派：</a:t>
            </a:r>
            <a:r>
              <a:rPr lang="en-US" altLang="zh-CN" sz="2000" dirty="0"/>
              <a:t>32</a:t>
            </a:r>
            <a:r>
              <a:rPr lang="zh-CN" altLang="en-US" sz="2000" dirty="0"/>
              <a:t>位为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0x8000</a:t>
            </a:r>
            <a:r>
              <a:rPr lang="zh-CN" altLang="en-US" sz="2000" dirty="0"/>
              <a:t>，</a:t>
            </a:r>
            <a:r>
              <a:rPr lang="en-US" altLang="zh-CN" sz="2000" dirty="0"/>
              <a:t>64</a:t>
            </a:r>
            <a:r>
              <a:rPr lang="zh-CN" altLang="en-US" sz="2000" dirty="0"/>
              <a:t>位为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0x80000</a:t>
            </a:r>
          </a:p>
          <a:p>
            <a:pPr lvl="1"/>
            <a:r>
              <a:rPr lang="en-US" altLang="zh-CN" sz="2000" dirty="0"/>
              <a:t>x86</a:t>
            </a:r>
            <a:r>
              <a:rPr lang="zh-CN" altLang="en-US" sz="2000" dirty="0"/>
              <a:t>：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0x7C00</a:t>
            </a:r>
            <a:endParaRPr lang="zh-CN" altLang="en-US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922210-27B9-F646-A320-177E0AA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D41CCC-B4EF-CB48-A408-1B6E1186D38D}"/>
              </a:ext>
            </a:extLst>
          </p:cNvPr>
          <p:cNvSpPr/>
          <p:nvPr/>
        </p:nvSpPr>
        <p:spPr>
          <a:xfrm>
            <a:off x="1187624" y="5142011"/>
            <a:ext cx="67687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hlinkClick r:id="rId2"/>
              </a:rPr>
              <a:t>https://www.raspberrypi.org/documentation/configuration/config-txt/boot.m</a:t>
            </a:r>
            <a:r>
              <a:rPr lang="en-US" altLang="zh-CN" sz="1400" dirty="0">
                <a:hlinkClick r:id="rId2"/>
              </a:rPr>
              <a:t>d</a:t>
            </a:r>
            <a:r>
              <a:rPr lang="zh-CN" altLang="en-US" sz="1400" dirty="0"/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3BBF31-F955-7344-92B1-331F6DEC1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091155"/>
            <a:ext cx="6768752" cy="1979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EBEAE0-3495-BB48-B3F8-34E07165980C}"/>
              </a:ext>
            </a:extLst>
          </p:cNvPr>
          <p:cNvSpPr txBox="1"/>
          <p:nvPr/>
        </p:nvSpPr>
        <p:spPr>
          <a:xfrm>
            <a:off x="3707904" y="790754"/>
            <a:ext cx="2016224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：这是什么地址？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969A150-EDEF-BB4A-8533-03942B6B3E7C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419872" y="960031"/>
            <a:ext cx="288032" cy="37347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311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86B71-8B09-FE4E-ACBD-68DFE2FC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启动代码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A5CB3D-EE06-E94F-9B17-45DF7E65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608E91-CF2B-E845-965D-63EC449C1FE3}"/>
              </a:ext>
            </a:extLst>
          </p:cNvPr>
          <p:cNvSpPr txBox="1"/>
          <p:nvPr/>
        </p:nvSpPr>
        <p:spPr>
          <a:xfrm>
            <a:off x="611560" y="1288834"/>
            <a:ext cx="80752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➜  chcore-lab </a:t>
            </a:r>
            <a:r>
              <a:rPr lang="en-US" altLang="zh-CN" dirty="0"/>
              <a:t>$</a:t>
            </a:r>
            <a:r>
              <a:rPr lang="zh-CN" altLang="en-US" dirty="0"/>
              <a:t>  cd boot</a:t>
            </a:r>
          </a:p>
          <a:p>
            <a:r>
              <a:rPr lang="zh-CN" altLang="en-US" dirty="0"/>
              <a:t>➜  boot </a:t>
            </a:r>
            <a:r>
              <a:rPr lang="en-US" altLang="zh-CN" dirty="0"/>
              <a:t>$</a:t>
            </a:r>
            <a:r>
              <a:rPr lang="zh-CN" altLang="en-US" dirty="0"/>
              <a:t> ls</a:t>
            </a:r>
          </a:p>
          <a:p>
            <a:r>
              <a:rPr lang="zh-CN" altLang="en-US" dirty="0"/>
              <a:t>boot.h       config.cmake image.h      init_c.c     mmu.c        start.S      tools.S      uart.c       uart.h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➜  boot </a:t>
            </a:r>
            <a:r>
              <a:rPr lang="en-US" altLang="zh-CN" dirty="0"/>
              <a:t>$</a:t>
            </a:r>
            <a:r>
              <a:rPr lang="zh-CN" altLang="en-US" dirty="0"/>
              <a:t> cd ../kernel</a:t>
            </a:r>
          </a:p>
          <a:p>
            <a:r>
              <a:rPr lang="zh-CN" altLang="en-US" dirty="0"/>
              <a:t>➜  kernel </a:t>
            </a:r>
            <a:r>
              <a:rPr lang="en-US" altLang="zh-CN" dirty="0"/>
              <a:t>$</a:t>
            </a:r>
            <a:r>
              <a:rPr lang="zh-CN" altLang="en-US" dirty="0"/>
              <a:t> ls</a:t>
            </a:r>
          </a:p>
          <a:p>
            <a:r>
              <a:rPr lang="zh-CN" altLang="en-US" dirty="0"/>
              <a:t>CMakeLists.txt exception      ipc            mm             process        syscall</a:t>
            </a:r>
          </a:p>
          <a:p>
            <a:r>
              <a:rPr lang="zh-CN" altLang="en-US" dirty="0"/>
              <a:t>common         head.S         main.c         monitor.c      sched          tests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8BCA0F-1EE4-2C45-8D80-F986C5273CAD}"/>
              </a:ext>
            </a:extLst>
          </p:cNvPr>
          <p:cNvSpPr/>
          <p:nvPr/>
        </p:nvSpPr>
        <p:spPr>
          <a:xfrm>
            <a:off x="539552" y="4033683"/>
            <a:ext cx="8075240" cy="11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两个涉及到的目录：</a:t>
            </a:r>
            <a:r>
              <a:rPr lang="en-US" altLang="zh-CN" b="1" dirty="0">
                <a:solidFill>
                  <a:schemeClr val="accent1"/>
                </a:solidFill>
              </a:rPr>
              <a:t>boot</a:t>
            </a:r>
            <a:r>
              <a:rPr lang="zh-CN" altLang="en-US" b="1" dirty="0">
                <a:solidFill>
                  <a:schemeClr val="accent1"/>
                </a:solidFill>
              </a:rPr>
              <a:t> 和 </a:t>
            </a:r>
            <a:r>
              <a:rPr lang="en-US" altLang="zh-CN" b="1" dirty="0">
                <a:solidFill>
                  <a:schemeClr val="accent1"/>
                </a:solidFill>
              </a:rPr>
              <a:t>kernel</a:t>
            </a: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boot</a:t>
            </a:r>
            <a:r>
              <a:rPr lang="zh-CN" altLang="en-US" sz="1600" dirty="0"/>
              <a:t>目录：编译后放在 </a:t>
            </a:r>
            <a:r>
              <a:rPr lang="en-US" altLang="zh-CN" sz="1600" dirty="0"/>
              <a:t>.</a:t>
            </a:r>
            <a:r>
              <a:rPr lang="en-US" altLang="zh-CN" sz="1600" dirty="0" err="1"/>
              <a:t>init</a:t>
            </a:r>
            <a:r>
              <a:rPr lang="zh-CN" altLang="en-US" sz="1600" dirty="0"/>
              <a:t> 段，低地址范围（有时也叫</a:t>
            </a:r>
            <a:r>
              <a:rPr lang="en-US" altLang="zh-CN" sz="1600" dirty="0"/>
              <a:t>bootloader</a:t>
            </a:r>
            <a:r>
              <a:rPr lang="zh-CN" altLang="en-US" sz="1600" dirty="0"/>
              <a:t>，再次注意不要混淆）</a:t>
            </a:r>
            <a:endParaRPr lang="en-US" altLang="zh-CN" sz="16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kernel</a:t>
            </a:r>
            <a:r>
              <a:rPr lang="zh-CN" altLang="en-US" sz="1600" dirty="0"/>
              <a:t>目录：编译后放在 </a:t>
            </a:r>
            <a:r>
              <a:rPr lang="en-US" altLang="zh-CN" sz="1600" dirty="0"/>
              <a:t>.text</a:t>
            </a:r>
            <a:r>
              <a:rPr lang="zh-CN" altLang="en-US" sz="1600" dirty="0"/>
              <a:t> 段，高地址范围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34746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4FD71-A67A-F44C-9B62-5EC08598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内核的起始地址（编译脚本）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5E430-2F08-914C-A042-BF8AE799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7EE8C-381C-2E44-AABE-15B245763B6F}"/>
              </a:ext>
            </a:extLst>
          </p:cNvPr>
          <p:cNvSpPr/>
          <p:nvPr/>
        </p:nvSpPr>
        <p:spPr>
          <a:xfrm>
            <a:off x="5430974" y="1279369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scripts/linker-aarch64.lds.in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1154B6-3E8C-9544-B90E-934D27859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40" y="1659154"/>
            <a:ext cx="4279900" cy="1727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EDF468A-0763-AB4C-BD94-B5B528E87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1659154"/>
            <a:ext cx="3086100" cy="304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B8E242F-D4AB-E84F-AD01-4935D248864C}"/>
              </a:ext>
            </a:extLst>
          </p:cNvPr>
          <p:cNvSpPr/>
          <p:nvPr/>
        </p:nvSpPr>
        <p:spPr>
          <a:xfrm>
            <a:off x="1310556" y="1276432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</a:t>
            </a:r>
            <a:r>
              <a:rPr lang="en-US" altLang="zh-CN" sz="1400" dirty="0" err="1">
                <a:solidFill>
                  <a:schemeClr val="accent1"/>
                </a:solidFill>
              </a:rPr>
              <a:t>image.h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9C1817E-9651-4347-A155-B83137086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40" y="3621304"/>
            <a:ext cx="4279900" cy="15121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C387EBC-59EE-1444-80E8-CD6AF7C14788}"/>
              </a:ext>
            </a:extLst>
          </p:cNvPr>
          <p:cNvSpPr/>
          <p:nvPr/>
        </p:nvSpPr>
        <p:spPr>
          <a:xfrm>
            <a:off x="1310556" y="5214019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solidFill>
                  <a:schemeClr val="accent1"/>
                </a:solidFill>
              </a:rPr>
              <a:t>CMakeLists.txt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ABCAD5A-E0C4-AE4C-9EFC-E5A01B5D7133}"/>
              </a:ext>
            </a:extLst>
          </p:cNvPr>
          <p:cNvCxnSpPr/>
          <p:nvPr/>
        </p:nvCxnSpPr>
        <p:spPr>
          <a:xfrm>
            <a:off x="6444208" y="3386354"/>
            <a:ext cx="12241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42105F5-01A9-0748-946A-A36E270B42F7}"/>
              </a:ext>
            </a:extLst>
          </p:cNvPr>
          <p:cNvSpPr txBox="1"/>
          <p:nvPr/>
        </p:nvSpPr>
        <p:spPr>
          <a:xfrm>
            <a:off x="5110133" y="4927630"/>
            <a:ext cx="3854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通过编译脚本控制内核二进制布局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7924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5E8F4-C451-3C4D-A1EA-CBABE5E5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内核运行的第一行代码：准备进入</a:t>
            </a:r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3B268A-5686-9C44-960C-ADA1E50D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332BEE-2884-E545-AE0C-4097A5FA9594}"/>
              </a:ext>
            </a:extLst>
          </p:cNvPr>
          <p:cNvSpPr/>
          <p:nvPr/>
        </p:nvSpPr>
        <p:spPr>
          <a:xfrm>
            <a:off x="1114637" y="540722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532131-A3D6-344D-8423-17E9381D88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129"/>
          <a:stretch/>
        </p:blipFill>
        <p:spPr>
          <a:xfrm>
            <a:off x="611560" y="1158461"/>
            <a:ext cx="5291100" cy="10574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C277F5-EB52-4745-8C49-ED0380A9D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54" y="2354187"/>
            <a:ext cx="4465743" cy="302094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6F9186D-95D8-3F48-9332-018F2D442152}"/>
              </a:ext>
            </a:extLst>
          </p:cNvPr>
          <p:cNvSpPr/>
          <p:nvPr/>
        </p:nvSpPr>
        <p:spPr>
          <a:xfrm>
            <a:off x="5292080" y="3036334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设置当前</a:t>
            </a:r>
            <a:r>
              <a:rPr lang="en-US" altLang="zh-CN" sz="1400" dirty="0">
                <a:solidFill>
                  <a:schemeClr val="accent1"/>
                </a:solidFill>
              </a:rPr>
              <a:t>EL</a:t>
            </a:r>
            <a:r>
              <a:rPr lang="zh-CN" altLang="en-US" sz="1400" dirty="0">
                <a:solidFill>
                  <a:schemeClr val="accent1"/>
                </a:solidFill>
              </a:rPr>
              <a:t>为</a:t>
            </a:r>
            <a:r>
              <a:rPr lang="en-US" altLang="zh-CN" sz="1400" dirty="0">
                <a:solidFill>
                  <a:schemeClr val="accent1"/>
                </a:solidFill>
              </a:rPr>
              <a:t>EL1</a:t>
            </a:r>
            <a:r>
              <a:rPr lang="zh-CN" altLang="en-US" sz="1400" dirty="0">
                <a:solidFill>
                  <a:schemeClr val="accent1"/>
                </a:solidFill>
              </a:rPr>
              <a:t>（内核的运行级）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7E9EA8-1297-3A42-A711-71516EFB272E}"/>
              </a:ext>
            </a:extLst>
          </p:cNvPr>
          <p:cNvSpPr/>
          <p:nvPr/>
        </p:nvSpPr>
        <p:spPr>
          <a:xfrm>
            <a:off x="5292080" y="3638358"/>
            <a:ext cx="32481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设置启动时用的栈（用于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的函数调用）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138DAD-3163-C34E-98EB-793E938B5C2E}"/>
              </a:ext>
            </a:extLst>
          </p:cNvPr>
          <p:cNvSpPr/>
          <p:nvPr/>
        </p:nvSpPr>
        <p:spPr>
          <a:xfrm>
            <a:off x="5292080" y="4248762"/>
            <a:ext cx="32481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跳转到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代码（返回地址保存在</a:t>
            </a:r>
            <a:r>
              <a:rPr lang="en-US" altLang="zh-CN" sz="1400" dirty="0">
                <a:solidFill>
                  <a:schemeClr val="accent1"/>
                </a:solidFill>
              </a:rPr>
              <a:t>X30</a:t>
            </a:r>
            <a:r>
              <a:rPr lang="zh-CN" altLang="en-US" sz="1400" dirty="0">
                <a:solidFill>
                  <a:schemeClr val="accent1"/>
                </a:solidFill>
              </a:rPr>
              <a:t>寄存器中）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F339B74-BBE0-E147-95AC-17A27AC841F3}"/>
              </a:ext>
            </a:extLst>
          </p:cNvPr>
          <p:cNvCxnSpPr/>
          <p:nvPr/>
        </p:nvCxnSpPr>
        <p:spPr>
          <a:xfrm flipH="1">
            <a:off x="1259632" y="2065412"/>
            <a:ext cx="792088" cy="43204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2EA8170-5A92-504E-9C5F-074A49272DD9}"/>
              </a:ext>
            </a:extLst>
          </p:cNvPr>
          <p:cNvSpPr/>
          <p:nvPr/>
        </p:nvSpPr>
        <p:spPr>
          <a:xfrm>
            <a:off x="6143836" y="1426534"/>
            <a:ext cx="2952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初始时</a:t>
            </a:r>
            <a:r>
              <a:rPr lang="en-US" altLang="zh-CN" sz="1400" dirty="0">
                <a:solidFill>
                  <a:schemeClr val="accent1"/>
                </a:solidFill>
              </a:rPr>
              <a:t>CPU</a:t>
            </a:r>
            <a:r>
              <a:rPr lang="zh-CN" altLang="en-US" sz="1400" dirty="0">
                <a:solidFill>
                  <a:schemeClr val="accent1"/>
                </a:solidFill>
              </a:rPr>
              <a:t>运行在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</a:p>
          <a:p>
            <a:r>
              <a:rPr lang="zh-CN" altLang="en-US" sz="1400" dirty="0">
                <a:solidFill>
                  <a:schemeClr val="accent1"/>
                </a:solidFill>
              </a:rPr>
              <a:t>（由硬件厂商决定）</a:t>
            </a:r>
          </a:p>
        </p:txBody>
      </p:sp>
    </p:spTree>
    <p:extLst>
      <p:ext uri="{BB962C8B-B14F-4D97-AF65-F5344CB8AC3E}">
        <p14:creationId xmlns:p14="http://schemas.microsoft.com/office/powerpoint/2010/main" val="3503271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7A227D-CD0A-3549-827C-BF49AE87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788BAF-6DD0-4D4A-82FB-327944397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12" y="481236"/>
            <a:ext cx="3988091" cy="309634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6E8EE29-4AE4-7B49-88A5-3B9C741D92C2}"/>
              </a:ext>
            </a:extLst>
          </p:cNvPr>
          <p:cNvSpPr/>
          <p:nvPr/>
        </p:nvSpPr>
        <p:spPr>
          <a:xfrm>
            <a:off x="4716016" y="1241923"/>
            <a:ext cx="3608252" cy="624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树莓派启动后，</a:t>
            </a:r>
            <a:r>
              <a:rPr lang="en-US" altLang="zh-CN" sz="1400" dirty="0">
                <a:solidFill>
                  <a:schemeClr val="accent1"/>
                </a:solidFill>
              </a:rPr>
              <a:t>CPU</a:t>
            </a:r>
            <a:r>
              <a:rPr lang="zh-CN" altLang="en-US" sz="1400" dirty="0">
                <a:solidFill>
                  <a:schemeClr val="accent1"/>
                </a:solidFill>
              </a:rPr>
              <a:t>运行在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（后面代码起作用的主要是</a:t>
            </a:r>
            <a:r>
              <a:rPr lang="en-US" altLang="zh-CN" sz="1400" dirty="0">
                <a:solidFill>
                  <a:schemeClr val="accent1"/>
                </a:solidFill>
              </a:rPr>
              <a:t>_el3</a:t>
            </a:r>
            <a:r>
              <a:rPr lang="zh-CN" altLang="en-US" sz="1400" dirty="0">
                <a:solidFill>
                  <a:schemeClr val="accent1"/>
                </a:solidFill>
              </a:rPr>
              <a:t>相关部分）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B69D3-ACE0-3C4E-9838-B42AB7F4CBDE}"/>
              </a:ext>
            </a:extLst>
          </p:cNvPr>
          <p:cNvSpPr/>
          <p:nvPr/>
        </p:nvSpPr>
        <p:spPr>
          <a:xfrm>
            <a:off x="1369173" y="5296962"/>
            <a:ext cx="615264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hlinkClick r:id="rId3"/>
              </a:rPr>
              <a:t>https://github.com/s-matyukevich/raspberry-pi-os/blob/master/docs/lesson02/rpi-os.md</a:t>
            </a:r>
            <a:r>
              <a:rPr lang="zh-CN" altLang="en-US" sz="1100" dirty="0"/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C18354-71EE-0241-BCC3-0F457857F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0" y="3601362"/>
            <a:ext cx="3995566" cy="10926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FB86EF7-F4CB-C644-8DD4-F0EB6F6A6CC4}"/>
              </a:ext>
            </a:extLst>
          </p:cNvPr>
          <p:cNvSpPr/>
          <p:nvPr/>
        </p:nvSpPr>
        <p:spPr>
          <a:xfrm>
            <a:off x="4716016" y="2029408"/>
            <a:ext cx="3969272" cy="34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</a:t>
            </a:r>
            <a:r>
              <a:rPr lang="en-US" altLang="zh-CN" sz="1400" dirty="0">
                <a:solidFill>
                  <a:schemeClr val="accent1"/>
                </a:solidFill>
              </a:rPr>
              <a:t>scr_el3</a:t>
            </a:r>
            <a:r>
              <a:rPr lang="zh-CN" altLang="en-US" sz="1400" dirty="0">
                <a:solidFill>
                  <a:schemeClr val="accent1"/>
                </a:solidFill>
              </a:rPr>
              <a:t>寄存器：</a:t>
            </a:r>
            <a:r>
              <a:rPr lang="en-US" altLang="zh-CN" sz="1400" dirty="0">
                <a:solidFill>
                  <a:schemeClr val="accent1"/>
                </a:solidFill>
              </a:rPr>
              <a:t>NS</a:t>
            </a:r>
            <a:r>
              <a:rPr lang="zh-CN" altLang="en-US" sz="1400" dirty="0">
                <a:solidFill>
                  <a:schemeClr val="accent1"/>
                </a:solidFill>
              </a:rPr>
              <a:t>、</a:t>
            </a:r>
            <a:r>
              <a:rPr lang="en-US" altLang="zh-CN" sz="1400" dirty="0">
                <a:solidFill>
                  <a:schemeClr val="accent1"/>
                </a:solidFill>
              </a:rPr>
              <a:t>HCE</a:t>
            </a:r>
            <a:r>
              <a:rPr lang="zh-CN" altLang="en-US" sz="1400" dirty="0">
                <a:solidFill>
                  <a:schemeClr val="accent1"/>
                </a:solidFill>
              </a:rPr>
              <a:t>、</a:t>
            </a:r>
            <a:r>
              <a:rPr lang="en-US" altLang="zh-CN" sz="1400" dirty="0">
                <a:solidFill>
                  <a:schemeClr val="accent1"/>
                </a:solidFill>
              </a:rPr>
              <a:t>RW</a:t>
            </a:r>
            <a:r>
              <a:rPr lang="zh-CN" altLang="en-US" sz="1400" dirty="0">
                <a:solidFill>
                  <a:schemeClr val="accent1"/>
                </a:solidFill>
              </a:rPr>
              <a:t>（后一页）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86EB73-8908-AD48-8661-A33C51574062}"/>
              </a:ext>
            </a:extLst>
          </p:cNvPr>
          <p:cNvSpPr/>
          <p:nvPr/>
        </p:nvSpPr>
        <p:spPr>
          <a:xfrm>
            <a:off x="4716016" y="2497460"/>
            <a:ext cx="398809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为</a:t>
            </a:r>
            <a:r>
              <a:rPr lang="en-US" altLang="zh-CN" sz="1400" dirty="0" err="1">
                <a:solidFill>
                  <a:schemeClr val="accent1"/>
                </a:solidFill>
              </a:rPr>
              <a:t>eret</a:t>
            </a:r>
            <a:r>
              <a:rPr lang="zh-CN" altLang="en-US" sz="1400" dirty="0">
                <a:solidFill>
                  <a:schemeClr val="accent1"/>
                </a:solidFill>
              </a:rPr>
              <a:t>做准备：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1.</a:t>
            </a:r>
            <a:r>
              <a:rPr lang="zh-CN" altLang="en-US" sz="1400" dirty="0">
                <a:solidFill>
                  <a:schemeClr val="accent1"/>
                </a:solidFill>
              </a:rPr>
              <a:t> 设置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  <a:r>
              <a:rPr lang="zh-CN" altLang="en-US" sz="1400" dirty="0">
                <a:solidFill>
                  <a:schemeClr val="accent1"/>
                </a:solidFill>
              </a:rPr>
              <a:t>的</a:t>
            </a:r>
            <a:r>
              <a:rPr lang="en-US" altLang="zh-CN" sz="1400" dirty="0">
                <a:solidFill>
                  <a:schemeClr val="accent1"/>
                </a:solidFill>
              </a:rPr>
              <a:t>exception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link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register</a:t>
            </a:r>
            <a:r>
              <a:rPr lang="zh-CN" altLang="en-US" sz="1400" dirty="0">
                <a:solidFill>
                  <a:schemeClr val="accent1"/>
                </a:solidFill>
              </a:rPr>
              <a:t>（返回地址）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2.</a:t>
            </a:r>
            <a:r>
              <a:rPr lang="zh-CN" altLang="en-US" sz="1400" dirty="0">
                <a:solidFill>
                  <a:schemeClr val="accent1"/>
                </a:solidFill>
              </a:rPr>
              <a:t> 设置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  <a:r>
              <a:rPr lang="zh-CN" altLang="en-US" sz="1400" dirty="0">
                <a:solidFill>
                  <a:schemeClr val="accent1"/>
                </a:solidFill>
              </a:rPr>
              <a:t>的状态寄存器</a:t>
            </a:r>
            <a:r>
              <a:rPr lang="en-US" altLang="zh-CN" sz="1400" dirty="0">
                <a:solidFill>
                  <a:schemeClr val="accent1"/>
                </a:solidFill>
              </a:rPr>
              <a:t>SPSR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D: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debug;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A: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error;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interrupt;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fast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interrupt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D45E4B-F2BB-0A44-BD45-7C5971A42AE1}"/>
              </a:ext>
            </a:extLst>
          </p:cNvPr>
          <p:cNvSpPr/>
          <p:nvPr/>
        </p:nvSpPr>
        <p:spPr>
          <a:xfrm>
            <a:off x="4734439" y="3746356"/>
            <a:ext cx="3988090" cy="623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/>
                </a:solidFill>
              </a:rPr>
              <a:t>isb</a:t>
            </a:r>
            <a:r>
              <a:rPr lang="en-US" altLang="zh-CN" sz="1400" dirty="0">
                <a:solidFill>
                  <a:schemeClr val="accent1"/>
                </a:solidFill>
              </a:rPr>
              <a:t>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memory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barrier</a:t>
            </a:r>
            <a:r>
              <a:rPr lang="zh-CN" altLang="en-US" sz="1400" dirty="0">
                <a:solidFill>
                  <a:schemeClr val="accent1"/>
                </a:solidFill>
              </a:rPr>
              <a:t>，保证顺序执行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/>
                </a:solidFill>
              </a:rPr>
              <a:t>eret</a:t>
            </a:r>
            <a:r>
              <a:rPr lang="zh-CN" altLang="en-US" sz="1400" dirty="0">
                <a:solidFill>
                  <a:schemeClr val="accent1"/>
                </a:solidFill>
              </a:rPr>
              <a:t>，跳到 </a:t>
            </a:r>
            <a:r>
              <a:rPr lang="en-US" altLang="zh-CN" sz="1400" dirty="0">
                <a:solidFill>
                  <a:schemeClr val="accent1"/>
                </a:solidFill>
              </a:rPr>
              <a:t>.</a:t>
            </a:r>
            <a:r>
              <a:rPr lang="en-US" altLang="zh-CN" sz="1400" dirty="0" err="1">
                <a:solidFill>
                  <a:schemeClr val="accent1"/>
                </a:solidFill>
              </a:rPr>
              <a:t>Ltarget</a:t>
            </a:r>
            <a:r>
              <a:rPr lang="zh-CN" altLang="en-US" sz="1400" dirty="0">
                <a:solidFill>
                  <a:schemeClr val="accent1"/>
                </a:solidFill>
              </a:rPr>
              <a:t>，同时进入</a:t>
            </a:r>
            <a:r>
              <a:rPr lang="en-US" altLang="zh-CN" sz="1400" dirty="0">
                <a:solidFill>
                  <a:schemeClr val="accent1"/>
                </a:solidFill>
              </a:rPr>
              <a:t>EL1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DD62A6-3027-3B41-B973-E1BB0719FAE1}"/>
              </a:ext>
            </a:extLst>
          </p:cNvPr>
          <p:cNvSpPr/>
          <p:nvPr/>
        </p:nvSpPr>
        <p:spPr>
          <a:xfrm>
            <a:off x="4734439" y="4433387"/>
            <a:ext cx="3988090" cy="34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ret:</a:t>
            </a:r>
            <a:r>
              <a:rPr lang="zh-CN" altLang="en-US" sz="1400" dirty="0">
                <a:solidFill>
                  <a:schemeClr val="accent1"/>
                </a:solidFill>
              </a:rPr>
              <a:t> 返回到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r>
              <a:rPr lang="zh-CN" altLang="en-US" sz="1400" dirty="0">
                <a:solidFill>
                  <a:schemeClr val="accent1"/>
                </a:solidFill>
              </a:rPr>
              <a:t>的</a:t>
            </a:r>
            <a:r>
              <a:rPr lang="en-US" altLang="zh-CN" sz="1400" dirty="0">
                <a:solidFill>
                  <a:schemeClr val="accent1"/>
                </a:solidFill>
              </a:rPr>
              <a:t>50</a:t>
            </a:r>
            <a:r>
              <a:rPr lang="zh-CN" altLang="en-US" sz="1400" dirty="0">
                <a:solidFill>
                  <a:schemeClr val="accent1"/>
                </a:solidFill>
              </a:rPr>
              <a:t>行</a:t>
            </a:r>
          </a:p>
        </p:txBody>
      </p:sp>
    </p:spTree>
    <p:extLst>
      <p:ext uri="{BB962C8B-B14F-4D97-AF65-F5344CB8AC3E}">
        <p14:creationId xmlns:p14="http://schemas.microsoft.com/office/powerpoint/2010/main" val="2228300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C9EE9-6A6D-1B46-8F2D-C7C372F0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2A9935-1D8F-3143-8AF3-D3026C85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9228"/>
            <a:ext cx="7064352" cy="457381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7B8B97D-5CF5-524C-B4B9-2695DB98631D}"/>
              </a:ext>
            </a:extLst>
          </p:cNvPr>
          <p:cNvSpPr/>
          <p:nvPr/>
        </p:nvSpPr>
        <p:spPr>
          <a:xfrm>
            <a:off x="152400" y="5291916"/>
            <a:ext cx="883919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100" dirty="0">
                <a:hlinkClick r:id="rId3"/>
              </a:rPr>
              <a:t>https://developer.arm.com/documentation/ddi0500/j/System-Control/AArch64-register-descriptions/Secure-Configuration-Registe</a:t>
            </a:r>
            <a:r>
              <a:rPr lang="en-US" altLang="zh-CN" sz="1100" dirty="0">
                <a:hlinkClick r:id="rId3"/>
              </a:rPr>
              <a:t>r</a:t>
            </a:r>
            <a:r>
              <a:rPr lang="zh-CN" alt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0143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37DBE-68EA-8145-A711-37E18EA0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E9620880-07B0-1D40-8F85-469EF4EE4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446884"/>
              </p:ext>
            </p:extLst>
          </p:nvPr>
        </p:nvGraphicFramePr>
        <p:xfrm>
          <a:off x="457400" y="1345332"/>
          <a:ext cx="8358100" cy="3611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43591">
                  <a:extLst>
                    <a:ext uri="{9D8B030D-6E8A-4147-A177-3AD203B41FA5}">
                      <a16:colId xmlns:a16="http://schemas.microsoft.com/office/drawing/2014/main" val="2234072043"/>
                    </a:ext>
                  </a:extLst>
                </a:gridCol>
                <a:gridCol w="377838">
                  <a:extLst>
                    <a:ext uri="{9D8B030D-6E8A-4147-A177-3AD203B41FA5}">
                      <a16:colId xmlns:a16="http://schemas.microsoft.com/office/drawing/2014/main" val="74071782"/>
                    </a:ext>
                  </a:extLst>
                </a:gridCol>
                <a:gridCol w="6936671">
                  <a:extLst>
                    <a:ext uri="{9D8B030D-6E8A-4147-A177-3AD203B41FA5}">
                      <a16:colId xmlns:a16="http://schemas.microsoft.com/office/drawing/2014/main" val="3876307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Bit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V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Semantic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10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[10]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RW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 width control for lower exception levels.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8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levels are all AArch32.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The next lower level is AArch64.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0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[8]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HCE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Call enable. This bit enables the use of HVC instructions.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00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HVC instruction is undefined at all exception levels.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The HVC instruction is enabled at EL1, EL2 or EL3.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7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[0]</a:t>
                      </a: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NS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Non-secure bit. The possible values are.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68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EL0 and EL1 are in Secure state, memory accesses from those exception levels can access Secure memory.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EL0 and EL1 are in Non-secure state, memory accesses from those exception levels cannot access Secure memory.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653910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C587F889-D544-514A-8C92-08F9877B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702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38FF88-4046-9A47-8392-A9C20AD8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2F0DFD-2F0C-9747-8EC0-51037A908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593361"/>
            <a:ext cx="3816424" cy="11521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0E7705D-EE0E-B649-B48B-CBE79AE3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593361"/>
            <a:ext cx="3684191" cy="252028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F328D39-9BE5-274B-9B93-4F5EC06EE124}"/>
              </a:ext>
            </a:extLst>
          </p:cNvPr>
          <p:cNvSpPr/>
          <p:nvPr/>
        </p:nvSpPr>
        <p:spPr>
          <a:xfrm>
            <a:off x="4883695" y="213234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</a:t>
            </a:r>
            <a:r>
              <a:rPr lang="en-US" altLang="zh-CN" sz="1400" dirty="0" err="1">
                <a:solidFill>
                  <a:schemeClr val="accent1"/>
                </a:solidFill>
              </a:rPr>
              <a:t>init_c.c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9FCF5C-E030-8046-9EA1-9FB44D9B7CD5}"/>
              </a:ext>
            </a:extLst>
          </p:cNvPr>
          <p:cNvSpPr/>
          <p:nvPr/>
        </p:nvSpPr>
        <p:spPr>
          <a:xfrm>
            <a:off x="755575" y="21323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5942792-90D3-CF44-9B9C-1F4CD5E58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1817839"/>
            <a:ext cx="3816424" cy="368392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97BEC87-D5A4-A247-8AC5-F09E7AEF3361}"/>
              </a:ext>
            </a:extLst>
          </p:cNvPr>
          <p:cNvSpPr/>
          <p:nvPr/>
        </p:nvSpPr>
        <p:spPr>
          <a:xfrm>
            <a:off x="459609" y="3577580"/>
            <a:ext cx="3988090" cy="964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设置栈为</a:t>
            </a:r>
            <a:r>
              <a:rPr lang="en-US" altLang="zh-CN" sz="1400" dirty="0" err="1">
                <a:solidFill>
                  <a:schemeClr val="accent1"/>
                </a:solidFill>
              </a:rPr>
              <a:t>boot_cpu_stack</a:t>
            </a:r>
            <a:r>
              <a:rPr lang="zh-CN" altLang="en-US" sz="1400" dirty="0">
                <a:solidFill>
                  <a:schemeClr val="accent1"/>
                </a:solidFill>
              </a:rPr>
              <a:t>，之后就可以调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函数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问：为什么调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函数之前要设置栈？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问：栈的大小是多少？为什么够？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0733B21-C060-5244-9303-9984497E266D}"/>
              </a:ext>
            </a:extLst>
          </p:cNvPr>
          <p:cNvCxnSpPr>
            <a:cxnSpLocks/>
          </p:cNvCxnSpPr>
          <p:nvPr/>
        </p:nvCxnSpPr>
        <p:spPr>
          <a:xfrm flipV="1">
            <a:off x="1835696" y="2065412"/>
            <a:ext cx="2880320" cy="36004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066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08F2EC-F6AE-0F49-B2B5-00AF8585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547D3B-D173-C646-AA1C-73A90B7D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0324"/>
            <a:ext cx="4454872" cy="267135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5A59DF98-19D6-9344-9186-229A6052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从 </a:t>
            </a:r>
            <a:r>
              <a:rPr kumimoji="1" lang="en-US" altLang="zh-CN" dirty="0"/>
              <a:t>/boot</a:t>
            </a:r>
            <a:r>
              <a:rPr kumimoji="1" lang="zh-CN" altLang="en-US" dirty="0"/>
              <a:t> 到 </a:t>
            </a:r>
            <a:r>
              <a:rPr kumimoji="1" lang="en-US" altLang="zh-CN" dirty="0"/>
              <a:t>/kernel</a:t>
            </a:r>
            <a:r>
              <a:rPr kumimoji="1" lang="zh-CN" altLang="en-US" dirty="0"/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D34C7-45F4-6F45-9F71-1F7D92D844D5}"/>
              </a:ext>
            </a:extLst>
          </p:cNvPr>
          <p:cNvSpPr/>
          <p:nvPr/>
        </p:nvSpPr>
        <p:spPr>
          <a:xfrm>
            <a:off x="822412" y="4560948"/>
            <a:ext cx="7499176" cy="45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 err="1">
                <a:solidFill>
                  <a:schemeClr val="accent1"/>
                </a:solidFill>
              </a:rPr>
              <a:t>start_kernel</a:t>
            </a:r>
            <a:r>
              <a:rPr lang="zh-CN" altLang="en-US" sz="2000" dirty="0">
                <a:solidFill>
                  <a:schemeClr val="accent1"/>
                </a:solidFill>
              </a:rPr>
              <a:t>位于高地址段：</a:t>
            </a:r>
            <a:r>
              <a:rPr lang="en" altLang="zh-CN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0xffffff0000000000</a:t>
            </a:r>
            <a:r>
              <a:rPr lang="zh-CN" altLang="en-US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20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init_end</a:t>
            </a:r>
            <a:endParaRPr lang="zh-CN" altLang="en-US" sz="2000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7BE6FD-9883-2342-A38B-57463ECF1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948" y="1770323"/>
            <a:ext cx="3373884" cy="267135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3557F5-FB9F-3149-A4DA-479152F1F550}"/>
              </a:ext>
            </a:extLst>
          </p:cNvPr>
          <p:cNvSpPr/>
          <p:nvPr/>
        </p:nvSpPr>
        <p:spPr>
          <a:xfrm>
            <a:off x="5473080" y="1409516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scripts/linker-aarch64.lds.in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8A6818-E05B-5C4C-ACA7-C14BEA3B8F4B}"/>
              </a:ext>
            </a:extLst>
          </p:cNvPr>
          <p:cNvSpPr/>
          <p:nvPr/>
        </p:nvSpPr>
        <p:spPr>
          <a:xfrm>
            <a:off x="971600" y="1409517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</a:t>
            </a:r>
            <a:r>
              <a:rPr lang="en-US" altLang="zh-CN" sz="1400" dirty="0" err="1">
                <a:solidFill>
                  <a:schemeClr val="accent1"/>
                </a:solidFill>
              </a:rPr>
              <a:t>head.S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FC413-2C5E-1E42-927A-444D09082FD2}"/>
              </a:ext>
            </a:extLst>
          </p:cNvPr>
          <p:cNvSpPr/>
          <p:nvPr/>
        </p:nvSpPr>
        <p:spPr>
          <a:xfrm>
            <a:off x="467544" y="5123799"/>
            <a:ext cx="8164288" cy="45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accent1"/>
                </a:solidFill>
                <a:highlight>
                  <a:srgbClr val="FFFF00"/>
                </a:highlight>
              </a:rPr>
              <a:t>问：运行</a:t>
            </a:r>
            <a:r>
              <a:rPr lang="en-US" altLang="zh-CN" sz="2000" dirty="0" err="1">
                <a:solidFill>
                  <a:schemeClr val="accent1"/>
                </a:solidFill>
                <a:highlight>
                  <a:srgbClr val="FFFF00"/>
                </a:highlight>
              </a:rPr>
              <a:t>start_kernel</a:t>
            </a:r>
            <a:r>
              <a:rPr lang="zh-CN" altLang="en-US" sz="2000" dirty="0">
                <a:solidFill>
                  <a:schemeClr val="accent1"/>
                </a:solidFill>
                <a:highlight>
                  <a:srgbClr val="FFFF00"/>
                </a:highlight>
              </a:rPr>
              <a:t>之前是低地址段，为什么可以直接跳到高地址段？</a:t>
            </a:r>
            <a:endParaRPr lang="zh-CN" altLang="en-US" sz="2000" dirty="0">
              <a:solidFill>
                <a:schemeClr val="accent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86BBF25-4491-9647-8DBB-C0401E4A7F25}"/>
              </a:ext>
            </a:extLst>
          </p:cNvPr>
          <p:cNvCxnSpPr>
            <a:cxnSpLocks/>
          </p:cNvCxnSpPr>
          <p:nvPr/>
        </p:nvCxnSpPr>
        <p:spPr>
          <a:xfrm flipH="1">
            <a:off x="5940152" y="4153644"/>
            <a:ext cx="2499450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52DBC07-1B33-3D45-8084-02A0D5D90A7E}"/>
              </a:ext>
            </a:extLst>
          </p:cNvPr>
          <p:cNvCxnSpPr>
            <a:cxnSpLocks/>
          </p:cNvCxnSpPr>
          <p:nvPr/>
        </p:nvCxnSpPr>
        <p:spPr>
          <a:xfrm>
            <a:off x="6949244" y="4153643"/>
            <a:ext cx="0" cy="46119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70010295-17BC-5F49-9076-D8AAFCC01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219022"/>
            <a:ext cx="2492135" cy="1005728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DEDAAAB-2908-484D-90D0-261BF51316F8}"/>
              </a:ext>
            </a:extLst>
          </p:cNvPr>
          <p:cNvCxnSpPr>
            <a:cxnSpLocks/>
          </p:cNvCxnSpPr>
          <p:nvPr/>
        </p:nvCxnSpPr>
        <p:spPr>
          <a:xfrm flipH="1">
            <a:off x="6920649" y="955704"/>
            <a:ext cx="1877874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CDCE9F3-7CB8-C546-9622-006A8ACAC204}"/>
              </a:ext>
            </a:extLst>
          </p:cNvPr>
          <p:cNvCxnSpPr>
            <a:cxnSpLocks/>
          </p:cNvCxnSpPr>
          <p:nvPr/>
        </p:nvCxnSpPr>
        <p:spPr>
          <a:xfrm flipH="1">
            <a:off x="899592" y="3793604"/>
            <a:ext cx="2567565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2C5D8A3-6095-6545-9ABB-BF8FE25ED49E}"/>
              </a:ext>
            </a:extLst>
          </p:cNvPr>
          <p:cNvSpPr txBox="1"/>
          <p:nvPr/>
        </p:nvSpPr>
        <p:spPr>
          <a:xfrm>
            <a:off x="3491881" y="3562771"/>
            <a:ext cx="1584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换栈：高地址区域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B2C4487-1595-F34C-91D7-18DFB425BBFC}"/>
              </a:ext>
            </a:extLst>
          </p:cNvPr>
          <p:cNvSpPr/>
          <p:nvPr/>
        </p:nvSpPr>
        <p:spPr>
          <a:xfrm>
            <a:off x="6012160" y="3793604"/>
            <a:ext cx="908489" cy="21602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B608B69-9C89-4E43-BEFD-2A473C996F1E}"/>
              </a:ext>
            </a:extLst>
          </p:cNvPr>
          <p:cNvCxnSpPr>
            <a:stCxn id="2" idx="7"/>
          </p:cNvCxnSpPr>
          <p:nvPr/>
        </p:nvCxnSpPr>
        <p:spPr>
          <a:xfrm flipV="1">
            <a:off x="6787604" y="955704"/>
            <a:ext cx="1844228" cy="286953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76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页表初始化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68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3D0C4E0-4592-554D-B5AF-F448BEE3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45332"/>
            <a:ext cx="3919062" cy="40063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ADA577-4119-3145-B8FE-D6D7C682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90" y="1345332"/>
            <a:ext cx="4710038" cy="4006347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DC68961D-59A8-5440-935D-5723DD26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回到 </a:t>
            </a:r>
            <a:r>
              <a:rPr kumimoji="1" lang="en-US" altLang="zh-CN" dirty="0" err="1"/>
              <a:t>init_c</a:t>
            </a:r>
            <a:r>
              <a:rPr kumimoji="1" lang="zh-CN" altLang="en-US" dirty="0"/>
              <a:t>：页表初始化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707BD6C-7CBE-494B-98EB-CFAC25275ED6}"/>
              </a:ext>
            </a:extLst>
          </p:cNvPr>
          <p:cNvSpPr/>
          <p:nvPr/>
        </p:nvSpPr>
        <p:spPr>
          <a:xfrm>
            <a:off x="6660232" y="3382846"/>
            <a:ext cx="936104" cy="410758"/>
          </a:xfrm>
          <a:prstGeom prst="ellipse">
            <a:avLst/>
          </a:prstGeom>
          <a:noFill/>
          <a:ln w="127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A7B0CA-A680-3A4A-AA86-8183EDF0D42D}"/>
              </a:ext>
            </a:extLst>
          </p:cNvPr>
          <p:cNvSpPr txBox="1"/>
          <p:nvPr/>
        </p:nvSpPr>
        <p:spPr>
          <a:xfrm>
            <a:off x="7595241" y="3434336"/>
            <a:ext cx="11532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为什么是</a:t>
            </a:r>
            <a:r>
              <a:rPr lang="en-US" altLang="zh-CN" sz="1200" dirty="0">
                <a:solidFill>
                  <a:srgbClr val="FFFF00"/>
                </a:solidFill>
              </a:rPr>
              <a:t>2M</a:t>
            </a:r>
            <a:r>
              <a:rPr lang="zh-CN" altLang="en-US" sz="1200" dirty="0">
                <a:solidFill>
                  <a:srgbClr val="FFFF00"/>
                </a:solidFill>
              </a:rPr>
              <a:t>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128970-6040-1E48-B489-186F4D91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809" y="228866"/>
            <a:ext cx="2810863" cy="133541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C2213BD-5FE9-7245-91DC-B08577955233}"/>
              </a:ext>
            </a:extLst>
          </p:cNvPr>
          <p:cNvSpPr txBox="1"/>
          <p:nvPr/>
        </p:nvSpPr>
        <p:spPr>
          <a:xfrm>
            <a:off x="6588224" y="4988085"/>
            <a:ext cx="2449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设置</a:t>
            </a:r>
            <a:r>
              <a:rPr lang="en-US" altLang="zh-CN" sz="1200" dirty="0">
                <a:solidFill>
                  <a:srgbClr val="FFFF00"/>
                </a:solidFill>
              </a:rPr>
              <a:t>TTBR0</a:t>
            </a:r>
            <a:r>
              <a:rPr lang="zh-CN" altLang="en-US" sz="1200" dirty="0">
                <a:solidFill>
                  <a:srgbClr val="FFFF00"/>
                </a:solidFill>
              </a:rPr>
              <a:t>页表（低地址使用）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8CF1486-6CA0-254C-B757-9378B92AB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809" y="1790253"/>
            <a:ext cx="2810863" cy="70271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71476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C3A223-5653-CF4D-974C-E5300F2C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E524C5-AB15-C344-B50F-FA96AD0F5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489348"/>
            <a:ext cx="3951243" cy="22322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B56016-9238-2542-A2CA-ADE3E76D0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25" y="1489348"/>
            <a:ext cx="4372227" cy="3719006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C810A32-C898-2C4D-AC1B-6A3F63E9BE32}"/>
              </a:ext>
            </a:extLst>
          </p:cNvPr>
          <p:cNvCxnSpPr>
            <a:cxnSpLocks/>
          </p:cNvCxnSpPr>
          <p:nvPr/>
        </p:nvCxnSpPr>
        <p:spPr>
          <a:xfrm flipH="1">
            <a:off x="5862478" y="3433564"/>
            <a:ext cx="2824322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1299172-CCD6-A543-8ECE-CB956012DE84}"/>
              </a:ext>
            </a:extLst>
          </p:cNvPr>
          <p:cNvCxnSpPr>
            <a:cxnSpLocks/>
          </p:cNvCxnSpPr>
          <p:nvPr/>
        </p:nvCxnSpPr>
        <p:spPr>
          <a:xfrm flipH="1">
            <a:off x="1331640" y="4729708"/>
            <a:ext cx="2304256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F23FEF9E-9168-774F-ABCA-6DA1D59F772C}"/>
              </a:ext>
            </a:extLst>
          </p:cNvPr>
          <p:cNvCxnSpPr>
            <a:cxnSpLocks/>
          </p:cNvCxnSpPr>
          <p:nvPr/>
        </p:nvCxnSpPr>
        <p:spPr>
          <a:xfrm flipH="1">
            <a:off x="1331640" y="4873724"/>
            <a:ext cx="2304256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>
            <a:extLst>
              <a:ext uri="{FF2B5EF4-FFF2-40B4-BE49-F238E27FC236}">
                <a16:creationId xmlns:a16="http://schemas.microsoft.com/office/drawing/2014/main" id="{01CAD359-FC0D-FE4D-A5B9-9692BCB2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回到 </a:t>
            </a:r>
            <a:r>
              <a:rPr kumimoji="1" lang="en-US" altLang="zh-CN" dirty="0" err="1"/>
              <a:t>init_c</a:t>
            </a:r>
            <a:r>
              <a:rPr kumimoji="1" lang="zh-CN" altLang="en-US" dirty="0"/>
              <a:t>：页表初始化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E569C4-FE35-EC43-8D3A-6EA74D6DF4A8}"/>
              </a:ext>
            </a:extLst>
          </p:cNvPr>
          <p:cNvSpPr/>
          <p:nvPr/>
        </p:nvSpPr>
        <p:spPr>
          <a:xfrm>
            <a:off x="4860032" y="3875152"/>
            <a:ext cx="3988090" cy="964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映射完内存地址（左）后，映射设备地址（右）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问：设备内存与物理内存有什么区别？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问：为什么要设置为 </a:t>
            </a:r>
            <a:r>
              <a:rPr lang="en-US" altLang="zh-CN" sz="1400" dirty="0">
                <a:solidFill>
                  <a:schemeClr val="accent1"/>
                </a:solidFill>
              </a:rPr>
              <a:t>non-</a:t>
            </a:r>
            <a:r>
              <a:rPr lang="en-US" altLang="zh-CN" sz="1400" dirty="0" err="1">
                <a:solidFill>
                  <a:schemeClr val="accent1"/>
                </a:solidFill>
              </a:rPr>
              <a:t>cachable</a:t>
            </a:r>
            <a:r>
              <a:rPr lang="zh-CN" altLang="en-US" sz="1400" dirty="0">
                <a:solidFill>
                  <a:schemeClr val="accent1"/>
                </a:solidFill>
              </a:rPr>
              <a:t>？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DC76C7-5268-C84D-8AEE-5BAE68BF1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012" y="945183"/>
            <a:ext cx="3533254" cy="63063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0044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灯片编号占位符 5">
            <a:extLst>
              <a:ext uri="{FF2B5EF4-FFF2-40B4-BE49-F238E27FC236}">
                <a16:creationId xmlns:a16="http://schemas.microsoft.com/office/drawing/2014/main" id="{152D79CE-51BE-044A-8D9D-AF1B015A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D5873A-672E-6E40-BA99-B250F1FC38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1730" name="Text Box 14">
            <a:extLst>
              <a:ext uri="{FF2B5EF4-FFF2-40B4-BE49-F238E27FC236}">
                <a16:creationId xmlns:a16="http://schemas.microsoft.com/office/drawing/2014/main" id="{630D2D45-B7E8-D34F-8F42-F2385CA39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3" y="3710782"/>
            <a:ext cx="6858000" cy="160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667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 attributes: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SH, bits[9:8]  Shareability field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AF, bit[10]    Access flag, indicates when a page or section of    		memory is accessed for the first time since the 		Access flag in the corresponding translation table 		descriptor was set to 0.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</a:t>
            </a:r>
            <a:r>
              <a:rPr lang="en-US" altLang="zh-CN" sz="1333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bit[11]	The not global bit. </a:t>
            </a:r>
          </a:p>
        </p:txBody>
      </p:sp>
      <p:sp>
        <p:nvSpPr>
          <p:cNvPr id="201731" name="Rectangle 33">
            <a:extLst>
              <a:ext uri="{FF2B5EF4-FFF2-40B4-BE49-F238E27FC236}">
                <a16:creationId xmlns:a16="http://schemas.microsoft.com/office/drawing/2014/main" id="{16E84EAE-1619-994E-BB61-9FB74696D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201732" name="图片 3">
            <a:extLst>
              <a:ext uri="{FF2B5EF4-FFF2-40B4-BE49-F238E27FC236}">
                <a16:creationId xmlns:a16="http://schemas.microsoft.com/office/drawing/2014/main" id="{9C6A83BF-1A4E-464D-9297-1C1FAE227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82688"/>
            <a:ext cx="762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1733" name="图片 5">
            <a:extLst>
              <a:ext uri="{FF2B5EF4-FFF2-40B4-BE49-F238E27FC236}">
                <a16:creationId xmlns:a16="http://schemas.microsoft.com/office/drawing/2014/main" id="{6CF2515F-71D5-1D49-BE50-017BC4E4C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1801813"/>
            <a:ext cx="6159500" cy="1813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B4E698-11B7-7344-9C3C-6FC8A748A1D8}"/>
              </a:ext>
            </a:extLst>
          </p:cNvPr>
          <p:cNvSpPr txBox="1"/>
          <p:nvPr/>
        </p:nvSpPr>
        <p:spPr>
          <a:xfrm>
            <a:off x="788459" y="5381625"/>
            <a:ext cx="2350515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1333" dirty="0">
                <a:solidFill>
                  <a:schemeClr val="bg1">
                    <a:lumMod val="50000"/>
                  </a:schemeClr>
                </a:solidFill>
              </a:rPr>
              <a:t>Figures from ARMv8 manual</a:t>
            </a:r>
            <a:endParaRPr kumimoji="1" lang="zh-CN" altLang="en-US" sz="1333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5CA0C576-0BAA-F74D-A9C0-D59A23E9E2B1}"/>
              </a:ext>
            </a:extLst>
          </p:cNvPr>
          <p:cNvCxnSpPr/>
          <p:nvPr/>
        </p:nvCxnSpPr>
        <p:spPr>
          <a:xfrm>
            <a:off x="4932040" y="3577580"/>
            <a:ext cx="64807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696869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B6ADF-37E2-C94B-9A2E-BA3C6E9B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C8CEA9-56D3-DC43-82ED-67F9D7A00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50" y="1164799"/>
            <a:ext cx="5053566" cy="43368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5EC42C8-47AF-934D-A681-6E839D88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13767"/>
            <a:ext cx="2492135" cy="1005728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C9E085D-4B91-424D-BAA9-31FBC7B8EA3D}"/>
              </a:ext>
            </a:extLst>
          </p:cNvPr>
          <p:cNvCxnSpPr>
            <a:cxnSpLocks/>
          </p:cNvCxnSpPr>
          <p:nvPr/>
        </p:nvCxnSpPr>
        <p:spPr>
          <a:xfrm flipH="1">
            <a:off x="7029641" y="850449"/>
            <a:ext cx="1877874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B848CFE-C099-B342-AF91-52C37760C64A}"/>
              </a:ext>
            </a:extLst>
          </p:cNvPr>
          <p:cNvSpPr txBox="1"/>
          <p:nvPr/>
        </p:nvSpPr>
        <p:spPr>
          <a:xfrm>
            <a:off x="3059832" y="1273324"/>
            <a:ext cx="2448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设置</a:t>
            </a:r>
            <a:r>
              <a:rPr lang="en-US" altLang="zh-CN" sz="1200" dirty="0">
                <a:solidFill>
                  <a:srgbClr val="FFFF00"/>
                </a:solidFill>
              </a:rPr>
              <a:t>TTBR1</a:t>
            </a:r>
            <a:r>
              <a:rPr lang="zh-CN" altLang="en-US" sz="1200" dirty="0">
                <a:solidFill>
                  <a:srgbClr val="FFFF00"/>
                </a:solidFill>
              </a:rPr>
              <a:t>页表（高地址使用）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33C4770-1DA6-0E46-8922-33C21CC43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回到 </a:t>
            </a:r>
            <a:r>
              <a:rPr kumimoji="1" lang="en-US" altLang="zh-CN" dirty="0" err="1"/>
              <a:t>init_c</a:t>
            </a:r>
            <a:r>
              <a:rPr kumimoji="1" lang="zh-CN" altLang="en-US" dirty="0"/>
              <a:t>：页表初始化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C726F-47D2-014F-8751-5DE8BE7C51D4}"/>
              </a:ext>
            </a:extLst>
          </p:cNvPr>
          <p:cNvSpPr/>
          <p:nvPr/>
        </p:nvSpPr>
        <p:spPr>
          <a:xfrm>
            <a:off x="5552462" y="3716629"/>
            <a:ext cx="3988090" cy="359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对比设置 </a:t>
            </a:r>
            <a:r>
              <a:rPr lang="en-US" altLang="zh-CN" sz="1400" dirty="0">
                <a:solidFill>
                  <a:schemeClr val="accent1"/>
                </a:solidFill>
              </a:rPr>
              <a:t>TTBR0</a:t>
            </a:r>
            <a:r>
              <a:rPr lang="zh-CN" altLang="en-US" sz="1400" dirty="0">
                <a:solidFill>
                  <a:schemeClr val="accent1"/>
                </a:solidFill>
              </a:rPr>
              <a:t>：方式相同，虚拟地址不同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0CC9B3-1433-B249-9A7E-41C751F62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132" y="1942682"/>
            <a:ext cx="4128581" cy="42621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C4111AE-42F0-A54C-B901-0855F1C9B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556" y="4272348"/>
            <a:ext cx="4218157" cy="132145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9751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1FF2B-8D60-6C40-89D5-FCEC246F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页表设置完，开启翻译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79127F-B296-9049-8C18-5B2D926B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C23C3D-A7AF-534E-B15F-FC858B82E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1016"/>
            <a:ext cx="4557937" cy="43739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2B3FB9-8D9B-D642-826C-703DA37AF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0"/>
            <a:ext cx="4098783" cy="5715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D04FE92-B0BD-4643-907C-525AD01C612C}"/>
              </a:ext>
            </a:extLst>
          </p:cNvPr>
          <p:cNvSpPr/>
          <p:nvPr/>
        </p:nvSpPr>
        <p:spPr>
          <a:xfrm>
            <a:off x="6714587" y="2863606"/>
            <a:ext cx="2448272" cy="481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将页表的物理地址，</a:t>
            </a:r>
            <a:endParaRPr lang="en-US" altLang="zh-CN" sz="1100" dirty="0">
              <a:solidFill>
                <a:srgbClr val="FFFF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写入 </a:t>
            </a:r>
            <a:r>
              <a:rPr lang="en-US" altLang="zh-CN" sz="1100" dirty="0">
                <a:solidFill>
                  <a:srgbClr val="FFFF00"/>
                </a:solidFill>
              </a:rPr>
              <a:t>TTBR0</a:t>
            </a:r>
            <a:r>
              <a:rPr lang="zh-CN" altLang="en-US" sz="1100" dirty="0">
                <a:solidFill>
                  <a:srgbClr val="FFFF00"/>
                </a:solidFill>
              </a:rPr>
              <a:t> 和 </a:t>
            </a:r>
            <a:r>
              <a:rPr lang="en-US" altLang="zh-CN" sz="1100" dirty="0">
                <a:solidFill>
                  <a:srgbClr val="FFFF00"/>
                </a:solidFill>
              </a:rPr>
              <a:t>TTBR1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586D6B-6E0F-9942-AABB-7F6A6A93B5D8}"/>
              </a:ext>
            </a:extLst>
          </p:cNvPr>
          <p:cNvSpPr/>
          <p:nvPr/>
        </p:nvSpPr>
        <p:spPr>
          <a:xfrm>
            <a:off x="6968815" y="4153644"/>
            <a:ext cx="2448272" cy="6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将</a:t>
            </a:r>
            <a:r>
              <a:rPr lang="en-US" altLang="zh-CN" sz="1100" dirty="0">
                <a:solidFill>
                  <a:srgbClr val="FFFF00"/>
                </a:solidFill>
              </a:rPr>
              <a:t>sctlr_el1</a:t>
            </a:r>
            <a:r>
              <a:rPr lang="zh-CN" altLang="en-US" sz="1100" dirty="0">
                <a:solidFill>
                  <a:srgbClr val="FFFF00"/>
                </a:solidFill>
              </a:rPr>
              <a:t>寄存器写入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设置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  <a:r>
              <a:rPr lang="zh-CN" altLang="en-US" sz="1100" dirty="0">
                <a:solidFill>
                  <a:srgbClr val="FFFF00"/>
                </a:solidFill>
              </a:rPr>
              <a:t>某些</a:t>
            </a:r>
            <a:r>
              <a:rPr lang="en-US" altLang="zh-CN" sz="1100" dirty="0">
                <a:solidFill>
                  <a:srgbClr val="FFFF00"/>
                </a:solidFill>
              </a:rPr>
              <a:t>bit</a:t>
            </a:r>
            <a:r>
              <a:rPr lang="zh-CN" altLang="en-US" sz="1100" dirty="0">
                <a:solidFill>
                  <a:srgbClr val="FFFF00"/>
                </a:solidFill>
              </a:rPr>
              <a:t>为</a:t>
            </a:r>
            <a:r>
              <a:rPr lang="en-US" altLang="zh-CN" sz="1100" dirty="0">
                <a:solidFill>
                  <a:srgbClr val="FFFF00"/>
                </a:solidFill>
              </a:rPr>
              <a:t>1</a:t>
            </a:r>
            <a:r>
              <a:rPr lang="zh-CN" altLang="en-US" sz="1100" dirty="0">
                <a:solidFill>
                  <a:srgbClr val="FFFF00"/>
                </a:solidFill>
              </a:rPr>
              <a:t>（开关）</a:t>
            </a:r>
            <a:endParaRPr lang="en-US" altLang="zh-CN" sz="1100" dirty="0">
              <a:solidFill>
                <a:srgbClr val="FFFF00"/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将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  <a:r>
              <a:rPr lang="zh-CN" altLang="en-US" sz="1100" dirty="0">
                <a:solidFill>
                  <a:srgbClr val="FFFF00"/>
                </a:solidFill>
              </a:rPr>
              <a:t>写回</a:t>
            </a:r>
            <a:r>
              <a:rPr lang="en-US" altLang="zh-CN" sz="1100" dirty="0">
                <a:solidFill>
                  <a:srgbClr val="FFFF00"/>
                </a:solidFill>
              </a:rPr>
              <a:t>sctlr_el1</a:t>
            </a:r>
            <a:r>
              <a:rPr lang="zh-CN" altLang="en-US" sz="1100" dirty="0">
                <a:solidFill>
                  <a:srgbClr val="FFFF00"/>
                </a:solidFill>
              </a:rPr>
              <a:t>寄存器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2A768C-650B-464C-86C5-E8B0367FDB7B}"/>
              </a:ext>
            </a:extLst>
          </p:cNvPr>
          <p:cNvSpPr/>
          <p:nvPr/>
        </p:nvSpPr>
        <p:spPr>
          <a:xfrm>
            <a:off x="2195736" y="4015240"/>
            <a:ext cx="2448272" cy="276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用汇编写的函数，为什么？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225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1AB71C-A4D2-A641-AC32-5AF3886F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29" y="260277"/>
            <a:ext cx="6624141" cy="54773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747D06D-0457-904F-BD52-7AEBCD79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此时的内存布局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B521F-0025-BC41-837C-52120DA8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12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471BB-6A5E-4545-BDB8-7B4F3776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开启页表前后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0F6483-0993-564E-81C0-BBABC25D25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340"/>
          <a:stretch/>
        </p:blipFill>
        <p:spPr>
          <a:xfrm>
            <a:off x="539552" y="1752786"/>
            <a:ext cx="4098783" cy="22094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C773C3-9903-384B-8019-AF1A86A333F7}"/>
              </a:ext>
            </a:extLst>
          </p:cNvPr>
          <p:cNvSpPr/>
          <p:nvPr/>
        </p:nvSpPr>
        <p:spPr>
          <a:xfrm>
            <a:off x="2915816" y="3246648"/>
            <a:ext cx="1722519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265</a:t>
            </a:r>
            <a:r>
              <a:rPr lang="zh-CN" altLang="en-US" sz="1100" dirty="0">
                <a:solidFill>
                  <a:srgbClr val="FFFF00"/>
                </a:solidFill>
              </a:rPr>
              <a:t>时：尚未使用页表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DE1781-11DA-084C-9F29-B440AFD4D5C8}"/>
              </a:ext>
            </a:extLst>
          </p:cNvPr>
          <p:cNvSpPr/>
          <p:nvPr/>
        </p:nvSpPr>
        <p:spPr>
          <a:xfrm>
            <a:off x="2123728" y="3637397"/>
            <a:ext cx="2376264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267</a:t>
            </a:r>
            <a:r>
              <a:rPr lang="zh-CN" altLang="en-US" sz="1100" dirty="0">
                <a:solidFill>
                  <a:srgbClr val="FFFF00"/>
                </a:solidFill>
              </a:rPr>
              <a:t>时：</a:t>
            </a:r>
            <a:r>
              <a:rPr lang="en-US" altLang="zh-CN" sz="1100" dirty="0">
                <a:solidFill>
                  <a:srgbClr val="FFFF00"/>
                </a:solidFill>
              </a:rPr>
              <a:t>PC</a:t>
            </a:r>
            <a:r>
              <a:rPr lang="zh-CN" altLang="en-US" sz="1100" dirty="0">
                <a:solidFill>
                  <a:srgbClr val="FFFF00"/>
                </a:solidFill>
              </a:rPr>
              <a:t>等地址已经过</a:t>
            </a:r>
            <a:r>
              <a:rPr lang="en-US" altLang="zh-CN" sz="1100" dirty="0">
                <a:solidFill>
                  <a:srgbClr val="FFFF00"/>
                </a:solidFill>
              </a:rPr>
              <a:t>MMU</a:t>
            </a:r>
            <a:r>
              <a:rPr lang="zh-CN" altLang="en-US" sz="1100" dirty="0">
                <a:solidFill>
                  <a:srgbClr val="FFFF00"/>
                </a:solidFill>
              </a:rPr>
              <a:t>翻译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67EECF-974F-F043-837F-97E84B4244EA}"/>
              </a:ext>
            </a:extLst>
          </p:cNvPr>
          <p:cNvSpPr/>
          <p:nvPr/>
        </p:nvSpPr>
        <p:spPr>
          <a:xfrm>
            <a:off x="539552" y="4091402"/>
            <a:ext cx="3988090" cy="114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b="1" dirty="0"/>
              <a:t>执行</a:t>
            </a:r>
            <a:r>
              <a:rPr lang="en-US" altLang="zh-CN" sz="1400" b="1" dirty="0"/>
              <a:t>267</a:t>
            </a:r>
            <a:r>
              <a:rPr lang="zh-CN" altLang="en-US" sz="1400" b="1" dirty="0"/>
              <a:t>行，为何能顺利执行？</a:t>
            </a:r>
            <a:endParaRPr lang="en-US" altLang="zh-CN" sz="1400" b="1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页表不是在低地址区域（</a:t>
            </a:r>
            <a:r>
              <a:rPr lang="en-US" altLang="zh-CN" sz="1200" dirty="0"/>
              <a:t>0-1G</a:t>
            </a:r>
            <a:r>
              <a:rPr lang="zh-CN" altLang="en-US" sz="1200" dirty="0"/>
              <a:t>）么？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虚拟地址和物理地址完全相同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回想下页表中的映射（</a:t>
            </a:r>
            <a:r>
              <a:rPr lang="en-US" altLang="zh-CN" sz="1200" dirty="0"/>
              <a:t>TTBR1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B073B9-F66C-7A46-A0CA-6BA2AEEDE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065"/>
          <a:stretch/>
        </p:blipFill>
        <p:spPr>
          <a:xfrm>
            <a:off x="539552" y="1296905"/>
            <a:ext cx="4098783" cy="4535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E2CA1A-FF34-1D45-9A2A-303ACE4B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044" y="281874"/>
            <a:ext cx="3816424" cy="36839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E473C00-59EE-D546-9CEF-DBD99FB6DBEE}"/>
              </a:ext>
            </a:extLst>
          </p:cNvPr>
          <p:cNvSpPr/>
          <p:nvPr/>
        </p:nvSpPr>
        <p:spPr>
          <a:xfrm>
            <a:off x="4998328" y="4090272"/>
            <a:ext cx="3786140" cy="1656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b="1" dirty="0" err="1"/>
              <a:t>start_kernel</a:t>
            </a:r>
            <a:r>
              <a:rPr lang="zh-CN" altLang="en-US" sz="1400" b="1" dirty="0"/>
              <a:t>位于高地址段：</a:t>
            </a:r>
            <a:endParaRPr lang="en-US" altLang="zh-CN" sz="1400" b="1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0xffffff0000000000</a:t>
            </a:r>
            <a:r>
              <a:rPr lang="zh-CN" altLang="en-US" sz="1200" dirty="0"/>
              <a:t> </a:t>
            </a:r>
            <a:r>
              <a:rPr lang="en-US" altLang="zh-CN" sz="1200" dirty="0"/>
              <a:t>+</a:t>
            </a:r>
            <a:r>
              <a:rPr lang="zh-CN" altLang="en-US" sz="1200" dirty="0"/>
              <a:t> </a:t>
            </a:r>
            <a:r>
              <a:rPr lang="en-US" altLang="zh-CN" sz="1200" dirty="0" err="1"/>
              <a:t>init_end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从 </a:t>
            </a:r>
            <a:r>
              <a:rPr lang="en-US" altLang="zh-CN" sz="1200" dirty="0" err="1"/>
              <a:t>init_c</a:t>
            </a:r>
            <a:r>
              <a:rPr lang="zh-CN" altLang="en-US" sz="1200" dirty="0"/>
              <a:t> （低地址范围）跳过去后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高地址范围的地址已经被映射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栈在 </a:t>
            </a:r>
            <a:r>
              <a:rPr lang="en-US" altLang="zh-CN" sz="1200" dirty="0" err="1"/>
              <a:t>start_kernel</a:t>
            </a:r>
            <a:r>
              <a:rPr lang="zh-CN" altLang="en-US" sz="1200" dirty="0"/>
              <a:t> 已经换成了高地址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983532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异常向量表初始化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348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30618-F432-174F-BBCE-B4DF4E51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异常向量表初始化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8B0E50-E96D-7F49-8F9A-A61CD46A8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FCCC3-2D1E-6F49-AF28-2E11E374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EDFB71-7302-B944-9BBA-8E4EE568C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15" y="1321133"/>
            <a:ext cx="4635726" cy="37716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DC0D7F4-BC66-A543-AD77-F9DF1BCE8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77" y="228866"/>
            <a:ext cx="3129408" cy="14362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E1C5BF0-AE83-E945-B702-BC3667B81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049" y="1823537"/>
            <a:ext cx="3954636" cy="80012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819226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01B0A-BAD4-8147-8E3B-F9419953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BF6F1-EC81-AD43-BCBB-4E0EBAE41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85E68-5B05-8944-BA2D-D30CBEAC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5BECDB-5BE4-0248-B77D-4C2620CC3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38" y="189172"/>
            <a:ext cx="4152557" cy="52969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DF7A49-1FC5-D44B-AEDE-5F7ED8803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990" y="189172"/>
            <a:ext cx="4292366" cy="52969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DFB98E-BB9C-C24E-B707-02C650735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116211"/>
            <a:ext cx="2064885" cy="1217290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111FDC2F-0AB5-164E-B3A4-F27D915D66DF}"/>
              </a:ext>
            </a:extLst>
          </p:cNvPr>
          <p:cNvCxnSpPr/>
          <p:nvPr/>
        </p:nvCxnSpPr>
        <p:spPr>
          <a:xfrm>
            <a:off x="5652120" y="4081636"/>
            <a:ext cx="90108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88ACC8E7-14AC-C841-B446-D8DB3B67E31D}"/>
              </a:ext>
            </a:extLst>
          </p:cNvPr>
          <p:cNvCxnSpPr>
            <a:cxnSpLocks/>
          </p:cNvCxnSpPr>
          <p:nvPr/>
        </p:nvCxnSpPr>
        <p:spPr>
          <a:xfrm>
            <a:off x="611560" y="4369668"/>
            <a:ext cx="12241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0B43E826-4775-B242-8A51-67D89FA710E7}"/>
              </a:ext>
            </a:extLst>
          </p:cNvPr>
          <p:cNvCxnSpPr>
            <a:cxnSpLocks/>
          </p:cNvCxnSpPr>
          <p:nvPr/>
        </p:nvCxnSpPr>
        <p:spPr>
          <a:xfrm>
            <a:off x="5076056" y="5305772"/>
            <a:ext cx="108012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E1BD3C66-9553-B94C-B1A8-7AA5D9E96FB3}"/>
              </a:ext>
            </a:extLst>
          </p:cNvPr>
          <p:cNvCxnSpPr>
            <a:cxnSpLocks/>
          </p:cNvCxnSpPr>
          <p:nvPr/>
        </p:nvCxnSpPr>
        <p:spPr>
          <a:xfrm>
            <a:off x="611560" y="5233764"/>
            <a:ext cx="108012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5870A3F9-8D1E-CA44-9632-188D9CC14574}"/>
              </a:ext>
            </a:extLst>
          </p:cNvPr>
          <p:cNvCxnSpPr>
            <a:cxnSpLocks/>
          </p:cNvCxnSpPr>
          <p:nvPr/>
        </p:nvCxnSpPr>
        <p:spPr>
          <a:xfrm>
            <a:off x="611560" y="769268"/>
            <a:ext cx="792088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D202171-85DE-1A4A-A18B-E9D82D7B1768}"/>
              </a:ext>
            </a:extLst>
          </p:cNvPr>
          <p:cNvCxnSpPr>
            <a:cxnSpLocks/>
          </p:cNvCxnSpPr>
          <p:nvPr/>
        </p:nvCxnSpPr>
        <p:spPr>
          <a:xfrm>
            <a:off x="3059832" y="265212"/>
            <a:ext cx="792088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91FC6441-23EE-7840-9AFC-5D1325EDCF42}"/>
              </a:ext>
            </a:extLst>
          </p:cNvPr>
          <p:cNvSpPr/>
          <p:nvPr/>
        </p:nvSpPr>
        <p:spPr>
          <a:xfrm>
            <a:off x="7020272" y="553244"/>
            <a:ext cx="144016" cy="3039725"/>
          </a:xfrm>
          <a:prstGeom prst="rightBrace">
            <a:avLst>
              <a:gd name="adj1" fmla="val 77779"/>
              <a:gd name="adj2" fmla="val 5000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89EAC8-F267-2E45-B0A1-8F09902EE6DD}"/>
              </a:ext>
            </a:extLst>
          </p:cNvPr>
          <p:cNvSpPr txBox="1"/>
          <p:nvPr/>
        </p:nvSpPr>
        <p:spPr>
          <a:xfrm>
            <a:off x="7142005" y="1942301"/>
            <a:ext cx="625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100" dirty="0">
                <a:solidFill>
                  <a:srgbClr val="FFFF00"/>
                </a:solidFill>
              </a:rPr>
              <a:t>for</a:t>
            </a:r>
            <a:r>
              <a:rPr kumimoji="1" lang="zh-CN" altLang="en-US" sz="1100" dirty="0">
                <a:solidFill>
                  <a:srgbClr val="FFFF00"/>
                </a:solidFill>
              </a:rPr>
              <a:t> </a:t>
            </a:r>
            <a:r>
              <a:rPr kumimoji="1" lang="en-US" altLang="zh-CN" sz="1100" dirty="0">
                <a:solidFill>
                  <a:srgbClr val="FFFF00"/>
                </a:solidFill>
              </a:rPr>
              <a:t>lab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426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F57F4-036E-014C-B901-D7CFB708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CD477D-C5F1-DB46-A3B4-C358DB25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625252"/>
            <a:ext cx="4256786" cy="43624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B4B64D-ED54-ED40-A4F5-66C323900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625252"/>
            <a:ext cx="3351610" cy="436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714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052BC-D8ED-0741-92AE-BD0497BA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70794-9F1B-B14C-8E01-7F72A000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42E16B-4265-3440-99E6-133FB66E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4E87F-A273-704F-A673-84C12BB5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2244"/>
            <a:ext cx="4059064" cy="571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59DB21-77B9-5547-9FBB-ED472A44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031" y="1417340"/>
            <a:ext cx="4532305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017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AD54B-61C6-F84C-8DC0-7E5772CC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内核启动前：</a:t>
            </a:r>
            <a:r>
              <a:rPr kumimoji="1" lang="en-US" altLang="zh-CN" dirty="0"/>
              <a:t>BIOS</a:t>
            </a:r>
            <a:r>
              <a:rPr kumimoji="1" lang="zh-CN" altLang="en-US" dirty="0"/>
              <a:t>的作用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DF74B9-0441-AD44-B0DC-81BD04255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24A091-481C-E84B-8535-49498710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411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BE98B-DAFA-2548-8318-C801B375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从计算机上电到内核开始运行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2EC99-C5CE-5640-ABA3-931EF3377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上电后，开始执行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ROM</a:t>
            </a:r>
            <a:r>
              <a:rPr kumimoji="1" lang="zh-CN" altLang="en-US" sz="1800" dirty="0"/>
              <a:t>中的代码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自检（</a:t>
            </a:r>
            <a:r>
              <a:rPr kumimoji="1" lang="en-US" altLang="zh-CN" sz="1600" dirty="0"/>
              <a:t>POST: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Power-On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Self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Test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找到第一个可启动设备（如第一块磁盘）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将可启动设备的第一个块（</a:t>
            </a:r>
            <a:r>
              <a:rPr kumimoji="1" lang="en-US" altLang="zh-CN" sz="1600" dirty="0"/>
              <a:t>512</a:t>
            </a:r>
            <a:r>
              <a:rPr kumimoji="1" lang="zh-CN" altLang="en-US" sz="1600" dirty="0"/>
              <a:t>字节，即</a:t>
            </a:r>
            <a:r>
              <a:rPr kumimoji="1" lang="en-US" altLang="zh-CN" sz="1600" dirty="0"/>
              <a:t>MBR</a:t>
            </a:r>
            <a:r>
              <a:rPr kumimoji="1" lang="zh-CN" altLang="en-US" sz="1600" dirty="0"/>
              <a:t>）加载到内存</a:t>
            </a:r>
            <a:r>
              <a:rPr kumimoji="1" lang="en-US" altLang="zh-CN" sz="1600" dirty="0"/>
              <a:t>0x7c00</a:t>
            </a:r>
            <a:r>
              <a:rPr kumimoji="1" lang="zh-CN" altLang="en-US" sz="1600" dirty="0"/>
              <a:t>中</a:t>
            </a:r>
            <a:endParaRPr kumimoji="1" lang="en-US" altLang="zh-CN" sz="1200" dirty="0"/>
          </a:p>
          <a:p>
            <a:pPr marL="857250" lvl="1" indent="-457200"/>
            <a:r>
              <a:rPr kumimoji="1" lang="zh-CN" altLang="en-US" sz="1600" dirty="0"/>
              <a:t>跳转到</a:t>
            </a:r>
            <a:r>
              <a:rPr kumimoji="1" lang="en-US" altLang="zh-CN" sz="1600" dirty="0"/>
              <a:t>bootloader</a:t>
            </a:r>
            <a:r>
              <a:rPr kumimoji="1" lang="zh-CN" altLang="en-US" sz="1600" dirty="0"/>
              <a:t>的内存地址（物理地址</a:t>
            </a:r>
            <a:r>
              <a:rPr kumimoji="1" lang="en-US" altLang="zh-CN" sz="1600" dirty="0"/>
              <a:t>0x7c00</a:t>
            </a:r>
            <a:r>
              <a:rPr kumimoji="1" lang="zh-CN" altLang="en-US" sz="1600" dirty="0"/>
              <a:t>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1800" dirty="0"/>
              <a:t>bootloader</a:t>
            </a:r>
            <a:r>
              <a:rPr kumimoji="1" lang="zh-CN" altLang="en-US" sz="1800" dirty="0"/>
              <a:t>开始执行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将内核的二进制文件从启动设备加载到内存中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若内核文件是压缩包，则对其进行解压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跳转到（解压后的）内核加载地址（物理地址）并继续执行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内核代码开始执行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5E554-88D7-4446-B227-289B7C3E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1026" name="Picture 2" descr="PC Computer Boot BIOS POST Beep Codes – Find Thingy">
            <a:extLst>
              <a:ext uri="{FF2B5EF4-FFF2-40B4-BE49-F238E27FC236}">
                <a16:creationId xmlns:a16="http://schemas.microsoft.com/office/drawing/2014/main" id="{C72FEFA6-1DBC-9746-9929-BA69768CB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679087"/>
            <a:ext cx="2132753" cy="159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241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4DF8C-4FA7-7243-9EDD-06170644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BIOS</a:t>
            </a:r>
            <a:r>
              <a:rPr kumimoji="1" lang="zh-CN" altLang="en-US" dirty="0"/>
              <a:t> </a:t>
            </a:r>
            <a:r>
              <a:rPr kumimoji="1" lang="en-US" altLang="zh-CN" sz="2800" dirty="0"/>
              <a:t>(Basic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Input/Output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System)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A66A75-412E-D44E-92E2-7513C400D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什么是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？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1981</a:t>
            </a:r>
            <a:r>
              <a:rPr kumimoji="1" lang="zh-CN" altLang="en-US" sz="1600" dirty="0"/>
              <a:t>年</a:t>
            </a:r>
            <a:r>
              <a:rPr kumimoji="1" lang="en-US" altLang="zh-CN" sz="1600" dirty="0"/>
              <a:t>8</a:t>
            </a:r>
            <a:r>
              <a:rPr kumimoji="1" lang="zh-CN" altLang="en-US" sz="1600" dirty="0"/>
              <a:t>月，</a:t>
            </a:r>
            <a:r>
              <a:rPr kumimoji="1" lang="en-US" altLang="zh-CN" sz="1600" dirty="0"/>
              <a:t>IBM</a:t>
            </a:r>
            <a:r>
              <a:rPr kumimoji="1" lang="zh-CN" altLang="en-US" sz="1600" dirty="0"/>
              <a:t>生产了第一台个人电脑</a:t>
            </a:r>
            <a:r>
              <a:rPr kumimoji="1" lang="en-US" altLang="zh-CN" sz="1600" dirty="0"/>
              <a:t>PC 5150</a:t>
            </a:r>
            <a:r>
              <a:rPr kumimoji="1" lang="zh-CN" altLang="en-US" sz="1600" dirty="0"/>
              <a:t>，引入</a:t>
            </a:r>
            <a:r>
              <a:rPr kumimoji="1" lang="en-US" altLang="zh-CN" sz="1600" dirty="0"/>
              <a:t>BIOS</a:t>
            </a:r>
          </a:p>
          <a:p>
            <a:pPr lvl="1"/>
            <a:r>
              <a:rPr kumimoji="1" lang="en-US" altLang="zh-CN" sz="1600" dirty="0"/>
              <a:t>BIOS</a:t>
            </a:r>
            <a:r>
              <a:rPr kumimoji="1" lang="zh-CN" altLang="en-US" sz="1600" dirty="0"/>
              <a:t>通常保存在主板的只读内存（</a:t>
            </a:r>
            <a:r>
              <a:rPr kumimoji="1" lang="en-US" altLang="zh-CN" sz="1600" dirty="0"/>
              <a:t>ROM</a:t>
            </a:r>
            <a:r>
              <a:rPr kumimoji="1" lang="zh-CN" altLang="en-US" sz="1600" dirty="0"/>
              <a:t>）中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ROM</a:t>
            </a:r>
            <a:r>
              <a:rPr kumimoji="1" lang="zh-CN" altLang="en-US" sz="1600" dirty="0"/>
              <a:t>仅仅是存储，没有执行能力</a:t>
            </a:r>
            <a:endParaRPr kumimoji="1" lang="en-US" altLang="zh-CN" sz="1600" dirty="0"/>
          </a:p>
          <a:p>
            <a:r>
              <a:rPr kumimoji="1" lang="en-US" altLang="zh-CN" sz="1800" dirty="0"/>
              <a:t>CPU</a:t>
            </a:r>
            <a:r>
              <a:rPr kumimoji="1" lang="zh-CN" altLang="en-US" sz="1800" dirty="0"/>
              <a:t>负责执行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en-US" altLang="zh-CN" sz="1600" dirty="0"/>
              <a:t>x86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在</a:t>
            </a:r>
            <a:r>
              <a:rPr kumimoji="1" lang="en-US" altLang="zh-CN" sz="1600" dirty="0"/>
              <a:t>reset</a:t>
            </a:r>
            <a:r>
              <a:rPr kumimoji="1" lang="zh-CN" altLang="en-US" sz="1600" dirty="0"/>
              <a:t>后，</a:t>
            </a:r>
            <a:r>
              <a:rPr kumimoji="1" lang="en-US" altLang="zh-CN" sz="1600" dirty="0"/>
              <a:t>PC</a:t>
            </a:r>
            <a:r>
              <a:rPr kumimoji="1" lang="zh-CN" altLang="en-US" sz="1600" dirty="0"/>
              <a:t>固定指向</a:t>
            </a:r>
            <a:r>
              <a:rPr kumimoji="1" lang="en" altLang="zh-CN" sz="1600" dirty="0"/>
              <a:t>0xFFFF0</a:t>
            </a:r>
          </a:p>
          <a:p>
            <a:pPr lvl="1"/>
            <a:r>
              <a:rPr kumimoji="1" lang="en-US" altLang="zh-CN" sz="1600" dirty="0"/>
              <a:t>0xFFFF0</a:t>
            </a:r>
            <a:r>
              <a:rPr kumimoji="1" lang="zh-CN" altLang="en-US" sz="1600" dirty="0"/>
              <a:t>这个地址，就是</a:t>
            </a:r>
            <a:r>
              <a:rPr kumimoji="1" lang="en-US" altLang="zh-CN" sz="1600" dirty="0"/>
              <a:t>BIOS</a:t>
            </a:r>
            <a:r>
              <a:rPr kumimoji="1" lang="zh-CN" altLang="en-US" sz="1600" dirty="0"/>
              <a:t>的物理地址</a:t>
            </a:r>
            <a:endParaRPr kumimoji="1" lang="en-US" altLang="zh-CN" sz="1600" dirty="0"/>
          </a:p>
          <a:p>
            <a:r>
              <a:rPr kumimoji="1" lang="zh-CN" altLang="en-US" sz="1800" dirty="0"/>
              <a:t>在许多嵌入式设备中并没有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zh-CN" altLang="en-US" sz="1600" dirty="0"/>
              <a:t>如：许多嵌入式</a:t>
            </a:r>
            <a:r>
              <a:rPr kumimoji="1" lang="en-US" altLang="zh-CN" sz="1600" dirty="0"/>
              <a:t>ARM</a:t>
            </a:r>
            <a:r>
              <a:rPr kumimoji="1" lang="zh-CN" altLang="en-US" sz="1600" dirty="0"/>
              <a:t>设备（但</a:t>
            </a:r>
            <a:r>
              <a:rPr kumimoji="1" lang="en-US" altLang="zh-CN" sz="1600" dirty="0"/>
              <a:t>ARM</a:t>
            </a:r>
            <a:r>
              <a:rPr kumimoji="1" lang="zh-CN" altLang="en-US" sz="1600" dirty="0"/>
              <a:t>服务器有</a:t>
            </a:r>
            <a:r>
              <a:rPr kumimoji="1" lang="en-US" altLang="zh-CN" sz="1600" dirty="0"/>
              <a:t>BIOS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原因：设备简单 </a:t>
            </a:r>
            <a:r>
              <a:rPr kumimoji="1" lang="en-US" altLang="zh-CN" sz="1600" dirty="0"/>
              <a:t>&amp;</a:t>
            </a:r>
            <a:r>
              <a:rPr kumimoji="1" lang="zh-CN" altLang="en-US" sz="1600" dirty="0"/>
              <a:t> 减少成本</a:t>
            </a:r>
            <a:endParaRPr kumimoji="1" lang="en-US" altLang="zh-CN" sz="1600" dirty="0"/>
          </a:p>
          <a:p>
            <a:pPr lvl="1"/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79E682-78C8-324D-A453-C1A5AA73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2050" name="Picture 2" descr="Pamiec Rom /BIOS | Computers Quiz - Quizizz">
            <a:extLst>
              <a:ext uri="{FF2B5EF4-FFF2-40B4-BE49-F238E27FC236}">
                <a16:creationId xmlns:a16="http://schemas.microsoft.com/office/drawing/2014/main" id="{A496A2A3-0B03-2B44-84A9-A579E522F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260" y="665273"/>
            <a:ext cx="1053405" cy="1085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一步步编写操作系统 8  bios跳转到神奇的内存地址0x7c00">
            <a:extLst>
              <a:ext uri="{FF2B5EF4-FFF2-40B4-BE49-F238E27FC236}">
                <a16:creationId xmlns:a16="http://schemas.microsoft.com/office/drawing/2014/main" id="{7E2ADE8E-1D9E-9842-979D-AF08EFF0A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721" y="3073524"/>
            <a:ext cx="2183079" cy="157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4D4E41A-654A-FE4A-955C-C81A2CAD3192}"/>
              </a:ext>
            </a:extLst>
          </p:cNvPr>
          <p:cNvSpPr/>
          <p:nvPr/>
        </p:nvSpPr>
        <p:spPr>
          <a:xfrm>
            <a:off x="457200" y="5309330"/>
            <a:ext cx="1569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x86</a:t>
            </a:r>
            <a:r>
              <a:rPr kumimoji="1" lang="zh-CN" altLang="en-US" sz="1400" dirty="0"/>
              <a:t>的</a:t>
            </a:r>
            <a:r>
              <a:rPr kumimoji="1" lang="en-US" altLang="zh-CN" sz="1400" dirty="0"/>
              <a:t>16</a:t>
            </a:r>
            <a:r>
              <a:rPr kumimoji="1" lang="zh-CN" altLang="en-US" sz="1400" dirty="0"/>
              <a:t>位实模式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50316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88D28-69DD-614B-A8DA-9BD5D50E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上电自检（</a:t>
            </a:r>
            <a:r>
              <a:rPr kumimoji="1" lang="en-US" altLang="zh-CN" dirty="0"/>
              <a:t>POST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8A4C44-1BD5-4446-A522-418B2FE4E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 dirty="0"/>
              <a:t>BIOS</a:t>
            </a:r>
            <a:r>
              <a:rPr kumimoji="1" lang="zh-CN" altLang="en-US" sz="2000" dirty="0"/>
              <a:t>程序首先检查，计算机硬件能否满足运行的基本条件，这叫做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硬件自检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（</a:t>
            </a:r>
            <a:r>
              <a:rPr kumimoji="1" lang="en" altLang="zh-CN" sz="2000" dirty="0"/>
              <a:t>Power-On Self-Test</a:t>
            </a:r>
            <a:r>
              <a:rPr kumimoji="1" lang="zh-CN" altLang="en" sz="2000" dirty="0"/>
              <a:t>），</a:t>
            </a:r>
            <a:r>
              <a:rPr kumimoji="1" lang="zh-CN" altLang="en-US" sz="2000" dirty="0"/>
              <a:t>缩写为</a:t>
            </a:r>
            <a:r>
              <a:rPr kumimoji="1" lang="en" altLang="zh-CN" sz="2000" dirty="0"/>
              <a:t>POST</a:t>
            </a:r>
            <a:r>
              <a:rPr kumimoji="1" lang="zh-CN" altLang="en" sz="2000" dirty="0"/>
              <a:t>。</a:t>
            </a:r>
          </a:p>
          <a:p>
            <a:r>
              <a:rPr kumimoji="1" lang="zh-CN" altLang="en-US" sz="2000" dirty="0"/>
              <a:t>如果硬件出现问题，主板会发出不同含义的蜂鸣，启动中止。如果没有问题，屏幕就会显示出</a:t>
            </a:r>
            <a:r>
              <a:rPr kumimoji="1" lang="en" altLang="zh-CN" sz="2000" dirty="0"/>
              <a:t>CPU</a:t>
            </a:r>
            <a:r>
              <a:rPr kumimoji="1" lang="zh-CN" altLang="en" sz="2000" dirty="0"/>
              <a:t>、</a:t>
            </a:r>
            <a:r>
              <a:rPr kumimoji="1" lang="zh-CN" altLang="en-US" sz="2000" dirty="0"/>
              <a:t>内存、硬盘等信息。</a:t>
            </a:r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CC4D3-AFE3-6A42-A170-7997F402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11DA8F6-2839-954F-B9C1-1D36E9CE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19319"/>
            <a:ext cx="3803888" cy="238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850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09F66-A2D2-4846-8537-898189AB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MBR</a:t>
            </a:r>
            <a:r>
              <a:rPr kumimoji="1" lang="zh-CN" altLang="en" dirty="0"/>
              <a:t>（</a:t>
            </a:r>
            <a:r>
              <a:rPr kumimoji="1" lang="en" altLang="zh-CN" dirty="0"/>
              <a:t>Master Boot Record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1C97D7-FA8A-F34C-B34B-76DCE408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538736" cy="3771636"/>
          </a:xfrm>
        </p:spPr>
        <p:txBody>
          <a:bodyPr>
            <a:normAutofit/>
          </a:bodyPr>
          <a:lstStyle/>
          <a:p>
            <a:r>
              <a:rPr kumimoji="1" lang="en" altLang="zh-CN" sz="2000" dirty="0"/>
              <a:t>MBR</a:t>
            </a:r>
            <a:r>
              <a:rPr kumimoji="1" lang="zh-CN" altLang="en-US" sz="2000" dirty="0"/>
              <a:t>：</a:t>
            </a:r>
            <a:r>
              <a:rPr kumimoji="1" lang="zh-CN" altLang="en-US" sz="1800" dirty="0"/>
              <a:t>主引导记录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磁盘的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柱面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磁头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扇区称为主引导扇区</a:t>
            </a:r>
            <a:endParaRPr kumimoji="1" lang="en-US" altLang="zh-CN" sz="1800" dirty="0"/>
          </a:p>
          <a:p>
            <a:r>
              <a:rPr kumimoji="1" lang="zh-CN" altLang="en-US" sz="2000" dirty="0"/>
              <a:t>三部分组成</a:t>
            </a:r>
            <a:endParaRPr kumimoji="1" lang="en-US" altLang="zh-CN" sz="20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主引导程序（</a:t>
            </a:r>
            <a:r>
              <a:rPr kumimoji="1" lang="en" altLang="zh-CN" sz="1800" dirty="0"/>
              <a:t>boot loader</a:t>
            </a:r>
            <a:r>
              <a:rPr kumimoji="1" lang="zh-CN" altLang="en" sz="1800" dirty="0"/>
              <a:t>）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硬盘分区表</a:t>
            </a:r>
            <a:r>
              <a:rPr kumimoji="1" lang="en" altLang="zh-CN" sz="1800" dirty="0"/>
              <a:t>DPT</a:t>
            </a:r>
            <a:r>
              <a:rPr kumimoji="1" lang="zh-CN" altLang="en" sz="1800" dirty="0"/>
              <a:t>（</a:t>
            </a:r>
            <a:r>
              <a:rPr kumimoji="1" lang="en" altLang="zh-CN" sz="1800" dirty="0"/>
              <a:t>disk partition table</a:t>
            </a:r>
            <a:r>
              <a:rPr kumimoji="1" lang="zh-CN" altLang="en" sz="1800" dirty="0"/>
              <a:t>） 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硬盘有效标志（</a:t>
            </a:r>
            <a:r>
              <a:rPr kumimoji="1" lang="en-US" altLang="zh-CN" sz="1800" dirty="0"/>
              <a:t>0x55</a:t>
            </a:r>
            <a:r>
              <a:rPr kumimoji="1" lang="en" altLang="zh-CN" sz="1800" dirty="0"/>
              <a:t>AA</a:t>
            </a:r>
            <a:r>
              <a:rPr kumimoji="1" lang="zh-CN" altLang="en" sz="1800" dirty="0"/>
              <a:t>）</a:t>
            </a: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818B93-5FCD-CC4B-ACDB-BD84CF03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4098" name="Picture 2" descr="浅谈-LINUX 操作系统启动过程2">
            <a:extLst>
              <a:ext uri="{FF2B5EF4-FFF2-40B4-BE49-F238E27FC236}">
                <a16:creationId xmlns:a16="http://schemas.microsoft.com/office/drawing/2014/main" id="{48546167-2F8D-D741-801C-805A23FEF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405172"/>
            <a:ext cx="4932164" cy="290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842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FF04F-5A92-5041-BDC4-B671A4F9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Grub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9CA326-6031-EF4B-B254-B2B601E30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" altLang="zh-CN" dirty="0"/>
              <a:t>1</a:t>
            </a:r>
            <a:r>
              <a:rPr lang="zh-CN" altLang="en" dirty="0"/>
              <a:t>、</a:t>
            </a:r>
            <a:r>
              <a:rPr lang="en" altLang="zh-CN" dirty="0"/>
              <a:t>Grub</a:t>
            </a:r>
            <a:r>
              <a:rPr lang="zh-CN" altLang="en-US" dirty="0"/>
              <a:t>引导分为三个阶段</a:t>
            </a:r>
            <a:endParaRPr lang="zh-CN" altLang="en-US" b="0" dirty="0"/>
          </a:p>
          <a:p>
            <a:pPr fontAlgn="base"/>
            <a:r>
              <a:rPr lang="zh-CN" altLang="en-US" b="0" dirty="0"/>
              <a:t>通常大家认为是两个阶段这里给大家分享一下</a:t>
            </a:r>
            <a:r>
              <a:rPr lang="en" altLang="zh-CN" b="0" dirty="0" err="1"/>
              <a:t>linux</a:t>
            </a:r>
            <a:r>
              <a:rPr lang="zh-CN" altLang="en-US" b="0" dirty="0"/>
              <a:t>启动中</a:t>
            </a:r>
            <a:r>
              <a:rPr lang="en-US" altLang="zh-CN" b="0" dirty="0"/>
              <a:t>1.5</a:t>
            </a:r>
            <a:r>
              <a:rPr lang="zh-CN" altLang="en-US" b="0" dirty="0"/>
              <a:t>阶段</a:t>
            </a:r>
          </a:p>
          <a:p>
            <a:pPr fontAlgn="base"/>
            <a:r>
              <a:rPr lang="en" altLang="zh-CN" b="0" dirty="0"/>
              <a:t>stage1</a:t>
            </a:r>
            <a:r>
              <a:rPr lang="zh-CN" altLang="en" b="0" dirty="0"/>
              <a:t>：</a:t>
            </a:r>
            <a:r>
              <a:rPr lang="en" altLang="zh-CN" b="0" dirty="0"/>
              <a:t>stage1</a:t>
            </a:r>
            <a:r>
              <a:rPr lang="zh-CN" altLang="en-US" b="0" dirty="0"/>
              <a:t>阶段是直接被写入</a:t>
            </a:r>
            <a:r>
              <a:rPr lang="en" altLang="zh-CN" b="0" dirty="0"/>
              <a:t>MBR</a:t>
            </a:r>
            <a:r>
              <a:rPr lang="zh-CN" altLang="en-US" b="0" dirty="0"/>
              <a:t>中的（也就是大家说的</a:t>
            </a:r>
            <a:r>
              <a:rPr lang="en" altLang="zh-CN" b="0" dirty="0"/>
              <a:t>bootloader</a:t>
            </a:r>
            <a:r>
              <a:rPr lang="zh-CN" altLang="en" b="0" dirty="0"/>
              <a:t>）</a:t>
            </a:r>
          </a:p>
          <a:p>
            <a:pPr fontAlgn="base"/>
            <a:r>
              <a:rPr lang="en" altLang="zh-CN" b="0" dirty="0"/>
              <a:t>stage1.5</a:t>
            </a:r>
            <a:r>
              <a:rPr lang="zh-CN" altLang="en" b="0" dirty="0"/>
              <a:t>：</a:t>
            </a:r>
            <a:r>
              <a:rPr lang="zh-CN" altLang="en-US" b="0" dirty="0"/>
              <a:t>存放在磁盘</a:t>
            </a:r>
            <a:r>
              <a:rPr lang="en" altLang="zh-CN" b="0" dirty="0" err="1"/>
              <a:t>mbr</a:t>
            </a:r>
            <a:r>
              <a:rPr lang="zh-CN" altLang="en-US" b="0" dirty="0"/>
              <a:t>之后的扇区中，让</a:t>
            </a:r>
            <a:r>
              <a:rPr lang="en" altLang="zh-CN" b="0" dirty="0"/>
              <a:t>stage1</a:t>
            </a:r>
            <a:r>
              <a:rPr lang="zh-CN" altLang="en-US" b="0" dirty="0"/>
              <a:t>中</a:t>
            </a:r>
            <a:r>
              <a:rPr lang="en" altLang="zh-CN" b="0" dirty="0"/>
              <a:t>bootloader</a:t>
            </a:r>
            <a:r>
              <a:rPr lang="zh-CN" altLang="en-US" b="0" dirty="0"/>
              <a:t>能识别</a:t>
            </a:r>
            <a:r>
              <a:rPr lang="en" altLang="zh-CN" b="0" dirty="0"/>
              <a:t>stage2</a:t>
            </a:r>
            <a:r>
              <a:rPr lang="zh-CN" altLang="en-US" b="0" dirty="0"/>
              <a:t>所在的分区的文件系统；</a:t>
            </a:r>
          </a:p>
          <a:p>
            <a:pPr fontAlgn="base"/>
            <a:r>
              <a:rPr lang="en" altLang="zh-CN" b="0" dirty="0"/>
              <a:t>stage2</a:t>
            </a:r>
            <a:r>
              <a:rPr lang="zh-CN" altLang="en" b="0" dirty="0"/>
              <a:t>：</a:t>
            </a:r>
            <a:r>
              <a:rPr lang="zh-CN" altLang="en-US" b="0" dirty="0"/>
              <a:t>磁盘分区（</a:t>
            </a:r>
            <a:r>
              <a:rPr lang="en-US" altLang="zh-CN" b="0" dirty="0"/>
              <a:t>/</a:t>
            </a:r>
            <a:r>
              <a:rPr lang="en" altLang="zh-CN" b="0" dirty="0"/>
              <a:t>boot/grub/stage2</a:t>
            </a:r>
            <a:r>
              <a:rPr lang="zh-CN" altLang="en" b="0" dirty="0"/>
              <a:t>）</a:t>
            </a:r>
            <a:r>
              <a:rPr lang="zh-CN" altLang="en-US" b="0" dirty="0"/>
              <a:t>删除时候系统无法启动。</a:t>
            </a:r>
          </a:p>
          <a:p>
            <a:pPr fontAlgn="base"/>
            <a:r>
              <a:rPr lang="zh-CN" altLang="en-US" b="0" dirty="0"/>
              <a:t>注意：根据</a:t>
            </a:r>
            <a:r>
              <a:rPr lang="en" altLang="zh-CN" b="0" dirty="0"/>
              <a:t>stage2</a:t>
            </a:r>
            <a:r>
              <a:rPr lang="zh-CN" altLang="en-US" b="0" dirty="0"/>
              <a:t>阶段文件定义内容找</a:t>
            </a:r>
            <a:r>
              <a:rPr lang="en" altLang="zh-CN" b="0" dirty="0" err="1"/>
              <a:t>grub.conf</a:t>
            </a:r>
            <a:r>
              <a:rPr lang="zh-CN" altLang="en-US" b="0" dirty="0"/>
              <a:t>文件然后根据这个文件里定义的内容找</a:t>
            </a:r>
            <a:r>
              <a:rPr lang="en" altLang="zh-CN" b="0" dirty="0"/>
              <a:t>boot</a:t>
            </a:r>
            <a:r>
              <a:rPr lang="zh-CN" altLang="en-US" b="0" dirty="0"/>
              <a:t>下的内核</a:t>
            </a:r>
            <a:r>
              <a:rPr lang="en" altLang="zh-CN" b="0" dirty="0" err="1"/>
              <a:t>vmlinuz</a:t>
            </a:r>
            <a:r>
              <a:rPr lang="en" altLang="zh-CN" b="0" dirty="0"/>
              <a:t>..</a:t>
            </a:r>
            <a:r>
              <a:rPr lang="zh-CN" altLang="en-US" b="0" dirty="0"/>
              <a:t>与驱动模块</a:t>
            </a:r>
            <a:r>
              <a:rPr lang="en" altLang="zh-CN" b="0" dirty="0" err="1"/>
              <a:t>initamfs</a:t>
            </a:r>
            <a:r>
              <a:rPr lang="en" altLang="zh-CN" b="0" dirty="0"/>
              <a:t>..</a:t>
            </a:r>
            <a:r>
              <a:rPr lang="zh-CN" altLang="en" b="0" dirty="0"/>
              <a:t>，</a:t>
            </a:r>
            <a:r>
              <a:rPr lang="zh-CN" altLang="en-US" b="0" dirty="0"/>
              <a:t>至此有</a:t>
            </a:r>
            <a:r>
              <a:rPr lang="en" altLang="zh-CN" b="0" dirty="0"/>
              <a:t>bootloader</a:t>
            </a:r>
            <a:r>
              <a:rPr lang="zh-CN" altLang="en-US" b="0" dirty="0"/>
              <a:t>到</a:t>
            </a:r>
            <a:r>
              <a:rPr lang="en" altLang="zh-CN" b="0" dirty="0"/>
              <a:t>grub</a:t>
            </a:r>
            <a:r>
              <a:rPr lang="zh-CN" altLang="en-US" b="0" dirty="0"/>
              <a:t>加载内核文件与模块系统引导启动。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DCFEA3-058C-004D-B40D-EA1FA6BA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B7C1A69-36A5-0F4E-8D91-2B46B215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5643"/>
            <a:ext cx="3469408" cy="185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8081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447E5-C671-CC46-9658-9861D3AC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BIOS</a:t>
            </a:r>
            <a:r>
              <a:rPr kumimoji="1" lang="zh-CN" altLang="en-US" dirty="0"/>
              <a:t>与生态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96AF4-DC4C-4042-95A0-530377201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IBM</a:t>
            </a:r>
            <a:r>
              <a:rPr kumimoji="1" lang="zh-CN" altLang="en-US" sz="2000" dirty="0"/>
              <a:t>为了兼容</a:t>
            </a:r>
            <a:r>
              <a:rPr kumimoji="1" lang="en-US" altLang="zh-CN" sz="2000" dirty="0"/>
              <a:t>PC</a:t>
            </a:r>
            <a:r>
              <a:rPr kumimoji="1" lang="zh-CN" altLang="en-US" sz="2000" dirty="0"/>
              <a:t>而设计了</a:t>
            </a:r>
            <a:r>
              <a:rPr kumimoji="1" lang="en-US" altLang="zh-CN" sz="2000" dirty="0"/>
              <a:t>BIOS</a:t>
            </a:r>
          </a:p>
          <a:p>
            <a:pPr lvl="1"/>
            <a:r>
              <a:rPr kumimoji="1" lang="zh-CN" altLang="en-US" sz="1800" dirty="0"/>
              <a:t>主板必须兼容不同配件（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、内存、网卡、硬盘等）</a:t>
            </a:r>
            <a:endParaRPr kumimoji="1" lang="en-US" altLang="zh-CN" sz="1800" dirty="0"/>
          </a:p>
          <a:p>
            <a:r>
              <a:rPr kumimoji="1" lang="zh-CN" altLang="en-US" sz="2000" dirty="0"/>
              <a:t>大部分嵌入式设备并没有</a:t>
            </a:r>
            <a:r>
              <a:rPr kumimoji="1" lang="en-US" altLang="zh-CN" sz="2000" dirty="0"/>
              <a:t>BIOS</a:t>
            </a:r>
          </a:p>
          <a:p>
            <a:pPr lvl="1"/>
            <a:r>
              <a:rPr kumimoji="1" lang="zh-CN" altLang="en-US" sz="1800" dirty="0"/>
              <a:t>设备生产商负责所有的适配工作，不用过多考虑兼容性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如：手机屏幕坏了，用户很难自己买一个屏幕更换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可以节约更多成本（省去了额外的</a:t>
            </a:r>
            <a:r>
              <a:rPr kumimoji="1" lang="en-US" altLang="zh-CN" sz="1800" dirty="0"/>
              <a:t>ROM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1800" dirty="0"/>
              <a:t>有没有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，与是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或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没有直接关系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ARM</a:t>
            </a:r>
            <a:r>
              <a:rPr kumimoji="1" lang="zh-CN" altLang="en-US" sz="1800" dirty="0"/>
              <a:t>服务器也有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zh-CN" altLang="en-US" sz="1800" dirty="0"/>
              <a:t>想一想：</a:t>
            </a:r>
            <a:r>
              <a:rPr kumimoji="1" lang="en-US" altLang="zh-CN" sz="1800" dirty="0"/>
              <a:t>iPhone</a:t>
            </a:r>
            <a:r>
              <a:rPr kumimoji="1" lang="zh-CN" altLang="en-US" sz="1800" dirty="0"/>
              <a:t>有没有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？</a:t>
            </a:r>
            <a:r>
              <a:rPr kumimoji="1" lang="en-US" altLang="zh-CN" sz="1800" dirty="0" err="1"/>
              <a:t>Macbook</a:t>
            </a:r>
            <a:r>
              <a:rPr kumimoji="1" lang="zh-CN" altLang="en-US" sz="1800" dirty="0"/>
              <a:t>呢？</a:t>
            </a:r>
            <a:r>
              <a:rPr kumimoji="1" lang="en-US" altLang="zh-CN" sz="1800" dirty="0" err="1"/>
              <a:t>Macbook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M1</a:t>
            </a:r>
            <a:r>
              <a:rPr kumimoji="1" lang="zh-CN" altLang="en-US" sz="1800" dirty="0"/>
              <a:t>呢？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5E3294-40DB-5146-A4F0-C87690C9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280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D79B3-E0BD-244A-ABE0-64CB9B4D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EFI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UEFI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4722B-9B12-FD4A-A876-23E271C45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2400" dirty="0"/>
              <a:t>Intel</a:t>
            </a:r>
            <a:r>
              <a:rPr lang="zh-CN" altLang="en-US" sz="2400" dirty="0"/>
              <a:t>提出来</a:t>
            </a:r>
            <a:r>
              <a:rPr lang="en" altLang="zh-CN" sz="2400" dirty="0"/>
              <a:t>EFI</a:t>
            </a:r>
            <a:r>
              <a:rPr lang="zh-CN" altLang="en-US" sz="2400" dirty="0"/>
              <a:t>取代</a:t>
            </a:r>
            <a:r>
              <a:rPr lang="en" altLang="zh-CN" sz="2400" dirty="0"/>
              <a:t>BIOS interface</a:t>
            </a:r>
          </a:p>
          <a:p>
            <a:pPr lvl="1"/>
            <a:r>
              <a:rPr lang="en-US" altLang="zh-CN" sz="2200" dirty="0"/>
              <a:t>EFI</a:t>
            </a:r>
            <a:r>
              <a:rPr lang="zh-CN" altLang="en" sz="2200" dirty="0"/>
              <a:t>（</a:t>
            </a:r>
            <a:r>
              <a:rPr lang="en" altLang="zh-CN" sz="2200" dirty="0"/>
              <a:t>Extensible Firmware Interface</a:t>
            </a:r>
            <a:r>
              <a:rPr lang="zh-CN" altLang="en" sz="2200" dirty="0"/>
              <a:t>）</a:t>
            </a:r>
            <a:endParaRPr lang="en-US" altLang="zh-CN" sz="2200" dirty="0"/>
          </a:p>
          <a:p>
            <a:r>
              <a:rPr lang="en" altLang="zh-CN" sz="2400" dirty="0"/>
              <a:t>2005</a:t>
            </a:r>
            <a:r>
              <a:rPr lang="zh-CN" altLang="en-US" sz="2400" dirty="0"/>
              <a:t>年，</a:t>
            </a:r>
            <a:r>
              <a:rPr lang="en" altLang="zh-CN" sz="2400" dirty="0"/>
              <a:t>Intel</a:t>
            </a:r>
            <a:r>
              <a:rPr lang="zh-CN" altLang="en" sz="2400" dirty="0"/>
              <a:t>再次</a:t>
            </a:r>
            <a:r>
              <a:rPr lang="zh-CN" altLang="en-US" sz="2400" dirty="0"/>
              <a:t>提出</a:t>
            </a:r>
            <a:r>
              <a:rPr lang="en-US" altLang="zh-CN" sz="2400" dirty="0"/>
              <a:t>UEFI</a:t>
            </a:r>
            <a:r>
              <a:rPr lang="zh-CN" altLang="en-US" sz="2400" dirty="0"/>
              <a:t>取代</a:t>
            </a:r>
            <a:r>
              <a:rPr lang="en-US" altLang="zh-CN" sz="2400" dirty="0"/>
              <a:t>EFI</a:t>
            </a:r>
          </a:p>
          <a:p>
            <a:pPr lvl="1"/>
            <a:r>
              <a:rPr lang="en" altLang="zh-CN" sz="2200" dirty="0"/>
              <a:t>UEFI</a:t>
            </a:r>
            <a:r>
              <a:rPr lang="zh-CN" altLang="en" sz="2200" dirty="0"/>
              <a:t>（</a:t>
            </a:r>
            <a:r>
              <a:rPr lang="en" altLang="zh-CN" sz="2200" dirty="0"/>
              <a:t>Unified Extensible Firmware Interface</a:t>
            </a:r>
            <a:r>
              <a:rPr lang="zh-CN" altLang="en" sz="2200" dirty="0"/>
              <a:t>）</a:t>
            </a:r>
            <a:endParaRPr lang="en" altLang="zh-CN" sz="22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376DA-9EE0-D74C-A8D0-634B9955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11265" name="Picture 1">
            <a:extLst>
              <a:ext uri="{FF2B5EF4-FFF2-40B4-BE49-F238E27FC236}">
                <a16:creationId xmlns:a16="http://schemas.microsoft.com/office/drawing/2014/main" id="{324EFB4B-DEBB-1742-A1BB-2242E2507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579675"/>
            <a:ext cx="2471336" cy="190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5268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3F72A-8797-C742-8A2F-D42D5FF7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两种启动的对比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82897-5026-A04D-8124-E5811F616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sz="1800" dirty="0"/>
              <a:t>定制化的主板（</a:t>
            </a:r>
            <a:r>
              <a:rPr kumimoji="1" lang="zh-CN" altLang="en" sz="1800" dirty="0"/>
              <a:t>常见</a:t>
            </a:r>
            <a:r>
              <a:rPr kumimoji="1" lang="zh-CN" altLang="en-US" sz="1800" dirty="0"/>
              <a:t>的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开发板）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需要初始化具体主板相关硬件如</a:t>
            </a:r>
            <a:r>
              <a:rPr kumimoji="1" lang="en" altLang="zh-CN" sz="1800" dirty="0"/>
              <a:t>GPIO</a:t>
            </a:r>
            <a:r>
              <a:rPr kumimoji="1" lang="zh-CN" altLang="en-US" sz="1800" dirty="0"/>
              <a:t>和内存等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初始化的时候就预先知道有哪些设备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一般由厂商提供的</a:t>
            </a:r>
            <a:r>
              <a:rPr kumimoji="1" lang="en" altLang="zh-CN" sz="1800" dirty="0"/>
              <a:t>BSP</a:t>
            </a:r>
            <a:r>
              <a:rPr kumimoji="1" lang="zh-CN" altLang="en-US" sz="1800" dirty="0"/>
              <a:t>完成</a:t>
            </a:r>
            <a:endParaRPr kumimoji="1" lang="en" altLang="zh-CN" sz="1800" dirty="0"/>
          </a:p>
          <a:p>
            <a:r>
              <a:rPr kumimoji="1" lang="zh-CN" altLang="en-US" sz="1800" dirty="0"/>
              <a:t>通用的主板（常见的</a:t>
            </a:r>
            <a:r>
              <a:rPr kumimoji="1" lang="en-US" altLang="zh-CN" sz="1800" dirty="0"/>
              <a:t>PC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系统配置情况在开机时候是不知道的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需要探测（</a:t>
            </a:r>
            <a:r>
              <a:rPr kumimoji="1" lang="en" altLang="zh-CN" sz="1800" dirty="0"/>
              <a:t>Probe</a:t>
            </a:r>
            <a:r>
              <a:rPr kumimoji="1" lang="zh-CN" altLang="en" sz="1800" dirty="0"/>
              <a:t>）、</a:t>
            </a:r>
            <a:r>
              <a:rPr kumimoji="1" lang="en" altLang="zh-CN" sz="1800" dirty="0"/>
              <a:t>Training(</a:t>
            </a:r>
            <a:r>
              <a:rPr kumimoji="1" lang="zh-CN" altLang="en-US" sz="1800" dirty="0"/>
              <a:t>内存和</a:t>
            </a:r>
            <a:r>
              <a:rPr kumimoji="1" lang="en" altLang="zh-CN" sz="1800" dirty="0"/>
              <a:t>PCIe)</a:t>
            </a:r>
            <a:r>
              <a:rPr kumimoji="1" lang="zh-CN" altLang="en-US" sz="1800" dirty="0"/>
              <a:t>和枚举（</a:t>
            </a:r>
            <a:r>
              <a:rPr kumimoji="1" lang="en" altLang="zh-CN" sz="1800" dirty="0"/>
              <a:t>PCIe</a:t>
            </a:r>
            <a:r>
              <a:rPr kumimoji="1" lang="zh-CN" altLang="en-US" sz="1800" dirty="0"/>
              <a:t>等等即插即用设备）</a:t>
            </a:r>
            <a:endParaRPr kumimoji="1" lang="en-US" altLang="zh-CN" sz="1800" dirty="0"/>
          </a:p>
          <a:p>
            <a:pPr lvl="1"/>
            <a:r>
              <a:rPr kumimoji="1" lang="en" altLang="zh-CN" sz="1800" dirty="0"/>
              <a:t>BIOS</a:t>
            </a:r>
            <a:r>
              <a:rPr kumimoji="1" lang="en-US" altLang="zh-CN" sz="1800" dirty="0"/>
              <a:t>/EFI</a:t>
            </a:r>
            <a:r>
              <a:rPr kumimoji="1" lang="zh-CN" altLang="en-US" sz="1800" dirty="0"/>
              <a:t>提供了整个主板、包括主板上外插的设备的软件抽象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通过定义的接口把这些信息传递给</a:t>
            </a:r>
            <a:r>
              <a:rPr kumimoji="1" lang="en-US" altLang="zh-CN" sz="1600" dirty="0"/>
              <a:t>OS</a:t>
            </a:r>
            <a:r>
              <a:rPr kumimoji="1" lang="zh-CN" altLang="en-US" sz="1600" dirty="0"/>
              <a:t>，使</a:t>
            </a:r>
            <a:r>
              <a:rPr kumimoji="1" lang="en-US" altLang="zh-CN" sz="1600" dirty="0"/>
              <a:t>OS</a:t>
            </a:r>
            <a:r>
              <a:rPr kumimoji="1" lang="zh-CN" altLang="en-US" sz="1600" dirty="0"/>
              <a:t>不改而能够适配到所有机型和硬件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C7B953-C7D6-D444-97E5-764914AB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5069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06379-AF3A-344D-A926-89B08544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这个问题说明什么？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AA211-A042-0545-B6E5-BCB0CBBB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3078" name="Picture 6" descr="How to fix &amp;quot;No bootable device&amp;quot; hard drive error - Safemode Computer Service">
            <a:extLst>
              <a:ext uri="{FF2B5EF4-FFF2-40B4-BE49-F238E27FC236}">
                <a16:creationId xmlns:a16="http://schemas.microsoft.com/office/drawing/2014/main" id="{6E725BAC-7AB3-EC45-8084-CEB5199B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638" y="1228687"/>
            <a:ext cx="5796724" cy="394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944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7107F-C816-1442-B413-CC79EAB8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F38FAA-8E8E-0E47-91E2-75B5140E1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</a:t>
            </a:r>
            <a:r>
              <a:rPr kumimoji="1" lang="zh-CN" altLang="en-US" dirty="0"/>
              <a:t>：是不是所有的笔记本都需要</a:t>
            </a:r>
            <a:r>
              <a:rPr kumimoji="1" lang="en-US" altLang="zh-CN" dirty="0"/>
              <a:t>BIOS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Chrome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Book</a:t>
            </a:r>
            <a:r>
              <a:rPr kumimoji="1" lang="zh-CN" altLang="en-US" dirty="0"/>
              <a:t>就没有用，用了</a:t>
            </a:r>
            <a:r>
              <a:rPr kumimoji="1" lang="en-US" altLang="zh-CN" dirty="0"/>
              <a:t>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boot</a:t>
            </a:r>
          </a:p>
          <a:p>
            <a:pPr lvl="1"/>
            <a:r>
              <a:rPr kumimoji="1" lang="zh-CN" altLang="en-US" dirty="0"/>
              <a:t>但</a:t>
            </a:r>
            <a:r>
              <a:rPr kumimoji="1" lang="en-US" altLang="zh-CN" dirty="0"/>
              <a:t>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boot</a:t>
            </a:r>
            <a:r>
              <a:rPr kumimoji="1" lang="zh-CN" altLang="en-US" dirty="0"/>
              <a:t>原名为</a:t>
            </a:r>
            <a:r>
              <a:rPr lang="en" altLang="zh-CN" dirty="0" err="1"/>
              <a:t>LinuxBIOS</a:t>
            </a:r>
            <a:r>
              <a:rPr lang="zh-CN" altLang="en-US" dirty="0"/>
              <a:t>，所以也算</a:t>
            </a:r>
            <a:r>
              <a:rPr lang="en-US" altLang="zh-CN" dirty="0"/>
              <a:t>BIOS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2E5D57-C44F-A14D-B082-CE87C704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789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BC65A-14DE-D34D-8D2E-8E8A890A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C9CBD-2CD8-AC47-A99C-0BF319949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</a:t>
            </a:r>
            <a:r>
              <a:rPr kumimoji="1" lang="zh-CN" altLang="en-US" dirty="0"/>
              <a:t>：如果一台计算机安装了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个操作系统，如何选择？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Windows</a:t>
            </a:r>
            <a:r>
              <a:rPr kumimoji="1" lang="zh-CN" altLang="en-US" dirty="0"/>
              <a:t>会在</a:t>
            </a:r>
            <a:r>
              <a:rPr kumimoji="1" lang="en-US" altLang="zh-CN" dirty="0"/>
              <a:t>MBR</a:t>
            </a:r>
            <a:r>
              <a:rPr kumimoji="1" lang="zh-CN" altLang="en-US" dirty="0"/>
              <a:t>安装</a:t>
            </a:r>
            <a:r>
              <a:rPr kumimoji="1" lang="en-US" altLang="zh-CN" dirty="0"/>
              <a:t>NTLDR</a:t>
            </a:r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会在</a:t>
            </a:r>
            <a:r>
              <a:rPr kumimoji="1" lang="en-US" altLang="zh-CN" dirty="0"/>
              <a:t>MBR</a:t>
            </a:r>
            <a:r>
              <a:rPr kumimoji="1" lang="zh-CN" altLang="en-US" dirty="0"/>
              <a:t>安装</a:t>
            </a:r>
            <a:r>
              <a:rPr kumimoji="1" lang="en-US" altLang="zh-CN" dirty="0"/>
              <a:t>grub</a:t>
            </a:r>
            <a:r>
              <a:rPr kumimoji="1" lang="zh-CN" altLang="en-US" dirty="0"/>
              <a:t>，可以选择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或</a:t>
            </a:r>
            <a:r>
              <a:rPr kumimoji="1" lang="en-US" altLang="zh-CN" dirty="0"/>
              <a:t>Linux</a:t>
            </a:r>
          </a:p>
          <a:p>
            <a:pPr lvl="1"/>
            <a:r>
              <a:rPr kumimoji="1" lang="zh-CN" altLang="en-US" dirty="0"/>
              <a:t>如果先安装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，再安装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，会出什么问题？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如何解决这个问题？用</a:t>
            </a:r>
            <a:r>
              <a:rPr kumimoji="1" lang="en-US" altLang="zh-CN" dirty="0"/>
              <a:t>USB</a:t>
            </a:r>
            <a:r>
              <a:rPr kumimoji="1" lang="zh-CN" altLang="en-US" dirty="0"/>
              <a:t>启动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重新安装</a:t>
            </a:r>
            <a:r>
              <a:rPr kumimoji="1" lang="en-US" altLang="zh-CN" dirty="0"/>
              <a:t>grub</a:t>
            </a:r>
          </a:p>
          <a:p>
            <a:pPr lvl="1"/>
            <a:r>
              <a:rPr kumimoji="1" lang="zh-CN" altLang="en-US" dirty="0"/>
              <a:t>如果安装了</a:t>
            </a:r>
            <a:r>
              <a:rPr kumimoji="1" lang="en-US" altLang="zh-CN" dirty="0"/>
              <a:t>Mac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，会怎么样？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D8A16E-F88E-1C41-A97F-60CEEB07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0645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EBCC5-E0E4-1C4B-B98C-E1A5A19A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设备启动的特点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5669D-35C2-DC45-A913-BF92DAD4A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通常与设备强相关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厂商提供私有固件（</a:t>
            </a:r>
            <a:r>
              <a:rPr kumimoji="1" lang="en-US" altLang="zh-CN" dirty="0"/>
              <a:t>firmware</a:t>
            </a:r>
            <a:r>
              <a:rPr kumimoji="1" lang="zh-CN" altLang="en-US" dirty="0"/>
              <a:t>）用于初始化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一般</a:t>
            </a:r>
            <a:r>
              <a:rPr kumimoji="1" lang="zh-CN" altLang="en" dirty="0"/>
              <a:t>称为</a:t>
            </a:r>
            <a:r>
              <a:rPr kumimoji="1" lang="en" altLang="zh-CN" dirty="0"/>
              <a:t>BSP</a:t>
            </a:r>
            <a:r>
              <a:rPr kumimoji="1" lang="zh-CN" altLang="en-US" dirty="0"/>
              <a:t>：</a:t>
            </a:r>
            <a:r>
              <a:rPr lang="en" altLang="zh-CN" dirty="0"/>
              <a:t> Board Support Package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不同厂商的方案往往相差很大</a:t>
            </a:r>
            <a:endParaRPr kumimoji="1" lang="en-US" altLang="zh-CN" dirty="0"/>
          </a:p>
          <a:p>
            <a:r>
              <a:rPr kumimoji="1" lang="zh-CN" altLang="en-US" dirty="0"/>
              <a:t>缺点：对可插拔外设的兼容性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ARM</a:t>
            </a:r>
            <a:r>
              <a:rPr kumimoji="1" lang="zh-CN" altLang="en-US" dirty="0"/>
              <a:t>嵌入式设备一般不支持</a:t>
            </a:r>
            <a:r>
              <a:rPr kumimoji="1" lang="en-US" altLang="zh-CN" dirty="0"/>
              <a:t>PCIe</a:t>
            </a:r>
            <a:r>
              <a:rPr kumimoji="1" lang="zh-CN" altLang="en-US" dirty="0"/>
              <a:t>等外设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CED1D8-E0C7-014F-BC43-43FBF865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2068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70CEF-7F05-C24C-BFBA-AC1DDA8C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210482-568B-9642-B459-966AEF16B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x86</a:t>
            </a:r>
            <a:r>
              <a:rPr kumimoji="1" lang="zh-CN" altLang="en-US" sz="2000" dirty="0"/>
              <a:t>平台常见组合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BIOS</a:t>
            </a:r>
            <a:r>
              <a:rPr kumimoji="1" lang="zh-CN" altLang="en-US" sz="2000" dirty="0"/>
              <a:t>（在</a:t>
            </a:r>
            <a:r>
              <a:rPr kumimoji="1" lang="en-US" altLang="zh-CN" sz="2000" dirty="0"/>
              <a:t>ROM</a:t>
            </a:r>
            <a:r>
              <a:rPr kumimoji="1" lang="zh-CN" altLang="en-US" sz="2000" dirty="0"/>
              <a:t>）：传统</a:t>
            </a:r>
            <a:r>
              <a:rPr kumimoji="1" lang="en-US" altLang="zh-CN" sz="2000" dirty="0"/>
              <a:t>BIOS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EFI/UEFI</a:t>
            </a:r>
            <a:r>
              <a:rPr kumimoji="1" lang="zh-CN" altLang="en-US" sz="2000" dirty="0"/>
              <a:t>、</a:t>
            </a:r>
            <a:r>
              <a:rPr kumimoji="1" lang="en-US" altLang="zh-CN" sz="2000" dirty="0" err="1"/>
              <a:t>coreboot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Bootloader</a:t>
            </a:r>
            <a:r>
              <a:rPr kumimoji="1" lang="zh-CN" altLang="en-US" sz="2000" dirty="0"/>
              <a:t>（在</a:t>
            </a:r>
            <a:r>
              <a:rPr kumimoji="1" lang="en-US" altLang="zh-CN" sz="2000" dirty="0"/>
              <a:t>MBR</a:t>
            </a:r>
            <a:r>
              <a:rPr kumimoji="1" lang="zh-CN" altLang="en-US" sz="2000" dirty="0"/>
              <a:t>）：</a:t>
            </a:r>
            <a:r>
              <a:rPr kumimoji="1" lang="en-US" altLang="zh-CN" sz="2000" dirty="0"/>
              <a:t>NTLDR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Grub</a:t>
            </a:r>
          </a:p>
          <a:p>
            <a:pPr lvl="1"/>
            <a:r>
              <a:rPr kumimoji="1" lang="en-US" altLang="zh-CN" sz="2000" dirty="0"/>
              <a:t>Linux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kernel</a:t>
            </a:r>
            <a:r>
              <a:rPr kumimoji="1" lang="zh-CN" altLang="en-US" sz="2000" dirty="0"/>
              <a:t>（在磁盘）</a:t>
            </a:r>
            <a:endParaRPr kumimoji="1" lang="en-US" altLang="zh-CN" sz="2000" dirty="0"/>
          </a:p>
          <a:p>
            <a:r>
              <a:rPr kumimoji="1" lang="en-US" altLang="zh-CN" sz="2000" dirty="0"/>
              <a:t>ARM</a:t>
            </a:r>
            <a:r>
              <a:rPr kumimoji="1" lang="zh-CN" altLang="en-US" sz="2000" dirty="0"/>
              <a:t>嵌入式平台常见组合</a:t>
            </a:r>
            <a:endParaRPr kumimoji="1" lang="en-US" altLang="zh-CN" sz="2000" dirty="0"/>
          </a:p>
          <a:p>
            <a:pPr lvl="1"/>
            <a:r>
              <a:rPr lang="en" altLang="zh-CN" sz="2000" dirty="0"/>
              <a:t>ROM code</a:t>
            </a:r>
            <a:r>
              <a:rPr lang="zh-CN" altLang="en-US" sz="2000" dirty="0"/>
              <a:t>（在</a:t>
            </a:r>
            <a:r>
              <a:rPr lang="en-US" altLang="zh-CN" sz="2000" dirty="0"/>
              <a:t>ROM</a:t>
            </a:r>
            <a:r>
              <a:rPr lang="zh-CN" altLang="en-US" sz="2000" dirty="0"/>
              <a:t>）：主板厂商私有</a:t>
            </a:r>
            <a:endParaRPr lang="en" altLang="zh-CN" sz="2000" dirty="0"/>
          </a:p>
          <a:p>
            <a:pPr lvl="1"/>
            <a:r>
              <a:rPr lang="en" altLang="zh-CN" sz="2000" dirty="0"/>
              <a:t>Bootloader</a:t>
            </a:r>
            <a:r>
              <a:rPr lang="zh-CN" altLang="en-US" sz="2000" dirty="0"/>
              <a:t>（在</a:t>
            </a:r>
            <a:r>
              <a:rPr lang="en-US" altLang="zh-CN" sz="2000" dirty="0"/>
              <a:t>SD</a:t>
            </a:r>
            <a:r>
              <a:rPr lang="zh-CN" altLang="en-US" sz="2000" dirty="0"/>
              <a:t>卡）：如</a:t>
            </a:r>
            <a:r>
              <a:rPr lang="en-US" altLang="zh-CN" sz="2000" dirty="0"/>
              <a:t>u</a:t>
            </a:r>
            <a:r>
              <a:rPr lang="en" altLang="zh-CN" sz="2000" dirty="0"/>
              <a:t>boot</a:t>
            </a:r>
            <a:endParaRPr lang="en-US" altLang="zh-CN" sz="2000" dirty="0"/>
          </a:p>
          <a:p>
            <a:pPr lvl="1"/>
            <a:r>
              <a:rPr lang="en-US" altLang="zh-CN" sz="2000" dirty="0"/>
              <a:t>L</a:t>
            </a:r>
            <a:r>
              <a:rPr lang="en" altLang="zh-CN" sz="2000" dirty="0" err="1"/>
              <a:t>inux</a:t>
            </a:r>
            <a:r>
              <a:rPr lang="en" altLang="zh-CN" sz="2000" dirty="0"/>
              <a:t> kernel</a:t>
            </a:r>
            <a:r>
              <a:rPr lang="zh-CN" altLang="en-US" sz="2000" dirty="0"/>
              <a:t>（在</a:t>
            </a:r>
            <a:r>
              <a:rPr lang="en-US" altLang="zh-CN" sz="2000" dirty="0"/>
              <a:t>SD</a:t>
            </a:r>
            <a:r>
              <a:rPr lang="zh-CN" altLang="en-US" sz="2000" dirty="0"/>
              <a:t>卡）</a:t>
            </a:r>
            <a:endParaRPr lang="en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BFAB26-EC96-D343-91D6-379C8C5F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08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44056</TotalTime>
  <Words>3124</Words>
  <Application>Microsoft Macintosh PowerPoint</Application>
  <PresentationFormat>全屏显示(16:10)</PresentationFormat>
  <Paragraphs>429</Paragraphs>
  <Slides>57</Slides>
  <Notes>10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57</vt:i4>
      </vt:variant>
    </vt:vector>
  </HeadingPairs>
  <TitlesOfParts>
    <vt:vector size="67" baseType="lpstr">
      <vt:lpstr>DengXian</vt:lpstr>
      <vt:lpstr>Microsoft YaHei Light</vt:lpstr>
      <vt:lpstr>Arial</vt:lpstr>
      <vt:lpstr>Calibri</vt:lpstr>
      <vt:lpstr>Consolas</vt:lpstr>
      <vt:lpstr>Courier New</vt:lpstr>
      <vt:lpstr>Times New Roman</vt:lpstr>
      <vt:lpstr>Verdana</vt:lpstr>
      <vt:lpstr>Office 主题​​</vt:lpstr>
      <vt:lpstr>1_Office 主题​​</vt:lpstr>
      <vt:lpstr>系统初始化</vt:lpstr>
      <vt:lpstr>版权声明</vt:lpstr>
      <vt:lpstr>Review: 操作系统的执行流（简化版）</vt:lpstr>
      <vt:lpstr>Review: 上下文保存与恢复</vt:lpstr>
      <vt:lpstr>Review: vDSO</vt:lpstr>
      <vt:lpstr>Flex-SC</vt:lpstr>
      <vt:lpstr>Motivation</vt:lpstr>
      <vt:lpstr>Flexible System Call</vt:lpstr>
      <vt:lpstr>System Call的另一种方法</vt:lpstr>
      <vt:lpstr>Exception-less System Call</vt:lpstr>
      <vt:lpstr>Kernel填充syscall的返回值</vt:lpstr>
      <vt:lpstr>单核上：Single Threads</vt:lpstr>
      <vt:lpstr>单核上：Multiple Threads</vt:lpstr>
      <vt:lpstr>计算机启动</vt:lpstr>
      <vt:lpstr>启动流程：从上电到等待用户输入</vt:lpstr>
      <vt:lpstr>启动：一个复杂的过程</vt:lpstr>
      <vt:lpstr>内核启动的2个主要任务</vt:lpstr>
      <vt:lpstr>内核代码加载与运行</vt:lpstr>
      <vt:lpstr>真·第一行代码</vt:lpstr>
      <vt:lpstr>树莓派</vt:lpstr>
      <vt:lpstr>树莓派特殊的启动3阶段（by GPU）</vt:lpstr>
      <vt:lpstr>入口函数位置</vt:lpstr>
      <vt:lpstr>ChCore启动代码</vt:lpstr>
      <vt:lpstr>ChCore内核的起始地址（编译脚本）</vt:lpstr>
      <vt:lpstr>内核运行的第一行代码：准备进入EL1</vt:lpstr>
      <vt:lpstr>PowerPoint 演示文稿</vt:lpstr>
      <vt:lpstr>PowerPoint 演示文稿</vt:lpstr>
      <vt:lpstr>PowerPoint 演示文稿</vt:lpstr>
      <vt:lpstr>PowerPoint 演示文稿</vt:lpstr>
      <vt:lpstr>从 /boot 到 /kernel </vt:lpstr>
      <vt:lpstr>页表初始化</vt:lpstr>
      <vt:lpstr>回到 init_c：页表初始化</vt:lpstr>
      <vt:lpstr>回到 init_c：页表初始化</vt:lpstr>
      <vt:lpstr>Level 3 页表项</vt:lpstr>
      <vt:lpstr>回到 init_c：页表初始化</vt:lpstr>
      <vt:lpstr>页表设置完，开启翻译</vt:lpstr>
      <vt:lpstr>此时的内存布局</vt:lpstr>
      <vt:lpstr>开启页表前后</vt:lpstr>
      <vt:lpstr>异常向量表初始化</vt:lpstr>
      <vt:lpstr>异常向量表初始化</vt:lpstr>
      <vt:lpstr>PowerPoint 演示文稿</vt:lpstr>
      <vt:lpstr>PowerPoint 演示文稿</vt:lpstr>
      <vt:lpstr>PowerPoint 演示文稿</vt:lpstr>
      <vt:lpstr>内核启动前：BIOS的作用</vt:lpstr>
      <vt:lpstr>从计算机上电到内核开始运行</vt:lpstr>
      <vt:lpstr>BIOS (Basic Input/Output System)</vt:lpstr>
      <vt:lpstr>上电自检（POST）</vt:lpstr>
      <vt:lpstr>MBR（Master Boot Record）</vt:lpstr>
      <vt:lpstr>Linux Grub</vt:lpstr>
      <vt:lpstr>BIOS与生态</vt:lpstr>
      <vt:lpstr>EFI / UEFI</vt:lpstr>
      <vt:lpstr>两种启动的对比</vt:lpstr>
      <vt:lpstr>这个问题说明什么？</vt:lpstr>
      <vt:lpstr>问题</vt:lpstr>
      <vt:lpstr>问题</vt:lpstr>
      <vt:lpstr>ARM设备启动的特点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1173</cp:revision>
  <cp:lastPrinted>2020-03-02T13:38:09Z</cp:lastPrinted>
  <dcterms:created xsi:type="dcterms:W3CDTF">2017-11-24T09:35:45Z</dcterms:created>
  <dcterms:modified xsi:type="dcterms:W3CDTF">2022-02-24T04:54:24Z</dcterms:modified>
</cp:coreProperties>
</file>