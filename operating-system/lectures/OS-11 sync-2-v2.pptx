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1306" r:id="rId2"/>
    <p:sldId id="1359" r:id="rId3"/>
    <p:sldId id="2414" r:id="rId4"/>
    <p:sldId id="2415" r:id="rId5"/>
    <p:sldId id="2416" r:id="rId6"/>
    <p:sldId id="2445" r:id="rId7"/>
    <p:sldId id="2418" r:id="rId8"/>
    <p:sldId id="2402" r:id="rId9"/>
    <p:sldId id="2419" r:id="rId10"/>
    <p:sldId id="2420" r:id="rId11"/>
    <p:sldId id="2422" r:id="rId12"/>
    <p:sldId id="2421" r:id="rId13"/>
    <p:sldId id="2442" r:id="rId14"/>
    <p:sldId id="2429" r:id="rId15"/>
    <p:sldId id="2430" r:id="rId16"/>
    <p:sldId id="2428" r:id="rId17"/>
    <p:sldId id="2431" r:id="rId18"/>
    <p:sldId id="2432" r:id="rId19"/>
    <p:sldId id="2446" r:id="rId20"/>
    <p:sldId id="2447" r:id="rId21"/>
    <p:sldId id="2448" r:id="rId22"/>
    <p:sldId id="2441" r:id="rId23"/>
    <p:sldId id="2449" r:id="rId24"/>
    <p:sldId id="2450" r:id="rId25"/>
    <p:sldId id="2437" r:id="rId26"/>
    <p:sldId id="2438" r:id="rId27"/>
    <p:sldId id="2439" r:id="rId28"/>
    <p:sldId id="2440" r:id="rId29"/>
    <p:sldId id="2443" r:id="rId30"/>
    <p:sldId id="2378" r:id="rId31"/>
    <p:sldId id="1375" r:id="rId32"/>
    <p:sldId id="1428" r:id="rId33"/>
    <p:sldId id="1429" r:id="rId34"/>
    <p:sldId id="1373" r:id="rId35"/>
    <p:sldId id="2349" r:id="rId36"/>
    <p:sldId id="2350" r:id="rId37"/>
    <p:sldId id="2358" r:id="rId38"/>
    <p:sldId id="2351" r:id="rId39"/>
    <p:sldId id="1374" r:id="rId40"/>
    <p:sldId id="2444" r:id="rId41"/>
    <p:sldId id="1430" r:id="rId42"/>
    <p:sldId id="2359" r:id="rId43"/>
    <p:sldId id="2360" r:id="rId44"/>
    <p:sldId id="2362" r:id="rId45"/>
    <p:sldId id="2363" r:id="rId46"/>
    <p:sldId id="2364" r:id="rId47"/>
    <p:sldId id="1431" r:id="rId48"/>
    <p:sldId id="1377" r:id="rId49"/>
    <p:sldId id="1380" r:id="rId50"/>
    <p:sldId id="2382" r:id="rId51"/>
    <p:sldId id="1432" r:id="rId52"/>
    <p:sldId id="2383" r:id="rId53"/>
    <p:sldId id="2425" r:id="rId54"/>
    <p:sldId id="2348" r:id="rId55"/>
    <p:sldId id="1433" r:id="rId56"/>
    <p:sldId id="2426" r:id="rId57"/>
    <p:sldId id="1434" r:id="rId58"/>
    <p:sldId id="2385" r:id="rId59"/>
    <p:sldId id="2427" r:id="rId60"/>
    <p:sldId id="2369" r:id="rId61"/>
    <p:sldId id="2386" r:id="rId62"/>
    <p:sldId id="2347" r:id="rId63"/>
    <p:sldId id="1435" r:id="rId64"/>
    <p:sldId id="1438" r:id="rId65"/>
    <p:sldId id="1439" r:id="rId66"/>
    <p:sldId id="1437" r:id="rId67"/>
    <p:sldId id="1440" r:id="rId68"/>
    <p:sldId id="1441" r:id="rId69"/>
    <p:sldId id="1442" r:id="rId70"/>
    <p:sldId id="1443" r:id="rId71"/>
    <p:sldId id="1444" r:id="rId72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B92"/>
    <a:srgbClr val="941100"/>
    <a:srgbClr val="212121"/>
    <a:srgbClr val="005493"/>
    <a:srgbClr val="FF2F92"/>
    <a:srgbClr val="9437FF"/>
    <a:srgbClr val="73FEFF"/>
    <a:srgbClr val="ED3C64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15" autoAdjust="0"/>
    <p:restoredTop sz="83885" autoAdjust="0"/>
  </p:normalViewPr>
  <p:slideViewPr>
    <p:cSldViewPr>
      <p:cViewPr varScale="1">
        <p:scale>
          <a:sx n="99" d="100"/>
          <a:sy n="99" d="100"/>
        </p:scale>
        <p:origin x="192" y="1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21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BSP,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</a:t>
            </a:r>
          </a:p>
          <a:p>
            <a:r>
              <a:rPr kumimoji="1" lang="en-US" altLang="zh-CN" dirty="0" err="1"/>
              <a:t>sem</a:t>
            </a:r>
            <a:r>
              <a:rPr kumimoji="1" lang="zh-CN" altLang="en-US" dirty="0"/>
              <a:t>？要创建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</a:t>
            </a:r>
            <a:r>
              <a:rPr kumimoji="1" lang="en-US" altLang="zh-CN" dirty="0" err="1"/>
              <a:t>sem</a:t>
            </a:r>
            <a:r>
              <a:rPr kumimoji="1" lang="zh-CN" altLang="en-US" dirty="0"/>
              <a:t>，每个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等待所有其他</a:t>
            </a:r>
            <a:r>
              <a:rPr kumimoji="1" lang="en-US" altLang="zh-CN" dirty="0"/>
              <a:t>thread</a:t>
            </a:r>
          </a:p>
          <a:p>
            <a:r>
              <a:rPr kumimoji="1" lang="en-US" altLang="zh-CN" dirty="0"/>
              <a:t>cv</a:t>
            </a:r>
            <a:r>
              <a:rPr kumimoji="1" lang="zh-CN" altLang="en-US" dirty="0"/>
              <a:t>更灵活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61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Reducer</a:t>
            </a:r>
            <a:r>
              <a:rPr kumimoji="1" lang="zh-CN" altLang="en-US" dirty="0"/>
              <a:t>等待任意数量结束，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375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Reducer</a:t>
            </a:r>
            <a:r>
              <a:rPr kumimoji="1" lang="zh-CN" altLang="en-US" dirty="0"/>
              <a:t>等待任意数量结束，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318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Reducer</a:t>
            </a:r>
            <a:r>
              <a:rPr kumimoji="1" lang="zh-CN" altLang="en-US" dirty="0"/>
              <a:t>起来后，可能发现多个</a:t>
            </a:r>
            <a:r>
              <a:rPr kumimoji="1" lang="en-US" altLang="zh-CN" dirty="0"/>
              <a:t>mapper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finish</a:t>
            </a:r>
          </a:p>
          <a:p>
            <a:r>
              <a:rPr kumimoji="1" lang="en-US" altLang="zh-CN" dirty="0"/>
              <a:t>cv</a:t>
            </a:r>
            <a:r>
              <a:rPr kumimoji="1" lang="zh-CN" altLang="en-US" dirty="0"/>
              <a:t>没有</a:t>
            </a:r>
            <a:r>
              <a:rPr kumimoji="1" lang="en-US" altLang="zh-CN" dirty="0"/>
              <a:t>counter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827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上一种可以多个结果一起collect</a:t>
            </a:r>
            <a:r>
              <a:rPr lang="zh-CN" altLang="en-US" dirty="0"/>
              <a:t>，</a:t>
            </a:r>
            <a:r>
              <a:rPr lang="en-US" altLang="zh-CN" dirty="0" err="1"/>
              <a:t>sem</a:t>
            </a:r>
            <a:r>
              <a:rPr lang="zh-CN" altLang="en-US" dirty="0"/>
              <a:t>这种只能一次</a:t>
            </a:r>
            <a:r>
              <a:rPr lang="en-US" altLang="zh-CN" dirty="0"/>
              <a:t>collect</a:t>
            </a:r>
            <a:r>
              <a:rPr lang="zh-CN" altLang="en-US" dirty="0"/>
              <a:t>一个</a:t>
            </a:r>
            <a:endParaRPr lang="en-US" altLang="zh-CN" dirty="0"/>
          </a:p>
          <a:p>
            <a:r>
              <a:rPr lang="en-US" altLang="zh-CN" dirty="0" err="1"/>
              <a:t>sem</a:t>
            </a:r>
            <a:r>
              <a:rPr lang="zh-CN" altLang="en-US" dirty="0"/>
              <a:t>的语义，就是一次只能拿走一个（</a:t>
            </a:r>
            <a:r>
              <a:rPr lang="en-US" altLang="zh-CN" dirty="0"/>
              <a:t>counter</a:t>
            </a:r>
            <a:r>
              <a:rPr lang="zh-CN" altLang="en-US" dirty="0"/>
              <a:t>每次只能减一）</a:t>
            </a:r>
            <a:endParaRPr lang="en-US" altLang="zh-CN" dirty="0"/>
          </a:p>
          <a:p>
            <a:r>
              <a:rPr lang="zh-CN" altLang="en-US" dirty="0"/>
              <a:t>但</a:t>
            </a:r>
            <a:r>
              <a:rPr lang="en-US" altLang="zh-CN" dirty="0"/>
              <a:t>cv</a:t>
            </a:r>
            <a:r>
              <a:rPr lang="zh-CN" altLang="en-US" dirty="0"/>
              <a:t>更复杂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774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必须*所有*结束，渲染才能继续（渲染线程处于阻塞状态）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280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同样需要</a:t>
            </a:r>
            <a:r>
              <a:rPr kumimoji="1" lang="en-US" altLang="zh-CN" dirty="0"/>
              <a:t>wait</a:t>
            </a:r>
            <a:r>
              <a:rPr kumimoji="1" lang="zh-CN" altLang="en-US" dirty="0"/>
              <a:t>多次，唤醒多次；好处是代码更简单</a:t>
            </a:r>
            <a:endParaRPr kumimoji="1" lang="en-US" altLang="zh-CN" dirty="0"/>
          </a:p>
          <a:p>
            <a:r>
              <a:rPr kumimoji="1" lang="zh-CN" altLang="en-US" dirty="0"/>
              <a:t>与</a:t>
            </a:r>
            <a:r>
              <a:rPr kumimoji="1" lang="en-US" altLang="zh-CN" dirty="0"/>
              <a:t>barrier</a:t>
            </a:r>
            <a:r>
              <a:rPr kumimoji="1" lang="zh-CN" altLang="en-US" dirty="0"/>
              <a:t>场景的区别：</a:t>
            </a:r>
            <a:r>
              <a:rPr kumimoji="1" lang="en-US" altLang="zh-CN" dirty="0"/>
              <a:t>barrier</a:t>
            </a:r>
            <a:r>
              <a:rPr kumimoji="1" lang="zh-CN" altLang="en-US" dirty="0"/>
              <a:t>不适合用</a:t>
            </a:r>
            <a:r>
              <a:rPr kumimoji="1" lang="en-US" altLang="zh-CN" dirty="0" err="1"/>
              <a:t>sem</a:t>
            </a:r>
            <a:r>
              <a:rPr kumimoji="1" lang="zh-CN" altLang="en-US" dirty="0"/>
              <a:t>，没有什么适合抽象成</a:t>
            </a:r>
            <a:r>
              <a:rPr kumimoji="1" lang="zh-CN" altLang="en-US" u="sng" dirty="0"/>
              <a:t>等待的资源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792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altLang="zh-CN">
                <a:latin typeface="Courier" pitchFamily="2" charset="0"/>
              </a:rPr>
              <a:t>thread_cnt_sem</a:t>
            </a:r>
            <a:r>
              <a:rPr lang="zh-CN" altLang="en-US" dirty="0">
                <a:latin typeface="Courier" pitchFamily="2" charset="0"/>
              </a:rPr>
              <a:t>初始化为</a:t>
            </a:r>
            <a:r>
              <a:rPr lang="en-US" altLang="zh-CN" dirty="0">
                <a:latin typeface="Courier" pitchFamily="2" charset="0"/>
              </a:rPr>
              <a:t>3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71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828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读者</a:t>
            </a:r>
            <a:r>
              <a:rPr lang="en-US" altLang="zh-CN"/>
              <a:t>3</a:t>
            </a:r>
            <a:r>
              <a:rPr lang="zh-CN" altLang="en-US"/>
              <a:t>还在</a:t>
            </a:r>
            <a:r>
              <a:rPr lang="en-US" altLang="zh-CN"/>
              <a:t>A</a:t>
            </a:r>
            <a:r>
              <a:rPr lang="zh-CN" altLang="en-US"/>
              <a:t>的时候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174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无法</a:t>
            </a:r>
            <a:r>
              <a:rPr lang="zh-CN" altLang="en-US"/>
              <a:t>使用在复杂场景下如双向链表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018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无法</a:t>
            </a:r>
            <a:r>
              <a:rPr lang="zh-CN" altLang="en-US"/>
              <a:t>使用在复杂场景下如双向链表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276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428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350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612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全局可利用资源：该向量代表某一时刻系统中每一类元素的可用个数。这个向量初始化时设置为系统中拥有的第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类资源的总量。</a:t>
            </a:r>
          </a:p>
          <a:p>
            <a:r>
              <a:rPr lang="zh-CN" altLang="en-US" dirty="0"/>
              <a:t>每线程最大需求量：该矩阵包含所有线程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对第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类资源的最大需求量。</a:t>
            </a:r>
          </a:p>
          <a:p>
            <a:r>
              <a:rPr lang="zh-CN" altLang="en-US" dirty="0"/>
              <a:t>已分配资源：该矩阵包含已经分配给所有线程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的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种资源的数量。</a:t>
            </a:r>
          </a:p>
          <a:p>
            <a:r>
              <a:rPr lang="zh-CN" altLang="en-US" dirty="0"/>
              <a:t>还需要的资源：该矩阵包含所有线程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对第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累资源还需要的资源数量。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95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同步原语对比、死锁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35BE-75C1-024A-8D9D-3201342B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场景一：共享资源互斥访问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43A1-AB42-5E44-8365-A6DA9DFD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C97F-082B-0E4B-B230-117B7AB8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8D808-4E66-5944-AE17-CF927FD029D0}"/>
              </a:ext>
            </a:extLst>
          </p:cNvPr>
          <p:cNvSpPr/>
          <p:nvPr/>
        </p:nvSpPr>
        <p:spPr>
          <a:xfrm>
            <a:off x="2249016" y="1129308"/>
            <a:ext cx="4572000" cy="8739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多个线程需要同时访问同一共享数据</a:t>
            </a:r>
          </a:p>
          <a:p>
            <a:pPr algn="ctr">
              <a:lnSpc>
                <a:spcPct val="150000"/>
              </a:lnSpc>
            </a:pPr>
            <a:r>
              <a:rPr lang="en-CN"/>
              <a:t>应用程序需要保证</a:t>
            </a:r>
            <a:r>
              <a:rPr lang="en-CN" b="1"/>
              <a:t>互斥访问</a:t>
            </a:r>
            <a:r>
              <a:rPr lang="en-CN"/>
              <a:t>避免数据竞争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FFCD6-6DD4-D643-9C64-43B2012EB8D8}"/>
              </a:ext>
            </a:extLst>
          </p:cNvPr>
          <p:cNvSpPr/>
          <p:nvPr/>
        </p:nvSpPr>
        <p:spPr>
          <a:xfrm>
            <a:off x="539552" y="2243088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int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= 0;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void thread_1(void)</a:t>
            </a: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+ 1;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void thread_2(void)</a:t>
            </a: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- 1;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94191-5F32-1C41-8FA1-5C2BA56C92A0}"/>
              </a:ext>
            </a:extLst>
          </p:cNvPr>
          <p:cNvSpPr/>
          <p:nvPr/>
        </p:nvSpPr>
        <p:spPr>
          <a:xfrm>
            <a:off x="427039" y="4585692"/>
            <a:ext cx="4572000" cy="4565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使用</a:t>
            </a:r>
            <a:r>
              <a:rPr lang="en-CN" b="1"/>
              <a:t>互斥锁</a:t>
            </a:r>
            <a:r>
              <a:rPr lang="en-CN"/>
              <a:t>保证</a:t>
            </a:r>
            <a:r>
              <a:rPr lang="en-CN" b="1"/>
              <a:t>互斥访问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4F9AE18-301F-1144-A76A-056E9DCBE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928" y="2911817"/>
            <a:ext cx="547797" cy="5477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2C2868-DDA7-2D4E-82B1-A892BBD56DDB}"/>
              </a:ext>
            </a:extLst>
          </p:cNvPr>
          <p:cNvSpPr/>
          <p:nvPr/>
        </p:nvSpPr>
        <p:spPr>
          <a:xfrm>
            <a:off x="7837218" y="298909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1</a:t>
            </a:r>
            <a:endParaRPr lang="en-CN" b="1">
              <a:solidFill>
                <a:schemeClr val="bg1"/>
              </a:solidFill>
            </a:endParaRPr>
          </a:p>
        </p:txBody>
      </p:sp>
      <p:pic>
        <p:nvPicPr>
          <p:cNvPr id="13" name="图片 10">
            <a:extLst>
              <a:ext uri="{FF2B5EF4-FFF2-40B4-BE49-F238E27FC236}">
                <a16:creationId xmlns:a16="http://schemas.microsoft.com/office/drawing/2014/main" id="{B26CAED6-69FF-0344-BC3D-8E55E5B5B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28" y="3064217"/>
            <a:ext cx="547797" cy="54779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7C59B54-D486-254B-9197-B2D1973E0A22}"/>
              </a:ext>
            </a:extLst>
          </p:cNvPr>
          <p:cNvSpPr/>
          <p:nvPr/>
        </p:nvSpPr>
        <p:spPr>
          <a:xfrm>
            <a:off x="7989618" y="314149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ourier" pitchFamily="2" charset="0"/>
              </a:rPr>
              <a:t>2</a:t>
            </a:r>
            <a:endParaRPr lang="en-CN" b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09CF9-E156-3947-B6A0-8F987E275109}"/>
              </a:ext>
            </a:extLst>
          </p:cNvPr>
          <p:cNvSpPr/>
          <p:nvPr/>
        </p:nvSpPr>
        <p:spPr>
          <a:xfrm>
            <a:off x="5993138" y="458421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回顾</a:t>
            </a:r>
            <a:r>
              <a:rPr lang="zh-CN" altLang="en-US"/>
              <a:t>：多生产者之间协同</a:t>
            </a:r>
            <a:endParaRPr lang="en-CN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53095D25-AFC0-2649-A918-F27A3D3DD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124662"/>
            <a:ext cx="3600400" cy="23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3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35BE-75C1-024A-8D9D-3201342B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衍生场景一：读写场景并发读取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43A1-AB42-5E44-8365-A6DA9DFD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C97F-082B-0E4B-B230-117B7AB8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0FF43F-EEAC-C84D-82BE-5FA21F7E8885}"/>
              </a:ext>
            </a:extLst>
          </p:cNvPr>
          <p:cNvSpPr/>
          <p:nvPr/>
        </p:nvSpPr>
        <p:spPr>
          <a:xfrm>
            <a:off x="2249016" y="1129308"/>
            <a:ext cx="4572000" cy="8720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多个线程</a:t>
            </a:r>
            <a:r>
              <a:rPr lang="en-CN" b="1"/>
              <a:t>只会读取</a:t>
            </a:r>
            <a:r>
              <a:rPr lang="en-CN"/>
              <a:t>共享数据</a:t>
            </a:r>
          </a:p>
          <a:p>
            <a:pPr algn="ctr">
              <a:lnSpc>
                <a:spcPct val="150000"/>
              </a:lnSpc>
            </a:pPr>
            <a:r>
              <a:rPr lang="en-CN"/>
              <a:t>允许读者线程</a:t>
            </a:r>
            <a:r>
              <a:rPr lang="en-CN" b="1"/>
              <a:t>并发执行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6E82F-1303-1546-8162-F8086EC04159}"/>
              </a:ext>
            </a:extLst>
          </p:cNvPr>
          <p:cNvSpPr/>
          <p:nvPr/>
        </p:nvSpPr>
        <p:spPr>
          <a:xfrm>
            <a:off x="539552" y="206981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int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void reader(void)</a:t>
            </a: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local_var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void writer(void)</a:t>
            </a: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shared_var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  <a:endParaRPr lang="en-US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2A6A38-2CD1-8C48-82F6-87590CC42862}"/>
              </a:ext>
            </a:extLst>
          </p:cNvPr>
          <p:cNvGrpSpPr>
            <a:grpSpLocks noChangeAspect="1"/>
          </p:cNvGrpSpPr>
          <p:nvPr/>
        </p:nvGrpSpPr>
        <p:grpSpPr>
          <a:xfrm>
            <a:off x="5292080" y="2029750"/>
            <a:ext cx="3751021" cy="2706054"/>
            <a:chOff x="4709411" y="1278523"/>
            <a:chExt cx="5309048" cy="383004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3504B1-B009-3546-AA32-34F8321521F6}"/>
                </a:ext>
              </a:extLst>
            </p:cNvPr>
            <p:cNvSpPr/>
            <p:nvPr/>
          </p:nvSpPr>
          <p:spPr>
            <a:xfrm>
              <a:off x="6553200" y="1624012"/>
              <a:ext cx="2160240" cy="1656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10" name="组合 11">
              <a:extLst>
                <a:ext uri="{FF2B5EF4-FFF2-40B4-BE49-F238E27FC236}">
                  <a16:creationId xmlns:a16="http://schemas.microsoft.com/office/drawing/2014/main" id="{6698C396-E5B8-404C-8116-C3C63E64C55B}"/>
                </a:ext>
              </a:extLst>
            </p:cNvPr>
            <p:cNvGrpSpPr/>
            <p:nvPr/>
          </p:nvGrpSpPr>
          <p:grpSpPr>
            <a:xfrm>
              <a:off x="6454082" y="3591076"/>
              <a:ext cx="914400" cy="914400"/>
              <a:chOff x="2942911" y="3835579"/>
              <a:chExt cx="914400" cy="914400"/>
            </a:xfrm>
          </p:grpSpPr>
          <p:pic>
            <p:nvPicPr>
              <p:cNvPr id="11" name="图形 12" descr="用户">
                <a:extLst>
                  <a:ext uri="{FF2B5EF4-FFF2-40B4-BE49-F238E27FC236}">
                    <a16:creationId xmlns:a16="http://schemas.microsoft.com/office/drawing/2014/main" id="{CA47EEA4-1656-3D48-9C98-C9CA3DA87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42911" y="383557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" name="文本框 13">
                <a:extLst>
                  <a:ext uri="{FF2B5EF4-FFF2-40B4-BE49-F238E27FC236}">
                    <a16:creationId xmlns:a16="http://schemas.microsoft.com/office/drawing/2014/main" id="{16E12652-8800-BC4B-90A7-B0474B8F073A}"/>
                  </a:ext>
                </a:extLst>
              </p:cNvPr>
              <p:cNvSpPr txBox="1"/>
              <p:nvPr/>
            </p:nvSpPr>
            <p:spPr>
              <a:xfrm>
                <a:off x="2942911" y="422565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b="1" dirty="0"/>
              </a:p>
            </p:txBody>
          </p:sp>
        </p:grpSp>
        <p:grpSp>
          <p:nvGrpSpPr>
            <p:cNvPr id="13" name="组合 11">
              <a:extLst>
                <a:ext uri="{FF2B5EF4-FFF2-40B4-BE49-F238E27FC236}">
                  <a16:creationId xmlns:a16="http://schemas.microsoft.com/office/drawing/2014/main" id="{604E0E29-F5E2-B041-BA11-F1415DD513F4}"/>
                </a:ext>
              </a:extLst>
            </p:cNvPr>
            <p:cNvGrpSpPr/>
            <p:nvPr/>
          </p:nvGrpSpPr>
          <p:grpSpPr>
            <a:xfrm>
              <a:off x="7129265" y="3864935"/>
              <a:ext cx="914400" cy="914400"/>
              <a:chOff x="2942911" y="3835579"/>
              <a:chExt cx="914400" cy="914400"/>
            </a:xfrm>
          </p:grpSpPr>
          <p:pic>
            <p:nvPicPr>
              <p:cNvPr id="14" name="图形 12" descr="用户">
                <a:extLst>
                  <a:ext uri="{FF2B5EF4-FFF2-40B4-BE49-F238E27FC236}">
                    <a16:creationId xmlns:a16="http://schemas.microsoft.com/office/drawing/2014/main" id="{8FEAC32C-68EB-1240-BCE2-F1FF41BF45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42911" y="383557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5" name="文本框 13">
                <a:extLst>
                  <a:ext uri="{FF2B5EF4-FFF2-40B4-BE49-F238E27FC236}">
                    <a16:creationId xmlns:a16="http://schemas.microsoft.com/office/drawing/2014/main" id="{51BE343F-526D-5A47-9655-B78FF0140159}"/>
                  </a:ext>
                </a:extLst>
              </p:cNvPr>
              <p:cNvSpPr txBox="1"/>
              <p:nvPr/>
            </p:nvSpPr>
            <p:spPr>
              <a:xfrm>
                <a:off x="2942911" y="422565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b="1" dirty="0"/>
              </a:p>
            </p:txBody>
          </p:sp>
        </p:grpSp>
        <p:grpSp>
          <p:nvGrpSpPr>
            <p:cNvPr id="16" name="组合 11">
              <a:extLst>
                <a:ext uri="{FF2B5EF4-FFF2-40B4-BE49-F238E27FC236}">
                  <a16:creationId xmlns:a16="http://schemas.microsoft.com/office/drawing/2014/main" id="{3CB86737-A4D9-EC4C-9499-BB13E1D8EA1F}"/>
                </a:ext>
              </a:extLst>
            </p:cNvPr>
            <p:cNvGrpSpPr/>
            <p:nvPr/>
          </p:nvGrpSpPr>
          <p:grpSpPr>
            <a:xfrm>
              <a:off x="7633321" y="3436081"/>
              <a:ext cx="914400" cy="914400"/>
              <a:chOff x="2942911" y="3835579"/>
              <a:chExt cx="914400" cy="914400"/>
            </a:xfrm>
          </p:grpSpPr>
          <p:pic>
            <p:nvPicPr>
              <p:cNvPr id="17" name="图形 12" descr="用户">
                <a:extLst>
                  <a:ext uri="{FF2B5EF4-FFF2-40B4-BE49-F238E27FC236}">
                    <a16:creationId xmlns:a16="http://schemas.microsoft.com/office/drawing/2014/main" id="{72165E73-F91D-4F49-8FBC-F951C10DB6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42911" y="383557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8" name="文本框 13">
                <a:extLst>
                  <a:ext uri="{FF2B5EF4-FFF2-40B4-BE49-F238E27FC236}">
                    <a16:creationId xmlns:a16="http://schemas.microsoft.com/office/drawing/2014/main" id="{7E697F21-DDBA-7C40-AF9F-2604BB12240B}"/>
                  </a:ext>
                </a:extLst>
              </p:cNvPr>
              <p:cNvSpPr txBox="1"/>
              <p:nvPr/>
            </p:nvSpPr>
            <p:spPr>
              <a:xfrm>
                <a:off x="2942911" y="422565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b="1" dirty="0"/>
              </a:p>
            </p:txBody>
          </p:sp>
        </p:grpSp>
        <p:grpSp>
          <p:nvGrpSpPr>
            <p:cNvPr id="19" name="组合 11">
              <a:extLst>
                <a:ext uri="{FF2B5EF4-FFF2-40B4-BE49-F238E27FC236}">
                  <a16:creationId xmlns:a16="http://schemas.microsoft.com/office/drawing/2014/main" id="{6AD3A298-5998-6249-9F71-8C09E1149E42}"/>
                </a:ext>
              </a:extLst>
            </p:cNvPr>
            <p:cNvGrpSpPr/>
            <p:nvPr/>
          </p:nvGrpSpPr>
          <p:grpSpPr>
            <a:xfrm>
              <a:off x="6924093" y="3256001"/>
              <a:ext cx="914400" cy="914400"/>
              <a:chOff x="2942911" y="3835579"/>
              <a:chExt cx="914400" cy="914400"/>
            </a:xfrm>
          </p:grpSpPr>
          <p:pic>
            <p:nvPicPr>
              <p:cNvPr id="20" name="图形 12" descr="用户">
                <a:extLst>
                  <a:ext uri="{FF2B5EF4-FFF2-40B4-BE49-F238E27FC236}">
                    <a16:creationId xmlns:a16="http://schemas.microsoft.com/office/drawing/2014/main" id="{4ECB933A-61F0-264F-B571-A0B377DD41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42911" y="383557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1" name="文本框 13">
                <a:extLst>
                  <a:ext uri="{FF2B5EF4-FFF2-40B4-BE49-F238E27FC236}">
                    <a16:creationId xmlns:a16="http://schemas.microsoft.com/office/drawing/2014/main" id="{0DD3A879-AFA6-3346-9E02-5E8AD0D96F22}"/>
                  </a:ext>
                </a:extLst>
              </p:cNvPr>
              <p:cNvSpPr txBox="1"/>
              <p:nvPr/>
            </p:nvSpPr>
            <p:spPr>
              <a:xfrm>
                <a:off x="2942911" y="422565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kumimoji="1" lang="zh-CN" altLang="en-US" b="1" dirty="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A0F0B7-3E23-D845-831E-3C36312ACA2B}"/>
                </a:ext>
              </a:extLst>
            </p:cNvPr>
            <p:cNvSpPr txBox="1"/>
            <p:nvPr/>
          </p:nvSpPr>
          <p:spPr>
            <a:xfrm>
              <a:off x="7194738" y="172272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/>
                <a:t>公告栏</a:t>
              </a:r>
              <a:endParaRPr lang="en-CN"/>
            </a:p>
          </p:txBody>
        </p:sp>
        <p:pic>
          <p:nvPicPr>
            <p:cNvPr id="23" name="Picture 22" descr="A picture containing drawing, table&#10;&#10;Description automatically generated">
              <a:extLst>
                <a:ext uri="{FF2B5EF4-FFF2-40B4-BE49-F238E27FC236}">
                  <a16:creationId xmlns:a16="http://schemas.microsoft.com/office/drawing/2014/main" id="{22A7A1DE-BE08-F74E-A718-65613FA15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3001" y="2367663"/>
              <a:ext cx="847713" cy="1043055"/>
            </a:xfrm>
            <a:prstGeom prst="rect">
              <a:avLst/>
            </a:prstGeom>
          </p:spPr>
        </p:pic>
        <p:sp>
          <p:nvSpPr>
            <p:cNvPr id="24" name="Cloud 23">
              <a:extLst>
                <a:ext uri="{FF2B5EF4-FFF2-40B4-BE49-F238E27FC236}">
                  <a16:creationId xmlns:a16="http://schemas.microsoft.com/office/drawing/2014/main" id="{944AE109-21CB-9F48-93B1-3F5120DF70FA}"/>
                </a:ext>
              </a:extLst>
            </p:cNvPr>
            <p:cNvSpPr/>
            <p:nvPr/>
          </p:nvSpPr>
          <p:spPr>
            <a:xfrm>
              <a:off x="4709411" y="1278523"/>
              <a:ext cx="1523020" cy="92325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+mn-ea"/>
                </a:rPr>
                <a:t>这个公告栏要撤走了</a:t>
              </a:r>
              <a:endParaRPr lang="en-US" altLang="zh-CN" sz="12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Cloud 24">
              <a:extLst>
                <a:ext uri="{FF2B5EF4-FFF2-40B4-BE49-F238E27FC236}">
                  <a16:creationId xmlns:a16="http://schemas.microsoft.com/office/drawing/2014/main" id="{8C3E2B2E-DAD3-1D41-B986-2E587EEE4C6B}"/>
                </a:ext>
              </a:extLst>
            </p:cNvPr>
            <p:cNvSpPr/>
            <p:nvPr/>
          </p:nvSpPr>
          <p:spPr>
            <a:xfrm>
              <a:off x="8495439" y="3436081"/>
              <a:ext cx="1523020" cy="92325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CN" sz="1200">
                  <a:solidFill>
                    <a:schemeClr val="tx1"/>
                  </a:solidFill>
                  <a:latin typeface="+mn-ea"/>
                </a:rPr>
                <a:t>别</a:t>
              </a:r>
              <a:r>
                <a:rPr lang="zh-CN" altLang="en-US" sz="1200">
                  <a:solidFill>
                    <a:schemeClr val="tx1"/>
                  </a:solidFill>
                  <a:latin typeface="+mn-ea"/>
                </a:rPr>
                <a:t>挤，再挤就看不到了</a:t>
              </a:r>
              <a:endParaRPr lang="en-CN" sz="12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4DA0C9B-FCD4-CA48-B93E-E37CA7D90AE4}"/>
                </a:ext>
              </a:extLst>
            </p:cNvPr>
            <p:cNvSpPr/>
            <p:nvPr/>
          </p:nvSpPr>
          <p:spPr>
            <a:xfrm>
              <a:off x="7263299" y="4739234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Courier" pitchFamily="2" charset="0"/>
                </a:rPr>
                <a:t>读者</a:t>
              </a:r>
              <a:endParaRPr lang="en-C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1F29428-FDBE-4C4A-8D4F-856099AB34F7}"/>
                </a:ext>
              </a:extLst>
            </p:cNvPr>
            <p:cNvSpPr/>
            <p:nvPr/>
          </p:nvSpPr>
          <p:spPr>
            <a:xfrm>
              <a:off x="4853691" y="3391941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CN"/>
                <a:t>写</a:t>
              </a:r>
              <a:r>
                <a:rPr lang="zh-CN" altLang="en-US"/>
                <a:t>者</a:t>
              </a:r>
              <a:endParaRPr lang="en-CN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4BB5E-0B2C-724D-87D8-80FC16C5C370}"/>
              </a:ext>
            </a:extLst>
          </p:cNvPr>
          <p:cNvSpPr/>
          <p:nvPr/>
        </p:nvSpPr>
        <p:spPr>
          <a:xfrm>
            <a:off x="6228184" y="481186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回顾</a:t>
            </a:r>
            <a:r>
              <a:rPr lang="zh-CN" altLang="en-US"/>
              <a:t>：公告栏问题</a:t>
            </a:r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3D7A41-80AB-C547-96EF-FF73D625A42C}"/>
              </a:ext>
            </a:extLst>
          </p:cNvPr>
          <p:cNvSpPr/>
          <p:nvPr/>
        </p:nvSpPr>
        <p:spPr>
          <a:xfrm>
            <a:off x="427039" y="4585692"/>
            <a:ext cx="4572000" cy="4565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使用</a:t>
            </a:r>
            <a:r>
              <a:rPr lang="en-CN" b="1"/>
              <a:t>读写锁</a:t>
            </a:r>
            <a:r>
              <a:rPr lang="en-CN"/>
              <a:t>提升读者并行度</a:t>
            </a:r>
          </a:p>
        </p:txBody>
      </p:sp>
    </p:spTree>
    <p:extLst>
      <p:ext uri="{BB962C8B-B14F-4D97-AF65-F5344CB8AC3E}">
        <p14:creationId xmlns:p14="http://schemas.microsoft.com/office/powerpoint/2010/main" val="122726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35BE-75C1-024A-8D9D-3201342B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场景二：条件等待与唤醒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43A1-AB42-5E44-8365-A6DA9DFD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C97F-082B-0E4B-B230-117B7AB8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CA491A-283F-D847-9358-04C55E32BAEA}"/>
              </a:ext>
            </a:extLst>
          </p:cNvPr>
          <p:cNvSpPr/>
          <p:nvPr/>
        </p:nvSpPr>
        <p:spPr>
          <a:xfrm>
            <a:off x="635224" y="1962068"/>
            <a:ext cx="69847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thread_1(void)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doing_something;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/* 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完成当前线程的工作 *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notify_thread_2;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/* 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通知线程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完成 *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thread_2(void)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if (thread_1_not_finish)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wait; </a:t>
            </a:r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      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/* 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等待线程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1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完成其工作 *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zh-CN" alt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doing_something; </a:t>
            </a:r>
            <a:r>
              <a:rPr lang="en-US">
                <a:solidFill>
                  <a:srgbClr val="00B050"/>
                </a:solidFill>
                <a:latin typeface="Menlo" panose="020B0609030804020204" pitchFamily="49" charset="0"/>
              </a:rPr>
              <a:t>/* 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完成线程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enlo" panose="020B0609030804020204" pitchFamily="49" charset="0"/>
              </a:rPr>
              <a:t>的工作 *</a:t>
            </a:r>
            <a:r>
              <a:rPr lang="en-US" altLang="zh-CN">
                <a:solidFill>
                  <a:srgbClr val="00B050"/>
                </a:solidFill>
                <a:latin typeface="Menlo" panose="020B0609030804020204" pitchFamily="49" charset="0"/>
              </a:rPr>
              <a:t>/</a:t>
            </a:r>
          </a:p>
          <a:p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9E2194-6992-0540-860F-5C7B9586189E}"/>
              </a:ext>
            </a:extLst>
          </p:cNvPr>
          <p:cNvSpPr/>
          <p:nvPr/>
        </p:nvSpPr>
        <p:spPr>
          <a:xfrm>
            <a:off x="2249016" y="1061626"/>
            <a:ext cx="4572000" cy="8720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线程等待某条件时</a:t>
            </a:r>
            <a:r>
              <a:rPr lang="en-CN" b="1"/>
              <a:t>睡眠</a:t>
            </a:r>
          </a:p>
          <a:p>
            <a:pPr algn="ctr">
              <a:lnSpc>
                <a:spcPct val="150000"/>
              </a:lnSpc>
            </a:pPr>
            <a:r>
              <a:rPr lang="en-CN"/>
              <a:t>达成该条件后</a:t>
            </a:r>
            <a:r>
              <a:rPr lang="en-CN" b="1"/>
              <a:t>唤醒</a:t>
            </a:r>
          </a:p>
        </p:txBody>
      </p:sp>
      <p:pic>
        <p:nvPicPr>
          <p:cNvPr id="9" name="Picture 8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F15E118B-A955-F249-AE72-428FE6A0E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225" y="2361415"/>
            <a:ext cx="863944" cy="1082203"/>
          </a:xfrm>
          <a:prstGeom prst="rect">
            <a:avLst/>
          </a:prstGeom>
        </p:spPr>
      </p:pic>
      <p:pic>
        <p:nvPicPr>
          <p:cNvPr id="10" name="Picture 9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4B057B70-B33A-2949-B587-FCA9D7A97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975811"/>
            <a:ext cx="847713" cy="1043055"/>
          </a:xfrm>
          <a:prstGeom prst="rect">
            <a:avLst/>
          </a:prstGeom>
        </p:spPr>
      </p:pic>
      <p:pic>
        <p:nvPicPr>
          <p:cNvPr id="11" name="图片 5">
            <a:extLst>
              <a:ext uri="{FF2B5EF4-FFF2-40B4-BE49-F238E27FC236}">
                <a16:creationId xmlns:a16="http://schemas.microsoft.com/office/drawing/2014/main" id="{4FDEDDFA-B163-B34D-9C10-F7099ADA3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881" y="2137179"/>
            <a:ext cx="720321" cy="72032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BCD20CE-49BE-EF45-B9E0-C8E4E3856BB4}"/>
              </a:ext>
            </a:extLst>
          </p:cNvPr>
          <p:cNvSpPr/>
          <p:nvPr/>
        </p:nvSpPr>
        <p:spPr>
          <a:xfrm>
            <a:off x="6655475" y="3793209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回顾</a:t>
            </a:r>
            <a:r>
              <a:rPr lang="zh-CN" altLang="en-US"/>
              <a:t>：给快递员手机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7A05CF-E019-F44A-A861-6CF126AC8652}"/>
              </a:ext>
            </a:extLst>
          </p:cNvPr>
          <p:cNvSpPr/>
          <p:nvPr/>
        </p:nvSpPr>
        <p:spPr>
          <a:xfrm>
            <a:off x="427039" y="4585692"/>
            <a:ext cx="4572000" cy="4565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使用</a:t>
            </a:r>
            <a:r>
              <a:rPr lang="en-CN" b="1"/>
              <a:t>条件变量</a:t>
            </a:r>
            <a:r>
              <a:rPr lang="en-CN"/>
              <a:t>完成线程睡眠</a:t>
            </a:r>
            <a:r>
              <a:rPr lang="en-US" altLang="zh-CN"/>
              <a:t>/</a:t>
            </a:r>
            <a:r>
              <a:rPr lang="zh-CN" altLang="en-US"/>
              <a:t>唤醒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9634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35BE-75C1-024A-8D9D-3201342B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场景三：多资源协调管理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C43A1-AB42-5E44-8365-A6DA9DFD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C97F-082B-0E4B-B230-117B7AB8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C332EB-3D3F-234D-954B-F4DA64A16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124662"/>
            <a:ext cx="3600400" cy="2307153"/>
          </a:xfrm>
          <a:prstGeom prst="rect">
            <a:avLst/>
          </a:prstGeom>
        </p:spPr>
      </p:pic>
      <p:pic>
        <p:nvPicPr>
          <p:cNvPr id="7" name="图片 10">
            <a:extLst>
              <a:ext uri="{FF2B5EF4-FFF2-40B4-BE49-F238E27FC236}">
                <a16:creationId xmlns:a16="http://schemas.microsoft.com/office/drawing/2014/main" id="{69841906-DA8C-764A-B799-E5A0C12D2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004339"/>
            <a:ext cx="547797" cy="5477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4631B48-BC9F-E94B-92B9-3667CA5E0491}"/>
              </a:ext>
            </a:extLst>
          </p:cNvPr>
          <p:cNvSpPr/>
          <p:nvPr/>
        </p:nvSpPr>
        <p:spPr>
          <a:xfrm>
            <a:off x="457200" y="1950909"/>
            <a:ext cx="57233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producer_thread(void) {</a:t>
            </a:r>
          </a:p>
          <a:p>
            <a:pPr lvl="1"/>
            <a:r>
              <a:rPr lang="en-US">
                <a:solidFill>
                  <a:srgbClr val="C00000"/>
                </a:solidFill>
                <a:latin typeface="Menlo" panose="020B0609030804020204" pitchFamily="49" charset="0"/>
              </a:rPr>
              <a:t>release_resource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(shared_resources);</a:t>
            </a:r>
          </a:p>
          <a:p>
            <a:pPr lvl="1"/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notify_waiters;</a:t>
            </a:r>
          </a:p>
          <a:p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void consumer_thread(void) {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 if (not_have_resources)</a:t>
            </a: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   wait;</a:t>
            </a:r>
            <a:endParaRPr lang="en-US" altLang="zh-CN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>
                <a:solidFill>
                  <a:srgbClr val="C00000"/>
                </a:solidFill>
                <a:latin typeface="Menlo" panose="020B0609030804020204" pitchFamily="49" charset="0"/>
              </a:rPr>
              <a:t>consume_resource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(resource);</a:t>
            </a:r>
            <a:endParaRPr lang="en-US" altLang="zh-CN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17A318-CE0B-2B44-9C36-933E0D0E6DDE}"/>
              </a:ext>
            </a:extLst>
          </p:cNvPr>
          <p:cNvSpPr/>
          <p:nvPr/>
        </p:nvSpPr>
        <p:spPr>
          <a:xfrm>
            <a:off x="2249016" y="1061626"/>
            <a:ext cx="4572000" cy="8739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多个资源可以被多个线程</a:t>
            </a:r>
            <a:r>
              <a:rPr lang="en-CN" b="1"/>
              <a:t>消耗或释放</a:t>
            </a:r>
          </a:p>
          <a:p>
            <a:pPr algn="ctr">
              <a:lnSpc>
                <a:spcPct val="150000"/>
              </a:lnSpc>
            </a:pPr>
            <a:r>
              <a:rPr lang="en-CN"/>
              <a:t>正确协同线程获取资源或等待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AFA951-90B0-FF4C-844C-43184DA5D942}"/>
              </a:ext>
            </a:extLst>
          </p:cNvPr>
          <p:cNvSpPr/>
          <p:nvPr/>
        </p:nvSpPr>
        <p:spPr>
          <a:xfrm>
            <a:off x="5779001" y="4628565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回顾</a:t>
            </a:r>
            <a:r>
              <a:rPr lang="zh-CN" altLang="en-US" dirty="0"/>
              <a:t>：</a:t>
            </a:r>
            <a:r>
              <a:rPr lang="zh-CN" altLang="en-US" dirty="0">
                <a:highlight>
                  <a:srgbClr val="FFFF00"/>
                </a:highlight>
              </a:rPr>
              <a:t>生产者消费者</a:t>
            </a:r>
            <a:r>
              <a:rPr lang="zh-CN" altLang="en-US" dirty="0"/>
              <a:t>之间协同</a:t>
            </a:r>
            <a:endParaRPr lang="en-US" altLang="zh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90B002-DB19-D443-967C-8F886675A26F}"/>
              </a:ext>
            </a:extLst>
          </p:cNvPr>
          <p:cNvSpPr/>
          <p:nvPr/>
        </p:nvSpPr>
        <p:spPr>
          <a:xfrm>
            <a:off x="427039" y="4585692"/>
            <a:ext cx="4572000" cy="4565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/>
              <a:t>使用</a:t>
            </a:r>
            <a:r>
              <a:rPr lang="en-CN" b="1"/>
              <a:t>信号量</a:t>
            </a:r>
            <a:r>
              <a:rPr lang="en-CN"/>
              <a:t>完成资源管理与线程协同</a:t>
            </a:r>
          </a:p>
        </p:txBody>
      </p:sp>
    </p:spTree>
    <p:extLst>
      <p:ext uri="{BB962C8B-B14F-4D97-AF65-F5344CB8AC3E}">
        <p14:creationId xmlns:p14="http://schemas.microsoft.com/office/powerpoint/2010/main" val="348828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场景与同步原语总结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F51252-50C5-1E49-BDC2-E54FAA0FF686}"/>
              </a:ext>
            </a:extLst>
          </p:cNvPr>
          <p:cNvGraphicFramePr>
            <a:graphicFrameLocks noGrp="1"/>
          </p:cNvGraphicFramePr>
          <p:nvPr/>
        </p:nvGraphicFramePr>
        <p:xfrm>
          <a:off x="534379" y="1129308"/>
          <a:ext cx="8075241" cy="3737121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2691747">
                  <a:extLst>
                    <a:ext uri="{9D8B030D-6E8A-4147-A177-3AD203B41FA5}">
                      <a16:colId xmlns:a16="http://schemas.microsoft.com/office/drawing/2014/main" val="3432491353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2333092894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629810277"/>
                    </a:ext>
                  </a:extLst>
                </a:gridCol>
              </a:tblGrid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同步原语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描述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使用场景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020337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互斥锁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保证对共享资源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互斥访问</a:t>
                      </a:r>
                      <a:endParaRPr lang="zh-CN" altLang="en-US" sz="16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场景一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共享资源互斥访问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38639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读写锁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允许读者线程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并发读取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衍生场景一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读写场景并发读取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11154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条件变量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提供线程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睡眠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唤醒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机制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场景二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条件等待与唤醒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8173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信号量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协调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有限数量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的消耗与释放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场景三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多资源协调管理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0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30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10F937E5-8682-944E-A25C-2A9EA512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7964487" cy="1135062"/>
          </a:xfrm>
        </p:spPr>
        <p:txBody>
          <a:bodyPr>
            <a:noAutofit/>
          </a:bodyPr>
          <a:lstStyle/>
          <a:p>
            <a:r>
              <a:rPr kumimoji="1" lang="zh-CN" altLang="en-US" sz="3200" dirty="0"/>
              <a:t>同步原语对比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5B65C5-675B-A041-8655-D4BEB7DE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79625-77B4-2847-9CFF-16E65D68E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78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互斥锁</a:t>
            </a:r>
            <a:r>
              <a:rPr lang="zh-CN" altLang="en-US"/>
              <a:t> </a:t>
            </a:r>
            <a:r>
              <a:rPr lang="en-US" altLang="zh-CN"/>
              <a:t>vs</a:t>
            </a:r>
            <a:r>
              <a:rPr lang="zh-CN" altLang="en-US"/>
              <a:t> 读写锁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F6CF3-1910-8C46-A7DA-E02DA3D31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/>
              <a:t>读写锁为特定场景</a:t>
            </a:r>
            <a:r>
              <a:rPr lang="zh-CN" altLang="en-US"/>
              <a:t>（衍生场景一）</a:t>
            </a:r>
            <a:r>
              <a:rPr lang="en-CN"/>
              <a:t>下提升读者并行度</a:t>
            </a:r>
          </a:p>
          <a:p>
            <a:r>
              <a:rPr lang="en-CN"/>
              <a:t>衍生场景一直接使用互斥锁</a:t>
            </a:r>
          </a:p>
          <a:p>
            <a:pPr lvl="1"/>
            <a:r>
              <a:rPr lang="en-CN"/>
              <a:t>也可以保证正确性</a:t>
            </a:r>
          </a:p>
          <a:p>
            <a:pPr lvl="1"/>
            <a:r>
              <a:rPr lang="en-CN"/>
              <a:t>读者之间不能并发执行</a:t>
            </a:r>
          </a:p>
          <a:p>
            <a:r>
              <a:rPr lang="en-CN"/>
              <a:t>特定场景下的性能优化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6448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互斥锁</a:t>
            </a:r>
            <a:r>
              <a:rPr lang="zh-CN" altLang="en-US"/>
              <a:t> </a:t>
            </a:r>
            <a:r>
              <a:rPr lang="en-US" altLang="zh-CN"/>
              <a:t>vs</a:t>
            </a:r>
            <a:r>
              <a:rPr lang="zh-CN" altLang="en-US"/>
              <a:t> 条件变量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B888F4-4577-B84C-8B49-D5B0652A7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en-CN"/>
              <a:t>解决不同场景</a:t>
            </a:r>
            <a:r>
              <a:rPr lang="zh-CN" altLang="en-US" dirty="0"/>
              <a:t>（正交）</a:t>
            </a:r>
            <a:endParaRPr lang="en-CN"/>
          </a:p>
          <a:p>
            <a:pPr lvl="1"/>
            <a:r>
              <a:rPr lang="en-CN"/>
              <a:t>互斥锁</a:t>
            </a:r>
            <a:r>
              <a:rPr lang="zh-CN" altLang="en-US" dirty="0"/>
              <a:t>：互斥访问</a:t>
            </a:r>
            <a:endParaRPr lang="en-US" altLang="zh-CN" dirty="0"/>
          </a:p>
          <a:p>
            <a:pPr lvl="1"/>
            <a:r>
              <a:rPr lang="zh-CN" altLang="en-US" dirty="0"/>
              <a:t>条件变量：条件等待与唤醒</a:t>
            </a:r>
            <a:endParaRPr lang="en-US" altLang="zh-CN" dirty="0"/>
          </a:p>
          <a:p>
            <a:r>
              <a:rPr lang="en-CN"/>
              <a:t>条件变量需要搭配互斥锁使用</a:t>
            </a:r>
          </a:p>
          <a:p>
            <a:r>
              <a:rPr lang="en-CN"/>
              <a:t>互斥锁中也可以使用条件变量避免循环等待</a:t>
            </a:r>
          </a:p>
          <a:p>
            <a:pPr lvl="1"/>
            <a:r>
              <a:rPr lang="en-CN"/>
              <a:t>场景一中也可能包含场景二的需求</a:t>
            </a:r>
          </a:p>
        </p:txBody>
      </p:sp>
    </p:spTree>
    <p:extLst>
      <p:ext uri="{BB962C8B-B14F-4D97-AF65-F5344CB8AC3E}">
        <p14:creationId xmlns:p14="http://schemas.microsoft.com/office/powerpoint/2010/main" val="208175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互斥锁</a:t>
            </a:r>
            <a:r>
              <a:rPr lang="zh-CN" altLang="en-US"/>
              <a:t> </a:t>
            </a:r>
            <a:r>
              <a:rPr lang="en-US" altLang="zh-CN"/>
              <a:t>vs</a:t>
            </a:r>
            <a:r>
              <a:rPr lang="zh-CN" altLang="en-US"/>
              <a:t> 信号量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B888F4-4577-B84C-8B49-D5B0652A7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75829"/>
          </a:xfrm>
        </p:spPr>
        <p:txBody>
          <a:bodyPr/>
          <a:lstStyle/>
          <a:p>
            <a:r>
              <a:rPr lang="en-CN"/>
              <a:t>互斥锁与二元信号量</a:t>
            </a:r>
          </a:p>
          <a:p>
            <a:pPr lvl="1"/>
            <a:r>
              <a:rPr lang="en-CN"/>
              <a:t>功能基本一致</a:t>
            </a:r>
            <a:r>
              <a:rPr lang="zh-CN" altLang="en-US" dirty="0"/>
              <a:t>，二元信号量可以实现互斥</a:t>
            </a:r>
            <a:endParaRPr lang="en-US" altLang="zh-CN" dirty="0"/>
          </a:p>
          <a:p>
            <a:pPr lvl="1"/>
            <a:r>
              <a:rPr lang="en-CN"/>
              <a:t>语义差别</a:t>
            </a:r>
            <a:r>
              <a:rPr lang="zh-CN" altLang="en-US" dirty="0"/>
              <a:t>：二元信号量可以</a:t>
            </a:r>
            <a:r>
              <a:rPr lang="zh-CN" altLang="en-US" b="1" dirty="0"/>
              <a:t>由不同的线程</a:t>
            </a:r>
            <a:r>
              <a:rPr lang="zh-CN" altLang="en-US" dirty="0"/>
              <a:t>获取</a:t>
            </a:r>
            <a:r>
              <a:rPr lang="en-US" altLang="zh-CN" dirty="0"/>
              <a:t>/</a:t>
            </a:r>
            <a:r>
              <a:rPr lang="zh-CN" altLang="en-US" dirty="0"/>
              <a:t>释放。互斥锁语义上只能</a:t>
            </a:r>
            <a:r>
              <a:rPr lang="zh-CN" altLang="en-US" b="1" dirty="0"/>
              <a:t>由同一个线程</a:t>
            </a:r>
            <a:r>
              <a:rPr lang="zh-CN" altLang="en-US" dirty="0"/>
              <a:t>获取与释放</a:t>
            </a:r>
            <a:endParaRPr lang="en-US" altLang="zh-CN" dirty="0"/>
          </a:p>
          <a:p>
            <a:pPr lvl="1"/>
            <a:r>
              <a:rPr lang="zh-CN" altLang="en-US" dirty="0"/>
              <a:t>保护资源互斥场景，推荐使用互斥锁（方便优化）</a:t>
            </a:r>
            <a:endParaRPr lang="en-US" altLang="zh-CN" dirty="0"/>
          </a:p>
          <a:p>
            <a:r>
              <a:rPr lang="zh-CN" altLang="en-US" dirty="0"/>
              <a:t>互斥锁与计数信号量</a:t>
            </a:r>
            <a:endParaRPr lang="en-US" altLang="zh-CN" dirty="0"/>
          </a:p>
          <a:p>
            <a:pPr lvl="1"/>
            <a:r>
              <a:rPr lang="en-CN"/>
              <a:t>应对不同场景</a:t>
            </a:r>
            <a:endParaRPr lang="en-US" dirty="0"/>
          </a:p>
          <a:p>
            <a:pPr lvl="2"/>
            <a:r>
              <a:rPr lang="zh-CN" altLang="en-US" dirty="0"/>
              <a:t>互斥锁控制对唯一资源的互斥访问（即临界区）</a:t>
            </a:r>
            <a:endParaRPr lang="en-US" altLang="zh-CN" dirty="0"/>
          </a:p>
          <a:p>
            <a:pPr lvl="2"/>
            <a:r>
              <a:rPr lang="zh-CN" altLang="en-US" dirty="0"/>
              <a:t>计数信号量控制多个线程对多个资源的获取与释放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3323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 </a:t>
            </a:r>
            <a:r>
              <a:rPr lang="en-US" altLang="zh-CN"/>
              <a:t>vs</a:t>
            </a:r>
            <a:r>
              <a:rPr lang="zh-CN" altLang="en-US"/>
              <a:t> 信号量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299833-EE41-2440-89D3-3A1466F39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en-CN"/>
              <a:t>提供了类似的接口</a:t>
            </a:r>
          </a:p>
          <a:p>
            <a:r>
              <a:rPr lang="en-CN"/>
              <a:t>抽象层级的区别</a:t>
            </a:r>
          </a:p>
          <a:p>
            <a:pPr lvl="1"/>
            <a:r>
              <a:rPr lang="en-CN"/>
              <a:t>条件变量</a:t>
            </a:r>
            <a:endParaRPr lang="en-US"/>
          </a:p>
          <a:p>
            <a:pPr lvl="2"/>
            <a:r>
              <a:rPr lang="zh-CN" altLang="en-US"/>
              <a:t>更底层，提供睡眠唤醒机制</a:t>
            </a:r>
            <a:endParaRPr lang="en-US" altLang="zh-CN"/>
          </a:p>
          <a:p>
            <a:pPr lvl="2"/>
            <a:r>
              <a:rPr lang="zh-CN" altLang="en-US"/>
              <a:t>适用范围更广</a:t>
            </a:r>
            <a:endParaRPr lang="en-US" altLang="zh-CN"/>
          </a:p>
          <a:p>
            <a:pPr lvl="1"/>
            <a:r>
              <a:rPr lang="zh-CN" altLang="en-US"/>
              <a:t>信号量</a:t>
            </a:r>
            <a:endParaRPr lang="en-US" altLang="zh-CN"/>
          </a:p>
          <a:p>
            <a:pPr lvl="2"/>
            <a:r>
              <a:rPr lang="zh-CN" altLang="en-US"/>
              <a:t>针对具体的场景：提供对</a:t>
            </a:r>
            <a:r>
              <a:rPr lang="zh-CN" altLang="en-US" b="1"/>
              <a:t>有限资源</a:t>
            </a:r>
            <a:r>
              <a:rPr lang="zh-CN" altLang="en-US"/>
              <a:t>的管理</a:t>
            </a:r>
            <a:endParaRPr lang="en-US" altLang="zh-CN"/>
          </a:p>
          <a:p>
            <a:pPr lvl="2"/>
            <a:r>
              <a:rPr lang="zh-CN" altLang="en-US"/>
              <a:t>可以使用</a:t>
            </a:r>
            <a:r>
              <a:rPr lang="zh-CN" altLang="en-US" b="1"/>
              <a:t>条件变量</a:t>
            </a:r>
            <a:r>
              <a:rPr lang="en-US" altLang="zh-CN" b="1"/>
              <a:t>+</a:t>
            </a:r>
            <a:r>
              <a:rPr lang="zh-CN" altLang="en-US" b="1"/>
              <a:t>互斥锁</a:t>
            </a:r>
            <a:r>
              <a:rPr lang="en-US" altLang="zh-CN" b="1"/>
              <a:t>+</a:t>
            </a:r>
            <a:r>
              <a:rPr lang="zh-CN" altLang="en-US" b="1"/>
              <a:t>计数器</a:t>
            </a:r>
            <a:r>
              <a:rPr lang="zh-CN" altLang="en-US"/>
              <a:t>实现信号量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671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10F937E5-8682-944E-A25C-2A9EA512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7964487" cy="1135062"/>
          </a:xfrm>
        </p:spPr>
        <p:txBody>
          <a:bodyPr>
            <a:noAutofit/>
          </a:bodyPr>
          <a:lstStyle/>
          <a:p>
            <a:r>
              <a:rPr kumimoji="1" lang="zh-CN" altLang="en-US" sz="3200" dirty="0"/>
              <a:t>案例分析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5B65C5-675B-A041-8655-D4BEB7DE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79625-77B4-2847-9CFF-16E65D68E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7639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-1</a:t>
            </a:r>
            <a:r>
              <a:rPr lang="zh-CN" altLang="en-US" dirty="0"/>
              <a:t>：多线程执行屏障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29A0A41-B767-4C45-B55A-2D490B4A3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3322705" cy="3771636"/>
          </a:xfrm>
        </p:spPr>
        <p:txBody>
          <a:bodyPr/>
          <a:lstStyle/>
          <a:p>
            <a:r>
              <a:rPr lang="en-CN"/>
              <a:t>多线程执行屏障</a:t>
            </a:r>
          </a:p>
          <a:p>
            <a:r>
              <a:rPr lang="en-CN"/>
              <a:t>等待全部执行到屏障后再继续执行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B6D01-EAF4-A642-9671-E2310D8926BD}"/>
              </a:ext>
            </a:extLst>
          </p:cNvPr>
          <p:cNvSpPr txBox="1"/>
          <p:nvPr/>
        </p:nvSpPr>
        <p:spPr>
          <a:xfrm>
            <a:off x="4139952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7FBF9-A15B-9142-953D-E64850D4203D}"/>
              </a:ext>
            </a:extLst>
          </p:cNvPr>
          <p:cNvSpPr txBox="1"/>
          <p:nvPr/>
        </p:nvSpPr>
        <p:spPr>
          <a:xfrm>
            <a:off x="5621288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5DF9E-FBC9-304C-9202-8577C12FA11C}"/>
              </a:ext>
            </a:extLst>
          </p:cNvPr>
          <p:cNvSpPr txBox="1"/>
          <p:nvPr/>
        </p:nvSpPr>
        <p:spPr>
          <a:xfrm>
            <a:off x="7102624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AFC58-9B45-0645-8150-0F989393562C}"/>
              </a:ext>
            </a:extLst>
          </p:cNvPr>
          <p:cNvSpPr txBox="1"/>
          <p:nvPr/>
        </p:nvSpPr>
        <p:spPr>
          <a:xfrm>
            <a:off x="5528421" y="1584105"/>
            <a:ext cx="1634278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297A7-03EB-4F48-9F68-BF821359076D}"/>
              </a:ext>
            </a:extLst>
          </p:cNvPr>
          <p:cNvSpPr txBox="1"/>
          <p:nvPr/>
        </p:nvSpPr>
        <p:spPr>
          <a:xfrm>
            <a:off x="3995936" y="1584105"/>
            <a:ext cx="1625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  <a:endParaRPr lang="en-US" sz="105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90DC7-6157-9F40-9CCB-23CA46729EF0}"/>
              </a:ext>
            </a:extLst>
          </p:cNvPr>
          <p:cNvSpPr txBox="1"/>
          <p:nvPr/>
        </p:nvSpPr>
        <p:spPr>
          <a:xfrm>
            <a:off x="7052522" y="1584105"/>
            <a:ext cx="1634278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48BAD0-8FE5-FA45-A0B2-0B7281FC4688}"/>
              </a:ext>
            </a:extLst>
          </p:cNvPr>
          <p:cNvCxnSpPr>
            <a:cxnSpLocks/>
          </p:cNvCxnSpPr>
          <p:nvPr/>
        </p:nvCxnSpPr>
        <p:spPr>
          <a:xfrm>
            <a:off x="4067944" y="3571724"/>
            <a:ext cx="4248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95B505-0F2B-EA47-BD70-C4EBF306711F}"/>
              </a:ext>
            </a:extLst>
          </p:cNvPr>
          <p:cNvCxnSpPr>
            <a:cxnSpLocks/>
          </p:cNvCxnSpPr>
          <p:nvPr/>
        </p:nvCxnSpPr>
        <p:spPr>
          <a:xfrm>
            <a:off x="4550195" y="2425452"/>
            <a:ext cx="0" cy="98222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A4505C-C8D8-104F-AA84-A710486E66DF}"/>
              </a:ext>
            </a:extLst>
          </p:cNvPr>
          <p:cNvCxnSpPr>
            <a:cxnSpLocks/>
          </p:cNvCxnSpPr>
          <p:nvPr/>
        </p:nvCxnSpPr>
        <p:spPr>
          <a:xfrm>
            <a:off x="6084168" y="2785492"/>
            <a:ext cx="0" cy="62218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A49C7E-4864-D240-AB9D-2ED33B67AEB1}"/>
              </a:ext>
            </a:extLst>
          </p:cNvPr>
          <p:cNvSpPr/>
          <p:nvPr/>
        </p:nvSpPr>
        <p:spPr>
          <a:xfrm>
            <a:off x="4572000" y="3656706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等待全部线程执行到位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4848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-1</a:t>
            </a:r>
            <a:r>
              <a:rPr lang="zh-CN" altLang="en-US" dirty="0"/>
              <a:t>：多线程执行屏障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29A0A41-B767-4C45-B55A-2D490B4A3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3400705" cy="1523999"/>
          </a:xfrm>
        </p:spPr>
        <p:txBody>
          <a:bodyPr/>
          <a:lstStyle/>
          <a:p>
            <a:r>
              <a:rPr lang="en-CN"/>
              <a:t>多线程执行屏障</a:t>
            </a:r>
          </a:p>
          <a:p>
            <a:r>
              <a:rPr lang="en-CN"/>
              <a:t>等待全部执行到屏障后再继续执行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B6D01-EAF4-A642-9671-E2310D8926BD}"/>
              </a:ext>
            </a:extLst>
          </p:cNvPr>
          <p:cNvSpPr txBox="1"/>
          <p:nvPr/>
        </p:nvSpPr>
        <p:spPr>
          <a:xfrm>
            <a:off x="4139952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7FBF9-A15B-9142-953D-E64850D4203D}"/>
              </a:ext>
            </a:extLst>
          </p:cNvPr>
          <p:cNvSpPr txBox="1"/>
          <p:nvPr/>
        </p:nvSpPr>
        <p:spPr>
          <a:xfrm>
            <a:off x="5621288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5DF9E-FBC9-304C-9202-8577C12FA11C}"/>
              </a:ext>
            </a:extLst>
          </p:cNvPr>
          <p:cNvSpPr txBox="1"/>
          <p:nvPr/>
        </p:nvSpPr>
        <p:spPr>
          <a:xfrm>
            <a:off x="7102624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AFC58-9B45-0645-8150-0F989393562C}"/>
              </a:ext>
            </a:extLst>
          </p:cNvPr>
          <p:cNvSpPr txBox="1"/>
          <p:nvPr/>
        </p:nvSpPr>
        <p:spPr>
          <a:xfrm>
            <a:off x="5528421" y="1584105"/>
            <a:ext cx="1634278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297A7-03EB-4F48-9F68-BF821359076D}"/>
              </a:ext>
            </a:extLst>
          </p:cNvPr>
          <p:cNvSpPr txBox="1"/>
          <p:nvPr/>
        </p:nvSpPr>
        <p:spPr>
          <a:xfrm>
            <a:off x="3995936" y="1584105"/>
            <a:ext cx="1625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  <a:endParaRPr lang="en-US" sz="105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90DC7-6157-9F40-9CCB-23CA46729EF0}"/>
              </a:ext>
            </a:extLst>
          </p:cNvPr>
          <p:cNvSpPr txBox="1"/>
          <p:nvPr/>
        </p:nvSpPr>
        <p:spPr>
          <a:xfrm>
            <a:off x="7052522" y="1584105"/>
            <a:ext cx="1634278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48BAD0-8FE5-FA45-A0B2-0B7281FC4688}"/>
              </a:ext>
            </a:extLst>
          </p:cNvPr>
          <p:cNvCxnSpPr>
            <a:cxnSpLocks/>
          </p:cNvCxnSpPr>
          <p:nvPr/>
        </p:nvCxnSpPr>
        <p:spPr>
          <a:xfrm>
            <a:off x="4067944" y="3571724"/>
            <a:ext cx="4248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95B505-0F2B-EA47-BD70-C4EBF306711F}"/>
              </a:ext>
            </a:extLst>
          </p:cNvPr>
          <p:cNvCxnSpPr>
            <a:cxnSpLocks/>
          </p:cNvCxnSpPr>
          <p:nvPr/>
        </p:nvCxnSpPr>
        <p:spPr>
          <a:xfrm>
            <a:off x="4550195" y="2425452"/>
            <a:ext cx="0" cy="98222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A4505C-C8D8-104F-AA84-A710486E66DF}"/>
              </a:ext>
            </a:extLst>
          </p:cNvPr>
          <p:cNvCxnSpPr>
            <a:cxnSpLocks/>
          </p:cNvCxnSpPr>
          <p:nvPr/>
        </p:nvCxnSpPr>
        <p:spPr>
          <a:xfrm>
            <a:off x="6084168" y="2785492"/>
            <a:ext cx="0" cy="62218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A49C7E-4864-D240-AB9D-2ED33B67AEB1}"/>
              </a:ext>
            </a:extLst>
          </p:cNvPr>
          <p:cNvSpPr/>
          <p:nvPr/>
        </p:nvSpPr>
        <p:spPr>
          <a:xfrm>
            <a:off x="4572000" y="3656706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等待全部线程执行到位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D6FA8B-75CA-0E45-92DC-82E20BD22001}"/>
              </a:ext>
            </a:extLst>
          </p:cNvPr>
          <p:cNvSpPr/>
          <p:nvPr/>
        </p:nvSpPr>
        <p:spPr>
          <a:xfrm>
            <a:off x="457200" y="2968288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/>
              <a:t>2: </a:t>
            </a:r>
            <a:r>
              <a:rPr lang="zh-CN" altLang="en-US" b="1"/>
              <a:t>线程等待</a:t>
            </a:r>
            <a:r>
              <a:rPr lang="en-US" altLang="zh-CN" b="1"/>
              <a:t>/</a:t>
            </a:r>
            <a:r>
              <a:rPr lang="zh-CN" altLang="en-US" b="1"/>
              <a:t>唤醒</a:t>
            </a:r>
            <a:endParaRPr lang="en-CN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9946FA-11B2-B14C-9DA3-4ABE9CDE66F7}"/>
              </a:ext>
            </a:extLst>
          </p:cNvPr>
          <p:cNvSpPr/>
          <p:nvPr/>
        </p:nvSpPr>
        <p:spPr>
          <a:xfrm>
            <a:off x="679216" y="3365836"/>
            <a:ext cx="56869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lock(&amp;thread_cnt_lock);</a:t>
            </a:r>
          </a:p>
          <a:p>
            <a:r>
              <a:rPr lang="en-CN">
                <a:latin typeface="Courier" pitchFamily="2" charset="0"/>
              </a:rPr>
              <a:t>thread_cnt--;</a:t>
            </a:r>
          </a:p>
          <a:p>
            <a:r>
              <a:rPr lang="en-CN">
                <a:latin typeface="Courier" pitchFamily="2" charset="0"/>
              </a:rPr>
              <a:t>if (thread_cnt == 0)</a:t>
            </a:r>
          </a:p>
          <a:p>
            <a:r>
              <a:rPr lang="en-CN">
                <a:latin typeface="Courier" pitchFamily="2" charset="0"/>
              </a:rPr>
              <a:t>  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cond_broadcast(cond);</a:t>
            </a:r>
          </a:p>
          <a:p>
            <a:r>
              <a:rPr lang="en-CN">
                <a:latin typeface="Courier" pitchFamily="2" charset="0"/>
              </a:rPr>
              <a:t>while(thread_cnt != 0)</a:t>
            </a:r>
          </a:p>
          <a:p>
            <a:r>
              <a:rPr lang="en-CN">
                <a:latin typeface="Courier" pitchFamily="2" charset="0"/>
              </a:rPr>
              <a:t>  cond_wait(&amp;cond, &amp;thread_cnt_lock); </a:t>
            </a:r>
          </a:p>
          <a:p>
            <a:r>
              <a:rPr lang="en-CN">
                <a:latin typeface="Courier" pitchFamily="2" charset="0"/>
              </a:rPr>
              <a:t>unlock(&amp;thread_cnt_lock);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A589FB-1125-984B-804F-6186340BE2C9}"/>
              </a:ext>
            </a:extLst>
          </p:cNvPr>
          <p:cNvSpPr/>
          <p:nvPr/>
        </p:nvSpPr>
        <p:spPr>
          <a:xfrm>
            <a:off x="4191373" y="4163399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</a:rPr>
              <a:t>唤醒所有等待的线程</a:t>
            </a:r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720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-2</a:t>
            </a:r>
            <a:r>
              <a:rPr lang="zh-CN" altLang="en-US" dirty="0"/>
              <a:t>：等待队列工作窃取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912907-D037-5748-AC26-CDB541DD0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402832" cy="3771636"/>
          </a:xfrm>
        </p:spPr>
        <p:txBody>
          <a:bodyPr/>
          <a:lstStyle/>
          <a:p>
            <a:r>
              <a:rPr lang="en-CN"/>
              <a:t>每核心等待队列</a:t>
            </a:r>
          </a:p>
          <a:p>
            <a:r>
              <a:rPr lang="en-CN"/>
              <a:t>在空时允许窃取其他核心的任务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436096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DB263-76BA-8B42-815D-2C28181CAE84}"/>
              </a:ext>
            </a:extLst>
          </p:cNvPr>
          <p:cNvSpPr/>
          <p:nvPr/>
        </p:nvSpPr>
        <p:spPr>
          <a:xfrm>
            <a:off x="7308304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EA2EE-8C9B-584D-BA6A-E7418C20F616}"/>
              </a:ext>
            </a:extLst>
          </p:cNvPr>
          <p:cNvSpPr/>
          <p:nvPr/>
        </p:nvSpPr>
        <p:spPr>
          <a:xfrm>
            <a:off x="5562600" y="2857500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485F1-7981-BE4C-A99F-6616C8A5A84E}"/>
              </a:ext>
            </a:extLst>
          </p:cNvPr>
          <p:cNvSpPr/>
          <p:nvPr/>
        </p:nvSpPr>
        <p:spPr>
          <a:xfrm>
            <a:off x="5562600" y="3141622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AC9E0-C0F0-1E4C-A848-9E355B52B97C}"/>
              </a:ext>
            </a:extLst>
          </p:cNvPr>
          <p:cNvSpPr/>
          <p:nvPr/>
        </p:nvSpPr>
        <p:spPr>
          <a:xfrm>
            <a:off x="5562600" y="342965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22DA07-EDB5-ED44-8124-4BC32E512F93}"/>
              </a:ext>
            </a:extLst>
          </p:cNvPr>
          <p:cNvSpPr/>
          <p:nvPr/>
        </p:nvSpPr>
        <p:spPr>
          <a:xfrm>
            <a:off x="5562600" y="3713776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7DD31F-6727-3741-B977-D45D15631C86}"/>
              </a:ext>
            </a:extLst>
          </p:cNvPr>
          <p:cNvCxnSpPr>
            <a:stCxn id="8" idx="2"/>
            <a:endCxn id="6" idx="3"/>
          </p:cNvCxnSpPr>
          <p:nvPr/>
        </p:nvCxnSpPr>
        <p:spPr>
          <a:xfrm flipH="1">
            <a:off x="6210672" y="2461798"/>
            <a:ext cx="1548172" cy="53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A49BF4-0FD1-8B43-9338-2F207C4CC435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5886636" y="2461798"/>
            <a:ext cx="0" cy="395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970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-2</a:t>
            </a:r>
            <a:r>
              <a:rPr lang="zh-CN" altLang="en-US" dirty="0"/>
              <a:t>：等待队列工作窃取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912907-D037-5748-AC26-CDB541DD0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402832" cy="3771636"/>
          </a:xfrm>
        </p:spPr>
        <p:txBody>
          <a:bodyPr/>
          <a:lstStyle/>
          <a:p>
            <a:r>
              <a:rPr lang="en-CN"/>
              <a:t>每核心等待队列</a:t>
            </a:r>
          </a:p>
          <a:p>
            <a:r>
              <a:rPr lang="en-CN"/>
              <a:t>在空时允许窃取其他核心的任务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436096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DB263-76BA-8B42-815D-2C28181CAE84}"/>
              </a:ext>
            </a:extLst>
          </p:cNvPr>
          <p:cNvSpPr/>
          <p:nvPr/>
        </p:nvSpPr>
        <p:spPr>
          <a:xfrm>
            <a:off x="7308304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EA2EE-8C9B-584D-BA6A-E7418C20F616}"/>
              </a:ext>
            </a:extLst>
          </p:cNvPr>
          <p:cNvSpPr/>
          <p:nvPr/>
        </p:nvSpPr>
        <p:spPr>
          <a:xfrm>
            <a:off x="5562600" y="2857500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485F1-7981-BE4C-A99F-6616C8A5A84E}"/>
              </a:ext>
            </a:extLst>
          </p:cNvPr>
          <p:cNvSpPr/>
          <p:nvPr/>
        </p:nvSpPr>
        <p:spPr>
          <a:xfrm>
            <a:off x="5562600" y="3141622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AC9E0-C0F0-1E4C-A848-9E355B52B97C}"/>
              </a:ext>
            </a:extLst>
          </p:cNvPr>
          <p:cNvSpPr/>
          <p:nvPr/>
        </p:nvSpPr>
        <p:spPr>
          <a:xfrm>
            <a:off x="5562600" y="342965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22DA07-EDB5-ED44-8124-4BC32E512F93}"/>
              </a:ext>
            </a:extLst>
          </p:cNvPr>
          <p:cNvSpPr/>
          <p:nvPr/>
        </p:nvSpPr>
        <p:spPr>
          <a:xfrm>
            <a:off x="5562600" y="3713776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7DD31F-6727-3741-B977-D45D15631C86}"/>
              </a:ext>
            </a:extLst>
          </p:cNvPr>
          <p:cNvCxnSpPr>
            <a:stCxn id="8" idx="2"/>
            <a:endCxn id="6" idx="3"/>
          </p:cNvCxnSpPr>
          <p:nvPr/>
        </p:nvCxnSpPr>
        <p:spPr>
          <a:xfrm flipH="1">
            <a:off x="6210672" y="2461798"/>
            <a:ext cx="1548172" cy="53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A49BF4-0FD1-8B43-9338-2F207C4CC435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5886636" y="2461798"/>
            <a:ext cx="0" cy="395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024259B-F5EA-9447-936B-8077A87366F0}"/>
              </a:ext>
            </a:extLst>
          </p:cNvPr>
          <p:cNvSpPr/>
          <p:nvPr/>
        </p:nvSpPr>
        <p:spPr>
          <a:xfrm>
            <a:off x="457200" y="2968288"/>
            <a:ext cx="3610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/>
              <a:t>1: </a:t>
            </a:r>
            <a:r>
              <a:rPr lang="zh-CN" altLang="en-US" b="1"/>
              <a:t>共享资源互斥访问</a:t>
            </a:r>
            <a:endParaRPr lang="en-CN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B37871-FB32-E149-B3E0-76F730187B20}"/>
              </a:ext>
            </a:extLst>
          </p:cNvPr>
          <p:cNvSpPr/>
          <p:nvPr/>
        </p:nvSpPr>
        <p:spPr>
          <a:xfrm>
            <a:off x="705196" y="3782247"/>
            <a:ext cx="3906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</a:t>
            </a:r>
            <a:r>
              <a:rPr lang="en-US">
                <a:latin typeface="Courier" pitchFamily="2" charset="0"/>
              </a:rPr>
              <a:t>(ready_queue_lock[0]);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8443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</p:spTree>
    <p:extLst>
      <p:ext uri="{BB962C8B-B14F-4D97-AF65-F5344CB8AC3E}">
        <p14:creationId xmlns:p14="http://schemas.microsoft.com/office/powerpoint/2010/main" val="3271052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D6B505-6784-7F46-868A-D7D562F8504E}"/>
              </a:ext>
            </a:extLst>
          </p:cNvPr>
          <p:cNvSpPr/>
          <p:nvPr/>
        </p:nvSpPr>
        <p:spPr>
          <a:xfrm>
            <a:off x="539552" y="3982659"/>
            <a:ext cx="56869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lock(&amp;finished_cnt_lock);</a:t>
            </a:r>
          </a:p>
          <a:p>
            <a:r>
              <a:rPr lang="en-CN">
                <a:latin typeface="Courier" pitchFamily="2" charset="0"/>
              </a:rPr>
              <a:t>finished_cnt </a:t>
            </a:r>
            <a:r>
              <a:rPr lang="en-US" altLang="zh-CN" dirty="0">
                <a:latin typeface="Courier" pitchFamily="2" charset="0"/>
              </a:rPr>
              <a:t>++;</a:t>
            </a:r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cond_signal(&amp;cond); unlock(&amp;thread_cnt_lock);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617A12-DE0E-C54D-BCFA-1AF0EAD044A8}"/>
              </a:ext>
            </a:extLst>
          </p:cNvPr>
          <p:cNvSpPr/>
          <p:nvPr/>
        </p:nvSpPr>
        <p:spPr>
          <a:xfrm>
            <a:off x="207048" y="3589044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Mapper</a:t>
            </a:r>
            <a:endParaRPr lang="en-CN"/>
          </a:p>
        </p:txBody>
      </p:sp>
      <p:sp>
        <p:nvSpPr>
          <p:cNvPr id="26" name="Rectangle 33">
            <a:extLst>
              <a:ext uri="{FF2B5EF4-FFF2-40B4-BE49-F238E27FC236}">
                <a16:creationId xmlns:a16="http://schemas.microsoft.com/office/drawing/2014/main" id="{E12C33B7-57A4-5E4F-829F-AC72D7DE0A92}"/>
              </a:ext>
            </a:extLst>
          </p:cNvPr>
          <p:cNvSpPr/>
          <p:nvPr/>
        </p:nvSpPr>
        <p:spPr>
          <a:xfrm>
            <a:off x="899592" y="3307245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 dirty="0"/>
              <a:t>2: </a:t>
            </a:r>
            <a:r>
              <a:rPr lang="zh-CN" altLang="en-US" b="1" dirty="0"/>
              <a:t>线程等待</a:t>
            </a:r>
            <a:r>
              <a:rPr lang="en-US" altLang="zh-CN" b="1" dirty="0"/>
              <a:t>/</a:t>
            </a:r>
            <a:r>
              <a:rPr lang="zh-CN" altLang="en-US" b="1" dirty="0"/>
              <a:t>唤醒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1923280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E4311A-C04D-BF45-A87B-32EA5BD9DB74}"/>
              </a:ext>
            </a:extLst>
          </p:cNvPr>
          <p:cNvCxnSpPr>
            <a:cxnSpLocks/>
          </p:cNvCxnSpPr>
          <p:nvPr/>
        </p:nvCxnSpPr>
        <p:spPr>
          <a:xfrm flipH="1">
            <a:off x="7049462" y="3541877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899592" y="3307245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 dirty="0"/>
              <a:t>2: </a:t>
            </a:r>
            <a:r>
              <a:rPr lang="zh-CN" altLang="en-US" b="1" dirty="0"/>
              <a:t>线程等待</a:t>
            </a:r>
            <a:r>
              <a:rPr lang="en-US" altLang="zh-CN" b="1" dirty="0"/>
              <a:t>/</a:t>
            </a:r>
            <a:r>
              <a:rPr lang="zh-CN" altLang="en-US" b="1" dirty="0"/>
              <a:t>唤醒</a:t>
            </a:r>
            <a:endParaRPr lang="en-CN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471AE2-1291-0347-A657-0D9A0B3D2FC0}"/>
              </a:ext>
            </a:extLst>
          </p:cNvPr>
          <p:cNvSpPr/>
          <p:nvPr/>
        </p:nvSpPr>
        <p:spPr>
          <a:xfrm>
            <a:off x="631206" y="3782934"/>
            <a:ext cx="56869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lock(&amp;finished_cnt_lock);</a:t>
            </a:r>
          </a:p>
          <a:p>
            <a:r>
              <a:rPr lang="en-CN">
                <a:latin typeface="Courier" pitchFamily="2" charset="0"/>
              </a:rPr>
              <a:t>while(finished_cnt == 0)</a:t>
            </a:r>
          </a:p>
          <a:p>
            <a:r>
              <a:rPr lang="en-CN">
                <a:latin typeface="Courier" pitchFamily="2" charset="0"/>
              </a:rPr>
              <a:t>  cond_wait(&amp;cond, &amp;finished_cnt_lock);</a:t>
            </a:r>
          </a:p>
          <a:p>
            <a:r>
              <a:rPr lang="en-CN">
                <a:latin typeface="Courier" pitchFamily="2" charset="0"/>
              </a:rPr>
              <a:t>/* collect result */</a:t>
            </a: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finished_cnt = 0;</a:t>
            </a:r>
          </a:p>
          <a:p>
            <a:r>
              <a:rPr lang="en-CN">
                <a:latin typeface="Courier" pitchFamily="2" charset="0"/>
              </a:rPr>
              <a:t>unlock(&amp;thread_cnt_lock);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6570DA-8E93-BF4C-BD63-53ACD7B1AC04}"/>
              </a:ext>
            </a:extLst>
          </p:cNvPr>
          <p:cNvSpPr/>
          <p:nvPr/>
        </p:nvSpPr>
        <p:spPr>
          <a:xfrm>
            <a:off x="5571977" y="4691915"/>
            <a:ext cx="2968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/>
              <a:t>一次性拿走所有的finished的Mapper的结果</a:t>
            </a:r>
            <a:endParaRPr lang="en-CN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F27882-AA46-434E-B5BE-97F147A75D4F}"/>
              </a:ext>
            </a:extLst>
          </p:cNvPr>
          <p:cNvSpPr/>
          <p:nvPr/>
        </p:nvSpPr>
        <p:spPr>
          <a:xfrm>
            <a:off x="138524" y="351892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Reducer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8777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E4311A-C04D-BF45-A87B-32EA5BD9DB74}"/>
              </a:ext>
            </a:extLst>
          </p:cNvPr>
          <p:cNvCxnSpPr>
            <a:cxnSpLocks/>
          </p:cNvCxnSpPr>
          <p:nvPr/>
        </p:nvCxnSpPr>
        <p:spPr>
          <a:xfrm flipH="1">
            <a:off x="7049462" y="3541877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899591" y="3307245"/>
            <a:ext cx="43204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也符合场景</a:t>
            </a:r>
            <a:r>
              <a:rPr lang="en-US" altLang="zh-CN" b="1" dirty="0"/>
              <a:t>3:</a:t>
            </a:r>
            <a:r>
              <a:rPr lang="zh-CN" altLang="en-US" b="1" dirty="0"/>
              <a:t> </a:t>
            </a:r>
            <a:r>
              <a:rPr lang="en-US" b="1" dirty="0" err="1"/>
              <a:t>将Mapper的结果视为资源</a:t>
            </a:r>
            <a:endParaRPr lang="en-CN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F3D07-C41F-184E-846A-414BDC0F68FF}"/>
              </a:ext>
            </a:extLst>
          </p:cNvPr>
          <p:cNvSpPr/>
          <p:nvPr/>
        </p:nvSpPr>
        <p:spPr>
          <a:xfrm>
            <a:off x="2665432" y="4083601"/>
            <a:ext cx="56869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while(finished_cnt </a:t>
            </a:r>
            <a:r>
              <a:rPr lang="en-US">
                <a:latin typeface="Courier" pitchFamily="2" charset="0"/>
              </a:rPr>
              <a:t>!</a:t>
            </a:r>
            <a:r>
              <a:rPr lang="en-CN">
                <a:latin typeface="Courier" pitchFamily="2" charset="0"/>
              </a:rPr>
              <a:t>= mapper_cnt) {</a:t>
            </a:r>
          </a:p>
          <a:p>
            <a:r>
              <a:rPr lang="en-CN">
                <a:latin typeface="Courier" pitchFamily="2" charset="0"/>
              </a:rPr>
              <a:t>  wait(&amp;finish_sem);</a:t>
            </a:r>
          </a:p>
          <a:p>
            <a:r>
              <a:rPr lang="en-CN">
                <a:latin typeface="Courier" pitchFamily="2" charset="0"/>
              </a:rPr>
              <a:t>  /* collect result */</a:t>
            </a:r>
          </a:p>
          <a:p>
            <a:r>
              <a:rPr lang="en-CN">
                <a:latin typeface="Courier" pitchFamily="2" charset="0"/>
              </a:rPr>
              <a:t>  finished_cnt ++;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5DC818-5DB8-AB4E-83CD-CF8BF7E483EF}"/>
              </a:ext>
            </a:extLst>
          </p:cNvPr>
          <p:cNvSpPr/>
          <p:nvPr/>
        </p:nvSpPr>
        <p:spPr>
          <a:xfrm>
            <a:off x="5677487" y="4731558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思考</a:t>
            </a:r>
            <a:r>
              <a:rPr lang="zh-CN" altLang="en-US" b="1">
                <a:solidFill>
                  <a:schemeClr val="accent1"/>
                </a:solidFill>
              </a:rPr>
              <a:t>：有什么不同？</a:t>
            </a:r>
            <a:endParaRPr lang="en-CN" b="1">
              <a:solidFill>
                <a:schemeClr val="accent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3FCED7-A37B-2349-B08D-F2D0401BF2A3}"/>
              </a:ext>
            </a:extLst>
          </p:cNvPr>
          <p:cNvSpPr/>
          <p:nvPr/>
        </p:nvSpPr>
        <p:spPr>
          <a:xfrm>
            <a:off x="2717614" y="373331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Reducer</a:t>
            </a:r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47FC50-A46F-AE46-90A0-455DCE666EEC}"/>
              </a:ext>
            </a:extLst>
          </p:cNvPr>
          <p:cNvSpPr/>
          <p:nvPr/>
        </p:nvSpPr>
        <p:spPr>
          <a:xfrm>
            <a:off x="100285" y="3657534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Mapper</a:t>
            </a:r>
            <a:endParaRPr lang="en-C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7F3408-91BA-324B-8402-0265985541D6}"/>
              </a:ext>
            </a:extLst>
          </p:cNvPr>
          <p:cNvSpPr/>
          <p:nvPr/>
        </p:nvSpPr>
        <p:spPr>
          <a:xfrm>
            <a:off x="100285" y="4403716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signal(&amp;finish_sem);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7107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-4</a:t>
            </a:r>
            <a:r>
              <a:rPr lang="zh-CN" altLang="en-US" dirty="0"/>
              <a:t>：网页渲染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07425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网页</a:t>
            </a:r>
            <a:r>
              <a:rPr lang="zh-CN" altLang="en-CN" sz="2000" dirty="0"/>
              <a:t>等待</a:t>
            </a:r>
            <a:r>
              <a:rPr lang="zh-CN" altLang="en-US" sz="2000" dirty="0"/>
              <a:t>所有的请求均完成后</a:t>
            </a:r>
            <a:br>
              <a:rPr lang="en-US" altLang="zh-CN" sz="2000" dirty="0"/>
            </a:br>
            <a:r>
              <a:rPr lang="zh-CN" altLang="en-US" sz="2000" dirty="0"/>
              <a:t>再进行渲染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8" y="2915847"/>
            <a:ext cx="13647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渲染线程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75898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-4</a:t>
            </a:r>
            <a:r>
              <a:rPr lang="zh-CN" altLang="en-US" dirty="0"/>
              <a:t>：网页渲染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07425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网页</a:t>
            </a:r>
            <a:r>
              <a:rPr lang="zh-CN" altLang="en-CN" sz="2000" dirty="0"/>
              <a:t>等待</a:t>
            </a:r>
            <a:r>
              <a:rPr lang="zh-CN" altLang="en-US" sz="2000" dirty="0"/>
              <a:t>所有的请求均完成后</a:t>
            </a:r>
            <a:br>
              <a:rPr lang="en-US" altLang="zh-CN" sz="2000" dirty="0"/>
            </a:br>
            <a:r>
              <a:rPr lang="zh-CN" altLang="en-US" sz="2000" dirty="0"/>
              <a:t>再进行渲染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8" y="2915847"/>
            <a:ext cx="13647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渲染线程</a:t>
            </a:r>
            <a:endParaRPr lang="en-C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778861" y="2484946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场景</a:t>
            </a:r>
            <a:r>
              <a:rPr lang="en-US" altLang="zh-CN" b="1" dirty="0"/>
              <a:t>2:</a:t>
            </a:r>
            <a:r>
              <a:rPr lang="zh-CN" altLang="en-US" b="1" dirty="0"/>
              <a:t> </a:t>
            </a:r>
            <a:r>
              <a:rPr lang="en-US" b="1" dirty="0" err="1"/>
              <a:t>等待</a:t>
            </a:r>
            <a:r>
              <a:rPr lang="en-US" altLang="zh-CN" b="1" dirty="0"/>
              <a:t>/</a:t>
            </a:r>
            <a:r>
              <a:rPr lang="zh-CN" altLang="en-US" b="1" dirty="0"/>
              <a:t>唤醒</a:t>
            </a:r>
            <a:endParaRPr lang="en-CN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C1DFEF-C103-AF42-9E33-3E83F95624F9}"/>
              </a:ext>
            </a:extLst>
          </p:cNvPr>
          <p:cNvSpPr/>
          <p:nvPr/>
        </p:nvSpPr>
        <p:spPr>
          <a:xfrm>
            <a:off x="164664" y="3593661"/>
            <a:ext cx="404469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r>
              <a:rPr lang="en-CN">
                <a:latin typeface="Courier" pitchFamily="2" charset="0"/>
              </a:rPr>
              <a:t>finished_cnt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++</a:t>
            </a:r>
            <a:r>
              <a:rPr lang="zh-CN" altLang="en-US">
                <a:latin typeface="Courier" pitchFamily="2" charset="0"/>
              </a:rPr>
              <a:t>；</a:t>
            </a:r>
            <a:endParaRPr lang="en-US" altLang="zh-CN">
              <a:latin typeface="Courier" pitchFamily="2" charset="0"/>
            </a:endParaRPr>
          </a:p>
          <a:p>
            <a:r>
              <a:rPr lang="en-US" altLang="zh-CN">
                <a:latin typeface="Courier" pitchFamily="2" charset="0"/>
              </a:rPr>
              <a:t>if (</a:t>
            </a:r>
            <a:r>
              <a:rPr lang="en-CN" altLang="zh-CN">
                <a:latin typeface="Courier" pitchFamily="2" charset="0"/>
              </a:rPr>
              <a:t>finished_cnt == req_cnt)</a:t>
            </a:r>
          </a:p>
          <a:p>
            <a:r>
              <a:rPr lang="en-CN">
                <a:latin typeface="Courier" pitchFamily="2" charset="0"/>
              </a:rPr>
              <a:t>  cond_signal(&amp;gcond);</a:t>
            </a:r>
          </a:p>
          <a:p>
            <a:r>
              <a:rPr lang="en-CN">
                <a:latin typeface="Courier" pitchFamily="2" charset="0"/>
              </a:rPr>
              <a:t>unlock(&amp;glock);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9F801-432A-FA4E-A533-0EB0728790D5}"/>
              </a:ext>
            </a:extLst>
          </p:cNvPr>
          <p:cNvSpPr/>
          <p:nvPr/>
        </p:nvSpPr>
        <p:spPr>
          <a:xfrm>
            <a:off x="164664" y="3086299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Request_cb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2F698D-4F91-C543-A61B-E95765311F36}"/>
              </a:ext>
            </a:extLst>
          </p:cNvPr>
          <p:cNvSpPr/>
          <p:nvPr/>
        </p:nvSpPr>
        <p:spPr>
          <a:xfrm>
            <a:off x="4431550" y="30860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渲染线程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33B4C4-87AF-1944-B601-038E105B82C8}"/>
              </a:ext>
            </a:extLst>
          </p:cNvPr>
          <p:cNvSpPr/>
          <p:nvPr/>
        </p:nvSpPr>
        <p:spPr>
          <a:xfrm>
            <a:off x="4521064" y="3805781"/>
            <a:ext cx="445827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r>
              <a:rPr lang="en-CN">
                <a:latin typeface="Courier" pitchFamily="2" charset="0"/>
              </a:rPr>
              <a:t>while (finished_cnt != req_cnt)</a:t>
            </a:r>
          </a:p>
          <a:p>
            <a:r>
              <a:rPr lang="en-CN">
                <a:latin typeface="Courier" pitchFamily="2" charset="0"/>
              </a:rPr>
              <a:t>  cond_wait(&amp;gcond, &amp;glock);</a:t>
            </a:r>
          </a:p>
          <a:p>
            <a:r>
              <a:rPr lang="en-CN">
                <a:latin typeface="Courier" pitchFamily="2" charset="0"/>
              </a:rPr>
              <a:t>unlock(&amp;glock);</a:t>
            </a:r>
          </a:p>
        </p:txBody>
      </p:sp>
    </p:spTree>
    <p:extLst>
      <p:ext uri="{BB962C8B-B14F-4D97-AF65-F5344CB8AC3E}">
        <p14:creationId xmlns:p14="http://schemas.microsoft.com/office/powerpoint/2010/main" val="67017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-4</a:t>
            </a:r>
            <a:r>
              <a:rPr lang="zh-CN" altLang="en-US" dirty="0"/>
              <a:t>：网页渲染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07425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网页</a:t>
            </a:r>
            <a:r>
              <a:rPr lang="zh-CN" altLang="en-CN" sz="2000" dirty="0"/>
              <a:t>等待</a:t>
            </a:r>
            <a:r>
              <a:rPr lang="zh-CN" altLang="en-US" sz="2000" dirty="0"/>
              <a:t>所有的请求均完成后</a:t>
            </a:r>
            <a:br>
              <a:rPr lang="en-US" altLang="zh-CN" sz="2000" dirty="0"/>
            </a:br>
            <a:r>
              <a:rPr lang="zh-CN" altLang="en-US" sz="2000" dirty="0"/>
              <a:t>再进行渲染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8" y="2915847"/>
            <a:ext cx="13647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渲染线程</a:t>
            </a:r>
            <a:endParaRPr lang="en-C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778861" y="2484946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/>
              <a:t>场景3</a:t>
            </a:r>
            <a:r>
              <a:rPr lang="en-US" altLang="zh-CN" b="1"/>
              <a:t>:</a:t>
            </a:r>
            <a:r>
              <a:rPr lang="zh-CN" altLang="en-US" b="1"/>
              <a:t> 视为所有请求结果为资源</a:t>
            </a:r>
            <a:endParaRPr lang="en-CN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87A6C-5B65-6948-84D2-6A46DC77FC91}"/>
              </a:ext>
            </a:extLst>
          </p:cNvPr>
          <p:cNvSpPr/>
          <p:nvPr/>
        </p:nvSpPr>
        <p:spPr>
          <a:xfrm>
            <a:off x="5448547" y="3673041"/>
            <a:ext cx="349326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while(remain_req != 0) {</a:t>
            </a:r>
          </a:p>
          <a:p>
            <a:r>
              <a:rPr lang="en-CN">
                <a:latin typeface="Courier" pitchFamily="2" charset="0"/>
              </a:rPr>
              <a:t>  wait(&amp;gsem);</a:t>
            </a:r>
          </a:p>
          <a:p>
            <a:r>
              <a:rPr lang="en-CN">
                <a:latin typeface="Courier" pitchFamily="2" charset="0"/>
              </a:rPr>
              <a:t>  remain_req --;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3631D4-B772-B446-8757-D17B18D3E46C}"/>
              </a:ext>
            </a:extLst>
          </p:cNvPr>
          <p:cNvSpPr/>
          <p:nvPr/>
        </p:nvSpPr>
        <p:spPr>
          <a:xfrm>
            <a:off x="2780165" y="4901500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思考</a:t>
            </a:r>
            <a:r>
              <a:rPr lang="zh-CN" altLang="en-US" b="1">
                <a:solidFill>
                  <a:schemeClr val="accent1"/>
                </a:solidFill>
              </a:rPr>
              <a:t>：和上一种哪种更合适？</a:t>
            </a:r>
            <a:endParaRPr lang="en-CN" b="1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78D745-C973-D545-9DEB-4A3924DA3B04}"/>
              </a:ext>
            </a:extLst>
          </p:cNvPr>
          <p:cNvSpPr/>
          <p:nvPr/>
        </p:nvSpPr>
        <p:spPr>
          <a:xfrm>
            <a:off x="4894549" y="333336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渲染线程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F0B9D6-3B85-3B46-A6CF-28C736E003F8}"/>
              </a:ext>
            </a:extLst>
          </p:cNvPr>
          <p:cNvSpPr/>
          <p:nvPr/>
        </p:nvSpPr>
        <p:spPr>
          <a:xfrm>
            <a:off x="164664" y="3086299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Request_cb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135C40-C45A-9249-94BE-AF7DFD7C0F8E}"/>
              </a:ext>
            </a:extLst>
          </p:cNvPr>
          <p:cNvSpPr/>
          <p:nvPr/>
        </p:nvSpPr>
        <p:spPr>
          <a:xfrm>
            <a:off x="594364" y="3687652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signal(&amp;gsem);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0166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-5</a:t>
            </a:r>
            <a:r>
              <a:rPr lang="zh-CN" altLang="en-US" dirty="0"/>
              <a:t>：线程池并发控制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2098452"/>
          </a:xfrm>
        </p:spPr>
        <p:txBody>
          <a:bodyPr>
            <a:noAutofit/>
          </a:bodyPr>
          <a:lstStyle/>
          <a:p>
            <a:r>
              <a:rPr lang="zh-CN" altLang="en-CN" sz="2000" dirty="0"/>
              <a:t>控制</a:t>
            </a:r>
            <a:r>
              <a:rPr lang="zh-CN" altLang="en-US" sz="2000" dirty="0"/>
              <a:t>同一时刻可以执行的线程数量</a:t>
            </a:r>
            <a:endParaRPr lang="en-US" altLang="zh-CN" sz="2000" dirty="0"/>
          </a:p>
          <a:p>
            <a:r>
              <a:rPr lang="zh-CN" altLang="en-US" sz="2000" dirty="0"/>
              <a:t>原因：有的线程阻塞时可以允许新的线程</a:t>
            </a:r>
            <a:r>
              <a:rPr lang="zh-CN" altLang="en-CN" sz="2000" dirty="0"/>
              <a:t>替上</a:t>
            </a:r>
            <a:endParaRPr lang="en-US" altLang="zh-CN" sz="2000" dirty="0"/>
          </a:p>
          <a:p>
            <a:r>
              <a:rPr lang="zh-CN" altLang="en-US" sz="2000" dirty="0"/>
              <a:t>例子：允许同时三个线程执行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373904" y="2353444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worker_4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0FBB55-ACFD-9147-A906-356728EB585E}"/>
              </a:ext>
            </a:extLst>
          </p:cNvPr>
          <p:cNvSpPr/>
          <p:nvPr/>
        </p:nvSpPr>
        <p:spPr>
          <a:xfrm>
            <a:off x="8004560" y="244208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阻塞</a:t>
            </a:r>
          </a:p>
        </p:txBody>
      </p:sp>
    </p:spTree>
    <p:extLst>
      <p:ext uri="{BB962C8B-B14F-4D97-AF65-F5344CB8AC3E}">
        <p14:creationId xmlns:p14="http://schemas.microsoft.com/office/powerpoint/2010/main" val="3107202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-5</a:t>
            </a:r>
            <a:r>
              <a:rPr lang="zh-CN" altLang="en-US" dirty="0"/>
              <a:t>：线程池并发控制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2098452"/>
          </a:xfrm>
        </p:spPr>
        <p:txBody>
          <a:bodyPr>
            <a:noAutofit/>
          </a:bodyPr>
          <a:lstStyle/>
          <a:p>
            <a:r>
              <a:rPr lang="zh-CN" altLang="en-CN" sz="2000"/>
              <a:t>控制</a:t>
            </a:r>
            <a:r>
              <a:rPr lang="zh-CN" altLang="en-US" sz="2000"/>
              <a:t>同一时刻可以执行的线程数量</a:t>
            </a:r>
            <a:endParaRPr lang="en-US" altLang="zh-CN" sz="2000"/>
          </a:p>
          <a:p>
            <a:r>
              <a:rPr lang="zh-CN" altLang="en-US" sz="2000"/>
              <a:t>原因：有的线程阻塞时可以允许新的线程</a:t>
            </a:r>
            <a:r>
              <a:rPr lang="zh-CN" altLang="en-CN" sz="2000"/>
              <a:t>替上</a:t>
            </a:r>
            <a:endParaRPr lang="en-US" altLang="zh-CN" sz="2000"/>
          </a:p>
          <a:p>
            <a:r>
              <a:rPr lang="zh-CN" altLang="en-US" sz="2000"/>
              <a:t>例子：允许同时三个线程执行</a:t>
            </a:r>
            <a:endParaRPr lang="en-US" altLang="zh-CN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worker_3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52B72-D5FC-9E45-AAB7-020D8F4996D9}"/>
              </a:ext>
            </a:extLst>
          </p:cNvPr>
          <p:cNvSpPr/>
          <p:nvPr/>
        </p:nvSpPr>
        <p:spPr>
          <a:xfrm>
            <a:off x="663012" y="3314684"/>
            <a:ext cx="57359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场景3</a:t>
            </a:r>
            <a:r>
              <a:rPr lang="en-US" altLang="zh-CN" b="1" dirty="0"/>
              <a:t>:</a:t>
            </a:r>
            <a:r>
              <a:rPr lang="zh-CN" altLang="en-US" b="1" dirty="0"/>
              <a:t> 视</a:t>
            </a:r>
            <a:r>
              <a:rPr lang="zh-CN" altLang="en-US" b="1" u="sng" dirty="0"/>
              <a:t>剩余可并行执行线程数量</a:t>
            </a:r>
            <a:r>
              <a:rPr lang="zh-CN" altLang="en-US" b="1" dirty="0"/>
              <a:t>为有限资源</a:t>
            </a:r>
            <a:endParaRPr lang="en-CN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B6AEF7-7698-A643-A366-97FBD4FF7688}"/>
              </a:ext>
            </a:extLst>
          </p:cNvPr>
          <p:cNvSpPr/>
          <p:nvPr/>
        </p:nvSpPr>
        <p:spPr>
          <a:xfrm>
            <a:off x="1204581" y="3828444"/>
            <a:ext cx="37809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thread_routine () {</a:t>
            </a:r>
          </a:p>
          <a:p>
            <a:r>
              <a:rPr lang="en-CN">
                <a:latin typeface="Courier" pitchFamily="2" charset="0"/>
              </a:rPr>
              <a:t>  wait(&amp;thread_cnt_sem);</a:t>
            </a:r>
          </a:p>
          <a:p>
            <a:r>
              <a:rPr lang="en-CN">
                <a:latin typeface="Courier" pitchFamily="2" charset="0"/>
              </a:rPr>
              <a:t>  /* doing something */</a:t>
            </a:r>
          </a:p>
          <a:p>
            <a:r>
              <a:rPr lang="en-CN">
                <a:latin typeface="Courier" pitchFamily="2" charset="0"/>
              </a:rPr>
              <a:t>  signal(&amp;thread_cnt_sem);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B40AEDC1-130A-3647-A123-16575FAF2BE8}"/>
              </a:ext>
            </a:extLst>
          </p:cNvPr>
          <p:cNvSpPr/>
          <p:nvPr/>
        </p:nvSpPr>
        <p:spPr>
          <a:xfrm>
            <a:off x="6373904" y="2353444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worker_4</a:t>
            </a:r>
            <a:endParaRPr lang="en-CN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891DE8EA-A0A4-7940-8600-CB90CF043D09}"/>
              </a:ext>
            </a:extLst>
          </p:cNvPr>
          <p:cNvSpPr/>
          <p:nvPr/>
        </p:nvSpPr>
        <p:spPr>
          <a:xfrm>
            <a:off x="8004560" y="244208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阻塞</a:t>
            </a:r>
          </a:p>
        </p:txBody>
      </p:sp>
    </p:spTree>
    <p:extLst>
      <p:ext uri="{BB962C8B-B14F-4D97-AF65-F5344CB8AC3E}">
        <p14:creationId xmlns:p14="http://schemas.microsoft.com/office/powerpoint/2010/main" val="1873879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-6</a:t>
            </a:r>
            <a:r>
              <a:rPr lang="zh-CN" altLang="en-US" dirty="0"/>
              <a:t>：网页服务器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858894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66962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处理响应客户端获取静态网页需求</a:t>
            </a:r>
            <a:endParaRPr lang="en-US" altLang="zh-CN" sz="2000" dirty="0"/>
          </a:p>
          <a:p>
            <a:r>
              <a:rPr lang="zh-CN" altLang="en-US" sz="2000" dirty="0"/>
              <a:t>处理后端更新静态网页需求</a:t>
            </a:r>
            <a:endParaRPr lang="en-US" altLang="zh-CN" sz="2000" dirty="0"/>
          </a:p>
          <a:p>
            <a:r>
              <a:rPr lang="zh-CN" altLang="en-US" sz="2000" dirty="0"/>
              <a:t>不允许读取更新到一半的页面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7155038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Client_2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373904" y="2855890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server</a:t>
            </a:r>
            <a:r>
              <a:rPr lang="zh-CN" altLang="en-US"/>
              <a:t> 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1BEEB-DAF8-564B-B8C3-71FE83A75405}"/>
              </a:ext>
            </a:extLst>
          </p:cNvPr>
          <p:cNvSpPr/>
          <p:nvPr/>
        </p:nvSpPr>
        <p:spPr>
          <a:xfrm>
            <a:off x="6544694" y="4076426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后端</a:t>
            </a:r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DC9958-0E65-5E4E-813B-95F38A935018}"/>
              </a:ext>
            </a:extLst>
          </p:cNvPr>
          <p:cNvCxnSpPr>
            <a:stCxn id="3" idx="2"/>
          </p:cNvCxnSpPr>
          <p:nvPr/>
        </p:nvCxnSpPr>
        <p:spPr>
          <a:xfrm>
            <a:off x="6398954" y="2264852"/>
            <a:ext cx="540060" cy="47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51A68D-6237-754C-A1FD-534FC39BCAE9}"/>
              </a:ext>
            </a:extLst>
          </p:cNvPr>
          <p:cNvCxnSpPr>
            <a:cxnSpLocks/>
          </p:cNvCxnSpPr>
          <p:nvPr/>
        </p:nvCxnSpPr>
        <p:spPr>
          <a:xfrm flipH="1">
            <a:off x="7155038" y="2305973"/>
            <a:ext cx="583609" cy="43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1697C4-D0E9-FC44-B672-A1504928F6EA}"/>
              </a:ext>
            </a:extLst>
          </p:cNvPr>
          <p:cNvCxnSpPr>
            <a:cxnSpLocks/>
          </p:cNvCxnSpPr>
          <p:nvPr/>
        </p:nvCxnSpPr>
        <p:spPr>
          <a:xfrm flipV="1">
            <a:off x="7056275" y="3535515"/>
            <a:ext cx="0" cy="432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C46D3F5-A5D0-5E40-8EAC-5EAFF9789F3B}"/>
              </a:ext>
            </a:extLst>
          </p:cNvPr>
          <p:cNvSpPr/>
          <p:nvPr/>
        </p:nvSpPr>
        <p:spPr>
          <a:xfrm>
            <a:off x="7530898" y="24325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获取网页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BA9329-C706-3D48-8C37-1F036A7ACB3E}"/>
              </a:ext>
            </a:extLst>
          </p:cNvPr>
          <p:cNvSpPr/>
          <p:nvPr/>
        </p:nvSpPr>
        <p:spPr>
          <a:xfrm>
            <a:off x="7530898" y="35558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更新网页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55999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-6</a:t>
            </a:r>
            <a:r>
              <a:rPr lang="zh-CN" altLang="en-US" dirty="0"/>
              <a:t>：网页服务器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858894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66962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处理响应客户端获取静态网页需求</a:t>
            </a:r>
            <a:endParaRPr lang="en-US" altLang="zh-CN" sz="2000" dirty="0"/>
          </a:p>
          <a:p>
            <a:r>
              <a:rPr lang="zh-CN" altLang="en-US" sz="2000" dirty="0"/>
              <a:t>处理后端更新静态网页需求</a:t>
            </a:r>
            <a:endParaRPr lang="en-US" altLang="zh-CN" sz="2000" dirty="0"/>
          </a:p>
          <a:p>
            <a:r>
              <a:rPr lang="zh-CN" altLang="en-US" sz="2000" dirty="0"/>
              <a:t>不允许读取更新到一半的页面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7155038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Client_2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373904" y="2855890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server</a:t>
            </a:r>
            <a:r>
              <a:rPr lang="zh-CN" altLang="en-US"/>
              <a:t> 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52B72-D5FC-9E45-AAB7-020D8F4996D9}"/>
              </a:ext>
            </a:extLst>
          </p:cNvPr>
          <p:cNvSpPr/>
          <p:nvPr/>
        </p:nvSpPr>
        <p:spPr>
          <a:xfrm>
            <a:off x="457201" y="3062622"/>
            <a:ext cx="4294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衍生场景</a:t>
            </a:r>
            <a:r>
              <a:rPr lang="en-US" altLang="zh-CN" b="1" dirty="0"/>
              <a:t>1:</a:t>
            </a:r>
            <a:r>
              <a:rPr lang="zh-CN" altLang="en-US" b="1" dirty="0"/>
              <a:t> 读写场景，可以使用读写锁</a:t>
            </a:r>
            <a:endParaRPr lang="en-CN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1BEEB-DAF8-564B-B8C3-71FE83A75405}"/>
              </a:ext>
            </a:extLst>
          </p:cNvPr>
          <p:cNvSpPr/>
          <p:nvPr/>
        </p:nvSpPr>
        <p:spPr>
          <a:xfrm>
            <a:off x="6544694" y="4076426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后端</a:t>
            </a:r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DC9958-0E65-5E4E-813B-95F38A935018}"/>
              </a:ext>
            </a:extLst>
          </p:cNvPr>
          <p:cNvCxnSpPr>
            <a:stCxn id="3" idx="2"/>
          </p:cNvCxnSpPr>
          <p:nvPr/>
        </p:nvCxnSpPr>
        <p:spPr>
          <a:xfrm>
            <a:off x="6398954" y="2264852"/>
            <a:ext cx="540060" cy="47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51A68D-6237-754C-A1FD-534FC39BCAE9}"/>
              </a:ext>
            </a:extLst>
          </p:cNvPr>
          <p:cNvCxnSpPr>
            <a:cxnSpLocks/>
          </p:cNvCxnSpPr>
          <p:nvPr/>
        </p:nvCxnSpPr>
        <p:spPr>
          <a:xfrm flipH="1">
            <a:off x="7155038" y="2305973"/>
            <a:ext cx="583609" cy="43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1697C4-D0E9-FC44-B672-A1504928F6EA}"/>
              </a:ext>
            </a:extLst>
          </p:cNvPr>
          <p:cNvCxnSpPr>
            <a:cxnSpLocks/>
          </p:cNvCxnSpPr>
          <p:nvPr/>
        </p:nvCxnSpPr>
        <p:spPr>
          <a:xfrm flipV="1">
            <a:off x="7056275" y="3535515"/>
            <a:ext cx="0" cy="432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C46D3F5-A5D0-5E40-8EAC-5EAFF9789F3B}"/>
              </a:ext>
            </a:extLst>
          </p:cNvPr>
          <p:cNvSpPr/>
          <p:nvPr/>
        </p:nvSpPr>
        <p:spPr>
          <a:xfrm>
            <a:off x="7530898" y="24325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获取网页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BA9329-C706-3D48-8C37-1F036A7ACB3E}"/>
              </a:ext>
            </a:extLst>
          </p:cNvPr>
          <p:cNvSpPr/>
          <p:nvPr/>
        </p:nvSpPr>
        <p:spPr>
          <a:xfrm>
            <a:off x="7530898" y="35558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更新网页</a:t>
            </a:r>
            <a:endParaRPr lang="en-CN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7DDCCB86-D835-7E4A-BF46-2D5E6642FE01}"/>
              </a:ext>
            </a:extLst>
          </p:cNvPr>
          <p:cNvSpPr txBox="1">
            <a:spLocks/>
          </p:cNvSpPr>
          <p:nvPr/>
        </p:nvSpPr>
        <p:spPr>
          <a:xfrm>
            <a:off x="1043608" y="3740491"/>
            <a:ext cx="2880316" cy="1061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altLang="zh-CN" sz="2000"/>
              <a:t>client</a:t>
            </a:r>
            <a:r>
              <a:rPr lang="zh-CN" altLang="en-CN" sz="2000"/>
              <a:t>用</a:t>
            </a:r>
            <a:r>
              <a:rPr lang="zh-CN" altLang="en-US" sz="2000"/>
              <a:t>读锁</a:t>
            </a:r>
            <a:endParaRPr lang="en-US" altLang="zh-CN" sz="2000"/>
          </a:p>
          <a:p>
            <a:r>
              <a:rPr lang="zh-CN" altLang="en-US" sz="2000"/>
              <a:t>后端用写锁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1562784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同步原语选择guideline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481BC-8F56-6240-87CA-DBC00D757235}"/>
              </a:ext>
            </a:extLst>
          </p:cNvPr>
          <p:cNvSpPr txBox="1"/>
          <p:nvPr/>
        </p:nvSpPr>
        <p:spPr>
          <a:xfrm>
            <a:off x="3059832" y="1201316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存在</a:t>
            </a:r>
            <a:r>
              <a:rPr lang="en-CN"/>
              <a:t>多线程同步需求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9C04-9230-4547-8CDE-FB22776BDA9F}"/>
              </a:ext>
            </a:extLst>
          </p:cNvPr>
          <p:cNvSpPr txBox="1"/>
          <p:nvPr/>
        </p:nvSpPr>
        <p:spPr>
          <a:xfrm>
            <a:off x="2699792" y="1815954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保护数据</a:t>
            </a:r>
            <a:r>
              <a:rPr lang="zh-CN" altLang="en-US"/>
              <a:t> </a:t>
            </a:r>
            <a:r>
              <a:rPr lang="en-US" altLang="zh-CN"/>
              <a:t>or </a:t>
            </a:r>
            <a:r>
              <a:rPr lang="zh-CN" altLang="en-US"/>
              <a:t>协调线程执行顺序？</a:t>
            </a:r>
            <a:endParaRPr lang="en-C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636812-A439-6247-87C8-1111087A771D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63988" y="1570648"/>
            <a:ext cx="0" cy="245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556B82-E4CE-0B44-B1AB-7FB063F8C8F6}"/>
              </a:ext>
            </a:extLst>
          </p:cNvPr>
          <p:cNvCxnSpPr>
            <a:cxnSpLocks/>
          </p:cNvCxnSpPr>
          <p:nvPr/>
        </p:nvCxnSpPr>
        <p:spPr>
          <a:xfrm flipH="1">
            <a:off x="2625825" y="2315928"/>
            <a:ext cx="1766155" cy="101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68CA03-D6B9-5946-8D4D-413C2FF4D742}"/>
              </a:ext>
            </a:extLst>
          </p:cNvPr>
          <p:cNvSpPr txBox="1"/>
          <p:nvPr/>
        </p:nvSpPr>
        <p:spPr>
          <a:xfrm>
            <a:off x="2240425" y="2540149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保护数据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D79B85-68D1-B140-A424-366E0B11F3DB}"/>
              </a:ext>
            </a:extLst>
          </p:cNvPr>
          <p:cNvSpPr txBox="1"/>
          <p:nvPr/>
        </p:nvSpPr>
        <p:spPr>
          <a:xfrm>
            <a:off x="1403648" y="3471709"/>
            <a:ext cx="214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是否存在读多写少</a:t>
            </a:r>
            <a:r>
              <a:rPr lang="zh-CN" altLang="en-US" dirty="0"/>
              <a:t>？</a:t>
            </a:r>
            <a:endParaRPr lang="en-C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C88EBF-64E7-C145-BCC3-ED97CC4DED22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619672" y="4049925"/>
            <a:ext cx="830051" cy="591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28CA7A2-E401-554D-83A7-D4754EA7642B}"/>
              </a:ext>
            </a:extLst>
          </p:cNvPr>
          <p:cNvSpPr txBox="1"/>
          <p:nvPr/>
        </p:nvSpPr>
        <p:spPr>
          <a:xfrm>
            <a:off x="1189583" y="4035537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是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6F2BE2-F52F-4D4D-8FCE-5A3E67FC7D17}"/>
              </a:ext>
            </a:extLst>
          </p:cNvPr>
          <p:cNvSpPr txBox="1"/>
          <p:nvPr/>
        </p:nvSpPr>
        <p:spPr>
          <a:xfrm>
            <a:off x="989602" y="4641342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读写锁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83E685-8321-3546-9506-6EB4C95B558F}"/>
              </a:ext>
            </a:extLst>
          </p:cNvPr>
          <p:cNvCxnSpPr>
            <a:cxnSpLocks/>
          </p:cNvCxnSpPr>
          <p:nvPr/>
        </p:nvCxnSpPr>
        <p:spPr>
          <a:xfrm>
            <a:off x="2449723" y="4040635"/>
            <a:ext cx="610109" cy="478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B5C7D5D-14A4-F549-97C4-8AA9681F7100}"/>
              </a:ext>
            </a:extLst>
          </p:cNvPr>
          <p:cNvSpPr txBox="1"/>
          <p:nvPr/>
        </p:nvSpPr>
        <p:spPr>
          <a:xfrm>
            <a:off x="2809763" y="3967756"/>
            <a:ext cx="1402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600"/>
              <a:t>否</a:t>
            </a:r>
            <a:r>
              <a:rPr lang="zh-CN" altLang="en-US" sz="1600" dirty="0"/>
              <a:t>，</a:t>
            </a:r>
            <a:r>
              <a:rPr lang="en-CN" sz="1600"/>
              <a:t>或不存在读写场景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304E9E-74C2-1C4F-924E-7644E179B410}"/>
              </a:ext>
            </a:extLst>
          </p:cNvPr>
          <p:cNvSpPr txBox="1"/>
          <p:nvPr/>
        </p:nvSpPr>
        <p:spPr>
          <a:xfrm>
            <a:off x="2612401" y="4662004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互斥锁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162330-2E79-0F42-9EB3-C360B7076C79}"/>
              </a:ext>
            </a:extLst>
          </p:cNvPr>
          <p:cNvCxnSpPr>
            <a:cxnSpLocks/>
          </p:cNvCxnSpPr>
          <p:nvPr/>
        </p:nvCxnSpPr>
        <p:spPr>
          <a:xfrm>
            <a:off x="4391979" y="2315928"/>
            <a:ext cx="1430463" cy="9004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CEEF7B9-18BC-AE41-9D6E-1C3BE4ABC451}"/>
              </a:ext>
            </a:extLst>
          </p:cNvPr>
          <p:cNvSpPr/>
          <p:nvPr/>
        </p:nvSpPr>
        <p:spPr>
          <a:xfrm>
            <a:off x="5177875" y="249169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协调线程执行顺序</a:t>
            </a:r>
            <a:endParaRPr lang="en-C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6F2FC4-5375-2D40-91F5-8534FC529EA8}"/>
              </a:ext>
            </a:extLst>
          </p:cNvPr>
          <p:cNvSpPr txBox="1"/>
          <p:nvPr/>
        </p:nvSpPr>
        <p:spPr>
          <a:xfrm>
            <a:off x="4788024" y="3470319"/>
            <a:ext cx="261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是否管理有限数量资源？</a:t>
            </a:r>
            <a:endParaRPr lang="en-CN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8FCA62C-F91A-2749-978E-B7E805D51B82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5257141" y="4029400"/>
            <a:ext cx="830051" cy="591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D90E9D5-9310-6C41-BCE0-C6BCF52BD886}"/>
              </a:ext>
            </a:extLst>
          </p:cNvPr>
          <p:cNvSpPr txBox="1"/>
          <p:nvPr/>
        </p:nvSpPr>
        <p:spPr>
          <a:xfrm>
            <a:off x="4827052" y="4015012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是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BBB21E-5CFF-A547-A22F-84C342B60CF8}"/>
              </a:ext>
            </a:extLst>
          </p:cNvPr>
          <p:cNvSpPr txBox="1"/>
          <p:nvPr/>
        </p:nvSpPr>
        <p:spPr>
          <a:xfrm>
            <a:off x="4627071" y="4620817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信号量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E61F5D4-FFA8-884E-A02F-6274FDF36A03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6087192" y="4020110"/>
            <a:ext cx="792748" cy="621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4927A39-B362-A14B-83A9-6BC719BAC893}"/>
              </a:ext>
            </a:extLst>
          </p:cNvPr>
          <p:cNvSpPr txBox="1"/>
          <p:nvPr/>
        </p:nvSpPr>
        <p:spPr>
          <a:xfrm>
            <a:off x="6483364" y="3966740"/>
            <a:ext cx="1402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600"/>
              <a:t>否</a:t>
            </a:r>
            <a:r>
              <a:rPr lang="zh-CN" altLang="en-US" sz="1600"/>
              <a:t>，更加复杂的逻辑</a:t>
            </a:r>
            <a:endParaRPr lang="en-CN" sz="1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97037F-D44D-B045-BF5D-6F7217CD37F1}"/>
              </a:ext>
            </a:extLst>
          </p:cNvPr>
          <p:cNvSpPr txBox="1"/>
          <p:nvPr/>
        </p:nvSpPr>
        <p:spPr>
          <a:xfrm>
            <a:off x="6249870" y="4641479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条件变量</a:t>
            </a:r>
          </a:p>
        </p:txBody>
      </p:sp>
    </p:spTree>
    <p:extLst>
      <p:ext uri="{BB962C8B-B14F-4D97-AF65-F5344CB8AC3E}">
        <p14:creationId xmlns:p14="http://schemas.microsoft.com/office/powerpoint/2010/main" val="4074305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1BF5F5D-32A9-194A-BA8F-03072126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RCU</a:t>
            </a:r>
            <a:r>
              <a:rPr kumimoji="1" lang="zh-CN" altLang="en-US" dirty="0"/>
              <a:t>：更高效的读写互斥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660EFAC-D487-8E4F-BA7D-898344C6A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4F7296-E298-BA4F-A7CD-1CE9FB54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516D5D-6410-1E48-9A55-9C43ABC6B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5549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Read Copy Update, RCU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A2E48-778A-D443-8447-F47FC1B7F435}"/>
              </a:ext>
            </a:extLst>
          </p:cNvPr>
          <p:cNvSpPr/>
          <p:nvPr/>
        </p:nvSpPr>
        <p:spPr>
          <a:xfrm>
            <a:off x="1023020" y="112930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读写锁读者进入读临界区之前，还是需要</a:t>
            </a:r>
            <a:r>
              <a:rPr lang="zh-CN" altLang="en-US" b="1"/>
              <a:t>繁杂的操作</a:t>
            </a:r>
            <a:endParaRPr lang="en-C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0F43E-F171-4343-9431-88B2A9E84ACB}"/>
              </a:ext>
            </a:extLst>
          </p:cNvPr>
          <p:cNvSpPr txBox="1"/>
          <p:nvPr/>
        </p:nvSpPr>
        <p:spPr>
          <a:xfrm>
            <a:off x="1673678" y="1684094"/>
            <a:ext cx="5796644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思考：如果我们想去除这些操作，让读者即使在有写者写的时候随意读，我们需要做什么？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CD281-794D-294B-BCC7-564A81CF1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5BBE8-F16A-034F-BF60-760141A5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084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Read Copy Update, RCU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A2E48-778A-D443-8447-F47FC1B7F435}"/>
              </a:ext>
            </a:extLst>
          </p:cNvPr>
          <p:cNvSpPr/>
          <p:nvPr/>
        </p:nvSpPr>
        <p:spPr>
          <a:xfrm>
            <a:off x="1023020" y="112930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读写锁读者进入读临界区之前，还是需要</a:t>
            </a:r>
            <a:r>
              <a:rPr lang="zh-CN" altLang="en-US" b="1"/>
              <a:t>繁杂的操作</a:t>
            </a:r>
            <a:endParaRPr lang="en-C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0F43E-F171-4343-9431-88B2A9E84ACB}"/>
              </a:ext>
            </a:extLst>
          </p:cNvPr>
          <p:cNvSpPr txBox="1"/>
          <p:nvPr/>
        </p:nvSpPr>
        <p:spPr>
          <a:xfrm>
            <a:off x="539552" y="1684094"/>
            <a:ext cx="7920880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思考：如何让读者即使在有写者写的时候也能随意读？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DC77E9-BC42-3643-91E5-C9ED65693026}"/>
              </a:ext>
            </a:extLst>
          </p:cNvPr>
          <p:cNvSpPr/>
          <p:nvPr/>
        </p:nvSpPr>
        <p:spPr>
          <a:xfrm>
            <a:off x="1035930" y="4229518"/>
            <a:ext cx="7097960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硬件原子操作有大小限制（最大</a:t>
            </a:r>
            <a:r>
              <a:rPr lang="en-US" altLang="zh-CN"/>
              <a:t>128</a:t>
            </a:r>
            <a:r>
              <a:rPr lang="zh-CN" altLang="en-US"/>
              <a:t> </a:t>
            </a:r>
            <a:r>
              <a:rPr lang="en-US" altLang="zh-CN"/>
              <a:t>bit</a:t>
            </a:r>
            <a:r>
              <a:rPr lang="zh-CN" altLang="en-US"/>
              <a:t>）</a:t>
            </a:r>
            <a:endParaRPr lang="en-CN" altLang="zh-CN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性能瓶颈</a:t>
            </a:r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7C7E1-8B24-A040-999D-4263EED8B349}"/>
              </a:ext>
            </a:extLst>
          </p:cNvPr>
          <p:cNvSpPr/>
          <p:nvPr/>
        </p:nvSpPr>
        <p:spPr>
          <a:xfrm>
            <a:off x="421632" y="3783438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硬件原子操作：</a:t>
            </a:r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0E7C8-8CDD-AB4A-9DFE-6E7628223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003FA4-F17A-A945-A5F4-FF93C11FBD38}"/>
              </a:ext>
            </a:extLst>
          </p:cNvPr>
          <p:cNvSpPr/>
          <p:nvPr/>
        </p:nvSpPr>
        <p:spPr>
          <a:xfrm>
            <a:off x="539552" y="2733766"/>
            <a:ext cx="7581428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：需要一种能够</a:t>
            </a:r>
            <a:r>
              <a:rPr lang="zh-CN" altLang="en-US" b="1"/>
              <a:t>类似之前硬件原子操作</a:t>
            </a:r>
            <a:r>
              <a:rPr lang="zh-CN" altLang="en-US"/>
              <a:t>的方式，让读者要么看到旧的值，要么看到新的值，不会读到任何中间结果。</a:t>
            </a:r>
            <a:endParaRPr lang="en-CN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9153F-0CD6-1D49-B330-8CE3D4C9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046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Read Copy Update, RCU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A2E48-778A-D443-8447-F47FC1B7F435}"/>
              </a:ext>
            </a:extLst>
          </p:cNvPr>
          <p:cNvSpPr/>
          <p:nvPr/>
        </p:nvSpPr>
        <p:spPr>
          <a:xfrm>
            <a:off x="1023020" y="112930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读写锁读者进入读临界区之前，还是需要</a:t>
            </a:r>
            <a:r>
              <a:rPr lang="zh-CN" altLang="en-US" b="1"/>
              <a:t>繁杂的操作</a:t>
            </a:r>
            <a:endParaRPr lang="en-C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0F43E-F171-4343-9431-88B2A9E84ACB}"/>
              </a:ext>
            </a:extLst>
          </p:cNvPr>
          <p:cNvSpPr txBox="1"/>
          <p:nvPr/>
        </p:nvSpPr>
        <p:spPr>
          <a:xfrm>
            <a:off x="1673678" y="1684094"/>
            <a:ext cx="5796644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思考：如果我们想去除这些操作，让读者即使在有写者写的时候随意读，我们需要做什么？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EC143-2DD1-654C-92F0-5F3FAE2D445E}"/>
              </a:ext>
            </a:extLst>
          </p:cNvPr>
          <p:cNvSpPr/>
          <p:nvPr/>
        </p:nvSpPr>
        <p:spPr>
          <a:xfrm>
            <a:off x="539552" y="2733766"/>
            <a:ext cx="7581428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：需要一种能够</a:t>
            </a:r>
            <a:r>
              <a:rPr lang="zh-CN" altLang="en-US" b="1"/>
              <a:t>类似之前硬件原子操作</a:t>
            </a:r>
            <a:r>
              <a:rPr lang="zh-CN" altLang="en-US"/>
              <a:t>的方式，让读者要么看到旧的值，要么看到新的值，不会读到任何中间结果。</a:t>
            </a:r>
            <a:endParaRPr lang="en-CN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7C7E1-8B24-A040-999D-4263EED8B349}"/>
              </a:ext>
            </a:extLst>
          </p:cNvPr>
          <p:cNvSpPr/>
          <p:nvPr/>
        </p:nvSpPr>
        <p:spPr>
          <a:xfrm>
            <a:off x="421632" y="3783438"/>
            <a:ext cx="4288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单拷贝原子性（</a:t>
            </a:r>
            <a:r>
              <a:rPr lang="en-US" altLang="zh-CN"/>
              <a:t>Single-copy atomicity)</a:t>
            </a:r>
            <a:r>
              <a:rPr lang="zh-CN" altLang="en-US"/>
              <a:t>：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FE7966-E094-DF41-8E70-E0314B641DDE}"/>
              </a:ext>
            </a:extLst>
          </p:cNvPr>
          <p:cNvSpPr/>
          <p:nvPr/>
        </p:nvSpPr>
        <p:spPr>
          <a:xfrm>
            <a:off x="1248013" y="4214878"/>
            <a:ext cx="6647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处理器任意一个操作的是否能够原子的可见，如更新一个指针</a:t>
            </a:r>
            <a:endParaRPr lang="en-C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160493-774E-694E-A1B7-1A8B04094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8DD01-1A7B-0D49-A3BD-11B75AB6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858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36" y="1849388"/>
            <a:ext cx="7524328" cy="33924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99ACF5-5123-CE47-8995-4BA1E1D65F21}"/>
              </a:ext>
            </a:extLst>
          </p:cNvPr>
          <p:cNvSpPr/>
          <p:nvPr/>
        </p:nvSpPr>
        <p:spPr>
          <a:xfrm>
            <a:off x="1023020" y="1032812"/>
            <a:ext cx="7097960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以链表为例：插入结点</a:t>
            </a:r>
            <a:r>
              <a:rPr lang="en-US" altLang="zh-CN"/>
              <a:t>Node</a:t>
            </a:r>
            <a:r>
              <a:rPr lang="zh-CN" altLang="en-US"/>
              <a:t> </a:t>
            </a:r>
            <a:r>
              <a:rPr lang="en-US" altLang="zh-CN"/>
              <a:t>C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0DDD07-0438-2A43-BA54-D0B0C8AF6F5C}"/>
              </a:ext>
            </a:extLst>
          </p:cNvPr>
          <p:cNvSpPr/>
          <p:nvPr/>
        </p:nvSpPr>
        <p:spPr>
          <a:xfrm>
            <a:off x="251520" y="5103948"/>
            <a:ext cx="263897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/>
              <a:t>读者</a:t>
            </a:r>
            <a:r>
              <a:rPr lang="zh-CN" altLang="en-US"/>
              <a:t>看不到</a:t>
            </a:r>
            <a:r>
              <a:rPr lang="en-US" altLang="zh-CN"/>
              <a:t>Node</a:t>
            </a:r>
            <a:r>
              <a:rPr lang="zh-CN" altLang="en-US"/>
              <a:t> </a:t>
            </a:r>
            <a:r>
              <a:rPr lang="en-US" altLang="zh-CN"/>
              <a:t>C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CF69FB-1B53-4946-902B-A9C77AF2B0B5}"/>
              </a:ext>
            </a:extLst>
          </p:cNvPr>
          <p:cNvSpPr/>
          <p:nvPr/>
        </p:nvSpPr>
        <p:spPr>
          <a:xfrm>
            <a:off x="6202322" y="5161756"/>
            <a:ext cx="263897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/>
              <a:t>读者</a:t>
            </a:r>
            <a:r>
              <a:rPr lang="zh-CN" altLang="en-US"/>
              <a:t>看到</a:t>
            </a:r>
            <a:r>
              <a:rPr lang="en-US" altLang="zh-CN"/>
              <a:t>Node</a:t>
            </a:r>
            <a:r>
              <a:rPr lang="zh-CN" altLang="en-US"/>
              <a:t> </a:t>
            </a:r>
            <a:r>
              <a:rPr lang="en-US" altLang="zh-CN"/>
              <a:t>C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10E6-FFCF-3C43-873E-37FAE9F7F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623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发布机制：此时的读者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57" y="1393177"/>
            <a:ext cx="6924886" cy="31221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A136F-E35E-7E4F-A738-6A23EFE665F6}"/>
              </a:ext>
            </a:extLst>
          </p:cNvPr>
          <p:cNvSpPr/>
          <p:nvPr/>
        </p:nvSpPr>
        <p:spPr>
          <a:xfrm>
            <a:off x="457200" y="232590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31E6F-B448-4D47-8D96-689776E894A6}"/>
              </a:ext>
            </a:extLst>
          </p:cNvPr>
          <p:cNvSpPr/>
          <p:nvPr/>
        </p:nvSpPr>
        <p:spPr>
          <a:xfrm>
            <a:off x="755576" y="2702226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CD206D-1136-CF4D-83D7-12F44504E390}"/>
              </a:ext>
            </a:extLst>
          </p:cNvPr>
          <p:cNvSpPr/>
          <p:nvPr/>
        </p:nvSpPr>
        <p:spPr>
          <a:xfrm>
            <a:off x="1465312" y="3937092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solidFill>
                  <a:srgbClr val="C00000"/>
                </a:solidFill>
                <a:latin typeface="Courier" pitchFamily="2" charset="0"/>
              </a:rPr>
              <a:t>Writing</a:t>
            </a:r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urier" pitchFamily="2" charset="0"/>
              </a:rPr>
              <a:t>Node</a:t>
            </a:r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urier" pitchFamily="2" charset="0"/>
              </a:rPr>
              <a:t>C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2A017-800C-3146-B887-B94AAFE8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9485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发布机制：此时的读者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57" y="1393177"/>
            <a:ext cx="6924886" cy="31221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A136F-E35E-7E4F-A738-6A23EFE665F6}"/>
              </a:ext>
            </a:extLst>
          </p:cNvPr>
          <p:cNvSpPr/>
          <p:nvPr/>
        </p:nvSpPr>
        <p:spPr>
          <a:xfrm>
            <a:off x="3302180" y="1740048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31E6F-B448-4D47-8D96-689776E894A6}"/>
              </a:ext>
            </a:extLst>
          </p:cNvPr>
          <p:cNvSpPr/>
          <p:nvPr/>
        </p:nvSpPr>
        <p:spPr>
          <a:xfrm>
            <a:off x="3713871" y="2124010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62D486-FA2A-3646-8BCE-03325C9D027F}"/>
              </a:ext>
            </a:extLst>
          </p:cNvPr>
          <p:cNvSpPr/>
          <p:nvPr/>
        </p:nvSpPr>
        <p:spPr>
          <a:xfrm>
            <a:off x="1724102" y="4677536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看不到</a:t>
            </a:r>
            <a:r>
              <a:rPr lang="en-US" altLang="zh-CN">
                <a:solidFill>
                  <a:srgbClr val="C00000"/>
                </a:solidFill>
              </a:rPr>
              <a:t>Node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C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937F14-B5DC-324E-B0CA-EDB63F9874F1}"/>
              </a:ext>
            </a:extLst>
          </p:cNvPr>
          <p:cNvSpPr/>
          <p:nvPr/>
        </p:nvSpPr>
        <p:spPr>
          <a:xfrm>
            <a:off x="1403648" y="4020375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solidFill>
                  <a:srgbClr val="C00000"/>
                </a:solidFill>
                <a:latin typeface="Courier" pitchFamily="2" charset="0"/>
              </a:rPr>
              <a:t>Writing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Node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C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92AD03-8073-9445-BA3B-02EE3AD3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4406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发布机制：此时的读者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57" y="1393177"/>
            <a:ext cx="6924886" cy="31221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31E6F-B448-4D47-8D96-689776E894A6}"/>
              </a:ext>
            </a:extLst>
          </p:cNvPr>
          <p:cNvSpPr/>
          <p:nvPr/>
        </p:nvSpPr>
        <p:spPr>
          <a:xfrm>
            <a:off x="4660199" y="2011454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3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13CCBD-70D9-9F42-8185-C9EB571E56F6}"/>
              </a:ext>
            </a:extLst>
          </p:cNvPr>
          <p:cNvSpPr/>
          <p:nvPr/>
        </p:nvSpPr>
        <p:spPr>
          <a:xfrm>
            <a:off x="5580112" y="3954935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&amp;C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E2D35-6A16-7D47-83AA-7CCB9C70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5482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发布机制：此时的读者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57" y="1393177"/>
            <a:ext cx="6924886" cy="31221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31E6F-B448-4D47-8D96-689776E894A6}"/>
              </a:ext>
            </a:extLst>
          </p:cNvPr>
          <p:cNvSpPr/>
          <p:nvPr/>
        </p:nvSpPr>
        <p:spPr>
          <a:xfrm>
            <a:off x="5868144" y="3289548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3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B9612-C518-A34D-8FA6-77B834261CE1}"/>
              </a:ext>
            </a:extLst>
          </p:cNvPr>
          <p:cNvSpPr/>
          <p:nvPr/>
        </p:nvSpPr>
        <p:spPr>
          <a:xfrm>
            <a:off x="5686501" y="4725885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可以看到</a:t>
            </a:r>
            <a:r>
              <a:rPr lang="en-US" altLang="zh-CN">
                <a:solidFill>
                  <a:srgbClr val="C00000"/>
                </a:solidFill>
              </a:rPr>
              <a:t>Node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C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50D4B-F6F0-AA43-9318-DEBFBEE49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598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891533-36DC-8247-B42C-B639BEF1F0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62"/>
          <a:stretch/>
        </p:blipFill>
        <p:spPr>
          <a:xfrm>
            <a:off x="3998931" y="1820914"/>
            <a:ext cx="3467074" cy="29808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82DD5-BC9B-314D-8AB4-73EC471C25F3}"/>
              </a:ext>
            </a:extLst>
          </p:cNvPr>
          <p:cNvSpPr/>
          <p:nvPr/>
        </p:nvSpPr>
        <p:spPr>
          <a:xfrm>
            <a:off x="2010544" y="1192786"/>
            <a:ext cx="7097960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删除</a:t>
            </a:r>
            <a:r>
              <a:rPr lang="zh-CN" altLang="en-US" dirty="0"/>
              <a:t>结点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AED493-7216-0647-AFE2-FA736FAD365D}"/>
              </a:ext>
            </a:extLst>
          </p:cNvPr>
          <p:cNvSpPr txBox="1"/>
          <p:nvPr/>
        </p:nvSpPr>
        <p:spPr>
          <a:xfrm>
            <a:off x="-136653" y="3237579"/>
            <a:ext cx="3467074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思考：局限性在哪？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784B20-A32F-444C-B398-FD165ECCA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924C78-7CFF-CB45-B35A-4DCBA99554C7}"/>
              </a:ext>
            </a:extLst>
          </p:cNvPr>
          <p:cNvSpPr/>
          <p:nvPr/>
        </p:nvSpPr>
        <p:spPr>
          <a:xfrm>
            <a:off x="491683" y="2309921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  <a:latin typeface="Courier" pitchFamily="2" charset="0"/>
              </a:rPr>
              <a:t>A.Next</a:t>
            </a:r>
            <a:r>
              <a:rPr lang="en-US" altLang="zh-CN" dirty="0">
                <a:solidFill>
                  <a:srgbClr val="C00000"/>
                </a:solidFill>
                <a:latin typeface="Courier" pitchFamily="2" charset="0"/>
              </a:rPr>
              <a:t>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187F5D-5E67-B542-B513-D4D84FFC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369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91533-36DC-8247-B42C-B639BEF1F0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10"/>
          <a:stretch/>
        </p:blipFill>
        <p:spPr>
          <a:xfrm>
            <a:off x="3491880" y="1821261"/>
            <a:ext cx="4887300" cy="29808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82DD5-BC9B-314D-8AB4-73EC471C25F3}"/>
              </a:ext>
            </a:extLst>
          </p:cNvPr>
          <p:cNvSpPr/>
          <p:nvPr/>
        </p:nvSpPr>
        <p:spPr>
          <a:xfrm>
            <a:off x="2228098" y="1131370"/>
            <a:ext cx="7097960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更新</a:t>
            </a:r>
            <a:r>
              <a:rPr lang="zh-CN" altLang="en-US" dirty="0"/>
              <a:t>结点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B4045D-BB81-3E4D-8D94-326B107577F8}"/>
              </a:ext>
            </a:extLst>
          </p:cNvPr>
          <p:cNvSpPr/>
          <p:nvPr/>
        </p:nvSpPr>
        <p:spPr>
          <a:xfrm>
            <a:off x="196266" y="2875677"/>
            <a:ext cx="2638970" cy="87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复制</a:t>
            </a:r>
            <a:r>
              <a:rPr lang="zh-CN" altLang="en-US" dirty="0"/>
              <a:t>一个新的</a:t>
            </a:r>
            <a:r>
              <a:rPr lang="en-US" altLang="zh-CN" dirty="0"/>
              <a:t>Node C’</a:t>
            </a:r>
          </a:p>
          <a:p>
            <a:pPr algn="ctr">
              <a:lnSpc>
                <a:spcPct val="150000"/>
              </a:lnSpc>
            </a:pPr>
            <a:r>
              <a:rPr lang="zh-CN" altLang="en-US" dirty="0"/>
              <a:t>更新</a:t>
            </a:r>
            <a:r>
              <a:rPr lang="en-US" altLang="zh-CN" dirty="0"/>
              <a:t>Next</a:t>
            </a:r>
            <a:r>
              <a:rPr lang="zh-CN" altLang="en-US" dirty="0"/>
              <a:t>指针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784B20-A32F-444C-B398-FD165ECCA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A9A967-9C36-7E46-B0E1-684045FA49C1}"/>
              </a:ext>
            </a:extLst>
          </p:cNvPr>
          <p:cNvSpPr/>
          <p:nvPr/>
        </p:nvSpPr>
        <p:spPr>
          <a:xfrm>
            <a:off x="339627" y="2404253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  <a:latin typeface="Courier" pitchFamily="2" charset="0"/>
              </a:rPr>
              <a:t>A.Next</a:t>
            </a:r>
            <a:r>
              <a:rPr lang="en-US" altLang="zh-CN" dirty="0">
                <a:solidFill>
                  <a:srgbClr val="C00000"/>
                </a:solidFill>
                <a:latin typeface="Courier" pitchFamily="2" charset="0"/>
              </a:rPr>
              <a:t> = &amp;C’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187F5D-5E67-B542-B513-D4D84FFC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8612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Read Copy Update, RCU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A2E48-778A-D443-8447-F47FC1B7F435}"/>
              </a:ext>
            </a:extLst>
          </p:cNvPr>
          <p:cNvSpPr/>
          <p:nvPr/>
        </p:nvSpPr>
        <p:spPr>
          <a:xfrm>
            <a:off x="1023020" y="112930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读写锁读者进入读临界区之前，还是需要</a:t>
            </a:r>
            <a:r>
              <a:rPr lang="zh-CN" altLang="en-US" b="1"/>
              <a:t>繁杂的操作</a:t>
            </a:r>
            <a:endParaRPr lang="en-CN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EC143-2DD1-654C-92F0-5F3FAE2D445E}"/>
              </a:ext>
            </a:extLst>
          </p:cNvPr>
          <p:cNvSpPr/>
          <p:nvPr/>
        </p:nvSpPr>
        <p:spPr>
          <a:xfrm>
            <a:off x="539552" y="2501618"/>
            <a:ext cx="758142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需求</a:t>
            </a:r>
            <a:r>
              <a:rPr lang="en-US" altLang="zh-CN"/>
              <a:t>2</a:t>
            </a:r>
            <a:r>
              <a:rPr lang="zh-CN" altLang="en-US"/>
              <a:t>：在</a:t>
            </a:r>
            <a:r>
              <a:rPr lang="zh-CN" altLang="en-US" b="1"/>
              <a:t>合适</a:t>
            </a:r>
            <a:r>
              <a:rPr lang="zh-CN" altLang="en-US"/>
              <a:t>的时间，</a:t>
            </a:r>
            <a:r>
              <a:rPr lang="zh-CN" altLang="en-US" b="1"/>
              <a:t>回收</a:t>
            </a:r>
            <a:r>
              <a:rPr lang="zh-CN" altLang="en-US"/>
              <a:t>无用的旧拷贝</a:t>
            </a:r>
            <a:endParaRPr lang="en-CN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39F310-9E77-2E44-98E2-8693804BF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073524"/>
            <a:ext cx="6041196" cy="21366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B5A6B0-1FBC-3343-8BAA-37B19761FBE1}"/>
              </a:ext>
            </a:extLst>
          </p:cNvPr>
          <p:cNvSpPr/>
          <p:nvPr/>
        </p:nvSpPr>
        <p:spPr>
          <a:xfrm>
            <a:off x="6078394" y="4662788"/>
            <a:ext cx="260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还有读者在</a:t>
            </a:r>
            <a:r>
              <a:rPr lang="en-US" altLang="zh-CN"/>
              <a:t>Node</a:t>
            </a:r>
            <a:r>
              <a:rPr lang="zh-CN" altLang="en-US"/>
              <a:t> </a:t>
            </a:r>
            <a:r>
              <a:rPr lang="en-US" altLang="zh-CN"/>
              <a:t>C</a:t>
            </a:r>
            <a:r>
              <a:rPr lang="zh-CN" altLang="en-US"/>
              <a:t>上读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366F5-EF7E-9846-9FD3-E86E64303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66C5D2-103B-754B-A116-92A0A3F268C2}"/>
              </a:ext>
            </a:extLst>
          </p:cNvPr>
          <p:cNvSpPr txBox="1"/>
          <p:nvPr/>
        </p:nvSpPr>
        <p:spPr>
          <a:xfrm>
            <a:off x="1610589" y="1861208"/>
            <a:ext cx="3467074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思考：局限性在哪？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98F0C3-49BC-3246-97CB-5E1224E24FA6}"/>
              </a:ext>
            </a:extLst>
          </p:cNvPr>
          <p:cNvSpPr/>
          <p:nvPr/>
        </p:nvSpPr>
        <p:spPr>
          <a:xfrm>
            <a:off x="4603604" y="1995460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我们需要回收无用的旧拷贝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965707-D857-F541-8FE9-F44A0B45CC9D}"/>
              </a:ext>
            </a:extLst>
          </p:cNvPr>
          <p:cNvSpPr/>
          <p:nvPr/>
        </p:nvSpPr>
        <p:spPr>
          <a:xfrm>
            <a:off x="6685781" y="429345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b="1" dirty="0"/>
              <a:t>更新</a:t>
            </a:r>
            <a:r>
              <a:rPr lang="zh-CN" altLang="en-US" dirty="0"/>
              <a:t>完指针时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41D8E8-C665-AB4E-AB9D-4B41410C4D4D}"/>
              </a:ext>
            </a:extLst>
          </p:cNvPr>
          <p:cNvSpPr/>
          <p:nvPr/>
        </p:nvSpPr>
        <p:spPr>
          <a:xfrm>
            <a:off x="6597767" y="504128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此时</a:t>
            </a:r>
            <a:r>
              <a:rPr lang="zh-CN" altLang="en-US"/>
              <a:t>不能回收</a:t>
            </a:r>
            <a:endParaRPr lang="en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F6FEC-3060-4940-B10A-A965DBF6D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609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FCD8A0-AF10-6442-9887-31D2E8B89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51" y="1619908"/>
            <a:ext cx="3095484" cy="28884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8CCB0C-6D12-5249-981C-BF0F869C6220}"/>
              </a:ext>
            </a:extLst>
          </p:cNvPr>
          <p:cNvSpPr/>
          <p:nvPr/>
        </p:nvSpPr>
        <p:spPr>
          <a:xfrm>
            <a:off x="354295" y="203576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C6F83A-D4A3-4846-A66A-D1F0E0BAC6A5}"/>
              </a:ext>
            </a:extLst>
          </p:cNvPr>
          <p:cNvSpPr/>
          <p:nvPr/>
        </p:nvSpPr>
        <p:spPr>
          <a:xfrm>
            <a:off x="1902037" y="3895261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F4DB0E-7C39-A545-9F9D-ACF92D6248D7}"/>
              </a:ext>
            </a:extLst>
          </p:cNvPr>
          <p:cNvSpPr/>
          <p:nvPr/>
        </p:nvSpPr>
        <p:spPr>
          <a:xfrm>
            <a:off x="4645787" y="1531707"/>
            <a:ext cx="1366373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EA1EB-7B39-A042-B893-D8A3F38D283E}"/>
              </a:ext>
            </a:extLst>
          </p:cNvPr>
          <p:cNvSpPr/>
          <p:nvPr/>
        </p:nvSpPr>
        <p:spPr>
          <a:xfrm>
            <a:off x="5190167" y="2035763"/>
            <a:ext cx="821993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618C9-EF97-B541-BF8C-E3561CEF9E3B}"/>
              </a:ext>
            </a:extLst>
          </p:cNvPr>
          <p:cNvSpPr/>
          <p:nvPr/>
        </p:nvSpPr>
        <p:spPr>
          <a:xfrm>
            <a:off x="5776619" y="6107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T0</a:t>
            </a:r>
            <a:endParaRPr lang="en-C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5D7DB3-2FE1-2E4F-99F3-343AF5447126}"/>
              </a:ext>
            </a:extLst>
          </p:cNvPr>
          <p:cNvCxnSpPr>
            <a:cxnSpLocks/>
          </p:cNvCxnSpPr>
          <p:nvPr/>
        </p:nvCxnSpPr>
        <p:spPr>
          <a:xfrm flipV="1">
            <a:off x="6021186" y="1129309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1060A51-720B-BF4F-B454-DA6317B37F0C}"/>
              </a:ext>
            </a:extLst>
          </p:cNvPr>
          <p:cNvSpPr/>
          <p:nvPr/>
        </p:nvSpPr>
        <p:spPr>
          <a:xfrm>
            <a:off x="457200" y="987001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知道读临界区什么时候开始，什么时候结束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C4F364B-BBB3-1B45-AF3E-8570A1CD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295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D9BD83C-9290-404E-ABCC-8AB2963CE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05" y="1531707"/>
            <a:ext cx="3016129" cy="28144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8CCB0C-6D12-5249-981C-BF0F869C6220}"/>
              </a:ext>
            </a:extLst>
          </p:cNvPr>
          <p:cNvSpPr/>
          <p:nvPr/>
        </p:nvSpPr>
        <p:spPr>
          <a:xfrm>
            <a:off x="354295" y="203576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C6F83A-D4A3-4846-A66A-D1F0E0BAC6A5}"/>
              </a:ext>
            </a:extLst>
          </p:cNvPr>
          <p:cNvSpPr/>
          <p:nvPr/>
        </p:nvSpPr>
        <p:spPr>
          <a:xfrm>
            <a:off x="1902037" y="3670768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F4DB0E-7C39-A545-9F9D-ACF92D6248D7}"/>
              </a:ext>
            </a:extLst>
          </p:cNvPr>
          <p:cNvSpPr/>
          <p:nvPr/>
        </p:nvSpPr>
        <p:spPr>
          <a:xfrm>
            <a:off x="4645787" y="1531707"/>
            <a:ext cx="179841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EA1EB-7B39-A042-B893-D8A3F38D283E}"/>
              </a:ext>
            </a:extLst>
          </p:cNvPr>
          <p:cNvSpPr/>
          <p:nvPr/>
        </p:nvSpPr>
        <p:spPr>
          <a:xfrm>
            <a:off x="5190167" y="2035763"/>
            <a:ext cx="1254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618C9-EF97-B541-BF8C-E3561CEF9E3B}"/>
              </a:ext>
            </a:extLst>
          </p:cNvPr>
          <p:cNvSpPr/>
          <p:nvPr/>
        </p:nvSpPr>
        <p:spPr>
          <a:xfrm>
            <a:off x="5776619" y="6107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T0</a:t>
            </a:r>
            <a:endParaRPr lang="en-C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FE859-4400-8C42-B432-A490F52B4E77}"/>
              </a:ext>
            </a:extLst>
          </p:cNvPr>
          <p:cNvCxnSpPr>
            <a:cxnSpLocks/>
          </p:cNvCxnSpPr>
          <p:nvPr/>
        </p:nvCxnSpPr>
        <p:spPr>
          <a:xfrm flipV="1">
            <a:off x="6444205" y="1129309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0BD51-5200-A648-B322-677F88089EE7}"/>
              </a:ext>
            </a:extLst>
          </p:cNvPr>
          <p:cNvSpPr/>
          <p:nvPr/>
        </p:nvSpPr>
        <p:spPr>
          <a:xfrm>
            <a:off x="6230589" y="61766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1</a:t>
            </a:r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8BED15-839A-B049-B814-04A2ECC0B5C6}"/>
              </a:ext>
            </a:extLst>
          </p:cNvPr>
          <p:cNvSpPr/>
          <p:nvPr/>
        </p:nvSpPr>
        <p:spPr>
          <a:xfrm>
            <a:off x="1374531" y="4563883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90B2AC-AC96-F743-89C3-8331EECBE5AC}"/>
              </a:ext>
            </a:extLst>
          </p:cNvPr>
          <p:cNvSpPr/>
          <p:nvPr/>
        </p:nvSpPr>
        <p:spPr>
          <a:xfrm>
            <a:off x="5665662" y="4727999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3FBD87-D794-7543-ABC1-E4D40BB1C24F}"/>
              </a:ext>
            </a:extLst>
          </p:cNvPr>
          <p:cNvSpPr/>
          <p:nvPr/>
        </p:nvSpPr>
        <p:spPr>
          <a:xfrm>
            <a:off x="457200" y="987001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知道读临界区什么时候开始，什么时候结束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EFB86-A2C0-C24B-A9B0-E1ADF8B9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555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D5DEE-431C-9A49-A60E-8CD34A18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84" y="1389799"/>
            <a:ext cx="3152215" cy="2941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8CCB0C-6D12-5249-981C-BF0F869C6220}"/>
              </a:ext>
            </a:extLst>
          </p:cNvPr>
          <p:cNvSpPr/>
          <p:nvPr/>
        </p:nvSpPr>
        <p:spPr>
          <a:xfrm>
            <a:off x="3147222" y="1963148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F4DB0E-7C39-A545-9F9D-ACF92D6248D7}"/>
              </a:ext>
            </a:extLst>
          </p:cNvPr>
          <p:cNvSpPr/>
          <p:nvPr/>
        </p:nvSpPr>
        <p:spPr>
          <a:xfrm>
            <a:off x="4645787" y="1531707"/>
            <a:ext cx="259051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EA1EB-7B39-A042-B893-D8A3F38D283E}"/>
              </a:ext>
            </a:extLst>
          </p:cNvPr>
          <p:cNvSpPr/>
          <p:nvPr/>
        </p:nvSpPr>
        <p:spPr>
          <a:xfrm>
            <a:off x="5190167" y="2035763"/>
            <a:ext cx="204613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618C9-EF97-B541-BF8C-E3561CEF9E3B}"/>
              </a:ext>
            </a:extLst>
          </p:cNvPr>
          <p:cNvSpPr/>
          <p:nvPr/>
        </p:nvSpPr>
        <p:spPr>
          <a:xfrm>
            <a:off x="5776619" y="6107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T0</a:t>
            </a:r>
            <a:endParaRPr lang="en-C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FE859-4400-8C42-B432-A490F52B4E77}"/>
              </a:ext>
            </a:extLst>
          </p:cNvPr>
          <p:cNvCxnSpPr>
            <a:cxnSpLocks/>
          </p:cNvCxnSpPr>
          <p:nvPr/>
        </p:nvCxnSpPr>
        <p:spPr>
          <a:xfrm flipV="1">
            <a:off x="6444205" y="1129309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0BD51-5200-A648-B322-677F88089EE7}"/>
              </a:ext>
            </a:extLst>
          </p:cNvPr>
          <p:cNvSpPr/>
          <p:nvPr/>
        </p:nvSpPr>
        <p:spPr>
          <a:xfrm>
            <a:off x="6230589" y="61766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1</a:t>
            </a:r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8BED15-839A-B049-B814-04A2ECC0B5C6}"/>
              </a:ext>
            </a:extLst>
          </p:cNvPr>
          <p:cNvSpPr/>
          <p:nvPr/>
        </p:nvSpPr>
        <p:spPr>
          <a:xfrm>
            <a:off x="1374531" y="4563883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90B2AC-AC96-F743-89C3-8331EECBE5AC}"/>
              </a:ext>
            </a:extLst>
          </p:cNvPr>
          <p:cNvSpPr/>
          <p:nvPr/>
        </p:nvSpPr>
        <p:spPr>
          <a:xfrm>
            <a:off x="5665662" y="4727999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2216C4-9183-704D-9264-0DAFD55D7FF5}"/>
              </a:ext>
            </a:extLst>
          </p:cNvPr>
          <p:cNvCxnSpPr>
            <a:cxnSpLocks/>
          </p:cNvCxnSpPr>
          <p:nvPr/>
        </p:nvCxnSpPr>
        <p:spPr>
          <a:xfrm flipV="1">
            <a:off x="7236296" y="1129308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B65858C-446A-7D4A-B2A1-3D06A9DB89C1}"/>
              </a:ext>
            </a:extLst>
          </p:cNvPr>
          <p:cNvSpPr/>
          <p:nvPr/>
        </p:nvSpPr>
        <p:spPr>
          <a:xfrm>
            <a:off x="6948772" y="63272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2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A6E516-8E4A-884D-9716-A953E3916805}"/>
              </a:ext>
            </a:extLst>
          </p:cNvPr>
          <p:cNvSpPr/>
          <p:nvPr/>
        </p:nvSpPr>
        <p:spPr>
          <a:xfrm>
            <a:off x="525247" y="209584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3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02E653-56C5-F14A-AE87-6A9C0B294F53}"/>
              </a:ext>
            </a:extLst>
          </p:cNvPr>
          <p:cNvSpPr/>
          <p:nvPr/>
        </p:nvSpPr>
        <p:spPr>
          <a:xfrm>
            <a:off x="6516216" y="2539819"/>
            <a:ext cx="720075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E82BB1-68AE-4947-9EE7-F86E47803215}"/>
              </a:ext>
            </a:extLst>
          </p:cNvPr>
          <p:cNvSpPr/>
          <p:nvPr/>
        </p:nvSpPr>
        <p:spPr>
          <a:xfrm>
            <a:off x="7428029" y="1531707"/>
            <a:ext cx="1245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读者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0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E09B62-315C-AE47-A078-22174E8EF1A3}"/>
              </a:ext>
            </a:extLst>
          </p:cNvPr>
          <p:cNvSpPr/>
          <p:nvPr/>
        </p:nvSpPr>
        <p:spPr>
          <a:xfrm>
            <a:off x="457200" y="987001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知道读临界区什么时候开始，什么时候结束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FCBBCB-F154-4845-BB42-E1361C609F07}"/>
              </a:ext>
            </a:extLst>
          </p:cNvPr>
          <p:cNvSpPr/>
          <p:nvPr/>
        </p:nvSpPr>
        <p:spPr>
          <a:xfrm>
            <a:off x="7370883" y="22305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此时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能回收吗？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74B824-AF29-E444-B907-E8F16B1ACA60}"/>
              </a:ext>
            </a:extLst>
          </p:cNvPr>
          <p:cNvSpPr/>
          <p:nvPr/>
        </p:nvSpPr>
        <p:spPr>
          <a:xfrm>
            <a:off x="3313286" y="3248930"/>
            <a:ext cx="299633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读者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zh-CN" altLang="en-US">
                <a:latin typeface="Courier" pitchFamily="2" charset="0"/>
              </a:rPr>
              <a:t>有可能看到了</a:t>
            </a:r>
            <a:r>
              <a:rPr lang="en-US" altLang="zh-CN">
                <a:latin typeface="Courier" pitchFamily="2" charset="0"/>
              </a:rPr>
              <a:t>Node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C</a:t>
            </a:r>
          </a:p>
          <a:p>
            <a:r>
              <a:rPr lang="zh-CN" altLang="en-US">
                <a:latin typeface="Courier" pitchFamily="2" charset="0"/>
              </a:rPr>
              <a:t>有可能没看到，无法确定</a:t>
            </a:r>
            <a:endParaRPr lang="en-US" altLang="zh-CN">
              <a:latin typeface="Courier" pitchFamily="2" charset="0"/>
            </a:endParaRPr>
          </a:p>
          <a:p>
            <a:r>
              <a:rPr lang="zh-CN" altLang="en-US" b="1">
                <a:latin typeface="Courier" pitchFamily="2" charset="0"/>
              </a:rPr>
              <a:t>不能回收！</a:t>
            </a:r>
            <a:endParaRPr lang="en-CN" b="1"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EB3A1-1AC2-7141-A5E9-363E0242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5765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D5DEE-431C-9A49-A60E-8CD34A18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84" y="1389799"/>
            <a:ext cx="3152215" cy="2941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F4DB0E-7C39-A545-9F9D-ACF92D6248D7}"/>
              </a:ext>
            </a:extLst>
          </p:cNvPr>
          <p:cNvSpPr/>
          <p:nvPr/>
        </p:nvSpPr>
        <p:spPr>
          <a:xfrm>
            <a:off x="4645787" y="1531707"/>
            <a:ext cx="2756956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EA1EB-7B39-A042-B893-D8A3F38D283E}"/>
              </a:ext>
            </a:extLst>
          </p:cNvPr>
          <p:cNvSpPr/>
          <p:nvPr/>
        </p:nvSpPr>
        <p:spPr>
          <a:xfrm>
            <a:off x="5190166" y="2035763"/>
            <a:ext cx="2982217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618C9-EF97-B541-BF8C-E3561CEF9E3B}"/>
              </a:ext>
            </a:extLst>
          </p:cNvPr>
          <p:cNvSpPr/>
          <p:nvPr/>
        </p:nvSpPr>
        <p:spPr>
          <a:xfrm>
            <a:off x="5776619" y="6107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T0</a:t>
            </a:r>
            <a:endParaRPr lang="en-C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FE859-4400-8C42-B432-A490F52B4E77}"/>
              </a:ext>
            </a:extLst>
          </p:cNvPr>
          <p:cNvCxnSpPr>
            <a:cxnSpLocks/>
          </p:cNvCxnSpPr>
          <p:nvPr/>
        </p:nvCxnSpPr>
        <p:spPr>
          <a:xfrm flipV="1">
            <a:off x="6444205" y="1129309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0BD51-5200-A648-B322-677F88089EE7}"/>
              </a:ext>
            </a:extLst>
          </p:cNvPr>
          <p:cNvSpPr/>
          <p:nvPr/>
        </p:nvSpPr>
        <p:spPr>
          <a:xfrm>
            <a:off x="6230589" y="61766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1</a:t>
            </a:r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8BED15-839A-B049-B814-04A2ECC0B5C6}"/>
              </a:ext>
            </a:extLst>
          </p:cNvPr>
          <p:cNvSpPr/>
          <p:nvPr/>
        </p:nvSpPr>
        <p:spPr>
          <a:xfrm>
            <a:off x="1374531" y="4563883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90B2AC-AC96-F743-89C3-8331EECBE5AC}"/>
              </a:ext>
            </a:extLst>
          </p:cNvPr>
          <p:cNvSpPr/>
          <p:nvPr/>
        </p:nvSpPr>
        <p:spPr>
          <a:xfrm>
            <a:off x="5665662" y="4727999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2216C4-9183-704D-9264-0DAFD55D7FF5}"/>
              </a:ext>
            </a:extLst>
          </p:cNvPr>
          <p:cNvCxnSpPr>
            <a:cxnSpLocks/>
          </p:cNvCxnSpPr>
          <p:nvPr/>
        </p:nvCxnSpPr>
        <p:spPr>
          <a:xfrm flipV="1">
            <a:off x="8172400" y="1176438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B65858C-446A-7D4A-B2A1-3D06A9DB89C1}"/>
              </a:ext>
            </a:extLst>
          </p:cNvPr>
          <p:cNvSpPr/>
          <p:nvPr/>
        </p:nvSpPr>
        <p:spPr>
          <a:xfrm>
            <a:off x="6948772" y="63272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2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A6E516-8E4A-884D-9716-A953E3916805}"/>
              </a:ext>
            </a:extLst>
          </p:cNvPr>
          <p:cNvSpPr/>
          <p:nvPr/>
        </p:nvSpPr>
        <p:spPr>
          <a:xfrm>
            <a:off x="3302180" y="213005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3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02E653-56C5-F14A-AE87-6A9C0B294F53}"/>
              </a:ext>
            </a:extLst>
          </p:cNvPr>
          <p:cNvSpPr/>
          <p:nvPr/>
        </p:nvSpPr>
        <p:spPr>
          <a:xfrm>
            <a:off x="6684559" y="2539819"/>
            <a:ext cx="148782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9BE2E-422A-A04E-B46B-1B3EAD3C3838}"/>
              </a:ext>
            </a:extLst>
          </p:cNvPr>
          <p:cNvSpPr/>
          <p:nvPr/>
        </p:nvSpPr>
        <p:spPr>
          <a:xfrm>
            <a:off x="7945398" y="63272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3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26D997-8825-3C44-BAE5-4715ACD7D78C}"/>
              </a:ext>
            </a:extLst>
          </p:cNvPr>
          <p:cNvSpPr/>
          <p:nvPr/>
        </p:nvSpPr>
        <p:spPr>
          <a:xfrm>
            <a:off x="457200" y="987001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知道读临界区什么时候开始，什么时候结束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08ABD5-4E3D-9443-935D-8BA092A14554}"/>
              </a:ext>
            </a:extLst>
          </p:cNvPr>
          <p:cNvSpPr/>
          <p:nvPr/>
        </p:nvSpPr>
        <p:spPr>
          <a:xfrm>
            <a:off x="7366769" y="4700183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chemeClr val="accent1"/>
                </a:solidFill>
              </a:rPr>
              <a:t>可以</a:t>
            </a:r>
            <a:r>
              <a:rPr lang="zh-CN" altLang="en-US">
                <a:solidFill>
                  <a:schemeClr val="accent1"/>
                </a:solidFill>
              </a:rPr>
              <a:t>回收</a:t>
            </a:r>
            <a:r>
              <a:rPr lang="en-US" altLang="zh-CN">
                <a:solidFill>
                  <a:schemeClr val="accent1"/>
                </a:solidFill>
              </a:rPr>
              <a:t>Node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C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E2C139-2D98-234E-A57A-FA1183D23844}"/>
              </a:ext>
            </a:extLst>
          </p:cNvPr>
          <p:cNvSpPr/>
          <p:nvPr/>
        </p:nvSpPr>
        <p:spPr>
          <a:xfrm>
            <a:off x="3942799" y="3054699"/>
            <a:ext cx="21339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/>
              <a:t>最后</a:t>
            </a:r>
            <a:r>
              <a:rPr lang="zh-CN" altLang="en-US"/>
              <a:t>一个可能看到</a:t>
            </a:r>
            <a:r>
              <a:rPr lang="en-US" altLang="zh-CN"/>
              <a:t>Node C</a:t>
            </a:r>
            <a:r>
              <a:rPr lang="zh-CN" altLang="en-US"/>
              <a:t>的读者离开了临界区</a:t>
            </a:r>
            <a:endParaRPr lang="en-US" altLang="zh-CN"/>
          </a:p>
          <a:p>
            <a:r>
              <a:rPr lang="zh-CN" altLang="en-US" b="1"/>
              <a:t>写者才能</a:t>
            </a:r>
            <a:r>
              <a:rPr lang="zh-CN" altLang="en-US"/>
              <a:t>回收</a:t>
            </a:r>
            <a:r>
              <a:rPr lang="en-US" altLang="zh-CN"/>
              <a:t>NodeC</a:t>
            </a:r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1CBE23-CFB2-0241-B7E7-C51C1D83AC8F}"/>
              </a:ext>
            </a:extLst>
          </p:cNvPr>
          <p:cNvSpPr/>
          <p:nvPr/>
        </p:nvSpPr>
        <p:spPr>
          <a:xfrm>
            <a:off x="8219329" y="2035763"/>
            <a:ext cx="9168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读者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A9544-0983-0844-9B0F-7AFE2EC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EA5638-7448-FC48-B254-BF9DFFA73A69}"/>
              </a:ext>
            </a:extLst>
          </p:cNvPr>
          <p:cNvSpPr/>
          <p:nvPr/>
        </p:nvSpPr>
        <p:spPr>
          <a:xfrm>
            <a:off x="4242852" y="463282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写者开销较大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9440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4BABB7-A1AC-B94B-AAC9-242FB3C10D94}"/>
              </a:ext>
            </a:extLst>
          </p:cNvPr>
          <p:cNvSpPr/>
          <p:nvPr/>
        </p:nvSpPr>
        <p:spPr>
          <a:xfrm>
            <a:off x="1986997" y="1176438"/>
            <a:ext cx="5170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如何知道读临界区什么时候开始，什么时候结束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?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0DDA0-F9B3-C446-A129-94A26FCC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7AFA8-5E39-5D48-9C4E-A6D5E9895BD1}"/>
              </a:ext>
            </a:extLst>
          </p:cNvPr>
          <p:cNvSpPr/>
          <p:nvPr/>
        </p:nvSpPr>
        <p:spPr>
          <a:xfrm>
            <a:off x="780108" y="2137905"/>
            <a:ext cx="68407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rcu_reader() {</a:t>
            </a:r>
          </a:p>
          <a:p>
            <a:r>
              <a:rPr lang="en-US">
                <a:latin typeface="Courier" pitchFamily="2" charset="0"/>
              </a:rPr>
              <a:t>	RCU_READ_START();</a:t>
            </a:r>
          </a:p>
          <a:p>
            <a:endParaRPr lang="en-US">
              <a:latin typeface="Courier" pitchFamily="2" charset="0"/>
            </a:endParaRPr>
          </a:p>
          <a:p>
            <a:r>
              <a:rPr lang="en-US">
                <a:latin typeface="Courier" pitchFamily="2" charset="0"/>
              </a:rPr>
              <a:t>	/* Reader Critical Section */</a:t>
            </a:r>
          </a:p>
          <a:p>
            <a:endParaRPr lang="en-US">
              <a:latin typeface="Courier" pitchFamily="2" charset="0"/>
            </a:endParaRPr>
          </a:p>
          <a:p>
            <a:r>
              <a:rPr lang="en-US" altLang="zh-CN">
                <a:latin typeface="Courier" pitchFamily="2" charset="0"/>
              </a:rPr>
              <a:t>	</a:t>
            </a:r>
            <a:r>
              <a:rPr lang="en-US">
                <a:latin typeface="Courier" pitchFamily="2" charset="0"/>
              </a:rPr>
              <a:t>RCU_READ_STOP(); </a:t>
            </a:r>
          </a:p>
          <a:p>
            <a:r>
              <a:rPr lang="en-US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F61B73-C57A-5A49-8A69-5353252B3AC1}"/>
              </a:ext>
            </a:extLst>
          </p:cNvPr>
          <p:cNvSpPr/>
          <p:nvPr/>
        </p:nvSpPr>
        <p:spPr>
          <a:xfrm>
            <a:off x="4653637" y="2081184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通知</a:t>
            </a:r>
            <a:r>
              <a:rPr lang="en-US" altLang="zh-CN"/>
              <a:t>RCU</a:t>
            </a:r>
            <a:r>
              <a:rPr lang="zh-CN" altLang="en-US"/>
              <a:t>，读者进临界区了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93EAA8-ABCF-3D4D-B3A6-FEEA71C1E6E1}"/>
              </a:ext>
            </a:extLst>
          </p:cNvPr>
          <p:cNvSpPr/>
          <p:nvPr/>
        </p:nvSpPr>
        <p:spPr>
          <a:xfrm>
            <a:off x="4671893" y="3685921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通知</a:t>
            </a:r>
            <a:r>
              <a:rPr lang="en-US" altLang="zh-CN"/>
              <a:t>RCU</a:t>
            </a:r>
            <a:r>
              <a:rPr lang="zh-CN" altLang="en-US"/>
              <a:t>，读者出临界区了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9DDF1D-094B-7B42-AC42-2E6ACED3D1A2}"/>
              </a:ext>
            </a:extLst>
          </p:cNvPr>
          <p:cNvSpPr/>
          <p:nvPr/>
        </p:nvSpPr>
        <p:spPr>
          <a:xfrm>
            <a:off x="2588122" y="4911978"/>
            <a:ext cx="3967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可以</a:t>
            </a:r>
            <a:r>
              <a:rPr lang="zh-CN" altLang="en-US"/>
              <a:t>使用不同的方式实现：如计数器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05688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同步原语对比：读写锁 </a:t>
            </a:r>
            <a:r>
              <a:rPr lang="en-US" altLang="zh-CN"/>
              <a:t>vs RCU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9C6020-7245-114E-BF37-C4227FC438DF}"/>
              </a:ext>
            </a:extLst>
          </p:cNvPr>
          <p:cNvSpPr/>
          <p:nvPr/>
        </p:nvSpPr>
        <p:spPr>
          <a:xfrm>
            <a:off x="1403648" y="3104963"/>
            <a:ext cx="3960440" cy="22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读者也需要上读者锁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关键路径上有额外开销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方便使用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可以选择对写者开销不大的读写锁</a:t>
            </a:r>
            <a:endParaRPr lang="en-US" altLang="zh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B6628F-293E-FD4A-B024-92DDE4937B6F}"/>
              </a:ext>
            </a:extLst>
          </p:cNvPr>
          <p:cNvSpPr/>
          <p:nvPr/>
        </p:nvSpPr>
        <p:spPr>
          <a:xfrm>
            <a:off x="1547664" y="1106882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读写锁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48B2DA-8285-614D-ADD6-69AD3182D9DD}"/>
              </a:ext>
            </a:extLst>
          </p:cNvPr>
          <p:cNvSpPr/>
          <p:nvPr/>
        </p:nvSpPr>
        <p:spPr>
          <a:xfrm>
            <a:off x="107504" y="1533013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相同点：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D6D562-EFD4-A244-A7A7-AA50018D2FAD}"/>
              </a:ext>
            </a:extLst>
          </p:cNvPr>
          <p:cNvSpPr/>
          <p:nvPr/>
        </p:nvSpPr>
        <p:spPr>
          <a:xfrm>
            <a:off x="107504" y="3217540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不同点：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FEA355-93E8-0E42-B619-1362A0288AB2}"/>
              </a:ext>
            </a:extLst>
          </p:cNvPr>
          <p:cNvSpPr/>
          <p:nvPr/>
        </p:nvSpPr>
        <p:spPr>
          <a:xfrm>
            <a:off x="5802555" y="1074554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/>
              <a:t>RCU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6CBC67-2FE9-E442-B4CD-B1884FA04529}"/>
              </a:ext>
            </a:extLst>
          </p:cNvPr>
          <p:cNvSpPr/>
          <p:nvPr/>
        </p:nvSpPr>
        <p:spPr>
          <a:xfrm>
            <a:off x="3642315" y="1836962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CN"/>
              <a:t>允许</a:t>
            </a:r>
            <a:r>
              <a:rPr lang="zh-CN" altLang="en-US"/>
              <a:t>读者并行</a:t>
            </a:r>
            <a:endParaRPr lang="en-US" altLang="zh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C5F32C-AA8D-6E4A-B4EC-5B0FBF568C20}"/>
              </a:ext>
            </a:extLst>
          </p:cNvPr>
          <p:cNvSpPr/>
          <p:nvPr/>
        </p:nvSpPr>
        <p:spPr>
          <a:xfrm>
            <a:off x="5364088" y="3069824"/>
            <a:ext cx="3168352" cy="1668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读者无需上锁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使用较繁琐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写者开销大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D84C9-9BF2-E046-85F2-2E814CCA0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082C3-68A2-6142-BE47-D277ADC0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4736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988A-F84A-6B44-AADF-D420DAA1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同步</a:t>
            </a:r>
            <a:r>
              <a:rPr lang="zh-CN" altLang="en-US" dirty="0"/>
              <a:t>带来的问题：死锁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85DA9-71A6-EF41-9ED7-4CA1D8B23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BAD7F-005F-2147-A9BC-4907C12A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图片 4" descr="deadlock.jpg">
            <a:extLst>
              <a:ext uri="{FF2B5EF4-FFF2-40B4-BE49-F238E27FC236}">
                <a16:creationId xmlns:a16="http://schemas.microsoft.com/office/drawing/2014/main" id="{6FCC2A20-AA5F-AD4E-8259-D48159F4D1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3" b="16594"/>
          <a:stretch/>
        </p:blipFill>
        <p:spPr>
          <a:xfrm>
            <a:off x="827584" y="592090"/>
            <a:ext cx="7237382" cy="290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19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</a:t>
            </a:r>
            <a:endParaRPr lang="en-CN"/>
          </a:p>
        </p:txBody>
      </p:sp>
      <p:pic>
        <p:nvPicPr>
          <p:cNvPr id="5" name="Picture 4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7381DA60-6C45-C543-AF4D-0B01D2966E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993404"/>
            <a:ext cx="1369030" cy="64366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A6F74E-67BA-0F47-A582-8BE509BD14DA}"/>
              </a:ext>
            </a:extLst>
          </p:cNvPr>
          <p:cNvCxnSpPr>
            <a:cxnSpLocks/>
          </p:cNvCxnSpPr>
          <p:nvPr/>
        </p:nvCxnSpPr>
        <p:spPr>
          <a:xfrm>
            <a:off x="539552" y="1993404"/>
            <a:ext cx="9361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225A7C-4A65-174C-B2F3-A4DD1E039852}"/>
              </a:ext>
            </a:extLst>
          </p:cNvPr>
          <p:cNvCxnSpPr>
            <a:cxnSpLocks/>
          </p:cNvCxnSpPr>
          <p:nvPr/>
        </p:nvCxnSpPr>
        <p:spPr>
          <a:xfrm>
            <a:off x="1475656" y="1196924"/>
            <a:ext cx="0" cy="8440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17B9E2-3A7B-4843-B415-CE99D0AD91C7}"/>
              </a:ext>
            </a:extLst>
          </p:cNvPr>
          <p:cNvCxnSpPr>
            <a:cxnSpLocks/>
          </p:cNvCxnSpPr>
          <p:nvPr/>
        </p:nvCxnSpPr>
        <p:spPr>
          <a:xfrm>
            <a:off x="2952259" y="1196924"/>
            <a:ext cx="0" cy="7709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6BCCDF-EF95-2741-A54A-E485F210D9AE}"/>
              </a:ext>
            </a:extLst>
          </p:cNvPr>
          <p:cNvCxnSpPr>
            <a:cxnSpLocks/>
          </p:cNvCxnSpPr>
          <p:nvPr/>
        </p:nvCxnSpPr>
        <p:spPr>
          <a:xfrm>
            <a:off x="539552" y="3481118"/>
            <a:ext cx="9361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AE5D5910-42B3-EB46-81B7-F802EC2805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33190" y="1642278"/>
            <a:ext cx="1369030" cy="643667"/>
          </a:xfrm>
          <a:prstGeom prst="rect">
            <a:avLst/>
          </a:prstGeom>
        </p:spPr>
      </p:pic>
      <p:pic>
        <p:nvPicPr>
          <p:cNvPr id="27" name="Picture 26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6A5DDA36-41ED-334D-849C-882594BE3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11356" y="2731299"/>
            <a:ext cx="1369030" cy="643667"/>
          </a:xfrm>
          <a:prstGeom prst="rect">
            <a:avLst/>
          </a:prstGeom>
        </p:spPr>
      </p:pic>
      <p:pic>
        <p:nvPicPr>
          <p:cNvPr id="29" name="Picture 28" descr="A picture containing electronics, keyboard, computer, monitor&#10;&#10;Description automatically generated">
            <a:extLst>
              <a:ext uri="{FF2B5EF4-FFF2-40B4-BE49-F238E27FC236}">
                <a16:creationId xmlns:a16="http://schemas.microsoft.com/office/drawing/2014/main" id="{8441C00D-F967-E647-8CFD-891E3A003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77070" y="3070437"/>
            <a:ext cx="1369030" cy="643667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56502F-A376-6540-AC2C-0F0FAE6C6316}"/>
              </a:ext>
            </a:extLst>
          </p:cNvPr>
          <p:cNvCxnSpPr>
            <a:cxnSpLocks/>
          </p:cNvCxnSpPr>
          <p:nvPr/>
        </p:nvCxnSpPr>
        <p:spPr>
          <a:xfrm>
            <a:off x="1468294" y="3433564"/>
            <a:ext cx="0" cy="8440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3C5B724-E5F7-C641-A1A8-1FB798CF8197}"/>
              </a:ext>
            </a:extLst>
          </p:cNvPr>
          <p:cNvCxnSpPr>
            <a:cxnSpLocks/>
          </p:cNvCxnSpPr>
          <p:nvPr/>
        </p:nvCxnSpPr>
        <p:spPr>
          <a:xfrm>
            <a:off x="2952259" y="1921396"/>
            <a:ext cx="61162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AC1A5F-24F9-CC44-9841-BBD4DFB0FE0A}"/>
              </a:ext>
            </a:extLst>
          </p:cNvPr>
          <p:cNvCxnSpPr>
            <a:cxnSpLocks/>
          </p:cNvCxnSpPr>
          <p:nvPr/>
        </p:nvCxnSpPr>
        <p:spPr>
          <a:xfrm>
            <a:off x="3064656" y="3361556"/>
            <a:ext cx="0" cy="8440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C9B3A9E-C55A-F444-8CA9-6AE7A963A1AC}"/>
              </a:ext>
            </a:extLst>
          </p:cNvPr>
          <p:cNvCxnSpPr>
            <a:cxnSpLocks/>
          </p:cNvCxnSpPr>
          <p:nvPr/>
        </p:nvCxnSpPr>
        <p:spPr>
          <a:xfrm>
            <a:off x="3064656" y="3396365"/>
            <a:ext cx="49923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A708406-1C33-6A4F-A983-3E1D70E0FB4D}"/>
              </a:ext>
            </a:extLst>
          </p:cNvPr>
          <p:cNvSpPr/>
          <p:nvPr/>
        </p:nvSpPr>
        <p:spPr>
          <a:xfrm>
            <a:off x="1200266" y="4425901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/>
              <a:t>十字路口的“困境”</a:t>
            </a:r>
            <a:endParaRPr lang="en-US" altLang="zh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4564394" y="853862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5297729" y="4425901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 dirty="0"/>
              <a:t>T1</a:t>
            </a:r>
            <a:r>
              <a:rPr lang="zh-CN" altLang="en-US" dirty="0"/>
              <a:t>时刻的死锁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820F0-1F40-CF4F-ABF0-D776AD64C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D32A9-F5FA-754D-9DB1-F55FB50A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5236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771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461CB0-F910-FD45-AEEE-C5AD35469D3E}"/>
              </a:ext>
            </a:extLst>
          </p:cNvPr>
          <p:cNvSpPr/>
          <p:nvPr/>
        </p:nvSpPr>
        <p:spPr>
          <a:xfrm>
            <a:off x="755576" y="2267498"/>
            <a:ext cx="40324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同</a:t>
            </a:r>
            <a:r>
              <a:rPr lang="zh-CN" altLang="en-US" dirty="0"/>
              <a:t>一时刻只有一个线程能够访问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668725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1571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60DEF7-5546-624B-ACF8-675A43F1D653}"/>
              </a:ext>
            </a:extLst>
          </p:cNvPr>
          <p:cNvSpPr/>
          <p:nvPr/>
        </p:nvSpPr>
        <p:spPr>
          <a:xfrm>
            <a:off x="755576" y="3001516"/>
            <a:ext cx="3960440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一直持有一部分资源并等待另一部分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不会中途释放（如</a:t>
            </a:r>
            <a:r>
              <a:rPr lang="en-US" altLang="zh-CN" dirty="0" err="1"/>
              <a:t>proc_A</a:t>
            </a:r>
            <a:r>
              <a:rPr lang="zh-CN" altLang="en-US" dirty="0"/>
              <a:t>不会放锁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98449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void proc_A(void)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void proc_B(void) {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        /* Time T1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/* Critical Section */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(A);</a:t>
            </a:r>
          </a:p>
          <a:p>
            <a:r>
              <a:rPr lang="en-CN" sz="1400">
                <a:latin typeface="Courier" pitchFamily="2" charset="0"/>
              </a:rPr>
              <a:t>        </a:t>
            </a:r>
            <a:r>
              <a:rPr lang="en-CN" sz="140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>
                <a:latin typeface="Courier" pitchFamily="2" charset="0"/>
              </a:rPr>
              <a:t>(B);</a:t>
            </a:r>
          </a:p>
          <a:p>
            <a:r>
              <a:rPr lang="en-CN" sz="140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2371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资源非抢占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2A484-853E-D94B-AE06-7463469AE32C}"/>
              </a:ext>
            </a:extLst>
          </p:cNvPr>
          <p:cNvSpPr/>
          <p:nvPr/>
        </p:nvSpPr>
        <p:spPr>
          <a:xfrm>
            <a:off x="823056" y="3865612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即</a:t>
            </a:r>
            <a:r>
              <a:rPr lang="en-US" altLang="zh-CN" dirty="0"/>
              <a:t>proc_</a:t>
            </a:r>
            <a:r>
              <a:rPr lang="en-CN" altLang="zh-CN"/>
              <a:t>B</a:t>
            </a:r>
            <a:r>
              <a:rPr lang="zh-CN" altLang="en-CN" dirty="0"/>
              <a:t>不</a:t>
            </a:r>
            <a:r>
              <a:rPr lang="zh-CN" altLang="en-US" dirty="0"/>
              <a:t>会抢</a:t>
            </a:r>
            <a:r>
              <a:rPr lang="en-US" altLang="zh-CN" dirty="0" err="1"/>
              <a:t>proc_A</a:t>
            </a:r>
            <a:r>
              <a:rPr lang="zh-CN" altLang="en-US" dirty="0"/>
              <a:t>已经持有的锁</a:t>
            </a:r>
            <a:r>
              <a:rPr lang="en-US" altLang="zh-CN" dirty="0"/>
              <a:t>A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174773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3171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资源非抢占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循环等待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ADB72-0B1E-1445-9DAD-D6C9F00FCD8A}"/>
              </a:ext>
            </a:extLst>
          </p:cNvPr>
          <p:cNvSpPr/>
          <p:nvPr/>
        </p:nvSpPr>
        <p:spPr>
          <a:xfrm>
            <a:off x="899592" y="4579892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dirty="0"/>
              <a:t>A</a:t>
            </a:r>
            <a:r>
              <a:rPr lang="zh-CN" altLang="en-CN" dirty="0"/>
              <a:t>等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等</a:t>
            </a:r>
            <a:r>
              <a:rPr lang="en-US" altLang="zh-CN" dirty="0"/>
              <a:t>A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43847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2CFEFDEC-0C55-8C49-86CA-45C12EA2A316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347864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出问题再处理：死锁的检测与恢复</a:t>
            </a:r>
            <a:endParaRPr lang="en-US" altLang="zh-CN" sz="23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设计时避免：死锁预防</a:t>
            </a:r>
            <a:endParaRPr lang="en-US" altLang="zh-CN" sz="23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运行时避免死锁：死锁避免</a:t>
            </a:r>
            <a:endParaRPr lang="en-US" altLang="zh-CN" sz="23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448D6-694C-9843-8A1D-DE5DFA5A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9569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检测死锁与恢复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51FD9-8C72-A842-AE25-4803AAC59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36" y="1245061"/>
            <a:ext cx="8229600" cy="19149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AF2981-0DB8-A14A-9F6B-EE00721F9E8A}"/>
              </a:ext>
            </a:extLst>
          </p:cNvPr>
          <p:cNvSpPr/>
          <p:nvPr/>
        </p:nvSpPr>
        <p:spPr>
          <a:xfrm>
            <a:off x="1979712" y="3150075"/>
            <a:ext cx="1338828" cy="5623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/>
              <a:t>资源分配图</a:t>
            </a:r>
            <a:endParaRPr lang="en-US" altLang="zh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C4BBAD-BA7B-F443-83B0-9C1EF5D1794F}"/>
              </a:ext>
            </a:extLst>
          </p:cNvPr>
          <p:cNvSpPr/>
          <p:nvPr/>
        </p:nvSpPr>
        <p:spPr>
          <a:xfrm>
            <a:off x="363885" y="4248324"/>
            <a:ext cx="2954655" cy="5623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/>
              <a:t>如何恢复？打破循环等待！</a:t>
            </a:r>
            <a:endParaRPr lang="en-US" altLang="zh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AA09DC-B39F-B24C-AE66-0591D4474F2C}"/>
              </a:ext>
            </a:extLst>
          </p:cNvPr>
          <p:cNvSpPr/>
          <p:nvPr/>
        </p:nvSpPr>
        <p:spPr>
          <a:xfrm>
            <a:off x="3666444" y="3694327"/>
            <a:ext cx="4294765" cy="167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直接</a:t>
            </a:r>
            <a:r>
              <a:rPr lang="en-US" altLang="zh-CN" dirty="0"/>
              <a:t>kill</a:t>
            </a:r>
            <a:r>
              <a:rPr lang="zh-CN" altLang="en-US" dirty="0"/>
              <a:t>所有循环中的线程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Kill</a:t>
            </a:r>
            <a:r>
              <a:rPr lang="zh-CN" altLang="en-US" dirty="0"/>
              <a:t>一个，看有没有环，有的话继续</a:t>
            </a:r>
            <a:r>
              <a:rPr lang="en-US" altLang="zh-CN" dirty="0"/>
              <a:t>kill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全部回滚到之前的某一状态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09E12B-FF10-F644-A1A8-682923C02A2E}"/>
              </a:ext>
            </a:extLst>
          </p:cNvPr>
          <p:cNvSpPr/>
          <p:nvPr/>
        </p:nvSpPr>
        <p:spPr>
          <a:xfrm>
            <a:off x="3204178" y="10802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找到环：循环等待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D2464-97BC-1B45-AD54-A1100D049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A275D-7C21-9041-97FC-D9D3EAE2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5909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347864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出问题再处理：死锁的检测与恢复</a:t>
            </a:r>
            <a:endParaRPr lang="en-US" altLang="zh-CN" sz="23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设计时避免：死锁预防</a:t>
            </a:r>
            <a:endParaRPr lang="en-US" altLang="zh-CN" sz="23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运行时避免死锁：死锁避免</a:t>
            </a:r>
            <a:endParaRPr lang="en-US" altLang="zh-CN" sz="23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D596-978F-404E-9168-0A6D6981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2" name="Left Brace 4">
            <a:extLst>
              <a:ext uri="{FF2B5EF4-FFF2-40B4-BE49-F238E27FC236}">
                <a16:creationId xmlns:a16="http://schemas.microsoft.com/office/drawing/2014/main" id="{F001FC39-C170-A945-96C6-E2801CFE4B6E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31641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57200" y="1123376"/>
            <a:ext cx="6536457" cy="562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23DA7-B43A-924D-B485-9645D2F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1A7D4F-D6E5-2C4B-9DB2-66401919F391}"/>
              </a:ext>
            </a:extLst>
          </p:cNvPr>
          <p:cNvSpPr/>
          <p:nvPr/>
        </p:nvSpPr>
        <p:spPr>
          <a:xfrm>
            <a:off x="1619672" y="2594130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代理线程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BA8EA-5FC2-2344-9A87-80B41151461C}"/>
              </a:ext>
            </a:extLst>
          </p:cNvPr>
          <p:cNvSpPr/>
          <p:nvPr/>
        </p:nvSpPr>
        <p:spPr>
          <a:xfrm>
            <a:off x="963824" y="4141652"/>
            <a:ext cx="1368152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共享资源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E30690-7BF8-3743-82C8-6E9555AF940E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1647900" y="3242202"/>
            <a:ext cx="655848" cy="899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BA8164D-8B36-5F49-AF4B-1904CE670EBC}"/>
              </a:ext>
            </a:extLst>
          </p:cNvPr>
          <p:cNvSpPr/>
          <p:nvPr/>
        </p:nvSpPr>
        <p:spPr>
          <a:xfrm>
            <a:off x="869416" y="1870107"/>
            <a:ext cx="2958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只有代理线程能够访问共享资源：避免数据竞争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D2F3DA-3B27-7E43-BB19-3BF95FB0D71E}"/>
              </a:ext>
            </a:extLst>
          </p:cNvPr>
          <p:cNvSpPr/>
          <p:nvPr/>
        </p:nvSpPr>
        <p:spPr>
          <a:xfrm>
            <a:off x="4716016" y="1860668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线程</a:t>
            </a:r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83C953-3637-D34B-A3B5-74C3E85E7D30}"/>
              </a:ext>
            </a:extLst>
          </p:cNvPr>
          <p:cNvSpPr/>
          <p:nvPr/>
        </p:nvSpPr>
        <p:spPr>
          <a:xfrm>
            <a:off x="4716016" y="4217500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线程</a:t>
            </a:r>
            <a:r>
              <a:rPr lang="en-US" altLang="zh-CN" dirty="0"/>
              <a:t>1</a:t>
            </a:r>
            <a:endParaRPr lang="en-C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C3D681-F762-2848-BED7-B87358E3F0BE}"/>
              </a:ext>
            </a:extLst>
          </p:cNvPr>
          <p:cNvCxnSpPr>
            <a:cxnSpLocks/>
            <a:stCxn id="16" idx="1"/>
            <a:endCxn id="3" idx="3"/>
          </p:cNvCxnSpPr>
          <p:nvPr/>
        </p:nvCxnSpPr>
        <p:spPr>
          <a:xfrm flipH="1">
            <a:off x="2987824" y="2184704"/>
            <a:ext cx="1728192" cy="73346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DF5EA5-181E-054C-AF41-5B8861B12F82}"/>
              </a:ext>
            </a:extLst>
          </p:cNvPr>
          <p:cNvCxnSpPr>
            <a:cxnSpLocks/>
            <a:stCxn id="17" idx="1"/>
            <a:endCxn id="3" idx="3"/>
          </p:cNvCxnSpPr>
          <p:nvPr/>
        </p:nvCxnSpPr>
        <p:spPr>
          <a:xfrm flipH="1" flipV="1">
            <a:off x="2987824" y="2918166"/>
            <a:ext cx="1728192" cy="162337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C4D490D-5BEB-5049-8A3C-4F606218C432}"/>
              </a:ext>
            </a:extLst>
          </p:cNvPr>
          <p:cNvSpPr/>
          <p:nvPr/>
        </p:nvSpPr>
        <p:spPr>
          <a:xfrm>
            <a:off x="3851920" y="2934810"/>
            <a:ext cx="2958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发送修改请求，</a:t>
            </a:r>
            <a:endParaRPr lang="en-US" altLang="zh-CN" dirty="0"/>
          </a:p>
          <a:p>
            <a:pPr algn="ctr"/>
            <a:r>
              <a:rPr lang="zh-CN" altLang="en-US" dirty="0"/>
              <a:t>由代理线程统一执行</a:t>
            </a:r>
            <a:endParaRPr lang="en-C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A37FFF-90B4-3D45-B127-E2687F81A6EC}"/>
              </a:ext>
            </a:extLst>
          </p:cNvPr>
          <p:cNvSpPr/>
          <p:nvPr/>
        </p:nvSpPr>
        <p:spPr>
          <a:xfrm>
            <a:off x="2021544" y="4981736"/>
            <a:ext cx="478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dirty="0"/>
              <a:t>*代理锁 (Delegation Lock) 实现了该功能</a:t>
            </a:r>
          </a:p>
        </p:txBody>
      </p:sp>
    </p:spTree>
    <p:extLst>
      <p:ext uri="{BB962C8B-B14F-4D97-AF65-F5344CB8AC3E}">
        <p14:creationId xmlns:p14="http://schemas.microsoft.com/office/powerpoint/2010/main" val="6484748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57200" y="1123376"/>
            <a:ext cx="6536457" cy="111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62C385-85FD-F941-A7C9-8895428DFD1B}"/>
              </a:ext>
            </a:extLst>
          </p:cNvPr>
          <p:cNvSpPr/>
          <p:nvPr/>
        </p:nvSpPr>
        <p:spPr>
          <a:xfrm>
            <a:off x="1042628" y="2412061"/>
            <a:ext cx="69847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w</a:t>
            </a:r>
            <a:r>
              <a:rPr lang="en-CN">
                <a:latin typeface="Courier" pitchFamily="2" charset="0"/>
              </a:rPr>
              <a:t>hile (true) {</a:t>
            </a:r>
          </a:p>
          <a:p>
            <a:r>
              <a:rPr lang="en-CN">
                <a:latin typeface="Courier" pitchFamily="2" charset="0"/>
              </a:rPr>
              <a:t>	if(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== SUCC)</a:t>
            </a:r>
          </a:p>
          <a:p>
            <a:r>
              <a:rPr lang="en-CN">
                <a:solidFill>
                  <a:srgbClr val="FF9300"/>
                </a:solidFill>
                <a:latin typeface="Courier" pitchFamily="2" charset="0"/>
              </a:rPr>
              <a:t>		</a:t>
            </a:r>
            <a:r>
              <a:rPr lang="en-CN">
                <a:latin typeface="Courier" pitchFamily="2" charset="0"/>
              </a:rPr>
              <a:t>if(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== SUCC) {</a:t>
            </a:r>
          </a:p>
          <a:p>
            <a:r>
              <a:rPr lang="en-CN">
                <a:latin typeface="Courier" pitchFamily="2" charset="0"/>
              </a:rPr>
              <a:t>        		/* Critical Section */</a:t>
            </a:r>
          </a:p>
          <a:p>
            <a:r>
              <a:rPr lang="en-CN">
                <a:latin typeface="Courier" pitchFamily="2" charset="0"/>
              </a:rPr>
              <a:t> 		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(B);</a:t>
            </a:r>
          </a:p>
          <a:p>
            <a:r>
              <a:rPr lang="en-CN">
                <a:latin typeface="Courier" pitchFamily="2" charset="0"/>
              </a:rPr>
              <a:t>        	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(A);</a:t>
            </a:r>
          </a:p>
          <a:p>
            <a:r>
              <a:rPr lang="en-CN">
                <a:latin typeface="Courier" pitchFamily="2" charset="0"/>
              </a:rPr>
              <a:t>			break;</a:t>
            </a:r>
          </a:p>
          <a:p>
            <a:r>
              <a:rPr lang="en-CN">
                <a:latin typeface="Courier" pitchFamily="2" charset="0"/>
              </a:rPr>
              <a:t>		} else</a:t>
            </a:r>
          </a:p>
          <a:p>
            <a:r>
              <a:rPr lang="en-CN">
                <a:latin typeface="Courier" pitchFamily="2" charset="0"/>
              </a:rPr>
              <a:t>		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8C879-0060-D74F-A6EE-F89D1A6A73A2}"/>
              </a:ext>
            </a:extLst>
          </p:cNvPr>
          <p:cNvSpPr txBox="1"/>
          <p:nvPr/>
        </p:nvSpPr>
        <p:spPr>
          <a:xfrm>
            <a:off x="5998877" y="2204904"/>
            <a:ext cx="2544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zh-CN" altLang="en-CN"/>
              <a:t>非</a:t>
            </a:r>
            <a:r>
              <a:rPr lang="zh-CN" altLang="en-US"/>
              <a:t>阻塞</a:t>
            </a:r>
            <a:endParaRPr lang="en-US" altLang="zh-CN"/>
          </a:p>
          <a:p>
            <a:pPr algn="ctr"/>
            <a:r>
              <a:rPr lang="zh-CN" altLang="en-US"/>
              <a:t>立即返回成功或失败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125F4B-7645-6149-BEA1-0FB28C4B9BD2}"/>
              </a:ext>
            </a:extLst>
          </p:cNvPr>
          <p:cNvSpPr/>
          <p:nvPr/>
        </p:nvSpPr>
        <p:spPr>
          <a:xfrm>
            <a:off x="3655267" y="4591624"/>
            <a:ext cx="1802203" cy="4609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6CC82-57E4-E94B-B8E0-7671FEF8F05E}"/>
              </a:ext>
            </a:extLst>
          </p:cNvPr>
          <p:cNvSpPr/>
          <p:nvPr/>
        </p:nvSpPr>
        <p:spPr>
          <a:xfrm>
            <a:off x="6012160" y="4573163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无法获取</a:t>
            </a:r>
            <a:r>
              <a:rPr lang="en-US" altLang="zh-CN"/>
              <a:t>B</a:t>
            </a:r>
            <a:r>
              <a:rPr lang="zh-CN" altLang="en-US"/>
              <a:t>，那么释放</a:t>
            </a:r>
            <a:r>
              <a:rPr lang="en-US" altLang="zh-CN"/>
              <a:t>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23DA7-B43A-924D-B485-9645D2F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6261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3876-FC59-EA40-A0FE-0E8DD893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避免死锁带来的活锁 </a:t>
            </a:r>
            <a:r>
              <a:rPr lang="en-US" altLang="zh-CN"/>
              <a:t>Live Lock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DCB64-6F4C-914E-9101-6393D7FA5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A86A1-1E64-A247-BA59-FDE60BDA26BB}"/>
              </a:ext>
            </a:extLst>
          </p:cNvPr>
          <p:cNvSpPr/>
          <p:nvPr/>
        </p:nvSpPr>
        <p:spPr>
          <a:xfrm>
            <a:off x="2013757" y="1345332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proc_A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6BCC4-5DC2-7546-B365-5A06F11FE963}"/>
              </a:ext>
            </a:extLst>
          </p:cNvPr>
          <p:cNvSpPr/>
          <p:nvPr/>
        </p:nvSpPr>
        <p:spPr>
          <a:xfrm>
            <a:off x="5976156" y="1345332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proc_B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628E9-7841-814D-A6BD-D72CD158D121}"/>
              </a:ext>
            </a:extLst>
          </p:cNvPr>
          <p:cNvSpPr/>
          <p:nvPr/>
        </p:nvSpPr>
        <p:spPr>
          <a:xfrm>
            <a:off x="1058324" y="1873776"/>
            <a:ext cx="231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SUCC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E191AC-2058-094E-B36F-47A1BB6AF2F2}"/>
              </a:ext>
            </a:extLst>
          </p:cNvPr>
          <p:cNvSpPr/>
          <p:nvPr/>
        </p:nvSpPr>
        <p:spPr>
          <a:xfrm>
            <a:off x="5762092" y="2044896"/>
            <a:ext cx="2714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SUCC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EB6A18-ED44-C54E-B681-F6F6BC64A6A5}"/>
              </a:ext>
            </a:extLst>
          </p:cNvPr>
          <p:cNvCxnSpPr/>
          <p:nvPr/>
        </p:nvCxnSpPr>
        <p:spPr>
          <a:xfrm>
            <a:off x="4427984" y="1489348"/>
            <a:ext cx="0" cy="338437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46656F-80E4-564F-9A9E-F8D552EF69D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377176" y="2058442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92C86A-F50B-F645-BB9F-EE39D02BFBE6}"/>
              </a:ext>
            </a:extLst>
          </p:cNvPr>
          <p:cNvCxnSpPr>
            <a:cxnSpLocks/>
          </p:cNvCxnSpPr>
          <p:nvPr/>
        </p:nvCxnSpPr>
        <p:spPr>
          <a:xfrm flipH="1">
            <a:off x="4508375" y="2229562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8C132AB-2D72-4D42-B89F-D64AD1DE4FE2}"/>
              </a:ext>
            </a:extLst>
          </p:cNvPr>
          <p:cNvSpPr/>
          <p:nvPr/>
        </p:nvSpPr>
        <p:spPr>
          <a:xfrm>
            <a:off x="1058324" y="2274466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FAIL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DFB208-D588-3049-BF55-86AE5E773C98}"/>
              </a:ext>
            </a:extLst>
          </p:cNvPr>
          <p:cNvCxnSpPr>
            <a:cxnSpLocks/>
          </p:cNvCxnSpPr>
          <p:nvPr/>
        </p:nvCxnSpPr>
        <p:spPr>
          <a:xfrm>
            <a:off x="3377176" y="2497460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93171A-069F-1048-9ADF-591559114CC0}"/>
              </a:ext>
            </a:extLst>
          </p:cNvPr>
          <p:cNvCxnSpPr>
            <a:cxnSpLocks/>
          </p:cNvCxnSpPr>
          <p:nvPr/>
        </p:nvCxnSpPr>
        <p:spPr>
          <a:xfrm flipH="1">
            <a:off x="4508375" y="2663729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308386F-9612-3A43-8C29-3B6C687493C8}"/>
              </a:ext>
            </a:extLst>
          </p:cNvPr>
          <p:cNvSpPr/>
          <p:nvPr/>
        </p:nvSpPr>
        <p:spPr>
          <a:xfrm>
            <a:off x="5796238" y="2476944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FAIL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CA1FCD-1024-FE4F-8381-5A29A1525749}"/>
              </a:ext>
            </a:extLst>
          </p:cNvPr>
          <p:cNvSpPr/>
          <p:nvPr/>
        </p:nvSpPr>
        <p:spPr>
          <a:xfrm>
            <a:off x="1681415" y="2744842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34D787-B938-ED48-82B2-18D9FC92E24D}"/>
              </a:ext>
            </a:extLst>
          </p:cNvPr>
          <p:cNvCxnSpPr>
            <a:cxnSpLocks/>
          </p:cNvCxnSpPr>
          <p:nvPr/>
        </p:nvCxnSpPr>
        <p:spPr>
          <a:xfrm>
            <a:off x="3377176" y="2929508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FA6213-7072-EA4D-9EB7-12DC29CA8380}"/>
              </a:ext>
            </a:extLst>
          </p:cNvPr>
          <p:cNvCxnSpPr>
            <a:cxnSpLocks/>
          </p:cNvCxnSpPr>
          <p:nvPr/>
        </p:nvCxnSpPr>
        <p:spPr>
          <a:xfrm flipH="1">
            <a:off x="4524151" y="3119991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DD1620A-A341-AE4D-A62B-C21AE5C538AC}"/>
              </a:ext>
            </a:extLst>
          </p:cNvPr>
          <p:cNvSpPr/>
          <p:nvPr/>
        </p:nvSpPr>
        <p:spPr>
          <a:xfrm>
            <a:off x="5858258" y="2902838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(B)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A6C59B-8E94-714E-BB10-18E1A5D51083}"/>
              </a:ext>
            </a:extLst>
          </p:cNvPr>
          <p:cNvSpPr/>
          <p:nvPr/>
        </p:nvSpPr>
        <p:spPr>
          <a:xfrm>
            <a:off x="997790" y="3467243"/>
            <a:ext cx="231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SUCC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A6B8A3-C1DA-9342-988D-3BB9B619B491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3316642" y="3651909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1D59398-DA51-9445-9698-2D5D512B5FF3}"/>
              </a:ext>
            </a:extLst>
          </p:cNvPr>
          <p:cNvSpPr/>
          <p:nvPr/>
        </p:nvSpPr>
        <p:spPr>
          <a:xfrm>
            <a:off x="997790" y="3867933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FAIL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361E17-10F1-9648-B67D-6E830D885E16}"/>
              </a:ext>
            </a:extLst>
          </p:cNvPr>
          <p:cNvCxnSpPr>
            <a:cxnSpLocks/>
          </p:cNvCxnSpPr>
          <p:nvPr/>
        </p:nvCxnSpPr>
        <p:spPr>
          <a:xfrm>
            <a:off x="3316642" y="4090927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083F7CA-F548-1E47-BBB3-9EEFFAB96599}"/>
              </a:ext>
            </a:extLst>
          </p:cNvPr>
          <p:cNvSpPr/>
          <p:nvPr/>
        </p:nvSpPr>
        <p:spPr>
          <a:xfrm>
            <a:off x="1620881" y="4338309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(A)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840113-5A87-FC4A-BD42-48B7A2581BA7}"/>
              </a:ext>
            </a:extLst>
          </p:cNvPr>
          <p:cNvCxnSpPr>
            <a:cxnSpLocks/>
          </p:cNvCxnSpPr>
          <p:nvPr/>
        </p:nvCxnSpPr>
        <p:spPr>
          <a:xfrm>
            <a:off x="3316642" y="4522975"/>
            <a:ext cx="9935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92A6E25-27B7-4C43-BED3-300EEDF674CA}"/>
              </a:ext>
            </a:extLst>
          </p:cNvPr>
          <p:cNvSpPr/>
          <p:nvPr/>
        </p:nvSpPr>
        <p:spPr>
          <a:xfrm>
            <a:off x="5831061" y="3658425"/>
            <a:ext cx="2714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(B) SUCC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6B25080-1BFB-554E-83FE-AC1F113C1195}"/>
              </a:ext>
            </a:extLst>
          </p:cNvPr>
          <p:cNvCxnSpPr>
            <a:cxnSpLocks/>
          </p:cNvCxnSpPr>
          <p:nvPr/>
        </p:nvCxnSpPr>
        <p:spPr>
          <a:xfrm flipH="1">
            <a:off x="4577344" y="3843091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540529A-A399-3C48-A30F-F88FE640378F}"/>
              </a:ext>
            </a:extLst>
          </p:cNvPr>
          <p:cNvCxnSpPr>
            <a:cxnSpLocks/>
          </p:cNvCxnSpPr>
          <p:nvPr/>
        </p:nvCxnSpPr>
        <p:spPr>
          <a:xfrm flipH="1">
            <a:off x="4577344" y="4277258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80007E4-F995-5B4F-8678-F1A9089C20A5}"/>
              </a:ext>
            </a:extLst>
          </p:cNvPr>
          <p:cNvSpPr/>
          <p:nvPr/>
        </p:nvSpPr>
        <p:spPr>
          <a:xfrm>
            <a:off x="5865207" y="4090473"/>
            <a:ext cx="2289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trylock</a:t>
            </a:r>
            <a:r>
              <a:rPr lang="en-CN">
                <a:latin typeface="Courier" pitchFamily="2" charset="0"/>
              </a:rPr>
              <a:t>(A) FAIL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FD4A32-C221-4E46-9CF7-4230B1051BAD}"/>
              </a:ext>
            </a:extLst>
          </p:cNvPr>
          <p:cNvCxnSpPr>
            <a:cxnSpLocks/>
          </p:cNvCxnSpPr>
          <p:nvPr/>
        </p:nvCxnSpPr>
        <p:spPr>
          <a:xfrm flipH="1">
            <a:off x="4593120" y="4733520"/>
            <a:ext cx="12379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523EB7E-02D6-F740-96DC-2E06623AA16E}"/>
              </a:ext>
            </a:extLst>
          </p:cNvPr>
          <p:cNvSpPr/>
          <p:nvPr/>
        </p:nvSpPr>
        <p:spPr>
          <a:xfrm>
            <a:off x="5927227" y="4516367"/>
            <a:ext cx="1480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(B)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7A513B-BE47-D449-93D8-55D6854AB31D}"/>
              </a:ext>
            </a:extLst>
          </p:cNvPr>
          <p:cNvSpPr/>
          <p:nvPr/>
        </p:nvSpPr>
        <p:spPr>
          <a:xfrm>
            <a:off x="1898412" y="4952152"/>
            <a:ext cx="23909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如此</a:t>
            </a:r>
            <a:r>
              <a:rPr lang="zh-CN" altLang="en-US">
                <a:latin typeface="Courier" pitchFamily="2" charset="0"/>
              </a:rPr>
              <a:t>往复</a:t>
            </a:r>
            <a:r>
              <a:rPr lang="en-US" altLang="zh-CN">
                <a:latin typeface="Courier" pitchFamily="2" charset="0"/>
              </a:rPr>
              <a:t>...</a:t>
            </a:r>
            <a:endParaRPr lang="en-CN">
              <a:latin typeface="Courier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8B4ABF-24D1-4D47-B489-EBF0064D431A}"/>
              </a:ext>
            </a:extLst>
          </p:cNvPr>
          <p:cNvSpPr/>
          <p:nvPr/>
        </p:nvSpPr>
        <p:spPr>
          <a:xfrm>
            <a:off x="3903290" y="4992146"/>
            <a:ext cx="4752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死锁是</a:t>
            </a:r>
            <a:r>
              <a:rPr lang="zh-CN" altLang="en-US" b="1">
                <a:latin typeface="Courier" pitchFamily="2" charset="0"/>
              </a:rPr>
              <a:t>无法恢复</a:t>
            </a:r>
            <a:r>
              <a:rPr lang="zh-CN" altLang="en-US">
                <a:latin typeface="Courier" pitchFamily="2" charset="0"/>
              </a:rPr>
              <a:t>的，但是活锁</a:t>
            </a:r>
            <a:r>
              <a:rPr lang="zh-CN" altLang="en-US" b="1">
                <a:latin typeface="Courier" pitchFamily="2" charset="0"/>
              </a:rPr>
              <a:t>可能自己恢复</a:t>
            </a:r>
            <a:endParaRPr lang="en-CN" b="1">
              <a:latin typeface="Courier" pitchFamily="2" charset="0"/>
            </a:endParaRP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D84F9E6F-4450-3447-AC04-090537AB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4026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43574" y="1345332"/>
            <a:ext cx="6536457" cy="167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3</a:t>
            </a:r>
            <a:r>
              <a:rPr lang="zh-CN" altLang="en-US" dirty="0"/>
              <a:t>、资源允许抢占：需要考虑如何恢复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04BE-00F4-7645-8AD6-57953C14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8488BF-C79D-3347-89CC-F7069F02C646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6F6147-9538-884B-8935-8CEB53982CD4}"/>
              </a:ext>
            </a:extLst>
          </p:cNvPr>
          <p:cNvCxnSpPr>
            <a:cxnSpLocks/>
          </p:cNvCxnSpPr>
          <p:nvPr/>
        </p:nvCxnSpPr>
        <p:spPr>
          <a:xfrm flipV="1">
            <a:off x="6156176" y="1561356"/>
            <a:ext cx="0" cy="208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F188001-1405-CD45-A5EE-D8B048A46D4F}"/>
              </a:ext>
            </a:extLst>
          </p:cNvPr>
          <p:cNvSpPr/>
          <p:nvPr/>
        </p:nvSpPr>
        <p:spPr>
          <a:xfrm>
            <a:off x="6244938" y="2463449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抢占锁A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6BAEB8-8DCC-5D48-B318-6225789F42CD}"/>
              </a:ext>
            </a:extLst>
          </p:cNvPr>
          <p:cNvSpPr/>
          <p:nvPr/>
        </p:nvSpPr>
        <p:spPr>
          <a:xfrm>
            <a:off x="883510" y="3634321"/>
            <a:ext cx="4416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需要让线程A正确回滚到拿锁A之前的状态</a:t>
            </a:r>
            <a:endParaRPr lang="en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0842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E768-8035-7343-90D8-FB5A1683F58E}"/>
              </a:ext>
            </a:extLst>
          </p:cNvPr>
          <p:cNvSpPr/>
          <p:nvPr/>
        </p:nvSpPr>
        <p:spPr>
          <a:xfrm>
            <a:off x="443574" y="1345332"/>
            <a:ext cx="6536457" cy="2222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3</a:t>
            </a:r>
            <a:r>
              <a:rPr lang="zh-CN" altLang="en-US" dirty="0"/>
              <a:t>、资源允许抢占：需要考虑如何恢复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4</a:t>
            </a:r>
            <a:r>
              <a:rPr lang="zh-CN" altLang="en-US" dirty="0"/>
              <a:t>、打破循环等待：按照特定顺序获取资源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FD13A-B705-8C4D-B72D-7A0BFE911E8B}"/>
              </a:ext>
            </a:extLst>
          </p:cNvPr>
          <p:cNvSpPr/>
          <p:nvPr/>
        </p:nvSpPr>
        <p:spPr>
          <a:xfrm>
            <a:off x="1043608" y="3783696"/>
            <a:ext cx="4572000" cy="8739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对</a:t>
            </a:r>
            <a:r>
              <a:rPr lang="en-CN"/>
              <a:t>所有资源进行编号</a:t>
            </a:r>
            <a:endParaRPr lang="en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让所有线程</a:t>
            </a:r>
            <a:r>
              <a:rPr lang="zh-CN" altLang="en-CN" dirty="0"/>
              <a:t>递</a:t>
            </a:r>
            <a:r>
              <a:rPr lang="en-CN" dirty="0"/>
              <a:t>增</a:t>
            </a:r>
            <a:r>
              <a:rPr lang="zh-CN" altLang="en-CN" dirty="0"/>
              <a:t>获取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353F1E-BF0F-FC4A-913B-387791387BC2}"/>
              </a:ext>
            </a:extLst>
          </p:cNvPr>
          <p:cNvSpPr/>
          <p:nvPr/>
        </p:nvSpPr>
        <p:spPr>
          <a:xfrm>
            <a:off x="1079612" y="480121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CN" dirty="0"/>
              <a:t>任意</a:t>
            </a:r>
            <a:r>
              <a:rPr lang="zh-CN" altLang="en-US" dirty="0"/>
              <a:t>时刻：获取最大资源</a:t>
            </a:r>
            <a:r>
              <a:rPr lang="zh-CN" altLang="en-CN" dirty="0"/>
              <a:t>号的</a:t>
            </a:r>
            <a:r>
              <a:rPr lang="zh-CN" altLang="en-US" dirty="0"/>
              <a:t>线程可以继续执行，然后释放资源</a:t>
            </a:r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04BE-00F4-7645-8AD6-57953C14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4A666F-9C3D-DA40-B683-36F6345F341E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F30819-2243-8545-8979-ED7C70CD382F}"/>
              </a:ext>
            </a:extLst>
          </p:cNvPr>
          <p:cNvSpPr/>
          <p:nvPr/>
        </p:nvSpPr>
        <p:spPr>
          <a:xfrm>
            <a:off x="4283030" y="4507668"/>
            <a:ext cx="4403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号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号：必须先拿锁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，再拿锁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endParaRPr lang="en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5739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347864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出问题再处理：死锁的检测与恢复</a:t>
            </a:r>
            <a:endParaRPr lang="en-US" altLang="zh-CN" sz="23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/>
              <a:t>设计时避免：死锁预防</a:t>
            </a:r>
            <a:endParaRPr lang="en-US" altLang="zh-CN" sz="23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运行时避免死锁：死锁避免</a:t>
            </a:r>
            <a:endParaRPr lang="en-US" altLang="zh-CN" sz="2300" b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4AEC2-438E-3242-AE30-6F8C313D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12" name="Left Brace 4">
            <a:extLst>
              <a:ext uri="{FF2B5EF4-FFF2-40B4-BE49-F238E27FC236}">
                <a16:creationId xmlns:a16="http://schemas.microsoft.com/office/drawing/2014/main" id="{CA91CF3B-F705-5841-AAC6-7AD1D2BAAF72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55777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死锁避免：银行家算法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1079612" y="114134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死锁避免：运行时检查是否会出现死锁</a:t>
            </a: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7734A-96D5-5A48-B72F-E7C52729FC6A}"/>
              </a:ext>
            </a:extLst>
          </p:cNvPr>
          <p:cNvSpPr/>
          <p:nvPr/>
        </p:nvSpPr>
        <p:spPr>
          <a:xfrm>
            <a:off x="616766" y="1705372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银行家算法的核心：</a:t>
            </a: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5259F-EAFC-3E44-9D42-D5C11B3E0752}"/>
              </a:ext>
            </a:extLst>
          </p:cNvPr>
          <p:cNvSpPr/>
          <p:nvPr/>
        </p:nvSpPr>
        <p:spPr>
          <a:xfrm>
            <a:off x="899592" y="2288878"/>
            <a:ext cx="6536457" cy="246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CN" sz="2000" dirty="0"/>
              <a:t>所有</a:t>
            </a:r>
            <a:r>
              <a:rPr lang="zh-CN" altLang="en-US" sz="2000" dirty="0"/>
              <a:t>线程获取资源需要通过</a:t>
            </a:r>
            <a:r>
              <a:rPr lang="zh-CN" altLang="en-US" sz="2000" b="1" dirty="0"/>
              <a:t>管理者</a:t>
            </a:r>
            <a:r>
              <a:rPr lang="zh-CN" altLang="en-US" sz="2000" dirty="0"/>
              <a:t>同意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管理者</a:t>
            </a:r>
            <a:r>
              <a:rPr lang="zh-CN" altLang="en-US" sz="2000" b="1" dirty="0"/>
              <a:t>预演</a:t>
            </a:r>
            <a:r>
              <a:rPr lang="zh-CN" altLang="en-US" sz="2000" dirty="0"/>
              <a:t>会不会造成死锁</a:t>
            </a:r>
            <a:endParaRPr lang="en-US" altLang="zh-CN" sz="2000" dirty="0"/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zh-CN" altLang="en-US" sz="2000" dirty="0"/>
              <a:t>如果会造成：阻塞线程，下次再给</a:t>
            </a:r>
            <a:endParaRPr lang="en-US" altLang="zh-CN" sz="2000" dirty="0"/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zh-CN" altLang="en-US" sz="2000" dirty="0"/>
              <a:t>如果不会造成：给线程该资源</a:t>
            </a:r>
            <a:endParaRPr lang="en-US" altLang="zh-CN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76D8A-96F4-0944-9269-5114212A0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1F19B-597C-9C4A-8216-32298C05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5349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死锁避免：银行家算法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1079612" y="114134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如何</a:t>
            </a:r>
            <a:r>
              <a:rPr lang="zh-CN" altLang="en-US" b="1"/>
              <a:t>预演判断</a:t>
            </a:r>
            <a:r>
              <a:rPr lang="zh-CN" altLang="en-US"/>
              <a:t>？将系统划分为两个状态</a:t>
            </a: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7734A-96D5-5A48-B72F-E7C52729FC6A}"/>
              </a:ext>
            </a:extLst>
          </p:cNvPr>
          <p:cNvSpPr/>
          <p:nvPr/>
        </p:nvSpPr>
        <p:spPr>
          <a:xfrm>
            <a:off x="827584" y="2399041"/>
            <a:ext cx="22322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安全状态</a:t>
            </a:r>
            <a:endParaRPr lang="en-US" altLang="zh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8DBF98-3BEF-6B47-8149-1D0863127C4A}"/>
              </a:ext>
            </a:extLst>
          </p:cNvPr>
          <p:cNvSpPr/>
          <p:nvPr/>
        </p:nvSpPr>
        <p:spPr>
          <a:xfrm>
            <a:off x="470003" y="3524669"/>
            <a:ext cx="22322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非安全状态</a:t>
            </a:r>
            <a:endParaRPr lang="en-US" altLang="zh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3F2C9-1E2B-A949-8FEE-0C57081A3F50}"/>
              </a:ext>
            </a:extLst>
          </p:cNvPr>
          <p:cNvSpPr/>
          <p:nvPr/>
        </p:nvSpPr>
        <p:spPr>
          <a:xfrm>
            <a:off x="683568" y="1818012"/>
            <a:ext cx="5869632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对于一组线程</a:t>
            </a:r>
            <a:r>
              <a:rPr lang="en-US" altLang="zh-CN" dirty="0"/>
              <a:t> {P1, P2, ... , </a:t>
            </a:r>
            <a:r>
              <a:rPr lang="en-US" altLang="zh-CN" dirty="0" err="1"/>
              <a:t>Pn</a:t>
            </a:r>
            <a:r>
              <a:rPr lang="en-US" altLang="zh-CN" dirty="0"/>
              <a:t>}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C9DADB-159A-D641-A572-C12C675AD55C}"/>
              </a:ext>
            </a:extLst>
          </p:cNvPr>
          <p:cNvSpPr/>
          <p:nvPr/>
        </p:nvSpPr>
        <p:spPr>
          <a:xfrm>
            <a:off x="809603" y="2943908"/>
            <a:ext cx="799288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能找出至少一个执行序列，如</a:t>
            </a:r>
            <a:r>
              <a:rPr lang="en-US" altLang="zh-CN" dirty="0"/>
              <a:t>P2-&gt;P1-&gt;P5...</a:t>
            </a:r>
            <a:r>
              <a:rPr lang="zh-CN" altLang="en-US" dirty="0"/>
              <a:t>让所有线程需求得到满足</a:t>
            </a:r>
            <a:endParaRPr lang="en-US" altLang="zh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93FC50-A69C-804D-8EBE-C2F8EBB1E9AE}"/>
              </a:ext>
            </a:extLst>
          </p:cNvPr>
          <p:cNvSpPr/>
          <p:nvPr/>
        </p:nvSpPr>
        <p:spPr>
          <a:xfrm>
            <a:off x="1259632" y="4069536"/>
            <a:ext cx="396044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不能找出这个序列，必定会导致死锁</a:t>
            </a:r>
            <a:endParaRPr lang="en-US" altLang="zh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E2BF2-2B7B-3849-8DB3-D54BD89E3DEA}"/>
              </a:ext>
            </a:extLst>
          </p:cNvPr>
          <p:cNvSpPr/>
          <p:nvPr/>
        </p:nvSpPr>
        <p:spPr>
          <a:xfrm>
            <a:off x="1079612" y="4794670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银行家算法：保证系统一直处于</a:t>
            </a:r>
            <a:r>
              <a:rPr lang="zh-CN" altLang="en-US" b="1"/>
              <a:t>安全状态</a:t>
            </a:r>
            <a:r>
              <a:rPr lang="zh-CN" altLang="en-US"/>
              <a:t>，且按照这个序列执行</a:t>
            </a:r>
            <a:endParaRPr lang="en-US" altLang="zh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06BD4D-E7F7-B14F-9262-CDB44F5C7991}"/>
              </a:ext>
            </a:extLst>
          </p:cNvPr>
          <p:cNvSpPr/>
          <p:nvPr/>
        </p:nvSpPr>
        <p:spPr>
          <a:xfrm>
            <a:off x="5207929" y="4213909"/>
            <a:ext cx="2376264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安全性检查算法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EF973C-845D-A94A-BD44-33019434FEC3}"/>
              </a:ext>
            </a:extLst>
          </p:cNvPr>
          <p:cNvCxnSpPr>
            <a:cxnSpLocks/>
          </p:cNvCxnSpPr>
          <p:nvPr/>
        </p:nvCxnSpPr>
        <p:spPr>
          <a:xfrm flipH="1">
            <a:off x="5436097" y="4622098"/>
            <a:ext cx="288031" cy="194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53AE7-F5A4-6145-8BFA-BC2CC209A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CB238-BABC-0F4D-BB12-F2973A21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5275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银行家算法：安全性检查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539552" y="1345332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四个数据结构：</a:t>
            </a:r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035AFD-3214-7544-AA7E-543B5094AFA0}"/>
              </a:ext>
            </a:extLst>
          </p:cNvPr>
          <p:cNvSpPr/>
          <p:nvPr/>
        </p:nvSpPr>
        <p:spPr>
          <a:xfrm>
            <a:off x="899592" y="2145341"/>
            <a:ext cx="6030416" cy="22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全局可利用资源：Available[M]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每</a:t>
            </a:r>
            <a:r>
              <a:rPr lang="zh-CN" altLang="en-US" dirty="0">
                <a:latin typeface="+mn-ea"/>
              </a:rPr>
              <a:t>线程</a:t>
            </a:r>
            <a:r>
              <a:rPr lang="en-CN" dirty="0">
                <a:latin typeface="+mn-ea"/>
              </a:rPr>
              <a:t>最大需求量：Max[N][M]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已分配资源：Allocation[N][M]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还需要的资源：Need[N][M]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E2105-7887-5A43-B8DD-7CD81A3B9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DE6508-EB25-574D-883A-56A3E97284D3}"/>
              </a:ext>
            </a:extLst>
          </p:cNvPr>
          <p:cNvSpPr/>
          <p:nvPr/>
        </p:nvSpPr>
        <p:spPr>
          <a:xfrm>
            <a:off x="4506085" y="1500966"/>
            <a:ext cx="2052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个资源 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个线程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61F4-2BED-C24B-A400-72DB977F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3996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某时刻系统状态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49D2DE-010B-0E45-B7E3-6898171F3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C7C74-2EAA-924E-A69A-896CBE86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0786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P2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3C8E0-62E6-CA4C-8727-1892AE25E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53198-0887-FC4E-A40E-FA0F426F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0573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solidFill>
                            <a:schemeClr val="accent1"/>
                          </a:solidFill>
                          <a:effectLst/>
                        </a:rPr>
                        <a:t>5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P1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49E03-0AAB-5C42-82C3-64FFA193F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3038E-40D6-764B-8C91-0AEEE500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3039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>
                          <a:solidFill>
                            <a:schemeClr val="accent1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P3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B8296-4838-9040-868D-F8F792F40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CE91A-D290-3542-AFAE-A5576446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1650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269174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通过安全性检查：处于安全状态！</a:t>
            </a: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2FCD0-A300-4248-A4BC-17B90B5066F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969C83-96BE-9342-83D4-2CE336D86620}"/>
              </a:ext>
            </a:extLst>
          </p:cNvPr>
          <p:cNvSpPr/>
          <p:nvPr/>
        </p:nvSpPr>
        <p:spPr>
          <a:xfrm>
            <a:off x="1220482" y="4783068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新来请求：</a:t>
            </a:r>
            <a:r>
              <a:rPr lang="en-US" altLang="zh-CN" dirty="0"/>
              <a:t>P1</a:t>
            </a:r>
            <a:r>
              <a:rPr lang="zh-CN" altLang="en-US" dirty="0"/>
              <a:t>请求资源，需要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r>
              <a:rPr lang="en-US" altLang="zh-CN" dirty="0"/>
              <a:t>2</a:t>
            </a:r>
            <a:r>
              <a:rPr lang="zh-CN" altLang="en-US" dirty="0"/>
              <a:t>份，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r>
              <a:rPr lang="en-US" altLang="zh-CN" dirty="0"/>
              <a:t>1</a:t>
            </a:r>
            <a:r>
              <a:rPr lang="zh-CN" altLang="en-US" dirty="0"/>
              <a:t>份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BE247-BEB3-DA4F-B818-BAA0F406D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27BD9-DB59-5B4A-9CB8-CF7E85A5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1192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3→1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1→0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039944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新来请求：</a:t>
            </a:r>
            <a:r>
              <a:rPr lang="en-US" altLang="zh-CN" dirty="0"/>
              <a:t>P1</a:t>
            </a:r>
            <a:r>
              <a:rPr lang="zh-CN" altLang="en-US" dirty="0"/>
              <a:t>请求资源，需要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r>
              <a:rPr lang="en-US" altLang="zh-CN" dirty="0"/>
              <a:t>2</a:t>
            </a:r>
            <a:r>
              <a:rPr lang="zh-CN" altLang="en-US" dirty="0"/>
              <a:t>份，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r>
              <a:rPr lang="en-US" altLang="zh-CN" dirty="0"/>
              <a:t>1</a:t>
            </a:r>
            <a:r>
              <a:rPr lang="zh-CN" altLang="en-US" dirty="0"/>
              <a:t>份</a:t>
            </a:r>
            <a:endParaRPr lang="en-US" altLang="zh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2FCD0-A300-4248-A4BC-17B90B5066F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06B9B-5990-994A-96DE-714CA4F17389}"/>
              </a:ext>
            </a:extLst>
          </p:cNvPr>
          <p:cNvSpPr/>
          <p:nvPr/>
        </p:nvSpPr>
        <p:spPr>
          <a:xfrm>
            <a:off x="1042628" y="4413449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假设</a:t>
            </a:r>
            <a:r>
              <a:rPr lang="zh-CN" altLang="en-US" dirty="0"/>
              <a:t>分配给它，运行安全检查：无法通过</a:t>
            </a:r>
            <a:endParaRPr lang="en-US" altLang="zh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50D527-B1C3-E549-BE4E-8390E161ACC1}"/>
              </a:ext>
            </a:extLst>
          </p:cNvPr>
          <p:cNvSpPr/>
          <p:nvPr/>
        </p:nvSpPr>
        <p:spPr>
          <a:xfrm>
            <a:off x="1079612" y="478028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accent1"/>
                </a:solidFill>
              </a:rPr>
              <a:t>采取行动：阻塞</a:t>
            </a:r>
            <a:r>
              <a:rPr lang="en-US" altLang="zh-CN">
                <a:solidFill>
                  <a:schemeClr val="accent1"/>
                </a:solidFill>
              </a:rPr>
              <a:t>P1</a:t>
            </a:r>
            <a:r>
              <a:rPr lang="zh-CN" altLang="en-US">
                <a:solidFill>
                  <a:schemeClr val="accent1"/>
                </a:solidFill>
              </a:rPr>
              <a:t>，保证系统维持在安全状态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AB207-87B4-2442-9975-36C440AE8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4A79A-8249-8F47-AA1A-FDA070F3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13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44015</TotalTime>
  <Words>5591</Words>
  <Application>Microsoft Macintosh PowerPoint</Application>
  <PresentationFormat>全屏显示(16:10)</PresentationFormat>
  <Paragraphs>1131</Paragraphs>
  <Slides>71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0" baseType="lpstr">
      <vt:lpstr>DengXian</vt:lpstr>
      <vt:lpstr>微软雅黑</vt:lpstr>
      <vt:lpstr>Arial</vt:lpstr>
      <vt:lpstr>Calibri</vt:lpstr>
      <vt:lpstr>Courier</vt:lpstr>
      <vt:lpstr>Menlo</vt:lpstr>
      <vt:lpstr>Times New Roman</vt:lpstr>
      <vt:lpstr>Wingdings</vt:lpstr>
      <vt:lpstr>Office 主题​​</vt:lpstr>
      <vt:lpstr>同步原语对比、死锁</vt:lpstr>
      <vt:lpstr>版权声明</vt:lpstr>
      <vt:lpstr>场景一：共享资源互斥访问</vt:lpstr>
      <vt:lpstr>衍生场景一：读写场景并发读取</vt:lpstr>
      <vt:lpstr>场景二：条件等待与唤醒</vt:lpstr>
      <vt:lpstr>场景三：多资源协调管理</vt:lpstr>
      <vt:lpstr>场景与同步原语总结</vt:lpstr>
      <vt:lpstr>同步原语对比</vt:lpstr>
      <vt:lpstr>互斥锁 vs 读写锁</vt:lpstr>
      <vt:lpstr>互斥锁 vs 条件变量</vt:lpstr>
      <vt:lpstr>互斥锁 vs 信号量</vt:lpstr>
      <vt:lpstr>条件变量 vs 信号量</vt:lpstr>
      <vt:lpstr>案例分析</vt:lpstr>
      <vt:lpstr>同步案例-1：多线程执行屏障</vt:lpstr>
      <vt:lpstr>同步案例-1：多线程执行屏障</vt:lpstr>
      <vt:lpstr>同步案例-2：等待队列工作窃取</vt:lpstr>
      <vt:lpstr>同步案例-2：等待队列工作窃取</vt:lpstr>
      <vt:lpstr>同步案例-3：map-reduce</vt:lpstr>
      <vt:lpstr>同步案例-3：map-reduce</vt:lpstr>
      <vt:lpstr>同步案例-3：map-reduce</vt:lpstr>
      <vt:lpstr>同步案例-3：map-reduce</vt:lpstr>
      <vt:lpstr>同步案例-4：网页渲染</vt:lpstr>
      <vt:lpstr>同步案例-4：网页渲染</vt:lpstr>
      <vt:lpstr>同步案例-4：网页渲染</vt:lpstr>
      <vt:lpstr>同步案例-5：线程池并发控制</vt:lpstr>
      <vt:lpstr>同步案例-5：线程池并发控制</vt:lpstr>
      <vt:lpstr>同步案例-6：网页服务器</vt:lpstr>
      <vt:lpstr>同步案例-6：网页服务器</vt:lpstr>
      <vt:lpstr>同步原语选择guideline</vt:lpstr>
      <vt:lpstr>RCU：更高效的读写互斥</vt:lpstr>
      <vt:lpstr>Read Copy Update, RCU</vt:lpstr>
      <vt:lpstr>Read Copy Update, RCU</vt:lpstr>
      <vt:lpstr>Read Copy Update, RCU</vt:lpstr>
      <vt:lpstr>RCU 订阅/发布机制</vt:lpstr>
      <vt:lpstr>RCU 订阅/发布机制：此时的读者</vt:lpstr>
      <vt:lpstr>RCU 订阅/发布机制：此时的读者</vt:lpstr>
      <vt:lpstr>RCU 订阅/发布机制：此时的读者</vt:lpstr>
      <vt:lpstr>RCU 订阅/发布机制：此时的读者</vt:lpstr>
      <vt:lpstr>RCU 订阅/发布机制</vt:lpstr>
      <vt:lpstr>RCU 订阅/发布机制</vt:lpstr>
      <vt:lpstr>Read Copy Update, RCU</vt:lpstr>
      <vt:lpstr>RCU 宽限期</vt:lpstr>
      <vt:lpstr>RCU 宽限期</vt:lpstr>
      <vt:lpstr>RCU 宽限期</vt:lpstr>
      <vt:lpstr>RCU 宽限期</vt:lpstr>
      <vt:lpstr>RCU 宽限期</vt:lpstr>
      <vt:lpstr>同步原语对比：读写锁 vs RCU</vt:lpstr>
      <vt:lpstr>同步带来的问题：死锁</vt:lpstr>
      <vt:lpstr>死锁</vt:lpstr>
      <vt:lpstr>死锁产生的原因</vt:lpstr>
      <vt:lpstr>死锁产生的原因</vt:lpstr>
      <vt:lpstr>死锁产生的原因</vt:lpstr>
      <vt:lpstr>死锁产生的原因</vt:lpstr>
      <vt:lpstr>如何解决死锁？</vt:lpstr>
      <vt:lpstr>检测死锁与恢复</vt:lpstr>
      <vt:lpstr>如何解决死锁？</vt:lpstr>
      <vt:lpstr>死锁预防：四个方向</vt:lpstr>
      <vt:lpstr>死锁预防：四个方向</vt:lpstr>
      <vt:lpstr>避免死锁带来的活锁 Live Lock</vt:lpstr>
      <vt:lpstr>死锁预防：四个方向</vt:lpstr>
      <vt:lpstr>死锁预防：四个方向</vt:lpstr>
      <vt:lpstr>如何解决死锁？</vt:lpstr>
      <vt:lpstr>死锁避免：银行家算法</vt:lpstr>
      <vt:lpstr>死锁避免：银行家算法</vt:lpstr>
      <vt:lpstr>银行家算法：安全性检查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2997</cp:revision>
  <cp:lastPrinted>2016-06-13T07:55:34Z</cp:lastPrinted>
  <dcterms:created xsi:type="dcterms:W3CDTF">2017-11-24T09:35:45Z</dcterms:created>
  <dcterms:modified xsi:type="dcterms:W3CDTF">2022-03-22T01:59:34Z</dcterms:modified>
</cp:coreProperties>
</file>