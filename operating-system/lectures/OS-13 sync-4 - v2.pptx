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2"/>
  </p:notesMasterIdLst>
  <p:handoutMasterIdLst>
    <p:handoutMasterId r:id="rId93"/>
  </p:handoutMasterIdLst>
  <p:sldIdLst>
    <p:sldId id="1306" r:id="rId2"/>
    <p:sldId id="1359" r:id="rId3"/>
    <p:sldId id="1378" r:id="rId4"/>
    <p:sldId id="1490" r:id="rId5"/>
    <p:sldId id="1482" r:id="rId6"/>
    <p:sldId id="1379" r:id="rId7"/>
    <p:sldId id="1437" r:id="rId8"/>
    <p:sldId id="1436" r:id="rId9"/>
    <p:sldId id="1410" r:id="rId10"/>
    <p:sldId id="1411" r:id="rId11"/>
    <p:sldId id="1387" r:id="rId12"/>
    <p:sldId id="1456" r:id="rId13"/>
    <p:sldId id="1481" r:id="rId14"/>
    <p:sldId id="1483" r:id="rId15"/>
    <p:sldId id="1457" r:id="rId16"/>
    <p:sldId id="1484" r:id="rId17"/>
    <p:sldId id="1485" r:id="rId18"/>
    <p:sldId id="1486" r:id="rId19"/>
    <p:sldId id="2434" r:id="rId20"/>
    <p:sldId id="2400" r:id="rId21"/>
    <p:sldId id="1493" r:id="rId22"/>
    <p:sldId id="2368" r:id="rId23"/>
    <p:sldId id="2401" r:id="rId24"/>
    <p:sldId id="1513" r:id="rId25"/>
    <p:sldId id="2370" r:id="rId26"/>
    <p:sldId id="1514" r:id="rId27"/>
    <p:sldId id="2404" r:id="rId28"/>
    <p:sldId id="1412" r:id="rId29"/>
    <p:sldId id="2426" r:id="rId30"/>
    <p:sldId id="2399" r:id="rId31"/>
    <p:sldId id="2419" r:id="rId32"/>
    <p:sldId id="2421" r:id="rId33"/>
    <p:sldId id="2425" r:id="rId34"/>
    <p:sldId id="2422" r:id="rId35"/>
    <p:sldId id="2423" r:id="rId36"/>
    <p:sldId id="2417" r:id="rId37"/>
    <p:sldId id="2424" r:id="rId38"/>
    <p:sldId id="1376" r:id="rId39"/>
    <p:sldId id="2428" r:id="rId40"/>
    <p:sldId id="2408" r:id="rId41"/>
    <p:sldId id="2407" r:id="rId42"/>
    <p:sldId id="2409" r:id="rId43"/>
    <p:sldId id="2429" r:id="rId44"/>
    <p:sldId id="2431" r:id="rId45"/>
    <p:sldId id="2430" r:id="rId46"/>
    <p:sldId id="2410" r:id="rId47"/>
    <p:sldId id="2411" r:id="rId48"/>
    <p:sldId id="2412" r:id="rId49"/>
    <p:sldId id="2413" r:id="rId50"/>
    <p:sldId id="2414" r:id="rId51"/>
    <p:sldId id="2415" r:id="rId52"/>
    <p:sldId id="2416" r:id="rId53"/>
    <p:sldId id="2427" r:id="rId54"/>
    <p:sldId id="1471" r:id="rId55"/>
    <p:sldId id="1377" r:id="rId56"/>
    <p:sldId id="1472" r:id="rId57"/>
    <p:sldId id="1473" r:id="rId58"/>
    <p:sldId id="1474" r:id="rId59"/>
    <p:sldId id="1475" r:id="rId60"/>
    <p:sldId id="1477" r:id="rId61"/>
    <p:sldId id="2432" r:id="rId62"/>
    <p:sldId id="2433" r:id="rId63"/>
    <p:sldId id="1458" r:id="rId64"/>
    <p:sldId id="1418" r:id="rId65"/>
    <p:sldId id="1459" r:id="rId66"/>
    <p:sldId id="1420" r:id="rId67"/>
    <p:sldId id="1425" r:id="rId68"/>
    <p:sldId id="1427" r:id="rId69"/>
    <p:sldId id="1426" r:id="rId70"/>
    <p:sldId id="1428" r:id="rId71"/>
    <p:sldId id="1460" r:id="rId72"/>
    <p:sldId id="1421" r:id="rId73"/>
    <p:sldId id="1422" r:id="rId74"/>
    <p:sldId id="1423" r:id="rId75"/>
    <p:sldId id="1433" r:id="rId76"/>
    <p:sldId id="1487" r:id="rId77"/>
    <p:sldId id="1488" r:id="rId78"/>
    <p:sldId id="1461" r:id="rId79"/>
    <p:sldId id="1419" r:id="rId80"/>
    <p:sldId id="1478" r:id="rId81"/>
    <p:sldId id="1434" r:id="rId82"/>
    <p:sldId id="1429" r:id="rId83"/>
    <p:sldId id="1432" r:id="rId84"/>
    <p:sldId id="1430" r:id="rId85"/>
    <p:sldId id="1480" r:id="rId86"/>
    <p:sldId id="2405" r:id="rId87"/>
    <p:sldId id="1431" r:id="rId88"/>
    <p:sldId id="1435" r:id="rId89"/>
    <p:sldId id="1479" r:id="rId90"/>
    <p:sldId id="2397" r:id="rId91"/>
  </p:sldIdLst>
  <p:sldSz cx="9144000" cy="5715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80" userDrawn="1">
          <p15:clr>
            <a:srgbClr val="A4A3A4"/>
          </p15:clr>
        </p15:guide>
        <p15:guide id="2" pos="340" userDrawn="1">
          <p15:clr>
            <a:srgbClr val="A4A3A4"/>
          </p15:clr>
        </p15:guide>
        <p15:guide id="3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92"/>
    <a:srgbClr val="00FB92"/>
    <a:srgbClr val="941100"/>
    <a:srgbClr val="212121"/>
    <a:srgbClr val="005493"/>
    <a:srgbClr val="9437FF"/>
    <a:srgbClr val="73FEFF"/>
    <a:srgbClr val="ED3C64"/>
    <a:srgbClr val="FF93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03" autoAdjust="0"/>
    <p:restoredTop sz="78994" autoAdjust="0"/>
  </p:normalViewPr>
  <p:slideViewPr>
    <p:cSldViewPr>
      <p:cViewPr varScale="1">
        <p:scale>
          <a:sx n="98" d="100"/>
          <a:sy n="98" d="100"/>
        </p:scale>
        <p:origin x="184" y="536"/>
      </p:cViewPr>
      <p:guideLst>
        <p:guide orient="horz" pos="2480"/>
        <p:guide pos="340"/>
        <p:guide pos="2880"/>
      </p:guideLst>
    </p:cSldViewPr>
  </p:slideViewPr>
  <p:outlineViewPr>
    <p:cViewPr>
      <p:scale>
        <a:sx n="33" d="100"/>
        <a:sy n="33" d="100"/>
      </p:scale>
      <p:origin x="0" y="-572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6" d="100"/>
          <a:sy n="96" d="100"/>
        </p:scale>
        <p:origin x="3048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384E5B-0B7C-A143-A087-04B582FC4BEF}" type="datetimeFigureOut">
              <a:rPr kumimoji="1" lang="zh-CN" altLang="en-US" smtClean="0"/>
              <a:t>2022/3/29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8370ED-3FEA-E543-9D41-DF20FAD761C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1917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D7DB94-E0DE-4F0F-A9B7-54654CD8C8B1}" type="datetimeFigureOut">
              <a:rPr lang="zh-CN" altLang="en-US" smtClean="0"/>
              <a:t>2022/3/29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84A077-83E9-49A7-9F59-234D78BD694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0265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685800"/>
            <a:ext cx="54864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>
                <a:solidFill>
                  <a:prstClr val="black"/>
                </a:solidFill>
              </a:rPr>
              <a:pPr/>
              <a:t>1</a:t>
            </a:fld>
            <a:endParaRPr lang="zh-CN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9018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一个</a:t>
            </a:r>
            <a:r>
              <a:rPr lang="zh-CN" altLang="en-US"/>
              <a:t>内存控制器 放中间，内存访问都慢</a:t>
            </a:r>
            <a:endParaRPr lang="en-US" altLang="zh-CN"/>
          </a:p>
          <a:p>
            <a:r>
              <a:rPr lang="zh-CN" altLang="en-US"/>
              <a:t>放两个，局部都快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900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每个节点最多传</a:t>
            </a:r>
            <a:r>
              <a:rPr kumimoji="1" lang="en-US" altLang="zh-CN" dirty="0"/>
              <a:t>N</a:t>
            </a:r>
            <a:r>
              <a:rPr kumimoji="1" lang="zh-CN" altLang="en-US" dirty="0"/>
              <a:t>次，为了公平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8450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 dirty="0"/>
              <a:t>回到正题</a:t>
            </a:r>
            <a:r>
              <a:rPr lang="zh-CN" altLang="en-US" dirty="0"/>
              <a:t>，</a:t>
            </a:r>
            <a:r>
              <a:rPr lang="en-US" altLang="zh-CN" dirty="0"/>
              <a:t>Cohort</a:t>
            </a:r>
            <a:r>
              <a:rPr lang="zh-CN" altLang="en-US" dirty="0"/>
              <a:t> </a:t>
            </a:r>
            <a:r>
              <a:rPr lang="en-US" altLang="zh-CN" dirty="0"/>
              <a:t>lock</a:t>
            </a:r>
            <a:r>
              <a:rPr lang="zh-CN" altLang="en-US" dirty="0"/>
              <a:t>还是会</a:t>
            </a:r>
            <a:r>
              <a:rPr lang="en-US" altLang="zh-CN" dirty="0"/>
              <a:t>collapse</a:t>
            </a:r>
          </a:p>
          <a:p>
            <a:r>
              <a:rPr lang="zh-CN" altLang="en-US" dirty="0"/>
              <a:t>有没有办法能够维持理想的性能？</a:t>
            </a:r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2220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迁移锁</a:t>
            </a:r>
            <a:r>
              <a:rPr lang="en-US" altLang="zh-CN"/>
              <a:t>/</a:t>
            </a:r>
            <a:r>
              <a:rPr lang="zh-CN" altLang="en-US"/>
              <a:t>代理锁，达成这个目标。</a:t>
            </a:r>
            <a:endParaRPr lang="en-CN" altLang="zh-CN"/>
          </a:p>
          <a:p>
            <a:endParaRPr lang="en-CN" altLang="zh-CN"/>
          </a:p>
          <a:p>
            <a:r>
              <a:rPr lang="zh-CN" altLang="en-US"/>
              <a:t>与其让</a:t>
            </a:r>
            <a:r>
              <a:rPr lang="en-US" altLang="zh-CN"/>
              <a:t>cache</a:t>
            </a:r>
            <a:r>
              <a:rPr lang="zh-CN" altLang="en-US"/>
              <a:t> </a:t>
            </a:r>
            <a:r>
              <a:rPr lang="en-US" altLang="zh-CN"/>
              <a:t>line</a:t>
            </a:r>
            <a:r>
              <a:rPr lang="zh-CN" altLang="en-US"/>
              <a:t>在不同的核心之间迁移，</a:t>
            </a:r>
            <a:endParaRPr lang="en-US" altLang="zh-CN"/>
          </a:p>
          <a:p>
            <a:r>
              <a:rPr lang="zh-CN" altLang="en-US"/>
              <a:t>为什么不直接找一个核心，固定死只让这一个核心访问这些共享的缓存行？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牵扯到一个代理执行的概念</a:t>
            </a:r>
            <a:endParaRPr lang="en-US" altLang="zh-CN"/>
          </a:p>
          <a:p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088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对于锁服务器</a:t>
            </a:r>
            <a:r>
              <a:rPr lang="zh-CN" altLang="en-US"/>
              <a:t>：</a:t>
            </a:r>
            <a:endParaRPr lang="en-US" altLang="zh-CN"/>
          </a:p>
          <a:p>
            <a:r>
              <a:rPr lang="zh-CN" altLang="en-US"/>
              <a:t>遍历请求队列，一一执行临界区的</a:t>
            </a:r>
            <a:r>
              <a:rPr lang="zh-CN" altLang="en-CN"/>
              <a:t>闭包</a:t>
            </a:r>
            <a:r>
              <a:rPr lang="zh-CN" altLang="en-US"/>
              <a:t>函数，</a:t>
            </a:r>
            <a:endParaRPr lang="en-US" altLang="zh-CN"/>
          </a:p>
          <a:p>
            <a:r>
              <a:rPr lang="zh-CN" altLang="en-US"/>
              <a:t>并在执行完后发送执行结果。</a:t>
            </a:r>
            <a:endParaRPr lang="en-US" altLang="zh-CN"/>
          </a:p>
          <a:p>
            <a:endParaRPr lang="en-US"/>
          </a:p>
          <a:p>
            <a:r>
              <a:rPr lang="zh-CN" altLang="en-US"/>
              <a:t>通过这个方式，可以避免临界区内的全局缓存行在不同的</a:t>
            </a:r>
            <a:r>
              <a:rPr lang="en-US" altLang="zh-CN"/>
              <a:t>NUMA</a:t>
            </a:r>
            <a:r>
              <a:rPr lang="zh-CN" altLang="en-US"/>
              <a:t>节点之间迁移，</a:t>
            </a:r>
            <a:endParaRPr lang="en-US" altLang="zh-CN"/>
          </a:p>
          <a:p>
            <a:r>
              <a:rPr lang="zh-CN" altLang="en-US"/>
              <a:t>转变成本地的访问，从而提升性能。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6564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那么这个全局</a:t>
            </a:r>
          </a:p>
          <a:p>
            <a:endParaRPr lang="en-CN"/>
          </a:p>
          <a:p>
            <a:r>
              <a:rPr lang="en-CN"/>
              <a:t>代理锁也分成了很多类型</a:t>
            </a:r>
            <a:r>
              <a:rPr lang="zh-CN" altLang="en-US"/>
              <a:t>，</a:t>
            </a:r>
            <a:endParaRPr lang="en-CN" altLang="zh-CN"/>
          </a:p>
          <a:p>
            <a:r>
              <a:rPr lang="en-CN"/>
              <a:t>包括选定固定核心作为专门锁服务器的代理锁</a:t>
            </a:r>
          </a:p>
          <a:p>
            <a:endParaRPr lang="en-CN"/>
          </a:p>
          <a:p>
            <a:r>
              <a:rPr lang="en-CN"/>
              <a:t>以及动态地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61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代理锁的性能远远超出了之前说的MCS锁与Cohort锁</a:t>
            </a:r>
            <a:r>
              <a:rPr lang="zh-CN" altLang="en-US"/>
              <a:t>。</a:t>
            </a:r>
            <a:endParaRPr lang="en-US" altLang="zh-CN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2064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N"/>
              <a:t>代理锁的性能远远超出了之前说的MCS锁与Cohort锁</a:t>
            </a:r>
            <a:r>
              <a:rPr lang="zh-CN" altLang="en-US"/>
              <a:t>。</a:t>
            </a:r>
            <a:endParaRPr lang="en-US" altLang="zh-CN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4790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 err="1"/>
              <a:t>numa_alloc</a:t>
            </a:r>
            <a:r>
              <a:rPr kumimoji="1" lang="zh-CN" altLang="en-US" dirty="0"/>
              <a:t>，用户会知道</a:t>
            </a:r>
            <a:r>
              <a:rPr kumimoji="1" lang="en-US" altLang="zh-CN" dirty="0"/>
              <a:t>NUMA</a:t>
            </a:r>
            <a:r>
              <a:rPr kumimoji="1" lang="zh-CN" altLang="en-US" dirty="0"/>
              <a:t>结构，也需要绑核控制调度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4762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86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0251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77972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76436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67990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99890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完全</a:t>
            </a:r>
            <a:r>
              <a:rPr lang="zh-CN" altLang="en-US"/>
              <a:t>不允许乱序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23402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可以</a:t>
            </a:r>
            <a:r>
              <a:rPr lang="zh-CN" altLang="en-US"/>
              <a:t>本地加一个</a:t>
            </a:r>
            <a:r>
              <a:rPr lang="en-US" altLang="zh-CN"/>
              <a:t>buffer</a:t>
            </a:r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1158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0930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913434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930559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59011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可以</a:t>
            </a:r>
            <a:r>
              <a:rPr lang="zh-CN" altLang="en-US"/>
              <a:t>本地加一个</a:t>
            </a:r>
            <a:r>
              <a:rPr lang="en-US" altLang="zh-CN"/>
              <a:t>buffer</a:t>
            </a:r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47923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可以</a:t>
            </a:r>
            <a:r>
              <a:rPr lang="zh-CN" altLang="en-US"/>
              <a:t>本地加一个</a:t>
            </a:r>
            <a:r>
              <a:rPr lang="en-US" altLang="zh-CN"/>
              <a:t>buffer</a:t>
            </a:r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98745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可以</a:t>
            </a:r>
            <a:r>
              <a:rPr lang="zh-CN" altLang="en-US"/>
              <a:t>本地加一个</a:t>
            </a:r>
            <a:r>
              <a:rPr lang="en-US" altLang="zh-CN"/>
              <a:t>buffer</a:t>
            </a:r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513319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在</a:t>
            </a:r>
            <a:r>
              <a:rPr lang="zh-CN" altLang="en-US"/>
              <a:t>读写组合时就会有顺序的问题。</a:t>
            </a:r>
            <a:endParaRPr lang="en-US" altLang="zh-CN"/>
          </a:p>
          <a:p>
            <a:r>
              <a:rPr lang="en-US" altLang="zh-CN"/>
              <a:t>TSO</a:t>
            </a:r>
            <a:r>
              <a:rPr lang="zh-CN" altLang="en-US"/>
              <a:t>权衡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83643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 dirty="0"/>
              <a:t>在</a:t>
            </a:r>
            <a:r>
              <a:rPr lang="zh-CN" altLang="en-US" dirty="0"/>
              <a:t>读写组合时就会有顺序的问题。</a:t>
            </a:r>
            <a:endParaRPr lang="en-US" altLang="zh-CN" dirty="0"/>
          </a:p>
          <a:p>
            <a:r>
              <a:rPr lang="en-US" altLang="zh-CN" dirty="0"/>
              <a:t>TSO</a:t>
            </a:r>
            <a:r>
              <a:rPr lang="zh-CN" altLang="en-US" dirty="0"/>
              <a:t>权衡</a:t>
            </a:r>
            <a:endParaRPr lang="en-US" altLang="zh-CN" dirty="0"/>
          </a:p>
          <a:p>
            <a:r>
              <a:rPr lang="zh-CN" altLang="en-US" dirty="0"/>
              <a:t>写</a:t>
            </a:r>
            <a:r>
              <a:rPr lang="en-US" altLang="zh-CN" dirty="0"/>
              <a:t>-</a:t>
            </a:r>
            <a:r>
              <a:rPr lang="zh-CN" altLang="en-US" dirty="0"/>
              <a:t>写不会乱序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35354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在</a:t>
            </a:r>
            <a:r>
              <a:rPr lang="zh-CN" altLang="en-US"/>
              <a:t>读写组合时就会有顺序的问题。</a:t>
            </a:r>
            <a:endParaRPr lang="en-US" altLang="zh-CN"/>
          </a:p>
          <a:p>
            <a:r>
              <a:rPr lang="en-US" altLang="zh-CN"/>
              <a:t>TSO</a:t>
            </a:r>
            <a:r>
              <a:rPr lang="zh-CN" altLang="en-US"/>
              <a:t>权衡</a:t>
            </a:r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0850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对同一个内存地址的顺序，能够保证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79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462368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55495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所以</a:t>
            </a:r>
            <a:r>
              <a:rPr kumimoji="1" lang="en-US" altLang="zh-CN" dirty="0"/>
              <a:t>lock</a:t>
            </a:r>
            <a:r>
              <a:rPr kumimoji="1" lang="zh-CN" altLang="en-US" dirty="0"/>
              <a:t>和</a:t>
            </a:r>
            <a:r>
              <a:rPr kumimoji="1" lang="en-US" altLang="zh-CN" dirty="0"/>
              <a:t>unlock</a:t>
            </a:r>
            <a:r>
              <a:rPr kumimoji="1" lang="zh-CN" altLang="en-US" dirty="0"/>
              <a:t>需要加</a:t>
            </a:r>
            <a:r>
              <a:rPr kumimoji="1" lang="en-US" altLang="zh-CN" dirty="0"/>
              <a:t>barrier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1260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CN"/>
              <a:t>加</a:t>
            </a:r>
            <a:r>
              <a:rPr lang="en-US" altLang="zh-CN"/>
              <a:t>MOB</a:t>
            </a:r>
          </a:p>
          <a:p>
            <a:r>
              <a:rPr lang="zh-CN" altLang="en-US"/>
              <a:t>加语言</a:t>
            </a:r>
            <a:r>
              <a:rPr lang="en-US" altLang="zh-CN"/>
              <a:t>level</a:t>
            </a:r>
            <a:r>
              <a:rPr lang="zh-CN" altLang="en-US"/>
              <a:t>的</a:t>
            </a:r>
            <a:r>
              <a:rPr lang="en-US" altLang="zh-CN"/>
              <a:t>model</a:t>
            </a:r>
          </a:p>
          <a:p>
            <a:endParaRPr lang="en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A84A077-83E9-49A7-9F59-234D78BD6949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0853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775358"/>
            <a:ext cx="7772400" cy="1225021"/>
          </a:xfrm>
        </p:spPr>
        <p:txBody>
          <a:bodyPr>
            <a:normAutofit/>
          </a:bodyPr>
          <a:lstStyle>
            <a:lvl1pPr algn="ctr">
              <a:defRPr sz="4400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9FA25068-95BE-F84A-896E-9E89F9434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146142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lnSpc>
                <a:spcPct val="120000"/>
              </a:lnSpc>
              <a:defRPr sz="2400" b="1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>
              <a:lnSpc>
                <a:spcPct val="120000"/>
              </a:lnSpc>
              <a:defRPr sz="20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>
              <a:lnSpc>
                <a:spcPct val="120000"/>
              </a:lnSpc>
              <a:defRPr sz="1800" b="0" i="0"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-180527" y="439062"/>
            <a:ext cx="164581" cy="48005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066DE83E-C489-9340-8A6C-F2C63F8574DC}"/>
              </a:ext>
            </a:extLst>
          </p:cNvPr>
          <p:cNvSpPr/>
          <p:nvPr userDrawn="1"/>
        </p:nvSpPr>
        <p:spPr>
          <a:xfrm rot="5400000">
            <a:off x="-160702" y="599536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6608DAFC-F7CB-BF45-A12C-3E5B3C7488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/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949560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>
                <a:latin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三角形 7">
            <a:extLst>
              <a:ext uri="{FF2B5EF4-FFF2-40B4-BE49-F238E27FC236}">
                <a16:creationId xmlns:a16="http://schemas.microsoft.com/office/drawing/2014/main" id="{A8EE614D-B549-154F-943F-0F3919AB5939}"/>
              </a:ext>
            </a:extLst>
          </p:cNvPr>
          <p:cNvSpPr/>
          <p:nvPr userDrawn="1"/>
        </p:nvSpPr>
        <p:spPr>
          <a:xfrm rot="5400000">
            <a:off x="-160703" y="3920373"/>
            <a:ext cx="480280" cy="158875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 sz="1800"/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222B87CB-0BF3-3A40-9555-EFDE39840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/>
          <a:lstStyle>
            <a:lvl1pPr algn="ctr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61469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1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6962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DengXian" charset="0"/>
                <a:ea typeface="DengXian" charset="0"/>
                <a:cs typeface="DengXian" charset="0"/>
              </a:defRPr>
            </a:lvl1pPr>
          </a:lstStyle>
          <a:p>
            <a:fld id="{ADE361C3-C043-4A6E-BDCE-8DA1E7D90A3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4DC863AB-1CA3-014A-96B6-C1A16FEA03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  <a:prstGeom prst="rect">
            <a:avLst/>
          </a:prstGeom>
        </p:spPr>
        <p:txBody>
          <a:bodyPr anchor="ctr"/>
          <a:lstStyle>
            <a:lvl1pPr>
              <a:defRPr sz="110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890905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accent1"/>
          </a:solidFill>
          <a:latin typeface="+mj-lt"/>
          <a:ea typeface="+mj-ea"/>
          <a:cs typeface="微软雅黑 Light" panose="020B0502040204020203" pitchFamily="34" charset="-122"/>
        </a:defRPr>
      </a:lvl1pPr>
    </p:titleStyle>
    <p:bodyStyle>
      <a:lvl1pPr marL="342900" indent="-342900" algn="l" defTabSz="914400" rtl="0" eaLnBrk="1" latinLnBrk="0" hangingPunct="1">
        <a:lnSpc>
          <a:spcPct val="120000"/>
        </a:lnSpc>
        <a:spcBef>
          <a:spcPts val="1200"/>
        </a:spcBef>
        <a:buFont typeface="Arial" pitchFamily="34" charset="0"/>
        <a:buChar char="•"/>
        <a:defRPr sz="2600" b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1pPr>
      <a:lvl2pPr marL="742950" indent="-28575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DengXian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/4.0/legalcode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8.emf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hing.com/20120930/weak-vs-strong-memory-models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hing.com/20120930/weak-vs-strong-memory-models/" TargetMode="Externa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2C7C6228-E47F-EA4B-8DD8-28647C76DD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424268"/>
            <a:ext cx="7772400" cy="1856584"/>
          </a:xfrm>
        </p:spPr>
        <p:txBody>
          <a:bodyPr>
            <a:normAutofit/>
          </a:bodyPr>
          <a:lstStyle/>
          <a:p>
            <a:pPr algn="ctr">
              <a:lnSpc>
                <a:spcPct val="110000"/>
              </a:lnSpc>
            </a:pPr>
            <a:r>
              <a:rPr kumimoji="1" lang="zh-CN" altLang="en-US" dirty="0"/>
              <a:t>同步原语：进阶与案例</a:t>
            </a:r>
          </a:p>
        </p:txBody>
      </p:sp>
      <p:sp>
        <p:nvSpPr>
          <p:cNvPr id="6" name="副标题 5">
            <a:extLst>
              <a:ext uri="{FF2B5EF4-FFF2-40B4-BE49-F238E27FC236}">
                <a16:creationId xmlns:a16="http://schemas.microsoft.com/office/drawing/2014/main" id="{A89EB2B2-D46F-2643-A072-954E7921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12362"/>
            <a:ext cx="7772400" cy="122502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上海交通大学并行与分布式系统研究所</a:t>
            </a:r>
            <a:endParaRPr kumimoji="1" lang="en-US" altLang="zh-CN" sz="1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kumimoji="1" lang="en-US" altLang="zh-C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</a:t>
            </a:r>
            <a:r>
              <a:rPr kumimoji="1" lang="en-US" altLang="zh-CN" sz="18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ipads.se.sjtu.edu.cn</a:t>
            </a:r>
            <a:endParaRPr kumimoji="1" lang="en" altLang="zh-CN" sz="1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3A70DCB-3E4D-4449-82B8-441C200ABD6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52120" y="252561"/>
            <a:ext cx="1362088" cy="492009"/>
          </a:xfrm>
          <a:prstGeom prst="rect">
            <a:avLst/>
          </a:prstGeom>
        </p:spPr>
      </p:pic>
      <p:sp>
        <p:nvSpPr>
          <p:cNvPr id="7" name="副标题 2">
            <a:extLst>
              <a:ext uri="{FF2B5EF4-FFF2-40B4-BE49-F238E27FC236}">
                <a16:creationId xmlns:a16="http://schemas.microsoft.com/office/drawing/2014/main" id="{E2120B98-7095-B94B-B13B-75606426BFB4}"/>
              </a:ext>
            </a:extLst>
          </p:cNvPr>
          <p:cNvSpPr txBox="1">
            <a:spLocks/>
          </p:cNvSpPr>
          <p:nvPr/>
        </p:nvSpPr>
        <p:spPr>
          <a:xfrm>
            <a:off x="467544" y="252559"/>
            <a:ext cx="3240360" cy="5040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None/>
              <a:defRPr sz="2600" b="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DengXian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SE3357-1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·</a:t>
            </a:r>
            <a:r>
              <a:rPr lang="zh-CN" altLang="en-US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 操作系统（</a:t>
            </a:r>
            <a:r>
              <a:rPr lang="en-US" altLang="zh-CN" sz="1400" dirty="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2022</a:t>
            </a:r>
            <a:r>
              <a:rPr lang="zh-CN" altLang="en-US" sz="1400">
                <a:solidFill>
                  <a:srgbClr val="000000">
                    <a:lumMod val="75000"/>
                    <a:lumOff val="25000"/>
                  </a:srgbClr>
                </a:solidFill>
                <a:latin typeface="Arial" panose="020B0604020202020204"/>
              </a:rPr>
              <a:t>春）</a:t>
            </a:r>
            <a:endParaRPr lang="zh-CN" altLang="en-US" sz="1400" dirty="0">
              <a:solidFill>
                <a:srgbClr val="000000">
                  <a:lumMod val="75000"/>
                  <a:lumOff val="25000"/>
                </a:srgbClr>
              </a:solidFill>
              <a:latin typeface="Arial" panose="020B0604020202020204"/>
            </a:endParaRPr>
          </a:p>
        </p:txBody>
      </p:sp>
      <p:pic>
        <p:nvPicPr>
          <p:cNvPr id="8" name="Picture 6" descr="http://korean.onlinesjtu.com/%E6%A0%A1%E5%BE%BD%E7%B3%BB%E5%88%97/%E7%BC%A9%E5%B0%8F%E7%89%88/%E8%93%9D%E8%89%B2%E7%B3%BB%20%E5%B0%8F%E5%B0%BA%E5%AF%B8%E6%A0%A1%E5%BE%BD%E5%B1%95%E5%BC%80%E5%BC%8F%20(10mm%E4%BB%A5%E4%B8%8B%E4%BD%BF%E7%94%A8)%20%5b%E8%BD%AC%E6%8D%A2%5d.png">
            <a:extLst>
              <a:ext uri="{FF2B5EF4-FFF2-40B4-BE49-F238E27FC236}">
                <a16:creationId xmlns:a16="http://schemas.microsoft.com/office/drawing/2014/main" id="{9D0C1772-9C9E-534B-9410-16BA28CA6E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8" y="282539"/>
            <a:ext cx="1642840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806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26"/>
    </mc:Choice>
    <mc:Fallback xmlns="">
      <p:transition spd="slow" advTm="1162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BE39C2-86D1-9B45-B569-48F1570E5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>
                <a:latin typeface="+mn-lt"/>
              </a:rPr>
              <a:t>版权声明</a:t>
            </a:r>
            <a:endParaRPr kumimoji="1" lang="zh-CN" altLang="en-US" dirty="0">
              <a:latin typeface="+mn-lt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95B3383-B219-984C-8D0C-BCF076655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b="0">
                <a:latin typeface="+mn-lt"/>
              </a:rPr>
              <a:t>本内容版权归</a:t>
            </a:r>
            <a:r>
              <a:rPr lang="zh-CN" altLang="en-US" sz="2000">
                <a:latin typeface="+mn-lt"/>
              </a:rPr>
              <a:t>上海交通大学并行与分布式系统研究所</a:t>
            </a:r>
            <a:r>
              <a:rPr lang="zh-CN" altLang="en-US" sz="2000" b="0">
                <a:latin typeface="+mn-lt"/>
              </a:rPr>
              <a:t>所有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使用者可以将全部或部分本内容免费用于非商业用途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使用者在使用全部或部分本内容时请注明来源：</a:t>
            </a:r>
            <a:endParaRPr lang="en-US" altLang="zh-CN" sz="2000" b="0">
              <a:latin typeface="+mn-lt"/>
            </a:endParaRPr>
          </a:p>
          <a:p>
            <a:pPr lvl="1"/>
            <a:r>
              <a:rPr lang="zh-CN" altLang="en-US" sz="1600"/>
              <a:t>内容来自：上海交通大学并行与分布式系统研究所</a:t>
            </a:r>
            <a:r>
              <a:rPr lang="en-US" altLang="zh-CN" sz="1600"/>
              <a:t>+</a:t>
            </a:r>
            <a:r>
              <a:rPr lang="zh-CN" altLang="en-US" sz="1600"/>
              <a:t>材料名字</a:t>
            </a:r>
            <a:endParaRPr lang="en-US" altLang="zh-CN" sz="1600"/>
          </a:p>
          <a:p>
            <a:r>
              <a:rPr lang="zh-CN" altLang="en-US" sz="2000" b="0">
                <a:latin typeface="+mn-lt"/>
              </a:rPr>
              <a:t>对于不遵守此声明或者其他违法使用本内容者，将依法保留追究权</a:t>
            </a:r>
            <a:endParaRPr lang="en-US" altLang="zh-CN" sz="2000" b="0">
              <a:latin typeface="+mn-lt"/>
            </a:endParaRPr>
          </a:p>
          <a:p>
            <a:r>
              <a:rPr lang="zh-CN" altLang="en-US" sz="2000" b="0">
                <a:latin typeface="+mn-lt"/>
              </a:rPr>
              <a:t>本内容的发布采用 </a:t>
            </a:r>
            <a:r>
              <a:rPr lang="en-US" altLang="zh-CN" sz="2000" b="0">
                <a:latin typeface="+mn-lt"/>
              </a:rPr>
              <a:t>Creative Commons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Attribution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4.0</a:t>
            </a:r>
            <a:r>
              <a:rPr lang="zh-CN" altLang="en-US" sz="2000" b="0">
                <a:latin typeface="+mn-lt"/>
              </a:rPr>
              <a:t> </a:t>
            </a:r>
            <a:r>
              <a:rPr lang="en-US" altLang="zh-CN" sz="2000" b="0">
                <a:latin typeface="+mn-lt"/>
              </a:rPr>
              <a:t>License</a:t>
            </a:r>
            <a:endParaRPr lang="en-US" altLang="zh-CN" sz="2400" b="0">
              <a:latin typeface="+mn-lt"/>
            </a:endParaRPr>
          </a:p>
          <a:p>
            <a:pPr lvl="1"/>
            <a:r>
              <a:rPr lang="zh-CN" altLang="en-US" sz="1600">
                <a:latin typeface="+mn-lt"/>
              </a:rPr>
              <a:t>完整文本：</a:t>
            </a:r>
            <a:r>
              <a:rPr lang="en-US" altLang="zh-CN" sz="1600">
                <a:latin typeface="+mn-lt"/>
                <a:hlinkClick r:id="rId2"/>
              </a:rPr>
              <a:t>https://creativecommons.org/licenses/by/4.0/legalcode</a:t>
            </a:r>
            <a:endParaRPr lang="en-US" altLang="zh-CN" sz="1800" b="0">
              <a:latin typeface="+mn-lt"/>
            </a:endParaRPr>
          </a:p>
          <a:p>
            <a:endParaRPr kumimoji="1" lang="zh-CN" altLang="en-US" sz="2000" dirty="0">
              <a:latin typeface="+mn-lt"/>
            </a:endParaRPr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E75993-6B82-2A4E-883D-B9872C5016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631C19-1DB9-AE41-9EC0-88F4B3A93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2267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A777-CB92-704F-BC5A-7D281ECC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 dirty="0"/>
              <a:t>非</a:t>
            </a:r>
            <a:r>
              <a:rPr lang="zh-CN" altLang="en-US" dirty="0"/>
              <a:t>一致内存访问（</a:t>
            </a:r>
            <a:r>
              <a:rPr lang="en-US" altLang="zh-CN" dirty="0"/>
              <a:t>NUMA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14D1A-03F6-024F-803A-A27F6E1C6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CD33F-70C0-E640-8329-1AC57B0C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5649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BAD0C-9E7F-8841-94EB-B6310BF46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532094" cy="900442"/>
          </a:xfrm>
        </p:spPr>
        <p:txBody>
          <a:bodyPr/>
          <a:lstStyle/>
          <a:p>
            <a:r>
              <a:rPr lang="zh-CN" altLang="en-US"/>
              <a:t>互斥锁微基准测试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2CE36-1AC9-764E-8C54-E7428FA190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302DDF-C10F-5A45-9775-1CA8634C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59AED6-9E66-CF45-A90B-BF373B3EF182}"/>
              </a:ext>
            </a:extLst>
          </p:cNvPr>
          <p:cNvSpPr/>
          <p:nvPr/>
        </p:nvSpPr>
        <p:spPr>
          <a:xfrm>
            <a:off x="642392" y="1140730"/>
            <a:ext cx="816171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" pitchFamily="2" charset="0"/>
              </a:rPr>
              <a:t>struct lock *</a:t>
            </a:r>
            <a:r>
              <a:rPr lang="en-US" altLang="zh-CN" dirty="0" err="1">
                <a:latin typeface="Courier" pitchFamily="2" charset="0"/>
              </a:rPr>
              <a:t>glock</a:t>
            </a:r>
            <a:r>
              <a:rPr lang="en-US" altLang="zh-CN" dirty="0">
                <a:latin typeface="Courier" pitchFamily="2" charset="0"/>
              </a:rPr>
              <a:t>;</a:t>
            </a:r>
          </a:p>
          <a:p>
            <a:r>
              <a:rPr lang="en-US" altLang="zh-CN" dirty="0">
                <a:latin typeface="Courier" pitchFamily="2" charset="0"/>
              </a:rPr>
              <a:t>unsigned long	 </a:t>
            </a:r>
            <a:r>
              <a:rPr lang="en-US" altLang="zh-CN" dirty="0" err="1">
                <a:latin typeface="Courier" pitchFamily="2" charset="0"/>
              </a:rPr>
              <a:t>gcnt</a:t>
            </a:r>
            <a:r>
              <a:rPr lang="en-US" altLang="zh-CN" dirty="0">
                <a:latin typeface="Courier" pitchFamily="2" charset="0"/>
              </a:rPr>
              <a:t> = 0;</a:t>
            </a:r>
          </a:p>
          <a:p>
            <a:r>
              <a:rPr lang="en-US" altLang="zh-CN" dirty="0">
                <a:latin typeface="Courier" pitchFamily="2" charset="0"/>
              </a:rPr>
              <a:t>char </a:t>
            </a:r>
            <a:r>
              <a:rPr lang="en-US" altLang="zh-CN" dirty="0" err="1">
                <a:latin typeface="Courier" pitchFamily="2" charset="0"/>
              </a:rPr>
              <a:t>shared_data</a:t>
            </a:r>
            <a:r>
              <a:rPr lang="en-US" altLang="zh-CN" dirty="0">
                <a:latin typeface="Courier" pitchFamily="2" charset="0"/>
              </a:rPr>
              <a:t>[CACHE_LINE_SIZE </a:t>
            </a:r>
            <a:r>
              <a:rPr lang="en-US" altLang="zh-CN" dirty="0">
                <a:solidFill>
                  <a:schemeClr val="accent1"/>
                </a:solidFill>
                <a:highlight>
                  <a:srgbClr val="FFFF00"/>
                </a:highlight>
                <a:latin typeface="Courier" pitchFamily="2" charset="0"/>
              </a:rPr>
              <a:t>* 10</a:t>
            </a:r>
            <a:r>
              <a:rPr lang="en-US" altLang="zh-CN" dirty="0">
                <a:latin typeface="Courier" pitchFamily="2" charset="0"/>
              </a:rPr>
              <a:t>];</a:t>
            </a:r>
          </a:p>
          <a:p>
            <a:r>
              <a:rPr lang="en-US" altLang="zh-CN" dirty="0">
                <a:solidFill>
                  <a:srgbClr val="00B050"/>
                </a:solidFill>
                <a:latin typeface="Courier" pitchFamily="2" charset="0"/>
              </a:rPr>
              <a:t>void</a:t>
            </a:r>
            <a:r>
              <a:rPr lang="en-US" altLang="zh-CN" dirty="0">
                <a:latin typeface="Courier" pitchFamily="2" charset="0"/>
              </a:rPr>
              <a:t> *</a:t>
            </a:r>
            <a:r>
              <a:rPr lang="en-US" altLang="zh-CN" dirty="0" err="1">
                <a:solidFill>
                  <a:srgbClr val="FF2F92"/>
                </a:solidFill>
                <a:latin typeface="Courier" pitchFamily="2" charset="0"/>
              </a:rPr>
              <a:t>thread_routine</a:t>
            </a:r>
            <a:r>
              <a:rPr lang="en-US" altLang="zh-CN" dirty="0">
                <a:latin typeface="Courier" pitchFamily="2" charset="0"/>
              </a:rPr>
              <a:t>(</a:t>
            </a:r>
            <a:r>
              <a:rPr lang="en-US" altLang="zh-CN" dirty="0">
                <a:solidFill>
                  <a:srgbClr val="00B050"/>
                </a:solidFill>
                <a:latin typeface="Courier" pitchFamily="2" charset="0"/>
              </a:rPr>
              <a:t>void *</a:t>
            </a:r>
            <a:r>
              <a:rPr lang="en-US" altLang="zh-CN" dirty="0" err="1">
                <a:solidFill>
                  <a:srgbClr val="00B050"/>
                </a:solidFill>
                <a:latin typeface="Courier" pitchFamily="2" charset="0"/>
              </a:rPr>
              <a:t>arg</a:t>
            </a:r>
            <a:r>
              <a:rPr lang="en-US" altLang="zh-CN" dirty="0">
                <a:latin typeface="Courier" pitchFamily="2" charset="0"/>
              </a:rPr>
              <a:t>) {</a:t>
            </a:r>
          </a:p>
          <a:p>
            <a:r>
              <a:rPr lang="en-US" dirty="0">
                <a:latin typeface="Courier" pitchFamily="2" charset="0"/>
              </a:rPr>
              <a:t>	while(1) {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>
                <a:solidFill>
                  <a:srgbClr val="FF2F92"/>
                </a:solidFill>
                <a:latin typeface="Courier" pitchFamily="2" charset="0"/>
              </a:rPr>
              <a:t>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glock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/* Critical Section */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 err="1">
                <a:latin typeface="Courier" pitchFamily="2" charset="0"/>
              </a:rPr>
              <a:t>gcnt</a:t>
            </a:r>
            <a:r>
              <a:rPr lang="en-US" dirty="0">
                <a:latin typeface="Courier" pitchFamily="2" charset="0"/>
              </a:rPr>
              <a:t> = </a:t>
            </a:r>
            <a:r>
              <a:rPr lang="en-US" dirty="0" err="1">
                <a:latin typeface="Courier" pitchFamily="2" charset="0"/>
              </a:rPr>
              <a:t>gcnt</a:t>
            </a:r>
            <a:r>
              <a:rPr lang="en-US" dirty="0">
                <a:latin typeface="Courier" pitchFamily="2" charset="0"/>
              </a:rPr>
              <a:t> + 1;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/* Read Modify Write </a:t>
            </a:r>
            <a:r>
              <a:rPr lang="en-US" dirty="0">
                <a:solidFill>
                  <a:schemeClr val="accent1"/>
                </a:solidFill>
                <a:latin typeface="Courier" pitchFamily="2" charset="0"/>
              </a:rPr>
              <a:t>10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 * shared </a:t>
            </a:r>
            <a:r>
              <a:rPr lang="en-US" dirty="0" err="1">
                <a:solidFill>
                  <a:srgbClr val="0070C0"/>
                </a:solidFill>
                <a:latin typeface="Courier" pitchFamily="2" charset="0"/>
              </a:rPr>
              <a:t>cacheline</a:t>
            </a:r>
            <a:r>
              <a:rPr lang="en-US" dirty="0">
                <a:solidFill>
                  <a:srgbClr val="0070C0"/>
                </a:solidFill>
                <a:latin typeface="Courier" pitchFamily="2" charset="0"/>
              </a:rPr>
              <a:t> */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 err="1">
                <a:latin typeface="Courier" pitchFamily="2" charset="0"/>
              </a:rPr>
              <a:t>visit_shared_data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shared_data</a:t>
            </a:r>
            <a:r>
              <a:rPr lang="en-US" dirty="0">
                <a:latin typeface="Courier" pitchFamily="2" charset="0"/>
              </a:rPr>
              <a:t>, </a:t>
            </a:r>
            <a:r>
              <a:rPr lang="en-US" dirty="0">
                <a:solidFill>
                  <a:schemeClr val="accent1"/>
                </a:solidFill>
                <a:highlight>
                  <a:srgbClr val="FFFF00"/>
                </a:highlight>
                <a:latin typeface="Courier" pitchFamily="2" charset="0"/>
              </a:rPr>
              <a:t>10</a:t>
            </a:r>
            <a:r>
              <a:rPr lang="en-US" dirty="0">
                <a:latin typeface="Courier" pitchFamily="2" charset="0"/>
              </a:rPr>
              <a:t>);</a:t>
            </a:r>
          </a:p>
          <a:p>
            <a:r>
              <a:rPr lang="en-US" dirty="0">
                <a:latin typeface="Courier" pitchFamily="2" charset="0"/>
              </a:rPr>
              <a:t>		</a:t>
            </a:r>
            <a:r>
              <a:rPr lang="en-US" dirty="0">
                <a:solidFill>
                  <a:srgbClr val="FF2F92"/>
                </a:solidFill>
                <a:latin typeface="Courier" pitchFamily="2" charset="0"/>
              </a:rPr>
              <a:t>unlock</a:t>
            </a:r>
            <a:r>
              <a:rPr lang="en-US" dirty="0">
                <a:latin typeface="Courier" pitchFamily="2" charset="0"/>
              </a:rPr>
              <a:t>(</a:t>
            </a:r>
            <a:r>
              <a:rPr lang="en-US" dirty="0" err="1">
                <a:latin typeface="Courier" pitchFamily="2" charset="0"/>
              </a:rPr>
              <a:t>glock</a:t>
            </a:r>
            <a:r>
              <a:rPr lang="en-US" dirty="0">
                <a:latin typeface="Courier" pitchFamily="2" charset="0"/>
              </a:rPr>
              <a:t>);</a:t>
            </a:r>
            <a:endParaRPr lang="en-US" dirty="0">
              <a:solidFill>
                <a:srgbClr val="0070C0"/>
              </a:solidFill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		interval();</a:t>
            </a:r>
          </a:p>
          <a:p>
            <a:r>
              <a:rPr lang="en-US" dirty="0">
                <a:latin typeface="Courier" pitchFamily="2" charset="0"/>
              </a:rPr>
              <a:t>	}</a:t>
            </a:r>
          </a:p>
          <a:p>
            <a:r>
              <a:rPr lang="en-US" dirty="0">
                <a:latin typeface="Courier" pitchFamily="2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2E8F71-D558-D644-B642-A1D87B73B88F}"/>
              </a:ext>
            </a:extLst>
          </p:cNvPr>
          <p:cNvSpPr txBox="1"/>
          <p:nvPr/>
        </p:nvSpPr>
        <p:spPr>
          <a:xfrm>
            <a:off x="6444208" y="1140730"/>
            <a:ext cx="2242592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CN"/>
              <a:t>在临界区</a:t>
            </a:r>
            <a:r>
              <a:rPr lang="zh-CN" altLang="en-US"/>
              <a:t>访问更多缓存行，是否会影响</a:t>
            </a:r>
            <a:r>
              <a:rPr lang="en-US" altLang="zh-CN"/>
              <a:t>mcs</a:t>
            </a:r>
            <a:r>
              <a:rPr lang="zh-CN" altLang="en-US"/>
              <a:t>锁的可扩展性？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4423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DA7F-F9D6-AF45-9B0B-C46B766F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MCS</a:t>
            </a:r>
            <a:r>
              <a:rPr lang="zh-CN" altLang="en-CN" dirty="0"/>
              <a:t>锁</a:t>
            </a:r>
            <a:r>
              <a:rPr lang="zh-CN" altLang="en-US" dirty="0"/>
              <a:t>在</a:t>
            </a:r>
            <a:r>
              <a:rPr lang="en-US" altLang="zh-CN" dirty="0"/>
              <a:t>NUMA</a:t>
            </a:r>
            <a:r>
              <a:rPr lang="zh-CN" altLang="en-US" dirty="0"/>
              <a:t>上的表现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9C3BC-7A82-1347-8DF1-B5DA25B1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BACD-1B8E-D64F-BD99-0DE2E3CB8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533BCB-73F5-9B40-A4FB-CF0B2ADC2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057300"/>
            <a:ext cx="5917871" cy="394524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849B3A3-2B00-A54E-AF7D-0583138BC41F}"/>
              </a:ext>
            </a:extLst>
          </p:cNvPr>
          <p:cNvSpPr txBox="1"/>
          <p:nvPr/>
        </p:nvSpPr>
        <p:spPr>
          <a:xfrm>
            <a:off x="683568" y="4720339"/>
            <a:ext cx="22672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华为</a:t>
            </a:r>
            <a:r>
              <a:rPr lang="zh-CN" altLang="en-CN" sz="1600" b="1" dirty="0"/>
              <a:t>鲲鹏服务器</a:t>
            </a:r>
            <a:endParaRPr lang="en-CN" sz="16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9DBFD2-88F2-E647-8034-C363F9A08836}"/>
              </a:ext>
            </a:extLst>
          </p:cNvPr>
          <p:cNvSpPr/>
          <p:nvPr/>
        </p:nvSpPr>
        <p:spPr>
          <a:xfrm>
            <a:off x="6134584" y="2565217"/>
            <a:ext cx="27238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与之前测试有两点不同：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0E492-25E7-0A46-A3E6-5A2E333BDA63}"/>
              </a:ext>
            </a:extLst>
          </p:cNvPr>
          <p:cNvSpPr/>
          <p:nvPr/>
        </p:nvSpPr>
        <p:spPr>
          <a:xfrm>
            <a:off x="6313520" y="3033528"/>
            <a:ext cx="2365953" cy="17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临界区访问共享缓存行数量 </a:t>
            </a:r>
            <a:r>
              <a:rPr lang="en-US" altLang="zh-CN" dirty="0"/>
              <a:t>1 =&gt;10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dirty="0"/>
              <a:t>测试核心数扩大到</a:t>
            </a:r>
            <a:r>
              <a:rPr lang="en-US" altLang="zh-CN" dirty="0"/>
              <a:t>64</a:t>
            </a:r>
            <a:r>
              <a:rPr lang="zh-CN" altLang="en-US" dirty="0"/>
              <a:t>个核心</a:t>
            </a:r>
            <a:endParaRPr lang="en-C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BDC1F00-4ECD-5149-9B42-7FD400D4F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9080" y="256356"/>
            <a:ext cx="2700299" cy="18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947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FE6A-AE15-9D46-998F-0D17AFBC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鲲鹏服务器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3E9ECD-4966-AD4E-AF2B-6CD3716C0A42}"/>
              </a:ext>
            </a:extLst>
          </p:cNvPr>
          <p:cNvSpPr/>
          <p:nvPr/>
        </p:nvSpPr>
        <p:spPr>
          <a:xfrm>
            <a:off x="2863840" y="5017740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常见于多处理器（多插槽）机器</a:t>
            </a:r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9D02C-B1CE-3346-B7FD-3E78779E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057300"/>
            <a:ext cx="3831734" cy="3217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A5E042-F33F-D543-AA89-99C655E4D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87" y="2086780"/>
            <a:ext cx="1224136" cy="708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FC384D-125B-2749-BDA0-903F172AC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044252"/>
            <a:ext cx="708710" cy="7087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B62522-9844-5747-B624-AEAEDEBB2AFD}"/>
              </a:ext>
            </a:extLst>
          </p:cNvPr>
          <p:cNvSpPr/>
          <p:nvPr/>
        </p:nvSpPr>
        <p:spPr>
          <a:xfrm>
            <a:off x="4437427" y="4323763"/>
            <a:ext cx="3236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华为鲲鹏服务器（</a:t>
            </a:r>
            <a:r>
              <a:rPr lang="en-US" altLang="zh-CN"/>
              <a:t>ARM</a:t>
            </a:r>
            <a:r>
              <a:rPr lang="zh-CN" altLang="en-US"/>
              <a:t>架构）</a:t>
            </a:r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2298A7-6787-7E4F-8EF5-A747C1FE6888}"/>
              </a:ext>
            </a:extLst>
          </p:cNvPr>
          <p:cNvSpPr/>
          <p:nvPr/>
        </p:nvSpPr>
        <p:spPr>
          <a:xfrm>
            <a:off x="4671067" y="1561356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9D00E1-7DEA-5943-ADB8-E163F93470E5}"/>
              </a:ext>
            </a:extLst>
          </p:cNvPr>
          <p:cNvSpPr/>
          <p:nvPr/>
        </p:nvSpPr>
        <p:spPr>
          <a:xfrm>
            <a:off x="4671067" y="3043164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3AAEB-B84C-034C-912A-4A714D4C543B}"/>
              </a:ext>
            </a:extLst>
          </p:cNvPr>
          <p:cNvCxnSpPr>
            <a:stCxn id="11" idx="2"/>
          </p:cNvCxnSpPr>
          <p:nvPr/>
        </p:nvCxnSpPr>
        <p:spPr>
          <a:xfrm flipH="1" flipV="1">
            <a:off x="2863840" y="1453953"/>
            <a:ext cx="1807227" cy="611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D7A99C-98AB-CC4C-9D5D-1627AB70BE21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2863840" y="1561356"/>
            <a:ext cx="1807227" cy="198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79BF2-0063-EA4A-A795-6DD42B559BE2}"/>
              </a:ext>
            </a:extLst>
          </p:cNvPr>
          <p:cNvSpPr/>
          <p:nvPr/>
        </p:nvSpPr>
        <p:spPr>
          <a:xfrm>
            <a:off x="1260629" y="1269287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zh-CN" altLang="en-US"/>
              <a:t>*</a:t>
            </a:r>
            <a:r>
              <a:rPr lang="zh-CN" altLang="en-CN"/>
              <a:t>处理器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7AE3-501F-0444-AEFF-C7DDAF3B9C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2DE937-3926-654B-9953-FC7C9C6A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78280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FE6A-AE15-9D46-998F-0D17AFBC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鲲鹏服务器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83E9ECD-4966-AD4E-AF2B-6CD3716C0A42}"/>
              </a:ext>
            </a:extLst>
          </p:cNvPr>
          <p:cNvSpPr/>
          <p:nvPr/>
        </p:nvSpPr>
        <p:spPr>
          <a:xfrm>
            <a:off x="2863840" y="5017740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常见于多处理器（多插槽）机器</a:t>
            </a:r>
            <a:endParaRPr lang="en-C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19D02C-B1CE-3346-B7FD-3E78779E9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9952" y="1057300"/>
            <a:ext cx="3831734" cy="32175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1A5E042-F33F-D543-AA89-99C655E4D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287" y="2086780"/>
            <a:ext cx="1224136" cy="70871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FC384D-125B-2749-BDA0-903F172ACF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200" y="3044252"/>
            <a:ext cx="708710" cy="70871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CB62522-9844-5747-B624-AEAEDEBB2AFD}"/>
              </a:ext>
            </a:extLst>
          </p:cNvPr>
          <p:cNvSpPr/>
          <p:nvPr/>
        </p:nvSpPr>
        <p:spPr>
          <a:xfrm>
            <a:off x="4437427" y="4323763"/>
            <a:ext cx="3236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华为鲲鹏服务器（</a:t>
            </a:r>
            <a:r>
              <a:rPr lang="en-US" altLang="zh-CN"/>
              <a:t>ARM</a:t>
            </a:r>
            <a:r>
              <a:rPr lang="zh-CN" altLang="en-US"/>
              <a:t>架构）</a:t>
            </a:r>
            <a:endParaRPr lang="en-C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52298A7-6787-7E4F-8EF5-A747C1FE6888}"/>
              </a:ext>
            </a:extLst>
          </p:cNvPr>
          <p:cNvSpPr/>
          <p:nvPr/>
        </p:nvSpPr>
        <p:spPr>
          <a:xfrm>
            <a:off x="4671067" y="1561356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49D00E1-7DEA-5943-ADB8-E163F93470E5}"/>
              </a:ext>
            </a:extLst>
          </p:cNvPr>
          <p:cNvSpPr/>
          <p:nvPr/>
        </p:nvSpPr>
        <p:spPr>
          <a:xfrm>
            <a:off x="4671067" y="3043164"/>
            <a:ext cx="1008112" cy="100811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03AAEB-B84C-034C-912A-4A714D4C543B}"/>
              </a:ext>
            </a:extLst>
          </p:cNvPr>
          <p:cNvCxnSpPr>
            <a:stCxn id="11" idx="2"/>
          </p:cNvCxnSpPr>
          <p:nvPr/>
        </p:nvCxnSpPr>
        <p:spPr>
          <a:xfrm flipH="1" flipV="1">
            <a:off x="2863840" y="1453953"/>
            <a:ext cx="1807227" cy="611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FD7A99C-98AB-CC4C-9D5D-1627AB70BE21}"/>
              </a:ext>
            </a:extLst>
          </p:cNvPr>
          <p:cNvCxnSpPr>
            <a:cxnSpLocks/>
            <a:stCxn id="12" idx="2"/>
          </p:cNvCxnSpPr>
          <p:nvPr/>
        </p:nvCxnSpPr>
        <p:spPr>
          <a:xfrm flipH="1" flipV="1">
            <a:off x="2863840" y="1561356"/>
            <a:ext cx="1807227" cy="19858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49A79BF2-0063-EA4A-A795-6DD42B559BE2}"/>
              </a:ext>
            </a:extLst>
          </p:cNvPr>
          <p:cNvSpPr/>
          <p:nvPr/>
        </p:nvSpPr>
        <p:spPr>
          <a:xfrm>
            <a:off x="1260629" y="1269287"/>
            <a:ext cx="1095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2</a:t>
            </a:r>
            <a:r>
              <a:rPr lang="zh-CN" altLang="en-US"/>
              <a:t>*</a:t>
            </a:r>
            <a:r>
              <a:rPr lang="zh-CN" altLang="en-CN"/>
              <a:t>处理器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7D8E2A2-9159-244A-BCB3-66F0BCDB896A}"/>
              </a:ext>
            </a:extLst>
          </p:cNvPr>
          <p:cNvSpPr/>
          <p:nvPr/>
        </p:nvSpPr>
        <p:spPr>
          <a:xfrm>
            <a:off x="4342373" y="1395361"/>
            <a:ext cx="1323203" cy="4143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38678CE-C243-8A4A-A2A3-AAB7726FB956}"/>
              </a:ext>
            </a:extLst>
          </p:cNvPr>
          <p:cNvSpPr/>
          <p:nvPr/>
        </p:nvSpPr>
        <p:spPr>
          <a:xfrm>
            <a:off x="4328804" y="2302638"/>
            <a:ext cx="1323203" cy="4143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CA2317B-709A-CD43-B6F9-94863E28A980}"/>
              </a:ext>
            </a:extLst>
          </p:cNvPr>
          <p:cNvSpPr/>
          <p:nvPr/>
        </p:nvSpPr>
        <p:spPr>
          <a:xfrm>
            <a:off x="4364354" y="2875728"/>
            <a:ext cx="1323203" cy="4143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AAC44C-A90C-9145-8E79-B2B05F593B1D}"/>
              </a:ext>
            </a:extLst>
          </p:cNvPr>
          <p:cNvSpPr/>
          <p:nvPr/>
        </p:nvSpPr>
        <p:spPr>
          <a:xfrm>
            <a:off x="4364354" y="3844101"/>
            <a:ext cx="1323203" cy="41435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A80DD5-8A91-5C42-BDB8-791AF1DF05AD}"/>
              </a:ext>
            </a:extLst>
          </p:cNvPr>
          <p:cNvCxnSpPr>
            <a:cxnSpLocks/>
            <a:stCxn id="21" idx="1"/>
          </p:cNvCxnSpPr>
          <p:nvPr/>
        </p:nvCxnSpPr>
        <p:spPr>
          <a:xfrm flipH="1">
            <a:off x="2555776" y="1602536"/>
            <a:ext cx="1786597" cy="183102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F913AE5-22FC-064D-9000-C3FF1ECF91CC}"/>
              </a:ext>
            </a:extLst>
          </p:cNvPr>
          <p:cNvCxnSpPr>
            <a:cxnSpLocks/>
          </p:cNvCxnSpPr>
          <p:nvPr/>
        </p:nvCxnSpPr>
        <p:spPr>
          <a:xfrm flipH="1">
            <a:off x="2699792" y="2569468"/>
            <a:ext cx="1629014" cy="864096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E405B5F-AA6E-4045-BA66-26CC835D09CE}"/>
              </a:ext>
            </a:extLst>
          </p:cNvPr>
          <p:cNvCxnSpPr>
            <a:cxnSpLocks/>
            <a:stCxn id="23" idx="1"/>
          </p:cNvCxnSpPr>
          <p:nvPr/>
        </p:nvCxnSpPr>
        <p:spPr>
          <a:xfrm flipH="1">
            <a:off x="2699792" y="3082903"/>
            <a:ext cx="1664562" cy="46431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60265E0-3687-3842-8270-C4851E63896C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2699792" y="3649588"/>
            <a:ext cx="1664562" cy="401688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CB7CBB9-200E-5A4D-93B3-230DBC23F530}"/>
              </a:ext>
            </a:extLst>
          </p:cNvPr>
          <p:cNvSpPr/>
          <p:nvPr/>
        </p:nvSpPr>
        <p:spPr>
          <a:xfrm>
            <a:off x="1334551" y="3322959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内存条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C0152-7666-614D-B465-4436A11DB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81421-0836-E240-AA9D-EB59184B9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806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CFE6A-AE15-9D46-998F-0D17AFBC2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非一致</a:t>
            </a:r>
            <a:r>
              <a:rPr lang="zh-CN" altLang="en-US"/>
              <a:t>内存访问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36119F-2C27-C94C-A610-12A6D50B14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592" y="1420825"/>
            <a:ext cx="7259884" cy="28733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583E9ECD-4966-AD4E-AF2B-6CD3716C0A42}"/>
              </a:ext>
            </a:extLst>
          </p:cNvPr>
          <p:cNvSpPr/>
          <p:nvPr/>
        </p:nvSpPr>
        <p:spPr>
          <a:xfrm>
            <a:off x="251520" y="4890308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常见于多处理器（多插槽）机器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A6D9A01-37CF-9E43-B849-81CBD8E6BA26}"/>
              </a:ext>
            </a:extLst>
          </p:cNvPr>
          <p:cNvSpPr/>
          <p:nvPr/>
        </p:nvSpPr>
        <p:spPr>
          <a:xfrm>
            <a:off x="2013460" y="4435936"/>
            <a:ext cx="50321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避免单内存控制器成为瓶颈，减少内存访问距离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C2306-6025-FB4A-99B9-5AEE76785839}"/>
              </a:ext>
            </a:extLst>
          </p:cNvPr>
          <p:cNvSpPr/>
          <p:nvPr/>
        </p:nvSpPr>
        <p:spPr>
          <a:xfrm>
            <a:off x="3667840" y="4890308"/>
            <a:ext cx="5357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单处理器众核系统也有可能使用，如</a:t>
            </a:r>
            <a:r>
              <a:rPr lang="en-US" altLang="zh-CN" dirty="0"/>
              <a:t>Intel Xeon Phi</a:t>
            </a:r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926D3F-B645-BE41-B87F-128ADFC29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CE566C-6775-F34A-8E19-1A0BA0EE6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4693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6AD-0241-CB43-AD2D-8E167E7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Intel</a:t>
            </a:r>
            <a:r>
              <a:rPr lang="zh-CN" altLang="en-CN"/>
              <a:t>与</a:t>
            </a:r>
            <a:r>
              <a:rPr lang="en-US" altLang="zh-CN"/>
              <a:t>AMD</a:t>
            </a:r>
            <a:r>
              <a:rPr lang="zh-CN" altLang="en-US"/>
              <a:t>的</a:t>
            </a:r>
            <a:r>
              <a:rPr lang="en-US" altLang="zh-CN"/>
              <a:t>NUMA</a:t>
            </a:r>
            <a:r>
              <a:rPr lang="zh-CN" altLang="en-US"/>
              <a:t>系统架构与特性</a:t>
            </a:r>
            <a:endParaRPr lang="en-C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1BC6B1-34EE-2F44-A7C8-ED435197A3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1494491"/>
            <a:ext cx="3384376" cy="2659153"/>
          </a:xfrm>
          <a:prstGeom prst="rect">
            <a:avLst/>
          </a:prstGeom>
        </p:spPr>
      </p:pic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49189805-120C-A942-8813-B3E202202A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0376" y="1531205"/>
            <a:ext cx="3393291" cy="24834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DF505B0-987B-AE40-ABA7-54BCFC312CC0}"/>
              </a:ext>
            </a:extLst>
          </p:cNvPr>
          <p:cNvSpPr txBox="1"/>
          <p:nvPr/>
        </p:nvSpPr>
        <p:spPr>
          <a:xfrm>
            <a:off x="380020" y="4513684"/>
            <a:ext cx="3538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latin typeface="Courier" pitchFamily="2" charset="0"/>
              </a:rPr>
              <a:t>Intel</a:t>
            </a:r>
            <a:r>
              <a:rPr lang="zh-CN" altLang="en-CN" dirty="0">
                <a:latin typeface="Courier" pitchFamily="2" charset="0"/>
              </a:rPr>
              <a:t>与</a:t>
            </a:r>
            <a:r>
              <a:rPr lang="en-US" altLang="zh-CN" dirty="0">
                <a:latin typeface="Courier" pitchFamily="2" charset="0"/>
              </a:rPr>
              <a:t>AMD</a:t>
            </a:r>
            <a:r>
              <a:rPr lang="zh-CN" altLang="en-US" dirty="0">
                <a:latin typeface="Courier" pitchFamily="2" charset="0"/>
              </a:rPr>
              <a:t>多插槽</a:t>
            </a:r>
            <a:r>
              <a:rPr lang="en-US" altLang="zh-CN" dirty="0">
                <a:latin typeface="Courier" pitchFamily="2" charset="0"/>
              </a:rPr>
              <a:t>NUMA</a:t>
            </a:r>
            <a:r>
              <a:rPr lang="zh-CN" altLang="en-US" dirty="0">
                <a:latin typeface="Courier" pitchFamily="2" charset="0"/>
              </a:rPr>
              <a:t>架构</a:t>
            </a:r>
            <a:endParaRPr lang="en-CN">
              <a:latin typeface="Courier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7A485-D7F3-1242-9034-CAA783357E25}"/>
              </a:ext>
            </a:extLst>
          </p:cNvPr>
          <p:cNvSpPr txBox="1"/>
          <p:nvPr/>
        </p:nvSpPr>
        <p:spPr>
          <a:xfrm>
            <a:off x="4572000" y="4513684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latin typeface="Courier" pitchFamily="2" charset="0"/>
              </a:rPr>
              <a:t>Intel</a:t>
            </a:r>
            <a:r>
              <a:rPr lang="zh-CN" altLang="en-CN">
                <a:latin typeface="Courier" pitchFamily="2" charset="0"/>
              </a:rPr>
              <a:t>与</a:t>
            </a:r>
            <a:r>
              <a:rPr lang="en-US" altLang="zh-CN">
                <a:latin typeface="Courier" pitchFamily="2" charset="0"/>
              </a:rPr>
              <a:t>AMD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NUMA</a:t>
            </a:r>
            <a:r>
              <a:rPr lang="zh-CN" altLang="en-US">
                <a:latin typeface="Courier" pitchFamily="2" charset="0"/>
              </a:rPr>
              <a:t>访存时延特性</a:t>
            </a:r>
            <a:endParaRPr lang="en-CN">
              <a:latin typeface="Courier" pitchFamily="2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F0A6CD-1EFD-3044-AC86-33934FA31CC3}"/>
              </a:ext>
            </a:extLst>
          </p:cNvPr>
          <p:cNvCxnSpPr>
            <a:cxnSpLocks/>
          </p:cNvCxnSpPr>
          <p:nvPr/>
        </p:nvCxnSpPr>
        <p:spPr>
          <a:xfrm>
            <a:off x="1486000" y="2788064"/>
            <a:ext cx="50405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6F928BA-55B4-C44F-A567-84DFDA8379BA}"/>
              </a:ext>
            </a:extLst>
          </p:cNvPr>
          <p:cNvSpPr/>
          <p:nvPr/>
        </p:nvSpPr>
        <p:spPr>
          <a:xfrm>
            <a:off x="711429" y="2951148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0-hop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2FD451-D6AD-1140-8846-A294DE2AE776}"/>
              </a:ext>
            </a:extLst>
          </p:cNvPr>
          <p:cNvSpPr/>
          <p:nvPr/>
        </p:nvSpPr>
        <p:spPr>
          <a:xfrm>
            <a:off x="1350742" y="2792126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1-hop</a:t>
            </a:r>
            <a:endParaRPr lang="en-CN">
              <a:solidFill>
                <a:schemeClr val="accent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AC8D7F2-7482-6944-9B5C-FF46F93C72E0}"/>
              </a:ext>
            </a:extLst>
          </p:cNvPr>
          <p:cNvCxnSpPr>
            <a:cxnSpLocks/>
          </p:cNvCxnSpPr>
          <p:nvPr/>
        </p:nvCxnSpPr>
        <p:spPr>
          <a:xfrm flipV="1">
            <a:off x="1053952" y="2192932"/>
            <a:ext cx="0" cy="59513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9BEAF7B-D6F2-8E45-819C-C9E93D696810}"/>
              </a:ext>
            </a:extLst>
          </p:cNvPr>
          <p:cNvCxnSpPr>
            <a:cxnSpLocks/>
          </p:cNvCxnSpPr>
          <p:nvPr/>
        </p:nvCxnSpPr>
        <p:spPr>
          <a:xfrm flipV="1">
            <a:off x="1066960" y="1851960"/>
            <a:ext cx="419040" cy="45111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5E01D861-AA99-9B41-B489-F4C53B130B32}"/>
              </a:ext>
            </a:extLst>
          </p:cNvPr>
          <p:cNvSpPr/>
          <p:nvPr/>
        </p:nvSpPr>
        <p:spPr>
          <a:xfrm>
            <a:off x="370384" y="1820844"/>
            <a:ext cx="7745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solidFill>
                  <a:schemeClr val="accent1"/>
                </a:solidFill>
              </a:rPr>
              <a:t>2-hop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9FE1F4-12DF-CF48-B298-DFE576F27701}"/>
              </a:ext>
            </a:extLst>
          </p:cNvPr>
          <p:cNvSpPr/>
          <p:nvPr/>
        </p:nvSpPr>
        <p:spPr>
          <a:xfrm>
            <a:off x="1417984" y="487372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结构复杂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D6792E-8E92-0C48-9442-52D5A986CCC7}"/>
              </a:ext>
            </a:extLst>
          </p:cNvPr>
          <p:cNvSpPr/>
          <p:nvPr/>
        </p:nvSpPr>
        <p:spPr>
          <a:xfrm>
            <a:off x="5422121" y="4873724"/>
            <a:ext cx="29514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跳数</a:t>
            </a:r>
            <a:r>
              <a:rPr lang="en-US" altLang="zh-CN" dirty="0">
                <a:solidFill>
                  <a:schemeClr val="accent1"/>
                </a:solidFill>
                <a:latin typeface="Courier" pitchFamily="2" charset="0"/>
              </a:rPr>
              <a:t>(hop)</a:t>
            </a:r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越多，延迟越高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E1D3FF-A663-4C46-ADB5-42A2A0523B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0457A-300B-6E44-A578-D445B54CA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5707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6AD-0241-CB43-AD2D-8E167E7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Intel</a:t>
            </a:r>
            <a:r>
              <a:rPr lang="zh-CN" altLang="en-CN"/>
              <a:t>与</a:t>
            </a:r>
            <a:r>
              <a:rPr lang="en-US" altLang="zh-CN"/>
              <a:t>AMD</a:t>
            </a:r>
            <a:r>
              <a:rPr lang="zh-CN" altLang="en-US"/>
              <a:t>的</a:t>
            </a:r>
            <a:r>
              <a:rPr lang="en-US" altLang="zh-CN"/>
              <a:t>NUMA</a:t>
            </a:r>
            <a:r>
              <a:rPr lang="zh-CN" altLang="en-US"/>
              <a:t>系统架构与特性</a:t>
            </a:r>
            <a:endParaRPr lang="en-C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07A485-D7F3-1242-9034-CAA783357E25}"/>
              </a:ext>
            </a:extLst>
          </p:cNvPr>
          <p:cNvSpPr txBox="1"/>
          <p:nvPr/>
        </p:nvSpPr>
        <p:spPr>
          <a:xfrm>
            <a:off x="2321750" y="4231561"/>
            <a:ext cx="4500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 b="1">
                <a:latin typeface="Courier" pitchFamily="2" charset="0"/>
              </a:rPr>
              <a:t>Intel</a:t>
            </a:r>
            <a:r>
              <a:rPr lang="zh-CN" altLang="en-CN" b="1" dirty="0">
                <a:latin typeface="Courier" pitchFamily="2" charset="0"/>
              </a:rPr>
              <a:t>与</a:t>
            </a:r>
            <a:r>
              <a:rPr lang="en-US" altLang="zh-CN" b="1" dirty="0">
                <a:latin typeface="Courier" pitchFamily="2" charset="0"/>
              </a:rPr>
              <a:t>AMD</a:t>
            </a:r>
            <a:r>
              <a:rPr lang="zh-CN" altLang="en-US" b="1" dirty="0">
                <a:latin typeface="Courier" pitchFamily="2" charset="0"/>
              </a:rPr>
              <a:t> </a:t>
            </a:r>
            <a:r>
              <a:rPr lang="en-US" altLang="zh-CN" b="1" dirty="0">
                <a:latin typeface="Courier" pitchFamily="2" charset="0"/>
              </a:rPr>
              <a:t>NUMA</a:t>
            </a:r>
            <a:r>
              <a:rPr lang="zh-CN" altLang="en-US" b="1" dirty="0">
                <a:latin typeface="Courier" pitchFamily="2" charset="0"/>
              </a:rPr>
              <a:t>访存带宽特性（</a:t>
            </a:r>
            <a:r>
              <a:rPr lang="en-US" altLang="zh-CN" b="1" dirty="0">
                <a:latin typeface="Courier" pitchFamily="2" charset="0"/>
              </a:rPr>
              <a:t>MB/s)</a:t>
            </a:r>
            <a:endParaRPr lang="en-CN" b="1">
              <a:latin typeface="Courier" pitchFamily="2" charset="0"/>
            </a:endParaRPr>
          </a:p>
        </p:txBody>
      </p:sp>
      <p:pic>
        <p:nvPicPr>
          <p:cNvPr id="5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B8DD72B3-3BAF-5D49-8F94-5A0C59689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371" y="1261399"/>
            <a:ext cx="6415258" cy="29359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AAF89DB-928E-4C44-A801-27052819A803}"/>
              </a:ext>
            </a:extLst>
          </p:cNvPr>
          <p:cNvSpPr/>
          <p:nvPr/>
        </p:nvSpPr>
        <p:spPr>
          <a:xfrm>
            <a:off x="3288521" y="4764261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chemeClr val="accent1"/>
                </a:solidFill>
                <a:latin typeface="Courier" pitchFamily="2" charset="0"/>
              </a:rPr>
              <a:t>跳数越多，带宽越受限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DEC91D-0BE0-DB43-BACD-A1D847622F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B43D5-732D-7745-887D-3216B2CD0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515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NUMA</a:t>
            </a:r>
            <a:r>
              <a:rPr lang="zh-CN" altLang="en-US"/>
              <a:t>环境中新的挑战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3A063-56B6-C947-8460-71C4D4966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81046"/>
            <a:ext cx="2908300" cy="3886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7265CF-244E-DC4E-907B-5B41BBB63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346" y="1237598"/>
            <a:ext cx="5032534" cy="39541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46EA69-C482-A743-8DBA-A7C0A07C1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8" y="2857500"/>
            <a:ext cx="432048" cy="502381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0F2AC07-AC26-4C4C-B682-2EDD76720D2D}"/>
              </a:ext>
            </a:extLst>
          </p:cNvPr>
          <p:cNvSpPr/>
          <p:nvPr/>
        </p:nvSpPr>
        <p:spPr>
          <a:xfrm>
            <a:off x="4427984" y="3145532"/>
            <a:ext cx="7200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40DE05-0028-0840-81AB-9997B6BA05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69CE9-5659-3A4A-B3AF-9E6C64DBC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39868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/>
              <a:t>NUMA</a:t>
            </a:r>
            <a:r>
              <a:rPr lang="zh-CN" altLang="en-US"/>
              <a:t>环境中新的挑战</a:t>
            </a:r>
            <a:endParaRPr lang="en-C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3A063-56B6-C947-8460-71C4D4966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381046"/>
            <a:ext cx="2908300" cy="38862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7265CF-244E-DC4E-907B-5B41BBB63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6346" y="1237598"/>
            <a:ext cx="5032534" cy="395413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346EA69-C482-A743-8DBA-A7C0A07C17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8414" y="1381046"/>
            <a:ext cx="432048" cy="50238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7E370A-F7FC-7B42-85C7-42B8178E77C1}"/>
              </a:ext>
            </a:extLst>
          </p:cNvPr>
          <p:cNvSpPr/>
          <p:nvPr/>
        </p:nvSpPr>
        <p:spPr>
          <a:xfrm>
            <a:off x="6164398" y="1966445"/>
            <a:ext cx="7200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38EB80-AB9E-9A44-A146-1D6131A74647}"/>
              </a:ext>
            </a:extLst>
          </p:cNvPr>
          <p:cNvSpPr/>
          <p:nvPr/>
        </p:nvSpPr>
        <p:spPr>
          <a:xfrm>
            <a:off x="611563" y="4839588"/>
            <a:ext cx="8208909" cy="4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即使在</a:t>
            </a:r>
            <a:r>
              <a:rPr lang="en-US" altLang="zh-CN"/>
              <a:t>cc-NUMA</a:t>
            </a:r>
            <a:r>
              <a:rPr lang="zh-CN" altLang="en-US"/>
              <a:t>中没有出现缓存失效</a:t>
            </a:r>
            <a:r>
              <a:rPr lang="en-US" altLang="zh-CN"/>
              <a:t> </a:t>
            </a:r>
            <a:r>
              <a:rPr lang="zh-CN" altLang="en-US" b="1"/>
              <a:t>跨结点的缓存一致性协议开销巨大</a:t>
            </a:r>
            <a:endParaRPr lang="en-CN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D647AF-2568-F143-BFCE-9DB32D987629}"/>
              </a:ext>
            </a:extLst>
          </p:cNvPr>
          <p:cNvSpPr/>
          <p:nvPr/>
        </p:nvSpPr>
        <p:spPr>
          <a:xfrm>
            <a:off x="850196" y="2497460"/>
            <a:ext cx="2679928" cy="936104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10940C-2476-0B41-BB03-CF37B949DA14}"/>
              </a:ext>
            </a:extLst>
          </p:cNvPr>
          <p:cNvSpPr/>
          <p:nvPr/>
        </p:nvSpPr>
        <p:spPr>
          <a:xfrm>
            <a:off x="2423854" y="960097"/>
            <a:ext cx="193022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dirty="0">
                <a:solidFill>
                  <a:schemeClr val="accent1"/>
                </a:solidFill>
              </a:rPr>
              <a:t>除了</a:t>
            </a:r>
            <a:r>
              <a:rPr lang="zh-CN" altLang="en-US" dirty="0">
                <a:solidFill>
                  <a:schemeClr val="accent1"/>
                </a:solidFill>
              </a:rPr>
              <a:t>锁的元数据，主要是临界区中访问的共享数据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753DAA1-C948-8046-986A-FB83250132F4}"/>
              </a:ext>
            </a:extLst>
          </p:cNvPr>
          <p:cNvSpPr/>
          <p:nvPr/>
        </p:nvSpPr>
        <p:spPr>
          <a:xfrm>
            <a:off x="5849812" y="508249"/>
            <a:ext cx="3024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/>
              <a:t>Challenge:</a:t>
            </a:r>
            <a:r>
              <a:rPr lang="zh-CN" altLang="en-US" dirty="0"/>
              <a:t> 锁</a:t>
            </a:r>
            <a:r>
              <a:rPr lang="zh-CN" altLang="en-US" b="1" dirty="0"/>
              <a:t>不知道</a:t>
            </a:r>
            <a:r>
              <a:rPr lang="zh-CN" altLang="en-US" dirty="0"/>
              <a:t>临界区中需要访问的内容！</a:t>
            </a:r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AC926-847A-2844-9DC2-2BFF97B25F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CD4F9-8894-0345-A91C-5E62D369F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492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F716D-0A69-2B40-9BE6-36322326F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鲲鹏</a:t>
            </a:r>
            <a:r>
              <a:rPr lang="zh-CN" altLang="en-US"/>
              <a:t>服务器的</a:t>
            </a:r>
            <a:r>
              <a:rPr lang="en-US" altLang="zh-CN"/>
              <a:t>NUMA</a:t>
            </a:r>
            <a:r>
              <a:rPr lang="zh-CN" altLang="en-US"/>
              <a:t>结构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0A8DD1-F5B6-A748-9C34-29454137E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1D2F2-7395-6145-A9D3-2040C50EE8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2A725B-C795-AB4A-B732-FB505BB65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066" y="1417340"/>
            <a:ext cx="3831734" cy="32175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2208EB-A1CE-F348-AD70-7716D378E1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0401" y="2446820"/>
            <a:ext cx="1224136" cy="7087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232A52-AF61-EA4F-9360-81D09B1D0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314" y="3404292"/>
            <a:ext cx="708710" cy="70871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0F80764-3EFC-9843-A58F-173399E21CD6}"/>
              </a:ext>
            </a:extLst>
          </p:cNvPr>
          <p:cNvSpPr/>
          <p:nvPr/>
        </p:nvSpPr>
        <p:spPr>
          <a:xfrm>
            <a:off x="574198" y="1385815"/>
            <a:ext cx="373076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$ numactl --hardware</a:t>
            </a:r>
          </a:p>
          <a:p>
            <a:r>
              <a:rPr lang="en-CN" sz="1400">
                <a:latin typeface="Courier" pitchFamily="2" charset="0"/>
              </a:rPr>
              <a:t>available: </a:t>
            </a:r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4 nodes</a:t>
            </a:r>
            <a:r>
              <a:rPr lang="en-CN" sz="1400">
                <a:latin typeface="Courier" pitchFamily="2" charset="0"/>
              </a:rPr>
              <a:t> (0-3)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0 </a:t>
            </a:r>
            <a:r>
              <a:rPr lang="en-CN" sz="1400">
                <a:latin typeface="Courier" pitchFamily="2" charset="0"/>
              </a:rPr>
              <a:t>cpus: 0 1 2 3 4 5 6 7 8 9 10 11 12 13 14 15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1 </a:t>
            </a:r>
            <a:r>
              <a:rPr lang="en-CN" sz="1400">
                <a:latin typeface="Courier" pitchFamily="2" charset="0"/>
              </a:rPr>
              <a:t>cpus: 16 17 18 19 20 21 22 23 24 25 26 27 28 29 30 31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2 </a:t>
            </a:r>
            <a:r>
              <a:rPr lang="en-CN" sz="1400">
                <a:latin typeface="Courier" pitchFamily="2" charset="0"/>
              </a:rPr>
              <a:t>cpus: 32 33 34 35 36 37 38 39 40 41 42 43 44 45 46 47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3 </a:t>
            </a:r>
            <a:r>
              <a:rPr lang="en-CN" sz="1400">
                <a:latin typeface="Courier" pitchFamily="2" charset="0"/>
              </a:rPr>
              <a:t>cpus: 48 49 50 51 52 53 54 55 56 57 58 59 60 61 62 63</a:t>
            </a:r>
          </a:p>
          <a:p>
            <a:r>
              <a:rPr lang="en-CN" sz="1400">
                <a:latin typeface="Courier" pitchFamily="2" charset="0"/>
              </a:rPr>
              <a:t>node distances:</a:t>
            </a:r>
          </a:p>
          <a:p>
            <a:r>
              <a:rPr lang="en-CN" sz="1400">
                <a:latin typeface="Courier" pitchFamily="2" charset="0"/>
              </a:rPr>
              <a:t>node   0   1   2   3</a:t>
            </a:r>
          </a:p>
          <a:p>
            <a:r>
              <a:rPr lang="en-CN" sz="1400">
                <a:latin typeface="Courier" pitchFamily="2" charset="0"/>
              </a:rPr>
              <a:t>  0:  10  15  20  20</a:t>
            </a:r>
          </a:p>
          <a:p>
            <a:r>
              <a:rPr lang="en-CN" sz="1400">
                <a:latin typeface="Courier" pitchFamily="2" charset="0"/>
              </a:rPr>
              <a:t>  1:  15  10  20  20</a:t>
            </a:r>
          </a:p>
          <a:p>
            <a:r>
              <a:rPr lang="en-CN" sz="1400">
                <a:latin typeface="Courier" pitchFamily="2" charset="0"/>
              </a:rPr>
              <a:t>  2:  20  20  10  15</a:t>
            </a:r>
          </a:p>
          <a:p>
            <a:r>
              <a:rPr lang="en-CN" sz="1400">
                <a:latin typeface="Courier" pitchFamily="2" charset="0"/>
              </a:rPr>
              <a:t>  3:  20  20  15  10</a:t>
            </a:r>
          </a:p>
        </p:txBody>
      </p:sp>
    </p:spTree>
    <p:extLst>
      <p:ext uri="{BB962C8B-B14F-4D97-AF65-F5344CB8AC3E}">
        <p14:creationId xmlns:p14="http://schemas.microsoft.com/office/powerpoint/2010/main" val="18596118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DA7F-F9D6-AF45-9B0B-C46B766F9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MCS</a:t>
            </a:r>
            <a:r>
              <a:rPr lang="zh-CN" altLang="en-CN" dirty="0"/>
              <a:t>锁</a:t>
            </a:r>
            <a:r>
              <a:rPr lang="zh-CN" altLang="en-US" dirty="0"/>
              <a:t>可扩展性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39C3BC-7A82-1347-8DF1-B5DA25B1B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BBACD-1B8E-D64F-BD99-0DE2E3CB82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8533BCB-73F5-9B40-A4FB-CF0B2ADC29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057300"/>
            <a:ext cx="5917871" cy="394524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D06690-5801-2C4B-9F85-15395DBBDB62}"/>
              </a:ext>
            </a:extLst>
          </p:cNvPr>
          <p:cNvCxnSpPr/>
          <p:nvPr/>
        </p:nvCxnSpPr>
        <p:spPr>
          <a:xfrm flipV="1">
            <a:off x="2411760" y="1561356"/>
            <a:ext cx="0" cy="3240360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606B70-0328-5D4B-8D44-FBF2B0042776}"/>
              </a:ext>
            </a:extLst>
          </p:cNvPr>
          <p:cNvCxnSpPr/>
          <p:nvPr/>
        </p:nvCxnSpPr>
        <p:spPr>
          <a:xfrm flipV="1">
            <a:off x="3563888" y="1561356"/>
            <a:ext cx="0" cy="3240360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65F753-D7A6-0B4F-BFA5-D51B02E67426}"/>
              </a:ext>
            </a:extLst>
          </p:cNvPr>
          <p:cNvCxnSpPr/>
          <p:nvPr/>
        </p:nvCxnSpPr>
        <p:spPr>
          <a:xfrm flipV="1">
            <a:off x="4716016" y="1561356"/>
            <a:ext cx="0" cy="3240360"/>
          </a:xfrm>
          <a:prstGeom prst="line">
            <a:avLst/>
          </a:prstGeom>
          <a:ln w="25400">
            <a:solidFill>
              <a:schemeClr val="accent1">
                <a:shade val="95000"/>
                <a:satMod val="105000"/>
                <a:alpha val="99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13FBC9E-87F6-F34D-A4CF-1C99D86EA339}"/>
              </a:ext>
            </a:extLst>
          </p:cNvPr>
          <p:cNvSpPr/>
          <p:nvPr/>
        </p:nvSpPr>
        <p:spPr>
          <a:xfrm>
            <a:off x="6059944" y="679087"/>
            <a:ext cx="280831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400">
                <a:latin typeface="Courier" pitchFamily="2" charset="0"/>
              </a:rPr>
              <a:t>$ numactl --hardware</a:t>
            </a:r>
          </a:p>
          <a:p>
            <a:r>
              <a:rPr lang="en-CN" sz="1400">
                <a:latin typeface="Courier" pitchFamily="2" charset="0"/>
              </a:rPr>
              <a:t>available: </a:t>
            </a:r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4 nodes</a:t>
            </a:r>
            <a:r>
              <a:rPr lang="en-CN" sz="1400">
                <a:latin typeface="Courier" pitchFamily="2" charset="0"/>
              </a:rPr>
              <a:t> (0-3)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0 </a:t>
            </a:r>
            <a:r>
              <a:rPr lang="en-CN" sz="1400">
                <a:latin typeface="Courier" pitchFamily="2" charset="0"/>
              </a:rPr>
              <a:t>cpus: 0 1 2 3 4 5 6 7 8 9 10 11 12 13 14 15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1 </a:t>
            </a:r>
            <a:r>
              <a:rPr lang="en-CN" sz="1400">
                <a:latin typeface="Courier" pitchFamily="2" charset="0"/>
              </a:rPr>
              <a:t>cpus: 16 17 18 19 20 21 22 23 24 25 26 27 28 29 30 31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2 </a:t>
            </a:r>
            <a:r>
              <a:rPr lang="en-CN" sz="1400">
                <a:latin typeface="Courier" pitchFamily="2" charset="0"/>
              </a:rPr>
              <a:t>cpus: 32 33 34 35 36 37 38 39 40 41 42 43 44 45 46 47</a:t>
            </a:r>
          </a:p>
          <a:p>
            <a:r>
              <a:rPr lang="en-CN" sz="1400">
                <a:solidFill>
                  <a:schemeClr val="accent1"/>
                </a:solidFill>
                <a:latin typeface="Courier" pitchFamily="2" charset="0"/>
              </a:rPr>
              <a:t>node 3 </a:t>
            </a:r>
            <a:r>
              <a:rPr lang="en-CN" sz="1400">
                <a:latin typeface="Courier" pitchFamily="2" charset="0"/>
              </a:rPr>
              <a:t>cpus: 48 49 50 51 52 53 54 55 56 57 58 59 60 61 62 63</a:t>
            </a:r>
          </a:p>
          <a:p>
            <a:r>
              <a:rPr lang="en-CN" sz="1400">
                <a:latin typeface="Courier" pitchFamily="2" charset="0"/>
              </a:rPr>
              <a:t>node distances:</a:t>
            </a:r>
          </a:p>
          <a:p>
            <a:r>
              <a:rPr lang="en-CN" sz="1400">
                <a:latin typeface="Courier" pitchFamily="2" charset="0"/>
              </a:rPr>
              <a:t>node   0   1   2   3</a:t>
            </a:r>
          </a:p>
          <a:p>
            <a:r>
              <a:rPr lang="en-CN" sz="1400">
                <a:latin typeface="Courier" pitchFamily="2" charset="0"/>
              </a:rPr>
              <a:t>  0:  10  15  20  20</a:t>
            </a:r>
          </a:p>
          <a:p>
            <a:r>
              <a:rPr lang="en-CN" sz="1400">
                <a:latin typeface="Courier" pitchFamily="2" charset="0"/>
              </a:rPr>
              <a:t>  1:  15  10  20  20</a:t>
            </a:r>
          </a:p>
          <a:p>
            <a:r>
              <a:rPr lang="en-CN" sz="1400">
                <a:latin typeface="Courier" pitchFamily="2" charset="0"/>
              </a:rPr>
              <a:t>  2:  20  20  10  15</a:t>
            </a:r>
          </a:p>
          <a:p>
            <a:r>
              <a:rPr lang="en-CN" sz="1400">
                <a:latin typeface="Courier" pitchFamily="2" charset="0"/>
              </a:rPr>
              <a:t>  3:  20  20  15  10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3563D8-89B1-A741-A21A-9849F73E4020}"/>
              </a:ext>
            </a:extLst>
          </p:cNvPr>
          <p:cNvSpPr/>
          <p:nvPr/>
        </p:nvSpPr>
        <p:spPr>
          <a:xfrm>
            <a:off x="4521127" y="166793"/>
            <a:ext cx="3903633" cy="458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临界区访问共享</a:t>
            </a:r>
            <a:r>
              <a:rPr lang="zh-CN" altLang="en-US" b="1"/>
              <a:t>缓存行数量增加到</a:t>
            </a:r>
            <a:r>
              <a:rPr lang="en-US" altLang="zh-CN" b="1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147688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NUMA-aware</a:t>
            </a:r>
            <a:r>
              <a:rPr lang="zh-CN" altLang="en-US"/>
              <a:t>设计：以</a:t>
            </a:r>
            <a:r>
              <a:rPr lang="en-US" altLang="zh-CN"/>
              <a:t>cohort</a:t>
            </a:r>
            <a:r>
              <a:rPr lang="zh-CN" altLang="en-US"/>
              <a:t>锁</a:t>
            </a:r>
            <a:r>
              <a:rPr lang="en-US" altLang="zh-CN"/>
              <a:t>*</a:t>
            </a:r>
            <a:r>
              <a:rPr lang="zh-CN" altLang="en-US"/>
              <a:t>为例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D6E6D2-EEFF-B344-9A1D-C7A6BE84E6DA}"/>
              </a:ext>
            </a:extLst>
          </p:cNvPr>
          <p:cNvSpPr/>
          <p:nvPr/>
        </p:nvSpPr>
        <p:spPr>
          <a:xfrm>
            <a:off x="2203403" y="1071856"/>
            <a:ext cx="47371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核心思路：在一段时间内将访存</a:t>
            </a:r>
            <a:r>
              <a:rPr lang="zh-CN" altLang="en-US" b="1"/>
              <a:t>限制在本地</a:t>
            </a:r>
            <a:endParaRPr lang="en-CN" b="1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33A8FB-738D-E94F-93F2-1CD7E615F1C1}"/>
              </a:ext>
            </a:extLst>
          </p:cNvPr>
          <p:cNvSpPr/>
          <p:nvPr/>
        </p:nvSpPr>
        <p:spPr>
          <a:xfrm>
            <a:off x="-10599" y="5058633"/>
            <a:ext cx="79928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Dice, David, Virendra J.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Marathe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</a:t>
            </a:r>
            <a:r>
              <a:rPr lang="zh-CN" alt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and </a:t>
            </a:r>
            <a:b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Nir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Shavit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. "Lock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cohorting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: a general </a:t>
            </a:r>
            <a:b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technique for designing NUMA locks." </a:t>
            </a:r>
            <a:endParaRPr lang="en-CN" sz="1200" i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B8F32B-0D25-0248-AF80-E9562F173D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6376" y="1613990"/>
            <a:ext cx="1008112" cy="103986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F43CE5-E696-E34D-AC4B-2C681B310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9944" y="1674812"/>
            <a:ext cx="2880320" cy="333320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6AA4482-832B-3B47-8BD1-A31A705E5392}"/>
              </a:ext>
            </a:extLst>
          </p:cNvPr>
          <p:cNvSpPr/>
          <p:nvPr/>
        </p:nvSpPr>
        <p:spPr>
          <a:xfrm>
            <a:off x="1072324" y="1709982"/>
            <a:ext cx="2262158" cy="87395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CN" dirty="0"/>
              <a:t>先获取</a:t>
            </a:r>
            <a:r>
              <a:rPr lang="zh-CN" altLang="en-US" b="1" dirty="0"/>
              <a:t>每节点</a:t>
            </a:r>
            <a:r>
              <a:rPr lang="zh-CN" altLang="en-US" dirty="0"/>
              <a:t>本地锁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再获取全局锁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B3CBC0-490E-024B-B414-D403B8BF0501}"/>
              </a:ext>
            </a:extLst>
          </p:cNvPr>
          <p:cNvSpPr/>
          <p:nvPr/>
        </p:nvSpPr>
        <p:spPr>
          <a:xfrm>
            <a:off x="619226" y="4080915"/>
            <a:ext cx="3168352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全局锁在一段时间内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b="1" dirty="0"/>
              <a:t>只在一个结点内部</a:t>
            </a:r>
            <a:r>
              <a:rPr lang="zh-CN" altLang="en-US" dirty="0"/>
              <a:t>传递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5A4BA9-30E5-3A47-94DF-9E4A79DCB7FF}"/>
              </a:ext>
            </a:extLst>
          </p:cNvPr>
          <p:cNvSpPr/>
          <p:nvPr/>
        </p:nvSpPr>
        <p:spPr>
          <a:xfrm>
            <a:off x="-70021" y="2687699"/>
            <a:ext cx="4546847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成功获取全局锁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dirty="0"/>
              <a:t>释放时将其传递给</a:t>
            </a:r>
            <a:endParaRPr lang="en-US" altLang="zh-CN" dirty="0"/>
          </a:p>
          <a:p>
            <a:pPr algn="ctr">
              <a:lnSpc>
                <a:spcPct val="150000"/>
              </a:lnSpc>
            </a:pPr>
            <a:r>
              <a:rPr lang="zh-CN" altLang="en-US" b="1" dirty="0"/>
              <a:t>本地等待队列的</a:t>
            </a:r>
            <a:r>
              <a:rPr lang="zh-CN" altLang="en-US" dirty="0"/>
              <a:t>下一位</a:t>
            </a:r>
            <a:endParaRPr lang="en-C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9CCE6CF-2E36-1040-B858-4BCF4A325F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901B83-F67F-DF42-A3FE-ED38FEFE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5526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NUMA-aware</a:t>
            </a:r>
            <a:r>
              <a:rPr lang="zh-CN" altLang="en-US"/>
              <a:t>设计：以</a:t>
            </a:r>
            <a:r>
              <a:rPr lang="en-US" altLang="zh-CN"/>
              <a:t>cohort</a:t>
            </a:r>
            <a:r>
              <a:rPr lang="zh-CN" altLang="en-US"/>
              <a:t>锁</a:t>
            </a:r>
            <a:r>
              <a:rPr lang="en-US" altLang="zh-CN"/>
              <a:t>*</a:t>
            </a:r>
            <a:r>
              <a:rPr lang="zh-CN" altLang="en-US"/>
              <a:t>为例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A830-B5B7-3E4E-8F4E-A934D1EFB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2BE96F-F933-514D-8B8C-7EBFF7C90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747" y="1249704"/>
            <a:ext cx="4154574" cy="395400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4837BD-FC01-A042-80CE-693D4A78D8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419811"/>
            <a:ext cx="5032534" cy="3954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8A7366-3DE0-5B40-BDAA-B70A847E7E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566" y="3039713"/>
            <a:ext cx="432048" cy="5023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70CA7D-D3D5-D048-B3AE-105C57DB0FC2}"/>
              </a:ext>
            </a:extLst>
          </p:cNvPr>
          <p:cNvSpPr/>
          <p:nvPr/>
        </p:nvSpPr>
        <p:spPr>
          <a:xfrm>
            <a:off x="5049622" y="3327745"/>
            <a:ext cx="7200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  <a:endParaRPr lang="en-CN"/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07A400DC-A37D-7C42-94A4-F264859C85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00" y="1192524"/>
            <a:ext cx="792088" cy="81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608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NUMA-aware</a:t>
            </a:r>
            <a:r>
              <a:rPr lang="zh-CN" altLang="en-US"/>
              <a:t>设计：以</a:t>
            </a:r>
            <a:r>
              <a:rPr lang="en-US" altLang="zh-CN"/>
              <a:t>cohort</a:t>
            </a:r>
            <a:r>
              <a:rPr lang="zh-CN" altLang="en-US"/>
              <a:t>锁</a:t>
            </a:r>
            <a:r>
              <a:rPr lang="en-US" altLang="zh-CN"/>
              <a:t>*</a:t>
            </a:r>
            <a:r>
              <a:rPr lang="zh-CN" altLang="en-US"/>
              <a:t>为例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A830-B5B7-3E4E-8F4E-A934D1EFB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17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4837BD-FC01-A042-80CE-693D4A78D8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419811"/>
            <a:ext cx="5032534" cy="39541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8A7366-3DE0-5B40-BDAA-B70A847E7E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0385" y="2966349"/>
            <a:ext cx="432048" cy="50238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870CA7D-D3D5-D048-B3AE-105C57DB0FC2}"/>
              </a:ext>
            </a:extLst>
          </p:cNvPr>
          <p:cNvSpPr/>
          <p:nvPr/>
        </p:nvSpPr>
        <p:spPr>
          <a:xfrm>
            <a:off x="6224171" y="3401442"/>
            <a:ext cx="720080" cy="3600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Data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703821-6A17-7E4F-8821-FD910A53C3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435" y="1261375"/>
            <a:ext cx="3380763" cy="3912330"/>
          </a:xfrm>
          <a:prstGeom prst="rect">
            <a:avLst/>
          </a:prstGeom>
        </p:spPr>
      </p:pic>
      <p:pic>
        <p:nvPicPr>
          <p:cNvPr id="9" name="Picture 5">
            <a:extLst>
              <a:ext uri="{FF2B5EF4-FFF2-40B4-BE49-F238E27FC236}">
                <a16:creationId xmlns:a16="http://schemas.microsoft.com/office/drawing/2014/main" id="{DFC526CE-BEBD-3948-95DD-7CC2C58877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2400" y="1192524"/>
            <a:ext cx="792088" cy="81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96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NUMA-aware</a:t>
            </a:r>
            <a:r>
              <a:rPr lang="zh-CN" altLang="en-US" dirty="0"/>
              <a:t>设计：以</a:t>
            </a:r>
            <a:r>
              <a:rPr lang="en-US" altLang="zh-CN" dirty="0"/>
              <a:t>cohort</a:t>
            </a:r>
            <a:r>
              <a:rPr lang="zh-CN" altLang="en-US" dirty="0"/>
              <a:t>锁</a:t>
            </a:r>
            <a:r>
              <a:rPr lang="en-US" altLang="zh-CN" dirty="0"/>
              <a:t>*</a:t>
            </a:r>
            <a:r>
              <a:rPr lang="zh-CN" altLang="en-US" dirty="0"/>
              <a:t>为例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CFA830-B5B7-3E4E-8F4E-A934D1EFB0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10630D-49B0-E248-B54E-045251939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974680"/>
            <a:ext cx="6702151" cy="44681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1A6DA5C-C68F-0A47-88A5-BA1F77EBACAF}"/>
              </a:ext>
            </a:extLst>
          </p:cNvPr>
          <p:cNvSpPr/>
          <p:nvPr/>
        </p:nvSpPr>
        <p:spPr>
          <a:xfrm>
            <a:off x="4572000" y="1777380"/>
            <a:ext cx="259228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/>
              <a:t>一旦发生远程内存访问开销不容忽略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9641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E93AE0-1D18-EA42-A182-5D871684C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思考题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0B3D9F-4BD3-ED4C-8DC6-4C99EE17F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Cohort</a:t>
            </a:r>
            <a:r>
              <a:rPr lang="zh-CN" altLang="en-US" dirty="0"/>
              <a:t>锁在获取更好的扩展性的同时牺牲了什么？</a:t>
            </a:r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C003DC6-EFE7-E740-A28A-41125E19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365D29-B3A8-F947-B718-5BB9E7C6E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963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20</a:t>
            </a:fld>
            <a:endParaRPr lang="zh-CN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C10630D-49B0-E248-B54E-045251939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536" y="1201316"/>
            <a:ext cx="5822137" cy="388142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35A4566-35BE-B343-B42A-84B88AF44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CN"/>
              <a:t>我们能更进一步吗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E58EE9F-3D7B-D44A-BABB-A568F21AE220}"/>
              </a:ext>
            </a:extLst>
          </p:cNvPr>
          <p:cNvSpPr/>
          <p:nvPr/>
        </p:nvSpPr>
        <p:spPr>
          <a:xfrm>
            <a:off x="6198328" y="2346375"/>
            <a:ext cx="28048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/>
              <a:t>性能下降的主要原因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E08684D-2BED-BA40-B808-59D3C80F9106}"/>
              </a:ext>
            </a:extLst>
          </p:cNvPr>
          <p:cNvSpPr/>
          <p:nvPr/>
        </p:nvSpPr>
        <p:spPr>
          <a:xfrm>
            <a:off x="6194888" y="2778423"/>
            <a:ext cx="2804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/>
              <a:t>还是会涉及跨NUMA的内存访问</a:t>
            </a:r>
            <a:endParaRPr lang="en-US" b="1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DBC61EF-204C-E64C-B0AC-2650803B4FBB}"/>
              </a:ext>
            </a:extLst>
          </p:cNvPr>
          <p:cNvCxnSpPr>
            <a:cxnSpLocks/>
          </p:cNvCxnSpPr>
          <p:nvPr/>
        </p:nvCxnSpPr>
        <p:spPr>
          <a:xfrm>
            <a:off x="3347864" y="1849388"/>
            <a:ext cx="252028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F8B48B7-ECE1-9641-9CC8-7FB70BE7C6A0}"/>
              </a:ext>
            </a:extLst>
          </p:cNvPr>
          <p:cNvSpPr/>
          <p:nvPr/>
        </p:nvSpPr>
        <p:spPr>
          <a:xfrm>
            <a:off x="6071222" y="1635136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理想性能表现</a:t>
            </a:r>
            <a:endParaRPr lang="en-CN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E0140628-5474-534C-8ED2-01A23F7513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4379361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>
            <a:normAutofit/>
          </a:bodyPr>
          <a:lstStyle/>
          <a:p>
            <a:r>
              <a:rPr lang="en-CN"/>
              <a:t>代理锁</a:t>
            </a:r>
            <a:r>
              <a:rPr lang="zh-CN" altLang="en-US"/>
              <a:t>：通过代理执行避免跨节点访问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21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3FE6A-90C1-D744-B8F7-CF780DDA4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921396"/>
            <a:ext cx="9144000" cy="3297671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6352BA9-6BED-594D-B59E-577B7AD3AC4B}"/>
              </a:ext>
            </a:extLst>
          </p:cNvPr>
          <p:cNvSpPr/>
          <p:nvPr/>
        </p:nvSpPr>
        <p:spPr>
          <a:xfrm>
            <a:off x="2051720" y="1057300"/>
            <a:ext cx="4788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与其让缓存行在不同的NUMA节点之间移动</a:t>
            </a:r>
            <a:r>
              <a:rPr lang="zh-CN" altLang="en-US"/>
              <a:t>，</a:t>
            </a:r>
            <a:endParaRPr lang="en-US"/>
          </a:p>
          <a:p>
            <a:pPr algn="ctr"/>
            <a:r>
              <a:rPr lang="en-US"/>
              <a:t>为何不一直将其</a:t>
            </a:r>
            <a:r>
              <a:rPr lang="en-US" b="1"/>
              <a:t>限定</a:t>
            </a:r>
            <a:r>
              <a:rPr lang="en-US"/>
              <a:t>在一个</a:t>
            </a:r>
            <a:r>
              <a:rPr lang="en-US" b="1"/>
              <a:t>核心上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B2DD7AAE-8DF8-6E4E-B747-8CC7C42A73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DB4A03-6972-B946-90AF-45DB18B6B8C3}"/>
              </a:ext>
            </a:extLst>
          </p:cNvPr>
          <p:cNvSpPr/>
          <p:nvPr/>
        </p:nvSpPr>
        <p:spPr>
          <a:xfrm>
            <a:off x="6840210" y="2857500"/>
            <a:ext cx="214741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临界区转换为可以远程执行的闭包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456B3C-2121-A649-867B-5E8F70E23F00}"/>
              </a:ext>
            </a:extLst>
          </p:cNvPr>
          <p:cNvSpPr/>
          <p:nvPr/>
        </p:nvSpPr>
        <p:spPr>
          <a:xfrm>
            <a:off x="2157773" y="2075619"/>
            <a:ext cx="792088" cy="11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72B218-9C22-4A45-9EDF-59DB8E1B8FB7}"/>
              </a:ext>
            </a:extLst>
          </p:cNvPr>
          <p:cNvSpPr/>
          <p:nvPr/>
        </p:nvSpPr>
        <p:spPr>
          <a:xfrm>
            <a:off x="1619672" y="2347399"/>
            <a:ext cx="2147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临界区请求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231872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22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3FE6A-90C1-D744-B8F7-CF780DDA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21396"/>
            <a:ext cx="9144000" cy="32976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B62B60-144F-2B4A-810C-50A117A77F64}"/>
              </a:ext>
            </a:extLst>
          </p:cNvPr>
          <p:cNvSpPr/>
          <p:nvPr/>
        </p:nvSpPr>
        <p:spPr>
          <a:xfrm>
            <a:off x="3491880" y="2929508"/>
            <a:ext cx="50405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FF562-E723-4F42-B82A-D644A3E0A9F3}"/>
              </a:ext>
            </a:extLst>
          </p:cNvPr>
          <p:cNvSpPr/>
          <p:nvPr/>
        </p:nvSpPr>
        <p:spPr>
          <a:xfrm>
            <a:off x="489331" y="3865612"/>
            <a:ext cx="504056" cy="216024"/>
          </a:xfrm>
          <a:prstGeom prst="rect">
            <a:avLst/>
          </a:prstGeom>
          <a:solidFill>
            <a:srgbClr val="9292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61E1E1-F32C-6C44-B4AE-40368D811C11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043608" y="3145532"/>
            <a:ext cx="270030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3A226F96-DE4A-B84A-8A57-9B7B995F226B}"/>
              </a:ext>
            </a:extLst>
          </p:cNvPr>
          <p:cNvSpPr txBox="1">
            <a:spLocks/>
          </p:cNvSpPr>
          <p:nvPr/>
        </p:nvSpPr>
        <p:spPr>
          <a:xfrm>
            <a:off x="457200" y="228866"/>
            <a:ext cx="86868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en-CN"/>
              <a:t>代理锁</a:t>
            </a:r>
            <a:r>
              <a:rPr lang="zh-CN" altLang="en-US"/>
              <a:t>：通过代理执行避免跨节点访问</a:t>
            </a:r>
            <a:endParaRPr lang="en-CN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A2D3171-ABAB-7B4A-888C-A1D71B8036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1D27D1-2FFF-644F-B548-4DC659915B7F}"/>
              </a:ext>
            </a:extLst>
          </p:cNvPr>
          <p:cNvSpPr/>
          <p:nvPr/>
        </p:nvSpPr>
        <p:spPr>
          <a:xfrm>
            <a:off x="2051720" y="1057300"/>
            <a:ext cx="4788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与其让缓存行在不同的NUMA节点之间移动</a:t>
            </a:r>
            <a:r>
              <a:rPr lang="zh-CN" altLang="en-US"/>
              <a:t>，</a:t>
            </a:r>
            <a:endParaRPr lang="en-US"/>
          </a:p>
          <a:p>
            <a:pPr algn="ctr"/>
            <a:r>
              <a:rPr lang="en-US"/>
              <a:t>为何不一直将其</a:t>
            </a:r>
            <a:r>
              <a:rPr lang="en-US" b="1"/>
              <a:t>限定</a:t>
            </a:r>
            <a:r>
              <a:rPr lang="en-US"/>
              <a:t>在一个</a:t>
            </a:r>
            <a:r>
              <a:rPr lang="en-US" b="1"/>
              <a:t>核心上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8217B6-ADC0-4B4C-9EFD-0CE52F6E6E38}"/>
              </a:ext>
            </a:extLst>
          </p:cNvPr>
          <p:cNvSpPr/>
          <p:nvPr/>
        </p:nvSpPr>
        <p:spPr>
          <a:xfrm>
            <a:off x="2157773" y="2075619"/>
            <a:ext cx="792088" cy="11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FCF22D-B306-7E4C-AF30-E8CEFF98E8C4}"/>
              </a:ext>
            </a:extLst>
          </p:cNvPr>
          <p:cNvSpPr/>
          <p:nvPr/>
        </p:nvSpPr>
        <p:spPr>
          <a:xfrm>
            <a:off x="1619672" y="2347399"/>
            <a:ext cx="2147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临界区请求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65229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23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73FE6A-90C1-D744-B8F7-CF780DDA4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1921396"/>
            <a:ext cx="9144000" cy="329767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9B62B60-144F-2B4A-810C-50A117A77F64}"/>
              </a:ext>
            </a:extLst>
          </p:cNvPr>
          <p:cNvSpPr/>
          <p:nvPr/>
        </p:nvSpPr>
        <p:spPr>
          <a:xfrm>
            <a:off x="3491880" y="2929508"/>
            <a:ext cx="50405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1FF562-E723-4F42-B82A-D644A3E0A9F3}"/>
              </a:ext>
            </a:extLst>
          </p:cNvPr>
          <p:cNvSpPr/>
          <p:nvPr/>
        </p:nvSpPr>
        <p:spPr>
          <a:xfrm>
            <a:off x="489331" y="3885268"/>
            <a:ext cx="504056" cy="196367"/>
          </a:xfrm>
          <a:prstGeom prst="rect">
            <a:avLst/>
          </a:prstGeom>
          <a:solidFill>
            <a:srgbClr val="92929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C61E1E1-F32C-6C44-B4AE-40368D811C11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043608" y="3145532"/>
            <a:ext cx="270030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BC27C4D2-F6B4-A249-B70A-00AC670DF613}"/>
              </a:ext>
            </a:extLst>
          </p:cNvPr>
          <p:cNvSpPr/>
          <p:nvPr/>
        </p:nvSpPr>
        <p:spPr>
          <a:xfrm>
            <a:off x="4282988" y="2991119"/>
            <a:ext cx="504056" cy="2160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D46231-E998-0345-B0C1-842B051023DE}"/>
              </a:ext>
            </a:extLst>
          </p:cNvPr>
          <p:cNvSpPr/>
          <p:nvPr/>
        </p:nvSpPr>
        <p:spPr>
          <a:xfrm>
            <a:off x="1267001" y="3885269"/>
            <a:ext cx="504056" cy="176709"/>
          </a:xfrm>
          <a:prstGeom prst="rect">
            <a:avLst/>
          </a:prstGeom>
          <a:solidFill>
            <a:srgbClr val="9292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41211C0-1756-4947-BB92-F603E53F9726}"/>
              </a:ext>
            </a:extLst>
          </p:cNvPr>
          <p:cNvCxnSpPr>
            <a:cxnSpLocks/>
          </p:cNvCxnSpPr>
          <p:nvPr/>
        </p:nvCxnSpPr>
        <p:spPr>
          <a:xfrm flipH="1">
            <a:off x="1795158" y="3133411"/>
            <a:ext cx="270030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980BF9D-8AB4-2F43-A5DF-E8712CACD3F1}"/>
              </a:ext>
            </a:extLst>
          </p:cNvPr>
          <p:cNvSpPr txBox="1">
            <a:spLocks/>
          </p:cNvSpPr>
          <p:nvPr/>
        </p:nvSpPr>
        <p:spPr>
          <a:xfrm>
            <a:off x="457200" y="228866"/>
            <a:ext cx="86868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en-CN"/>
              <a:t>代理锁</a:t>
            </a:r>
            <a:r>
              <a:rPr lang="zh-CN" altLang="en-US"/>
              <a:t>：通过代理执行避免跨节点访问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CF2C8D4-4EA0-6942-A30A-106EE3B49D78}"/>
              </a:ext>
            </a:extLst>
          </p:cNvPr>
          <p:cNvSpPr/>
          <p:nvPr/>
        </p:nvSpPr>
        <p:spPr>
          <a:xfrm>
            <a:off x="2051720" y="1057300"/>
            <a:ext cx="4788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与其让缓存行在不同的NUMA节点之间移动</a:t>
            </a:r>
            <a:r>
              <a:rPr lang="zh-CN" altLang="en-US"/>
              <a:t>，</a:t>
            </a:r>
            <a:endParaRPr lang="en-US"/>
          </a:p>
          <a:p>
            <a:pPr algn="ctr"/>
            <a:r>
              <a:rPr lang="en-US"/>
              <a:t>为何不一直将其</a:t>
            </a:r>
            <a:r>
              <a:rPr lang="en-US" b="1"/>
              <a:t>限定</a:t>
            </a:r>
            <a:r>
              <a:rPr lang="en-US"/>
              <a:t>在一个</a:t>
            </a:r>
            <a:r>
              <a:rPr lang="en-US" b="1"/>
              <a:t>核心上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F0C97F5B-FA84-D24D-AEAF-874E754DA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B98958-3650-C34C-887A-5488F6E6F34A}"/>
              </a:ext>
            </a:extLst>
          </p:cNvPr>
          <p:cNvSpPr/>
          <p:nvPr/>
        </p:nvSpPr>
        <p:spPr>
          <a:xfrm>
            <a:off x="2157773" y="2075619"/>
            <a:ext cx="792088" cy="11152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4007F88-EEA7-364B-A463-C6DEFC4DFB89}"/>
              </a:ext>
            </a:extLst>
          </p:cNvPr>
          <p:cNvSpPr/>
          <p:nvPr/>
        </p:nvSpPr>
        <p:spPr>
          <a:xfrm>
            <a:off x="1619672" y="2347399"/>
            <a:ext cx="214741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临界区请求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1170702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24</a:t>
            </a:fld>
            <a:endParaRPr lang="zh-CN" alt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634575-6B4B-EE49-884B-5BA1EE693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1777380"/>
            <a:ext cx="7272808" cy="345864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647D4E6-63F1-624C-8CCA-122824E73AB3}"/>
              </a:ext>
            </a:extLst>
          </p:cNvPr>
          <p:cNvSpPr/>
          <p:nvPr/>
        </p:nvSpPr>
        <p:spPr>
          <a:xfrm>
            <a:off x="5755395" y="3217540"/>
            <a:ext cx="1813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锁服务器的逻辑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80C1D3A-E3FA-8C4D-A6C0-DD36959641B7}"/>
              </a:ext>
            </a:extLst>
          </p:cNvPr>
          <p:cNvSpPr txBox="1">
            <a:spLocks/>
          </p:cNvSpPr>
          <p:nvPr/>
        </p:nvSpPr>
        <p:spPr>
          <a:xfrm>
            <a:off x="457200" y="228866"/>
            <a:ext cx="8686800" cy="9004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1" kern="1200">
                <a:solidFill>
                  <a:schemeClr val="accent1"/>
                </a:solidFill>
                <a:latin typeface="+mj-lt"/>
                <a:ea typeface="+mj-ea"/>
                <a:cs typeface="微软雅黑 Light" panose="020B0502040204020203" pitchFamily="34" charset="-122"/>
              </a:defRPr>
            </a:lvl1pPr>
          </a:lstStyle>
          <a:p>
            <a:r>
              <a:rPr lang="en-CN"/>
              <a:t>代理锁</a:t>
            </a:r>
            <a:r>
              <a:rPr lang="zh-CN" altLang="en-US"/>
              <a:t>：通过代理执行避免跨节点访问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82218CB-A97E-D841-A646-94236AD11178}"/>
              </a:ext>
            </a:extLst>
          </p:cNvPr>
          <p:cNvSpPr/>
          <p:nvPr/>
        </p:nvSpPr>
        <p:spPr>
          <a:xfrm>
            <a:off x="2051720" y="1057300"/>
            <a:ext cx="47884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与其让缓存行在不同的NUMA节点之间移动</a:t>
            </a:r>
            <a:r>
              <a:rPr lang="zh-CN" altLang="en-US"/>
              <a:t>，</a:t>
            </a:r>
            <a:endParaRPr lang="en-US"/>
          </a:p>
          <a:p>
            <a:pPr algn="ctr"/>
            <a:r>
              <a:rPr lang="en-US"/>
              <a:t>为何不一直将其</a:t>
            </a:r>
            <a:r>
              <a:rPr lang="en-US" b="1"/>
              <a:t>限定</a:t>
            </a:r>
            <a:r>
              <a:rPr lang="en-US"/>
              <a:t>在一个</a:t>
            </a:r>
            <a:r>
              <a:rPr lang="en-US" b="1"/>
              <a:t>核心上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5" name="Footer Placeholder 2">
            <a:extLst>
              <a:ext uri="{FF2B5EF4-FFF2-40B4-BE49-F238E27FC236}">
                <a16:creationId xmlns:a16="http://schemas.microsoft.com/office/drawing/2014/main" id="{7C96E5A1-87C3-DA44-A05A-4B037FE95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E2A1399-D215-D448-8D4C-21371CD29631}"/>
              </a:ext>
            </a:extLst>
          </p:cNvPr>
          <p:cNvSpPr/>
          <p:nvPr/>
        </p:nvSpPr>
        <p:spPr>
          <a:xfrm>
            <a:off x="3131329" y="4589693"/>
            <a:ext cx="2629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CN"/>
              <a:t>全局变量的缓存行将一直存在服务器的本地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8973E0-C558-4640-A2B4-0306CB1FAFE3}"/>
              </a:ext>
            </a:extLst>
          </p:cNvPr>
          <p:cNvSpPr/>
          <p:nvPr/>
        </p:nvSpPr>
        <p:spPr>
          <a:xfrm>
            <a:off x="1259632" y="2532065"/>
            <a:ext cx="1008112" cy="901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BB015E-3A80-504E-8048-1F1D236CA81A}"/>
              </a:ext>
            </a:extLst>
          </p:cNvPr>
          <p:cNvSpPr/>
          <p:nvPr/>
        </p:nvSpPr>
        <p:spPr>
          <a:xfrm>
            <a:off x="971600" y="2755875"/>
            <a:ext cx="1721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一个一个执行临界区的请求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166436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>
            <a:normAutofit/>
          </a:bodyPr>
          <a:lstStyle/>
          <a:p>
            <a:r>
              <a:rPr lang="en-CN" dirty="0"/>
              <a:t>应该由哪个核心成为锁服务器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25</a:t>
            </a:fld>
            <a:endParaRPr lang="zh-CN" alt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B634575-6B4B-EE49-884B-5BA1EE693C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" r="37624" b="-1762"/>
          <a:stretch/>
        </p:blipFill>
        <p:spPr>
          <a:xfrm>
            <a:off x="323528" y="1417340"/>
            <a:ext cx="4536504" cy="351958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F2A3EC8-6F59-DD45-B560-7BC136F8FD3F}"/>
              </a:ext>
            </a:extLst>
          </p:cNvPr>
          <p:cNvSpPr/>
          <p:nvPr/>
        </p:nvSpPr>
        <p:spPr>
          <a:xfrm>
            <a:off x="5364088" y="1382771"/>
            <a:ext cx="3240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固定锁服务器：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8FBF61-2430-2546-9C60-48807D2C86F0}"/>
              </a:ext>
            </a:extLst>
          </p:cNvPr>
          <p:cNvSpPr/>
          <p:nvPr/>
        </p:nvSpPr>
        <p:spPr>
          <a:xfrm>
            <a:off x="5446440" y="1844877"/>
            <a:ext cx="3240360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提前准备好一个锁服务器，所有临界区的请求都在这个服务器上执行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4C5DEE6-330C-9843-B5EF-5B7F2CC59BD9}"/>
              </a:ext>
            </a:extLst>
          </p:cNvPr>
          <p:cNvSpPr/>
          <p:nvPr/>
        </p:nvSpPr>
        <p:spPr>
          <a:xfrm>
            <a:off x="5364088" y="3212144"/>
            <a:ext cx="3240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非固定锁服务器</a:t>
            </a:r>
            <a:r>
              <a:rPr lang="zh-CN" altLang="en-US" dirty="0"/>
              <a:t>：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315489-1F25-754A-BAD7-6E8F027CE79B}"/>
              </a:ext>
            </a:extLst>
          </p:cNvPr>
          <p:cNvSpPr/>
          <p:nvPr/>
        </p:nvSpPr>
        <p:spPr>
          <a:xfrm>
            <a:off x="5451955" y="3628083"/>
            <a:ext cx="3240360" cy="12894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当没有锁服务器时，第一个尝试获取锁的竞争者升级成锁服务器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0B0EDB2-6F62-1040-80E5-620B8C68FE0D}"/>
              </a:ext>
            </a:extLst>
          </p:cNvPr>
          <p:cNvSpPr/>
          <p:nvPr/>
        </p:nvSpPr>
        <p:spPr>
          <a:xfrm>
            <a:off x="0" y="5060540"/>
            <a:ext cx="8686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Roghanchi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Sepideh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, Jakob Eriksson, and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Nilanjana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 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Basu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. ”</a:t>
            </a:r>
            <a:r>
              <a:rPr lang="en-US" sz="1200" dirty="0" err="1">
                <a:solidFill>
                  <a:srgbClr val="222222"/>
                </a:solidFill>
                <a:latin typeface="Arial" panose="020B0604020202020204" pitchFamily="34" charset="0"/>
              </a:rPr>
              <a:t>ffwd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: Delegation is (much) faster than you think." </a:t>
            </a:r>
            <a:r>
              <a:rPr lang="en-US" sz="1200" i="1" dirty="0">
                <a:solidFill>
                  <a:srgbClr val="222222"/>
                </a:solidFill>
                <a:latin typeface="Arial" panose="020B0604020202020204" pitchFamily="34" charset="0"/>
              </a:rPr>
              <a:t>SOSP</a:t>
            </a:r>
            <a:r>
              <a:rPr lang="en-US" sz="1200" dirty="0">
                <a:solidFill>
                  <a:srgbClr val="222222"/>
                </a:solidFill>
                <a:latin typeface="Arial" panose="020B0604020202020204" pitchFamily="34" charset="0"/>
              </a:rPr>
              <a:t>. 2017.</a:t>
            </a:r>
          </a:p>
          <a:p>
            <a:pPr marL="228600" indent="-228600">
              <a:buFontTx/>
              <a:buAutoNum type="arabicPeriod"/>
            </a:pPr>
            <a:r>
              <a:rPr lang="en-US" sz="1200" dirty="0"/>
              <a:t>Zhang, </a:t>
            </a:r>
            <a:r>
              <a:rPr lang="en-US" sz="1200" dirty="0" err="1"/>
              <a:t>Mingzhe</a:t>
            </a:r>
            <a:r>
              <a:rPr lang="en-US" sz="1200" dirty="0"/>
              <a:t>, </a:t>
            </a:r>
            <a:r>
              <a:rPr lang="en-US" sz="1200" dirty="0" err="1"/>
              <a:t>Haibo</a:t>
            </a:r>
            <a:r>
              <a:rPr lang="en-US" sz="1200" dirty="0"/>
              <a:t> Chen, </a:t>
            </a:r>
            <a:r>
              <a:rPr lang="en-US" altLang="zh-CN" sz="1200" dirty="0" err="1"/>
              <a:t>Luwei</a:t>
            </a:r>
            <a:r>
              <a:rPr lang="en-US" altLang="zh-CN" sz="1200" dirty="0"/>
              <a:t> Cheng, Francis C.M. Lau, and Cho-Li Wang</a:t>
            </a:r>
            <a:r>
              <a:rPr lang="en-US" sz="1200" dirty="0"/>
              <a:t>. "Scalable adaptive </a:t>
            </a:r>
            <a:r>
              <a:rPr lang="en-US" sz="1200" dirty="0" err="1"/>
              <a:t>numa</a:t>
            </a:r>
            <a:r>
              <a:rPr lang="en-US" sz="1200" dirty="0"/>
              <a:t>-aware lock.” TPDS 2016</a:t>
            </a:r>
            <a:endParaRPr lang="en-CN" sz="12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575E66-A5D3-D44A-B20C-898CBB35B432}"/>
              </a:ext>
            </a:extLst>
          </p:cNvPr>
          <p:cNvSpPr/>
          <p:nvPr/>
        </p:nvSpPr>
        <p:spPr>
          <a:xfrm>
            <a:off x="7308304" y="1386674"/>
            <a:ext cx="10605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ffwd</a:t>
            </a:r>
            <a:r>
              <a:rPr lang="en-US" altLang="zh-CN" baseline="30000" dirty="0"/>
              <a:t>1</a:t>
            </a:r>
            <a:r>
              <a:rPr lang="en-US" altLang="zh-CN" dirty="0"/>
              <a:t>, </a:t>
            </a:r>
            <a:r>
              <a:rPr lang="en-US" altLang="zh-CN" dirty="0" err="1"/>
              <a:t>rcl</a:t>
            </a:r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815367-89D3-EE4A-9033-49263FA9BA80}"/>
              </a:ext>
            </a:extLst>
          </p:cNvPr>
          <p:cNvSpPr/>
          <p:nvPr/>
        </p:nvSpPr>
        <p:spPr>
          <a:xfrm>
            <a:off x="7384192" y="3014629"/>
            <a:ext cx="172431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sanl</a:t>
            </a:r>
            <a:r>
              <a:rPr lang="en-US" altLang="zh-CN" baseline="30000" dirty="0"/>
              <a:t>2</a:t>
            </a:r>
            <a:r>
              <a:rPr lang="en-US" altLang="zh-CN" dirty="0"/>
              <a:t>, flat-combining</a:t>
            </a:r>
            <a:endParaRPr lang="en-CN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84671B-A4D8-6D4C-B3B8-96ADC57C331B}"/>
              </a:ext>
            </a:extLst>
          </p:cNvPr>
          <p:cNvSpPr/>
          <p:nvPr/>
        </p:nvSpPr>
        <p:spPr>
          <a:xfrm>
            <a:off x="750438" y="2207148"/>
            <a:ext cx="1008112" cy="9014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51D2E4D-6758-6B48-B0A4-7D1FC062F9CE}"/>
              </a:ext>
            </a:extLst>
          </p:cNvPr>
          <p:cNvSpPr/>
          <p:nvPr/>
        </p:nvSpPr>
        <p:spPr>
          <a:xfrm>
            <a:off x="462406" y="2430958"/>
            <a:ext cx="17217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一个一个执行临界区的请求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8287259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>
            <a:normAutofit/>
          </a:bodyPr>
          <a:lstStyle/>
          <a:p>
            <a:r>
              <a:rPr lang="en-CN"/>
              <a:t>代理锁性能表现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0B67B6D-220F-D247-935F-D087B60BA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en-US" altLang="zh-CN" dirty="0"/>
              <a:t>Institute of parallel and distributed system</a:t>
            </a:r>
            <a:r>
              <a:rPr lang="zh-CN" altLang="en-US" dirty="0"/>
              <a:t>（</a:t>
            </a:r>
            <a:r>
              <a:rPr lang="en-US" altLang="zh-CN" dirty="0"/>
              <a:t>IPADS@SJTU</a:t>
            </a:r>
            <a:r>
              <a:rPr lang="zh-CN" altLang="en-US" dirty="0"/>
              <a:t>）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7C798-8997-D74C-B439-054471A40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29308"/>
            <a:ext cx="5904656" cy="39364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A7E611-E39A-6A40-B93E-7169CD787FD6}"/>
              </a:ext>
            </a:extLst>
          </p:cNvPr>
          <p:cNvSpPr/>
          <p:nvPr/>
        </p:nvSpPr>
        <p:spPr>
          <a:xfrm>
            <a:off x="6553200" y="2257335"/>
            <a:ext cx="23042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b="1" dirty="0">
                <a:solidFill>
                  <a:schemeClr val="accent1"/>
                </a:solidFill>
              </a:rPr>
              <a:t>在扩展到其他NUMA节点时</a:t>
            </a:r>
            <a:r>
              <a:rPr lang="zh-CN" altLang="en-US" b="1" dirty="0">
                <a:solidFill>
                  <a:schemeClr val="accent1"/>
                </a:solidFill>
              </a:rPr>
              <a:t>，没有显著的性能的下降</a:t>
            </a:r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4415A6-3094-2648-AFC5-EFC8EBB86AE5}"/>
              </a:ext>
            </a:extLst>
          </p:cNvPr>
          <p:cNvSpPr/>
          <p:nvPr/>
        </p:nvSpPr>
        <p:spPr>
          <a:xfrm>
            <a:off x="6140739" y="1759862"/>
            <a:ext cx="1757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ffwd</a:t>
            </a:r>
            <a:r>
              <a:rPr lang="zh-CN" altLang="en-US" dirty="0" err="1"/>
              <a:t>的性能表现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D3A98B-1196-BA40-89D3-021BF48815DB}"/>
              </a:ext>
            </a:extLst>
          </p:cNvPr>
          <p:cNvSpPr/>
          <p:nvPr/>
        </p:nvSpPr>
        <p:spPr>
          <a:xfrm>
            <a:off x="6140739" y="3309503"/>
            <a:ext cx="2304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是否是最优的解</a:t>
            </a:r>
            <a:r>
              <a:rPr lang="zh-CN" altLang="en-US" dirty="0"/>
              <a:t>？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626638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836E-A2B8-454D-9EFA-1862FBD97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686800" cy="900442"/>
          </a:xfrm>
        </p:spPr>
        <p:txBody>
          <a:bodyPr>
            <a:normAutofit/>
          </a:bodyPr>
          <a:lstStyle/>
          <a:p>
            <a:r>
              <a:rPr lang="en-CN"/>
              <a:t>代理锁性能表现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3CC299-DB21-6A44-8575-D5D8D131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0B67B6D-220F-D247-935F-D087B60BA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53817" y="5305772"/>
            <a:ext cx="3962399" cy="304271"/>
          </a:xfrm>
        </p:spPr>
        <p:txBody>
          <a:bodyPr/>
          <a:lstStyle/>
          <a:p>
            <a:r>
              <a:rPr lang="en-US" altLang="zh-CN" dirty="0"/>
              <a:t>Institute of parallel and distributed system</a:t>
            </a:r>
            <a:r>
              <a:rPr lang="zh-CN" altLang="en-US" dirty="0"/>
              <a:t>（</a:t>
            </a:r>
            <a:r>
              <a:rPr lang="en-US" altLang="zh-CN" dirty="0"/>
              <a:t>IPADS@SJTU</a:t>
            </a:r>
            <a:r>
              <a:rPr lang="zh-CN" altLang="en-US" dirty="0"/>
              <a:t>）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57C798-8997-D74C-B439-054471A401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29308"/>
            <a:ext cx="5904656" cy="39364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0A7E611-E39A-6A40-B93E-7169CD787FD6}"/>
              </a:ext>
            </a:extLst>
          </p:cNvPr>
          <p:cNvSpPr/>
          <p:nvPr/>
        </p:nvSpPr>
        <p:spPr>
          <a:xfrm>
            <a:off x="6553200" y="2257335"/>
            <a:ext cx="230425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b="1" dirty="0">
                <a:solidFill>
                  <a:schemeClr val="accent1"/>
                </a:solidFill>
              </a:rPr>
              <a:t>在扩展到其他NUMA节点时</a:t>
            </a:r>
            <a:r>
              <a:rPr lang="zh-CN" altLang="en-US" b="1" dirty="0">
                <a:solidFill>
                  <a:schemeClr val="accent1"/>
                </a:solidFill>
              </a:rPr>
              <a:t>，没有显著的性能的下坠</a:t>
            </a:r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4415A6-3094-2648-AFC5-EFC8EBB86AE5}"/>
              </a:ext>
            </a:extLst>
          </p:cNvPr>
          <p:cNvSpPr/>
          <p:nvPr/>
        </p:nvSpPr>
        <p:spPr>
          <a:xfrm>
            <a:off x="6140739" y="1759862"/>
            <a:ext cx="17578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err="1"/>
              <a:t>ffwd</a:t>
            </a:r>
            <a:r>
              <a:rPr lang="zh-CN" altLang="en-US" dirty="0" err="1"/>
              <a:t>的性能表现</a:t>
            </a:r>
            <a:endParaRPr lang="en-C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1D3A98B-1196-BA40-89D3-021BF48815DB}"/>
              </a:ext>
            </a:extLst>
          </p:cNvPr>
          <p:cNvSpPr/>
          <p:nvPr/>
        </p:nvSpPr>
        <p:spPr>
          <a:xfrm>
            <a:off x="6140739" y="3339341"/>
            <a:ext cx="23042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dirty="0"/>
              <a:t>是否是最优的解</a:t>
            </a:r>
            <a:r>
              <a:rPr lang="zh-CN" altLang="en-US" dirty="0"/>
              <a:t>？</a:t>
            </a:r>
            <a:endParaRPr lang="en-C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D5F2A3-0B1C-E74A-9DC3-DDC8FAFA2C2F}"/>
              </a:ext>
            </a:extLst>
          </p:cNvPr>
          <p:cNvSpPr/>
          <p:nvPr/>
        </p:nvSpPr>
        <p:spPr>
          <a:xfrm>
            <a:off x="6351470" y="3784004"/>
            <a:ext cx="2304256" cy="128746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需要很多代码修改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额外逻辑复杂：锁竞争少是性能差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078020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A6AD-0241-CB43-AD2D-8E167E75D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系统软件</a:t>
            </a:r>
            <a:r>
              <a:rPr lang="zh-CN" altLang="en-US"/>
              <a:t>开发者视角下的</a:t>
            </a:r>
            <a:r>
              <a:rPr lang="en-US" altLang="zh-CN"/>
              <a:t>NUMA</a:t>
            </a:r>
            <a:r>
              <a:rPr lang="zh-CN" altLang="en-US"/>
              <a:t>架构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9508656-0E0B-9D46-8DC9-B22D42C4AEB2}"/>
              </a:ext>
            </a:extLst>
          </p:cNvPr>
          <p:cNvSpPr/>
          <p:nvPr/>
        </p:nvSpPr>
        <p:spPr>
          <a:xfrm>
            <a:off x="305780" y="1542569"/>
            <a:ext cx="8532440" cy="307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CN" altLang="zh-CN" sz="2000"/>
              <a:t>NUMA</a:t>
            </a:r>
            <a:r>
              <a:rPr lang="zh-CN" altLang="en-US" sz="2000"/>
              <a:t>会暴露给操作系统，操作系统可以选择暴露给软件</a:t>
            </a:r>
            <a:endParaRPr lang="en-US" altLang="zh-CN" sz="20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软件可以用接口来分配本地的内存，也可不用直接分配，如（</a:t>
            </a:r>
            <a:r>
              <a:rPr lang="en-US" altLang="zh-CN" sz="2000"/>
              <a:t>libnuma</a:t>
            </a:r>
            <a:r>
              <a:rPr lang="zh-CN" altLang="en-US" sz="2000"/>
              <a:t>）</a:t>
            </a:r>
            <a:endParaRPr lang="en-US" altLang="zh-CN" sz="20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访问</a:t>
            </a:r>
            <a:r>
              <a:rPr lang="zh-CN" altLang="en-US" sz="2000" b="1"/>
              <a:t>远程内存</a:t>
            </a:r>
            <a:r>
              <a:rPr lang="zh-CN" altLang="en-US" sz="2000"/>
              <a:t>会带来严重</a:t>
            </a:r>
            <a:r>
              <a:rPr lang="zh-CN" altLang="en-US" sz="2000" b="1"/>
              <a:t>时延</a:t>
            </a:r>
            <a:r>
              <a:rPr lang="en-US" altLang="zh-CN" sz="2000" b="1"/>
              <a:t>/</a:t>
            </a:r>
            <a:r>
              <a:rPr lang="zh-CN" altLang="en-US" sz="2000" b="1"/>
              <a:t>带宽</a:t>
            </a:r>
            <a:r>
              <a:rPr lang="zh-CN" altLang="en-US" sz="2000"/>
              <a:t>问题造成性能瓶颈</a:t>
            </a:r>
            <a:endParaRPr lang="en-US" altLang="zh-CN" sz="20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对于所有进程：调度时避免跨</a:t>
            </a:r>
            <a:r>
              <a:rPr lang="en-US" altLang="zh-CN" sz="2000"/>
              <a:t>NUMA</a:t>
            </a:r>
            <a:r>
              <a:rPr lang="zh-CN" altLang="en-US" sz="2000"/>
              <a:t>结点迁移</a:t>
            </a:r>
            <a:endParaRPr lang="en-US" altLang="zh-CN" sz="200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sz="2000"/>
              <a:t>对于没有</a:t>
            </a:r>
            <a:r>
              <a:rPr lang="en-US" altLang="zh-CN" sz="2000"/>
              <a:t>NUMA-aware</a:t>
            </a:r>
            <a:r>
              <a:rPr lang="zh-CN" altLang="en-US" sz="2000"/>
              <a:t>的应用：尽可能保证其分配的内存的本地性</a:t>
            </a:r>
            <a:endParaRPr lang="en-US" altLang="zh-CN" sz="20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0120BA-393F-444B-ACD1-DA1A4CB5D9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C8685-2427-F34C-B9A6-4A460BFF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54753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5A777-CB92-704F-BC5A-7D281ECC2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读写锁的可扩展性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614D1A-03F6-024F-803A-A27F6E1C6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CD33F-70C0-E640-8329-1AC57B0C5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7557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1404498"/>
          </a:xfrm>
        </p:spPr>
        <p:txBody>
          <a:bodyPr/>
          <a:lstStyle/>
          <a:p>
            <a:r>
              <a:rPr lang="zh-CN" altLang="en-US"/>
              <a:t>回顾：</a:t>
            </a:r>
            <a:br>
              <a:rPr lang="en-US" altLang="zh-CN"/>
            </a:br>
            <a:r>
              <a:rPr lang="zh-CN" altLang="en-US"/>
              <a:t>读写锁</a:t>
            </a:r>
            <a:endParaRPr lang="en-CN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77AE6A-15B2-064E-BFB2-B064C65E01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80176"/>
            <a:ext cx="5985541" cy="50255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4561D2A-42BE-9F4E-9834-5A9E09B2C304}"/>
              </a:ext>
            </a:extLst>
          </p:cNvPr>
          <p:cNvSpPr/>
          <p:nvPr/>
        </p:nvSpPr>
        <p:spPr>
          <a:xfrm>
            <a:off x="246191" y="1934170"/>
            <a:ext cx="2954655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性能问题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读者需要抢一把全局互斥锁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并对一个全局计数器自增</a:t>
            </a:r>
            <a:endParaRPr lang="en-US">
              <a:solidFill>
                <a:srgbClr val="C00000"/>
              </a:solidFill>
              <a:latin typeface="Courier" pitchFamily="2" charset="0"/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5D9DAD8-838C-B041-8C95-BCC1F167D054}"/>
              </a:ext>
            </a:extLst>
          </p:cNvPr>
          <p:cNvCxnSpPr/>
          <p:nvPr/>
        </p:nvCxnSpPr>
        <p:spPr>
          <a:xfrm flipV="1">
            <a:off x="3200846" y="1934170"/>
            <a:ext cx="507058" cy="4616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69644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9E3D-4A42-BC41-8988-A66D81517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84" y="101535"/>
            <a:ext cx="3034680" cy="900442"/>
          </a:xfrm>
        </p:spPr>
        <p:txBody>
          <a:bodyPr/>
          <a:lstStyle/>
          <a:p>
            <a:r>
              <a:rPr lang="en-CN"/>
              <a:t>大读者锁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F8997-03D9-3A46-95BD-CB64B5B6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4958-3B88-EF49-B265-9C527F155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D75FE3-82A4-7444-94B2-3697BF5A06A5}"/>
              </a:ext>
            </a:extLst>
          </p:cNvPr>
          <p:cNvSpPr/>
          <p:nvPr/>
        </p:nvSpPr>
        <p:spPr>
          <a:xfrm>
            <a:off x="179512" y="2871259"/>
            <a:ext cx="435432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03C7E-5FA6-5E4B-8BD1-C2DBE9B0DDD1}"/>
              </a:ext>
            </a:extLst>
          </p:cNvPr>
          <p:cNvSpPr txBox="1"/>
          <p:nvPr/>
        </p:nvSpPr>
        <p:spPr>
          <a:xfrm>
            <a:off x="1767945" y="2942449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读</a:t>
            </a:r>
            <a:r>
              <a:rPr lang="zh-CN" altLang="en-CN"/>
              <a:t>临界区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C5CD5E-18B5-2B42-A8BA-B5C55A02FC6A}"/>
              </a:ext>
            </a:extLst>
          </p:cNvPr>
          <p:cNvSpPr/>
          <p:nvPr/>
        </p:nvSpPr>
        <p:spPr>
          <a:xfrm>
            <a:off x="634901" y="3384607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0A7618-F8CB-4347-AA4A-9A269BFDB9F4}"/>
              </a:ext>
            </a:extLst>
          </p:cNvPr>
          <p:cNvSpPr/>
          <p:nvPr/>
        </p:nvSpPr>
        <p:spPr>
          <a:xfrm>
            <a:off x="82218" y="1969659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 dirty="0"/>
              <a:t>写者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735F6-F5BD-DB47-B146-02D6059BB8E8}"/>
              </a:ext>
            </a:extLst>
          </p:cNvPr>
          <p:cNvSpPr/>
          <p:nvPr/>
        </p:nvSpPr>
        <p:spPr>
          <a:xfrm>
            <a:off x="651834" y="4141427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E355EF-0774-0E4B-80F5-B81F235FD8B1}"/>
              </a:ext>
            </a:extLst>
          </p:cNvPr>
          <p:cNvSpPr/>
          <p:nvPr/>
        </p:nvSpPr>
        <p:spPr>
          <a:xfrm>
            <a:off x="1936294" y="3384607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F40E89-D1B3-BC4C-A4FA-D90C073467B4}"/>
              </a:ext>
            </a:extLst>
          </p:cNvPr>
          <p:cNvSpPr/>
          <p:nvPr/>
        </p:nvSpPr>
        <p:spPr>
          <a:xfrm>
            <a:off x="3242996" y="338412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D2368D-B1A0-AE4E-91D8-AB138611396C}"/>
              </a:ext>
            </a:extLst>
          </p:cNvPr>
          <p:cNvSpPr/>
          <p:nvPr/>
        </p:nvSpPr>
        <p:spPr>
          <a:xfrm>
            <a:off x="1936294" y="4141427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2F561-7F1F-C54D-9867-B3A07D361F5A}"/>
              </a:ext>
            </a:extLst>
          </p:cNvPr>
          <p:cNvSpPr/>
          <p:nvPr/>
        </p:nvSpPr>
        <p:spPr>
          <a:xfrm>
            <a:off x="3242996" y="4141427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F28637-49B2-CF49-A21C-26E360B3C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910" y="3438639"/>
            <a:ext cx="504056" cy="58948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48CE869-1273-A64B-849E-41F057E88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833" y="3444798"/>
            <a:ext cx="504056" cy="5894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D28B5C-1DC0-F44D-9B7A-359A455D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764" y="3438639"/>
            <a:ext cx="504056" cy="58948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9DE1674-0F90-F24E-A279-65350386C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18" y="4217176"/>
            <a:ext cx="504056" cy="58948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846992C-0559-094F-9B54-5498CFADEF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466" y="4270746"/>
            <a:ext cx="504056" cy="58948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20E1A5B-76B6-574A-81A1-7C2EEF6FF5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3047" y="4217176"/>
            <a:ext cx="504056" cy="5894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13FDF46-AABB-D441-B56E-27890ECC1B58}"/>
              </a:ext>
            </a:extLst>
          </p:cNvPr>
          <p:cNvSpPr/>
          <p:nvPr/>
        </p:nvSpPr>
        <p:spPr>
          <a:xfrm>
            <a:off x="1881038" y="2127859"/>
            <a:ext cx="4354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C00000"/>
                </a:solidFill>
                <a:latin typeface="Courier" pitchFamily="2" charset="0"/>
              </a:rPr>
              <a:t>每个读者将私有一把专属的读者锁</a:t>
            </a:r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：</a:t>
            </a:r>
            <a:endParaRPr lang="en-US" altLang="zh-CN" dirty="0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zh-CN" altLang="en-US" dirty="0">
                <a:solidFill>
                  <a:srgbClr val="C00000"/>
                </a:solidFill>
                <a:latin typeface="Courier" pitchFamily="2" charset="0"/>
              </a:rPr>
              <a:t>进读临界区：</a:t>
            </a:r>
            <a:r>
              <a:rPr lang="zh-CN" altLang="en-US" b="1" dirty="0">
                <a:solidFill>
                  <a:srgbClr val="C00000"/>
                </a:solidFill>
                <a:latin typeface="Courier" pitchFamily="2" charset="0"/>
              </a:rPr>
              <a:t>直接获取私有的互斥锁</a:t>
            </a:r>
            <a:endParaRPr lang="en-US" b="1" dirty="0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6F6D8BA-C1E0-1B4E-91DD-CD014F372DBA}"/>
              </a:ext>
            </a:extLst>
          </p:cNvPr>
          <p:cNvSpPr txBox="1"/>
          <p:nvPr/>
        </p:nvSpPr>
        <p:spPr>
          <a:xfrm>
            <a:off x="107504" y="5161756"/>
            <a:ext cx="22595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/>
              <a:t>https://</a:t>
            </a:r>
            <a:r>
              <a:rPr kumimoji="1" lang="en-US" altLang="zh-CN" sz="1400" dirty="0" err="1"/>
              <a:t>lwn.net</a:t>
            </a:r>
            <a:r>
              <a:rPr kumimoji="1" lang="en-US" altLang="zh-CN" sz="1400" dirty="0"/>
              <a:t>/Articles/378911/</a:t>
            </a:r>
            <a:endParaRPr kumimoji="1" lang="zh-CN" altLang="en-US" sz="14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E4A0E99-03F5-8D4F-BECA-52B8C5B9F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8214" y="183783"/>
            <a:ext cx="4047101" cy="171188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28851CD-5AA6-EC47-B226-04A4BFD56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31126" y="3311781"/>
            <a:ext cx="4492578" cy="1327530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38E23052-610F-254B-9C9C-D84ADE159E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717" y="981929"/>
            <a:ext cx="4725498" cy="978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842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9E3D-4A42-BC41-8988-A66D8151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大读者锁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F8997-03D9-3A46-95BD-CB64B5B6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4958-3B88-EF49-B265-9C527F155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D75FE3-82A4-7444-94B2-3697BF5A06A5}"/>
              </a:ext>
            </a:extLst>
          </p:cNvPr>
          <p:cNvSpPr/>
          <p:nvPr/>
        </p:nvSpPr>
        <p:spPr>
          <a:xfrm>
            <a:off x="1187624" y="2871259"/>
            <a:ext cx="4354320" cy="19354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503C7E-5FA6-5E4B-8BD1-C2DBE9B0DDD1}"/>
              </a:ext>
            </a:extLst>
          </p:cNvPr>
          <p:cNvSpPr txBox="1"/>
          <p:nvPr/>
        </p:nvSpPr>
        <p:spPr>
          <a:xfrm>
            <a:off x="2776057" y="2942449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读</a:t>
            </a:r>
            <a:r>
              <a:rPr lang="zh-CN" altLang="en-CN" dirty="0"/>
              <a:t>临界区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C5CD5E-18B5-2B42-A8BA-B5C55A02FC6A}"/>
              </a:ext>
            </a:extLst>
          </p:cNvPr>
          <p:cNvSpPr/>
          <p:nvPr/>
        </p:nvSpPr>
        <p:spPr>
          <a:xfrm>
            <a:off x="1929987" y="4959291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80A7618-F8CB-4347-AA4A-9A269BFDB9F4}"/>
              </a:ext>
            </a:extLst>
          </p:cNvPr>
          <p:cNvSpPr/>
          <p:nvPr/>
        </p:nvSpPr>
        <p:spPr>
          <a:xfrm>
            <a:off x="1015397" y="1328742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BE735F6-F5BD-DB47-B146-02D6059BB8E8}"/>
              </a:ext>
            </a:extLst>
          </p:cNvPr>
          <p:cNvSpPr/>
          <p:nvPr/>
        </p:nvSpPr>
        <p:spPr>
          <a:xfrm>
            <a:off x="805161" y="4945041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4E355EF-0774-0E4B-80F5-B81F235FD8B1}"/>
              </a:ext>
            </a:extLst>
          </p:cNvPr>
          <p:cNvSpPr/>
          <p:nvPr/>
        </p:nvSpPr>
        <p:spPr>
          <a:xfrm>
            <a:off x="3021869" y="4975763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F40E89-D1B3-BC4C-A4FA-D90C073467B4}"/>
              </a:ext>
            </a:extLst>
          </p:cNvPr>
          <p:cNvSpPr/>
          <p:nvPr/>
        </p:nvSpPr>
        <p:spPr>
          <a:xfrm>
            <a:off x="1513292" y="3290385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1D2368D-B1A0-AE4E-91D8-AB138611396C}"/>
              </a:ext>
            </a:extLst>
          </p:cNvPr>
          <p:cNvSpPr/>
          <p:nvPr/>
        </p:nvSpPr>
        <p:spPr>
          <a:xfrm>
            <a:off x="4066964" y="4953851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E2F561-7F1F-C54D-9867-B3A07D361F5A}"/>
              </a:ext>
            </a:extLst>
          </p:cNvPr>
          <p:cNvSpPr/>
          <p:nvPr/>
        </p:nvSpPr>
        <p:spPr>
          <a:xfrm>
            <a:off x="5147667" y="492460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48CE869-1273-A64B-849E-41F057E88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915" y="1860644"/>
            <a:ext cx="504056" cy="5894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D28B5C-1DC0-F44D-9B7A-359A455DA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810" y="1853339"/>
            <a:ext cx="504056" cy="589489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13FDF46-AABB-D441-B56E-27890ECC1B58}"/>
              </a:ext>
            </a:extLst>
          </p:cNvPr>
          <p:cNvSpPr/>
          <p:nvPr/>
        </p:nvSpPr>
        <p:spPr>
          <a:xfrm>
            <a:off x="6083771" y="2904729"/>
            <a:ext cx="241968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写者进入临界区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zh-CN" altLang="en-US" b="1">
                <a:solidFill>
                  <a:srgbClr val="C00000"/>
                </a:solidFill>
                <a:latin typeface="Courier" pitchFamily="2" charset="0"/>
              </a:rPr>
              <a:t>需要获取所有的私有读者锁</a:t>
            </a:r>
            <a:endParaRPr lang="en-US" altLang="zh-CN" b="1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en-US" b="1">
                <a:solidFill>
                  <a:srgbClr val="C00000"/>
                </a:solidFill>
                <a:latin typeface="Courier" pitchFamily="2" charset="0"/>
              </a:rPr>
              <a:t>一旦失败</a:t>
            </a:r>
            <a:r>
              <a:rPr lang="zh-CN" altLang="en-US" b="1">
                <a:solidFill>
                  <a:srgbClr val="C00000"/>
                </a:solidFill>
                <a:latin typeface="Courier" pitchFamily="2" charset="0"/>
              </a:rPr>
              <a:t>，立刻重试</a:t>
            </a:r>
            <a:endParaRPr lang="en-US" b="1">
              <a:solidFill>
                <a:srgbClr val="C00000"/>
              </a:solidFill>
              <a:latin typeface="Courier" pitchFamily="2" charset="0"/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62FB5CC-2889-3B42-BD2A-FB37D3A8E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033" y="1852317"/>
            <a:ext cx="504056" cy="589489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987DE0E-95FA-F049-834B-9F170E97D0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685" y="1877116"/>
            <a:ext cx="504056" cy="589489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C5AED8A-AAD0-674A-98EC-F912D0ED3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947" y="1858207"/>
            <a:ext cx="504056" cy="5894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9D398E24-263A-DC42-9F81-F600BE4DF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8940" y="3454505"/>
            <a:ext cx="504056" cy="589489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2212B61-FFD8-E34B-8038-647131F24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5228" y="70684"/>
            <a:ext cx="5355065" cy="271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31204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D9E3D-4A42-BC41-8988-A66D81517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大读者锁问题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F8997-03D9-3A46-95BD-CB64B5B61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FE4958-3B88-EF49-B265-9C527F1550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24" name="Picture 2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33F36FDE-0FEB-584E-85DD-749DCDEAB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004" y="2041446"/>
            <a:ext cx="6489700" cy="23876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473935D-59E2-5D46-91D5-33317E413A9A}"/>
              </a:ext>
            </a:extLst>
          </p:cNvPr>
          <p:cNvSpPr/>
          <p:nvPr/>
        </p:nvSpPr>
        <p:spPr>
          <a:xfrm>
            <a:off x="1211029" y="1378600"/>
            <a:ext cx="71096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读者关键路径上仍然有上锁操作：涉及原子操作，性能影响仍然较大</a:t>
            </a:r>
            <a:endParaRPr lang="en-CN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A64581D-3913-1642-A0A1-A88CA7A8EF77}"/>
              </a:ext>
            </a:extLst>
          </p:cNvPr>
          <p:cNvSpPr/>
          <p:nvPr/>
        </p:nvSpPr>
        <p:spPr>
          <a:xfrm>
            <a:off x="1211029" y="472256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Courier" pitchFamily="2" charset="0"/>
              </a:rPr>
              <a:t>写者开销巨大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3829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PRWLock</a:t>
            </a:r>
            <a:br>
              <a:rPr lang="en-US" altLang="zh-CN"/>
            </a:br>
            <a:r>
              <a:rPr lang="zh-CN" altLang="en-US"/>
              <a:t>进一步减少读者关键路径性能开销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14303B-6C60-FA47-BA16-2090B581674C}"/>
              </a:ext>
            </a:extLst>
          </p:cNvPr>
          <p:cNvSpPr/>
          <p:nvPr/>
        </p:nvSpPr>
        <p:spPr>
          <a:xfrm>
            <a:off x="4660141" y="2852360"/>
            <a:ext cx="2593428" cy="12741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97EAE-7818-0241-B9AB-00736D0D9678}"/>
              </a:ext>
            </a:extLst>
          </p:cNvPr>
          <p:cNvSpPr txBox="1"/>
          <p:nvPr/>
        </p:nvSpPr>
        <p:spPr>
          <a:xfrm>
            <a:off x="4927380" y="2874557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读</a:t>
            </a:r>
            <a:r>
              <a:rPr lang="zh-CN" altLang="en-CN"/>
              <a:t>临界区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3273EF-1D99-C644-9150-73B8822E745C}"/>
              </a:ext>
            </a:extLst>
          </p:cNvPr>
          <p:cNvSpPr/>
          <p:nvPr/>
        </p:nvSpPr>
        <p:spPr>
          <a:xfrm>
            <a:off x="7519426" y="2424900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4D080E-55D0-EC46-8439-0172C9E3B23E}"/>
              </a:ext>
            </a:extLst>
          </p:cNvPr>
          <p:cNvSpPr/>
          <p:nvPr/>
        </p:nvSpPr>
        <p:spPr>
          <a:xfrm>
            <a:off x="7519426" y="325396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5D1918-F03B-124D-993B-B74C64AA2C6B}"/>
              </a:ext>
            </a:extLst>
          </p:cNvPr>
          <p:cNvSpPr/>
          <p:nvPr/>
        </p:nvSpPr>
        <p:spPr>
          <a:xfrm>
            <a:off x="5466418" y="3316006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D53BC7-D24A-6048-A1ED-A06A1F869096}"/>
              </a:ext>
            </a:extLst>
          </p:cNvPr>
          <p:cNvSpPr/>
          <p:nvPr/>
        </p:nvSpPr>
        <p:spPr>
          <a:xfrm>
            <a:off x="7519426" y="410584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3E86FE-22F5-AE4B-9D9D-DE4BD3FDD7C9}"/>
              </a:ext>
            </a:extLst>
          </p:cNvPr>
          <p:cNvSpPr/>
          <p:nvPr/>
        </p:nvSpPr>
        <p:spPr>
          <a:xfrm>
            <a:off x="7973952" y="2755044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10</a:t>
            </a:r>
            <a:endParaRPr lang="en-CN" sz="11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5E19DC-C062-F748-AF10-83C8CD32E205}"/>
              </a:ext>
            </a:extLst>
          </p:cNvPr>
          <p:cNvSpPr/>
          <p:nvPr/>
        </p:nvSpPr>
        <p:spPr>
          <a:xfrm>
            <a:off x="6023012" y="3646151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9</a:t>
            </a:r>
            <a:endParaRPr lang="en-CN" sz="11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0B20BD-23D0-EF45-B5FF-740400332854}"/>
              </a:ext>
            </a:extLst>
          </p:cNvPr>
          <p:cNvSpPr/>
          <p:nvPr/>
        </p:nvSpPr>
        <p:spPr>
          <a:xfrm>
            <a:off x="7973952" y="3505997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10</a:t>
            </a:r>
            <a:endParaRPr lang="en-CN" sz="11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5A8521-BBE1-444C-A7C0-7F55BC57FA71}"/>
              </a:ext>
            </a:extLst>
          </p:cNvPr>
          <p:cNvSpPr/>
          <p:nvPr/>
        </p:nvSpPr>
        <p:spPr>
          <a:xfrm>
            <a:off x="7987478" y="4474738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10</a:t>
            </a:r>
            <a:endParaRPr lang="en-CN" sz="11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5D8212-442B-B646-9637-B4CD87984043}"/>
              </a:ext>
            </a:extLst>
          </p:cNvPr>
          <p:cNvSpPr/>
          <p:nvPr/>
        </p:nvSpPr>
        <p:spPr>
          <a:xfrm>
            <a:off x="492428" y="1408288"/>
            <a:ext cx="8417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核心思想</a:t>
            </a:r>
            <a:r>
              <a:rPr lang="zh-CN" altLang="en-US">
                <a:latin typeface="Courier" pitchFamily="2" charset="0"/>
              </a:rPr>
              <a:t>：通过版本号协同</a:t>
            </a:r>
            <a:r>
              <a:rPr lang="zh-CN" altLang="en-US" b="1">
                <a:latin typeface="Courier" pitchFamily="2" charset="0"/>
              </a:rPr>
              <a:t>读者与写者，</a:t>
            </a:r>
            <a:r>
              <a:rPr lang="zh-CN" altLang="en-US">
                <a:latin typeface="Courier" pitchFamily="2" charset="0"/>
              </a:rPr>
              <a:t>读者关键路径上只有</a:t>
            </a:r>
            <a:r>
              <a:rPr lang="zh-CN" altLang="en-US" b="1">
                <a:latin typeface="Courier" pitchFamily="2" charset="0"/>
              </a:rPr>
              <a:t>三个本地访存操作</a:t>
            </a:r>
            <a:endParaRPr lang="en-US" b="1">
              <a:latin typeface="Courier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BFBDA1-4C6D-3441-9677-5E36BBC0E276}"/>
              </a:ext>
            </a:extLst>
          </p:cNvPr>
          <p:cNvSpPr/>
          <p:nvPr/>
        </p:nvSpPr>
        <p:spPr>
          <a:xfrm>
            <a:off x="492429" y="2248246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当写者需要写时更新版本号</a:t>
            </a:r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0D498A6-2C97-7344-9C18-0A8927ECA46C}"/>
              </a:ext>
            </a:extLst>
          </p:cNvPr>
          <p:cNvSpPr/>
          <p:nvPr/>
        </p:nvSpPr>
        <p:spPr>
          <a:xfrm>
            <a:off x="4701241" y="2090777"/>
            <a:ext cx="28303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读者进入</a:t>
            </a:r>
            <a:r>
              <a:rPr lang="en-US" altLang="zh-CN">
                <a:latin typeface="Courier" pitchFamily="2" charset="0"/>
              </a:rPr>
              <a:t>/</a:t>
            </a:r>
            <a:r>
              <a:rPr lang="zh-CN" altLang="en-US">
                <a:latin typeface="Courier" pitchFamily="2" charset="0"/>
              </a:rPr>
              <a:t>退出临界区时</a:t>
            </a:r>
            <a:r>
              <a:rPr lang="zh-CN" altLang="en-US" b="1">
                <a:latin typeface="Courier" pitchFamily="2" charset="0"/>
              </a:rPr>
              <a:t>更新自己的版本号</a:t>
            </a:r>
            <a:endParaRPr lang="en-CN" b="1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079D23-FEB2-3346-A30C-D0B852DE3007}"/>
              </a:ext>
            </a:extLst>
          </p:cNvPr>
          <p:cNvSpPr/>
          <p:nvPr/>
        </p:nvSpPr>
        <p:spPr>
          <a:xfrm>
            <a:off x="948675" y="301926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C6059C-FE9D-E44C-9025-D59D4E317D64}"/>
              </a:ext>
            </a:extLst>
          </p:cNvPr>
          <p:cNvSpPr/>
          <p:nvPr/>
        </p:nvSpPr>
        <p:spPr>
          <a:xfrm>
            <a:off x="1977154" y="3050960"/>
            <a:ext cx="1566083" cy="857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600"/>
              <a:t>全局版本号</a:t>
            </a:r>
            <a:r>
              <a:rPr lang="en-US" altLang="zh-CN" sz="1600"/>
              <a:t>10</a:t>
            </a:r>
            <a:endParaRPr lang="en-CN" sz="16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308C74F-FA6B-1845-ACE7-82BB5708A08A}"/>
              </a:ext>
            </a:extLst>
          </p:cNvPr>
          <p:cNvSpPr/>
          <p:nvPr/>
        </p:nvSpPr>
        <p:spPr>
          <a:xfrm>
            <a:off x="4509864" y="4983586"/>
            <a:ext cx="3962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>
                <a:latin typeface="Courier" pitchFamily="2" charset="0"/>
              </a:rPr>
              <a:t>确保看到版本号的读者</a:t>
            </a:r>
            <a:r>
              <a:rPr lang="zh-CN" altLang="en-US" b="1">
                <a:latin typeface="Courier" pitchFamily="2" charset="0"/>
              </a:rPr>
              <a:t>知道写者的上锁意图，不会进入读临界区</a:t>
            </a:r>
            <a:endParaRPr lang="en-CN" b="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5F40834-3EB8-F041-92CC-696A017A962F}"/>
              </a:ext>
            </a:extLst>
          </p:cNvPr>
          <p:cNvSpPr/>
          <p:nvPr/>
        </p:nvSpPr>
        <p:spPr>
          <a:xfrm>
            <a:off x="557374" y="4126515"/>
            <a:ext cx="266611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lock(writer_lock);</a:t>
            </a:r>
          </a:p>
          <a:p>
            <a:r>
              <a:rPr lang="en-CN">
                <a:latin typeface="Courier" pitchFamily="2" charset="0"/>
              </a:rPr>
              <a:t>global_ver ++;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7AC9FD-3559-9345-AA09-1CCF78B13A61}"/>
              </a:ext>
            </a:extLst>
          </p:cNvPr>
          <p:cNvSpPr/>
          <p:nvPr/>
        </p:nvSpPr>
        <p:spPr>
          <a:xfrm>
            <a:off x="3614445" y="4346890"/>
            <a:ext cx="43204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while (is_locked(writer_lock))</a:t>
            </a:r>
          </a:p>
          <a:p>
            <a:r>
              <a:rPr lang="en-CN">
                <a:latin typeface="Courier" pitchFamily="2" charset="0"/>
              </a:rPr>
              <a:t> local_ver[rid] = global_ver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7EE206-8D70-D24E-A3C0-8A8074C38DF4}"/>
              </a:ext>
            </a:extLst>
          </p:cNvPr>
          <p:cNvSpPr txBox="1"/>
          <p:nvPr/>
        </p:nvSpPr>
        <p:spPr>
          <a:xfrm>
            <a:off x="-1510" y="5296962"/>
            <a:ext cx="450986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50" dirty="0"/>
              <a:t>Scalable Read-mostly Synchronization Using Passive Reader-Writer Locks. Ran Liu, Heng Zhang and </a:t>
            </a:r>
            <a:r>
              <a:rPr lang="en-US" altLang="zh-CN" sz="1050" dirty="0" err="1"/>
              <a:t>Haibo</a:t>
            </a:r>
            <a:r>
              <a:rPr lang="en-US" altLang="zh-CN" sz="1050" dirty="0"/>
              <a:t> Chen. </a:t>
            </a:r>
            <a:r>
              <a:rPr lang="en-US" altLang="zh-CN" sz="1050" dirty="0" err="1"/>
              <a:t>Usenix</a:t>
            </a:r>
            <a:r>
              <a:rPr lang="en-US" altLang="zh-CN" sz="1050" dirty="0"/>
              <a:t> ATC 2014</a:t>
            </a:r>
            <a:endParaRPr kumimoji="1" lang="zh-CN" altLang="en-US" sz="105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809F222-85AC-BE4D-A9F5-88CE0F9FD377}"/>
              </a:ext>
            </a:extLst>
          </p:cNvPr>
          <p:cNvSpPr txBox="1"/>
          <p:nvPr/>
        </p:nvSpPr>
        <p:spPr>
          <a:xfrm>
            <a:off x="0" y="5034569"/>
            <a:ext cx="37799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00" dirty="0"/>
              <a:t>https://lwn.net/Articles/619355/</a:t>
            </a:r>
          </a:p>
        </p:txBody>
      </p:sp>
    </p:spTree>
    <p:extLst>
      <p:ext uri="{BB962C8B-B14F-4D97-AF65-F5344CB8AC3E}">
        <p14:creationId xmlns:p14="http://schemas.microsoft.com/office/powerpoint/2010/main" val="15986274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PRWLock</a:t>
            </a:r>
            <a:br>
              <a:rPr lang="en-US" altLang="zh-CN"/>
            </a:br>
            <a:r>
              <a:rPr lang="zh-CN" altLang="en-US"/>
              <a:t>进一步减少读者关键路径性能开销</a:t>
            </a:r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897EAE-7818-0241-B9AB-00736D0D9678}"/>
              </a:ext>
            </a:extLst>
          </p:cNvPr>
          <p:cNvSpPr txBox="1"/>
          <p:nvPr/>
        </p:nvSpPr>
        <p:spPr>
          <a:xfrm>
            <a:off x="4927380" y="2874557"/>
            <a:ext cx="117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读</a:t>
            </a:r>
            <a:r>
              <a:rPr lang="zh-CN" altLang="en-CN"/>
              <a:t>临界区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3273EF-1D99-C644-9150-73B8822E745C}"/>
              </a:ext>
            </a:extLst>
          </p:cNvPr>
          <p:cNvSpPr/>
          <p:nvPr/>
        </p:nvSpPr>
        <p:spPr>
          <a:xfrm>
            <a:off x="7519426" y="2424900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4D080E-55D0-EC46-8439-0172C9E3B23E}"/>
              </a:ext>
            </a:extLst>
          </p:cNvPr>
          <p:cNvSpPr/>
          <p:nvPr/>
        </p:nvSpPr>
        <p:spPr>
          <a:xfrm>
            <a:off x="7519426" y="325396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5D1918-F03B-124D-993B-B74C64AA2C6B}"/>
              </a:ext>
            </a:extLst>
          </p:cNvPr>
          <p:cNvSpPr/>
          <p:nvPr/>
        </p:nvSpPr>
        <p:spPr>
          <a:xfrm>
            <a:off x="7430884" y="4861306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0D53BC7-D24A-6048-A1ED-A06A1F869096}"/>
              </a:ext>
            </a:extLst>
          </p:cNvPr>
          <p:cNvSpPr/>
          <p:nvPr/>
        </p:nvSpPr>
        <p:spPr>
          <a:xfrm>
            <a:off x="7519426" y="4105848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3E86FE-22F5-AE4B-9D9D-DE4BD3FDD7C9}"/>
              </a:ext>
            </a:extLst>
          </p:cNvPr>
          <p:cNvSpPr/>
          <p:nvPr/>
        </p:nvSpPr>
        <p:spPr>
          <a:xfrm>
            <a:off x="7973952" y="2755044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10</a:t>
            </a:r>
            <a:endParaRPr lang="en-CN" sz="11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E5E19DC-C062-F748-AF10-83C8CD32E205}"/>
              </a:ext>
            </a:extLst>
          </p:cNvPr>
          <p:cNvSpPr/>
          <p:nvPr/>
        </p:nvSpPr>
        <p:spPr>
          <a:xfrm>
            <a:off x="7987478" y="5191451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10</a:t>
            </a:r>
            <a:endParaRPr lang="en-CN" sz="11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0B20BD-23D0-EF45-B5FF-740400332854}"/>
              </a:ext>
            </a:extLst>
          </p:cNvPr>
          <p:cNvSpPr/>
          <p:nvPr/>
        </p:nvSpPr>
        <p:spPr>
          <a:xfrm>
            <a:off x="7973952" y="3505997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10</a:t>
            </a:r>
            <a:endParaRPr lang="en-CN" sz="11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E5A8521-BBE1-444C-A7C0-7F55BC57FA71}"/>
              </a:ext>
            </a:extLst>
          </p:cNvPr>
          <p:cNvSpPr/>
          <p:nvPr/>
        </p:nvSpPr>
        <p:spPr>
          <a:xfrm>
            <a:off x="7987478" y="4474738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10</a:t>
            </a:r>
            <a:endParaRPr lang="en-CN" sz="110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C079D23-FEB2-3346-A30C-D0B852DE3007}"/>
              </a:ext>
            </a:extLst>
          </p:cNvPr>
          <p:cNvSpPr/>
          <p:nvPr/>
        </p:nvSpPr>
        <p:spPr>
          <a:xfrm>
            <a:off x="948675" y="301926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C6059C-FE9D-E44C-9025-D59D4E317D64}"/>
              </a:ext>
            </a:extLst>
          </p:cNvPr>
          <p:cNvSpPr/>
          <p:nvPr/>
        </p:nvSpPr>
        <p:spPr>
          <a:xfrm>
            <a:off x="1977154" y="3050960"/>
            <a:ext cx="1566083" cy="857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600"/>
              <a:t>全局版本号</a:t>
            </a:r>
            <a:r>
              <a:rPr lang="en-US" altLang="zh-CN" sz="1600"/>
              <a:t>10</a:t>
            </a:r>
            <a:endParaRPr lang="en-CN" sz="16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F4340D-AB40-8349-AF21-8536A612B945}"/>
              </a:ext>
            </a:extLst>
          </p:cNvPr>
          <p:cNvSpPr/>
          <p:nvPr/>
        </p:nvSpPr>
        <p:spPr>
          <a:xfrm>
            <a:off x="4660141" y="2852360"/>
            <a:ext cx="2593428" cy="12741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985A59F-EA43-884B-9DDE-AEAC6CE53C9A}"/>
              </a:ext>
            </a:extLst>
          </p:cNvPr>
          <p:cNvSpPr/>
          <p:nvPr/>
        </p:nvSpPr>
        <p:spPr>
          <a:xfrm>
            <a:off x="492428" y="1408288"/>
            <a:ext cx="8417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核心思想</a:t>
            </a:r>
            <a:r>
              <a:rPr lang="zh-CN" altLang="en-US">
                <a:latin typeface="Courier" pitchFamily="2" charset="0"/>
              </a:rPr>
              <a:t>：通过版本号协同</a:t>
            </a:r>
            <a:r>
              <a:rPr lang="zh-CN" altLang="en-US" b="1">
                <a:latin typeface="Courier" pitchFamily="2" charset="0"/>
              </a:rPr>
              <a:t>读者与写者，</a:t>
            </a:r>
            <a:r>
              <a:rPr lang="zh-CN" altLang="en-US">
                <a:latin typeface="Courier" pitchFamily="2" charset="0"/>
              </a:rPr>
              <a:t>读者关键路径上只有</a:t>
            </a:r>
            <a:r>
              <a:rPr lang="zh-CN" altLang="en-US" b="1">
                <a:latin typeface="Courier" pitchFamily="2" charset="0"/>
              </a:rPr>
              <a:t>三个本地访存操作</a:t>
            </a:r>
            <a:endParaRPr lang="en-US" b="1">
              <a:latin typeface="Courier" pitchFamily="2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B1091E1-7E23-4C43-B0C8-12692BB719D0}"/>
              </a:ext>
            </a:extLst>
          </p:cNvPr>
          <p:cNvSpPr/>
          <p:nvPr/>
        </p:nvSpPr>
        <p:spPr>
          <a:xfrm>
            <a:off x="5956855" y="4550666"/>
            <a:ext cx="28303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更新</a:t>
            </a:r>
            <a:r>
              <a:rPr lang="zh-CN" altLang="en-US">
                <a:latin typeface="Courier" pitchFamily="2" charset="0"/>
              </a:rPr>
              <a:t>版本号到</a:t>
            </a:r>
            <a:r>
              <a:rPr lang="en-US" altLang="zh-CN">
                <a:latin typeface="Courier" pitchFamily="2" charset="0"/>
              </a:rPr>
              <a:t>10</a:t>
            </a:r>
            <a:endParaRPr lang="en-CN" b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D8156DE-E29B-154B-A3EA-D4E3DE629B5A}"/>
              </a:ext>
            </a:extLst>
          </p:cNvPr>
          <p:cNvSpPr/>
          <p:nvPr/>
        </p:nvSpPr>
        <p:spPr>
          <a:xfrm>
            <a:off x="557374" y="4126515"/>
            <a:ext cx="514756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latin typeface="Courier" pitchFamily="2" charset="0"/>
              </a:rPr>
              <a:t>lock(writer_lock);</a:t>
            </a:r>
          </a:p>
          <a:p>
            <a:r>
              <a:rPr lang="en-CN">
                <a:latin typeface="Courier" pitchFamily="2" charset="0"/>
              </a:rPr>
              <a:t>global_ver ++;</a:t>
            </a:r>
          </a:p>
          <a:p>
            <a:r>
              <a:rPr lang="en-CN">
                <a:latin typeface="Courier" pitchFamily="2" charset="0"/>
              </a:rPr>
              <a:t>for(i = 0; i &lt; reader_cnt; i ++)</a:t>
            </a:r>
          </a:p>
          <a:p>
            <a:r>
              <a:rPr lang="en-CN">
                <a:latin typeface="Courier" pitchFamily="2" charset="0"/>
              </a:rPr>
              <a:t>  while(local_ver[i] != global_ver);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DAC1D50-CC31-0241-8A11-800DE2ABD9EB}"/>
              </a:ext>
            </a:extLst>
          </p:cNvPr>
          <p:cNvSpPr/>
          <p:nvPr/>
        </p:nvSpPr>
        <p:spPr>
          <a:xfrm>
            <a:off x="557374" y="5326844"/>
            <a:ext cx="46219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>
                <a:latin typeface="Courier" pitchFamily="2" charset="0"/>
              </a:rPr>
              <a:t>等待所有的都更新到</a:t>
            </a:r>
            <a:r>
              <a:rPr lang="en-US" altLang="zh-CN" b="1">
                <a:latin typeface="Courier" pitchFamily="2" charset="0"/>
              </a:rPr>
              <a:t>10</a:t>
            </a:r>
            <a:r>
              <a:rPr lang="zh-CN" altLang="en-US" b="1">
                <a:latin typeface="Courier" pitchFamily="2" charset="0"/>
              </a:rPr>
              <a:t>，进入写临界区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249346052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PRWLock</a:t>
            </a:r>
            <a:br>
              <a:rPr lang="en-US" altLang="zh-CN"/>
            </a:br>
            <a:r>
              <a:rPr lang="zh-CN" altLang="en-US"/>
              <a:t>进一步减少读者关键路径性能开销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2E01E2-BB09-5843-B129-D8CC37CD8E3B}"/>
              </a:ext>
            </a:extLst>
          </p:cNvPr>
          <p:cNvSpPr/>
          <p:nvPr/>
        </p:nvSpPr>
        <p:spPr>
          <a:xfrm>
            <a:off x="7519426" y="2424900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DAFE0CC-B69C-874C-BEE7-0A47C8D256FD}"/>
              </a:ext>
            </a:extLst>
          </p:cNvPr>
          <p:cNvSpPr/>
          <p:nvPr/>
        </p:nvSpPr>
        <p:spPr>
          <a:xfrm>
            <a:off x="7519426" y="3253969"/>
            <a:ext cx="936104" cy="50405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读者</a:t>
            </a:r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BCE7F7D-61B2-FA4F-BC9B-4DB3B892E5E8}"/>
              </a:ext>
            </a:extLst>
          </p:cNvPr>
          <p:cNvSpPr/>
          <p:nvPr/>
        </p:nvSpPr>
        <p:spPr>
          <a:xfrm>
            <a:off x="7973952" y="2755044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7</a:t>
            </a:r>
            <a:endParaRPr lang="en-CN" sz="11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44F0B4B-CAA0-C44F-9231-10E93C6C7A3E}"/>
              </a:ext>
            </a:extLst>
          </p:cNvPr>
          <p:cNvSpPr/>
          <p:nvPr/>
        </p:nvSpPr>
        <p:spPr>
          <a:xfrm>
            <a:off x="7973952" y="3505997"/>
            <a:ext cx="936104" cy="3478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100"/>
              <a:t>版本号</a:t>
            </a:r>
            <a:r>
              <a:rPr lang="zh-CN" altLang="en-US" sz="1100"/>
              <a:t>：</a:t>
            </a:r>
            <a:r>
              <a:rPr lang="en-US" altLang="zh-CN" sz="1100"/>
              <a:t>10</a:t>
            </a:r>
            <a:endParaRPr lang="en-CN" sz="110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F81B5E8-0C6D-FD41-ADC1-C838AE2ECF65}"/>
              </a:ext>
            </a:extLst>
          </p:cNvPr>
          <p:cNvSpPr/>
          <p:nvPr/>
        </p:nvSpPr>
        <p:spPr>
          <a:xfrm>
            <a:off x="948675" y="3019261"/>
            <a:ext cx="920518" cy="920518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CN"/>
              <a:t>写者</a:t>
            </a:r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19FC8D6-4F8C-C642-AD15-31DE68BD7693}"/>
              </a:ext>
            </a:extLst>
          </p:cNvPr>
          <p:cNvSpPr/>
          <p:nvPr/>
        </p:nvSpPr>
        <p:spPr>
          <a:xfrm>
            <a:off x="1977154" y="3050960"/>
            <a:ext cx="1566083" cy="8571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600"/>
              <a:t>全局版本号</a:t>
            </a:r>
            <a:r>
              <a:rPr lang="en-US" altLang="zh-CN" sz="1600"/>
              <a:t>10</a:t>
            </a:r>
            <a:endParaRPr lang="en-CN" sz="16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A021938-D1ED-FC46-A567-D0505809F276}"/>
              </a:ext>
            </a:extLst>
          </p:cNvPr>
          <p:cNvSpPr/>
          <p:nvPr/>
        </p:nvSpPr>
        <p:spPr>
          <a:xfrm>
            <a:off x="1977154" y="1969917"/>
            <a:ext cx="39623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>
                <a:latin typeface="Courier" pitchFamily="2" charset="0"/>
              </a:rPr>
              <a:t>少数很久没获取读者锁的读者，通过发送</a:t>
            </a:r>
            <a:r>
              <a:rPr lang="en-US" altLang="zh-CN">
                <a:latin typeface="Courier" pitchFamily="2" charset="0"/>
              </a:rPr>
              <a:t>IPI</a:t>
            </a:r>
            <a:r>
              <a:rPr lang="zh-CN" altLang="en-US">
                <a:latin typeface="Courier" pitchFamily="2" charset="0"/>
              </a:rPr>
              <a:t>让其更新版本号</a:t>
            </a:r>
            <a:endParaRPr lang="en-C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7F84F4-70D2-924A-9804-DFD2BDC057B2}"/>
              </a:ext>
            </a:extLst>
          </p:cNvPr>
          <p:cNvSpPr/>
          <p:nvPr/>
        </p:nvSpPr>
        <p:spPr>
          <a:xfrm>
            <a:off x="492428" y="1408288"/>
            <a:ext cx="8417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核心思想</a:t>
            </a:r>
            <a:r>
              <a:rPr lang="zh-CN" altLang="en-US">
                <a:latin typeface="Courier" pitchFamily="2" charset="0"/>
              </a:rPr>
              <a:t>：通过版本号协同</a:t>
            </a:r>
            <a:r>
              <a:rPr lang="zh-CN" altLang="en-US" b="1">
                <a:latin typeface="Courier" pitchFamily="2" charset="0"/>
              </a:rPr>
              <a:t>读者与写者，</a:t>
            </a:r>
            <a:r>
              <a:rPr lang="zh-CN" altLang="en-US">
                <a:latin typeface="Courier" pitchFamily="2" charset="0"/>
              </a:rPr>
              <a:t>读者关键路径上只有</a:t>
            </a:r>
            <a:r>
              <a:rPr lang="zh-CN" altLang="en-US" b="1">
                <a:latin typeface="Courier" pitchFamily="2" charset="0"/>
              </a:rPr>
              <a:t>三个本地访存操作</a:t>
            </a:r>
            <a:endParaRPr lang="en-US" b="1">
              <a:latin typeface="Courier" pitchFamily="2" charset="0"/>
            </a:endParaRP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C63741-B6BA-6042-BE1F-BB486C560322}"/>
              </a:ext>
            </a:extLst>
          </p:cNvPr>
          <p:cNvCxnSpPr>
            <a:stCxn id="33" idx="3"/>
            <a:endCxn id="28" idx="1"/>
          </p:cNvCxnSpPr>
          <p:nvPr/>
        </p:nvCxnSpPr>
        <p:spPr>
          <a:xfrm flipV="1">
            <a:off x="3543237" y="2676928"/>
            <a:ext cx="3976189" cy="802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3A45E5D5-3BC0-884B-A418-2BD1BCC3783A}"/>
              </a:ext>
            </a:extLst>
          </p:cNvPr>
          <p:cNvSpPr/>
          <p:nvPr/>
        </p:nvSpPr>
        <p:spPr>
          <a:xfrm rot="21016367">
            <a:off x="4609204" y="2802928"/>
            <a:ext cx="5982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IPI</a:t>
            </a:r>
            <a:endParaRPr lang="en-CN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35E922A9-32D8-054A-A5F0-9E8824083EEF}"/>
              </a:ext>
            </a:extLst>
          </p:cNvPr>
          <p:cNvSpPr/>
          <p:nvPr/>
        </p:nvSpPr>
        <p:spPr>
          <a:xfrm>
            <a:off x="4008021" y="3595062"/>
            <a:ext cx="318548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如果在临界区内，不更新版本</a:t>
            </a:r>
            <a:endParaRPr lang="en-US" altLang="zh-CN">
              <a:latin typeface="Courier" pitchFamily="2" charset="0"/>
            </a:endParaRPr>
          </a:p>
          <a:p>
            <a:r>
              <a:rPr lang="zh-CN" altLang="en-US">
                <a:latin typeface="Courier" pitchFamily="2" charset="0"/>
              </a:rPr>
              <a:t>否则，更新版本号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6565551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 fontScale="90000"/>
          </a:bodyPr>
          <a:lstStyle/>
          <a:p>
            <a:r>
              <a:rPr lang="en-US" altLang="zh-CN"/>
              <a:t>PRWLock</a:t>
            </a:r>
            <a:br>
              <a:rPr lang="en-US" altLang="zh-CN"/>
            </a:br>
            <a:r>
              <a:rPr lang="zh-CN" altLang="en-US"/>
              <a:t>进一步减少读者关键路径性能开销</a:t>
            </a:r>
            <a:endParaRPr lang="en-C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FD7F84F4-70D2-924A-9804-DFD2BDC057B2}"/>
              </a:ext>
            </a:extLst>
          </p:cNvPr>
          <p:cNvSpPr/>
          <p:nvPr/>
        </p:nvSpPr>
        <p:spPr>
          <a:xfrm>
            <a:off x="492428" y="1408288"/>
            <a:ext cx="84176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核心思想</a:t>
            </a:r>
            <a:r>
              <a:rPr lang="zh-CN" altLang="en-US">
                <a:latin typeface="Courier" pitchFamily="2" charset="0"/>
              </a:rPr>
              <a:t>：通过版本号协同</a:t>
            </a:r>
            <a:r>
              <a:rPr lang="zh-CN" altLang="en-US" b="1">
                <a:latin typeface="Courier" pitchFamily="2" charset="0"/>
              </a:rPr>
              <a:t>读者与写者，</a:t>
            </a:r>
            <a:r>
              <a:rPr lang="zh-CN" altLang="en-US">
                <a:latin typeface="Courier" pitchFamily="2" charset="0"/>
              </a:rPr>
              <a:t>读者关键路径上只有</a:t>
            </a:r>
            <a:r>
              <a:rPr lang="zh-CN" altLang="en-US" b="1">
                <a:latin typeface="Courier" pitchFamily="2" charset="0"/>
              </a:rPr>
              <a:t>三个本地访存操作</a:t>
            </a:r>
            <a:endParaRPr lang="en-US" b="1">
              <a:latin typeface="Courier" pitchFamily="2" charset="0"/>
            </a:endParaRPr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EC34ED86-0619-8849-A7DF-DE4C1430F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31" y="1758009"/>
            <a:ext cx="5832648" cy="2347042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301B9A4-6A04-0C45-A727-A9F70497E6CC}"/>
              </a:ext>
            </a:extLst>
          </p:cNvPr>
          <p:cNvSpPr/>
          <p:nvPr/>
        </p:nvSpPr>
        <p:spPr>
          <a:xfrm>
            <a:off x="508727" y="2553761"/>
            <a:ext cx="5656652" cy="1362139"/>
          </a:xfrm>
          <a:prstGeom prst="rect">
            <a:avLst/>
          </a:prstGeom>
          <a:solidFill>
            <a:schemeClr val="accent5">
              <a:lumMod val="40000"/>
              <a:lumOff val="60000"/>
              <a:alpha val="709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090E8CF-4157-D341-A8F0-6960413F10E5}"/>
              </a:ext>
            </a:extLst>
          </p:cNvPr>
          <p:cNvSpPr/>
          <p:nvPr/>
        </p:nvSpPr>
        <p:spPr>
          <a:xfrm>
            <a:off x="4701241" y="1969697"/>
            <a:ext cx="42199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b="1">
                <a:solidFill>
                  <a:srgbClr val="C00000"/>
                </a:solidFill>
              </a:rPr>
              <a:t>更新</a:t>
            </a:r>
            <a:r>
              <a:rPr lang="zh-CN" altLang="en-US" b="1">
                <a:solidFill>
                  <a:srgbClr val="C00000"/>
                </a:solidFill>
              </a:rPr>
              <a:t>本地状态，供</a:t>
            </a:r>
            <a:r>
              <a:rPr lang="en-US" altLang="zh-CN" b="1">
                <a:solidFill>
                  <a:srgbClr val="C00000"/>
                </a:solidFill>
              </a:rPr>
              <a:t>IPI</a:t>
            </a:r>
            <a:r>
              <a:rPr lang="zh-CN" altLang="en-US" b="1">
                <a:solidFill>
                  <a:srgbClr val="C00000"/>
                </a:solidFill>
              </a:rPr>
              <a:t>时判断是否要更新</a:t>
            </a:r>
            <a:endParaRPr lang="en-CN" b="1">
              <a:solidFill>
                <a:srgbClr val="C00000"/>
              </a:solidFill>
            </a:endParaRP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59CF3F85-9338-144E-8CDE-8B0962DA40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694" y="4235011"/>
            <a:ext cx="6034310" cy="1375032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274FCD7-9107-1649-B860-C1D1ED3C7681}"/>
              </a:ext>
            </a:extLst>
          </p:cNvPr>
          <p:cNvSpPr/>
          <p:nvPr/>
        </p:nvSpPr>
        <p:spPr>
          <a:xfrm>
            <a:off x="1835696" y="2925229"/>
            <a:ext cx="363928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Slow</a:t>
            </a:r>
            <a:r>
              <a:rPr lang="zh-CN" altLang="en-US" b="1">
                <a:solidFill>
                  <a:srgbClr val="C00000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</a:rPr>
              <a:t>Path</a:t>
            </a:r>
            <a:r>
              <a:rPr lang="zh-CN" altLang="en-US" b="1">
                <a:solidFill>
                  <a:srgbClr val="C00000"/>
                </a:solidFill>
              </a:rPr>
              <a:t>：有写者在了，更新版本号并等待写者</a:t>
            </a:r>
            <a:endParaRPr lang="en-CN" b="1">
              <a:solidFill>
                <a:srgbClr val="C00000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0458C53-D850-9B41-9549-FE7002D5E482}"/>
              </a:ext>
            </a:extLst>
          </p:cNvPr>
          <p:cNvSpPr/>
          <p:nvPr/>
        </p:nvSpPr>
        <p:spPr>
          <a:xfrm>
            <a:off x="4613389" y="4608787"/>
            <a:ext cx="42199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b="1">
                <a:solidFill>
                  <a:srgbClr val="C00000"/>
                </a:solidFill>
              </a:rPr>
              <a:t>更新</a:t>
            </a:r>
            <a:r>
              <a:rPr lang="zh-CN" altLang="en-US" b="1">
                <a:solidFill>
                  <a:srgbClr val="C00000"/>
                </a:solidFill>
              </a:rPr>
              <a:t>本地状态，供</a:t>
            </a:r>
            <a:r>
              <a:rPr lang="en-US" altLang="zh-CN" b="1">
                <a:solidFill>
                  <a:srgbClr val="C00000"/>
                </a:solidFill>
              </a:rPr>
              <a:t>IPI</a:t>
            </a:r>
            <a:r>
              <a:rPr lang="zh-CN" altLang="en-US" b="1">
                <a:solidFill>
                  <a:srgbClr val="C00000"/>
                </a:solidFill>
              </a:rPr>
              <a:t>时判断是否要更新</a:t>
            </a:r>
            <a:endParaRPr lang="en-CN" b="1">
              <a:solidFill>
                <a:srgbClr val="C00000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44539B0-1F5A-1D46-89F5-8E4EC4089CE0}"/>
              </a:ext>
            </a:extLst>
          </p:cNvPr>
          <p:cNvSpPr/>
          <p:nvPr/>
        </p:nvSpPr>
        <p:spPr>
          <a:xfrm>
            <a:off x="3655340" y="5351895"/>
            <a:ext cx="421991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 b="1">
                <a:solidFill>
                  <a:srgbClr val="C00000"/>
                </a:solidFill>
              </a:rPr>
              <a:t>更新</a:t>
            </a:r>
            <a:r>
              <a:rPr lang="zh-CN" altLang="en-US" b="1">
                <a:solidFill>
                  <a:srgbClr val="C00000"/>
                </a:solidFill>
              </a:rPr>
              <a:t>本地的</a:t>
            </a:r>
            <a:r>
              <a:rPr lang="en-CN" altLang="zh-CN" b="1">
                <a:solidFill>
                  <a:srgbClr val="C00000"/>
                </a:solidFill>
              </a:rPr>
              <a:t>version</a:t>
            </a:r>
            <a:endParaRPr lang="en-CN" b="1">
              <a:solidFill>
                <a:srgbClr val="C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1B3D9B8-4E75-844F-8C51-3138597A5E4F}"/>
              </a:ext>
            </a:extLst>
          </p:cNvPr>
          <p:cNvSpPr/>
          <p:nvPr/>
        </p:nvSpPr>
        <p:spPr>
          <a:xfrm>
            <a:off x="6354678" y="2624960"/>
            <a:ext cx="2414449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>
                <a:latin typeface="Courier" pitchFamily="2" charset="0"/>
              </a:rPr>
              <a:t>读者关键路径上只有</a:t>
            </a:r>
            <a:r>
              <a:rPr lang="zh-CN" altLang="en-US" sz="2400" b="1">
                <a:latin typeface="Courier" pitchFamily="2" charset="0"/>
              </a:rPr>
              <a:t>三个本地访存操作，没有原子操作</a:t>
            </a:r>
            <a:endParaRPr lang="en-CN" sz="2400"/>
          </a:p>
        </p:txBody>
      </p:sp>
    </p:spTree>
    <p:extLst>
      <p:ext uri="{BB962C8B-B14F-4D97-AF65-F5344CB8AC3E}">
        <p14:creationId xmlns:p14="http://schemas.microsoft.com/office/powerpoint/2010/main" val="10047299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347B-EA3F-FD4D-A6AE-573C3514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en-US" dirty="0"/>
              <a:t>的同步原语：</a:t>
            </a:r>
            <a:r>
              <a:rPr lang="en-US" altLang="zh-CN" dirty="0" err="1"/>
              <a:t>QSpinLock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DA36D-C346-474A-8C61-2175448AD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B5CEF-4462-5945-9F4F-8D002012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89407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中的同步原语</a:t>
            </a:r>
            <a:r>
              <a:rPr lang="en-US" altLang="zh-CN"/>
              <a:t>: QSpinlock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A48492-7D51-424F-8765-1944142FB355}"/>
              </a:ext>
            </a:extLst>
          </p:cNvPr>
          <p:cNvSpPr/>
          <p:nvPr/>
        </p:nvSpPr>
        <p:spPr>
          <a:xfrm>
            <a:off x="539552" y="1202170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回顾：</a:t>
            </a:r>
            <a:r>
              <a:rPr lang="en-US" altLang="zh-CN" b="1"/>
              <a:t>MCS</a:t>
            </a:r>
            <a:r>
              <a:rPr lang="zh-CN" altLang="en-US" b="1"/>
              <a:t>锁</a:t>
            </a:r>
            <a:endParaRPr lang="en-CN" b="1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2010A520-6BCA-9642-AA16-956DA1DDF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331" y="1348698"/>
            <a:ext cx="6461370" cy="1714089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58D85A68-9F55-864D-87F6-2B34A9AFE926}"/>
              </a:ext>
            </a:extLst>
          </p:cNvPr>
          <p:cNvSpPr/>
          <p:nvPr/>
        </p:nvSpPr>
        <p:spPr>
          <a:xfrm>
            <a:off x="3162611" y="1202170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维护锁等待队列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84C7283-CB1F-5C41-A00D-1DBBEF0CC5A1}"/>
              </a:ext>
            </a:extLst>
          </p:cNvPr>
          <p:cNvSpPr/>
          <p:nvPr/>
        </p:nvSpPr>
        <p:spPr>
          <a:xfrm>
            <a:off x="864780" y="3374598"/>
            <a:ext cx="73404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优势</a:t>
            </a:r>
            <a:r>
              <a:rPr lang="zh-CN" altLang="en-US"/>
              <a:t>：在</a:t>
            </a:r>
            <a:r>
              <a:rPr lang="zh-CN" altLang="en-US" b="1"/>
              <a:t>锁竞争程度高时</a:t>
            </a:r>
            <a:r>
              <a:rPr lang="zh-CN" altLang="en-US"/>
              <a:t>，关键路径上只有传递给下一个竞争者的开销</a:t>
            </a:r>
            <a:endParaRPr lang="en-CN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12F1998-0E37-0941-B148-DB0115F39882}"/>
              </a:ext>
            </a:extLst>
          </p:cNvPr>
          <p:cNvSpPr/>
          <p:nvPr/>
        </p:nvSpPr>
        <p:spPr>
          <a:xfrm>
            <a:off x="876612" y="3966052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在竞争程度低时</a:t>
            </a:r>
            <a:r>
              <a:rPr lang="zh-CN" altLang="en-US"/>
              <a:t>，锁性能如何？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7200994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中的同步原语</a:t>
            </a:r>
            <a:r>
              <a:rPr lang="en-US" altLang="zh-CN"/>
              <a:t>: QSpinlock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5A48492-7D51-424F-8765-1944142FB355}"/>
              </a:ext>
            </a:extLst>
          </p:cNvPr>
          <p:cNvSpPr/>
          <p:nvPr/>
        </p:nvSpPr>
        <p:spPr>
          <a:xfrm>
            <a:off x="539552" y="1202170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回顾：</a:t>
            </a:r>
            <a:r>
              <a:rPr lang="en-US" altLang="zh-CN" b="1"/>
              <a:t>MCS</a:t>
            </a:r>
            <a:r>
              <a:rPr lang="zh-CN" altLang="en-US" b="1"/>
              <a:t>锁</a:t>
            </a:r>
            <a:endParaRPr lang="en-CN" b="1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63D47DC-541D-E14A-BEE2-F2164395BBC6}"/>
              </a:ext>
            </a:extLst>
          </p:cNvPr>
          <p:cNvSpPr/>
          <p:nvPr/>
        </p:nvSpPr>
        <p:spPr>
          <a:xfrm>
            <a:off x="543433" y="162025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回顾上锁流程</a:t>
            </a:r>
            <a:r>
              <a:rPr lang="zh-CN" altLang="en-US"/>
              <a:t>：</a:t>
            </a:r>
            <a:endParaRPr lang="en-C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80280A-0A4B-3C47-9E1D-E1AA35B74B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88" b="2627"/>
          <a:stretch/>
        </p:blipFill>
        <p:spPr>
          <a:xfrm>
            <a:off x="179512" y="2011234"/>
            <a:ext cx="6585586" cy="26193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68CFB8-17A5-F34B-9FF1-B7442A8A5EE1}"/>
              </a:ext>
            </a:extLst>
          </p:cNvPr>
          <p:cNvSpPr/>
          <p:nvPr/>
        </p:nvSpPr>
        <p:spPr>
          <a:xfrm>
            <a:off x="3635896" y="2686822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填自己的</a:t>
            </a:r>
            <a:r>
              <a:rPr lang="en-US" altLang="zh-CN">
                <a:solidFill>
                  <a:srgbClr val="C00000"/>
                </a:solidFill>
              </a:rPr>
              <a:t>node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22F755-7328-3941-BA2A-B67F3E08BB3C}"/>
              </a:ext>
            </a:extLst>
          </p:cNvPr>
          <p:cNvSpPr/>
          <p:nvPr/>
        </p:nvSpPr>
        <p:spPr>
          <a:xfrm>
            <a:off x="4902979" y="3028469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rgbClr val="C00000"/>
                </a:solidFill>
              </a:rPr>
              <a:t>更新</a:t>
            </a:r>
            <a:r>
              <a:rPr lang="zh-CN" altLang="en-US">
                <a:solidFill>
                  <a:srgbClr val="C00000"/>
                </a:solidFill>
              </a:rPr>
              <a:t>队尾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9AAFBF-D550-1246-8084-62B190EB01C8}"/>
              </a:ext>
            </a:extLst>
          </p:cNvPr>
          <p:cNvSpPr/>
          <p:nvPr/>
        </p:nvSpPr>
        <p:spPr>
          <a:xfrm>
            <a:off x="2743038" y="1250922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在竞争程度低时</a:t>
            </a:r>
            <a:r>
              <a:rPr lang="zh-CN" altLang="en-US"/>
              <a:t>，锁性能如何？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821BB5-EBD3-3A41-B99F-1C6DA9E6533C}"/>
              </a:ext>
            </a:extLst>
          </p:cNvPr>
          <p:cNvSpPr/>
          <p:nvPr/>
        </p:nvSpPr>
        <p:spPr>
          <a:xfrm>
            <a:off x="539552" y="3326568"/>
            <a:ext cx="3744416" cy="915508"/>
          </a:xfrm>
          <a:prstGeom prst="rect">
            <a:avLst/>
          </a:prstGeom>
          <a:solidFill>
            <a:schemeClr val="accent5">
              <a:lumMod val="40000"/>
              <a:lumOff val="60000"/>
              <a:alpha val="709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A67A28B-2F19-A54F-8EB7-2D53D6C57675}"/>
              </a:ext>
            </a:extLst>
          </p:cNvPr>
          <p:cNvSpPr/>
          <p:nvPr/>
        </p:nvSpPr>
        <p:spPr>
          <a:xfrm>
            <a:off x="1548803" y="3599656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Slow</a:t>
            </a:r>
            <a:r>
              <a:rPr lang="zh-CN" altLang="en-US" b="1">
                <a:solidFill>
                  <a:srgbClr val="C00000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</a:rPr>
              <a:t>Path</a:t>
            </a:r>
            <a:endParaRPr lang="en-CN" b="1">
              <a:solidFill>
                <a:srgbClr val="C0000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0E39F1B-D7B5-B84D-BABF-B26934969A08}"/>
              </a:ext>
            </a:extLst>
          </p:cNvPr>
          <p:cNvSpPr/>
          <p:nvPr/>
        </p:nvSpPr>
        <p:spPr>
          <a:xfrm>
            <a:off x="1397105" y="4652244"/>
            <a:ext cx="24400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2400" b="1"/>
              <a:t>对比 spinlock</a:t>
            </a:r>
            <a:r>
              <a:rPr lang="zh-CN" altLang="en-US" sz="2400" b="1"/>
              <a:t>：</a:t>
            </a:r>
            <a:endParaRPr lang="en-CN" sz="2400" b="1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28B28C-DB0E-EE4E-B2F3-DE794E9A3EDE}"/>
              </a:ext>
            </a:extLst>
          </p:cNvPr>
          <p:cNvSpPr/>
          <p:nvPr/>
        </p:nvSpPr>
        <p:spPr>
          <a:xfrm>
            <a:off x="3900671" y="4540175"/>
            <a:ext cx="504124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>
                <a:latin typeface="Courier" pitchFamily="2" charset="0"/>
              </a:rPr>
              <a:t>while(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atomic_CAS</a:t>
            </a:r>
            <a:r>
              <a:rPr lang="en-US" altLang="zh-CN">
                <a:latin typeface="Courier" pitchFamily="2" charset="0"/>
              </a:rPr>
              <a:t>(lock, 0, 1) != 0)</a:t>
            </a:r>
          </a:p>
          <a:p>
            <a:r>
              <a:rPr lang="en-US" altLang="zh-CN">
                <a:latin typeface="Courier" pitchFamily="2" charset="0"/>
              </a:rPr>
              <a:t>	/* Busy-looping */;</a:t>
            </a:r>
            <a:endParaRPr lang="en-C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8F9586-2DF7-6744-A9B8-F3100E2D6525}"/>
              </a:ext>
            </a:extLst>
          </p:cNvPr>
          <p:cNvSpPr/>
          <p:nvPr/>
        </p:nvSpPr>
        <p:spPr>
          <a:xfrm>
            <a:off x="6438464" y="2686822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</a:rPr>
              <a:t>多次访存操作</a:t>
            </a:r>
            <a:endParaRPr lang="en-CN" sz="2400" b="1">
              <a:solidFill>
                <a:srgbClr val="C00000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5B6A2D-410F-AF49-B1E6-1D66E59D3008}"/>
              </a:ext>
            </a:extLst>
          </p:cNvPr>
          <p:cNvSpPr/>
          <p:nvPr/>
        </p:nvSpPr>
        <p:spPr>
          <a:xfrm>
            <a:off x="6443894" y="4088068"/>
            <a:ext cx="20313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>
                <a:solidFill>
                  <a:srgbClr val="C00000"/>
                </a:solidFill>
              </a:rPr>
              <a:t>单次访存操作</a:t>
            </a:r>
            <a:endParaRPr lang="en-CN" sz="2400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93331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中的同步原语</a:t>
            </a:r>
            <a:r>
              <a:rPr lang="en-US" altLang="zh-CN"/>
              <a:t>: QSpinlock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59CB432-8F5E-D64B-9F8E-6EF969A18CF1}"/>
              </a:ext>
            </a:extLst>
          </p:cNvPr>
          <p:cNvSpPr/>
          <p:nvPr/>
        </p:nvSpPr>
        <p:spPr>
          <a:xfrm>
            <a:off x="855138" y="285750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获取锁</a:t>
            </a:r>
            <a:endParaRPr lang="en-CN" b="1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940F548-C4D2-4F45-A7EA-0982D64FC859}"/>
              </a:ext>
            </a:extLst>
          </p:cNvPr>
          <p:cNvCxnSpPr>
            <a:cxnSpLocks/>
          </p:cNvCxnSpPr>
          <p:nvPr/>
        </p:nvCxnSpPr>
        <p:spPr>
          <a:xfrm flipV="1">
            <a:off x="1921481" y="2128228"/>
            <a:ext cx="931877" cy="86475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C7451D2-AC1A-7F42-B6FD-3ED7B72D538B}"/>
              </a:ext>
            </a:extLst>
          </p:cNvPr>
          <p:cNvCxnSpPr>
            <a:cxnSpLocks/>
          </p:cNvCxnSpPr>
          <p:nvPr/>
        </p:nvCxnSpPr>
        <p:spPr>
          <a:xfrm>
            <a:off x="1921481" y="3174204"/>
            <a:ext cx="931877" cy="36157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65A48492-7D51-424F-8765-1944142FB355}"/>
              </a:ext>
            </a:extLst>
          </p:cNvPr>
          <p:cNvSpPr/>
          <p:nvPr/>
        </p:nvSpPr>
        <p:spPr>
          <a:xfrm>
            <a:off x="2987824" y="1232111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竞争程度低：快速路径</a:t>
            </a:r>
            <a:endParaRPr lang="en-C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9BF87B1-0E2B-2D43-B432-73E66DF30EF7}"/>
              </a:ext>
            </a:extLst>
          </p:cNvPr>
          <p:cNvSpPr/>
          <p:nvPr/>
        </p:nvSpPr>
        <p:spPr>
          <a:xfrm>
            <a:off x="2987824" y="1763221"/>
            <a:ext cx="23391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使用类似自旋锁设计</a:t>
            </a:r>
            <a:endParaRPr lang="en-CN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168C74E-F1A2-E045-9E4A-AC405DE6DA7B}"/>
              </a:ext>
            </a:extLst>
          </p:cNvPr>
          <p:cNvSpPr/>
          <p:nvPr/>
        </p:nvSpPr>
        <p:spPr>
          <a:xfrm>
            <a:off x="2987824" y="2301165"/>
            <a:ext cx="20954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加锁</a:t>
            </a:r>
            <a:r>
              <a:rPr lang="en-US" altLang="zh-CN">
                <a:solidFill>
                  <a:schemeClr val="accent1"/>
                </a:solidFill>
              </a:rPr>
              <a:t>/</a:t>
            </a:r>
            <a:r>
              <a:rPr lang="zh-CN" altLang="en-US">
                <a:solidFill>
                  <a:schemeClr val="accent1"/>
                </a:solidFill>
              </a:rPr>
              <a:t>放锁流程简单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1A9C37-5D73-B345-BB9B-9643D85C7B06}"/>
              </a:ext>
            </a:extLst>
          </p:cNvPr>
          <p:cNvSpPr/>
          <p:nvPr/>
        </p:nvSpPr>
        <p:spPr>
          <a:xfrm>
            <a:off x="2853358" y="3661876"/>
            <a:ext cx="24929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竞争程度高：慢速路径</a:t>
            </a:r>
            <a:endParaRPr lang="en-C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E49E9D1-31DE-6D4E-A311-F4B2DA8CC2F2}"/>
              </a:ext>
            </a:extLst>
          </p:cNvPr>
          <p:cNvSpPr/>
          <p:nvPr/>
        </p:nvSpPr>
        <p:spPr>
          <a:xfrm>
            <a:off x="2853358" y="4278972"/>
            <a:ext cx="231345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/>
              <a:t>使用类似</a:t>
            </a:r>
            <a:r>
              <a:rPr lang="en-US" altLang="zh-CN"/>
              <a:t>MCS</a:t>
            </a:r>
            <a:r>
              <a:rPr lang="zh-CN" altLang="en-US"/>
              <a:t>锁设计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351635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中的同步原语</a:t>
            </a:r>
            <a:r>
              <a:rPr lang="en-US" altLang="zh-CN"/>
              <a:t>: QSpinlock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2359A6-7B97-F44E-935E-0B142A6047C2}"/>
              </a:ext>
            </a:extLst>
          </p:cNvPr>
          <p:cNvSpPr/>
          <p:nvPr/>
        </p:nvSpPr>
        <p:spPr>
          <a:xfrm>
            <a:off x="508342" y="1463417"/>
            <a:ext cx="672795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lock(lock_t lock) {</a:t>
            </a:r>
          </a:p>
          <a:p>
            <a:r>
              <a:rPr lang="en-CN">
                <a:latin typeface="Courier" pitchFamily="2" charset="0"/>
              </a:rPr>
              <a:t>	/* fast path */</a:t>
            </a:r>
          </a:p>
          <a:p>
            <a:r>
              <a:rPr lang="en-CN">
                <a:latin typeface="Courier" pitchFamily="2" charset="0"/>
              </a:rPr>
              <a:t>	if (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spin_trylock</a:t>
            </a:r>
            <a:r>
              <a:rPr lang="en-CN">
                <a:latin typeface="Courier" pitchFamily="2" charset="0"/>
              </a:rPr>
              <a:t>(&amp;lock-&gt;spin)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SUCC</a:t>
            </a:r>
            <a:r>
              <a:rPr lang="en-CN">
                <a:latin typeface="Courier" pitchFamily="2" charset="0"/>
              </a:rPr>
              <a:t>)</a:t>
            </a:r>
          </a:p>
          <a:p>
            <a:r>
              <a:rPr lang="en-CN">
                <a:latin typeface="Courier" pitchFamily="2" charset="0"/>
              </a:rPr>
              <a:t>		return;</a:t>
            </a:r>
          </a:p>
          <a:p>
            <a:r>
              <a:rPr lang="en-CN">
                <a:latin typeface="Courier" pitchFamily="2" charset="0"/>
              </a:rPr>
              <a:t>	/* slow path */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mcs_lock</a:t>
            </a:r>
            <a:r>
              <a:rPr lang="en-CN">
                <a:latin typeface="Courier" pitchFamily="2" charset="0"/>
              </a:rPr>
              <a:t>(&amp;lock-&gt;mcs);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spin_lock</a:t>
            </a:r>
            <a:r>
              <a:rPr lang="en-CN">
                <a:latin typeface="Courier" pitchFamily="2" charset="0"/>
              </a:rPr>
              <a:t>(&amp;lock-&gt;spin);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mcs_unlock</a:t>
            </a:r>
            <a:r>
              <a:rPr lang="en-CN">
                <a:latin typeface="Courier" pitchFamily="2" charset="0"/>
              </a:rPr>
              <a:t>(&amp;lock-&gt;mcs);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unlock(lock_t lock) {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spin_unlock</a:t>
            </a:r>
            <a:r>
              <a:rPr lang="en-CN">
                <a:latin typeface="Courier" pitchFamily="2" charset="0"/>
              </a:rPr>
              <a:t>(&amp;lock-&gt;spin);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DF844F-AAF1-924E-9892-E92EA2DDB627}"/>
              </a:ext>
            </a:extLst>
          </p:cNvPr>
          <p:cNvSpPr/>
          <p:nvPr/>
        </p:nvSpPr>
        <p:spPr>
          <a:xfrm>
            <a:off x="508342" y="1024869"/>
            <a:ext cx="8045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一个简单的示例</a:t>
            </a:r>
            <a:r>
              <a:rPr lang="zh-CN" altLang="en-US"/>
              <a:t>（</a:t>
            </a:r>
            <a:r>
              <a:rPr lang="en-US" altLang="zh-CN" b="1"/>
              <a:t>Linux</a:t>
            </a:r>
            <a:r>
              <a:rPr lang="zh-CN" altLang="en-US" b="1"/>
              <a:t>将其压缩至一个</a:t>
            </a:r>
            <a:r>
              <a:rPr lang="en-US" altLang="zh-CN" b="1"/>
              <a:t>word</a:t>
            </a:r>
            <a:r>
              <a:rPr lang="zh-CN" altLang="en-US" b="1"/>
              <a:t>且更加高效，但核心思路类似</a:t>
            </a:r>
            <a:r>
              <a:rPr lang="zh-CN" altLang="en-US"/>
              <a:t>）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51F396-AC31-0044-90A0-20065607EA5F}"/>
              </a:ext>
            </a:extLst>
          </p:cNvPr>
          <p:cNvSpPr/>
          <p:nvPr/>
        </p:nvSpPr>
        <p:spPr>
          <a:xfrm>
            <a:off x="6018923" y="3975967"/>
            <a:ext cx="307968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typedef struct lock {</a:t>
            </a:r>
          </a:p>
          <a:p>
            <a:r>
              <a:rPr lang="en-CN">
                <a:latin typeface="Courier" pitchFamily="2" charset="0"/>
              </a:rPr>
              <a:t>  spinlock spin;</a:t>
            </a:r>
          </a:p>
          <a:p>
            <a:r>
              <a:rPr lang="en-CN">
                <a:latin typeface="Courier" pitchFamily="2" charset="0"/>
              </a:rPr>
              <a:t>  mcslock mcs;</a:t>
            </a:r>
          </a:p>
          <a:p>
            <a:r>
              <a:rPr lang="en-CN">
                <a:latin typeface="Courier" pitchFamily="2" charset="0"/>
              </a:rPr>
              <a:t>}lock_t;</a:t>
            </a:r>
            <a:endParaRPr lang="en-C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51331D-1439-604E-ACCF-280A0D4D55A9}"/>
              </a:ext>
            </a:extLst>
          </p:cNvPr>
          <p:cNvSpPr/>
          <p:nvPr/>
        </p:nvSpPr>
        <p:spPr>
          <a:xfrm>
            <a:off x="6012160" y="3622461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包含两把锁</a:t>
            </a:r>
            <a:r>
              <a:rPr lang="zh-CN" altLang="en-US"/>
              <a:t>：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B7E235-34E1-2A42-99A6-639B0DF7FC2C}"/>
              </a:ext>
            </a:extLst>
          </p:cNvPr>
          <p:cNvSpPr/>
          <p:nvPr/>
        </p:nvSpPr>
        <p:spPr>
          <a:xfrm>
            <a:off x="5404485" y="1578377"/>
            <a:ext cx="3172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rgbClr val="C00000"/>
                </a:solidFill>
              </a:rPr>
              <a:t>快速路径</a:t>
            </a:r>
            <a:r>
              <a:rPr lang="zh-CN" altLang="en-US">
                <a:solidFill>
                  <a:srgbClr val="C00000"/>
                </a:solidFill>
              </a:rPr>
              <a:t>，只需要</a:t>
            </a:r>
            <a:r>
              <a:rPr lang="en-US" altLang="zh-CN">
                <a:solidFill>
                  <a:srgbClr val="C00000"/>
                </a:solidFill>
              </a:rPr>
              <a:t>set</a:t>
            </a:r>
            <a:r>
              <a:rPr lang="zh-CN" altLang="en-US">
                <a:solidFill>
                  <a:srgbClr val="C00000"/>
                </a:solidFill>
              </a:rPr>
              <a:t>一个</a:t>
            </a:r>
            <a:r>
              <a:rPr lang="en-US" altLang="zh-CN">
                <a:solidFill>
                  <a:srgbClr val="C00000"/>
                </a:solidFill>
              </a:rPr>
              <a:t>1bit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898EDD-1DA7-E841-A96E-E863B59DAFA7}"/>
              </a:ext>
            </a:extLst>
          </p:cNvPr>
          <p:cNvSpPr/>
          <p:nvPr/>
        </p:nvSpPr>
        <p:spPr>
          <a:xfrm>
            <a:off x="4067944" y="2516422"/>
            <a:ext cx="2223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失败则加入mcs队列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D664D2D-DECB-434E-B3AF-ABB0E8514921}"/>
              </a:ext>
            </a:extLst>
          </p:cNvPr>
          <p:cNvSpPr/>
          <p:nvPr/>
        </p:nvSpPr>
        <p:spPr>
          <a:xfrm>
            <a:off x="4897027" y="2884775"/>
            <a:ext cx="2172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队首会忙等spinlock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E7BEED-FC83-E14E-9BDC-9C20FA40988E}"/>
              </a:ext>
            </a:extLst>
          </p:cNvPr>
          <p:cNvSpPr/>
          <p:nvPr/>
        </p:nvSpPr>
        <p:spPr>
          <a:xfrm>
            <a:off x="4788024" y="3323166"/>
            <a:ext cx="36471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</a:rPr>
              <a:t>成功获取之后会让下一位队首忙等</a:t>
            </a:r>
            <a:endParaRPr lang="en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85976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中的同步原语</a:t>
            </a:r>
            <a:r>
              <a:rPr lang="en-US" altLang="zh-CN"/>
              <a:t>: QSpinlock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2359A6-7B97-F44E-935E-0B142A6047C2}"/>
              </a:ext>
            </a:extLst>
          </p:cNvPr>
          <p:cNvSpPr/>
          <p:nvPr/>
        </p:nvSpPr>
        <p:spPr>
          <a:xfrm>
            <a:off x="508342" y="1463417"/>
            <a:ext cx="672795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lock(lock_t lock) {</a:t>
            </a:r>
          </a:p>
          <a:p>
            <a:r>
              <a:rPr lang="en-CN">
                <a:latin typeface="Courier" pitchFamily="2" charset="0"/>
              </a:rPr>
              <a:t>	/* fast path */</a:t>
            </a:r>
          </a:p>
          <a:p>
            <a:r>
              <a:rPr lang="en-CN">
                <a:latin typeface="Courier" pitchFamily="2" charset="0"/>
              </a:rPr>
              <a:t>	if (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spin_trylock</a:t>
            </a:r>
            <a:r>
              <a:rPr lang="en-CN">
                <a:latin typeface="Courier" pitchFamily="2" charset="0"/>
              </a:rPr>
              <a:t>(&amp;lock-&gt;spin)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SUCC</a:t>
            </a:r>
            <a:r>
              <a:rPr lang="en-CN">
                <a:latin typeface="Courier" pitchFamily="2" charset="0"/>
              </a:rPr>
              <a:t>)</a:t>
            </a:r>
          </a:p>
          <a:p>
            <a:r>
              <a:rPr lang="en-CN">
                <a:latin typeface="Courier" pitchFamily="2" charset="0"/>
              </a:rPr>
              <a:t>		return;</a:t>
            </a:r>
          </a:p>
          <a:p>
            <a:r>
              <a:rPr lang="en-CN">
                <a:latin typeface="Courier" pitchFamily="2" charset="0"/>
              </a:rPr>
              <a:t>	/* slow path */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mcs_lock</a:t>
            </a:r>
            <a:r>
              <a:rPr lang="en-CN">
                <a:latin typeface="Courier" pitchFamily="2" charset="0"/>
              </a:rPr>
              <a:t>(&amp;lock-&gt;mcs);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spin_lock</a:t>
            </a:r>
            <a:r>
              <a:rPr lang="en-CN">
                <a:latin typeface="Courier" pitchFamily="2" charset="0"/>
              </a:rPr>
              <a:t>(&amp;lock-&gt;spin);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mcs_unlock</a:t>
            </a:r>
            <a:r>
              <a:rPr lang="en-CN">
                <a:latin typeface="Courier" pitchFamily="2" charset="0"/>
              </a:rPr>
              <a:t>(&amp;lock-&gt;mcs);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unlock(lock_t lock) {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spin_unlock</a:t>
            </a:r>
            <a:r>
              <a:rPr lang="en-CN">
                <a:latin typeface="Courier" pitchFamily="2" charset="0"/>
              </a:rPr>
              <a:t>(&amp;lock-&gt;spin);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0DF844F-AAF1-924E-9892-E92EA2DDB627}"/>
              </a:ext>
            </a:extLst>
          </p:cNvPr>
          <p:cNvSpPr/>
          <p:nvPr/>
        </p:nvSpPr>
        <p:spPr>
          <a:xfrm>
            <a:off x="508342" y="1024869"/>
            <a:ext cx="80457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一个简单的示例</a:t>
            </a:r>
            <a:r>
              <a:rPr lang="zh-CN" altLang="en-US"/>
              <a:t>（</a:t>
            </a:r>
            <a:r>
              <a:rPr lang="en-US" altLang="zh-CN" b="1"/>
              <a:t>Linux</a:t>
            </a:r>
            <a:r>
              <a:rPr lang="zh-CN" altLang="en-US" b="1"/>
              <a:t>将其压缩至一个</a:t>
            </a:r>
            <a:r>
              <a:rPr lang="en-US" altLang="zh-CN" b="1"/>
              <a:t>word</a:t>
            </a:r>
            <a:r>
              <a:rPr lang="zh-CN" altLang="en-US" b="1"/>
              <a:t>且更加高效，但核心思路类似</a:t>
            </a:r>
            <a:r>
              <a:rPr lang="zh-CN" altLang="en-US"/>
              <a:t>）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B7E235-34E1-2A42-99A6-639B0DF7FC2C}"/>
              </a:ext>
            </a:extLst>
          </p:cNvPr>
          <p:cNvSpPr/>
          <p:nvPr/>
        </p:nvSpPr>
        <p:spPr>
          <a:xfrm>
            <a:off x="5381471" y="3403731"/>
            <a:ext cx="34291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b="1">
                <a:solidFill>
                  <a:srgbClr val="C00000"/>
                </a:solidFill>
              </a:rPr>
              <a:t>快速路径</a:t>
            </a:r>
            <a:r>
              <a:rPr lang="zh-CN" altLang="en-US" b="1">
                <a:solidFill>
                  <a:srgbClr val="C00000"/>
                </a:solidFill>
              </a:rPr>
              <a:t>，</a:t>
            </a:r>
            <a:r>
              <a:rPr lang="zh-CN" altLang="en-CN" b="1">
                <a:solidFill>
                  <a:srgbClr val="C00000"/>
                </a:solidFill>
              </a:rPr>
              <a:t>与</a:t>
            </a:r>
            <a:r>
              <a:rPr lang="en-US" altLang="zh-CN" b="1">
                <a:solidFill>
                  <a:srgbClr val="C00000"/>
                </a:solidFill>
              </a:rPr>
              <a:t>spinlock</a:t>
            </a:r>
            <a:r>
              <a:rPr lang="zh-CN" altLang="en-US" b="1">
                <a:solidFill>
                  <a:srgbClr val="C00000"/>
                </a:solidFill>
              </a:rPr>
              <a:t>完全一致</a:t>
            </a:r>
            <a:endParaRPr lang="en-CN" b="1">
              <a:solidFill>
                <a:srgbClr val="C00000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9A8761-7343-4E4D-B961-0FF534D87937}"/>
              </a:ext>
            </a:extLst>
          </p:cNvPr>
          <p:cNvSpPr/>
          <p:nvPr/>
        </p:nvSpPr>
        <p:spPr>
          <a:xfrm>
            <a:off x="1116324" y="2796353"/>
            <a:ext cx="3744416" cy="915508"/>
          </a:xfrm>
          <a:prstGeom prst="rect">
            <a:avLst/>
          </a:prstGeom>
          <a:solidFill>
            <a:schemeClr val="accent5">
              <a:lumMod val="40000"/>
              <a:lumOff val="60000"/>
              <a:alpha val="70978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A03145-C7BF-5241-804B-A0D96DB73CAE}"/>
              </a:ext>
            </a:extLst>
          </p:cNvPr>
          <p:cNvSpPr/>
          <p:nvPr/>
        </p:nvSpPr>
        <p:spPr>
          <a:xfrm>
            <a:off x="2125575" y="3069441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>
                <a:solidFill>
                  <a:srgbClr val="C00000"/>
                </a:solidFill>
              </a:rPr>
              <a:t>Slow</a:t>
            </a:r>
            <a:r>
              <a:rPr lang="zh-CN" altLang="en-US" b="1">
                <a:solidFill>
                  <a:srgbClr val="C00000"/>
                </a:solidFill>
              </a:rPr>
              <a:t> </a:t>
            </a:r>
            <a:r>
              <a:rPr lang="en-US" altLang="zh-CN" b="1">
                <a:solidFill>
                  <a:srgbClr val="C00000"/>
                </a:solidFill>
              </a:rPr>
              <a:t>Path</a:t>
            </a:r>
            <a:endParaRPr lang="en-CN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638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347B-EA3F-FD4D-A6AE-573C3514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Linux</a:t>
            </a:r>
            <a:r>
              <a:rPr lang="zh-CN" altLang="en-US" dirty="0"/>
              <a:t>的同步原语：</a:t>
            </a:r>
            <a:r>
              <a:rPr lang="en-US" altLang="zh-CN" dirty="0" err="1"/>
              <a:t>Futex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DA36D-C346-474A-8C61-2175448AD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B5CEF-4462-5945-9F4F-8D002012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9988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中的同步原语</a:t>
            </a:r>
            <a:r>
              <a:rPr lang="en-US" altLang="zh-CN"/>
              <a:t>: futex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BFE3C-086A-F94E-A0B0-7D6788BFC860}"/>
              </a:ext>
            </a:extLst>
          </p:cNvPr>
          <p:cNvSpPr/>
          <p:nvPr/>
        </p:nvSpPr>
        <p:spPr>
          <a:xfrm>
            <a:off x="457200" y="1114144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如何在互斥锁中</a:t>
            </a:r>
            <a:r>
              <a:rPr lang="en-CN" b="1"/>
              <a:t>避免循环等待</a:t>
            </a:r>
            <a:r>
              <a:rPr lang="zh-CN" altLang="en-US"/>
              <a:t>？</a:t>
            </a:r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70E833-2B96-2B49-B9AD-1064103B0B4D}"/>
              </a:ext>
            </a:extLst>
          </p:cNvPr>
          <p:cNvSpPr/>
          <p:nvPr/>
        </p:nvSpPr>
        <p:spPr>
          <a:xfrm>
            <a:off x="457200" y="1579407"/>
            <a:ext cx="785921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lock(lock_t lock) {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en-CN">
                <a:solidFill>
                  <a:srgbClr val="C00000"/>
                </a:solidFill>
                <a:latin typeface="Courier" pitchFamily="2" charset="0"/>
              </a:rPr>
              <a:t>	spin_lock(&amp;lock-&gt;spin);</a:t>
            </a:r>
          </a:p>
          <a:p>
            <a:r>
              <a:rPr lang="en-CN">
                <a:latin typeface="Courier" pitchFamily="2" charset="0"/>
              </a:rPr>
              <a:t>	while(lock-&gt;val == 1)</a:t>
            </a:r>
          </a:p>
          <a:p>
            <a:r>
              <a:rPr lang="en-CN">
                <a:latin typeface="Courier" pitchFamily="2" charset="0"/>
              </a:rPr>
              <a:t>		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cond_wait</a:t>
            </a:r>
            <a:r>
              <a:rPr lang="en-CN">
                <a:latin typeface="Courier" pitchFamily="2" charset="0"/>
              </a:rPr>
              <a:t>(&amp;lock-&gt;cond, 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&amp;lock-&gt;spin</a:t>
            </a:r>
            <a:r>
              <a:rPr lang="en-CN">
                <a:latin typeface="Courier" pitchFamily="2" charset="0"/>
              </a:rPr>
              <a:t>);</a:t>
            </a:r>
          </a:p>
          <a:p>
            <a:r>
              <a:rPr lang="en-CN">
                <a:latin typeface="Courier" pitchFamily="2" charset="0"/>
              </a:rPr>
              <a:t>	lock-&gt;val = 1;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en-CN">
                <a:solidFill>
                  <a:srgbClr val="C00000"/>
                </a:solidFill>
                <a:latin typeface="Courier" pitchFamily="2" charset="0"/>
              </a:rPr>
              <a:t>	spin_unlock(&amp;lock-&gt;spin);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void unlock(lock_t lock) {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en-CN">
                <a:solidFill>
                  <a:srgbClr val="C00000"/>
                </a:solidFill>
                <a:latin typeface="Courier" pitchFamily="2" charset="0"/>
              </a:rPr>
              <a:t>	spin_lock(&amp;lock-&gt;spin);</a:t>
            </a:r>
          </a:p>
          <a:p>
            <a:r>
              <a:rPr lang="en-CN">
                <a:latin typeface="Courier" pitchFamily="2" charset="0"/>
              </a:rPr>
              <a:t>	lock-&gt;val = 0;</a:t>
            </a:r>
          </a:p>
          <a:p>
            <a:r>
              <a:rPr lang="en-CN">
                <a:latin typeface="Courier" pitchFamily="2" charset="0"/>
              </a:rPr>
              <a:t>	cond_signal(&amp;lock-&gt;cond);</a:t>
            </a:r>
            <a:endParaRPr lang="en-CN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en-CN">
                <a:solidFill>
                  <a:srgbClr val="C00000"/>
                </a:solidFill>
                <a:latin typeface="Courier" pitchFamily="2" charset="0"/>
              </a:rPr>
              <a:t>	spin_unlock(&amp;lock-&gt;spin);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8793C68-B42C-404E-8A4E-3882CDF4F4C7}"/>
              </a:ext>
            </a:extLst>
          </p:cNvPr>
          <p:cNvSpPr/>
          <p:nvPr/>
        </p:nvSpPr>
        <p:spPr>
          <a:xfrm>
            <a:off x="4023226" y="112930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b="1"/>
              <a:t>场景二</a:t>
            </a:r>
            <a:r>
              <a:rPr lang="zh-CN" altLang="en-US" b="1"/>
              <a:t>：使用条件变量</a:t>
            </a:r>
            <a:endParaRPr lang="en-CN" b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DAEAC2-658C-0646-9237-9C888486C635}"/>
              </a:ext>
            </a:extLst>
          </p:cNvPr>
          <p:cNvSpPr/>
          <p:nvPr/>
        </p:nvSpPr>
        <p:spPr>
          <a:xfrm>
            <a:off x="5183205" y="1980935"/>
            <a:ext cx="29546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b="1"/>
              <a:t>需要搭配一个忙等的自旋锁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9BBDA-8B41-7341-872F-85B0087EFED0}"/>
              </a:ext>
            </a:extLst>
          </p:cNvPr>
          <p:cNvSpPr/>
          <p:nvPr/>
        </p:nvSpPr>
        <p:spPr>
          <a:xfrm>
            <a:off x="4811697" y="3395998"/>
            <a:ext cx="3877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b="1"/>
              <a:t>引入额外的加锁放锁操作</a:t>
            </a:r>
            <a:r>
              <a:rPr lang="zh-CN" altLang="en-US" b="1"/>
              <a:t>，性能影响</a:t>
            </a:r>
            <a:endParaRPr lang="en-CN" b="1"/>
          </a:p>
        </p:txBody>
      </p:sp>
    </p:spTree>
    <p:extLst>
      <p:ext uri="{BB962C8B-B14F-4D97-AF65-F5344CB8AC3E}">
        <p14:creationId xmlns:p14="http://schemas.microsoft.com/office/powerpoint/2010/main" val="299769358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46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 altLang="zh-CN"/>
              <a:t>Linux</a:t>
            </a:r>
            <a:r>
              <a:rPr lang="zh-CN" altLang="en-US"/>
              <a:t>中的同步原语</a:t>
            </a:r>
            <a:r>
              <a:rPr lang="en-US" altLang="zh-CN"/>
              <a:t>: futex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BFE3C-086A-F94E-A0B0-7D6788BFC860}"/>
              </a:ext>
            </a:extLst>
          </p:cNvPr>
          <p:cNvSpPr/>
          <p:nvPr/>
        </p:nvSpPr>
        <p:spPr>
          <a:xfrm>
            <a:off x="457200" y="1114144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Futex: </a:t>
            </a:r>
            <a:r>
              <a:rPr lang="en-CN" b="1"/>
              <a:t>F</a:t>
            </a:r>
            <a:r>
              <a:rPr lang="en-CN"/>
              <a:t>ast </a:t>
            </a:r>
            <a:r>
              <a:rPr lang="en-CN" b="1"/>
              <a:t>U</a:t>
            </a:r>
            <a:r>
              <a:rPr lang="en-CN"/>
              <a:t>ser-space mu</a:t>
            </a:r>
            <a:r>
              <a:rPr lang="en-CN" b="1"/>
              <a:t>TEX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F1D69A-F516-E743-A8D4-9558F4CDB540}"/>
              </a:ext>
            </a:extLst>
          </p:cNvPr>
          <p:cNvSpPr/>
          <p:nvPr/>
        </p:nvSpPr>
        <p:spPr>
          <a:xfrm>
            <a:off x="446473" y="2001223"/>
            <a:ext cx="662473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>
                <a:solidFill>
                  <a:srgbClr val="000000"/>
                </a:solidFill>
                <a:latin typeface="Courier" pitchFamily="2" charset="0"/>
              </a:rPr>
              <a:t>void futex_wait(int *uaddr, int val);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5D0665-6FB2-6A44-89B5-CC47188A7894}"/>
              </a:ext>
            </a:extLst>
          </p:cNvPr>
          <p:cNvSpPr/>
          <p:nvPr/>
        </p:nvSpPr>
        <p:spPr>
          <a:xfrm>
            <a:off x="457200" y="1579452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/>
              <a:t>提供了两个新的接口</a:t>
            </a:r>
            <a:r>
              <a:rPr lang="zh-CN" altLang="en-US" b="1"/>
              <a:t>：</a:t>
            </a:r>
            <a:endParaRPr lang="en-CN" b="1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D0A88E-1AAA-0044-A12B-39C503EBD9B2}"/>
              </a:ext>
            </a:extLst>
          </p:cNvPr>
          <p:cNvSpPr/>
          <p:nvPr/>
        </p:nvSpPr>
        <p:spPr>
          <a:xfrm>
            <a:off x="482103" y="2420521"/>
            <a:ext cx="5455340" cy="12894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CN" b="1"/>
              <a:t>等待在某个地址上</a:t>
            </a:r>
            <a:r>
              <a:rPr lang="zh-CN" altLang="en-US"/>
              <a:t>：判断</a:t>
            </a:r>
            <a:r>
              <a:rPr lang="en-US" altLang="zh-CN"/>
              <a:t>uaddr</a:t>
            </a:r>
            <a:r>
              <a:rPr lang="zh-CN" altLang="en-US"/>
              <a:t>上的值与</a:t>
            </a:r>
            <a:r>
              <a:rPr lang="en-US" altLang="zh-CN"/>
              <a:t>val</a:t>
            </a:r>
            <a:r>
              <a:rPr lang="zh-CN" altLang="en-US"/>
              <a:t>是否相等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如果相等则挂起线程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否则返回</a:t>
            </a:r>
            <a:endParaRPr lang="en-US" altLang="zh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B06EF8-88F2-E04E-B84A-C64015063517}"/>
              </a:ext>
            </a:extLst>
          </p:cNvPr>
          <p:cNvSpPr/>
          <p:nvPr/>
        </p:nvSpPr>
        <p:spPr>
          <a:xfrm>
            <a:off x="468977" y="3922359"/>
            <a:ext cx="40446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futex_wake(int *uaddr);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6AA377-B0B3-5B4C-9551-09610E91E8A1}"/>
              </a:ext>
            </a:extLst>
          </p:cNvPr>
          <p:cNvSpPr/>
          <p:nvPr/>
        </p:nvSpPr>
        <p:spPr>
          <a:xfrm>
            <a:off x="482103" y="4371626"/>
            <a:ext cx="2954655" cy="4584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CN" b="1"/>
              <a:t>唤醒等待在该地址上的线程</a:t>
            </a:r>
            <a:endParaRPr lang="en-US" altLang="zh-CN" b="1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BD7CF7-7F45-194B-89A0-45A6D854EF11}"/>
              </a:ext>
            </a:extLst>
          </p:cNvPr>
          <p:cNvSpPr/>
          <p:nvPr/>
        </p:nvSpPr>
        <p:spPr>
          <a:xfrm>
            <a:off x="4544729" y="3088582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</a:rPr>
              <a:t>两个操作互斥：同时只有一个操作发生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4E671E-BCD3-1E42-AFE0-EA20AB4ECFD2}"/>
              </a:ext>
            </a:extLst>
          </p:cNvPr>
          <p:cNvSpPr/>
          <p:nvPr/>
        </p:nvSpPr>
        <p:spPr>
          <a:xfrm>
            <a:off x="4630328" y="3509276"/>
            <a:ext cx="4108817" cy="873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不会出现当</a:t>
            </a:r>
            <a:r>
              <a:rPr lang="en-US" altLang="zh-CN"/>
              <a:t>wait</a:t>
            </a:r>
            <a:r>
              <a:rPr lang="zh-CN" altLang="en-US"/>
              <a:t>时判断完后、挂起之前，其他线程调用</a:t>
            </a:r>
            <a:r>
              <a:rPr lang="en-US" altLang="zh-CN"/>
              <a:t>wake</a:t>
            </a:r>
            <a:r>
              <a:rPr lang="zh-CN" altLang="en-US"/>
              <a:t>唤醒造成</a:t>
            </a:r>
            <a:r>
              <a:rPr lang="zh-CN" altLang="en-US" b="1"/>
              <a:t>唤醒丢失</a:t>
            </a:r>
            <a:endParaRPr lang="en-US" altLang="zh-CN" b="1"/>
          </a:p>
        </p:txBody>
      </p:sp>
    </p:spTree>
    <p:extLst>
      <p:ext uri="{BB962C8B-B14F-4D97-AF65-F5344CB8AC3E}">
        <p14:creationId xmlns:p14="http://schemas.microsoft.com/office/powerpoint/2010/main" val="19579719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使用Futex实现阻塞互斥锁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7BA534-1373-7F40-BFCA-748C3D9FCA0A}"/>
              </a:ext>
            </a:extLst>
          </p:cNvPr>
          <p:cNvSpPr/>
          <p:nvPr/>
        </p:nvSpPr>
        <p:spPr>
          <a:xfrm>
            <a:off x="323486" y="1300349"/>
            <a:ext cx="6858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lock(struct lock *lock)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while(atomic_CAS(&amp;lock-&gt;val, 0, 1) != 0)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  atomic_FAA(&amp;lock-&gt;waiters, 1);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  </a:t>
            </a:r>
            <a:r>
              <a:rPr lang="en-US">
                <a:solidFill>
                  <a:srgbClr val="C00000"/>
                </a:solidFill>
                <a:latin typeface="Courier" pitchFamily="2" charset="0"/>
              </a:rPr>
              <a:t>futex_wait(&amp;lock-&gt;val, 1);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  atomic_FAA(&amp;lock-&gt;waiters, -1);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}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}</a:t>
            </a:r>
          </a:p>
          <a:p>
            <a:br>
              <a:rPr lang="en-US">
                <a:solidFill>
                  <a:srgbClr val="000000"/>
                </a:solidFill>
                <a:latin typeface="Courier" pitchFamily="2" charset="0"/>
              </a:rPr>
            </a:br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unlock(struct lock *lock)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lock-&gt;val = 0;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if (lock-&gt;waiters != 0)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  </a:t>
            </a:r>
            <a:r>
              <a:rPr lang="en-US">
                <a:solidFill>
                  <a:srgbClr val="C00000"/>
                </a:solidFill>
                <a:latin typeface="Courier" pitchFamily="2" charset="0"/>
              </a:rPr>
              <a:t>futex_wake(&amp;lock-&gt;val);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D5B851-8233-D147-B703-FF626FBA3D63}"/>
              </a:ext>
            </a:extLst>
          </p:cNvPr>
          <p:cNvSpPr/>
          <p:nvPr/>
        </p:nvSpPr>
        <p:spPr>
          <a:xfrm>
            <a:off x="5796136" y="3487726"/>
            <a:ext cx="233315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struct lock {</a:t>
            </a:r>
          </a:p>
          <a:p>
            <a:r>
              <a:rPr lang="zh-CN" altLang="en-US">
                <a:solidFill>
                  <a:srgbClr val="000000"/>
                </a:solidFill>
                <a:latin typeface="Courier" pitchFamily="2" charset="0"/>
              </a:rPr>
              <a:t>  </a:t>
            </a:r>
            <a:r>
              <a:rPr lang="en-US">
                <a:solidFill>
                  <a:srgbClr val="000000"/>
                </a:solidFill>
                <a:latin typeface="Courier" pitchFamily="2" charset="0"/>
              </a:rPr>
              <a:t>int val;</a:t>
            </a:r>
          </a:p>
          <a:p>
            <a:r>
              <a:rPr lang="zh-CN" altLang="en-US">
                <a:solidFill>
                  <a:srgbClr val="000000"/>
                </a:solidFill>
                <a:latin typeface="Courier" pitchFamily="2" charset="0"/>
              </a:rPr>
              <a:t>  </a:t>
            </a:r>
            <a:r>
              <a:rPr lang="en-US">
                <a:solidFill>
                  <a:srgbClr val="000000"/>
                </a:solidFill>
                <a:latin typeface="Courier" pitchFamily="2" charset="0"/>
              </a:rPr>
              <a:t>int waiters;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};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CC74EA-2626-1842-8D35-EBF44A0C25DC}"/>
              </a:ext>
            </a:extLst>
          </p:cNvPr>
          <p:cNvSpPr/>
          <p:nvPr/>
        </p:nvSpPr>
        <p:spPr>
          <a:xfrm>
            <a:off x="5309311" y="2008044"/>
            <a:ext cx="35509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waiters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：表示是否有等待者</a:t>
            </a:r>
            <a:endParaRPr lang="en-US" altLang="zh-CN">
              <a:solidFill>
                <a:srgbClr val="C00000"/>
              </a:solidFill>
              <a:latin typeface="Courier" pitchFamily="2" charset="0"/>
            </a:endParaRPr>
          </a:p>
          <a:p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atomic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避免多个竞争者同时修改</a:t>
            </a:r>
            <a:endParaRPr lang="en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67888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使用Futex实现阻塞互斥锁</a:t>
            </a:r>
            <a:r>
              <a:rPr lang="zh-CN" altLang="en-US"/>
              <a:t> ：正确性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7BA534-1373-7F40-BFCA-748C3D9FCA0A}"/>
              </a:ext>
            </a:extLst>
          </p:cNvPr>
          <p:cNvSpPr/>
          <p:nvPr/>
        </p:nvSpPr>
        <p:spPr>
          <a:xfrm>
            <a:off x="323486" y="1300349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lock(struct lock *lock)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while(atomic_CAS(&amp;lock-&gt;val, 0, 1) != 0) {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07B2-0D77-204E-82BC-F2DF5733A468}"/>
              </a:ext>
            </a:extLst>
          </p:cNvPr>
          <p:cNvSpPr/>
          <p:nvPr/>
        </p:nvSpPr>
        <p:spPr>
          <a:xfrm>
            <a:off x="323486" y="350271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unlock(struct lock *lock)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{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BCF213-C09E-BE42-BCA9-0E47BA523ACB}"/>
              </a:ext>
            </a:extLst>
          </p:cNvPr>
          <p:cNvSpPr/>
          <p:nvPr/>
        </p:nvSpPr>
        <p:spPr>
          <a:xfrm>
            <a:off x="1547664" y="1995411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发现val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不为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0</a:t>
            </a:r>
            <a:endParaRPr lang="en-US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DC72A85-66AA-FA41-B8AD-0E98B9962706}"/>
              </a:ext>
            </a:extLst>
          </p:cNvPr>
          <p:cNvSpPr/>
          <p:nvPr/>
        </p:nvSpPr>
        <p:spPr>
          <a:xfrm>
            <a:off x="5004048" y="1030163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一种可能的执行序列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8D5F21-BB67-A241-B79E-B733BFDADB42}"/>
              </a:ext>
            </a:extLst>
          </p:cNvPr>
          <p:cNvSpPr/>
          <p:nvPr/>
        </p:nvSpPr>
        <p:spPr>
          <a:xfrm>
            <a:off x="260132" y="944642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58CABD-DC7F-044E-986A-94B93C38E848}"/>
              </a:ext>
            </a:extLst>
          </p:cNvPr>
          <p:cNvSpPr/>
          <p:nvPr/>
        </p:nvSpPr>
        <p:spPr>
          <a:xfrm>
            <a:off x="323486" y="3252489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2</a:t>
            </a:r>
            <a:endParaRPr lang="en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117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使用Futex实现阻塞互斥锁</a:t>
            </a:r>
            <a:r>
              <a:rPr lang="zh-CN" altLang="en-US"/>
              <a:t> ：正确性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7BA534-1373-7F40-BFCA-748C3D9FCA0A}"/>
              </a:ext>
            </a:extLst>
          </p:cNvPr>
          <p:cNvSpPr/>
          <p:nvPr/>
        </p:nvSpPr>
        <p:spPr>
          <a:xfrm>
            <a:off x="323486" y="1300349"/>
            <a:ext cx="6858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lock(struct lock *lock)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while(atomic_CAS(&amp;lock-&gt;val, 0, 1) != 0) {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07B2-0D77-204E-82BC-F2DF5733A468}"/>
              </a:ext>
            </a:extLst>
          </p:cNvPr>
          <p:cNvSpPr/>
          <p:nvPr/>
        </p:nvSpPr>
        <p:spPr>
          <a:xfrm>
            <a:off x="323486" y="350271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unlock(struct lock *lock)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lock-&gt;val = 0;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if (lock-&gt;waiters != 0)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BCF213-C09E-BE42-BCA9-0E47BA523ACB}"/>
              </a:ext>
            </a:extLst>
          </p:cNvPr>
          <p:cNvSpPr/>
          <p:nvPr/>
        </p:nvSpPr>
        <p:spPr>
          <a:xfrm>
            <a:off x="1547664" y="1995411"/>
            <a:ext cx="16594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发现val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不为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0</a:t>
            </a:r>
            <a:endParaRPr lang="en-US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AD6CBB-3A50-C142-B124-1C15803BCF70}"/>
              </a:ext>
            </a:extLst>
          </p:cNvPr>
          <p:cNvSpPr/>
          <p:nvPr/>
        </p:nvSpPr>
        <p:spPr>
          <a:xfrm>
            <a:off x="4065771" y="4303734"/>
            <a:ext cx="3823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解锁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，但此时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waiter=0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，不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wake</a:t>
            </a:r>
            <a:endParaRPr lang="en-US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BA3A8D-4C99-0F4B-A856-AD22560C336A}"/>
              </a:ext>
            </a:extLst>
          </p:cNvPr>
          <p:cNvSpPr/>
          <p:nvPr/>
        </p:nvSpPr>
        <p:spPr>
          <a:xfrm>
            <a:off x="5004048" y="1030163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一种可能的执行序列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2EF2229-E40B-3143-8ED3-D31C58636902}"/>
              </a:ext>
            </a:extLst>
          </p:cNvPr>
          <p:cNvSpPr/>
          <p:nvPr/>
        </p:nvSpPr>
        <p:spPr>
          <a:xfrm>
            <a:off x="260132" y="944642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AC9D2E-5ACD-9043-A747-51AD4723706E}"/>
              </a:ext>
            </a:extLst>
          </p:cNvPr>
          <p:cNvSpPr/>
          <p:nvPr/>
        </p:nvSpPr>
        <p:spPr>
          <a:xfrm>
            <a:off x="323486" y="3252489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2</a:t>
            </a:r>
            <a:endParaRPr lang="en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04891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使用Futex实现阻塞互斥锁</a:t>
            </a:r>
            <a:r>
              <a:rPr lang="zh-CN" altLang="en-US"/>
              <a:t> ：正确性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7BA534-1373-7F40-BFCA-748C3D9FCA0A}"/>
              </a:ext>
            </a:extLst>
          </p:cNvPr>
          <p:cNvSpPr/>
          <p:nvPr/>
        </p:nvSpPr>
        <p:spPr>
          <a:xfrm>
            <a:off x="323486" y="1300349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lock(struct lock *lock)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while(atomic_CAS(&amp;lock-&gt;val, 0, 1) != 0)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  atomic_FAA(&amp;lock-&gt;waiters, 1);</a:t>
            </a:r>
          </a:p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   </a:t>
            </a:r>
            <a:r>
              <a:rPr lang="en-US">
                <a:solidFill>
                  <a:srgbClr val="C00000"/>
                </a:solidFill>
                <a:latin typeface="Courier" pitchFamily="2" charset="0"/>
              </a:rPr>
              <a:t>futex_wait(&amp;lock-&gt;val, 1);</a:t>
            </a:r>
            <a:endParaRPr lang="en-US">
              <a:solidFill>
                <a:srgbClr val="000000"/>
              </a:solidFill>
              <a:latin typeface="Courier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07B2-0D77-204E-82BC-F2DF5733A468}"/>
              </a:ext>
            </a:extLst>
          </p:cNvPr>
          <p:cNvSpPr/>
          <p:nvPr/>
        </p:nvSpPr>
        <p:spPr>
          <a:xfrm>
            <a:off x="323486" y="350271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unlock(struct lock *lock)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lock-&gt;val = 0;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if (lock-&gt;waiters != 0)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AD6CBB-3A50-C142-B124-1C15803BCF70}"/>
              </a:ext>
            </a:extLst>
          </p:cNvPr>
          <p:cNvSpPr/>
          <p:nvPr/>
        </p:nvSpPr>
        <p:spPr>
          <a:xfrm>
            <a:off x="4065771" y="4303734"/>
            <a:ext cx="382348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解锁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，但此时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waiter=0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，不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wake</a:t>
            </a:r>
            <a:endParaRPr lang="en-US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71DD2A-2DD6-594E-9220-EB91AA173BB3}"/>
              </a:ext>
            </a:extLst>
          </p:cNvPr>
          <p:cNvSpPr/>
          <p:nvPr/>
        </p:nvSpPr>
        <p:spPr>
          <a:xfrm>
            <a:off x="5004048" y="1030163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一种可能的执行序列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12201D-CF59-5145-AA48-A63BCC43C650}"/>
              </a:ext>
            </a:extLst>
          </p:cNvPr>
          <p:cNvSpPr/>
          <p:nvPr/>
        </p:nvSpPr>
        <p:spPr>
          <a:xfrm>
            <a:off x="2480435" y="2564629"/>
            <a:ext cx="544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调用wait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，发现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val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不是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了，直接返回，不会挂起</a:t>
            </a:r>
            <a:endParaRPr lang="en-US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78A4AD-EEEF-6B4C-BCDE-C78A957F18AE}"/>
              </a:ext>
            </a:extLst>
          </p:cNvPr>
          <p:cNvSpPr/>
          <p:nvPr/>
        </p:nvSpPr>
        <p:spPr>
          <a:xfrm>
            <a:off x="260132" y="944642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1287E1E-90E8-1841-97B7-5206D4ED9416}"/>
              </a:ext>
            </a:extLst>
          </p:cNvPr>
          <p:cNvSpPr/>
          <p:nvPr/>
        </p:nvSpPr>
        <p:spPr>
          <a:xfrm>
            <a:off x="323486" y="3252489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2</a:t>
            </a:r>
            <a:endParaRPr lang="en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197020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使用Futex实现阻塞互斥锁</a:t>
            </a:r>
            <a:r>
              <a:rPr lang="zh-CN" altLang="en-US"/>
              <a:t> ：正确性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7BA534-1373-7F40-BFCA-748C3D9FCA0A}"/>
              </a:ext>
            </a:extLst>
          </p:cNvPr>
          <p:cNvSpPr/>
          <p:nvPr/>
        </p:nvSpPr>
        <p:spPr>
          <a:xfrm>
            <a:off x="323486" y="1300349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lock(struct lock *lock)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while(atomic_CAS(&amp;lock-&gt;val, 0, 1) != 0)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  atomic_FAA(&amp;lock-&gt;waiters, 1);</a:t>
            </a:r>
          </a:p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   </a:t>
            </a:r>
            <a:r>
              <a:rPr lang="en-US">
                <a:solidFill>
                  <a:srgbClr val="C00000"/>
                </a:solidFill>
                <a:latin typeface="Courier" pitchFamily="2" charset="0"/>
              </a:rPr>
              <a:t>futex_wait(&amp;lock-&gt;val, 1);</a:t>
            </a:r>
            <a:endParaRPr lang="en-US">
              <a:solidFill>
                <a:srgbClr val="000000"/>
              </a:solidFill>
              <a:latin typeface="Courier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07B2-0D77-204E-82BC-F2DF5733A468}"/>
              </a:ext>
            </a:extLst>
          </p:cNvPr>
          <p:cNvSpPr/>
          <p:nvPr/>
        </p:nvSpPr>
        <p:spPr>
          <a:xfrm>
            <a:off x="323486" y="350271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unlock(struct lock *lock)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lock-&gt;val = 0;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if (lock-&gt;waiters != 0)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71DD2A-2DD6-594E-9220-EB91AA173BB3}"/>
              </a:ext>
            </a:extLst>
          </p:cNvPr>
          <p:cNvSpPr/>
          <p:nvPr/>
        </p:nvSpPr>
        <p:spPr>
          <a:xfrm>
            <a:off x="5004048" y="103016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00000"/>
                </a:solidFill>
                <a:latin typeface="Courier" pitchFamily="2" charset="0"/>
              </a:rPr>
              <a:t>另一种情况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12201D-CF59-5145-AA48-A63BCC43C650}"/>
              </a:ext>
            </a:extLst>
          </p:cNvPr>
          <p:cNvSpPr/>
          <p:nvPr/>
        </p:nvSpPr>
        <p:spPr>
          <a:xfrm>
            <a:off x="2480435" y="2564629"/>
            <a:ext cx="3595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调用wait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，发现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val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还是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，挂起</a:t>
            </a:r>
            <a:endParaRPr lang="en-US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A3967-657B-7445-A573-41DF04F49123}"/>
              </a:ext>
            </a:extLst>
          </p:cNvPr>
          <p:cNvSpPr/>
          <p:nvPr/>
        </p:nvSpPr>
        <p:spPr>
          <a:xfrm>
            <a:off x="260132" y="944642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482A0B-CAD5-0749-B3E8-DF610E120E9F}"/>
              </a:ext>
            </a:extLst>
          </p:cNvPr>
          <p:cNvSpPr/>
          <p:nvPr/>
        </p:nvSpPr>
        <p:spPr>
          <a:xfrm>
            <a:off x="323486" y="3252489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2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C30743-8E23-8240-8A57-B72935B71314}"/>
              </a:ext>
            </a:extLst>
          </p:cNvPr>
          <p:cNvSpPr/>
          <p:nvPr/>
        </p:nvSpPr>
        <p:spPr>
          <a:xfrm>
            <a:off x="5278927" y="3393164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3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235EDC-6D7B-204C-8F4D-72FC57A86C13}"/>
              </a:ext>
            </a:extLst>
          </p:cNvPr>
          <p:cNvSpPr/>
          <p:nvPr/>
        </p:nvSpPr>
        <p:spPr>
          <a:xfrm>
            <a:off x="5290920" y="3749103"/>
            <a:ext cx="283488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while(atomic_CAS(&amp;lock-&gt;val, 0, 1) != 0)</a:t>
            </a:r>
            <a:r>
              <a:rPr lang="zh-CN" altLang="en-US">
                <a:solidFill>
                  <a:srgbClr val="000000"/>
                </a:solidFill>
                <a:latin typeface="Courier" pitchFamily="2" charset="0"/>
              </a:rPr>
              <a:t> </a:t>
            </a:r>
            <a:endParaRPr lang="en-C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00162-871B-3D47-AEF7-84C5F64F322C}"/>
              </a:ext>
            </a:extLst>
          </p:cNvPr>
          <p:cNvSpPr/>
          <p:nvPr/>
        </p:nvSpPr>
        <p:spPr>
          <a:xfrm>
            <a:off x="5577285" y="4789720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成功获取锁，在放锁前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965564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6F78E1C-0FFF-7143-8C03-C67348D3517C}"/>
              </a:ext>
            </a:extLst>
          </p:cNvPr>
          <p:cNvSpPr/>
          <p:nvPr/>
        </p:nvSpPr>
        <p:spPr>
          <a:xfrm>
            <a:off x="4984959" y="364121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unlock(struct lock *lock)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lock-&gt;val = 0;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</a:t>
            </a:r>
            <a:r>
              <a:rPr lang="en-US">
                <a:solidFill>
                  <a:srgbClr val="C00000"/>
                </a:solidFill>
                <a:latin typeface="Courier" pitchFamily="2" charset="0"/>
              </a:rPr>
              <a:t>if (lock-&gt;waiters != 0)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  </a:t>
            </a:r>
            <a:r>
              <a:rPr lang="en-US">
                <a:solidFill>
                  <a:srgbClr val="C00000"/>
                </a:solidFill>
                <a:latin typeface="Courier" pitchFamily="2" charset="0"/>
              </a:rPr>
              <a:t>futex_wake(&amp;lock-&gt;val);</a:t>
            </a:r>
          </a:p>
          <a:p>
            <a:endParaRPr lang="en-US">
              <a:solidFill>
                <a:srgbClr val="000000"/>
              </a:solidFill>
              <a:latin typeface="Courier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00310BD-07B0-1249-AF15-2D9332B70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en-US"/>
              <a:t>使用Futex实现阻塞互斥锁</a:t>
            </a:r>
            <a:r>
              <a:rPr lang="zh-CN" altLang="en-US"/>
              <a:t> ：正确性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7BA534-1373-7F40-BFCA-748C3D9FCA0A}"/>
              </a:ext>
            </a:extLst>
          </p:cNvPr>
          <p:cNvSpPr/>
          <p:nvPr/>
        </p:nvSpPr>
        <p:spPr>
          <a:xfrm>
            <a:off x="323486" y="1300349"/>
            <a:ext cx="6858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lock(struct lock *lock)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while(atomic_CAS(&amp;lock-&gt;val, 0, 1) != 0) 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  atomic_FAA(&amp;lock-&gt;waiters, 1);</a:t>
            </a:r>
          </a:p>
          <a:p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   </a:t>
            </a:r>
            <a:r>
              <a:rPr lang="en-US">
                <a:solidFill>
                  <a:srgbClr val="C00000"/>
                </a:solidFill>
                <a:latin typeface="Courier" pitchFamily="2" charset="0"/>
              </a:rPr>
              <a:t>futex_wait(&amp;lock-&gt;val, 1);</a:t>
            </a:r>
            <a:endParaRPr lang="en-US">
              <a:solidFill>
                <a:srgbClr val="000000"/>
              </a:solidFill>
              <a:latin typeface="Courier" pitchFamily="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B9607B2-0D77-204E-82BC-F2DF5733A468}"/>
              </a:ext>
            </a:extLst>
          </p:cNvPr>
          <p:cNvSpPr/>
          <p:nvPr/>
        </p:nvSpPr>
        <p:spPr>
          <a:xfrm>
            <a:off x="323486" y="3502715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void unlock(struct lock *lock)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{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lock-&gt;val = 0;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  if (lock-&gt;waiters != 0)</a:t>
            </a:r>
          </a:p>
          <a:p>
            <a:r>
              <a:rPr lang="en-US">
                <a:solidFill>
                  <a:srgbClr val="000000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71DD2A-2DD6-594E-9220-EB91AA173BB3}"/>
              </a:ext>
            </a:extLst>
          </p:cNvPr>
          <p:cNvSpPr/>
          <p:nvPr/>
        </p:nvSpPr>
        <p:spPr>
          <a:xfrm>
            <a:off x="5004048" y="1030163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>
                <a:solidFill>
                  <a:srgbClr val="C00000"/>
                </a:solidFill>
                <a:latin typeface="Courier" pitchFamily="2" charset="0"/>
              </a:rPr>
              <a:t>另一种情况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12201D-CF59-5145-AA48-A63BCC43C650}"/>
              </a:ext>
            </a:extLst>
          </p:cNvPr>
          <p:cNvSpPr/>
          <p:nvPr/>
        </p:nvSpPr>
        <p:spPr>
          <a:xfrm>
            <a:off x="2480435" y="2564629"/>
            <a:ext cx="3595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调用wait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，发现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val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还是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，挂起</a:t>
            </a:r>
            <a:endParaRPr lang="en-US">
              <a:solidFill>
                <a:srgbClr val="C00000"/>
              </a:solidFill>
              <a:latin typeface="Courier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A3967-657B-7445-A573-41DF04F49123}"/>
              </a:ext>
            </a:extLst>
          </p:cNvPr>
          <p:cNvSpPr/>
          <p:nvPr/>
        </p:nvSpPr>
        <p:spPr>
          <a:xfrm>
            <a:off x="260132" y="944642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1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C482A0B-CAD5-0749-B3E8-DF610E120E9F}"/>
              </a:ext>
            </a:extLst>
          </p:cNvPr>
          <p:cNvSpPr/>
          <p:nvPr/>
        </p:nvSpPr>
        <p:spPr>
          <a:xfrm>
            <a:off x="323486" y="3252489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2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C30743-8E23-8240-8A57-B72935B71314}"/>
              </a:ext>
            </a:extLst>
          </p:cNvPr>
          <p:cNvSpPr/>
          <p:nvPr/>
        </p:nvSpPr>
        <p:spPr>
          <a:xfrm>
            <a:off x="5278927" y="3393164"/>
            <a:ext cx="12875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Thread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3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200162-871B-3D47-AEF7-84C5F64F322C}"/>
              </a:ext>
            </a:extLst>
          </p:cNvPr>
          <p:cNvSpPr/>
          <p:nvPr/>
        </p:nvSpPr>
        <p:spPr>
          <a:xfrm>
            <a:off x="4535016" y="5066182"/>
            <a:ext cx="42370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>
                <a:solidFill>
                  <a:srgbClr val="C00000"/>
                </a:solidFill>
                <a:latin typeface="Courier" pitchFamily="2" charset="0"/>
              </a:rPr>
              <a:t>在放锁时可以发现waiter</a:t>
            </a:r>
            <a:r>
              <a:rPr lang="zh-CN" altLang="en-US">
                <a:solidFill>
                  <a:srgbClr val="C00000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rgbClr val="C00000"/>
                </a:solidFill>
                <a:latin typeface="Courier" pitchFamily="2" charset="0"/>
              </a:rPr>
              <a:t>&gt; 0, wake</a:t>
            </a:r>
            <a:endParaRPr lang="en-CN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0CE127D-56DA-B949-B2EF-B172D2D57E98}"/>
              </a:ext>
            </a:extLst>
          </p:cNvPr>
          <p:cNvCxnSpPr/>
          <p:nvPr/>
        </p:nvCxnSpPr>
        <p:spPr>
          <a:xfrm flipH="1" flipV="1">
            <a:off x="2051720" y="2600389"/>
            <a:ext cx="3456384" cy="2297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920421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5347B-EA3F-FD4D-A6AE-573C3514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内存模型与同步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EDA36D-C346-474A-8C61-2175448AD5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B5CEF-4462-5945-9F4F-8D0020127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709562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FADF3-0980-9243-A977-94A5614FD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/>
              <a:t>LockOne</a:t>
            </a:r>
            <a:r>
              <a:rPr lang="zh-CN" altLang="en-US"/>
              <a:t>：皮特森算法的前身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3E45C4-518F-B04B-A900-80CA43BF15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14FCAF-624D-2B48-9B92-1E6E174238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230" y="1345332"/>
            <a:ext cx="7153540" cy="30243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307DE-35DB-F848-9C10-E1687FC0E6FE}"/>
              </a:ext>
            </a:extLst>
          </p:cNvPr>
          <p:cNvSpPr txBox="1"/>
          <p:nvPr/>
        </p:nvSpPr>
        <p:spPr>
          <a:xfrm>
            <a:off x="3023828" y="465770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多核环境下能够</a:t>
            </a:r>
            <a:r>
              <a:rPr lang="zh-CN" altLang="en-CN"/>
              <a:t>互斥访问</a:t>
            </a:r>
            <a:r>
              <a:rPr lang="zh-CN" altLang="en-US"/>
              <a:t>吗？</a:t>
            </a:r>
            <a:endParaRPr lang="en-US" altLang="zh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F280B0-E306-3949-A092-7F5130A66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58124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CN" sz="3200"/>
              <a:t>LockOne</a:t>
            </a:r>
            <a:r>
              <a:rPr lang="zh-CN" altLang="en-US" sz="3200"/>
              <a:t>在现实硬件中能够保证</a:t>
            </a:r>
            <a:r>
              <a:rPr lang="zh-CN" altLang="en-CN" sz="3200"/>
              <a:t>互斥访问</a:t>
            </a:r>
            <a:r>
              <a:rPr lang="zh-CN" altLang="en-US" sz="3200"/>
              <a:t>吗？</a:t>
            </a:r>
            <a:endParaRPr lang="en-CN" sz="32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AA9D8E-0D82-2642-BE5A-903669591679}"/>
              </a:ext>
            </a:extLst>
          </p:cNvPr>
          <p:cNvSpPr/>
          <p:nvPr/>
        </p:nvSpPr>
        <p:spPr>
          <a:xfrm>
            <a:off x="683568" y="2937876"/>
            <a:ext cx="35715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flag[0] = 1;</a:t>
            </a:r>
          </a:p>
          <a:p>
            <a:r>
              <a:rPr lang="en-CN">
                <a:latin typeface="Courier" pitchFamily="2" charset="0"/>
              </a:rPr>
              <a:t>	while(flag[1]);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3D3E1-F5CB-DC4C-AADB-B04E49B4CAF0}"/>
              </a:ext>
            </a:extLst>
          </p:cNvPr>
          <p:cNvSpPr/>
          <p:nvPr/>
        </p:nvSpPr>
        <p:spPr>
          <a:xfrm>
            <a:off x="4814633" y="2937876"/>
            <a:ext cx="43742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	flag[1] = 1;</a:t>
            </a:r>
          </a:p>
          <a:p>
            <a:r>
              <a:rPr lang="en-CN">
                <a:latin typeface="Courier" pitchFamily="2" charset="0"/>
              </a:rPr>
              <a:t>	while(flag[0]);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15AAF0-8F3F-6C48-840C-1A67902C25DE}"/>
              </a:ext>
            </a:extLst>
          </p:cNvPr>
          <p:cNvSpPr/>
          <p:nvPr/>
        </p:nvSpPr>
        <p:spPr>
          <a:xfrm>
            <a:off x="1594262" y="1259862"/>
            <a:ext cx="5955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缓存一致性耗时：</a:t>
            </a:r>
            <a:r>
              <a:rPr lang="zh-CN" altLang="en-US" b="1"/>
              <a:t>阻塞</a:t>
            </a:r>
            <a:r>
              <a:rPr lang="zh-CN" altLang="en-US"/>
              <a:t>处理器</a:t>
            </a:r>
            <a:r>
              <a:rPr lang="zh-CN" altLang="en-US" b="1"/>
              <a:t>流水线</a:t>
            </a:r>
            <a:r>
              <a:rPr lang="zh-CN" altLang="en-US"/>
              <a:t>，造成巨大性能开销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43A84-86C0-354B-BBBF-1FA51FD487E5}"/>
              </a:ext>
            </a:extLst>
          </p:cNvPr>
          <p:cNvSpPr/>
          <p:nvPr/>
        </p:nvSpPr>
        <p:spPr>
          <a:xfrm>
            <a:off x="1478845" y="1848287"/>
            <a:ext cx="6186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处理器允许部分访存操作</a:t>
            </a:r>
            <a:r>
              <a:rPr lang="zh-CN" altLang="en-US" b="1" dirty="0"/>
              <a:t>乱序执行</a:t>
            </a:r>
            <a:r>
              <a:rPr lang="zh-CN" altLang="en-US" dirty="0"/>
              <a:t>，从而提供更好的并行性</a:t>
            </a:r>
            <a:endParaRPr lang="en-CN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1784A3C-2FEE-134A-87F9-AA98AE7904FB}"/>
              </a:ext>
            </a:extLst>
          </p:cNvPr>
          <p:cNvCxnSpPr>
            <a:cxnSpLocks/>
          </p:cNvCxnSpPr>
          <p:nvPr/>
        </p:nvCxnSpPr>
        <p:spPr>
          <a:xfrm flipH="1">
            <a:off x="3880807" y="3426580"/>
            <a:ext cx="1771313" cy="248710"/>
          </a:xfrm>
          <a:prstGeom prst="straightConnector1">
            <a:avLst/>
          </a:prstGeom>
          <a:ln w="2857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91F0218-AE53-9D44-80BC-6E19C4F8A793}"/>
              </a:ext>
            </a:extLst>
          </p:cNvPr>
          <p:cNvSpPr txBox="1"/>
          <p:nvPr/>
        </p:nvSpPr>
        <p:spPr>
          <a:xfrm rot="21247162">
            <a:off x="4640014" y="3173662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solidFill>
                  <a:schemeClr val="accent1"/>
                </a:solidFill>
              </a:rPr>
              <a:t>R</a:t>
            </a:r>
            <a:r>
              <a:rPr lang="en-US" altLang="zh-CN" sz="1400" dirty="0" err="1">
                <a:solidFill>
                  <a:schemeClr val="accent1"/>
                </a:solidFill>
              </a:rPr>
              <a:t>ead</a:t>
            </a:r>
            <a:r>
              <a:rPr lang="zh-CN" altLang="en-US" sz="1400" dirty="0">
                <a:solidFill>
                  <a:schemeClr val="accent1"/>
                </a:solidFill>
              </a:rPr>
              <a:t> </a:t>
            </a:r>
            <a:r>
              <a:rPr lang="en-US" altLang="zh-CN" sz="1400" dirty="0">
                <a:solidFill>
                  <a:schemeClr val="accent1"/>
                </a:solidFill>
              </a:rPr>
              <a:t>from</a:t>
            </a:r>
            <a:endParaRPr lang="en-CN" sz="1400">
              <a:solidFill>
                <a:schemeClr val="accent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6A681B8-80E7-6746-B997-21F1A025FAF5}"/>
              </a:ext>
            </a:extLst>
          </p:cNvPr>
          <p:cNvCxnSpPr>
            <a:cxnSpLocks/>
          </p:cNvCxnSpPr>
          <p:nvPr/>
        </p:nvCxnSpPr>
        <p:spPr>
          <a:xfrm>
            <a:off x="3582984" y="3403561"/>
            <a:ext cx="2086439" cy="258624"/>
          </a:xfrm>
          <a:prstGeom prst="straightConnector1">
            <a:avLst/>
          </a:prstGeom>
          <a:ln w="28575">
            <a:solidFill>
              <a:srgbClr val="00B050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B8C77D6-D7B2-2A43-AF96-BAD786A75D5C}"/>
              </a:ext>
            </a:extLst>
          </p:cNvPr>
          <p:cNvSpPr txBox="1"/>
          <p:nvPr/>
        </p:nvSpPr>
        <p:spPr>
          <a:xfrm rot="456945">
            <a:off x="3579785" y="3139746"/>
            <a:ext cx="10198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B050"/>
                </a:solidFill>
              </a:rPr>
              <a:t>Read</a:t>
            </a:r>
            <a:r>
              <a:rPr lang="zh-CN" altLang="en-US" sz="1400" dirty="0">
                <a:solidFill>
                  <a:srgbClr val="00B050"/>
                </a:solidFill>
              </a:rPr>
              <a:t> </a:t>
            </a:r>
            <a:r>
              <a:rPr lang="en-US" altLang="zh-CN" sz="1400" dirty="0">
                <a:solidFill>
                  <a:srgbClr val="00B050"/>
                </a:solidFill>
              </a:rPr>
              <a:t>from</a:t>
            </a:r>
            <a:endParaRPr lang="en-CN" sz="1400">
              <a:solidFill>
                <a:srgbClr val="00B050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86333-2954-7045-80CE-98A2ED616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1D0139B-F6DF-5540-916E-3AB02DB8D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769D2CF-1851-3D46-A063-3F5448AC1EB9}"/>
              </a:ext>
            </a:extLst>
          </p:cNvPr>
          <p:cNvSpPr txBox="1"/>
          <p:nvPr/>
        </p:nvSpPr>
        <p:spPr>
          <a:xfrm>
            <a:off x="2210329" y="4208250"/>
            <a:ext cx="48317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b="1" dirty="0">
                <a:solidFill>
                  <a:schemeClr val="accent1"/>
                </a:solidFill>
              </a:rPr>
              <a:t>Read</a:t>
            </a:r>
            <a:r>
              <a:rPr kumimoji="1" lang="zh-CN" altLang="en-US" b="1" dirty="0">
                <a:solidFill>
                  <a:schemeClr val="accent1"/>
                </a:solidFill>
              </a:rPr>
              <a:t> </a:t>
            </a:r>
            <a:r>
              <a:rPr kumimoji="1" lang="en-US" altLang="zh-CN" b="1" dirty="0">
                <a:solidFill>
                  <a:schemeClr val="accent1"/>
                </a:solidFill>
              </a:rPr>
              <a:t>From</a:t>
            </a:r>
            <a:r>
              <a:rPr kumimoji="1" lang="zh-CN" altLang="en-US" b="1" dirty="0">
                <a:solidFill>
                  <a:schemeClr val="accent1"/>
                </a:solidFill>
              </a:rPr>
              <a:t>，必须读到对方设置的最新值</a:t>
            </a:r>
          </a:p>
        </p:txBody>
      </p:sp>
    </p:spTree>
    <p:extLst>
      <p:ext uri="{BB962C8B-B14F-4D97-AF65-F5344CB8AC3E}">
        <p14:creationId xmlns:p14="http://schemas.microsoft.com/office/powerpoint/2010/main" val="169823755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AA9D8E-0D82-2642-BE5A-903669591679}"/>
              </a:ext>
            </a:extLst>
          </p:cNvPr>
          <p:cNvSpPr/>
          <p:nvPr/>
        </p:nvSpPr>
        <p:spPr>
          <a:xfrm>
            <a:off x="683568" y="2937876"/>
            <a:ext cx="35715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flag[0] = 1;</a:t>
            </a:r>
          </a:p>
          <a:p>
            <a:r>
              <a:rPr lang="en-CN">
                <a:latin typeface="Courier" pitchFamily="2" charset="0"/>
              </a:rPr>
              <a:t>	while(flag[1]);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3D3E1-F5CB-DC4C-AADB-B04E49B4CAF0}"/>
              </a:ext>
            </a:extLst>
          </p:cNvPr>
          <p:cNvSpPr/>
          <p:nvPr/>
        </p:nvSpPr>
        <p:spPr>
          <a:xfrm>
            <a:off x="4644008" y="2936598"/>
            <a:ext cx="43742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	flag[1] = 1;</a:t>
            </a:r>
          </a:p>
          <a:p>
            <a:r>
              <a:rPr lang="en-CN">
                <a:latin typeface="Courier" pitchFamily="2" charset="0"/>
              </a:rPr>
              <a:t>	while(flag[0]);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15AAF0-8F3F-6C48-840C-1A67902C25DE}"/>
              </a:ext>
            </a:extLst>
          </p:cNvPr>
          <p:cNvSpPr/>
          <p:nvPr/>
        </p:nvSpPr>
        <p:spPr>
          <a:xfrm>
            <a:off x="1594262" y="1259862"/>
            <a:ext cx="5955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缓存一致性耗时：</a:t>
            </a:r>
            <a:r>
              <a:rPr lang="zh-CN" altLang="en-US" b="1"/>
              <a:t>阻塞</a:t>
            </a:r>
            <a:r>
              <a:rPr lang="zh-CN" altLang="en-US"/>
              <a:t>处理器</a:t>
            </a:r>
            <a:r>
              <a:rPr lang="zh-CN" altLang="en-US" b="1"/>
              <a:t>流水线</a:t>
            </a:r>
            <a:r>
              <a:rPr lang="zh-CN" altLang="en-US"/>
              <a:t>，造成巨大性能开销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43A84-86C0-354B-BBBF-1FA51FD487E5}"/>
              </a:ext>
            </a:extLst>
          </p:cNvPr>
          <p:cNvSpPr/>
          <p:nvPr/>
        </p:nvSpPr>
        <p:spPr>
          <a:xfrm>
            <a:off x="1478845" y="1848287"/>
            <a:ext cx="6186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处理器允许部分访存操作</a:t>
            </a:r>
            <a:r>
              <a:rPr lang="zh-CN" altLang="en-US" b="1" dirty="0">
                <a:solidFill>
                  <a:schemeClr val="accent1"/>
                </a:solidFill>
              </a:rPr>
              <a:t>乱序执行</a:t>
            </a:r>
            <a:r>
              <a:rPr lang="zh-CN" altLang="en-US" dirty="0"/>
              <a:t>，从而提供更好的并行性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86333-2954-7045-80CE-98A2ED616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861603-EED0-514C-8B74-DA2BCCCBB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Autofit/>
          </a:bodyPr>
          <a:lstStyle/>
          <a:p>
            <a:r>
              <a:rPr lang="en-US" altLang="zh-CN" sz="3200"/>
              <a:t>LockOne</a:t>
            </a:r>
            <a:r>
              <a:rPr lang="zh-CN" altLang="en-US" sz="3200"/>
              <a:t>在现实硬件中能够保证</a:t>
            </a:r>
            <a:r>
              <a:rPr lang="zh-CN" altLang="en-CN" sz="3200"/>
              <a:t>互斥访问</a:t>
            </a:r>
            <a:r>
              <a:rPr lang="zh-CN" altLang="en-US" sz="3200"/>
              <a:t>吗？</a:t>
            </a:r>
            <a:endParaRPr lang="en-CN" sz="3200"/>
          </a:p>
        </p:txBody>
      </p:sp>
      <p:sp>
        <p:nvSpPr>
          <p:cNvPr id="19" name="Arc 18">
            <a:extLst>
              <a:ext uri="{FF2B5EF4-FFF2-40B4-BE49-F238E27FC236}">
                <a16:creationId xmlns:a16="http://schemas.microsoft.com/office/drawing/2014/main" id="{56EA80E6-8CDC-814C-85BE-DC39CC603478}"/>
              </a:ext>
            </a:extLst>
          </p:cNvPr>
          <p:cNvSpPr/>
          <p:nvPr/>
        </p:nvSpPr>
        <p:spPr>
          <a:xfrm>
            <a:off x="3419872" y="3335231"/>
            <a:ext cx="900100" cy="426464"/>
          </a:xfrm>
          <a:prstGeom prst="arc">
            <a:avLst>
              <a:gd name="adj1" fmla="val 16200000"/>
              <a:gd name="adj2" fmla="val 5278294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125D27AC-8BD1-284E-85CC-DC76704A0AC6}"/>
              </a:ext>
            </a:extLst>
          </p:cNvPr>
          <p:cNvSpPr/>
          <p:nvPr/>
        </p:nvSpPr>
        <p:spPr>
          <a:xfrm>
            <a:off x="7380312" y="3320793"/>
            <a:ext cx="900100" cy="426464"/>
          </a:xfrm>
          <a:prstGeom prst="arc">
            <a:avLst>
              <a:gd name="adj1" fmla="val 16200000"/>
              <a:gd name="adj2" fmla="val 5278294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6DEEEC-CF94-4644-9330-206BCD125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A73960-C088-7E49-9DF3-F083711DC380}"/>
              </a:ext>
            </a:extLst>
          </p:cNvPr>
          <p:cNvSpPr/>
          <p:nvPr/>
        </p:nvSpPr>
        <p:spPr>
          <a:xfrm>
            <a:off x="4320842" y="3363797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</a:rPr>
              <a:t>乱序</a:t>
            </a:r>
            <a:endParaRPr lang="zh-CN" altLang="en-US" sz="16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3AD08DB-F332-4444-9BD2-54100D3C4982}"/>
              </a:ext>
            </a:extLst>
          </p:cNvPr>
          <p:cNvSpPr/>
          <p:nvPr/>
        </p:nvSpPr>
        <p:spPr>
          <a:xfrm>
            <a:off x="8280412" y="3331949"/>
            <a:ext cx="59503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600" dirty="0">
                <a:solidFill>
                  <a:schemeClr val="accent1"/>
                </a:solidFill>
              </a:rPr>
              <a:t>乱序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2399039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AA9D8E-0D82-2642-BE5A-903669591679}"/>
              </a:ext>
            </a:extLst>
          </p:cNvPr>
          <p:cNvSpPr/>
          <p:nvPr/>
        </p:nvSpPr>
        <p:spPr>
          <a:xfrm>
            <a:off x="683568" y="2937876"/>
            <a:ext cx="357151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while(flag[1]);</a:t>
            </a: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flag[0] = 1;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3D3E1-F5CB-DC4C-AADB-B04E49B4CAF0}"/>
              </a:ext>
            </a:extLst>
          </p:cNvPr>
          <p:cNvSpPr/>
          <p:nvPr/>
        </p:nvSpPr>
        <p:spPr>
          <a:xfrm>
            <a:off x="4644008" y="2936598"/>
            <a:ext cx="43742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while(flag[0]);</a:t>
            </a: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flag[1] = 1;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315AAF0-8F3F-6C48-840C-1A67902C25DE}"/>
              </a:ext>
            </a:extLst>
          </p:cNvPr>
          <p:cNvSpPr/>
          <p:nvPr/>
        </p:nvSpPr>
        <p:spPr>
          <a:xfrm>
            <a:off x="1594262" y="1259862"/>
            <a:ext cx="59554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缓存一致性耗时：</a:t>
            </a:r>
            <a:r>
              <a:rPr lang="zh-CN" altLang="en-US" b="1"/>
              <a:t>阻塞</a:t>
            </a:r>
            <a:r>
              <a:rPr lang="zh-CN" altLang="en-US"/>
              <a:t>处理器</a:t>
            </a:r>
            <a:r>
              <a:rPr lang="zh-CN" altLang="en-US" b="1"/>
              <a:t>流水线</a:t>
            </a:r>
            <a:r>
              <a:rPr lang="zh-CN" altLang="en-US"/>
              <a:t>，造成巨大性能开销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43A84-86C0-354B-BBBF-1FA51FD487E5}"/>
              </a:ext>
            </a:extLst>
          </p:cNvPr>
          <p:cNvSpPr/>
          <p:nvPr/>
        </p:nvSpPr>
        <p:spPr>
          <a:xfrm>
            <a:off x="1478845" y="1848287"/>
            <a:ext cx="6186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处理器允许部分访存操作</a:t>
            </a:r>
            <a:r>
              <a:rPr lang="zh-CN" altLang="en-US" b="1"/>
              <a:t>乱序执行</a:t>
            </a:r>
            <a:r>
              <a:rPr lang="zh-CN" altLang="en-US"/>
              <a:t>，从而提供更好的并行性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86333-2954-7045-80CE-98A2ED616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861603-EED0-514C-8B74-DA2BCCCBB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Autofit/>
          </a:bodyPr>
          <a:lstStyle/>
          <a:p>
            <a:r>
              <a:rPr lang="en-US" altLang="zh-CN" sz="3200"/>
              <a:t>LockOne</a:t>
            </a:r>
            <a:r>
              <a:rPr lang="zh-CN" altLang="en-US" sz="3200"/>
              <a:t>在现实硬件中能够保证</a:t>
            </a:r>
            <a:r>
              <a:rPr lang="zh-CN" altLang="en-CN" sz="3200"/>
              <a:t>互斥访问</a:t>
            </a:r>
            <a:r>
              <a:rPr lang="zh-CN" altLang="en-US" sz="3200"/>
              <a:t>吗？</a:t>
            </a:r>
            <a:endParaRPr lang="en-CN" sz="32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EF09C9F-C65B-0C44-AB3A-82D0F5178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84471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AA9D8E-0D82-2642-BE5A-903669591679}"/>
              </a:ext>
            </a:extLst>
          </p:cNvPr>
          <p:cNvSpPr/>
          <p:nvPr/>
        </p:nvSpPr>
        <p:spPr>
          <a:xfrm>
            <a:off x="683568" y="2937876"/>
            <a:ext cx="35715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while(flag[1]);</a:t>
            </a: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flag[0] = 1;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3D3E1-F5CB-DC4C-AADB-B04E49B4CAF0}"/>
              </a:ext>
            </a:extLst>
          </p:cNvPr>
          <p:cNvSpPr/>
          <p:nvPr/>
        </p:nvSpPr>
        <p:spPr>
          <a:xfrm>
            <a:off x="4644008" y="2936598"/>
            <a:ext cx="4374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endParaRPr lang="en-CN">
              <a:latin typeface="Courier" pitchFamily="2" charset="0"/>
            </a:endParaRP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while(flag[0]);</a:t>
            </a: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flag[1] = 1;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43A84-86C0-354B-BBBF-1FA51FD487E5}"/>
              </a:ext>
            </a:extLst>
          </p:cNvPr>
          <p:cNvSpPr/>
          <p:nvPr/>
        </p:nvSpPr>
        <p:spPr>
          <a:xfrm>
            <a:off x="1478845" y="1848287"/>
            <a:ext cx="6186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处理器允许部分访存操作</a:t>
            </a:r>
            <a:r>
              <a:rPr lang="zh-CN" altLang="en-US" b="1"/>
              <a:t>乱序执行</a:t>
            </a:r>
            <a:r>
              <a:rPr lang="zh-CN" altLang="en-US"/>
              <a:t>，从而提供更好的并行性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86333-2954-7045-80CE-98A2ED616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861603-EED0-514C-8B74-DA2BCCCBB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Autofit/>
          </a:bodyPr>
          <a:lstStyle/>
          <a:p>
            <a:r>
              <a:rPr lang="en-US" altLang="zh-CN" sz="3200"/>
              <a:t>LockOne</a:t>
            </a:r>
            <a:r>
              <a:rPr lang="zh-CN" altLang="en-US" sz="3200"/>
              <a:t>在现实硬件中能够保证</a:t>
            </a:r>
            <a:r>
              <a:rPr lang="zh-CN" altLang="en-CN" sz="3200"/>
              <a:t>互斥访问</a:t>
            </a:r>
            <a:r>
              <a:rPr lang="zh-CN" altLang="en-US" sz="3200"/>
              <a:t>吗？</a:t>
            </a:r>
            <a:endParaRPr lang="en-CN" sz="32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2278455-164E-3C43-810D-2C85A05C35D1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52745" y="3649588"/>
            <a:ext cx="8334055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700E1DF-E22A-3746-87DB-9C47693F7C63}"/>
              </a:ext>
            </a:extLst>
          </p:cNvPr>
          <p:cNvCxnSpPr>
            <a:cxnSpLocks/>
          </p:cNvCxnSpPr>
          <p:nvPr/>
        </p:nvCxnSpPr>
        <p:spPr>
          <a:xfrm>
            <a:off x="352745" y="4225652"/>
            <a:ext cx="8334055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7924B92-35B4-4B40-B2EA-70072CCC1AB1}"/>
              </a:ext>
            </a:extLst>
          </p:cNvPr>
          <p:cNvCxnSpPr>
            <a:cxnSpLocks/>
          </p:cNvCxnSpPr>
          <p:nvPr/>
        </p:nvCxnSpPr>
        <p:spPr>
          <a:xfrm>
            <a:off x="352745" y="4816678"/>
            <a:ext cx="8334055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EE8C10EF-48F5-3A4D-9AEB-2B40988DA01F}"/>
              </a:ext>
            </a:extLst>
          </p:cNvPr>
          <p:cNvSpPr/>
          <p:nvPr/>
        </p:nvSpPr>
        <p:spPr>
          <a:xfrm>
            <a:off x="125760" y="328025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T1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7FFF9E-64EA-B344-B778-1D63455F13C1}"/>
              </a:ext>
            </a:extLst>
          </p:cNvPr>
          <p:cNvSpPr/>
          <p:nvPr/>
        </p:nvSpPr>
        <p:spPr>
          <a:xfrm>
            <a:off x="117293" y="377406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T2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4DFE41-F09A-7F47-ACE3-E395A73DDECC}"/>
              </a:ext>
            </a:extLst>
          </p:cNvPr>
          <p:cNvSpPr/>
          <p:nvPr/>
        </p:nvSpPr>
        <p:spPr>
          <a:xfrm>
            <a:off x="125760" y="435012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T3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2380D2-20CC-844D-BAA4-0B3DB09F8FD7}"/>
              </a:ext>
            </a:extLst>
          </p:cNvPr>
          <p:cNvSpPr/>
          <p:nvPr/>
        </p:nvSpPr>
        <p:spPr>
          <a:xfrm>
            <a:off x="125760" y="492230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T4</a:t>
            </a:r>
            <a:endParaRPr lang="en-CN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D28A437B-3ABE-3543-A25C-D5D2DEF36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95908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CAA9D8E-0D82-2642-BE5A-903669591679}"/>
              </a:ext>
            </a:extLst>
          </p:cNvPr>
          <p:cNvSpPr/>
          <p:nvPr/>
        </p:nvSpPr>
        <p:spPr>
          <a:xfrm>
            <a:off x="683568" y="2937876"/>
            <a:ext cx="357151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while(flag[1]);</a:t>
            </a: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flag[0] = 1;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403D3E1-F5CB-DC4C-AADB-B04E49B4CAF0}"/>
              </a:ext>
            </a:extLst>
          </p:cNvPr>
          <p:cNvSpPr/>
          <p:nvPr/>
        </p:nvSpPr>
        <p:spPr>
          <a:xfrm>
            <a:off x="4644008" y="2936598"/>
            <a:ext cx="4374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endParaRPr lang="en-CN">
              <a:latin typeface="Courier" pitchFamily="2" charset="0"/>
            </a:endParaRP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while(flag[0]);</a:t>
            </a: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flag[1] = 1;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F43A84-86C0-354B-BBBF-1FA51FD487E5}"/>
              </a:ext>
            </a:extLst>
          </p:cNvPr>
          <p:cNvSpPr/>
          <p:nvPr/>
        </p:nvSpPr>
        <p:spPr>
          <a:xfrm>
            <a:off x="1478845" y="1848287"/>
            <a:ext cx="6186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处理器允许部分访存操作</a:t>
            </a:r>
            <a:r>
              <a:rPr lang="zh-CN" altLang="en-US" b="1"/>
              <a:t>乱序执行</a:t>
            </a:r>
            <a:r>
              <a:rPr lang="zh-CN" altLang="en-US"/>
              <a:t>，从而提供更好的并行性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86333-2954-7045-80CE-98A2ED616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861603-EED0-514C-8B74-DA2BCCCBB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Autofit/>
          </a:bodyPr>
          <a:lstStyle/>
          <a:p>
            <a:r>
              <a:rPr lang="en-US" altLang="zh-CN" sz="3200"/>
              <a:t>LockOne</a:t>
            </a:r>
            <a:r>
              <a:rPr lang="zh-CN" altLang="en-US" sz="3200"/>
              <a:t>在现实硬件中能够保证</a:t>
            </a:r>
            <a:r>
              <a:rPr lang="zh-CN" altLang="en-CN" sz="3200"/>
              <a:t>互斥访问</a:t>
            </a:r>
            <a:r>
              <a:rPr lang="zh-CN" altLang="en-US" sz="3200"/>
              <a:t>吗？</a:t>
            </a:r>
            <a:endParaRPr lang="en-CN" sz="32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8C10EF-48F5-3A4D-9AEB-2B40988DA01F}"/>
              </a:ext>
            </a:extLst>
          </p:cNvPr>
          <p:cNvSpPr/>
          <p:nvPr/>
        </p:nvSpPr>
        <p:spPr>
          <a:xfrm>
            <a:off x="125760" y="328025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T1</a:t>
            </a:r>
            <a:endParaRPr lang="en-C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7FFF9E-64EA-B344-B778-1D63455F13C1}"/>
              </a:ext>
            </a:extLst>
          </p:cNvPr>
          <p:cNvSpPr/>
          <p:nvPr/>
        </p:nvSpPr>
        <p:spPr>
          <a:xfrm>
            <a:off x="117293" y="3774066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T2</a:t>
            </a:r>
            <a:endParaRPr lang="en-C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B4DFE41-F09A-7F47-ACE3-E395A73DDECC}"/>
              </a:ext>
            </a:extLst>
          </p:cNvPr>
          <p:cNvSpPr/>
          <p:nvPr/>
        </p:nvSpPr>
        <p:spPr>
          <a:xfrm>
            <a:off x="125760" y="435012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T3</a:t>
            </a:r>
            <a:endParaRPr lang="en-C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2380D2-20CC-844D-BAA4-0B3DB09F8FD7}"/>
              </a:ext>
            </a:extLst>
          </p:cNvPr>
          <p:cNvSpPr/>
          <p:nvPr/>
        </p:nvSpPr>
        <p:spPr>
          <a:xfrm>
            <a:off x="125760" y="492230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T4</a:t>
            </a:r>
            <a:endParaRPr lang="en-C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E61451-DD0E-E04A-9A0C-5AF0A17EE066}"/>
              </a:ext>
            </a:extLst>
          </p:cNvPr>
          <p:cNvSpPr/>
          <p:nvPr/>
        </p:nvSpPr>
        <p:spPr>
          <a:xfrm>
            <a:off x="1369840" y="2416915"/>
            <a:ext cx="6404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proc_A</a:t>
            </a:r>
            <a:r>
              <a:rPr lang="zh-CN" altLang="en-US">
                <a:latin typeface="Courier" pitchFamily="2" charset="0"/>
              </a:rPr>
              <a:t> 与 </a:t>
            </a:r>
            <a:r>
              <a:rPr lang="en-US" altLang="zh-CN">
                <a:latin typeface="Courier" pitchFamily="2" charset="0"/>
              </a:rPr>
              <a:t>proc_B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都读到对方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flag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为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0</a:t>
            </a:r>
            <a:r>
              <a:rPr lang="zh-CN" altLang="en-US">
                <a:latin typeface="Courier" pitchFamily="2" charset="0"/>
              </a:rPr>
              <a:t>，</a:t>
            </a:r>
            <a:r>
              <a:rPr lang="zh-CN" altLang="en-US" b="1">
                <a:latin typeface="Courier" pitchFamily="2" charset="0"/>
              </a:rPr>
              <a:t>同时进入临界区</a:t>
            </a:r>
            <a:endParaRPr lang="en-CN" b="1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14255B-1C73-C04A-B013-45E2F271F979}"/>
              </a:ext>
            </a:extLst>
          </p:cNvPr>
          <p:cNvCxnSpPr>
            <a:cxnSpLocks/>
          </p:cNvCxnSpPr>
          <p:nvPr/>
        </p:nvCxnSpPr>
        <p:spPr>
          <a:xfrm>
            <a:off x="352745" y="3649588"/>
            <a:ext cx="8334055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F51B70-6A4E-DA4C-9A26-2C547209D3BA}"/>
              </a:ext>
            </a:extLst>
          </p:cNvPr>
          <p:cNvCxnSpPr>
            <a:cxnSpLocks/>
          </p:cNvCxnSpPr>
          <p:nvPr/>
        </p:nvCxnSpPr>
        <p:spPr>
          <a:xfrm>
            <a:off x="352745" y="4225652"/>
            <a:ext cx="8334055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558B865-5AF6-FA4A-96D6-960CE61B2D85}"/>
              </a:ext>
            </a:extLst>
          </p:cNvPr>
          <p:cNvCxnSpPr>
            <a:cxnSpLocks/>
          </p:cNvCxnSpPr>
          <p:nvPr/>
        </p:nvCxnSpPr>
        <p:spPr>
          <a:xfrm>
            <a:off x="352745" y="4816678"/>
            <a:ext cx="8334055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B9EA44B-67DF-2549-9F57-A9924DB98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59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000159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D86333-2954-7045-80CE-98A2ED6165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4861603-EED0-514C-8B74-DA2BCCCBB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Autofit/>
          </a:bodyPr>
          <a:lstStyle/>
          <a:p>
            <a:r>
              <a:rPr lang="en-US" altLang="zh-CN" sz="3200"/>
              <a:t>LockOne</a:t>
            </a:r>
            <a:r>
              <a:rPr lang="zh-CN" altLang="en-US" sz="3200"/>
              <a:t>在现实硬件中能够保证</a:t>
            </a:r>
            <a:r>
              <a:rPr lang="zh-CN" altLang="en-CN" sz="3200"/>
              <a:t>互斥访问</a:t>
            </a:r>
            <a:r>
              <a:rPr lang="zh-CN" altLang="en-US" sz="3200"/>
              <a:t>吗？</a:t>
            </a:r>
            <a:endParaRPr lang="en-CN" sz="3200"/>
          </a:p>
        </p:txBody>
      </p:sp>
      <p:pic>
        <p:nvPicPr>
          <p:cNvPr id="17" name="Picture 16" descr="A screenshot of a cell phone&#10;&#10;Description automatically generated">
            <a:extLst>
              <a:ext uri="{FF2B5EF4-FFF2-40B4-BE49-F238E27FC236}">
                <a16:creationId xmlns:a16="http://schemas.microsoft.com/office/drawing/2014/main" id="{989B8A78-17DF-CF41-9FBD-7C550043F2A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5" t="31730"/>
          <a:stretch/>
        </p:blipFill>
        <p:spPr>
          <a:xfrm>
            <a:off x="827584" y="2065412"/>
            <a:ext cx="6120680" cy="2931411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9F0C3DD-1F5E-A348-8E0D-67C2F4DA34B5}"/>
              </a:ext>
            </a:extLst>
          </p:cNvPr>
          <p:cNvCxnSpPr/>
          <p:nvPr/>
        </p:nvCxnSpPr>
        <p:spPr>
          <a:xfrm>
            <a:off x="5292080" y="1417340"/>
            <a:ext cx="0" cy="3744416"/>
          </a:xfrm>
          <a:prstGeom prst="line">
            <a:avLst/>
          </a:prstGeom>
          <a:ln w="22225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A1CAA71F-5C04-654C-845D-A3DFDEC0F01E}"/>
              </a:ext>
            </a:extLst>
          </p:cNvPr>
          <p:cNvSpPr/>
          <p:nvPr/>
        </p:nvSpPr>
        <p:spPr>
          <a:xfrm>
            <a:off x="1907704" y="1273324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会发生这个现象</a:t>
            </a:r>
            <a:endParaRPr lang="en-CN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33F86D-C201-264F-B2E6-F917536101C6}"/>
              </a:ext>
            </a:extLst>
          </p:cNvPr>
          <p:cNvSpPr/>
          <p:nvPr/>
        </p:nvSpPr>
        <p:spPr>
          <a:xfrm>
            <a:off x="6485963" y="1298960"/>
            <a:ext cx="20762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不会发生这个现象</a:t>
            </a:r>
            <a:endParaRPr lang="en-CN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26538270-BECA-D94B-9D3F-0CF8389B4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00865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用原子指令也会有这个问题么？会！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61</a:t>
            </a:fld>
            <a:endParaRPr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77E00-8EF7-2D44-8573-399E7052DEAF}"/>
              </a:ext>
            </a:extLst>
          </p:cNvPr>
          <p:cNvSpPr/>
          <p:nvPr/>
        </p:nvSpPr>
        <p:spPr>
          <a:xfrm>
            <a:off x="656691" y="2396384"/>
            <a:ext cx="52297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  while(atomic_CAS(&amp;lock,</a:t>
            </a:r>
          </a:p>
          <a:p>
            <a:r>
              <a:rPr lang="en-CN">
                <a:latin typeface="Courier" pitchFamily="2" charset="0"/>
              </a:rPr>
              <a:t>	0, 1));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rgbClr val="FF0000"/>
                </a:solidFill>
                <a:latin typeface="Courier" pitchFamily="2" charset="0"/>
              </a:rPr>
              <a:t>  global_cnt ++;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lock = 0;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  <a:p>
            <a:r>
              <a:rPr lang="en-CN">
                <a:latin typeface="Courier" pitchFamily="2" charset="0"/>
              </a:rPr>
              <a:t>	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8BD28B-858B-7744-938C-76D84DC1A7C8}"/>
              </a:ext>
            </a:extLst>
          </p:cNvPr>
          <p:cNvSpPr/>
          <p:nvPr/>
        </p:nvSpPr>
        <p:spPr>
          <a:xfrm>
            <a:off x="4617132" y="2395106"/>
            <a:ext cx="4374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 while(atomic_CAS(&amp;lock,</a:t>
            </a:r>
          </a:p>
          <a:p>
            <a:r>
              <a:rPr lang="en-CN">
                <a:latin typeface="Courier" pitchFamily="2" charset="0"/>
              </a:rPr>
              <a:t>	0, 1));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local_cnt = 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global_cnt;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lock = 0;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5BD85E-9B47-5A45-AF4F-480713F9358B}"/>
              </a:ext>
            </a:extLst>
          </p:cNvPr>
          <p:cNvSpPr/>
          <p:nvPr/>
        </p:nvSpPr>
        <p:spPr>
          <a:xfrm>
            <a:off x="152636" y="2209428"/>
            <a:ext cx="8838728" cy="2835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E9A119-C9E8-1343-868E-5DF4D921574A}"/>
              </a:ext>
            </a:extLst>
          </p:cNvPr>
          <p:cNvSpPr/>
          <p:nvPr/>
        </p:nvSpPr>
        <p:spPr>
          <a:xfrm>
            <a:off x="2861099" y="1383197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/>
              <a:t>同步原语</a:t>
            </a:r>
            <a:r>
              <a:rPr lang="en-US" dirty="0" err="1"/>
              <a:t>中也存在内存乱序问题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271549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用原子指令也会有这个问题么？会！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62</a:t>
            </a:fld>
            <a:endParaRPr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77E00-8EF7-2D44-8573-399E7052DEAF}"/>
              </a:ext>
            </a:extLst>
          </p:cNvPr>
          <p:cNvSpPr/>
          <p:nvPr/>
        </p:nvSpPr>
        <p:spPr>
          <a:xfrm>
            <a:off x="656691" y="2396384"/>
            <a:ext cx="52297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  while(atomic_CAS(&amp;lock,</a:t>
            </a:r>
          </a:p>
          <a:p>
            <a:r>
              <a:rPr lang="en-CN">
                <a:latin typeface="Courier" pitchFamily="2" charset="0"/>
              </a:rPr>
              <a:t>	0, 1));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rgbClr val="FF0000"/>
                </a:solidFill>
                <a:latin typeface="Courier" pitchFamily="2" charset="0"/>
              </a:rPr>
              <a:t>  </a:t>
            </a:r>
            <a:r>
              <a:rPr lang="en-CN">
                <a:solidFill>
                  <a:schemeClr val="accent1">
                    <a:lumMod val="20000"/>
                    <a:lumOff val="80000"/>
                  </a:schemeClr>
                </a:solidFill>
                <a:latin typeface="Courier" pitchFamily="2" charset="0"/>
              </a:rPr>
              <a:t>global_cnt ++;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lock = 0;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  <a:p>
            <a:r>
              <a:rPr lang="en-CN">
                <a:latin typeface="Courier" pitchFamily="2" charset="0"/>
              </a:rPr>
              <a:t>	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8BD28B-858B-7744-938C-76D84DC1A7C8}"/>
              </a:ext>
            </a:extLst>
          </p:cNvPr>
          <p:cNvSpPr/>
          <p:nvPr/>
        </p:nvSpPr>
        <p:spPr>
          <a:xfrm>
            <a:off x="4617132" y="2395106"/>
            <a:ext cx="4374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 while(atomic_CAS(&amp;lock,</a:t>
            </a:r>
          </a:p>
          <a:p>
            <a:r>
              <a:rPr lang="en-CN">
                <a:latin typeface="Courier" pitchFamily="2" charset="0"/>
              </a:rPr>
              <a:t>	0, 1));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local_cnt = 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global_cnt;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lock = 0;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5BD85E-9B47-5A45-AF4F-480713F9358B}"/>
              </a:ext>
            </a:extLst>
          </p:cNvPr>
          <p:cNvSpPr/>
          <p:nvPr/>
        </p:nvSpPr>
        <p:spPr>
          <a:xfrm>
            <a:off x="152636" y="2209428"/>
            <a:ext cx="8838728" cy="2835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E9A119-C9E8-1343-868E-5DF4D921574A}"/>
              </a:ext>
            </a:extLst>
          </p:cNvPr>
          <p:cNvSpPr/>
          <p:nvPr/>
        </p:nvSpPr>
        <p:spPr>
          <a:xfrm>
            <a:off x="2861099" y="1383197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err="1"/>
              <a:t>同步原语</a:t>
            </a:r>
            <a:r>
              <a:rPr lang="en-US" dirty="0" err="1"/>
              <a:t>中也存在内存乱序问题</a:t>
            </a:r>
            <a:endParaRPr lang="en-CN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38D18290-FC08-A34E-BA1F-308E4A45534B}"/>
              </a:ext>
            </a:extLst>
          </p:cNvPr>
          <p:cNvSpPr/>
          <p:nvPr/>
        </p:nvSpPr>
        <p:spPr>
          <a:xfrm rot="10800000">
            <a:off x="656691" y="3865612"/>
            <a:ext cx="537766" cy="682167"/>
          </a:xfrm>
          <a:prstGeom prst="arc">
            <a:avLst>
              <a:gd name="adj1" fmla="val 16097635"/>
              <a:gd name="adj2" fmla="val 4940906"/>
            </a:avLst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B4B30-7E8A-EC45-B040-E04B3120AC8D}"/>
              </a:ext>
            </a:extLst>
          </p:cNvPr>
          <p:cNvSpPr/>
          <p:nvPr/>
        </p:nvSpPr>
        <p:spPr>
          <a:xfrm>
            <a:off x="925574" y="4459226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rgbClr val="FF0000"/>
                </a:solidFill>
                <a:latin typeface="Courier" pitchFamily="2" charset="0"/>
              </a:rPr>
              <a:t>global_cnt ++;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B69C2A-DC4C-0C41-B21B-EDE8B35C3BF6}"/>
              </a:ext>
            </a:extLst>
          </p:cNvPr>
          <p:cNvSpPr/>
          <p:nvPr/>
        </p:nvSpPr>
        <p:spPr>
          <a:xfrm>
            <a:off x="3062476" y="3365879"/>
            <a:ext cx="1613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 err="1"/>
              <a:t>乱序到放锁之后才全局可见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6576B-CB75-A549-B27D-65C46FA9B677}"/>
              </a:ext>
            </a:extLst>
          </p:cNvPr>
          <p:cNvSpPr/>
          <p:nvPr/>
        </p:nvSpPr>
        <p:spPr>
          <a:xfrm>
            <a:off x="6516216" y="388170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读到错误的值</a:t>
            </a:r>
            <a:endParaRPr lang="en-CN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329034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DD62-4417-154C-9441-0847E6A7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几种</a:t>
            </a:r>
            <a:r>
              <a:rPr lang="zh-CN" altLang="en-US"/>
              <a:t>内存模型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8A389-1F57-5D4F-A789-38FAB764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C5F44-28DC-2343-9FA7-2909E4918A65}"/>
              </a:ext>
            </a:extLst>
          </p:cNvPr>
          <p:cNvSpPr/>
          <p:nvPr/>
        </p:nvSpPr>
        <p:spPr>
          <a:xfrm>
            <a:off x="1331640" y="1849388"/>
            <a:ext cx="2847529" cy="246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200000"/>
              </a:lnSpc>
            </a:pPr>
            <a:r>
              <a:rPr lang="zh-CN" altLang="en-US" sz="2000" b="1"/>
              <a:t>严格一致性模型</a:t>
            </a:r>
            <a:endParaRPr lang="en-US" altLang="zh-CN" sz="2000" b="1"/>
          </a:p>
          <a:p>
            <a:pPr lvl="1" algn="ctr">
              <a:lnSpc>
                <a:spcPct val="200000"/>
              </a:lnSpc>
            </a:pPr>
            <a:r>
              <a:rPr lang="zh-CN" altLang="en-US" sz="2000"/>
              <a:t>顺序一致性模型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en-US" altLang="zh-CN" sz="2000"/>
              <a:t>TSO</a:t>
            </a:r>
            <a:r>
              <a:rPr lang="zh-CN" altLang="en-US" sz="2000"/>
              <a:t>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zh-CN" altLang="en-US" sz="2000"/>
              <a:t>弱序一致性模型</a:t>
            </a:r>
            <a:endParaRPr lang="en-US" altLang="zh-CN" sz="20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F57139-47EF-414D-9011-3B89CB2D81CA}"/>
              </a:ext>
            </a:extLst>
          </p:cNvPr>
          <p:cNvCxnSpPr/>
          <p:nvPr/>
        </p:nvCxnSpPr>
        <p:spPr>
          <a:xfrm>
            <a:off x="4716016" y="1993404"/>
            <a:ext cx="0" cy="24611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8C4522D-F017-374C-B706-6DD9AD9AD528}"/>
              </a:ext>
            </a:extLst>
          </p:cNvPr>
          <p:cNvSpPr/>
          <p:nvPr/>
        </p:nvSpPr>
        <p:spPr>
          <a:xfrm>
            <a:off x="5076056" y="175523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强保证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9F11F-97D7-F24E-88E1-A90ADE57C02F}"/>
              </a:ext>
            </a:extLst>
          </p:cNvPr>
          <p:cNvSpPr/>
          <p:nvPr/>
        </p:nvSpPr>
        <p:spPr>
          <a:xfrm>
            <a:off x="5076055" y="424111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弱保证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CD3CA0-03CC-5542-B935-97E087912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7329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内存模型：严格一致性模型</a:t>
            </a:r>
            <a:endParaRPr lang="en-CN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2A771DF-B7B4-4144-A733-3A1A9ED2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272823"/>
            <a:ext cx="7411777" cy="146969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zh-CN" altLang="en-US" sz="2000" b="0"/>
              <a:t>严格一致性模型（</a:t>
            </a:r>
            <a:r>
              <a:rPr lang="en-US" altLang="zh-CN" sz="2000" b="0"/>
              <a:t>Strict Consistency</a:t>
            </a:r>
            <a:r>
              <a:rPr lang="zh-CN" altLang="en-US" sz="2000" b="0"/>
              <a:t>）</a:t>
            </a:r>
            <a:endParaRPr lang="en-US" altLang="zh-CN" sz="2000" b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/>
              <a:t>对一个地址的任意的</a:t>
            </a:r>
            <a:r>
              <a:rPr lang="zh-CN" altLang="en-US" sz="1800" b="1"/>
              <a:t>读操作</a:t>
            </a:r>
            <a:r>
              <a:rPr lang="zh-CN" altLang="en-US" sz="1800"/>
              <a:t>都能读到这个地址</a:t>
            </a:r>
            <a:r>
              <a:rPr lang="zh-CN" altLang="en-US" sz="1800" b="1"/>
              <a:t>最近一次写</a:t>
            </a:r>
            <a:r>
              <a:rPr lang="zh-CN" altLang="en-US" sz="1800"/>
              <a:t>的数据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None/>
            </a:pPr>
            <a:r>
              <a:rPr lang="en-CN" sz="1800"/>
              <a:t>访存操作顺序与</a:t>
            </a:r>
            <a:r>
              <a:rPr lang="en-CN" sz="1800" b="1"/>
              <a:t>全局时钟</a:t>
            </a:r>
            <a:r>
              <a:rPr lang="en-CN" sz="1800"/>
              <a:t>的顺序完全一致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zh-CN" altLang="en-US" sz="180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9F230D0-33BA-964D-86E2-96A2C950F4C2}"/>
              </a:ext>
            </a:extLst>
          </p:cNvPr>
          <p:cNvCxnSpPr>
            <a:cxnSpLocks/>
          </p:cNvCxnSpPr>
          <p:nvPr/>
        </p:nvCxnSpPr>
        <p:spPr>
          <a:xfrm flipH="1">
            <a:off x="1259632" y="3937620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F6B2CA1E-BEB4-944E-8E89-4AA629D5B513}"/>
              </a:ext>
            </a:extLst>
          </p:cNvPr>
          <p:cNvCxnSpPr>
            <a:cxnSpLocks/>
          </p:cNvCxnSpPr>
          <p:nvPr/>
        </p:nvCxnSpPr>
        <p:spPr>
          <a:xfrm flipH="1">
            <a:off x="1259632" y="4369668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3B9CBB5-5197-DD49-B496-032CF3421C9B}"/>
              </a:ext>
            </a:extLst>
          </p:cNvPr>
          <p:cNvCxnSpPr>
            <a:cxnSpLocks/>
          </p:cNvCxnSpPr>
          <p:nvPr/>
        </p:nvCxnSpPr>
        <p:spPr>
          <a:xfrm flipH="1">
            <a:off x="1259632" y="4729708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D2758047-D79C-204B-B880-B05A6590B1F4}"/>
              </a:ext>
            </a:extLst>
          </p:cNvPr>
          <p:cNvSpPr/>
          <p:nvPr/>
        </p:nvSpPr>
        <p:spPr>
          <a:xfrm>
            <a:off x="456583" y="347541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T1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A5475EE-8EA8-6244-AF6F-965BFA8194EB}"/>
              </a:ext>
            </a:extLst>
          </p:cNvPr>
          <p:cNvSpPr/>
          <p:nvPr/>
        </p:nvSpPr>
        <p:spPr>
          <a:xfrm>
            <a:off x="464707" y="393810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T2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976F8DD-3E6C-EE49-97F2-07D34517F0A0}"/>
              </a:ext>
            </a:extLst>
          </p:cNvPr>
          <p:cNvSpPr/>
          <p:nvPr/>
        </p:nvSpPr>
        <p:spPr>
          <a:xfrm>
            <a:off x="456583" y="440079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F575D43-10C4-C941-A283-EA7A4DDD0F9A}"/>
              </a:ext>
            </a:extLst>
          </p:cNvPr>
          <p:cNvSpPr/>
          <p:nvPr/>
        </p:nvSpPr>
        <p:spPr>
          <a:xfrm>
            <a:off x="464707" y="486348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T4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50B3DC4-9932-9D4B-A8BF-1975E0B5546F}"/>
              </a:ext>
            </a:extLst>
          </p:cNvPr>
          <p:cNvSpPr/>
          <p:nvPr/>
        </p:nvSpPr>
        <p:spPr>
          <a:xfrm>
            <a:off x="1769418" y="5001052"/>
            <a:ext cx="31309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唯一可能：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(A,B) = (1,1)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2FFD0D-A6F0-4042-ACBA-B908858F19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0F11B0-88A8-9840-93A3-E734F4E37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64</a:t>
            </a:fld>
            <a:endParaRPr lang="zh-CN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1E0377-F712-A24B-A41C-4045E7D24C26}"/>
              </a:ext>
            </a:extLst>
          </p:cNvPr>
          <p:cNvSpPr/>
          <p:nvPr/>
        </p:nvSpPr>
        <p:spPr>
          <a:xfrm>
            <a:off x="1054510" y="3009791"/>
            <a:ext cx="2952328" cy="2134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proc_A(void) {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flag[0]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A </a:t>
            </a:r>
            <a:r>
              <a:rPr lang="en-US" altLang="zh-CN" dirty="0">
                <a:latin typeface="Courier" pitchFamily="2" charset="0"/>
              </a:rPr>
              <a:t>=</a:t>
            </a:r>
            <a:r>
              <a:rPr lang="zh-CN" altLang="en-US" dirty="0">
                <a:latin typeface="Courier" pitchFamily="2" charset="0"/>
              </a:rPr>
              <a:t> </a:t>
            </a:r>
            <a:r>
              <a:rPr lang="en-US" altLang="zh-CN" dirty="0">
                <a:latin typeface="Courier" pitchFamily="2" charset="0"/>
              </a:rPr>
              <a:t>flag[1]</a:t>
            </a:r>
            <a:r>
              <a:rPr lang="en-CN">
                <a:latin typeface="Courier" pitchFamily="2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DFD45D-E413-114F-B982-9D6FDB963F86}"/>
              </a:ext>
            </a:extLst>
          </p:cNvPr>
          <p:cNvSpPr/>
          <p:nvPr/>
        </p:nvSpPr>
        <p:spPr>
          <a:xfrm>
            <a:off x="4932040" y="3009791"/>
            <a:ext cx="2952328" cy="2549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proc_B(void) {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flag[1]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B = flag[0];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9890449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DD62-4417-154C-9441-0847E6A7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几种</a:t>
            </a:r>
            <a:r>
              <a:rPr lang="zh-CN" altLang="en-US"/>
              <a:t>内存模型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8A389-1F57-5D4F-A789-38FAB764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C5F44-28DC-2343-9FA7-2909E4918A65}"/>
              </a:ext>
            </a:extLst>
          </p:cNvPr>
          <p:cNvSpPr/>
          <p:nvPr/>
        </p:nvSpPr>
        <p:spPr>
          <a:xfrm>
            <a:off x="1331640" y="1849388"/>
            <a:ext cx="2847529" cy="246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200000"/>
              </a:lnSpc>
            </a:pPr>
            <a:r>
              <a:rPr lang="zh-CN" altLang="en-US" sz="2000"/>
              <a:t>严格一致性模型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zh-CN" altLang="en-US" sz="2000" b="1"/>
              <a:t>顺序一致性模型</a:t>
            </a:r>
            <a:endParaRPr lang="en-US" altLang="zh-CN" sz="2000" b="1"/>
          </a:p>
          <a:p>
            <a:pPr lvl="1" algn="ctr">
              <a:lnSpc>
                <a:spcPct val="200000"/>
              </a:lnSpc>
            </a:pPr>
            <a:r>
              <a:rPr lang="en-US" altLang="zh-CN" sz="2000"/>
              <a:t>TSO</a:t>
            </a:r>
            <a:r>
              <a:rPr lang="zh-CN" altLang="en-US" sz="2000"/>
              <a:t>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zh-CN" altLang="en-US" sz="2000"/>
              <a:t>弱序一致性模型</a:t>
            </a:r>
            <a:endParaRPr lang="en-US" altLang="zh-CN" sz="20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F57139-47EF-414D-9011-3B89CB2D81CA}"/>
              </a:ext>
            </a:extLst>
          </p:cNvPr>
          <p:cNvCxnSpPr/>
          <p:nvPr/>
        </p:nvCxnSpPr>
        <p:spPr>
          <a:xfrm>
            <a:off x="4716016" y="1993404"/>
            <a:ext cx="0" cy="24611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8C4522D-F017-374C-B706-6DD9AD9AD528}"/>
              </a:ext>
            </a:extLst>
          </p:cNvPr>
          <p:cNvSpPr/>
          <p:nvPr/>
        </p:nvSpPr>
        <p:spPr>
          <a:xfrm>
            <a:off x="5076056" y="175523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强保证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9F11F-97D7-F24E-88E1-A90ADE57C02F}"/>
              </a:ext>
            </a:extLst>
          </p:cNvPr>
          <p:cNvSpPr/>
          <p:nvPr/>
        </p:nvSpPr>
        <p:spPr>
          <a:xfrm>
            <a:off x="5076055" y="424111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弱保证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7876E2-9E53-CE4D-805A-BE85C166B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12527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内存模型：顺序一致性模型</a:t>
            </a:r>
            <a:endParaRPr lang="en-CN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7B4C8BBD-FFDF-BD4A-B8F1-56142801F940}"/>
              </a:ext>
            </a:extLst>
          </p:cNvPr>
          <p:cNvCxnSpPr>
            <a:cxnSpLocks/>
          </p:cNvCxnSpPr>
          <p:nvPr/>
        </p:nvCxnSpPr>
        <p:spPr>
          <a:xfrm flipH="1">
            <a:off x="1259632" y="3937620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4E337EE-0E92-0F44-B69A-DA27A499EB98}"/>
              </a:ext>
            </a:extLst>
          </p:cNvPr>
          <p:cNvCxnSpPr>
            <a:cxnSpLocks/>
          </p:cNvCxnSpPr>
          <p:nvPr/>
        </p:nvCxnSpPr>
        <p:spPr>
          <a:xfrm flipH="1">
            <a:off x="1259632" y="4369668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576634B-A4EC-0146-8D42-1AC0493CBB53}"/>
              </a:ext>
            </a:extLst>
          </p:cNvPr>
          <p:cNvCxnSpPr>
            <a:cxnSpLocks/>
          </p:cNvCxnSpPr>
          <p:nvPr/>
        </p:nvCxnSpPr>
        <p:spPr>
          <a:xfrm flipH="1">
            <a:off x="1259632" y="4729708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8FBDE553-2B9C-1A41-BBCE-DAF6B70D7E13}"/>
              </a:ext>
            </a:extLst>
          </p:cNvPr>
          <p:cNvSpPr/>
          <p:nvPr/>
        </p:nvSpPr>
        <p:spPr>
          <a:xfrm>
            <a:off x="456583" y="347541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T1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2441987D-9298-B945-AA5E-7B327C69EF65}"/>
              </a:ext>
            </a:extLst>
          </p:cNvPr>
          <p:cNvSpPr/>
          <p:nvPr/>
        </p:nvSpPr>
        <p:spPr>
          <a:xfrm>
            <a:off x="464707" y="393810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B780F18-8699-5247-A465-6C953495CCAA}"/>
              </a:ext>
            </a:extLst>
          </p:cNvPr>
          <p:cNvSpPr/>
          <p:nvPr/>
        </p:nvSpPr>
        <p:spPr>
          <a:xfrm>
            <a:off x="456583" y="440079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T3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1943E64-AFCF-C944-B9B1-BBCD5EA19F1B}"/>
              </a:ext>
            </a:extLst>
          </p:cNvPr>
          <p:cNvSpPr/>
          <p:nvPr/>
        </p:nvSpPr>
        <p:spPr>
          <a:xfrm>
            <a:off x="464707" y="486348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T4</a:t>
            </a:r>
          </a:p>
        </p:txBody>
      </p:sp>
      <p:sp>
        <p:nvSpPr>
          <p:cNvPr id="52" name="Content Placeholder 5">
            <a:extLst>
              <a:ext uri="{FF2B5EF4-FFF2-40B4-BE49-F238E27FC236}">
                <a16:creationId xmlns:a16="http://schemas.microsoft.com/office/drawing/2014/main" id="{978C9208-5F04-4E43-9EC7-B73775F5BB8A}"/>
              </a:ext>
            </a:extLst>
          </p:cNvPr>
          <p:cNvSpPr txBox="1">
            <a:spLocks/>
          </p:cNvSpPr>
          <p:nvPr/>
        </p:nvSpPr>
        <p:spPr>
          <a:xfrm>
            <a:off x="688615" y="1219644"/>
            <a:ext cx="7411777" cy="2243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0"/>
              <a:t>顺序一致性模型（</a:t>
            </a:r>
            <a:r>
              <a:rPr lang="en-US" altLang="zh-CN" sz="2000" b="0"/>
              <a:t>Sequential Consistency</a:t>
            </a:r>
            <a:r>
              <a:rPr lang="zh-CN" altLang="en-US" sz="2000" b="0"/>
              <a:t>）</a:t>
            </a:r>
            <a:endParaRPr lang="en-US" altLang="zh-CN" sz="2000" b="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 b="1">
                <a:solidFill>
                  <a:schemeClr val="accent1"/>
                </a:solidFill>
              </a:rPr>
              <a:t>不要求</a:t>
            </a:r>
            <a:r>
              <a:rPr lang="zh-CN" altLang="en-US" sz="1800"/>
              <a:t>操作按照真实发生的时间顺序（全局时钟）全局可见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/>
              <a:t>执行结果必须与</a:t>
            </a:r>
            <a:r>
              <a:rPr lang="zh-CN" altLang="en-US" sz="1800" b="1"/>
              <a:t>一个全局的顺序</a:t>
            </a:r>
            <a:r>
              <a:rPr lang="zh-CN" altLang="en-US" sz="1800"/>
              <a:t>执行一致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/>
              <a:t>且这个全局顺序中一个核心的读写操作与其</a:t>
            </a:r>
            <a:r>
              <a:rPr lang="zh-CN" altLang="en-US" sz="1800" b="1"/>
              <a:t>程序顺序</a:t>
            </a:r>
            <a:r>
              <a:rPr lang="zh-CN" altLang="en-US" sz="1800"/>
              <a:t>保持一致。</a:t>
            </a:r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endParaRPr lang="zh-CN" altLang="en-US" sz="180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4AB106B-E86B-FB47-A179-E19BA9FFA3A2}"/>
              </a:ext>
            </a:extLst>
          </p:cNvPr>
          <p:cNvSpPr/>
          <p:nvPr/>
        </p:nvSpPr>
        <p:spPr>
          <a:xfrm>
            <a:off x="1760360" y="5089748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多种可能结果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00881-4362-084D-9690-A65383FF1F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50CA7E6-1CBF-8E44-8471-17F606653A20}"/>
              </a:ext>
            </a:extLst>
          </p:cNvPr>
          <p:cNvSpPr/>
          <p:nvPr/>
        </p:nvSpPr>
        <p:spPr>
          <a:xfrm>
            <a:off x="1054510" y="3009791"/>
            <a:ext cx="2952328" cy="2134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proc_A(void) {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flag[0]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A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flag[1]</a:t>
            </a:r>
            <a:r>
              <a:rPr lang="en-CN">
                <a:latin typeface="Courier" pitchFamily="2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822E2C-AEB0-2849-BCA2-ABB9CA11903C}"/>
              </a:ext>
            </a:extLst>
          </p:cNvPr>
          <p:cNvSpPr/>
          <p:nvPr/>
        </p:nvSpPr>
        <p:spPr>
          <a:xfrm>
            <a:off x="4932040" y="3009791"/>
            <a:ext cx="2952328" cy="2549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proc_B(void) {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flag[1]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B = flag[0];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142D47-C96A-384C-8C8B-D3C9E58DC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85982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75276F-ADA5-6E46-B6A1-59B61788AB8A}"/>
              </a:ext>
            </a:extLst>
          </p:cNvPr>
          <p:cNvCxnSpPr/>
          <p:nvPr/>
        </p:nvCxnSpPr>
        <p:spPr>
          <a:xfrm>
            <a:off x="3275856" y="3721596"/>
            <a:ext cx="0" cy="16561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F981E2-3F28-2E4D-B6E1-5B6DB06F9060}"/>
              </a:ext>
            </a:extLst>
          </p:cNvPr>
          <p:cNvCxnSpPr>
            <a:cxnSpLocks/>
          </p:cNvCxnSpPr>
          <p:nvPr/>
        </p:nvCxnSpPr>
        <p:spPr>
          <a:xfrm>
            <a:off x="1833973" y="3937620"/>
            <a:ext cx="13765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66E9B5-432D-7945-B29B-87C66BB4EE82}"/>
              </a:ext>
            </a:extLst>
          </p:cNvPr>
          <p:cNvCxnSpPr>
            <a:cxnSpLocks/>
          </p:cNvCxnSpPr>
          <p:nvPr/>
        </p:nvCxnSpPr>
        <p:spPr>
          <a:xfrm>
            <a:off x="1833973" y="4225652"/>
            <a:ext cx="13765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B269626-2E09-D84A-83C6-67F4463157F9}"/>
              </a:ext>
            </a:extLst>
          </p:cNvPr>
          <p:cNvSpPr/>
          <p:nvPr/>
        </p:nvSpPr>
        <p:spPr>
          <a:xfrm>
            <a:off x="1991544" y="3612684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latin typeface="Courier" pitchFamily="2" charset="0"/>
              </a:rPr>
              <a:t>f</a:t>
            </a:r>
            <a:r>
              <a:rPr lang="en-CN" sz="1200">
                <a:latin typeface="Courier" pitchFamily="2" charset="0"/>
              </a:rPr>
              <a:t>lag[0] = 1</a:t>
            </a:r>
            <a:endParaRPr lang="en-CN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13B982-14AF-0346-8C3A-E38D25B7D9D9}"/>
              </a:ext>
            </a:extLst>
          </p:cNvPr>
          <p:cNvSpPr/>
          <p:nvPr/>
        </p:nvSpPr>
        <p:spPr>
          <a:xfrm>
            <a:off x="2034550" y="3968964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200">
                <a:latin typeface="Courier" pitchFamily="2" charset="0"/>
              </a:rPr>
              <a:t>A</a:t>
            </a:r>
            <a:r>
              <a:rPr lang="en-US" sz="1200">
                <a:latin typeface="Courier" pitchFamily="2" charset="0"/>
              </a:rPr>
              <a:t> = flag[1]</a:t>
            </a:r>
            <a:endParaRPr lang="en-CN" sz="120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DCE8A0-FA53-DE48-A06B-5AE304F3ADB8}"/>
              </a:ext>
            </a:extLst>
          </p:cNvPr>
          <p:cNvCxnSpPr>
            <a:cxnSpLocks/>
          </p:cNvCxnSpPr>
          <p:nvPr/>
        </p:nvCxnSpPr>
        <p:spPr>
          <a:xfrm flipH="1">
            <a:off x="3419872" y="4549688"/>
            <a:ext cx="135976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DB5698-5147-3D44-804B-8ADC8740A9DA}"/>
              </a:ext>
            </a:extLst>
          </p:cNvPr>
          <p:cNvCxnSpPr>
            <a:cxnSpLocks/>
          </p:cNvCxnSpPr>
          <p:nvPr/>
        </p:nvCxnSpPr>
        <p:spPr>
          <a:xfrm flipH="1">
            <a:off x="3419872" y="4945732"/>
            <a:ext cx="135976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D879BB2-8B89-5844-A6BE-01BD6112FC21}"/>
              </a:ext>
            </a:extLst>
          </p:cNvPr>
          <p:cNvSpPr/>
          <p:nvPr/>
        </p:nvSpPr>
        <p:spPr>
          <a:xfrm>
            <a:off x="3572258" y="4236145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latin typeface="Courier" pitchFamily="2" charset="0"/>
              </a:rPr>
              <a:t>f</a:t>
            </a:r>
            <a:r>
              <a:rPr lang="en-CN" sz="1200">
                <a:latin typeface="Courier" pitchFamily="2" charset="0"/>
              </a:rPr>
              <a:t>lag[1] = 1</a:t>
            </a:r>
            <a:endParaRPr lang="en-CN" sz="12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828B3F-DDA1-714F-86E5-EC7BFD16CB5A}"/>
              </a:ext>
            </a:extLst>
          </p:cNvPr>
          <p:cNvSpPr/>
          <p:nvPr/>
        </p:nvSpPr>
        <p:spPr>
          <a:xfrm>
            <a:off x="3572258" y="4651765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200">
                <a:latin typeface="Courier" pitchFamily="2" charset="0"/>
              </a:rPr>
              <a:t>B = flag[0]</a:t>
            </a:r>
            <a:endParaRPr lang="en-CN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EBB47F-EF24-DD4C-996E-1FEB6A6B1829}"/>
              </a:ext>
            </a:extLst>
          </p:cNvPr>
          <p:cNvSpPr/>
          <p:nvPr/>
        </p:nvSpPr>
        <p:spPr>
          <a:xfrm>
            <a:off x="5508104" y="4743065"/>
            <a:ext cx="2393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(A, B)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=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（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0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，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）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40E02D-56F9-1943-B693-9DA8B8CEE90F}"/>
              </a:ext>
            </a:extLst>
          </p:cNvPr>
          <p:cNvSpPr/>
          <p:nvPr/>
        </p:nvSpPr>
        <p:spPr>
          <a:xfrm>
            <a:off x="287711" y="326965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chemeClr val="accent1"/>
                </a:solidFill>
                <a:latin typeface="Courier" pitchFamily="2" charset="0"/>
              </a:rPr>
              <a:t>第一种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可能：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8ABBCD0C-AFC8-F948-908F-8310DD5A4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内存模型：顺序一致性模型</a:t>
            </a:r>
            <a:endParaRPr lang="en-CN"/>
          </a:p>
        </p:txBody>
      </p:sp>
      <p:sp>
        <p:nvSpPr>
          <p:cNvPr id="34" name="Content Placeholder 5">
            <a:extLst>
              <a:ext uri="{FF2B5EF4-FFF2-40B4-BE49-F238E27FC236}">
                <a16:creationId xmlns:a16="http://schemas.microsoft.com/office/drawing/2014/main" id="{CA3BFEBA-FC23-5D49-A32E-A5B520D7790B}"/>
              </a:ext>
            </a:extLst>
          </p:cNvPr>
          <p:cNvSpPr txBox="1">
            <a:spLocks/>
          </p:cNvSpPr>
          <p:nvPr/>
        </p:nvSpPr>
        <p:spPr>
          <a:xfrm>
            <a:off x="688615" y="1219644"/>
            <a:ext cx="7411777" cy="2243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0"/>
              <a:t>顺序一致性模型（</a:t>
            </a:r>
            <a:r>
              <a:rPr lang="en-US" altLang="zh-CN" sz="2000" b="0"/>
              <a:t>Sequential Consistency</a:t>
            </a:r>
            <a:r>
              <a:rPr lang="zh-CN" altLang="en-US" sz="2000" b="0"/>
              <a:t>）</a:t>
            </a:r>
            <a:endParaRPr lang="en-US" altLang="zh-CN" sz="2000" b="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 b="1">
                <a:solidFill>
                  <a:schemeClr val="accent1"/>
                </a:solidFill>
              </a:rPr>
              <a:t>不要求</a:t>
            </a:r>
            <a:r>
              <a:rPr lang="zh-CN" altLang="en-US" sz="1800"/>
              <a:t>操作按照真实发生的时间顺序（全局时钟）全局可见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/>
              <a:t>执行结果必须与</a:t>
            </a:r>
            <a:r>
              <a:rPr lang="zh-CN" altLang="en-US" sz="1800" b="1"/>
              <a:t>一个全局的顺序</a:t>
            </a:r>
            <a:r>
              <a:rPr lang="zh-CN" altLang="en-US" sz="1800"/>
              <a:t>执行一致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/>
              <a:t>且这个全局顺序中一个核心的读写操作与其</a:t>
            </a:r>
            <a:r>
              <a:rPr lang="zh-CN" altLang="en-US" sz="1800" b="1"/>
              <a:t>程序顺序</a:t>
            </a:r>
            <a:r>
              <a:rPr lang="zh-CN" altLang="en-US" sz="1800"/>
              <a:t>保持一致。</a:t>
            </a:r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endParaRPr lang="zh-CN" altLang="en-US" sz="180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8906DD2-7799-2242-8704-12584449501C}"/>
              </a:ext>
            </a:extLst>
          </p:cNvPr>
          <p:cNvSpPr/>
          <p:nvPr/>
        </p:nvSpPr>
        <p:spPr>
          <a:xfrm>
            <a:off x="2721858" y="31473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全局顺序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D00C9E-0E36-2949-9CE2-F43AC1BF39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970F09F-B4B3-4D4B-83B2-B9B02D67EF31}"/>
              </a:ext>
            </a:extLst>
          </p:cNvPr>
          <p:cNvSpPr/>
          <p:nvPr/>
        </p:nvSpPr>
        <p:spPr>
          <a:xfrm>
            <a:off x="5852505" y="3463153"/>
            <a:ext cx="280397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T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CPU0 </a:t>
            </a:r>
            <a:r>
              <a:rPr lang="en-US">
                <a:latin typeface="Courier" pitchFamily="2" charset="0"/>
              </a:rPr>
              <a:t>f</a:t>
            </a:r>
            <a:r>
              <a:rPr lang="en-CN">
                <a:latin typeface="Courier" pitchFamily="2" charset="0"/>
              </a:rPr>
              <a:t>lag[0] = 1</a:t>
            </a:r>
            <a:endParaRPr lang="en-CN"/>
          </a:p>
          <a:p>
            <a:r>
              <a:rPr lang="en-US">
                <a:latin typeface="Courier" pitchFamily="2" charset="0"/>
              </a:rPr>
              <a:t>T2 CPU1 f</a:t>
            </a:r>
            <a:r>
              <a:rPr lang="en-CN">
                <a:latin typeface="Courier" pitchFamily="2" charset="0"/>
              </a:rPr>
              <a:t>lag[1] = 1</a:t>
            </a:r>
            <a:endParaRPr lang="en-US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T3 CPU0 A</a:t>
            </a:r>
            <a:r>
              <a:rPr lang="en-US">
                <a:latin typeface="Courier" pitchFamily="2" charset="0"/>
              </a:rPr>
              <a:t> = flag[1]</a:t>
            </a:r>
          </a:p>
          <a:p>
            <a:r>
              <a:rPr lang="en-CN">
                <a:latin typeface="Courier" pitchFamily="2" charset="0"/>
              </a:rPr>
              <a:t>T4 CPU1 B = flag[0]</a:t>
            </a:r>
            <a:endParaRPr lang="en-CN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4F897BB-C4D6-A146-8853-983D3726371C}"/>
              </a:ext>
            </a:extLst>
          </p:cNvPr>
          <p:cNvSpPr/>
          <p:nvPr/>
        </p:nvSpPr>
        <p:spPr>
          <a:xfrm>
            <a:off x="5839102" y="313361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实际发生顺序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4C10F8-8769-A946-8133-76AEFF5E0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45837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75276F-ADA5-6E46-B6A1-59B61788AB8A}"/>
              </a:ext>
            </a:extLst>
          </p:cNvPr>
          <p:cNvCxnSpPr/>
          <p:nvPr/>
        </p:nvCxnSpPr>
        <p:spPr>
          <a:xfrm>
            <a:off x="3275856" y="3721596"/>
            <a:ext cx="0" cy="16561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F981E2-3F28-2E4D-B6E1-5B6DB06F9060}"/>
              </a:ext>
            </a:extLst>
          </p:cNvPr>
          <p:cNvCxnSpPr>
            <a:cxnSpLocks/>
          </p:cNvCxnSpPr>
          <p:nvPr/>
        </p:nvCxnSpPr>
        <p:spPr>
          <a:xfrm>
            <a:off x="1833973" y="3937620"/>
            <a:ext cx="13765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66E9B5-432D-7945-B29B-87C66BB4EE82}"/>
              </a:ext>
            </a:extLst>
          </p:cNvPr>
          <p:cNvCxnSpPr>
            <a:cxnSpLocks/>
          </p:cNvCxnSpPr>
          <p:nvPr/>
        </p:nvCxnSpPr>
        <p:spPr>
          <a:xfrm>
            <a:off x="1833973" y="4680194"/>
            <a:ext cx="13765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DCE8A0-FA53-DE48-A06B-5AE304F3ADB8}"/>
              </a:ext>
            </a:extLst>
          </p:cNvPr>
          <p:cNvCxnSpPr>
            <a:cxnSpLocks/>
          </p:cNvCxnSpPr>
          <p:nvPr/>
        </p:nvCxnSpPr>
        <p:spPr>
          <a:xfrm flipH="1">
            <a:off x="3347864" y="4272689"/>
            <a:ext cx="135976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DB5698-5147-3D44-804B-8ADC8740A9DA}"/>
              </a:ext>
            </a:extLst>
          </p:cNvPr>
          <p:cNvCxnSpPr>
            <a:cxnSpLocks/>
          </p:cNvCxnSpPr>
          <p:nvPr/>
        </p:nvCxnSpPr>
        <p:spPr>
          <a:xfrm flipH="1">
            <a:off x="3419872" y="4945732"/>
            <a:ext cx="135976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D879BB2-8B89-5844-A6BE-01BD6112FC21}"/>
              </a:ext>
            </a:extLst>
          </p:cNvPr>
          <p:cNvSpPr/>
          <p:nvPr/>
        </p:nvSpPr>
        <p:spPr>
          <a:xfrm>
            <a:off x="3542829" y="4000923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latin typeface="Courier" pitchFamily="2" charset="0"/>
              </a:rPr>
              <a:t>f</a:t>
            </a:r>
            <a:r>
              <a:rPr lang="en-CN" sz="1200">
                <a:latin typeface="Courier" pitchFamily="2" charset="0"/>
              </a:rPr>
              <a:t>lag[1] = 1</a:t>
            </a:r>
            <a:endParaRPr lang="en-US" sz="1200">
              <a:latin typeface="Courier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828B3F-DDA1-714F-86E5-EC7BFD16CB5A}"/>
              </a:ext>
            </a:extLst>
          </p:cNvPr>
          <p:cNvSpPr/>
          <p:nvPr/>
        </p:nvSpPr>
        <p:spPr>
          <a:xfrm>
            <a:off x="3542829" y="4650861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200">
                <a:latin typeface="Courier" pitchFamily="2" charset="0"/>
              </a:rPr>
              <a:t>B = flag[0]</a:t>
            </a:r>
            <a:endParaRPr lang="en-CN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EBB47F-EF24-DD4C-996E-1FEB6A6B1829}"/>
              </a:ext>
            </a:extLst>
          </p:cNvPr>
          <p:cNvSpPr/>
          <p:nvPr/>
        </p:nvSpPr>
        <p:spPr>
          <a:xfrm>
            <a:off x="5516848" y="4713157"/>
            <a:ext cx="2393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(A, B)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=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（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，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）</a:t>
            </a:r>
            <a:endParaRPr lang="en-CN"/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8ABBCD0C-AFC8-F948-908F-8310DD5A4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/>
          <a:lstStyle/>
          <a:p>
            <a:r>
              <a:rPr lang="zh-CN" altLang="en-US"/>
              <a:t>内存模型：顺序一致性模型</a:t>
            </a:r>
            <a:endParaRPr lang="en-CN"/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D8BC95D-30EF-B044-984B-31BFDC6F9B1B}"/>
              </a:ext>
            </a:extLst>
          </p:cNvPr>
          <p:cNvSpPr txBox="1">
            <a:spLocks/>
          </p:cNvSpPr>
          <p:nvPr/>
        </p:nvSpPr>
        <p:spPr>
          <a:xfrm>
            <a:off x="688615" y="1219644"/>
            <a:ext cx="7411777" cy="2243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0"/>
              <a:t>顺序一致性模型（</a:t>
            </a:r>
            <a:r>
              <a:rPr lang="en-US" altLang="zh-CN" sz="2000" b="0"/>
              <a:t>Sequential Consistency</a:t>
            </a:r>
            <a:r>
              <a:rPr lang="zh-CN" altLang="en-US" sz="2000" b="0"/>
              <a:t>）</a:t>
            </a:r>
            <a:endParaRPr lang="en-US" altLang="zh-CN" sz="2000" b="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 b="1">
                <a:solidFill>
                  <a:schemeClr val="accent1"/>
                </a:solidFill>
              </a:rPr>
              <a:t>不要求</a:t>
            </a:r>
            <a:r>
              <a:rPr lang="zh-CN" altLang="en-US" sz="1800"/>
              <a:t>操作按照真实发生的时间顺序（全局时钟）全局可见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/>
              <a:t>执行结果必须与</a:t>
            </a:r>
            <a:r>
              <a:rPr lang="zh-CN" altLang="en-US" sz="1800" b="1"/>
              <a:t>一个全局的顺序</a:t>
            </a:r>
            <a:r>
              <a:rPr lang="zh-CN" altLang="en-US" sz="1800"/>
              <a:t>执行一致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/>
              <a:t>且这个全局顺序中一个核心的读写操作与其</a:t>
            </a:r>
            <a:r>
              <a:rPr lang="zh-CN" altLang="en-US" sz="1800" b="1"/>
              <a:t>程序顺序</a:t>
            </a:r>
            <a:r>
              <a:rPr lang="zh-CN" altLang="en-US" sz="1800"/>
              <a:t>保持一致。</a:t>
            </a:r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endParaRPr lang="zh-CN" altLang="en-US" sz="180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EFDFFB9-5CD0-584C-AD25-3E4689BB6C5C}"/>
              </a:ext>
            </a:extLst>
          </p:cNvPr>
          <p:cNvSpPr/>
          <p:nvPr/>
        </p:nvSpPr>
        <p:spPr>
          <a:xfrm>
            <a:off x="287711" y="3269659"/>
            <a:ext cx="16145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chemeClr val="accent1"/>
                </a:solidFill>
                <a:latin typeface="Courier" pitchFamily="2" charset="0"/>
              </a:rPr>
              <a:t>第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二</a:t>
            </a:r>
            <a:r>
              <a:rPr lang="zh-CN" altLang="en-CN">
                <a:solidFill>
                  <a:schemeClr val="accent1"/>
                </a:solidFill>
                <a:latin typeface="Courier" pitchFamily="2" charset="0"/>
              </a:rPr>
              <a:t>种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可能：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13F995-F6B9-9E44-A013-0FF05061F00C}"/>
              </a:ext>
            </a:extLst>
          </p:cNvPr>
          <p:cNvSpPr/>
          <p:nvPr/>
        </p:nvSpPr>
        <p:spPr>
          <a:xfrm>
            <a:off x="2721858" y="31473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全局顺序</a:t>
            </a:r>
            <a:endParaRPr lang="en-CN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706FB0F-4C2F-204E-8CF4-CA3A5F2409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1224613-F5D4-4748-8043-E503C943986C}"/>
              </a:ext>
            </a:extLst>
          </p:cNvPr>
          <p:cNvSpPr/>
          <p:nvPr/>
        </p:nvSpPr>
        <p:spPr>
          <a:xfrm>
            <a:off x="5852505" y="3463153"/>
            <a:ext cx="280397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T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CPU0 </a:t>
            </a:r>
            <a:r>
              <a:rPr lang="en-US">
                <a:latin typeface="Courier" pitchFamily="2" charset="0"/>
              </a:rPr>
              <a:t>f</a:t>
            </a:r>
            <a:r>
              <a:rPr lang="en-CN">
                <a:latin typeface="Courier" pitchFamily="2" charset="0"/>
              </a:rPr>
              <a:t>lag[0] = 1</a:t>
            </a:r>
            <a:endParaRPr lang="en-CN"/>
          </a:p>
          <a:p>
            <a:r>
              <a:rPr lang="en-US">
                <a:latin typeface="Courier" pitchFamily="2" charset="0"/>
              </a:rPr>
              <a:t>T2 CPU1 f</a:t>
            </a:r>
            <a:r>
              <a:rPr lang="en-CN">
                <a:latin typeface="Courier" pitchFamily="2" charset="0"/>
              </a:rPr>
              <a:t>lag[1] = 1</a:t>
            </a:r>
            <a:endParaRPr lang="en-US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T3 CPU0 A</a:t>
            </a:r>
            <a:r>
              <a:rPr lang="en-US">
                <a:latin typeface="Courier" pitchFamily="2" charset="0"/>
              </a:rPr>
              <a:t> = flag[1]</a:t>
            </a:r>
          </a:p>
          <a:p>
            <a:r>
              <a:rPr lang="en-CN">
                <a:latin typeface="Courier" pitchFamily="2" charset="0"/>
              </a:rPr>
              <a:t>T4 CPU1 B = flag[0]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E91B880-D641-9F4D-BEE9-3441827D8C43}"/>
              </a:ext>
            </a:extLst>
          </p:cNvPr>
          <p:cNvSpPr/>
          <p:nvPr/>
        </p:nvSpPr>
        <p:spPr>
          <a:xfrm>
            <a:off x="5839102" y="313361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实际发生顺序</a:t>
            </a:r>
            <a:endParaRPr lang="en-CN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8F95FE-A6CA-1347-8800-773F7205B7FE}"/>
              </a:ext>
            </a:extLst>
          </p:cNvPr>
          <p:cNvSpPr/>
          <p:nvPr/>
        </p:nvSpPr>
        <p:spPr>
          <a:xfrm>
            <a:off x="1991544" y="3612684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latin typeface="Courier" pitchFamily="2" charset="0"/>
              </a:rPr>
              <a:t>f</a:t>
            </a:r>
            <a:r>
              <a:rPr lang="en-CN" sz="1200">
                <a:latin typeface="Courier" pitchFamily="2" charset="0"/>
              </a:rPr>
              <a:t>lag[0] = 1</a:t>
            </a:r>
            <a:endParaRPr lang="en-CN" sz="120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28C4F5D-45AE-B74C-839A-651B036FA29A}"/>
              </a:ext>
            </a:extLst>
          </p:cNvPr>
          <p:cNvSpPr/>
          <p:nvPr/>
        </p:nvSpPr>
        <p:spPr>
          <a:xfrm>
            <a:off x="1948867" y="4344697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200">
                <a:latin typeface="Courier" pitchFamily="2" charset="0"/>
              </a:rPr>
              <a:t>A</a:t>
            </a:r>
            <a:r>
              <a:rPr lang="en-US" sz="1200">
                <a:latin typeface="Courier" pitchFamily="2" charset="0"/>
              </a:rPr>
              <a:t> = flag[1]</a:t>
            </a:r>
            <a:endParaRPr lang="en-CN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D1DD06-F4DE-8441-9289-C427296F7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864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内存模型：顺序一致性模型</a:t>
            </a:r>
            <a:endParaRPr lang="en-C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75276F-ADA5-6E46-B6A1-59B61788AB8A}"/>
              </a:ext>
            </a:extLst>
          </p:cNvPr>
          <p:cNvCxnSpPr/>
          <p:nvPr/>
        </p:nvCxnSpPr>
        <p:spPr>
          <a:xfrm>
            <a:off x="3275856" y="3721596"/>
            <a:ext cx="0" cy="16561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F981E2-3F28-2E4D-B6E1-5B6DB06F9060}"/>
              </a:ext>
            </a:extLst>
          </p:cNvPr>
          <p:cNvCxnSpPr>
            <a:cxnSpLocks/>
          </p:cNvCxnSpPr>
          <p:nvPr/>
        </p:nvCxnSpPr>
        <p:spPr>
          <a:xfrm>
            <a:off x="1834964" y="4683642"/>
            <a:ext cx="13765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66E9B5-432D-7945-B29B-87C66BB4EE82}"/>
              </a:ext>
            </a:extLst>
          </p:cNvPr>
          <p:cNvCxnSpPr>
            <a:cxnSpLocks/>
          </p:cNvCxnSpPr>
          <p:nvPr/>
        </p:nvCxnSpPr>
        <p:spPr>
          <a:xfrm>
            <a:off x="1834964" y="4971674"/>
            <a:ext cx="13765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B269626-2E09-D84A-83C6-67F4463157F9}"/>
              </a:ext>
            </a:extLst>
          </p:cNvPr>
          <p:cNvSpPr/>
          <p:nvPr/>
        </p:nvSpPr>
        <p:spPr>
          <a:xfrm>
            <a:off x="1963913" y="4385013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latin typeface="Courier" pitchFamily="2" charset="0"/>
              </a:rPr>
              <a:t>f</a:t>
            </a:r>
            <a:r>
              <a:rPr lang="en-CN" sz="1200">
                <a:latin typeface="Courier" pitchFamily="2" charset="0"/>
              </a:rPr>
              <a:t>lag[0] = 1</a:t>
            </a:r>
            <a:endParaRPr lang="en-CN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13B982-14AF-0346-8C3A-E38D25B7D9D9}"/>
              </a:ext>
            </a:extLst>
          </p:cNvPr>
          <p:cNvSpPr/>
          <p:nvPr/>
        </p:nvSpPr>
        <p:spPr>
          <a:xfrm>
            <a:off x="1919541" y="4717708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200">
                <a:latin typeface="Courier" pitchFamily="2" charset="0"/>
              </a:rPr>
              <a:t>A</a:t>
            </a:r>
            <a:r>
              <a:rPr lang="en-US" sz="1200">
                <a:latin typeface="Courier" pitchFamily="2" charset="0"/>
              </a:rPr>
              <a:t> = flag[1]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DDCE8A0-FA53-DE48-A06B-5AE304F3ADB8}"/>
              </a:ext>
            </a:extLst>
          </p:cNvPr>
          <p:cNvCxnSpPr>
            <a:cxnSpLocks/>
          </p:cNvCxnSpPr>
          <p:nvPr/>
        </p:nvCxnSpPr>
        <p:spPr>
          <a:xfrm flipH="1">
            <a:off x="3387900" y="4081683"/>
            <a:ext cx="135976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DB5698-5147-3D44-804B-8ADC8740A9DA}"/>
              </a:ext>
            </a:extLst>
          </p:cNvPr>
          <p:cNvCxnSpPr>
            <a:cxnSpLocks/>
          </p:cNvCxnSpPr>
          <p:nvPr/>
        </p:nvCxnSpPr>
        <p:spPr>
          <a:xfrm flipH="1">
            <a:off x="3387900" y="4477727"/>
            <a:ext cx="135976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D879BB2-8B89-5844-A6BE-01BD6112FC21}"/>
              </a:ext>
            </a:extLst>
          </p:cNvPr>
          <p:cNvSpPr/>
          <p:nvPr/>
        </p:nvSpPr>
        <p:spPr>
          <a:xfrm>
            <a:off x="3494158" y="3768196"/>
            <a:ext cx="12198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latin typeface="Courier" pitchFamily="2" charset="0"/>
              </a:rPr>
              <a:t>f</a:t>
            </a:r>
            <a:r>
              <a:rPr lang="en-CN" sz="1200">
                <a:latin typeface="Courier" pitchFamily="2" charset="0"/>
              </a:rPr>
              <a:t>lag[1] = 1</a:t>
            </a:r>
            <a:endParaRPr lang="en-US" sz="1200">
              <a:latin typeface="Courier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828B3F-DDA1-714F-86E5-EC7BFD16CB5A}"/>
              </a:ext>
            </a:extLst>
          </p:cNvPr>
          <p:cNvSpPr/>
          <p:nvPr/>
        </p:nvSpPr>
        <p:spPr>
          <a:xfrm>
            <a:off x="3481412" y="4192409"/>
            <a:ext cx="1359767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200">
                <a:latin typeface="Courier" pitchFamily="2" charset="0"/>
              </a:rPr>
              <a:t>B = flag[0]</a:t>
            </a:r>
            <a:endParaRPr lang="en-CN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EBB47F-EF24-DD4C-996E-1FEB6A6B1829}"/>
              </a:ext>
            </a:extLst>
          </p:cNvPr>
          <p:cNvSpPr/>
          <p:nvPr/>
        </p:nvSpPr>
        <p:spPr>
          <a:xfrm>
            <a:off x="5516848" y="4687215"/>
            <a:ext cx="23936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(A, B)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=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（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1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，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0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）</a:t>
            </a:r>
            <a:endParaRPr lang="en-CN"/>
          </a:p>
        </p:txBody>
      </p:sp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DAB4FD70-177F-C744-90FC-299D13853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15" y="1219644"/>
            <a:ext cx="7411777" cy="224350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b="0"/>
              <a:t>顺序一致性模型（</a:t>
            </a:r>
            <a:r>
              <a:rPr lang="en-US" altLang="zh-CN" sz="2000" b="0"/>
              <a:t>Sequential Consistency</a:t>
            </a:r>
            <a:r>
              <a:rPr lang="zh-CN" altLang="en-US" sz="2000" b="0"/>
              <a:t>）</a:t>
            </a:r>
            <a:endParaRPr lang="en-US" altLang="zh-CN" sz="2000" b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b="1">
                <a:solidFill>
                  <a:schemeClr val="accent1"/>
                </a:solidFill>
              </a:rPr>
              <a:t>不要求</a:t>
            </a:r>
            <a:r>
              <a:rPr lang="zh-CN" altLang="en-US" sz="1800"/>
              <a:t>操作按照真实发生的时间顺序（全局时钟）全局可见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/>
              <a:t>执行结果必须与</a:t>
            </a:r>
            <a:r>
              <a:rPr lang="zh-CN" altLang="en-US" sz="1800" b="1"/>
              <a:t>一个全局的顺序</a:t>
            </a:r>
            <a:r>
              <a:rPr lang="zh-CN" altLang="en-US" sz="1800"/>
              <a:t>执行一致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/>
              <a:t>且这个全局顺序中一个核心的读写操作与其</a:t>
            </a:r>
            <a:r>
              <a:rPr lang="zh-CN" altLang="en-US" sz="1800" b="1"/>
              <a:t>程序顺序</a:t>
            </a:r>
            <a:r>
              <a:rPr lang="zh-CN" altLang="en-US" sz="1800"/>
              <a:t>保持一致。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zh-CN" altLang="en-US" sz="1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10843DB-5F40-EB4D-B7F3-42ED50980BB4}"/>
              </a:ext>
            </a:extLst>
          </p:cNvPr>
          <p:cNvSpPr/>
          <p:nvPr/>
        </p:nvSpPr>
        <p:spPr>
          <a:xfrm>
            <a:off x="287711" y="326965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CN">
                <a:solidFill>
                  <a:schemeClr val="accent1"/>
                </a:solidFill>
                <a:latin typeface="Courier" pitchFamily="2" charset="0"/>
              </a:rPr>
              <a:t>第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三</a:t>
            </a:r>
            <a:r>
              <a:rPr lang="zh-CN" altLang="en-CN">
                <a:solidFill>
                  <a:schemeClr val="accent1"/>
                </a:solidFill>
                <a:latin typeface="Courier" pitchFamily="2" charset="0"/>
              </a:rPr>
              <a:t>种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可能：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DB30B16-9AD9-8246-A71B-03F7B86A5956}"/>
              </a:ext>
            </a:extLst>
          </p:cNvPr>
          <p:cNvSpPr/>
          <p:nvPr/>
        </p:nvSpPr>
        <p:spPr>
          <a:xfrm>
            <a:off x="2721858" y="3147314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全局顺序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F2FDC8-25F2-CF43-9D6C-A7E9BB3499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10FF83-5389-CC4B-9B61-05C74196258F}"/>
              </a:ext>
            </a:extLst>
          </p:cNvPr>
          <p:cNvSpPr/>
          <p:nvPr/>
        </p:nvSpPr>
        <p:spPr>
          <a:xfrm>
            <a:off x="5852505" y="3463153"/>
            <a:ext cx="280397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T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CPU0 </a:t>
            </a:r>
            <a:r>
              <a:rPr lang="en-US">
                <a:latin typeface="Courier" pitchFamily="2" charset="0"/>
              </a:rPr>
              <a:t>f</a:t>
            </a:r>
            <a:r>
              <a:rPr lang="en-CN">
                <a:latin typeface="Courier" pitchFamily="2" charset="0"/>
              </a:rPr>
              <a:t>lag[0] = 1</a:t>
            </a:r>
            <a:endParaRPr lang="en-CN"/>
          </a:p>
          <a:p>
            <a:r>
              <a:rPr lang="en-US">
                <a:latin typeface="Courier" pitchFamily="2" charset="0"/>
              </a:rPr>
              <a:t>T2 CPU1 f</a:t>
            </a:r>
            <a:r>
              <a:rPr lang="en-CN">
                <a:latin typeface="Courier" pitchFamily="2" charset="0"/>
              </a:rPr>
              <a:t>lag[1] = 1</a:t>
            </a:r>
            <a:endParaRPr lang="en-US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T3 CPU0 A</a:t>
            </a:r>
            <a:r>
              <a:rPr lang="en-US">
                <a:latin typeface="Courier" pitchFamily="2" charset="0"/>
              </a:rPr>
              <a:t> = flag[1]</a:t>
            </a:r>
          </a:p>
          <a:p>
            <a:r>
              <a:rPr lang="en-CN">
                <a:latin typeface="Courier" pitchFamily="2" charset="0"/>
              </a:rPr>
              <a:t>T4 CPU1 B = flag[0]</a:t>
            </a:r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6665C98-EC94-964F-8594-46B6B10452D5}"/>
              </a:ext>
            </a:extLst>
          </p:cNvPr>
          <p:cNvSpPr/>
          <p:nvPr/>
        </p:nvSpPr>
        <p:spPr>
          <a:xfrm>
            <a:off x="5839102" y="3133613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latin typeface="Courier" pitchFamily="2" charset="0"/>
              </a:rPr>
              <a:t>实际发生顺序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69902-B709-FF4E-AE70-55C0356E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69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39889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内存模型：顺序一致性模型</a:t>
            </a:r>
            <a:endParaRPr lang="en-CN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F75276F-ADA5-6E46-B6A1-59B61788AB8A}"/>
              </a:ext>
            </a:extLst>
          </p:cNvPr>
          <p:cNvCxnSpPr/>
          <p:nvPr/>
        </p:nvCxnSpPr>
        <p:spPr>
          <a:xfrm>
            <a:off x="3275856" y="3721596"/>
            <a:ext cx="0" cy="1656184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CF981E2-3F28-2E4D-B6E1-5B6DB06F9060}"/>
              </a:ext>
            </a:extLst>
          </p:cNvPr>
          <p:cNvCxnSpPr>
            <a:cxnSpLocks/>
          </p:cNvCxnSpPr>
          <p:nvPr/>
        </p:nvCxnSpPr>
        <p:spPr>
          <a:xfrm>
            <a:off x="1834964" y="4683642"/>
            <a:ext cx="13765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666E9B5-432D-7945-B29B-87C66BB4EE82}"/>
              </a:ext>
            </a:extLst>
          </p:cNvPr>
          <p:cNvCxnSpPr>
            <a:cxnSpLocks/>
          </p:cNvCxnSpPr>
          <p:nvPr/>
        </p:nvCxnSpPr>
        <p:spPr>
          <a:xfrm>
            <a:off x="1834964" y="4971674"/>
            <a:ext cx="1376536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CB269626-2E09-D84A-83C6-67F4463157F9}"/>
              </a:ext>
            </a:extLst>
          </p:cNvPr>
          <p:cNvSpPr/>
          <p:nvPr/>
        </p:nvSpPr>
        <p:spPr>
          <a:xfrm>
            <a:off x="1947901" y="4385013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200">
                <a:latin typeface="Courier" pitchFamily="2" charset="0"/>
              </a:rPr>
              <a:t>f</a:t>
            </a:r>
            <a:r>
              <a:rPr lang="en-CN" sz="1200">
                <a:latin typeface="Courier" pitchFamily="2" charset="0"/>
              </a:rPr>
              <a:t>lag[0] = 1</a:t>
            </a:r>
            <a:endParaRPr lang="en-CN" sz="12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13B982-14AF-0346-8C3A-E38D25B7D9D9}"/>
              </a:ext>
            </a:extLst>
          </p:cNvPr>
          <p:cNvSpPr/>
          <p:nvPr/>
        </p:nvSpPr>
        <p:spPr>
          <a:xfrm>
            <a:off x="1954956" y="4697707"/>
            <a:ext cx="120738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1200">
                <a:latin typeface="Courier" pitchFamily="2" charset="0"/>
              </a:rPr>
              <a:t>A</a:t>
            </a:r>
            <a:r>
              <a:rPr lang="en-US" sz="1200">
                <a:latin typeface="Courier" pitchFamily="2" charset="0"/>
              </a:rPr>
              <a:t> = flag[1]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DB5698-5147-3D44-804B-8ADC8740A9DA}"/>
              </a:ext>
            </a:extLst>
          </p:cNvPr>
          <p:cNvCxnSpPr>
            <a:cxnSpLocks/>
          </p:cNvCxnSpPr>
          <p:nvPr/>
        </p:nvCxnSpPr>
        <p:spPr>
          <a:xfrm flipH="1">
            <a:off x="3387900" y="4477727"/>
            <a:ext cx="1359768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1D879BB2-8B89-5844-A6BE-01BD6112FC21}"/>
              </a:ext>
            </a:extLst>
          </p:cNvPr>
          <p:cNvSpPr/>
          <p:nvPr/>
        </p:nvSpPr>
        <p:spPr>
          <a:xfrm>
            <a:off x="3511900" y="3751164"/>
            <a:ext cx="13597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>
                <a:latin typeface="Courier" pitchFamily="2" charset="0"/>
              </a:rPr>
              <a:t>f</a:t>
            </a:r>
            <a:r>
              <a:rPr lang="en-CN" sz="1200">
                <a:latin typeface="Courier" pitchFamily="2" charset="0"/>
              </a:rPr>
              <a:t>lag[1] = 1</a:t>
            </a:r>
            <a:endParaRPr lang="en-US" sz="1200">
              <a:latin typeface="Courier" pitchFamily="2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828B3F-DDA1-714F-86E5-EC7BFD16CB5A}"/>
              </a:ext>
            </a:extLst>
          </p:cNvPr>
          <p:cNvSpPr/>
          <p:nvPr/>
        </p:nvSpPr>
        <p:spPr>
          <a:xfrm>
            <a:off x="3739354" y="4200728"/>
            <a:ext cx="135976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 sz="1200">
                <a:latin typeface="Courier" pitchFamily="2" charset="0"/>
              </a:rPr>
              <a:t>B = flag[0]</a:t>
            </a:r>
            <a:endParaRPr lang="en-CN" sz="12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2EBB47F-EF24-DD4C-996E-1FEB6A6B1829}"/>
              </a:ext>
            </a:extLst>
          </p:cNvPr>
          <p:cNvSpPr/>
          <p:nvPr/>
        </p:nvSpPr>
        <p:spPr>
          <a:xfrm>
            <a:off x="5311626" y="4929182"/>
            <a:ext cx="31790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chemeClr val="accent1"/>
                </a:solidFill>
                <a:latin typeface="Courier" pitchFamily="2" charset="0"/>
              </a:rPr>
              <a:t>(A, B)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zh-CN" altLang="en-US" b="1">
                <a:solidFill>
                  <a:schemeClr val="accent1"/>
                </a:solidFill>
                <a:latin typeface="Courier" pitchFamily="2" charset="0"/>
              </a:rPr>
              <a:t>不可能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为 （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0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，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0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）</a:t>
            </a:r>
            <a:endParaRPr lang="en-CN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940E02D-56F9-1943-B693-9DA8B8CEE90F}"/>
              </a:ext>
            </a:extLst>
          </p:cNvPr>
          <p:cNvSpPr/>
          <p:nvPr/>
        </p:nvSpPr>
        <p:spPr>
          <a:xfrm>
            <a:off x="682084" y="339659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禁止：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D7ABCE-BFC0-0A4B-BD2D-6A300C78E33C}"/>
              </a:ext>
            </a:extLst>
          </p:cNvPr>
          <p:cNvCxnSpPr/>
          <p:nvPr/>
        </p:nvCxnSpPr>
        <p:spPr>
          <a:xfrm>
            <a:off x="3635896" y="4028190"/>
            <a:ext cx="1111772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8699484-F8EA-C844-9284-FFF6BAC53E34}"/>
              </a:ext>
            </a:extLst>
          </p:cNvPr>
          <p:cNvCxnSpPr>
            <a:cxnSpLocks/>
          </p:cNvCxnSpPr>
          <p:nvPr/>
        </p:nvCxnSpPr>
        <p:spPr>
          <a:xfrm flipH="1">
            <a:off x="3347864" y="4028190"/>
            <a:ext cx="288032" cy="1133566"/>
          </a:xfrm>
          <a:prstGeom prst="straightConnector1">
            <a:avLst/>
          </a:prstGeom>
          <a:ln w="254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6BDF0B6E-5F77-624F-A9C0-38CDD1D8316C}"/>
              </a:ext>
            </a:extLst>
          </p:cNvPr>
          <p:cNvSpPr/>
          <p:nvPr/>
        </p:nvSpPr>
        <p:spPr>
          <a:xfrm>
            <a:off x="3379315" y="3929905"/>
            <a:ext cx="4491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 sz="3200">
                <a:solidFill>
                  <a:schemeClr val="accent1"/>
                </a:solidFill>
                <a:latin typeface="+mn-ea"/>
              </a:rPr>
              <a:t>X</a:t>
            </a:r>
          </a:p>
        </p:txBody>
      </p:sp>
      <p:sp>
        <p:nvSpPr>
          <p:cNvPr id="31" name="Content Placeholder 5">
            <a:extLst>
              <a:ext uri="{FF2B5EF4-FFF2-40B4-BE49-F238E27FC236}">
                <a16:creationId xmlns:a16="http://schemas.microsoft.com/office/drawing/2014/main" id="{1D9134FE-9629-684E-A5AD-C0ACD19C1597}"/>
              </a:ext>
            </a:extLst>
          </p:cNvPr>
          <p:cNvSpPr txBox="1">
            <a:spLocks/>
          </p:cNvSpPr>
          <p:nvPr/>
        </p:nvSpPr>
        <p:spPr>
          <a:xfrm>
            <a:off x="688615" y="1219644"/>
            <a:ext cx="7411777" cy="22435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0"/>
              <a:t>顺序一致性模型（</a:t>
            </a:r>
            <a:r>
              <a:rPr lang="en-US" altLang="zh-CN" sz="2000" b="0"/>
              <a:t>Sequential Consistency</a:t>
            </a:r>
            <a:r>
              <a:rPr lang="zh-CN" altLang="en-US" sz="2000" b="0"/>
              <a:t>）</a:t>
            </a:r>
            <a:endParaRPr lang="en-US" altLang="zh-CN" sz="2000" b="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 b="1">
                <a:solidFill>
                  <a:schemeClr val="accent1"/>
                </a:solidFill>
              </a:rPr>
              <a:t>不要求</a:t>
            </a:r>
            <a:r>
              <a:rPr lang="zh-CN" altLang="en-US" sz="1800"/>
              <a:t>操作按照真实发生的时间顺序（全局时钟）全局可见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/>
              <a:t>执行结果必须与</a:t>
            </a:r>
            <a:r>
              <a:rPr lang="zh-CN" altLang="en-US" sz="1800" b="1"/>
              <a:t>一个全局的顺序</a:t>
            </a:r>
            <a:r>
              <a:rPr lang="zh-CN" altLang="en-US" sz="1800"/>
              <a:t>执行一致</a:t>
            </a:r>
            <a:endParaRPr lang="en-US" altLang="zh-CN" sz="180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/>
              <a:t>且这个全局顺序中一个核心的读写操作与其</a:t>
            </a:r>
            <a:r>
              <a:rPr lang="zh-CN" altLang="en-US" sz="1800" b="1"/>
              <a:t>程序顺序</a:t>
            </a:r>
            <a:r>
              <a:rPr lang="zh-CN" altLang="en-US" sz="1800"/>
              <a:t>保持一致。</a:t>
            </a:r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endParaRPr lang="zh-CN" altLang="en-US" sz="18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1F31CB-C54B-C147-9824-44E57A3299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CCD962-F02F-5240-B2C9-512C0C959453}"/>
              </a:ext>
            </a:extLst>
          </p:cNvPr>
          <p:cNvSpPr/>
          <p:nvPr/>
        </p:nvSpPr>
        <p:spPr>
          <a:xfrm>
            <a:off x="4467755" y="3318782"/>
            <a:ext cx="44743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全局序列中，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proc_B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的程序顺序被打破了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0F0F99-7264-9C45-A0A3-D44546CF5748}"/>
              </a:ext>
            </a:extLst>
          </p:cNvPr>
          <p:cNvSpPr/>
          <p:nvPr/>
        </p:nvSpPr>
        <p:spPr>
          <a:xfrm>
            <a:off x="5868145" y="3709897"/>
            <a:ext cx="2803973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latin typeface="Courier" pitchFamily="2" charset="0"/>
              </a:rPr>
              <a:t>T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CPU0 </a:t>
            </a:r>
            <a:r>
              <a:rPr lang="en-US">
                <a:latin typeface="Courier" pitchFamily="2" charset="0"/>
              </a:rPr>
              <a:t>f</a:t>
            </a:r>
            <a:r>
              <a:rPr lang="en-CN">
                <a:latin typeface="Courier" pitchFamily="2" charset="0"/>
              </a:rPr>
              <a:t>lag[0] = 1</a:t>
            </a:r>
            <a:endParaRPr lang="en-CN"/>
          </a:p>
          <a:p>
            <a:r>
              <a:rPr lang="en-US">
                <a:latin typeface="Courier" pitchFamily="2" charset="0"/>
              </a:rPr>
              <a:t>T2 CPU1 f</a:t>
            </a:r>
            <a:r>
              <a:rPr lang="en-CN">
                <a:latin typeface="Courier" pitchFamily="2" charset="0"/>
              </a:rPr>
              <a:t>lag[1] = 1</a:t>
            </a:r>
            <a:endParaRPr lang="en-US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T3 CPU0 A</a:t>
            </a:r>
            <a:r>
              <a:rPr lang="en-US">
                <a:latin typeface="Courier" pitchFamily="2" charset="0"/>
              </a:rPr>
              <a:t> = flag[1]</a:t>
            </a:r>
          </a:p>
          <a:p>
            <a:r>
              <a:rPr lang="en-CN">
                <a:latin typeface="Courier" pitchFamily="2" charset="0"/>
              </a:rPr>
              <a:t>T4 CPU1 B = flag[0]</a:t>
            </a:r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DBB91F-2E3F-9C47-9085-FC342F961583}"/>
              </a:ext>
            </a:extLst>
          </p:cNvPr>
          <p:cNvSpPr/>
          <p:nvPr/>
        </p:nvSpPr>
        <p:spPr>
          <a:xfrm>
            <a:off x="6516216" y="5298514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>
                <a:solidFill>
                  <a:schemeClr val="accent1"/>
                </a:solidFill>
                <a:latin typeface="Courier" pitchFamily="2" charset="0"/>
              </a:rPr>
              <a:t>不会同时进入临界区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3A1B76-7AC3-DF4F-BB03-A314B3EA7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83516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DD62-4417-154C-9441-0847E6A7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几种</a:t>
            </a:r>
            <a:r>
              <a:rPr lang="zh-CN" altLang="en-US"/>
              <a:t>内存模型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8A389-1F57-5D4F-A789-38FAB764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C5F44-28DC-2343-9FA7-2909E4918A65}"/>
              </a:ext>
            </a:extLst>
          </p:cNvPr>
          <p:cNvSpPr/>
          <p:nvPr/>
        </p:nvSpPr>
        <p:spPr>
          <a:xfrm>
            <a:off x="1331640" y="1849388"/>
            <a:ext cx="2847529" cy="246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200000"/>
              </a:lnSpc>
            </a:pPr>
            <a:r>
              <a:rPr lang="zh-CN" altLang="en-US" sz="2000"/>
              <a:t>严格一致性模型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zh-CN" altLang="en-US" sz="2000"/>
              <a:t>顺序一致性模型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en-US" altLang="zh-CN" sz="2000" b="1"/>
              <a:t>TSO</a:t>
            </a:r>
            <a:r>
              <a:rPr lang="zh-CN" altLang="en-US" sz="2000" b="1"/>
              <a:t>一致性模型</a:t>
            </a:r>
            <a:endParaRPr lang="en-US" altLang="zh-CN" sz="2000" b="1"/>
          </a:p>
          <a:p>
            <a:pPr lvl="1" algn="ctr">
              <a:lnSpc>
                <a:spcPct val="200000"/>
              </a:lnSpc>
            </a:pPr>
            <a:r>
              <a:rPr lang="zh-CN" altLang="en-US" sz="2000"/>
              <a:t>弱序一致性模型</a:t>
            </a:r>
            <a:endParaRPr lang="en-US" altLang="zh-CN" sz="200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F57139-47EF-414D-9011-3B89CB2D81CA}"/>
              </a:ext>
            </a:extLst>
          </p:cNvPr>
          <p:cNvCxnSpPr/>
          <p:nvPr/>
        </p:nvCxnSpPr>
        <p:spPr>
          <a:xfrm>
            <a:off x="4716016" y="1993404"/>
            <a:ext cx="0" cy="24611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8C4522D-F017-374C-B706-6DD9AD9AD528}"/>
              </a:ext>
            </a:extLst>
          </p:cNvPr>
          <p:cNvSpPr/>
          <p:nvPr/>
        </p:nvSpPr>
        <p:spPr>
          <a:xfrm>
            <a:off x="5076056" y="175523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强保证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9F11F-97D7-F24E-88E1-A90ADE57C02F}"/>
              </a:ext>
            </a:extLst>
          </p:cNvPr>
          <p:cNvSpPr/>
          <p:nvPr/>
        </p:nvSpPr>
        <p:spPr>
          <a:xfrm>
            <a:off x="5076055" y="424111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弱保证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138CCBC-6B58-4947-BF9B-EEF3EAB31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5990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</a:t>
            </a:r>
            <a:r>
              <a:rPr lang="en-US" altLang="zh-CN"/>
              <a:t>TSO</a:t>
            </a:r>
            <a:r>
              <a:rPr lang="zh-CN" altLang="en-US"/>
              <a:t>一致性模型</a:t>
            </a:r>
            <a:endParaRPr lang="en-CN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2A771DF-B7B4-4144-A733-3A1A9ED2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15" y="1219645"/>
            <a:ext cx="7411777" cy="176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dirty="0"/>
              <a:t>TSO </a:t>
            </a:r>
            <a:r>
              <a:rPr lang="zh-CN" altLang="en-US" sz="2000" b="0" dirty="0"/>
              <a:t>一致性模型（</a:t>
            </a:r>
            <a:r>
              <a:rPr lang="en-US" altLang="zh-CN" sz="2000" b="0" dirty="0"/>
              <a:t>Total Store Ordering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针对</a:t>
            </a:r>
            <a:r>
              <a:rPr lang="zh-CN" altLang="en-US" sz="1800" dirty="0">
                <a:solidFill>
                  <a:schemeClr val="accent1"/>
                </a:solidFill>
              </a:rPr>
              <a:t>不同地址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、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、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顺序都能得到保证</a:t>
            </a:r>
            <a:endParaRPr lang="en-US" altLang="zh-C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只有</a:t>
            </a:r>
            <a:r>
              <a:rPr lang="zh-CN" altLang="en-US" sz="1800" b="1" dirty="0">
                <a:solidFill>
                  <a:schemeClr val="accent1"/>
                </a:solidFill>
              </a:rPr>
              <a:t>写</a:t>
            </a:r>
            <a:r>
              <a:rPr lang="en-US" altLang="zh-CN" sz="1800" b="1" dirty="0">
                <a:solidFill>
                  <a:schemeClr val="accent1"/>
                </a:solidFill>
              </a:rPr>
              <a:t>-</a:t>
            </a:r>
            <a:r>
              <a:rPr lang="zh-CN" altLang="en-US" sz="1800" b="1" dirty="0">
                <a:solidFill>
                  <a:schemeClr val="accent1"/>
                </a:solidFill>
              </a:rPr>
              <a:t>读</a:t>
            </a:r>
            <a:r>
              <a:rPr lang="zh-CN" altLang="en-US" sz="1800" dirty="0"/>
              <a:t>的顺序</a:t>
            </a:r>
            <a:r>
              <a:rPr lang="zh-CN" altLang="en-US" sz="1800" b="1" dirty="0">
                <a:solidFill>
                  <a:schemeClr val="accent1"/>
                </a:solidFill>
              </a:rPr>
              <a:t>不能</a:t>
            </a:r>
            <a:r>
              <a:rPr lang="zh-CN" altLang="en-US" sz="1800" dirty="0"/>
              <a:t>够得到保证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880AE504-1C42-D64C-B98A-F52CC92C5228}"/>
              </a:ext>
            </a:extLst>
          </p:cNvPr>
          <p:cNvCxnSpPr>
            <a:cxnSpLocks/>
          </p:cNvCxnSpPr>
          <p:nvPr/>
        </p:nvCxnSpPr>
        <p:spPr>
          <a:xfrm flipH="1">
            <a:off x="1259632" y="3937620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1B74287-069D-6E43-9181-F8DE36BBCAF4}"/>
              </a:ext>
            </a:extLst>
          </p:cNvPr>
          <p:cNvCxnSpPr>
            <a:cxnSpLocks/>
          </p:cNvCxnSpPr>
          <p:nvPr/>
        </p:nvCxnSpPr>
        <p:spPr>
          <a:xfrm flipH="1">
            <a:off x="1259632" y="4369668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2174536-1088-1444-B1B1-0FAC77A454F9}"/>
              </a:ext>
            </a:extLst>
          </p:cNvPr>
          <p:cNvCxnSpPr>
            <a:cxnSpLocks/>
          </p:cNvCxnSpPr>
          <p:nvPr/>
        </p:nvCxnSpPr>
        <p:spPr>
          <a:xfrm flipH="1">
            <a:off x="1259632" y="4729708"/>
            <a:ext cx="6264696" cy="0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254DB5CC-54D0-EA45-B07F-14CCB3A29D53}"/>
              </a:ext>
            </a:extLst>
          </p:cNvPr>
          <p:cNvSpPr/>
          <p:nvPr/>
        </p:nvSpPr>
        <p:spPr>
          <a:xfrm>
            <a:off x="456583" y="3475419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T1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3182470-4A62-C34A-9B16-0EB27A9A4666}"/>
              </a:ext>
            </a:extLst>
          </p:cNvPr>
          <p:cNvSpPr/>
          <p:nvPr/>
        </p:nvSpPr>
        <p:spPr>
          <a:xfrm>
            <a:off x="464707" y="3938107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T2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E29E24C-B926-0B43-B154-BEB736C8421B}"/>
              </a:ext>
            </a:extLst>
          </p:cNvPr>
          <p:cNvSpPr/>
          <p:nvPr/>
        </p:nvSpPr>
        <p:spPr>
          <a:xfrm>
            <a:off x="456583" y="4400795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204221C-5BCA-9741-82F2-E480E6805AAD}"/>
              </a:ext>
            </a:extLst>
          </p:cNvPr>
          <p:cNvSpPr/>
          <p:nvPr/>
        </p:nvSpPr>
        <p:spPr>
          <a:xfrm>
            <a:off x="464707" y="4863483"/>
            <a:ext cx="4539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/>
              <a:t>T4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47C056-855F-4645-8030-4AB9319F0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CC6263-7162-9249-BDFF-877073731F18}"/>
              </a:ext>
            </a:extLst>
          </p:cNvPr>
          <p:cNvSpPr/>
          <p:nvPr/>
        </p:nvSpPr>
        <p:spPr>
          <a:xfrm>
            <a:off x="1077653" y="3009791"/>
            <a:ext cx="2952328" cy="2134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proc_A(void) {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flag[0]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A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flag[1]</a:t>
            </a:r>
            <a:r>
              <a:rPr lang="en-CN">
                <a:latin typeface="Courier" pitchFamily="2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627DA71-8113-F440-B35E-F940F2806215}"/>
              </a:ext>
            </a:extLst>
          </p:cNvPr>
          <p:cNvSpPr/>
          <p:nvPr/>
        </p:nvSpPr>
        <p:spPr>
          <a:xfrm>
            <a:off x="4932040" y="3009791"/>
            <a:ext cx="2952328" cy="2549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proc_B(void) {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flag[1]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B = flag[0];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E53946-7558-7743-BFB4-983CDFC73F1C}"/>
              </a:ext>
            </a:extLst>
          </p:cNvPr>
          <p:cNvSpPr/>
          <p:nvPr/>
        </p:nvSpPr>
        <p:spPr>
          <a:xfrm>
            <a:off x="457200" y="2787814"/>
            <a:ext cx="4258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初始</a:t>
            </a:r>
            <a:r>
              <a:rPr lang="zh-CN" altLang="en-US">
                <a:latin typeface="Courier" pitchFamily="2" charset="0"/>
              </a:rPr>
              <a:t>值：</a:t>
            </a:r>
            <a:r>
              <a:rPr lang="en-CN" altLang="zh-CN">
                <a:latin typeface="Courier" pitchFamily="2" charset="0"/>
              </a:rPr>
              <a:t>flag[0]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0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flag[1]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0</a:t>
            </a:r>
            <a:endParaRPr lang="en-C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166461-3C31-0248-8BC7-8BA44B524326}"/>
              </a:ext>
            </a:extLst>
          </p:cNvPr>
          <p:cNvSpPr/>
          <p:nvPr/>
        </p:nvSpPr>
        <p:spPr>
          <a:xfrm>
            <a:off x="3857763" y="3536931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写</a:t>
            </a:r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42307C1-9910-3448-A72F-799D7EAA7B96}"/>
              </a:ext>
            </a:extLst>
          </p:cNvPr>
          <p:cNvSpPr/>
          <p:nvPr/>
        </p:nvSpPr>
        <p:spPr>
          <a:xfrm>
            <a:off x="3887554" y="439183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读</a:t>
            </a:r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20BB3DA-9814-424B-A59B-4C279E09E6A6}"/>
              </a:ext>
            </a:extLst>
          </p:cNvPr>
          <p:cNvSpPr/>
          <p:nvPr/>
        </p:nvSpPr>
        <p:spPr>
          <a:xfrm>
            <a:off x="7601282" y="390222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写</a:t>
            </a:r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3EC9145-C861-2C41-9F5C-6FCAFA2D9AD2}"/>
              </a:ext>
            </a:extLst>
          </p:cNvPr>
          <p:cNvSpPr/>
          <p:nvPr/>
        </p:nvSpPr>
        <p:spPr>
          <a:xfrm>
            <a:off x="7631073" y="4757127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/>
              <a:t>读</a:t>
            </a:r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44EC77-9496-0F47-A0C8-7BA25600C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95618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</a:t>
            </a:r>
            <a:r>
              <a:rPr lang="en-US" altLang="zh-CN"/>
              <a:t>TSO</a:t>
            </a:r>
            <a:r>
              <a:rPr lang="zh-CN" altLang="en-US"/>
              <a:t>一致性模型</a:t>
            </a:r>
            <a:endParaRPr lang="en-CN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2A771DF-B7B4-4144-A733-3A1A9ED2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15" y="1219645"/>
            <a:ext cx="7411777" cy="176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dirty="0"/>
              <a:t>TSO </a:t>
            </a:r>
            <a:r>
              <a:rPr lang="zh-CN" altLang="en-US" sz="2000" b="0" dirty="0"/>
              <a:t>一致性模型（</a:t>
            </a:r>
            <a:r>
              <a:rPr lang="en-US" altLang="zh-CN" sz="2000" b="0" dirty="0"/>
              <a:t>Total Store Ordering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针对</a:t>
            </a:r>
            <a:r>
              <a:rPr lang="zh-CN" altLang="en-US" sz="1800" dirty="0">
                <a:solidFill>
                  <a:schemeClr val="accent1"/>
                </a:solidFill>
              </a:rPr>
              <a:t>不同地址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、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、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顺序都能得到保证</a:t>
            </a:r>
            <a:endParaRPr lang="en-US" altLang="zh-C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只有</a:t>
            </a:r>
            <a:r>
              <a:rPr lang="zh-CN" altLang="en-US" sz="1800" b="1" dirty="0">
                <a:solidFill>
                  <a:schemeClr val="accent1"/>
                </a:solidFill>
              </a:rPr>
              <a:t>写</a:t>
            </a:r>
            <a:r>
              <a:rPr lang="en-US" altLang="zh-CN" sz="1800" b="1" dirty="0">
                <a:solidFill>
                  <a:schemeClr val="accent1"/>
                </a:solidFill>
              </a:rPr>
              <a:t>-</a:t>
            </a:r>
            <a:r>
              <a:rPr lang="zh-CN" altLang="en-US" sz="1800" b="1" dirty="0">
                <a:solidFill>
                  <a:schemeClr val="accent1"/>
                </a:solidFill>
              </a:rPr>
              <a:t>读</a:t>
            </a:r>
            <a:r>
              <a:rPr lang="zh-CN" altLang="en-US" sz="1800" dirty="0"/>
              <a:t>的顺序</a:t>
            </a:r>
            <a:r>
              <a:rPr lang="zh-CN" altLang="en-US" sz="1800" b="1" dirty="0">
                <a:solidFill>
                  <a:schemeClr val="accent1"/>
                </a:solidFill>
              </a:rPr>
              <a:t>不能</a:t>
            </a:r>
            <a:r>
              <a:rPr lang="zh-CN" altLang="en-US" sz="1800" dirty="0"/>
              <a:t>够得到保证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8FAF1-C489-A349-82A9-DA86AC7637C3}"/>
              </a:ext>
            </a:extLst>
          </p:cNvPr>
          <p:cNvSpPr/>
          <p:nvPr/>
        </p:nvSpPr>
        <p:spPr>
          <a:xfrm>
            <a:off x="1060544" y="3225308"/>
            <a:ext cx="2952328" cy="1718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proc_A(void) {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flag[0]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A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flag[1]</a:t>
            </a:r>
            <a:r>
              <a:rPr lang="en-CN">
                <a:latin typeface="Courier" pitchFamily="2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D19C89-0968-B84D-A69A-94615A21BCCB}"/>
              </a:ext>
            </a:extLst>
          </p:cNvPr>
          <p:cNvSpPr/>
          <p:nvPr/>
        </p:nvSpPr>
        <p:spPr>
          <a:xfrm>
            <a:off x="5153413" y="3225308"/>
            <a:ext cx="2952328" cy="17185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proc_B(void) {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flag[</a:t>
            </a:r>
            <a:r>
              <a:rPr lang="en-US" altLang="zh-CN">
                <a:latin typeface="Courier" pitchFamily="2" charset="0"/>
              </a:rPr>
              <a:t>1</a:t>
            </a:r>
            <a:r>
              <a:rPr lang="en-CN">
                <a:latin typeface="Courier" pitchFamily="2" charset="0"/>
              </a:rPr>
              <a:t>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B = flag[0];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12A59B77-DC4A-BC41-8F05-35BA1CF99F95}"/>
              </a:ext>
            </a:extLst>
          </p:cNvPr>
          <p:cNvSpPr/>
          <p:nvPr/>
        </p:nvSpPr>
        <p:spPr>
          <a:xfrm>
            <a:off x="3540538" y="3871349"/>
            <a:ext cx="900100" cy="426464"/>
          </a:xfrm>
          <a:prstGeom prst="arc">
            <a:avLst>
              <a:gd name="adj1" fmla="val 16200000"/>
              <a:gd name="adj2" fmla="val 5278294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9" name="Arc 8">
            <a:extLst>
              <a:ext uri="{FF2B5EF4-FFF2-40B4-BE49-F238E27FC236}">
                <a16:creationId xmlns:a16="http://schemas.microsoft.com/office/drawing/2014/main" id="{90C7ACBC-2673-2343-947F-1FE1282675BB}"/>
              </a:ext>
            </a:extLst>
          </p:cNvPr>
          <p:cNvSpPr/>
          <p:nvPr/>
        </p:nvSpPr>
        <p:spPr>
          <a:xfrm>
            <a:off x="7524328" y="3933465"/>
            <a:ext cx="900100" cy="426464"/>
          </a:xfrm>
          <a:prstGeom prst="arc">
            <a:avLst>
              <a:gd name="adj1" fmla="val 16200000"/>
              <a:gd name="adj2" fmla="val 5278294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25E6D-2D30-2944-9C4F-028925122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A5DF5A-AEFD-3A4D-B667-602583199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4144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</a:t>
            </a:r>
            <a:r>
              <a:rPr lang="en-US" altLang="zh-CN"/>
              <a:t>TSO</a:t>
            </a:r>
            <a:r>
              <a:rPr lang="zh-CN" altLang="en-US"/>
              <a:t>一致性模型</a:t>
            </a:r>
            <a:endParaRPr lang="en-CN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2A771DF-B7B4-4144-A733-3A1A9ED2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15" y="1219645"/>
            <a:ext cx="7411777" cy="176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dirty="0"/>
              <a:t>TSO </a:t>
            </a:r>
            <a:r>
              <a:rPr lang="zh-CN" altLang="en-US" sz="2000" b="0" dirty="0"/>
              <a:t>一致性模型（</a:t>
            </a:r>
            <a:r>
              <a:rPr lang="en-US" altLang="zh-CN" sz="2000" b="0" dirty="0"/>
              <a:t>Total Store Ordering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针对</a:t>
            </a:r>
            <a:r>
              <a:rPr lang="zh-CN" altLang="en-US" sz="1800" dirty="0">
                <a:solidFill>
                  <a:schemeClr val="accent1"/>
                </a:solidFill>
              </a:rPr>
              <a:t>不同地址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、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、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顺序都能得到保证</a:t>
            </a:r>
            <a:endParaRPr lang="en-US" altLang="zh-C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只有</a:t>
            </a:r>
            <a:r>
              <a:rPr lang="zh-CN" altLang="en-US" sz="1800" b="1" dirty="0">
                <a:solidFill>
                  <a:schemeClr val="accent1"/>
                </a:solidFill>
              </a:rPr>
              <a:t>写</a:t>
            </a:r>
            <a:r>
              <a:rPr lang="en-US" altLang="zh-CN" sz="1800" b="1" dirty="0">
                <a:solidFill>
                  <a:schemeClr val="accent1"/>
                </a:solidFill>
              </a:rPr>
              <a:t>-</a:t>
            </a:r>
            <a:r>
              <a:rPr lang="zh-CN" altLang="en-US" sz="1800" b="1" dirty="0">
                <a:solidFill>
                  <a:schemeClr val="accent1"/>
                </a:solidFill>
              </a:rPr>
              <a:t>读</a:t>
            </a:r>
            <a:r>
              <a:rPr lang="zh-CN" altLang="en-US" sz="1800" dirty="0"/>
              <a:t>的顺序</a:t>
            </a:r>
            <a:r>
              <a:rPr lang="zh-CN" altLang="en-US" sz="1800" b="1" dirty="0">
                <a:solidFill>
                  <a:schemeClr val="accent1"/>
                </a:solidFill>
              </a:rPr>
              <a:t>不能</a:t>
            </a:r>
            <a:r>
              <a:rPr lang="zh-CN" altLang="en-US" sz="1800" dirty="0"/>
              <a:t>够得到保证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18FAF1-C489-A349-82A9-DA86AC7637C3}"/>
              </a:ext>
            </a:extLst>
          </p:cNvPr>
          <p:cNvSpPr/>
          <p:nvPr/>
        </p:nvSpPr>
        <p:spPr>
          <a:xfrm>
            <a:off x="1043608" y="3217540"/>
            <a:ext cx="2952328" cy="2134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proc_A(void) {</a:t>
            </a:r>
          </a:p>
          <a:p>
            <a:pPr>
              <a:lnSpc>
                <a:spcPct val="150000"/>
              </a:lnSpc>
            </a:pP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A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=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</a:rPr>
              <a:t>flag[1]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</a:t>
            </a:r>
          </a:p>
          <a:p>
            <a:pPr>
              <a:lnSpc>
                <a:spcPct val="150000"/>
              </a:lnSpc>
            </a:pP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	flag[0]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5D19C89-0968-B84D-A69A-94615A21BCCB}"/>
              </a:ext>
            </a:extLst>
          </p:cNvPr>
          <p:cNvSpPr/>
          <p:nvPr/>
        </p:nvSpPr>
        <p:spPr>
          <a:xfrm>
            <a:off x="4932040" y="3217540"/>
            <a:ext cx="2952328" cy="25495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void proc_A(void) {</a:t>
            </a:r>
          </a:p>
          <a:p>
            <a:pPr>
              <a:lnSpc>
                <a:spcPct val="150000"/>
              </a:lnSpc>
            </a:pPr>
            <a:endParaRPr lang="en-CN">
              <a:latin typeface="Courier" pitchFamily="2" charset="0"/>
            </a:endParaRP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B = flag[0];</a:t>
            </a:r>
          </a:p>
          <a:p>
            <a:pPr>
              <a:lnSpc>
                <a:spcPct val="150000"/>
              </a:lnSpc>
            </a:pPr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flag[1] = 1;</a:t>
            </a:r>
          </a:p>
          <a:p>
            <a:pPr>
              <a:lnSpc>
                <a:spcPct val="150000"/>
              </a:lnSpc>
            </a:pPr>
            <a:r>
              <a:rPr lang="en-CN">
                <a:latin typeface="Courier" pitchFamily="2" charset="0"/>
              </a:rPr>
              <a:t>}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940F0B-9D32-E048-8FAA-959D057FB589}"/>
              </a:ext>
            </a:extLst>
          </p:cNvPr>
          <p:cNvCxnSpPr>
            <a:cxnSpLocks/>
          </p:cNvCxnSpPr>
          <p:nvPr/>
        </p:nvCxnSpPr>
        <p:spPr>
          <a:xfrm>
            <a:off x="863588" y="4081636"/>
            <a:ext cx="7416824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88C595-17E6-8A43-A675-36704FD9318E}"/>
              </a:ext>
            </a:extLst>
          </p:cNvPr>
          <p:cNvCxnSpPr>
            <a:cxnSpLocks/>
          </p:cNvCxnSpPr>
          <p:nvPr/>
        </p:nvCxnSpPr>
        <p:spPr>
          <a:xfrm>
            <a:off x="863588" y="4513684"/>
            <a:ext cx="7416824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B92602-092A-2043-8A0F-80B03691C267}"/>
              </a:ext>
            </a:extLst>
          </p:cNvPr>
          <p:cNvCxnSpPr>
            <a:cxnSpLocks/>
          </p:cNvCxnSpPr>
          <p:nvPr/>
        </p:nvCxnSpPr>
        <p:spPr>
          <a:xfrm>
            <a:off x="863588" y="4945732"/>
            <a:ext cx="7416824" cy="0"/>
          </a:xfrm>
          <a:prstGeom prst="line">
            <a:avLst/>
          </a:prstGeom>
          <a:ln w="254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D70CE16-59E2-4447-BC2E-0799D54E60C7}"/>
              </a:ext>
            </a:extLst>
          </p:cNvPr>
          <p:cNvSpPr/>
          <p:nvPr/>
        </p:nvSpPr>
        <p:spPr>
          <a:xfrm>
            <a:off x="1619672" y="4892021"/>
            <a:ext cx="3637534" cy="4689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CN">
                <a:solidFill>
                  <a:schemeClr val="accent1"/>
                </a:solidFill>
                <a:latin typeface="Courier" pitchFamily="2" charset="0"/>
              </a:rPr>
              <a:t>最终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</a:rPr>
              <a:t>允许结果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  <a:sym typeface="Wingdings" pitchFamily="2" charset="2"/>
              </a:rPr>
              <a:t>:</a:t>
            </a:r>
            <a:r>
              <a:rPr lang="zh-CN" altLang="en-US">
                <a:solidFill>
                  <a:schemeClr val="accent1"/>
                </a:solidFill>
                <a:latin typeface="Courier" pitchFamily="2" charset="0"/>
                <a:sym typeface="Wingdings" pitchFamily="2" charset="2"/>
              </a:rPr>
              <a:t> </a:t>
            </a:r>
            <a:r>
              <a:rPr lang="en-US" altLang="zh-CN">
                <a:solidFill>
                  <a:schemeClr val="accent1"/>
                </a:solidFill>
                <a:latin typeface="Courier" pitchFamily="2" charset="0"/>
                <a:sym typeface="Wingdings" pitchFamily="2" charset="2"/>
              </a:rPr>
              <a:t>(A,B) = (0,0)</a:t>
            </a:r>
            <a:endParaRPr lang="en-CN">
              <a:solidFill>
                <a:schemeClr val="accent1"/>
              </a:solidFill>
              <a:latin typeface="Courier" pitchFamily="2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F4E2F-B3F1-3442-8243-1DB2451965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8A91432-927D-4240-81ED-C47203693EF6}"/>
              </a:ext>
            </a:extLst>
          </p:cNvPr>
          <p:cNvSpPr/>
          <p:nvPr/>
        </p:nvSpPr>
        <p:spPr>
          <a:xfrm>
            <a:off x="457200" y="2787814"/>
            <a:ext cx="42588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>
                <a:latin typeface="Courier" pitchFamily="2" charset="0"/>
              </a:rPr>
              <a:t>初始</a:t>
            </a:r>
            <a:r>
              <a:rPr lang="zh-CN" altLang="en-US">
                <a:latin typeface="Courier" pitchFamily="2" charset="0"/>
              </a:rPr>
              <a:t>值：</a:t>
            </a:r>
            <a:r>
              <a:rPr lang="en-CN" altLang="zh-CN">
                <a:latin typeface="Courier" pitchFamily="2" charset="0"/>
              </a:rPr>
              <a:t>flag[0]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0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flag[1]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=</a:t>
            </a:r>
            <a:r>
              <a:rPr lang="zh-CN" altLang="en-US">
                <a:latin typeface="Courier" pitchFamily="2" charset="0"/>
              </a:rPr>
              <a:t> </a:t>
            </a:r>
            <a:r>
              <a:rPr lang="en-US" altLang="zh-CN">
                <a:latin typeface="Courier" pitchFamily="2" charset="0"/>
              </a:rPr>
              <a:t>0</a:t>
            </a:r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97104-B9F9-5841-AEC0-05C944F5F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387096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</a:t>
            </a:r>
            <a:r>
              <a:rPr lang="en-US" altLang="zh-CN"/>
              <a:t>TSO</a:t>
            </a:r>
            <a:r>
              <a:rPr lang="zh-CN" altLang="en-US"/>
              <a:t>一致性模型</a:t>
            </a:r>
            <a:endParaRPr lang="en-CN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2A771DF-B7B4-4144-A733-3A1A9ED2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14" y="1042476"/>
            <a:ext cx="7411777" cy="176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dirty="0"/>
              <a:t>TSO </a:t>
            </a:r>
            <a:r>
              <a:rPr lang="zh-CN" altLang="en-US" sz="2000" b="0" dirty="0"/>
              <a:t>一致性模型（</a:t>
            </a:r>
            <a:r>
              <a:rPr lang="en-US" altLang="zh-CN" sz="2000" b="0" dirty="0"/>
              <a:t>Total Store Ordering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针对</a:t>
            </a:r>
            <a:r>
              <a:rPr lang="zh-CN" altLang="en-US" sz="1800" dirty="0">
                <a:solidFill>
                  <a:schemeClr val="accent1"/>
                </a:solidFill>
              </a:rPr>
              <a:t>不同地址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、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、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顺序都能得到保证</a:t>
            </a:r>
            <a:endParaRPr lang="en-US" altLang="zh-C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只有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的顺序不能够得到保证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2E734-785E-4F4B-BA06-A703C780D6C9}"/>
              </a:ext>
            </a:extLst>
          </p:cNvPr>
          <p:cNvSpPr/>
          <p:nvPr/>
        </p:nvSpPr>
        <p:spPr>
          <a:xfrm>
            <a:off x="611560" y="2535216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为什么看起来很奇怪？规定这么细致？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86F096-243D-124E-91A5-E22506B06D4C}"/>
              </a:ext>
            </a:extLst>
          </p:cNvPr>
          <p:cNvSpPr/>
          <p:nvPr/>
        </p:nvSpPr>
        <p:spPr>
          <a:xfrm>
            <a:off x="457200" y="2950839"/>
            <a:ext cx="7026282" cy="2120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需要</a:t>
            </a:r>
            <a:r>
              <a:rPr lang="zh-CN" altLang="en-US" dirty="0"/>
              <a:t>允许</a:t>
            </a:r>
            <a:r>
              <a:rPr lang="zh-CN" altLang="en-US" b="1" dirty="0"/>
              <a:t>乱序执行</a:t>
            </a:r>
            <a:r>
              <a:rPr lang="zh-CN" altLang="en-US" dirty="0"/>
              <a:t>来提升性能！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要保证</a:t>
            </a:r>
            <a:r>
              <a:rPr lang="zh-CN" altLang="en-US" dirty="0"/>
              <a:t>顺序：使用了</a:t>
            </a:r>
            <a:r>
              <a:rPr lang="zh-CN" altLang="en-US" b="1" dirty="0"/>
              <a:t>内存保序缓存</a:t>
            </a:r>
            <a:r>
              <a:rPr lang="zh-CN" altLang="en-US" dirty="0"/>
              <a:t>（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Ordering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包括</a:t>
            </a:r>
            <a:r>
              <a:rPr lang="zh-CN" altLang="en-US" b="1" dirty="0"/>
              <a:t>写缓存</a:t>
            </a:r>
            <a:r>
              <a:rPr lang="zh-CN" altLang="en-US" dirty="0"/>
              <a:t>以及</a:t>
            </a:r>
            <a:r>
              <a:rPr lang="zh-CN" altLang="en-US" b="1" dirty="0"/>
              <a:t>读缓存</a:t>
            </a:r>
            <a:r>
              <a:rPr lang="zh-CN" altLang="en-US" dirty="0"/>
              <a:t>（</a:t>
            </a:r>
            <a:r>
              <a:rPr lang="en-US" altLang="zh-CN" dirty="0"/>
              <a:t>Store/Load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依序进出，保证顺序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altLang="zh-CN"/>
              <a:t>TSO</a:t>
            </a:r>
            <a:r>
              <a:rPr lang="zh-CN" altLang="en-US" dirty="0"/>
              <a:t>：</a:t>
            </a:r>
            <a:r>
              <a:rPr lang="en-US" altLang="zh-CN" dirty="0"/>
              <a:t>Intel (AMD) </a:t>
            </a:r>
            <a:r>
              <a:rPr lang="zh-CN" altLang="en-US" dirty="0"/>
              <a:t>硬件</a:t>
            </a:r>
            <a:r>
              <a:rPr lang="zh-CN" altLang="en-US" b="1" dirty="0"/>
              <a:t>复杂度、性能、软件使用场景</a:t>
            </a:r>
            <a:r>
              <a:rPr lang="zh-CN" altLang="en-US" dirty="0"/>
              <a:t>权衡的结果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1C970-F767-8940-B3E6-E164ECABB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A6323-9959-CF4C-95DC-0DFC47DD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705" y="913284"/>
            <a:ext cx="2273300" cy="33782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98D5A-9644-1944-978D-714AA3C9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75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31C9A3-49CC-324C-9DCE-44444745E1AA}"/>
              </a:ext>
            </a:extLst>
          </p:cNvPr>
          <p:cNvSpPr/>
          <p:nvPr/>
        </p:nvSpPr>
        <p:spPr>
          <a:xfrm>
            <a:off x="6646085" y="1282971"/>
            <a:ext cx="1008112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127D2-532F-C348-8FC2-3D3FBB9E2206}"/>
              </a:ext>
            </a:extLst>
          </p:cNvPr>
          <p:cNvSpPr/>
          <p:nvPr/>
        </p:nvSpPr>
        <p:spPr>
          <a:xfrm>
            <a:off x="6516216" y="241918"/>
            <a:ext cx="19003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/>
              <a:t>写操作</a:t>
            </a:r>
            <a:r>
              <a:rPr lang="zh-CN" altLang="en-US" b="1">
                <a:solidFill>
                  <a:srgbClr val="C00000"/>
                </a:solidFill>
              </a:rPr>
              <a:t>需要等待缓存一致性</a:t>
            </a:r>
            <a:endParaRPr lang="en-CN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64195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</a:t>
            </a:r>
            <a:r>
              <a:rPr lang="en-US" altLang="zh-CN"/>
              <a:t>TSO</a:t>
            </a:r>
            <a:r>
              <a:rPr lang="zh-CN" altLang="en-US"/>
              <a:t>一致性模型</a:t>
            </a:r>
            <a:endParaRPr lang="en-CN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2A771DF-B7B4-4144-A733-3A1A9ED2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14" y="1042476"/>
            <a:ext cx="7411777" cy="176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dirty="0"/>
              <a:t>TSO </a:t>
            </a:r>
            <a:r>
              <a:rPr lang="zh-CN" altLang="en-US" sz="2000" b="0" dirty="0"/>
              <a:t>一致性模型（</a:t>
            </a:r>
            <a:r>
              <a:rPr lang="en-US" altLang="zh-CN" sz="2000" b="0" dirty="0"/>
              <a:t>Total Store Ordering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针对</a:t>
            </a:r>
            <a:r>
              <a:rPr lang="zh-CN" altLang="en-US" sz="1800" dirty="0">
                <a:solidFill>
                  <a:schemeClr val="accent1"/>
                </a:solidFill>
              </a:rPr>
              <a:t>不同地址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、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、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顺序都能得到保证</a:t>
            </a:r>
            <a:endParaRPr lang="en-US" altLang="zh-C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只有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的顺序不能够得到保证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2E734-785E-4F4B-BA06-A703C780D6C9}"/>
              </a:ext>
            </a:extLst>
          </p:cNvPr>
          <p:cNvSpPr/>
          <p:nvPr/>
        </p:nvSpPr>
        <p:spPr>
          <a:xfrm>
            <a:off x="611560" y="2535216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为什么看起来很奇怪？规定这么细致？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86F096-243D-124E-91A5-E22506B06D4C}"/>
              </a:ext>
            </a:extLst>
          </p:cNvPr>
          <p:cNvSpPr/>
          <p:nvPr/>
        </p:nvSpPr>
        <p:spPr>
          <a:xfrm>
            <a:off x="457200" y="2950839"/>
            <a:ext cx="7026282" cy="2120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需要</a:t>
            </a:r>
            <a:r>
              <a:rPr lang="zh-CN" altLang="en-US" dirty="0"/>
              <a:t>允许</a:t>
            </a:r>
            <a:r>
              <a:rPr lang="zh-CN" altLang="en-US" b="1" dirty="0"/>
              <a:t>乱序执行</a:t>
            </a:r>
            <a:r>
              <a:rPr lang="zh-CN" altLang="en-US" dirty="0"/>
              <a:t>来提升性能！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要保证</a:t>
            </a:r>
            <a:r>
              <a:rPr lang="zh-CN" altLang="en-US" dirty="0"/>
              <a:t>顺序：使用了</a:t>
            </a:r>
            <a:r>
              <a:rPr lang="zh-CN" altLang="en-US" b="1" dirty="0"/>
              <a:t>内存保序缓存</a:t>
            </a:r>
            <a:r>
              <a:rPr lang="zh-CN" altLang="en-US" dirty="0"/>
              <a:t>（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Ordering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包括</a:t>
            </a:r>
            <a:r>
              <a:rPr lang="zh-CN" altLang="en-US" b="1" dirty="0"/>
              <a:t>写缓存</a:t>
            </a:r>
            <a:r>
              <a:rPr lang="zh-CN" altLang="en-US" dirty="0"/>
              <a:t>以及</a:t>
            </a:r>
            <a:r>
              <a:rPr lang="zh-CN" altLang="en-US" b="1" dirty="0"/>
              <a:t>读缓存</a:t>
            </a:r>
            <a:r>
              <a:rPr lang="zh-CN" altLang="en-US" dirty="0"/>
              <a:t>（</a:t>
            </a:r>
            <a:r>
              <a:rPr lang="en-US" altLang="zh-CN" dirty="0"/>
              <a:t>Store/Load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依序进出，保证顺序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altLang="zh-CN"/>
              <a:t>TSO</a:t>
            </a:r>
            <a:r>
              <a:rPr lang="zh-CN" altLang="en-US" dirty="0"/>
              <a:t>：</a:t>
            </a:r>
            <a:r>
              <a:rPr lang="en-US" altLang="zh-CN" dirty="0"/>
              <a:t>Intel (AMD) </a:t>
            </a:r>
            <a:r>
              <a:rPr lang="zh-CN" altLang="en-US" dirty="0"/>
              <a:t>硬件</a:t>
            </a:r>
            <a:r>
              <a:rPr lang="zh-CN" altLang="en-US" b="1" dirty="0"/>
              <a:t>复杂度、性能、软件使用场景</a:t>
            </a:r>
            <a:r>
              <a:rPr lang="zh-CN" altLang="en-US" dirty="0"/>
              <a:t>权衡的结果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1C970-F767-8940-B3E6-E164ECABB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A6323-9959-CF4C-95DC-0DFC47DD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705" y="913284"/>
            <a:ext cx="2273300" cy="33782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98D5A-9644-1944-978D-714AA3C9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76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81BFA-D461-544D-B228-D5F5D702A2AA}"/>
              </a:ext>
            </a:extLst>
          </p:cNvPr>
          <p:cNvSpPr/>
          <p:nvPr/>
        </p:nvSpPr>
        <p:spPr>
          <a:xfrm>
            <a:off x="6634667" y="2125451"/>
            <a:ext cx="1008112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9BC04-A554-6B40-8E2A-9322906BBAA9}"/>
              </a:ext>
            </a:extLst>
          </p:cNvPr>
          <p:cNvSpPr/>
          <p:nvPr/>
        </p:nvSpPr>
        <p:spPr>
          <a:xfrm>
            <a:off x="6516216" y="241918"/>
            <a:ext cx="19003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放入</a:t>
            </a:r>
            <a:r>
              <a:rPr lang="en-US" altLang="zh-CN" dirty="0"/>
              <a:t>store buffer</a:t>
            </a:r>
            <a:r>
              <a:rPr lang="zh-CN" altLang="en-US" dirty="0"/>
              <a:t>，</a:t>
            </a:r>
            <a:r>
              <a:rPr lang="en-US" altLang="zh-CN" dirty="0"/>
              <a:t>CPU</a:t>
            </a:r>
            <a:r>
              <a:rPr lang="zh-CN" altLang="en-US" dirty="0"/>
              <a:t>继续执行</a:t>
            </a:r>
            <a:endParaRPr lang="en-CN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71153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</a:t>
            </a:r>
            <a:r>
              <a:rPr lang="en-US" altLang="zh-CN"/>
              <a:t>TSO</a:t>
            </a:r>
            <a:r>
              <a:rPr lang="zh-CN" altLang="en-US"/>
              <a:t>一致性模型</a:t>
            </a:r>
            <a:endParaRPr lang="en-CN"/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B2A771DF-B7B4-4144-A733-3A1A9ED2BA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614" y="1042476"/>
            <a:ext cx="7411777" cy="176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0" dirty="0"/>
              <a:t>TSO </a:t>
            </a:r>
            <a:r>
              <a:rPr lang="zh-CN" altLang="en-US" sz="2000" b="0" dirty="0"/>
              <a:t>一致性模型（</a:t>
            </a:r>
            <a:r>
              <a:rPr lang="en-US" altLang="zh-CN" sz="2000" b="0" dirty="0"/>
              <a:t>Total Store Ordering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针对</a:t>
            </a:r>
            <a:r>
              <a:rPr lang="zh-CN" altLang="en-US" sz="1800" dirty="0">
                <a:solidFill>
                  <a:schemeClr val="accent1"/>
                </a:solidFill>
              </a:rPr>
              <a:t>不同地址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、</a:t>
            </a:r>
            <a:r>
              <a:rPr lang="zh-CN" altLang="en-US" sz="1800" b="1" dirty="0"/>
              <a:t>读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、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写</a:t>
            </a:r>
            <a:r>
              <a:rPr lang="zh-CN" altLang="en-US" sz="1800" dirty="0"/>
              <a:t>顺序都能得到保证</a:t>
            </a:r>
            <a:endParaRPr lang="en-US" altLang="zh-CN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zh-CN" altLang="en-US" sz="1800" dirty="0"/>
              <a:t>只有</a:t>
            </a:r>
            <a:r>
              <a:rPr lang="zh-CN" altLang="en-US" sz="1800" b="1" dirty="0"/>
              <a:t>写</a:t>
            </a:r>
            <a:r>
              <a:rPr lang="en-US" altLang="zh-CN" sz="1800" b="1" dirty="0"/>
              <a:t>-</a:t>
            </a:r>
            <a:r>
              <a:rPr lang="zh-CN" altLang="en-US" sz="1800" b="1" dirty="0"/>
              <a:t>读</a:t>
            </a:r>
            <a:r>
              <a:rPr lang="zh-CN" altLang="en-US" sz="1800" dirty="0"/>
              <a:t>的顺序不能够得到保证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8A2E734-785E-4F4B-BA06-A703C780D6C9}"/>
              </a:ext>
            </a:extLst>
          </p:cNvPr>
          <p:cNvSpPr/>
          <p:nvPr/>
        </p:nvSpPr>
        <p:spPr>
          <a:xfrm>
            <a:off x="611560" y="2535216"/>
            <a:ext cx="4108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为什么看起来很奇怪？规定这么细致？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486F096-243D-124E-91A5-E22506B06D4C}"/>
              </a:ext>
            </a:extLst>
          </p:cNvPr>
          <p:cNvSpPr/>
          <p:nvPr/>
        </p:nvSpPr>
        <p:spPr>
          <a:xfrm>
            <a:off x="457200" y="2950839"/>
            <a:ext cx="7026282" cy="212045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需要</a:t>
            </a:r>
            <a:r>
              <a:rPr lang="zh-CN" altLang="en-US" dirty="0"/>
              <a:t>允许</a:t>
            </a:r>
            <a:r>
              <a:rPr lang="zh-CN" altLang="en-US" b="1" dirty="0"/>
              <a:t>乱序执行</a:t>
            </a:r>
            <a:r>
              <a:rPr lang="zh-CN" altLang="en-US" dirty="0"/>
              <a:t>来提升性能！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要保证</a:t>
            </a:r>
            <a:r>
              <a:rPr lang="zh-CN" altLang="en-US" dirty="0"/>
              <a:t>顺序：使用了</a:t>
            </a:r>
            <a:r>
              <a:rPr lang="zh-CN" altLang="en-US" b="1" dirty="0"/>
              <a:t>内存保序缓存</a:t>
            </a:r>
            <a:r>
              <a:rPr lang="zh-CN" altLang="en-US" dirty="0"/>
              <a:t>（</a:t>
            </a:r>
            <a:r>
              <a:rPr lang="en-US" altLang="zh-CN" dirty="0"/>
              <a:t>Memory</a:t>
            </a:r>
            <a:r>
              <a:rPr lang="zh-CN" altLang="en-US" dirty="0"/>
              <a:t> </a:t>
            </a:r>
            <a:r>
              <a:rPr lang="en-US" altLang="zh-CN" dirty="0"/>
              <a:t>Ordering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包括</a:t>
            </a:r>
            <a:r>
              <a:rPr lang="zh-CN" altLang="en-US" b="1" dirty="0"/>
              <a:t>写缓存</a:t>
            </a:r>
            <a:r>
              <a:rPr lang="zh-CN" altLang="en-US" dirty="0"/>
              <a:t>以及</a:t>
            </a:r>
            <a:r>
              <a:rPr lang="zh-CN" altLang="en-US" b="1" dirty="0"/>
              <a:t>读缓存</a:t>
            </a:r>
            <a:r>
              <a:rPr lang="zh-CN" altLang="en-US" dirty="0"/>
              <a:t>（</a:t>
            </a:r>
            <a:r>
              <a:rPr lang="en-US" altLang="zh-CN" dirty="0"/>
              <a:t>Store/Load</a:t>
            </a:r>
            <a:r>
              <a:rPr lang="zh-CN" altLang="en-US" dirty="0"/>
              <a:t> </a:t>
            </a:r>
            <a:r>
              <a:rPr lang="en-US" altLang="zh-CN" dirty="0"/>
              <a:t>Buffer</a:t>
            </a:r>
            <a:r>
              <a:rPr lang="zh-CN" altLang="en-US" dirty="0"/>
              <a:t>）</a:t>
            </a:r>
            <a:endParaRPr lang="en-US" altLang="zh-CN" dirty="0"/>
          </a:p>
          <a:p>
            <a:pPr marL="742950" lvl="1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zh-CN" altLang="en-US" dirty="0"/>
              <a:t>依序进出，保证顺序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N" altLang="zh-CN"/>
              <a:t>TSO</a:t>
            </a:r>
            <a:r>
              <a:rPr lang="zh-CN" altLang="en-US" dirty="0"/>
              <a:t>：</a:t>
            </a:r>
            <a:r>
              <a:rPr lang="en-US" altLang="zh-CN" dirty="0"/>
              <a:t>Intel (AMD) </a:t>
            </a:r>
            <a:r>
              <a:rPr lang="zh-CN" altLang="en-US" dirty="0"/>
              <a:t>硬件</a:t>
            </a:r>
            <a:r>
              <a:rPr lang="zh-CN" altLang="en-US" b="1" dirty="0"/>
              <a:t>复杂度、性能、软件使用场景</a:t>
            </a:r>
            <a:r>
              <a:rPr lang="zh-CN" altLang="en-US" dirty="0"/>
              <a:t>权衡的结果</a:t>
            </a:r>
            <a:endParaRPr lang="en-US" altLang="zh-C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81C970-F767-8940-B3E6-E164ECABBB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5A6323-9959-CF4C-95DC-0DFC47DD7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705" y="913284"/>
            <a:ext cx="2273300" cy="3378200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198D5A-9644-1944-978D-714AA3C9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77</a:t>
            </a:fld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1281BFA-D461-544D-B228-D5F5D702A2AA}"/>
              </a:ext>
            </a:extLst>
          </p:cNvPr>
          <p:cNvSpPr/>
          <p:nvPr/>
        </p:nvSpPr>
        <p:spPr>
          <a:xfrm>
            <a:off x="6611888" y="2908823"/>
            <a:ext cx="1008112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A99BC04-A554-6B40-8E2A-9322906BBAA9}"/>
              </a:ext>
            </a:extLst>
          </p:cNvPr>
          <p:cNvSpPr/>
          <p:nvPr/>
        </p:nvSpPr>
        <p:spPr>
          <a:xfrm>
            <a:off x="4797431" y="2134786"/>
            <a:ext cx="2088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CN"/>
              <a:t>缓存</a:t>
            </a:r>
            <a:r>
              <a:rPr lang="zh-CN" altLang="en-US"/>
              <a:t>一致性满足，真实写到</a:t>
            </a:r>
            <a:r>
              <a:rPr lang="en-US" altLang="zh-CN"/>
              <a:t>cache</a:t>
            </a:r>
            <a:r>
              <a:rPr lang="zh-CN" altLang="en-US"/>
              <a:t>重</a:t>
            </a:r>
            <a:endParaRPr lang="en-CN" b="1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798846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5DD62-4417-154C-9441-0847E6A72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CN"/>
              <a:t>几种</a:t>
            </a:r>
            <a:r>
              <a:rPr lang="zh-CN" altLang="en-US"/>
              <a:t>内存模型</a:t>
            </a:r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8A389-1F57-5D4F-A789-38FAB76488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AC5F44-28DC-2343-9FA7-2909E4918A65}"/>
              </a:ext>
            </a:extLst>
          </p:cNvPr>
          <p:cNvSpPr/>
          <p:nvPr/>
        </p:nvSpPr>
        <p:spPr>
          <a:xfrm>
            <a:off x="1331640" y="1849388"/>
            <a:ext cx="2847529" cy="24611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ctr">
              <a:lnSpc>
                <a:spcPct val="200000"/>
              </a:lnSpc>
            </a:pPr>
            <a:r>
              <a:rPr lang="zh-CN" altLang="en-US" sz="2000"/>
              <a:t>严格一致性模型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zh-CN" altLang="en-US" sz="2000"/>
              <a:t>顺序一致性模型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en-US" altLang="zh-CN" sz="2000"/>
              <a:t>TSO</a:t>
            </a:r>
            <a:r>
              <a:rPr lang="zh-CN" altLang="en-US" sz="2000"/>
              <a:t>一致性模型</a:t>
            </a:r>
            <a:endParaRPr lang="en-US" altLang="zh-CN" sz="2000"/>
          </a:p>
          <a:p>
            <a:pPr lvl="1" algn="ctr">
              <a:lnSpc>
                <a:spcPct val="200000"/>
              </a:lnSpc>
            </a:pPr>
            <a:r>
              <a:rPr lang="zh-CN" altLang="en-US" sz="2000" b="1"/>
              <a:t>弱序一致性模型</a:t>
            </a:r>
            <a:endParaRPr lang="en-US" altLang="zh-CN" sz="2000" b="1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5F57139-47EF-414D-9011-3B89CB2D81CA}"/>
              </a:ext>
            </a:extLst>
          </p:cNvPr>
          <p:cNvCxnSpPr/>
          <p:nvPr/>
        </p:nvCxnSpPr>
        <p:spPr>
          <a:xfrm>
            <a:off x="4716016" y="1993404"/>
            <a:ext cx="0" cy="2461123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E8C4522D-F017-374C-B706-6DD9AD9AD528}"/>
              </a:ext>
            </a:extLst>
          </p:cNvPr>
          <p:cNvSpPr/>
          <p:nvPr/>
        </p:nvSpPr>
        <p:spPr>
          <a:xfrm>
            <a:off x="5076056" y="1755237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强保证</a:t>
            </a:r>
            <a:endParaRPr lang="en-C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09F11F-97D7-F24E-88E1-A90ADE57C02F}"/>
              </a:ext>
            </a:extLst>
          </p:cNvPr>
          <p:cNvSpPr/>
          <p:nvPr/>
        </p:nvSpPr>
        <p:spPr>
          <a:xfrm>
            <a:off x="5076055" y="4241113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弱保证</a:t>
            </a:r>
            <a:endParaRPr lang="en-C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21D3767-67F5-D248-B85A-B7995E77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64151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内存模型：弱序一致性模型</a:t>
            </a:r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F9140-9544-C149-92FC-C9FCD3067F58}"/>
              </a:ext>
            </a:extLst>
          </p:cNvPr>
          <p:cNvSpPr txBox="1">
            <a:spLocks/>
          </p:cNvSpPr>
          <p:nvPr/>
        </p:nvSpPr>
        <p:spPr>
          <a:xfrm>
            <a:off x="683568" y="1201316"/>
            <a:ext cx="7411777" cy="1767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0" dirty="0"/>
              <a:t>弱序一致性模型（</a:t>
            </a:r>
            <a:r>
              <a:rPr lang="en-US" altLang="zh-CN" sz="2000" b="0" dirty="0"/>
              <a:t>Weak-ordering Consistency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 dirty="0"/>
              <a:t>不保证任何对</a:t>
            </a:r>
            <a:r>
              <a:rPr lang="zh-CN" altLang="en-US" sz="1800" b="1" dirty="0"/>
              <a:t>不同的地址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读写</a:t>
            </a:r>
            <a:r>
              <a:rPr lang="zh-CN" altLang="en-US" sz="1800" dirty="0"/>
              <a:t>操作顺序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93D16B-B003-294A-91EA-0D548C2E7497}"/>
              </a:ext>
            </a:extLst>
          </p:cNvPr>
          <p:cNvSpPr/>
          <p:nvPr/>
        </p:nvSpPr>
        <p:spPr>
          <a:xfrm>
            <a:off x="683568" y="3498660"/>
            <a:ext cx="31683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data = 666;</a:t>
            </a:r>
          </a:p>
          <a:p>
            <a:r>
              <a:rPr lang="en-CN">
                <a:latin typeface="Courier" pitchFamily="2" charset="0"/>
              </a:rPr>
              <a:t>	flag = READY;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6981D7-DD26-2C47-ADA9-DE1B0D591CF1}"/>
              </a:ext>
            </a:extLst>
          </p:cNvPr>
          <p:cNvSpPr/>
          <p:nvPr/>
        </p:nvSpPr>
        <p:spPr>
          <a:xfrm>
            <a:off x="2843807" y="2436712"/>
            <a:ext cx="345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int data = 0; </a:t>
            </a:r>
          </a:p>
          <a:p>
            <a:r>
              <a:rPr lang="en-CN">
                <a:latin typeface="Courier" pitchFamily="2" charset="0"/>
              </a:rPr>
              <a:t>int flag = NOT_READY;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F4BE6-BA2E-6147-ADFE-E52572828C44}"/>
              </a:ext>
            </a:extLst>
          </p:cNvPr>
          <p:cNvSpPr/>
          <p:nvPr/>
        </p:nvSpPr>
        <p:spPr>
          <a:xfrm>
            <a:off x="4644008" y="3497382"/>
            <a:ext cx="4374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	while (flag != READY) ;</a:t>
            </a:r>
          </a:p>
          <a:p>
            <a:r>
              <a:rPr lang="en-CN">
                <a:latin typeface="Courier" pitchFamily="2" charset="0"/>
              </a:rPr>
              <a:t>	handle(data); 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4458D-0C54-5D45-A218-7B67701F4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59881-F908-0F4A-881E-031CFEC1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79</a:t>
            </a:fld>
            <a:endParaRPr lang="zh-CN" altLang="en-US"/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80F53E2C-8CD1-304B-BD55-293D3A54F729}"/>
              </a:ext>
            </a:extLst>
          </p:cNvPr>
          <p:cNvSpPr/>
          <p:nvPr/>
        </p:nvSpPr>
        <p:spPr>
          <a:xfrm>
            <a:off x="3288509" y="3891975"/>
            <a:ext cx="959455" cy="426464"/>
          </a:xfrm>
          <a:prstGeom prst="arc">
            <a:avLst>
              <a:gd name="adj1" fmla="val 16200000"/>
              <a:gd name="adj2" fmla="val 5278294"/>
            </a:avLst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3433942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内存模型：弱序一致性模型</a:t>
            </a:r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F9140-9544-C149-92FC-C9FCD3067F58}"/>
              </a:ext>
            </a:extLst>
          </p:cNvPr>
          <p:cNvSpPr txBox="1">
            <a:spLocks/>
          </p:cNvSpPr>
          <p:nvPr/>
        </p:nvSpPr>
        <p:spPr>
          <a:xfrm>
            <a:off x="683568" y="1201316"/>
            <a:ext cx="7411777" cy="1767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0" dirty="0"/>
              <a:t>弱序一致性模型（</a:t>
            </a:r>
            <a:r>
              <a:rPr lang="en-US" altLang="zh-CN" sz="2000" b="0" dirty="0"/>
              <a:t>Weak-ordering Consistency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 dirty="0"/>
              <a:t>不保证任何对</a:t>
            </a:r>
            <a:r>
              <a:rPr lang="zh-CN" altLang="en-US" sz="1800" b="1" dirty="0"/>
              <a:t>不同的地址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读写</a:t>
            </a:r>
            <a:r>
              <a:rPr lang="zh-CN" altLang="en-US" sz="1800" dirty="0"/>
              <a:t>操作顺序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93D16B-B003-294A-91EA-0D548C2E7497}"/>
              </a:ext>
            </a:extLst>
          </p:cNvPr>
          <p:cNvSpPr/>
          <p:nvPr/>
        </p:nvSpPr>
        <p:spPr>
          <a:xfrm>
            <a:off x="683568" y="3498660"/>
            <a:ext cx="3168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flag = READY;</a:t>
            </a: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endParaRPr lang="en-CN">
              <a:solidFill>
                <a:schemeClr val="accent1"/>
              </a:solidFill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data = 666;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6981D7-DD26-2C47-ADA9-DE1B0D591CF1}"/>
              </a:ext>
            </a:extLst>
          </p:cNvPr>
          <p:cNvSpPr/>
          <p:nvPr/>
        </p:nvSpPr>
        <p:spPr>
          <a:xfrm>
            <a:off x="2843807" y="2436712"/>
            <a:ext cx="34563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int data = 0; </a:t>
            </a:r>
          </a:p>
          <a:p>
            <a:r>
              <a:rPr lang="en-CN">
                <a:latin typeface="Courier" pitchFamily="2" charset="0"/>
              </a:rPr>
              <a:t>int flag = NOT_READY; 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6F4BE6-BA2E-6147-ADFE-E52572828C44}"/>
              </a:ext>
            </a:extLst>
          </p:cNvPr>
          <p:cNvSpPr/>
          <p:nvPr/>
        </p:nvSpPr>
        <p:spPr>
          <a:xfrm>
            <a:off x="4644008" y="3497382"/>
            <a:ext cx="4374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	while (flag != READY) ;</a:t>
            </a:r>
          </a:p>
          <a:p>
            <a:r>
              <a:rPr lang="en-CN">
                <a:latin typeface="Courier" pitchFamily="2" charset="0"/>
              </a:rPr>
              <a:t>	handle(data); 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507F720-E818-2A44-8D28-E50CEAD5A255}"/>
              </a:ext>
            </a:extLst>
          </p:cNvPr>
          <p:cNvCxnSpPr>
            <a:cxnSpLocks/>
          </p:cNvCxnSpPr>
          <p:nvPr/>
        </p:nvCxnSpPr>
        <p:spPr>
          <a:xfrm>
            <a:off x="899592" y="4801716"/>
            <a:ext cx="7416824" cy="0"/>
          </a:xfrm>
          <a:prstGeom prst="line">
            <a:avLst/>
          </a:prstGeom>
          <a:ln w="3810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57E1D82-3C1B-E746-87DE-3B647B808C4B}"/>
              </a:ext>
            </a:extLst>
          </p:cNvPr>
          <p:cNvSpPr/>
          <p:nvPr/>
        </p:nvSpPr>
        <p:spPr>
          <a:xfrm>
            <a:off x="4889924" y="4401027"/>
            <a:ext cx="33265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时刻</a:t>
            </a:r>
            <a:r>
              <a:rPr lang="en-US" altLang="zh-CN" dirty="0"/>
              <a:t>T1</a:t>
            </a:r>
            <a:r>
              <a:rPr lang="zh-CN" altLang="en-US" dirty="0"/>
              <a:t>，</a:t>
            </a:r>
            <a:r>
              <a:rPr lang="en-US" altLang="zh-CN" dirty="0" err="1"/>
              <a:t>proc_B</a:t>
            </a:r>
            <a:r>
              <a:rPr lang="zh-CN" altLang="en-US" dirty="0"/>
              <a:t>读到错误的值</a:t>
            </a:r>
            <a:endParaRPr lang="en-C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C98385-58D5-614B-A19C-E18B88CDD1E8}"/>
              </a:ext>
            </a:extLst>
          </p:cNvPr>
          <p:cNvSpPr/>
          <p:nvPr/>
        </p:nvSpPr>
        <p:spPr>
          <a:xfrm>
            <a:off x="4239370" y="5059580"/>
            <a:ext cx="41216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思考：</a:t>
            </a:r>
            <a:r>
              <a:rPr lang="en-US" altLang="zh-CN">
                <a:solidFill>
                  <a:schemeClr val="accent1"/>
                </a:solidFill>
              </a:rPr>
              <a:t>TSO</a:t>
            </a:r>
            <a:r>
              <a:rPr lang="zh-CN" altLang="en-US">
                <a:solidFill>
                  <a:schemeClr val="accent1"/>
                </a:solidFill>
              </a:rPr>
              <a:t>中有这个问题吗？为什么？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C4458D-0C54-5D45-A218-7B67701F4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59881-F908-0F4A-881E-031CFEC1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99972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内存模型：弱序一致性模型</a:t>
            </a:r>
            <a:endParaRPr lang="en-C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F9140-9544-C149-92FC-C9FCD3067F58}"/>
              </a:ext>
            </a:extLst>
          </p:cNvPr>
          <p:cNvSpPr txBox="1">
            <a:spLocks/>
          </p:cNvSpPr>
          <p:nvPr/>
        </p:nvSpPr>
        <p:spPr>
          <a:xfrm>
            <a:off x="683568" y="1201316"/>
            <a:ext cx="7411777" cy="1767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1200"/>
              </a:spcBef>
              <a:buFont typeface="Arial" pitchFamily="34" charset="0"/>
              <a:buChar char="•"/>
              <a:defRPr sz="2600" b="1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24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•"/>
              <a:defRPr sz="20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–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Char char="»"/>
              <a:defRPr sz="1800" b="0" i="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微软雅黑" panose="020B0503020204020204" pitchFamily="34" charset="-122"/>
                <a:cs typeface="微软雅黑" panose="020B0503020204020204" pitchFamily="34" charset="-122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2000" b="0" dirty="0"/>
              <a:t>弱序一致性模型（</a:t>
            </a:r>
            <a:r>
              <a:rPr lang="en-US" altLang="zh-CN" sz="2000" b="0" dirty="0"/>
              <a:t>Weak-ordering Consistency</a:t>
            </a:r>
            <a:r>
              <a:rPr lang="zh-CN" altLang="en-US" sz="2000" b="0" dirty="0"/>
              <a:t>）</a:t>
            </a:r>
            <a:endParaRPr lang="en-US" altLang="zh-CN" sz="2000" b="0" dirty="0"/>
          </a:p>
          <a:p>
            <a:pPr marL="457200" lvl="1" indent="0">
              <a:lnSpc>
                <a:spcPct val="150000"/>
              </a:lnSpc>
              <a:buFont typeface="Arial" pitchFamily="34" charset="0"/>
              <a:buNone/>
            </a:pPr>
            <a:r>
              <a:rPr lang="zh-CN" altLang="en-US" sz="1800" dirty="0"/>
              <a:t>不保证任何对</a:t>
            </a:r>
            <a:r>
              <a:rPr lang="zh-CN" altLang="en-US" sz="1800" b="1" dirty="0"/>
              <a:t>不同的地址</a:t>
            </a:r>
            <a:r>
              <a:rPr lang="zh-CN" altLang="en-US" sz="1800" dirty="0"/>
              <a:t>的</a:t>
            </a:r>
            <a:r>
              <a:rPr lang="zh-CN" altLang="en-US" sz="1800" b="1" dirty="0"/>
              <a:t>读写</a:t>
            </a:r>
            <a:r>
              <a:rPr lang="zh-CN" altLang="en-US" sz="1800" dirty="0"/>
              <a:t>操作顺序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A4CF71A-C850-6445-B07A-D07973240EB7}"/>
              </a:ext>
            </a:extLst>
          </p:cNvPr>
          <p:cNvSpPr/>
          <p:nvPr/>
        </p:nvSpPr>
        <p:spPr>
          <a:xfrm>
            <a:off x="899592" y="2425452"/>
            <a:ext cx="7560840" cy="25359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/>
              <a:t>与</a:t>
            </a:r>
            <a:r>
              <a:rPr lang="en-US" altLang="zh-CN"/>
              <a:t>TSO</a:t>
            </a:r>
            <a:r>
              <a:rPr lang="zh-CN" altLang="en-US"/>
              <a:t>相比：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硬件逻辑更加简单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处理器复杂度下降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工艺</a:t>
            </a:r>
            <a:r>
              <a:rPr lang="en-US" altLang="zh-CN"/>
              <a:t>/</a:t>
            </a:r>
            <a:r>
              <a:rPr lang="zh-CN" altLang="en-US"/>
              <a:t>成本</a:t>
            </a:r>
            <a:r>
              <a:rPr lang="en-US" altLang="zh-CN"/>
              <a:t>/</a:t>
            </a:r>
            <a:r>
              <a:rPr lang="zh-CN" altLang="en-US"/>
              <a:t>功耗下降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并行程序性能受到影响（需要手动保证顺序）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ARM</a:t>
            </a:r>
            <a:r>
              <a:rPr lang="zh-CN" altLang="en-US"/>
              <a:t>硬件</a:t>
            </a:r>
            <a:r>
              <a:rPr lang="zh-CN" altLang="en-US" b="1"/>
              <a:t>复杂度、性能、成本、功耗、软件使用场景</a:t>
            </a:r>
            <a:r>
              <a:rPr lang="zh-CN" altLang="en-US"/>
              <a:t>权衡的结果</a:t>
            </a:r>
            <a:endParaRPr lang="en-US" altLang="zh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470BEC-8BE3-9A40-B669-F4A2313DE8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195521-3802-5E4A-B5AE-498F262A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0077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不同架构使用不同的内存模型</a:t>
            </a:r>
            <a:endParaRPr lang="en-C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7530572-964C-B549-868F-EC23FB0E5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74874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CN" altLang="en-CN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elvetica Neue" panose="02000503000000020004" pitchFamily="2" charset="0"/>
              </a:rPr>
            </a:b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02B77A1A-FCBF-034B-8320-D55795E4E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168153"/>
            <a:ext cx="7518400" cy="3962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06A4129-A3ED-FE44-BE5D-EC9A231041BD}"/>
              </a:ext>
            </a:extLst>
          </p:cNvPr>
          <p:cNvSpPr txBox="1"/>
          <p:nvPr/>
        </p:nvSpPr>
        <p:spPr>
          <a:xfrm>
            <a:off x="460803" y="364453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CN"/>
              <a:t>移动</a:t>
            </a:r>
            <a:r>
              <a:rPr lang="zh-CN" altLang="en-US"/>
              <a:t>场景，成本控制</a:t>
            </a:r>
            <a:endParaRPr lang="en-C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CDD79F-5EEB-4B45-B047-4D74451AAC2B}"/>
              </a:ext>
            </a:extLst>
          </p:cNvPr>
          <p:cNvSpPr txBox="1"/>
          <p:nvPr/>
        </p:nvSpPr>
        <p:spPr>
          <a:xfrm>
            <a:off x="6703740" y="4907086"/>
            <a:ext cx="14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*</a:t>
            </a:r>
            <a:r>
              <a:rPr lang="en-US" altLang="zh-CN"/>
              <a:t>2012</a:t>
            </a:r>
            <a:r>
              <a:rPr lang="zh-CN" altLang="en-US"/>
              <a:t>年之前</a:t>
            </a:r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A73DB6-E0E7-BC45-B0F8-9FDA4131761D}"/>
              </a:ext>
            </a:extLst>
          </p:cNvPr>
          <p:cNvSpPr txBox="1"/>
          <p:nvPr/>
        </p:nvSpPr>
        <p:spPr>
          <a:xfrm>
            <a:off x="315507" y="4088582"/>
            <a:ext cx="240745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/>
              <a:t>主要考虑</a:t>
            </a:r>
            <a:r>
              <a:rPr lang="en-US" altLang="zh-CN"/>
              <a:t>CPU</a:t>
            </a:r>
            <a:r>
              <a:rPr lang="zh-CN" altLang="en-US"/>
              <a:t>复杂度与功耗表现</a:t>
            </a:r>
            <a:endParaRPr lang="en-C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95EDE90-E18B-C944-813B-0354820D8C18}"/>
              </a:ext>
            </a:extLst>
          </p:cNvPr>
          <p:cNvSpPr txBox="1"/>
          <p:nvPr/>
        </p:nvSpPr>
        <p:spPr>
          <a:xfrm>
            <a:off x="6244102" y="3622777"/>
            <a:ext cx="2518638" cy="87395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/>
              <a:t>“高性能”</a:t>
            </a:r>
            <a:endParaRPr lang="en-CN" altLang="zh-CN"/>
          </a:p>
          <a:p>
            <a:pPr algn="ctr">
              <a:lnSpc>
                <a:spcPct val="150000"/>
              </a:lnSpc>
            </a:pPr>
            <a:r>
              <a:rPr lang="en-US" altLang="zh-CN"/>
              <a:t>CPU</a:t>
            </a:r>
            <a:r>
              <a:rPr lang="zh-CN" altLang="en-US"/>
              <a:t>更复杂，能效更高</a:t>
            </a:r>
            <a:endParaRPr lang="en-US" altLang="zh-CN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F2A66E-404D-EC40-8472-F555DFB4E3B5}"/>
              </a:ext>
            </a:extLst>
          </p:cNvPr>
          <p:cNvCxnSpPr/>
          <p:nvPr/>
        </p:nvCxnSpPr>
        <p:spPr>
          <a:xfrm>
            <a:off x="827584" y="2539090"/>
            <a:ext cx="952021" cy="9361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DE628A4-AC84-5645-B434-458D7BD61D6D}"/>
              </a:ext>
            </a:extLst>
          </p:cNvPr>
          <p:cNvCxnSpPr/>
          <p:nvPr/>
        </p:nvCxnSpPr>
        <p:spPr>
          <a:xfrm>
            <a:off x="7027410" y="2566112"/>
            <a:ext cx="952021" cy="9361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8C019B-F849-AB46-8CC4-AB38012ECF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5ACDF5-0E05-A649-ABB2-DCB95B1FA197}"/>
              </a:ext>
            </a:extLst>
          </p:cNvPr>
          <p:cNvSpPr/>
          <p:nvPr/>
        </p:nvSpPr>
        <p:spPr>
          <a:xfrm>
            <a:off x="737320" y="5488150"/>
            <a:ext cx="78133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>
                <a:hlinkClick r:id="rId3"/>
              </a:rPr>
              <a:t>Credit: https://preshing.com/20120930/weak-vs-strong-memory-models/</a:t>
            </a:r>
            <a:endParaRPr lang="en-CN" sz="1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49AE35-A19A-1345-B096-020AF223C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0705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不同架构使用不同的内存模型</a:t>
            </a:r>
            <a:endParaRPr lang="en-C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7530572-964C-B549-868F-EC23FB0E5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74874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CN" altLang="en-CN" sz="9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Helvetica Neue" panose="02000503000000020004" pitchFamily="2" charset="0"/>
              </a:rPr>
            </a:br>
            <a:endParaRPr kumimoji="0" lang="en-CN" altLang="en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" name="Picture 9" descr="A screenshot of a cell phone&#10;&#10;Description automatically generated">
            <a:extLst>
              <a:ext uri="{FF2B5EF4-FFF2-40B4-BE49-F238E27FC236}">
                <a16:creationId xmlns:a16="http://schemas.microsoft.com/office/drawing/2014/main" id="{02B77A1A-FCBF-034B-8320-D55795E4E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168153"/>
            <a:ext cx="7518400" cy="39624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383EBB4-E7DD-574F-9EA1-5A193CEC782B}"/>
              </a:ext>
            </a:extLst>
          </p:cNvPr>
          <p:cNvSpPr/>
          <p:nvPr/>
        </p:nvSpPr>
        <p:spPr>
          <a:xfrm>
            <a:off x="737320" y="5488150"/>
            <a:ext cx="781337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1200">
                <a:hlinkClick r:id="rId3"/>
              </a:rPr>
              <a:t>Credit: https://preshing.com/20120930/weak-vs-strong-memory-models/</a:t>
            </a:r>
            <a:endParaRPr lang="en-CN" sz="12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CDD79F-5EEB-4B45-B047-4D74451AAC2B}"/>
              </a:ext>
            </a:extLst>
          </p:cNvPr>
          <p:cNvSpPr txBox="1"/>
          <p:nvPr/>
        </p:nvSpPr>
        <p:spPr>
          <a:xfrm>
            <a:off x="6703740" y="4907086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/>
              <a:t>*</a:t>
            </a:r>
            <a:r>
              <a:rPr lang="en-US" altLang="zh-CN" b="1">
                <a:solidFill>
                  <a:srgbClr val="FF0000"/>
                </a:solidFill>
              </a:rPr>
              <a:t>2020</a:t>
            </a:r>
            <a:r>
              <a:rPr lang="zh-CN" altLang="en-US"/>
              <a:t>年</a:t>
            </a:r>
            <a:endParaRPr lang="en-C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A73DB6-E0E7-BC45-B0F8-9FDA4131761D}"/>
              </a:ext>
            </a:extLst>
          </p:cNvPr>
          <p:cNvSpPr txBox="1"/>
          <p:nvPr/>
        </p:nvSpPr>
        <p:spPr>
          <a:xfrm>
            <a:off x="2578915" y="4410989"/>
            <a:ext cx="4713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CN"/>
              <a:t>主机</a:t>
            </a:r>
            <a:r>
              <a:rPr lang="zh-CN" altLang="en-US"/>
              <a:t>阵营去</a:t>
            </a:r>
            <a:r>
              <a:rPr lang="en-US" altLang="zh-CN"/>
              <a:t>x86</a:t>
            </a:r>
          </a:p>
          <a:p>
            <a:pPr algn="ctr"/>
            <a:r>
              <a:rPr lang="zh-CN" altLang="en-US"/>
              <a:t>（除</a:t>
            </a:r>
            <a:r>
              <a:rPr lang="en-US" altLang="zh-CN"/>
              <a:t>switch</a:t>
            </a:r>
            <a:r>
              <a:rPr lang="zh-CN" altLang="en-US"/>
              <a:t>用的</a:t>
            </a:r>
            <a:r>
              <a:rPr lang="en-US" altLang="zh-CN"/>
              <a:t>ARM</a:t>
            </a:r>
            <a:r>
              <a:rPr lang="zh-CN" altLang="en-US"/>
              <a:t>）</a:t>
            </a:r>
            <a:endParaRPr lang="en-US" altLang="zh-CN"/>
          </a:p>
          <a:p>
            <a:pPr algn="ctr"/>
            <a:r>
              <a:rPr lang="en-US"/>
              <a:t>Apple</a:t>
            </a:r>
            <a:r>
              <a:rPr lang="zh-CN" altLang="en-US"/>
              <a:t>全换</a:t>
            </a:r>
            <a:r>
              <a:rPr lang="en-US" altLang="zh-CN"/>
              <a:t>intel</a:t>
            </a:r>
            <a:endParaRPr lang="en-CN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FF8897B-E784-6B4C-AF4B-014896B047C0}"/>
              </a:ext>
            </a:extLst>
          </p:cNvPr>
          <p:cNvCxnSpPr>
            <a:cxnSpLocks/>
          </p:cNvCxnSpPr>
          <p:nvPr/>
        </p:nvCxnSpPr>
        <p:spPr>
          <a:xfrm flipV="1">
            <a:off x="4211960" y="4153644"/>
            <a:ext cx="432048" cy="14139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6C0C81-6399-3042-96B5-047C9B7D2F73}"/>
              </a:ext>
            </a:extLst>
          </p:cNvPr>
          <p:cNvCxnSpPr/>
          <p:nvPr/>
        </p:nvCxnSpPr>
        <p:spPr>
          <a:xfrm>
            <a:off x="2945558" y="3779131"/>
            <a:ext cx="952021" cy="9361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60E7672-704F-E549-A6E5-04C36BF68FB9}"/>
              </a:ext>
            </a:extLst>
          </p:cNvPr>
          <p:cNvSpPr txBox="1"/>
          <p:nvPr/>
        </p:nvSpPr>
        <p:spPr>
          <a:xfrm>
            <a:off x="332028" y="3828763"/>
            <a:ext cx="2299149" cy="12894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altLang="zh-CN"/>
              <a:t>ARM</a:t>
            </a:r>
            <a:r>
              <a:rPr lang="zh-CN" altLang="en-CN"/>
              <a:t>维持</a:t>
            </a:r>
            <a:r>
              <a:rPr lang="zh-CN" altLang="en-US" b="1">
                <a:solidFill>
                  <a:srgbClr val="FF0000"/>
                </a:solidFill>
              </a:rPr>
              <a:t>弱内存模型</a:t>
            </a:r>
            <a:endParaRPr lang="en-US" altLang="zh-CN" b="1">
              <a:solidFill>
                <a:srgbClr val="FF0000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zh-CN" altLang="en-US"/>
              <a:t>但是</a:t>
            </a:r>
            <a:r>
              <a:rPr lang="zh-CN" altLang="en-CN"/>
              <a:t>也在</a:t>
            </a:r>
            <a:r>
              <a:rPr lang="zh-CN" altLang="en-US"/>
              <a:t>向高性能高</a:t>
            </a:r>
            <a:r>
              <a:rPr lang="zh-CN" altLang="en-US" b="1">
                <a:solidFill>
                  <a:srgbClr val="FF0000"/>
                </a:solidFill>
              </a:rPr>
              <a:t>能效</a:t>
            </a:r>
            <a:r>
              <a:rPr lang="zh-CN" altLang="en-US"/>
              <a:t>服务器发展</a:t>
            </a:r>
            <a:endParaRPr lang="en-CN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E6E26A5-C423-7A48-9B18-1542C23BA535}"/>
              </a:ext>
            </a:extLst>
          </p:cNvPr>
          <p:cNvCxnSpPr>
            <a:cxnSpLocks/>
          </p:cNvCxnSpPr>
          <p:nvPr/>
        </p:nvCxnSpPr>
        <p:spPr>
          <a:xfrm>
            <a:off x="5040053" y="3610743"/>
            <a:ext cx="900099" cy="800246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2E6485EF-0809-9E46-8547-D146B65AF74B}"/>
              </a:ext>
            </a:extLst>
          </p:cNvPr>
          <p:cNvSpPr/>
          <p:nvPr/>
        </p:nvSpPr>
        <p:spPr>
          <a:xfrm>
            <a:off x="5848295" y="3818480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基本也没了</a:t>
            </a:r>
            <a:endParaRPr lang="en-CN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3922433-3B40-BA4A-834B-0DD8CC63279E}"/>
              </a:ext>
            </a:extLst>
          </p:cNvPr>
          <p:cNvCxnSpPr/>
          <p:nvPr/>
        </p:nvCxnSpPr>
        <p:spPr>
          <a:xfrm>
            <a:off x="827584" y="2539090"/>
            <a:ext cx="952021" cy="9361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F127BD-BD69-2F49-B443-3A97141DFD68}"/>
              </a:ext>
            </a:extLst>
          </p:cNvPr>
          <p:cNvCxnSpPr/>
          <p:nvPr/>
        </p:nvCxnSpPr>
        <p:spPr>
          <a:xfrm>
            <a:off x="6816464" y="2490307"/>
            <a:ext cx="952021" cy="936104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236F1-5385-8F48-9FAE-BF809AF1F1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9B8FE8-73AD-0F46-837F-39A2B4AC9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75432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如何在弱的内存模型中保证顺序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7BB1B-35E9-9D4F-8A3C-94F7CA1025A4}"/>
              </a:ext>
            </a:extLst>
          </p:cNvPr>
          <p:cNvSpPr/>
          <p:nvPr/>
        </p:nvSpPr>
        <p:spPr>
          <a:xfrm>
            <a:off x="1955154" y="1174315"/>
            <a:ext cx="544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通常的做法：添加</a:t>
            </a:r>
            <a:r>
              <a:rPr lang="zh-CN" altLang="en-US" b="1" dirty="0"/>
              <a:t>硬件内存屏障</a:t>
            </a:r>
            <a:r>
              <a:rPr lang="zh-CN" altLang="en-US" dirty="0"/>
              <a:t> （</a:t>
            </a:r>
            <a:r>
              <a:rPr lang="en-US" altLang="zh-CN" dirty="0"/>
              <a:t>barrier/fence</a:t>
            </a:r>
            <a:r>
              <a:rPr lang="zh-CN" altLang="en-US" dirty="0"/>
              <a:t>）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4077E-1FCE-8746-A947-6A84366EE948}"/>
              </a:ext>
            </a:extLst>
          </p:cNvPr>
          <p:cNvSpPr/>
          <p:nvPr/>
        </p:nvSpPr>
        <p:spPr>
          <a:xfrm>
            <a:off x="757268" y="3650866"/>
            <a:ext cx="31683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data = 666;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	flag = READY;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CB44B-8CB0-C345-8603-1F62A43271C4}"/>
              </a:ext>
            </a:extLst>
          </p:cNvPr>
          <p:cNvSpPr/>
          <p:nvPr/>
        </p:nvSpPr>
        <p:spPr>
          <a:xfrm>
            <a:off x="4717708" y="3649588"/>
            <a:ext cx="43742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	while (flag != READY) 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	handle(data); 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5B9B71-DFED-E34C-A005-2242DCD06C41}"/>
              </a:ext>
            </a:extLst>
          </p:cNvPr>
          <p:cNvCxnSpPr>
            <a:cxnSpLocks/>
          </p:cNvCxnSpPr>
          <p:nvPr/>
        </p:nvCxnSpPr>
        <p:spPr>
          <a:xfrm>
            <a:off x="2557468" y="4269846"/>
            <a:ext cx="0" cy="252028"/>
          </a:xfrm>
          <a:prstGeom prst="straightConnector1">
            <a:avLst/>
          </a:prstGeom>
          <a:ln w="2857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0555507-B490-AC45-A2EC-9D54A6DB6098}"/>
              </a:ext>
            </a:extLst>
          </p:cNvPr>
          <p:cNvCxnSpPr>
            <a:cxnSpLocks/>
          </p:cNvCxnSpPr>
          <p:nvPr/>
        </p:nvCxnSpPr>
        <p:spPr>
          <a:xfrm>
            <a:off x="7021964" y="4290583"/>
            <a:ext cx="0" cy="252028"/>
          </a:xfrm>
          <a:prstGeom prst="straightConnector1">
            <a:avLst/>
          </a:prstGeom>
          <a:ln w="2857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84</a:t>
            </a:fld>
            <a:endParaRPr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77E00-8EF7-2D44-8573-399E7052DEAF}"/>
              </a:ext>
            </a:extLst>
          </p:cNvPr>
          <p:cNvSpPr/>
          <p:nvPr/>
        </p:nvSpPr>
        <p:spPr>
          <a:xfrm>
            <a:off x="611560" y="1892327"/>
            <a:ext cx="35715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flag[0] = 1;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	while(flag[1]);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8BD28B-858B-7744-938C-76D84DC1A7C8}"/>
              </a:ext>
            </a:extLst>
          </p:cNvPr>
          <p:cNvSpPr/>
          <p:nvPr/>
        </p:nvSpPr>
        <p:spPr>
          <a:xfrm>
            <a:off x="4572000" y="1891049"/>
            <a:ext cx="4374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	flag[1] = 1;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	while(flag[0]);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3035A86-6FEB-9B4C-A147-C9A9073D847C}"/>
              </a:ext>
            </a:extLst>
          </p:cNvPr>
          <p:cNvCxnSpPr>
            <a:cxnSpLocks/>
          </p:cNvCxnSpPr>
          <p:nvPr/>
        </p:nvCxnSpPr>
        <p:spPr>
          <a:xfrm>
            <a:off x="2397318" y="2501635"/>
            <a:ext cx="0" cy="318428"/>
          </a:xfrm>
          <a:prstGeom prst="straightConnector1">
            <a:avLst/>
          </a:prstGeom>
          <a:ln w="2857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888FE39-E23C-0041-97EC-AB7BDC980203}"/>
              </a:ext>
            </a:extLst>
          </p:cNvPr>
          <p:cNvCxnSpPr>
            <a:cxnSpLocks/>
          </p:cNvCxnSpPr>
          <p:nvPr/>
        </p:nvCxnSpPr>
        <p:spPr>
          <a:xfrm>
            <a:off x="6300192" y="2493679"/>
            <a:ext cx="0" cy="318428"/>
          </a:xfrm>
          <a:prstGeom prst="straightConnector1">
            <a:avLst/>
          </a:prstGeom>
          <a:ln w="28575"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0DE6D60B-2B6A-6E46-B1E7-89B0DF5326CC}"/>
              </a:ext>
            </a:extLst>
          </p:cNvPr>
          <p:cNvSpPr/>
          <p:nvPr/>
        </p:nvSpPr>
        <p:spPr>
          <a:xfrm>
            <a:off x="6759116" y="2442775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保证写</a:t>
            </a:r>
            <a:r>
              <a:rPr lang="en-US" altLang="zh-CN">
                <a:solidFill>
                  <a:schemeClr val="accent1"/>
                </a:solidFill>
              </a:rPr>
              <a:t>-</a:t>
            </a:r>
            <a:r>
              <a:rPr lang="zh-CN" altLang="en-US">
                <a:solidFill>
                  <a:schemeClr val="accent1"/>
                </a:solidFill>
              </a:rPr>
              <a:t>读顺序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F292D4F-CD4F-A04B-94E6-C9571E5CACD5}"/>
              </a:ext>
            </a:extLst>
          </p:cNvPr>
          <p:cNvSpPr/>
          <p:nvPr/>
        </p:nvSpPr>
        <p:spPr>
          <a:xfrm>
            <a:off x="236547" y="2430526"/>
            <a:ext cx="16466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保证写</a:t>
            </a:r>
            <a:r>
              <a:rPr lang="en-US" altLang="zh-CN">
                <a:solidFill>
                  <a:schemeClr val="accent1"/>
                </a:solidFill>
              </a:rPr>
              <a:t>-</a:t>
            </a:r>
            <a:r>
              <a:rPr lang="zh-CN" altLang="en-US">
                <a:solidFill>
                  <a:schemeClr val="accent1"/>
                </a:solidFill>
              </a:rPr>
              <a:t>读顺序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3705B39-3EA1-E049-A198-B0AB6F24FDEE}"/>
              </a:ext>
            </a:extLst>
          </p:cNvPr>
          <p:cNvSpPr/>
          <p:nvPr/>
        </p:nvSpPr>
        <p:spPr>
          <a:xfrm>
            <a:off x="250032" y="4173279"/>
            <a:ext cx="17107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保证写</a:t>
            </a:r>
            <a:r>
              <a:rPr lang="en-US" altLang="zh-CN">
                <a:solidFill>
                  <a:schemeClr val="accent1"/>
                </a:solidFill>
              </a:rPr>
              <a:t>-</a:t>
            </a:r>
            <a:r>
              <a:rPr lang="zh-CN" altLang="en-US">
                <a:solidFill>
                  <a:schemeClr val="accent1"/>
                </a:solidFill>
              </a:rPr>
              <a:t>写顺序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FD30E7-3601-A641-B10D-A3B3B0AFA727}"/>
              </a:ext>
            </a:extLst>
          </p:cNvPr>
          <p:cNvSpPr/>
          <p:nvPr/>
        </p:nvSpPr>
        <p:spPr>
          <a:xfrm>
            <a:off x="7274335" y="4199374"/>
            <a:ext cx="16722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>
                <a:solidFill>
                  <a:schemeClr val="accent1"/>
                </a:solidFill>
              </a:rPr>
              <a:t>保证读</a:t>
            </a:r>
            <a:r>
              <a:rPr lang="en-US" altLang="zh-CN">
                <a:solidFill>
                  <a:schemeClr val="accent1"/>
                </a:solidFill>
              </a:rPr>
              <a:t>-</a:t>
            </a:r>
            <a:r>
              <a:rPr lang="zh-CN" altLang="en-US">
                <a:solidFill>
                  <a:schemeClr val="accent1"/>
                </a:solidFill>
              </a:rPr>
              <a:t>读顺序</a:t>
            </a:r>
            <a:endParaRPr lang="en-CN">
              <a:solidFill>
                <a:schemeClr val="accent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361BA-CE9B-FF45-A594-A05653C64558}"/>
              </a:ext>
            </a:extLst>
          </p:cNvPr>
          <p:cNvSpPr/>
          <p:nvPr/>
        </p:nvSpPr>
        <p:spPr>
          <a:xfrm>
            <a:off x="4523" y="125950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LockOne</a:t>
            </a:r>
            <a:r>
              <a:rPr lang="zh-CN" altLang="en-US"/>
              <a:t>算法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5BD85E-9B47-5A45-AF4F-480713F9358B}"/>
              </a:ext>
            </a:extLst>
          </p:cNvPr>
          <p:cNvSpPr/>
          <p:nvPr/>
        </p:nvSpPr>
        <p:spPr>
          <a:xfrm>
            <a:off x="107504" y="1705372"/>
            <a:ext cx="8838728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153E8D-9800-9348-BFA9-EF2977E61581}"/>
              </a:ext>
            </a:extLst>
          </p:cNvPr>
          <p:cNvSpPr/>
          <p:nvPr/>
        </p:nvSpPr>
        <p:spPr>
          <a:xfrm>
            <a:off x="143941" y="3626367"/>
            <a:ext cx="8838728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40E264-364C-7941-B760-F331410F0BBB}"/>
              </a:ext>
            </a:extLst>
          </p:cNvPr>
          <p:cNvSpPr/>
          <p:nvPr/>
        </p:nvSpPr>
        <p:spPr>
          <a:xfrm>
            <a:off x="4523" y="32365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传输数据例子</a:t>
            </a:r>
            <a:endParaRPr lang="en-CN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BCB84F9-8A84-D742-B9F5-B67EE087B0C5}"/>
              </a:ext>
            </a:extLst>
          </p:cNvPr>
          <p:cNvSpPr/>
          <p:nvPr/>
        </p:nvSpPr>
        <p:spPr>
          <a:xfrm>
            <a:off x="2968252" y="3222072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任何访存操作</a:t>
            </a:r>
            <a:r>
              <a:rPr lang="zh-CN" altLang="en-US" b="1"/>
              <a:t>不会逾越</a:t>
            </a:r>
            <a:r>
              <a:rPr lang="zh-CN" altLang="en-US"/>
              <a:t>内存屏障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9143321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如何在弱的内存模型中保证顺序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7BB1B-35E9-9D4F-8A3C-94F7CA1025A4}"/>
              </a:ext>
            </a:extLst>
          </p:cNvPr>
          <p:cNvSpPr/>
          <p:nvPr/>
        </p:nvSpPr>
        <p:spPr>
          <a:xfrm>
            <a:off x="1955154" y="1174315"/>
            <a:ext cx="544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通常的做法：添加</a:t>
            </a:r>
            <a:r>
              <a:rPr lang="zh-CN" altLang="en-US" b="1"/>
              <a:t>硬件内存屏障</a:t>
            </a:r>
            <a:r>
              <a:rPr lang="zh-CN" altLang="en-US"/>
              <a:t> （</a:t>
            </a:r>
            <a:r>
              <a:rPr lang="en-US" altLang="zh-CN"/>
              <a:t>barrier/fence</a:t>
            </a:r>
            <a:r>
              <a:rPr lang="zh-CN" altLang="en-US"/>
              <a:t>）</a:t>
            </a:r>
            <a:endParaRPr lang="en-C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C4077E-1FCE-8746-A947-6A84366EE948}"/>
              </a:ext>
            </a:extLst>
          </p:cNvPr>
          <p:cNvSpPr/>
          <p:nvPr/>
        </p:nvSpPr>
        <p:spPr>
          <a:xfrm>
            <a:off x="757268" y="3650866"/>
            <a:ext cx="316835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data = 666;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barrier();</a:t>
            </a:r>
          </a:p>
          <a:p>
            <a:r>
              <a:rPr lang="en-CN">
                <a:latin typeface="Courier" pitchFamily="2" charset="0"/>
              </a:rPr>
              <a:t>	flag = READY;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5CB44B-8CB0-C345-8603-1F62A43271C4}"/>
              </a:ext>
            </a:extLst>
          </p:cNvPr>
          <p:cNvSpPr/>
          <p:nvPr/>
        </p:nvSpPr>
        <p:spPr>
          <a:xfrm>
            <a:off x="4717708" y="3649588"/>
            <a:ext cx="437423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	while (flag != READY) 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barrier();</a:t>
            </a:r>
          </a:p>
          <a:p>
            <a:r>
              <a:rPr lang="en-CN">
                <a:latin typeface="Courier" pitchFamily="2" charset="0"/>
              </a:rPr>
              <a:t>	handle(data); 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85</a:t>
            </a:fld>
            <a:endParaRPr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77E00-8EF7-2D44-8573-399E7052DEAF}"/>
              </a:ext>
            </a:extLst>
          </p:cNvPr>
          <p:cNvSpPr/>
          <p:nvPr/>
        </p:nvSpPr>
        <p:spPr>
          <a:xfrm>
            <a:off x="611560" y="1892327"/>
            <a:ext cx="357151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	flag[0] = 1;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barrier();</a:t>
            </a:r>
          </a:p>
          <a:p>
            <a:r>
              <a:rPr lang="en-CN">
                <a:latin typeface="Courier" pitchFamily="2" charset="0"/>
              </a:rPr>
              <a:t>	while(flag[1]);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8BD28B-858B-7744-938C-76D84DC1A7C8}"/>
              </a:ext>
            </a:extLst>
          </p:cNvPr>
          <p:cNvSpPr/>
          <p:nvPr/>
        </p:nvSpPr>
        <p:spPr>
          <a:xfrm>
            <a:off x="4572000" y="1891049"/>
            <a:ext cx="437423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	flag[1] = 1;</a:t>
            </a:r>
          </a:p>
          <a:p>
            <a:r>
              <a:rPr lang="en-CN">
                <a:latin typeface="Courier" pitchFamily="2" charset="0"/>
              </a:rPr>
              <a:t>	</a:t>
            </a:r>
            <a:r>
              <a:rPr lang="en-CN">
                <a:solidFill>
                  <a:schemeClr val="accent1"/>
                </a:solidFill>
                <a:latin typeface="Courier" pitchFamily="2" charset="0"/>
              </a:rPr>
              <a:t>barrier();</a:t>
            </a:r>
          </a:p>
          <a:p>
            <a:r>
              <a:rPr lang="en-CN">
                <a:latin typeface="Courier" pitchFamily="2" charset="0"/>
              </a:rPr>
              <a:t>	while(flag[0]);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5D361BA-CE9B-FF45-A594-A05653C64558}"/>
              </a:ext>
            </a:extLst>
          </p:cNvPr>
          <p:cNvSpPr/>
          <p:nvPr/>
        </p:nvSpPr>
        <p:spPr>
          <a:xfrm>
            <a:off x="4523" y="1259500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/>
              <a:t>LockOne</a:t>
            </a:r>
            <a:r>
              <a:rPr lang="zh-CN" altLang="en-US"/>
              <a:t>算法</a:t>
            </a:r>
            <a:endParaRPr lang="en-CN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5BD85E-9B47-5A45-AF4F-480713F9358B}"/>
              </a:ext>
            </a:extLst>
          </p:cNvPr>
          <p:cNvSpPr/>
          <p:nvPr/>
        </p:nvSpPr>
        <p:spPr>
          <a:xfrm>
            <a:off x="107504" y="1705372"/>
            <a:ext cx="8838728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8153E8D-9800-9348-BFA9-EF2977E61581}"/>
              </a:ext>
            </a:extLst>
          </p:cNvPr>
          <p:cNvSpPr/>
          <p:nvPr/>
        </p:nvSpPr>
        <p:spPr>
          <a:xfrm>
            <a:off x="143941" y="3626367"/>
            <a:ext cx="8838728" cy="14401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C40E264-364C-7941-B760-F331410F0BBB}"/>
              </a:ext>
            </a:extLst>
          </p:cNvPr>
          <p:cNvSpPr/>
          <p:nvPr/>
        </p:nvSpPr>
        <p:spPr>
          <a:xfrm>
            <a:off x="4523" y="3236564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传输数据例子</a:t>
            </a:r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8B86BD5-04EF-7144-9B52-979F19F275FE}"/>
              </a:ext>
            </a:extLst>
          </p:cNvPr>
          <p:cNvSpPr/>
          <p:nvPr/>
        </p:nvSpPr>
        <p:spPr>
          <a:xfrm>
            <a:off x="2968252" y="3222072"/>
            <a:ext cx="3416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任何访存操作</a:t>
            </a:r>
            <a:r>
              <a:rPr lang="zh-CN" altLang="en-US" b="1"/>
              <a:t>不会逾越</a:t>
            </a:r>
            <a:r>
              <a:rPr lang="zh-CN" altLang="en-US"/>
              <a:t>内存屏障</a:t>
            </a:r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7505261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如何在弱的内存模型中保证顺序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7BB1B-35E9-9D4F-8A3C-94F7CA1025A4}"/>
              </a:ext>
            </a:extLst>
          </p:cNvPr>
          <p:cNvSpPr/>
          <p:nvPr/>
        </p:nvSpPr>
        <p:spPr>
          <a:xfrm>
            <a:off x="1955154" y="1174315"/>
            <a:ext cx="54425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通常的做法：添加</a:t>
            </a:r>
            <a:r>
              <a:rPr lang="zh-CN" altLang="en-US" b="1"/>
              <a:t>硬件内存屏障</a:t>
            </a:r>
            <a:r>
              <a:rPr lang="zh-CN" altLang="en-US"/>
              <a:t> （</a:t>
            </a:r>
            <a:r>
              <a:rPr lang="en-US" altLang="zh-CN"/>
              <a:t>barrier/fence</a:t>
            </a:r>
            <a:r>
              <a:rPr lang="zh-CN" altLang="en-US"/>
              <a:t>）</a:t>
            </a:r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86</a:t>
            </a:fld>
            <a:endParaRPr lang="zh-CN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D77E00-8EF7-2D44-8573-399E7052DEAF}"/>
              </a:ext>
            </a:extLst>
          </p:cNvPr>
          <p:cNvSpPr/>
          <p:nvPr/>
        </p:nvSpPr>
        <p:spPr>
          <a:xfrm>
            <a:off x="656691" y="2396384"/>
            <a:ext cx="522970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proc_A(void) {</a:t>
            </a:r>
          </a:p>
          <a:p>
            <a:r>
              <a:rPr lang="en-CN">
                <a:latin typeface="Courier" pitchFamily="2" charset="0"/>
              </a:rPr>
              <a:t>  while(atomic_CAS(&amp;lock,</a:t>
            </a:r>
          </a:p>
          <a:p>
            <a:r>
              <a:rPr lang="en-CN">
                <a:latin typeface="Courier" pitchFamily="2" charset="0"/>
              </a:rPr>
              <a:t>	0, 1));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solidFill>
                  <a:srgbClr val="FF0000"/>
                </a:solidFill>
                <a:latin typeface="Courier" pitchFamily="2" charset="0"/>
              </a:rPr>
              <a:t>  </a:t>
            </a:r>
            <a:r>
              <a:rPr lang="en-CN">
                <a:solidFill>
                  <a:schemeClr val="accent1">
                    <a:lumMod val="20000"/>
                    <a:lumOff val="80000"/>
                  </a:schemeClr>
                </a:solidFill>
                <a:latin typeface="Courier" pitchFamily="2" charset="0"/>
              </a:rPr>
              <a:t>global_cnt ++;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lock = 0;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  <a:p>
            <a:r>
              <a:rPr lang="en-CN">
                <a:latin typeface="Courier" pitchFamily="2" charset="0"/>
              </a:rPr>
              <a:t>	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F8BD28B-858B-7744-938C-76D84DC1A7C8}"/>
              </a:ext>
            </a:extLst>
          </p:cNvPr>
          <p:cNvSpPr/>
          <p:nvPr/>
        </p:nvSpPr>
        <p:spPr>
          <a:xfrm>
            <a:off x="4617132" y="2395106"/>
            <a:ext cx="43742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N">
                <a:latin typeface="Courier" pitchFamily="2" charset="0"/>
              </a:rPr>
              <a:t>void proc_B(void) {</a:t>
            </a:r>
          </a:p>
          <a:p>
            <a:r>
              <a:rPr lang="en-CN">
                <a:latin typeface="Courier" pitchFamily="2" charset="0"/>
              </a:rPr>
              <a:t> while(atomic_CAS(&amp;lock,</a:t>
            </a:r>
          </a:p>
          <a:p>
            <a:r>
              <a:rPr lang="en-CN">
                <a:latin typeface="Courier" pitchFamily="2" charset="0"/>
              </a:rPr>
              <a:t>	0, 1));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local_cnt = </a:t>
            </a:r>
            <a:r>
              <a:rPr lang="en-CN">
                <a:solidFill>
                  <a:srgbClr val="C00000"/>
                </a:solidFill>
                <a:latin typeface="Courier" pitchFamily="2" charset="0"/>
              </a:rPr>
              <a:t>global_cnt;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  lock = 0;</a:t>
            </a:r>
          </a:p>
          <a:p>
            <a:r>
              <a:rPr lang="en-CN">
                <a:latin typeface="Courier" pitchFamily="2" charset="0"/>
              </a:rPr>
              <a:t>}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B5BD85E-9B47-5A45-AF4F-480713F9358B}"/>
              </a:ext>
            </a:extLst>
          </p:cNvPr>
          <p:cNvSpPr/>
          <p:nvPr/>
        </p:nvSpPr>
        <p:spPr>
          <a:xfrm>
            <a:off x="152636" y="2209428"/>
            <a:ext cx="8838728" cy="28353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5E9A119-C9E8-1343-868E-5DF4D921574A}"/>
              </a:ext>
            </a:extLst>
          </p:cNvPr>
          <p:cNvSpPr/>
          <p:nvPr/>
        </p:nvSpPr>
        <p:spPr>
          <a:xfrm>
            <a:off x="2216227" y="1708073"/>
            <a:ext cx="47115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/>
              <a:t>更广泛的场景</a:t>
            </a:r>
            <a:r>
              <a:rPr lang="zh-CN" altLang="en-US"/>
              <a:t>：</a:t>
            </a:r>
            <a:r>
              <a:rPr lang="en-US" b="1"/>
              <a:t>同步原语</a:t>
            </a:r>
            <a:r>
              <a:rPr lang="en-US"/>
              <a:t>中也存在乱序问题</a:t>
            </a:r>
            <a:endParaRPr lang="en-CN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38D18290-FC08-A34E-BA1F-308E4A45534B}"/>
              </a:ext>
            </a:extLst>
          </p:cNvPr>
          <p:cNvSpPr/>
          <p:nvPr/>
        </p:nvSpPr>
        <p:spPr>
          <a:xfrm rot="10800000">
            <a:off x="656691" y="3865612"/>
            <a:ext cx="537766" cy="682167"/>
          </a:xfrm>
          <a:prstGeom prst="arc">
            <a:avLst>
              <a:gd name="adj1" fmla="val 16097635"/>
              <a:gd name="adj2" fmla="val 4940906"/>
            </a:avLst>
          </a:prstGeom>
          <a:ln w="254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8B4B30-7E8A-EC45-B040-E04B3120AC8D}"/>
              </a:ext>
            </a:extLst>
          </p:cNvPr>
          <p:cNvSpPr/>
          <p:nvPr/>
        </p:nvSpPr>
        <p:spPr>
          <a:xfrm>
            <a:off x="925574" y="4459226"/>
            <a:ext cx="21146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CN">
                <a:solidFill>
                  <a:srgbClr val="FF0000"/>
                </a:solidFill>
                <a:latin typeface="Courier" pitchFamily="2" charset="0"/>
              </a:rPr>
              <a:t>global_cnt ++;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B69C2A-DC4C-0C41-B21B-EDE8B35C3BF6}"/>
              </a:ext>
            </a:extLst>
          </p:cNvPr>
          <p:cNvSpPr/>
          <p:nvPr/>
        </p:nvSpPr>
        <p:spPr>
          <a:xfrm>
            <a:off x="3062476" y="3365879"/>
            <a:ext cx="16139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/>
              <a:t>乱序到放锁之后才全局可见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46576B-CB75-A549-B27D-65C46FA9B677}"/>
              </a:ext>
            </a:extLst>
          </p:cNvPr>
          <p:cNvSpPr/>
          <p:nvPr/>
        </p:nvSpPr>
        <p:spPr>
          <a:xfrm>
            <a:off x="6516216" y="3881709"/>
            <a:ext cx="1569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读到错误的值</a:t>
            </a:r>
            <a:endParaRPr lang="en-CN">
              <a:solidFill>
                <a:srgbClr val="C00000"/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F6B6901-D012-9940-892E-CA281437A8C4}"/>
              </a:ext>
            </a:extLst>
          </p:cNvPr>
          <p:cNvSpPr/>
          <p:nvPr/>
        </p:nvSpPr>
        <p:spPr>
          <a:xfrm>
            <a:off x="2861099" y="4050871"/>
            <a:ext cx="20166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solidFill>
                  <a:srgbClr val="C00000"/>
                </a:solidFill>
              </a:rPr>
              <a:t>需要添加barrier</a:t>
            </a:r>
          </a:p>
        </p:txBody>
      </p:sp>
    </p:spTree>
    <p:extLst>
      <p:ext uri="{BB962C8B-B14F-4D97-AF65-F5344CB8AC3E}">
        <p14:creationId xmlns:p14="http://schemas.microsoft.com/office/powerpoint/2010/main" val="18617084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DDF8BB5-C4C4-4F42-A48F-48BF591FC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zh-CN" altLang="en-CN"/>
              <a:t>系统软件</a:t>
            </a:r>
            <a:r>
              <a:rPr lang="zh-CN" altLang="en-US"/>
              <a:t>开发者视角下的内存模型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F27692-C118-4340-AC90-D1BA04275462}"/>
              </a:ext>
            </a:extLst>
          </p:cNvPr>
          <p:cNvSpPr/>
          <p:nvPr/>
        </p:nvSpPr>
        <p:spPr>
          <a:xfrm>
            <a:off x="611560" y="1129308"/>
            <a:ext cx="7560840" cy="2222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内存模型</a:t>
            </a:r>
            <a:r>
              <a:rPr lang="zh-CN" altLang="en-US" b="1"/>
              <a:t>不是透明</a:t>
            </a:r>
            <a:r>
              <a:rPr lang="zh-CN" altLang="en-US"/>
              <a:t>的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软件需要</a:t>
            </a:r>
            <a:r>
              <a:rPr lang="zh-CN" altLang="en-US" b="1"/>
              <a:t>手动</a:t>
            </a:r>
            <a:r>
              <a:rPr lang="zh-CN" altLang="en-US"/>
              <a:t>根据运行架构</a:t>
            </a:r>
            <a:r>
              <a:rPr lang="zh-CN" altLang="en-US" b="1"/>
              <a:t>保证访存操作顺序</a:t>
            </a:r>
            <a:endParaRPr lang="en-US" altLang="zh-CN" b="1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/>
              <a:t>同步原语</a:t>
            </a:r>
            <a:r>
              <a:rPr lang="zh-CN" altLang="en-US"/>
              <a:t>（互斥锁、信号量等）拥有</a:t>
            </a:r>
            <a:r>
              <a:rPr lang="zh-CN" altLang="en-US" b="1"/>
              <a:t>保证访存顺序</a:t>
            </a:r>
            <a:r>
              <a:rPr lang="zh-CN" altLang="en-US"/>
              <a:t>的语义</a:t>
            </a:r>
            <a:endParaRPr lang="en-US" altLang="zh-CN" b="1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zh-CN" b="1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8F6285-68A7-9F47-A6BC-1DC92BBBE4CA}"/>
              </a:ext>
            </a:extLst>
          </p:cNvPr>
          <p:cNvSpPr/>
          <p:nvPr/>
        </p:nvSpPr>
        <p:spPr>
          <a:xfrm>
            <a:off x="755576" y="3351711"/>
            <a:ext cx="2666114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>
                <a:latin typeface="Courier" pitchFamily="2" charset="0"/>
              </a:rPr>
              <a:t>Acquire_lock(xxx);</a:t>
            </a:r>
          </a:p>
          <a:p>
            <a:endParaRPr lang="en-US" altLang="zh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LD/ST</a:t>
            </a:r>
          </a:p>
          <a:p>
            <a:endParaRPr lang="en-CN">
              <a:latin typeface="Courier" pitchFamily="2" charset="0"/>
            </a:endParaRPr>
          </a:p>
          <a:p>
            <a:r>
              <a:rPr lang="en-CN">
                <a:latin typeface="Courier" pitchFamily="2" charset="0"/>
              </a:rPr>
              <a:t>Release_lock(xxx);</a:t>
            </a:r>
            <a:endParaRPr lang="en-US">
              <a:latin typeface="Courier" pitchFamily="2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F3A2674-D8A2-6F47-AAA9-A0862E055397}"/>
              </a:ext>
            </a:extLst>
          </p:cNvPr>
          <p:cNvCxnSpPr/>
          <p:nvPr/>
        </p:nvCxnSpPr>
        <p:spPr>
          <a:xfrm>
            <a:off x="3383868" y="3505572"/>
            <a:ext cx="23762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F10BCEC-74FC-D249-A413-A3113B0B3847}"/>
              </a:ext>
            </a:extLst>
          </p:cNvPr>
          <p:cNvCxnSpPr/>
          <p:nvPr/>
        </p:nvCxnSpPr>
        <p:spPr>
          <a:xfrm>
            <a:off x="3383868" y="4657700"/>
            <a:ext cx="23762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F23A58-7206-0A44-89ED-47A19147AB92}"/>
              </a:ext>
            </a:extLst>
          </p:cNvPr>
          <p:cNvCxnSpPr/>
          <p:nvPr/>
        </p:nvCxnSpPr>
        <p:spPr>
          <a:xfrm>
            <a:off x="1835696" y="4090375"/>
            <a:ext cx="2376264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157C1D6-9442-8140-B230-5495DA004494}"/>
              </a:ext>
            </a:extLst>
          </p:cNvPr>
          <p:cNvCxnSpPr>
            <a:cxnSpLocks/>
          </p:cNvCxnSpPr>
          <p:nvPr/>
        </p:nvCxnSpPr>
        <p:spPr>
          <a:xfrm>
            <a:off x="4203103" y="3627720"/>
            <a:ext cx="0" cy="462655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68CCE07-C574-AC46-A793-F888ECD90018}"/>
              </a:ext>
            </a:extLst>
          </p:cNvPr>
          <p:cNvCxnSpPr>
            <a:cxnSpLocks/>
          </p:cNvCxnSpPr>
          <p:nvPr/>
        </p:nvCxnSpPr>
        <p:spPr>
          <a:xfrm flipV="1">
            <a:off x="4483643" y="4242775"/>
            <a:ext cx="0" cy="342917"/>
          </a:xfrm>
          <a:prstGeom prst="line">
            <a:avLst/>
          </a:prstGeom>
          <a:ln w="2540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76A053C-F3F4-DE4F-AD9D-6F6AAB77457D}"/>
              </a:ext>
            </a:extLst>
          </p:cNvPr>
          <p:cNvCxnSpPr>
            <a:cxnSpLocks/>
          </p:cNvCxnSpPr>
          <p:nvPr/>
        </p:nvCxnSpPr>
        <p:spPr>
          <a:xfrm>
            <a:off x="1988096" y="4242775"/>
            <a:ext cx="2511896" cy="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9720E76F-40A4-9C49-AAE5-7306031246DA}"/>
              </a:ext>
            </a:extLst>
          </p:cNvPr>
          <p:cNvSpPr/>
          <p:nvPr/>
        </p:nvSpPr>
        <p:spPr>
          <a:xfrm>
            <a:off x="5708715" y="3329848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 dirty="0">
                <a:solidFill>
                  <a:schemeClr val="accent1"/>
                </a:solidFill>
              </a:rPr>
              <a:t>界限</a:t>
            </a:r>
            <a:endParaRPr lang="en-CN" sz="1400" b="1">
              <a:solidFill>
                <a:schemeClr val="accent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BA6532-D670-6947-89DB-FC1F855BCC6F}"/>
              </a:ext>
            </a:extLst>
          </p:cNvPr>
          <p:cNvSpPr/>
          <p:nvPr/>
        </p:nvSpPr>
        <p:spPr>
          <a:xfrm>
            <a:off x="5722312" y="4487316"/>
            <a:ext cx="5437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b="1">
                <a:solidFill>
                  <a:schemeClr val="accent1"/>
                </a:solidFill>
              </a:rPr>
              <a:t>界限</a:t>
            </a:r>
            <a:endParaRPr lang="en-CN" sz="1400" b="1">
              <a:solidFill>
                <a:schemeClr val="accent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BA191E-7D44-A047-B639-15CEA69ED926}"/>
              </a:ext>
            </a:extLst>
          </p:cNvPr>
          <p:cNvSpPr/>
          <p:nvPr/>
        </p:nvSpPr>
        <p:spPr>
          <a:xfrm>
            <a:off x="4306348" y="2852983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临界区内的访存操作不会在锁获取之前</a:t>
            </a:r>
            <a:r>
              <a:rPr lang="zh-CN" altLang="en-US" b="1"/>
              <a:t>可见</a:t>
            </a:r>
            <a:endParaRPr lang="en-CN" b="1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882020D-B316-0B49-AAE9-6C1E181679E0}"/>
              </a:ext>
            </a:extLst>
          </p:cNvPr>
          <p:cNvSpPr/>
          <p:nvPr/>
        </p:nvSpPr>
        <p:spPr>
          <a:xfrm>
            <a:off x="4231595" y="4940958"/>
            <a:ext cx="45704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临界区内的访存操作不会在释放锁之后</a:t>
            </a:r>
            <a:r>
              <a:rPr lang="zh-CN" altLang="en-US" b="1"/>
              <a:t>可见</a:t>
            </a:r>
            <a:endParaRPr lang="en-CN" b="1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0FC19A-ECDD-F446-B85E-51EE6D6590E8}"/>
              </a:ext>
            </a:extLst>
          </p:cNvPr>
          <p:cNvSpPr/>
          <p:nvPr/>
        </p:nvSpPr>
        <p:spPr>
          <a:xfrm>
            <a:off x="4644008" y="3853934"/>
            <a:ext cx="43396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/>
              <a:t>所有的访存操作都应该留在这个界限之内</a:t>
            </a:r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F38C0B-B65B-BB4F-9933-B8F90D3A95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ADCCC-1256-AD40-9BE0-6BAC396AB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33554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DDF8BB5-C4C4-4F42-A48F-48BF591FC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866"/>
            <a:ext cx="8229600" cy="900442"/>
          </a:xfrm>
        </p:spPr>
        <p:txBody>
          <a:bodyPr>
            <a:normAutofit/>
          </a:bodyPr>
          <a:lstStyle/>
          <a:p>
            <a:r>
              <a:rPr lang="zh-CN" altLang="en-CN"/>
              <a:t>系统软件</a:t>
            </a:r>
            <a:r>
              <a:rPr lang="zh-CN" altLang="en-US"/>
              <a:t>开发者视角下的内存模型</a:t>
            </a:r>
            <a:endParaRPr lang="en-C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F27692-C118-4340-AC90-D1BA04275462}"/>
              </a:ext>
            </a:extLst>
          </p:cNvPr>
          <p:cNvSpPr/>
          <p:nvPr/>
        </p:nvSpPr>
        <p:spPr>
          <a:xfrm>
            <a:off x="611560" y="1129308"/>
            <a:ext cx="7920880" cy="333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内存模型</a:t>
            </a:r>
            <a:r>
              <a:rPr lang="zh-CN" altLang="en-US" b="1" dirty="0"/>
              <a:t>不是透明</a:t>
            </a:r>
            <a:r>
              <a:rPr lang="zh-CN" altLang="en-US" dirty="0"/>
              <a:t>的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软件需要</a:t>
            </a:r>
            <a:r>
              <a:rPr lang="zh-CN" altLang="en-US" b="1" dirty="0"/>
              <a:t>手动</a:t>
            </a:r>
            <a:r>
              <a:rPr lang="zh-CN" altLang="en-US" dirty="0"/>
              <a:t>根据运行架构</a:t>
            </a:r>
            <a:r>
              <a:rPr lang="zh-CN" altLang="en-US" b="1" dirty="0"/>
              <a:t>保证访存操作顺序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b="1" dirty="0"/>
              <a:t>同步原语</a:t>
            </a:r>
            <a:r>
              <a:rPr lang="zh-CN" altLang="en-US" dirty="0"/>
              <a:t>（互斥锁、信号量等）拥有</a:t>
            </a:r>
            <a:r>
              <a:rPr lang="zh-CN" altLang="en-US" b="1" dirty="0"/>
              <a:t>保证访存顺序</a:t>
            </a:r>
            <a:r>
              <a:rPr lang="zh-CN" altLang="en-US" dirty="0"/>
              <a:t>的语义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系统需要使用</a:t>
            </a:r>
            <a:r>
              <a:rPr lang="zh-CN" altLang="en-US" b="1" dirty="0"/>
              <a:t>保序手段</a:t>
            </a: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/>
              <a:t>barrier)</a:t>
            </a:r>
            <a:r>
              <a:rPr lang="zh-CN" altLang="en-US" dirty="0"/>
              <a:t>提供</a:t>
            </a:r>
            <a:r>
              <a:rPr lang="zh-CN" altLang="en-US" b="1" dirty="0"/>
              <a:t>正确</a:t>
            </a:r>
            <a:r>
              <a:rPr lang="zh-CN" altLang="en-US" dirty="0"/>
              <a:t>的同步原语，保证软件正确性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硬件</a:t>
            </a:r>
            <a:r>
              <a:rPr lang="zh-CN" altLang="en-US" dirty="0"/>
              <a:t>内存屏障</a:t>
            </a:r>
            <a:r>
              <a:rPr lang="en-US" altLang="zh-CN" dirty="0"/>
              <a:t>(</a:t>
            </a:r>
            <a:r>
              <a:rPr lang="zh-CN" altLang="en-US" dirty="0"/>
              <a:t>如</a:t>
            </a:r>
            <a:r>
              <a:rPr lang="en-US" altLang="zh-CN" dirty="0"/>
              <a:t>barrier)</a:t>
            </a:r>
            <a:r>
              <a:rPr lang="zh-CN" altLang="en-US" b="1" dirty="0"/>
              <a:t>开销很大</a:t>
            </a:r>
            <a:r>
              <a:rPr lang="zh-CN" altLang="en-US" dirty="0"/>
              <a:t>，需要</a:t>
            </a:r>
            <a:r>
              <a:rPr lang="zh-CN" altLang="en-US" b="1" dirty="0"/>
              <a:t>合适的地方</a:t>
            </a:r>
            <a:r>
              <a:rPr lang="zh-CN" altLang="en-US" dirty="0"/>
              <a:t>用</a:t>
            </a:r>
            <a:r>
              <a:rPr lang="zh-CN" altLang="en-US" b="1" dirty="0"/>
              <a:t>合适的方法</a:t>
            </a:r>
            <a:r>
              <a:rPr lang="zh-CN" altLang="en-US" dirty="0"/>
              <a:t>保证顺序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正常情况下，软件需要使用</a:t>
            </a:r>
            <a:r>
              <a:rPr lang="zh-CN" altLang="en-US" b="1" dirty="0"/>
              <a:t>同步原语</a:t>
            </a:r>
            <a:r>
              <a:rPr lang="zh-CN" altLang="en-US" dirty="0"/>
              <a:t>来同步</a:t>
            </a:r>
            <a:endParaRPr lang="en-US" altLang="zh-CN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BD9177C-718F-1A46-A42E-27181994D4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CC1243-607A-E44A-8DA3-CBC7D2910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660204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B3039-A9DB-CA4E-9C65-E22858C87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Sidebar:</a:t>
            </a:r>
            <a:r>
              <a:rPr lang="zh-CN" altLang="en-US" dirty="0"/>
              <a:t> </a:t>
            </a:r>
            <a:r>
              <a:rPr lang="en-CN"/>
              <a:t>ARM</a:t>
            </a:r>
            <a:r>
              <a:rPr lang="zh-CN" altLang="en-CN" dirty="0"/>
              <a:t>中</a:t>
            </a:r>
            <a:r>
              <a:rPr lang="zh-CN" altLang="en-US" dirty="0"/>
              <a:t>的保序选择</a:t>
            </a:r>
            <a:endParaRPr lang="en-C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2D7BB1B-35E9-9D4F-8A3C-94F7CA1025A4}"/>
              </a:ext>
            </a:extLst>
          </p:cNvPr>
          <p:cNvSpPr/>
          <p:nvPr/>
        </p:nvSpPr>
        <p:spPr>
          <a:xfrm>
            <a:off x="123528" y="1417340"/>
            <a:ext cx="5795176" cy="38843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较</a:t>
            </a:r>
            <a:r>
              <a:rPr lang="en-US" altLang="zh-CN" dirty="0"/>
              <a:t>TSO</a:t>
            </a:r>
            <a:r>
              <a:rPr lang="zh-CN" altLang="en-US" dirty="0"/>
              <a:t>模型更弱，更容易出现违反程序顺序的执行流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通常的做法：添加</a:t>
            </a:r>
            <a:r>
              <a:rPr lang="zh-CN" altLang="en-US" b="1" dirty="0"/>
              <a:t>硬件内存屏障</a:t>
            </a:r>
            <a:r>
              <a:rPr lang="zh-CN" altLang="en-US" dirty="0"/>
              <a:t> （</a:t>
            </a:r>
            <a:r>
              <a:rPr lang="en-US" altLang="zh-CN" dirty="0"/>
              <a:t>barrier/fence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除此</a:t>
            </a:r>
            <a:r>
              <a:rPr lang="zh-CN" altLang="en-US" dirty="0"/>
              <a:t>之外：构造</a:t>
            </a:r>
            <a:r>
              <a:rPr lang="zh-CN" altLang="en-US" b="1" dirty="0"/>
              <a:t>依赖关系</a:t>
            </a:r>
            <a:r>
              <a:rPr lang="zh-CN" altLang="en-US" dirty="0"/>
              <a:t>（数据依赖</a:t>
            </a:r>
            <a:r>
              <a:rPr lang="en-US" altLang="zh-CN" dirty="0"/>
              <a:t>/</a:t>
            </a:r>
            <a:r>
              <a:rPr lang="zh-CN" altLang="en-US" dirty="0"/>
              <a:t>控制依赖）</a:t>
            </a:r>
            <a:endParaRPr lang="en-US" altLang="zh-CN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不同</a:t>
            </a:r>
            <a:r>
              <a:rPr lang="zh-CN" altLang="en-US" dirty="0"/>
              <a:t>的方案适用不同的场景</a:t>
            </a:r>
            <a:endParaRPr lang="en-CN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CN" dirty="0"/>
              <a:t>硬件</a:t>
            </a:r>
            <a:r>
              <a:rPr lang="zh-CN" altLang="en-US" dirty="0"/>
              <a:t>内存屏障</a:t>
            </a:r>
            <a:r>
              <a:rPr lang="zh-CN" altLang="en-US" b="1" dirty="0"/>
              <a:t>开销很大</a:t>
            </a:r>
            <a:endParaRPr lang="en-US" altLang="zh-CN" b="1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/>
              <a:t>需要</a:t>
            </a:r>
            <a:r>
              <a:rPr lang="zh-CN" altLang="en-US" b="1" dirty="0"/>
              <a:t>合适的地方</a:t>
            </a:r>
            <a:r>
              <a:rPr lang="zh-CN" altLang="en-US" dirty="0"/>
              <a:t>用</a:t>
            </a:r>
            <a:r>
              <a:rPr lang="zh-CN" altLang="en-US" b="1" dirty="0"/>
              <a:t>合适的方法</a:t>
            </a:r>
            <a:r>
              <a:rPr lang="zh-CN" altLang="en-US" dirty="0"/>
              <a:t>保证顺序</a:t>
            </a:r>
            <a:br>
              <a:rPr lang="en-US" altLang="zh-CN" dirty="0"/>
            </a:br>
            <a:endParaRPr lang="en-CN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6D845F-3F6B-884D-944E-3AF280A9D3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 dirty="0"/>
              <a:t>上海交通大学并行与分布式系统研究所（</a:t>
            </a:r>
            <a:r>
              <a:rPr lang="en-US" altLang="zh-CN" dirty="0"/>
              <a:t>IPADS@SJTU</a:t>
            </a:r>
            <a:r>
              <a:rPr lang="zh-CN" altLang="en-US" dirty="0"/>
              <a:t>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C542F-9CBD-844E-B6D9-8E134A5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89</a:t>
            </a:fld>
            <a:endParaRPr lang="zh-CN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35DE43-254F-9D48-9E5B-0650B20139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9205" y="1552387"/>
            <a:ext cx="3034680" cy="336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421816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C9F2C9-4A7A-F24A-B6D4-4E74D9E0C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" altLang="zh-CN" dirty="0"/>
              <a:t>Apple M1</a:t>
            </a:r>
            <a:r>
              <a:rPr kumimoji="1" lang="zh-CN" altLang="en-US" dirty="0"/>
              <a:t>同时支持</a:t>
            </a:r>
            <a:r>
              <a:rPr kumimoji="1" lang="en" altLang="zh-CN" dirty="0"/>
              <a:t>TSO</a:t>
            </a:r>
            <a:r>
              <a:rPr kumimoji="1" lang="zh-CN" altLang="en-US" dirty="0"/>
              <a:t>和</a:t>
            </a:r>
            <a:r>
              <a:rPr kumimoji="1" lang="en" altLang="zh-CN" dirty="0"/>
              <a:t>Weak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8922A6-E225-3544-B0B5-1A8DE87DED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3C8D3E-B7AE-2444-ABFE-2B2CCD47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361C3-C043-4A6E-BDCE-8DA1E7D90A3B}" type="slidenum">
              <a:rPr lang="zh-CN" altLang="en-US" smtClean="0"/>
              <a:t>90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C260B50-90DC-9B4F-AF72-9DE19B87E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zh-CN" altLang="en-US"/>
              <a:t>上海交通大学并行与分布式系统研究所（</a:t>
            </a:r>
            <a:r>
              <a:rPr lang="en-US" altLang="zh-CN"/>
              <a:t>IPADS@SJTU</a:t>
            </a:r>
            <a:r>
              <a:rPr lang="zh-CN" altLang="en-US"/>
              <a:t>）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C7C52B9-681F-3849-9A2C-8C44378F6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833" y="1222931"/>
            <a:ext cx="7628334" cy="398252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CD0329F-1D8A-F645-A45D-67726CD04192}"/>
              </a:ext>
            </a:extLst>
          </p:cNvPr>
          <p:cNvSpPr/>
          <p:nvPr/>
        </p:nvSpPr>
        <p:spPr>
          <a:xfrm>
            <a:off x="267817" y="5112709"/>
            <a:ext cx="4572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CN" altLang="en-US" sz="1200" dirty="0"/>
              <a:t>https://www.infoq.com/news/2020/11/rosetta-2-translation/</a:t>
            </a:r>
          </a:p>
        </p:txBody>
      </p:sp>
    </p:spTree>
    <p:extLst>
      <p:ext uri="{BB962C8B-B14F-4D97-AF65-F5344CB8AC3E}">
        <p14:creationId xmlns:p14="http://schemas.microsoft.com/office/powerpoint/2010/main" val="294275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BE384B"/>
      </a:accent1>
      <a:accent2>
        <a:srgbClr val="6A868F"/>
      </a:accent2>
      <a:accent3>
        <a:srgbClr val="32788E"/>
      </a:accent3>
      <a:accent4>
        <a:srgbClr val="D6C88B"/>
      </a:accent4>
      <a:accent5>
        <a:srgbClr val="D66E49"/>
      </a:accent5>
      <a:accent6>
        <a:srgbClr val="BFBFBF"/>
      </a:accent6>
      <a:hlink>
        <a:srgbClr val="BE384B"/>
      </a:hlink>
      <a:folHlink>
        <a:srgbClr val="BFBFBF"/>
      </a:folHlink>
    </a:clrScheme>
    <a:fontScheme name="2obzv3wc">
      <a:majorFont>
        <a:latin typeface="Arial" panose="020B0A04020102020204"/>
        <a:ea typeface="微软雅黑"/>
        <a:cs typeface=""/>
      </a:majorFont>
      <a:minorFont>
        <a:latin typeface="Arial" panose="020B060402020202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JTU-Red" id="{D8CCD1CF-4E9C-2949-907F-EF4853CAD992}" vid="{47F94616-763E-7D43-9BB0-722503DC19A3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办公室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办公室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办公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SJTU-Red</Template>
  <TotalTime>43774</TotalTime>
  <Words>7803</Words>
  <Application>Microsoft Macintosh PowerPoint</Application>
  <PresentationFormat>全屏显示(16:10)</PresentationFormat>
  <Paragraphs>1198</Paragraphs>
  <Slides>90</Slides>
  <Notes>32</Notes>
  <HiddenSlides>15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90</vt:i4>
      </vt:variant>
    </vt:vector>
  </HeadingPairs>
  <TitlesOfParts>
    <vt:vector size="97" baseType="lpstr">
      <vt:lpstr>DengXian</vt:lpstr>
      <vt:lpstr>微软雅黑</vt:lpstr>
      <vt:lpstr>Arial</vt:lpstr>
      <vt:lpstr>Calibri</vt:lpstr>
      <vt:lpstr>Courier</vt:lpstr>
      <vt:lpstr>Wingdings</vt:lpstr>
      <vt:lpstr>Office 主题​​</vt:lpstr>
      <vt:lpstr>同步原语：进阶与案例</vt:lpstr>
      <vt:lpstr>版权声明</vt:lpstr>
      <vt:lpstr>非一致内存访问（NUMA）</vt:lpstr>
      <vt:lpstr>互斥锁微基准测试</vt:lpstr>
      <vt:lpstr>MCS锁在NUMA上的表现</vt:lpstr>
      <vt:lpstr>鲲鹏服务器</vt:lpstr>
      <vt:lpstr>鲲鹏服务器</vt:lpstr>
      <vt:lpstr>非一致内存访问</vt:lpstr>
      <vt:lpstr>Intel与AMD的NUMA系统架构与特性</vt:lpstr>
      <vt:lpstr>Intel与AMD的NUMA系统架构与特性</vt:lpstr>
      <vt:lpstr>NUMA环境中新的挑战</vt:lpstr>
      <vt:lpstr>NUMA环境中新的挑战</vt:lpstr>
      <vt:lpstr>鲲鹏服务器的NUMA结构</vt:lpstr>
      <vt:lpstr>MCS锁可扩展性</vt:lpstr>
      <vt:lpstr>NUMA-aware设计：以cohort锁*为例</vt:lpstr>
      <vt:lpstr>NUMA-aware设计：以cohort锁*为例</vt:lpstr>
      <vt:lpstr>NUMA-aware设计：以cohort锁*为例</vt:lpstr>
      <vt:lpstr>NUMA-aware设计：以cohort锁*为例</vt:lpstr>
      <vt:lpstr>思考题</vt:lpstr>
      <vt:lpstr>我们能更进一步吗</vt:lpstr>
      <vt:lpstr>代理锁：通过代理执行避免跨节点访问</vt:lpstr>
      <vt:lpstr>PowerPoint 演示文稿</vt:lpstr>
      <vt:lpstr>PowerPoint 演示文稿</vt:lpstr>
      <vt:lpstr>PowerPoint 演示文稿</vt:lpstr>
      <vt:lpstr>应该由哪个核心成为锁服务器？</vt:lpstr>
      <vt:lpstr>代理锁性能表现</vt:lpstr>
      <vt:lpstr>代理锁性能表现</vt:lpstr>
      <vt:lpstr>系统软件开发者视角下的NUMA架构</vt:lpstr>
      <vt:lpstr>读写锁的可扩展性</vt:lpstr>
      <vt:lpstr>回顾： 读写锁</vt:lpstr>
      <vt:lpstr>大读者锁</vt:lpstr>
      <vt:lpstr>大读者锁</vt:lpstr>
      <vt:lpstr>大读者锁问题</vt:lpstr>
      <vt:lpstr>PRWLock 进一步减少读者关键路径性能开销</vt:lpstr>
      <vt:lpstr>PRWLock 进一步减少读者关键路径性能开销</vt:lpstr>
      <vt:lpstr>PRWLock 进一步减少读者关键路径性能开销</vt:lpstr>
      <vt:lpstr>PRWLock 进一步减少读者关键路径性能开销</vt:lpstr>
      <vt:lpstr>Linux的同步原语：QSpinLock</vt:lpstr>
      <vt:lpstr>Linux中的同步原语: QSpinlock</vt:lpstr>
      <vt:lpstr>Linux中的同步原语: QSpinlock</vt:lpstr>
      <vt:lpstr>Linux中的同步原语: QSpinlock</vt:lpstr>
      <vt:lpstr>Linux中的同步原语: QSpinlock</vt:lpstr>
      <vt:lpstr>Linux中的同步原语: QSpinlock</vt:lpstr>
      <vt:lpstr>Linux的同步原语：Futex</vt:lpstr>
      <vt:lpstr>Linux中的同步原语: futex</vt:lpstr>
      <vt:lpstr>Linux中的同步原语: futex</vt:lpstr>
      <vt:lpstr>使用Futex实现阻塞互斥锁</vt:lpstr>
      <vt:lpstr>使用Futex实现阻塞互斥锁 ：正确性</vt:lpstr>
      <vt:lpstr>使用Futex实现阻塞互斥锁 ：正确性</vt:lpstr>
      <vt:lpstr>使用Futex实现阻塞互斥锁 ：正确性</vt:lpstr>
      <vt:lpstr>使用Futex实现阻塞互斥锁 ：正确性</vt:lpstr>
      <vt:lpstr>使用Futex实现阻塞互斥锁 ：正确性</vt:lpstr>
      <vt:lpstr>内存模型与同步</vt:lpstr>
      <vt:lpstr>LockOne：皮特森算法的前身</vt:lpstr>
      <vt:lpstr>LockOne在现实硬件中能够保证互斥访问吗？</vt:lpstr>
      <vt:lpstr>LockOne在现实硬件中能够保证互斥访问吗？</vt:lpstr>
      <vt:lpstr>LockOne在现实硬件中能够保证互斥访问吗？</vt:lpstr>
      <vt:lpstr>LockOne在现实硬件中能够保证互斥访问吗？</vt:lpstr>
      <vt:lpstr>LockOne在现实硬件中能够保证互斥访问吗？</vt:lpstr>
      <vt:lpstr>LockOne在现实硬件中能够保证互斥访问吗？</vt:lpstr>
      <vt:lpstr>用原子指令也会有这个问题么？会！</vt:lpstr>
      <vt:lpstr>用原子指令也会有这个问题么？会！</vt:lpstr>
      <vt:lpstr>几种内存模型</vt:lpstr>
      <vt:lpstr>内存模型：严格一致性模型</vt:lpstr>
      <vt:lpstr>几种内存模型</vt:lpstr>
      <vt:lpstr>内存模型：顺序一致性模型</vt:lpstr>
      <vt:lpstr>内存模型：顺序一致性模型</vt:lpstr>
      <vt:lpstr>内存模型：顺序一致性模型</vt:lpstr>
      <vt:lpstr>内存模型：顺序一致性模型</vt:lpstr>
      <vt:lpstr>内存模型：顺序一致性模型</vt:lpstr>
      <vt:lpstr>几种内存模型</vt:lpstr>
      <vt:lpstr>内存模型：TSO一致性模型</vt:lpstr>
      <vt:lpstr>内存模型：TSO一致性模型</vt:lpstr>
      <vt:lpstr>内存模型：TSO一致性模型</vt:lpstr>
      <vt:lpstr>内存模型：TSO一致性模型</vt:lpstr>
      <vt:lpstr>内存模型：TSO一致性模型</vt:lpstr>
      <vt:lpstr>内存模型：TSO一致性模型</vt:lpstr>
      <vt:lpstr>几种内存模型</vt:lpstr>
      <vt:lpstr>内存模型：弱序一致性模型</vt:lpstr>
      <vt:lpstr>内存模型：弱序一致性模型</vt:lpstr>
      <vt:lpstr>内存模型：弱序一致性模型</vt:lpstr>
      <vt:lpstr>不同架构使用不同的内存模型</vt:lpstr>
      <vt:lpstr>不同架构使用不同的内存模型</vt:lpstr>
      <vt:lpstr>如何在弱的内存模型中保证顺序</vt:lpstr>
      <vt:lpstr>如何在弱的内存模型中保证顺序</vt:lpstr>
      <vt:lpstr>如何在弱的内存模型中保证顺序</vt:lpstr>
      <vt:lpstr>系统软件开发者视角下的内存模型</vt:lpstr>
      <vt:lpstr>系统软件开发者视角下的内存模型</vt:lpstr>
      <vt:lpstr>Sidebar: ARM中的保序选择</vt:lpstr>
      <vt:lpstr>Apple M1同时支持TSO和Weak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虚拟机隔离与安全</dc:title>
  <dc:creator>Xia Yubin</dc:creator>
  <cp:lastModifiedBy>Haibo Chen</cp:lastModifiedBy>
  <cp:revision>2546</cp:revision>
  <cp:lastPrinted>2016-06-13T07:55:34Z</cp:lastPrinted>
  <dcterms:created xsi:type="dcterms:W3CDTF">2017-11-24T09:35:45Z</dcterms:created>
  <dcterms:modified xsi:type="dcterms:W3CDTF">2022-03-29T01:47:39Z</dcterms:modified>
</cp:coreProperties>
</file>