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9"/>
  </p:notesMasterIdLst>
  <p:handoutMasterIdLst>
    <p:handoutMasterId r:id="rId70"/>
  </p:handoutMasterIdLst>
  <p:sldIdLst>
    <p:sldId id="1306" r:id="rId2"/>
    <p:sldId id="1359" r:id="rId3"/>
    <p:sldId id="2620" r:id="rId4"/>
    <p:sldId id="2438" r:id="rId5"/>
    <p:sldId id="2429" r:id="rId6"/>
    <p:sldId id="996" r:id="rId7"/>
    <p:sldId id="2578" r:id="rId8"/>
    <p:sldId id="2460" r:id="rId9"/>
    <p:sldId id="2456" r:id="rId10"/>
    <p:sldId id="2437" r:id="rId11"/>
    <p:sldId id="2530" r:id="rId12"/>
    <p:sldId id="2603" r:id="rId13"/>
    <p:sldId id="2461" r:id="rId14"/>
    <p:sldId id="2465" r:id="rId15"/>
    <p:sldId id="2466" r:id="rId16"/>
    <p:sldId id="2467" r:id="rId17"/>
    <p:sldId id="2457" r:id="rId18"/>
    <p:sldId id="2468" r:id="rId19"/>
    <p:sldId id="2544" r:id="rId20"/>
    <p:sldId id="2534" r:id="rId21"/>
    <p:sldId id="2604" r:id="rId22"/>
    <p:sldId id="2538" r:id="rId23"/>
    <p:sldId id="2471" r:id="rId24"/>
    <p:sldId id="2533" r:id="rId25"/>
    <p:sldId id="2473" r:id="rId26"/>
    <p:sldId id="2540" r:id="rId27"/>
    <p:sldId id="2472" r:id="rId28"/>
    <p:sldId id="2605" r:id="rId29"/>
    <p:sldId id="2543" r:id="rId30"/>
    <p:sldId id="2606" r:id="rId31"/>
    <p:sldId id="2607" r:id="rId32"/>
    <p:sldId id="2608" r:id="rId33"/>
    <p:sldId id="2609" r:id="rId34"/>
    <p:sldId id="2479" r:id="rId35"/>
    <p:sldId id="2610" r:id="rId36"/>
    <p:sldId id="2579" r:id="rId37"/>
    <p:sldId id="2511" r:id="rId38"/>
    <p:sldId id="2512" r:id="rId39"/>
    <p:sldId id="2517" r:id="rId40"/>
    <p:sldId id="2518" r:id="rId41"/>
    <p:sldId id="2580" r:id="rId42"/>
    <p:sldId id="2581" r:id="rId43"/>
    <p:sldId id="2478" r:id="rId44"/>
    <p:sldId id="2526" r:id="rId45"/>
    <p:sldId id="2539" r:id="rId46"/>
    <p:sldId id="2528" r:id="rId47"/>
    <p:sldId id="2529" r:id="rId48"/>
    <p:sldId id="2598" r:id="rId49"/>
    <p:sldId id="2552" r:id="rId50"/>
    <p:sldId id="2601" r:id="rId51"/>
    <p:sldId id="2531" r:id="rId52"/>
    <p:sldId id="2600" r:id="rId53"/>
    <p:sldId id="2524" r:id="rId54"/>
    <p:sldId id="2519" r:id="rId55"/>
    <p:sldId id="2521" r:id="rId56"/>
    <p:sldId id="2535" r:id="rId57"/>
    <p:sldId id="2525" r:id="rId58"/>
    <p:sldId id="2536" r:id="rId59"/>
    <p:sldId id="2549" r:id="rId60"/>
    <p:sldId id="2548" r:id="rId61"/>
    <p:sldId id="2547" r:id="rId62"/>
    <p:sldId id="2546" r:id="rId63"/>
    <p:sldId id="2545" r:id="rId64"/>
    <p:sldId id="2550" r:id="rId65"/>
    <p:sldId id="2551" r:id="rId66"/>
    <p:sldId id="2537" r:id="rId67"/>
    <p:sldId id="2602" r:id="rId68"/>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0" userDrawn="1">
          <p15:clr>
            <a:srgbClr val="A4A3A4"/>
          </p15:clr>
        </p15:guide>
        <p15:guide id="2" pos="793"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73FEFF"/>
    <a:srgbClr val="FF9300"/>
    <a:srgbClr val="0A9940"/>
    <a:srgbClr val="00FB92"/>
    <a:srgbClr val="941100"/>
    <a:srgbClr val="212121"/>
    <a:srgbClr val="005493"/>
    <a:srgbClr val="FF2F92"/>
    <a:srgbClr val="9437FF"/>
    <a:srgbClr val="ED3C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39" autoAdjust="0"/>
    <p:restoredTop sz="74283" autoAdjust="0"/>
  </p:normalViewPr>
  <p:slideViewPr>
    <p:cSldViewPr>
      <p:cViewPr varScale="1">
        <p:scale>
          <a:sx n="102" d="100"/>
          <a:sy n="102" d="100"/>
        </p:scale>
        <p:origin x="200" y="768"/>
      </p:cViewPr>
      <p:guideLst>
        <p:guide orient="horz" pos="2480"/>
        <p:guide pos="793"/>
        <p:guide pos="2880"/>
      </p:guideLst>
    </p:cSldViewPr>
  </p:slideViewPr>
  <p:outlineViewPr>
    <p:cViewPr>
      <p:scale>
        <a:sx n="33" d="100"/>
        <a:sy n="33" d="100"/>
      </p:scale>
      <p:origin x="0" y="-572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6" d="100"/>
          <a:sy n="96" d="100"/>
        </p:scale>
        <p:origin x="3048"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2022/4/12</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2022/4/12</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4</a:t>
            </a:fld>
            <a:endParaRPr lang="zh-CN" altLang="en-US"/>
          </a:p>
        </p:txBody>
      </p:sp>
    </p:spTree>
    <p:extLst>
      <p:ext uri="{BB962C8B-B14F-4D97-AF65-F5344CB8AC3E}">
        <p14:creationId xmlns:p14="http://schemas.microsoft.com/office/powerpoint/2010/main" val="1403321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main idea of soft updates is </a:t>
            </a:r>
            <a:r>
              <a:rPr lang="en-US" u="sng" baseline="0" dirty="0"/>
              <a:t>to </a:t>
            </a:r>
            <a:r>
              <a:rPr lang="en-US" b="1" u="sng" baseline="0" dirty="0"/>
              <a:t>leverage the page cache </a:t>
            </a:r>
            <a:r>
              <a:rPr lang="en-US" baseline="0" dirty="0"/>
              <a:t>to store latest metadata in DRAM and keep the in-disk metadata consistent.</a:t>
            </a:r>
          </a:p>
          <a:p>
            <a:r>
              <a:rPr lang="en-US" dirty="0"/>
              <a:t>All the updates</a:t>
            </a:r>
            <a:r>
              <a:rPr lang="en-US" baseline="0" dirty="0"/>
              <a:t> are firstly done in DRAM with the dependencies tracked.</a:t>
            </a:r>
          </a:p>
          <a:p>
            <a:r>
              <a:rPr lang="en-US" baseline="0" dirty="0"/>
              <a:t>These updates in DRAM are persisted to disks by background threads, with respect to the dependencies tracked.</a:t>
            </a:r>
          </a:p>
          <a:p>
            <a:r>
              <a:rPr lang="en-US" b="1" u="sng" baseline="0" dirty="0"/>
              <a:t>As a result</a:t>
            </a:r>
            <a:r>
              <a:rPr lang="en-US" baseline="0" dirty="0"/>
              <a:t>, there are no synchronous disk writes and the metadata operations can be done with DRAM performance. And the metadata in disks are always consistent so that can be immediately used after crashes, without lengthy recoveries.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7384CE-5573-0340-B05C-B15137D0D3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27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源自</a:t>
            </a:r>
            <a:r>
              <a:rPr lang="en-US" altLang="zh-CN" dirty="0"/>
              <a:t>UC</a:t>
            </a:r>
            <a:r>
              <a:rPr lang="zh-CN" altLang="en-US" dirty="0"/>
              <a:t> </a:t>
            </a:r>
            <a:r>
              <a:rPr lang="en-US" altLang="zh-CN" dirty="0"/>
              <a:t>Berkeley</a:t>
            </a:r>
            <a:r>
              <a:rPr lang="zh-CN" altLang="en-US" dirty="0"/>
              <a:t>的</a:t>
            </a:r>
            <a:r>
              <a:rPr lang="en-US" altLang="zh-CN" dirty="0"/>
              <a:t>Sprite</a:t>
            </a:r>
            <a:r>
              <a:rPr lang="zh-CN" altLang="en-US" dirty="0"/>
              <a:t>项目：类</a:t>
            </a:r>
            <a:r>
              <a:rPr lang="en-US" altLang="zh-CN" dirty="0"/>
              <a:t>Unix</a:t>
            </a:r>
            <a:r>
              <a:rPr lang="zh-CN" altLang="en-US" dirty="0"/>
              <a:t>分布式操作系统</a:t>
            </a:r>
            <a:endParaRPr lang="en-US" altLang="zh-CN"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9</a:t>
            </a:fld>
            <a:endParaRPr lang="zh-CN" altLang="en-US"/>
          </a:p>
        </p:txBody>
      </p:sp>
    </p:spTree>
    <p:extLst>
      <p:ext uri="{BB962C8B-B14F-4D97-AF65-F5344CB8AC3E}">
        <p14:creationId xmlns:p14="http://schemas.microsoft.com/office/powerpoint/2010/main" val="779837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CN" dirty="0"/>
              <a:t>标红</a:t>
            </a:r>
            <a:r>
              <a:rPr lang="zh-CN" altLang="en-US" dirty="0"/>
              <a:t>为新的结构</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11</a:t>
            </a:fld>
            <a:endParaRPr lang="zh-CN" altLang="en-US"/>
          </a:p>
        </p:txBody>
      </p:sp>
    </p:spTree>
    <p:extLst>
      <p:ext uri="{BB962C8B-B14F-4D97-AF65-F5344CB8AC3E}">
        <p14:creationId xmlns:p14="http://schemas.microsoft.com/office/powerpoint/2010/main" val="1442200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14</a:t>
            </a:fld>
            <a:endParaRPr lang="zh-CN" altLang="en-US"/>
          </a:p>
        </p:txBody>
      </p:sp>
    </p:spTree>
    <p:extLst>
      <p:ext uri="{BB962C8B-B14F-4D97-AF65-F5344CB8AC3E}">
        <p14:creationId xmlns:p14="http://schemas.microsoft.com/office/powerpoint/2010/main" val="4077007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1</a:t>
            </a:r>
            <a:r>
              <a:rPr lang="zh-CN" altLang="en-US" dirty="0"/>
              <a:t>、</a:t>
            </a:r>
            <a:r>
              <a:rPr lang="en-US" altLang="zh-CN" dirty="0"/>
              <a:t>3</a:t>
            </a:r>
            <a:r>
              <a:rPr lang="zh-CN" altLang="en-US" dirty="0"/>
              <a:t>、</a:t>
            </a:r>
            <a:r>
              <a:rPr lang="en-US" altLang="zh-CN" dirty="0"/>
              <a:t>4</a:t>
            </a:r>
            <a:r>
              <a:rPr lang="zh-CN" altLang="en-US" dirty="0"/>
              <a:t>都比较简单，</a:t>
            </a:r>
            <a:r>
              <a:rPr lang="en-US" altLang="zh-CN" dirty="0"/>
              <a:t>2</a:t>
            </a:r>
            <a:r>
              <a:rPr lang="zh-CN" altLang="en-US" dirty="0"/>
              <a:t>怎么做？</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24</a:t>
            </a:fld>
            <a:endParaRPr lang="zh-CN" altLang="en-US"/>
          </a:p>
        </p:txBody>
      </p:sp>
    </p:spTree>
    <p:extLst>
      <p:ext uri="{BB962C8B-B14F-4D97-AF65-F5344CB8AC3E}">
        <p14:creationId xmlns:p14="http://schemas.microsoft.com/office/powerpoint/2010/main" val="3165166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防止写入检查点时崩溃</a:t>
            </a:r>
            <a:endParaRPr lang="en-US" altLang="zh-CN"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29</a:t>
            </a:fld>
            <a:endParaRPr lang="zh-CN" altLang="en-US"/>
          </a:p>
        </p:txBody>
      </p:sp>
    </p:spTree>
    <p:extLst>
      <p:ext uri="{BB962C8B-B14F-4D97-AF65-F5344CB8AC3E}">
        <p14:creationId xmlns:p14="http://schemas.microsoft.com/office/powerpoint/2010/main" val="936214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48</a:t>
            </a:fld>
            <a:endParaRPr lang="zh-CN" altLang="en-US"/>
          </a:p>
        </p:txBody>
      </p:sp>
    </p:spTree>
    <p:extLst>
      <p:ext uri="{BB962C8B-B14F-4D97-AF65-F5344CB8AC3E}">
        <p14:creationId xmlns:p14="http://schemas.microsoft.com/office/powerpoint/2010/main" val="1023325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52</a:t>
            </a:fld>
            <a:endParaRPr lang="zh-CN" altLang="en-US"/>
          </a:p>
        </p:txBody>
      </p:sp>
    </p:spTree>
    <p:extLst>
      <p:ext uri="{BB962C8B-B14F-4D97-AF65-F5344CB8AC3E}">
        <p14:creationId xmlns:p14="http://schemas.microsoft.com/office/powerpoint/2010/main" val="1182102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CN" dirty="0"/>
              <a:t>会有</a:t>
            </a:r>
            <a:r>
              <a:rPr lang="zh-CN" altLang="en-US" dirty="0"/>
              <a:t>多个</a:t>
            </a:r>
            <a:r>
              <a:rPr lang="en-US" altLang="zh-CN" dirty="0"/>
              <a:t>FTL</a:t>
            </a:r>
            <a:r>
              <a:rPr lang="zh-CN" altLang="en-US" dirty="0"/>
              <a:t>映射</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55</a:t>
            </a:fld>
            <a:endParaRPr lang="zh-CN" altLang="en-US"/>
          </a:p>
        </p:txBody>
      </p:sp>
    </p:spTree>
    <p:extLst>
      <p:ext uri="{BB962C8B-B14F-4D97-AF65-F5344CB8AC3E}">
        <p14:creationId xmlns:p14="http://schemas.microsoft.com/office/powerpoint/2010/main" val="288079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CN" dirty="0"/>
              <a:t>做</a:t>
            </a:r>
            <a:r>
              <a:rPr lang="en-US" altLang="zh-CN" dirty="0"/>
              <a:t>checkpoint</a:t>
            </a:r>
            <a:r>
              <a:rPr lang="zh-CN" altLang="en-US" dirty="0"/>
              <a:t>这部分数据最好不用重用，崩溃后进行恢复，很可能恢复出来的文件是使用这部分数据的。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do this because if a pre-free section is reused before checkpointing, the file system may lose the data referenced by a previous checkpoint when unexpected power outage occurs. </a:t>
            </a:r>
            <a:endParaRPr lang="en-US"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57</a:t>
            </a:fld>
            <a:endParaRPr lang="zh-CN" altLang="en-US"/>
          </a:p>
        </p:txBody>
      </p:sp>
    </p:spTree>
    <p:extLst>
      <p:ext uri="{BB962C8B-B14F-4D97-AF65-F5344CB8AC3E}">
        <p14:creationId xmlns:p14="http://schemas.microsoft.com/office/powerpoint/2010/main" val="2501837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60</a:t>
            </a:fld>
            <a:endParaRPr lang="zh-CN" altLang="en-US"/>
          </a:p>
        </p:txBody>
      </p:sp>
    </p:spTree>
    <p:extLst>
      <p:ext uri="{BB962C8B-B14F-4D97-AF65-F5344CB8AC3E}">
        <p14:creationId xmlns:p14="http://schemas.microsoft.com/office/powerpoint/2010/main" val="3424555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endParaRPr lang="zh-CN" altLang="en-US" dirty="0"/>
          </a:p>
        </p:txBody>
      </p:sp>
    </p:spTree>
    <p:extLst>
      <p:ext uri="{BB962C8B-B14F-4D97-AF65-F5344CB8AC3E}">
        <p14:creationId xmlns:p14="http://schemas.microsoft.com/office/powerpoint/2010/main" val="6146946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endParaRPr lang="zh-CN" altLang="en-US" dirty="0"/>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tiff"/><Relationship Id="rId4" Type="http://schemas.openxmlformats.org/officeDocument/2006/relationships/image" Target="../media/image5.tif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日志文件系统</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zh-CN" altLang="en-US" sz="1800">
                <a:solidFill>
                  <a:schemeClr val="tx1">
                    <a:lumMod val="75000"/>
                    <a:lumOff val="25000"/>
                  </a:schemeClr>
                </a:solidFill>
              </a:rPr>
              <a:t>陈海波 </a:t>
            </a:r>
            <a:r>
              <a:rPr kumimoji="1" lang="en-US" altLang="zh-CN" sz="1800">
                <a:solidFill>
                  <a:schemeClr val="tx1">
                    <a:lumMod val="75000"/>
                    <a:lumOff val="25000"/>
                  </a:schemeClr>
                </a:solidFill>
              </a:rPr>
              <a:t>/</a:t>
            </a:r>
            <a:r>
              <a:rPr kumimoji="1" lang="zh-CN" altLang="en-US" sz="1800">
                <a:solidFill>
                  <a:schemeClr val="tx1">
                    <a:lumMod val="75000"/>
                    <a:lumOff val="25000"/>
                  </a:schemeClr>
                </a:solidFill>
              </a:rPr>
              <a:t> 夏虞斌</a:t>
            </a:r>
            <a:endParaRPr kumimoji="1" lang="en-US" altLang="zh-CN" sz="1800">
              <a:solidFill>
                <a:schemeClr val="tx1">
                  <a:lumMod val="75000"/>
                  <a:lumOff val="25000"/>
                </a:schemeClr>
              </a:solidFill>
            </a:endParaRPr>
          </a:p>
          <a:p>
            <a:pPr>
              <a:lnSpc>
                <a:spcPct val="150000"/>
              </a:lnSpc>
              <a:spcBef>
                <a:spcPts val="0"/>
              </a:spcBef>
            </a:pPr>
            <a:r>
              <a:rPr kumimoji="1" lang="zh-CN" altLang="en-US" sz="1800">
                <a:solidFill>
                  <a:schemeClr val="tx1">
                    <a:lumMod val="75000"/>
                    <a:lumOff val="25000"/>
                  </a:schemeClr>
                </a:solidFill>
              </a:rPr>
              <a:t>上海交通大学并行与分布式系统研究所</a:t>
            </a:r>
            <a:endParaRPr kumimoji="1" lang="en-US" altLang="zh-CN" sz="1800">
              <a:solidFill>
                <a:schemeClr val="tx1">
                  <a:lumMod val="75000"/>
                  <a:lumOff val="25000"/>
                </a:schemeClr>
              </a:solidFill>
            </a:endParaRPr>
          </a:p>
          <a:p>
            <a:pPr>
              <a:lnSpc>
                <a:spcPct val="150000"/>
              </a:lnSpc>
              <a:spcBef>
                <a:spcPts val="0"/>
              </a:spcBef>
            </a:pPr>
            <a:r>
              <a:rPr kumimoji="1" lang="en-US" altLang="zh-CN" sz="1800">
                <a:solidFill>
                  <a:schemeClr val="tx1">
                    <a:lumMod val="50000"/>
                    <a:lumOff val="50000"/>
                  </a:schemeClr>
                </a:solidFill>
              </a:rPr>
              <a:t>https://ipads.se.sjtu.edu.cn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Arial" panose="020B0604020202020204"/>
              </a:rPr>
              <a:t>SE3357-1</a:t>
            </a:r>
            <a:r>
              <a:rPr lang="zh-CN" altLang="en-US" sz="1400" dirty="0">
                <a:solidFill>
                  <a:srgbClr val="000000">
                    <a:lumMod val="75000"/>
                    <a:lumOff val="25000"/>
                  </a:srgbClr>
                </a:solidFill>
                <a:latin typeface="Arial" panose="020B0604020202020204"/>
              </a:rPr>
              <a:t> </a:t>
            </a:r>
            <a:r>
              <a:rPr lang="en-US" altLang="zh-CN" sz="1400" dirty="0">
                <a:solidFill>
                  <a:srgbClr val="000000">
                    <a:lumMod val="75000"/>
                    <a:lumOff val="25000"/>
                  </a:srgbClr>
                </a:solidFill>
                <a:latin typeface="Arial" panose="020B0604020202020204"/>
              </a:rPr>
              <a:t>·</a:t>
            </a:r>
            <a:r>
              <a:rPr lang="zh-CN" altLang="en-US" sz="1400" dirty="0">
                <a:solidFill>
                  <a:srgbClr val="000000">
                    <a:lumMod val="75000"/>
                    <a:lumOff val="25000"/>
                  </a:srgbClr>
                </a:solidFill>
                <a:latin typeface="Arial" panose="020B0604020202020204"/>
              </a:rPr>
              <a:t> 操作系统（</a:t>
            </a:r>
            <a:r>
              <a:rPr lang="en-US" altLang="zh-CN" sz="1400" dirty="0">
                <a:solidFill>
                  <a:srgbClr val="000000">
                    <a:lumMod val="75000"/>
                    <a:lumOff val="25000"/>
                  </a:srgbClr>
                </a:solidFill>
                <a:latin typeface="Arial" panose="020B0604020202020204"/>
              </a:rPr>
              <a:t>2022</a:t>
            </a:r>
            <a:r>
              <a:rPr lang="zh-CN" altLang="en-US" sz="1400" dirty="0">
                <a:solidFill>
                  <a:srgbClr val="000000">
                    <a:lumMod val="75000"/>
                    <a:lumOff val="25000"/>
                  </a:srgbClr>
                </a:solidFill>
                <a:latin typeface="Arial" panose="020B0604020202020204"/>
              </a:rPr>
              <a:t>春）</a:t>
            </a: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164288" y="282539"/>
            <a:ext cx="1642840" cy="43204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a:latin typeface="+mn-lt"/>
              </a:rPr>
              <a:t>本内容版权归</a:t>
            </a:r>
            <a:r>
              <a:rPr lang="zh-CN" altLang="en-US" sz="2000">
                <a:latin typeface="+mn-lt"/>
              </a:rPr>
              <a:t>上海交通大学并行与分布式系统研究所</a:t>
            </a:r>
            <a:r>
              <a:rPr lang="zh-CN" altLang="en-US" sz="2000" b="0">
                <a:latin typeface="+mn-lt"/>
              </a:rPr>
              <a:t>所有</a:t>
            </a:r>
            <a:endParaRPr lang="en-US" altLang="zh-CN" sz="2000" b="0">
              <a:latin typeface="+mn-lt"/>
            </a:endParaRPr>
          </a:p>
          <a:p>
            <a:r>
              <a:rPr lang="zh-CN" altLang="en-US" sz="2000" b="0">
                <a:latin typeface="+mn-lt"/>
              </a:rPr>
              <a:t>使用者可以将全部或部分本内容免费用于非商业用途</a:t>
            </a:r>
            <a:endParaRPr lang="en-US" altLang="zh-CN" sz="2000" b="0">
              <a:latin typeface="+mn-lt"/>
            </a:endParaRPr>
          </a:p>
          <a:p>
            <a:r>
              <a:rPr lang="zh-CN" altLang="en-US" sz="2000" b="0">
                <a:latin typeface="+mn-lt"/>
              </a:rPr>
              <a:t>使用者在使用全部或部分本内容时请注明来源：</a:t>
            </a:r>
            <a:endParaRPr lang="en-US" altLang="zh-CN" sz="2000" b="0">
              <a:latin typeface="+mn-lt"/>
            </a:endParaRPr>
          </a:p>
          <a:p>
            <a:pPr lvl="1"/>
            <a:r>
              <a:rPr lang="zh-CN" altLang="en-US" sz="1600"/>
              <a:t>内容来自：上海交通大学并行与分布式系统研究所</a:t>
            </a:r>
            <a:r>
              <a:rPr lang="en-US" altLang="zh-CN" sz="1600"/>
              <a:t>+</a:t>
            </a:r>
            <a:r>
              <a:rPr lang="zh-CN" altLang="en-US" sz="1600"/>
              <a:t>材料名字</a:t>
            </a:r>
            <a:endParaRPr lang="en-US" altLang="zh-CN" sz="1600"/>
          </a:p>
          <a:p>
            <a:r>
              <a:rPr lang="zh-CN" altLang="en-US" sz="2000" b="0">
                <a:latin typeface="+mn-lt"/>
              </a:rPr>
              <a:t>对于不遵守此声明或者其他违法使用本内容者，将依法保留追究权</a:t>
            </a:r>
            <a:endParaRPr lang="en-US" altLang="zh-CN" sz="2000" b="0">
              <a:latin typeface="+mn-lt"/>
            </a:endParaRPr>
          </a:p>
          <a:p>
            <a:r>
              <a:rPr lang="zh-CN" altLang="en-US" sz="2000" b="0">
                <a:latin typeface="+mn-lt"/>
              </a:rPr>
              <a:t>本内容的发布采用 </a:t>
            </a:r>
            <a:r>
              <a:rPr lang="en-US" altLang="zh-CN" sz="2000" b="0">
                <a:latin typeface="+mn-lt"/>
              </a:rPr>
              <a:t>Creative Commons</a:t>
            </a:r>
            <a:r>
              <a:rPr lang="zh-CN" altLang="en-US" sz="2000" b="0">
                <a:latin typeface="+mn-lt"/>
              </a:rPr>
              <a:t> </a:t>
            </a:r>
            <a:r>
              <a:rPr lang="en-US" altLang="zh-CN" sz="2000" b="0">
                <a:latin typeface="+mn-lt"/>
              </a:rPr>
              <a:t>Attribution</a:t>
            </a:r>
            <a:r>
              <a:rPr lang="zh-CN" altLang="en-US" sz="2000" b="0">
                <a:latin typeface="+mn-lt"/>
              </a:rPr>
              <a:t> </a:t>
            </a:r>
            <a:r>
              <a:rPr lang="en-US" altLang="zh-CN" sz="2000" b="0">
                <a:latin typeface="+mn-lt"/>
              </a:rPr>
              <a:t>4.0</a:t>
            </a:r>
            <a:r>
              <a:rPr lang="zh-CN" altLang="en-US" sz="2000" b="0">
                <a:latin typeface="+mn-lt"/>
              </a:rPr>
              <a:t> </a:t>
            </a:r>
            <a:r>
              <a:rPr lang="en-US" altLang="zh-CN" sz="2000" b="0">
                <a:latin typeface="+mn-lt"/>
              </a:rPr>
              <a:t>License</a:t>
            </a:r>
            <a:endParaRPr lang="en-US" altLang="zh-CN" sz="2400" b="0">
              <a:latin typeface="+mn-lt"/>
            </a:endParaRPr>
          </a:p>
          <a:p>
            <a:pPr lvl="1"/>
            <a:r>
              <a:rPr lang="zh-CN" altLang="en-US" sz="1600">
                <a:latin typeface="+mn-lt"/>
              </a:rPr>
              <a:t>完整文本：</a:t>
            </a:r>
            <a:r>
              <a:rPr lang="en-US" altLang="zh-CN" sz="1600">
                <a:latin typeface="+mn-lt"/>
                <a:hlinkClick r:id="rId2"/>
              </a:rPr>
              <a:t>https://creativecommons.org/licenses/by/4.0/legalcode</a:t>
            </a:r>
            <a:endParaRPr lang="en-US" altLang="zh-CN" sz="1800" b="0">
              <a:latin typeface="+mn-lt"/>
            </a:endParaRPr>
          </a:p>
          <a:p>
            <a:endParaRPr kumimoji="1" lang="zh-CN" altLang="en-US" sz="2000" dirty="0">
              <a:latin typeface="+mn-lt"/>
            </a:endParaRPr>
          </a:p>
        </p:txBody>
      </p:sp>
      <p:sp>
        <p:nvSpPr>
          <p:cNvPr id="4" name="灯片编号占位符 3">
            <a:extLst>
              <a:ext uri="{FF2B5EF4-FFF2-40B4-BE49-F238E27FC236}">
                <a16:creationId xmlns:a16="http://schemas.microsoft.com/office/drawing/2014/main" id="{70D6275D-0E58-1C46-BA79-C46B2D55F355}"/>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A700D4-F543-6240-B6FE-D79613D3A935}"/>
              </a:ext>
            </a:extLst>
          </p:cNvPr>
          <p:cNvSpPr>
            <a:spLocks noGrp="1"/>
          </p:cNvSpPr>
          <p:nvPr>
            <p:ph type="title"/>
          </p:nvPr>
        </p:nvSpPr>
        <p:spPr/>
        <p:txBody>
          <a:bodyPr>
            <a:normAutofit/>
          </a:bodyPr>
          <a:lstStyle/>
          <a:p>
            <a:r>
              <a:rPr kumimoji="1" lang="en-US" altLang="zh-CN" dirty="0"/>
              <a:t>Review</a:t>
            </a:r>
            <a:r>
              <a:rPr kumimoji="1" lang="zh-CN" altLang="en-US" dirty="0"/>
              <a:t>：创建文件时崩溃的</a:t>
            </a:r>
            <a:r>
              <a:rPr kumimoji="1" lang="en-US" altLang="zh-CN" dirty="0"/>
              <a:t>6</a:t>
            </a:r>
            <a:r>
              <a:rPr kumimoji="1" lang="zh-CN" altLang="en-US" dirty="0"/>
              <a:t>种情况</a:t>
            </a:r>
          </a:p>
        </p:txBody>
      </p:sp>
      <p:sp>
        <p:nvSpPr>
          <p:cNvPr id="4" name="灯片编号占位符 3">
            <a:extLst>
              <a:ext uri="{FF2B5EF4-FFF2-40B4-BE49-F238E27FC236}">
                <a16:creationId xmlns:a16="http://schemas.microsoft.com/office/drawing/2014/main" id="{1B660E1E-8003-914C-90AF-C35DAE6B1751}"/>
              </a:ext>
            </a:extLst>
          </p:cNvPr>
          <p:cNvSpPr>
            <a:spLocks noGrp="1"/>
          </p:cNvSpPr>
          <p:nvPr>
            <p:ph type="sldNum" sz="quarter" idx="12"/>
          </p:nvPr>
        </p:nvSpPr>
        <p:spPr/>
        <p:txBody>
          <a:bodyPr/>
          <a:lstStyle/>
          <a:p>
            <a:fld id="{ADE361C3-C043-4A6E-BDCE-8DA1E7D90A3B}" type="slidenum">
              <a:rPr lang="zh-CN" altLang="en-US" smtClean="0"/>
              <a:t>3</a:t>
            </a:fld>
            <a:endParaRPr lang="zh-CN" altLang="en-US"/>
          </a:p>
        </p:txBody>
      </p:sp>
      <p:sp>
        <p:nvSpPr>
          <p:cNvPr id="5" name="页脚占位符 4">
            <a:extLst>
              <a:ext uri="{FF2B5EF4-FFF2-40B4-BE49-F238E27FC236}">
                <a16:creationId xmlns:a16="http://schemas.microsoft.com/office/drawing/2014/main" id="{723C110A-A2D2-5B47-A731-60A35AE9FB9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07125589-CC96-6E49-B779-BBEB32415971}"/>
              </a:ext>
            </a:extLst>
          </p:cNvPr>
          <p:cNvPicPr>
            <a:picLocks noChangeAspect="1"/>
          </p:cNvPicPr>
          <p:nvPr/>
        </p:nvPicPr>
        <p:blipFill>
          <a:blip r:embed="rId2"/>
          <a:stretch>
            <a:fillRect/>
          </a:stretch>
        </p:blipFill>
        <p:spPr>
          <a:xfrm>
            <a:off x="870090" y="1492882"/>
            <a:ext cx="7403821" cy="3499066"/>
          </a:xfrm>
          <a:prstGeom prst="rect">
            <a:avLst/>
          </a:prstGeom>
        </p:spPr>
      </p:pic>
    </p:spTree>
    <p:extLst>
      <p:ext uri="{BB962C8B-B14F-4D97-AF65-F5344CB8AC3E}">
        <p14:creationId xmlns:p14="http://schemas.microsoft.com/office/powerpoint/2010/main" val="2580878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en-US" altLang="zh-CN" dirty="0"/>
              <a:t>Review</a:t>
            </a:r>
            <a:r>
              <a:rPr lang="zh-CN" altLang="en-US" dirty="0"/>
              <a:t>：日志（</a:t>
            </a:r>
            <a:r>
              <a:rPr lang="en-US" altLang="zh-CN" dirty="0"/>
              <a:t>Journaling</a:t>
            </a:r>
            <a:r>
              <a:rPr lang="zh-CN" altLang="en-US" dirty="0"/>
              <a:t>）</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4114801" cy="3771636"/>
          </a:xfrm>
        </p:spPr>
        <p:txBody>
          <a:bodyPr>
            <a:normAutofit/>
          </a:bodyPr>
          <a:lstStyle/>
          <a:p>
            <a:pPr marL="0" indent="0">
              <a:buNone/>
            </a:pPr>
            <a:r>
              <a:rPr lang="zh-CN" altLang="en-US" sz="2000" b="0" dirty="0"/>
              <a:t>创建</a:t>
            </a:r>
            <a:r>
              <a:rPr lang="en-US" altLang="zh-CN" sz="2000" b="0" dirty="0"/>
              <a:t>"/</a:t>
            </a:r>
            <a:r>
              <a:rPr lang="zh-CN" altLang="en-US" sz="2000" b="0" dirty="0"/>
              <a:t>新文件</a:t>
            </a:r>
            <a:r>
              <a:rPr lang="en-US" altLang="zh-CN" sz="2000" b="0" dirty="0"/>
              <a:t>"</a:t>
            </a:r>
            <a:r>
              <a:rPr lang="zh-CN" altLang="en-US" sz="2000" b="0" dirty="0"/>
              <a:t>的修改包括：</a:t>
            </a:r>
            <a:endParaRPr lang="en-US" altLang="zh-CN" sz="2000" b="0" dirty="0"/>
          </a:p>
          <a:p>
            <a:pPr marL="0" indent="0">
              <a:buNone/>
            </a:pPr>
            <a:r>
              <a:rPr lang="en-US" altLang="zh-CN" sz="2000" b="0" dirty="0"/>
              <a:t>1.</a:t>
            </a:r>
            <a:r>
              <a:rPr lang="zh-CN" altLang="en-US" sz="2000" b="0" dirty="0"/>
              <a:t> 标记</a:t>
            </a:r>
            <a:r>
              <a:rPr lang="en-US" altLang="zh-CN" sz="2000" b="0" dirty="0" err="1"/>
              <a:t>inode</a:t>
            </a:r>
            <a:r>
              <a:rPr lang="zh-CN" altLang="en-US" sz="2000" b="0" dirty="0"/>
              <a:t>为占用</a:t>
            </a:r>
            <a:br>
              <a:rPr lang="en-US" altLang="zh-CN" sz="2000" b="0" dirty="0"/>
            </a:br>
            <a:r>
              <a:rPr lang="en-US" altLang="zh-CN" sz="2000" b="0" dirty="0"/>
              <a:t>2.</a:t>
            </a:r>
            <a:r>
              <a:rPr lang="zh-CN" altLang="en-US" sz="2000" b="0" dirty="0"/>
              <a:t> 初始化</a:t>
            </a:r>
            <a:r>
              <a:rPr lang="en-US" altLang="zh-CN" sz="2000" b="0" dirty="0" err="1"/>
              <a:t>inode</a:t>
            </a:r>
            <a:br>
              <a:rPr lang="en-US" altLang="zh-CN" sz="2000" b="0" dirty="0"/>
            </a:br>
            <a:r>
              <a:rPr lang="en-US" altLang="zh-CN" sz="2000" b="0" dirty="0"/>
              <a:t>3.</a:t>
            </a:r>
            <a:r>
              <a:rPr lang="zh-CN" altLang="en-US" sz="2000" b="0" dirty="0"/>
              <a:t> 将目录项写入目录中</a:t>
            </a:r>
            <a:endParaRPr lang="en-US" altLang="zh-CN" sz="20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25" name="TextBox 24">
            <a:extLst>
              <a:ext uri="{FF2B5EF4-FFF2-40B4-BE49-F238E27FC236}">
                <a16:creationId xmlns:a16="http://schemas.microsoft.com/office/drawing/2014/main" id="{25BA285F-0F60-AC42-A617-678374121CB2}"/>
              </a:ext>
            </a:extLst>
          </p:cNvPr>
          <p:cNvSpPr txBox="1"/>
          <p:nvPr/>
        </p:nvSpPr>
        <p:spPr>
          <a:xfrm>
            <a:off x="5138111" y="1329943"/>
            <a:ext cx="3775393" cy="1166345"/>
          </a:xfrm>
          <a:prstGeom prst="rect">
            <a:avLst/>
          </a:prstGeom>
          <a:noFill/>
        </p:spPr>
        <p:txBody>
          <a:bodyPr wrap="none" rtlCol="0">
            <a:spAutoFit/>
          </a:bodyPr>
          <a:lstStyle/>
          <a:p>
            <a:pPr lvl="0">
              <a:lnSpc>
                <a:spcPct val="120000"/>
              </a:lnSpc>
              <a:spcBef>
                <a:spcPts val="1200"/>
              </a:spcBef>
            </a:pPr>
            <a:r>
              <a:rPr lang="zh-CN" altLang="en-CN" sz="2000" dirty="0">
                <a:solidFill>
                  <a:srgbClr val="000000">
                    <a:lumMod val="75000"/>
                    <a:lumOff val="25000"/>
                  </a:srgbClr>
                </a:solidFill>
                <a:ea typeface="微软雅黑" panose="020B0503020204020204" pitchFamily="34" charset="-122"/>
              </a:rPr>
              <a:t>在</a:t>
            </a:r>
            <a:r>
              <a:rPr lang="zh-CN" altLang="en-US" sz="2000" dirty="0">
                <a:solidFill>
                  <a:srgbClr val="000000">
                    <a:lumMod val="75000"/>
                    <a:lumOff val="25000"/>
                  </a:srgbClr>
                </a:solidFill>
                <a:ea typeface="微软雅黑" panose="020B0503020204020204" pitchFamily="34" charset="-122"/>
              </a:rPr>
              <a:t>内存中进行上述操作的同时，</a:t>
            </a:r>
            <a:br>
              <a:rPr lang="en-US" altLang="zh-CN" sz="2000" dirty="0">
                <a:solidFill>
                  <a:srgbClr val="000000">
                    <a:lumMod val="75000"/>
                    <a:lumOff val="25000"/>
                  </a:srgbClr>
                </a:solidFill>
                <a:ea typeface="微软雅黑" panose="020B0503020204020204" pitchFamily="34" charset="-122"/>
              </a:rPr>
            </a:br>
            <a:r>
              <a:rPr lang="zh-CN" altLang="en-US" sz="2000" dirty="0">
                <a:solidFill>
                  <a:srgbClr val="000000">
                    <a:lumMod val="75000"/>
                    <a:lumOff val="25000"/>
                  </a:srgbClr>
                </a:solidFill>
                <a:ea typeface="微软雅黑" panose="020B0503020204020204" pitchFamily="34" charset="-122"/>
              </a:rPr>
              <a:t>在磁盘上记录日志</a:t>
            </a:r>
            <a:br>
              <a:rPr lang="en-CN" altLang="zh-CN" sz="2000" dirty="0">
                <a:solidFill>
                  <a:srgbClr val="000000">
                    <a:lumMod val="75000"/>
                    <a:lumOff val="25000"/>
                  </a:srgbClr>
                </a:solidFill>
                <a:ea typeface="微软雅黑" panose="020B0503020204020204" pitchFamily="34" charset="-122"/>
              </a:rPr>
            </a:br>
            <a:endParaRPr lang="en-US" altLang="zh-CN" sz="2000" dirty="0">
              <a:solidFill>
                <a:srgbClr val="000000">
                  <a:lumMod val="75000"/>
                  <a:lumOff val="25000"/>
                </a:srgbClr>
              </a:solidFill>
              <a:ea typeface="微软雅黑" panose="020B0503020204020204" pitchFamily="34" charset="-122"/>
            </a:endParaRPr>
          </a:p>
        </p:txBody>
      </p:sp>
      <p:grpSp>
        <p:nvGrpSpPr>
          <p:cNvPr id="7" name="Group 6">
            <a:extLst>
              <a:ext uri="{FF2B5EF4-FFF2-40B4-BE49-F238E27FC236}">
                <a16:creationId xmlns:a16="http://schemas.microsoft.com/office/drawing/2014/main" id="{69B68BDB-70DE-4144-9630-58842A1DCE75}"/>
              </a:ext>
            </a:extLst>
          </p:cNvPr>
          <p:cNvGrpSpPr/>
          <p:nvPr/>
        </p:nvGrpSpPr>
        <p:grpSpPr>
          <a:xfrm>
            <a:off x="1160856" y="4224629"/>
            <a:ext cx="6145489" cy="505079"/>
            <a:chOff x="1160856" y="4224629"/>
            <a:chExt cx="6145489" cy="505079"/>
          </a:xfrm>
        </p:grpSpPr>
        <p:sp>
          <p:nvSpPr>
            <p:cNvPr id="8" name="Rectangle 7">
              <a:extLst>
                <a:ext uri="{FF2B5EF4-FFF2-40B4-BE49-F238E27FC236}">
                  <a16:creationId xmlns:a16="http://schemas.microsoft.com/office/drawing/2014/main" id="{AF17B6EE-9199-B441-BCD8-23607022BC86}"/>
                </a:ext>
              </a:extLst>
            </p:cNvPr>
            <p:cNvSpPr/>
            <p:nvPr/>
          </p:nvSpPr>
          <p:spPr>
            <a:xfrm>
              <a:off x="2741206" y="4225032"/>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修改</a:t>
              </a:r>
              <a:r>
                <a:rPr lang="zh-CN" altLang="en-US" sz="1050" dirty="0"/>
                <a:t>后的</a:t>
              </a:r>
              <a:r>
                <a:rPr lang="en-US" altLang="zh-CN" sz="1050" dirty="0" err="1"/>
                <a:t>inode</a:t>
              </a:r>
              <a:r>
                <a:rPr lang="zh-CN" altLang="en-US" sz="1050" dirty="0"/>
                <a:t>分配表</a:t>
              </a:r>
              <a:endParaRPr lang="en-CN" sz="1050" dirty="0"/>
            </a:p>
          </p:txBody>
        </p:sp>
        <p:sp>
          <p:nvSpPr>
            <p:cNvPr id="9" name="Rectangle 8">
              <a:extLst>
                <a:ext uri="{FF2B5EF4-FFF2-40B4-BE49-F238E27FC236}">
                  <a16:creationId xmlns:a16="http://schemas.microsoft.com/office/drawing/2014/main" id="{F50834FF-82A3-ED45-9D07-58E1517527B4}"/>
                </a:ext>
              </a:extLst>
            </p:cNvPr>
            <p:cNvSpPr/>
            <p:nvPr/>
          </p:nvSpPr>
          <p:spPr>
            <a:xfrm>
              <a:off x="3745189" y="4224831"/>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US" sz="1050" dirty="0">
                  <a:solidFill>
                    <a:srgbClr val="000000"/>
                  </a:solidFill>
                </a:rPr>
                <a:t>新</a:t>
              </a:r>
              <a:r>
                <a:rPr lang="en-US" altLang="zh-CN" sz="1050" dirty="0" err="1">
                  <a:solidFill>
                    <a:srgbClr val="000000"/>
                  </a:solidFill>
                </a:rPr>
                <a:t>inode</a:t>
              </a:r>
              <a:r>
                <a:rPr lang="zh-CN" altLang="en-US" sz="1050" dirty="0">
                  <a:solidFill>
                    <a:srgbClr val="000000"/>
                  </a:solidFill>
                </a:rPr>
                <a:t>所在块的数据</a:t>
              </a:r>
              <a:endParaRPr lang="en-CN" sz="1050" dirty="0">
                <a:solidFill>
                  <a:srgbClr val="000000"/>
                </a:solidFill>
              </a:endParaRPr>
            </a:p>
          </p:txBody>
        </p:sp>
        <p:cxnSp>
          <p:nvCxnSpPr>
            <p:cNvPr id="11" name="Straight Connector 10">
              <a:extLst>
                <a:ext uri="{FF2B5EF4-FFF2-40B4-BE49-F238E27FC236}">
                  <a16:creationId xmlns:a16="http://schemas.microsoft.com/office/drawing/2014/main" id="{1239CDEF-BD3C-1F4F-8FC5-3E699BFBD864}"/>
                </a:ext>
              </a:extLst>
            </p:cNvPr>
            <p:cNvCxnSpPr/>
            <p:nvPr/>
          </p:nvCxnSpPr>
          <p:spPr>
            <a:xfrm>
              <a:off x="2553817" y="4225032"/>
              <a:ext cx="4752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EA58414-EB70-F246-A81A-620440E94B07}"/>
                </a:ext>
              </a:extLst>
            </p:cNvPr>
            <p:cNvCxnSpPr/>
            <p:nvPr/>
          </p:nvCxnSpPr>
          <p:spPr>
            <a:xfrm>
              <a:off x="2553817" y="4729708"/>
              <a:ext cx="4752528"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FA592295-AFDB-E443-B217-4A51245211CC}"/>
                </a:ext>
              </a:extLst>
            </p:cNvPr>
            <p:cNvSpPr/>
            <p:nvPr/>
          </p:nvSpPr>
          <p:spPr>
            <a:xfrm>
              <a:off x="2049761" y="4225032"/>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日志开始</a:t>
              </a:r>
              <a:endParaRPr lang="en-CN" sz="1050" dirty="0"/>
            </a:p>
          </p:txBody>
        </p:sp>
        <p:sp>
          <p:nvSpPr>
            <p:cNvPr id="16" name="Rectangle 15">
              <a:extLst>
                <a:ext uri="{FF2B5EF4-FFF2-40B4-BE49-F238E27FC236}">
                  <a16:creationId xmlns:a16="http://schemas.microsoft.com/office/drawing/2014/main" id="{3868C864-94EB-9E48-998A-F77BFD1ECC6A}"/>
                </a:ext>
              </a:extLst>
            </p:cNvPr>
            <p:cNvSpPr/>
            <p:nvPr/>
          </p:nvSpPr>
          <p:spPr>
            <a:xfrm>
              <a:off x="5542684" y="4224629"/>
              <a:ext cx="504056"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日志提交</a:t>
              </a:r>
              <a:endParaRPr lang="en-CN" sz="1050" dirty="0"/>
            </a:p>
          </p:txBody>
        </p:sp>
        <p:sp>
          <p:nvSpPr>
            <p:cNvPr id="17" name="Rectangle 16">
              <a:extLst>
                <a:ext uri="{FF2B5EF4-FFF2-40B4-BE49-F238E27FC236}">
                  <a16:creationId xmlns:a16="http://schemas.microsoft.com/office/drawing/2014/main" id="{77314EC5-AD6A-D14F-9676-D9DF436B8186}"/>
                </a:ext>
              </a:extLst>
            </p:cNvPr>
            <p:cNvSpPr/>
            <p:nvPr/>
          </p:nvSpPr>
          <p:spPr>
            <a:xfrm>
              <a:off x="4750596" y="4224629"/>
              <a:ext cx="792088" cy="5046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r>
                <a:rPr lang="zh-CN" altLang="en-CN" sz="1050" dirty="0">
                  <a:solidFill>
                    <a:srgbClr val="000000"/>
                  </a:solidFill>
                </a:rPr>
                <a:t>目录项</a:t>
              </a:r>
              <a:r>
                <a:rPr lang="zh-CN" altLang="en-US" sz="1050" dirty="0">
                  <a:solidFill>
                    <a:srgbClr val="000000"/>
                  </a:solidFill>
                </a:rPr>
                <a:t>写入后的块的数据</a:t>
              </a:r>
              <a:endParaRPr lang="en-CN" sz="1050" dirty="0">
                <a:solidFill>
                  <a:srgbClr val="000000"/>
                </a:solidFill>
              </a:endParaRPr>
            </a:p>
          </p:txBody>
        </p:sp>
        <p:sp>
          <p:nvSpPr>
            <p:cNvPr id="19" name="Rectangle 18">
              <a:extLst>
                <a:ext uri="{FF2B5EF4-FFF2-40B4-BE49-F238E27FC236}">
                  <a16:creationId xmlns:a16="http://schemas.microsoft.com/office/drawing/2014/main" id="{64ED7109-4200-7E4B-8230-1EBB402B16C8}"/>
                </a:ext>
              </a:extLst>
            </p:cNvPr>
            <p:cNvSpPr/>
            <p:nvPr/>
          </p:nvSpPr>
          <p:spPr>
            <a:xfrm>
              <a:off x="2553817" y="4225435"/>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0" name="Rectangle 19">
              <a:extLst>
                <a:ext uri="{FF2B5EF4-FFF2-40B4-BE49-F238E27FC236}">
                  <a16:creationId xmlns:a16="http://schemas.microsoft.com/office/drawing/2014/main" id="{E010EBEE-5C18-034C-840A-335AF034DF34}"/>
                </a:ext>
              </a:extLst>
            </p:cNvPr>
            <p:cNvSpPr/>
            <p:nvPr/>
          </p:nvSpPr>
          <p:spPr>
            <a:xfrm>
              <a:off x="3536228" y="4225607"/>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21" name="Rectangle 20">
              <a:extLst>
                <a:ext uri="{FF2B5EF4-FFF2-40B4-BE49-F238E27FC236}">
                  <a16:creationId xmlns:a16="http://schemas.microsoft.com/office/drawing/2014/main" id="{9E4E1FEC-81CC-4F46-9AF8-6062E7A5A45E}"/>
                </a:ext>
              </a:extLst>
            </p:cNvPr>
            <p:cNvSpPr/>
            <p:nvPr/>
          </p:nvSpPr>
          <p:spPr>
            <a:xfrm>
              <a:off x="4541532" y="4225810"/>
              <a:ext cx="207640" cy="50387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块号</a:t>
              </a:r>
              <a:endParaRPr lang="en-CN" sz="1050" dirty="0"/>
            </a:p>
          </p:txBody>
        </p:sp>
        <p:sp>
          <p:nvSpPr>
            <p:cNvPr id="6" name="TextBox 5">
              <a:extLst>
                <a:ext uri="{FF2B5EF4-FFF2-40B4-BE49-F238E27FC236}">
                  <a16:creationId xmlns:a16="http://schemas.microsoft.com/office/drawing/2014/main" id="{7EC3571F-5394-E64F-A82C-C58600D91D3A}"/>
                </a:ext>
              </a:extLst>
            </p:cNvPr>
            <p:cNvSpPr txBox="1"/>
            <p:nvPr/>
          </p:nvSpPr>
          <p:spPr>
            <a:xfrm>
              <a:off x="1160856" y="4359973"/>
              <a:ext cx="646331" cy="369332"/>
            </a:xfrm>
            <a:prstGeom prst="rect">
              <a:avLst/>
            </a:prstGeom>
            <a:noFill/>
          </p:spPr>
          <p:txBody>
            <a:bodyPr wrap="none" rtlCol="0">
              <a:spAutoFit/>
            </a:bodyPr>
            <a:lstStyle/>
            <a:p>
              <a:r>
                <a:rPr lang="zh-CN" altLang="en-US" dirty="0"/>
                <a:t>磁盘</a:t>
              </a:r>
              <a:endParaRPr lang="en-CN" dirty="0"/>
            </a:p>
          </p:txBody>
        </p:sp>
      </p:grpSp>
      <p:cxnSp>
        <p:nvCxnSpPr>
          <p:cNvPr id="13" name="肘形连接符 12">
            <a:extLst>
              <a:ext uri="{FF2B5EF4-FFF2-40B4-BE49-F238E27FC236}">
                <a16:creationId xmlns:a16="http://schemas.microsoft.com/office/drawing/2014/main" id="{CD19F1E8-0C10-714C-BA70-0DE7EFE0A9CE}"/>
              </a:ext>
            </a:extLst>
          </p:cNvPr>
          <p:cNvCxnSpPr>
            <a:endCxn id="8" idx="0"/>
          </p:cNvCxnSpPr>
          <p:nvPr/>
        </p:nvCxnSpPr>
        <p:spPr>
          <a:xfrm rot="16200000" flipH="1">
            <a:off x="1859418" y="2947200"/>
            <a:ext cx="2159620" cy="396044"/>
          </a:xfrm>
          <a:prstGeom prst="bentConnector3">
            <a:avLst>
              <a:gd name="adj1" fmla="val 6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肘形连接符 21">
            <a:extLst>
              <a:ext uri="{FF2B5EF4-FFF2-40B4-BE49-F238E27FC236}">
                <a16:creationId xmlns:a16="http://schemas.microsoft.com/office/drawing/2014/main" id="{287AC29B-D197-C645-981D-E8D9C4A0B93A}"/>
              </a:ext>
            </a:extLst>
          </p:cNvPr>
          <p:cNvCxnSpPr>
            <a:cxnSpLocks/>
            <a:endCxn id="9" idx="0"/>
          </p:cNvCxnSpPr>
          <p:nvPr/>
        </p:nvCxnSpPr>
        <p:spPr>
          <a:xfrm>
            <a:off x="2321348" y="2496288"/>
            <a:ext cx="1819885" cy="172854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肘形连接符 25">
            <a:extLst>
              <a:ext uri="{FF2B5EF4-FFF2-40B4-BE49-F238E27FC236}">
                <a16:creationId xmlns:a16="http://schemas.microsoft.com/office/drawing/2014/main" id="{47D906AB-9918-0C4F-8AD4-BD0FB41AD7A7}"/>
              </a:ext>
            </a:extLst>
          </p:cNvPr>
          <p:cNvCxnSpPr>
            <a:cxnSpLocks/>
            <a:endCxn id="17" idx="0"/>
          </p:cNvCxnSpPr>
          <p:nvPr/>
        </p:nvCxnSpPr>
        <p:spPr>
          <a:xfrm>
            <a:off x="3315846" y="2857500"/>
            <a:ext cx="1830794" cy="136712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454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BDB96-09E1-A84B-8C99-7D80BD616E24}"/>
              </a:ext>
            </a:extLst>
          </p:cNvPr>
          <p:cNvSpPr>
            <a:spLocks noGrp="1"/>
          </p:cNvSpPr>
          <p:nvPr>
            <p:ph type="title"/>
          </p:nvPr>
        </p:nvSpPr>
        <p:spPr/>
        <p:txBody>
          <a:bodyPr/>
          <a:lstStyle/>
          <a:p>
            <a:r>
              <a:rPr lang="en-US" altLang="zh-CN" dirty="0"/>
              <a:t>Review</a:t>
            </a:r>
            <a:r>
              <a:rPr lang="zh-CN" altLang="en-US" dirty="0"/>
              <a:t>：</a:t>
            </a:r>
            <a:r>
              <a:rPr lang="zh-CN" altLang="en-CN" dirty="0"/>
              <a:t>写时复制</a:t>
            </a:r>
            <a:r>
              <a:rPr lang="zh-CN" altLang="en-US" dirty="0"/>
              <a:t>（</a:t>
            </a:r>
            <a:r>
              <a:rPr lang="en-US" altLang="zh-CN" dirty="0"/>
              <a:t>Copy-on-Write</a:t>
            </a:r>
            <a:r>
              <a:rPr lang="zh-CN" altLang="en-US" dirty="0"/>
              <a:t>）</a:t>
            </a:r>
            <a:endParaRPr lang="en-CN" dirty="0"/>
          </a:p>
        </p:txBody>
      </p:sp>
      <p:sp>
        <p:nvSpPr>
          <p:cNvPr id="3" name="Content Placeholder 2">
            <a:extLst>
              <a:ext uri="{FF2B5EF4-FFF2-40B4-BE49-F238E27FC236}">
                <a16:creationId xmlns:a16="http://schemas.microsoft.com/office/drawing/2014/main" id="{9000C73B-B248-0A4C-90E5-5158788277C4}"/>
              </a:ext>
            </a:extLst>
          </p:cNvPr>
          <p:cNvSpPr>
            <a:spLocks noGrp="1"/>
          </p:cNvSpPr>
          <p:nvPr>
            <p:ph idx="1"/>
          </p:nvPr>
        </p:nvSpPr>
        <p:spPr/>
        <p:txBody>
          <a:bodyPr/>
          <a:lstStyle/>
          <a:p>
            <a:r>
              <a:rPr lang="zh-CN" altLang="en-US" sz="2000" b="0" dirty="0"/>
              <a:t>在修改多个数据时，不直接修改数据，而是将数据复制一份，在复制上进行修改，并通过递归的方法将修改变成原子操作</a:t>
            </a:r>
            <a:endParaRPr lang="en-US" altLang="zh-CN" sz="2000" b="0" dirty="0"/>
          </a:p>
          <a:p>
            <a:r>
              <a:rPr lang="zh-CN" altLang="en-US" sz="2000" b="0" dirty="0"/>
              <a:t>常用于树状结构</a:t>
            </a:r>
            <a:endParaRPr lang="en-US" altLang="zh-CN" sz="2000" b="0" dirty="0"/>
          </a:p>
          <a:p>
            <a:endParaRPr lang="en-CN" dirty="0"/>
          </a:p>
        </p:txBody>
      </p:sp>
      <p:sp>
        <p:nvSpPr>
          <p:cNvPr id="4" name="Slide Number Placeholder 3">
            <a:extLst>
              <a:ext uri="{FF2B5EF4-FFF2-40B4-BE49-F238E27FC236}">
                <a16:creationId xmlns:a16="http://schemas.microsoft.com/office/drawing/2014/main" id="{7D954BB9-3B5C-014E-9198-7AFC9734C416}"/>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5" name="Footer Placeholder 4">
            <a:extLst>
              <a:ext uri="{FF2B5EF4-FFF2-40B4-BE49-F238E27FC236}">
                <a16:creationId xmlns:a16="http://schemas.microsoft.com/office/drawing/2014/main" id="{FC9EC982-13FD-F740-B1F1-2BB961FE0C7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11983416-A93A-BD4C-836C-DC0C82044113}"/>
              </a:ext>
            </a:extLst>
          </p:cNvPr>
          <p:cNvSpPr/>
          <p:nvPr/>
        </p:nvSpPr>
        <p:spPr>
          <a:xfrm>
            <a:off x="1675895" y="3060967"/>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A</a:t>
            </a:r>
          </a:p>
        </p:txBody>
      </p:sp>
      <p:sp>
        <p:nvSpPr>
          <p:cNvPr id="7" name="Rectangle 6">
            <a:extLst>
              <a:ext uri="{FF2B5EF4-FFF2-40B4-BE49-F238E27FC236}">
                <a16:creationId xmlns:a16="http://schemas.microsoft.com/office/drawing/2014/main" id="{19D8E826-425C-F048-B19B-867BC4F60670}"/>
              </a:ext>
            </a:extLst>
          </p:cNvPr>
          <p:cNvSpPr/>
          <p:nvPr/>
        </p:nvSpPr>
        <p:spPr>
          <a:xfrm>
            <a:off x="1112709" y="373261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8" name="Rectangle 7">
            <a:extLst>
              <a:ext uri="{FF2B5EF4-FFF2-40B4-BE49-F238E27FC236}">
                <a16:creationId xmlns:a16="http://schemas.microsoft.com/office/drawing/2014/main" id="{A1703A12-2468-9B4B-9055-883A8B495B4E}"/>
              </a:ext>
            </a:extLst>
          </p:cNvPr>
          <p:cNvSpPr/>
          <p:nvPr/>
        </p:nvSpPr>
        <p:spPr>
          <a:xfrm>
            <a:off x="2337916" y="373261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9" name="Rectangle 8">
            <a:extLst>
              <a:ext uri="{FF2B5EF4-FFF2-40B4-BE49-F238E27FC236}">
                <a16:creationId xmlns:a16="http://schemas.microsoft.com/office/drawing/2014/main" id="{B5361CEF-2BE6-9644-9DB2-9F70B5DAA663}"/>
              </a:ext>
            </a:extLst>
          </p:cNvPr>
          <p:cNvSpPr/>
          <p:nvPr/>
        </p:nvSpPr>
        <p:spPr>
          <a:xfrm>
            <a:off x="548985" y="444615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D</a:t>
            </a:r>
          </a:p>
        </p:txBody>
      </p:sp>
      <p:sp>
        <p:nvSpPr>
          <p:cNvPr id="10" name="Rectangle 9">
            <a:extLst>
              <a:ext uri="{FF2B5EF4-FFF2-40B4-BE49-F238E27FC236}">
                <a16:creationId xmlns:a16="http://schemas.microsoft.com/office/drawing/2014/main" id="{DD3B22C0-405B-8D4D-8A55-47FFCE2421A2}"/>
              </a:ext>
            </a:extLst>
          </p:cNvPr>
          <p:cNvSpPr/>
          <p:nvPr/>
        </p:nvSpPr>
        <p:spPr>
          <a:xfrm>
            <a:off x="1390627" y="444615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11" name="Rectangle 10">
            <a:extLst>
              <a:ext uri="{FF2B5EF4-FFF2-40B4-BE49-F238E27FC236}">
                <a16:creationId xmlns:a16="http://schemas.microsoft.com/office/drawing/2014/main" id="{EB551A6D-B589-E442-93D7-4261BE58B102}"/>
              </a:ext>
            </a:extLst>
          </p:cNvPr>
          <p:cNvSpPr/>
          <p:nvPr/>
        </p:nvSpPr>
        <p:spPr>
          <a:xfrm>
            <a:off x="2179418" y="4447009"/>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F</a:t>
            </a:r>
            <a:endParaRPr lang="en-CN" dirty="0"/>
          </a:p>
        </p:txBody>
      </p:sp>
      <p:sp>
        <p:nvSpPr>
          <p:cNvPr id="12" name="Rectangle 11">
            <a:extLst>
              <a:ext uri="{FF2B5EF4-FFF2-40B4-BE49-F238E27FC236}">
                <a16:creationId xmlns:a16="http://schemas.microsoft.com/office/drawing/2014/main" id="{D1D452C7-BD7F-704D-88A8-B36BD4672843}"/>
              </a:ext>
            </a:extLst>
          </p:cNvPr>
          <p:cNvSpPr/>
          <p:nvPr/>
        </p:nvSpPr>
        <p:spPr>
          <a:xfrm>
            <a:off x="2932985" y="444615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cxnSp>
        <p:nvCxnSpPr>
          <p:cNvPr id="14" name="Straight Arrow Connector 13">
            <a:extLst>
              <a:ext uri="{FF2B5EF4-FFF2-40B4-BE49-F238E27FC236}">
                <a16:creationId xmlns:a16="http://schemas.microsoft.com/office/drawing/2014/main" id="{6FFED590-CEBD-A746-8B24-5BF3FA5CAFE7}"/>
              </a:ext>
            </a:extLst>
          </p:cNvPr>
          <p:cNvCxnSpPr>
            <a:stCxn id="6" idx="2"/>
            <a:endCxn id="7" idx="0"/>
          </p:cNvCxnSpPr>
          <p:nvPr/>
        </p:nvCxnSpPr>
        <p:spPr>
          <a:xfrm flipH="1">
            <a:off x="1394572" y="3426991"/>
            <a:ext cx="563186"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C65CABB-1417-6F44-8C61-F9B9AF9F5D8A}"/>
              </a:ext>
            </a:extLst>
          </p:cNvPr>
          <p:cNvCxnSpPr>
            <a:cxnSpLocks/>
            <a:stCxn id="6" idx="2"/>
            <a:endCxn id="8" idx="0"/>
          </p:cNvCxnSpPr>
          <p:nvPr/>
        </p:nvCxnSpPr>
        <p:spPr>
          <a:xfrm>
            <a:off x="1957758" y="3426991"/>
            <a:ext cx="662020"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A53E997-BBB2-F245-9A40-BD64777FC7D2}"/>
              </a:ext>
            </a:extLst>
          </p:cNvPr>
          <p:cNvCxnSpPr>
            <a:cxnSpLocks/>
            <a:stCxn id="7" idx="2"/>
            <a:endCxn id="9" idx="0"/>
          </p:cNvCxnSpPr>
          <p:nvPr/>
        </p:nvCxnSpPr>
        <p:spPr>
          <a:xfrm flipH="1">
            <a:off x="830848" y="4098636"/>
            <a:ext cx="563724"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B0AEFDA-8F55-2341-A444-759A8B97D804}"/>
              </a:ext>
            </a:extLst>
          </p:cNvPr>
          <p:cNvCxnSpPr>
            <a:cxnSpLocks/>
            <a:stCxn id="7" idx="2"/>
            <a:endCxn id="10" idx="0"/>
          </p:cNvCxnSpPr>
          <p:nvPr/>
        </p:nvCxnSpPr>
        <p:spPr>
          <a:xfrm>
            <a:off x="1394572" y="4098636"/>
            <a:ext cx="277917"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5CD328A-6C90-8A42-AFE2-C09AA52ED37E}"/>
              </a:ext>
            </a:extLst>
          </p:cNvPr>
          <p:cNvCxnSpPr>
            <a:cxnSpLocks/>
            <a:stCxn id="8" idx="2"/>
            <a:endCxn id="11" idx="0"/>
          </p:cNvCxnSpPr>
          <p:nvPr/>
        </p:nvCxnSpPr>
        <p:spPr>
          <a:xfrm flipH="1">
            <a:off x="2461281" y="4098636"/>
            <a:ext cx="158498"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E6C4452-BCB8-5C41-9022-3F51709E35EC}"/>
              </a:ext>
            </a:extLst>
          </p:cNvPr>
          <p:cNvCxnSpPr>
            <a:cxnSpLocks/>
            <a:stCxn id="8" idx="2"/>
            <a:endCxn id="12" idx="0"/>
          </p:cNvCxnSpPr>
          <p:nvPr/>
        </p:nvCxnSpPr>
        <p:spPr>
          <a:xfrm>
            <a:off x="2619778" y="4098636"/>
            <a:ext cx="595069"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E30B8829-FC7C-6A43-B7E9-19B789AB61B1}"/>
              </a:ext>
            </a:extLst>
          </p:cNvPr>
          <p:cNvSpPr/>
          <p:nvPr/>
        </p:nvSpPr>
        <p:spPr>
          <a:xfrm>
            <a:off x="5709521" y="3060966"/>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A</a:t>
            </a:r>
          </a:p>
        </p:txBody>
      </p:sp>
      <p:sp>
        <p:nvSpPr>
          <p:cNvPr id="32" name="Rectangle 31">
            <a:extLst>
              <a:ext uri="{FF2B5EF4-FFF2-40B4-BE49-F238E27FC236}">
                <a16:creationId xmlns:a16="http://schemas.microsoft.com/office/drawing/2014/main" id="{8645D632-890A-CF4C-B47C-CC49F11E36D5}"/>
              </a:ext>
            </a:extLst>
          </p:cNvPr>
          <p:cNvSpPr/>
          <p:nvPr/>
        </p:nvSpPr>
        <p:spPr>
          <a:xfrm>
            <a:off x="4699992" y="3732610"/>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33" name="Rectangle 32">
            <a:extLst>
              <a:ext uri="{FF2B5EF4-FFF2-40B4-BE49-F238E27FC236}">
                <a16:creationId xmlns:a16="http://schemas.microsoft.com/office/drawing/2014/main" id="{9BCEE15E-6011-5C4C-BE38-D4659A38D439}"/>
              </a:ext>
            </a:extLst>
          </p:cNvPr>
          <p:cNvSpPr/>
          <p:nvPr/>
        </p:nvSpPr>
        <p:spPr>
          <a:xfrm>
            <a:off x="6791066" y="3732611"/>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34" name="Rectangle 33">
            <a:extLst>
              <a:ext uri="{FF2B5EF4-FFF2-40B4-BE49-F238E27FC236}">
                <a16:creationId xmlns:a16="http://schemas.microsoft.com/office/drawing/2014/main" id="{F0CA3471-84A2-0F43-B558-7C6D2182927A}"/>
              </a:ext>
            </a:extLst>
          </p:cNvPr>
          <p:cNvSpPr/>
          <p:nvPr/>
        </p:nvSpPr>
        <p:spPr>
          <a:xfrm>
            <a:off x="4136268" y="4446149"/>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CN" dirty="0"/>
              <a:t>D</a:t>
            </a:r>
          </a:p>
        </p:txBody>
      </p:sp>
      <p:sp>
        <p:nvSpPr>
          <p:cNvPr id="35" name="Rectangle 34">
            <a:extLst>
              <a:ext uri="{FF2B5EF4-FFF2-40B4-BE49-F238E27FC236}">
                <a16:creationId xmlns:a16="http://schemas.microsoft.com/office/drawing/2014/main" id="{4FC81A47-A184-BD4B-BF43-51708EFCEAB6}"/>
              </a:ext>
            </a:extLst>
          </p:cNvPr>
          <p:cNvSpPr/>
          <p:nvPr/>
        </p:nvSpPr>
        <p:spPr>
          <a:xfrm>
            <a:off x="4897350" y="4463772"/>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36" name="Rectangle 35">
            <a:extLst>
              <a:ext uri="{FF2B5EF4-FFF2-40B4-BE49-F238E27FC236}">
                <a16:creationId xmlns:a16="http://schemas.microsoft.com/office/drawing/2014/main" id="{9760C5B9-72DB-AE47-BE6E-2F6B1FE10BD5}"/>
              </a:ext>
            </a:extLst>
          </p:cNvPr>
          <p:cNvSpPr/>
          <p:nvPr/>
        </p:nvSpPr>
        <p:spPr>
          <a:xfrm>
            <a:off x="6632568" y="4447008"/>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F</a:t>
            </a:r>
            <a:endParaRPr lang="en-CN" dirty="0"/>
          </a:p>
        </p:txBody>
      </p:sp>
      <p:sp>
        <p:nvSpPr>
          <p:cNvPr id="37" name="Rectangle 36">
            <a:extLst>
              <a:ext uri="{FF2B5EF4-FFF2-40B4-BE49-F238E27FC236}">
                <a16:creationId xmlns:a16="http://schemas.microsoft.com/office/drawing/2014/main" id="{541BA529-D6F9-504F-97C8-C662298E92DC}"/>
              </a:ext>
            </a:extLst>
          </p:cNvPr>
          <p:cNvSpPr/>
          <p:nvPr/>
        </p:nvSpPr>
        <p:spPr>
          <a:xfrm>
            <a:off x="7386135" y="4446150"/>
            <a:ext cx="563724" cy="36602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cxnSp>
        <p:nvCxnSpPr>
          <p:cNvPr id="38" name="Straight Arrow Connector 37">
            <a:extLst>
              <a:ext uri="{FF2B5EF4-FFF2-40B4-BE49-F238E27FC236}">
                <a16:creationId xmlns:a16="http://schemas.microsoft.com/office/drawing/2014/main" id="{704E2907-8F5E-F647-8D47-D3CC0B0D5371}"/>
              </a:ext>
            </a:extLst>
          </p:cNvPr>
          <p:cNvCxnSpPr>
            <a:stCxn id="31" idx="2"/>
            <a:endCxn id="32" idx="0"/>
          </p:cNvCxnSpPr>
          <p:nvPr/>
        </p:nvCxnSpPr>
        <p:spPr>
          <a:xfrm flipH="1">
            <a:off x="4981854" y="3426990"/>
            <a:ext cx="1009529" cy="3056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FC967E2-6E2C-2A42-8F8D-D749D855D2A6}"/>
              </a:ext>
            </a:extLst>
          </p:cNvPr>
          <p:cNvCxnSpPr>
            <a:cxnSpLocks/>
            <a:stCxn id="31" idx="2"/>
            <a:endCxn id="33" idx="0"/>
          </p:cNvCxnSpPr>
          <p:nvPr/>
        </p:nvCxnSpPr>
        <p:spPr>
          <a:xfrm>
            <a:off x="5991383" y="3426990"/>
            <a:ext cx="1081545" cy="3056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7BE51F2-7415-A042-A886-F65DC01C1E84}"/>
              </a:ext>
            </a:extLst>
          </p:cNvPr>
          <p:cNvCxnSpPr>
            <a:cxnSpLocks/>
            <a:stCxn id="32" idx="2"/>
            <a:endCxn id="34" idx="0"/>
          </p:cNvCxnSpPr>
          <p:nvPr/>
        </p:nvCxnSpPr>
        <p:spPr>
          <a:xfrm flipH="1">
            <a:off x="4418131" y="4098634"/>
            <a:ext cx="563724"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3A8535E-FB55-9840-A929-114BC797B87F}"/>
              </a:ext>
            </a:extLst>
          </p:cNvPr>
          <p:cNvCxnSpPr>
            <a:cxnSpLocks/>
            <a:stCxn id="32" idx="2"/>
            <a:endCxn id="35" idx="0"/>
          </p:cNvCxnSpPr>
          <p:nvPr/>
        </p:nvCxnSpPr>
        <p:spPr>
          <a:xfrm>
            <a:off x="4981854" y="4098634"/>
            <a:ext cx="197358" cy="3651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69AD8FB-809D-3546-A384-0D577886A3A9}"/>
              </a:ext>
            </a:extLst>
          </p:cNvPr>
          <p:cNvCxnSpPr>
            <a:cxnSpLocks/>
            <a:stCxn id="33" idx="2"/>
            <a:endCxn id="36" idx="0"/>
          </p:cNvCxnSpPr>
          <p:nvPr/>
        </p:nvCxnSpPr>
        <p:spPr>
          <a:xfrm flipH="1">
            <a:off x="6914431" y="4098635"/>
            <a:ext cx="158498"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3F9777F-0854-2942-A11E-3265880A6C13}"/>
              </a:ext>
            </a:extLst>
          </p:cNvPr>
          <p:cNvCxnSpPr>
            <a:cxnSpLocks/>
            <a:stCxn id="33" idx="2"/>
            <a:endCxn id="37" idx="0"/>
          </p:cNvCxnSpPr>
          <p:nvPr/>
        </p:nvCxnSpPr>
        <p:spPr>
          <a:xfrm>
            <a:off x="7072928" y="4098635"/>
            <a:ext cx="595069" cy="3475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F151C1AE-E4DC-7446-B1DE-EB0528255396}"/>
              </a:ext>
            </a:extLst>
          </p:cNvPr>
          <p:cNvSpPr/>
          <p:nvPr/>
        </p:nvSpPr>
        <p:spPr>
          <a:xfrm>
            <a:off x="5558318" y="4463772"/>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a:t>
            </a:r>
            <a:endParaRPr lang="en-CN" dirty="0"/>
          </a:p>
        </p:txBody>
      </p:sp>
      <p:sp>
        <p:nvSpPr>
          <p:cNvPr id="52" name="Rectangle 51">
            <a:extLst>
              <a:ext uri="{FF2B5EF4-FFF2-40B4-BE49-F238E27FC236}">
                <a16:creationId xmlns:a16="http://schemas.microsoft.com/office/drawing/2014/main" id="{9542AF1F-4E8F-B440-905B-F1360719D7E9}"/>
              </a:ext>
            </a:extLst>
          </p:cNvPr>
          <p:cNvSpPr/>
          <p:nvPr/>
        </p:nvSpPr>
        <p:spPr>
          <a:xfrm>
            <a:off x="8132729" y="4446149"/>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G’</a:t>
            </a:r>
            <a:endParaRPr lang="en-CN" dirty="0"/>
          </a:p>
        </p:txBody>
      </p:sp>
      <p:sp>
        <p:nvSpPr>
          <p:cNvPr id="53" name="Rectangle 52">
            <a:extLst>
              <a:ext uri="{FF2B5EF4-FFF2-40B4-BE49-F238E27FC236}">
                <a16:creationId xmlns:a16="http://schemas.microsoft.com/office/drawing/2014/main" id="{F0C8708F-493F-C84D-9BD7-C16C22744F55}"/>
              </a:ext>
            </a:extLst>
          </p:cNvPr>
          <p:cNvSpPr/>
          <p:nvPr/>
        </p:nvSpPr>
        <p:spPr>
          <a:xfrm>
            <a:off x="5408112" y="3731724"/>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B’</a:t>
            </a:r>
            <a:endParaRPr lang="en-CN" dirty="0"/>
          </a:p>
        </p:txBody>
      </p:sp>
      <p:sp>
        <p:nvSpPr>
          <p:cNvPr id="54" name="Rectangle 53">
            <a:extLst>
              <a:ext uri="{FF2B5EF4-FFF2-40B4-BE49-F238E27FC236}">
                <a16:creationId xmlns:a16="http://schemas.microsoft.com/office/drawing/2014/main" id="{6C74F6B1-A322-6445-989E-3026964B2516}"/>
              </a:ext>
            </a:extLst>
          </p:cNvPr>
          <p:cNvSpPr/>
          <p:nvPr/>
        </p:nvSpPr>
        <p:spPr>
          <a:xfrm>
            <a:off x="7704013" y="3735377"/>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endParaRPr lang="en-CN" dirty="0"/>
          </a:p>
        </p:txBody>
      </p:sp>
      <p:sp>
        <p:nvSpPr>
          <p:cNvPr id="55" name="Rectangle 54">
            <a:extLst>
              <a:ext uri="{FF2B5EF4-FFF2-40B4-BE49-F238E27FC236}">
                <a16:creationId xmlns:a16="http://schemas.microsoft.com/office/drawing/2014/main" id="{6E9B1F3B-775A-DD4C-A984-3857AED3DD1F}"/>
              </a:ext>
            </a:extLst>
          </p:cNvPr>
          <p:cNvSpPr/>
          <p:nvPr/>
        </p:nvSpPr>
        <p:spPr>
          <a:xfrm>
            <a:off x="6711818" y="3036307"/>
            <a:ext cx="563724" cy="366024"/>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A’</a:t>
            </a:r>
            <a:endParaRPr lang="en-CN" dirty="0"/>
          </a:p>
        </p:txBody>
      </p:sp>
      <p:cxnSp>
        <p:nvCxnSpPr>
          <p:cNvPr id="56" name="Straight Arrow Connector 55">
            <a:extLst>
              <a:ext uri="{FF2B5EF4-FFF2-40B4-BE49-F238E27FC236}">
                <a16:creationId xmlns:a16="http://schemas.microsoft.com/office/drawing/2014/main" id="{5C156D9D-D534-484C-BA98-0FBA087721D8}"/>
              </a:ext>
            </a:extLst>
          </p:cNvPr>
          <p:cNvCxnSpPr>
            <a:cxnSpLocks/>
            <a:endCxn id="6" idx="0"/>
          </p:cNvCxnSpPr>
          <p:nvPr/>
        </p:nvCxnSpPr>
        <p:spPr>
          <a:xfrm flipH="1">
            <a:off x="1957757" y="2857500"/>
            <a:ext cx="419030" cy="2034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BEAF299-8B79-1C40-AADD-A8636D2AC7CD}"/>
              </a:ext>
            </a:extLst>
          </p:cNvPr>
          <p:cNvCxnSpPr>
            <a:cxnSpLocks/>
            <a:endCxn id="31" idx="0"/>
          </p:cNvCxnSpPr>
          <p:nvPr/>
        </p:nvCxnSpPr>
        <p:spPr>
          <a:xfrm flipH="1">
            <a:off x="5991383" y="2712593"/>
            <a:ext cx="540772" cy="348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4B19B04-7368-7C44-A710-33BE3DA5B7FA}"/>
              </a:ext>
            </a:extLst>
          </p:cNvPr>
          <p:cNvCxnSpPr>
            <a:cxnSpLocks/>
            <a:stCxn id="53" idx="2"/>
            <a:endCxn id="49" idx="0"/>
          </p:cNvCxnSpPr>
          <p:nvPr/>
        </p:nvCxnSpPr>
        <p:spPr>
          <a:xfrm>
            <a:off x="5689974" y="4097748"/>
            <a:ext cx="150206" cy="36602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6FC89A6-6C41-4648-98C8-344CF22DE46D}"/>
              </a:ext>
            </a:extLst>
          </p:cNvPr>
          <p:cNvCxnSpPr>
            <a:cxnSpLocks/>
            <a:stCxn id="55" idx="2"/>
            <a:endCxn id="54" idx="0"/>
          </p:cNvCxnSpPr>
          <p:nvPr/>
        </p:nvCxnSpPr>
        <p:spPr>
          <a:xfrm>
            <a:off x="6993680" y="3402331"/>
            <a:ext cx="992195" cy="33304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485ECF0-F677-254D-8CAD-543376F4A441}"/>
              </a:ext>
            </a:extLst>
          </p:cNvPr>
          <p:cNvCxnSpPr>
            <a:cxnSpLocks/>
            <a:stCxn id="55" idx="2"/>
            <a:endCxn id="53" idx="0"/>
          </p:cNvCxnSpPr>
          <p:nvPr/>
        </p:nvCxnSpPr>
        <p:spPr>
          <a:xfrm flipH="1">
            <a:off x="5689974" y="3402331"/>
            <a:ext cx="1303706" cy="32939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FB2AEFB-63B6-0C45-9957-8932510CD2E2}"/>
              </a:ext>
            </a:extLst>
          </p:cNvPr>
          <p:cNvCxnSpPr>
            <a:cxnSpLocks/>
            <a:stCxn id="54" idx="2"/>
            <a:endCxn id="52" idx="0"/>
          </p:cNvCxnSpPr>
          <p:nvPr/>
        </p:nvCxnSpPr>
        <p:spPr>
          <a:xfrm>
            <a:off x="7985875" y="4101401"/>
            <a:ext cx="428716" cy="3447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1E2446A-E3A6-E148-BBFA-B0CCD15D4D0B}"/>
              </a:ext>
            </a:extLst>
          </p:cNvPr>
          <p:cNvCxnSpPr>
            <a:cxnSpLocks/>
            <a:stCxn id="54" idx="2"/>
            <a:endCxn id="36" idx="0"/>
          </p:cNvCxnSpPr>
          <p:nvPr/>
        </p:nvCxnSpPr>
        <p:spPr>
          <a:xfrm flipH="1">
            <a:off x="6914430" y="4101401"/>
            <a:ext cx="1071445" cy="34560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1EAD60B9-CFDC-1240-B98C-30F18CD1130B}"/>
              </a:ext>
            </a:extLst>
          </p:cNvPr>
          <p:cNvCxnSpPr>
            <a:cxnSpLocks/>
            <a:stCxn id="53" idx="2"/>
            <a:endCxn id="34" idx="0"/>
          </p:cNvCxnSpPr>
          <p:nvPr/>
        </p:nvCxnSpPr>
        <p:spPr>
          <a:xfrm flipH="1">
            <a:off x="4418130" y="4097748"/>
            <a:ext cx="1271844" cy="34840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A068DD6F-FE14-C14C-951E-416695FEEB14}"/>
              </a:ext>
            </a:extLst>
          </p:cNvPr>
          <p:cNvCxnSpPr>
            <a:cxnSpLocks/>
            <a:endCxn id="55" idx="0"/>
          </p:cNvCxnSpPr>
          <p:nvPr/>
        </p:nvCxnSpPr>
        <p:spPr>
          <a:xfrm>
            <a:off x="6711818" y="2695829"/>
            <a:ext cx="281862" cy="34047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409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5978648" y="2725448"/>
            <a:ext cx="2777490" cy="1554879"/>
          </a:xfrm>
          <a:prstGeom prst="roundRect">
            <a:avLst>
              <a:gd name="adj" fmla="val 8791"/>
            </a:avLst>
          </a:prstGeom>
          <a:ln w="38100">
            <a:solidFill>
              <a:schemeClr val="tx1"/>
            </a:solidFill>
          </a:ln>
        </p:spPr>
        <p:style>
          <a:lnRef idx="2">
            <a:schemeClr val="accent2"/>
          </a:lnRef>
          <a:fillRef idx="1">
            <a:schemeClr val="lt1"/>
          </a:fillRef>
          <a:effectRef idx="0">
            <a:schemeClr val="accent2"/>
          </a:effectRef>
          <a:fontRef idx="minor">
            <a:schemeClr val="dk1"/>
          </a:fontRef>
        </p:style>
        <p:txBody>
          <a:bodyPr rtlCol="0" anchor="t" anchorCtr="0"/>
          <a:lstStyle/>
          <a:p>
            <a:pPr defTabSz="685800">
              <a:defRPr/>
            </a:pPr>
            <a:r>
              <a:rPr lang="en-US" altLang="zh-CN" b="1" dirty="0">
                <a:solidFill>
                  <a:srgbClr val="0165C0"/>
                </a:solidFill>
                <a:latin typeface="Calibri" panose="020F0502020204030204"/>
                <a:ea typeface="DengXian" panose="02010600030101010101" pitchFamily="2" charset="-122"/>
              </a:rPr>
              <a:t>DISK</a:t>
            </a:r>
            <a:endParaRPr lang="en-US" b="1" dirty="0">
              <a:solidFill>
                <a:srgbClr val="0165C0"/>
              </a:solidFill>
              <a:latin typeface="Calibri" panose="020F0502020204030204"/>
            </a:endParaRPr>
          </a:p>
        </p:txBody>
      </p:sp>
      <p:sp>
        <p:nvSpPr>
          <p:cNvPr id="2" name="Title 1"/>
          <p:cNvSpPr>
            <a:spLocks noGrp="1"/>
          </p:cNvSpPr>
          <p:nvPr>
            <p:ph type="title"/>
          </p:nvPr>
        </p:nvSpPr>
        <p:spPr/>
        <p:txBody>
          <a:bodyPr>
            <a:normAutofit/>
          </a:bodyPr>
          <a:lstStyle/>
          <a:p>
            <a:r>
              <a:rPr lang="en-US" dirty="0"/>
              <a:t>Review</a:t>
            </a:r>
            <a:r>
              <a:rPr lang="zh-CN" altLang="en-US" dirty="0"/>
              <a:t>：</a:t>
            </a:r>
            <a:r>
              <a:rPr lang="en-US" dirty="0"/>
              <a:t>Soft Updates</a:t>
            </a:r>
          </a:p>
        </p:txBody>
      </p:sp>
      <p:sp>
        <p:nvSpPr>
          <p:cNvPr id="3" name="Content Placeholder 2"/>
          <p:cNvSpPr>
            <a:spLocks noGrp="1"/>
          </p:cNvSpPr>
          <p:nvPr>
            <p:ph idx="1"/>
          </p:nvPr>
        </p:nvSpPr>
        <p:spPr>
          <a:xfrm>
            <a:off x="457200" y="1290156"/>
            <a:ext cx="7809932" cy="3771636"/>
          </a:xfrm>
        </p:spPr>
        <p:txBody>
          <a:bodyPr>
            <a:normAutofit/>
          </a:bodyPr>
          <a:lstStyle/>
          <a:p>
            <a:r>
              <a:rPr lang="en-US" dirty="0" err="1"/>
              <a:t>最新的元数据在内存中</a:t>
            </a:r>
            <a:endParaRPr lang="en-US" dirty="0"/>
          </a:p>
          <a:p>
            <a:pPr lvl="1" indent="-342900">
              <a:buFont typeface="Wingdings" charset="2"/>
              <a:buChar char="§"/>
            </a:pPr>
            <a:r>
              <a:rPr lang="en-US" dirty="0" err="1"/>
              <a:t>在DRAM中更新</a:t>
            </a:r>
            <a:r>
              <a:rPr lang="zh-CN" altLang="en-US" dirty="0"/>
              <a:t>，跟踪</a:t>
            </a:r>
            <a:r>
              <a:rPr lang="en-US" dirty="0"/>
              <a:t>dependency</a:t>
            </a:r>
          </a:p>
          <a:p>
            <a:pPr lvl="1" indent="-342900">
              <a:buFont typeface="Wingdings" charset="2"/>
              <a:buChar char="ü"/>
            </a:pPr>
            <a:r>
              <a:rPr lang="en-US" dirty="0"/>
              <a:t>DRAM </a:t>
            </a:r>
            <a:r>
              <a:rPr lang="en-US" dirty="0" err="1"/>
              <a:t>性能更好</a:t>
            </a:r>
            <a:endParaRPr lang="en-US" dirty="0"/>
          </a:p>
          <a:p>
            <a:pPr lvl="1" indent="-342900">
              <a:buFont typeface="Wingdings" charset="2"/>
              <a:buChar char="ü"/>
            </a:pPr>
            <a:r>
              <a:rPr lang="en-US" dirty="0" err="1"/>
              <a:t>无需同步的磁盘写</a:t>
            </a:r>
            <a:endParaRPr lang="en-US" dirty="0"/>
          </a:p>
          <a:p>
            <a:r>
              <a:rPr lang="en-US" dirty="0" err="1"/>
              <a:t>磁盘中的元数据</a:t>
            </a:r>
            <a:r>
              <a:rPr lang="en-US" dirty="0" err="1">
                <a:solidFill>
                  <a:schemeClr val="accent1"/>
                </a:solidFill>
              </a:rPr>
              <a:t>总是一致</a:t>
            </a:r>
            <a:r>
              <a:rPr lang="en-US" dirty="0" err="1"/>
              <a:t>的</a:t>
            </a:r>
            <a:endParaRPr lang="en-US" dirty="0"/>
          </a:p>
          <a:p>
            <a:pPr lvl="1" indent="-342900">
              <a:buFont typeface="Wingdings" charset="2"/>
              <a:buChar char="§"/>
            </a:pPr>
            <a:r>
              <a:rPr lang="zh-CN" altLang="en-US" dirty="0"/>
              <a:t>在遵循</a:t>
            </a:r>
            <a:r>
              <a:rPr lang="en-US" altLang="zh-CN" dirty="0"/>
              <a:t>dependency</a:t>
            </a:r>
            <a:r>
              <a:rPr lang="zh-CN" altLang="en-US" dirty="0"/>
              <a:t>的前提下</a:t>
            </a:r>
            <a:r>
              <a:rPr lang="en-US" dirty="0" err="1"/>
              <a:t>写入磁盘</a:t>
            </a:r>
            <a:endParaRPr lang="en-US" dirty="0"/>
          </a:p>
          <a:p>
            <a:pPr lvl="1" indent="-342900">
              <a:buFont typeface="Wingdings" charset="2"/>
              <a:buChar char="ü"/>
            </a:pPr>
            <a:r>
              <a:rPr lang="en-US" dirty="0" err="1"/>
              <a:t>一直能保证一致性</a:t>
            </a:r>
            <a:endParaRPr lang="en-US" dirty="0"/>
          </a:p>
          <a:p>
            <a:pPr lvl="1" indent="-342900">
              <a:buFont typeface="Wingdings" charset="2"/>
              <a:buChar char="ü"/>
            </a:pPr>
            <a:r>
              <a:rPr lang="en-US" dirty="0" err="1">
                <a:solidFill>
                  <a:schemeClr val="accent1"/>
                </a:solidFill>
              </a:rPr>
              <a:t>发生崩溃后</a:t>
            </a:r>
            <a:r>
              <a:rPr lang="zh-CN" altLang="en-US" dirty="0">
                <a:solidFill>
                  <a:schemeClr val="accent1"/>
                </a:solidFill>
              </a:rPr>
              <a:t>，重启立即</a:t>
            </a:r>
            <a:r>
              <a:rPr lang="en-US" dirty="0" err="1">
                <a:solidFill>
                  <a:schemeClr val="accent1"/>
                </a:solidFill>
              </a:rPr>
              <a:t>可用</a:t>
            </a:r>
            <a:endParaRPr lang="en-US" dirty="0">
              <a:solidFill>
                <a:schemeClr val="accent1"/>
              </a:solidFill>
            </a:endParaRPr>
          </a:p>
        </p:txBody>
      </p:sp>
      <p:sp>
        <p:nvSpPr>
          <p:cNvPr id="7" name="Rounded Rectangle 6"/>
          <p:cNvSpPr/>
          <p:nvPr/>
        </p:nvSpPr>
        <p:spPr>
          <a:xfrm>
            <a:off x="5964107" y="1159433"/>
            <a:ext cx="2777490" cy="1569425"/>
          </a:xfrm>
          <a:prstGeom prst="roundRect">
            <a:avLst>
              <a:gd name="adj" fmla="val 8084"/>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t" anchorCtr="0"/>
          <a:lstStyle/>
          <a:p>
            <a:pPr defTabSz="685800">
              <a:defRPr/>
            </a:pPr>
            <a:r>
              <a:rPr lang="en-US" altLang="zh-CN" b="1" dirty="0">
                <a:solidFill>
                  <a:srgbClr val="C00000"/>
                </a:solidFill>
                <a:latin typeface="Calibri" panose="020F0502020204030204"/>
                <a:ea typeface="DengXian" panose="02010600030101010101" pitchFamily="2" charset="-122"/>
              </a:rPr>
              <a:t>DRAM (Page cache)</a:t>
            </a:r>
            <a:endParaRPr lang="en-US" b="1" dirty="0">
              <a:solidFill>
                <a:srgbClr val="C00000"/>
              </a:solidFill>
              <a:latin typeface="Calibri" panose="020F0502020204030204"/>
            </a:endParaRPr>
          </a:p>
        </p:txBody>
      </p:sp>
      <p:sp>
        <p:nvSpPr>
          <p:cNvPr id="8" name="Rectangle 7"/>
          <p:cNvSpPr/>
          <p:nvPr/>
        </p:nvSpPr>
        <p:spPr>
          <a:xfrm>
            <a:off x="6122247" y="1607437"/>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sp>
        <p:nvSpPr>
          <p:cNvPr id="9" name="Rectangle 8"/>
          <p:cNvSpPr/>
          <p:nvPr/>
        </p:nvSpPr>
        <p:spPr>
          <a:xfrm>
            <a:off x="6723940" y="190828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cxnSp>
        <p:nvCxnSpPr>
          <p:cNvPr id="10" name="Straight Arrow Connector 9"/>
          <p:cNvCxnSpPr>
            <a:stCxn id="9" idx="3"/>
            <a:endCxn id="10" idx="1"/>
          </p:cNvCxnSpPr>
          <p:nvPr/>
        </p:nvCxnSpPr>
        <p:spPr>
          <a:xfrm>
            <a:off x="6523376" y="1808002"/>
            <a:ext cx="200564" cy="3008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325462" y="4395993"/>
            <a:ext cx="2143728" cy="369332"/>
          </a:xfrm>
          <a:prstGeom prst="rect">
            <a:avLst/>
          </a:prstGeom>
          <a:noFill/>
        </p:spPr>
        <p:txBody>
          <a:bodyPr wrap="none" rtlCol="0">
            <a:spAutoFit/>
          </a:bodyPr>
          <a:lstStyle/>
          <a:p>
            <a:pPr defTabSz="685800">
              <a:defRPr/>
            </a:pPr>
            <a:r>
              <a:rPr lang="en-US" dirty="0" err="1">
                <a:solidFill>
                  <a:prstClr val="black"/>
                </a:solidFill>
                <a:latin typeface="Calibri" panose="020F0502020204030204"/>
              </a:rPr>
              <a:t>传统的</a:t>
            </a:r>
            <a:r>
              <a:rPr lang="en-US" dirty="0">
                <a:solidFill>
                  <a:prstClr val="black"/>
                </a:solidFill>
                <a:latin typeface="Calibri" panose="020F0502020204030204"/>
              </a:rPr>
              <a:t> Soft Updates</a:t>
            </a:r>
          </a:p>
        </p:txBody>
      </p:sp>
      <p:sp>
        <p:nvSpPr>
          <p:cNvPr id="12" name="Rectangle 11"/>
          <p:cNvSpPr/>
          <p:nvPr/>
        </p:nvSpPr>
        <p:spPr>
          <a:xfrm>
            <a:off x="7370583" y="1707719"/>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a:solidFill>
                <a:prstClr val="black"/>
              </a:solidFill>
              <a:latin typeface="Calibri" panose="020F0502020204030204"/>
            </a:endParaRPr>
          </a:p>
        </p:txBody>
      </p:sp>
      <p:cxnSp>
        <p:nvCxnSpPr>
          <p:cNvPr id="13" name="Straight Arrow Connector 12"/>
          <p:cNvCxnSpPr/>
          <p:nvPr/>
        </p:nvCxnSpPr>
        <p:spPr>
          <a:xfrm flipV="1">
            <a:off x="7125069" y="1908284"/>
            <a:ext cx="245515" cy="2005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8017226" y="197749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dirty="0">
              <a:solidFill>
                <a:prstClr val="black"/>
              </a:solidFill>
              <a:latin typeface="Calibri" panose="020F0502020204030204"/>
            </a:endParaRPr>
          </a:p>
        </p:txBody>
      </p:sp>
      <p:cxnSp>
        <p:nvCxnSpPr>
          <p:cNvPr id="15" name="Straight Arrow Connector 14"/>
          <p:cNvCxnSpPr>
            <a:stCxn id="21" idx="3"/>
          </p:cNvCxnSpPr>
          <p:nvPr/>
        </p:nvCxnSpPr>
        <p:spPr>
          <a:xfrm>
            <a:off x="7771712" y="1908284"/>
            <a:ext cx="245515" cy="2697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22247" y="3113574"/>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sp>
        <p:nvSpPr>
          <p:cNvPr id="17" name="Rectangle 16"/>
          <p:cNvSpPr/>
          <p:nvPr/>
        </p:nvSpPr>
        <p:spPr>
          <a:xfrm>
            <a:off x="6723940" y="3414420"/>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cxnSp>
        <p:nvCxnSpPr>
          <p:cNvPr id="19" name="Straight Arrow Connector 18"/>
          <p:cNvCxnSpPr/>
          <p:nvPr/>
        </p:nvCxnSpPr>
        <p:spPr>
          <a:xfrm>
            <a:off x="6523376" y="3314138"/>
            <a:ext cx="200564" cy="3008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21" idx="3"/>
          </p:cNvCxnSpPr>
          <p:nvPr/>
        </p:nvCxnSpPr>
        <p:spPr>
          <a:xfrm>
            <a:off x="7771712" y="3414420"/>
            <a:ext cx="245515" cy="1821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370583" y="3213856"/>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a:solidFill>
                <a:prstClr val="black"/>
              </a:solidFill>
              <a:latin typeface="Calibri" panose="020F0502020204030204"/>
            </a:endParaRPr>
          </a:p>
        </p:txBody>
      </p:sp>
      <p:cxnSp>
        <p:nvCxnSpPr>
          <p:cNvPr id="22" name="Straight Arrow Connector 21"/>
          <p:cNvCxnSpPr/>
          <p:nvPr/>
        </p:nvCxnSpPr>
        <p:spPr>
          <a:xfrm flipV="1">
            <a:off x="7125069" y="3414421"/>
            <a:ext cx="245515" cy="2005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8017256" y="197749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dirty="0">
              <a:solidFill>
                <a:prstClr val="black"/>
              </a:solidFill>
              <a:latin typeface="Calibri" panose="020F0502020204030204"/>
            </a:endParaRPr>
          </a:p>
        </p:txBody>
      </p:sp>
      <p:grpSp>
        <p:nvGrpSpPr>
          <p:cNvPr id="50" name="Group 49"/>
          <p:cNvGrpSpPr/>
          <p:nvPr/>
        </p:nvGrpSpPr>
        <p:grpSpPr>
          <a:xfrm>
            <a:off x="8017227" y="1250390"/>
            <a:ext cx="668800" cy="562890"/>
            <a:chOff x="10689635" y="1286186"/>
            <a:chExt cx="891733" cy="750520"/>
          </a:xfrm>
        </p:grpSpPr>
        <p:sp>
          <p:nvSpPr>
            <p:cNvPr id="24" name="Rectangle 23"/>
            <p:cNvSpPr/>
            <p:nvPr/>
          </p:nvSpPr>
          <p:spPr>
            <a:xfrm>
              <a:off x="10689635" y="1399220"/>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6" name="Rectangle 25"/>
            <p:cNvSpPr/>
            <p:nvPr/>
          </p:nvSpPr>
          <p:spPr>
            <a:xfrm>
              <a:off x="10689635" y="1800559"/>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7" name="Rectangle 26"/>
            <p:cNvSpPr/>
            <p:nvPr/>
          </p:nvSpPr>
          <p:spPr>
            <a:xfrm>
              <a:off x="11238468" y="1286186"/>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8" name="Oval 27"/>
            <p:cNvSpPr/>
            <p:nvPr/>
          </p:nvSpPr>
          <p:spPr>
            <a:xfrm>
              <a:off x="11211701" y="1723501"/>
              <a:ext cx="304800" cy="3048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cxnSp>
          <p:nvCxnSpPr>
            <p:cNvPr id="32" name="Straight Arrow Connector 31"/>
            <p:cNvCxnSpPr>
              <a:stCxn id="24" idx="3"/>
              <a:endCxn id="27" idx="1"/>
            </p:cNvCxnSpPr>
            <p:nvPr/>
          </p:nvCxnSpPr>
          <p:spPr>
            <a:xfrm flipV="1">
              <a:off x="11032535" y="1404260"/>
              <a:ext cx="205933" cy="11303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2"/>
              <a:endCxn id="28" idx="0"/>
            </p:cNvCxnSpPr>
            <p:nvPr/>
          </p:nvCxnSpPr>
          <p:spPr>
            <a:xfrm flipH="1">
              <a:off x="11364101" y="1522333"/>
              <a:ext cx="45817" cy="2011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8" idx="2"/>
              <a:endCxn id="26" idx="3"/>
            </p:cNvCxnSpPr>
            <p:nvPr/>
          </p:nvCxnSpPr>
          <p:spPr>
            <a:xfrm flipH="1">
              <a:off x="11032535" y="1875901"/>
              <a:ext cx="179166" cy="427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1221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2"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par>
                                <p:cTn id="17" presetID="10" presetClass="entr" presetSubtype="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58" presetClass="path" presetSubtype="0" accel="50000" decel="50000" fill="hold" nodeType="withEffect">
                                  <p:stCondLst>
                                    <p:cond delay="0"/>
                                  </p:stCondLst>
                                  <p:childTnLst>
                                    <p:animMotion origin="layout" path="M -1.25E-6 3.7037E-7 L 0.03998 0.06181 C 0.04896 0.075 0.05404 0.09444 0.05404 0.11481 C 0.05404 0.13796 0.04896 0.15625 0.03998 0.16944 L -1.25E-6 0.23148 " pathEditMode="relative" rAng="0" ptsTypes="AAAAA">
                                      <p:cBhvr>
                                        <p:cTn id="26" dur="2000" fill="hold"/>
                                        <p:tgtEl>
                                          <p:spTgt spid="50"/>
                                        </p:tgtEl>
                                        <p:attrNameLst>
                                          <p:attrName>ppt_x</p:attrName>
                                          <p:attrName>ppt_y</p:attrName>
                                        </p:attrNameLst>
                                      </p:cBhvr>
                                      <p:rCtr x="2695" y="11574"/>
                                    </p:animMotion>
                                  </p:childTnLst>
                                </p:cTn>
                              </p:par>
                              <p:par>
                                <p:cTn id="27" presetID="42" presetClass="path" presetSubtype="0" accel="50000" decel="50000" fill="hold" grpId="0" nodeType="withEffect">
                                  <p:stCondLst>
                                    <p:cond delay="0"/>
                                  </p:stCondLst>
                                  <p:childTnLst>
                                    <p:animMotion origin="layout" path="M 2.08333E-6 -4.07407E-6 L 2.08333E-6 0.0882 " pathEditMode="relative" rAng="0" ptsTypes="AA">
                                      <p:cBhvr>
                                        <p:cTn id="28" dur="2000" fill="hold"/>
                                        <p:tgtEl>
                                          <p:spTgt spid="51"/>
                                        </p:tgtEl>
                                        <p:attrNameLst>
                                          <p:attrName>ppt_x</p:attrName>
                                          <p:attrName>ppt_y</p:attrName>
                                        </p:attrNameLst>
                                      </p:cBhvr>
                                      <p:rCtr x="0" y="4398"/>
                                    </p:animMotion>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2000"/>
                                        <p:tgtEl>
                                          <p:spTgt spid="50"/>
                                        </p:tgtEl>
                                      </p:cBhvr>
                                    </p:animEffect>
                                    <p:set>
                                      <p:cBhvr>
                                        <p:cTn id="32" dur="1" fill="hold">
                                          <p:stCondLst>
                                            <p:cond delay="1999"/>
                                          </p:stCondLst>
                                        </p:cTn>
                                        <p:tgtEl>
                                          <p:spTgt spid="50"/>
                                        </p:tgtEl>
                                        <p:attrNameLst>
                                          <p:attrName>style.visibility</p:attrName>
                                        </p:attrNameLst>
                                      </p:cBhvr>
                                      <p:to>
                                        <p:strVal val="hidden"/>
                                      </p:to>
                                    </p:set>
                                  </p:childTnLst>
                                </p:cTn>
                              </p:par>
                              <p:par>
                                <p:cTn id="33" presetID="42" presetClass="path" presetSubtype="0" accel="50000" decel="50000" fill="hold" grpId="1" nodeType="withEffect">
                                  <p:stCondLst>
                                    <p:cond delay="0"/>
                                  </p:stCondLst>
                                  <p:childTnLst>
                                    <p:animMotion origin="layout" path="M 2.08333E-6 0.10024 L 2.08333E-6 0.27593 " pathEditMode="relative" rAng="0" ptsTypes="AA">
                                      <p:cBhvr>
                                        <p:cTn id="34" dur="1000" fill="hold"/>
                                        <p:tgtEl>
                                          <p:spTgt spid="51"/>
                                        </p:tgtEl>
                                        <p:attrNameLst>
                                          <p:attrName>ppt_x</p:attrName>
                                          <p:attrName>ppt_y</p:attrName>
                                        </p:attrNameLst>
                                      </p:cBhvr>
                                      <p:rCtr x="0" y="8773"/>
                                    </p:animMotion>
                                  </p:childTnLst>
                                </p:cTn>
                              </p:par>
                              <p:par>
                                <p:cTn id="35" presetID="1" presetClass="emph" presetSubtype="2" fill="hold" nodeType="withEffect">
                                  <p:stCondLst>
                                    <p:cond delay="0"/>
                                  </p:stCondLst>
                                  <p:childTnLst>
                                    <p:animClr clrSpc="rgb" dir="cw">
                                      <p:cBhvr>
                                        <p:cTn id="36" dur="1000" fill="hold"/>
                                        <p:tgtEl>
                                          <p:spTgt spid="51"/>
                                        </p:tgtEl>
                                        <p:attrNameLst>
                                          <p:attrName>fillcolor</p:attrName>
                                        </p:attrNameLst>
                                      </p:cBhvr>
                                      <p:to>
                                        <a:srgbClr val="DEEBF7"/>
                                      </p:to>
                                    </p:animClr>
                                    <p:set>
                                      <p:cBhvr>
                                        <p:cTn id="37" dur="1000" fill="hold"/>
                                        <p:tgtEl>
                                          <p:spTgt spid="51"/>
                                        </p:tgtEl>
                                        <p:attrNameLst>
                                          <p:attrName>fill.type</p:attrName>
                                        </p:attrNameLst>
                                      </p:cBhvr>
                                      <p:to>
                                        <p:strVal val="solid"/>
                                      </p:to>
                                    </p:set>
                                    <p:set>
                                      <p:cBhvr>
                                        <p:cTn id="38" dur="1000" fill="hold"/>
                                        <p:tgtEl>
                                          <p:spTgt spid="51"/>
                                        </p:tgtEl>
                                        <p:attrNameLst>
                                          <p:attrName>fill.on</p:attrName>
                                        </p:attrNameLst>
                                      </p:cBhvr>
                                      <p:to>
                                        <p:strVal val="true"/>
                                      </p:to>
                                    </p:set>
                                  </p:childTnLst>
                                </p:cTn>
                              </p:par>
                            </p:childTnLst>
                          </p:cTn>
                        </p:par>
                        <p:par>
                          <p:cTn id="39" fill="hold">
                            <p:stCondLst>
                              <p:cond delay="4000"/>
                            </p:stCondLst>
                            <p:childTnLst>
                              <p:par>
                                <p:cTn id="40" presetID="22" presetClass="entr" presetSubtype="8" fill="hold"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500"/>
                                        <p:tgtEl>
                                          <p:spTgt spid="3">
                                            <p:txEl>
                                              <p:pRg st="2" end="2"/>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animEffect transition="in" filter="fade">
                                      <p:cBhvr>
                                        <p:cTn id="50" dur="50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500"/>
                                        <p:tgtEl>
                                          <p:spTgt spid="3">
                                            <p:txEl>
                                              <p:pRg st="6" end="6"/>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fade">
                                      <p:cBhvr>
                                        <p:cTn id="5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1" grpId="0" animBg="1"/>
      <p:bldP spid="51" grpId="1" animBg="1"/>
      <p:bldP spid="51"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8B88-D5F4-DA40-B6FD-717DC47245CC}"/>
              </a:ext>
            </a:extLst>
          </p:cNvPr>
          <p:cNvSpPr>
            <a:spLocks noGrp="1"/>
          </p:cNvSpPr>
          <p:nvPr>
            <p:ph type="title"/>
          </p:nvPr>
        </p:nvSpPr>
        <p:spPr/>
        <p:txBody>
          <a:bodyPr/>
          <a:lstStyle/>
          <a:p>
            <a:r>
              <a:rPr lang="en-US" altLang="zh-CN" dirty="0"/>
              <a:t>Review</a:t>
            </a:r>
            <a:r>
              <a:rPr lang="zh-CN" altLang="en-US" dirty="0"/>
              <a:t>：崩溃一致性保障方法</a:t>
            </a:r>
            <a:endParaRPr lang="en-CN" dirty="0"/>
          </a:p>
        </p:txBody>
      </p:sp>
      <p:sp>
        <p:nvSpPr>
          <p:cNvPr id="3" name="Content Placeholder 2">
            <a:extLst>
              <a:ext uri="{FF2B5EF4-FFF2-40B4-BE49-F238E27FC236}">
                <a16:creationId xmlns:a16="http://schemas.microsoft.com/office/drawing/2014/main" id="{E5A0DF85-DF86-AF46-873B-ACC1075A0B50}"/>
              </a:ext>
            </a:extLst>
          </p:cNvPr>
          <p:cNvSpPr>
            <a:spLocks noGrp="1"/>
          </p:cNvSpPr>
          <p:nvPr>
            <p:ph idx="1"/>
          </p:nvPr>
        </p:nvSpPr>
        <p:spPr>
          <a:xfrm>
            <a:off x="457200" y="1489348"/>
            <a:ext cx="8229600" cy="2031613"/>
          </a:xfrm>
        </p:spPr>
        <p:txBody>
          <a:bodyPr>
            <a:normAutofit/>
          </a:bodyPr>
          <a:lstStyle/>
          <a:p>
            <a:r>
              <a:rPr lang="zh-CN" altLang="en-US" dirty="0"/>
              <a:t>日志</a:t>
            </a:r>
            <a:endParaRPr lang="en-US" altLang="zh-CN" dirty="0"/>
          </a:p>
          <a:p>
            <a:r>
              <a:rPr lang="zh-CN" altLang="en-US" dirty="0"/>
              <a:t>写时复制</a:t>
            </a:r>
            <a:endParaRPr lang="en-US" altLang="zh-CN" dirty="0"/>
          </a:p>
          <a:p>
            <a:r>
              <a:rPr lang="en-US" altLang="zh-CN" dirty="0"/>
              <a:t>Soft</a:t>
            </a:r>
            <a:r>
              <a:rPr lang="zh-CN" altLang="en-US" dirty="0"/>
              <a:t> </a:t>
            </a:r>
            <a:r>
              <a:rPr lang="en-US" altLang="zh-CN" dirty="0"/>
              <a:t>updates</a:t>
            </a:r>
          </a:p>
          <a:p>
            <a:endParaRPr lang="en-CN" dirty="0"/>
          </a:p>
        </p:txBody>
      </p:sp>
      <p:sp>
        <p:nvSpPr>
          <p:cNvPr id="4" name="Slide Number Placeholder 3">
            <a:extLst>
              <a:ext uri="{FF2B5EF4-FFF2-40B4-BE49-F238E27FC236}">
                <a16:creationId xmlns:a16="http://schemas.microsoft.com/office/drawing/2014/main" id="{BC3B825D-F3D7-B64C-8793-2333388AA9A4}"/>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5" name="Footer Placeholder 4">
            <a:extLst>
              <a:ext uri="{FF2B5EF4-FFF2-40B4-BE49-F238E27FC236}">
                <a16:creationId xmlns:a16="http://schemas.microsoft.com/office/drawing/2014/main" id="{87B28832-8757-284D-BE12-68AC9A84D29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文本框 6">
            <a:extLst>
              <a:ext uri="{FF2B5EF4-FFF2-40B4-BE49-F238E27FC236}">
                <a16:creationId xmlns:a16="http://schemas.microsoft.com/office/drawing/2014/main" id="{670D3325-4218-A44F-829C-D8E30CD095C0}"/>
              </a:ext>
            </a:extLst>
          </p:cNvPr>
          <p:cNvSpPr txBox="1"/>
          <p:nvPr/>
        </p:nvSpPr>
        <p:spPr>
          <a:xfrm>
            <a:off x="3422954" y="1842781"/>
            <a:ext cx="4660710" cy="400110"/>
          </a:xfrm>
          <a:prstGeom prst="rect">
            <a:avLst/>
          </a:prstGeom>
          <a:noFill/>
        </p:spPr>
        <p:txBody>
          <a:bodyPr wrap="square">
            <a:spAutoFit/>
          </a:bodyPr>
          <a:lstStyle/>
          <a:p>
            <a:r>
              <a:rPr lang="zh-CN" altLang="en-US" sz="2000" b="1" dirty="0">
                <a:solidFill>
                  <a:schemeClr val="accent1"/>
                </a:solidFill>
              </a:rPr>
              <a:t>原子更新技术；不覆盖唯一的一份数据</a:t>
            </a:r>
            <a:endParaRPr lang="en-US" altLang="zh-CN" sz="2000" b="1" dirty="0">
              <a:solidFill>
                <a:schemeClr val="accent1"/>
              </a:solidFill>
            </a:endParaRPr>
          </a:p>
        </p:txBody>
      </p:sp>
      <p:sp>
        <p:nvSpPr>
          <p:cNvPr id="8" name="右大括号 7">
            <a:extLst>
              <a:ext uri="{FF2B5EF4-FFF2-40B4-BE49-F238E27FC236}">
                <a16:creationId xmlns:a16="http://schemas.microsoft.com/office/drawing/2014/main" id="{76FEE3C2-A1DE-D84F-823B-3E041558973E}"/>
              </a:ext>
            </a:extLst>
          </p:cNvPr>
          <p:cNvSpPr/>
          <p:nvPr/>
        </p:nvSpPr>
        <p:spPr>
          <a:xfrm>
            <a:off x="3134922" y="1646792"/>
            <a:ext cx="144016" cy="792088"/>
          </a:xfrm>
          <a:prstGeom prst="rightBrace">
            <a:avLst>
              <a:gd name="adj1" fmla="val 3323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739D41CF-DCB8-BD4A-8317-3B05019F02E9}"/>
              </a:ext>
            </a:extLst>
          </p:cNvPr>
          <p:cNvSpPr txBox="1"/>
          <p:nvPr/>
        </p:nvSpPr>
        <p:spPr>
          <a:xfrm>
            <a:off x="3422954" y="2702194"/>
            <a:ext cx="5263846" cy="400110"/>
          </a:xfrm>
          <a:prstGeom prst="rect">
            <a:avLst/>
          </a:prstGeom>
          <a:noFill/>
        </p:spPr>
        <p:txBody>
          <a:bodyPr wrap="square">
            <a:spAutoFit/>
          </a:bodyPr>
          <a:lstStyle/>
          <a:p>
            <a:r>
              <a:rPr lang="zh-CN" altLang="en-US" sz="2000" b="1" dirty="0">
                <a:solidFill>
                  <a:schemeClr val="accent1"/>
                </a:solidFill>
              </a:rPr>
              <a:t>合理安排更新的顺序，尽可能一直保持一致</a:t>
            </a:r>
            <a:endParaRPr lang="en-US" altLang="zh-CN" sz="2000" b="1" dirty="0">
              <a:solidFill>
                <a:schemeClr val="accent1"/>
              </a:solidFill>
            </a:endParaRPr>
          </a:p>
        </p:txBody>
      </p:sp>
      <p:sp>
        <p:nvSpPr>
          <p:cNvPr id="10" name="文本框 9">
            <a:extLst>
              <a:ext uri="{FF2B5EF4-FFF2-40B4-BE49-F238E27FC236}">
                <a16:creationId xmlns:a16="http://schemas.microsoft.com/office/drawing/2014/main" id="{4A964855-F1B2-554D-8019-ABC6EBE04093}"/>
              </a:ext>
            </a:extLst>
          </p:cNvPr>
          <p:cNvSpPr txBox="1"/>
          <p:nvPr/>
        </p:nvSpPr>
        <p:spPr>
          <a:xfrm>
            <a:off x="814767" y="4425450"/>
            <a:ext cx="7514466" cy="461665"/>
          </a:xfrm>
          <a:prstGeom prst="rect">
            <a:avLst/>
          </a:prstGeom>
          <a:noFill/>
        </p:spPr>
        <p:txBody>
          <a:bodyPr wrap="square">
            <a:spAutoFit/>
          </a:bodyPr>
          <a:lstStyle/>
          <a:p>
            <a:pPr algn="ctr"/>
            <a:r>
              <a:rPr lang="zh-CN" altLang="en-US" sz="2400" b="1" dirty="0">
                <a:solidFill>
                  <a:schemeClr val="accent1"/>
                </a:solidFill>
              </a:rPr>
              <a:t>在磁盘上，开启日志后性能反而有所提升，为什么？</a:t>
            </a:r>
            <a:endParaRPr lang="en-US" altLang="zh-CN" sz="2400" b="1" dirty="0">
              <a:solidFill>
                <a:schemeClr val="accent1"/>
              </a:solidFill>
            </a:endParaRPr>
          </a:p>
        </p:txBody>
      </p:sp>
    </p:spTree>
    <p:extLst>
      <p:ext uri="{BB962C8B-B14F-4D97-AF65-F5344CB8AC3E}">
        <p14:creationId xmlns:p14="http://schemas.microsoft.com/office/powerpoint/2010/main" val="18360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6437CE6-834A-674D-B58D-1A9B06C46796}"/>
              </a:ext>
            </a:extLst>
          </p:cNvPr>
          <p:cNvSpPr>
            <a:spLocks noGrp="1"/>
          </p:cNvSpPr>
          <p:nvPr>
            <p:ph type="title"/>
          </p:nvPr>
        </p:nvSpPr>
        <p:spPr/>
        <p:txBody>
          <a:bodyPr/>
          <a:lstStyle/>
          <a:p>
            <a:r>
              <a:rPr lang="zh-CN" altLang="en-CN" dirty="0"/>
              <a:t>日志文件系统</a:t>
            </a:r>
            <a:r>
              <a:rPr lang="zh-CN" altLang="en-US" dirty="0"/>
              <a:t>（</a:t>
            </a:r>
            <a:r>
              <a:rPr lang="en-US" altLang="zh-CN" dirty="0"/>
              <a:t>LFS</a:t>
            </a:r>
            <a:r>
              <a:rPr lang="zh-CN" altLang="en-US" dirty="0"/>
              <a:t>）</a:t>
            </a:r>
            <a:endParaRPr lang="en-CN" dirty="0"/>
          </a:p>
        </p:txBody>
      </p:sp>
      <p:sp>
        <p:nvSpPr>
          <p:cNvPr id="7" name="Text Placeholder 6">
            <a:extLst>
              <a:ext uri="{FF2B5EF4-FFF2-40B4-BE49-F238E27FC236}">
                <a16:creationId xmlns:a16="http://schemas.microsoft.com/office/drawing/2014/main" id="{3CFDBFE3-9FEB-7541-A8AC-6C1CFA5B2648}"/>
              </a:ext>
            </a:extLst>
          </p:cNvPr>
          <p:cNvSpPr>
            <a:spLocks noGrp="1"/>
          </p:cNvSpPr>
          <p:nvPr>
            <p:ph type="body" idx="1"/>
          </p:nvPr>
        </p:nvSpPr>
        <p:spPr/>
        <p:txBody>
          <a:bodyPr/>
          <a:lstStyle/>
          <a:p>
            <a:r>
              <a:rPr lang="en-US" altLang="zh-CN" dirty="0"/>
              <a:t>John K. </a:t>
            </a:r>
            <a:r>
              <a:rPr lang="en-US" altLang="zh-CN" dirty="0" err="1"/>
              <a:t>Ousterhout</a:t>
            </a:r>
            <a:r>
              <a:rPr lang="en-US" altLang="zh-CN" dirty="0"/>
              <a:t>, Mendel Rosenblum. (1991), </a:t>
            </a:r>
            <a:r>
              <a:rPr lang="en-US" altLang="zh-CN" i="1" dirty="0"/>
              <a:t>The Design and Implementation of a Log-Structured File System</a:t>
            </a:r>
          </a:p>
        </p:txBody>
      </p:sp>
      <p:sp>
        <p:nvSpPr>
          <p:cNvPr id="4" name="Slide Number Placeholder 3">
            <a:extLst>
              <a:ext uri="{FF2B5EF4-FFF2-40B4-BE49-F238E27FC236}">
                <a16:creationId xmlns:a16="http://schemas.microsoft.com/office/drawing/2014/main" id="{4F137BB9-10B3-1344-872B-D2110A485FCF}"/>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sp>
        <p:nvSpPr>
          <p:cNvPr id="5" name="Footer Placeholder 4">
            <a:extLst>
              <a:ext uri="{FF2B5EF4-FFF2-40B4-BE49-F238E27FC236}">
                <a16:creationId xmlns:a16="http://schemas.microsoft.com/office/drawing/2014/main" id="{1F99D6D3-5D0C-6845-98C5-8C86CD64B84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130394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804F-C4F8-344E-999D-C43AF010BB11}"/>
              </a:ext>
            </a:extLst>
          </p:cNvPr>
          <p:cNvSpPr>
            <a:spLocks noGrp="1"/>
          </p:cNvSpPr>
          <p:nvPr>
            <p:ph type="title"/>
          </p:nvPr>
        </p:nvSpPr>
        <p:spPr/>
        <p:txBody>
          <a:bodyPr/>
          <a:lstStyle/>
          <a:p>
            <a:r>
              <a:rPr lang="zh-CN" altLang="en-CN" dirty="0"/>
              <a:t>日志</a:t>
            </a:r>
            <a:r>
              <a:rPr lang="zh-CN" altLang="en-US" dirty="0"/>
              <a:t>文件系统（</a:t>
            </a:r>
            <a:r>
              <a:rPr lang="en-US" altLang="zh-CN" dirty="0"/>
              <a:t>Log-structured</a:t>
            </a:r>
            <a:r>
              <a:rPr lang="zh-CN" altLang="en-US" dirty="0"/>
              <a:t> </a:t>
            </a:r>
            <a:r>
              <a:rPr lang="en-US" altLang="zh-CN" dirty="0"/>
              <a:t>FS</a:t>
            </a:r>
            <a:r>
              <a:rPr lang="zh-CN" altLang="en-US" dirty="0"/>
              <a:t>）</a:t>
            </a:r>
            <a:endParaRPr lang="en-CN" dirty="0"/>
          </a:p>
        </p:txBody>
      </p:sp>
      <p:sp>
        <p:nvSpPr>
          <p:cNvPr id="4" name="Slide Number Placeholder 3">
            <a:extLst>
              <a:ext uri="{FF2B5EF4-FFF2-40B4-BE49-F238E27FC236}">
                <a16:creationId xmlns:a16="http://schemas.microsoft.com/office/drawing/2014/main" id="{EE49CC71-AE1E-F448-B6C5-6B7ECB892ADD}"/>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
        <p:nvSpPr>
          <p:cNvPr id="5" name="Footer Placeholder 4">
            <a:extLst>
              <a:ext uri="{FF2B5EF4-FFF2-40B4-BE49-F238E27FC236}">
                <a16:creationId xmlns:a16="http://schemas.microsoft.com/office/drawing/2014/main" id="{3447F7E2-5EFE-7744-832F-189C593AEF1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Picture 5">
            <a:extLst>
              <a:ext uri="{FF2B5EF4-FFF2-40B4-BE49-F238E27FC236}">
                <a16:creationId xmlns:a16="http://schemas.microsoft.com/office/drawing/2014/main" id="{B4791A29-9F7C-4F47-9889-C6EA810D5EC5}"/>
              </a:ext>
            </a:extLst>
          </p:cNvPr>
          <p:cNvPicPr>
            <a:picLocks noChangeAspect="1"/>
          </p:cNvPicPr>
          <p:nvPr/>
        </p:nvPicPr>
        <p:blipFill rotWithShape="1">
          <a:blip r:embed="rId3"/>
          <a:srcRect t="6300" b="20373"/>
          <a:stretch/>
        </p:blipFill>
        <p:spPr>
          <a:xfrm>
            <a:off x="7864" y="1324820"/>
            <a:ext cx="6031390" cy="3379697"/>
          </a:xfrm>
          <a:prstGeom prst="rect">
            <a:avLst/>
          </a:prstGeom>
        </p:spPr>
      </p:pic>
      <p:pic>
        <p:nvPicPr>
          <p:cNvPr id="7" name="Picture 6">
            <a:extLst>
              <a:ext uri="{FF2B5EF4-FFF2-40B4-BE49-F238E27FC236}">
                <a16:creationId xmlns:a16="http://schemas.microsoft.com/office/drawing/2014/main" id="{58E63ACB-11F1-6C41-AE27-42EED582BBED}"/>
              </a:ext>
            </a:extLst>
          </p:cNvPr>
          <p:cNvPicPr>
            <a:picLocks noChangeAspect="1"/>
          </p:cNvPicPr>
          <p:nvPr/>
        </p:nvPicPr>
        <p:blipFill>
          <a:blip r:embed="rId4"/>
          <a:stretch>
            <a:fillRect/>
          </a:stretch>
        </p:blipFill>
        <p:spPr>
          <a:xfrm>
            <a:off x="5748249" y="1364822"/>
            <a:ext cx="1270000" cy="1587500"/>
          </a:xfrm>
          <a:prstGeom prst="rect">
            <a:avLst/>
          </a:prstGeom>
        </p:spPr>
      </p:pic>
      <p:pic>
        <p:nvPicPr>
          <p:cNvPr id="8" name="Picture 7">
            <a:extLst>
              <a:ext uri="{FF2B5EF4-FFF2-40B4-BE49-F238E27FC236}">
                <a16:creationId xmlns:a16="http://schemas.microsoft.com/office/drawing/2014/main" id="{DA5B6DEC-E12D-8B4F-B734-9918F36B9841}"/>
              </a:ext>
            </a:extLst>
          </p:cNvPr>
          <p:cNvPicPr>
            <a:picLocks noChangeAspect="1"/>
          </p:cNvPicPr>
          <p:nvPr/>
        </p:nvPicPr>
        <p:blipFill rotWithShape="1">
          <a:blip r:embed="rId5"/>
          <a:srcRect b="17187"/>
          <a:stretch/>
        </p:blipFill>
        <p:spPr>
          <a:xfrm>
            <a:off x="5760567" y="3409042"/>
            <a:ext cx="1270000" cy="1587500"/>
          </a:xfrm>
          <a:prstGeom prst="rect">
            <a:avLst/>
          </a:prstGeom>
        </p:spPr>
      </p:pic>
      <p:sp>
        <p:nvSpPr>
          <p:cNvPr id="9" name="TextBox 8">
            <a:extLst>
              <a:ext uri="{FF2B5EF4-FFF2-40B4-BE49-F238E27FC236}">
                <a16:creationId xmlns:a16="http://schemas.microsoft.com/office/drawing/2014/main" id="{413603E9-868C-F848-B0BD-6B343A9E190A}"/>
              </a:ext>
            </a:extLst>
          </p:cNvPr>
          <p:cNvSpPr txBox="1"/>
          <p:nvPr/>
        </p:nvSpPr>
        <p:spPr>
          <a:xfrm>
            <a:off x="7043216" y="4042434"/>
            <a:ext cx="2117887" cy="954107"/>
          </a:xfrm>
          <a:prstGeom prst="rect">
            <a:avLst/>
          </a:prstGeom>
          <a:noFill/>
        </p:spPr>
        <p:txBody>
          <a:bodyPr wrap="none" rtlCol="0">
            <a:spAutoFit/>
          </a:bodyPr>
          <a:lstStyle/>
          <a:p>
            <a:r>
              <a:rPr lang="en-US" altLang="zh-CN" sz="1400" b="1" dirty="0"/>
              <a:t>Mendel Rosenblum </a:t>
            </a:r>
          </a:p>
          <a:p>
            <a:endParaRPr lang="en-US" altLang="zh-CN" sz="1400" dirty="0"/>
          </a:p>
          <a:p>
            <a:r>
              <a:rPr lang="en-US" altLang="zh-CN" sz="1400" dirty="0"/>
              <a:t>VMware</a:t>
            </a:r>
            <a:r>
              <a:rPr lang="zh-CN" altLang="en-US" sz="1400" dirty="0"/>
              <a:t> 联合创始人</a:t>
            </a:r>
            <a:endParaRPr lang="en-US" altLang="zh-CN" sz="1400" dirty="0"/>
          </a:p>
          <a:p>
            <a:r>
              <a:rPr lang="zh-CN" altLang="en-US" sz="1400" dirty="0"/>
              <a:t>目前是</a:t>
            </a:r>
            <a:r>
              <a:rPr lang="en-US" altLang="zh-CN" sz="1400" dirty="0"/>
              <a:t>Stanford</a:t>
            </a:r>
            <a:r>
              <a:rPr lang="zh-CN" altLang="en-US" sz="1400" dirty="0"/>
              <a:t>大学教授</a:t>
            </a:r>
            <a:endParaRPr lang="en-US" altLang="zh-CN" sz="1400" dirty="0"/>
          </a:p>
        </p:txBody>
      </p:sp>
      <p:sp>
        <p:nvSpPr>
          <p:cNvPr id="10" name="TextBox 9">
            <a:extLst>
              <a:ext uri="{FF2B5EF4-FFF2-40B4-BE49-F238E27FC236}">
                <a16:creationId xmlns:a16="http://schemas.microsoft.com/office/drawing/2014/main" id="{12169780-7EAA-2E4D-BEE1-248513ED70CB}"/>
              </a:ext>
            </a:extLst>
          </p:cNvPr>
          <p:cNvSpPr txBox="1"/>
          <p:nvPr/>
        </p:nvSpPr>
        <p:spPr>
          <a:xfrm>
            <a:off x="7018249" y="1297151"/>
            <a:ext cx="2117887" cy="1815882"/>
          </a:xfrm>
          <a:prstGeom prst="rect">
            <a:avLst/>
          </a:prstGeom>
          <a:noFill/>
        </p:spPr>
        <p:txBody>
          <a:bodyPr wrap="none" rtlCol="0">
            <a:spAutoFit/>
          </a:bodyPr>
          <a:lstStyle/>
          <a:p>
            <a:r>
              <a:rPr lang="en-US" altLang="zh-CN" sz="1400" b="1" dirty="0"/>
              <a:t>John K.</a:t>
            </a:r>
            <a:r>
              <a:rPr lang="zh-CN" altLang="en-US" sz="1400" b="1" dirty="0"/>
              <a:t> </a:t>
            </a:r>
            <a:r>
              <a:rPr lang="en-US" altLang="zh-CN" sz="1400" b="1" dirty="0" err="1"/>
              <a:t>Ousterhout</a:t>
            </a:r>
            <a:endParaRPr lang="en-US" altLang="zh-CN" sz="1400" b="1" dirty="0"/>
          </a:p>
          <a:p>
            <a:endParaRPr lang="en-US" altLang="zh-CN" sz="1400" dirty="0"/>
          </a:p>
          <a:p>
            <a:r>
              <a:rPr lang="en-US" altLang="zh-CN" sz="1400" dirty="0"/>
              <a:t>Sprite</a:t>
            </a:r>
            <a:r>
              <a:rPr lang="zh-CN" altLang="en-US" sz="1400" dirty="0"/>
              <a:t> 负责人</a:t>
            </a:r>
            <a:endParaRPr lang="en-US" altLang="zh-CN" sz="1400" dirty="0"/>
          </a:p>
          <a:p>
            <a:r>
              <a:rPr lang="en-US" altLang="zh-CN" sz="1400" dirty="0"/>
              <a:t>TCL/TK</a:t>
            </a:r>
            <a:r>
              <a:rPr lang="zh-CN" altLang="en-US" sz="1400" dirty="0"/>
              <a:t> 作者</a:t>
            </a:r>
            <a:endParaRPr lang="en-US" altLang="zh-CN" sz="1400" dirty="0"/>
          </a:p>
          <a:p>
            <a:r>
              <a:rPr lang="en-US" sz="1400" dirty="0"/>
              <a:t>Magic VLSI CAD</a:t>
            </a:r>
            <a:r>
              <a:rPr lang="zh-CN" altLang="en-US" sz="1400" dirty="0"/>
              <a:t> 作者</a:t>
            </a:r>
            <a:endParaRPr lang="en-US" altLang="zh-CN" sz="1400" dirty="0"/>
          </a:p>
          <a:p>
            <a:r>
              <a:rPr lang="en-US" altLang="zh-CN" sz="1400" dirty="0"/>
              <a:t>Co-scheduling</a:t>
            </a:r>
            <a:r>
              <a:rPr lang="zh-CN" altLang="en-US" sz="1400" dirty="0"/>
              <a:t> 提出者</a:t>
            </a:r>
            <a:endParaRPr lang="en-US" altLang="zh-CN" sz="1400" dirty="0"/>
          </a:p>
          <a:p>
            <a:r>
              <a:rPr lang="en-US" altLang="zh-CN" sz="1400" dirty="0"/>
              <a:t>Raft</a:t>
            </a:r>
            <a:r>
              <a:rPr lang="zh-CN" altLang="en-US" sz="1400" dirty="0"/>
              <a:t> 一致性协议</a:t>
            </a:r>
            <a:endParaRPr lang="en-US" altLang="zh-CN" sz="1400" dirty="0"/>
          </a:p>
          <a:p>
            <a:r>
              <a:rPr lang="zh-CN" altLang="en-CN" sz="1400" dirty="0"/>
              <a:t>目前</a:t>
            </a:r>
            <a:r>
              <a:rPr lang="zh-CN" altLang="en-US" sz="1400" dirty="0"/>
              <a:t>是</a:t>
            </a:r>
            <a:r>
              <a:rPr lang="en-US" altLang="zh-CN" sz="1400" dirty="0"/>
              <a:t>Stanford</a:t>
            </a:r>
            <a:r>
              <a:rPr lang="zh-CN" altLang="en-US" sz="1400" dirty="0"/>
              <a:t>大学教授</a:t>
            </a:r>
            <a:endParaRPr lang="en-US" altLang="zh-CN" sz="1400" dirty="0"/>
          </a:p>
        </p:txBody>
      </p:sp>
      <p:sp>
        <p:nvSpPr>
          <p:cNvPr id="11" name="TextBox 10">
            <a:extLst>
              <a:ext uri="{FF2B5EF4-FFF2-40B4-BE49-F238E27FC236}">
                <a16:creationId xmlns:a16="http://schemas.microsoft.com/office/drawing/2014/main" id="{D49A7E28-5F3F-F640-906D-E742D6D0892D}"/>
              </a:ext>
            </a:extLst>
          </p:cNvPr>
          <p:cNvSpPr txBox="1"/>
          <p:nvPr/>
        </p:nvSpPr>
        <p:spPr>
          <a:xfrm>
            <a:off x="445971" y="4811875"/>
            <a:ext cx="4989379" cy="369332"/>
          </a:xfrm>
          <a:prstGeom prst="rect">
            <a:avLst/>
          </a:prstGeom>
          <a:noFill/>
        </p:spPr>
        <p:txBody>
          <a:bodyPr wrap="none" rtlCol="0">
            <a:spAutoFit/>
          </a:bodyPr>
          <a:lstStyle/>
          <a:p>
            <a:r>
              <a:rPr lang="en-US" altLang="zh-CN" dirty="0"/>
              <a:t>1992</a:t>
            </a:r>
            <a:r>
              <a:rPr lang="zh-CN" altLang="en-US" dirty="0"/>
              <a:t> </a:t>
            </a:r>
            <a:r>
              <a:rPr lang="en-US" altLang="zh-CN" i="1" dirty="0"/>
              <a:t>ACM Transactions on Computer Systems</a:t>
            </a:r>
          </a:p>
        </p:txBody>
      </p:sp>
    </p:spTree>
    <p:extLst>
      <p:ext uri="{BB962C8B-B14F-4D97-AF65-F5344CB8AC3E}">
        <p14:creationId xmlns:p14="http://schemas.microsoft.com/office/powerpoint/2010/main" val="2822899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804F-C4F8-344E-999D-C43AF010BB11}"/>
              </a:ext>
            </a:extLst>
          </p:cNvPr>
          <p:cNvSpPr>
            <a:spLocks noGrp="1"/>
          </p:cNvSpPr>
          <p:nvPr>
            <p:ph type="title"/>
          </p:nvPr>
        </p:nvSpPr>
        <p:spPr/>
        <p:txBody>
          <a:bodyPr/>
          <a:lstStyle/>
          <a:p>
            <a:r>
              <a:rPr lang="zh-CN" altLang="en-CN" dirty="0"/>
              <a:t>日志</a:t>
            </a:r>
            <a:r>
              <a:rPr lang="zh-CN" altLang="en-US" dirty="0"/>
              <a:t>文件系统（</a:t>
            </a:r>
            <a:r>
              <a:rPr lang="en-US" altLang="zh-CN" dirty="0"/>
              <a:t>Log-structured</a:t>
            </a:r>
            <a:r>
              <a:rPr lang="zh-CN" altLang="en-US" dirty="0"/>
              <a:t> </a:t>
            </a:r>
            <a:r>
              <a:rPr lang="en-US" altLang="zh-CN" dirty="0"/>
              <a:t>FS</a:t>
            </a:r>
            <a:r>
              <a:rPr lang="zh-CN" altLang="en-US" dirty="0"/>
              <a:t>）</a:t>
            </a:r>
            <a:endParaRPr lang="en-CN" dirty="0"/>
          </a:p>
        </p:txBody>
      </p:sp>
      <p:sp>
        <p:nvSpPr>
          <p:cNvPr id="3" name="Content Placeholder 2">
            <a:extLst>
              <a:ext uri="{FF2B5EF4-FFF2-40B4-BE49-F238E27FC236}">
                <a16:creationId xmlns:a16="http://schemas.microsoft.com/office/drawing/2014/main" id="{9BDB2836-B807-9147-93C9-12F3BC381099}"/>
              </a:ext>
            </a:extLst>
          </p:cNvPr>
          <p:cNvSpPr>
            <a:spLocks noGrp="1"/>
          </p:cNvSpPr>
          <p:nvPr>
            <p:ph idx="1"/>
          </p:nvPr>
        </p:nvSpPr>
        <p:spPr/>
        <p:txBody>
          <a:bodyPr>
            <a:normAutofit/>
          </a:bodyPr>
          <a:lstStyle/>
          <a:p>
            <a:r>
              <a:rPr lang="zh-CN" altLang="en-US" sz="2000" b="0" dirty="0"/>
              <a:t>假设：文件被缓存在内存中，文件读请求可以被很好的处理</a:t>
            </a:r>
            <a:endParaRPr lang="en-US" altLang="zh-CN" sz="2000" b="0" dirty="0"/>
          </a:p>
          <a:p>
            <a:pPr lvl="1"/>
            <a:r>
              <a:rPr lang="zh-CN" altLang="en-US" sz="1800" dirty="0"/>
              <a:t>但是</a:t>
            </a:r>
            <a:r>
              <a:rPr lang="zh-CN" altLang="en-US" sz="1800" b="0" dirty="0"/>
              <a:t>文件写操作成为瓶颈</a:t>
            </a:r>
            <a:endParaRPr lang="en-US" altLang="zh-CN" sz="1800" b="0" dirty="0"/>
          </a:p>
          <a:p>
            <a:r>
              <a:rPr lang="zh-CN" altLang="en-US" sz="2000" b="0" dirty="0"/>
              <a:t>块存储设备的</a:t>
            </a:r>
            <a:r>
              <a:rPr lang="zh-CN" altLang="en-US" sz="2000" b="0" dirty="0">
                <a:solidFill>
                  <a:schemeClr val="accent1"/>
                </a:solidFill>
              </a:rPr>
              <a:t>顺序写比随机写速度快很多</a:t>
            </a:r>
            <a:endParaRPr lang="en-US" altLang="zh-CN" sz="2000" b="0" dirty="0">
              <a:solidFill>
                <a:schemeClr val="accent1"/>
              </a:solidFill>
            </a:endParaRPr>
          </a:p>
          <a:p>
            <a:pPr lvl="1"/>
            <a:r>
              <a:rPr lang="zh-CN" altLang="en-US" sz="1800" dirty="0"/>
              <a:t>磁盘</a:t>
            </a:r>
            <a:r>
              <a:rPr lang="zh-CN" altLang="en-CN" sz="1800" dirty="0"/>
              <a:t>寻道</a:t>
            </a:r>
            <a:r>
              <a:rPr lang="zh-CN" altLang="en-US" sz="1800" dirty="0"/>
              <a:t>时间</a:t>
            </a:r>
            <a:endParaRPr lang="en-US" altLang="zh-CN" sz="1800" b="0" dirty="0"/>
          </a:p>
          <a:p>
            <a:r>
              <a:rPr lang="zh-CN" altLang="en-US" sz="2000" b="0" dirty="0"/>
              <a:t>将文件系统的修改以日志的方式</a:t>
            </a:r>
            <a:r>
              <a:rPr lang="zh-CN" altLang="en-US" sz="2000" dirty="0"/>
              <a:t>顺序写入</a:t>
            </a:r>
            <a:r>
              <a:rPr lang="zh-CN" altLang="en-US" sz="2000" b="0" dirty="0"/>
              <a:t>存储设备</a:t>
            </a:r>
            <a:endParaRPr lang="en-US" altLang="zh-CN" sz="2000" b="0" dirty="0"/>
          </a:p>
        </p:txBody>
      </p:sp>
      <p:sp>
        <p:nvSpPr>
          <p:cNvPr id="4" name="Slide Number Placeholder 3">
            <a:extLst>
              <a:ext uri="{FF2B5EF4-FFF2-40B4-BE49-F238E27FC236}">
                <a16:creationId xmlns:a16="http://schemas.microsoft.com/office/drawing/2014/main" id="{EE49CC71-AE1E-F448-B6C5-6B7ECB892ADD}"/>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
        <p:nvSpPr>
          <p:cNvPr id="5" name="Footer Placeholder 4">
            <a:extLst>
              <a:ext uri="{FF2B5EF4-FFF2-40B4-BE49-F238E27FC236}">
                <a16:creationId xmlns:a16="http://schemas.microsoft.com/office/drawing/2014/main" id="{3447F7E2-5EFE-7744-832F-189C593AEF1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51" name="Group 50">
            <a:extLst>
              <a:ext uri="{FF2B5EF4-FFF2-40B4-BE49-F238E27FC236}">
                <a16:creationId xmlns:a16="http://schemas.microsoft.com/office/drawing/2014/main" id="{B8C6AA2D-7B64-924A-9107-712ADF0D43A8}"/>
              </a:ext>
            </a:extLst>
          </p:cNvPr>
          <p:cNvGrpSpPr/>
          <p:nvPr/>
        </p:nvGrpSpPr>
        <p:grpSpPr>
          <a:xfrm>
            <a:off x="1264763" y="3955063"/>
            <a:ext cx="6614474" cy="1525728"/>
            <a:chOff x="1297770" y="3429007"/>
            <a:chExt cx="6614474" cy="1525728"/>
          </a:xfrm>
        </p:grpSpPr>
        <p:cxnSp>
          <p:nvCxnSpPr>
            <p:cNvPr id="52" name="Straight Connector 51">
              <a:extLst>
                <a:ext uri="{FF2B5EF4-FFF2-40B4-BE49-F238E27FC236}">
                  <a16:creationId xmlns:a16="http://schemas.microsoft.com/office/drawing/2014/main" id="{E5B72236-E756-BD40-967C-10DB2EC71557}"/>
                </a:ext>
              </a:extLst>
            </p:cNvPr>
            <p:cNvCxnSpPr>
              <a:cxnSpLocks/>
            </p:cNvCxnSpPr>
            <p:nvPr/>
          </p:nvCxnSpPr>
          <p:spPr>
            <a:xfrm>
              <a:off x="1297770" y="3937000"/>
              <a:ext cx="63222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5F2B1C6-E36F-6740-823E-B1B845CAAD60}"/>
                </a:ext>
              </a:extLst>
            </p:cNvPr>
            <p:cNvCxnSpPr>
              <a:cxnSpLocks/>
            </p:cNvCxnSpPr>
            <p:nvPr/>
          </p:nvCxnSpPr>
          <p:spPr>
            <a:xfrm>
              <a:off x="1297770" y="4457939"/>
              <a:ext cx="6322230"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76B417DE-D91C-7242-B4C0-7719C07EFFE1}"/>
                </a:ext>
              </a:extLst>
            </p:cNvPr>
            <p:cNvSpPr/>
            <p:nvPr/>
          </p:nvSpPr>
          <p:spPr>
            <a:xfrm>
              <a:off x="1297770"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55" name="Rectangle 54">
              <a:extLst>
                <a:ext uri="{FF2B5EF4-FFF2-40B4-BE49-F238E27FC236}">
                  <a16:creationId xmlns:a16="http://schemas.microsoft.com/office/drawing/2014/main" id="{E025A39D-8A55-AE43-9137-BA9F9181350E}"/>
                </a:ext>
              </a:extLst>
            </p:cNvPr>
            <p:cNvSpPr/>
            <p:nvPr/>
          </p:nvSpPr>
          <p:spPr>
            <a:xfrm>
              <a:off x="1763688"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56" name="TextBox 55">
              <a:extLst>
                <a:ext uri="{FF2B5EF4-FFF2-40B4-BE49-F238E27FC236}">
                  <a16:creationId xmlns:a16="http://schemas.microsoft.com/office/drawing/2014/main" id="{D6B3403F-8579-1D4C-B10A-4A8486143702}"/>
                </a:ext>
              </a:extLst>
            </p:cNvPr>
            <p:cNvSpPr txBox="1"/>
            <p:nvPr/>
          </p:nvSpPr>
          <p:spPr>
            <a:xfrm>
              <a:off x="6804248" y="4585403"/>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57" name="Rectangle 56">
              <a:extLst>
                <a:ext uri="{FF2B5EF4-FFF2-40B4-BE49-F238E27FC236}">
                  <a16:creationId xmlns:a16="http://schemas.microsoft.com/office/drawing/2014/main" id="{2F4ECFA5-BC40-274F-AAE5-676F9702095B}"/>
                </a:ext>
              </a:extLst>
            </p:cNvPr>
            <p:cNvSpPr/>
            <p:nvPr/>
          </p:nvSpPr>
          <p:spPr>
            <a:xfrm>
              <a:off x="2227191"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58" name="Rectangle 57">
              <a:extLst>
                <a:ext uri="{FF2B5EF4-FFF2-40B4-BE49-F238E27FC236}">
                  <a16:creationId xmlns:a16="http://schemas.microsoft.com/office/drawing/2014/main" id="{AE82607A-598B-CC4E-8028-636868B212B2}"/>
                </a:ext>
              </a:extLst>
            </p:cNvPr>
            <p:cNvSpPr/>
            <p:nvPr/>
          </p:nvSpPr>
          <p:spPr>
            <a:xfrm>
              <a:off x="2694625"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59" name="Rectangle 58">
              <a:extLst>
                <a:ext uri="{FF2B5EF4-FFF2-40B4-BE49-F238E27FC236}">
                  <a16:creationId xmlns:a16="http://schemas.microsoft.com/office/drawing/2014/main" id="{65EF4B20-C460-0F4A-8015-02D1FB898CF6}"/>
                </a:ext>
              </a:extLst>
            </p:cNvPr>
            <p:cNvSpPr/>
            <p:nvPr/>
          </p:nvSpPr>
          <p:spPr>
            <a:xfrm>
              <a:off x="3158128"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60" name="Rectangle 59">
              <a:extLst>
                <a:ext uri="{FF2B5EF4-FFF2-40B4-BE49-F238E27FC236}">
                  <a16:creationId xmlns:a16="http://schemas.microsoft.com/office/drawing/2014/main" id="{5917F2CF-39F2-1D41-BA75-4E8B9C53C76E}"/>
                </a:ext>
              </a:extLst>
            </p:cNvPr>
            <p:cNvSpPr/>
            <p:nvPr/>
          </p:nvSpPr>
          <p:spPr>
            <a:xfrm>
              <a:off x="3621631" y="3952055"/>
              <a:ext cx="465918" cy="503870"/>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61" name="Rectangle 60">
              <a:extLst>
                <a:ext uri="{FF2B5EF4-FFF2-40B4-BE49-F238E27FC236}">
                  <a16:creationId xmlns:a16="http://schemas.microsoft.com/office/drawing/2014/main" id="{E01BC11C-77E4-3E45-8EF1-823C4A4D9756}"/>
                </a:ext>
              </a:extLst>
            </p:cNvPr>
            <p:cNvSpPr/>
            <p:nvPr/>
          </p:nvSpPr>
          <p:spPr>
            <a:xfrm>
              <a:off x="4085134"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62" name="Rectangle 61">
              <a:extLst>
                <a:ext uri="{FF2B5EF4-FFF2-40B4-BE49-F238E27FC236}">
                  <a16:creationId xmlns:a16="http://schemas.microsoft.com/office/drawing/2014/main" id="{AC9D105F-2A5B-0946-8D33-1E1F4D986D5A}"/>
                </a:ext>
              </a:extLst>
            </p:cNvPr>
            <p:cNvSpPr/>
            <p:nvPr/>
          </p:nvSpPr>
          <p:spPr>
            <a:xfrm>
              <a:off x="4548637"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63" name="Rectangle 62">
              <a:extLst>
                <a:ext uri="{FF2B5EF4-FFF2-40B4-BE49-F238E27FC236}">
                  <a16:creationId xmlns:a16="http://schemas.microsoft.com/office/drawing/2014/main" id="{3EC0724F-AFE0-BC46-BBF4-4B393AC83451}"/>
                </a:ext>
              </a:extLst>
            </p:cNvPr>
            <p:cNvSpPr/>
            <p:nvPr/>
          </p:nvSpPr>
          <p:spPr>
            <a:xfrm>
              <a:off x="5940242" y="3952055"/>
              <a:ext cx="465918" cy="503870"/>
            </a:xfrm>
            <a:prstGeom prst="rect">
              <a:avLst/>
            </a:prstGeom>
            <a:solidFill>
              <a:schemeClr val="accent4">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64" name="Rectangle 63">
              <a:extLst>
                <a:ext uri="{FF2B5EF4-FFF2-40B4-BE49-F238E27FC236}">
                  <a16:creationId xmlns:a16="http://schemas.microsoft.com/office/drawing/2014/main" id="{5632AC2C-1E16-CF4C-A367-9F7DA29F2687}"/>
                </a:ext>
              </a:extLst>
            </p:cNvPr>
            <p:cNvSpPr/>
            <p:nvPr/>
          </p:nvSpPr>
          <p:spPr>
            <a:xfrm>
              <a:off x="5012140" y="3952055"/>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65" name="Rectangle 64">
              <a:extLst>
                <a:ext uri="{FF2B5EF4-FFF2-40B4-BE49-F238E27FC236}">
                  <a16:creationId xmlns:a16="http://schemas.microsoft.com/office/drawing/2014/main" id="{F38A0692-153C-664C-B616-34BF306B04D5}"/>
                </a:ext>
              </a:extLst>
            </p:cNvPr>
            <p:cNvSpPr/>
            <p:nvPr/>
          </p:nvSpPr>
          <p:spPr>
            <a:xfrm>
              <a:off x="5475643" y="3952055"/>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66" name="Elbow Connector 65">
              <a:extLst>
                <a:ext uri="{FF2B5EF4-FFF2-40B4-BE49-F238E27FC236}">
                  <a16:creationId xmlns:a16="http://schemas.microsoft.com/office/drawing/2014/main" id="{EE91A711-5AA9-CA47-9CFD-4067A54F2977}"/>
                </a:ext>
              </a:extLst>
            </p:cNvPr>
            <p:cNvCxnSpPr>
              <a:stCxn id="63" idx="2"/>
              <a:endCxn id="65" idx="2"/>
            </p:cNvCxnSpPr>
            <p:nvPr/>
          </p:nvCxnSpPr>
          <p:spPr>
            <a:xfrm rot="5400000">
              <a:off x="5940902" y="4223626"/>
              <a:ext cx="12700" cy="46459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66">
              <a:extLst>
                <a:ext uri="{FF2B5EF4-FFF2-40B4-BE49-F238E27FC236}">
                  <a16:creationId xmlns:a16="http://schemas.microsoft.com/office/drawing/2014/main" id="{748304C0-79ED-5847-9E46-2AEA6A15E2B5}"/>
                </a:ext>
              </a:extLst>
            </p:cNvPr>
            <p:cNvCxnSpPr>
              <a:cxnSpLocks/>
              <a:stCxn id="63" idx="2"/>
              <a:endCxn id="58" idx="2"/>
            </p:cNvCxnSpPr>
            <p:nvPr/>
          </p:nvCxnSpPr>
          <p:spPr>
            <a:xfrm rot="5400000">
              <a:off x="4550393" y="2833117"/>
              <a:ext cx="12700" cy="3245617"/>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Elbow Connector 67">
              <a:extLst>
                <a:ext uri="{FF2B5EF4-FFF2-40B4-BE49-F238E27FC236}">
                  <a16:creationId xmlns:a16="http://schemas.microsoft.com/office/drawing/2014/main" id="{66FA7FC6-AEF8-CE4D-9B47-D353FAFEDF3C}"/>
                </a:ext>
              </a:extLst>
            </p:cNvPr>
            <p:cNvCxnSpPr>
              <a:cxnSpLocks/>
              <a:stCxn id="63" idx="2"/>
              <a:endCxn id="55" idx="2"/>
            </p:cNvCxnSpPr>
            <p:nvPr/>
          </p:nvCxnSpPr>
          <p:spPr>
            <a:xfrm rot="5400000">
              <a:off x="4084924" y="2367648"/>
              <a:ext cx="12700" cy="4176554"/>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Elbow Connector 68">
              <a:extLst>
                <a:ext uri="{FF2B5EF4-FFF2-40B4-BE49-F238E27FC236}">
                  <a16:creationId xmlns:a16="http://schemas.microsoft.com/office/drawing/2014/main" id="{32E8A80D-ABB0-184C-89D5-C2AE6D9E0B66}"/>
                </a:ext>
              </a:extLst>
            </p:cNvPr>
            <p:cNvCxnSpPr>
              <a:cxnSpLocks/>
              <a:stCxn id="63" idx="2"/>
              <a:endCxn id="62" idx="2"/>
            </p:cNvCxnSpPr>
            <p:nvPr/>
          </p:nvCxnSpPr>
          <p:spPr>
            <a:xfrm rot="5400000">
              <a:off x="5477399" y="3760123"/>
              <a:ext cx="12700" cy="1391605"/>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9362F744-F778-814A-BD6C-2F3C8B6807C3}"/>
                </a:ext>
              </a:extLst>
            </p:cNvPr>
            <p:cNvCxnSpPr>
              <a:cxnSpLocks/>
              <a:stCxn id="55" idx="0"/>
              <a:endCxn id="54" idx="0"/>
            </p:cNvCxnSpPr>
            <p:nvPr/>
          </p:nvCxnSpPr>
          <p:spPr>
            <a:xfrm rot="16200000" flipV="1">
              <a:off x="1763688" y="3719096"/>
              <a:ext cx="12700" cy="465918"/>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a:extLst>
                <a:ext uri="{FF2B5EF4-FFF2-40B4-BE49-F238E27FC236}">
                  <a16:creationId xmlns:a16="http://schemas.microsoft.com/office/drawing/2014/main" id="{08033CEF-9723-254C-AF5E-4E063134D01C}"/>
                </a:ext>
              </a:extLst>
            </p:cNvPr>
            <p:cNvCxnSpPr>
              <a:cxnSpLocks/>
              <a:stCxn id="62" idx="0"/>
              <a:endCxn id="61" idx="0"/>
            </p:cNvCxnSpPr>
            <p:nvPr/>
          </p:nvCxnSpPr>
          <p:spPr>
            <a:xfrm rot="16200000" flipV="1">
              <a:off x="4549845" y="3720303"/>
              <a:ext cx="12700" cy="463503"/>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Elbow Connector 71">
              <a:extLst>
                <a:ext uri="{FF2B5EF4-FFF2-40B4-BE49-F238E27FC236}">
                  <a16:creationId xmlns:a16="http://schemas.microsoft.com/office/drawing/2014/main" id="{C5C54391-6829-A444-8ACF-1727A9590170}"/>
                </a:ext>
              </a:extLst>
            </p:cNvPr>
            <p:cNvCxnSpPr>
              <a:cxnSpLocks/>
              <a:stCxn id="65" idx="0"/>
              <a:endCxn id="64" idx="0"/>
            </p:cNvCxnSpPr>
            <p:nvPr/>
          </p:nvCxnSpPr>
          <p:spPr>
            <a:xfrm rot="16200000" flipV="1">
              <a:off x="5476851" y="3720303"/>
              <a:ext cx="12700" cy="463503"/>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a:extLst>
                <a:ext uri="{FF2B5EF4-FFF2-40B4-BE49-F238E27FC236}">
                  <a16:creationId xmlns:a16="http://schemas.microsoft.com/office/drawing/2014/main" id="{3075E454-9053-C64B-BDBB-39F508ADA1F1}"/>
                </a:ext>
              </a:extLst>
            </p:cNvPr>
            <p:cNvCxnSpPr>
              <a:cxnSpLocks/>
              <a:stCxn id="58" idx="0"/>
              <a:endCxn id="57" idx="0"/>
            </p:cNvCxnSpPr>
            <p:nvPr/>
          </p:nvCxnSpPr>
          <p:spPr>
            <a:xfrm rot="16200000" flipV="1">
              <a:off x="2693867" y="3718338"/>
              <a:ext cx="12700" cy="467434"/>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a:extLst>
                <a:ext uri="{FF2B5EF4-FFF2-40B4-BE49-F238E27FC236}">
                  <a16:creationId xmlns:a16="http://schemas.microsoft.com/office/drawing/2014/main" id="{41AF0C39-16B7-9B4E-8717-B37EFA147296}"/>
                </a:ext>
              </a:extLst>
            </p:cNvPr>
            <p:cNvCxnSpPr>
              <a:cxnSpLocks/>
              <a:stCxn id="62" idx="0"/>
              <a:endCxn id="59" idx="0"/>
            </p:cNvCxnSpPr>
            <p:nvPr/>
          </p:nvCxnSpPr>
          <p:spPr>
            <a:xfrm rot="16200000" flipV="1">
              <a:off x="4086342" y="3256800"/>
              <a:ext cx="12700" cy="139050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72EF8850-0CA8-EF4F-AA13-C96DBBB7AEDB}"/>
                </a:ext>
              </a:extLst>
            </p:cNvPr>
            <p:cNvCxnSpPr>
              <a:cxnSpLocks/>
              <a:stCxn id="62" idx="0"/>
              <a:endCxn id="60" idx="0"/>
            </p:cNvCxnSpPr>
            <p:nvPr/>
          </p:nvCxnSpPr>
          <p:spPr>
            <a:xfrm rot="16200000" flipV="1">
              <a:off x="4318093" y="3488552"/>
              <a:ext cx="12700" cy="927006"/>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DB84788-D01A-D64D-B933-94B478AF8DA3}"/>
                </a:ext>
              </a:extLst>
            </p:cNvPr>
            <p:cNvSpPr txBox="1"/>
            <p:nvPr/>
          </p:nvSpPr>
          <p:spPr>
            <a:xfrm>
              <a:off x="5245099" y="3429007"/>
              <a:ext cx="482824" cy="307777"/>
            </a:xfrm>
            <a:prstGeom prst="rect">
              <a:avLst/>
            </a:prstGeom>
            <a:noFill/>
          </p:spPr>
          <p:txBody>
            <a:bodyPr wrap="none" rtlCol="0">
              <a:spAutoFit/>
            </a:bodyPr>
            <a:lstStyle/>
            <a:p>
              <a:r>
                <a:rPr lang="en-US" altLang="zh-CN" sz="1400" dirty="0"/>
                <a:t>dir1</a:t>
              </a:r>
              <a:endParaRPr lang="en-CN" sz="1400" dirty="0"/>
            </a:p>
          </p:txBody>
        </p:sp>
        <p:sp>
          <p:nvSpPr>
            <p:cNvPr id="77" name="TextBox 76">
              <a:extLst>
                <a:ext uri="{FF2B5EF4-FFF2-40B4-BE49-F238E27FC236}">
                  <a16:creationId xmlns:a16="http://schemas.microsoft.com/office/drawing/2014/main" id="{41865B66-ABEC-704C-8343-3D2CCEC14CAE}"/>
                </a:ext>
              </a:extLst>
            </p:cNvPr>
            <p:cNvSpPr txBox="1"/>
            <p:nvPr/>
          </p:nvSpPr>
          <p:spPr>
            <a:xfrm>
              <a:off x="1537079" y="3429007"/>
              <a:ext cx="513282" cy="307777"/>
            </a:xfrm>
            <a:prstGeom prst="rect">
              <a:avLst/>
            </a:prstGeom>
            <a:noFill/>
          </p:spPr>
          <p:txBody>
            <a:bodyPr wrap="none" rtlCol="0">
              <a:spAutoFit/>
            </a:bodyPr>
            <a:lstStyle/>
            <a:p>
              <a:r>
                <a:rPr lang="en-US" altLang="zh-CN" sz="1400" dirty="0"/>
                <a:t>file1</a:t>
              </a:r>
              <a:endParaRPr lang="en-CN" sz="1400" dirty="0"/>
            </a:p>
          </p:txBody>
        </p:sp>
        <p:sp>
          <p:nvSpPr>
            <p:cNvPr id="78" name="TextBox 77">
              <a:extLst>
                <a:ext uri="{FF2B5EF4-FFF2-40B4-BE49-F238E27FC236}">
                  <a16:creationId xmlns:a16="http://schemas.microsoft.com/office/drawing/2014/main" id="{E323DBF6-4327-9A4A-9393-BDC1B6670604}"/>
                </a:ext>
              </a:extLst>
            </p:cNvPr>
            <p:cNvSpPr txBox="1"/>
            <p:nvPr/>
          </p:nvSpPr>
          <p:spPr>
            <a:xfrm>
              <a:off x="2477032" y="3429007"/>
              <a:ext cx="482824" cy="307777"/>
            </a:xfrm>
            <a:prstGeom prst="rect">
              <a:avLst/>
            </a:prstGeom>
            <a:noFill/>
          </p:spPr>
          <p:txBody>
            <a:bodyPr wrap="none" rtlCol="0">
              <a:spAutoFit/>
            </a:bodyPr>
            <a:lstStyle/>
            <a:p>
              <a:r>
                <a:rPr lang="en-US" altLang="zh-CN" sz="1400" dirty="0"/>
                <a:t>dir2</a:t>
              </a:r>
              <a:endParaRPr lang="en-CN" sz="1400" dirty="0"/>
            </a:p>
          </p:txBody>
        </p:sp>
        <p:sp>
          <p:nvSpPr>
            <p:cNvPr id="79" name="TextBox 78">
              <a:extLst>
                <a:ext uri="{FF2B5EF4-FFF2-40B4-BE49-F238E27FC236}">
                  <a16:creationId xmlns:a16="http://schemas.microsoft.com/office/drawing/2014/main" id="{4258D9B9-0257-8748-81B3-C3723786034B}"/>
                </a:ext>
              </a:extLst>
            </p:cNvPr>
            <p:cNvSpPr txBox="1"/>
            <p:nvPr/>
          </p:nvSpPr>
          <p:spPr>
            <a:xfrm>
              <a:off x="4420517" y="3429007"/>
              <a:ext cx="513282" cy="307777"/>
            </a:xfrm>
            <a:prstGeom prst="rect">
              <a:avLst/>
            </a:prstGeom>
            <a:noFill/>
          </p:spPr>
          <p:txBody>
            <a:bodyPr wrap="none" rtlCol="0">
              <a:spAutoFit/>
            </a:bodyPr>
            <a:lstStyle/>
            <a:p>
              <a:r>
                <a:rPr lang="en-US" altLang="zh-CN" sz="1400" dirty="0"/>
                <a:t>file2</a:t>
              </a:r>
              <a:endParaRPr lang="en-CN" sz="1400" dirty="0"/>
            </a:p>
          </p:txBody>
        </p:sp>
      </p:grpSp>
    </p:spTree>
    <p:extLst>
      <p:ext uri="{BB962C8B-B14F-4D97-AF65-F5344CB8AC3E}">
        <p14:creationId xmlns:p14="http://schemas.microsoft.com/office/powerpoint/2010/main" val="3015032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C68EF-659D-0244-9B36-87BEEFF84717}"/>
              </a:ext>
            </a:extLst>
          </p:cNvPr>
          <p:cNvSpPr>
            <a:spLocks noGrp="1"/>
          </p:cNvSpPr>
          <p:nvPr>
            <p:ph type="title"/>
          </p:nvPr>
        </p:nvSpPr>
        <p:spPr/>
        <p:txBody>
          <a:bodyPr/>
          <a:lstStyle/>
          <a:p>
            <a:r>
              <a:rPr lang="en-US" altLang="zh-CN" dirty="0"/>
              <a:t>Sprite</a:t>
            </a:r>
            <a:r>
              <a:rPr lang="zh-CN" altLang="en-US" dirty="0"/>
              <a:t> </a:t>
            </a:r>
            <a:r>
              <a:rPr lang="en-US" altLang="zh-CN" dirty="0"/>
              <a:t>LFS</a:t>
            </a:r>
            <a:r>
              <a:rPr lang="zh-CN" altLang="en-US" dirty="0"/>
              <a:t>的</a:t>
            </a:r>
            <a:r>
              <a:rPr lang="zh-CN" altLang="en-CN" dirty="0"/>
              <a:t>数据</a:t>
            </a:r>
            <a:r>
              <a:rPr lang="zh-CN" altLang="en-US" dirty="0"/>
              <a:t>结构</a:t>
            </a:r>
            <a:endParaRPr lang="en-CN" dirty="0"/>
          </a:p>
        </p:txBody>
      </p:sp>
      <p:sp>
        <p:nvSpPr>
          <p:cNvPr id="3" name="Content Placeholder 2">
            <a:extLst>
              <a:ext uri="{FF2B5EF4-FFF2-40B4-BE49-F238E27FC236}">
                <a16:creationId xmlns:a16="http://schemas.microsoft.com/office/drawing/2014/main" id="{284D5139-347E-5E49-81F8-7306B036BFC1}"/>
              </a:ext>
            </a:extLst>
          </p:cNvPr>
          <p:cNvSpPr>
            <a:spLocks noGrp="1"/>
          </p:cNvSpPr>
          <p:nvPr>
            <p:ph idx="1"/>
          </p:nvPr>
        </p:nvSpPr>
        <p:spPr/>
        <p:txBody>
          <a:bodyPr>
            <a:normAutofit/>
          </a:bodyPr>
          <a:lstStyle/>
          <a:p>
            <a:r>
              <a:rPr lang="zh-CN" altLang="en-US" sz="2000" b="0" dirty="0"/>
              <a:t>固定位置的结构</a:t>
            </a:r>
            <a:endParaRPr lang="en-US" altLang="zh-CN" sz="2000" b="0" dirty="0"/>
          </a:p>
          <a:p>
            <a:pPr lvl="1"/>
            <a:r>
              <a:rPr lang="zh-CN" altLang="en-US" sz="1800" b="0" dirty="0"/>
              <a:t>超级块、</a:t>
            </a:r>
            <a:r>
              <a:rPr lang="zh-CN" altLang="en-US" sz="1800" b="0" dirty="0">
                <a:solidFill>
                  <a:srgbClr val="C00000"/>
                </a:solidFill>
              </a:rPr>
              <a:t>检查点（</a:t>
            </a:r>
            <a:r>
              <a:rPr lang="en-US" altLang="zh-CN" sz="1800" b="0" dirty="0">
                <a:solidFill>
                  <a:srgbClr val="C00000"/>
                </a:solidFill>
              </a:rPr>
              <a:t>checkpoint</a:t>
            </a:r>
            <a:r>
              <a:rPr lang="zh-CN" altLang="en-US" sz="1800" b="0" dirty="0">
                <a:solidFill>
                  <a:srgbClr val="C00000"/>
                </a:solidFill>
              </a:rPr>
              <a:t>）区域</a:t>
            </a:r>
            <a:endParaRPr lang="en-US" altLang="zh-CN" sz="1800" b="0" dirty="0">
              <a:solidFill>
                <a:srgbClr val="C00000"/>
              </a:solidFill>
            </a:endParaRPr>
          </a:p>
          <a:p>
            <a:r>
              <a:rPr lang="zh-CN" altLang="en-US" sz="2000" b="0" dirty="0"/>
              <a:t>以日志（</a:t>
            </a:r>
            <a:r>
              <a:rPr lang="en-US" altLang="zh-CN" sz="2000" b="0" dirty="0"/>
              <a:t>Log</a:t>
            </a:r>
            <a:r>
              <a:rPr lang="zh-CN" altLang="en-US" sz="2000" b="0" dirty="0"/>
              <a:t>）形式保存的结构</a:t>
            </a:r>
            <a:endParaRPr lang="en-US" altLang="zh-CN" sz="2000" b="0" dirty="0"/>
          </a:p>
          <a:p>
            <a:pPr lvl="1"/>
            <a:r>
              <a:rPr lang="en-US" altLang="zh-CN" sz="1800" dirty="0"/>
              <a:t>i</a:t>
            </a:r>
            <a:r>
              <a:rPr lang="en-CN" sz="1800" b="0"/>
              <a:t>node</a:t>
            </a:r>
            <a:r>
              <a:rPr lang="zh-CN" altLang="en-US" sz="1800" b="0" dirty="0"/>
              <a:t>、</a:t>
            </a:r>
            <a:r>
              <a:rPr lang="zh-CN" altLang="en-CN" sz="1800" b="0" dirty="0"/>
              <a:t>间接</a:t>
            </a:r>
            <a:r>
              <a:rPr lang="zh-CN" altLang="en-US" sz="1800" b="0" dirty="0"/>
              <a:t>块（索引块）、数据块</a:t>
            </a:r>
            <a:endParaRPr lang="en-US" altLang="zh-CN" sz="1800" b="0" dirty="0"/>
          </a:p>
          <a:p>
            <a:pPr lvl="1"/>
            <a:r>
              <a:rPr lang="en-US" altLang="zh-CN" sz="1800" dirty="0">
                <a:solidFill>
                  <a:srgbClr val="C00000"/>
                </a:solidFill>
              </a:rPr>
              <a:t>i</a:t>
            </a:r>
            <a:r>
              <a:rPr lang="en-CN" sz="1800">
                <a:solidFill>
                  <a:srgbClr val="C00000"/>
                </a:solidFill>
              </a:rPr>
              <a:t>node</a:t>
            </a:r>
            <a:r>
              <a:rPr lang="zh-CN" altLang="en-US" sz="1800" dirty="0">
                <a:solidFill>
                  <a:srgbClr val="C00000"/>
                </a:solidFill>
              </a:rPr>
              <a:t> </a:t>
            </a:r>
            <a:r>
              <a:rPr lang="en-US" altLang="zh-CN" sz="1800" dirty="0">
                <a:solidFill>
                  <a:srgbClr val="C00000"/>
                </a:solidFill>
              </a:rPr>
              <a:t>map</a:t>
            </a:r>
            <a:r>
              <a:rPr lang="zh-CN" altLang="en-US" sz="1800" dirty="0">
                <a:solidFill>
                  <a:srgbClr val="C00000"/>
                </a:solidFill>
              </a:rPr>
              <a:t>：记录每个</a:t>
            </a:r>
            <a:r>
              <a:rPr lang="en-US" altLang="zh-CN" sz="1800" dirty="0" err="1">
                <a:solidFill>
                  <a:srgbClr val="C00000"/>
                </a:solidFill>
              </a:rPr>
              <a:t>inode</a:t>
            </a:r>
            <a:r>
              <a:rPr lang="zh-CN" altLang="en-US" sz="1800" dirty="0">
                <a:solidFill>
                  <a:srgbClr val="C00000"/>
                </a:solidFill>
              </a:rPr>
              <a:t>的当前位置</a:t>
            </a:r>
            <a:endParaRPr lang="en-US" altLang="zh-CN" sz="1800" b="0" dirty="0">
              <a:solidFill>
                <a:srgbClr val="C00000"/>
              </a:solidFill>
            </a:endParaRPr>
          </a:p>
          <a:p>
            <a:pPr lvl="1"/>
            <a:r>
              <a:rPr lang="zh-CN" altLang="en-US" sz="1800" b="0" dirty="0">
                <a:solidFill>
                  <a:srgbClr val="C00000"/>
                </a:solidFill>
              </a:rPr>
              <a:t>段概要</a:t>
            </a:r>
            <a:r>
              <a:rPr lang="zh-CN" altLang="en-US" sz="1800" dirty="0">
                <a:solidFill>
                  <a:srgbClr val="C00000"/>
                </a:solidFill>
              </a:rPr>
              <a:t>：记录段中有效块</a:t>
            </a:r>
            <a:endParaRPr lang="en-US" altLang="zh-CN" sz="1800" b="0" dirty="0">
              <a:solidFill>
                <a:srgbClr val="C00000"/>
              </a:solidFill>
            </a:endParaRPr>
          </a:p>
          <a:p>
            <a:pPr lvl="1"/>
            <a:r>
              <a:rPr lang="zh-CN" altLang="en-US" sz="1800" b="0" dirty="0">
                <a:solidFill>
                  <a:srgbClr val="C00000"/>
                </a:solidFill>
              </a:rPr>
              <a:t>段使用表：段中有效字节数、段的最后修改时间</a:t>
            </a:r>
            <a:endParaRPr lang="en-US" altLang="zh-CN" sz="1800" b="0" dirty="0">
              <a:solidFill>
                <a:srgbClr val="C00000"/>
              </a:solidFill>
            </a:endParaRPr>
          </a:p>
          <a:p>
            <a:pPr lvl="1"/>
            <a:r>
              <a:rPr lang="zh-CN" altLang="en-US" sz="1800" b="0" dirty="0">
                <a:solidFill>
                  <a:srgbClr val="C00000"/>
                </a:solidFill>
              </a:rPr>
              <a:t>目录修改日志</a:t>
            </a:r>
            <a:endParaRPr lang="en-US" altLang="zh-CN" sz="1800" b="0" dirty="0">
              <a:solidFill>
                <a:srgbClr val="C00000"/>
              </a:solidFill>
            </a:endParaRPr>
          </a:p>
          <a:p>
            <a:endParaRPr lang="en-CN" sz="2000" b="0" dirty="0"/>
          </a:p>
        </p:txBody>
      </p:sp>
      <p:sp>
        <p:nvSpPr>
          <p:cNvPr id="4" name="Slide Number Placeholder 3">
            <a:extLst>
              <a:ext uri="{FF2B5EF4-FFF2-40B4-BE49-F238E27FC236}">
                <a16:creationId xmlns:a16="http://schemas.microsoft.com/office/drawing/2014/main" id="{EC88E714-8EB1-C040-8D1D-1B0620B0D56C}"/>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sp>
        <p:nvSpPr>
          <p:cNvPr id="5" name="Footer Placeholder 4">
            <a:extLst>
              <a:ext uri="{FF2B5EF4-FFF2-40B4-BE49-F238E27FC236}">
                <a16:creationId xmlns:a16="http://schemas.microsoft.com/office/drawing/2014/main" id="{5D14874A-4F02-AE47-AE76-B0172C71EC2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文本框 6">
            <a:extLst>
              <a:ext uri="{FF2B5EF4-FFF2-40B4-BE49-F238E27FC236}">
                <a16:creationId xmlns:a16="http://schemas.microsoft.com/office/drawing/2014/main" id="{4235FCE1-CC9C-E34B-9C85-F3B2A6677729}"/>
              </a:ext>
            </a:extLst>
          </p:cNvPr>
          <p:cNvSpPr txBox="1"/>
          <p:nvPr/>
        </p:nvSpPr>
        <p:spPr>
          <a:xfrm>
            <a:off x="6251848" y="1362282"/>
            <a:ext cx="2736304" cy="1495218"/>
          </a:xfrm>
          <a:prstGeom prst="rect">
            <a:avLst/>
          </a:prstGeom>
          <a:noFill/>
          <a:ln>
            <a:solidFill>
              <a:schemeClr val="accent1"/>
            </a:solidFill>
          </a:ln>
        </p:spPr>
        <p:txBody>
          <a:bodyPr wrap="square">
            <a:spAutoFit/>
          </a:bodyPr>
          <a:lstStyle/>
          <a:p>
            <a:pPr>
              <a:lnSpc>
                <a:spcPct val="130000"/>
              </a:lnSpc>
            </a:pPr>
            <a:r>
              <a:rPr lang="en-US" altLang="zh-CN" sz="1800" b="1" dirty="0"/>
              <a:t>Log</a:t>
            </a:r>
            <a:r>
              <a:rPr lang="zh-CN" altLang="en-US" sz="1800" b="1" dirty="0"/>
              <a:t>和</a:t>
            </a:r>
            <a:r>
              <a:rPr lang="en-US" altLang="zh-CN" sz="1800" b="1" dirty="0"/>
              <a:t>Journal</a:t>
            </a:r>
            <a:r>
              <a:rPr lang="zh-CN" altLang="en-US" sz="1800" b="1" dirty="0"/>
              <a:t>的区别？</a:t>
            </a:r>
            <a:endParaRPr lang="en-US" altLang="zh-CN" sz="1800" b="1" dirty="0"/>
          </a:p>
          <a:p>
            <a:pPr marL="285750" indent="-285750">
              <a:lnSpc>
                <a:spcPct val="130000"/>
              </a:lnSpc>
              <a:buFont typeface="Arial" panose="020B0604020202020204" pitchFamily="34" charset="0"/>
              <a:buChar char="•"/>
            </a:pPr>
            <a:r>
              <a:rPr lang="zh-CN" altLang="en-US" dirty="0"/>
              <a:t>中文都是“日志”</a:t>
            </a:r>
            <a:endParaRPr lang="en-US" altLang="zh-CN" dirty="0"/>
          </a:p>
          <a:p>
            <a:pPr marL="285750" indent="-285750">
              <a:lnSpc>
                <a:spcPct val="130000"/>
              </a:lnSpc>
              <a:buFont typeface="Arial" panose="020B0604020202020204" pitchFamily="34" charset="0"/>
              <a:buChar char="•"/>
            </a:pPr>
            <a:r>
              <a:rPr lang="en-US" altLang="zh-CN" dirty="0"/>
              <a:t>Journal</a:t>
            </a:r>
            <a:r>
              <a:rPr lang="zh-CN" altLang="en-US" dirty="0"/>
              <a:t>是暂时的</a:t>
            </a:r>
            <a:endParaRPr lang="en-US" altLang="zh-CN" dirty="0"/>
          </a:p>
          <a:p>
            <a:pPr marL="285750" indent="-285750">
              <a:lnSpc>
                <a:spcPct val="130000"/>
              </a:lnSpc>
              <a:buFont typeface="Arial" panose="020B0604020202020204" pitchFamily="34" charset="0"/>
              <a:buChar char="•"/>
            </a:pPr>
            <a:r>
              <a:rPr lang="en-US" altLang="zh-CN" dirty="0"/>
              <a:t>Log</a:t>
            </a:r>
            <a:r>
              <a:rPr lang="zh-CN" altLang="en-US" dirty="0"/>
              <a:t>是持久的</a:t>
            </a:r>
          </a:p>
        </p:txBody>
      </p:sp>
    </p:spTree>
    <p:extLst>
      <p:ext uri="{BB962C8B-B14F-4D97-AF65-F5344CB8AC3E}">
        <p14:creationId xmlns:p14="http://schemas.microsoft.com/office/powerpoint/2010/main" val="2261461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8192-BB25-1E46-98BE-755D58932C5D}"/>
              </a:ext>
            </a:extLst>
          </p:cNvPr>
          <p:cNvSpPr>
            <a:spLocks noGrp="1"/>
          </p:cNvSpPr>
          <p:nvPr>
            <p:ph type="title"/>
          </p:nvPr>
        </p:nvSpPr>
        <p:spPr/>
        <p:txBody>
          <a:bodyPr/>
          <a:lstStyle/>
          <a:p>
            <a:r>
              <a:rPr lang="zh-CN" altLang="en-US" dirty="0"/>
              <a:t>创建文件举例</a:t>
            </a:r>
            <a:endParaRPr lang="en-CN" dirty="0"/>
          </a:p>
        </p:txBody>
      </p:sp>
      <p:sp>
        <p:nvSpPr>
          <p:cNvPr id="3" name="Content Placeholder 2">
            <a:extLst>
              <a:ext uri="{FF2B5EF4-FFF2-40B4-BE49-F238E27FC236}">
                <a16:creationId xmlns:a16="http://schemas.microsoft.com/office/drawing/2014/main" id="{DFBB1BF2-A5F5-AD4A-BF63-200B0A0ABCD6}"/>
              </a:ext>
            </a:extLst>
          </p:cNvPr>
          <p:cNvSpPr>
            <a:spLocks noGrp="1"/>
          </p:cNvSpPr>
          <p:nvPr>
            <p:ph idx="1"/>
          </p:nvPr>
        </p:nvSpPr>
        <p:spPr/>
        <p:txBody>
          <a:bodyPr/>
          <a:lstStyle/>
          <a:p>
            <a:r>
              <a:rPr lang="zh-CN" altLang="en-CN" b="0" dirty="0"/>
              <a:t>一个</a:t>
            </a:r>
            <a:r>
              <a:rPr lang="zh-CN" altLang="en-US" b="0" dirty="0"/>
              <a:t>日志文件系统</a:t>
            </a:r>
            <a:endParaRPr lang="en-CN" altLang="zh-CN" b="0" dirty="0"/>
          </a:p>
          <a:p>
            <a:pPr lvl="1"/>
            <a:r>
              <a:rPr lang="zh-CN" altLang="en-US" b="0" dirty="0"/>
              <a:t>有</a:t>
            </a:r>
            <a:r>
              <a:rPr lang="en-US" altLang="zh-CN" b="0" dirty="0"/>
              <a:t>4</a:t>
            </a:r>
            <a:r>
              <a:rPr lang="zh-CN" altLang="en-US" b="0" dirty="0"/>
              <a:t>个</a:t>
            </a:r>
            <a:r>
              <a:rPr lang="en-US" altLang="zh-CN" b="0" dirty="0" err="1"/>
              <a:t>inode</a:t>
            </a:r>
            <a:r>
              <a:rPr lang="zh-CN" altLang="en-US" b="0" dirty="0"/>
              <a:t>，位置记录在</a:t>
            </a:r>
            <a:r>
              <a:rPr lang="en-US" altLang="zh-CN" b="0" dirty="0" err="1"/>
              <a:t>inode</a:t>
            </a:r>
            <a:r>
              <a:rPr lang="zh-CN" altLang="en-US" b="0" dirty="0"/>
              <a:t> </a:t>
            </a:r>
            <a:r>
              <a:rPr lang="en-US" altLang="zh-CN" b="0" dirty="0"/>
              <a:t>map</a:t>
            </a:r>
            <a:r>
              <a:rPr lang="zh-CN" altLang="en-US" b="0" dirty="0"/>
              <a:t>中</a:t>
            </a:r>
            <a:endParaRPr lang="en-US" altLang="zh-CN" b="0" dirty="0"/>
          </a:p>
          <a:p>
            <a:pPr lvl="1"/>
            <a:r>
              <a:rPr lang="zh-CN" altLang="en-US" dirty="0"/>
              <a:t>对应</a:t>
            </a:r>
            <a:r>
              <a:rPr lang="en-US" altLang="zh-CN" dirty="0"/>
              <a:t>4</a:t>
            </a:r>
            <a:r>
              <a:rPr lang="zh-CN" altLang="en-US" dirty="0"/>
              <a:t>个文件分别为：</a:t>
            </a:r>
            <a:r>
              <a:rPr lang="en-US" altLang="zh-CN" dirty="0"/>
              <a:t>/</a:t>
            </a:r>
            <a:r>
              <a:rPr lang="zh-CN" altLang="en-US" dirty="0"/>
              <a:t>，</a:t>
            </a:r>
            <a:r>
              <a:rPr lang="en-US" altLang="zh-CN" dirty="0"/>
              <a:t>/dir2</a:t>
            </a:r>
            <a:r>
              <a:rPr lang="zh-CN" altLang="en-US" dirty="0"/>
              <a:t>，</a:t>
            </a:r>
            <a:r>
              <a:rPr lang="en-US" altLang="zh-CN" dirty="0"/>
              <a:t>/file2</a:t>
            </a:r>
            <a:r>
              <a:rPr lang="zh-CN" altLang="en-US" dirty="0"/>
              <a:t>，</a:t>
            </a:r>
            <a:r>
              <a:rPr lang="en-US" altLang="zh-CN" dirty="0"/>
              <a:t>/dir2/file1</a:t>
            </a:r>
          </a:p>
          <a:p>
            <a:pPr marL="0" indent="0">
              <a:buNone/>
            </a:pPr>
            <a:endParaRPr lang="en-US" altLang="zh-CN" dirty="0"/>
          </a:p>
        </p:txBody>
      </p:sp>
      <p:sp>
        <p:nvSpPr>
          <p:cNvPr id="4" name="Slide Number Placeholder 3">
            <a:extLst>
              <a:ext uri="{FF2B5EF4-FFF2-40B4-BE49-F238E27FC236}">
                <a16:creationId xmlns:a16="http://schemas.microsoft.com/office/drawing/2014/main" id="{B67ACB61-3112-A946-A055-69ABA9100CF8}"/>
              </a:ext>
            </a:extLst>
          </p:cNvPr>
          <p:cNvSpPr>
            <a:spLocks noGrp="1"/>
          </p:cNvSpPr>
          <p:nvPr>
            <p:ph type="sldNum" sz="quarter" idx="12"/>
          </p:nvPr>
        </p:nvSpPr>
        <p:spPr/>
        <p:txBody>
          <a:bodyPr/>
          <a:lstStyle/>
          <a:p>
            <a:fld id="{ADE361C3-C043-4A6E-BDCE-8DA1E7D90A3B}" type="slidenum">
              <a:rPr lang="zh-CN" altLang="en-US" smtClean="0"/>
              <a:t>12</a:t>
            </a:fld>
            <a:endParaRPr lang="zh-CN" altLang="en-US"/>
          </a:p>
        </p:txBody>
      </p:sp>
      <p:sp>
        <p:nvSpPr>
          <p:cNvPr id="5" name="Footer Placeholder 4">
            <a:extLst>
              <a:ext uri="{FF2B5EF4-FFF2-40B4-BE49-F238E27FC236}">
                <a16:creationId xmlns:a16="http://schemas.microsoft.com/office/drawing/2014/main" id="{0544ABDF-4DA5-0542-B8CC-AD03DF333BA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9" name="Straight Connector 18">
            <a:extLst>
              <a:ext uri="{FF2B5EF4-FFF2-40B4-BE49-F238E27FC236}">
                <a16:creationId xmlns:a16="http://schemas.microsoft.com/office/drawing/2014/main" id="{37B91466-6B39-124F-A675-E974C15AB74E}"/>
              </a:ext>
            </a:extLst>
          </p:cNvPr>
          <p:cNvCxnSpPr>
            <a:cxnSpLocks/>
          </p:cNvCxnSpPr>
          <p:nvPr/>
        </p:nvCxnSpPr>
        <p:spPr>
          <a:xfrm>
            <a:off x="539750" y="3941557"/>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FC321F-63BA-E04B-92F1-3D95B40CA671}"/>
              </a:ext>
            </a:extLst>
          </p:cNvPr>
          <p:cNvCxnSpPr>
            <a:cxnSpLocks/>
          </p:cNvCxnSpPr>
          <p:nvPr/>
        </p:nvCxnSpPr>
        <p:spPr>
          <a:xfrm>
            <a:off x="539750" y="4462496"/>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014A18-EDCD-A540-86D7-F5E313F3A157}"/>
              </a:ext>
            </a:extLst>
          </p:cNvPr>
          <p:cNvSpPr/>
          <p:nvPr/>
        </p:nvSpPr>
        <p:spPr>
          <a:xfrm>
            <a:off x="53975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22" name="Rectangle 21">
            <a:extLst>
              <a:ext uri="{FF2B5EF4-FFF2-40B4-BE49-F238E27FC236}">
                <a16:creationId xmlns:a16="http://schemas.microsoft.com/office/drawing/2014/main" id="{F475035B-5076-CE4A-9F19-68BF993F590E}"/>
              </a:ext>
            </a:extLst>
          </p:cNvPr>
          <p:cNvSpPr/>
          <p:nvPr/>
        </p:nvSpPr>
        <p:spPr>
          <a:xfrm>
            <a:off x="1005668"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3" name="TextBox 22">
            <a:extLst>
              <a:ext uri="{FF2B5EF4-FFF2-40B4-BE49-F238E27FC236}">
                <a16:creationId xmlns:a16="http://schemas.microsoft.com/office/drawing/2014/main" id="{BCC28A91-2C3C-9D46-8AAB-5A828CBD34C3}"/>
              </a:ext>
            </a:extLst>
          </p:cNvPr>
          <p:cNvSpPr txBox="1"/>
          <p:nvPr/>
        </p:nvSpPr>
        <p:spPr>
          <a:xfrm>
            <a:off x="6046228" y="4589960"/>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24" name="Rectangle 23">
            <a:extLst>
              <a:ext uri="{FF2B5EF4-FFF2-40B4-BE49-F238E27FC236}">
                <a16:creationId xmlns:a16="http://schemas.microsoft.com/office/drawing/2014/main" id="{54880B7D-A1C2-5E43-B3D8-770C84D0C60B}"/>
              </a:ext>
            </a:extLst>
          </p:cNvPr>
          <p:cNvSpPr/>
          <p:nvPr/>
        </p:nvSpPr>
        <p:spPr>
          <a:xfrm>
            <a:off x="1469171"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25" name="Rectangle 24">
            <a:extLst>
              <a:ext uri="{FF2B5EF4-FFF2-40B4-BE49-F238E27FC236}">
                <a16:creationId xmlns:a16="http://schemas.microsoft.com/office/drawing/2014/main" id="{56FD4F20-2CF3-ED4F-A239-C265197886F3}"/>
              </a:ext>
            </a:extLst>
          </p:cNvPr>
          <p:cNvSpPr/>
          <p:nvPr/>
        </p:nvSpPr>
        <p:spPr>
          <a:xfrm>
            <a:off x="1936605"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6" name="Rectangle 25">
            <a:extLst>
              <a:ext uri="{FF2B5EF4-FFF2-40B4-BE49-F238E27FC236}">
                <a16:creationId xmlns:a16="http://schemas.microsoft.com/office/drawing/2014/main" id="{FEC5068C-6F7D-7747-9A47-86FC6C1060C8}"/>
              </a:ext>
            </a:extLst>
          </p:cNvPr>
          <p:cNvSpPr/>
          <p:nvPr/>
        </p:nvSpPr>
        <p:spPr>
          <a:xfrm>
            <a:off x="2400108"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7" name="Rectangle 26">
            <a:extLst>
              <a:ext uri="{FF2B5EF4-FFF2-40B4-BE49-F238E27FC236}">
                <a16:creationId xmlns:a16="http://schemas.microsoft.com/office/drawing/2014/main" id="{D1DD3697-5DE0-E84D-A30E-F5D2B4839970}"/>
              </a:ext>
            </a:extLst>
          </p:cNvPr>
          <p:cNvSpPr/>
          <p:nvPr/>
        </p:nvSpPr>
        <p:spPr>
          <a:xfrm>
            <a:off x="2863611" y="3956612"/>
            <a:ext cx="465918" cy="503870"/>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8" name="Rectangle 27">
            <a:extLst>
              <a:ext uri="{FF2B5EF4-FFF2-40B4-BE49-F238E27FC236}">
                <a16:creationId xmlns:a16="http://schemas.microsoft.com/office/drawing/2014/main" id="{31BBAEF5-AD48-774E-97AF-55C3C68FA464}"/>
              </a:ext>
            </a:extLst>
          </p:cNvPr>
          <p:cNvSpPr/>
          <p:nvPr/>
        </p:nvSpPr>
        <p:spPr>
          <a:xfrm>
            <a:off x="3327114"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9" name="Rectangle 28">
            <a:extLst>
              <a:ext uri="{FF2B5EF4-FFF2-40B4-BE49-F238E27FC236}">
                <a16:creationId xmlns:a16="http://schemas.microsoft.com/office/drawing/2014/main" id="{C95FA7CB-251F-6042-93CB-7125D455C92D}"/>
              </a:ext>
            </a:extLst>
          </p:cNvPr>
          <p:cNvSpPr/>
          <p:nvPr/>
        </p:nvSpPr>
        <p:spPr>
          <a:xfrm>
            <a:off x="3790617"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30" name="Rectangle 29">
            <a:extLst>
              <a:ext uri="{FF2B5EF4-FFF2-40B4-BE49-F238E27FC236}">
                <a16:creationId xmlns:a16="http://schemas.microsoft.com/office/drawing/2014/main" id="{8422C66C-7CE3-4F4E-94EF-4E0433E73DFC}"/>
              </a:ext>
            </a:extLst>
          </p:cNvPr>
          <p:cNvSpPr/>
          <p:nvPr/>
        </p:nvSpPr>
        <p:spPr>
          <a:xfrm>
            <a:off x="5182222" y="3956612"/>
            <a:ext cx="465918" cy="50387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31" name="Rectangle 30">
            <a:extLst>
              <a:ext uri="{FF2B5EF4-FFF2-40B4-BE49-F238E27FC236}">
                <a16:creationId xmlns:a16="http://schemas.microsoft.com/office/drawing/2014/main" id="{D32890B8-F554-1044-9B9C-8078F48923DA}"/>
              </a:ext>
            </a:extLst>
          </p:cNvPr>
          <p:cNvSpPr/>
          <p:nvPr/>
        </p:nvSpPr>
        <p:spPr>
          <a:xfrm>
            <a:off x="425412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32" name="Rectangle 31">
            <a:extLst>
              <a:ext uri="{FF2B5EF4-FFF2-40B4-BE49-F238E27FC236}">
                <a16:creationId xmlns:a16="http://schemas.microsoft.com/office/drawing/2014/main" id="{D81388C1-DEAD-DC44-870E-F03CC25E48BB}"/>
              </a:ext>
            </a:extLst>
          </p:cNvPr>
          <p:cNvSpPr/>
          <p:nvPr/>
        </p:nvSpPr>
        <p:spPr>
          <a:xfrm>
            <a:off x="4717623"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33" name="Elbow Connector 32">
            <a:extLst>
              <a:ext uri="{FF2B5EF4-FFF2-40B4-BE49-F238E27FC236}">
                <a16:creationId xmlns:a16="http://schemas.microsoft.com/office/drawing/2014/main" id="{D7CFDDBF-8D58-2048-8CDA-F777EEDC17E7}"/>
              </a:ext>
            </a:extLst>
          </p:cNvPr>
          <p:cNvCxnSpPr>
            <a:stCxn id="30" idx="2"/>
            <a:endCxn id="32" idx="2"/>
          </p:cNvCxnSpPr>
          <p:nvPr/>
        </p:nvCxnSpPr>
        <p:spPr>
          <a:xfrm rot="5400000">
            <a:off x="5182882" y="4228183"/>
            <a:ext cx="12700" cy="46459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14EBC160-D85A-F14A-A006-17BC1B58B8AF}"/>
              </a:ext>
            </a:extLst>
          </p:cNvPr>
          <p:cNvCxnSpPr>
            <a:cxnSpLocks/>
            <a:stCxn id="30" idx="2"/>
            <a:endCxn id="25" idx="2"/>
          </p:cNvCxnSpPr>
          <p:nvPr/>
        </p:nvCxnSpPr>
        <p:spPr>
          <a:xfrm rot="5400000">
            <a:off x="3792373" y="2837674"/>
            <a:ext cx="12700" cy="3245617"/>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44A67CEE-068A-CD41-BB9E-6E9009617119}"/>
              </a:ext>
            </a:extLst>
          </p:cNvPr>
          <p:cNvCxnSpPr>
            <a:cxnSpLocks/>
            <a:stCxn id="30" idx="2"/>
            <a:endCxn id="22" idx="2"/>
          </p:cNvCxnSpPr>
          <p:nvPr/>
        </p:nvCxnSpPr>
        <p:spPr>
          <a:xfrm rot="5400000">
            <a:off x="3326904" y="2372205"/>
            <a:ext cx="12700" cy="417655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367A0C57-811A-CF46-97F3-0A6DCAC9FA09}"/>
              </a:ext>
            </a:extLst>
          </p:cNvPr>
          <p:cNvCxnSpPr>
            <a:cxnSpLocks/>
            <a:stCxn id="30" idx="2"/>
            <a:endCxn id="29" idx="2"/>
          </p:cNvCxnSpPr>
          <p:nvPr/>
        </p:nvCxnSpPr>
        <p:spPr>
          <a:xfrm rot="5400000">
            <a:off x="4719379" y="3764680"/>
            <a:ext cx="12700" cy="1391605"/>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7F5AD048-EDEF-3248-A517-6C3E5E98ACC4}"/>
              </a:ext>
            </a:extLst>
          </p:cNvPr>
          <p:cNvCxnSpPr>
            <a:cxnSpLocks/>
            <a:stCxn id="22" idx="0"/>
            <a:endCxn id="21" idx="0"/>
          </p:cNvCxnSpPr>
          <p:nvPr/>
        </p:nvCxnSpPr>
        <p:spPr>
          <a:xfrm rot="16200000" flipV="1">
            <a:off x="1005668" y="3723653"/>
            <a:ext cx="12700" cy="465918"/>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7B855569-8308-804E-A549-BAC579FC8484}"/>
              </a:ext>
            </a:extLst>
          </p:cNvPr>
          <p:cNvCxnSpPr>
            <a:cxnSpLocks/>
            <a:stCxn id="29" idx="0"/>
            <a:endCxn id="28" idx="0"/>
          </p:cNvCxnSpPr>
          <p:nvPr/>
        </p:nvCxnSpPr>
        <p:spPr>
          <a:xfrm rot="16200000" flipV="1">
            <a:off x="3791825"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BFC10FE9-229D-CC4E-9258-1FEAF9BEC742}"/>
              </a:ext>
            </a:extLst>
          </p:cNvPr>
          <p:cNvCxnSpPr>
            <a:cxnSpLocks/>
            <a:stCxn id="32" idx="0"/>
            <a:endCxn id="31" idx="0"/>
          </p:cNvCxnSpPr>
          <p:nvPr/>
        </p:nvCxnSpPr>
        <p:spPr>
          <a:xfrm rot="16200000" flipV="1">
            <a:off x="4718831"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B13484D2-3009-4D43-9ECC-1EBC92726C36}"/>
              </a:ext>
            </a:extLst>
          </p:cNvPr>
          <p:cNvCxnSpPr>
            <a:cxnSpLocks/>
            <a:stCxn id="25" idx="0"/>
            <a:endCxn id="24" idx="0"/>
          </p:cNvCxnSpPr>
          <p:nvPr/>
        </p:nvCxnSpPr>
        <p:spPr>
          <a:xfrm rot="16200000" flipV="1">
            <a:off x="1935847" y="3722895"/>
            <a:ext cx="12700" cy="46743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F4CD6395-353F-4A48-879F-8FB18DB4E472}"/>
              </a:ext>
            </a:extLst>
          </p:cNvPr>
          <p:cNvCxnSpPr>
            <a:cxnSpLocks/>
            <a:stCxn id="29" idx="0"/>
            <a:endCxn id="26" idx="0"/>
          </p:cNvCxnSpPr>
          <p:nvPr/>
        </p:nvCxnSpPr>
        <p:spPr>
          <a:xfrm rot="16200000" flipV="1">
            <a:off x="3328322" y="3261357"/>
            <a:ext cx="12700" cy="139050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6FC1300-1692-A243-925B-A48B7A58D44D}"/>
              </a:ext>
            </a:extLst>
          </p:cNvPr>
          <p:cNvCxnSpPr>
            <a:cxnSpLocks/>
            <a:stCxn id="29" idx="0"/>
            <a:endCxn id="27" idx="0"/>
          </p:cNvCxnSpPr>
          <p:nvPr/>
        </p:nvCxnSpPr>
        <p:spPr>
          <a:xfrm rot="16200000" flipV="1">
            <a:off x="3560073" y="3493109"/>
            <a:ext cx="12700" cy="927006"/>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A7BC5DA-75BA-B845-AB90-B04F34B44B3B}"/>
              </a:ext>
            </a:extLst>
          </p:cNvPr>
          <p:cNvSpPr txBox="1"/>
          <p:nvPr/>
        </p:nvSpPr>
        <p:spPr>
          <a:xfrm>
            <a:off x="4487079" y="3433564"/>
            <a:ext cx="234360" cy="307777"/>
          </a:xfrm>
          <a:prstGeom prst="rect">
            <a:avLst/>
          </a:prstGeom>
          <a:noFill/>
        </p:spPr>
        <p:txBody>
          <a:bodyPr wrap="none" rtlCol="0">
            <a:spAutoFit/>
          </a:bodyPr>
          <a:lstStyle/>
          <a:p>
            <a:r>
              <a:rPr lang="en-US" altLang="zh-CN" sz="1400" dirty="0"/>
              <a:t>/</a:t>
            </a:r>
            <a:endParaRPr lang="en-CN" sz="1400" dirty="0"/>
          </a:p>
        </p:txBody>
      </p:sp>
      <p:sp>
        <p:nvSpPr>
          <p:cNvPr id="44" name="TextBox 43">
            <a:extLst>
              <a:ext uri="{FF2B5EF4-FFF2-40B4-BE49-F238E27FC236}">
                <a16:creationId xmlns:a16="http://schemas.microsoft.com/office/drawing/2014/main" id="{5C991FD8-56A6-DA4B-9E97-A3DB1FBF22FC}"/>
              </a:ext>
            </a:extLst>
          </p:cNvPr>
          <p:cNvSpPr txBox="1"/>
          <p:nvPr/>
        </p:nvSpPr>
        <p:spPr>
          <a:xfrm>
            <a:off x="779059" y="3433564"/>
            <a:ext cx="513282" cy="307777"/>
          </a:xfrm>
          <a:prstGeom prst="rect">
            <a:avLst/>
          </a:prstGeom>
          <a:noFill/>
        </p:spPr>
        <p:txBody>
          <a:bodyPr wrap="none" rtlCol="0">
            <a:spAutoFit/>
          </a:bodyPr>
          <a:lstStyle/>
          <a:p>
            <a:r>
              <a:rPr lang="en-US" altLang="zh-CN" sz="1400" dirty="0"/>
              <a:t>file1</a:t>
            </a:r>
            <a:endParaRPr lang="en-CN" sz="1400" dirty="0"/>
          </a:p>
        </p:txBody>
      </p:sp>
      <p:sp>
        <p:nvSpPr>
          <p:cNvPr id="45" name="TextBox 44">
            <a:extLst>
              <a:ext uri="{FF2B5EF4-FFF2-40B4-BE49-F238E27FC236}">
                <a16:creationId xmlns:a16="http://schemas.microsoft.com/office/drawing/2014/main" id="{BF49F221-97CD-7A41-8488-A71D532A273A}"/>
              </a:ext>
            </a:extLst>
          </p:cNvPr>
          <p:cNvSpPr txBox="1"/>
          <p:nvPr/>
        </p:nvSpPr>
        <p:spPr>
          <a:xfrm>
            <a:off x="1719012" y="3433564"/>
            <a:ext cx="482824" cy="307777"/>
          </a:xfrm>
          <a:prstGeom prst="rect">
            <a:avLst/>
          </a:prstGeom>
          <a:noFill/>
        </p:spPr>
        <p:txBody>
          <a:bodyPr wrap="none" rtlCol="0">
            <a:spAutoFit/>
          </a:bodyPr>
          <a:lstStyle/>
          <a:p>
            <a:r>
              <a:rPr lang="en-US" altLang="zh-CN" sz="1400" dirty="0"/>
              <a:t>dir2</a:t>
            </a:r>
            <a:endParaRPr lang="en-CN" sz="1400" dirty="0"/>
          </a:p>
        </p:txBody>
      </p:sp>
      <p:sp>
        <p:nvSpPr>
          <p:cNvPr id="46" name="TextBox 45">
            <a:extLst>
              <a:ext uri="{FF2B5EF4-FFF2-40B4-BE49-F238E27FC236}">
                <a16:creationId xmlns:a16="http://schemas.microsoft.com/office/drawing/2014/main" id="{E19B107C-BA4D-A241-9A53-07A70749C1AA}"/>
              </a:ext>
            </a:extLst>
          </p:cNvPr>
          <p:cNvSpPr txBox="1"/>
          <p:nvPr/>
        </p:nvSpPr>
        <p:spPr>
          <a:xfrm>
            <a:off x="3662497" y="3433564"/>
            <a:ext cx="513282" cy="307777"/>
          </a:xfrm>
          <a:prstGeom prst="rect">
            <a:avLst/>
          </a:prstGeom>
          <a:noFill/>
        </p:spPr>
        <p:txBody>
          <a:bodyPr wrap="none" rtlCol="0">
            <a:spAutoFit/>
          </a:bodyPr>
          <a:lstStyle/>
          <a:p>
            <a:r>
              <a:rPr lang="en-US" altLang="zh-CN" sz="1400" dirty="0"/>
              <a:t>file2</a:t>
            </a:r>
            <a:endParaRPr lang="en-CN" sz="1400" dirty="0"/>
          </a:p>
        </p:txBody>
      </p:sp>
    </p:spTree>
    <p:extLst>
      <p:ext uri="{BB962C8B-B14F-4D97-AF65-F5344CB8AC3E}">
        <p14:creationId xmlns:p14="http://schemas.microsoft.com/office/powerpoint/2010/main" val="3703002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8192-BB25-1E46-98BE-755D58932C5D}"/>
              </a:ext>
            </a:extLst>
          </p:cNvPr>
          <p:cNvSpPr>
            <a:spLocks noGrp="1"/>
          </p:cNvSpPr>
          <p:nvPr>
            <p:ph type="title"/>
          </p:nvPr>
        </p:nvSpPr>
        <p:spPr/>
        <p:txBody>
          <a:bodyPr/>
          <a:lstStyle/>
          <a:p>
            <a:r>
              <a:rPr lang="zh-CN" altLang="en-US" dirty="0"/>
              <a:t>创建文件举例</a:t>
            </a:r>
            <a:endParaRPr lang="en-CN" dirty="0"/>
          </a:p>
        </p:txBody>
      </p:sp>
      <p:sp>
        <p:nvSpPr>
          <p:cNvPr id="3" name="Content Placeholder 2">
            <a:extLst>
              <a:ext uri="{FF2B5EF4-FFF2-40B4-BE49-F238E27FC236}">
                <a16:creationId xmlns:a16="http://schemas.microsoft.com/office/drawing/2014/main" id="{DFBB1BF2-A5F5-AD4A-BF63-200B0A0ABCD6}"/>
              </a:ext>
            </a:extLst>
          </p:cNvPr>
          <p:cNvSpPr>
            <a:spLocks noGrp="1"/>
          </p:cNvSpPr>
          <p:nvPr>
            <p:ph idx="1"/>
          </p:nvPr>
        </p:nvSpPr>
        <p:spPr/>
        <p:txBody>
          <a:bodyPr/>
          <a:lstStyle/>
          <a:p>
            <a:r>
              <a:rPr lang="en-US" altLang="zh-CN" b="0" dirty="0"/>
              <a:t>echo</a:t>
            </a:r>
            <a:r>
              <a:rPr lang="zh-CN" altLang="en-US" b="0" dirty="0"/>
              <a:t> </a:t>
            </a:r>
            <a:r>
              <a:rPr lang="en-US" altLang="zh-CN" b="0" dirty="0"/>
              <a:t>hello</a:t>
            </a:r>
            <a:r>
              <a:rPr lang="zh-CN" altLang="en-US" b="0" dirty="0"/>
              <a:t> </a:t>
            </a:r>
            <a:r>
              <a:rPr lang="en-US" altLang="zh-CN" b="0" dirty="0"/>
              <a:t>&gt;</a:t>
            </a:r>
            <a:r>
              <a:rPr lang="zh-CN" altLang="en-US" b="0" dirty="0"/>
              <a:t> </a:t>
            </a:r>
            <a:r>
              <a:rPr lang="en-US" altLang="zh-CN" b="0" dirty="0"/>
              <a:t>/file3</a:t>
            </a:r>
          </a:p>
          <a:p>
            <a:pPr lvl="1"/>
            <a:r>
              <a:rPr lang="zh-CN" altLang="en-US" b="0" dirty="0"/>
              <a:t>创建文件</a:t>
            </a:r>
            <a:endParaRPr lang="en-US" altLang="zh-CN" b="0" dirty="0"/>
          </a:p>
          <a:p>
            <a:pPr lvl="1"/>
            <a:r>
              <a:rPr lang="zh-CN" altLang="en-US" dirty="0"/>
              <a:t>修改文件数据</a:t>
            </a:r>
            <a:endParaRPr lang="en-US" altLang="zh-CN" b="0" dirty="0"/>
          </a:p>
          <a:p>
            <a:pPr marL="457200" lvl="1" indent="0">
              <a:buNone/>
            </a:pPr>
            <a:endParaRPr lang="en-CN" b="0" dirty="0"/>
          </a:p>
        </p:txBody>
      </p:sp>
      <p:sp>
        <p:nvSpPr>
          <p:cNvPr id="4" name="Slide Number Placeholder 3">
            <a:extLst>
              <a:ext uri="{FF2B5EF4-FFF2-40B4-BE49-F238E27FC236}">
                <a16:creationId xmlns:a16="http://schemas.microsoft.com/office/drawing/2014/main" id="{B67ACB61-3112-A946-A055-69ABA9100CF8}"/>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sp>
        <p:nvSpPr>
          <p:cNvPr id="5" name="Footer Placeholder 4">
            <a:extLst>
              <a:ext uri="{FF2B5EF4-FFF2-40B4-BE49-F238E27FC236}">
                <a16:creationId xmlns:a16="http://schemas.microsoft.com/office/drawing/2014/main" id="{0544ABDF-4DA5-0542-B8CC-AD03DF333BA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9" name="Straight Connector 18">
            <a:extLst>
              <a:ext uri="{FF2B5EF4-FFF2-40B4-BE49-F238E27FC236}">
                <a16:creationId xmlns:a16="http://schemas.microsoft.com/office/drawing/2014/main" id="{37B91466-6B39-124F-A675-E974C15AB74E}"/>
              </a:ext>
            </a:extLst>
          </p:cNvPr>
          <p:cNvCxnSpPr>
            <a:cxnSpLocks/>
          </p:cNvCxnSpPr>
          <p:nvPr/>
        </p:nvCxnSpPr>
        <p:spPr>
          <a:xfrm>
            <a:off x="539750" y="3941557"/>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FC321F-63BA-E04B-92F1-3D95B40CA671}"/>
              </a:ext>
            </a:extLst>
          </p:cNvPr>
          <p:cNvCxnSpPr>
            <a:cxnSpLocks/>
          </p:cNvCxnSpPr>
          <p:nvPr/>
        </p:nvCxnSpPr>
        <p:spPr>
          <a:xfrm>
            <a:off x="539750" y="4462496"/>
            <a:ext cx="63222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014A18-EDCD-A540-86D7-F5E313F3A157}"/>
              </a:ext>
            </a:extLst>
          </p:cNvPr>
          <p:cNvSpPr/>
          <p:nvPr/>
        </p:nvSpPr>
        <p:spPr>
          <a:xfrm>
            <a:off x="53975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22" name="Rectangle 21">
            <a:extLst>
              <a:ext uri="{FF2B5EF4-FFF2-40B4-BE49-F238E27FC236}">
                <a16:creationId xmlns:a16="http://schemas.microsoft.com/office/drawing/2014/main" id="{F475035B-5076-CE4A-9F19-68BF993F590E}"/>
              </a:ext>
            </a:extLst>
          </p:cNvPr>
          <p:cNvSpPr/>
          <p:nvPr/>
        </p:nvSpPr>
        <p:spPr>
          <a:xfrm>
            <a:off x="1005668"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3" name="TextBox 22">
            <a:extLst>
              <a:ext uri="{FF2B5EF4-FFF2-40B4-BE49-F238E27FC236}">
                <a16:creationId xmlns:a16="http://schemas.microsoft.com/office/drawing/2014/main" id="{BCC28A91-2C3C-9D46-8AAB-5A828CBD34C3}"/>
              </a:ext>
            </a:extLst>
          </p:cNvPr>
          <p:cNvSpPr txBox="1"/>
          <p:nvPr/>
        </p:nvSpPr>
        <p:spPr>
          <a:xfrm>
            <a:off x="6046228" y="4589960"/>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24" name="Rectangle 23">
            <a:extLst>
              <a:ext uri="{FF2B5EF4-FFF2-40B4-BE49-F238E27FC236}">
                <a16:creationId xmlns:a16="http://schemas.microsoft.com/office/drawing/2014/main" id="{54880B7D-A1C2-5E43-B3D8-770C84D0C60B}"/>
              </a:ext>
            </a:extLst>
          </p:cNvPr>
          <p:cNvSpPr/>
          <p:nvPr/>
        </p:nvSpPr>
        <p:spPr>
          <a:xfrm>
            <a:off x="1469171"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25" name="Rectangle 24">
            <a:extLst>
              <a:ext uri="{FF2B5EF4-FFF2-40B4-BE49-F238E27FC236}">
                <a16:creationId xmlns:a16="http://schemas.microsoft.com/office/drawing/2014/main" id="{56FD4F20-2CF3-ED4F-A239-C265197886F3}"/>
              </a:ext>
            </a:extLst>
          </p:cNvPr>
          <p:cNvSpPr/>
          <p:nvPr/>
        </p:nvSpPr>
        <p:spPr>
          <a:xfrm>
            <a:off x="1936605"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6" name="Rectangle 25">
            <a:extLst>
              <a:ext uri="{FF2B5EF4-FFF2-40B4-BE49-F238E27FC236}">
                <a16:creationId xmlns:a16="http://schemas.microsoft.com/office/drawing/2014/main" id="{FEC5068C-6F7D-7747-9A47-86FC6C1060C8}"/>
              </a:ext>
            </a:extLst>
          </p:cNvPr>
          <p:cNvSpPr/>
          <p:nvPr/>
        </p:nvSpPr>
        <p:spPr>
          <a:xfrm>
            <a:off x="2400108"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7" name="Rectangle 26">
            <a:extLst>
              <a:ext uri="{FF2B5EF4-FFF2-40B4-BE49-F238E27FC236}">
                <a16:creationId xmlns:a16="http://schemas.microsoft.com/office/drawing/2014/main" id="{D1DD3697-5DE0-E84D-A30E-F5D2B4839970}"/>
              </a:ext>
            </a:extLst>
          </p:cNvPr>
          <p:cNvSpPr/>
          <p:nvPr/>
        </p:nvSpPr>
        <p:spPr>
          <a:xfrm>
            <a:off x="2863611" y="3956612"/>
            <a:ext cx="465918" cy="503870"/>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8" name="Rectangle 27">
            <a:extLst>
              <a:ext uri="{FF2B5EF4-FFF2-40B4-BE49-F238E27FC236}">
                <a16:creationId xmlns:a16="http://schemas.microsoft.com/office/drawing/2014/main" id="{31BBAEF5-AD48-774E-97AF-55C3C68FA464}"/>
              </a:ext>
            </a:extLst>
          </p:cNvPr>
          <p:cNvSpPr/>
          <p:nvPr/>
        </p:nvSpPr>
        <p:spPr>
          <a:xfrm>
            <a:off x="3327114"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9" name="Rectangle 28">
            <a:extLst>
              <a:ext uri="{FF2B5EF4-FFF2-40B4-BE49-F238E27FC236}">
                <a16:creationId xmlns:a16="http://schemas.microsoft.com/office/drawing/2014/main" id="{C95FA7CB-251F-6042-93CB-7125D455C92D}"/>
              </a:ext>
            </a:extLst>
          </p:cNvPr>
          <p:cNvSpPr/>
          <p:nvPr/>
        </p:nvSpPr>
        <p:spPr>
          <a:xfrm>
            <a:off x="3790617"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30" name="Rectangle 29">
            <a:extLst>
              <a:ext uri="{FF2B5EF4-FFF2-40B4-BE49-F238E27FC236}">
                <a16:creationId xmlns:a16="http://schemas.microsoft.com/office/drawing/2014/main" id="{8422C66C-7CE3-4F4E-94EF-4E0433E73DFC}"/>
              </a:ext>
            </a:extLst>
          </p:cNvPr>
          <p:cNvSpPr/>
          <p:nvPr/>
        </p:nvSpPr>
        <p:spPr>
          <a:xfrm>
            <a:off x="5182222" y="3956612"/>
            <a:ext cx="465918" cy="50387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31" name="Rectangle 30">
            <a:extLst>
              <a:ext uri="{FF2B5EF4-FFF2-40B4-BE49-F238E27FC236}">
                <a16:creationId xmlns:a16="http://schemas.microsoft.com/office/drawing/2014/main" id="{D32890B8-F554-1044-9B9C-8078F48923DA}"/>
              </a:ext>
            </a:extLst>
          </p:cNvPr>
          <p:cNvSpPr/>
          <p:nvPr/>
        </p:nvSpPr>
        <p:spPr>
          <a:xfrm>
            <a:off x="425412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32" name="Rectangle 31">
            <a:extLst>
              <a:ext uri="{FF2B5EF4-FFF2-40B4-BE49-F238E27FC236}">
                <a16:creationId xmlns:a16="http://schemas.microsoft.com/office/drawing/2014/main" id="{D81388C1-DEAD-DC44-870E-F03CC25E48BB}"/>
              </a:ext>
            </a:extLst>
          </p:cNvPr>
          <p:cNvSpPr/>
          <p:nvPr/>
        </p:nvSpPr>
        <p:spPr>
          <a:xfrm>
            <a:off x="4717623"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33" name="Elbow Connector 32">
            <a:extLst>
              <a:ext uri="{FF2B5EF4-FFF2-40B4-BE49-F238E27FC236}">
                <a16:creationId xmlns:a16="http://schemas.microsoft.com/office/drawing/2014/main" id="{D7CFDDBF-8D58-2048-8CDA-F777EEDC17E7}"/>
              </a:ext>
            </a:extLst>
          </p:cNvPr>
          <p:cNvCxnSpPr>
            <a:stCxn id="30" idx="2"/>
            <a:endCxn id="32" idx="2"/>
          </p:cNvCxnSpPr>
          <p:nvPr/>
        </p:nvCxnSpPr>
        <p:spPr>
          <a:xfrm rot="5400000">
            <a:off x="5182882" y="4228183"/>
            <a:ext cx="12700" cy="46459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14EBC160-D85A-F14A-A006-17BC1B58B8AF}"/>
              </a:ext>
            </a:extLst>
          </p:cNvPr>
          <p:cNvCxnSpPr>
            <a:cxnSpLocks/>
            <a:stCxn id="30" idx="2"/>
            <a:endCxn id="25" idx="2"/>
          </p:cNvCxnSpPr>
          <p:nvPr/>
        </p:nvCxnSpPr>
        <p:spPr>
          <a:xfrm rot="5400000">
            <a:off x="3792373" y="2837674"/>
            <a:ext cx="12700" cy="3245617"/>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44A67CEE-068A-CD41-BB9E-6E9009617119}"/>
              </a:ext>
            </a:extLst>
          </p:cNvPr>
          <p:cNvCxnSpPr>
            <a:cxnSpLocks/>
            <a:stCxn id="30" idx="2"/>
            <a:endCxn id="22" idx="2"/>
          </p:cNvCxnSpPr>
          <p:nvPr/>
        </p:nvCxnSpPr>
        <p:spPr>
          <a:xfrm rot="5400000">
            <a:off x="3326904" y="2372205"/>
            <a:ext cx="12700" cy="417655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367A0C57-811A-CF46-97F3-0A6DCAC9FA09}"/>
              </a:ext>
            </a:extLst>
          </p:cNvPr>
          <p:cNvCxnSpPr>
            <a:cxnSpLocks/>
            <a:stCxn id="30" idx="2"/>
            <a:endCxn id="29" idx="2"/>
          </p:cNvCxnSpPr>
          <p:nvPr/>
        </p:nvCxnSpPr>
        <p:spPr>
          <a:xfrm rot="5400000">
            <a:off x="4719379" y="3764680"/>
            <a:ext cx="12700" cy="1391605"/>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7F5AD048-EDEF-3248-A517-6C3E5E98ACC4}"/>
              </a:ext>
            </a:extLst>
          </p:cNvPr>
          <p:cNvCxnSpPr>
            <a:cxnSpLocks/>
            <a:stCxn id="22" idx="0"/>
            <a:endCxn id="21" idx="0"/>
          </p:cNvCxnSpPr>
          <p:nvPr/>
        </p:nvCxnSpPr>
        <p:spPr>
          <a:xfrm rot="16200000" flipV="1">
            <a:off x="1005668" y="3723653"/>
            <a:ext cx="12700" cy="465918"/>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7B855569-8308-804E-A549-BAC579FC8484}"/>
              </a:ext>
            </a:extLst>
          </p:cNvPr>
          <p:cNvCxnSpPr>
            <a:cxnSpLocks/>
            <a:stCxn id="29" idx="0"/>
            <a:endCxn id="28" idx="0"/>
          </p:cNvCxnSpPr>
          <p:nvPr/>
        </p:nvCxnSpPr>
        <p:spPr>
          <a:xfrm rot="16200000" flipV="1">
            <a:off x="3791825"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BFC10FE9-229D-CC4E-9258-1FEAF9BEC742}"/>
              </a:ext>
            </a:extLst>
          </p:cNvPr>
          <p:cNvCxnSpPr>
            <a:cxnSpLocks/>
            <a:stCxn id="32" idx="0"/>
            <a:endCxn id="31" idx="0"/>
          </p:cNvCxnSpPr>
          <p:nvPr/>
        </p:nvCxnSpPr>
        <p:spPr>
          <a:xfrm rot="16200000" flipV="1">
            <a:off x="4718831"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B13484D2-3009-4D43-9ECC-1EBC92726C36}"/>
              </a:ext>
            </a:extLst>
          </p:cNvPr>
          <p:cNvCxnSpPr>
            <a:cxnSpLocks/>
            <a:stCxn id="25" idx="0"/>
            <a:endCxn id="24" idx="0"/>
          </p:cNvCxnSpPr>
          <p:nvPr/>
        </p:nvCxnSpPr>
        <p:spPr>
          <a:xfrm rot="16200000" flipV="1">
            <a:off x="1935847" y="3722895"/>
            <a:ext cx="12700" cy="46743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F4CD6395-353F-4A48-879F-8FB18DB4E472}"/>
              </a:ext>
            </a:extLst>
          </p:cNvPr>
          <p:cNvCxnSpPr>
            <a:cxnSpLocks/>
            <a:stCxn id="29" idx="0"/>
            <a:endCxn id="26" idx="0"/>
          </p:cNvCxnSpPr>
          <p:nvPr/>
        </p:nvCxnSpPr>
        <p:spPr>
          <a:xfrm rot="16200000" flipV="1">
            <a:off x="3328322" y="3261357"/>
            <a:ext cx="12700" cy="139050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6FC1300-1692-A243-925B-A48B7A58D44D}"/>
              </a:ext>
            </a:extLst>
          </p:cNvPr>
          <p:cNvCxnSpPr>
            <a:cxnSpLocks/>
            <a:stCxn id="29" idx="0"/>
            <a:endCxn id="27" idx="0"/>
          </p:cNvCxnSpPr>
          <p:nvPr/>
        </p:nvCxnSpPr>
        <p:spPr>
          <a:xfrm rot="16200000" flipV="1">
            <a:off x="3560073" y="3493109"/>
            <a:ext cx="12700" cy="927006"/>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A7BC5DA-75BA-B845-AB90-B04F34B44B3B}"/>
              </a:ext>
            </a:extLst>
          </p:cNvPr>
          <p:cNvSpPr txBox="1"/>
          <p:nvPr/>
        </p:nvSpPr>
        <p:spPr>
          <a:xfrm>
            <a:off x="4487079" y="3433564"/>
            <a:ext cx="234360" cy="307777"/>
          </a:xfrm>
          <a:prstGeom prst="rect">
            <a:avLst/>
          </a:prstGeom>
          <a:noFill/>
        </p:spPr>
        <p:txBody>
          <a:bodyPr wrap="none" rtlCol="0">
            <a:spAutoFit/>
          </a:bodyPr>
          <a:lstStyle/>
          <a:p>
            <a:r>
              <a:rPr lang="en-US" altLang="zh-CN" sz="1400" dirty="0"/>
              <a:t>/</a:t>
            </a:r>
            <a:endParaRPr lang="en-CN" sz="1400" dirty="0"/>
          </a:p>
        </p:txBody>
      </p:sp>
      <p:sp>
        <p:nvSpPr>
          <p:cNvPr id="44" name="TextBox 43">
            <a:extLst>
              <a:ext uri="{FF2B5EF4-FFF2-40B4-BE49-F238E27FC236}">
                <a16:creationId xmlns:a16="http://schemas.microsoft.com/office/drawing/2014/main" id="{5C991FD8-56A6-DA4B-9E97-A3DB1FBF22FC}"/>
              </a:ext>
            </a:extLst>
          </p:cNvPr>
          <p:cNvSpPr txBox="1"/>
          <p:nvPr/>
        </p:nvSpPr>
        <p:spPr>
          <a:xfrm>
            <a:off x="779059" y="3433564"/>
            <a:ext cx="513282" cy="307777"/>
          </a:xfrm>
          <a:prstGeom prst="rect">
            <a:avLst/>
          </a:prstGeom>
          <a:noFill/>
        </p:spPr>
        <p:txBody>
          <a:bodyPr wrap="none" rtlCol="0">
            <a:spAutoFit/>
          </a:bodyPr>
          <a:lstStyle/>
          <a:p>
            <a:r>
              <a:rPr lang="en-US" altLang="zh-CN" sz="1400" dirty="0"/>
              <a:t>file1</a:t>
            </a:r>
            <a:endParaRPr lang="en-CN" sz="1400" dirty="0"/>
          </a:p>
        </p:txBody>
      </p:sp>
      <p:sp>
        <p:nvSpPr>
          <p:cNvPr id="45" name="TextBox 44">
            <a:extLst>
              <a:ext uri="{FF2B5EF4-FFF2-40B4-BE49-F238E27FC236}">
                <a16:creationId xmlns:a16="http://schemas.microsoft.com/office/drawing/2014/main" id="{BF49F221-97CD-7A41-8488-A71D532A273A}"/>
              </a:ext>
            </a:extLst>
          </p:cNvPr>
          <p:cNvSpPr txBox="1"/>
          <p:nvPr/>
        </p:nvSpPr>
        <p:spPr>
          <a:xfrm>
            <a:off x="1719012" y="3433564"/>
            <a:ext cx="482824" cy="307777"/>
          </a:xfrm>
          <a:prstGeom prst="rect">
            <a:avLst/>
          </a:prstGeom>
          <a:noFill/>
        </p:spPr>
        <p:txBody>
          <a:bodyPr wrap="none" rtlCol="0">
            <a:spAutoFit/>
          </a:bodyPr>
          <a:lstStyle/>
          <a:p>
            <a:r>
              <a:rPr lang="en-US" altLang="zh-CN" sz="1400" dirty="0"/>
              <a:t>dir2</a:t>
            </a:r>
            <a:endParaRPr lang="en-CN" sz="1400" dirty="0"/>
          </a:p>
        </p:txBody>
      </p:sp>
      <p:sp>
        <p:nvSpPr>
          <p:cNvPr id="46" name="TextBox 45">
            <a:extLst>
              <a:ext uri="{FF2B5EF4-FFF2-40B4-BE49-F238E27FC236}">
                <a16:creationId xmlns:a16="http://schemas.microsoft.com/office/drawing/2014/main" id="{E19B107C-BA4D-A241-9A53-07A70749C1AA}"/>
              </a:ext>
            </a:extLst>
          </p:cNvPr>
          <p:cNvSpPr txBox="1"/>
          <p:nvPr/>
        </p:nvSpPr>
        <p:spPr>
          <a:xfrm>
            <a:off x="3662497" y="3433564"/>
            <a:ext cx="513282" cy="307777"/>
          </a:xfrm>
          <a:prstGeom prst="rect">
            <a:avLst/>
          </a:prstGeom>
          <a:noFill/>
        </p:spPr>
        <p:txBody>
          <a:bodyPr wrap="none" rtlCol="0">
            <a:spAutoFit/>
          </a:bodyPr>
          <a:lstStyle/>
          <a:p>
            <a:r>
              <a:rPr lang="en-US" altLang="zh-CN" sz="1400" dirty="0"/>
              <a:t>file2</a:t>
            </a:r>
            <a:endParaRPr lang="en-CN" sz="1400" dirty="0"/>
          </a:p>
        </p:txBody>
      </p:sp>
      <p:sp>
        <p:nvSpPr>
          <p:cNvPr id="6" name="椭圆 5">
            <a:extLst>
              <a:ext uri="{FF2B5EF4-FFF2-40B4-BE49-F238E27FC236}">
                <a16:creationId xmlns:a16="http://schemas.microsoft.com/office/drawing/2014/main" id="{9941C617-D3F4-0646-97CF-1B14D5BAFAD6}"/>
              </a:ext>
            </a:extLst>
          </p:cNvPr>
          <p:cNvSpPr/>
          <p:nvPr/>
        </p:nvSpPr>
        <p:spPr>
          <a:xfrm>
            <a:off x="4445247" y="3376337"/>
            <a:ext cx="345259" cy="34525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901252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8192-BB25-1E46-98BE-755D58932C5D}"/>
              </a:ext>
            </a:extLst>
          </p:cNvPr>
          <p:cNvSpPr>
            <a:spLocks noGrp="1"/>
          </p:cNvSpPr>
          <p:nvPr>
            <p:ph type="title"/>
          </p:nvPr>
        </p:nvSpPr>
        <p:spPr/>
        <p:txBody>
          <a:bodyPr/>
          <a:lstStyle/>
          <a:p>
            <a:r>
              <a:rPr lang="zh-CN" altLang="en-US" dirty="0"/>
              <a:t>创建文件举例</a:t>
            </a:r>
            <a:endParaRPr lang="en-CN" dirty="0"/>
          </a:p>
        </p:txBody>
      </p:sp>
      <p:sp>
        <p:nvSpPr>
          <p:cNvPr id="3" name="Content Placeholder 2">
            <a:extLst>
              <a:ext uri="{FF2B5EF4-FFF2-40B4-BE49-F238E27FC236}">
                <a16:creationId xmlns:a16="http://schemas.microsoft.com/office/drawing/2014/main" id="{DFBB1BF2-A5F5-AD4A-BF63-200B0A0ABCD6}"/>
              </a:ext>
            </a:extLst>
          </p:cNvPr>
          <p:cNvSpPr>
            <a:spLocks noGrp="1"/>
          </p:cNvSpPr>
          <p:nvPr>
            <p:ph idx="1"/>
          </p:nvPr>
        </p:nvSpPr>
        <p:spPr/>
        <p:txBody>
          <a:bodyPr/>
          <a:lstStyle/>
          <a:p>
            <a:r>
              <a:rPr lang="en-US" altLang="zh-CN" b="0" dirty="0"/>
              <a:t>echo</a:t>
            </a:r>
            <a:r>
              <a:rPr lang="zh-CN" altLang="en-US" b="0" dirty="0"/>
              <a:t> </a:t>
            </a:r>
            <a:r>
              <a:rPr lang="en-US" altLang="zh-CN" b="0" dirty="0"/>
              <a:t>hello</a:t>
            </a:r>
            <a:r>
              <a:rPr lang="zh-CN" altLang="en-US" b="0" dirty="0"/>
              <a:t> </a:t>
            </a:r>
            <a:r>
              <a:rPr lang="en-US" altLang="zh-CN" b="0" dirty="0"/>
              <a:t>&gt;</a:t>
            </a:r>
            <a:r>
              <a:rPr lang="zh-CN" altLang="en-US" b="0" dirty="0"/>
              <a:t> </a:t>
            </a:r>
            <a:r>
              <a:rPr lang="en-US" altLang="zh-CN" b="0" dirty="0"/>
              <a:t>/file3</a:t>
            </a:r>
          </a:p>
          <a:p>
            <a:pPr lvl="1"/>
            <a:r>
              <a:rPr lang="zh-CN" altLang="en-US" dirty="0"/>
              <a:t>创建文件</a:t>
            </a:r>
            <a:endParaRPr lang="en-US" altLang="zh-CN" dirty="0"/>
          </a:p>
          <a:p>
            <a:pPr lvl="1"/>
            <a:r>
              <a:rPr lang="zh-CN" altLang="en-US" dirty="0"/>
              <a:t>修改文件数据</a:t>
            </a:r>
            <a:endParaRPr lang="en-US" altLang="zh-CN" b="0" dirty="0"/>
          </a:p>
          <a:p>
            <a:pPr marL="457200" lvl="1" indent="0">
              <a:buNone/>
            </a:pPr>
            <a:endParaRPr lang="en-CN" b="0" dirty="0"/>
          </a:p>
        </p:txBody>
      </p:sp>
      <p:sp>
        <p:nvSpPr>
          <p:cNvPr id="4" name="Slide Number Placeholder 3">
            <a:extLst>
              <a:ext uri="{FF2B5EF4-FFF2-40B4-BE49-F238E27FC236}">
                <a16:creationId xmlns:a16="http://schemas.microsoft.com/office/drawing/2014/main" id="{B67ACB61-3112-A946-A055-69ABA9100CF8}"/>
              </a:ext>
            </a:extLst>
          </p:cNvPr>
          <p:cNvSpPr>
            <a:spLocks noGrp="1"/>
          </p:cNvSpPr>
          <p:nvPr>
            <p:ph type="sldNum" sz="quarter" idx="12"/>
          </p:nvPr>
        </p:nvSpPr>
        <p:spPr/>
        <p:txBody>
          <a:bodyPr/>
          <a:lstStyle/>
          <a:p>
            <a:fld id="{ADE361C3-C043-4A6E-BDCE-8DA1E7D90A3B}" type="slidenum">
              <a:rPr lang="zh-CN" altLang="en-US" smtClean="0"/>
              <a:t>14</a:t>
            </a:fld>
            <a:endParaRPr lang="zh-CN" altLang="en-US" dirty="0"/>
          </a:p>
        </p:txBody>
      </p:sp>
      <p:sp>
        <p:nvSpPr>
          <p:cNvPr id="5" name="Footer Placeholder 4">
            <a:extLst>
              <a:ext uri="{FF2B5EF4-FFF2-40B4-BE49-F238E27FC236}">
                <a16:creationId xmlns:a16="http://schemas.microsoft.com/office/drawing/2014/main" id="{0544ABDF-4DA5-0542-B8CC-AD03DF333BA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19" name="Straight Connector 18">
            <a:extLst>
              <a:ext uri="{FF2B5EF4-FFF2-40B4-BE49-F238E27FC236}">
                <a16:creationId xmlns:a16="http://schemas.microsoft.com/office/drawing/2014/main" id="{37B91466-6B39-124F-A675-E974C15AB74E}"/>
              </a:ext>
            </a:extLst>
          </p:cNvPr>
          <p:cNvCxnSpPr>
            <a:cxnSpLocks/>
          </p:cNvCxnSpPr>
          <p:nvPr/>
        </p:nvCxnSpPr>
        <p:spPr>
          <a:xfrm>
            <a:off x="539750" y="3941557"/>
            <a:ext cx="80646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FC321F-63BA-E04B-92F1-3D95B40CA671}"/>
              </a:ext>
            </a:extLst>
          </p:cNvPr>
          <p:cNvCxnSpPr>
            <a:cxnSpLocks/>
          </p:cNvCxnSpPr>
          <p:nvPr/>
        </p:nvCxnSpPr>
        <p:spPr>
          <a:xfrm>
            <a:off x="539750" y="4462496"/>
            <a:ext cx="8064698"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014A18-EDCD-A540-86D7-F5E313F3A157}"/>
              </a:ext>
            </a:extLst>
          </p:cNvPr>
          <p:cNvSpPr/>
          <p:nvPr/>
        </p:nvSpPr>
        <p:spPr>
          <a:xfrm>
            <a:off x="539750"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zh-CN" altLang="en-CN" sz="700" dirty="0"/>
              <a:t>文件内容</a:t>
            </a:r>
            <a:endParaRPr lang="en-US" altLang="zh-CN" sz="700" dirty="0"/>
          </a:p>
          <a:p>
            <a:pPr algn="ctr"/>
            <a:endParaRPr lang="en-CN" sz="700" dirty="0"/>
          </a:p>
        </p:txBody>
      </p:sp>
      <p:sp>
        <p:nvSpPr>
          <p:cNvPr id="22" name="Rectangle 21">
            <a:extLst>
              <a:ext uri="{FF2B5EF4-FFF2-40B4-BE49-F238E27FC236}">
                <a16:creationId xmlns:a16="http://schemas.microsoft.com/office/drawing/2014/main" id="{F475035B-5076-CE4A-9F19-68BF993F590E}"/>
              </a:ext>
            </a:extLst>
          </p:cNvPr>
          <p:cNvSpPr/>
          <p:nvPr/>
        </p:nvSpPr>
        <p:spPr>
          <a:xfrm>
            <a:off x="1005668"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3" name="TextBox 22">
            <a:extLst>
              <a:ext uri="{FF2B5EF4-FFF2-40B4-BE49-F238E27FC236}">
                <a16:creationId xmlns:a16="http://schemas.microsoft.com/office/drawing/2014/main" id="{BCC28A91-2C3C-9D46-8AAB-5A828CBD34C3}"/>
              </a:ext>
            </a:extLst>
          </p:cNvPr>
          <p:cNvSpPr txBox="1"/>
          <p:nvPr/>
        </p:nvSpPr>
        <p:spPr>
          <a:xfrm>
            <a:off x="6786609" y="4807417"/>
            <a:ext cx="1107996" cy="369332"/>
          </a:xfrm>
          <a:prstGeom prst="rect">
            <a:avLst/>
          </a:prstGeom>
          <a:noFill/>
        </p:spPr>
        <p:txBody>
          <a:bodyPr wrap="none" rtlCol="0">
            <a:spAutoFit/>
          </a:bodyPr>
          <a:lstStyle/>
          <a:p>
            <a:r>
              <a:rPr lang="zh-CN" altLang="en-CN" dirty="0"/>
              <a:t>存储</a:t>
            </a:r>
            <a:r>
              <a:rPr lang="zh-CN" altLang="en-US" dirty="0"/>
              <a:t>设备</a:t>
            </a:r>
            <a:endParaRPr lang="en-CN" dirty="0"/>
          </a:p>
        </p:txBody>
      </p:sp>
      <p:sp>
        <p:nvSpPr>
          <p:cNvPr id="24" name="Rectangle 23">
            <a:extLst>
              <a:ext uri="{FF2B5EF4-FFF2-40B4-BE49-F238E27FC236}">
                <a16:creationId xmlns:a16="http://schemas.microsoft.com/office/drawing/2014/main" id="{54880B7D-A1C2-5E43-B3D8-770C84D0C60B}"/>
              </a:ext>
            </a:extLst>
          </p:cNvPr>
          <p:cNvSpPr/>
          <p:nvPr/>
        </p:nvSpPr>
        <p:spPr>
          <a:xfrm>
            <a:off x="1469171"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700" dirty="0"/>
              <a:t>数据块</a:t>
            </a:r>
            <a:endParaRPr lang="en-US" altLang="zh-CN" sz="700" dirty="0"/>
          </a:p>
          <a:p>
            <a:pPr algn="ctr"/>
            <a:br>
              <a:rPr lang="en-US" altLang="zh-CN" sz="700" dirty="0"/>
            </a:br>
            <a:r>
              <a:rPr lang="en-US" altLang="zh-CN" sz="700" dirty="0"/>
              <a:t>file1:</a:t>
            </a:r>
            <a:r>
              <a:rPr lang="zh-CN" altLang="en-US" sz="700" dirty="0"/>
              <a:t> </a:t>
            </a:r>
            <a:r>
              <a:rPr lang="en-US" altLang="zh-CN" sz="700" dirty="0"/>
              <a:t>3</a:t>
            </a:r>
          </a:p>
          <a:p>
            <a:pPr algn="ctr"/>
            <a:endParaRPr lang="en-CN" sz="700" dirty="0"/>
          </a:p>
        </p:txBody>
      </p:sp>
      <p:sp>
        <p:nvSpPr>
          <p:cNvPr id="25" name="Rectangle 24">
            <a:extLst>
              <a:ext uri="{FF2B5EF4-FFF2-40B4-BE49-F238E27FC236}">
                <a16:creationId xmlns:a16="http://schemas.microsoft.com/office/drawing/2014/main" id="{56FD4F20-2CF3-ED4F-A239-C265197886F3}"/>
              </a:ext>
            </a:extLst>
          </p:cNvPr>
          <p:cNvSpPr/>
          <p:nvPr/>
        </p:nvSpPr>
        <p:spPr>
          <a:xfrm>
            <a:off x="1936605"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26" name="Rectangle 25">
            <a:extLst>
              <a:ext uri="{FF2B5EF4-FFF2-40B4-BE49-F238E27FC236}">
                <a16:creationId xmlns:a16="http://schemas.microsoft.com/office/drawing/2014/main" id="{FEC5068C-6F7D-7747-9A47-86FC6C1060C8}"/>
              </a:ext>
            </a:extLst>
          </p:cNvPr>
          <p:cNvSpPr/>
          <p:nvPr/>
        </p:nvSpPr>
        <p:spPr>
          <a:xfrm>
            <a:off x="2400108"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7" name="Rectangle 26">
            <a:extLst>
              <a:ext uri="{FF2B5EF4-FFF2-40B4-BE49-F238E27FC236}">
                <a16:creationId xmlns:a16="http://schemas.microsoft.com/office/drawing/2014/main" id="{D1DD3697-5DE0-E84D-A30E-F5D2B4839970}"/>
              </a:ext>
            </a:extLst>
          </p:cNvPr>
          <p:cNvSpPr/>
          <p:nvPr/>
        </p:nvSpPr>
        <p:spPr>
          <a:xfrm>
            <a:off x="2863611" y="3956612"/>
            <a:ext cx="465918" cy="503870"/>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8" name="Rectangle 27">
            <a:extLst>
              <a:ext uri="{FF2B5EF4-FFF2-40B4-BE49-F238E27FC236}">
                <a16:creationId xmlns:a16="http://schemas.microsoft.com/office/drawing/2014/main" id="{31BBAEF5-AD48-774E-97AF-55C3C68FA464}"/>
              </a:ext>
            </a:extLst>
          </p:cNvPr>
          <p:cNvSpPr/>
          <p:nvPr/>
        </p:nvSpPr>
        <p:spPr>
          <a:xfrm>
            <a:off x="3327114" y="3956612"/>
            <a:ext cx="465918" cy="504676"/>
          </a:xfrm>
          <a:prstGeom prst="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zh-CN" altLang="en-CN" sz="700" dirty="0"/>
              <a:t>文件</a:t>
            </a:r>
            <a:r>
              <a:rPr lang="zh-CN" altLang="en-US" sz="700" dirty="0"/>
              <a:t>内容</a:t>
            </a:r>
            <a:endParaRPr lang="en-US" altLang="zh-CN" sz="700" dirty="0"/>
          </a:p>
          <a:p>
            <a:pPr algn="ctr"/>
            <a:endParaRPr lang="en-US" altLang="zh-CN" sz="700" dirty="0"/>
          </a:p>
        </p:txBody>
      </p:sp>
      <p:sp>
        <p:nvSpPr>
          <p:cNvPr id="29" name="Rectangle 28">
            <a:extLst>
              <a:ext uri="{FF2B5EF4-FFF2-40B4-BE49-F238E27FC236}">
                <a16:creationId xmlns:a16="http://schemas.microsoft.com/office/drawing/2014/main" id="{C95FA7CB-251F-6042-93CB-7125D455C92D}"/>
              </a:ext>
            </a:extLst>
          </p:cNvPr>
          <p:cNvSpPr/>
          <p:nvPr/>
        </p:nvSpPr>
        <p:spPr>
          <a:xfrm>
            <a:off x="3790617" y="3956612"/>
            <a:ext cx="465918" cy="503870"/>
          </a:xfrm>
          <a:prstGeom prst="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30" name="Rectangle 29">
            <a:extLst>
              <a:ext uri="{FF2B5EF4-FFF2-40B4-BE49-F238E27FC236}">
                <a16:creationId xmlns:a16="http://schemas.microsoft.com/office/drawing/2014/main" id="{8422C66C-7CE3-4F4E-94EF-4E0433E73DFC}"/>
              </a:ext>
            </a:extLst>
          </p:cNvPr>
          <p:cNvSpPr/>
          <p:nvPr/>
        </p:nvSpPr>
        <p:spPr>
          <a:xfrm>
            <a:off x="5182222" y="3956612"/>
            <a:ext cx="465918" cy="503870"/>
          </a:xfrm>
          <a:prstGeom prst="rect">
            <a:avLst/>
          </a:prstGeom>
          <a:pattFill prst="wdUpDiag">
            <a:fgClr>
              <a:schemeClr val="bg2">
                <a:lumMod val="75000"/>
              </a:schemeClr>
            </a:fgClr>
            <a:bgClr>
              <a:schemeClr val="accent4">
                <a:lumMod val="20000"/>
                <a:lumOff val="80000"/>
              </a:schemeClr>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31" name="Rectangle 30">
            <a:extLst>
              <a:ext uri="{FF2B5EF4-FFF2-40B4-BE49-F238E27FC236}">
                <a16:creationId xmlns:a16="http://schemas.microsoft.com/office/drawing/2014/main" id="{D32890B8-F554-1044-9B9C-8078F48923DA}"/>
              </a:ext>
            </a:extLst>
          </p:cNvPr>
          <p:cNvSpPr/>
          <p:nvPr/>
        </p:nvSpPr>
        <p:spPr>
          <a:xfrm>
            <a:off x="4254120" y="3956612"/>
            <a:ext cx="465918" cy="504676"/>
          </a:xfrm>
          <a:prstGeom prst="rect">
            <a:avLst/>
          </a:prstGeom>
          <a:pattFill prst="wdUpDiag">
            <a:fgClr>
              <a:schemeClr val="bg2">
                <a:lumMod val="75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p:txBody>
      </p:sp>
      <p:sp>
        <p:nvSpPr>
          <p:cNvPr id="32" name="Rectangle 31">
            <a:extLst>
              <a:ext uri="{FF2B5EF4-FFF2-40B4-BE49-F238E27FC236}">
                <a16:creationId xmlns:a16="http://schemas.microsoft.com/office/drawing/2014/main" id="{D81388C1-DEAD-DC44-870E-F03CC25E48BB}"/>
              </a:ext>
            </a:extLst>
          </p:cNvPr>
          <p:cNvSpPr/>
          <p:nvPr/>
        </p:nvSpPr>
        <p:spPr>
          <a:xfrm>
            <a:off x="4717623" y="3956612"/>
            <a:ext cx="465918" cy="503870"/>
          </a:xfrm>
          <a:prstGeom prst="rect">
            <a:avLst/>
          </a:prstGeom>
          <a:pattFill prst="wdUpDiag">
            <a:fgClr>
              <a:schemeClr val="bg2">
                <a:lumMod val="75000"/>
              </a:schemeClr>
            </a:fgClr>
            <a:bgClr>
              <a:schemeClr val="accent1">
                <a:lumMod val="20000"/>
                <a:lumOff val="80000"/>
              </a:schemeClr>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33" name="Elbow Connector 32">
            <a:extLst>
              <a:ext uri="{FF2B5EF4-FFF2-40B4-BE49-F238E27FC236}">
                <a16:creationId xmlns:a16="http://schemas.microsoft.com/office/drawing/2014/main" id="{D7CFDDBF-8D58-2048-8CDA-F777EEDC17E7}"/>
              </a:ext>
            </a:extLst>
          </p:cNvPr>
          <p:cNvCxnSpPr>
            <a:stCxn id="30" idx="2"/>
            <a:endCxn id="32" idx="2"/>
          </p:cNvCxnSpPr>
          <p:nvPr/>
        </p:nvCxnSpPr>
        <p:spPr>
          <a:xfrm rot="5400000">
            <a:off x="5182882" y="4228183"/>
            <a:ext cx="12700" cy="46459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a:extLst>
              <a:ext uri="{FF2B5EF4-FFF2-40B4-BE49-F238E27FC236}">
                <a16:creationId xmlns:a16="http://schemas.microsoft.com/office/drawing/2014/main" id="{14EBC160-D85A-F14A-A006-17BC1B58B8AF}"/>
              </a:ext>
            </a:extLst>
          </p:cNvPr>
          <p:cNvCxnSpPr>
            <a:cxnSpLocks/>
            <a:stCxn id="30" idx="2"/>
            <a:endCxn id="25" idx="2"/>
          </p:cNvCxnSpPr>
          <p:nvPr/>
        </p:nvCxnSpPr>
        <p:spPr>
          <a:xfrm rot="5400000">
            <a:off x="3792373" y="2837674"/>
            <a:ext cx="12700" cy="3245617"/>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a:extLst>
              <a:ext uri="{FF2B5EF4-FFF2-40B4-BE49-F238E27FC236}">
                <a16:creationId xmlns:a16="http://schemas.microsoft.com/office/drawing/2014/main" id="{44A67CEE-068A-CD41-BB9E-6E9009617119}"/>
              </a:ext>
            </a:extLst>
          </p:cNvPr>
          <p:cNvCxnSpPr>
            <a:cxnSpLocks/>
            <a:stCxn id="30" idx="2"/>
            <a:endCxn id="22" idx="2"/>
          </p:cNvCxnSpPr>
          <p:nvPr/>
        </p:nvCxnSpPr>
        <p:spPr>
          <a:xfrm rot="5400000">
            <a:off x="3326904" y="2372205"/>
            <a:ext cx="12700" cy="417655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367A0C57-811A-CF46-97F3-0A6DCAC9FA09}"/>
              </a:ext>
            </a:extLst>
          </p:cNvPr>
          <p:cNvCxnSpPr>
            <a:cxnSpLocks/>
            <a:stCxn id="30" idx="2"/>
            <a:endCxn id="29" idx="2"/>
          </p:cNvCxnSpPr>
          <p:nvPr/>
        </p:nvCxnSpPr>
        <p:spPr>
          <a:xfrm rot="5400000">
            <a:off x="4719379" y="3764680"/>
            <a:ext cx="12700" cy="1391605"/>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7F5AD048-EDEF-3248-A517-6C3E5E98ACC4}"/>
              </a:ext>
            </a:extLst>
          </p:cNvPr>
          <p:cNvCxnSpPr>
            <a:cxnSpLocks/>
            <a:stCxn id="22" idx="0"/>
            <a:endCxn id="21" idx="0"/>
          </p:cNvCxnSpPr>
          <p:nvPr/>
        </p:nvCxnSpPr>
        <p:spPr>
          <a:xfrm rot="16200000" flipV="1">
            <a:off x="1005668" y="3723653"/>
            <a:ext cx="12700" cy="465918"/>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7B855569-8308-804E-A549-BAC579FC8484}"/>
              </a:ext>
            </a:extLst>
          </p:cNvPr>
          <p:cNvCxnSpPr>
            <a:cxnSpLocks/>
            <a:stCxn id="29" idx="0"/>
            <a:endCxn id="28" idx="0"/>
          </p:cNvCxnSpPr>
          <p:nvPr/>
        </p:nvCxnSpPr>
        <p:spPr>
          <a:xfrm rot="16200000" flipV="1">
            <a:off x="3791825"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BFC10FE9-229D-CC4E-9258-1FEAF9BEC742}"/>
              </a:ext>
            </a:extLst>
          </p:cNvPr>
          <p:cNvCxnSpPr>
            <a:cxnSpLocks/>
            <a:stCxn id="32" idx="0"/>
            <a:endCxn id="31" idx="0"/>
          </p:cNvCxnSpPr>
          <p:nvPr/>
        </p:nvCxnSpPr>
        <p:spPr>
          <a:xfrm rot="16200000" flipV="1">
            <a:off x="4718831" y="3724860"/>
            <a:ext cx="12700" cy="46350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B13484D2-3009-4D43-9ECC-1EBC92726C36}"/>
              </a:ext>
            </a:extLst>
          </p:cNvPr>
          <p:cNvCxnSpPr>
            <a:cxnSpLocks/>
            <a:stCxn id="25" idx="0"/>
            <a:endCxn id="24" idx="0"/>
          </p:cNvCxnSpPr>
          <p:nvPr/>
        </p:nvCxnSpPr>
        <p:spPr>
          <a:xfrm rot="16200000" flipV="1">
            <a:off x="1935847" y="3722895"/>
            <a:ext cx="12700" cy="46743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F4CD6395-353F-4A48-879F-8FB18DB4E472}"/>
              </a:ext>
            </a:extLst>
          </p:cNvPr>
          <p:cNvCxnSpPr>
            <a:cxnSpLocks/>
            <a:stCxn id="29" idx="0"/>
            <a:endCxn id="26" idx="0"/>
          </p:cNvCxnSpPr>
          <p:nvPr/>
        </p:nvCxnSpPr>
        <p:spPr>
          <a:xfrm rot="16200000" flipV="1">
            <a:off x="3328322" y="3261357"/>
            <a:ext cx="12700" cy="139050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86FC1300-1692-A243-925B-A48B7A58D44D}"/>
              </a:ext>
            </a:extLst>
          </p:cNvPr>
          <p:cNvCxnSpPr>
            <a:cxnSpLocks/>
            <a:stCxn id="29" idx="0"/>
            <a:endCxn id="27" idx="0"/>
          </p:cNvCxnSpPr>
          <p:nvPr/>
        </p:nvCxnSpPr>
        <p:spPr>
          <a:xfrm rot="16200000" flipV="1">
            <a:off x="3560073" y="3493109"/>
            <a:ext cx="12700" cy="927006"/>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A7BC5DA-75BA-B845-AB90-B04F34B44B3B}"/>
              </a:ext>
            </a:extLst>
          </p:cNvPr>
          <p:cNvSpPr txBox="1"/>
          <p:nvPr/>
        </p:nvSpPr>
        <p:spPr>
          <a:xfrm>
            <a:off x="4487079" y="3433564"/>
            <a:ext cx="234360" cy="307777"/>
          </a:xfrm>
          <a:prstGeom prst="rect">
            <a:avLst/>
          </a:prstGeom>
          <a:noFill/>
        </p:spPr>
        <p:txBody>
          <a:bodyPr wrap="none" rtlCol="0">
            <a:spAutoFit/>
          </a:bodyPr>
          <a:lstStyle/>
          <a:p>
            <a:r>
              <a:rPr lang="en-US" altLang="zh-CN" sz="1400" dirty="0"/>
              <a:t>/</a:t>
            </a:r>
            <a:endParaRPr lang="en-CN" sz="1400" dirty="0"/>
          </a:p>
        </p:txBody>
      </p:sp>
      <p:sp>
        <p:nvSpPr>
          <p:cNvPr id="44" name="TextBox 43">
            <a:extLst>
              <a:ext uri="{FF2B5EF4-FFF2-40B4-BE49-F238E27FC236}">
                <a16:creationId xmlns:a16="http://schemas.microsoft.com/office/drawing/2014/main" id="{5C991FD8-56A6-DA4B-9E97-A3DB1FBF22FC}"/>
              </a:ext>
            </a:extLst>
          </p:cNvPr>
          <p:cNvSpPr txBox="1"/>
          <p:nvPr/>
        </p:nvSpPr>
        <p:spPr>
          <a:xfrm>
            <a:off x="779059" y="3433564"/>
            <a:ext cx="513282" cy="307777"/>
          </a:xfrm>
          <a:prstGeom prst="rect">
            <a:avLst/>
          </a:prstGeom>
          <a:noFill/>
        </p:spPr>
        <p:txBody>
          <a:bodyPr wrap="square" rtlCol="0">
            <a:spAutoFit/>
          </a:bodyPr>
          <a:lstStyle/>
          <a:p>
            <a:r>
              <a:rPr lang="en-US" altLang="zh-CN" sz="1400" dirty="0"/>
              <a:t>file1</a:t>
            </a:r>
            <a:endParaRPr lang="en-CN" sz="1400" dirty="0"/>
          </a:p>
        </p:txBody>
      </p:sp>
      <p:sp>
        <p:nvSpPr>
          <p:cNvPr id="45" name="TextBox 44">
            <a:extLst>
              <a:ext uri="{FF2B5EF4-FFF2-40B4-BE49-F238E27FC236}">
                <a16:creationId xmlns:a16="http://schemas.microsoft.com/office/drawing/2014/main" id="{BF49F221-97CD-7A41-8488-A71D532A273A}"/>
              </a:ext>
            </a:extLst>
          </p:cNvPr>
          <p:cNvSpPr txBox="1"/>
          <p:nvPr/>
        </p:nvSpPr>
        <p:spPr>
          <a:xfrm>
            <a:off x="1719012" y="3433564"/>
            <a:ext cx="482824" cy="307777"/>
          </a:xfrm>
          <a:prstGeom prst="rect">
            <a:avLst/>
          </a:prstGeom>
          <a:noFill/>
        </p:spPr>
        <p:txBody>
          <a:bodyPr wrap="square" rtlCol="0">
            <a:spAutoFit/>
          </a:bodyPr>
          <a:lstStyle/>
          <a:p>
            <a:r>
              <a:rPr lang="en-US" altLang="zh-CN" sz="1400" dirty="0"/>
              <a:t>dir2</a:t>
            </a:r>
            <a:endParaRPr lang="en-CN" sz="1400" dirty="0"/>
          </a:p>
        </p:txBody>
      </p:sp>
      <p:sp>
        <p:nvSpPr>
          <p:cNvPr id="46" name="TextBox 45">
            <a:extLst>
              <a:ext uri="{FF2B5EF4-FFF2-40B4-BE49-F238E27FC236}">
                <a16:creationId xmlns:a16="http://schemas.microsoft.com/office/drawing/2014/main" id="{E19B107C-BA4D-A241-9A53-07A70749C1AA}"/>
              </a:ext>
            </a:extLst>
          </p:cNvPr>
          <p:cNvSpPr txBox="1"/>
          <p:nvPr/>
        </p:nvSpPr>
        <p:spPr>
          <a:xfrm>
            <a:off x="3662497" y="3433564"/>
            <a:ext cx="513282" cy="307777"/>
          </a:xfrm>
          <a:prstGeom prst="rect">
            <a:avLst/>
          </a:prstGeom>
          <a:noFill/>
        </p:spPr>
        <p:txBody>
          <a:bodyPr wrap="square" rtlCol="0">
            <a:spAutoFit/>
          </a:bodyPr>
          <a:lstStyle/>
          <a:p>
            <a:r>
              <a:rPr lang="en-US" altLang="zh-CN" sz="1400" dirty="0"/>
              <a:t>file2</a:t>
            </a:r>
            <a:endParaRPr lang="en-CN" sz="1400" dirty="0"/>
          </a:p>
        </p:txBody>
      </p:sp>
      <p:sp>
        <p:nvSpPr>
          <p:cNvPr id="47" name="Rectangle 46">
            <a:extLst>
              <a:ext uri="{FF2B5EF4-FFF2-40B4-BE49-F238E27FC236}">
                <a16:creationId xmlns:a16="http://schemas.microsoft.com/office/drawing/2014/main" id="{11721B8E-8237-7E45-A317-C5ACAC6D99BA}"/>
              </a:ext>
            </a:extLst>
          </p:cNvPr>
          <p:cNvSpPr/>
          <p:nvPr/>
        </p:nvSpPr>
        <p:spPr>
          <a:xfrm>
            <a:off x="5649773" y="3957216"/>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endParaRPr lang="en-US" altLang="zh-CN" sz="700" dirty="0"/>
          </a:p>
          <a:p>
            <a:pPr algn="ctr"/>
            <a:endParaRPr lang="en-US" sz="700" dirty="0"/>
          </a:p>
          <a:p>
            <a:pPr algn="ctr"/>
            <a:r>
              <a:rPr lang="en-US" altLang="zh-CN" sz="700" dirty="0"/>
              <a:t>hello</a:t>
            </a:r>
          </a:p>
          <a:p>
            <a:pPr algn="ctr"/>
            <a:endParaRPr lang="en-CN" sz="700" dirty="0"/>
          </a:p>
        </p:txBody>
      </p:sp>
      <p:sp>
        <p:nvSpPr>
          <p:cNvPr id="48" name="Rectangle 47">
            <a:extLst>
              <a:ext uri="{FF2B5EF4-FFF2-40B4-BE49-F238E27FC236}">
                <a16:creationId xmlns:a16="http://schemas.microsoft.com/office/drawing/2014/main" id="{E60B4630-3C65-C44D-898A-E8CC2335ED0C}"/>
              </a:ext>
            </a:extLst>
          </p:cNvPr>
          <p:cNvSpPr/>
          <p:nvPr/>
        </p:nvSpPr>
        <p:spPr>
          <a:xfrm>
            <a:off x="6115578" y="3957216"/>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sp>
        <p:nvSpPr>
          <p:cNvPr id="50" name="Rectangle 49">
            <a:extLst>
              <a:ext uri="{FF2B5EF4-FFF2-40B4-BE49-F238E27FC236}">
                <a16:creationId xmlns:a16="http://schemas.microsoft.com/office/drawing/2014/main" id="{4B69127E-C25F-2D4A-A675-ABDC58C4057E}"/>
              </a:ext>
            </a:extLst>
          </p:cNvPr>
          <p:cNvSpPr/>
          <p:nvPr/>
        </p:nvSpPr>
        <p:spPr>
          <a:xfrm>
            <a:off x="6581810" y="3957216"/>
            <a:ext cx="465918" cy="504676"/>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700" dirty="0"/>
              <a:t>数据块</a:t>
            </a:r>
            <a:br>
              <a:rPr lang="en-US" altLang="zh-CN" sz="700" dirty="0"/>
            </a:br>
            <a:r>
              <a:rPr lang="en-US" altLang="zh-CN" sz="700" dirty="0"/>
              <a:t>dir2:</a:t>
            </a:r>
            <a:r>
              <a:rPr lang="zh-CN" altLang="en-US" sz="700" dirty="0"/>
              <a:t> </a:t>
            </a:r>
            <a:r>
              <a:rPr lang="en-US" altLang="zh-CN" sz="700" dirty="0"/>
              <a:t>4</a:t>
            </a:r>
          </a:p>
          <a:p>
            <a:pPr algn="ctr"/>
            <a:r>
              <a:rPr lang="en-US" altLang="zh-CN" sz="700" dirty="0"/>
              <a:t>file2:</a:t>
            </a:r>
            <a:r>
              <a:rPr lang="zh-CN" altLang="en-US" sz="700" dirty="0"/>
              <a:t> </a:t>
            </a:r>
            <a:r>
              <a:rPr lang="en-US" altLang="zh-CN" sz="700" dirty="0"/>
              <a:t>5</a:t>
            </a:r>
          </a:p>
          <a:p>
            <a:pPr algn="ctr"/>
            <a:r>
              <a:rPr lang="en-US" altLang="zh-CN" sz="700" dirty="0"/>
              <a:t>file3:</a:t>
            </a:r>
            <a:r>
              <a:rPr lang="zh-CN" altLang="en-US" sz="700" dirty="0"/>
              <a:t> </a:t>
            </a:r>
            <a:r>
              <a:rPr lang="en-US" altLang="zh-CN" sz="700" dirty="0"/>
              <a:t>6</a:t>
            </a:r>
          </a:p>
        </p:txBody>
      </p:sp>
      <p:sp>
        <p:nvSpPr>
          <p:cNvPr id="53" name="Rectangle 52">
            <a:extLst>
              <a:ext uri="{FF2B5EF4-FFF2-40B4-BE49-F238E27FC236}">
                <a16:creationId xmlns:a16="http://schemas.microsoft.com/office/drawing/2014/main" id="{54CD5F70-91B1-4043-AA36-E2E91FE279AE}"/>
              </a:ext>
            </a:extLst>
          </p:cNvPr>
          <p:cNvSpPr/>
          <p:nvPr/>
        </p:nvSpPr>
        <p:spPr>
          <a:xfrm>
            <a:off x="7510529" y="3957216"/>
            <a:ext cx="465918" cy="503870"/>
          </a:xfrm>
          <a:prstGeom prst="rect">
            <a:avLst/>
          </a:prstGeom>
          <a:solidFill>
            <a:schemeClr val="accent4">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50" dirty="0" err="1"/>
              <a:t>i</a:t>
            </a:r>
            <a:r>
              <a:rPr lang="en-CN" sz="1050" dirty="0"/>
              <a:t>node</a:t>
            </a:r>
            <a:br>
              <a:rPr lang="en-US" altLang="zh-CN" sz="1050" dirty="0"/>
            </a:br>
            <a:r>
              <a:rPr lang="en-US" altLang="zh-CN" sz="1050" dirty="0"/>
              <a:t>map</a:t>
            </a:r>
            <a:endParaRPr lang="en-CN" sz="1050" dirty="0"/>
          </a:p>
        </p:txBody>
      </p:sp>
      <p:sp>
        <p:nvSpPr>
          <p:cNvPr id="54" name="Rectangle 53">
            <a:extLst>
              <a:ext uri="{FF2B5EF4-FFF2-40B4-BE49-F238E27FC236}">
                <a16:creationId xmlns:a16="http://schemas.microsoft.com/office/drawing/2014/main" id="{A766DF1F-6A67-CD45-88ED-6639FE588E6C}"/>
              </a:ext>
            </a:extLst>
          </p:cNvPr>
          <p:cNvSpPr/>
          <p:nvPr/>
        </p:nvSpPr>
        <p:spPr>
          <a:xfrm>
            <a:off x="7045930" y="3957216"/>
            <a:ext cx="465918" cy="50387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050" dirty="0"/>
              <a:t>inode</a:t>
            </a:r>
          </a:p>
        </p:txBody>
      </p:sp>
      <p:cxnSp>
        <p:nvCxnSpPr>
          <p:cNvPr id="55" name="Elbow Connector 54">
            <a:extLst>
              <a:ext uri="{FF2B5EF4-FFF2-40B4-BE49-F238E27FC236}">
                <a16:creationId xmlns:a16="http://schemas.microsoft.com/office/drawing/2014/main" id="{F0886F6F-BF65-0140-B040-32C87DC29C7C}"/>
              </a:ext>
            </a:extLst>
          </p:cNvPr>
          <p:cNvCxnSpPr>
            <a:cxnSpLocks/>
            <a:stCxn id="54" idx="0"/>
            <a:endCxn id="50" idx="0"/>
          </p:cNvCxnSpPr>
          <p:nvPr/>
        </p:nvCxnSpPr>
        <p:spPr>
          <a:xfrm rot="16200000" flipV="1">
            <a:off x="7046829" y="3725156"/>
            <a:ext cx="12700" cy="464120"/>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69F4B4AE-F5AD-4349-975E-FB4C2F51A652}"/>
              </a:ext>
            </a:extLst>
          </p:cNvPr>
          <p:cNvCxnSpPr>
            <a:cxnSpLocks/>
            <a:stCxn id="48" idx="0"/>
            <a:endCxn id="47" idx="0"/>
          </p:cNvCxnSpPr>
          <p:nvPr/>
        </p:nvCxnSpPr>
        <p:spPr>
          <a:xfrm rot="16200000" flipV="1">
            <a:off x="6115635" y="3724313"/>
            <a:ext cx="12700" cy="465805"/>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A2F246F6-CD33-E24F-A067-12AAA3F2B844}"/>
              </a:ext>
            </a:extLst>
          </p:cNvPr>
          <p:cNvSpPr txBox="1"/>
          <p:nvPr/>
        </p:nvSpPr>
        <p:spPr>
          <a:xfrm>
            <a:off x="5940152" y="3443231"/>
            <a:ext cx="513282" cy="307777"/>
          </a:xfrm>
          <a:prstGeom prst="rect">
            <a:avLst/>
          </a:prstGeom>
          <a:noFill/>
        </p:spPr>
        <p:txBody>
          <a:bodyPr wrap="none" rtlCol="0">
            <a:spAutoFit/>
          </a:bodyPr>
          <a:lstStyle/>
          <a:p>
            <a:r>
              <a:rPr lang="en-US" altLang="zh-CN" sz="1400" dirty="0"/>
              <a:t>file3</a:t>
            </a:r>
            <a:endParaRPr lang="en-CN" sz="1400" dirty="0"/>
          </a:p>
        </p:txBody>
      </p:sp>
      <p:sp>
        <p:nvSpPr>
          <p:cNvPr id="58" name="TextBox 57">
            <a:extLst>
              <a:ext uri="{FF2B5EF4-FFF2-40B4-BE49-F238E27FC236}">
                <a16:creationId xmlns:a16="http://schemas.microsoft.com/office/drawing/2014/main" id="{7C7382ED-0EB4-484A-9ADA-6E7A8F691247}"/>
              </a:ext>
            </a:extLst>
          </p:cNvPr>
          <p:cNvSpPr txBox="1"/>
          <p:nvPr/>
        </p:nvSpPr>
        <p:spPr>
          <a:xfrm>
            <a:off x="6811767" y="3443231"/>
            <a:ext cx="234360" cy="307777"/>
          </a:xfrm>
          <a:prstGeom prst="rect">
            <a:avLst/>
          </a:prstGeom>
          <a:noFill/>
        </p:spPr>
        <p:txBody>
          <a:bodyPr wrap="none" rtlCol="0">
            <a:spAutoFit/>
          </a:bodyPr>
          <a:lstStyle/>
          <a:p>
            <a:r>
              <a:rPr lang="en-US" altLang="zh-CN" sz="1400" dirty="0"/>
              <a:t>/</a:t>
            </a:r>
            <a:endParaRPr lang="en-CN" sz="1400" dirty="0"/>
          </a:p>
        </p:txBody>
      </p:sp>
      <p:cxnSp>
        <p:nvCxnSpPr>
          <p:cNvPr id="59" name="Elbow Connector 58">
            <a:extLst>
              <a:ext uri="{FF2B5EF4-FFF2-40B4-BE49-F238E27FC236}">
                <a16:creationId xmlns:a16="http://schemas.microsoft.com/office/drawing/2014/main" id="{D0922F0C-0C9F-5049-96E5-E6077E8BADF4}"/>
              </a:ext>
            </a:extLst>
          </p:cNvPr>
          <p:cNvCxnSpPr>
            <a:cxnSpLocks/>
            <a:stCxn id="53" idx="2"/>
            <a:endCxn id="54" idx="2"/>
          </p:cNvCxnSpPr>
          <p:nvPr/>
        </p:nvCxnSpPr>
        <p:spPr>
          <a:xfrm rot="5400000">
            <a:off x="7511189" y="4228787"/>
            <a:ext cx="12700" cy="46459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a:extLst>
              <a:ext uri="{FF2B5EF4-FFF2-40B4-BE49-F238E27FC236}">
                <a16:creationId xmlns:a16="http://schemas.microsoft.com/office/drawing/2014/main" id="{9AEE73FA-7E7F-A54E-870A-6F1C664A3E7C}"/>
              </a:ext>
            </a:extLst>
          </p:cNvPr>
          <p:cNvCxnSpPr>
            <a:cxnSpLocks/>
            <a:stCxn id="53" idx="2"/>
            <a:endCxn id="48" idx="2"/>
          </p:cNvCxnSpPr>
          <p:nvPr/>
        </p:nvCxnSpPr>
        <p:spPr>
          <a:xfrm rot="5400000">
            <a:off x="7046013" y="3763611"/>
            <a:ext cx="12700" cy="1394951"/>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59B9EF02-626C-564B-AC78-73DA85F11D16}"/>
              </a:ext>
            </a:extLst>
          </p:cNvPr>
          <p:cNvCxnSpPr>
            <a:cxnSpLocks/>
            <a:stCxn id="53" idx="2"/>
            <a:endCxn id="29" idx="2"/>
          </p:cNvCxnSpPr>
          <p:nvPr/>
        </p:nvCxnSpPr>
        <p:spPr>
          <a:xfrm rot="5400000" flipH="1">
            <a:off x="5883230" y="2600828"/>
            <a:ext cx="604" cy="3719912"/>
          </a:xfrm>
          <a:prstGeom prst="bentConnector3">
            <a:avLst>
              <a:gd name="adj1" fmla="val -5725678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Elbow Connector 64">
            <a:extLst>
              <a:ext uri="{FF2B5EF4-FFF2-40B4-BE49-F238E27FC236}">
                <a16:creationId xmlns:a16="http://schemas.microsoft.com/office/drawing/2014/main" id="{521F4BCB-0C2A-B342-892E-72984ACD9890}"/>
              </a:ext>
            </a:extLst>
          </p:cNvPr>
          <p:cNvCxnSpPr>
            <a:cxnSpLocks/>
            <a:stCxn id="53" idx="2"/>
            <a:endCxn id="25" idx="2"/>
          </p:cNvCxnSpPr>
          <p:nvPr/>
        </p:nvCxnSpPr>
        <p:spPr>
          <a:xfrm rot="5400000" flipH="1">
            <a:off x="4956224" y="1673822"/>
            <a:ext cx="604" cy="5573924"/>
          </a:xfrm>
          <a:prstGeom prst="bentConnector3">
            <a:avLst>
              <a:gd name="adj1" fmla="val -5767251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Elbow Connector 68">
            <a:extLst>
              <a:ext uri="{FF2B5EF4-FFF2-40B4-BE49-F238E27FC236}">
                <a16:creationId xmlns:a16="http://schemas.microsoft.com/office/drawing/2014/main" id="{85C7AE15-5DE5-7343-A68C-196B2C856048}"/>
              </a:ext>
            </a:extLst>
          </p:cNvPr>
          <p:cNvCxnSpPr>
            <a:cxnSpLocks/>
            <a:stCxn id="53" idx="2"/>
            <a:endCxn id="22" idx="2"/>
          </p:cNvCxnSpPr>
          <p:nvPr/>
        </p:nvCxnSpPr>
        <p:spPr>
          <a:xfrm rot="5400000" flipH="1">
            <a:off x="4490756" y="1208354"/>
            <a:ext cx="604" cy="6504861"/>
          </a:xfrm>
          <a:prstGeom prst="bentConnector3">
            <a:avLst>
              <a:gd name="adj1" fmla="val -57672682"/>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5097F917-13F8-0946-86B4-C41D158A036D}"/>
              </a:ext>
            </a:extLst>
          </p:cNvPr>
          <p:cNvSpPr/>
          <p:nvPr/>
        </p:nvSpPr>
        <p:spPr>
          <a:xfrm>
            <a:off x="6747021" y="3376337"/>
            <a:ext cx="345259" cy="34525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712350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804F-C4F8-344E-999D-C43AF010BB11}"/>
              </a:ext>
            </a:extLst>
          </p:cNvPr>
          <p:cNvSpPr>
            <a:spLocks noGrp="1"/>
          </p:cNvSpPr>
          <p:nvPr>
            <p:ph type="title"/>
          </p:nvPr>
        </p:nvSpPr>
        <p:spPr/>
        <p:txBody>
          <a:bodyPr/>
          <a:lstStyle/>
          <a:p>
            <a:r>
              <a:rPr lang="zh-CN" altLang="en-US" dirty="0"/>
              <a:t>无效</a:t>
            </a:r>
            <a:r>
              <a:rPr lang="zh-CN" altLang="en-CN" dirty="0"/>
              <a:t>空间</a:t>
            </a:r>
            <a:r>
              <a:rPr lang="zh-CN" altLang="en-US" dirty="0"/>
              <a:t>的回收</a:t>
            </a:r>
            <a:endParaRPr lang="en-CN" dirty="0"/>
          </a:p>
        </p:txBody>
      </p:sp>
      <p:sp>
        <p:nvSpPr>
          <p:cNvPr id="3" name="Content Placeholder 2">
            <a:extLst>
              <a:ext uri="{FF2B5EF4-FFF2-40B4-BE49-F238E27FC236}">
                <a16:creationId xmlns:a16="http://schemas.microsoft.com/office/drawing/2014/main" id="{9BDB2836-B807-9147-93C9-12F3BC381099}"/>
              </a:ext>
            </a:extLst>
          </p:cNvPr>
          <p:cNvSpPr>
            <a:spLocks noGrp="1"/>
          </p:cNvSpPr>
          <p:nvPr>
            <p:ph idx="1"/>
          </p:nvPr>
        </p:nvSpPr>
        <p:spPr/>
        <p:txBody>
          <a:bodyPr>
            <a:normAutofit/>
          </a:bodyPr>
          <a:lstStyle/>
          <a:p>
            <a:r>
              <a:rPr lang="zh-CN" altLang="en-CN" sz="2000" b="0" dirty="0"/>
              <a:t>存储</a:t>
            </a:r>
            <a:r>
              <a:rPr lang="zh-CN" altLang="en-US" sz="2000" b="0" dirty="0"/>
              <a:t>设备最开始是一个连续的空闲空间</a:t>
            </a:r>
            <a:endParaRPr lang="en-US" altLang="zh-CN" sz="2000" b="0" dirty="0"/>
          </a:p>
          <a:p>
            <a:r>
              <a:rPr lang="zh-CN" altLang="en-US" sz="2000" b="0" dirty="0"/>
              <a:t>随文件系统的使用，日志写入位置会接近存储设备末端</a:t>
            </a:r>
            <a:endParaRPr lang="en-US" altLang="zh-CN" sz="2000" b="0" dirty="0"/>
          </a:p>
          <a:p>
            <a:r>
              <a:rPr lang="zh-CN" altLang="en-US" sz="2000" b="0" dirty="0"/>
              <a:t>需重新利用前面的设备空间</a:t>
            </a:r>
            <a:endParaRPr lang="en-US" altLang="zh-CN" sz="2000" b="0" dirty="0"/>
          </a:p>
          <a:p>
            <a:pPr lvl="1"/>
            <a:r>
              <a:rPr lang="zh-CN" altLang="en-US" sz="1600" dirty="0"/>
              <a:t>文件系统数据被修改后，此前的块被无效化</a:t>
            </a:r>
            <a:endParaRPr lang="en-US" altLang="zh-CN" sz="1600" dirty="0"/>
          </a:p>
          <a:p>
            <a:pPr lvl="1"/>
            <a:r>
              <a:rPr lang="zh-CN" altLang="en-US" sz="1600" dirty="0"/>
              <a:t>如何组织前面无效空间，以重新利用它们？</a:t>
            </a:r>
            <a:endParaRPr lang="en-US" altLang="zh-CN" sz="1600" b="0" dirty="0"/>
          </a:p>
          <a:p>
            <a:pPr lvl="1"/>
            <a:endParaRPr lang="en-CN" altLang="zh-CN" sz="1600" b="0" dirty="0"/>
          </a:p>
        </p:txBody>
      </p:sp>
      <p:sp>
        <p:nvSpPr>
          <p:cNvPr id="4" name="Slide Number Placeholder 3">
            <a:extLst>
              <a:ext uri="{FF2B5EF4-FFF2-40B4-BE49-F238E27FC236}">
                <a16:creationId xmlns:a16="http://schemas.microsoft.com/office/drawing/2014/main" id="{EE49CC71-AE1E-F448-B6C5-6B7ECB892ADD}"/>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
        <p:nvSpPr>
          <p:cNvPr id="5" name="Footer Placeholder 4">
            <a:extLst>
              <a:ext uri="{FF2B5EF4-FFF2-40B4-BE49-F238E27FC236}">
                <a16:creationId xmlns:a16="http://schemas.microsoft.com/office/drawing/2014/main" id="{3447F7E2-5EFE-7744-832F-189C593AEF1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92795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9C51C-D2FE-5747-9C66-24780801AB59}"/>
              </a:ext>
            </a:extLst>
          </p:cNvPr>
          <p:cNvSpPr>
            <a:spLocks noGrp="1"/>
          </p:cNvSpPr>
          <p:nvPr>
            <p:ph type="title"/>
          </p:nvPr>
        </p:nvSpPr>
        <p:spPr/>
        <p:txBody>
          <a:bodyPr/>
          <a:lstStyle/>
          <a:p>
            <a:r>
              <a:rPr lang="zh-CN" altLang="en-CN" dirty="0"/>
              <a:t>空间</a:t>
            </a:r>
            <a:r>
              <a:rPr lang="zh-CN" altLang="en-US" dirty="0"/>
              <a:t>回收管理方法：串联与拷贝</a:t>
            </a:r>
            <a:endParaRPr lang="en-CN" dirty="0"/>
          </a:p>
        </p:txBody>
      </p:sp>
      <p:sp>
        <p:nvSpPr>
          <p:cNvPr id="3" name="Content Placeholder 2">
            <a:extLst>
              <a:ext uri="{FF2B5EF4-FFF2-40B4-BE49-F238E27FC236}">
                <a16:creationId xmlns:a16="http://schemas.microsoft.com/office/drawing/2014/main" id="{DA87D6DD-F0E5-C946-9F8A-1F741C01B594}"/>
              </a:ext>
            </a:extLst>
          </p:cNvPr>
          <p:cNvSpPr>
            <a:spLocks noGrp="1"/>
          </p:cNvSpPr>
          <p:nvPr>
            <p:ph idx="1"/>
          </p:nvPr>
        </p:nvSpPr>
        <p:spPr/>
        <p:txBody>
          <a:bodyPr>
            <a:normAutofit/>
          </a:bodyPr>
          <a:lstStyle/>
          <a:p>
            <a:r>
              <a:rPr lang="en-US" altLang="zh-CN" sz="2000" b="0" dirty="0"/>
              <a:t>【</a:t>
            </a:r>
            <a:r>
              <a:rPr lang="zh-CN" altLang="en-US" sz="2000" b="0" dirty="0"/>
              <a:t>方法</a:t>
            </a:r>
            <a:r>
              <a:rPr lang="en-US" altLang="zh-CN" sz="2000" b="0" dirty="0"/>
              <a:t>-1</a:t>
            </a:r>
            <a:r>
              <a:rPr lang="zh-CN" altLang="en-US" sz="2000" b="0" dirty="0"/>
              <a:t>：串联</a:t>
            </a:r>
            <a:r>
              <a:rPr lang="en-US" altLang="zh-CN" sz="2000" b="0" dirty="0"/>
              <a:t>】</a:t>
            </a:r>
            <a:r>
              <a:rPr lang="zh-CN" altLang="en-US" sz="2000" b="0" dirty="0"/>
              <a:t>：将所有空闲空间用链表串起来</a:t>
            </a:r>
            <a:endParaRPr lang="en-US" altLang="zh-CN" sz="2000" b="0" dirty="0"/>
          </a:p>
          <a:p>
            <a:pPr lvl="1"/>
            <a:r>
              <a:rPr lang="zh-CN" altLang="en-US" sz="1800" dirty="0"/>
              <a:t>磁盘空间会越来越碎，影响到</a:t>
            </a:r>
            <a:r>
              <a:rPr lang="en-US" altLang="zh-CN" sz="1800" dirty="0"/>
              <a:t>LFS</a:t>
            </a:r>
            <a:r>
              <a:rPr lang="zh-CN" altLang="en-US" sz="1800" dirty="0"/>
              <a:t>的大块顺序写的性能</a:t>
            </a:r>
            <a:endParaRPr lang="en-US" altLang="zh-CN" sz="1800" dirty="0"/>
          </a:p>
          <a:p>
            <a:pPr marL="0" indent="0">
              <a:buNone/>
            </a:pPr>
            <a:endParaRPr lang="en-US" altLang="zh-CN" sz="2000" b="0" dirty="0"/>
          </a:p>
          <a:p>
            <a:r>
              <a:rPr lang="en-US" altLang="zh-CN" sz="2000" b="0" dirty="0"/>
              <a:t>【</a:t>
            </a:r>
            <a:r>
              <a:rPr lang="zh-CN" altLang="en-US" sz="2000" b="0" dirty="0"/>
              <a:t>方法</a:t>
            </a:r>
            <a:r>
              <a:rPr lang="en-US" altLang="zh-CN" sz="2000" b="0" dirty="0"/>
              <a:t>-2</a:t>
            </a:r>
            <a:r>
              <a:rPr lang="zh-CN" altLang="en-US" sz="2000" b="0" dirty="0"/>
              <a:t>：拷贝</a:t>
            </a:r>
            <a:r>
              <a:rPr lang="en-US" altLang="zh-CN" sz="2000" b="0" dirty="0"/>
              <a:t>】</a:t>
            </a:r>
            <a:r>
              <a:rPr lang="zh-CN" altLang="en-US" sz="2000" b="0" dirty="0"/>
              <a:t>：将所有的有效空间整理拷贝到新的存储设备</a:t>
            </a:r>
            <a:endParaRPr lang="en-US" altLang="zh-CN" sz="2000" b="0" dirty="0"/>
          </a:p>
          <a:p>
            <a:pPr lvl="1"/>
            <a:r>
              <a:rPr lang="zh-CN" altLang="en-US" sz="1800" dirty="0"/>
              <a:t>数据需要拷贝</a:t>
            </a:r>
            <a:endParaRPr lang="en-US" altLang="zh-CN" sz="1800" dirty="0"/>
          </a:p>
        </p:txBody>
      </p:sp>
      <p:sp>
        <p:nvSpPr>
          <p:cNvPr id="4" name="Slide Number Placeholder 3">
            <a:extLst>
              <a:ext uri="{FF2B5EF4-FFF2-40B4-BE49-F238E27FC236}">
                <a16:creationId xmlns:a16="http://schemas.microsoft.com/office/drawing/2014/main" id="{6DE92746-4D0A-6C41-AFE6-0D304AD73C69}"/>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
        <p:nvSpPr>
          <p:cNvPr id="5" name="Footer Placeholder 4">
            <a:extLst>
              <a:ext uri="{FF2B5EF4-FFF2-40B4-BE49-F238E27FC236}">
                <a16:creationId xmlns:a16="http://schemas.microsoft.com/office/drawing/2014/main" id="{C5146071-679B-D14F-A004-CE0024CCF16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15" name="Group 14">
            <a:extLst>
              <a:ext uri="{FF2B5EF4-FFF2-40B4-BE49-F238E27FC236}">
                <a16:creationId xmlns:a16="http://schemas.microsoft.com/office/drawing/2014/main" id="{896DF6BA-8B58-774D-98FB-8F0E0647C737}"/>
              </a:ext>
            </a:extLst>
          </p:cNvPr>
          <p:cNvGrpSpPr/>
          <p:nvPr/>
        </p:nvGrpSpPr>
        <p:grpSpPr>
          <a:xfrm>
            <a:off x="2465099" y="2425452"/>
            <a:ext cx="4917557" cy="317649"/>
            <a:chOff x="539750" y="3941557"/>
            <a:chExt cx="8064698" cy="520939"/>
          </a:xfrm>
        </p:grpSpPr>
        <p:cxnSp>
          <p:nvCxnSpPr>
            <p:cNvPr id="16" name="Straight Connector 15">
              <a:extLst>
                <a:ext uri="{FF2B5EF4-FFF2-40B4-BE49-F238E27FC236}">
                  <a16:creationId xmlns:a16="http://schemas.microsoft.com/office/drawing/2014/main" id="{5AF3B300-11E5-C149-A58C-C5C186ECFBD2}"/>
                </a:ext>
              </a:extLst>
            </p:cNvPr>
            <p:cNvCxnSpPr>
              <a:cxnSpLocks/>
            </p:cNvCxnSpPr>
            <p:nvPr/>
          </p:nvCxnSpPr>
          <p:spPr>
            <a:xfrm>
              <a:off x="539750" y="3941557"/>
              <a:ext cx="80646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17F7924-3326-A64E-8DE0-65F8A6B59BE4}"/>
                </a:ext>
              </a:extLst>
            </p:cNvPr>
            <p:cNvCxnSpPr>
              <a:cxnSpLocks/>
            </p:cNvCxnSpPr>
            <p:nvPr/>
          </p:nvCxnSpPr>
          <p:spPr>
            <a:xfrm>
              <a:off x="539750" y="4462496"/>
              <a:ext cx="8064698"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2810AD8-DBFF-9B4A-A14A-3546C0546B01}"/>
                </a:ext>
              </a:extLst>
            </p:cNvPr>
            <p:cNvSpPr/>
            <p:nvPr/>
          </p:nvSpPr>
          <p:spPr>
            <a:xfrm>
              <a:off x="539750" y="3956612"/>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9" name="Rectangle 18">
              <a:extLst>
                <a:ext uri="{FF2B5EF4-FFF2-40B4-BE49-F238E27FC236}">
                  <a16:creationId xmlns:a16="http://schemas.microsoft.com/office/drawing/2014/main" id="{F8FE974B-254E-884F-947D-7EC8715DE10B}"/>
                </a:ext>
              </a:extLst>
            </p:cNvPr>
            <p:cNvSpPr/>
            <p:nvPr/>
          </p:nvSpPr>
          <p:spPr>
            <a:xfrm>
              <a:off x="1005668" y="3956612"/>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0" name="Rectangle 19">
              <a:extLst>
                <a:ext uri="{FF2B5EF4-FFF2-40B4-BE49-F238E27FC236}">
                  <a16:creationId xmlns:a16="http://schemas.microsoft.com/office/drawing/2014/main" id="{EA766BF1-D72C-5348-85E8-E96189E3F2BC}"/>
                </a:ext>
              </a:extLst>
            </p:cNvPr>
            <p:cNvSpPr/>
            <p:nvPr/>
          </p:nvSpPr>
          <p:spPr>
            <a:xfrm>
              <a:off x="1469171" y="3956612"/>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700" dirty="0"/>
            </a:p>
          </p:txBody>
        </p:sp>
        <p:sp>
          <p:nvSpPr>
            <p:cNvPr id="21" name="Rectangle 20">
              <a:extLst>
                <a:ext uri="{FF2B5EF4-FFF2-40B4-BE49-F238E27FC236}">
                  <a16:creationId xmlns:a16="http://schemas.microsoft.com/office/drawing/2014/main" id="{55530C40-4FA3-AB43-AC9C-689F36A6563E}"/>
                </a:ext>
              </a:extLst>
            </p:cNvPr>
            <p:cNvSpPr/>
            <p:nvPr/>
          </p:nvSpPr>
          <p:spPr>
            <a:xfrm>
              <a:off x="1936605" y="3956612"/>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2" name="Rectangle 21">
              <a:extLst>
                <a:ext uri="{FF2B5EF4-FFF2-40B4-BE49-F238E27FC236}">
                  <a16:creationId xmlns:a16="http://schemas.microsoft.com/office/drawing/2014/main" id="{00553001-0DB3-8640-9A9D-A167B6E84086}"/>
                </a:ext>
              </a:extLst>
            </p:cNvPr>
            <p:cNvSpPr/>
            <p:nvPr/>
          </p:nvSpPr>
          <p:spPr>
            <a:xfrm>
              <a:off x="2400108" y="3956612"/>
              <a:ext cx="465918" cy="504676"/>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3" name="Rectangle 22">
              <a:extLst>
                <a:ext uri="{FF2B5EF4-FFF2-40B4-BE49-F238E27FC236}">
                  <a16:creationId xmlns:a16="http://schemas.microsoft.com/office/drawing/2014/main" id="{0E9872E1-9B71-B446-BE52-4CCB4B5A9ED5}"/>
                </a:ext>
              </a:extLst>
            </p:cNvPr>
            <p:cNvSpPr/>
            <p:nvPr/>
          </p:nvSpPr>
          <p:spPr>
            <a:xfrm>
              <a:off x="2863611" y="3956612"/>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4" name="Rectangle 23">
              <a:extLst>
                <a:ext uri="{FF2B5EF4-FFF2-40B4-BE49-F238E27FC236}">
                  <a16:creationId xmlns:a16="http://schemas.microsoft.com/office/drawing/2014/main" id="{6794B126-24E6-BE4A-BE4F-3AEE46F79824}"/>
                </a:ext>
              </a:extLst>
            </p:cNvPr>
            <p:cNvSpPr/>
            <p:nvPr/>
          </p:nvSpPr>
          <p:spPr>
            <a:xfrm>
              <a:off x="3327114" y="3956612"/>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5" name="Rectangle 24">
              <a:extLst>
                <a:ext uri="{FF2B5EF4-FFF2-40B4-BE49-F238E27FC236}">
                  <a16:creationId xmlns:a16="http://schemas.microsoft.com/office/drawing/2014/main" id="{F7DFC77E-0727-A443-9FB0-DEC407D70A01}"/>
                </a:ext>
              </a:extLst>
            </p:cNvPr>
            <p:cNvSpPr/>
            <p:nvPr/>
          </p:nvSpPr>
          <p:spPr>
            <a:xfrm>
              <a:off x="3790617" y="3956612"/>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6" name="Rectangle 25">
              <a:extLst>
                <a:ext uri="{FF2B5EF4-FFF2-40B4-BE49-F238E27FC236}">
                  <a16:creationId xmlns:a16="http://schemas.microsoft.com/office/drawing/2014/main" id="{85DD96F8-71E5-1949-9D02-78D64E62ABCF}"/>
                </a:ext>
              </a:extLst>
            </p:cNvPr>
            <p:cNvSpPr/>
            <p:nvPr/>
          </p:nvSpPr>
          <p:spPr>
            <a:xfrm>
              <a:off x="5182222" y="3956612"/>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7" name="Rectangle 26">
              <a:extLst>
                <a:ext uri="{FF2B5EF4-FFF2-40B4-BE49-F238E27FC236}">
                  <a16:creationId xmlns:a16="http://schemas.microsoft.com/office/drawing/2014/main" id="{AC95A182-179C-824C-BA82-46747B579129}"/>
                </a:ext>
              </a:extLst>
            </p:cNvPr>
            <p:cNvSpPr/>
            <p:nvPr/>
          </p:nvSpPr>
          <p:spPr>
            <a:xfrm>
              <a:off x="4254120" y="3956612"/>
              <a:ext cx="465918" cy="504676"/>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28" name="Rectangle 27">
              <a:extLst>
                <a:ext uri="{FF2B5EF4-FFF2-40B4-BE49-F238E27FC236}">
                  <a16:creationId xmlns:a16="http://schemas.microsoft.com/office/drawing/2014/main" id="{A6E832DD-F080-964B-82F0-D67CA46E1752}"/>
                </a:ext>
              </a:extLst>
            </p:cNvPr>
            <p:cNvSpPr/>
            <p:nvPr/>
          </p:nvSpPr>
          <p:spPr>
            <a:xfrm>
              <a:off x="4717623" y="3956612"/>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9" name="Rectangle 28">
              <a:extLst>
                <a:ext uri="{FF2B5EF4-FFF2-40B4-BE49-F238E27FC236}">
                  <a16:creationId xmlns:a16="http://schemas.microsoft.com/office/drawing/2014/main" id="{D47722DF-559C-6149-92F0-A5D6A67EC352}"/>
                </a:ext>
              </a:extLst>
            </p:cNvPr>
            <p:cNvSpPr/>
            <p:nvPr/>
          </p:nvSpPr>
          <p:spPr>
            <a:xfrm>
              <a:off x="5649773" y="3957216"/>
              <a:ext cx="465918" cy="504676"/>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0" name="Rectangle 29">
              <a:extLst>
                <a:ext uri="{FF2B5EF4-FFF2-40B4-BE49-F238E27FC236}">
                  <a16:creationId xmlns:a16="http://schemas.microsoft.com/office/drawing/2014/main" id="{2A75189E-B435-C946-AA06-7FCF874DDEE6}"/>
                </a:ext>
              </a:extLst>
            </p:cNvPr>
            <p:cNvSpPr/>
            <p:nvPr/>
          </p:nvSpPr>
          <p:spPr>
            <a:xfrm>
              <a:off x="6115578" y="3957216"/>
              <a:ext cx="465918" cy="503870"/>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31" name="Rectangle 30">
              <a:extLst>
                <a:ext uri="{FF2B5EF4-FFF2-40B4-BE49-F238E27FC236}">
                  <a16:creationId xmlns:a16="http://schemas.microsoft.com/office/drawing/2014/main" id="{2AFFB31D-36DE-4F43-9F6A-C9CCF685C43E}"/>
                </a:ext>
              </a:extLst>
            </p:cNvPr>
            <p:cNvSpPr/>
            <p:nvPr/>
          </p:nvSpPr>
          <p:spPr>
            <a:xfrm>
              <a:off x="6581810" y="3957216"/>
              <a:ext cx="465918" cy="504676"/>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32" name="Rectangle 31">
              <a:extLst>
                <a:ext uri="{FF2B5EF4-FFF2-40B4-BE49-F238E27FC236}">
                  <a16:creationId xmlns:a16="http://schemas.microsoft.com/office/drawing/2014/main" id="{B9DA68A8-7EA5-7440-85DD-5CBDEEEC1FFF}"/>
                </a:ext>
              </a:extLst>
            </p:cNvPr>
            <p:cNvSpPr/>
            <p:nvPr/>
          </p:nvSpPr>
          <p:spPr>
            <a:xfrm>
              <a:off x="7510529" y="3957216"/>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33" name="Rectangle 32">
              <a:extLst>
                <a:ext uri="{FF2B5EF4-FFF2-40B4-BE49-F238E27FC236}">
                  <a16:creationId xmlns:a16="http://schemas.microsoft.com/office/drawing/2014/main" id="{EF3EBA70-4197-D943-9651-F426B0F6614F}"/>
                </a:ext>
              </a:extLst>
            </p:cNvPr>
            <p:cNvSpPr/>
            <p:nvPr/>
          </p:nvSpPr>
          <p:spPr>
            <a:xfrm>
              <a:off x="7045930" y="3957216"/>
              <a:ext cx="465918" cy="50387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cxnSp>
          <p:nvCxnSpPr>
            <p:cNvPr id="34" name="Curved Connector 33">
              <a:extLst>
                <a:ext uri="{FF2B5EF4-FFF2-40B4-BE49-F238E27FC236}">
                  <a16:creationId xmlns:a16="http://schemas.microsoft.com/office/drawing/2014/main" id="{67C6DACB-9341-9C4B-9E7B-0EF0A12A9360}"/>
                </a:ext>
              </a:extLst>
            </p:cNvPr>
            <p:cNvCxnSpPr>
              <a:stCxn id="22" idx="0"/>
              <a:endCxn id="27" idx="0"/>
            </p:cNvCxnSpPr>
            <p:nvPr/>
          </p:nvCxnSpPr>
          <p:spPr>
            <a:xfrm rot="5400000" flipH="1" flipV="1">
              <a:off x="3560073" y="3029606"/>
              <a:ext cx="12700" cy="1854012"/>
            </a:xfrm>
            <a:prstGeom prst="curvedConnector3">
              <a:avLst>
                <a:gd name="adj1" fmla="val 180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urved Connector 34">
              <a:extLst>
                <a:ext uri="{FF2B5EF4-FFF2-40B4-BE49-F238E27FC236}">
                  <a16:creationId xmlns:a16="http://schemas.microsoft.com/office/drawing/2014/main" id="{91CBBE68-FBA6-7F4C-8CE2-672AFA384EE9}"/>
                </a:ext>
              </a:extLst>
            </p:cNvPr>
            <p:cNvCxnSpPr>
              <a:cxnSpLocks/>
              <a:stCxn id="26" idx="0"/>
              <a:endCxn id="30" idx="0"/>
            </p:cNvCxnSpPr>
            <p:nvPr/>
          </p:nvCxnSpPr>
          <p:spPr>
            <a:xfrm rot="16200000" flipH="1">
              <a:off x="5881557" y="3490236"/>
              <a:ext cx="604" cy="933356"/>
            </a:xfrm>
            <a:prstGeom prst="curvedConnector3">
              <a:avLst>
                <a:gd name="adj1" fmla="val -37847682"/>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1523BB3B-79E0-1B40-B388-B20E2EE14BFC}"/>
              </a:ext>
            </a:extLst>
          </p:cNvPr>
          <p:cNvGrpSpPr/>
          <p:nvPr/>
        </p:nvGrpSpPr>
        <p:grpSpPr>
          <a:xfrm>
            <a:off x="2462754" y="3793604"/>
            <a:ext cx="4917557" cy="1086335"/>
            <a:chOff x="2462754" y="3969751"/>
            <a:chExt cx="4917557" cy="1086335"/>
          </a:xfrm>
        </p:grpSpPr>
        <p:cxnSp>
          <p:nvCxnSpPr>
            <p:cNvPr id="39" name="Straight Connector 38">
              <a:extLst>
                <a:ext uri="{FF2B5EF4-FFF2-40B4-BE49-F238E27FC236}">
                  <a16:creationId xmlns:a16="http://schemas.microsoft.com/office/drawing/2014/main" id="{84A1AD6D-DA54-4D40-B2A2-61C58486554B}"/>
                </a:ext>
              </a:extLst>
            </p:cNvPr>
            <p:cNvCxnSpPr>
              <a:cxnSpLocks/>
            </p:cNvCxnSpPr>
            <p:nvPr/>
          </p:nvCxnSpPr>
          <p:spPr>
            <a:xfrm>
              <a:off x="2462754" y="3969751"/>
              <a:ext cx="49175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A7E6221-9341-0A45-8550-E276BE9EBFF9}"/>
                </a:ext>
              </a:extLst>
            </p:cNvPr>
            <p:cNvCxnSpPr>
              <a:cxnSpLocks/>
            </p:cNvCxnSpPr>
            <p:nvPr/>
          </p:nvCxnSpPr>
          <p:spPr>
            <a:xfrm>
              <a:off x="2462754" y="4287400"/>
              <a:ext cx="4917557"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14153314-1D46-8E42-8BF0-271EF40935BF}"/>
                </a:ext>
              </a:extLst>
            </p:cNvPr>
            <p:cNvSpPr/>
            <p:nvPr/>
          </p:nvSpPr>
          <p:spPr>
            <a:xfrm>
              <a:off x="2462754" y="3978931"/>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42" name="Rectangle 41">
              <a:extLst>
                <a:ext uri="{FF2B5EF4-FFF2-40B4-BE49-F238E27FC236}">
                  <a16:creationId xmlns:a16="http://schemas.microsoft.com/office/drawing/2014/main" id="{A3380D22-D091-9044-A6F8-61E8657EC8D8}"/>
                </a:ext>
              </a:extLst>
            </p:cNvPr>
            <p:cNvSpPr/>
            <p:nvPr/>
          </p:nvSpPr>
          <p:spPr>
            <a:xfrm>
              <a:off x="2746854" y="3978931"/>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43" name="Rectangle 42">
              <a:extLst>
                <a:ext uri="{FF2B5EF4-FFF2-40B4-BE49-F238E27FC236}">
                  <a16:creationId xmlns:a16="http://schemas.microsoft.com/office/drawing/2014/main" id="{D7E1F3A9-033D-4E42-AF66-50D92D678694}"/>
                </a:ext>
              </a:extLst>
            </p:cNvPr>
            <p:cNvSpPr/>
            <p:nvPr/>
          </p:nvSpPr>
          <p:spPr>
            <a:xfrm>
              <a:off x="3029481" y="3978931"/>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700" dirty="0"/>
            </a:p>
          </p:txBody>
        </p:sp>
        <p:sp>
          <p:nvSpPr>
            <p:cNvPr id="44" name="Rectangle 43">
              <a:extLst>
                <a:ext uri="{FF2B5EF4-FFF2-40B4-BE49-F238E27FC236}">
                  <a16:creationId xmlns:a16="http://schemas.microsoft.com/office/drawing/2014/main" id="{E758AA7C-7A45-FD47-B0FB-538B870406FD}"/>
                </a:ext>
              </a:extLst>
            </p:cNvPr>
            <p:cNvSpPr/>
            <p:nvPr/>
          </p:nvSpPr>
          <p:spPr>
            <a:xfrm>
              <a:off x="3314505" y="3978931"/>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45" name="Rectangle 44">
              <a:extLst>
                <a:ext uri="{FF2B5EF4-FFF2-40B4-BE49-F238E27FC236}">
                  <a16:creationId xmlns:a16="http://schemas.microsoft.com/office/drawing/2014/main" id="{BC94190E-522E-904C-9D66-5A9FEF088730}"/>
                </a:ext>
              </a:extLst>
            </p:cNvPr>
            <p:cNvSpPr/>
            <p:nvPr/>
          </p:nvSpPr>
          <p:spPr>
            <a:xfrm>
              <a:off x="3597132" y="3978931"/>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46" name="Rectangle 45">
              <a:extLst>
                <a:ext uri="{FF2B5EF4-FFF2-40B4-BE49-F238E27FC236}">
                  <a16:creationId xmlns:a16="http://schemas.microsoft.com/office/drawing/2014/main" id="{C16CF477-AE96-E847-A142-216FCC0F2CF5}"/>
                </a:ext>
              </a:extLst>
            </p:cNvPr>
            <p:cNvSpPr/>
            <p:nvPr/>
          </p:nvSpPr>
          <p:spPr>
            <a:xfrm>
              <a:off x="3879759" y="3978931"/>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47" name="Rectangle 46">
              <a:extLst>
                <a:ext uri="{FF2B5EF4-FFF2-40B4-BE49-F238E27FC236}">
                  <a16:creationId xmlns:a16="http://schemas.microsoft.com/office/drawing/2014/main" id="{6382D12E-A180-904D-9DF1-0A1DDB3B2B4A}"/>
                </a:ext>
              </a:extLst>
            </p:cNvPr>
            <p:cNvSpPr/>
            <p:nvPr/>
          </p:nvSpPr>
          <p:spPr>
            <a:xfrm>
              <a:off x="4162386" y="3978931"/>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48" name="Rectangle 47">
              <a:extLst>
                <a:ext uri="{FF2B5EF4-FFF2-40B4-BE49-F238E27FC236}">
                  <a16:creationId xmlns:a16="http://schemas.microsoft.com/office/drawing/2014/main" id="{0154B043-D307-D24A-87DD-94EE0BB35754}"/>
                </a:ext>
              </a:extLst>
            </p:cNvPr>
            <p:cNvSpPr/>
            <p:nvPr/>
          </p:nvSpPr>
          <p:spPr>
            <a:xfrm>
              <a:off x="4445013" y="3978931"/>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49" name="Rectangle 48">
              <a:extLst>
                <a:ext uri="{FF2B5EF4-FFF2-40B4-BE49-F238E27FC236}">
                  <a16:creationId xmlns:a16="http://schemas.microsoft.com/office/drawing/2014/main" id="{BA7D6CB2-0BD7-8546-AE42-5C4FBE72816E}"/>
                </a:ext>
              </a:extLst>
            </p:cNvPr>
            <p:cNvSpPr/>
            <p:nvPr/>
          </p:nvSpPr>
          <p:spPr>
            <a:xfrm>
              <a:off x="5293563" y="3978931"/>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0" name="Rectangle 49">
              <a:extLst>
                <a:ext uri="{FF2B5EF4-FFF2-40B4-BE49-F238E27FC236}">
                  <a16:creationId xmlns:a16="http://schemas.microsoft.com/office/drawing/2014/main" id="{391DCB0B-42EE-1741-8CA2-0FE5075EDCFD}"/>
                </a:ext>
              </a:extLst>
            </p:cNvPr>
            <p:cNvSpPr/>
            <p:nvPr/>
          </p:nvSpPr>
          <p:spPr>
            <a:xfrm>
              <a:off x="4727641" y="3978931"/>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51" name="Rectangle 50">
              <a:extLst>
                <a:ext uri="{FF2B5EF4-FFF2-40B4-BE49-F238E27FC236}">
                  <a16:creationId xmlns:a16="http://schemas.microsoft.com/office/drawing/2014/main" id="{8BDB2270-FA6E-5542-A14C-C026FD72991A}"/>
                </a:ext>
              </a:extLst>
            </p:cNvPr>
            <p:cNvSpPr/>
            <p:nvPr/>
          </p:nvSpPr>
          <p:spPr>
            <a:xfrm>
              <a:off x="5010268" y="3978931"/>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2" name="Rectangle 51">
              <a:extLst>
                <a:ext uri="{FF2B5EF4-FFF2-40B4-BE49-F238E27FC236}">
                  <a16:creationId xmlns:a16="http://schemas.microsoft.com/office/drawing/2014/main" id="{C8E3E804-4088-BB41-B3F9-C4BF349A61A6}"/>
                </a:ext>
              </a:extLst>
            </p:cNvPr>
            <p:cNvSpPr/>
            <p:nvPr/>
          </p:nvSpPr>
          <p:spPr>
            <a:xfrm>
              <a:off x="5578659" y="3979299"/>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3" name="Rectangle 52">
              <a:extLst>
                <a:ext uri="{FF2B5EF4-FFF2-40B4-BE49-F238E27FC236}">
                  <a16:creationId xmlns:a16="http://schemas.microsoft.com/office/drawing/2014/main" id="{1C4B3AEB-9B96-A54B-82A8-1AB9C3605B22}"/>
                </a:ext>
              </a:extLst>
            </p:cNvPr>
            <p:cNvSpPr/>
            <p:nvPr/>
          </p:nvSpPr>
          <p:spPr>
            <a:xfrm>
              <a:off x="5862689" y="3979299"/>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4" name="Rectangle 53">
              <a:extLst>
                <a:ext uri="{FF2B5EF4-FFF2-40B4-BE49-F238E27FC236}">
                  <a16:creationId xmlns:a16="http://schemas.microsoft.com/office/drawing/2014/main" id="{C0055054-BF1D-3A4D-B506-716F5B25160B}"/>
                </a:ext>
              </a:extLst>
            </p:cNvPr>
            <p:cNvSpPr/>
            <p:nvPr/>
          </p:nvSpPr>
          <p:spPr>
            <a:xfrm>
              <a:off x="6146981" y="3979299"/>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55" name="Rectangle 54">
              <a:extLst>
                <a:ext uri="{FF2B5EF4-FFF2-40B4-BE49-F238E27FC236}">
                  <a16:creationId xmlns:a16="http://schemas.microsoft.com/office/drawing/2014/main" id="{E86408C1-4219-A94A-B0BD-E8C9A8DE6F7D}"/>
                </a:ext>
              </a:extLst>
            </p:cNvPr>
            <p:cNvSpPr/>
            <p:nvPr/>
          </p:nvSpPr>
          <p:spPr>
            <a:xfrm>
              <a:off x="6713279" y="3979299"/>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56" name="Rectangle 55">
              <a:extLst>
                <a:ext uri="{FF2B5EF4-FFF2-40B4-BE49-F238E27FC236}">
                  <a16:creationId xmlns:a16="http://schemas.microsoft.com/office/drawing/2014/main" id="{828991D9-DCE6-4A46-AF73-F67C33D53C0E}"/>
                </a:ext>
              </a:extLst>
            </p:cNvPr>
            <p:cNvSpPr/>
            <p:nvPr/>
          </p:nvSpPr>
          <p:spPr>
            <a:xfrm>
              <a:off x="6429984" y="3979299"/>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cxnSp>
          <p:nvCxnSpPr>
            <p:cNvPr id="57" name="Straight Connector 56">
              <a:extLst>
                <a:ext uri="{FF2B5EF4-FFF2-40B4-BE49-F238E27FC236}">
                  <a16:creationId xmlns:a16="http://schemas.microsoft.com/office/drawing/2014/main" id="{DDDF2FB8-1157-CC41-BCDF-E4523471BEAB}"/>
                </a:ext>
              </a:extLst>
            </p:cNvPr>
            <p:cNvCxnSpPr>
              <a:cxnSpLocks/>
            </p:cNvCxnSpPr>
            <p:nvPr/>
          </p:nvCxnSpPr>
          <p:spPr>
            <a:xfrm>
              <a:off x="2462754" y="4738437"/>
              <a:ext cx="49175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5E6F4D4-D7AA-DF45-B0BE-035F4E8FB7D1}"/>
                </a:ext>
              </a:extLst>
            </p:cNvPr>
            <p:cNvCxnSpPr>
              <a:cxnSpLocks/>
            </p:cNvCxnSpPr>
            <p:nvPr/>
          </p:nvCxnSpPr>
          <p:spPr>
            <a:xfrm>
              <a:off x="2462754" y="5056086"/>
              <a:ext cx="4917557"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4475AA13-9D6C-F04A-B373-A7E15FB16D28}"/>
                </a:ext>
              </a:extLst>
            </p:cNvPr>
            <p:cNvSpPr/>
            <p:nvPr/>
          </p:nvSpPr>
          <p:spPr>
            <a:xfrm>
              <a:off x="2462754"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0" name="Rectangle 59">
              <a:extLst>
                <a:ext uri="{FF2B5EF4-FFF2-40B4-BE49-F238E27FC236}">
                  <a16:creationId xmlns:a16="http://schemas.microsoft.com/office/drawing/2014/main" id="{9058BE0B-639A-7E43-8450-70C75DA67338}"/>
                </a:ext>
              </a:extLst>
            </p:cNvPr>
            <p:cNvSpPr/>
            <p:nvPr/>
          </p:nvSpPr>
          <p:spPr>
            <a:xfrm>
              <a:off x="2746854"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61" name="Rectangle 60">
              <a:extLst>
                <a:ext uri="{FF2B5EF4-FFF2-40B4-BE49-F238E27FC236}">
                  <a16:creationId xmlns:a16="http://schemas.microsoft.com/office/drawing/2014/main" id="{45AFE1CB-B923-BE4B-B97C-EE80138C2F6C}"/>
                </a:ext>
              </a:extLst>
            </p:cNvPr>
            <p:cNvSpPr/>
            <p:nvPr/>
          </p:nvSpPr>
          <p:spPr>
            <a:xfrm>
              <a:off x="3029481"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700" dirty="0"/>
            </a:p>
          </p:txBody>
        </p:sp>
        <p:sp>
          <p:nvSpPr>
            <p:cNvPr id="62" name="Rectangle 61">
              <a:extLst>
                <a:ext uri="{FF2B5EF4-FFF2-40B4-BE49-F238E27FC236}">
                  <a16:creationId xmlns:a16="http://schemas.microsoft.com/office/drawing/2014/main" id="{29A850A9-5E20-464B-9939-3BA1EA2D80CF}"/>
                </a:ext>
              </a:extLst>
            </p:cNvPr>
            <p:cNvSpPr/>
            <p:nvPr/>
          </p:nvSpPr>
          <p:spPr>
            <a:xfrm>
              <a:off x="3314505"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927818BE-F65B-6D47-A102-F51ED64075A2}"/>
                </a:ext>
              </a:extLst>
            </p:cNvPr>
            <p:cNvSpPr/>
            <p:nvPr/>
          </p:nvSpPr>
          <p:spPr>
            <a:xfrm>
              <a:off x="3597132"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4" name="Rectangle 63">
              <a:extLst>
                <a:ext uri="{FF2B5EF4-FFF2-40B4-BE49-F238E27FC236}">
                  <a16:creationId xmlns:a16="http://schemas.microsoft.com/office/drawing/2014/main" id="{AF7D4508-EE2B-234F-BAF2-E4F81C41F8EC}"/>
                </a:ext>
              </a:extLst>
            </p:cNvPr>
            <p:cNvSpPr/>
            <p:nvPr/>
          </p:nvSpPr>
          <p:spPr>
            <a:xfrm>
              <a:off x="3879759"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5" name="Rectangle 64">
              <a:extLst>
                <a:ext uri="{FF2B5EF4-FFF2-40B4-BE49-F238E27FC236}">
                  <a16:creationId xmlns:a16="http://schemas.microsoft.com/office/drawing/2014/main" id="{1E62C2B6-929C-D745-9DC0-E1408A9CDA1F}"/>
                </a:ext>
              </a:extLst>
            </p:cNvPr>
            <p:cNvSpPr/>
            <p:nvPr/>
          </p:nvSpPr>
          <p:spPr>
            <a:xfrm>
              <a:off x="4162386"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6" name="Rectangle 65">
              <a:extLst>
                <a:ext uri="{FF2B5EF4-FFF2-40B4-BE49-F238E27FC236}">
                  <a16:creationId xmlns:a16="http://schemas.microsoft.com/office/drawing/2014/main" id="{620D4A58-317A-4446-9AB3-93A8D3E22D53}"/>
                </a:ext>
              </a:extLst>
            </p:cNvPr>
            <p:cNvSpPr/>
            <p:nvPr/>
          </p:nvSpPr>
          <p:spPr>
            <a:xfrm>
              <a:off x="4445013" y="4747617"/>
              <a:ext cx="284100" cy="307241"/>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866E7756-4C41-1148-AF68-B5ED47F02076}"/>
                </a:ext>
              </a:extLst>
            </p:cNvPr>
            <p:cNvSpPr/>
            <p:nvPr/>
          </p:nvSpPr>
          <p:spPr>
            <a:xfrm>
              <a:off x="5293563" y="4747617"/>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68" name="Rectangle 67">
              <a:extLst>
                <a:ext uri="{FF2B5EF4-FFF2-40B4-BE49-F238E27FC236}">
                  <a16:creationId xmlns:a16="http://schemas.microsoft.com/office/drawing/2014/main" id="{A4955D1B-3471-0E40-BF7A-418CEA12D8ED}"/>
                </a:ext>
              </a:extLst>
            </p:cNvPr>
            <p:cNvSpPr/>
            <p:nvPr/>
          </p:nvSpPr>
          <p:spPr>
            <a:xfrm>
              <a:off x="4727641" y="4747617"/>
              <a:ext cx="284100" cy="307732"/>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69" name="Rectangle 68">
              <a:extLst>
                <a:ext uri="{FF2B5EF4-FFF2-40B4-BE49-F238E27FC236}">
                  <a16:creationId xmlns:a16="http://schemas.microsoft.com/office/drawing/2014/main" id="{2F127B62-F8B4-C842-B36C-99CAD3144FA6}"/>
                </a:ext>
              </a:extLst>
            </p:cNvPr>
            <p:cNvSpPr/>
            <p:nvPr/>
          </p:nvSpPr>
          <p:spPr>
            <a:xfrm>
              <a:off x="5010268" y="4747617"/>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0" name="Rectangle 69">
              <a:extLst>
                <a:ext uri="{FF2B5EF4-FFF2-40B4-BE49-F238E27FC236}">
                  <a16:creationId xmlns:a16="http://schemas.microsoft.com/office/drawing/2014/main" id="{0403DCA4-DF56-844D-9C29-49D0991819CF}"/>
                </a:ext>
              </a:extLst>
            </p:cNvPr>
            <p:cNvSpPr/>
            <p:nvPr/>
          </p:nvSpPr>
          <p:spPr>
            <a:xfrm>
              <a:off x="5578659" y="4747985"/>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1" name="Rectangle 70">
              <a:extLst>
                <a:ext uri="{FF2B5EF4-FFF2-40B4-BE49-F238E27FC236}">
                  <a16:creationId xmlns:a16="http://schemas.microsoft.com/office/drawing/2014/main" id="{DB6738FE-7170-4848-9F18-51593794FF9F}"/>
                </a:ext>
              </a:extLst>
            </p:cNvPr>
            <p:cNvSpPr/>
            <p:nvPr/>
          </p:nvSpPr>
          <p:spPr>
            <a:xfrm>
              <a:off x="5862689" y="474798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2" name="Rectangle 71">
              <a:extLst>
                <a:ext uri="{FF2B5EF4-FFF2-40B4-BE49-F238E27FC236}">
                  <a16:creationId xmlns:a16="http://schemas.microsoft.com/office/drawing/2014/main" id="{9A70391D-F305-984C-BB29-DBBD60942EF6}"/>
                </a:ext>
              </a:extLst>
            </p:cNvPr>
            <p:cNvSpPr/>
            <p:nvPr/>
          </p:nvSpPr>
          <p:spPr>
            <a:xfrm>
              <a:off x="6146981" y="4747985"/>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73" name="Rectangle 72">
              <a:extLst>
                <a:ext uri="{FF2B5EF4-FFF2-40B4-BE49-F238E27FC236}">
                  <a16:creationId xmlns:a16="http://schemas.microsoft.com/office/drawing/2014/main" id="{F16BD652-7531-9A42-A454-E5E1CF3FF0CF}"/>
                </a:ext>
              </a:extLst>
            </p:cNvPr>
            <p:cNvSpPr/>
            <p:nvPr/>
          </p:nvSpPr>
          <p:spPr>
            <a:xfrm>
              <a:off x="6713279" y="474798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4" name="Rectangle 73">
              <a:extLst>
                <a:ext uri="{FF2B5EF4-FFF2-40B4-BE49-F238E27FC236}">
                  <a16:creationId xmlns:a16="http://schemas.microsoft.com/office/drawing/2014/main" id="{EE98EE9D-6A9A-CD43-B659-F2E6A56EAF0E}"/>
                </a:ext>
              </a:extLst>
            </p:cNvPr>
            <p:cNvSpPr/>
            <p:nvPr/>
          </p:nvSpPr>
          <p:spPr>
            <a:xfrm>
              <a:off x="6429984" y="474798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cxnSp>
          <p:nvCxnSpPr>
            <p:cNvPr id="75" name="Straight Arrow Connector 74">
              <a:extLst>
                <a:ext uri="{FF2B5EF4-FFF2-40B4-BE49-F238E27FC236}">
                  <a16:creationId xmlns:a16="http://schemas.microsoft.com/office/drawing/2014/main" id="{27B27DE8-3C05-EE41-8BE6-188CF33D6769}"/>
                </a:ext>
              </a:extLst>
            </p:cNvPr>
            <p:cNvCxnSpPr>
              <a:stCxn id="46" idx="2"/>
              <a:endCxn id="62" idx="0"/>
            </p:cNvCxnSpPr>
            <p:nvPr/>
          </p:nvCxnSpPr>
          <p:spPr>
            <a:xfrm flipH="1">
              <a:off x="3456555" y="4286172"/>
              <a:ext cx="565254" cy="46144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8548BA03-B249-6547-A4EA-7F381D3B1871}"/>
                </a:ext>
              </a:extLst>
            </p:cNvPr>
            <p:cNvCxnSpPr>
              <a:cxnSpLocks/>
              <a:stCxn id="47" idx="2"/>
              <a:endCxn id="63" idx="0"/>
            </p:cNvCxnSpPr>
            <p:nvPr/>
          </p:nvCxnSpPr>
          <p:spPr>
            <a:xfrm flipH="1">
              <a:off x="3739182" y="4286663"/>
              <a:ext cx="565254" cy="4609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B5C06A67-A774-F84A-8C78-2C0081E1ECF2}"/>
                </a:ext>
              </a:extLst>
            </p:cNvPr>
            <p:cNvCxnSpPr>
              <a:cxnSpLocks/>
              <a:stCxn id="48" idx="2"/>
              <a:endCxn id="64" idx="0"/>
            </p:cNvCxnSpPr>
            <p:nvPr/>
          </p:nvCxnSpPr>
          <p:spPr>
            <a:xfrm flipH="1">
              <a:off x="4021809" y="4286172"/>
              <a:ext cx="565254" cy="46144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6FFAE45-83AD-984D-997B-18345F73137D}"/>
                </a:ext>
              </a:extLst>
            </p:cNvPr>
            <p:cNvCxnSpPr>
              <a:cxnSpLocks/>
              <a:stCxn id="52" idx="2"/>
              <a:endCxn id="65" idx="0"/>
            </p:cNvCxnSpPr>
            <p:nvPr/>
          </p:nvCxnSpPr>
          <p:spPr>
            <a:xfrm flipH="1">
              <a:off x="4304436" y="4287031"/>
              <a:ext cx="1416273" cy="46058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ED7FC2B2-C403-084F-A08B-F53C5B216D60}"/>
                </a:ext>
              </a:extLst>
            </p:cNvPr>
            <p:cNvCxnSpPr>
              <a:cxnSpLocks/>
              <a:stCxn id="56" idx="2"/>
              <a:endCxn id="66" idx="0"/>
            </p:cNvCxnSpPr>
            <p:nvPr/>
          </p:nvCxnSpPr>
          <p:spPr>
            <a:xfrm flipH="1">
              <a:off x="4587063" y="4286540"/>
              <a:ext cx="1984971" cy="4610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E5CAE0EC-46D8-8945-AB64-400B07387E36}"/>
                </a:ext>
              </a:extLst>
            </p:cNvPr>
            <p:cNvCxnSpPr>
              <a:cxnSpLocks/>
              <a:stCxn id="55" idx="2"/>
              <a:endCxn id="68" idx="0"/>
            </p:cNvCxnSpPr>
            <p:nvPr/>
          </p:nvCxnSpPr>
          <p:spPr>
            <a:xfrm flipH="1">
              <a:off x="4869691" y="4286540"/>
              <a:ext cx="1985638" cy="46107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277D02E-0932-1D49-A34A-D7FFC7E7B1DC}"/>
                </a:ext>
              </a:extLst>
            </p:cNvPr>
            <p:cNvCxnSpPr>
              <a:cxnSpLocks/>
              <a:stCxn id="41" idx="2"/>
              <a:endCxn id="59" idx="0"/>
            </p:cNvCxnSpPr>
            <p:nvPr/>
          </p:nvCxnSpPr>
          <p:spPr>
            <a:xfrm>
              <a:off x="2604804" y="4286663"/>
              <a:ext cx="0" cy="4609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11B4A395-620C-6E49-B048-45B8D2B7252B}"/>
                </a:ext>
              </a:extLst>
            </p:cNvPr>
            <p:cNvCxnSpPr>
              <a:cxnSpLocks/>
              <a:stCxn id="42" idx="2"/>
              <a:endCxn id="60" idx="0"/>
            </p:cNvCxnSpPr>
            <p:nvPr/>
          </p:nvCxnSpPr>
          <p:spPr>
            <a:xfrm>
              <a:off x="2888904" y="4286172"/>
              <a:ext cx="0" cy="46144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84DCA495-2A56-BA45-9976-AB1FA95C9C64}"/>
                </a:ext>
              </a:extLst>
            </p:cNvPr>
            <p:cNvCxnSpPr>
              <a:cxnSpLocks/>
              <a:stCxn id="43" idx="2"/>
              <a:endCxn id="61" idx="0"/>
            </p:cNvCxnSpPr>
            <p:nvPr/>
          </p:nvCxnSpPr>
          <p:spPr>
            <a:xfrm>
              <a:off x="3171531" y="4286663"/>
              <a:ext cx="0" cy="4609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84" name="TextBox 83">
            <a:extLst>
              <a:ext uri="{FF2B5EF4-FFF2-40B4-BE49-F238E27FC236}">
                <a16:creationId xmlns:a16="http://schemas.microsoft.com/office/drawing/2014/main" id="{5A6F7AD1-1CA9-0242-8E2A-230BFAE2F5BB}"/>
              </a:ext>
            </a:extLst>
          </p:cNvPr>
          <p:cNvSpPr txBox="1"/>
          <p:nvPr/>
        </p:nvSpPr>
        <p:spPr>
          <a:xfrm>
            <a:off x="1417089" y="4539354"/>
            <a:ext cx="877163" cy="369332"/>
          </a:xfrm>
          <a:prstGeom prst="rect">
            <a:avLst/>
          </a:prstGeom>
          <a:noFill/>
        </p:spPr>
        <p:txBody>
          <a:bodyPr wrap="none" rtlCol="0">
            <a:spAutoFit/>
          </a:bodyPr>
          <a:lstStyle/>
          <a:p>
            <a:r>
              <a:rPr lang="zh-CN" altLang="en-CN" dirty="0"/>
              <a:t>新设备</a:t>
            </a:r>
            <a:endParaRPr lang="en-CN" dirty="0"/>
          </a:p>
        </p:txBody>
      </p:sp>
    </p:spTree>
    <p:extLst>
      <p:ext uri="{BB962C8B-B14F-4D97-AF65-F5344CB8AC3E}">
        <p14:creationId xmlns:p14="http://schemas.microsoft.com/office/powerpoint/2010/main" val="544925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FD53-7F8F-FF44-BD4D-945BD89FC6DC}"/>
              </a:ext>
            </a:extLst>
          </p:cNvPr>
          <p:cNvSpPr>
            <a:spLocks noGrp="1"/>
          </p:cNvSpPr>
          <p:nvPr>
            <p:ph type="title"/>
          </p:nvPr>
        </p:nvSpPr>
        <p:spPr/>
        <p:txBody>
          <a:bodyPr/>
          <a:lstStyle/>
          <a:p>
            <a:r>
              <a:rPr lang="zh-CN" altLang="en-CN" dirty="0"/>
              <a:t>空间</a:t>
            </a:r>
            <a:r>
              <a:rPr lang="zh-CN" altLang="en-US" dirty="0"/>
              <a:t>回收管理方法：</a:t>
            </a:r>
            <a:r>
              <a:rPr lang="zh-CN" altLang="en-CN" dirty="0"/>
              <a:t>段</a:t>
            </a:r>
            <a:r>
              <a:rPr lang="zh-CN" altLang="en-US" dirty="0"/>
              <a:t>（</a:t>
            </a:r>
            <a:r>
              <a:rPr lang="en-US" altLang="zh-CN" dirty="0"/>
              <a:t>Segment</a:t>
            </a:r>
            <a:r>
              <a:rPr lang="zh-CN" altLang="en-US" dirty="0"/>
              <a:t>）</a:t>
            </a:r>
            <a:endParaRPr lang="en-CN" dirty="0"/>
          </a:p>
        </p:txBody>
      </p:sp>
      <p:sp>
        <p:nvSpPr>
          <p:cNvPr id="4" name="Slide Number Placeholder 3">
            <a:extLst>
              <a:ext uri="{FF2B5EF4-FFF2-40B4-BE49-F238E27FC236}">
                <a16:creationId xmlns:a16="http://schemas.microsoft.com/office/drawing/2014/main" id="{010737B2-58A9-1047-B80D-89A0B29AB072}"/>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Footer Placeholder 4">
            <a:extLst>
              <a:ext uri="{FF2B5EF4-FFF2-40B4-BE49-F238E27FC236}">
                <a16:creationId xmlns:a16="http://schemas.microsoft.com/office/drawing/2014/main" id="{675A6F6D-8C53-6A4C-9ACA-C2FC08FB1B9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6" name="Content Placeholder 2">
            <a:extLst>
              <a:ext uri="{FF2B5EF4-FFF2-40B4-BE49-F238E27FC236}">
                <a16:creationId xmlns:a16="http://schemas.microsoft.com/office/drawing/2014/main" id="{3708E36F-7CAF-AD4C-B56D-38B9FF8ECDEA}"/>
              </a:ext>
            </a:extLst>
          </p:cNvPr>
          <p:cNvSpPr>
            <a:spLocks noGrp="1"/>
          </p:cNvSpPr>
          <p:nvPr>
            <p:ph idx="1"/>
          </p:nvPr>
        </p:nvSpPr>
        <p:spPr>
          <a:xfrm>
            <a:off x="457200" y="1333501"/>
            <a:ext cx="8229600" cy="3771636"/>
          </a:xfrm>
        </p:spPr>
        <p:txBody>
          <a:bodyPr>
            <a:normAutofit/>
          </a:bodyPr>
          <a:lstStyle/>
          <a:p>
            <a:r>
              <a:rPr lang="zh-CN" altLang="en-US" sz="2000" b="0" dirty="0"/>
              <a:t>方法</a:t>
            </a:r>
            <a:r>
              <a:rPr lang="en-US" altLang="zh-CN" sz="2000" b="0" dirty="0"/>
              <a:t>-1</a:t>
            </a:r>
            <a:r>
              <a:rPr lang="zh-CN" altLang="en-US" sz="2000" b="0" dirty="0"/>
              <a:t>：串联</a:t>
            </a:r>
            <a:endParaRPr lang="en-US" altLang="zh-CN" sz="2000" b="0" dirty="0"/>
          </a:p>
          <a:p>
            <a:pPr lvl="1"/>
            <a:r>
              <a:rPr lang="zh-CN" altLang="en-US" sz="1800" dirty="0"/>
              <a:t>磁盘空间会越来越碎，影响到</a:t>
            </a:r>
            <a:r>
              <a:rPr lang="en-US" altLang="zh-CN" sz="1800" dirty="0"/>
              <a:t>LFS</a:t>
            </a:r>
            <a:r>
              <a:rPr lang="zh-CN" altLang="en-US" sz="1800" dirty="0"/>
              <a:t>的大块顺序写的性能</a:t>
            </a:r>
            <a:endParaRPr lang="en-US" altLang="zh-CN" sz="1800" dirty="0"/>
          </a:p>
          <a:p>
            <a:r>
              <a:rPr lang="zh-CN" altLang="en-US" sz="2000" b="0" dirty="0"/>
              <a:t>方法</a:t>
            </a:r>
            <a:r>
              <a:rPr lang="en-US" altLang="zh-CN" sz="2000" b="0" dirty="0"/>
              <a:t>-2</a:t>
            </a:r>
            <a:r>
              <a:rPr lang="zh-CN" altLang="en-US" sz="2000" b="0" dirty="0"/>
              <a:t>：拷贝</a:t>
            </a:r>
            <a:endParaRPr lang="en-US" altLang="zh-CN" sz="2000" b="0" dirty="0"/>
          </a:p>
          <a:p>
            <a:pPr lvl="1"/>
            <a:r>
              <a:rPr lang="zh-CN" altLang="en-US" sz="1800" dirty="0"/>
              <a:t>数据需要拷贝</a:t>
            </a:r>
            <a:endParaRPr lang="en-US" altLang="zh-CN" sz="1800" dirty="0"/>
          </a:p>
          <a:p>
            <a:r>
              <a:rPr lang="zh-CN" altLang="en-US" sz="2000" b="0" dirty="0"/>
              <a:t>方法</a:t>
            </a:r>
            <a:r>
              <a:rPr lang="en-US" altLang="zh-CN" sz="2000" b="0" dirty="0"/>
              <a:t>-3</a:t>
            </a:r>
            <a:r>
              <a:rPr lang="zh-CN" altLang="en-US" sz="2000" b="0" dirty="0"/>
              <a:t>：串联和拷贝两种方法的结合：段</a:t>
            </a:r>
            <a:endParaRPr lang="en-US" altLang="zh-CN" sz="2000" b="0" dirty="0"/>
          </a:p>
        </p:txBody>
      </p:sp>
      <p:grpSp>
        <p:nvGrpSpPr>
          <p:cNvPr id="15" name="Group 14">
            <a:extLst>
              <a:ext uri="{FF2B5EF4-FFF2-40B4-BE49-F238E27FC236}">
                <a16:creationId xmlns:a16="http://schemas.microsoft.com/office/drawing/2014/main" id="{34FD157C-904A-5A4D-B613-F4D719565B23}"/>
              </a:ext>
            </a:extLst>
          </p:cNvPr>
          <p:cNvGrpSpPr/>
          <p:nvPr/>
        </p:nvGrpSpPr>
        <p:grpSpPr>
          <a:xfrm>
            <a:off x="896971" y="4101321"/>
            <a:ext cx="7402906" cy="828262"/>
            <a:chOff x="896971" y="4101321"/>
            <a:chExt cx="7402906" cy="828262"/>
          </a:xfrm>
        </p:grpSpPr>
        <p:sp>
          <p:nvSpPr>
            <p:cNvPr id="16" name="Rectangle 15">
              <a:extLst>
                <a:ext uri="{FF2B5EF4-FFF2-40B4-BE49-F238E27FC236}">
                  <a16:creationId xmlns:a16="http://schemas.microsoft.com/office/drawing/2014/main" id="{A3372987-FBC5-C547-88C3-D800DA8BE650}"/>
                </a:ext>
              </a:extLst>
            </p:cNvPr>
            <p:cNvSpPr/>
            <p:nvPr/>
          </p:nvSpPr>
          <p:spPr>
            <a:xfrm>
              <a:off x="896972"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Rectangle 16">
              <a:extLst>
                <a:ext uri="{FF2B5EF4-FFF2-40B4-BE49-F238E27FC236}">
                  <a16:creationId xmlns:a16="http://schemas.microsoft.com/office/drawing/2014/main" id="{D7F52919-4C84-1448-9CF2-D89C775ACD07}"/>
                </a:ext>
              </a:extLst>
            </p:cNvPr>
            <p:cNvSpPr/>
            <p:nvPr/>
          </p:nvSpPr>
          <p:spPr>
            <a:xfrm>
              <a:off x="2572578"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8" name="Rectangle 17">
              <a:extLst>
                <a:ext uri="{FF2B5EF4-FFF2-40B4-BE49-F238E27FC236}">
                  <a16:creationId xmlns:a16="http://schemas.microsoft.com/office/drawing/2014/main" id="{5DE46F4D-1718-9F4D-B5CD-02808F859AB0}"/>
                </a:ext>
              </a:extLst>
            </p:cNvPr>
            <p:cNvSpPr/>
            <p:nvPr/>
          </p:nvSpPr>
          <p:spPr>
            <a:xfrm>
              <a:off x="4248184"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19" name="Rectangle 18">
              <a:extLst>
                <a:ext uri="{FF2B5EF4-FFF2-40B4-BE49-F238E27FC236}">
                  <a16:creationId xmlns:a16="http://schemas.microsoft.com/office/drawing/2014/main" id="{44D6EF3D-7202-D743-8186-362B98A912AF}"/>
                </a:ext>
              </a:extLst>
            </p:cNvPr>
            <p:cNvSpPr/>
            <p:nvPr/>
          </p:nvSpPr>
          <p:spPr>
            <a:xfrm>
              <a:off x="5923790" y="4186819"/>
              <a:ext cx="700481" cy="389360"/>
            </a:xfrm>
            <a:prstGeom prst="rect">
              <a:avLst/>
            </a:prstGeom>
            <a:solidFill>
              <a:schemeClr val="bg1"/>
            </a:solidFill>
            <a:ln w="1270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2400" dirty="0"/>
            </a:p>
          </p:txBody>
        </p:sp>
        <p:sp>
          <p:nvSpPr>
            <p:cNvPr id="20" name="Rectangle 19">
              <a:extLst>
                <a:ext uri="{FF2B5EF4-FFF2-40B4-BE49-F238E27FC236}">
                  <a16:creationId xmlns:a16="http://schemas.microsoft.com/office/drawing/2014/main" id="{A6DEE70E-DF8A-3344-B712-1787DDD47B06}"/>
                </a:ext>
              </a:extLst>
            </p:cNvPr>
            <p:cNvSpPr/>
            <p:nvPr/>
          </p:nvSpPr>
          <p:spPr>
            <a:xfrm>
              <a:off x="6624271"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21" name="TextBox 20">
              <a:extLst>
                <a:ext uri="{FF2B5EF4-FFF2-40B4-BE49-F238E27FC236}">
                  <a16:creationId xmlns:a16="http://schemas.microsoft.com/office/drawing/2014/main" id="{9D12EAF8-5A12-534B-828A-66E9C7D1645C}"/>
                </a:ext>
              </a:extLst>
            </p:cNvPr>
            <p:cNvSpPr txBox="1"/>
            <p:nvPr/>
          </p:nvSpPr>
          <p:spPr>
            <a:xfrm>
              <a:off x="6027808" y="4101321"/>
              <a:ext cx="492443" cy="461665"/>
            </a:xfrm>
            <a:prstGeom prst="rect">
              <a:avLst/>
            </a:prstGeom>
            <a:noFill/>
          </p:spPr>
          <p:txBody>
            <a:bodyPr wrap="none" rtlCol="0">
              <a:spAutoFit/>
            </a:bodyPr>
            <a:lstStyle/>
            <a:p>
              <a:r>
                <a:rPr lang="en-US" altLang="zh-CN" sz="2400" b="1" dirty="0"/>
                <a:t>…</a:t>
              </a:r>
              <a:endParaRPr lang="en-CN" sz="2400" b="1" dirty="0"/>
            </a:p>
          </p:txBody>
        </p:sp>
        <p:sp>
          <p:nvSpPr>
            <p:cNvPr id="22" name="Right Brace 21">
              <a:extLst>
                <a:ext uri="{FF2B5EF4-FFF2-40B4-BE49-F238E27FC236}">
                  <a16:creationId xmlns:a16="http://schemas.microsoft.com/office/drawing/2014/main" id="{B4F1E94E-CDA8-F64C-834E-9B6BB5A7B259}"/>
                </a:ext>
              </a:extLst>
            </p:cNvPr>
            <p:cNvSpPr/>
            <p:nvPr/>
          </p:nvSpPr>
          <p:spPr>
            <a:xfrm rot="5400000">
              <a:off x="1589453" y="3965219"/>
              <a:ext cx="271882" cy="165684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grpSp>
      <p:sp>
        <p:nvSpPr>
          <p:cNvPr id="23" name="TextBox 22">
            <a:extLst>
              <a:ext uri="{FF2B5EF4-FFF2-40B4-BE49-F238E27FC236}">
                <a16:creationId xmlns:a16="http://schemas.microsoft.com/office/drawing/2014/main" id="{7FF594DA-2B89-4C47-B13E-9DA71339086B}"/>
              </a:ext>
            </a:extLst>
          </p:cNvPr>
          <p:cNvSpPr txBox="1"/>
          <p:nvPr/>
        </p:nvSpPr>
        <p:spPr>
          <a:xfrm>
            <a:off x="1517645" y="4922162"/>
            <a:ext cx="415498" cy="369332"/>
          </a:xfrm>
          <a:prstGeom prst="rect">
            <a:avLst/>
          </a:prstGeom>
          <a:noFill/>
        </p:spPr>
        <p:txBody>
          <a:bodyPr wrap="none" rtlCol="0">
            <a:spAutoFit/>
          </a:bodyPr>
          <a:lstStyle/>
          <a:p>
            <a:r>
              <a:rPr lang="zh-CN" altLang="en-CN" dirty="0"/>
              <a:t>段</a:t>
            </a:r>
            <a:endParaRPr lang="en-CN" dirty="0"/>
          </a:p>
        </p:txBody>
      </p:sp>
    </p:spTree>
    <p:extLst>
      <p:ext uri="{BB962C8B-B14F-4D97-AF65-F5344CB8AC3E}">
        <p14:creationId xmlns:p14="http://schemas.microsoft.com/office/powerpoint/2010/main" val="672184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FD53-7F8F-FF44-BD4D-945BD89FC6DC}"/>
              </a:ext>
            </a:extLst>
          </p:cNvPr>
          <p:cNvSpPr>
            <a:spLocks noGrp="1"/>
          </p:cNvSpPr>
          <p:nvPr>
            <p:ph type="title"/>
          </p:nvPr>
        </p:nvSpPr>
        <p:spPr/>
        <p:txBody>
          <a:bodyPr/>
          <a:lstStyle/>
          <a:p>
            <a:r>
              <a:rPr lang="zh-CN" altLang="en-CN" dirty="0"/>
              <a:t>空间</a:t>
            </a:r>
            <a:r>
              <a:rPr lang="zh-CN" altLang="en-US" dirty="0"/>
              <a:t>回收管理方法：</a:t>
            </a:r>
            <a:r>
              <a:rPr lang="zh-CN" altLang="en-CN" dirty="0"/>
              <a:t>段</a:t>
            </a:r>
            <a:r>
              <a:rPr lang="zh-CN" altLang="en-US" dirty="0"/>
              <a:t>（</a:t>
            </a:r>
            <a:r>
              <a:rPr lang="en-US" altLang="zh-CN" dirty="0"/>
              <a:t>Segment</a:t>
            </a:r>
            <a:r>
              <a:rPr lang="zh-CN" altLang="en-US" dirty="0"/>
              <a:t>）</a:t>
            </a:r>
            <a:endParaRPr lang="en-CN" dirty="0"/>
          </a:p>
        </p:txBody>
      </p:sp>
      <p:sp>
        <p:nvSpPr>
          <p:cNvPr id="4" name="Slide Number Placeholder 3">
            <a:extLst>
              <a:ext uri="{FF2B5EF4-FFF2-40B4-BE49-F238E27FC236}">
                <a16:creationId xmlns:a16="http://schemas.microsoft.com/office/drawing/2014/main" id="{010737B2-58A9-1047-B80D-89A0B29AB072}"/>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Footer Placeholder 4">
            <a:extLst>
              <a:ext uri="{FF2B5EF4-FFF2-40B4-BE49-F238E27FC236}">
                <a16:creationId xmlns:a16="http://schemas.microsoft.com/office/drawing/2014/main" id="{675A6F6D-8C53-6A4C-9ACA-C2FC08FB1B9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6" name="Content Placeholder 2">
            <a:extLst>
              <a:ext uri="{FF2B5EF4-FFF2-40B4-BE49-F238E27FC236}">
                <a16:creationId xmlns:a16="http://schemas.microsoft.com/office/drawing/2014/main" id="{3708E36F-7CAF-AD4C-B56D-38B9FF8ECDEA}"/>
              </a:ext>
            </a:extLst>
          </p:cNvPr>
          <p:cNvSpPr>
            <a:spLocks noGrp="1"/>
          </p:cNvSpPr>
          <p:nvPr>
            <p:ph idx="1"/>
          </p:nvPr>
        </p:nvSpPr>
        <p:spPr>
          <a:xfrm>
            <a:off x="457200" y="1333501"/>
            <a:ext cx="8229600" cy="3771636"/>
          </a:xfrm>
        </p:spPr>
        <p:txBody>
          <a:bodyPr>
            <a:normAutofit/>
          </a:bodyPr>
          <a:lstStyle/>
          <a:p>
            <a:r>
              <a:rPr lang="zh-CN" altLang="en-US" sz="2000" b="0" dirty="0"/>
              <a:t>一个存储设备被拆分为定长的区域，称为“段”</a:t>
            </a:r>
            <a:endParaRPr lang="en-US" altLang="zh-CN" sz="2000" b="0" dirty="0"/>
          </a:p>
          <a:p>
            <a:pPr lvl="1"/>
            <a:r>
              <a:rPr lang="zh-CN" altLang="en-US" sz="1800" dirty="0"/>
              <a:t>段的大小需要足以发挥出顺序写的优势，</a:t>
            </a:r>
            <a:r>
              <a:rPr lang="en-US" altLang="zh-CN" sz="1800" dirty="0"/>
              <a:t>512KB</a:t>
            </a:r>
            <a:r>
              <a:rPr lang="zh-CN" altLang="en-US" sz="1800" dirty="0"/>
              <a:t>、</a:t>
            </a:r>
            <a:r>
              <a:rPr lang="en-US" altLang="zh-CN" sz="1800" dirty="0"/>
              <a:t>1MB</a:t>
            </a:r>
            <a:r>
              <a:rPr lang="zh-CN" altLang="en-US" sz="1800" dirty="0"/>
              <a:t>等</a:t>
            </a:r>
            <a:endParaRPr lang="en-US" altLang="zh-CN" sz="1800" dirty="0"/>
          </a:p>
          <a:p>
            <a:r>
              <a:rPr lang="zh-CN" altLang="en-US" sz="2000" b="0" dirty="0"/>
              <a:t>每段内只能顺序写入</a:t>
            </a:r>
            <a:endParaRPr lang="en-US" altLang="zh-CN" sz="2000" b="0" dirty="0"/>
          </a:p>
          <a:p>
            <a:pPr lvl="1"/>
            <a:r>
              <a:rPr lang="zh-CN" altLang="en-US" sz="1800" dirty="0"/>
              <a:t>只有当段内全都是无效数据之后，才能被重新使用</a:t>
            </a:r>
            <a:endParaRPr lang="en-US" altLang="zh-CN" sz="1800" dirty="0"/>
          </a:p>
          <a:p>
            <a:r>
              <a:rPr lang="zh-CN" altLang="en-US" sz="2000" b="0" dirty="0"/>
              <a:t>干净段用链表维护（对应串联方法）</a:t>
            </a:r>
            <a:endParaRPr lang="en-US" altLang="zh-CN" sz="2000" b="0" dirty="0"/>
          </a:p>
        </p:txBody>
      </p:sp>
      <p:grpSp>
        <p:nvGrpSpPr>
          <p:cNvPr id="15" name="Group 14">
            <a:extLst>
              <a:ext uri="{FF2B5EF4-FFF2-40B4-BE49-F238E27FC236}">
                <a16:creationId xmlns:a16="http://schemas.microsoft.com/office/drawing/2014/main" id="{862DEBF9-40F3-5D4D-895B-48EC572C394A}"/>
              </a:ext>
            </a:extLst>
          </p:cNvPr>
          <p:cNvGrpSpPr/>
          <p:nvPr/>
        </p:nvGrpSpPr>
        <p:grpSpPr>
          <a:xfrm>
            <a:off x="896971" y="4101321"/>
            <a:ext cx="7402906" cy="828262"/>
            <a:chOff x="896971" y="4101321"/>
            <a:chExt cx="7402906" cy="828262"/>
          </a:xfrm>
        </p:grpSpPr>
        <p:sp>
          <p:nvSpPr>
            <p:cNvPr id="16" name="Rectangle 15">
              <a:extLst>
                <a:ext uri="{FF2B5EF4-FFF2-40B4-BE49-F238E27FC236}">
                  <a16:creationId xmlns:a16="http://schemas.microsoft.com/office/drawing/2014/main" id="{3F11FF6C-676B-474D-BB3D-7F7AFCBFDBCB}"/>
                </a:ext>
              </a:extLst>
            </p:cNvPr>
            <p:cNvSpPr/>
            <p:nvPr/>
          </p:nvSpPr>
          <p:spPr>
            <a:xfrm>
              <a:off x="896972"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Rectangle 16">
              <a:extLst>
                <a:ext uri="{FF2B5EF4-FFF2-40B4-BE49-F238E27FC236}">
                  <a16:creationId xmlns:a16="http://schemas.microsoft.com/office/drawing/2014/main" id="{19C95FBF-6C50-D44C-88EF-55021740E82A}"/>
                </a:ext>
              </a:extLst>
            </p:cNvPr>
            <p:cNvSpPr/>
            <p:nvPr/>
          </p:nvSpPr>
          <p:spPr>
            <a:xfrm>
              <a:off x="2572578"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8" name="Rectangle 17">
              <a:extLst>
                <a:ext uri="{FF2B5EF4-FFF2-40B4-BE49-F238E27FC236}">
                  <a16:creationId xmlns:a16="http://schemas.microsoft.com/office/drawing/2014/main" id="{B389DC30-1AB5-BA4F-8F90-280F11BE6191}"/>
                </a:ext>
              </a:extLst>
            </p:cNvPr>
            <p:cNvSpPr/>
            <p:nvPr/>
          </p:nvSpPr>
          <p:spPr>
            <a:xfrm>
              <a:off x="4248184"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19" name="Rectangle 18">
              <a:extLst>
                <a:ext uri="{FF2B5EF4-FFF2-40B4-BE49-F238E27FC236}">
                  <a16:creationId xmlns:a16="http://schemas.microsoft.com/office/drawing/2014/main" id="{1F0ABD19-B61F-364C-8299-74407340C26B}"/>
                </a:ext>
              </a:extLst>
            </p:cNvPr>
            <p:cNvSpPr/>
            <p:nvPr/>
          </p:nvSpPr>
          <p:spPr>
            <a:xfrm>
              <a:off x="5923790" y="4186819"/>
              <a:ext cx="700481" cy="389360"/>
            </a:xfrm>
            <a:prstGeom prst="rect">
              <a:avLst/>
            </a:prstGeom>
            <a:solidFill>
              <a:schemeClr val="bg1"/>
            </a:solidFill>
            <a:ln w="1270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2400" dirty="0"/>
            </a:p>
          </p:txBody>
        </p:sp>
        <p:sp>
          <p:nvSpPr>
            <p:cNvPr id="20" name="Rectangle 19">
              <a:extLst>
                <a:ext uri="{FF2B5EF4-FFF2-40B4-BE49-F238E27FC236}">
                  <a16:creationId xmlns:a16="http://schemas.microsoft.com/office/drawing/2014/main" id="{7CDD69D3-74D6-3247-9337-20D2457C988D}"/>
                </a:ext>
              </a:extLst>
            </p:cNvPr>
            <p:cNvSpPr/>
            <p:nvPr/>
          </p:nvSpPr>
          <p:spPr>
            <a:xfrm>
              <a:off x="6624271"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21" name="TextBox 20">
              <a:extLst>
                <a:ext uri="{FF2B5EF4-FFF2-40B4-BE49-F238E27FC236}">
                  <a16:creationId xmlns:a16="http://schemas.microsoft.com/office/drawing/2014/main" id="{ACD124FB-75FC-FC40-A62E-63C37194A995}"/>
                </a:ext>
              </a:extLst>
            </p:cNvPr>
            <p:cNvSpPr txBox="1"/>
            <p:nvPr/>
          </p:nvSpPr>
          <p:spPr>
            <a:xfrm>
              <a:off x="6027808" y="4101321"/>
              <a:ext cx="492443" cy="461665"/>
            </a:xfrm>
            <a:prstGeom prst="rect">
              <a:avLst/>
            </a:prstGeom>
            <a:noFill/>
          </p:spPr>
          <p:txBody>
            <a:bodyPr wrap="none" rtlCol="0">
              <a:spAutoFit/>
            </a:bodyPr>
            <a:lstStyle/>
            <a:p>
              <a:r>
                <a:rPr lang="en-US" altLang="zh-CN" sz="2400" b="1" dirty="0"/>
                <a:t>…</a:t>
              </a:r>
              <a:endParaRPr lang="en-CN" sz="2400" b="1" dirty="0"/>
            </a:p>
          </p:txBody>
        </p:sp>
        <p:sp>
          <p:nvSpPr>
            <p:cNvPr id="22" name="Right Brace 21">
              <a:extLst>
                <a:ext uri="{FF2B5EF4-FFF2-40B4-BE49-F238E27FC236}">
                  <a16:creationId xmlns:a16="http://schemas.microsoft.com/office/drawing/2014/main" id="{750CA192-1E21-EF43-AA5C-4E27B76AA374}"/>
                </a:ext>
              </a:extLst>
            </p:cNvPr>
            <p:cNvSpPr/>
            <p:nvPr/>
          </p:nvSpPr>
          <p:spPr>
            <a:xfrm rot="5400000">
              <a:off x="1589453" y="3965219"/>
              <a:ext cx="271882" cy="165684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grpSp>
      <p:sp>
        <p:nvSpPr>
          <p:cNvPr id="26" name="TextBox 25">
            <a:extLst>
              <a:ext uri="{FF2B5EF4-FFF2-40B4-BE49-F238E27FC236}">
                <a16:creationId xmlns:a16="http://schemas.microsoft.com/office/drawing/2014/main" id="{7C4AEB8B-9F97-FE45-853C-3E240F979325}"/>
              </a:ext>
            </a:extLst>
          </p:cNvPr>
          <p:cNvSpPr txBox="1"/>
          <p:nvPr/>
        </p:nvSpPr>
        <p:spPr>
          <a:xfrm>
            <a:off x="1517645" y="4922162"/>
            <a:ext cx="415498" cy="369332"/>
          </a:xfrm>
          <a:prstGeom prst="rect">
            <a:avLst/>
          </a:prstGeom>
          <a:noFill/>
        </p:spPr>
        <p:txBody>
          <a:bodyPr wrap="none" rtlCol="0">
            <a:spAutoFit/>
          </a:bodyPr>
          <a:lstStyle/>
          <a:p>
            <a:r>
              <a:rPr lang="zh-CN" altLang="en-CN" dirty="0"/>
              <a:t>段</a:t>
            </a:r>
            <a:endParaRPr lang="en-CN" dirty="0"/>
          </a:p>
        </p:txBody>
      </p:sp>
    </p:spTree>
    <p:extLst>
      <p:ext uri="{BB962C8B-B14F-4D97-AF65-F5344CB8AC3E}">
        <p14:creationId xmlns:p14="http://schemas.microsoft.com/office/powerpoint/2010/main" val="320182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FD53-7F8F-FF44-BD4D-945BD89FC6DC}"/>
              </a:ext>
            </a:extLst>
          </p:cNvPr>
          <p:cNvSpPr>
            <a:spLocks noGrp="1"/>
          </p:cNvSpPr>
          <p:nvPr>
            <p:ph type="title"/>
          </p:nvPr>
        </p:nvSpPr>
        <p:spPr/>
        <p:txBody>
          <a:bodyPr/>
          <a:lstStyle/>
          <a:p>
            <a:r>
              <a:rPr lang="zh-CN" altLang="en-CN" dirty="0"/>
              <a:t>段</a:t>
            </a:r>
            <a:r>
              <a:rPr lang="zh-CN" altLang="en-US" dirty="0"/>
              <a:t>使用表</a:t>
            </a:r>
            <a:endParaRPr lang="en-CN" dirty="0"/>
          </a:p>
        </p:txBody>
      </p:sp>
      <p:sp>
        <p:nvSpPr>
          <p:cNvPr id="4" name="Slide Number Placeholder 3">
            <a:extLst>
              <a:ext uri="{FF2B5EF4-FFF2-40B4-BE49-F238E27FC236}">
                <a16:creationId xmlns:a16="http://schemas.microsoft.com/office/drawing/2014/main" id="{010737B2-58A9-1047-B80D-89A0B29AB072}"/>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
        <p:nvSpPr>
          <p:cNvPr id="5" name="Footer Placeholder 4">
            <a:extLst>
              <a:ext uri="{FF2B5EF4-FFF2-40B4-BE49-F238E27FC236}">
                <a16:creationId xmlns:a16="http://schemas.microsoft.com/office/drawing/2014/main" id="{675A6F6D-8C53-6A4C-9ACA-C2FC08FB1B9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6" name="Content Placeholder 2">
            <a:extLst>
              <a:ext uri="{FF2B5EF4-FFF2-40B4-BE49-F238E27FC236}">
                <a16:creationId xmlns:a16="http://schemas.microsoft.com/office/drawing/2014/main" id="{3708E36F-7CAF-AD4C-B56D-38B9FF8ECDEA}"/>
              </a:ext>
            </a:extLst>
          </p:cNvPr>
          <p:cNvSpPr>
            <a:spLocks noGrp="1"/>
          </p:cNvSpPr>
          <p:nvPr>
            <p:ph idx="1"/>
          </p:nvPr>
        </p:nvSpPr>
        <p:spPr>
          <a:xfrm>
            <a:off x="457200" y="1333501"/>
            <a:ext cx="8229600" cy="3771636"/>
          </a:xfrm>
        </p:spPr>
        <p:txBody>
          <a:bodyPr>
            <a:normAutofit/>
          </a:bodyPr>
          <a:lstStyle/>
          <a:p>
            <a:r>
              <a:rPr lang="zh-CN" altLang="en-US" sz="2000" b="0" dirty="0"/>
              <a:t>段使用表</a:t>
            </a:r>
            <a:endParaRPr lang="en-US" altLang="zh-CN" sz="2000" b="0" dirty="0"/>
          </a:p>
          <a:p>
            <a:pPr lvl="1"/>
            <a:r>
              <a:rPr lang="zh-CN" altLang="en-CN" sz="1800" dirty="0"/>
              <a:t>记录</a:t>
            </a:r>
            <a:r>
              <a:rPr lang="zh-CN" altLang="en-US" sz="1800" dirty="0"/>
              <a:t>每个段中有效字节数</a:t>
            </a:r>
            <a:endParaRPr lang="en-US" altLang="zh-CN" sz="1800" dirty="0"/>
          </a:p>
          <a:p>
            <a:pPr lvl="2"/>
            <a:r>
              <a:rPr lang="zh-CN" altLang="en-CN" sz="1800" dirty="0"/>
              <a:t>归零</a:t>
            </a:r>
            <a:r>
              <a:rPr lang="zh-CN" altLang="en-US" sz="1800" dirty="0"/>
              <a:t>时变为干净段</a:t>
            </a:r>
            <a:endParaRPr lang="en-US" altLang="zh-CN" sz="1800" dirty="0"/>
          </a:p>
          <a:p>
            <a:pPr lvl="1"/>
            <a:r>
              <a:rPr lang="zh-CN" altLang="en-US" sz="1800" dirty="0"/>
              <a:t>记录了每个段最近写入时间</a:t>
            </a:r>
            <a:endParaRPr lang="en-US" altLang="zh-CN" sz="1800" dirty="0"/>
          </a:p>
          <a:p>
            <a:pPr lvl="2"/>
            <a:r>
              <a:rPr lang="zh-CN" altLang="en-US" sz="1800" dirty="0"/>
              <a:t>将非干净段按时间顺序连在一起，</a:t>
            </a:r>
            <a:r>
              <a:rPr lang="zh-CN" altLang="en-US" sz="1800" dirty="0">
                <a:solidFill>
                  <a:schemeClr val="accent1"/>
                </a:solidFill>
              </a:rPr>
              <a:t>形成逻辑上的连续空间</a:t>
            </a:r>
            <a:endParaRPr lang="en-US" altLang="zh-CN" sz="1800" dirty="0">
              <a:solidFill>
                <a:schemeClr val="accent1"/>
              </a:solidFill>
            </a:endParaRPr>
          </a:p>
        </p:txBody>
      </p:sp>
      <p:sp>
        <p:nvSpPr>
          <p:cNvPr id="22" name="TextBox 21">
            <a:extLst>
              <a:ext uri="{FF2B5EF4-FFF2-40B4-BE49-F238E27FC236}">
                <a16:creationId xmlns:a16="http://schemas.microsoft.com/office/drawing/2014/main" id="{1B143F06-E072-B74C-96FB-611EDF4F02DC}"/>
              </a:ext>
            </a:extLst>
          </p:cNvPr>
          <p:cNvSpPr txBox="1"/>
          <p:nvPr/>
        </p:nvSpPr>
        <p:spPr>
          <a:xfrm>
            <a:off x="1517645" y="4922162"/>
            <a:ext cx="415498" cy="369332"/>
          </a:xfrm>
          <a:prstGeom prst="rect">
            <a:avLst/>
          </a:prstGeom>
          <a:noFill/>
        </p:spPr>
        <p:txBody>
          <a:bodyPr wrap="none" rtlCol="0">
            <a:spAutoFit/>
          </a:bodyPr>
          <a:lstStyle/>
          <a:p>
            <a:r>
              <a:rPr lang="zh-CN" altLang="en-CN" dirty="0"/>
              <a:t>段</a:t>
            </a:r>
            <a:endParaRPr lang="en-CN" dirty="0"/>
          </a:p>
        </p:txBody>
      </p:sp>
      <p:grpSp>
        <p:nvGrpSpPr>
          <p:cNvPr id="11" name="Group 10">
            <a:extLst>
              <a:ext uri="{FF2B5EF4-FFF2-40B4-BE49-F238E27FC236}">
                <a16:creationId xmlns:a16="http://schemas.microsoft.com/office/drawing/2014/main" id="{F1FD7279-8CED-A044-9B22-4ABFCC33A114}"/>
              </a:ext>
            </a:extLst>
          </p:cNvPr>
          <p:cNvGrpSpPr/>
          <p:nvPr/>
        </p:nvGrpSpPr>
        <p:grpSpPr>
          <a:xfrm>
            <a:off x="896971" y="4101321"/>
            <a:ext cx="7402906" cy="828262"/>
            <a:chOff x="896971" y="4101321"/>
            <a:chExt cx="7402906" cy="828262"/>
          </a:xfrm>
        </p:grpSpPr>
        <p:sp>
          <p:nvSpPr>
            <p:cNvPr id="15" name="Rectangle 14">
              <a:extLst>
                <a:ext uri="{FF2B5EF4-FFF2-40B4-BE49-F238E27FC236}">
                  <a16:creationId xmlns:a16="http://schemas.microsoft.com/office/drawing/2014/main" id="{D8642FDD-1F65-D747-BC1F-3E5BD1DB9D14}"/>
                </a:ext>
              </a:extLst>
            </p:cNvPr>
            <p:cNvSpPr/>
            <p:nvPr/>
          </p:nvSpPr>
          <p:spPr>
            <a:xfrm>
              <a:off x="896972"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6" name="Rectangle 15">
              <a:extLst>
                <a:ext uri="{FF2B5EF4-FFF2-40B4-BE49-F238E27FC236}">
                  <a16:creationId xmlns:a16="http://schemas.microsoft.com/office/drawing/2014/main" id="{38AEAD64-E9B0-5E44-9AF1-8C1EC1F4105F}"/>
                </a:ext>
              </a:extLst>
            </p:cNvPr>
            <p:cNvSpPr/>
            <p:nvPr/>
          </p:nvSpPr>
          <p:spPr>
            <a:xfrm>
              <a:off x="2572578"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Rectangle 16">
              <a:extLst>
                <a:ext uri="{FF2B5EF4-FFF2-40B4-BE49-F238E27FC236}">
                  <a16:creationId xmlns:a16="http://schemas.microsoft.com/office/drawing/2014/main" id="{7D5A91DD-3A0A-D04E-BC6A-3CA8BC48FC09}"/>
                </a:ext>
              </a:extLst>
            </p:cNvPr>
            <p:cNvSpPr/>
            <p:nvPr/>
          </p:nvSpPr>
          <p:spPr>
            <a:xfrm>
              <a:off x="4248184"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1050" dirty="0"/>
                <a:t>日志</a:t>
              </a:r>
              <a:r>
                <a:rPr lang="zh-CN" altLang="en-US" sz="1050" dirty="0"/>
                <a:t>末尾所在段</a:t>
              </a:r>
              <a:endParaRPr lang="en-CN" sz="1050" dirty="0"/>
            </a:p>
          </p:txBody>
        </p:sp>
        <p:sp>
          <p:nvSpPr>
            <p:cNvPr id="18" name="Rectangle 17">
              <a:extLst>
                <a:ext uri="{FF2B5EF4-FFF2-40B4-BE49-F238E27FC236}">
                  <a16:creationId xmlns:a16="http://schemas.microsoft.com/office/drawing/2014/main" id="{72822E33-B0EC-3A44-820D-ADF52613B298}"/>
                </a:ext>
              </a:extLst>
            </p:cNvPr>
            <p:cNvSpPr/>
            <p:nvPr/>
          </p:nvSpPr>
          <p:spPr>
            <a:xfrm>
              <a:off x="5923790" y="4186819"/>
              <a:ext cx="700481" cy="389360"/>
            </a:xfrm>
            <a:prstGeom prst="rect">
              <a:avLst/>
            </a:prstGeom>
            <a:solidFill>
              <a:schemeClr val="bg1"/>
            </a:solidFill>
            <a:ln w="1270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2400" dirty="0"/>
            </a:p>
          </p:txBody>
        </p:sp>
        <p:sp>
          <p:nvSpPr>
            <p:cNvPr id="19" name="Rectangle 18">
              <a:extLst>
                <a:ext uri="{FF2B5EF4-FFF2-40B4-BE49-F238E27FC236}">
                  <a16:creationId xmlns:a16="http://schemas.microsoft.com/office/drawing/2014/main" id="{78ED6EA9-A9FA-0841-A8A7-8D11BB46E971}"/>
                </a:ext>
              </a:extLst>
            </p:cNvPr>
            <p:cNvSpPr/>
            <p:nvPr/>
          </p:nvSpPr>
          <p:spPr>
            <a:xfrm>
              <a:off x="6624271" y="4186819"/>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20" name="TextBox 19">
              <a:extLst>
                <a:ext uri="{FF2B5EF4-FFF2-40B4-BE49-F238E27FC236}">
                  <a16:creationId xmlns:a16="http://schemas.microsoft.com/office/drawing/2014/main" id="{B0126262-5CE8-BF47-A756-615628A6F3D8}"/>
                </a:ext>
              </a:extLst>
            </p:cNvPr>
            <p:cNvSpPr txBox="1"/>
            <p:nvPr/>
          </p:nvSpPr>
          <p:spPr>
            <a:xfrm>
              <a:off x="6027808" y="4101321"/>
              <a:ext cx="492443" cy="461665"/>
            </a:xfrm>
            <a:prstGeom prst="rect">
              <a:avLst/>
            </a:prstGeom>
            <a:noFill/>
          </p:spPr>
          <p:txBody>
            <a:bodyPr wrap="none" rtlCol="0">
              <a:spAutoFit/>
            </a:bodyPr>
            <a:lstStyle/>
            <a:p>
              <a:r>
                <a:rPr lang="en-US" altLang="zh-CN" sz="2400" b="1" dirty="0"/>
                <a:t>…</a:t>
              </a:r>
              <a:endParaRPr lang="en-CN" sz="2400" b="1" dirty="0"/>
            </a:p>
          </p:txBody>
        </p:sp>
        <p:sp>
          <p:nvSpPr>
            <p:cNvPr id="21" name="Right Brace 20">
              <a:extLst>
                <a:ext uri="{FF2B5EF4-FFF2-40B4-BE49-F238E27FC236}">
                  <a16:creationId xmlns:a16="http://schemas.microsoft.com/office/drawing/2014/main" id="{177FD8AC-E1C6-6043-9398-D2C0D27ED906}"/>
                </a:ext>
              </a:extLst>
            </p:cNvPr>
            <p:cNvSpPr/>
            <p:nvPr/>
          </p:nvSpPr>
          <p:spPr>
            <a:xfrm rot="5400000">
              <a:off x="1589453" y="3965219"/>
              <a:ext cx="271882" cy="165684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cxnSp>
          <p:nvCxnSpPr>
            <p:cNvPr id="6" name="Curved Connector 5">
              <a:extLst>
                <a:ext uri="{FF2B5EF4-FFF2-40B4-BE49-F238E27FC236}">
                  <a16:creationId xmlns:a16="http://schemas.microsoft.com/office/drawing/2014/main" id="{15C7BBE6-C0B1-4549-84AE-9451F05DE64A}"/>
                </a:ext>
              </a:extLst>
            </p:cNvPr>
            <p:cNvCxnSpPr>
              <a:stCxn id="15" idx="0"/>
              <a:endCxn id="16" idx="0"/>
            </p:cNvCxnSpPr>
            <p:nvPr/>
          </p:nvCxnSpPr>
          <p:spPr>
            <a:xfrm rot="5400000" flipH="1" flipV="1">
              <a:off x="2572578" y="3349016"/>
              <a:ext cx="12700" cy="1675606"/>
            </a:xfrm>
            <a:prstGeom prst="curvedConnector3">
              <a:avLst>
                <a:gd name="adj1" fmla="val 1800000"/>
              </a:avLst>
            </a:prstGeom>
            <a:ln w="12700">
              <a:prstDash val="dash"/>
              <a:tailEnd type="triangle"/>
            </a:ln>
          </p:spPr>
          <p:style>
            <a:lnRef idx="1">
              <a:schemeClr val="dk1"/>
            </a:lnRef>
            <a:fillRef idx="0">
              <a:schemeClr val="dk1"/>
            </a:fillRef>
            <a:effectRef idx="0">
              <a:schemeClr val="dk1"/>
            </a:effectRef>
            <a:fontRef idx="minor">
              <a:schemeClr val="tx1"/>
            </a:fontRef>
          </p:style>
        </p:cxnSp>
        <p:cxnSp>
          <p:nvCxnSpPr>
            <p:cNvPr id="25" name="Curved Connector 24">
              <a:extLst>
                <a:ext uri="{FF2B5EF4-FFF2-40B4-BE49-F238E27FC236}">
                  <a16:creationId xmlns:a16="http://schemas.microsoft.com/office/drawing/2014/main" id="{55F5B9A5-7C0E-1748-AA8D-B5604797B6DE}"/>
                </a:ext>
              </a:extLst>
            </p:cNvPr>
            <p:cNvCxnSpPr>
              <a:cxnSpLocks/>
              <a:stCxn id="16" idx="2"/>
              <a:endCxn id="19" idx="2"/>
            </p:cNvCxnSpPr>
            <p:nvPr/>
          </p:nvCxnSpPr>
          <p:spPr>
            <a:xfrm rot="16200000" flipH="1">
              <a:off x="5436227" y="2550332"/>
              <a:ext cx="12700" cy="4051693"/>
            </a:xfrm>
            <a:prstGeom prst="curvedConnector3">
              <a:avLst>
                <a:gd name="adj1" fmla="val 1800000"/>
              </a:avLst>
            </a:prstGeom>
            <a:ln w="12700">
              <a:prstDash val="dash"/>
              <a:tailEnd type="triangle"/>
            </a:ln>
          </p:spPr>
          <p:style>
            <a:lnRef idx="1">
              <a:schemeClr val="dk1"/>
            </a:lnRef>
            <a:fillRef idx="0">
              <a:schemeClr val="dk1"/>
            </a:fillRef>
            <a:effectRef idx="0">
              <a:schemeClr val="dk1"/>
            </a:effectRef>
            <a:fontRef idx="minor">
              <a:schemeClr val="tx1"/>
            </a:fontRef>
          </p:style>
        </p:cxnSp>
        <p:cxnSp>
          <p:nvCxnSpPr>
            <p:cNvPr id="28" name="Curved Connector 27">
              <a:extLst>
                <a:ext uri="{FF2B5EF4-FFF2-40B4-BE49-F238E27FC236}">
                  <a16:creationId xmlns:a16="http://schemas.microsoft.com/office/drawing/2014/main" id="{A09E695A-23DA-9044-ACBF-7408B90884D5}"/>
                </a:ext>
              </a:extLst>
            </p:cNvPr>
            <p:cNvCxnSpPr>
              <a:cxnSpLocks/>
              <a:stCxn id="19" idx="0"/>
              <a:endCxn id="17" idx="0"/>
            </p:cNvCxnSpPr>
            <p:nvPr/>
          </p:nvCxnSpPr>
          <p:spPr>
            <a:xfrm rot="16200000" flipV="1">
              <a:off x="6274031" y="2998775"/>
              <a:ext cx="12700" cy="2376087"/>
            </a:xfrm>
            <a:prstGeom prst="curvedConnector3">
              <a:avLst>
                <a:gd name="adj1" fmla="val 1800000"/>
              </a:avLst>
            </a:prstGeom>
            <a:ln w="12700">
              <a:prstDash val="dash"/>
              <a:tailEnd type="triangle"/>
            </a:ln>
          </p:spPr>
          <p:style>
            <a:lnRef idx="1">
              <a:schemeClr val="dk1"/>
            </a:lnRef>
            <a:fillRef idx="0">
              <a:schemeClr val="dk1"/>
            </a:fillRef>
            <a:effectRef idx="0">
              <a:schemeClr val="dk1"/>
            </a:effectRef>
            <a:fontRef idx="minor">
              <a:schemeClr val="tx1"/>
            </a:fontRef>
          </p:style>
        </p:cxnSp>
      </p:grpSp>
      <p:sp>
        <p:nvSpPr>
          <p:cNvPr id="12" name="TextBox 11">
            <a:extLst>
              <a:ext uri="{FF2B5EF4-FFF2-40B4-BE49-F238E27FC236}">
                <a16:creationId xmlns:a16="http://schemas.microsoft.com/office/drawing/2014/main" id="{95DDCF24-EFFA-C54F-AF68-1B45A8488711}"/>
              </a:ext>
            </a:extLst>
          </p:cNvPr>
          <p:cNvSpPr txBox="1"/>
          <p:nvPr/>
        </p:nvSpPr>
        <p:spPr>
          <a:xfrm>
            <a:off x="1950222" y="3711964"/>
            <a:ext cx="1468672" cy="276999"/>
          </a:xfrm>
          <a:prstGeom prst="rect">
            <a:avLst/>
          </a:prstGeom>
          <a:noFill/>
        </p:spPr>
        <p:txBody>
          <a:bodyPr wrap="none" rtlCol="0">
            <a:spAutoFit/>
          </a:bodyPr>
          <a:lstStyle/>
          <a:p>
            <a:r>
              <a:rPr lang="zh-CN" altLang="en-US" sz="1200" dirty="0"/>
              <a:t>最后写入</a:t>
            </a:r>
            <a:r>
              <a:rPr lang="zh-CN" altLang="en-CN" sz="1200" dirty="0"/>
              <a:t>时间</a:t>
            </a:r>
            <a:r>
              <a:rPr lang="zh-CN" altLang="en-US" sz="1200" dirty="0"/>
              <a:t>顺序</a:t>
            </a:r>
            <a:endParaRPr lang="en-CN" sz="1200" dirty="0"/>
          </a:p>
        </p:txBody>
      </p:sp>
    </p:spTree>
    <p:extLst>
      <p:ext uri="{BB962C8B-B14F-4D97-AF65-F5344CB8AC3E}">
        <p14:creationId xmlns:p14="http://schemas.microsoft.com/office/powerpoint/2010/main" val="284007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1" name="Rectangle 60">
            <a:extLst>
              <a:ext uri="{FF2B5EF4-FFF2-40B4-BE49-F238E27FC236}">
                <a16:creationId xmlns:a16="http://schemas.microsoft.com/office/drawing/2014/main" id="{3604724D-560C-2F4C-B592-9DE35C6F2ADF}"/>
              </a:ext>
            </a:extLst>
          </p:cNvPr>
          <p:cNvSpPr/>
          <p:nvPr/>
        </p:nvSpPr>
        <p:spPr>
          <a:xfrm>
            <a:off x="1237848" y="340424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3D74F643-85A9-FF46-9092-15C9D4D14A0A}"/>
              </a:ext>
            </a:extLst>
          </p:cNvPr>
          <p:cNvSpPr/>
          <p:nvPr/>
        </p:nvSpPr>
        <p:spPr>
          <a:xfrm>
            <a:off x="1913518"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4" name="Rectangle 63">
            <a:extLst>
              <a:ext uri="{FF2B5EF4-FFF2-40B4-BE49-F238E27FC236}">
                <a16:creationId xmlns:a16="http://schemas.microsoft.com/office/drawing/2014/main" id="{3E349DA4-8D22-8549-B247-D6CF3C51FD00}"/>
              </a:ext>
            </a:extLst>
          </p:cNvPr>
          <p:cNvSpPr/>
          <p:nvPr/>
        </p:nvSpPr>
        <p:spPr>
          <a:xfrm>
            <a:off x="3847791"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5" name="Rectangle 64">
            <a:extLst>
              <a:ext uri="{FF2B5EF4-FFF2-40B4-BE49-F238E27FC236}">
                <a16:creationId xmlns:a16="http://schemas.microsoft.com/office/drawing/2014/main" id="{0FC00B58-6CF8-524B-BDA4-9C40B3008E1C}"/>
              </a:ext>
            </a:extLst>
          </p:cNvPr>
          <p:cNvSpPr/>
          <p:nvPr/>
        </p:nvSpPr>
        <p:spPr>
          <a:xfrm>
            <a:off x="45484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6" name="Rectangle 65">
            <a:extLst>
              <a:ext uri="{FF2B5EF4-FFF2-40B4-BE49-F238E27FC236}">
                <a16:creationId xmlns:a16="http://schemas.microsoft.com/office/drawing/2014/main" id="{A94981B0-EF59-0A4D-9908-7D853AD7EF2F}"/>
              </a:ext>
            </a:extLst>
          </p:cNvPr>
          <p:cNvSpPr/>
          <p:nvPr/>
        </p:nvSpPr>
        <p:spPr>
          <a:xfrm>
            <a:off x="495077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595A33E2-ED20-3040-8EC9-79A562BB0DC1}"/>
              </a:ext>
            </a:extLst>
          </p:cNvPr>
          <p:cNvSpPr/>
          <p:nvPr/>
        </p:nvSpPr>
        <p:spPr>
          <a:xfrm>
            <a:off x="5646830"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8" name="Rectangle 67">
            <a:extLst>
              <a:ext uri="{FF2B5EF4-FFF2-40B4-BE49-F238E27FC236}">
                <a16:creationId xmlns:a16="http://schemas.microsoft.com/office/drawing/2014/main" id="{DCE95D57-ED27-1745-BCCB-7E5E2CB6F06B}"/>
              </a:ext>
            </a:extLst>
          </p:cNvPr>
          <p:cNvSpPr/>
          <p:nvPr/>
        </p:nvSpPr>
        <p:spPr>
          <a:xfrm>
            <a:off x="66292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9" name="Rectangle 68">
            <a:extLst>
              <a:ext uri="{FF2B5EF4-FFF2-40B4-BE49-F238E27FC236}">
                <a16:creationId xmlns:a16="http://schemas.microsoft.com/office/drawing/2014/main" id="{80A4B5A5-AB4E-1A4B-9323-0BAE7FC64EDE}"/>
              </a:ext>
            </a:extLst>
          </p:cNvPr>
          <p:cNvSpPr/>
          <p:nvPr/>
        </p:nvSpPr>
        <p:spPr>
          <a:xfrm>
            <a:off x="6199526"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0" name="Rectangle 69">
            <a:extLst>
              <a:ext uri="{FF2B5EF4-FFF2-40B4-BE49-F238E27FC236}">
                <a16:creationId xmlns:a16="http://schemas.microsoft.com/office/drawing/2014/main" id="{CD83DEFF-342D-B043-AE8A-59A802779196}"/>
              </a:ext>
            </a:extLst>
          </p:cNvPr>
          <p:cNvSpPr/>
          <p:nvPr/>
        </p:nvSpPr>
        <p:spPr>
          <a:xfrm>
            <a:off x="7123347"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8" name="Rectangle 37">
            <a:extLst>
              <a:ext uri="{FF2B5EF4-FFF2-40B4-BE49-F238E27FC236}">
                <a16:creationId xmlns:a16="http://schemas.microsoft.com/office/drawing/2014/main" id="{8290AD89-7DFA-074E-89D5-1AF26181DAF3}"/>
              </a:ext>
            </a:extLst>
          </p:cNvPr>
          <p:cNvSpPr/>
          <p:nvPr/>
        </p:nvSpPr>
        <p:spPr>
          <a:xfrm>
            <a:off x="1118226" y="3404242"/>
            <a:ext cx="1675606" cy="389360"/>
          </a:xfrm>
          <a:prstGeom prst="rect">
            <a:avLst/>
          </a:prstGeom>
          <a:solidFill>
            <a:schemeClr val="bg1">
              <a:lumMod val="85000"/>
              <a:alpha val="93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9" name="Rectangle 38">
            <a:extLst>
              <a:ext uri="{FF2B5EF4-FFF2-40B4-BE49-F238E27FC236}">
                <a16:creationId xmlns:a16="http://schemas.microsoft.com/office/drawing/2014/main" id="{E4F17CE2-917C-374B-804A-7D8C3F5D64C4}"/>
              </a:ext>
            </a:extLst>
          </p:cNvPr>
          <p:cNvSpPr/>
          <p:nvPr/>
        </p:nvSpPr>
        <p:spPr>
          <a:xfrm>
            <a:off x="3635739" y="3404242"/>
            <a:ext cx="1675606" cy="389360"/>
          </a:xfrm>
          <a:prstGeom prst="rect">
            <a:avLst/>
          </a:prstGeom>
          <a:solidFill>
            <a:schemeClr val="bg1">
              <a:lumMod val="85000"/>
              <a:alpha val="93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40" name="Rectangle 39">
            <a:extLst>
              <a:ext uri="{FF2B5EF4-FFF2-40B4-BE49-F238E27FC236}">
                <a16:creationId xmlns:a16="http://schemas.microsoft.com/office/drawing/2014/main" id="{EBD1B1AA-DD89-5E4D-92D2-9B6F6CD7D329}"/>
              </a:ext>
            </a:extLst>
          </p:cNvPr>
          <p:cNvSpPr/>
          <p:nvPr/>
        </p:nvSpPr>
        <p:spPr>
          <a:xfrm>
            <a:off x="5645823" y="3404241"/>
            <a:ext cx="1675606" cy="389360"/>
          </a:xfrm>
          <a:prstGeom prst="rect">
            <a:avLst/>
          </a:prstGeom>
          <a:solidFill>
            <a:schemeClr val="bg1">
              <a:lumMod val="85000"/>
              <a:alpha val="93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Tree>
    <p:extLst>
      <p:ext uri="{BB962C8B-B14F-4D97-AF65-F5344CB8AC3E}">
        <p14:creationId xmlns:p14="http://schemas.microsoft.com/office/powerpoint/2010/main" val="4195634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0" indent="0">
              <a:buNone/>
            </a:pP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1" name="Rectangle 60">
            <a:extLst>
              <a:ext uri="{FF2B5EF4-FFF2-40B4-BE49-F238E27FC236}">
                <a16:creationId xmlns:a16="http://schemas.microsoft.com/office/drawing/2014/main" id="{3604724D-560C-2F4C-B592-9DE35C6F2ADF}"/>
              </a:ext>
            </a:extLst>
          </p:cNvPr>
          <p:cNvSpPr/>
          <p:nvPr/>
        </p:nvSpPr>
        <p:spPr>
          <a:xfrm>
            <a:off x="1237848" y="340424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3D74F643-85A9-FF46-9092-15C9D4D14A0A}"/>
              </a:ext>
            </a:extLst>
          </p:cNvPr>
          <p:cNvSpPr/>
          <p:nvPr/>
        </p:nvSpPr>
        <p:spPr>
          <a:xfrm>
            <a:off x="1913518"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4" name="Rectangle 63">
            <a:extLst>
              <a:ext uri="{FF2B5EF4-FFF2-40B4-BE49-F238E27FC236}">
                <a16:creationId xmlns:a16="http://schemas.microsoft.com/office/drawing/2014/main" id="{3E349DA4-8D22-8549-B247-D6CF3C51FD00}"/>
              </a:ext>
            </a:extLst>
          </p:cNvPr>
          <p:cNvSpPr/>
          <p:nvPr/>
        </p:nvSpPr>
        <p:spPr>
          <a:xfrm>
            <a:off x="3847791"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5" name="Rectangle 64">
            <a:extLst>
              <a:ext uri="{FF2B5EF4-FFF2-40B4-BE49-F238E27FC236}">
                <a16:creationId xmlns:a16="http://schemas.microsoft.com/office/drawing/2014/main" id="{0FC00B58-6CF8-524B-BDA4-9C40B3008E1C}"/>
              </a:ext>
            </a:extLst>
          </p:cNvPr>
          <p:cNvSpPr/>
          <p:nvPr/>
        </p:nvSpPr>
        <p:spPr>
          <a:xfrm>
            <a:off x="45484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6" name="Rectangle 65">
            <a:extLst>
              <a:ext uri="{FF2B5EF4-FFF2-40B4-BE49-F238E27FC236}">
                <a16:creationId xmlns:a16="http://schemas.microsoft.com/office/drawing/2014/main" id="{A94981B0-EF59-0A4D-9908-7D853AD7EF2F}"/>
              </a:ext>
            </a:extLst>
          </p:cNvPr>
          <p:cNvSpPr/>
          <p:nvPr/>
        </p:nvSpPr>
        <p:spPr>
          <a:xfrm>
            <a:off x="495077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595A33E2-ED20-3040-8EC9-79A562BB0DC1}"/>
              </a:ext>
            </a:extLst>
          </p:cNvPr>
          <p:cNvSpPr/>
          <p:nvPr/>
        </p:nvSpPr>
        <p:spPr>
          <a:xfrm>
            <a:off x="5646830"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8" name="Rectangle 67">
            <a:extLst>
              <a:ext uri="{FF2B5EF4-FFF2-40B4-BE49-F238E27FC236}">
                <a16:creationId xmlns:a16="http://schemas.microsoft.com/office/drawing/2014/main" id="{DCE95D57-ED27-1745-BCCB-7E5E2CB6F06B}"/>
              </a:ext>
            </a:extLst>
          </p:cNvPr>
          <p:cNvSpPr/>
          <p:nvPr/>
        </p:nvSpPr>
        <p:spPr>
          <a:xfrm>
            <a:off x="66292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9" name="Rectangle 68">
            <a:extLst>
              <a:ext uri="{FF2B5EF4-FFF2-40B4-BE49-F238E27FC236}">
                <a16:creationId xmlns:a16="http://schemas.microsoft.com/office/drawing/2014/main" id="{80A4B5A5-AB4E-1A4B-9323-0BAE7FC64EDE}"/>
              </a:ext>
            </a:extLst>
          </p:cNvPr>
          <p:cNvSpPr/>
          <p:nvPr/>
        </p:nvSpPr>
        <p:spPr>
          <a:xfrm>
            <a:off x="6199526"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0" name="Rectangle 69">
            <a:extLst>
              <a:ext uri="{FF2B5EF4-FFF2-40B4-BE49-F238E27FC236}">
                <a16:creationId xmlns:a16="http://schemas.microsoft.com/office/drawing/2014/main" id="{CD83DEFF-342D-B043-AE8A-59A802779196}"/>
              </a:ext>
            </a:extLst>
          </p:cNvPr>
          <p:cNvSpPr/>
          <p:nvPr/>
        </p:nvSpPr>
        <p:spPr>
          <a:xfrm>
            <a:off x="7123347"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 name="TextBox 5">
            <a:extLst>
              <a:ext uri="{FF2B5EF4-FFF2-40B4-BE49-F238E27FC236}">
                <a16:creationId xmlns:a16="http://schemas.microsoft.com/office/drawing/2014/main" id="{ED340EF6-2C0F-5B4E-A578-9F091D06C3A0}"/>
              </a:ext>
            </a:extLst>
          </p:cNvPr>
          <p:cNvSpPr txBox="1"/>
          <p:nvPr/>
        </p:nvSpPr>
        <p:spPr>
          <a:xfrm>
            <a:off x="6800528" y="2476513"/>
            <a:ext cx="902811" cy="307777"/>
          </a:xfrm>
          <a:prstGeom prst="rect">
            <a:avLst/>
          </a:prstGeom>
          <a:noFill/>
        </p:spPr>
        <p:txBody>
          <a:bodyPr wrap="none" rtlCol="0">
            <a:spAutoFit/>
          </a:bodyPr>
          <a:lstStyle/>
          <a:p>
            <a:r>
              <a:rPr lang="zh-CN" altLang="en-CN" sz="1400" dirty="0"/>
              <a:t>有效数据</a:t>
            </a:r>
            <a:endParaRPr lang="en-CN" sz="1400" dirty="0"/>
          </a:p>
        </p:txBody>
      </p:sp>
      <p:cxnSp>
        <p:nvCxnSpPr>
          <p:cNvPr id="8" name="Straight Arrow Connector 7">
            <a:extLst>
              <a:ext uri="{FF2B5EF4-FFF2-40B4-BE49-F238E27FC236}">
                <a16:creationId xmlns:a16="http://schemas.microsoft.com/office/drawing/2014/main" id="{0761A1B4-31ED-2E40-936A-A53CE6764952}"/>
              </a:ext>
            </a:extLst>
          </p:cNvPr>
          <p:cNvCxnSpPr>
            <a:stCxn id="6" idx="2"/>
            <a:endCxn id="68" idx="0"/>
          </p:cNvCxnSpPr>
          <p:nvPr/>
        </p:nvCxnSpPr>
        <p:spPr>
          <a:xfrm flipH="1">
            <a:off x="6771303" y="2784290"/>
            <a:ext cx="480631" cy="619953"/>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740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457200" indent="-457200">
              <a:buFont typeface="+mj-lt"/>
              <a:buAutoNum type="arabicPeriod"/>
            </a:pPr>
            <a:r>
              <a:rPr lang="zh-CN" altLang="en-US" sz="1800" b="0" dirty="0"/>
              <a:t>将有效数据整理后写入到干净段中（对应拷贝方法）</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1" name="Rectangle 60">
            <a:extLst>
              <a:ext uri="{FF2B5EF4-FFF2-40B4-BE49-F238E27FC236}">
                <a16:creationId xmlns:a16="http://schemas.microsoft.com/office/drawing/2014/main" id="{3604724D-560C-2F4C-B592-9DE35C6F2ADF}"/>
              </a:ext>
            </a:extLst>
          </p:cNvPr>
          <p:cNvSpPr/>
          <p:nvPr/>
        </p:nvSpPr>
        <p:spPr>
          <a:xfrm>
            <a:off x="1237848" y="340424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3" name="Rectangle 62">
            <a:extLst>
              <a:ext uri="{FF2B5EF4-FFF2-40B4-BE49-F238E27FC236}">
                <a16:creationId xmlns:a16="http://schemas.microsoft.com/office/drawing/2014/main" id="{3D74F643-85A9-FF46-9092-15C9D4D14A0A}"/>
              </a:ext>
            </a:extLst>
          </p:cNvPr>
          <p:cNvSpPr/>
          <p:nvPr/>
        </p:nvSpPr>
        <p:spPr>
          <a:xfrm>
            <a:off x="1913518"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4" name="Rectangle 63">
            <a:extLst>
              <a:ext uri="{FF2B5EF4-FFF2-40B4-BE49-F238E27FC236}">
                <a16:creationId xmlns:a16="http://schemas.microsoft.com/office/drawing/2014/main" id="{3E349DA4-8D22-8549-B247-D6CF3C51FD00}"/>
              </a:ext>
            </a:extLst>
          </p:cNvPr>
          <p:cNvSpPr/>
          <p:nvPr/>
        </p:nvSpPr>
        <p:spPr>
          <a:xfrm>
            <a:off x="3847791" y="3404243"/>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5" name="Rectangle 64">
            <a:extLst>
              <a:ext uri="{FF2B5EF4-FFF2-40B4-BE49-F238E27FC236}">
                <a16:creationId xmlns:a16="http://schemas.microsoft.com/office/drawing/2014/main" id="{0FC00B58-6CF8-524B-BDA4-9C40B3008E1C}"/>
              </a:ext>
            </a:extLst>
          </p:cNvPr>
          <p:cNvSpPr/>
          <p:nvPr/>
        </p:nvSpPr>
        <p:spPr>
          <a:xfrm>
            <a:off x="45484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6" name="Rectangle 65">
            <a:extLst>
              <a:ext uri="{FF2B5EF4-FFF2-40B4-BE49-F238E27FC236}">
                <a16:creationId xmlns:a16="http://schemas.microsoft.com/office/drawing/2014/main" id="{A94981B0-EF59-0A4D-9908-7D853AD7EF2F}"/>
              </a:ext>
            </a:extLst>
          </p:cNvPr>
          <p:cNvSpPr/>
          <p:nvPr/>
        </p:nvSpPr>
        <p:spPr>
          <a:xfrm>
            <a:off x="495077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7" name="Rectangle 66">
            <a:extLst>
              <a:ext uri="{FF2B5EF4-FFF2-40B4-BE49-F238E27FC236}">
                <a16:creationId xmlns:a16="http://schemas.microsoft.com/office/drawing/2014/main" id="{595A33E2-ED20-3040-8EC9-79A562BB0DC1}"/>
              </a:ext>
            </a:extLst>
          </p:cNvPr>
          <p:cNvSpPr/>
          <p:nvPr/>
        </p:nvSpPr>
        <p:spPr>
          <a:xfrm>
            <a:off x="5646830"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8" name="Rectangle 67">
            <a:extLst>
              <a:ext uri="{FF2B5EF4-FFF2-40B4-BE49-F238E27FC236}">
                <a16:creationId xmlns:a16="http://schemas.microsoft.com/office/drawing/2014/main" id="{DCE95D57-ED27-1745-BCCB-7E5E2CB6F06B}"/>
              </a:ext>
            </a:extLst>
          </p:cNvPr>
          <p:cNvSpPr/>
          <p:nvPr/>
        </p:nvSpPr>
        <p:spPr>
          <a:xfrm>
            <a:off x="6629252" y="3404243"/>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69" name="Rectangle 68">
            <a:extLst>
              <a:ext uri="{FF2B5EF4-FFF2-40B4-BE49-F238E27FC236}">
                <a16:creationId xmlns:a16="http://schemas.microsoft.com/office/drawing/2014/main" id="{80A4B5A5-AB4E-1A4B-9323-0BAE7FC64EDE}"/>
              </a:ext>
            </a:extLst>
          </p:cNvPr>
          <p:cNvSpPr/>
          <p:nvPr/>
        </p:nvSpPr>
        <p:spPr>
          <a:xfrm>
            <a:off x="6199526"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0" name="Rectangle 69">
            <a:extLst>
              <a:ext uri="{FF2B5EF4-FFF2-40B4-BE49-F238E27FC236}">
                <a16:creationId xmlns:a16="http://schemas.microsoft.com/office/drawing/2014/main" id="{CD83DEFF-342D-B043-AE8A-59A802779196}"/>
              </a:ext>
            </a:extLst>
          </p:cNvPr>
          <p:cNvSpPr/>
          <p:nvPr/>
        </p:nvSpPr>
        <p:spPr>
          <a:xfrm>
            <a:off x="7123347" y="340424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cxnSp>
        <p:nvCxnSpPr>
          <p:cNvPr id="71" name="Straight Arrow Connector 70">
            <a:extLst>
              <a:ext uri="{FF2B5EF4-FFF2-40B4-BE49-F238E27FC236}">
                <a16:creationId xmlns:a16="http://schemas.microsoft.com/office/drawing/2014/main" id="{8FC9030B-377E-9645-B203-6958246DFC71}"/>
              </a:ext>
            </a:extLst>
          </p:cNvPr>
          <p:cNvCxnSpPr>
            <a:cxnSpLocks/>
            <a:stCxn id="61" idx="2"/>
            <a:endCxn id="73" idx="0"/>
          </p:cNvCxnSpPr>
          <p:nvPr/>
        </p:nvCxnSpPr>
        <p:spPr>
          <a:xfrm>
            <a:off x="1379898" y="3793602"/>
            <a:ext cx="1086177" cy="8581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1E43EDD1-A9A7-614F-9EFE-B1160D3CC18E}"/>
              </a:ext>
            </a:extLst>
          </p:cNvPr>
          <p:cNvSpPr/>
          <p:nvPr/>
        </p:nvSpPr>
        <p:spPr>
          <a:xfrm>
            <a:off x="2321921" y="4651755"/>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3" name="Rectangle 72">
            <a:extLst>
              <a:ext uri="{FF2B5EF4-FFF2-40B4-BE49-F238E27FC236}">
                <a16:creationId xmlns:a16="http://schemas.microsoft.com/office/drawing/2014/main" id="{9D291F20-0E1B-4B40-84B5-93F9857B9016}"/>
              </a:ext>
            </a:extLst>
          </p:cNvPr>
          <p:cNvSpPr/>
          <p:nvPr/>
        </p:nvSpPr>
        <p:spPr>
          <a:xfrm>
            <a:off x="2324025" y="465175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4" name="Rectangle 73">
            <a:extLst>
              <a:ext uri="{FF2B5EF4-FFF2-40B4-BE49-F238E27FC236}">
                <a16:creationId xmlns:a16="http://schemas.microsoft.com/office/drawing/2014/main" id="{4D02FC83-4F5B-D74C-8967-139BA075090F}"/>
              </a:ext>
            </a:extLst>
          </p:cNvPr>
          <p:cNvSpPr/>
          <p:nvPr/>
        </p:nvSpPr>
        <p:spPr>
          <a:xfrm>
            <a:off x="2607166"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5" name="Rectangle 74">
            <a:extLst>
              <a:ext uri="{FF2B5EF4-FFF2-40B4-BE49-F238E27FC236}">
                <a16:creationId xmlns:a16="http://schemas.microsoft.com/office/drawing/2014/main" id="{6C795482-7547-9444-BD82-F6A543B53AA5}"/>
              </a:ext>
            </a:extLst>
          </p:cNvPr>
          <p:cNvSpPr/>
          <p:nvPr/>
        </p:nvSpPr>
        <p:spPr>
          <a:xfrm>
            <a:off x="3156567"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6" name="Rectangle 75">
            <a:extLst>
              <a:ext uri="{FF2B5EF4-FFF2-40B4-BE49-F238E27FC236}">
                <a16:creationId xmlns:a16="http://schemas.microsoft.com/office/drawing/2014/main" id="{71288A48-D39C-C94A-8023-F29E6CF9A2E1}"/>
              </a:ext>
            </a:extLst>
          </p:cNvPr>
          <p:cNvSpPr/>
          <p:nvPr/>
        </p:nvSpPr>
        <p:spPr>
          <a:xfrm>
            <a:off x="4264546" y="4650526"/>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7" name="Rectangle 76">
            <a:extLst>
              <a:ext uri="{FF2B5EF4-FFF2-40B4-BE49-F238E27FC236}">
                <a16:creationId xmlns:a16="http://schemas.microsoft.com/office/drawing/2014/main" id="{CA810592-36FE-4A49-981E-36DE066E88EB}"/>
              </a:ext>
            </a:extLst>
          </p:cNvPr>
          <p:cNvSpPr/>
          <p:nvPr/>
        </p:nvSpPr>
        <p:spPr>
          <a:xfrm>
            <a:off x="3705032" y="465052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8" name="Rectangle 77">
            <a:extLst>
              <a:ext uri="{FF2B5EF4-FFF2-40B4-BE49-F238E27FC236}">
                <a16:creationId xmlns:a16="http://schemas.microsoft.com/office/drawing/2014/main" id="{D052D2B2-A630-3E4F-B3D6-1AD6BE78222A}"/>
              </a:ext>
            </a:extLst>
          </p:cNvPr>
          <p:cNvSpPr/>
          <p:nvPr/>
        </p:nvSpPr>
        <p:spPr>
          <a:xfrm>
            <a:off x="4263772" y="4649298"/>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9" name="Rectangle 78">
            <a:extLst>
              <a:ext uri="{FF2B5EF4-FFF2-40B4-BE49-F238E27FC236}">
                <a16:creationId xmlns:a16="http://schemas.microsoft.com/office/drawing/2014/main" id="{EED8C14F-3831-3B4F-A06E-0C87D8966E1F}"/>
              </a:ext>
            </a:extLst>
          </p:cNvPr>
          <p:cNvSpPr/>
          <p:nvPr/>
        </p:nvSpPr>
        <p:spPr>
          <a:xfrm>
            <a:off x="4547307" y="464929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0" name="Rectangle 79">
            <a:extLst>
              <a:ext uri="{FF2B5EF4-FFF2-40B4-BE49-F238E27FC236}">
                <a16:creationId xmlns:a16="http://schemas.microsoft.com/office/drawing/2014/main" id="{498D9899-F014-DC48-AFD3-6F7873F6D0CB}"/>
              </a:ext>
            </a:extLst>
          </p:cNvPr>
          <p:cNvSpPr/>
          <p:nvPr/>
        </p:nvSpPr>
        <p:spPr>
          <a:xfrm>
            <a:off x="4830634" y="4649296"/>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1" name="Rectangle 80">
            <a:extLst>
              <a:ext uri="{FF2B5EF4-FFF2-40B4-BE49-F238E27FC236}">
                <a16:creationId xmlns:a16="http://schemas.microsoft.com/office/drawing/2014/main" id="{B5E76540-479D-2B4C-AB6A-EBB2112EC564}"/>
              </a:ext>
            </a:extLst>
          </p:cNvPr>
          <p:cNvSpPr/>
          <p:nvPr/>
        </p:nvSpPr>
        <p:spPr>
          <a:xfrm>
            <a:off x="4971910" y="4649295"/>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2" name="Rectangle 81">
            <a:extLst>
              <a:ext uri="{FF2B5EF4-FFF2-40B4-BE49-F238E27FC236}">
                <a16:creationId xmlns:a16="http://schemas.microsoft.com/office/drawing/2014/main" id="{2F89ADF0-03AB-4247-8D9D-C3F356316B2F}"/>
              </a:ext>
            </a:extLst>
          </p:cNvPr>
          <p:cNvSpPr/>
          <p:nvPr/>
        </p:nvSpPr>
        <p:spPr>
          <a:xfrm>
            <a:off x="5254157" y="464806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cxnSp>
        <p:nvCxnSpPr>
          <p:cNvPr id="83" name="Straight Arrow Connector 82">
            <a:extLst>
              <a:ext uri="{FF2B5EF4-FFF2-40B4-BE49-F238E27FC236}">
                <a16:creationId xmlns:a16="http://schemas.microsoft.com/office/drawing/2014/main" id="{CCAB2C31-6F1E-2F4A-BD7C-0E2F71B803DB}"/>
              </a:ext>
            </a:extLst>
          </p:cNvPr>
          <p:cNvCxnSpPr>
            <a:cxnSpLocks/>
            <a:stCxn id="69" idx="2"/>
            <a:endCxn id="80" idx="0"/>
          </p:cNvCxnSpPr>
          <p:nvPr/>
        </p:nvCxnSpPr>
        <p:spPr>
          <a:xfrm flipH="1">
            <a:off x="4901812" y="3793602"/>
            <a:ext cx="1368892" cy="85569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C6A87D88-E4FE-CE4D-A2E8-846405544032}"/>
              </a:ext>
            </a:extLst>
          </p:cNvPr>
          <p:cNvCxnSpPr>
            <a:cxnSpLocks/>
            <a:stCxn id="68" idx="2"/>
            <a:endCxn id="81" idx="0"/>
          </p:cNvCxnSpPr>
          <p:nvPr/>
        </p:nvCxnSpPr>
        <p:spPr>
          <a:xfrm flipH="1">
            <a:off x="5113961" y="3793602"/>
            <a:ext cx="1657342" cy="85569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AC043AC4-3FCC-524B-9674-98725FF7F45C}"/>
              </a:ext>
            </a:extLst>
          </p:cNvPr>
          <p:cNvCxnSpPr>
            <a:cxnSpLocks/>
            <a:stCxn id="70" idx="2"/>
            <a:endCxn id="82" idx="0"/>
          </p:cNvCxnSpPr>
          <p:nvPr/>
        </p:nvCxnSpPr>
        <p:spPr>
          <a:xfrm flipH="1">
            <a:off x="5325335" y="3793602"/>
            <a:ext cx="1869190" cy="85446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CAE1A37E-93A3-194B-9215-533E3AA8E37D}"/>
              </a:ext>
            </a:extLst>
          </p:cNvPr>
          <p:cNvCxnSpPr>
            <a:cxnSpLocks/>
            <a:stCxn id="63" idx="2"/>
            <a:endCxn id="74" idx="0"/>
          </p:cNvCxnSpPr>
          <p:nvPr/>
        </p:nvCxnSpPr>
        <p:spPr>
          <a:xfrm>
            <a:off x="2187751" y="3793602"/>
            <a:ext cx="693648" cy="856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5125AFD-B7E5-E245-8E49-46C8C01F1CA4}"/>
              </a:ext>
            </a:extLst>
          </p:cNvPr>
          <p:cNvCxnSpPr>
            <a:cxnSpLocks/>
            <a:stCxn id="64" idx="2"/>
            <a:endCxn id="75" idx="0"/>
          </p:cNvCxnSpPr>
          <p:nvPr/>
        </p:nvCxnSpPr>
        <p:spPr>
          <a:xfrm flipH="1">
            <a:off x="3430800" y="3793602"/>
            <a:ext cx="691224" cy="856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6121DAF1-26C3-DA43-89B7-54237546B5E9}"/>
              </a:ext>
            </a:extLst>
          </p:cNvPr>
          <p:cNvCxnSpPr>
            <a:cxnSpLocks/>
            <a:stCxn id="65" idx="2"/>
            <a:endCxn id="77" idx="0"/>
          </p:cNvCxnSpPr>
          <p:nvPr/>
        </p:nvCxnSpPr>
        <p:spPr>
          <a:xfrm flipH="1">
            <a:off x="3847083" y="3793602"/>
            <a:ext cx="843420" cy="856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48B80591-F9F8-BF45-8050-E5114958E524}"/>
              </a:ext>
            </a:extLst>
          </p:cNvPr>
          <p:cNvCxnSpPr>
            <a:cxnSpLocks/>
            <a:stCxn id="66" idx="2"/>
            <a:endCxn id="78" idx="0"/>
          </p:cNvCxnSpPr>
          <p:nvPr/>
        </p:nvCxnSpPr>
        <p:spPr>
          <a:xfrm flipH="1">
            <a:off x="4405823" y="3793602"/>
            <a:ext cx="687000" cy="85569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03AB8B1A-5A04-EB43-A8C7-5136CD86F005}"/>
              </a:ext>
            </a:extLst>
          </p:cNvPr>
          <p:cNvCxnSpPr>
            <a:cxnSpLocks/>
            <a:stCxn id="67" idx="2"/>
            <a:endCxn id="79" idx="0"/>
          </p:cNvCxnSpPr>
          <p:nvPr/>
        </p:nvCxnSpPr>
        <p:spPr>
          <a:xfrm flipH="1">
            <a:off x="4689358" y="3793602"/>
            <a:ext cx="1099523" cy="8556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882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457200" indent="-457200">
              <a:buFont typeface="+mj-lt"/>
              <a:buAutoNum type="arabicPeriod"/>
            </a:pPr>
            <a:r>
              <a:rPr lang="zh-CN" altLang="en-US" sz="1800" b="0" dirty="0"/>
              <a:t>将有效数据整理后写入到干净段中（对应拷贝方法）</a:t>
            </a:r>
            <a:endParaRPr lang="en-US" altLang="zh-CN" sz="1800" b="0" dirty="0"/>
          </a:p>
          <a:p>
            <a:pPr marL="457200" indent="-457200">
              <a:buFont typeface="+mj-lt"/>
              <a:buAutoNum type="arabicPeriod"/>
            </a:pPr>
            <a:r>
              <a:rPr lang="zh-CN" altLang="en-US" sz="1800" b="0" dirty="0"/>
              <a:t>标记被清理的段为干净</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2" name="Rectangle 71">
            <a:extLst>
              <a:ext uri="{FF2B5EF4-FFF2-40B4-BE49-F238E27FC236}">
                <a16:creationId xmlns:a16="http://schemas.microsoft.com/office/drawing/2014/main" id="{1E43EDD1-A9A7-614F-9EFE-B1160D3CC18E}"/>
              </a:ext>
            </a:extLst>
          </p:cNvPr>
          <p:cNvSpPr/>
          <p:nvPr/>
        </p:nvSpPr>
        <p:spPr>
          <a:xfrm>
            <a:off x="2321921" y="4651755"/>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3" name="Rectangle 72">
            <a:extLst>
              <a:ext uri="{FF2B5EF4-FFF2-40B4-BE49-F238E27FC236}">
                <a16:creationId xmlns:a16="http://schemas.microsoft.com/office/drawing/2014/main" id="{9D291F20-0E1B-4B40-84B5-93F9857B9016}"/>
              </a:ext>
            </a:extLst>
          </p:cNvPr>
          <p:cNvSpPr/>
          <p:nvPr/>
        </p:nvSpPr>
        <p:spPr>
          <a:xfrm>
            <a:off x="2324025" y="465175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4" name="Rectangle 73">
            <a:extLst>
              <a:ext uri="{FF2B5EF4-FFF2-40B4-BE49-F238E27FC236}">
                <a16:creationId xmlns:a16="http://schemas.microsoft.com/office/drawing/2014/main" id="{4D02FC83-4F5B-D74C-8967-139BA075090F}"/>
              </a:ext>
            </a:extLst>
          </p:cNvPr>
          <p:cNvSpPr/>
          <p:nvPr/>
        </p:nvSpPr>
        <p:spPr>
          <a:xfrm>
            <a:off x="2607166"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5" name="Rectangle 74">
            <a:extLst>
              <a:ext uri="{FF2B5EF4-FFF2-40B4-BE49-F238E27FC236}">
                <a16:creationId xmlns:a16="http://schemas.microsoft.com/office/drawing/2014/main" id="{6C795482-7547-9444-BD82-F6A543B53AA5}"/>
              </a:ext>
            </a:extLst>
          </p:cNvPr>
          <p:cNvSpPr/>
          <p:nvPr/>
        </p:nvSpPr>
        <p:spPr>
          <a:xfrm>
            <a:off x="3156567"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6" name="Rectangle 75">
            <a:extLst>
              <a:ext uri="{FF2B5EF4-FFF2-40B4-BE49-F238E27FC236}">
                <a16:creationId xmlns:a16="http://schemas.microsoft.com/office/drawing/2014/main" id="{71288A48-D39C-C94A-8023-F29E6CF9A2E1}"/>
              </a:ext>
            </a:extLst>
          </p:cNvPr>
          <p:cNvSpPr/>
          <p:nvPr/>
        </p:nvSpPr>
        <p:spPr>
          <a:xfrm>
            <a:off x="4264546" y="4650526"/>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7" name="Rectangle 76">
            <a:extLst>
              <a:ext uri="{FF2B5EF4-FFF2-40B4-BE49-F238E27FC236}">
                <a16:creationId xmlns:a16="http://schemas.microsoft.com/office/drawing/2014/main" id="{CA810592-36FE-4A49-981E-36DE066E88EB}"/>
              </a:ext>
            </a:extLst>
          </p:cNvPr>
          <p:cNvSpPr/>
          <p:nvPr/>
        </p:nvSpPr>
        <p:spPr>
          <a:xfrm>
            <a:off x="3705032" y="465052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8" name="Rectangle 77">
            <a:extLst>
              <a:ext uri="{FF2B5EF4-FFF2-40B4-BE49-F238E27FC236}">
                <a16:creationId xmlns:a16="http://schemas.microsoft.com/office/drawing/2014/main" id="{D052D2B2-A630-3E4F-B3D6-1AD6BE78222A}"/>
              </a:ext>
            </a:extLst>
          </p:cNvPr>
          <p:cNvSpPr/>
          <p:nvPr/>
        </p:nvSpPr>
        <p:spPr>
          <a:xfrm>
            <a:off x="4263772" y="4649298"/>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9" name="Rectangle 78">
            <a:extLst>
              <a:ext uri="{FF2B5EF4-FFF2-40B4-BE49-F238E27FC236}">
                <a16:creationId xmlns:a16="http://schemas.microsoft.com/office/drawing/2014/main" id="{EED8C14F-3831-3B4F-A06E-0C87D8966E1F}"/>
              </a:ext>
            </a:extLst>
          </p:cNvPr>
          <p:cNvSpPr/>
          <p:nvPr/>
        </p:nvSpPr>
        <p:spPr>
          <a:xfrm>
            <a:off x="4547307" y="464929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0" name="Rectangle 79">
            <a:extLst>
              <a:ext uri="{FF2B5EF4-FFF2-40B4-BE49-F238E27FC236}">
                <a16:creationId xmlns:a16="http://schemas.microsoft.com/office/drawing/2014/main" id="{498D9899-F014-DC48-AFD3-6F7873F6D0CB}"/>
              </a:ext>
            </a:extLst>
          </p:cNvPr>
          <p:cNvSpPr/>
          <p:nvPr/>
        </p:nvSpPr>
        <p:spPr>
          <a:xfrm>
            <a:off x="4830634" y="4649296"/>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1" name="Rectangle 80">
            <a:extLst>
              <a:ext uri="{FF2B5EF4-FFF2-40B4-BE49-F238E27FC236}">
                <a16:creationId xmlns:a16="http://schemas.microsoft.com/office/drawing/2014/main" id="{B5E76540-479D-2B4C-AB6A-EBB2112EC564}"/>
              </a:ext>
            </a:extLst>
          </p:cNvPr>
          <p:cNvSpPr/>
          <p:nvPr/>
        </p:nvSpPr>
        <p:spPr>
          <a:xfrm>
            <a:off x="4971910" y="4649295"/>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2" name="Rectangle 81">
            <a:extLst>
              <a:ext uri="{FF2B5EF4-FFF2-40B4-BE49-F238E27FC236}">
                <a16:creationId xmlns:a16="http://schemas.microsoft.com/office/drawing/2014/main" id="{2F89ADF0-03AB-4247-8D9D-C3F356316B2F}"/>
              </a:ext>
            </a:extLst>
          </p:cNvPr>
          <p:cNvSpPr/>
          <p:nvPr/>
        </p:nvSpPr>
        <p:spPr>
          <a:xfrm>
            <a:off x="5254157" y="464806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8" name="TextBox 37">
            <a:extLst>
              <a:ext uri="{FF2B5EF4-FFF2-40B4-BE49-F238E27FC236}">
                <a16:creationId xmlns:a16="http://schemas.microsoft.com/office/drawing/2014/main" id="{03674DA5-EDE5-5240-B548-609CF3BEEB88}"/>
              </a:ext>
            </a:extLst>
          </p:cNvPr>
          <p:cNvSpPr txBox="1"/>
          <p:nvPr/>
        </p:nvSpPr>
        <p:spPr>
          <a:xfrm>
            <a:off x="281919" y="4196833"/>
            <a:ext cx="1338828" cy="369332"/>
          </a:xfrm>
          <a:prstGeom prst="rect">
            <a:avLst/>
          </a:prstGeom>
          <a:noFill/>
        </p:spPr>
        <p:txBody>
          <a:bodyPr wrap="none" rtlCol="0">
            <a:spAutoFit/>
          </a:bodyPr>
          <a:lstStyle/>
          <a:p>
            <a:r>
              <a:rPr lang="zh-CN" altLang="en-US" dirty="0"/>
              <a:t>干净段链表</a:t>
            </a:r>
            <a:endParaRPr lang="en-CN" dirty="0"/>
          </a:p>
        </p:txBody>
      </p:sp>
      <p:cxnSp>
        <p:nvCxnSpPr>
          <p:cNvPr id="39" name="Curved Connector 38">
            <a:extLst>
              <a:ext uri="{FF2B5EF4-FFF2-40B4-BE49-F238E27FC236}">
                <a16:creationId xmlns:a16="http://schemas.microsoft.com/office/drawing/2014/main" id="{F801FD85-C1C0-5349-9C2E-FCCA734628DE}"/>
              </a:ext>
            </a:extLst>
          </p:cNvPr>
          <p:cNvCxnSpPr>
            <a:cxnSpLocks/>
            <a:stCxn id="38" idx="3"/>
            <a:endCxn id="55" idx="1"/>
          </p:cNvCxnSpPr>
          <p:nvPr/>
        </p:nvCxnSpPr>
        <p:spPr>
          <a:xfrm flipH="1" flipV="1">
            <a:off x="1115616" y="3598924"/>
            <a:ext cx="505131" cy="782575"/>
          </a:xfrm>
          <a:prstGeom prst="curvedConnector5">
            <a:avLst>
              <a:gd name="adj1" fmla="val -45256"/>
              <a:gd name="adj2" fmla="val 49360"/>
              <a:gd name="adj3" fmla="val 145256"/>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40">
            <a:extLst>
              <a:ext uri="{FF2B5EF4-FFF2-40B4-BE49-F238E27FC236}">
                <a16:creationId xmlns:a16="http://schemas.microsoft.com/office/drawing/2014/main" id="{31572525-A194-E54A-A443-DA5DBD6646EC}"/>
              </a:ext>
            </a:extLst>
          </p:cNvPr>
          <p:cNvCxnSpPr>
            <a:cxnSpLocks/>
            <a:stCxn id="55" idx="3"/>
            <a:endCxn id="56" idx="1"/>
          </p:cNvCxnSpPr>
          <p:nvPr/>
        </p:nvCxnSpPr>
        <p:spPr>
          <a:xfrm flipV="1">
            <a:off x="2791222" y="3598923"/>
            <a:ext cx="833697"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41">
            <a:extLst>
              <a:ext uri="{FF2B5EF4-FFF2-40B4-BE49-F238E27FC236}">
                <a16:creationId xmlns:a16="http://schemas.microsoft.com/office/drawing/2014/main" id="{4AEEDB45-9F65-B64A-8E50-03B993C630D7}"/>
              </a:ext>
            </a:extLst>
          </p:cNvPr>
          <p:cNvCxnSpPr>
            <a:cxnSpLocks/>
            <a:stCxn id="56" idx="3"/>
            <a:endCxn id="57" idx="1"/>
          </p:cNvCxnSpPr>
          <p:nvPr/>
        </p:nvCxnSpPr>
        <p:spPr>
          <a:xfrm>
            <a:off x="5300525" y="3598923"/>
            <a:ext cx="345298"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9828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703C-D57D-964D-84AC-9A67C0018E61}"/>
              </a:ext>
            </a:extLst>
          </p:cNvPr>
          <p:cNvSpPr>
            <a:spLocks noGrp="1"/>
          </p:cNvSpPr>
          <p:nvPr>
            <p:ph type="title"/>
          </p:nvPr>
        </p:nvSpPr>
        <p:spPr/>
        <p:txBody>
          <a:bodyPr/>
          <a:lstStyle/>
          <a:p>
            <a:r>
              <a:rPr lang="zh-CN" altLang="en-CN" dirty="0"/>
              <a:t>段</a:t>
            </a:r>
            <a:r>
              <a:rPr lang="zh-CN" altLang="en-US" dirty="0"/>
              <a:t>清理</a:t>
            </a:r>
            <a:endParaRPr lang="en-CN" dirty="0"/>
          </a:p>
        </p:txBody>
      </p:sp>
      <p:sp>
        <p:nvSpPr>
          <p:cNvPr id="3" name="Content Placeholder 2">
            <a:extLst>
              <a:ext uri="{FF2B5EF4-FFF2-40B4-BE49-F238E27FC236}">
                <a16:creationId xmlns:a16="http://schemas.microsoft.com/office/drawing/2014/main" id="{6D0B0136-BD62-E04E-8A03-BE4922BE9B15}"/>
              </a:ext>
            </a:extLst>
          </p:cNvPr>
          <p:cNvSpPr>
            <a:spLocks noGrp="1"/>
          </p:cNvSpPr>
          <p:nvPr>
            <p:ph idx="1"/>
          </p:nvPr>
        </p:nvSpPr>
        <p:spPr/>
        <p:txBody>
          <a:bodyPr>
            <a:normAutofit/>
          </a:bodyPr>
          <a:lstStyle/>
          <a:p>
            <a:pPr marL="457200" indent="-457200">
              <a:buFont typeface="+mj-lt"/>
              <a:buAutoNum type="arabicPeriod"/>
            </a:pPr>
            <a:r>
              <a:rPr lang="zh-CN" altLang="en-CN" sz="1800" b="0" dirty="0"/>
              <a:t>将</a:t>
            </a:r>
            <a:r>
              <a:rPr lang="zh-CN" altLang="en-US" sz="1800" b="0" dirty="0"/>
              <a:t>一些段读入内存中准备清理</a:t>
            </a:r>
            <a:endParaRPr lang="en-US" altLang="zh-CN" sz="1800" b="0" dirty="0"/>
          </a:p>
          <a:p>
            <a:pPr marL="457200" indent="-457200">
              <a:buFont typeface="+mj-lt"/>
              <a:buAutoNum type="arabicPeriod"/>
            </a:pPr>
            <a:r>
              <a:rPr lang="zh-CN" altLang="en-US" sz="1800" b="0" dirty="0"/>
              <a:t>识别出有效数据</a:t>
            </a:r>
            <a:endParaRPr lang="en-US" altLang="zh-CN" sz="1800" b="0" dirty="0"/>
          </a:p>
          <a:p>
            <a:pPr marL="457200" indent="-457200">
              <a:buFont typeface="+mj-lt"/>
              <a:buAutoNum type="arabicPeriod"/>
            </a:pPr>
            <a:r>
              <a:rPr lang="zh-CN" altLang="en-US" sz="1800" b="0" dirty="0"/>
              <a:t>将有效数据整理后写入到干净段中（对应拷贝方法）</a:t>
            </a:r>
            <a:endParaRPr lang="en-US" altLang="zh-CN" sz="1800" b="0" dirty="0"/>
          </a:p>
          <a:p>
            <a:pPr marL="457200" indent="-457200">
              <a:buFont typeface="+mj-lt"/>
              <a:buAutoNum type="arabicPeriod"/>
            </a:pPr>
            <a:r>
              <a:rPr lang="zh-CN" altLang="en-US" sz="1800" b="0" dirty="0"/>
              <a:t>标记被清理的段为干净</a:t>
            </a:r>
            <a:endParaRPr lang="en-US" altLang="zh-CN" sz="1800" b="0" dirty="0"/>
          </a:p>
        </p:txBody>
      </p:sp>
      <p:sp>
        <p:nvSpPr>
          <p:cNvPr id="4" name="Slide Number Placeholder 3">
            <a:extLst>
              <a:ext uri="{FF2B5EF4-FFF2-40B4-BE49-F238E27FC236}">
                <a16:creationId xmlns:a16="http://schemas.microsoft.com/office/drawing/2014/main" id="{36851791-18D3-3A40-BDA0-D9610F35D2A2}"/>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5" name="Footer Placeholder 4">
            <a:extLst>
              <a:ext uri="{FF2B5EF4-FFF2-40B4-BE49-F238E27FC236}">
                <a16:creationId xmlns:a16="http://schemas.microsoft.com/office/drawing/2014/main" id="{D9E269D3-2FEA-FA4E-9CC3-4B686E5E52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5" name="Rectangle 54">
            <a:extLst>
              <a:ext uri="{FF2B5EF4-FFF2-40B4-BE49-F238E27FC236}">
                <a16:creationId xmlns:a16="http://schemas.microsoft.com/office/drawing/2014/main" id="{21BECF8A-E6E1-4F4C-8C0C-B6A1837C666C}"/>
              </a:ext>
            </a:extLst>
          </p:cNvPr>
          <p:cNvSpPr/>
          <p:nvPr/>
        </p:nvSpPr>
        <p:spPr>
          <a:xfrm>
            <a:off x="1115616"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6" name="Rectangle 55">
            <a:extLst>
              <a:ext uri="{FF2B5EF4-FFF2-40B4-BE49-F238E27FC236}">
                <a16:creationId xmlns:a16="http://schemas.microsoft.com/office/drawing/2014/main" id="{374D8E43-6955-7D4C-B854-05B9B1767BF4}"/>
              </a:ext>
            </a:extLst>
          </p:cNvPr>
          <p:cNvSpPr/>
          <p:nvPr/>
        </p:nvSpPr>
        <p:spPr>
          <a:xfrm>
            <a:off x="3624919" y="340424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57" name="Rectangle 56">
            <a:extLst>
              <a:ext uri="{FF2B5EF4-FFF2-40B4-BE49-F238E27FC236}">
                <a16:creationId xmlns:a16="http://schemas.microsoft.com/office/drawing/2014/main" id="{954BCE61-AA0A-4645-9869-02E773CB9859}"/>
              </a:ext>
            </a:extLst>
          </p:cNvPr>
          <p:cNvSpPr/>
          <p:nvPr/>
        </p:nvSpPr>
        <p:spPr>
          <a:xfrm>
            <a:off x="5645823" y="3404244"/>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2" name="Rectangle 71">
            <a:extLst>
              <a:ext uri="{FF2B5EF4-FFF2-40B4-BE49-F238E27FC236}">
                <a16:creationId xmlns:a16="http://schemas.microsoft.com/office/drawing/2014/main" id="{1E43EDD1-A9A7-614F-9EFE-B1160D3CC18E}"/>
              </a:ext>
            </a:extLst>
          </p:cNvPr>
          <p:cNvSpPr/>
          <p:nvPr/>
        </p:nvSpPr>
        <p:spPr>
          <a:xfrm>
            <a:off x="2321921" y="4651755"/>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3" name="Rectangle 72">
            <a:extLst>
              <a:ext uri="{FF2B5EF4-FFF2-40B4-BE49-F238E27FC236}">
                <a16:creationId xmlns:a16="http://schemas.microsoft.com/office/drawing/2014/main" id="{9D291F20-0E1B-4B40-84B5-93F9857B9016}"/>
              </a:ext>
            </a:extLst>
          </p:cNvPr>
          <p:cNvSpPr/>
          <p:nvPr/>
        </p:nvSpPr>
        <p:spPr>
          <a:xfrm>
            <a:off x="2324025" y="4651753"/>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4" name="Rectangle 73">
            <a:extLst>
              <a:ext uri="{FF2B5EF4-FFF2-40B4-BE49-F238E27FC236}">
                <a16:creationId xmlns:a16="http://schemas.microsoft.com/office/drawing/2014/main" id="{4D02FC83-4F5B-D74C-8967-139BA075090F}"/>
              </a:ext>
            </a:extLst>
          </p:cNvPr>
          <p:cNvSpPr/>
          <p:nvPr/>
        </p:nvSpPr>
        <p:spPr>
          <a:xfrm>
            <a:off x="2607166"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5" name="Rectangle 74">
            <a:extLst>
              <a:ext uri="{FF2B5EF4-FFF2-40B4-BE49-F238E27FC236}">
                <a16:creationId xmlns:a16="http://schemas.microsoft.com/office/drawing/2014/main" id="{6C795482-7547-9444-BD82-F6A543B53AA5}"/>
              </a:ext>
            </a:extLst>
          </p:cNvPr>
          <p:cNvSpPr/>
          <p:nvPr/>
        </p:nvSpPr>
        <p:spPr>
          <a:xfrm>
            <a:off x="3156567" y="4650527"/>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6" name="Rectangle 75">
            <a:extLst>
              <a:ext uri="{FF2B5EF4-FFF2-40B4-BE49-F238E27FC236}">
                <a16:creationId xmlns:a16="http://schemas.microsoft.com/office/drawing/2014/main" id="{71288A48-D39C-C94A-8023-F29E6CF9A2E1}"/>
              </a:ext>
            </a:extLst>
          </p:cNvPr>
          <p:cNvSpPr/>
          <p:nvPr/>
        </p:nvSpPr>
        <p:spPr>
          <a:xfrm>
            <a:off x="4264546" y="4650526"/>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7" name="Rectangle 76">
            <a:extLst>
              <a:ext uri="{FF2B5EF4-FFF2-40B4-BE49-F238E27FC236}">
                <a16:creationId xmlns:a16="http://schemas.microsoft.com/office/drawing/2014/main" id="{CA810592-36FE-4A49-981E-36DE066E88EB}"/>
              </a:ext>
            </a:extLst>
          </p:cNvPr>
          <p:cNvSpPr/>
          <p:nvPr/>
        </p:nvSpPr>
        <p:spPr>
          <a:xfrm>
            <a:off x="3705032" y="465052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8" name="Rectangle 77">
            <a:extLst>
              <a:ext uri="{FF2B5EF4-FFF2-40B4-BE49-F238E27FC236}">
                <a16:creationId xmlns:a16="http://schemas.microsoft.com/office/drawing/2014/main" id="{D052D2B2-A630-3E4F-B3D6-1AD6BE78222A}"/>
              </a:ext>
            </a:extLst>
          </p:cNvPr>
          <p:cNvSpPr/>
          <p:nvPr/>
        </p:nvSpPr>
        <p:spPr>
          <a:xfrm>
            <a:off x="4263772" y="4649298"/>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9" name="Rectangle 78">
            <a:extLst>
              <a:ext uri="{FF2B5EF4-FFF2-40B4-BE49-F238E27FC236}">
                <a16:creationId xmlns:a16="http://schemas.microsoft.com/office/drawing/2014/main" id="{EED8C14F-3831-3B4F-A06E-0C87D8966E1F}"/>
              </a:ext>
            </a:extLst>
          </p:cNvPr>
          <p:cNvSpPr/>
          <p:nvPr/>
        </p:nvSpPr>
        <p:spPr>
          <a:xfrm>
            <a:off x="4547307" y="4649297"/>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0" name="Rectangle 79">
            <a:extLst>
              <a:ext uri="{FF2B5EF4-FFF2-40B4-BE49-F238E27FC236}">
                <a16:creationId xmlns:a16="http://schemas.microsoft.com/office/drawing/2014/main" id="{498D9899-F014-DC48-AFD3-6F7873F6D0CB}"/>
              </a:ext>
            </a:extLst>
          </p:cNvPr>
          <p:cNvSpPr/>
          <p:nvPr/>
        </p:nvSpPr>
        <p:spPr>
          <a:xfrm>
            <a:off x="4830634" y="4649296"/>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1" name="Rectangle 80">
            <a:extLst>
              <a:ext uri="{FF2B5EF4-FFF2-40B4-BE49-F238E27FC236}">
                <a16:creationId xmlns:a16="http://schemas.microsoft.com/office/drawing/2014/main" id="{B5E76540-479D-2B4C-AB6A-EBB2112EC564}"/>
              </a:ext>
            </a:extLst>
          </p:cNvPr>
          <p:cNvSpPr/>
          <p:nvPr/>
        </p:nvSpPr>
        <p:spPr>
          <a:xfrm>
            <a:off x="4971910" y="4649295"/>
            <a:ext cx="284101"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2" name="Rectangle 81">
            <a:extLst>
              <a:ext uri="{FF2B5EF4-FFF2-40B4-BE49-F238E27FC236}">
                <a16:creationId xmlns:a16="http://schemas.microsoft.com/office/drawing/2014/main" id="{2F89ADF0-03AB-4247-8D9D-C3F356316B2F}"/>
              </a:ext>
            </a:extLst>
          </p:cNvPr>
          <p:cNvSpPr/>
          <p:nvPr/>
        </p:nvSpPr>
        <p:spPr>
          <a:xfrm>
            <a:off x="5254157" y="4648063"/>
            <a:ext cx="142356"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38" name="TextBox 37">
            <a:extLst>
              <a:ext uri="{FF2B5EF4-FFF2-40B4-BE49-F238E27FC236}">
                <a16:creationId xmlns:a16="http://schemas.microsoft.com/office/drawing/2014/main" id="{03674DA5-EDE5-5240-B548-609CF3BEEB88}"/>
              </a:ext>
            </a:extLst>
          </p:cNvPr>
          <p:cNvSpPr txBox="1"/>
          <p:nvPr/>
        </p:nvSpPr>
        <p:spPr>
          <a:xfrm>
            <a:off x="281919" y="4196833"/>
            <a:ext cx="1338828" cy="369332"/>
          </a:xfrm>
          <a:prstGeom prst="rect">
            <a:avLst/>
          </a:prstGeom>
          <a:noFill/>
        </p:spPr>
        <p:txBody>
          <a:bodyPr wrap="none" rtlCol="0">
            <a:spAutoFit/>
          </a:bodyPr>
          <a:lstStyle/>
          <a:p>
            <a:r>
              <a:rPr lang="zh-CN" altLang="en-US" dirty="0"/>
              <a:t>干净段链表</a:t>
            </a:r>
            <a:endParaRPr lang="en-CN" dirty="0"/>
          </a:p>
        </p:txBody>
      </p:sp>
      <p:cxnSp>
        <p:nvCxnSpPr>
          <p:cNvPr id="39" name="Curved Connector 38">
            <a:extLst>
              <a:ext uri="{FF2B5EF4-FFF2-40B4-BE49-F238E27FC236}">
                <a16:creationId xmlns:a16="http://schemas.microsoft.com/office/drawing/2014/main" id="{F801FD85-C1C0-5349-9C2E-FCCA734628DE}"/>
              </a:ext>
            </a:extLst>
          </p:cNvPr>
          <p:cNvCxnSpPr>
            <a:cxnSpLocks/>
            <a:stCxn id="38" idx="3"/>
            <a:endCxn id="55" idx="1"/>
          </p:cNvCxnSpPr>
          <p:nvPr/>
        </p:nvCxnSpPr>
        <p:spPr>
          <a:xfrm flipH="1" flipV="1">
            <a:off x="1115616" y="3598924"/>
            <a:ext cx="505131" cy="782575"/>
          </a:xfrm>
          <a:prstGeom prst="curvedConnector5">
            <a:avLst>
              <a:gd name="adj1" fmla="val -45256"/>
              <a:gd name="adj2" fmla="val 49360"/>
              <a:gd name="adj3" fmla="val 145256"/>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urved Connector 40">
            <a:extLst>
              <a:ext uri="{FF2B5EF4-FFF2-40B4-BE49-F238E27FC236}">
                <a16:creationId xmlns:a16="http://schemas.microsoft.com/office/drawing/2014/main" id="{31572525-A194-E54A-A443-DA5DBD6646EC}"/>
              </a:ext>
            </a:extLst>
          </p:cNvPr>
          <p:cNvCxnSpPr>
            <a:cxnSpLocks/>
            <a:stCxn id="55" idx="3"/>
            <a:endCxn id="56" idx="1"/>
          </p:cNvCxnSpPr>
          <p:nvPr/>
        </p:nvCxnSpPr>
        <p:spPr>
          <a:xfrm flipV="1">
            <a:off x="2791222" y="3598923"/>
            <a:ext cx="833697"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41">
            <a:extLst>
              <a:ext uri="{FF2B5EF4-FFF2-40B4-BE49-F238E27FC236}">
                <a16:creationId xmlns:a16="http://schemas.microsoft.com/office/drawing/2014/main" id="{4AEEDB45-9F65-B64A-8E50-03B993C630D7}"/>
              </a:ext>
            </a:extLst>
          </p:cNvPr>
          <p:cNvCxnSpPr>
            <a:cxnSpLocks/>
            <a:stCxn id="56" idx="3"/>
            <a:endCxn id="57" idx="1"/>
          </p:cNvCxnSpPr>
          <p:nvPr/>
        </p:nvCxnSpPr>
        <p:spPr>
          <a:xfrm>
            <a:off x="5300525" y="3598923"/>
            <a:ext cx="345298" cy="1"/>
          </a:xfrm>
          <a:prstGeom prst="curved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descr="Checkmark">
            <a:extLst>
              <a:ext uri="{FF2B5EF4-FFF2-40B4-BE49-F238E27FC236}">
                <a16:creationId xmlns:a16="http://schemas.microsoft.com/office/drawing/2014/main" id="{05E360D2-9FB3-7349-905C-A6B92ABD28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62232" y="2743414"/>
            <a:ext cx="522839" cy="522839"/>
          </a:xfrm>
          <a:prstGeom prst="rect">
            <a:avLst/>
          </a:prstGeom>
        </p:spPr>
      </p:pic>
      <p:pic>
        <p:nvPicPr>
          <p:cNvPr id="9" name="Graphic 8" descr="Checkmark">
            <a:extLst>
              <a:ext uri="{FF2B5EF4-FFF2-40B4-BE49-F238E27FC236}">
                <a16:creationId xmlns:a16="http://schemas.microsoft.com/office/drawing/2014/main" id="{25BC2754-0C48-CB4E-BA94-24AF845A540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2206" y="2197672"/>
            <a:ext cx="522839" cy="522839"/>
          </a:xfrm>
          <a:prstGeom prst="rect">
            <a:avLst/>
          </a:prstGeom>
        </p:spPr>
      </p:pic>
      <p:pic>
        <p:nvPicPr>
          <p:cNvPr id="11" name="Graphic 10" descr="Checkmark">
            <a:extLst>
              <a:ext uri="{FF2B5EF4-FFF2-40B4-BE49-F238E27FC236}">
                <a16:creationId xmlns:a16="http://schemas.microsoft.com/office/drawing/2014/main" id="{3BD6311A-AF29-5340-9BBC-576C50832B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9161" y="1262235"/>
            <a:ext cx="522839" cy="522839"/>
          </a:xfrm>
          <a:prstGeom prst="rect">
            <a:avLst/>
          </a:prstGeom>
        </p:spPr>
      </p:pic>
      <p:pic>
        <p:nvPicPr>
          <p:cNvPr id="13" name="Graphic 12" descr="Question mark">
            <a:extLst>
              <a:ext uri="{FF2B5EF4-FFF2-40B4-BE49-F238E27FC236}">
                <a16:creationId xmlns:a16="http://schemas.microsoft.com/office/drawing/2014/main" id="{D1E7A97A-1BB9-F44B-A752-59485B49745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535150">
            <a:off x="2553336" y="1700654"/>
            <a:ext cx="522839" cy="522839"/>
          </a:xfrm>
          <a:prstGeom prst="rect">
            <a:avLst/>
          </a:prstGeom>
        </p:spPr>
      </p:pic>
    </p:spTree>
    <p:extLst>
      <p:ext uri="{BB962C8B-B14F-4D97-AF65-F5344CB8AC3E}">
        <p14:creationId xmlns:p14="http://schemas.microsoft.com/office/powerpoint/2010/main" val="111699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32511-7344-4248-B37B-5E596DB70B3C}"/>
              </a:ext>
            </a:extLst>
          </p:cNvPr>
          <p:cNvSpPr>
            <a:spLocks noGrp="1"/>
          </p:cNvSpPr>
          <p:nvPr>
            <p:ph type="title"/>
          </p:nvPr>
        </p:nvSpPr>
        <p:spPr/>
        <p:txBody>
          <a:bodyPr/>
          <a:lstStyle/>
          <a:p>
            <a:r>
              <a:rPr lang="zh-CN" altLang="en-US" dirty="0"/>
              <a:t>识别有效数据</a:t>
            </a:r>
            <a:endParaRPr lang="en-CN" dirty="0"/>
          </a:p>
        </p:txBody>
      </p:sp>
      <p:sp>
        <p:nvSpPr>
          <p:cNvPr id="3" name="Content Placeholder 2">
            <a:extLst>
              <a:ext uri="{FF2B5EF4-FFF2-40B4-BE49-F238E27FC236}">
                <a16:creationId xmlns:a16="http://schemas.microsoft.com/office/drawing/2014/main" id="{CF9BA255-B107-1342-8CFA-ABA8E96162A6}"/>
              </a:ext>
            </a:extLst>
          </p:cNvPr>
          <p:cNvSpPr>
            <a:spLocks noGrp="1"/>
          </p:cNvSpPr>
          <p:nvPr>
            <p:ph idx="1"/>
          </p:nvPr>
        </p:nvSpPr>
        <p:spPr/>
        <p:txBody>
          <a:bodyPr>
            <a:normAutofit/>
          </a:bodyPr>
          <a:lstStyle/>
          <a:p>
            <a:r>
              <a:rPr lang="zh-CN" altLang="en-US" sz="2000" b="0" dirty="0"/>
              <a:t>每个段中保存有</a:t>
            </a:r>
            <a:r>
              <a:rPr lang="zh-CN" altLang="en-US" sz="2000" dirty="0"/>
              <a:t>段概要</a:t>
            </a:r>
            <a:endParaRPr lang="en-US" altLang="zh-CN" sz="1800" dirty="0"/>
          </a:p>
          <a:p>
            <a:pPr lvl="1"/>
            <a:r>
              <a:rPr lang="zh-CN" altLang="en-US" sz="1800" b="0" dirty="0"/>
              <a:t>每个块被哪个文件的哪个位置所使用</a:t>
            </a:r>
            <a:endParaRPr lang="en-US" altLang="zh-CN" sz="1800" b="0" dirty="0"/>
          </a:p>
          <a:p>
            <a:pPr lvl="2"/>
            <a:r>
              <a:rPr lang="zh-CN" altLang="en-US" sz="1800" dirty="0"/>
              <a:t>如：数据块可使用</a:t>
            </a:r>
            <a:r>
              <a:rPr lang="en-US" altLang="zh-CN" sz="1800" dirty="0" err="1"/>
              <a:t>inode</a:t>
            </a:r>
            <a:r>
              <a:rPr lang="zh-CN" altLang="en-US" sz="1800" dirty="0"/>
              <a:t>号和第几个数据块来表示位置</a:t>
            </a:r>
            <a:endParaRPr lang="en-US" altLang="zh-CN" sz="1800" dirty="0"/>
          </a:p>
          <a:p>
            <a:pPr lvl="1"/>
            <a:endParaRPr lang="en-US" altLang="zh-CN" sz="1800" b="0" dirty="0"/>
          </a:p>
        </p:txBody>
      </p:sp>
      <p:sp>
        <p:nvSpPr>
          <p:cNvPr id="4" name="Slide Number Placeholder 3">
            <a:extLst>
              <a:ext uri="{FF2B5EF4-FFF2-40B4-BE49-F238E27FC236}">
                <a16:creationId xmlns:a16="http://schemas.microsoft.com/office/drawing/2014/main" id="{09A3C7B6-4642-A84F-B673-14D31F89D4AE}"/>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5" name="Footer Placeholder 4">
            <a:extLst>
              <a:ext uri="{FF2B5EF4-FFF2-40B4-BE49-F238E27FC236}">
                <a16:creationId xmlns:a16="http://schemas.microsoft.com/office/drawing/2014/main" id="{89BE3F76-C577-7A4C-9634-835544648BF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2F980744-152E-F54E-9CCB-C7AE955BDD53}"/>
              </a:ext>
            </a:extLst>
          </p:cNvPr>
          <p:cNvSpPr/>
          <p:nvPr/>
        </p:nvSpPr>
        <p:spPr>
          <a:xfrm>
            <a:off x="3257162" y="422027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49300EA3-C046-C748-8426-5999A19A5588}"/>
              </a:ext>
            </a:extLst>
          </p:cNvPr>
          <p:cNvSpPr/>
          <p:nvPr/>
        </p:nvSpPr>
        <p:spPr>
          <a:xfrm>
            <a:off x="3379394" y="4220272"/>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 name="Rectangle 7">
            <a:extLst>
              <a:ext uri="{FF2B5EF4-FFF2-40B4-BE49-F238E27FC236}">
                <a16:creationId xmlns:a16="http://schemas.microsoft.com/office/drawing/2014/main" id="{777246F7-FB13-6242-AB81-B50C79CBF79B}"/>
              </a:ext>
            </a:extLst>
          </p:cNvPr>
          <p:cNvSpPr/>
          <p:nvPr/>
        </p:nvSpPr>
        <p:spPr>
          <a:xfrm>
            <a:off x="4055064" y="4220272"/>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9" name="Rectangle 8">
            <a:extLst>
              <a:ext uri="{FF2B5EF4-FFF2-40B4-BE49-F238E27FC236}">
                <a16:creationId xmlns:a16="http://schemas.microsoft.com/office/drawing/2014/main" id="{BDDACA88-E4C0-6349-ABF1-62C1292F9D33}"/>
              </a:ext>
            </a:extLst>
          </p:cNvPr>
          <p:cNvSpPr/>
          <p:nvPr/>
        </p:nvSpPr>
        <p:spPr>
          <a:xfrm>
            <a:off x="2987824" y="4220272"/>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0" name="Right Brace 9">
            <a:extLst>
              <a:ext uri="{FF2B5EF4-FFF2-40B4-BE49-F238E27FC236}">
                <a16:creationId xmlns:a16="http://schemas.microsoft.com/office/drawing/2014/main" id="{2C5510AC-4BFF-2A42-B3E0-6E3030556680}"/>
              </a:ext>
            </a:extLst>
          </p:cNvPr>
          <p:cNvSpPr/>
          <p:nvPr/>
        </p:nvSpPr>
        <p:spPr>
          <a:xfrm rot="5400000">
            <a:off x="3824355" y="3837794"/>
            <a:ext cx="271882" cy="1944944"/>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11" name="TextBox 10">
            <a:extLst>
              <a:ext uri="{FF2B5EF4-FFF2-40B4-BE49-F238E27FC236}">
                <a16:creationId xmlns:a16="http://schemas.microsoft.com/office/drawing/2014/main" id="{62374EBF-E1E1-CB44-A061-1B705DB4E724}"/>
              </a:ext>
            </a:extLst>
          </p:cNvPr>
          <p:cNvSpPr txBox="1"/>
          <p:nvPr/>
        </p:nvSpPr>
        <p:spPr>
          <a:xfrm>
            <a:off x="3752547" y="4956511"/>
            <a:ext cx="415498" cy="369332"/>
          </a:xfrm>
          <a:prstGeom prst="rect">
            <a:avLst/>
          </a:prstGeom>
          <a:noFill/>
        </p:spPr>
        <p:txBody>
          <a:bodyPr wrap="none" rtlCol="0">
            <a:spAutoFit/>
          </a:bodyPr>
          <a:lstStyle/>
          <a:p>
            <a:r>
              <a:rPr lang="zh-CN" altLang="en-CN" dirty="0"/>
              <a:t>段</a:t>
            </a:r>
            <a:endParaRPr lang="en-CN" dirty="0"/>
          </a:p>
        </p:txBody>
      </p:sp>
      <p:sp>
        <p:nvSpPr>
          <p:cNvPr id="12" name="TextBox 11">
            <a:extLst>
              <a:ext uri="{FF2B5EF4-FFF2-40B4-BE49-F238E27FC236}">
                <a16:creationId xmlns:a16="http://schemas.microsoft.com/office/drawing/2014/main" id="{697313AA-4802-0F4B-84F2-68F7A40CF3A7}"/>
              </a:ext>
            </a:extLst>
          </p:cNvPr>
          <p:cNvSpPr txBox="1"/>
          <p:nvPr/>
        </p:nvSpPr>
        <p:spPr>
          <a:xfrm>
            <a:off x="1667331" y="3126440"/>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4" name="TextBox 13">
            <a:extLst>
              <a:ext uri="{FF2B5EF4-FFF2-40B4-BE49-F238E27FC236}">
                <a16:creationId xmlns:a16="http://schemas.microsoft.com/office/drawing/2014/main" id="{81444471-97D3-5345-995D-CEC5B8D19828}"/>
              </a:ext>
            </a:extLst>
          </p:cNvPr>
          <p:cNvSpPr txBox="1"/>
          <p:nvPr/>
        </p:nvSpPr>
        <p:spPr>
          <a:xfrm>
            <a:off x="2678111"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5" name="TextBox 14">
            <a:extLst>
              <a:ext uri="{FF2B5EF4-FFF2-40B4-BE49-F238E27FC236}">
                <a16:creationId xmlns:a16="http://schemas.microsoft.com/office/drawing/2014/main" id="{9B852F90-B94C-E447-B27A-F071B155CA32}"/>
              </a:ext>
            </a:extLst>
          </p:cNvPr>
          <p:cNvSpPr txBox="1"/>
          <p:nvPr/>
        </p:nvSpPr>
        <p:spPr>
          <a:xfrm>
            <a:off x="3691100"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3</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17" name="TextBox 16">
            <a:extLst>
              <a:ext uri="{FF2B5EF4-FFF2-40B4-BE49-F238E27FC236}">
                <a16:creationId xmlns:a16="http://schemas.microsoft.com/office/drawing/2014/main" id="{3CBD58C0-5022-EC41-A200-52885DE5F659}"/>
              </a:ext>
            </a:extLst>
          </p:cNvPr>
          <p:cNvSpPr txBox="1"/>
          <p:nvPr/>
        </p:nvSpPr>
        <p:spPr>
          <a:xfrm>
            <a:off x="4739717" y="3200228"/>
            <a:ext cx="415498" cy="369332"/>
          </a:xfrm>
          <a:prstGeom prst="rect">
            <a:avLst/>
          </a:prstGeom>
          <a:noFill/>
        </p:spPr>
        <p:txBody>
          <a:bodyPr wrap="none" rtlCol="0">
            <a:spAutoFit/>
          </a:bodyPr>
          <a:lstStyle/>
          <a:p>
            <a:r>
              <a:rPr lang="en-US" altLang="zh-CN" dirty="0"/>
              <a:t>…</a:t>
            </a:r>
            <a:endParaRPr lang="en-CN" dirty="0"/>
          </a:p>
        </p:txBody>
      </p:sp>
      <p:sp>
        <p:nvSpPr>
          <p:cNvPr id="18" name="TextBox 17">
            <a:extLst>
              <a:ext uri="{FF2B5EF4-FFF2-40B4-BE49-F238E27FC236}">
                <a16:creationId xmlns:a16="http://schemas.microsoft.com/office/drawing/2014/main" id="{BC86E700-A13F-674F-8CC6-5B864FD6CF0E}"/>
              </a:ext>
            </a:extLst>
          </p:cNvPr>
          <p:cNvSpPr txBox="1"/>
          <p:nvPr/>
        </p:nvSpPr>
        <p:spPr>
          <a:xfrm>
            <a:off x="5155215"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0" name="Straight Arrow Connector 19">
            <a:extLst>
              <a:ext uri="{FF2B5EF4-FFF2-40B4-BE49-F238E27FC236}">
                <a16:creationId xmlns:a16="http://schemas.microsoft.com/office/drawing/2014/main" id="{733A90E3-BA9A-BC4D-87C7-7E1F94B1A261}"/>
              </a:ext>
            </a:extLst>
          </p:cNvPr>
          <p:cNvCxnSpPr>
            <a:cxnSpLocks/>
          </p:cNvCxnSpPr>
          <p:nvPr/>
        </p:nvCxnSpPr>
        <p:spPr>
          <a:xfrm flipH="1" flipV="1">
            <a:off x="1655978" y="3706064"/>
            <a:ext cx="1331847" cy="514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4B140D8-E12A-E642-806F-F6382E8A794D}"/>
              </a:ext>
            </a:extLst>
          </p:cNvPr>
          <p:cNvCxnSpPr>
            <a:cxnSpLocks/>
          </p:cNvCxnSpPr>
          <p:nvPr/>
        </p:nvCxnSpPr>
        <p:spPr>
          <a:xfrm flipV="1">
            <a:off x="3257162" y="3706064"/>
            <a:ext cx="2911042" cy="503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E90317C-CA6D-F14B-8141-503FF8D97F77}"/>
              </a:ext>
            </a:extLst>
          </p:cNvPr>
          <p:cNvSpPr txBox="1"/>
          <p:nvPr/>
        </p:nvSpPr>
        <p:spPr>
          <a:xfrm>
            <a:off x="961549" y="3121206"/>
            <a:ext cx="748923" cy="261610"/>
          </a:xfrm>
          <a:prstGeom prst="rect">
            <a:avLst/>
          </a:prstGeom>
          <a:noFill/>
        </p:spPr>
        <p:txBody>
          <a:bodyPr wrap="none" rtlCol="0">
            <a:spAutoFit/>
          </a:bodyPr>
          <a:lstStyle/>
          <a:p>
            <a:r>
              <a:rPr lang="zh-CN" altLang="en-US" sz="1100" dirty="0"/>
              <a:t>段概要：</a:t>
            </a:r>
            <a:endParaRPr lang="en-CN" sz="1100" dirty="0"/>
          </a:p>
        </p:txBody>
      </p:sp>
    </p:spTree>
    <p:extLst>
      <p:ext uri="{BB962C8B-B14F-4D97-AF65-F5344CB8AC3E}">
        <p14:creationId xmlns:p14="http://schemas.microsoft.com/office/powerpoint/2010/main" val="3310243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32511-7344-4248-B37B-5E596DB70B3C}"/>
              </a:ext>
            </a:extLst>
          </p:cNvPr>
          <p:cNvSpPr>
            <a:spLocks noGrp="1"/>
          </p:cNvSpPr>
          <p:nvPr>
            <p:ph type="title"/>
          </p:nvPr>
        </p:nvSpPr>
        <p:spPr/>
        <p:txBody>
          <a:bodyPr/>
          <a:lstStyle/>
          <a:p>
            <a:r>
              <a:rPr lang="zh-CN" altLang="en-US" dirty="0"/>
              <a:t>识别有效数据</a:t>
            </a:r>
            <a:endParaRPr lang="en-CN" dirty="0"/>
          </a:p>
        </p:txBody>
      </p:sp>
      <p:sp>
        <p:nvSpPr>
          <p:cNvPr id="3" name="Content Placeholder 2">
            <a:extLst>
              <a:ext uri="{FF2B5EF4-FFF2-40B4-BE49-F238E27FC236}">
                <a16:creationId xmlns:a16="http://schemas.microsoft.com/office/drawing/2014/main" id="{CF9BA255-B107-1342-8CFA-ABA8E96162A6}"/>
              </a:ext>
            </a:extLst>
          </p:cNvPr>
          <p:cNvSpPr>
            <a:spLocks noGrp="1"/>
          </p:cNvSpPr>
          <p:nvPr>
            <p:ph idx="1"/>
          </p:nvPr>
        </p:nvSpPr>
        <p:spPr/>
        <p:txBody>
          <a:bodyPr>
            <a:normAutofit/>
          </a:bodyPr>
          <a:lstStyle/>
          <a:p>
            <a:r>
              <a:rPr lang="zh-CN" altLang="en-US" sz="2000" b="0" dirty="0"/>
              <a:t>每个段中保存有</a:t>
            </a:r>
            <a:r>
              <a:rPr lang="zh-CN" altLang="en-US" sz="2000" dirty="0"/>
              <a:t>段概要</a:t>
            </a:r>
            <a:endParaRPr lang="en-US" altLang="zh-CN" sz="1800" dirty="0"/>
          </a:p>
          <a:p>
            <a:pPr lvl="1"/>
            <a:r>
              <a:rPr lang="zh-CN" altLang="en-US" sz="1800" b="0" dirty="0"/>
              <a:t>每个块被哪个文件的哪个位置所使用</a:t>
            </a:r>
            <a:endParaRPr lang="en-US" altLang="zh-CN" sz="1800" b="0" dirty="0"/>
          </a:p>
          <a:p>
            <a:pPr lvl="2"/>
            <a:r>
              <a:rPr lang="zh-CN" altLang="en-US" sz="1800" dirty="0"/>
              <a:t>如：数据块可使用</a:t>
            </a:r>
            <a:r>
              <a:rPr lang="en-US" altLang="zh-CN" sz="1800" dirty="0" err="1"/>
              <a:t>inode</a:t>
            </a:r>
            <a:r>
              <a:rPr lang="zh-CN" altLang="en-US" sz="1800" dirty="0"/>
              <a:t>号和第几个数据块来表示位置</a:t>
            </a:r>
            <a:endParaRPr lang="en-US" altLang="zh-CN" sz="1800" dirty="0"/>
          </a:p>
          <a:p>
            <a:pPr lvl="1"/>
            <a:r>
              <a:rPr lang="zh-CN" altLang="en-US" sz="1800" dirty="0"/>
              <a:t>块有效性通过比对该位置上现有指针判断</a:t>
            </a:r>
            <a:endParaRPr lang="en-US" altLang="zh-CN" sz="1800" dirty="0"/>
          </a:p>
          <a:p>
            <a:pPr lvl="1"/>
            <a:endParaRPr lang="en-US" altLang="zh-CN" sz="1800" b="0" dirty="0"/>
          </a:p>
        </p:txBody>
      </p:sp>
      <p:sp>
        <p:nvSpPr>
          <p:cNvPr id="4" name="Slide Number Placeholder 3">
            <a:extLst>
              <a:ext uri="{FF2B5EF4-FFF2-40B4-BE49-F238E27FC236}">
                <a16:creationId xmlns:a16="http://schemas.microsoft.com/office/drawing/2014/main" id="{09A3C7B6-4642-A84F-B673-14D31F89D4AE}"/>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Footer Placeholder 4">
            <a:extLst>
              <a:ext uri="{FF2B5EF4-FFF2-40B4-BE49-F238E27FC236}">
                <a16:creationId xmlns:a16="http://schemas.microsoft.com/office/drawing/2014/main" id="{89BE3F76-C577-7A4C-9634-835544648BF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2F980744-152E-F54E-9CCB-C7AE955BDD53}"/>
              </a:ext>
            </a:extLst>
          </p:cNvPr>
          <p:cNvSpPr/>
          <p:nvPr/>
        </p:nvSpPr>
        <p:spPr>
          <a:xfrm>
            <a:off x="3257162" y="4220273"/>
            <a:ext cx="1675606"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49300EA3-C046-C748-8426-5999A19A5588}"/>
              </a:ext>
            </a:extLst>
          </p:cNvPr>
          <p:cNvSpPr/>
          <p:nvPr/>
        </p:nvSpPr>
        <p:spPr>
          <a:xfrm>
            <a:off x="3379394" y="4220272"/>
            <a:ext cx="284100"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 name="Rectangle 7">
            <a:extLst>
              <a:ext uri="{FF2B5EF4-FFF2-40B4-BE49-F238E27FC236}">
                <a16:creationId xmlns:a16="http://schemas.microsoft.com/office/drawing/2014/main" id="{777246F7-FB13-6242-AB81-B50C79CBF79B}"/>
              </a:ext>
            </a:extLst>
          </p:cNvPr>
          <p:cNvSpPr/>
          <p:nvPr/>
        </p:nvSpPr>
        <p:spPr>
          <a:xfrm>
            <a:off x="4055064" y="4220272"/>
            <a:ext cx="548465" cy="389359"/>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9" name="Rectangle 8">
            <a:extLst>
              <a:ext uri="{FF2B5EF4-FFF2-40B4-BE49-F238E27FC236}">
                <a16:creationId xmlns:a16="http://schemas.microsoft.com/office/drawing/2014/main" id="{BDDACA88-E4C0-6349-ABF1-62C1292F9D33}"/>
              </a:ext>
            </a:extLst>
          </p:cNvPr>
          <p:cNvSpPr/>
          <p:nvPr/>
        </p:nvSpPr>
        <p:spPr>
          <a:xfrm>
            <a:off x="2987824" y="4220272"/>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0" name="Right Brace 9">
            <a:extLst>
              <a:ext uri="{FF2B5EF4-FFF2-40B4-BE49-F238E27FC236}">
                <a16:creationId xmlns:a16="http://schemas.microsoft.com/office/drawing/2014/main" id="{2C5510AC-4BFF-2A42-B3E0-6E3030556680}"/>
              </a:ext>
            </a:extLst>
          </p:cNvPr>
          <p:cNvSpPr/>
          <p:nvPr/>
        </p:nvSpPr>
        <p:spPr>
          <a:xfrm rot="5400000">
            <a:off x="3824355" y="3837794"/>
            <a:ext cx="271882" cy="1944944"/>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11" name="TextBox 10">
            <a:extLst>
              <a:ext uri="{FF2B5EF4-FFF2-40B4-BE49-F238E27FC236}">
                <a16:creationId xmlns:a16="http://schemas.microsoft.com/office/drawing/2014/main" id="{62374EBF-E1E1-CB44-A061-1B705DB4E724}"/>
              </a:ext>
            </a:extLst>
          </p:cNvPr>
          <p:cNvSpPr txBox="1"/>
          <p:nvPr/>
        </p:nvSpPr>
        <p:spPr>
          <a:xfrm>
            <a:off x="3752547" y="4956511"/>
            <a:ext cx="415498" cy="369332"/>
          </a:xfrm>
          <a:prstGeom prst="rect">
            <a:avLst/>
          </a:prstGeom>
          <a:noFill/>
        </p:spPr>
        <p:txBody>
          <a:bodyPr wrap="none" rtlCol="0">
            <a:spAutoFit/>
          </a:bodyPr>
          <a:lstStyle/>
          <a:p>
            <a:r>
              <a:rPr lang="zh-CN" altLang="en-CN" dirty="0"/>
              <a:t>段</a:t>
            </a:r>
            <a:endParaRPr lang="en-CN" dirty="0"/>
          </a:p>
        </p:txBody>
      </p:sp>
      <p:sp>
        <p:nvSpPr>
          <p:cNvPr id="12" name="TextBox 11">
            <a:extLst>
              <a:ext uri="{FF2B5EF4-FFF2-40B4-BE49-F238E27FC236}">
                <a16:creationId xmlns:a16="http://schemas.microsoft.com/office/drawing/2014/main" id="{697313AA-4802-0F4B-84F2-68F7A40CF3A7}"/>
              </a:ext>
            </a:extLst>
          </p:cNvPr>
          <p:cNvSpPr txBox="1"/>
          <p:nvPr/>
        </p:nvSpPr>
        <p:spPr>
          <a:xfrm>
            <a:off x="1670047" y="3126440"/>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4" name="TextBox 13">
            <a:extLst>
              <a:ext uri="{FF2B5EF4-FFF2-40B4-BE49-F238E27FC236}">
                <a16:creationId xmlns:a16="http://schemas.microsoft.com/office/drawing/2014/main" id="{81444471-97D3-5345-995D-CEC5B8D19828}"/>
              </a:ext>
            </a:extLst>
          </p:cNvPr>
          <p:cNvSpPr txBox="1"/>
          <p:nvPr/>
        </p:nvSpPr>
        <p:spPr>
          <a:xfrm>
            <a:off x="2678111"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5" name="TextBox 14">
            <a:extLst>
              <a:ext uri="{FF2B5EF4-FFF2-40B4-BE49-F238E27FC236}">
                <a16:creationId xmlns:a16="http://schemas.microsoft.com/office/drawing/2014/main" id="{9B852F90-B94C-E447-B27A-F071B155CA32}"/>
              </a:ext>
            </a:extLst>
          </p:cNvPr>
          <p:cNvSpPr txBox="1"/>
          <p:nvPr/>
        </p:nvSpPr>
        <p:spPr>
          <a:xfrm>
            <a:off x="3691100"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3</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17" name="TextBox 16">
            <a:extLst>
              <a:ext uri="{FF2B5EF4-FFF2-40B4-BE49-F238E27FC236}">
                <a16:creationId xmlns:a16="http://schemas.microsoft.com/office/drawing/2014/main" id="{3CBD58C0-5022-EC41-A200-52885DE5F659}"/>
              </a:ext>
            </a:extLst>
          </p:cNvPr>
          <p:cNvSpPr txBox="1"/>
          <p:nvPr/>
        </p:nvSpPr>
        <p:spPr>
          <a:xfrm>
            <a:off x="4739717" y="3200228"/>
            <a:ext cx="415498" cy="369332"/>
          </a:xfrm>
          <a:prstGeom prst="rect">
            <a:avLst/>
          </a:prstGeom>
          <a:noFill/>
        </p:spPr>
        <p:txBody>
          <a:bodyPr wrap="none" rtlCol="0">
            <a:spAutoFit/>
          </a:bodyPr>
          <a:lstStyle/>
          <a:p>
            <a:r>
              <a:rPr lang="en-US" altLang="zh-CN" dirty="0"/>
              <a:t>…</a:t>
            </a:r>
            <a:endParaRPr lang="en-CN" dirty="0"/>
          </a:p>
        </p:txBody>
      </p:sp>
      <p:sp>
        <p:nvSpPr>
          <p:cNvPr id="18" name="TextBox 17">
            <a:extLst>
              <a:ext uri="{FF2B5EF4-FFF2-40B4-BE49-F238E27FC236}">
                <a16:creationId xmlns:a16="http://schemas.microsoft.com/office/drawing/2014/main" id="{BC86E700-A13F-674F-8CC6-5B864FD6CF0E}"/>
              </a:ext>
            </a:extLst>
          </p:cNvPr>
          <p:cNvSpPr txBox="1"/>
          <p:nvPr/>
        </p:nvSpPr>
        <p:spPr>
          <a:xfrm>
            <a:off x="5155215" y="3126441"/>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0" name="Straight Arrow Connector 19">
            <a:extLst>
              <a:ext uri="{FF2B5EF4-FFF2-40B4-BE49-F238E27FC236}">
                <a16:creationId xmlns:a16="http://schemas.microsoft.com/office/drawing/2014/main" id="{733A90E3-BA9A-BC4D-87C7-7E1F94B1A261}"/>
              </a:ext>
            </a:extLst>
          </p:cNvPr>
          <p:cNvCxnSpPr>
            <a:cxnSpLocks/>
          </p:cNvCxnSpPr>
          <p:nvPr/>
        </p:nvCxnSpPr>
        <p:spPr>
          <a:xfrm flipH="1" flipV="1">
            <a:off x="1655978" y="3706064"/>
            <a:ext cx="1331847" cy="514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4B140D8-E12A-E642-806F-F6382E8A794D}"/>
              </a:ext>
            </a:extLst>
          </p:cNvPr>
          <p:cNvCxnSpPr>
            <a:cxnSpLocks/>
          </p:cNvCxnSpPr>
          <p:nvPr/>
        </p:nvCxnSpPr>
        <p:spPr>
          <a:xfrm flipV="1">
            <a:off x="3257162" y="3706064"/>
            <a:ext cx="2911042" cy="503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E90317C-CA6D-F14B-8141-503FF8D97F77}"/>
              </a:ext>
            </a:extLst>
          </p:cNvPr>
          <p:cNvSpPr txBox="1"/>
          <p:nvPr/>
        </p:nvSpPr>
        <p:spPr>
          <a:xfrm>
            <a:off x="961549" y="3121206"/>
            <a:ext cx="748923" cy="261610"/>
          </a:xfrm>
          <a:prstGeom prst="rect">
            <a:avLst/>
          </a:prstGeom>
          <a:noFill/>
        </p:spPr>
        <p:txBody>
          <a:bodyPr wrap="none" rtlCol="0">
            <a:spAutoFit/>
          </a:bodyPr>
          <a:lstStyle/>
          <a:p>
            <a:r>
              <a:rPr lang="zh-CN" altLang="en-US" sz="1100" dirty="0"/>
              <a:t>段概要：</a:t>
            </a:r>
            <a:endParaRPr lang="en-CN" sz="1100" dirty="0"/>
          </a:p>
        </p:txBody>
      </p:sp>
      <p:sp>
        <p:nvSpPr>
          <p:cNvPr id="13" name="TextBox 12">
            <a:extLst>
              <a:ext uri="{FF2B5EF4-FFF2-40B4-BE49-F238E27FC236}">
                <a16:creationId xmlns:a16="http://schemas.microsoft.com/office/drawing/2014/main" id="{3F244560-6F69-A040-A7AF-A1B462CEF090}"/>
              </a:ext>
            </a:extLst>
          </p:cNvPr>
          <p:cNvSpPr txBox="1"/>
          <p:nvPr/>
        </p:nvSpPr>
        <p:spPr>
          <a:xfrm>
            <a:off x="6359078" y="2758028"/>
            <a:ext cx="2521844" cy="430887"/>
          </a:xfrm>
          <a:prstGeom prst="rect">
            <a:avLst/>
          </a:prstGeom>
          <a:noFill/>
        </p:spPr>
        <p:txBody>
          <a:bodyPr wrap="none" rtlCol="0">
            <a:spAutoFit/>
          </a:bodyPr>
          <a:lstStyle/>
          <a:p>
            <a:r>
              <a:rPr lang="en-US" altLang="zh-CN" sz="1100" dirty="0">
                <a:solidFill>
                  <a:srgbClr val="C00000"/>
                </a:solidFill>
              </a:rPr>
              <a:t>8</a:t>
            </a:r>
            <a:r>
              <a:rPr lang="zh-CN" altLang="en-US" sz="1100" dirty="0">
                <a:solidFill>
                  <a:srgbClr val="C00000"/>
                </a:solidFill>
              </a:rPr>
              <a:t>号</a:t>
            </a:r>
            <a:r>
              <a:rPr lang="en-US" altLang="zh-CN" sz="1100" dirty="0" err="1">
                <a:solidFill>
                  <a:srgbClr val="C00000"/>
                </a:solidFill>
              </a:rPr>
              <a:t>inode</a:t>
            </a:r>
            <a:r>
              <a:rPr lang="zh-CN" altLang="en-US" sz="1100" dirty="0">
                <a:solidFill>
                  <a:srgbClr val="C00000"/>
                </a:solidFill>
              </a:rPr>
              <a:t>中第</a:t>
            </a:r>
            <a:r>
              <a:rPr lang="en-US" altLang="zh-CN" sz="1100" dirty="0">
                <a:solidFill>
                  <a:srgbClr val="C00000"/>
                </a:solidFill>
              </a:rPr>
              <a:t>2</a:t>
            </a:r>
            <a:r>
              <a:rPr lang="zh-CN" altLang="en-US" sz="1100" dirty="0">
                <a:solidFill>
                  <a:srgbClr val="C00000"/>
                </a:solidFill>
              </a:rPr>
              <a:t>个数据块不指向此位置</a:t>
            </a:r>
            <a:endParaRPr lang="en-US" altLang="zh-CN" sz="1100" dirty="0">
              <a:solidFill>
                <a:srgbClr val="C00000"/>
              </a:solidFill>
            </a:endParaRPr>
          </a:p>
          <a:p>
            <a:r>
              <a:rPr lang="en-US" altLang="zh-CN" sz="1100" dirty="0">
                <a:solidFill>
                  <a:srgbClr val="C00000"/>
                </a:solidFill>
              </a:rPr>
              <a:t>=&gt;</a:t>
            </a:r>
            <a:r>
              <a:rPr lang="zh-CN" altLang="en-US" sz="1100" dirty="0">
                <a:solidFill>
                  <a:srgbClr val="C00000"/>
                </a:solidFill>
              </a:rPr>
              <a:t>无效块</a:t>
            </a:r>
            <a:endParaRPr lang="en-CN" sz="1100" dirty="0">
              <a:solidFill>
                <a:srgbClr val="C00000"/>
              </a:solidFill>
            </a:endParaRPr>
          </a:p>
        </p:txBody>
      </p:sp>
      <p:cxnSp>
        <p:nvCxnSpPr>
          <p:cNvPr id="19" name="Straight Arrow Connector 18">
            <a:extLst>
              <a:ext uri="{FF2B5EF4-FFF2-40B4-BE49-F238E27FC236}">
                <a16:creationId xmlns:a16="http://schemas.microsoft.com/office/drawing/2014/main" id="{7E18A975-6593-0449-BF24-945F73086D21}"/>
              </a:ext>
            </a:extLst>
          </p:cNvPr>
          <p:cNvCxnSpPr>
            <a:cxnSpLocks/>
            <a:stCxn id="13" idx="1"/>
          </p:cNvCxnSpPr>
          <p:nvPr/>
        </p:nvCxnSpPr>
        <p:spPr>
          <a:xfrm flipH="1">
            <a:off x="5940152" y="2973472"/>
            <a:ext cx="418926" cy="409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93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3AEF0-6DE9-6947-A19B-C761B5EADA0A}"/>
              </a:ext>
            </a:extLst>
          </p:cNvPr>
          <p:cNvSpPr>
            <a:spLocks noGrp="1"/>
          </p:cNvSpPr>
          <p:nvPr>
            <p:ph type="title"/>
          </p:nvPr>
        </p:nvSpPr>
        <p:spPr/>
        <p:txBody>
          <a:bodyPr/>
          <a:lstStyle/>
          <a:p>
            <a:r>
              <a:rPr lang="zh-CN" altLang="en-CN" dirty="0"/>
              <a:t>清理</a:t>
            </a:r>
            <a:r>
              <a:rPr lang="zh-CN" altLang="en-US" dirty="0"/>
              <a:t>的策略有多种维度</a:t>
            </a:r>
            <a:endParaRPr lang="en-CN" dirty="0"/>
          </a:p>
        </p:txBody>
      </p:sp>
      <p:sp>
        <p:nvSpPr>
          <p:cNvPr id="3" name="Content Placeholder 2">
            <a:extLst>
              <a:ext uri="{FF2B5EF4-FFF2-40B4-BE49-F238E27FC236}">
                <a16:creationId xmlns:a16="http://schemas.microsoft.com/office/drawing/2014/main" id="{DBC065E2-46A0-6C42-A0C4-B69276EF647D}"/>
              </a:ext>
            </a:extLst>
          </p:cNvPr>
          <p:cNvSpPr>
            <a:spLocks noGrp="1"/>
          </p:cNvSpPr>
          <p:nvPr>
            <p:ph idx="1"/>
          </p:nvPr>
        </p:nvSpPr>
        <p:spPr/>
        <p:txBody>
          <a:bodyPr>
            <a:normAutofit/>
          </a:bodyPr>
          <a:lstStyle/>
          <a:p>
            <a:r>
              <a:rPr lang="zh-CN" altLang="en-US" sz="2000" b="0" dirty="0"/>
              <a:t>清理策略</a:t>
            </a:r>
            <a:endParaRPr lang="en-US" altLang="zh-CN" sz="2000" b="0" dirty="0"/>
          </a:p>
          <a:p>
            <a:pPr lvl="1"/>
            <a:r>
              <a:rPr lang="zh-CN" altLang="en-US" sz="1600" b="0" dirty="0"/>
              <a:t>什么时候执行清理？</a:t>
            </a:r>
            <a:endParaRPr lang="en-US" altLang="zh-CN" sz="1600" b="0" dirty="0"/>
          </a:p>
          <a:p>
            <a:pPr lvl="2"/>
            <a:r>
              <a:rPr lang="zh-CN" altLang="en-US" sz="1600" dirty="0"/>
              <a:t>后台持续清理？晚上清理？磁盘要满的时候清理？</a:t>
            </a:r>
            <a:endParaRPr lang="en-US" altLang="zh-CN" sz="1600" b="0" dirty="0"/>
          </a:p>
          <a:p>
            <a:pPr lvl="1"/>
            <a:r>
              <a:rPr lang="zh-CN" altLang="en-US" sz="1600" b="0" dirty="0"/>
              <a:t>一次清理多少段？清理哪些段？</a:t>
            </a:r>
            <a:endParaRPr lang="en-US" altLang="zh-CN" sz="1600" b="0" dirty="0"/>
          </a:p>
          <a:p>
            <a:pPr lvl="1"/>
            <a:r>
              <a:rPr lang="zh-CN" altLang="en-US" sz="1600" b="0" dirty="0"/>
              <a:t>有效数据应该以什么顺序排序写入新的段？</a:t>
            </a:r>
            <a:endParaRPr lang="en-US" altLang="zh-CN" sz="1600" b="0" dirty="0"/>
          </a:p>
          <a:p>
            <a:pPr lvl="2"/>
            <a:r>
              <a:rPr lang="zh-CN" altLang="en-US" sz="1600" dirty="0"/>
              <a:t>维持</a:t>
            </a:r>
            <a:r>
              <a:rPr lang="zh-CN" altLang="en-US" sz="1600" b="0" dirty="0"/>
              <a:t>原顺序？相同目录放一起？相近修改时间放一起？</a:t>
            </a:r>
            <a:endParaRPr lang="en-US" altLang="zh-CN" sz="1600" b="0" dirty="0"/>
          </a:p>
          <a:p>
            <a:r>
              <a:rPr lang="zh-CN" altLang="en-US" sz="2000" b="0" dirty="0"/>
              <a:t>段使用表为策略提供辅助信息</a:t>
            </a:r>
            <a:endParaRPr lang="en-US" altLang="zh-CN" sz="2000" b="0" dirty="0"/>
          </a:p>
          <a:p>
            <a:pPr lvl="1"/>
            <a:r>
              <a:rPr lang="zh-CN" altLang="en-CN" sz="1600" dirty="0"/>
              <a:t>记录</a:t>
            </a:r>
            <a:r>
              <a:rPr lang="zh-CN" altLang="en-US" sz="1600" dirty="0"/>
              <a:t>每个段中有效字节数</a:t>
            </a:r>
            <a:endParaRPr lang="en-US" altLang="zh-CN" sz="1600" dirty="0"/>
          </a:p>
          <a:p>
            <a:pPr lvl="1"/>
            <a:r>
              <a:rPr lang="zh-CN" altLang="en-US" sz="1600" dirty="0"/>
              <a:t>记录每个段最近写入的时间</a:t>
            </a:r>
            <a:endParaRPr lang="en-US" altLang="zh-CN" sz="1600" dirty="0"/>
          </a:p>
          <a:p>
            <a:pPr lvl="1"/>
            <a:endParaRPr lang="en-US" altLang="zh-CN" sz="1600" dirty="0"/>
          </a:p>
          <a:p>
            <a:endParaRPr lang="en-US" altLang="zh-CN" sz="2200" b="0" dirty="0"/>
          </a:p>
          <a:p>
            <a:endParaRPr lang="en-CN" sz="2000" b="0" dirty="0"/>
          </a:p>
        </p:txBody>
      </p:sp>
      <p:sp>
        <p:nvSpPr>
          <p:cNvPr id="4" name="Slide Number Placeholder 3">
            <a:extLst>
              <a:ext uri="{FF2B5EF4-FFF2-40B4-BE49-F238E27FC236}">
                <a16:creationId xmlns:a16="http://schemas.microsoft.com/office/drawing/2014/main" id="{BDC71732-6BFC-5B44-8DA4-EA01B27D0EF6}"/>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Footer Placeholder 4">
            <a:extLst>
              <a:ext uri="{FF2B5EF4-FFF2-40B4-BE49-F238E27FC236}">
                <a16:creationId xmlns:a16="http://schemas.microsoft.com/office/drawing/2014/main" id="{3F98A37B-035B-7945-8B3C-443DACFAD6A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29487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D74AA-95BA-FC4A-95A9-F44C1244D361}"/>
              </a:ext>
            </a:extLst>
          </p:cNvPr>
          <p:cNvSpPr>
            <a:spLocks noGrp="1"/>
          </p:cNvSpPr>
          <p:nvPr>
            <p:ph type="title"/>
          </p:nvPr>
        </p:nvSpPr>
        <p:spPr/>
        <p:txBody>
          <a:bodyPr/>
          <a:lstStyle/>
          <a:p>
            <a:r>
              <a:rPr lang="zh-CN" altLang="en-CN" dirty="0"/>
              <a:t>挂载</a:t>
            </a:r>
            <a:r>
              <a:rPr lang="zh-CN" altLang="en-US" dirty="0"/>
              <a:t>和恢复</a:t>
            </a:r>
            <a:endParaRPr lang="en-CN" dirty="0"/>
          </a:p>
        </p:txBody>
      </p:sp>
      <p:sp>
        <p:nvSpPr>
          <p:cNvPr id="3" name="Content Placeholder 2">
            <a:extLst>
              <a:ext uri="{FF2B5EF4-FFF2-40B4-BE49-F238E27FC236}">
                <a16:creationId xmlns:a16="http://schemas.microsoft.com/office/drawing/2014/main" id="{33B3EE28-887C-EC49-BBC2-DB9BDA6294CC}"/>
              </a:ext>
            </a:extLst>
          </p:cNvPr>
          <p:cNvSpPr>
            <a:spLocks noGrp="1"/>
          </p:cNvSpPr>
          <p:nvPr>
            <p:ph idx="1"/>
          </p:nvPr>
        </p:nvSpPr>
        <p:spPr>
          <a:xfrm>
            <a:off x="457200" y="1333501"/>
            <a:ext cx="8579296" cy="3771636"/>
          </a:xfrm>
        </p:spPr>
        <p:txBody>
          <a:bodyPr>
            <a:normAutofit/>
          </a:bodyPr>
          <a:lstStyle/>
          <a:p>
            <a:r>
              <a:rPr lang="zh-CN" altLang="en-US" b="0" dirty="0"/>
              <a:t>简单方法：扫描所有日志，重建出整个文件系统的内存结构</a:t>
            </a:r>
            <a:endParaRPr lang="en-US" altLang="zh-CN" b="0" dirty="0"/>
          </a:p>
          <a:p>
            <a:pPr lvl="1"/>
            <a:r>
              <a:rPr lang="zh-CN" altLang="en-US" dirty="0"/>
              <a:t>缺点：大量无效数据也被扫描</a:t>
            </a:r>
            <a:endParaRPr lang="en-US" altLang="zh-CN" dirty="0"/>
          </a:p>
          <a:p>
            <a:r>
              <a:rPr lang="zh-CN" altLang="en-US" b="0" dirty="0"/>
              <a:t>优化：定期写入检查点（</a:t>
            </a:r>
            <a:r>
              <a:rPr lang="en-US" altLang="zh-CN" b="0" dirty="0"/>
              <a:t>checkpoint</a:t>
            </a:r>
            <a:r>
              <a:rPr lang="zh-CN" altLang="en-US" b="0" dirty="0"/>
              <a:t>）</a:t>
            </a:r>
            <a:endParaRPr lang="en-US" altLang="zh-CN" b="0" dirty="0"/>
          </a:p>
          <a:p>
            <a:pPr lvl="1"/>
            <a:r>
              <a:rPr lang="zh-CN" altLang="en-US" dirty="0"/>
              <a:t>写入前的有效数据，可以通过检查点找到</a:t>
            </a:r>
            <a:endParaRPr lang="en-US" altLang="zh-CN" dirty="0"/>
          </a:p>
          <a:p>
            <a:pPr lvl="1"/>
            <a:r>
              <a:rPr lang="zh-CN" altLang="en-US" dirty="0"/>
              <a:t>只需扫描检查点之后写入的日志</a:t>
            </a:r>
            <a:endParaRPr lang="en-US" altLang="zh-CN" dirty="0"/>
          </a:p>
          <a:p>
            <a:pPr lvl="1"/>
            <a:r>
              <a:rPr lang="zh-CN" altLang="en-US" dirty="0"/>
              <a:t>减少挂载</a:t>
            </a:r>
            <a:r>
              <a:rPr lang="en-US" altLang="zh-CN" dirty="0"/>
              <a:t>/</a:t>
            </a:r>
            <a:r>
              <a:rPr lang="zh-CN" altLang="en-US" dirty="0"/>
              <a:t>恢复时间</a:t>
            </a:r>
            <a:endParaRPr lang="en-US" altLang="zh-CN" b="0" dirty="0"/>
          </a:p>
          <a:p>
            <a:pPr marL="0" indent="0">
              <a:buNone/>
            </a:pPr>
            <a:endParaRPr lang="en-US" altLang="zh-CN" b="0" dirty="0"/>
          </a:p>
        </p:txBody>
      </p:sp>
      <p:sp>
        <p:nvSpPr>
          <p:cNvPr id="4" name="Slide Number Placeholder 3">
            <a:extLst>
              <a:ext uri="{FF2B5EF4-FFF2-40B4-BE49-F238E27FC236}">
                <a16:creationId xmlns:a16="http://schemas.microsoft.com/office/drawing/2014/main" id="{4F53E3FA-6F65-0745-8C76-D29A45EA7DDE}"/>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Footer Placeholder 4">
            <a:extLst>
              <a:ext uri="{FF2B5EF4-FFF2-40B4-BE49-F238E27FC236}">
                <a16:creationId xmlns:a16="http://schemas.microsoft.com/office/drawing/2014/main" id="{496EE527-0D45-464D-B059-97E56CDB600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98045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US" dirty="0"/>
              <a:t>检查点</a:t>
            </a:r>
            <a:endParaRPr lang="en-CN"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C489D167-F129-2B47-97B6-59301E28315C}"/>
              </a:ext>
            </a:extLst>
          </p:cNvPr>
          <p:cNvSpPr/>
          <p:nvPr/>
        </p:nvSpPr>
        <p:spPr>
          <a:xfrm>
            <a:off x="3522304" y="4369668"/>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42AA27CA-B286-0F4D-8CFE-C2D9D7130ABF}"/>
              </a:ext>
            </a:extLst>
          </p:cNvPr>
          <p:cNvSpPr/>
          <p:nvPr/>
        </p:nvSpPr>
        <p:spPr>
          <a:xfrm>
            <a:off x="4756426" y="4369668"/>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8" name="Rectangle 7">
            <a:extLst>
              <a:ext uri="{FF2B5EF4-FFF2-40B4-BE49-F238E27FC236}">
                <a16:creationId xmlns:a16="http://schemas.microsoft.com/office/drawing/2014/main" id="{7834BAD6-D2F0-F247-AE79-52F0E7C3C69B}"/>
              </a:ext>
            </a:extLst>
          </p:cNvPr>
          <p:cNvSpPr/>
          <p:nvPr/>
        </p:nvSpPr>
        <p:spPr>
          <a:xfrm>
            <a:off x="5990549" y="4371345"/>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0" name="Rectangle 9">
            <a:extLst>
              <a:ext uri="{FF2B5EF4-FFF2-40B4-BE49-F238E27FC236}">
                <a16:creationId xmlns:a16="http://schemas.microsoft.com/office/drawing/2014/main" id="{97F9663B-7B23-E041-9462-A13DC9E00432}"/>
              </a:ext>
            </a:extLst>
          </p:cNvPr>
          <p:cNvSpPr/>
          <p:nvPr/>
        </p:nvSpPr>
        <p:spPr>
          <a:xfrm>
            <a:off x="1043608" y="4369668"/>
            <a:ext cx="411436" cy="389360"/>
          </a:xfrm>
          <a:prstGeom prst="rect">
            <a:avLst/>
          </a:prstGeom>
          <a:solidFill>
            <a:schemeClr val="accent3">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2" name="Rectangle 11">
            <a:extLst>
              <a:ext uri="{FF2B5EF4-FFF2-40B4-BE49-F238E27FC236}">
                <a16:creationId xmlns:a16="http://schemas.microsoft.com/office/drawing/2014/main" id="{089F2574-6D34-3B4A-BC04-A25435A22C4F}"/>
              </a:ext>
            </a:extLst>
          </p:cNvPr>
          <p:cNvSpPr/>
          <p:nvPr/>
        </p:nvSpPr>
        <p:spPr>
          <a:xfrm>
            <a:off x="1455044" y="436966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3" name="Rectangle 12">
            <a:extLst>
              <a:ext uri="{FF2B5EF4-FFF2-40B4-BE49-F238E27FC236}">
                <a16:creationId xmlns:a16="http://schemas.microsoft.com/office/drawing/2014/main" id="{ECC4E9D2-BED9-5240-A6E6-E9855C160DBF}"/>
              </a:ext>
            </a:extLst>
          </p:cNvPr>
          <p:cNvSpPr/>
          <p:nvPr/>
        </p:nvSpPr>
        <p:spPr>
          <a:xfrm>
            <a:off x="1871613" y="436966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4" name="Rectangle 13">
            <a:extLst>
              <a:ext uri="{FF2B5EF4-FFF2-40B4-BE49-F238E27FC236}">
                <a16:creationId xmlns:a16="http://schemas.microsoft.com/office/drawing/2014/main" id="{1F767787-4A3D-A64D-B14B-6EF40CFA4E67}"/>
              </a:ext>
            </a:extLst>
          </p:cNvPr>
          <p:cNvSpPr/>
          <p:nvPr/>
        </p:nvSpPr>
        <p:spPr>
          <a:xfrm>
            <a:off x="2288182" y="4369668"/>
            <a:ext cx="1234122"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5" name="TextBox 14">
            <a:extLst>
              <a:ext uri="{FF2B5EF4-FFF2-40B4-BE49-F238E27FC236}">
                <a16:creationId xmlns:a16="http://schemas.microsoft.com/office/drawing/2014/main" id="{79BB28BE-DBD3-A44F-900C-C51AF765EDDD}"/>
              </a:ext>
            </a:extLst>
          </p:cNvPr>
          <p:cNvSpPr txBox="1"/>
          <p:nvPr/>
        </p:nvSpPr>
        <p:spPr>
          <a:xfrm>
            <a:off x="7272387" y="4167772"/>
            <a:ext cx="543739" cy="523220"/>
          </a:xfrm>
          <a:prstGeom prst="rect">
            <a:avLst/>
          </a:prstGeom>
          <a:noFill/>
        </p:spPr>
        <p:txBody>
          <a:bodyPr wrap="none" rtlCol="0">
            <a:spAutoFit/>
          </a:bodyPr>
          <a:lstStyle/>
          <a:p>
            <a:r>
              <a:rPr lang="en-US" sz="2800" dirty="0"/>
              <a:t>…</a:t>
            </a:r>
            <a:endParaRPr lang="en-CN" sz="2800" dirty="0"/>
          </a:p>
        </p:txBody>
      </p:sp>
      <p:sp>
        <p:nvSpPr>
          <p:cNvPr id="16" name="TextBox 15">
            <a:extLst>
              <a:ext uri="{FF2B5EF4-FFF2-40B4-BE49-F238E27FC236}">
                <a16:creationId xmlns:a16="http://schemas.microsoft.com/office/drawing/2014/main" id="{3296133C-095B-F246-933E-F884637E2ADB}"/>
              </a:ext>
            </a:extLst>
          </p:cNvPr>
          <p:cNvSpPr txBox="1"/>
          <p:nvPr/>
        </p:nvSpPr>
        <p:spPr>
          <a:xfrm>
            <a:off x="2697494" y="4759028"/>
            <a:ext cx="415498" cy="369332"/>
          </a:xfrm>
          <a:prstGeom prst="rect">
            <a:avLst/>
          </a:prstGeom>
          <a:noFill/>
        </p:spPr>
        <p:txBody>
          <a:bodyPr wrap="none" rtlCol="0">
            <a:spAutoFit/>
          </a:bodyPr>
          <a:lstStyle/>
          <a:p>
            <a:r>
              <a:rPr lang="zh-CN" altLang="en-CN" dirty="0"/>
              <a:t>段</a:t>
            </a:r>
            <a:endParaRPr lang="en-CN" dirty="0"/>
          </a:p>
        </p:txBody>
      </p:sp>
      <p:sp>
        <p:nvSpPr>
          <p:cNvPr id="17" name="TextBox 16">
            <a:extLst>
              <a:ext uri="{FF2B5EF4-FFF2-40B4-BE49-F238E27FC236}">
                <a16:creationId xmlns:a16="http://schemas.microsoft.com/office/drawing/2014/main" id="{A87893B6-FEFD-B44A-86EA-AB184DB29ECD}"/>
              </a:ext>
            </a:extLst>
          </p:cNvPr>
          <p:cNvSpPr txBox="1"/>
          <p:nvPr/>
        </p:nvSpPr>
        <p:spPr>
          <a:xfrm>
            <a:off x="349033" y="3644074"/>
            <a:ext cx="877163" cy="369332"/>
          </a:xfrm>
          <a:prstGeom prst="rect">
            <a:avLst/>
          </a:prstGeom>
          <a:noFill/>
        </p:spPr>
        <p:txBody>
          <a:bodyPr wrap="none" rtlCol="0">
            <a:spAutoFit/>
          </a:bodyPr>
          <a:lstStyle/>
          <a:p>
            <a:r>
              <a:rPr lang="zh-CN" altLang="en-US" dirty="0"/>
              <a:t>超级块</a:t>
            </a:r>
            <a:endParaRPr lang="en-CN" dirty="0"/>
          </a:p>
        </p:txBody>
      </p:sp>
      <p:sp>
        <p:nvSpPr>
          <p:cNvPr id="18" name="TextBox 17">
            <a:extLst>
              <a:ext uri="{FF2B5EF4-FFF2-40B4-BE49-F238E27FC236}">
                <a16:creationId xmlns:a16="http://schemas.microsoft.com/office/drawing/2014/main" id="{748761B5-FF4A-1E42-A339-9130A452FCA5}"/>
              </a:ext>
            </a:extLst>
          </p:cNvPr>
          <p:cNvSpPr txBox="1"/>
          <p:nvPr/>
        </p:nvSpPr>
        <p:spPr>
          <a:xfrm>
            <a:off x="1158060" y="3446085"/>
            <a:ext cx="1005403" cy="369332"/>
          </a:xfrm>
          <a:prstGeom prst="rect">
            <a:avLst/>
          </a:prstGeom>
          <a:noFill/>
        </p:spPr>
        <p:txBody>
          <a:bodyPr wrap="none" rtlCol="0">
            <a:spAutoFit/>
          </a:bodyPr>
          <a:lstStyle/>
          <a:p>
            <a:r>
              <a:rPr lang="zh-CN" altLang="en-US" dirty="0"/>
              <a:t>检查点</a:t>
            </a:r>
            <a:r>
              <a:rPr lang="en-US" altLang="zh-CN" dirty="0"/>
              <a:t>1</a:t>
            </a:r>
            <a:endParaRPr lang="en-CN" dirty="0"/>
          </a:p>
        </p:txBody>
      </p:sp>
      <p:sp>
        <p:nvSpPr>
          <p:cNvPr id="19" name="TextBox 18">
            <a:extLst>
              <a:ext uri="{FF2B5EF4-FFF2-40B4-BE49-F238E27FC236}">
                <a16:creationId xmlns:a16="http://schemas.microsoft.com/office/drawing/2014/main" id="{66889A49-9ADD-1E4F-B66C-63B18110E0F9}"/>
              </a:ext>
            </a:extLst>
          </p:cNvPr>
          <p:cNvSpPr txBox="1"/>
          <p:nvPr/>
        </p:nvSpPr>
        <p:spPr>
          <a:xfrm>
            <a:off x="2134920" y="3622181"/>
            <a:ext cx="1005403" cy="369332"/>
          </a:xfrm>
          <a:prstGeom prst="rect">
            <a:avLst/>
          </a:prstGeom>
          <a:noFill/>
        </p:spPr>
        <p:txBody>
          <a:bodyPr wrap="none" rtlCol="0">
            <a:spAutoFit/>
          </a:bodyPr>
          <a:lstStyle/>
          <a:p>
            <a:r>
              <a:rPr lang="zh-CN" altLang="en-US" dirty="0"/>
              <a:t>检查点</a:t>
            </a:r>
            <a:r>
              <a:rPr lang="en-US" altLang="zh-CN" dirty="0"/>
              <a:t>2</a:t>
            </a:r>
            <a:endParaRPr lang="en-CN" dirty="0"/>
          </a:p>
        </p:txBody>
      </p:sp>
      <p:cxnSp>
        <p:nvCxnSpPr>
          <p:cNvPr id="21" name="Straight Arrow Connector 20">
            <a:extLst>
              <a:ext uri="{FF2B5EF4-FFF2-40B4-BE49-F238E27FC236}">
                <a16:creationId xmlns:a16="http://schemas.microsoft.com/office/drawing/2014/main" id="{10094A6B-8337-1343-8C69-DCA30BC49FDF}"/>
              </a:ext>
            </a:extLst>
          </p:cNvPr>
          <p:cNvCxnSpPr>
            <a:stCxn id="17" idx="2"/>
            <a:endCxn id="10" idx="0"/>
          </p:cNvCxnSpPr>
          <p:nvPr/>
        </p:nvCxnSpPr>
        <p:spPr>
          <a:xfrm>
            <a:off x="787615" y="4013406"/>
            <a:ext cx="461711" cy="3562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40DCC87C-89CB-164D-9523-354CD0B2E9AE}"/>
              </a:ext>
            </a:extLst>
          </p:cNvPr>
          <p:cNvCxnSpPr>
            <a:cxnSpLocks/>
            <a:stCxn id="18" idx="2"/>
            <a:endCxn id="12" idx="0"/>
          </p:cNvCxnSpPr>
          <p:nvPr/>
        </p:nvCxnSpPr>
        <p:spPr>
          <a:xfrm>
            <a:off x="1660762" y="3815417"/>
            <a:ext cx="0" cy="5542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BC26F023-D0A2-3845-ACCD-29B4300A74D6}"/>
              </a:ext>
            </a:extLst>
          </p:cNvPr>
          <p:cNvCxnSpPr>
            <a:cxnSpLocks/>
            <a:stCxn id="19" idx="2"/>
            <a:endCxn id="13" idx="0"/>
          </p:cNvCxnSpPr>
          <p:nvPr/>
        </p:nvCxnSpPr>
        <p:spPr>
          <a:xfrm flipH="1">
            <a:off x="2077331" y="3991513"/>
            <a:ext cx="560291" cy="3781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Content Placeholder 2">
            <a:extLst>
              <a:ext uri="{FF2B5EF4-FFF2-40B4-BE49-F238E27FC236}">
                <a16:creationId xmlns:a16="http://schemas.microsoft.com/office/drawing/2014/main" id="{7176B5D6-2AAD-7541-801E-95172B03ABB4}"/>
              </a:ext>
            </a:extLst>
          </p:cNvPr>
          <p:cNvSpPr>
            <a:spLocks noGrp="1"/>
          </p:cNvSpPr>
          <p:nvPr>
            <p:ph idx="1"/>
          </p:nvPr>
        </p:nvSpPr>
        <p:spPr>
          <a:xfrm>
            <a:off x="457200" y="1333501"/>
            <a:ext cx="8229600" cy="3771636"/>
          </a:xfrm>
        </p:spPr>
        <p:txBody>
          <a:bodyPr>
            <a:normAutofit/>
          </a:bodyPr>
          <a:lstStyle/>
          <a:p>
            <a:r>
              <a:rPr lang="zh-CN" altLang="en-US" sz="2000" b="0" dirty="0"/>
              <a:t>检查点内容</a:t>
            </a:r>
            <a:endParaRPr lang="en-US" altLang="zh-CN" sz="2000" b="0" dirty="0"/>
          </a:p>
          <a:p>
            <a:pPr lvl="1"/>
            <a:r>
              <a:rPr lang="en-US" altLang="zh-CN" sz="1800" dirty="0" err="1"/>
              <a:t>inode</a:t>
            </a:r>
            <a:r>
              <a:rPr lang="zh-CN" altLang="en-US" sz="1800" dirty="0"/>
              <a:t> </a:t>
            </a:r>
            <a:r>
              <a:rPr lang="en-US" altLang="zh-CN" sz="1800" dirty="0"/>
              <a:t>map</a:t>
            </a:r>
            <a:r>
              <a:rPr lang="zh-CN" altLang="en-US" sz="1800" dirty="0"/>
              <a:t>的</a:t>
            </a:r>
            <a:r>
              <a:rPr lang="zh-CN" altLang="en-CN" sz="1800" dirty="0"/>
              <a:t>位置</a:t>
            </a:r>
            <a:r>
              <a:rPr lang="zh-CN" altLang="en-US" sz="1800" dirty="0"/>
              <a:t>（可找到所有文件的内容）</a:t>
            </a:r>
            <a:endParaRPr lang="en-US" altLang="zh-CN" sz="1800" dirty="0"/>
          </a:p>
          <a:p>
            <a:pPr lvl="1"/>
            <a:r>
              <a:rPr lang="zh-CN" altLang="en-US" sz="1800" dirty="0"/>
              <a:t>段使用表</a:t>
            </a:r>
            <a:endParaRPr lang="en-US" altLang="zh-CN" sz="1800" dirty="0"/>
          </a:p>
          <a:p>
            <a:pPr lvl="1"/>
            <a:r>
              <a:rPr lang="zh-CN" altLang="en-US" sz="1800" dirty="0"/>
              <a:t>当前时间</a:t>
            </a:r>
            <a:endParaRPr lang="en-US" altLang="zh-CN" sz="1800" dirty="0"/>
          </a:p>
          <a:p>
            <a:pPr lvl="1"/>
            <a:r>
              <a:rPr lang="zh-CN" altLang="en-US" sz="1800" dirty="0"/>
              <a:t>最后写入的段的指针</a:t>
            </a:r>
            <a:endParaRPr lang="en-US" altLang="zh-CN" sz="1800" dirty="0"/>
          </a:p>
        </p:txBody>
      </p:sp>
      <p:sp>
        <p:nvSpPr>
          <p:cNvPr id="35" name="TextBox 34">
            <a:extLst>
              <a:ext uri="{FF2B5EF4-FFF2-40B4-BE49-F238E27FC236}">
                <a16:creationId xmlns:a16="http://schemas.microsoft.com/office/drawing/2014/main" id="{4F9C353B-0ABF-FF4E-A66E-9557A49AB966}"/>
              </a:ext>
            </a:extLst>
          </p:cNvPr>
          <p:cNvSpPr txBox="1"/>
          <p:nvPr/>
        </p:nvSpPr>
        <p:spPr>
          <a:xfrm>
            <a:off x="4139365" y="3252849"/>
            <a:ext cx="4382931" cy="369332"/>
          </a:xfrm>
          <a:prstGeom prst="rect">
            <a:avLst/>
          </a:prstGeom>
          <a:noFill/>
        </p:spPr>
        <p:txBody>
          <a:bodyPr wrap="none" rtlCol="0">
            <a:spAutoFit/>
          </a:bodyPr>
          <a:lstStyle/>
          <a:p>
            <a:r>
              <a:rPr lang="zh-CN" altLang="en-US" dirty="0">
                <a:solidFill>
                  <a:srgbClr val="C00000"/>
                </a:solidFill>
              </a:rPr>
              <a:t>思考一下：为什么需要两个检查点区域？</a:t>
            </a:r>
            <a:endParaRPr lang="en-CN" dirty="0">
              <a:solidFill>
                <a:srgbClr val="C00000"/>
              </a:solidFill>
            </a:endParaRPr>
          </a:p>
        </p:txBody>
      </p:sp>
    </p:spTree>
    <p:extLst>
      <p:ext uri="{BB962C8B-B14F-4D97-AF65-F5344CB8AC3E}">
        <p14:creationId xmlns:p14="http://schemas.microsoft.com/office/powerpoint/2010/main" val="416552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：前滚（</a:t>
            </a:r>
            <a:r>
              <a:rPr lang="en-US" altLang="zh-CN" dirty="0"/>
              <a:t>roll-forward</a:t>
            </a:r>
            <a:r>
              <a:rPr lang="zh-CN" altLang="en-US" dirty="0"/>
              <a:t>）</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normAutofit/>
          </a:bodyPr>
          <a:lstStyle/>
          <a:p>
            <a:r>
              <a:rPr lang="zh-CN" altLang="en-US" sz="2000" b="0" dirty="0"/>
              <a:t>尽量恢复检查点后写入的数据</a:t>
            </a:r>
            <a:endParaRPr lang="en-US" altLang="zh-CN" sz="2000" b="0" dirty="0"/>
          </a:p>
          <a:p>
            <a:r>
              <a:rPr lang="zh-CN" altLang="en-US" sz="2000" b="0" dirty="0"/>
              <a:t>通过段概要里面的新</a:t>
            </a:r>
            <a:r>
              <a:rPr lang="en-US" altLang="zh-CN" sz="2000" b="0" dirty="0" err="1"/>
              <a:t>inode</a:t>
            </a:r>
            <a:r>
              <a:rPr lang="zh-CN" altLang="en-US" sz="2000" b="0" dirty="0"/>
              <a:t>，恢复新的</a:t>
            </a:r>
            <a:r>
              <a:rPr lang="en-US" altLang="zh-CN" sz="2000" b="0" dirty="0" err="1"/>
              <a:t>inode</a:t>
            </a:r>
            <a:endParaRPr lang="en-US" altLang="zh-CN" sz="2000" b="0" dirty="0"/>
          </a:p>
          <a:p>
            <a:pPr lvl="1"/>
            <a:r>
              <a:rPr lang="zh-CN" altLang="en-US" sz="1800" dirty="0"/>
              <a:t>其</a:t>
            </a:r>
            <a:r>
              <a:rPr lang="en-US" altLang="zh-CN" sz="1800" dirty="0" err="1"/>
              <a:t>inode</a:t>
            </a:r>
            <a:r>
              <a:rPr lang="zh-CN" altLang="en-US" sz="1800" dirty="0"/>
              <a:t>中的数据块会被自动恢复</a:t>
            </a:r>
            <a:endParaRPr lang="en-US" altLang="zh-CN" sz="1800" dirty="0"/>
          </a:p>
          <a:p>
            <a:r>
              <a:rPr lang="zh-CN" altLang="en-US" sz="2000" b="0" dirty="0"/>
              <a:t>未被</a:t>
            </a:r>
            <a:r>
              <a:rPr lang="en-US" altLang="zh-CN" sz="2000" b="0" dirty="0" err="1"/>
              <a:t>inode</a:t>
            </a:r>
            <a:r>
              <a:rPr lang="en-US" altLang="zh-CN" sz="2000" b="0" dirty="0"/>
              <a:t>"</a:t>
            </a:r>
            <a:r>
              <a:rPr lang="zh-CN" altLang="en-US" sz="2000" b="0" dirty="0"/>
              <a:t>认领</a:t>
            </a:r>
            <a:r>
              <a:rPr lang="en-US" altLang="zh-CN" sz="2000" b="0" dirty="0"/>
              <a:t>"</a:t>
            </a:r>
            <a:r>
              <a:rPr lang="zh-CN" altLang="en-US" sz="2000" b="0" dirty="0"/>
              <a:t>的数据块会被删除</a:t>
            </a:r>
            <a:endParaRPr lang="en-US" altLang="zh-CN" sz="2000" b="0" dirty="0"/>
          </a:p>
          <a:p>
            <a:endParaRPr lang="en-US" altLang="zh-CN" sz="2000"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60FE354C-FC13-2A4E-87CB-139F31111D79}"/>
              </a:ext>
            </a:extLst>
          </p:cNvPr>
          <p:cNvSpPr/>
          <p:nvPr/>
        </p:nvSpPr>
        <p:spPr>
          <a:xfrm>
            <a:off x="3080270" y="4393938"/>
            <a:ext cx="4372050"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31A3E803-4A73-1B4E-A1B1-283D372D0415}"/>
              </a:ext>
            </a:extLst>
          </p:cNvPr>
          <p:cNvSpPr/>
          <p:nvPr/>
        </p:nvSpPr>
        <p:spPr>
          <a:xfrm>
            <a:off x="3923928" y="4393938"/>
            <a:ext cx="432048"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err="1"/>
              <a:t>i</a:t>
            </a:r>
            <a:r>
              <a:rPr lang="en-CN" sz="900" dirty="0"/>
              <a:t>node</a:t>
            </a:r>
            <a:br>
              <a:rPr lang="en-US" altLang="zh-CN" sz="900" dirty="0"/>
            </a:br>
            <a:r>
              <a:rPr lang="en-US" altLang="zh-CN" sz="900" dirty="0"/>
              <a:t>map</a:t>
            </a:r>
            <a:endParaRPr lang="en-CN" sz="900" dirty="0"/>
          </a:p>
        </p:txBody>
      </p:sp>
      <p:sp>
        <p:nvSpPr>
          <p:cNvPr id="8" name="Rectangle 7">
            <a:extLst>
              <a:ext uri="{FF2B5EF4-FFF2-40B4-BE49-F238E27FC236}">
                <a16:creationId xmlns:a16="http://schemas.microsoft.com/office/drawing/2014/main" id="{DFA76D72-89C7-E348-BD61-A57E6D375489}"/>
              </a:ext>
            </a:extLst>
          </p:cNvPr>
          <p:cNvSpPr/>
          <p:nvPr/>
        </p:nvSpPr>
        <p:spPr>
          <a:xfrm>
            <a:off x="1753343" y="439393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100" dirty="0"/>
              <a:t>CP</a:t>
            </a:r>
          </a:p>
        </p:txBody>
      </p:sp>
      <p:sp>
        <p:nvSpPr>
          <p:cNvPr id="9" name="Rectangle 8">
            <a:extLst>
              <a:ext uri="{FF2B5EF4-FFF2-40B4-BE49-F238E27FC236}">
                <a16:creationId xmlns:a16="http://schemas.microsoft.com/office/drawing/2014/main" id="{D43A8FF8-ABF1-C441-959F-03CBB7420D6A}"/>
              </a:ext>
            </a:extLst>
          </p:cNvPr>
          <p:cNvSpPr/>
          <p:nvPr/>
        </p:nvSpPr>
        <p:spPr>
          <a:xfrm>
            <a:off x="3077091" y="4393938"/>
            <a:ext cx="850014"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900" dirty="0"/>
              <a:t>之前</a:t>
            </a:r>
            <a:r>
              <a:rPr lang="zh-CN" altLang="en-US" sz="900" dirty="0"/>
              <a:t>的数据</a:t>
            </a:r>
            <a:endParaRPr lang="en-CN" sz="900" dirty="0"/>
          </a:p>
        </p:txBody>
      </p:sp>
      <p:cxnSp>
        <p:nvCxnSpPr>
          <p:cNvPr id="10" name="Straight Arrow Connector 9">
            <a:extLst>
              <a:ext uri="{FF2B5EF4-FFF2-40B4-BE49-F238E27FC236}">
                <a16:creationId xmlns:a16="http://schemas.microsoft.com/office/drawing/2014/main" id="{101F326E-CB58-E946-B2D8-270FB7154C41}"/>
              </a:ext>
            </a:extLst>
          </p:cNvPr>
          <p:cNvCxnSpPr>
            <a:cxnSpLocks/>
            <a:stCxn id="8" idx="2"/>
            <a:endCxn id="7" idx="2"/>
          </p:cNvCxnSpPr>
          <p:nvPr/>
        </p:nvCxnSpPr>
        <p:spPr>
          <a:xfrm rot="16200000" flipH="1">
            <a:off x="3049506" y="3692852"/>
            <a:ext cx="12700" cy="2180891"/>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B7EDD9E5-9639-3A43-97EF-9C48F9B54D75}"/>
              </a:ext>
            </a:extLst>
          </p:cNvPr>
          <p:cNvSpPr/>
          <p:nvPr/>
        </p:nvSpPr>
        <p:spPr>
          <a:xfrm>
            <a:off x="4355976" y="4393937"/>
            <a:ext cx="2142800"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900" dirty="0"/>
              <a:t>之后写入的数据</a:t>
            </a:r>
            <a:endParaRPr lang="en-CN" sz="900" dirty="0"/>
          </a:p>
        </p:txBody>
      </p:sp>
      <p:sp>
        <p:nvSpPr>
          <p:cNvPr id="16" name="Rectangle 15">
            <a:extLst>
              <a:ext uri="{FF2B5EF4-FFF2-40B4-BE49-F238E27FC236}">
                <a16:creationId xmlns:a16="http://schemas.microsoft.com/office/drawing/2014/main" id="{8A5D27FB-1860-2644-BC1C-8CAA71266B13}"/>
              </a:ext>
            </a:extLst>
          </p:cNvPr>
          <p:cNvSpPr/>
          <p:nvPr/>
        </p:nvSpPr>
        <p:spPr>
          <a:xfrm>
            <a:off x="2809674" y="4393937"/>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TextBox 16">
            <a:extLst>
              <a:ext uri="{FF2B5EF4-FFF2-40B4-BE49-F238E27FC236}">
                <a16:creationId xmlns:a16="http://schemas.microsoft.com/office/drawing/2014/main" id="{F9701829-3E43-414E-8676-20503D62C5BE}"/>
              </a:ext>
            </a:extLst>
          </p:cNvPr>
          <p:cNvSpPr txBox="1"/>
          <p:nvPr/>
        </p:nvSpPr>
        <p:spPr>
          <a:xfrm>
            <a:off x="1532738"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8" name="TextBox 17">
            <a:extLst>
              <a:ext uri="{FF2B5EF4-FFF2-40B4-BE49-F238E27FC236}">
                <a16:creationId xmlns:a16="http://schemas.microsoft.com/office/drawing/2014/main" id="{1FC7A63D-E0C0-C541-A334-BE81A7153452}"/>
              </a:ext>
            </a:extLst>
          </p:cNvPr>
          <p:cNvSpPr txBox="1"/>
          <p:nvPr/>
        </p:nvSpPr>
        <p:spPr>
          <a:xfrm>
            <a:off x="2540802"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9" name="TextBox 18">
            <a:extLst>
              <a:ext uri="{FF2B5EF4-FFF2-40B4-BE49-F238E27FC236}">
                <a16:creationId xmlns:a16="http://schemas.microsoft.com/office/drawing/2014/main" id="{AC3F6402-0AC3-754F-8441-ED14D133C1CE}"/>
              </a:ext>
            </a:extLst>
          </p:cNvPr>
          <p:cNvSpPr txBox="1"/>
          <p:nvPr/>
        </p:nvSpPr>
        <p:spPr>
          <a:xfrm>
            <a:off x="3969289"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X</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20" name="TextBox 19">
            <a:extLst>
              <a:ext uri="{FF2B5EF4-FFF2-40B4-BE49-F238E27FC236}">
                <a16:creationId xmlns:a16="http://schemas.microsoft.com/office/drawing/2014/main" id="{03EA6DAC-D1FE-9A44-97E7-28C562A14907}"/>
              </a:ext>
            </a:extLst>
          </p:cNvPr>
          <p:cNvSpPr txBox="1"/>
          <p:nvPr/>
        </p:nvSpPr>
        <p:spPr>
          <a:xfrm>
            <a:off x="4943713" y="3464424"/>
            <a:ext cx="415498" cy="369332"/>
          </a:xfrm>
          <a:prstGeom prst="rect">
            <a:avLst/>
          </a:prstGeom>
          <a:noFill/>
        </p:spPr>
        <p:txBody>
          <a:bodyPr wrap="none" rtlCol="0">
            <a:spAutoFit/>
          </a:bodyPr>
          <a:lstStyle/>
          <a:p>
            <a:r>
              <a:rPr lang="en-US" altLang="zh-CN" dirty="0"/>
              <a:t>…</a:t>
            </a:r>
            <a:endParaRPr lang="en-CN" dirty="0"/>
          </a:p>
        </p:txBody>
      </p:sp>
      <p:sp>
        <p:nvSpPr>
          <p:cNvPr id="21" name="TextBox 20">
            <a:extLst>
              <a:ext uri="{FF2B5EF4-FFF2-40B4-BE49-F238E27FC236}">
                <a16:creationId xmlns:a16="http://schemas.microsoft.com/office/drawing/2014/main" id="{C091C666-82CA-7E4F-98C2-75F3F10FF0B9}"/>
              </a:ext>
            </a:extLst>
          </p:cNvPr>
          <p:cNvSpPr txBox="1"/>
          <p:nvPr/>
        </p:nvSpPr>
        <p:spPr>
          <a:xfrm>
            <a:off x="5359211"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2" name="Straight Arrow Connector 21">
            <a:extLst>
              <a:ext uri="{FF2B5EF4-FFF2-40B4-BE49-F238E27FC236}">
                <a16:creationId xmlns:a16="http://schemas.microsoft.com/office/drawing/2014/main" id="{FE639557-A4E2-3F43-8138-169CC7097B5E}"/>
              </a:ext>
            </a:extLst>
          </p:cNvPr>
          <p:cNvCxnSpPr>
            <a:cxnSpLocks/>
          </p:cNvCxnSpPr>
          <p:nvPr/>
        </p:nvCxnSpPr>
        <p:spPr>
          <a:xfrm flipH="1" flipV="1">
            <a:off x="1518670" y="4018422"/>
            <a:ext cx="1291004" cy="375515"/>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7C0F3B-5D55-874E-8500-D7D0A9082B62}"/>
              </a:ext>
            </a:extLst>
          </p:cNvPr>
          <p:cNvCxnSpPr>
            <a:cxnSpLocks/>
          </p:cNvCxnSpPr>
          <p:nvPr/>
        </p:nvCxnSpPr>
        <p:spPr>
          <a:xfrm flipV="1">
            <a:off x="3077091" y="4018422"/>
            <a:ext cx="3295109" cy="375516"/>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F7EF000-58D2-B241-8F78-C28EA4D1FE03}"/>
              </a:ext>
            </a:extLst>
          </p:cNvPr>
          <p:cNvSpPr txBox="1"/>
          <p:nvPr/>
        </p:nvSpPr>
        <p:spPr>
          <a:xfrm>
            <a:off x="824240" y="3433564"/>
            <a:ext cx="748923" cy="261610"/>
          </a:xfrm>
          <a:prstGeom prst="rect">
            <a:avLst/>
          </a:prstGeom>
          <a:noFill/>
        </p:spPr>
        <p:txBody>
          <a:bodyPr wrap="none" rtlCol="0">
            <a:spAutoFit/>
          </a:bodyPr>
          <a:lstStyle/>
          <a:p>
            <a:r>
              <a:rPr lang="zh-CN" altLang="en-US" sz="1100" dirty="0"/>
              <a:t>段概要：</a:t>
            </a:r>
            <a:endParaRPr lang="en-CN" sz="1100" dirty="0"/>
          </a:p>
        </p:txBody>
      </p:sp>
      <p:sp>
        <p:nvSpPr>
          <p:cNvPr id="28" name="TextBox 27">
            <a:extLst>
              <a:ext uri="{FF2B5EF4-FFF2-40B4-BE49-F238E27FC236}">
                <a16:creationId xmlns:a16="http://schemas.microsoft.com/office/drawing/2014/main" id="{E088B183-3D49-904A-9AC7-6644F6194F2B}"/>
              </a:ext>
            </a:extLst>
          </p:cNvPr>
          <p:cNvSpPr txBox="1"/>
          <p:nvPr/>
        </p:nvSpPr>
        <p:spPr>
          <a:xfrm>
            <a:off x="3544170" y="3480446"/>
            <a:ext cx="415498" cy="369332"/>
          </a:xfrm>
          <a:prstGeom prst="rect">
            <a:avLst/>
          </a:prstGeom>
          <a:noFill/>
        </p:spPr>
        <p:txBody>
          <a:bodyPr wrap="none" rtlCol="0">
            <a:spAutoFit/>
          </a:bodyPr>
          <a:lstStyle/>
          <a:p>
            <a:r>
              <a:rPr lang="en-US" altLang="zh-CN" dirty="0"/>
              <a:t>…</a:t>
            </a:r>
            <a:endParaRPr lang="en-CN" dirty="0"/>
          </a:p>
        </p:txBody>
      </p:sp>
      <p:sp>
        <p:nvSpPr>
          <p:cNvPr id="29" name="Rectangle 28">
            <a:extLst>
              <a:ext uri="{FF2B5EF4-FFF2-40B4-BE49-F238E27FC236}">
                <a16:creationId xmlns:a16="http://schemas.microsoft.com/office/drawing/2014/main" id="{91365C3F-4A13-0543-84A0-4E7296C7E3EB}"/>
              </a:ext>
            </a:extLst>
          </p:cNvPr>
          <p:cNvSpPr/>
          <p:nvPr/>
        </p:nvSpPr>
        <p:spPr>
          <a:xfrm>
            <a:off x="4625743" y="4410687"/>
            <a:ext cx="317970" cy="350923"/>
          </a:xfrm>
          <a:prstGeom prst="rect">
            <a:avLst/>
          </a:prstGeom>
          <a:solidFill>
            <a:schemeClr val="accent3">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a:t>I</a:t>
            </a:r>
            <a:r>
              <a:rPr lang="en-CN" sz="900" dirty="0"/>
              <a:t>node</a:t>
            </a:r>
          </a:p>
        </p:txBody>
      </p:sp>
      <p:cxnSp>
        <p:nvCxnSpPr>
          <p:cNvPr id="30" name="Straight Arrow Connector 29">
            <a:extLst>
              <a:ext uri="{FF2B5EF4-FFF2-40B4-BE49-F238E27FC236}">
                <a16:creationId xmlns:a16="http://schemas.microsoft.com/office/drawing/2014/main" id="{F24CE5F6-05DD-1D4F-98DB-AA58086EB62A}"/>
              </a:ext>
            </a:extLst>
          </p:cNvPr>
          <p:cNvCxnSpPr>
            <a:cxnSpLocks/>
            <a:stCxn id="19" idx="2"/>
            <a:endCxn id="29" idx="0"/>
          </p:cNvCxnSpPr>
          <p:nvPr/>
        </p:nvCxnSpPr>
        <p:spPr>
          <a:xfrm>
            <a:off x="4475784" y="4023573"/>
            <a:ext cx="308944" cy="387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4481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：前滚（</a:t>
            </a:r>
            <a:r>
              <a:rPr lang="en-US" altLang="zh-CN" dirty="0"/>
              <a:t>roll-forward</a:t>
            </a:r>
            <a:r>
              <a:rPr lang="zh-CN" altLang="en-US" dirty="0"/>
              <a:t>）</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normAutofit/>
          </a:bodyPr>
          <a:lstStyle/>
          <a:p>
            <a:r>
              <a:rPr lang="zh-CN" altLang="en-CN" sz="2000" b="0" dirty="0"/>
              <a:t>段</a:t>
            </a:r>
            <a:r>
              <a:rPr lang="zh-CN" altLang="en-US" sz="2000" b="0" dirty="0"/>
              <a:t>概要无法保证</a:t>
            </a:r>
            <a:r>
              <a:rPr lang="en-US" altLang="zh-CN" sz="2000" b="0" dirty="0" err="1"/>
              <a:t>inode</a:t>
            </a:r>
            <a:r>
              <a:rPr lang="zh-CN" altLang="en-US" sz="2000" b="0" dirty="0"/>
              <a:t>的链接数一致性</a:t>
            </a:r>
            <a:endParaRPr lang="en-US" altLang="zh-CN" sz="2000" b="0" dirty="0"/>
          </a:p>
          <a:p>
            <a:pPr lvl="1"/>
            <a:r>
              <a:rPr lang="zh-CN" altLang="en-US" sz="1800" dirty="0"/>
              <a:t>如：</a:t>
            </a:r>
            <a:r>
              <a:rPr lang="en-US" altLang="zh-CN" sz="1800" dirty="0" err="1"/>
              <a:t>inode</a:t>
            </a:r>
            <a:r>
              <a:rPr lang="zh-CN" altLang="en-US" sz="1800" dirty="0"/>
              <a:t>被持久化，但是指向其的目录项未被持久化</a:t>
            </a:r>
            <a:endParaRPr lang="en-US" altLang="zh-CN" sz="1800" dirty="0"/>
          </a:p>
          <a:p>
            <a:endParaRPr lang="en-US" altLang="zh-CN" sz="2000"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60FE354C-FC13-2A4E-87CB-139F31111D79}"/>
              </a:ext>
            </a:extLst>
          </p:cNvPr>
          <p:cNvSpPr/>
          <p:nvPr/>
        </p:nvSpPr>
        <p:spPr>
          <a:xfrm>
            <a:off x="3080270" y="4393938"/>
            <a:ext cx="4372050"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31A3E803-4A73-1B4E-A1B1-283D372D0415}"/>
              </a:ext>
            </a:extLst>
          </p:cNvPr>
          <p:cNvSpPr/>
          <p:nvPr/>
        </p:nvSpPr>
        <p:spPr>
          <a:xfrm>
            <a:off x="3923928" y="4393938"/>
            <a:ext cx="432048"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err="1"/>
              <a:t>i</a:t>
            </a:r>
            <a:r>
              <a:rPr lang="en-CN" sz="900" dirty="0"/>
              <a:t>node</a:t>
            </a:r>
            <a:br>
              <a:rPr lang="en-US" altLang="zh-CN" sz="900" dirty="0"/>
            </a:br>
            <a:r>
              <a:rPr lang="en-US" altLang="zh-CN" sz="900" dirty="0"/>
              <a:t>map</a:t>
            </a:r>
            <a:endParaRPr lang="en-CN" sz="900" dirty="0"/>
          </a:p>
        </p:txBody>
      </p:sp>
      <p:sp>
        <p:nvSpPr>
          <p:cNvPr id="8" name="Rectangle 7">
            <a:extLst>
              <a:ext uri="{FF2B5EF4-FFF2-40B4-BE49-F238E27FC236}">
                <a16:creationId xmlns:a16="http://schemas.microsoft.com/office/drawing/2014/main" id="{DFA76D72-89C7-E348-BD61-A57E6D375489}"/>
              </a:ext>
            </a:extLst>
          </p:cNvPr>
          <p:cNvSpPr/>
          <p:nvPr/>
        </p:nvSpPr>
        <p:spPr>
          <a:xfrm>
            <a:off x="1753343" y="439393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100" dirty="0"/>
              <a:t>CP</a:t>
            </a:r>
          </a:p>
        </p:txBody>
      </p:sp>
      <p:sp>
        <p:nvSpPr>
          <p:cNvPr id="9" name="Rectangle 8">
            <a:extLst>
              <a:ext uri="{FF2B5EF4-FFF2-40B4-BE49-F238E27FC236}">
                <a16:creationId xmlns:a16="http://schemas.microsoft.com/office/drawing/2014/main" id="{D43A8FF8-ABF1-C441-959F-03CBB7420D6A}"/>
              </a:ext>
            </a:extLst>
          </p:cNvPr>
          <p:cNvSpPr/>
          <p:nvPr/>
        </p:nvSpPr>
        <p:spPr>
          <a:xfrm>
            <a:off x="3077091" y="4393938"/>
            <a:ext cx="850014"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900" dirty="0"/>
              <a:t>之前</a:t>
            </a:r>
            <a:r>
              <a:rPr lang="zh-CN" altLang="en-US" sz="900" dirty="0"/>
              <a:t>的数据</a:t>
            </a:r>
            <a:endParaRPr lang="en-CN" sz="900" dirty="0"/>
          </a:p>
        </p:txBody>
      </p:sp>
      <p:cxnSp>
        <p:nvCxnSpPr>
          <p:cNvPr id="10" name="Straight Arrow Connector 9">
            <a:extLst>
              <a:ext uri="{FF2B5EF4-FFF2-40B4-BE49-F238E27FC236}">
                <a16:creationId xmlns:a16="http://schemas.microsoft.com/office/drawing/2014/main" id="{101F326E-CB58-E946-B2D8-270FB7154C41}"/>
              </a:ext>
            </a:extLst>
          </p:cNvPr>
          <p:cNvCxnSpPr>
            <a:cxnSpLocks/>
            <a:stCxn id="8" idx="2"/>
            <a:endCxn id="7" idx="2"/>
          </p:cNvCxnSpPr>
          <p:nvPr/>
        </p:nvCxnSpPr>
        <p:spPr>
          <a:xfrm rot="16200000" flipH="1">
            <a:off x="3049506" y="3692852"/>
            <a:ext cx="12700" cy="2180891"/>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B7EDD9E5-9639-3A43-97EF-9C48F9B54D75}"/>
              </a:ext>
            </a:extLst>
          </p:cNvPr>
          <p:cNvSpPr/>
          <p:nvPr/>
        </p:nvSpPr>
        <p:spPr>
          <a:xfrm>
            <a:off x="4355976" y="4393937"/>
            <a:ext cx="2142800"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900" dirty="0"/>
              <a:t>之后写入的数据</a:t>
            </a:r>
            <a:endParaRPr lang="en-CN" sz="900" dirty="0"/>
          </a:p>
        </p:txBody>
      </p:sp>
      <p:sp>
        <p:nvSpPr>
          <p:cNvPr id="16" name="Rectangle 15">
            <a:extLst>
              <a:ext uri="{FF2B5EF4-FFF2-40B4-BE49-F238E27FC236}">
                <a16:creationId xmlns:a16="http://schemas.microsoft.com/office/drawing/2014/main" id="{8A5D27FB-1860-2644-BC1C-8CAA71266B13}"/>
              </a:ext>
            </a:extLst>
          </p:cNvPr>
          <p:cNvSpPr/>
          <p:nvPr/>
        </p:nvSpPr>
        <p:spPr>
          <a:xfrm>
            <a:off x="2809674" y="4393937"/>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TextBox 16">
            <a:extLst>
              <a:ext uri="{FF2B5EF4-FFF2-40B4-BE49-F238E27FC236}">
                <a16:creationId xmlns:a16="http://schemas.microsoft.com/office/drawing/2014/main" id="{F9701829-3E43-414E-8676-20503D62C5BE}"/>
              </a:ext>
            </a:extLst>
          </p:cNvPr>
          <p:cNvSpPr txBox="1"/>
          <p:nvPr/>
        </p:nvSpPr>
        <p:spPr>
          <a:xfrm>
            <a:off x="1532738"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8" name="TextBox 17">
            <a:extLst>
              <a:ext uri="{FF2B5EF4-FFF2-40B4-BE49-F238E27FC236}">
                <a16:creationId xmlns:a16="http://schemas.microsoft.com/office/drawing/2014/main" id="{1FC7A63D-E0C0-C541-A334-BE81A7153452}"/>
              </a:ext>
            </a:extLst>
          </p:cNvPr>
          <p:cNvSpPr txBox="1"/>
          <p:nvPr/>
        </p:nvSpPr>
        <p:spPr>
          <a:xfrm>
            <a:off x="2540802"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9" name="TextBox 18">
            <a:extLst>
              <a:ext uri="{FF2B5EF4-FFF2-40B4-BE49-F238E27FC236}">
                <a16:creationId xmlns:a16="http://schemas.microsoft.com/office/drawing/2014/main" id="{AC3F6402-0AC3-754F-8441-ED14D133C1CE}"/>
              </a:ext>
            </a:extLst>
          </p:cNvPr>
          <p:cNvSpPr txBox="1"/>
          <p:nvPr/>
        </p:nvSpPr>
        <p:spPr>
          <a:xfrm>
            <a:off x="3969289"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X</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20" name="TextBox 19">
            <a:extLst>
              <a:ext uri="{FF2B5EF4-FFF2-40B4-BE49-F238E27FC236}">
                <a16:creationId xmlns:a16="http://schemas.microsoft.com/office/drawing/2014/main" id="{03EA6DAC-D1FE-9A44-97E7-28C562A14907}"/>
              </a:ext>
            </a:extLst>
          </p:cNvPr>
          <p:cNvSpPr txBox="1"/>
          <p:nvPr/>
        </p:nvSpPr>
        <p:spPr>
          <a:xfrm>
            <a:off x="4943713" y="3464424"/>
            <a:ext cx="415498" cy="369332"/>
          </a:xfrm>
          <a:prstGeom prst="rect">
            <a:avLst/>
          </a:prstGeom>
          <a:noFill/>
        </p:spPr>
        <p:txBody>
          <a:bodyPr wrap="none" rtlCol="0">
            <a:spAutoFit/>
          </a:bodyPr>
          <a:lstStyle/>
          <a:p>
            <a:r>
              <a:rPr lang="en-US" altLang="zh-CN" dirty="0"/>
              <a:t>…</a:t>
            </a:r>
            <a:endParaRPr lang="en-CN" dirty="0"/>
          </a:p>
        </p:txBody>
      </p:sp>
      <p:sp>
        <p:nvSpPr>
          <p:cNvPr id="21" name="TextBox 20">
            <a:extLst>
              <a:ext uri="{FF2B5EF4-FFF2-40B4-BE49-F238E27FC236}">
                <a16:creationId xmlns:a16="http://schemas.microsoft.com/office/drawing/2014/main" id="{C091C666-82CA-7E4F-98C2-75F3F10FF0B9}"/>
              </a:ext>
            </a:extLst>
          </p:cNvPr>
          <p:cNvSpPr txBox="1"/>
          <p:nvPr/>
        </p:nvSpPr>
        <p:spPr>
          <a:xfrm>
            <a:off x="5359211"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2" name="Straight Arrow Connector 21">
            <a:extLst>
              <a:ext uri="{FF2B5EF4-FFF2-40B4-BE49-F238E27FC236}">
                <a16:creationId xmlns:a16="http://schemas.microsoft.com/office/drawing/2014/main" id="{FE639557-A4E2-3F43-8138-169CC7097B5E}"/>
              </a:ext>
            </a:extLst>
          </p:cNvPr>
          <p:cNvCxnSpPr>
            <a:cxnSpLocks/>
          </p:cNvCxnSpPr>
          <p:nvPr/>
        </p:nvCxnSpPr>
        <p:spPr>
          <a:xfrm flipH="1" flipV="1">
            <a:off x="1518670" y="4018422"/>
            <a:ext cx="1291004" cy="375515"/>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7C0F3B-5D55-874E-8500-D7D0A9082B62}"/>
              </a:ext>
            </a:extLst>
          </p:cNvPr>
          <p:cNvCxnSpPr>
            <a:cxnSpLocks/>
          </p:cNvCxnSpPr>
          <p:nvPr/>
        </p:nvCxnSpPr>
        <p:spPr>
          <a:xfrm flipV="1">
            <a:off x="3077091" y="4018422"/>
            <a:ext cx="3295109" cy="375516"/>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F7EF000-58D2-B241-8F78-C28EA4D1FE03}"/>
              </a:ext>
            </a:extLst>
          </p:cNvPr>
          <p:cNvSpPr txBox="1"/>
          <p:nvPr/>
        </p:nvSpPr>
        <p:spPr>
          <a:xfrm>
            <a:off x="824240" y="3433564"/>
            <a:ext cx="748923" cy="261610"/>
          </a:xfrm>
          <a:prstGeom prst="rect">
            <a:avLst/>
          </a:prstGeom>
          <a:noFill/>
        </p:spPr>
        <p:txBody>
          <a:bodyPr wrap="none" rtlCol="0">
            <a:spAutoFit/>
          </a:bodyPr>
          <a:lstStyle/>
          <a:p>
            <a:r>
              <a:rPr lang="zh-CN" altLang="en-US" sz="1100" dirty="0"/>
              <a:t>段概要：</a:t>
            </a:r>
            <a:endParaRPr lang="en-CN" sz="1100" dirty="0"/>
          </a:p>
        </p:txBody>
      </p:sp>
      <p:sp>
        <p:nvSpPr>
          <p:cNvPr id="28" name="TextBox 27">
            <a:extLst>
              <a:ext uri="{FF2B5EF4-FFF2-40B4-BE49-F238E27FC236}">
                <a16:creationId xmlns:a16="http://schemas.microsoft.com/office/drawing/2014/main" id="{E088B183-3D49-904A-9AC7-6644F6194F2B}"/>
              </a:ext>
            </a:extLst>
          </p:cNvPr>
          <p:cNvSpPr txBox="1"/>
          <p:nvPr/>
        </p:nvSpPr>
        <p:spPr>
          <a:xfrm>
            <a:off x="3544170" y="3480446"/>
            <a:ext cx="415498" cy="369332"/>
          </a:xfrm>
          <a:prstGeom prst="rect">
            <a:avLst/>
          </a:prstGeom>
          <a:noFill/>
        </p:spPr>
        <p:txBody>
          <a:bodyPr wrap="none" rtlCol="0">
            <a:spAutoFit/>
          </a:bodyPr>
          <a:lstStyle/>
          <a:p>
            <a:r>
              <a:rPr lang="en-US" altLang="zh-CN" dirty="0"/>
              <a:t>…</a:t>
            </a:r>
            <a:endParaRPr lang="en-CN" dirty="0"/>
          </a:p>
        </p:txBody>
      </p:sp>
      <p:sp>
        <p:nvSpPr>
          <p:cNvPr id="29" name="Rectangle 28">
            <a:extLst>
              <a:ext uri="{FF2B5EF4-FFF2-40B4-BE49-F238E27FC236}">
                <a16:creationId xmlns:a16="http://schemas.microsoft.com/office/drawing/2014/main" id="{91365C3F-4A13-0543-84A0-4E7296C7E3EB}"/>
              </a:ext>
            </a:extLst>
          </p:cNvPr>
          <p:cNvSpPr/>
          <p:nvPr/>
        </p:nvSpPr>
        <p:spPr>
          <a:xfrm>
            <a:off x="4625743" y="4410687"/>
            <a:ext cx="317970" cy="350923"/>
          </a:xfrm>
          <a:prstGeom prst="rect">
            <a:avLst/>
          </a:prstGeom>
          <a:solidFill>
            <a:schemeClr val="accent3">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a:t>I</a:t>
            </a:r>
            <a:r>
              <a:rPr lang="en-CN" sz="900" dirty="0"/>
              <a:t>node</a:t>
            </a:r>
          </a:p>
        </p:txBody>
      </p:sp>
      <p:cxnSp>
        <p:nvCxnSpPr>
          <p:cNvPr id="30" name="Straight Arrow Connector 29">
            <a:extLst>
              <a:ext uri="{FF2B5EF4-FFF2-40B4-BE49-F238E27FC236}">
                <a16:creationId xmlns:a16="http://schemas.microsoft.com/office/drawing/2014/main" id="{F24CE5F6-05DD-1D4F-98DB-AA58086EB62A}"/>
              </a:ext>
            </a:extLst>
          </p:cNvPr>
          <p:cNvCxnSpPr>
            <a:cxnSpLocks/>
            <a:stCxn id="19" idx="2"/>
            <a:endCxn id="29" idx="0"/>
          </p:cNvCxnSpPr>
          <p:nvPr/>
        </p:nvCxnSpPr>
        <p:spPr>
          <a:xfrm>
            <a:off x="4475784" y="4023573"/>
            <a:ext cx="308944" cy="3871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1F33D41-A46F-064B-9A79-05C1C7DCF840}"/>
              </a:ext>
            </a:extLst>
          </p:cNvPr>
          <p:cNvSpPr/>
          <p:nvPr/>
        </p:nvSpPr>
        <p:spPr>
          <a:xfrm>
            <a:off x="6768240" y="4410686"/>
            <a:ext cx="396048" cy="350923"/>
          </a:xfrm>
          <a:prstGeom prst="rect">
            <a:avLst/>
          </a:prstGeom>
          <a:solidFill>
            <a:schemeClr val="accent6">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900" dirty="0"/>
              <a:t>d</a:t>
            </a:r>
            <a:r>
              <a:rPr lang="en-US" altLang="zh-CN" sz="900" dirty="0"/>
              <a:t>entry</a:t>
            </a:r>
            <a:endParaRPr lang="en-CN" sz="900" dirty="0"/>
          </a:p>
        </p:txBody>
      </p:sp>
      <p:sp>
        <p:nvSpPr>
          <p:cNvPr id="11" name="TextBox 10">
            <a:extLst>
              <a:ext uri="{FF2B5EF4-FFF2-40B4-BE49-F238E27FC236}">
                <a16:creationId xmlns:a16="http://schemas.microsoft.com/office/drawing/2014/main" id="{43791378-5F99-8349-B650-88E069D6446C}"/>
              </a:ext>
            </a:extLst>
          </p:cNvPr>
          <p:cNvSpPr txBox="1"/>
          <p:nvPr/>
        </p:nvSpPr>
        <p:spPr>
          <a:xfrm>
            <a:off x="6743177" y="3833756"/>
            <a:ext cx="1574470" cy="276999"/>
          </a:xfrm>
          <a:prstGeom prst="rect">
            <a:avLst/>
          </a:prstGeom>
          <a:noFill/>
        </p:spPr>
        <p:txBody>
          <a:bodyPr wrap="none" rtlCol="0">
            <a:spAutoFit/>
          </a:bodyPr>
          <a:lstStyle/>
          <a:p>
            <a:r>
              <a:rPr lang="zh-CN" altLang="en-US" sz="1200" dirty="0">
                <a:solidFill>
                  <a:srgbClr val="C00000"/>
                </a:solidFill>
              </a:rPr>
              <a:t>未被持久化的目录项</a:t>
            </a:r>
            <a:endParaRPr lang="en-CN" sz="1200" dirty="0">
              <a:solidFill>
                <a:srgbClr val="C00000"/>
              </a:solidFill>
            </a:endParaRPr>
          </a:p>
        </p:txBody>
      </p:sp>
      <p:cxnSp>
        <p:nvCxnSpPr>
          <p:cNvPr id="27" name="Straight Arrow Connector 26">
            <a:extLst>
              <a:ext uri="{FF2B5EF4-FFF2-40B4-BE49-F238E27FC236}">
                <a16:creationId xmlns:a16="http://schemas.microsoft.com/office/drawing/2014/main" id="{9DA16E18-9B35-2C4A-AE70-E53DE4F36FBC}"/>
              </a:ext>
            </a:extLst>
          </p:cNvPr>
          <p:cNvCxnSpPr>
            <a:cxnSpLocks/>
            <a:stCxn id="11" idx="2"/>
            <a:endCxn id="25" idx="0"/>
          </p:cNvCxnSpPr>
          <p:nvPr/>
        </p:nvCxnSpPr>
        <p:spPr>
          <a:xfrm flipH="1">
            <a:off x="6966264" y="4110755"/>
            <a:ext cx="564148" cy="299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98768E8-681F-C74B-B4A3-BB4BE196B169}"/>
              </a:ext>
            </a:extLst>
          </p:cNvPr>
          <p:cNvCxnSpPr>
            <a:cxnSpLocks/>
            <a:stCxn id="25" idx="2"/>
            <a:endCxn id="29" idx="2"/>
          </p:cNvCxnSpPr>
          <p:nvPr/>
        </p:nvCxnSpPr>
        <p:spPr>
          <a:xfrm rot="5400000">
            <a:off x="5875496" y="3670841"/>
            <a:ext cx="1" cy="2181536"/>
          </a:xfrm>
          <a:prstGeom prst="bentConnector3">
            <a:avLst>
              <a:gd name="adj1" fmla="val 228601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C934550-030B-064C-AAC0-029F5D1D11EC}"/>
              </a:ext>
            </a:extLst>
          </p:cNvPr>
          <p:cNvSpPr txBox="1"/>
          <p:nvPr/>
        </p:nvSpPr>
        <p:spPr>
          <a:xfrm>
            <a:off x="4390297" y="4996782"/>
            <a:ext cx="3174267" cy="276999"/>
          </a:xfrm>
          <a:prstGeom prst="rect">
            <a:avLst/>
          </a:prstGeom>
          <a:noFill/>
        </p:spPr>
        <p:txBody>
          <a:bodyPr wrap="none" rtlCol="0">
            <a:spAutoFit/>
          </a:bodyPr>
          <a:lstStyle/>
          <a:p>
            <a:r>
              <a:rPr lang="en-US" altLang="zh-CN" sz="1200" dirty="0" err="1">
                <a:solidFill>
                  <a:srgbClr val="C00000"/>
                </a:solidFill>
              </a:rPr>
              <a:t>i</a:t>
            </a:r>
            <a:r>
              <a:rPr lang="en-CN" sz="1200" dirty="0">
                <a:solidFill>
                  <a:srgbClr val="C00000"/>
                </a:solidFill>
              </a:rPr>
              <a:t>node</a:t>
            </a:r>
            <a:r>
              <a:rPr lang="zh-CN" altLang="en-CN" sz="1200" dirty="0">
                <a:solidFill>
                  <a:srgbClr val="C00000"/>
                </a:solidFill>
              </a:rPr>
              <a:t>写入时</a:t>
            </a:r>
            <a:r>
              <a:rPr lang="zh-CN" altLang="en-US" sz="1200" dirty="0">
                <a:solidFill>
                  <a:srgbClr val="C00000"/>
                </a:solidFill>
              </a:rPr>
              <a:t>的链接数，将此目录项计算在内</a:t>
            </a:r>
            <a:endParaRPr lang="en-CN" sz="1200" dirty="0">
              <a:solidFill>
                <a:srgbClr val="C00000"/>
              </a:solidFill>
            </a:endParaRPr>
          </a:p>
        </p:txBody>
      </p:sp>
    </p:spTree>
    <p:extLst>
      <p:ext uri="{BB962C8B-B14F-4D97-AF65-F5344CB8AC3E}">
        <p14:creationId xmlns:p14="http://schemas.microsoft.com/office/powerpoint/2010/main" val="23657975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：前滚（</a:t>
            </a:r>
            <a:r>
              <a:rPr lang="en-US" altLang="zh-CN" dirty="0"/>
              <a:t>roll-forward</a:t>
            </a:r>
            <a:r>
              <a:rPr lang="zh-CN" altLang="en-US" dirty="0"/>
              <a:t>）</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normAutofit/>
          </a:bodyPr>
          <a:lstStyle/>
          <a:p>
            <a:r>
              <a:rPr lang="zh-CN" altLang="en-US" sz="2000" b="0" dirty="0"/>
              <a:t>问题：</a:t>
            </a:r>
            <a:r>
              <a:rPr lang="zh-CN" altLang="en-CN" sz="2000" b="0" dirty="0"/>
              <a:t>段</a:t>
            </a:r>
            <a:r>
              <a:rPr lang="zh-CN" altLang="en-US" sz="2000" b="0" dirty="0"/>
              <a:t>概要无法保证</a:t>
            </a:r>
            <a:r>
              <a:rPr lang="en-US" altLang="zh-CN" sz="2000" b="0" dirty="0" err="1"/>
              <a:t>inode</a:t>
            </a:r>
            <a:r>
              <a:rPr lang="zh-CN" altLang="en-US" sz="2000" b="0" dirty="0"/>
              <a:t>的链接数一致性</a:t>
            </a:r>
            <a:endParaRPr lang="en-US" altLang="zh-CN" sz="2000" b="0" dirty="0"/>
          </a:p>
          <a:p>
            <a:pPr lvl="1"/>
            <a:r>
              <a:rPr lang="zh-CN" altLang="en-US" sz="1800" dirty="0"/>
              <a:t>如：</a:t>
            </a:r>
            <a:r>
              <a:rPr lang="en-US" altLang="zh-CN" sz="1800" dirty="0" err="1"/>
              <a:t>inode</a:t>
            </a:r>
            <a:r>
              <a:rPr lang="zh-CN" altLang="en-US" sz="1800" dirty="0"/>
              <a:t>被持久化，但是指向其的目录项未被持久化</a:t>
            </a:r>
            <a:endParaRPr lang="en-US" altLang="zh-CN" sz="1800" dirty="0"/>
          </a:p>
          <a:p>
            <a:r>
              <a:rPr lang="zh-CN" altLang="en-US" sz="2000" b="0" dirty="0"/>
              <a:t>解决方案：目录修改日志</a:t>
            </a:r>
            <a:endParaRPr lang="en-US" altLang="zh-CN" sz="2000"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60FE354C-FC13-2A4E-87CB-139F31111D79}"/>
              </a:ext>
            </a:extLst>
          </p:cNvPr>
          <p:cNvSpPr/>
          <p:nvPr/>
        </p:nvSpPr>
        <p:spPr>
          <a:xfrm>
            <a:off x="3080270" y="4393938"/>
            <a:ext cx="4372050" cy="389360"/>
          </a:xfrm>
          <a:prstGeom prst="rect">
            <a:avLst/>
          </a:prstGeom>
          <a:solidFill>
            <a:schemeClr val="accent4">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7" name="Rectangle 6">
            <a:extLst>
              <a:ext uri="{FF2B5EF4-FFF2-40B4-BE49-F238E27FC236}">
                <a16:creationId xmlns:a16="http://schemas.microsoft.com/office/drawing/2014/main" id="{31A3E803-4A73-1B4E-A1B1-283D372D0415}"/>
              </a:ext>
            </a:extLst>
          </p:cNvPr>
          <p:cNvSpPr/>
          <p:nvPr/>
        </p:nvSpPr>
        <p:spPr>
          <a:xfrm>
            <a:off x="3923928" y="4393938"/>
            <a:ext cx="432048"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err="1"/>
              <a:t>i</a:t>
            </a:r>
            <a:r>
              <a:rPr lang="en-CN" sz="900" dirty="0"/>
              <a:t>node</a:t>
            </a:r>
            <a:br>
              <a:rPr lang="en-US" altLang="zh-CN" sz="900" dirty="0"/>
            </a:br>
            <a:r>
              <a:rPr lang="en-US" altLang="zh-CN" sz="900" dirty="0"/>
              <a:t>map</a:t>
            </a:r>
            <a:endParaRPr lang="en-CN" sz="900" dirty="0"/>
          </a:p>
        </p:txBody>
      </p:sp>
      <p:sp>
        <p:nvSpPr>
          <p:cNvPr id="8" name="Rectangle 7">
            <a:extLst>
              <a:ext uri="{FF2B5EF4-FFF2-40B4-BE49-F238E27FC236}">
                <a16:creationId xmlns:a16="http://schemas.microsoft.com/office/drawing/2014/main" id="{DFA76D72-89C7-E348-BD61-A57E6D375489}"/>
              </a:ext>
            </a:extLst>
          </p:cNvPr>
          <p:cNvSpPr/>
          <p:nvPr/>
        </p:nvSpPr>
        <p:spPr>
          <a:xfrm>
            <a:off x="1753343" y="4393938"/>
            <a:ext cx="411436" cy="389360"/>
          </a:xfrm>
          <a:prstGeom prst="rect">
            <a:avLst/>
          </a:prstGeom>
          <a:solidFill>
            <a:srgbClr val="92D050"/>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1100" dirty="0"/>
              <a:t>CP</a:t>
            </a:r>
          </a:p>
        </p:txBody>
      </p:sp>
      <p:sp>
        <p:nvSpPr>
          <p:cNvPr id="9" name="Rectangle 8">
            <a:extLst>
              <a:ext uri="{FF2B5EF4-FFF2-40B4-BE49-F238E27FC236}">
                <a16:creationId xmlns:a16="http://schemas.microsoft.com/office/drawing/2014/main" id="{D43A8FF8-ABF1-C441-959F-03CBB7420D6A}"/>
              </a:ext>
            </a:extLst>
          </p:cNvPr>
          <p:cNvSpPr/>
          <p:nvPr/>
        </p:nvSpPr>
        <p:spPr>
          <a:xfrm>
            <a:off x="3077091" y="4393938"/>
            <a:ext cx="850014"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900" dirty="0"/>
              <a:t>之前</a:t>
            </a:r>
            <a:r>
              <a:rPr lang="zh-CN" altLang="en-US" sz="900" dirty="0"/>
              <a:t>的数据</a:t>
            </a:r>
            <a:endParaRPr lang="en-CN" sz="900" dirty="0"/>
          </a:p>
        </p:txBody>
      </p:sp>
      <p:cxnSp>
        <p:nvCxnSpPr>
          <p:cNvPr id="10" name="Straight Arrow Connector 9">
            <a:extLst>
              <a:ext uri="{FF2B5EF4-FFF2-40B4-BE49-F238E27FC236}">
                <a16:creationId xmlns:a16="http://schemas.microsoft.com/office/drawing/2014/main" id="{101F326E-CB58-E946-B2D8-270FB7154C41}"/>
              </a:ext>
            </a:extLst>
          </p:cNvPr>
          <p:cNvCxnSpPr>
            <a:cxnSpLocks/>
            <a:stCxn id="8" idx="2"/>
            <a:endCxn id="7" idx="2"/>
          </p:cNvCxnSpPr>
          <p:nvPr/>
        </p:nvCxnSpPr>
        <p:spPr>
          <a:xfrm rot="16200000" flipH="1">
            <a:off x="3049506" y="3692852"/>
            <a:ext cx="12700" cy="2180891"/>
          </a:xfrm>
          <a:prstGeom prst="curved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B7EDD9E5-9639-3A43-97EF-9C48F9B54D75}"/>
              </a:ext>
            </a:extLst>
          </p:cNvPr>
          <p:cNvSpPr/>
          <p:nvPr/>
        </p:nvSpPr>
        <p:spPr>
          <a:xfrm>
            <a:off x="4355976" y="4393937"/>
            <a:ext cx="2142800" cy="389360"/>
          </a:xfrm>
          <a:prstGeom prst="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US" sz="900" dirty="0"/>
              <a:t>之后写入的数据</a:t>
            </a:r>
            <a:endParaRPr lang="en-CN" sz="900" dirty="0"/>
          </a:p>
        </p:txBody>
      </p:sp>
      <p:sp>
        <p:nvSpPr>
          <p:cNvPr id="16" name="Rectangle 15">
            <a:extLst>
              <a:ext uri="{FF2B5EF4-FFF2-40B4-BE49-F238E27FC236}">
                <a16:creationId xmlns:a16="http://schemas.microsoft.com/office/drawing/2014/main" id="{8A5D27FB-1860-2644-BC1C-8CAA71266B13}"/>
              </a:ext>
            </a:extLst>
          </p:cNvPr>
          <p:cNvSpPr/>
          <p:nvPr/>
        </p:nvSpPr>
        <p:spPr>
          <a:xfrm>
            <a:off x="2809674" y="4393937"/>
            <a:ext cx="269338" cy="389360"/>
          </a:xfrm>
          <a:prstGeom prst="rect">
            <a:avLst/>
          </a:prstGeom>
          <a:solidFill>
            <a:schemeClr val="accent1">
              <a:lumMod val="40000"/>
              <a:lumOff val="6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700" dirty="0"/>
          </a:p>
        </p:txBody>
      </p:sp>
      <p:sp>
        <p:nvSpPr>
          <p:cNvPr id="17" name="TextBox 16">
            <a:extLst>
              <a:ext uri="{FF2B5EF4-FFF2-40B4-BE49-F238E27FC236}">
                <a16:creationId xmlns:a16="http://schemas.microsoft.com/office/drawing/2014/main" id="{F9701829-3E43-414E-8676-20503D62C5BE}"/>
              </a:ext>
            </a:extLst>
          </p:cNvPr>
          <p:cNvSpPr txBox="1"/>
          <p:nvPr/>
        </p:nvSpPr>
        <p:spPr>
          <a:xfrm>
            <a:off x="1532738"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1</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数据块序号：</a:t>
            </a:r>
            <a:r>
              <a:rPr lang="en-US" altLang="zh-CN" sz="800" dirty="0">
                <a:latin typeface="Courier" pitchFamily="2" charset="0"/>
              </a:rPr>
              <a:t>13</a:t>
            </a:r>
            <a:endParaRPr lang="en-US" sz="800" dirty="0">
              <a:latin typeface="Courier" pitchFamily="2" charset="0"/>
            </a:endParaRPr>
          </a:p>
        </p:txBody>
      </p:sp>
      <p:sp>
        <p:nvSpPr>
          <p:cNvPr id="18" name="TextBox 17">
            <a:extLst>
              <a:ext uri="{FF2B5EF4-FFF2-40B4-BE49-F238E27FC236}">
                <a16:creationId xmlns:a16="http://schemas.microsoft.com/office/drawing/2014/main" id="{1FC7A63D-E0C0-C541-A334-BE81A7153452}"/>
              </a:ext>
            </a:extLst>
          </p:cNvPr>
          <p:cNvSpPr txBox="1"/>
          <p:nvPr/>
        </p:nvSpPr>
        <p:spPr>
          <a:xfrm>
            <a:off x="2540802"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2</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类型：索引块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5</a:t>
            </a:r>
          </a:p>
          <a:p>
            <a:r>
              <a:rPr lang="zh-CN" altLang="en-US" sz="800" dirty="0">
                <a:latin typeface="Courier" pitchFamily="2" charset="0"/>
              </a:rPr>
              <a:t>索引块序号：</a:t>
            </a:r>
            <a:r>
              <a:rPr lang="en-US" altLang="zh-CN" sz="800" dirty="0">
                <a:latin typeface="Courier" pitchFamily="2" charset="0"/>
              </a:rPr>
              <a:t>1</a:t>
            </a:r>
            <a:endParaRPr lang="en-US" sz="800" dirty="0">
              <a:latin typeface="Courier" pitchFamily="2" charset="0"/>
            </a:endParaRPr>
          </a:p>
        </p:txBody>
      </p:sp>
      <p:sp>
        <p:nvSpPr>
          <p:cNvPr id="19" name="TextBox 18">
            <a:extLst>
              <a:ext uri="{FF2B5EF4-FFF2-40B4-BE49-F238E27FC236}">
                <a16:creationId xmlns:a16="http://schemas.microsoft.com/office/drawing/2014/main" id="{AC3F6402-0AC3-754F-8441-ED14D133C1CE}"/>
              </a:ext>
            </a:extLst>
          </p:cNvPr>
          <p:cNvSpPr txBox="1"/>
          <p:nvPr/>
        </p:nvSpPr>
        <p:spPr>
          <a:xfrm>
            <a:off x="3969289"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X</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a:t>
            </a:r>
            <a:r>
              <a:rPr lang="en-US" altLang="zh-CN" sz="800" dirty="0" err="1">
                <a:latin typeface="Courier" pitchFamily="2" charset="0"/>
              </a:rPr>
              <a:t>inode</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n/a</a:t>
            </a:r>
          </a:p>
          <a:p>
            <a:r>
              <a:rPr lang="zh-CN" altLang="en-US" sz="800" dirty="0">
                <a:latin typeface="Courier" pitchFamily="2" charset="0"/>
              </a:rPr>
              <a:t>序号：</a:t>
            </a:r>
            <a:r>
              <a:rPr lang="en-US" altLang="zh-CN" sz="800" dirty="0">
                <a:latin typeface="Courier" pitchFamily="2" charset="0"/>
              </a:rPr>
              <a:t>n/a</a:t>
            </a:r>
            <a:endParaRPr lang="en-US" sz="800" dirty="0">
              <a:latin typeface="Courier" pitchFamily="2" charset="0"/>
            </a:endParaRPr>
          </a:p>
        </p:txBody>
      </p:sp>
      <p:sp>
        <p:nvSpPr>
          <p:cNvPr id="20" name="TextBox 19">
            <a:extLst>
              <a:ext uri="{FF2B5EF4-FFF2-40B4-BE49-F238E27FC236}">
                <a16:creationId xmlns:a16="http://schemas.microsoft.com/office/drawing/2014/main" id="{03EA6DAC-D1FE-9A44-97E7-28C562A14907}"/>
              </a:ext>
            </a:extLst>
          </p:cNvPr>
          <p:cNvSpPr txBox="1"/>
          <p:nvPr/>
        </p:nvSpPr>
        <p:spPr>
          <a:xfrm>
            <a:off x="4943713" y="3464424"/>
            <a:ext cx="415498" cy="369332"/>
          </a:xfrm>
          <a:prstGeom prst="rect">
            <a:avLst/>
          </a:prstGeom>
          <a:noFill/>
        </p:spPr>
        <p:txBody>
          <a:bodyPr wrap="none" rtlCol="0">
            <a:spAutoFit/>
          </a:bodyPr>
          <a:lstStyle/>
          <a:p>
            <a:r>
              <a:rPr lang="en-US" altLang="zh-CN" dirty="0"/>
              <a:t>…</a:t>
            </a:r>
            <a:endParaRPr lang="en-CN" dirty="0"/>
          </a:p>
        </p:txBody>
      </p:sp>
      <p:sp>
        <p:nvSpPr>
          <p:cNvPr id="21" name="TextBox 20">
            <a:extLst>
              <a:ext uri="{FF2B5EF4-FFF2-40B4-BE49-F238E27FC236}">
                <a16:creationId xmlns:a16="http://schemas.microsoft.com/office/drawing/2014/main" id="{C091C666-82CA-7E4F-98C2-75F3F10FF0B9}"/>
              </a:ext>
            </a:extLst>
          </p:cNvPr>
          <p:cNvSpPr txBox="1"/>
          <p:nvPr/>
        </p:nvSpPr>
        <p:spPr>
          <a:xfrm>
            <a:off x="5359211" y="3438798"/>
            <a:ext cx="1012989" cy="584775"/>
          </a:xfrm>
          <a:prstGeom prst="rect">
            <a:avLst/>
          </a:prstGeom>
          <a:solidFill>
            <a:schemeClr val="accent6">
              <a:lumMod val="20000"/>
              <a:lumOff val="80000"/>
            </a:schemeClr>
          </a:solidFill>
          <a:ln w="6350">
            <a:solidFill>
              <a:schemeClr val="tx1"/>
            </a:solidFill>
          </a:ln>
        </p:spPr>
        <p:txBody>
          <a:bodyPr wrap="square" rtlCol="0">
            <a:spAutoFit/>
          </a:bodyPr>
          <a:lstStyle/>
          <a:p>
            <a:r>
              <a:rPr lang="zh-CN" altLang="en-US" sz="800" dirty="0">
                <a:latin typeface="Courier" pitchFamily="2" charset="0"/>
              </a:rPr>
              <a:t>第</a:t>
            </a:r>
            <a:r>
              <a:rPr lang="en-US" altLang="zh-CN" sz="800" dirty="0">
                <a:latin typeface="Courier" pitchFamily="2" charset="0"/>
              </a:rPr>
              <a:t>N</a:t>
            </a:r>
            <a:r>
              <a:rPr lang="zh-CN" altLang="en-US" sz="800" dirty="0">
                <a:latin typeface="Courier" pitchFamily="2" charset="0"/>
              </a:rPr>
              <a:t>块</a:t>
            </a:r>
            <a:endParaRPr lang="en-US" altLang="zh-CN" sz="800" dirty="0">
              <a:latin typeface="Courier" pitchFamily="2" charset="0"/>
            </a:endParaRPr>
          </a:p>
          <a:p>
            <a:r>
              <a:rPr lang="zh-CN" altLang="en-US" sz="800" dirty="0">
                <a:latin typeface="Courier" pitchFamily="2" charset="0"/>
              </a:rPr>
              <a:t>类型：数据块</a:t>
            </a:r>
            <a:endParaRPr lang="en-US" altLang="zh-CN" sz="800" dirty="0">
              <a:latin typeface="Courier" pitchFamily="2" charset="0"/>
            </a:endParaRPr>
          </a:p>
          <a:p>
            <a:r>
              <a:rPr lang="en-US" altLang="zh-CN" sz="800" dirty="0" err="1">
                <a:latin typeface="Courier" pitchFamily="2" charset="0"/>
              </a:rPr>
              <a:t>inode</a:t>
            </a:r>
            <a:r>
              <a:rPr lang="zh-CN" altLang="en-US" sz="800" dirty="0">
                <a:latin typeface="Courier" pitchFamily="2" charset="0"/>
              </a:rPr>
              <a:t>号：</a:t>
            </a:r>
            <a:r>
              <a:rPr lang="en-US" altLang="zh-CN" sz="800" dirty="0">
                <a:latin typeface="Courier" pitchFamily="2" charset="0"/>
              </a:rPr>
              <a:t>8</a:t>
            </a:r>
          </a:p>
          <a:p>
            <a:r>
              <a:rPr lang="zh-CN" altLang="en-US" sz="800" dirty="0">
                <a:latin typeface="Courier" pitchFamily="2" charset="0"/>
              </a:rPr>
              <a:t>数据块序号：</a:t>
            </a:r>
            <a:r>
              <a:rPr lang="en-US" altLang="zh-CN" sz="800" dirty="0">
                <a:latin typeface="Courier" pitchFamily="2" charset="0"/>
              </a:rPr>
              <a:t>2</a:t>
            </a:r>
            <a:endParaRPr lang="en-US" sz="800" dirty="0">
              <a:latin typeface="Courier" pitchFamily="2" charset="0"/>
            </a:endParaRPr>
          </a:p>
        </p:txBody>
      </p:sp>
      <p:cxnSp>
        <p:nvCxnSpPr>
          <p:cNvPr id="22" name="Straight Arrow Connector 21">
            <a:extLst>
              <a:ext uri="{FF2B5EF4-FFF2-40B4-BE49-F238E27FC236}">
                <a16:creationId xmlns:a16="http://schemas.microsoft.com/office/drawing/2014/main" id="{FE639557-A4E2-3F43-8138-169CC7097B5E}"/>
              </a:ext>
            </a:extLst>
          </p:cNvPr>
          <p:cNvCxnSpPr>
            <a:cxnSpLocks/>
          </p:cNvCxnSpPr>
          <p:nvPr/>
        </p:nvCxnSpPr>
        <p:spPr>
          <a:xfrm flipH="1" flipV="1">
            <a:off x="1518670" y="4018422"/>
            <a:ext cx="1291004" cy="375515"/>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7C0F3B-5D55-874E-8500-D7D0A9082B62}"/>
              </a:ext>
            </a:extLst>
          </p:cNvPr>
          <p:cNvCxnSpPr>
            <a:cxnSpLocks/>
          </p:cNvCxnSpPr>
          <p:nvPr/>
        </p:nvCxnSpPr>
        <p:spPr>
          <a:xfrm flipV="1">
            <a:off x="3077091" y="4018422"/>
            <a:ext cx="3295109" cy="375516"/>
          </a:xfrm>
          <a:prstGeom prst="straightConnector1">
            <a:avLst/>
          </a:prstGeom>
          <a:ln>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F7EF000-58D2-B241-8F78-C28EA4D1FE03}"/>
              </a:ext>
            </a:extLst>
          </p:cNvPr>
          <p:cNvSpPr txBox="1"/>
          <p:nvPr/>
        </p:nvSpPr>
        <p:spPr>
          <a:xfrm>
            <a:off x="824240" y="3433564"/>
            <a:ext cx="748923" cy="261610"/>
          </a:xfrm>
          <a:prstGeom prst="rect">
            <a:avLst/>
          </a:prstGeom>
          <a:noFill/>
        </p:spPr>
        <p:txBody>
          <a:bodyPr wrap="none" rtlCol="0">
            <a:spAutoFit/>
          </a:bodyPr>
          <a:lstStyle/>
          <a:p>
            <a:r>
              <a:rPr lang="zh-CN" altLang="en-US" sz="1100" dirty="0"/>
              <a:t>段概要：</a:t>
            </a:r>
            <a:endParaRPr lang="en-CN" sz="1100" dirty="0"/>
          </a:p>
        </p:txBody>
      </p:sp>
      <p:sp>
        <p:nvSpPr>
          <p:cNvPr id="28" name="TextBox 27">
            <a:extLst>
              <a:ext uri="{FF2B5EF4-FFF2-40B4-BE49-F238E27FC236}">
                <a16:creationId xmlns:a16="http://schemas.microsoft.com/office/drawing/2014/main" id="{E088B183-3D49-904A-9AC7-6644F6194F2B}"/>
              </a:ext>
            </a:extLst>
          </p:cNvPr>
          <p:cNvSpPr txBox="1"/>
          <p:nvPr/>
        </p:nvSpPr>
        <p:spPr>
          <a:xfrm>
            <a:off x="3544170" y="3480446"/>
            <a:ext cx="415498" cy="369332"/>
          </a:xfrm>
          <a:prstGeom prst="rect">
            <a:avLst/>
          </a:prstGeom>
          <a:noFill/>
        </p:spPr>
        <p:txBody>
          <a:bodyPr wrap="none" rtlCol="0">
            <a:spAutoFit/>
          </a:bodyPr>
          <a:lstStyle/>
          <a:p>
            <a:r>
              <a:rPr lang="en-US" altLang="zh-CN" dirty="0"/>
              <a:t>…</a:t>
            </a:r>
            <a:endParaRPr lang="en-CN" dirty="0"/>
          </a:p>
        </p:txBody>
      </p:sp>
      <p:sp>
        <p:nvSpPr>
          <p:cNvPr id="29" name="Rectangle 28">
            <a:extLst>
              <a:ext uri="{FF2B5EF4-FFF2-40B4-BE49-F238E27FC236}">
                <a16:creationId xmlns:a16="http://schemas.microsoft.com/office/drawing/2014/main" id="{91365C3F-4A13-0543-84A0-4E7296C7E3EB}"/>
              </a:ext>
            </a:extLst>
          </p:cNvPr>
          <p:cNvSpPr/>
          <p:nvPr/>
        </p:nvSpPr>
        <p:spPr>
          <a:xfrm>
            <a:off x="4625743" y="4410687"/>
            <a:ext cx="317970" cy="350923"/>
          </a:xfrm>
          <a:prstGeom prst="rect">
            <a:avLst/>
          </a:prstGeom>
          <a:solidFill>
            <a:schemeClr val="accent3">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900" dirty="0"/>
              <a:t>I</a:t>
            </a:r>
            <a:r>
              <a:rPr lang="en-CN" sz="900" dirty="0"/>
              <a:t>node</a:t>
            </a:r>
          </a:p>
        </p:txBody>
      </p:sp>
      <p:cxnSp>
        <p:nvCxnSpPr>
          <p:cNvPr id="30" name="Straight Arrow Connector 29">
            <a:extLst>
              <a:ext uri="{FF2B5EF4-FFF2-40B4-BE49-F238E27FC236}">
                <a16:creationId xmlns:a16="http://schemas.microsoft.com/office/drawing/2014/main" id="{F24CE5F6-05DD-1D4F-98DB-AA58086EB62A}"/>
              </a:ext>
            </a:extLst>
          </p:cNvPr>
          <p:cNvCxnSpPr>
            <a:cxnSpLocks/>
            <a:stCxn id="19" idx="2"/>
            <a:endCxn id="29" idx="0"/>
          </p:cNvCxnSpPr>
          <p:nvPr/>
        </p:nvCxnSpPr>
        <p:spPr>
          <a:xfrm>
            <a:off x="4475784" y="4023573"/>
            <a:ext cx="308944" cy="3871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1F33D41-A46F-064B-9A79-05C1C7DCF840}"/>
              </a:ext>
            </a:extLst>
          </p:cNvPr>
          <p:cNvSpPr/>
          <p:nvPr/>
        </p:nvSpPr>
        <p:spPr>
          <a:xfrm>
            <a:off x="6768240" y="4410686"/>
            <a:ext cx="396048" cy="350923"/>
          </a:xfrm>
          <a:prstGeom prst="rect">
            <a:avLst/>
          </a:prstGeom>
          <a:solidFill>
            <a:schemeClr val="accent6">
              <a:lumMod val="20000"/>
              <a:lumOff val="80000"/>
            </a:schemeClr>
          </a:solidFill>
          <a:ln w="6350">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sz="900" dirty="0"/>
              <a:t>d</a:t>
            </a:r>
            <a:r>
              <a:rPr lang="en-US" altLang="zh-CN" sz="900" dirty="0"/>
              <a:t>entry</a:t>
            </a:r>
            <a:endParaRPr lang="en-CN" sz="900" dirty="0"/>
          </a:p>
        </p:txBody>
      </p:sp>
      <p:sp>
        <p:nvSpPr>
          <p:cNvPr id="11" name="TextBox 10">
            <a:extLst>
              <a:ext uri="{FF2B5EF4-FFF2-40B4-BE49-F238E27FC236}">
                <a16:creationId xmlns:a16="http://schemas.microsoft.com/office/drawing/2014/main" id="{43791378-5F99-8349-B650-88E069D6446C}"/>
              </a:ext>
            </a:extLst>
          </p:cNvPr>
          <p:cNvSpPr txBox="1"/>
          <p:nvPr/>
        </p:nvSpPr>
        <p:spPr>
          <a:xfrm>
            <a:off x="6743177" y="3833756"/>
            <a:ext cx="1574470" cy="276999"/>
          </a:xfrm>
          <a:prstGeom prst="rect">
            <a:avLst/>
          </a:prstGeom>
          <a:noFill/>
        </p:spPr>
        <p:txBody>
          <a:bodyPr wrap="none" rtlCol="0">
            <a:spAutoFit/>
          </a:bodyPr>
          <a:lstStyle/>
          <a:p>
            <a:r>
              <a:rPr lang="zh-CN" altLang="en-US" sz="1200" dirty="0">
                <a:solidFill>
                  <a:srgbClr val="C00000"/>
                </a:solidFill>
              </a:rPr>
              <a:t>未被持久化的目录项</a:t>
            </a:r>
            <a:endParaRPr lang="en-CN" sz="1200" dirty="0">
              <a:solidFill>
                <a:srgbClr val="C00000"/>
              </a:solidFill>
            </a:endParaRPr>
          </a:p>
        </p:txBody>
      </p:sp>
      <p:cxnSp>
        <p:nvCxnSpPr>
          <p:cNvPr id="27" name="Straight Arrow Connector 26">
            <a:extLst>
              <a:ext uri="{FF2B5EF4-FFF2-40B4-BE49-F238E27FC236}">
                <a16:creationId xmlns:a16="http://schemas.microsoft.com/office/drawing/2014/main" id="{9DA16E18-9B35-2C4A-AE70-E53DE4F36FBC}"/>
              </a:ext>
            </a:extLst>
          </p:cNvPr>
          <p:cNvCxnSpPr>
            <a:cxnSpLocks/>
            <a:stCxn id="11" idx="2"/>
            <a:endCxn id="25" idx="0"/>
          </p:cNvCxnSpPr>
          <p:nvPr/>
        </p:nvCxnSpPr>
        <p:spPr>
          <a:xfrm flipH="1">
            <a:off x="6966264" y="4110755"/>
            <a:ext cx="564148" cy="299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98768E8-681F-C74B-B4A3-BB4BE196B169}"/>
              </a:ext>
            </a:extLst>
          </p:cNvPr>
          <p:cNvCxnSpPr>
            <a:cxnSpLocks/>
            <a:stCxn id="25" idx="2"/>
            <a:endCxn id="29" idx="2"/>
          </p:cNvCxnSpPr>
          <p:nvPr/>
        </p:nvCxnSpPr>
        <p:spPr>
          <a:xfrm rot="5400000">
            <a:off x="5875496" y="3670841"/>
            <a:ext cx="1" cy="2181536"/>
          </a:xfrm>
          <a:prstGeom prst="bentConnector3">
            <a:avLst>
              <a:gd name="adj1" fmla="val 228601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C934550-030B-064C-AAC0-029F5D1D11EC}"/>
              </a:ext>
            </a:extLst>
          </p:cNvPr>
          <p:cNvSpPr txBox="1"/>
          <p:nvPr/>
        </p:nvSpPr>
        <p:spPr>
          <a:xfrm>
            <a:off x="4390297" y="4996782"/>
            <a:ext cx="3174267" cy="276999"/>
          </a:xfrm>
          <a:prstGeom prst="rect">
            <a:avLst/>
          </a:prstGeom>
          <a:noFill/>
        </p:spPr>
        <p:txBody>
          <a:bodyPr wrap="none" rtlCol="0">
            <a:spAutoFit/>
          </a:bodyPr>
          <a:lstStyle/>
          <a:p>
            <a:r>
              <a:rPr lang="en-US" altLang="zh-CN" sz="1200" dirty="0" err="1">
                <a:solidFill>
                  <a:srgbClr val="C00000"/>
                </a:solidFill>
              </a:rPr>
              <a:t>i</a:t>
            </a:r>
            <a:r>
              <a:rPr lang="en-CN" sz="1200" dirty="0">
                <a:solidFill>
                  <a:srgbClr val="C00000"/>
                </a:solidFill>
              </a:rPr>
              <a:t>node</a:t>
            </a:r>
            <a:r>
              <a:rPr lang="zh-CN" altLang="en-CN" sz="1200" dirty="0">
                <a:solidFill>
                  <a:srgbClr val="C00000"/>
                </a:solidFill>
              </a:rPr>
              <a:t>写入时</a:t>
            </a:r>
            <a:r>
              <a:rPr lang="zh-CN" altLang="en-US" sz="1200" dirty="0">
                <a:solidFill>
                  <a:srgbClr val="C00000"/>
                </a:solidFill>
              </a:rPr>
              <a:t>的链接数，将此目录项计算在内</a:t>
            </a:r>
            <a:endParaRPr lang="en-CN" sz="1200" dirty="0">
              <a:solidFill>
                <a:srgbClr val="C00000"/>
              </a:solidFill>
            </a:endParaRPr>
          </a:p>
        </p:txBody>
      </p:sp>
    </p:spTree>
    <p:extLst>
      <p:ext uri="{BB962C8B-B14F-4D97-AF65-F5344CB8AC3E}">
        <p14:creationId xmlns:p14="http://schemas.microsoft.com/office/powerpoint/2010/main" val="3424179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ACC3-96E8-B948-9102-16F5829A8C37}"/>
              </a:ext>
            </a:extLst>
          </p:cNvPr>
          <p:cNvSpPr>
            <a:spLocks noGrp="1"/>
          </p:cNvSpPr>
          <p:nvPr>
            <p:ph type="title"/>
          </p:nvPr>
        </p:nvSpPr>
        <p:spPr/>
        <p:txBody>
          <a:bodyPr/>
          <a:lstStyle/>
          <a:p>
            <a:r>
              <a:rPr lang="zh-CN" altLang="en-CN" dirty="0"/>
              <a:t>恢复</a:t>
            </a:r>
            <a:r>
              <a:rPr lang="zh-CN" altLang="en-US" dirty="0"/>
              <a:t>：</a:t>
            </a:r>
            <a:r>
              <a:rPr lang="zh-CN" altLang="en-CN" dirty="0"/>
              <a:t>目录</a:t>
            </a:r>
            <a:r>
              <a:rPr lang="zh-CN" altLang="en-US" dirty="0"/>
              <a:t>修改日志</a:t>
            </a:r>
            <a:endParaRPr lang="en-CN" dirty="0"/>
          </a:p>
        </p:txBody>
      </p:sp>
      <p:sp>
        <p:nvSpPr>
          <p:cNvPr id="3" name="Content Placeholder 2">
            <a:extLst>
              <a:ext uri="{FF2B5EF4-FFF2-40B4-BE49-F238E27FC236}">
                <a16:creationId xmlns:a16="http://schemas.microsoft.com/office/drawing/2014/main" id="{2DDEDA75-26E0-F943-8F89-62162F83DE15}"/>
              </a:ext>
            </a:extLst>
          </p:cNvPr>
          <p:cNvSpPr>
            <a:spLocks noGrp="1"/>
          </p:cNvSpPr>
          <p:nvPr>
            <p:ph idx="1"/>
          </p:nvPr>
        </p:nvSpPr>
        <p:spPr/>
        <p:txBody>
          <a:bodyPr/>
          <a:lstStyle/>
          <a:p>
            <a:r>
              <a:rPr lang="zh-CN" altLang="en-US" b="0" dirty="0"/>
              <a:t>目录修改日志</a:t>
            </a:r>
            <a:endParaRPr lang="en-US" altLang="zh-CN" b="0" dirty="0"/>
          </a:p>
          <a:p>
            <a:pPr lvl="1"/>
            <a:r>
              <a:rPr lang="zh-CN" altLang="en-US" dirty="0"/>
              <a:t>记录了每个目录操作的信息</a:t>
            </a:r>
            <a:endParaRPr lang="en-US" altLang="zh-CN" dirty="0"/>
          </a:p>
          <a:p>
            <a:pPr lvl="2"/>
            <a:r>
              <a:rPr lang="en-US" altLang="zh-CN" dirty="0"/>
              <a:t>create</a:t>
            </a:r>
            <a:r>
              <a:rPr lang="zh-CN" altLang="en-US" dirty="0"/>
              <a:t>、</a:t>
            </a:r>
            <a:r>
              <a:rPr lang="en-US" altLang="zh-CN" dirty="0"/>
              <a:t>link</a:t>
            </a:r>
            <a:r>
              <a:rPr lang="zh-CN" altLang="en-US" dirty="0"/>
              <a:t>、</a:t>
            </a:r>
            <a:r>
              <a:rPr lang="en-US" altLang="zh-CN" dirty="0"/>
              <a:t>rename</a:t>
            </a:r>
            <a:r>
              <a:rPr lang="zh-CN" altLang="en-US" dirty="0"/>
              <a:t>、</a:t>
            </a:r>
            <a:r>
              <a:rPr lang="en-US" altLang="zh-CN" dirty="0"/>
              <a:t>unlink</a:t>
            </a:r>
          </a:p>
          <a:p>
            <a:pPr lvl="1"/>
            <a:r>
              <a:rPr lang="zh-CN" altLang="en-US" dirty="0"/>
              <a:t>以及操作的具体信息</a:t>
            </a:r>
            <a:endParaRPr lang="en-US" altLang="zh-CN" dirty="0"/>
          </a:p>
          <a:p>
            <a:pPr lvl="2"/>
            <a:r>
              <a:rPr lang="zh-CN" altLang="en-US" dirty="0"/>
              <a:t>目录项位置、内容、</a:t>
            </a:r>
            <a:r>
              <a:rPr lang="en-US" altLang="zh-CN" dirty="0" err="1"/>
              <a:t>inode</a:t>
            </a:r>
            <a:r>
              <a:rPr lang="zh-CN" altLang="en-US" dirty="0"/>
              <a:t>的链接数</a:t>
            </a:r>
            <a:endParaRPr lang="en-US" altLang="zh-CN" dirty="0"/>
          </a:p>
          <a:p>
            <a:r>
              <a:rPr lang="zh-CN" altLang="en-US" b="0" dirty="0"/>
              <a:t>目录修改日志的持久化在目录修改之前</a:t>
            </a:r>
            <a:endParaRPr lang="en-US" altLang="zh-CN" b="0" dirty="0"/>
          </a:p>
          <a:p>
            <a:pPr lvl="1"/>
            <a:r>
              <a:rPr lang="zh-CN" altLang="en-US" b="0" dirty="0"/>
              <a:t>恢复时，根据目录修改日志保证</a:t>
            </a:r>
            <a:r>
              <a:rPr lang="en-US" altLang="zh-CN" b="0" dirty="0" err="1"/>
              <a:t>inode</a:t>
            </a:r>
            <a:r>
              <a:rPr lang="zh-CN" altLang="en-US" b="0" dirty="0"/>
              <a:t>的链接数是一致的</a:t>
            </a:r>
            <a:endParaRPr lang="en-US" altLang="zh-CN" b="0" dirty="0"/>
          </a:p>
        </p:txBody>
      </p:sp>
      <p:sp>
        <p:nvSpPr>
          <p:cNvPr id="4" name="Slide Number Placeholder 3">
            <a:extLst>
              <a:ext uri="{FF2B5EF4-FFF2-40B4-BE49-F238E27FC236}">
                <a16:creationId xmlns:a16="http://schemas.microsoft.com/office/drawing/2014/main" id="{0BAA94A3-1CA1-6A4D-8358-F1160FFCEFA1}"/>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Footer Placeholder 4">
            <a:extLst>
              <a:ext uri="{FF2B5EF4-FFF2-40B4-BE49-F238E27FC236}">
                <a16:creationId xmlns:a16="http://schemas.microsoft.com/office/drawing/2014/main" id="{6269F3A4-1EE3-6446-AB9B-C71932C16AD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90372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0B2AB-B876-B64C-8513-4C75E10B1B4D}"/>
              </a:ext>
            </a:extLst>
          </p:cNvPr>
          <p:cNvSpPr>
            <a:spLocks noGrp="1"/>
          </p:cNvSpPr>
          <p:nvPr>
            <p:ph type="title"/>
          </p:nvPr>
        </p:nvSpPr>
        <p:spPr/>
        <p:txBody>
          <a:bodyPr/>
          <a:lstStyle/>
          <a:p>
            <a:r>
              <a:rPr lang="zh-CN" altLang="en-US" dirty="0"/>
              <a:t>其他</a:t>
            </a:r>
            <a:r>
              <a:rPr lang="en-US" altLang="zh-CN" dirty="0"/>
              <a:t>LFS</a:t>
            </a:r>
            <a:r>
              <a:rPr lang="zh-CN" altLang="en-US" dirty="0"/>
              <a:t>的实现</a:t>
            </a:r>
            <a:endParaRPr lang="en-CN" dirty="0"/>
          </a:p>
        </p:txBody>
      </p:sp>
      <p:sp>
        <p:nvSpPr>
          <p:cNvPr id="3" name="Content Placeholder 2">
            <a:extLst>
              <a:ext uri="{FF2B5EF4-FFF2-40B4-BE49-F238E27FC236}">
                <a16:creationId xmlns:a16="http://schemas.microsoft.com/office/drawing/2014/main" id="{B300A592-E37F-964D-BB26-957F1A1BAFA1}"/>
              </a:ext>
            </a:extLst>
          </p:cNvPr>
          <p:cNvSpPr>
            <a:spLocks noGrp="1"/>
          </p:cNvSpPr>
          <p:nvPr>
            <p:ph idx="1"/>
          </p:nvPr>
        </p:nvSpPr>
        <p:spPr>
          <a:xfrm>
            <a:off x="457200" y="1333501"/>
            <a:ext cx="4114800" cy="3771636"/>
          </a:xfrm>
        </p:spPr>
        <p:txBody>
          <a:bodyPr>
            <a:normAutofit fontScale="85000" lnSpcReduction="20000"/>
          </a:bodyPr>
          <a:lstStyle/>
          <a:p>
            <a:r>
              <a:rPr lang="zh-CN" altLang="en-US" dirty="0"/>
              <a:t>光盘</a:t>
            </a:r>
            <a:endParaRPr lang="en-US" altLang="zh-CN" dirty="0"/>
          </a:p>
          <a:p>
            <a:pPr lvl="1"/>
            <a:r>
              <a:rPr lang="en-US" dirty="0"/>
              <a:t>UDF</a:t>
            </a:r>
          </a:p>
          <a:p>
            <a:r>
              <a:rPr lang="en-US" altLang="zh-CN" dirty="0"/>
              <a:t>Flash/SSD</a:t>
            </a:r>
          </a:p>
          <a:p>
            <a:pPr lvl="1"/>
            <a:r>
              <a:rPr lang="en-US" dirty="0"/>
              <a:t>JFFS</a:t>
            </a:r>
            <a:r>
              <a:rPr lang="en-US" altLang="zh-CN" dirty="0"/>
              <a:t>,</a:t>
            </a:r>
            <a:r>
              <a:rPr lang="en-US" dirty="0"/>
              <a:t> JFFS2</a:t>
            </a:r>
          </a:p>
          <a:p>
            <a:pPr lvl="1"/>
            <a:r>
              <a:rPr lang="en-US" dirty="0"/>
              <a:t>UBIFS</a:t>
            </a:r>
          </a:p>
          <a:p>
            <a:pPr lvl="1"/>
            <a:r>
              <a:rPr lang="en-US" dirty="0" err="1"/>
              <a:t>LogFS</a:t>
            </a:r>
            <a:endParaRPr lang="en-US" dirty="0"/>
          </a:p>
          <a:p>
            <a:pPr lvl="1"/>
            <a:r>
              <a:rPr lang="en-US" dirty="0"/>
              <a:t>YAFFS</a:t>
            </a:r>
            <a:r>
              <a:rPr lang="en-US" altLang="zh-CN" dirty="0"/>
              <a:t>,</a:t>
            </a:r>
            <a:r>
              <a:rPr lang="zh-CN" altLang="en-US" dirty="0"/>
              <a:t> </a:t>
            </a:r>
            <a:r>
              <a:rPr lang="en-US" altLang="zh-CN" dirty="0"/>
              <a:t>YAFFS2</a:t>
            </a:r>
            <a:endParaRPr lang="en-US" dirty="0"/>
          </a:p>
          <a:p>
            <a:pPr lvl="1"/>
            <a:r>
              <a:rPr lang="en-US" dirty="0"/>
              <a:t>F2FS</a:t>
            </a:r>
          </a:p>
          <a:p>
            <a:r>
              <a:rPr lang="zh-CN" altLang="en-US" dirty="0"/>
              <a:t>非易失性内存</a:t>
            </a:r>
            <a:endParaRPr lang="en-US" altLang="zh-CN" dirty="0"/>
          </a:p>
          <a:p>
            <a:pPr lvl="1"/>
            <a:r>
              <a:rPr lang="en-US" dirty="0"/>
              <a:t>NOVA</a:t>
            </a:r>
            <a:br>
              <a:rPr lang="en-US" dirty="0"/>
            </a:br>
            <a:endParaRPr lang="en-CN" dirty="0"/>
          </a:p>
        </p:txBody>
      </p:sp>
      <p:sp>
        <p:nvSpPr>
          <p:cNvPr id="4" name="Slide Number Placeholder 3">
            <a:extLst>
              <a:ext uri="{FF2B5EF4-FFF2-40B4-BE49-F238E27FC236}">
                <a16:creationId xmlns:a16="http://schemas.microsoft.com/office/drawing/2014/main" id="{2A63365F-58EC-694A-AF66-97A4E249AA2C}"/>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Footer Placeholder 4">
            <a:extLst>
              <a:ext uri="{FF2B5EF4-FFF2-40B4-BE49-F238E27FC236}">
                <a16:creationId xmlns:a16="http://schemas.microsoft.com/office/drawing/2014/main" id="{82319557-5444-1543-A990-C8A0069771A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94C5F0DF-46DF-BB4F-8837-F5C193C8F068}"/>
              </a:ext>
            </a:extLst>
          </p:cNvPr>
          <p:cNvSpPr txBox="1"/>
          <p:nvPr/>
        </p:nvSpPr>
        <p:spPr>
          <a:xfrm>
            <a:off x="0" y="5486134"/>
            <a:ext cx="3773790" cy="246221"/>
          </a:xfrm>
          <a:prstGeom prst="rect">
            <a:avLst/>
          </a:prstGeom>
          <a:noFill/>
        </p:spPr>
        <p:txBody>
          <a:bodyPr wrap="none" rtlCol="0">
            <a:spAutoFit/>
          </a:bodyPr>
          <a:lstStyle/>
          <a:p>
            <a:r>
              <a:rPr lang="en-US" sz="1000" dirty="0"/>
              <a:t>https://</a:t>
            </a:r>
            <a:r>
              <a:rPr lang="en-US" sz="1000" dirty="0" err="1"/>
              <a:t>en.wikipedia.org</a:t>
            </a:r>
            <a:r>
              <a:rPr lang="en-US" sz="1000" dirty="0"/>
              <a:t>/wiki/</a:t>
            </a:r>
            <a:r>
              <a:rPr lang="en-US" sz="1000" dirty="0" err="1"/>
              <a:t>List_of_log-structured_file_systems</a:t>
            </a:r>
            <a:endParaRPr lang="en-CN" sz="1000" dirty="0"/>
          </a:p>
        </p:txBody>
      </p:sp>
      <p:sp>
        <p:nvSpPr>
          <p:cNvPr id="7" name="Content Placeholder 2">
            <a:extLst>
              <a:ext uri="{FF2B5EF4-FFF2-40B4-BE49-F238E27FC236}">
                <a16:creationId xmlns:a16="http://schemas.microsoft.com/office/drawing/2014/main" id="{A7F0555E-5A06-F54A-996B-9A2E5C9C8337}"/>
              </a:ext>
            </a:extLst>
          </p:cNvPr>
          <p:cNvSpPr txBox="1">
            <a:spLocks/>
          </p:cNvSpPr>
          <p:nvPr/>
        </p:nvSpPr>
        <p:spPr>
          <a:xfrm>
            <a:off x="4572000" y="1322912"/>
            <a:ext cx="4114800" cy="3771636"/>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N" altLang="zh-CN" dirty="0"/>
              <a:t>RAID</a:t>
            </a:r>
          </a:p>
          <a:p>
            <a:pPr lvl="1"/>
            <a:r>
              <a:rPr lang="en-US" dirty="0"/>
              <a:t>WAFL</a:t>
            </a:r>
            <a:r>
              <a:rPr lang="zh-CN" altLang="en-US" dirty="0"/>
              <a:t> </a:t>
            </a:r>
            <a:r>
              <a:rPr lang="en-US" altLang="zh-CN" dirty="0"/>
              <a:t>(by</a:t>
            </a:r>
            <a:r>
              <a:rPr lang="zh-CN" altLang="en-US" dirty="0"/>
              <a:t> </a:t>
            </a:r>
            <a:r>
              <a:rPr lang="en-US" altLang="zh-CN" dirty="0"/>
              <a:t>NetApp)</a:t>
            </a:r>
            <a:endParaRPr lang="en-CN" altLang="zh-CN" dirty="0"/>
          </a:p>
          <a:p>
            <a:r>
              <a:rPr lang="en-US" altLang="zh-CN" dirty="0"/>
              <a:t>NVM</a:t>
            </a:r>
          </a:p>
          <a:p>
            <a:pPr lvl="1"/>
            <a:r>
              <a:rPr lang="en-US" altLang="zh-CN" dirty="0"/>
              <a:t>NOVA</a:t>
            </a:r>
            <a:endParaRPr lang="en-CN" altLang="zh-CN" dirty="0"/>
          </a:p>
          <a:p>
            <a:r>
              <a:rPr lang="en-CN" altLang="zh-CN" dirty="0"/>
              <a:t>Cloud</a:t>
            </a:r>
          </a:p>
          <a:p>
            <a:pPr lvl="1"/>
            <a:r>
              <a:rPr lang="en-US" altLang="zh-CN" dirty="0" err="1"/>
              <a:t>ObjectiveFS</a:t>
            </a:r>
            <a:r>
              <a:rPr lang="en-US" altLang="zh-CN" dirty="0"/>
              <a:t> via</a:t>
            </a:r>
            <a:r>
              <a:rPr lang="zh-CN" altLang="en-US" dirty="0"/>
              <a:t> </a:t>
            </a:r>
            <a:r>
              <a:rPr lang="en-US" altLang="zh-CN" dirty="0"/>
              <a:t>FUSE uses cloud object stores (e.g. Amazon S3, Google Cloud Storage and private cloud object store)</a:t>
            </a:r>
            <a:br>
              <a:rPr lang="en-US" dirty="0"/>
            </a:br>
            <a:endParaRPr lang="en-CN" dirty="0"/>
          </a:p>
        </p:txBody>
      </p:sp>
    </p:spTree>
    <p:extLst>
      <p:ext uri="{BB962C8B-B14F-4D97-AF65-F5344CB8AC3E}">
        <p14:creationId xmlns:p14="http://schemas.microsoft.com/office/powerpoint/2010/main" val="2645925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0B2AB-B876-B64C-8513-4C75E10B1B4D}"/>
              </a:ext>
            </a:extLst>
          </p:cNvPr>
          <p:cNvSpPr>
            <a:spLocks noGrp="1"/>
          </p:cNvSpPr>
          <p:nvPr>
            <p:ph type="title"/>
          </p:nvPr>
        </p:nvSpPr>
        <p:spPr/>
        <p:txBody>
          <a:bodyPr/>
          <a:lstStyle/>
          <a:p>
            <a:r>
              <a:rPr lang="zh-CN" altLang="en-US" dirty="0"/>
              <a:t>关于</a:t>
            </a:r>
            <a:r>
              <a:rPr lang="en-US" altLang="zh-CN" dirty="0"/>
              <a:t>LFS</a:t>
            </a:r>
            <a:r>
              <a:rPr lang="zh-CN" altLang="en-US" dirty="0"/>
              <a:t>的讨论</a:t>
            </a:r>
            <a:endParaRPr lang="en-CN" dirty="0"/>
          </a:p>
        </p:txBody>
      </p:sp>
      <p:sp>
        <p:nvSpPr>
          <p:cNvPr id="3" name="Content Placeholder 2">
            <a:extLst>
              <a:ext uri="{FF2B5EF4-FFF2-40B4-BE49-F238E27FC236}">
                <a16:creationId xmlns:a16="http://schemas.microsoft.com/office/drawing/2014/main" id="{B300A592-E37F-964D-BB26-957F1A1BAFA1}"/>
              </a:ext>
            </a:extLst>
          </p:cNvPr>
          <p:cNvSpPr>
            <a:spLocks noGrp="1"/>
          </p:cNvSpPr>
          <p:nvPr>
            <p:ph idx="1"/>
          </p:nvPr>
        </p:nvSpPr>
        <p:spPr/>
        <p:txBody>
          <a:bodyPr/>
          <a:lstStyle/>
          <a:p>
            <a:r>
              <a:rPr lang="zh-CN" altLang="en-US" b="0" dirty="0"/>
              <a:t>之前的</a:t>
            </a:r>
            <a:r>
              <a:rPr lang="zh-CN" altLang="en-CN" b="0" dirty="0"/>
              <a:t>假设</a:t>
            </a:r>
            <a:r>
              <a:rPr lang="zh-CN" altLang="en-US" b="0" dirty="0"/>
              <a:t>：大多数读请求可以通过内存缓存处理</a:t>
            </a:r>
            <a:endParaRPr lang="en-US" altLang="zh-CN" b="0" dirty="0"/>
          </a:p>
          <a:p>
            <a:pPr lvl="1"/>
            <a:r>
              <a:rPr lang="zh-CN" altLang="en-US" dirty="0"/>
              <a:t>实际情况：缓存未命中时</a:t>
            </a:r>
            <a:r>
              <a:rPr lang="zh-CN" altLang="en-US" b="0" dirty="0"/>
              <a:t>去磁盘上读，会</a:t>
            </a:r>
            <a:r>
              <a:rPr lang="zh-CN" altLang="en-US" dirty="0"/>
              <a:t>非常</a:t>
            </a:r>
            <a:r>
              <a:rPr lang="zh-CN" altLang="en-US" b="0" dirty="0"/>
              <a:t>慢</a:t>
            </a:r>
            <a:endParaRPr lang="en-US" altLang="zh-CN" b="0" dirty="0"/>
          </a:p>
          <a:p>
            <a:pPr lvl="1"/>
            <a:r>
              <a:rPr lang="zh-CN" altLang="en-US" b="0" dirty="0"/>
              <a:t>因为文件会非常分散</a:t>
            </a:r>
            <a:endParaRPr lang="en-US" altLang="zh-CN" b="0" dirty="0"/>
          </a:p>
          <a:p>
            <a:r>
              <a:rPr lang="en-US" altLang="zh-CN" b="0" dirty="0"/>
              <a:t>LFS</a:t>
            </a:r>
            <a:r>
              <a:rPr lang="zh-CN" altLang="en-US" b="0" dirty="0"/>
              <a:t>的</a:t>
            </a:r>
            <a:r>
              <a:rPr lang="en-US" altLang="zh-CN" b="0" dirty="0"/>
              <a:t>segment</a:t>
            </a:r>
            <a:r>
              <a:rPr lang="zh-CN" altLang="en-US" b="0" dirty="0"/>
              <a:t>和</a:t>
            </a:r>
            <a:r>
              <a:rPr lang="en-US" altLang="zh-CN" b="0" dirty="0"/>
              <a:t>Flash</a:t>
            </a:r>
            <a:r>
              <a:rPr lang="zh-CN" altLang="en-US" b="0" dirty="0"/>
              <a:t>的性质很像？</a:t>
            </a:r>
            <a:endParaRPr lang="en-CN" b="0" dirty="0"/>
          </a:p>
          <a:p>
            <a:endParaRPr lang="en-CN" b="0" dirty="0"/>
          </a:p>
        </p:txBody>
      </p:sp>
      <p:sp>
        <p:nvSpPr>
          <p:cNvPr id="4" name="Slide Number Placeholder 3">
            <a:extLst>
              <a:ext uri="{FF2B5EF4-FFF2-40B4-BE49-F238E27FC236}">
                <a16:creationId xmlns:a16="http://schemas.microsoft.com/office/drawing/2014/main" id="{2A63365F-58EC-694A-AF66-97A4E249AA2C}"/>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Footer Placeholder 4">
            <a:extLst>
              <a:ext uri="{FF2B5EF4-FFF2-40B4-BE49-F238E27FC236}">
                <a16:creationId xmlns:a16="http://schemas.microsoft.com/office/drawing/2014/main" id="{82319557-5444-1543-A990-C8A0069771A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58577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6437CE6-834A-674D-B58D-1A9B06C46796}"/>
              </a:ext>
            </a:extLst>
          </p:cNvPr>
          <p:cNvSpPr>
            <a:spLocks noGrp="1"/>
          </p:cNvSpPr>
          <p:nvPr>
            <p:ph type="title"/>
          </p:nvPr>
        </p:nvSpPr>
        <p:spPr/>
        <p:txBody>
          <a:bodyPr/>
          <a:lstStyle/>
          <a:p>
            <a:r>
              <a:rPr lang="en-US" altLang="zh-CN" dirty="0"/>
              <a:t>F2FS</a:t>
            </a:r>
            <a:endParaRPr lang="en-CN" dirty="0"/>
          </a:p>
        </p:txBody>
      </p:sp>
      <p:sp>
        <p:nvSpPr>
          <p:cNvPr id="7" name="Text Placeholder 6">
            <a:extLst>
              <a:ext uri="{FF2B5EF4-FFF2-40B4-BE49-F238E27FC236}">
                <a16:creationId xmlns:a16="http://schemas.microsoft.com/office/drawing/2014/main" id="{3CFDBFE3-9FEB-7541-A8AC-6C1CFA5B2648}"/>
              </a:ext>
            </a:extLst>
          </p:cNvPr>
          <p:cNvSpPr>
            <a:spLocks noGrp="1"/>
          </p:cNvSpPr>
          <p:nvPr>
            <p:ph type="body" idx="1"/>
          </p:nvPr>
        </p:nvSpPr>
        <p:spPr/>
        <p:txBody>
          <a:bodyPr/>
          <a:lstStyle/>
          <a:p>
            <a:r>
              <a:rPr lang="en-CN" dirty="0"/>
              <a:t>Flash</a:t>
            </a:r>
            <a:r>
              <a:rPr lang="zh-CN" altLang="en-US" dirty="0"/>
              <a:t>友好的文件系统</a:t>
            </a:r>
            <a:endParaRPr lang="en-CN" dirty="0"/>
          </a:p>
        </p:txBody>
      </p:sp>
      <p:sp>
        <p:nvSpPr>
          <p:cNvPr id="4" name="Slide Number Placeholder 3">
            <a:extLst>
              <a:ext uri="{FF2B5EF4-FFF2-40B4-BE49-F238E27FC236}">
                <a16:creationId xmlns:a16="http://schemas.microsoft.com/office/drawing/2014/main" id="{4F137BB9-10B3-1344-872B-D2110A485FCF}"/>
              </a:ext>
            </a:extLst>
          </p:cNvPr>
          <p:cNvSpPr>
            <a:spLocks noGrp="1"/>
          </p:cNvSpPr>
          <p:nvPr>
            <p:ph type="sldNum" sz="quarter" idx="12"/>
          </p:nvPr>
        </p:nvSpPr>
        <p:spPr/>
        <p:txBody>
          <a:bodyPr/>
          <a:lstStyle/>
          <a:p>
            <a:fld id="{ADE361C3-C043-4A6E-BDCE-8DA1E7D90A3B}" type="slidenum">
              <a:rPr lang="zh-CN" altLang="en-US" smtClean="0"/>
              <a:t>36</a:t>
            </a:fld>
            <a:endParaRPr lang="zh-CN" altLang="en-US" dirty="0"/>
          </a:p>
        </p:txBody>
      </p:sp>
      <p:sp>
        <p:nvSpPr>
          <p:cNvPr id="5" name="Footer Placeholder 4">
            <a:extLst>
              <a:ext uri="{FF2B5EF4-FFF2-40B4-BE49-F238E27FC236}">
                <a16:creationId xmlns:a16="http://schemas.microsoft.com/office/drawing/2014/main" id="{1F99D6D3-5D0C-6845-98C5-8C86CD64B84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TextBox 7">
            <a:extLst>
              <a:ext uri="{FF2B5EF4-FFF2-40B4-BE49-F238E27FC236}">
                <a16:creationId xmlns:a16="http://schemas.microsoft.com/office/drawing/2014/main" id="{EC1DD1C2-9EDA-E045-817F-971242A96BA6}"/>
              </a:ext>
            </a:extLst>
          </p:cNvPr>
          <p:cNvSpPr txBox="1"/>
          <p:nvPr/>
        </p:nvSpPr>
        <p:spPr>
          <a:xfrm>
            <a:off x="0" y="5494627"/>
            <a:ext cx="6628738" cy="230832"/>
          </a:xfrm>
          <a:prstGeom prst="rect">
            <a:avLst/>
          </a:prstGeom>
          <a:noFill/>
        </p:spPr>
        <p:txBody>
          <a:bodyPr wrap="none" rtlCol="0">
            <a:spAutoFit/>
          </a:bodyPr>
          <a:lstStyle/>
          <a:p>
            <a:r>
              <a:rPr lang="en-US" sz="900" dirty="0"/>
              <a:t>Lee, </a:t>
            </a:r>
            <a:r>
              <a:rPr lang="en-US" sz="900" dirty="0" err="1"/>
              <a:t>Changman</a:t>
            </a:r>
            <a:r>
              <a:rPr lang="en-US" sz="900" dirty="0"/>
              <a:t>, </a:t>
            </a:r>
            <a:r>
              <a:rPr lang="en-US" sz="900" dirty="0" err="1"/>
              <a:t>Dongho</a:t>
            </a:r>
            <a:r>
              <a:rPr lang="en-US" sz="900" dirty="0"/>
              <a:t> Sim, </a:t>
            </a:r>
            <a:r>
              <a:rPr lang="en-US" sz="900" dirty="0" err="1"/>
              <a:t>Jooyoung</a:t>
            </a:r>
            <a:r>
              <a:rPr lang="en-US" sz="900" dirty="0"/>
              <a:t> Hwang, and </a:t>
            </a:r>
            <a:r>
              <a:rPr lang="en-US" sz="900" dirty="0" err="1"/>
              <a:t>Sangyeun</a:t>
            </a:r>
            <a:r>
              <a:rPr lang="en-US" sz="900" dirty="0"/>
              <a:t> Cho. </a:t>
            </a:r>
            <a:r>
              <a:rPr lang="en-US" sz="900" i="1" dirty="0"/>
              <a:t>F2FS: A new file system for flash storage</a:t>
            </a:r>
            <a:r>
              <a:rPr lang="en-US" sz="900" dirty="0"/>
              <a:t>. In</a:t>
            </a:r>
            <a:r>
              <a:rPr lang="zh-CN" altLang="en-US" sz="900" dirty="0"/>
              <a:t> </a:t>
            </a:r>
            <a:r>
              <a:rPr lang="en-US" sz="900" i="1" dirty="0"/>
              <a:t>FAST</a:t>
            </a:r>
            <a:r>
              <a:rPr lang="zh-CN" altLang="en-US" sz="900" i="1" dirty="0"/>
              <a:t> </a:t>
            </a:r>
            <a:r>
              <a:rPr lang="en-US" altLang="zh-CN" sz="900" i="1" dirty="0"/>
              <a:t>’</a:t>
            </a:r>
            <a:r>
              <a:rPr lang="en-US" sz="900" i="1" dirty="0"/>
              <a:t>15</a:t>
            </a:r>
            <a:r>
              <a:rPr lang="en-US" altLang="zh-CN" sz="900" dirty="0"/>
              <a:t>.</a:t>
            </a:r>
            <a:endParaRPr lang="en-US" sz="900" dirty="0"/>
          </a:p>
        </p:txBody>
      </p:sp>
    </p:spTree>
    <p:extLst>
      <p:ext uri="{BB962C8B-B14F-4D97-AF65-F5344CB8AC3E}">
        <p14:creationId xmlns:p14="http://schemas.microsoft.com/office/powerpoint/2010/main" val="3761469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6EA06-05CC-9E46-8AFC-01D4D9DDC432}"/>
              </a:ext>
            </a:extLst>
          </p:cNvPr>
          <p:cNvSpPr>
            <a:spLocks noGrp="1"/>
          </p:cNvSpPr>
          <p:nvPr>
            <p:ph type="title"/>
          </p:nvPr>
        </p:nvSpPr>
        <p:spPr/>
        <p:txBody>
          <a:bodyPr/>
          <a:lstStyle/>
          <a:p>
            <a:r>
              <a:rPr lang="zh-CN" altLang="en-CN" dirty="0"/>
              <a:t>闪存</a:t>
            </a:r>
            <a:r>
              <a:rPr lang="zh-CN" altLang="en-US" dirty="0"/>
              <a:t>盘的组织</a:t>
            </a:r>
            <a:endParaRPr lang="en-CN" dirty="0"/>
          </a:p>
        </p:txBody>
      </p:sp>
      <p:sp>
        <p:nvSpPr>
          <p:cNvPr id="3" name="Content Placeholder 2">
            <a:extLst>
              <a:ext uri="{FF2B5EF4-FFF2-40B4-BE49-F238E27FC236}">
                <a16:creationId xmlns:a16="http://schemas.microsoft.com/office/drawing/2014/main" id="{AB5C9991-6D39-484A-862E-D6F09A9D7EC2}"/>
              </a:ext>
            </a:extLst>
          </p:cNvPr>
          <p:cNvSpPr>
            <a:spLocks noGrp="1"/>
          </p:cNvSpPr>
          <p:nvPr>
            <p:ph idx="1"/>
          </p:nvPr>
        </p:nvSpPr>
        <p:spPr/>
        <p:txBody>
          <a:bodyPr/>
          <a:lstStyle/>
          <a:p>
            <a:r>
              <a:rPr lang="en-US" altLang="zh-CN" b="0" dirty="0"/>
              <a:t>(NAND)</a:t>
            </a:r>
            <a:r>
              <a:rPr lang="zh-CN" altLang="en-US" b="0" dirty="0"/>
              <a:t> 闪存盘组织结构</a:t>
            </a:r>
            <a:endParaRPr lang="en-US" altLang="zh-CN" b="0" dirty="0"/>
          </a:p>
          <a:p>
            <a:pPr lvl="1"/>
            <a:r>
              <a:rPr lang="en-US" altLang="zh-CN" dirty="0"/>
              <a:t>A chip/package</a:t>
            </a:r>
            <a:br>
              <a:rPr lang="en-US" altLang="zh-CN" dirty="0"/>
            </a:br>
            <a:r>
              <a:rPr lang="en-US" altLang="zh-CN" dirty="0"/>
              <a:t>=&gt; 1/2/4</a:t>
            </a:r>
            <a:r>
              <a:rPr lang="zh-CN" altLang="en-US" dirty="0"/>
              <a:t> </a:t>
            </a:r>
            <a:r>
              <a:rPr lang="en-US" altLang="zh-CN" dirty="0"/>
              <a:t>dies</a:t>
            </a:r>
            <a:br>
              <a:rPr lang="en-US" altLang="zh-CN" dirty="0"/>
            </a:br>
            <a:r>
              <a:rPr lang="en-US" altLang="zh-CN" dirty="0"/>
              <a:t>=&gt;</a:t>
            </a:r>
            <a:r>
              <a:rPr lang="zh-CN" altLang="en-US" dirty="0"/>
              <a:t> </a:t>
            </a:r>
            <a:r>
              <a:rPr lang="en-US" altLang="zh-CN" dirty="0"/>
              <a:t>1/2</a:t>
            </a:r>
            <a:r>
              <a:rPr lang="zh-CN" altLang="en-US" dirty="0"/>
              <a:t> </a:t>
            </a:r>
            <a:r>
              <a:rPr lang="en-US" altLang="zh-CN" dirty="0"/>
              <a:t>planes</a:t>
            </a:r>
            <a:br>
              <a:rPr lang="en-US" altLang="zh-CN" dirty="0"/>
            </a:br>
            <a:r>
              <a:rPr lang="en-US" altLang="zh-CN" dirty="0"/>
              <a:t>=&gt;</a:t>
            </a:r>
            <a:r>
              <a:rPr lang="zh-CN" altLang="en-US" dirty="0"/>
              <a:t> </a:t>
            </a:r>
            <a:r>
              <a:rPr lang="en-US" altLang="zh-CN" dirty="0"/>
              <a:t>n</a:t>
            </a:r>
            <a:r>
              <a:rPr lang="zh-CN" altLang="en-US" dirty="0"/>
              <a:t> </a:t>
            </a:r>
            <a:r>
              <a:rPr lang="en-US" altLang="zh-CN" dirty="0"/>
              <a:t>blocks</a:t>
            </a:r>
            <a:r>
              <a:rPr lang="zh-CN" altLang="en-US" dirty="0"/>
              <a:t> （块）</a:t>
            </a:r>
            <a:br>
              <a:rPr lang="en-US" altLang="zh-CN" dirty="0"/>
            </a:br>
            <a:r>
              <a:rPr lang="en-US" altLang="zh-CN" dirty="0"/>
              <a:t>=&gt;</a:t>
            </a:r>
            <a:r>
              <a:rPr lang="zh-CN" altLang="en-US" dirty="0"/>
              <a:t> </a:t>
            </a:r>
            <a:r>
              <a:rPr lang="en-US" altLang="zh-CN" dirty="0"/>
              <a:t>n</a:t>
            </a:r>
            <a:r>
              <a:rPr lang="zh-CN" altLang="en-US" dirty="0"/>
              <a:t> </a:t>
            </a:r>
            <a:r>
              <a:rPr lang="en-US" altLang="zh-CN" dirty="0"/>
              <a:t>pages</a:t>
            </a:r>
            <a:r>
              <a:rPr lang="zh-CN" altLang="en-US" dirty="0"/>
              <a:t> （页）</a:t>
            </a:r>
            <a:br>
              <a:rPr lang="en-US" altLang="zh-CN" dirty="0"/>
            </a:br>
            <a:r>
              <a:rPr lang="en-US" altLang="zh-CN" dirty="0"/>
              <a:t>=&gt; n</a:t>
            </a:r>
            <a:r>
              <a:rPr lang="zh-CN" altLang="en-US" dirty="0"/>
              <a:t> </a:t>
            </a:r>
            <a:r>
              <a:rPr lang="en-US" altLang="zh-CN" dirty="0"/>
              <a:t>cells</a:t>
            </a:r>
            <a:br>
              <a:rPr lang="en-US" altLang="zh-CN" dirty="0"/>
            </a:br>
            <a:r>
              <a:rPr lang="en-US" altLang="zh-CN" dirty="0"/>
              <a:t>=&gt;</a:t>
            </a:r>
            <a:r>
              <a:rPr lang="zh-CN" altLang="en-US" dirty="0"/>
              <a:t> </a:t>
            </a:r>
            <a:r>
              <a:rPr lang="en-US" altLang="zh-CN" dirty="0"/>
              <a:t>1/2/3/4</a:t>
            </a:r>
            <a:r>
              <a:rPr lang="zh-CN" altLang="en-US" dirty="0"/>
              <a:t> </a:t>
            </a:r>
            <a:r>
              <a:rPr lang="en-US" altLang="zh-CN" dirty="0"/>
              <a:t>levels</a:t>
            </a:r>
          </a:p>
          <a:p>
            <a:pPr lvl="1"/>
            <a:endParaRPr lang="zh-CN" altLang="en-US" dirty="0"/>
          </a:p>
          <a:p>
            <a:endParaRPr lang="en-CN" b="0" dirty="0"/>
          </a:p>
        </p:txBody>
      </p:sp>
      <p:sp>
        <p:nvSpPr>
          <p:cNvPr id="4" name="Slide Number Placeholder 3">
            <a:extLst>
              <a:ext uri="{FF2B5EF4-FFF2-40B4-BE49-F238E27FC236}">
                <a16:creationId xmlns:a16="http://schemas.microsoft.com/office/drawing/2014/main" id="{30C2E4C8-D202-B740-8367-A9EB70145274}"/>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Footer Placeholder 4">
            <a:extLst>
              <a:ext uri="{FF2B5EF4-FFF2-40B4-BE49-F238E27FC236}">
                <a16:creationId xmlns:a16="http://schemas.microsoft.com/office/drawing/2014/main" id="{80F12B10-2197-4845-B8FB-22628AC81B8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Picture 5">
            <a:extLst>
              <a:ext uri="{FF2B5EF4-FFF2-40B4-BE49-F238E27FC236}">
                <a16:creationId xmlns:a16="http://schemas.microsoft.com/office/drawing/2014/main" id="{91662A21-721E-CA4B-A5CA-21A0686B015C}"/>
              </a:ext>
            </a:extLst>
          </p:cNvPr>
          <p:cNvPicPr>
            <a:picLocks noChangeAspect="1"/>
          </p:cNvPicPr>
          <p:nvPr/>
        </p:nvPicPr>
        <p:blipFill>
          <a:blip r:embed="rId2"/>
          <a:stretch>
            <a:fillRect/>
          </a:stretch>
        </p:blipFill>
        <p:spPr>
          <a:xfrm>
            <a:off x="4355975" y="2310480"/>
            <a:ext cx="4102861" cy="3006550"/>
          </a:xfrm>
          <a:prstGeom prst="rect">
            <a:avLst/>
          </a:prstGeom>
        </p:spPr>
      </p:pic>
      <p:sp>
        <p:nvSpPr>
          <p:cNvPr id="7" name="TextBox 6">
            <a:extLst>
              <a:ext uri="{FF2B5EF4-FFF2-40B4-BE49-F238E27FC236}">
                <a16:creationId xmlns:a16="http://schemas.microsoft.com/office/drawing/2014/main" id="{ED4C8233-C5EC-EA43-8AC4-A3413F0CA76D}"/>
              </a:ext>
            </a:extLst>
          </p:cNvPr>
          <p:cNvSpPr txBox="1"/>
          <p:nvPr/>
        </p:nvSpPr>
        <p:spPr>
          <a:xfrm>
            <a:off x="-27451" y="5482589"/>
            <a:ext cx="7396577" cy="253916"/>
          </a:xfrm>
          <a:prstGeom prst="rect">
            <a:avLst/>
          </a:prstGeom>
          <a:noFill/>
        </p:spPr>
        <p:txBody>
          <a:bodyPr wrap="none" rtlCol="0">
            <a:spAutoFit/>
          </a:bodyPr>
          <a:lstStyle/>
          <a:p>
            <a:r>
              <a:rPr lang="en-US" altLang="zh-CN" sz="1050" dirty="0"/>
              <a:t>https://</a:t>
            </a:r>
            <a:r>
              <a:rPr lang="en-US" altLang="zh-CN" sz="1050" dirty="0" err="1"/>
              <a:t>www.extremetech.com</a:t>
            </a:r>
            <a:r>
              <a:rPr lang="en-US" altLang="zh-CN" sz="1050" dirty="0"/>
              <a:t>/electronics/274944-samsungs-new-v-nand-could-mean-cheap-plentiful-multi-terabyte-ssds</a:t>
            </a:r>
            <a:endParaRPr lang="en-US" sz="1050" dirty="0"/>
          </a:p>
        </p:txBody>
      </p:sp>
      <p:pic>
        <p:nvPicPr>
          <p:cNvPr id="8" name="Picture 7">
            <a:extLst>
              <a:ext uri="{FF2B5EF4-FFF2-40B4-BE49-F238E27FC236}">
                <a16:creationId xmlns:a16="http://schemas.microsoft.com/office/drawing/2014/main" id="{767E3D01-AFEB-F646-BF70-C602554BEAB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868036" y="465276"/>
            <a:ext cx="2590800" cy="1893782"/>
          </a:xfrm>
          <a:prstGeom prst="rect">
            <a:avLst/>
          </a:prstGeom>
        </p:spPr>
      </p:pic>
    </p:spTree>
    <p:extLst>
      <p:ext uri="{BB962C8B-B14F-4D97-AF65-F5344CB8AC3E}">
        <p14:creationId xmlns:p14="http://schemas.microsoft.com/office/powerpoint/2010/main" val="452119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C3385-B06D-3C4A-BD05-CD7F6E1E662A}"/>
              </a:ext>
            </a:extLst>
          </p:cNvPr>
          <p:cNvSpPr>
            <a:spLocks noGrp="1"/>
          </p:cNvSpPr>
          <p:nvPr>
            <p:ph type="title"/>
          </p:nvPr>
        </p:nvSpPr>
        <p:spPr/>
        <p:txBody>
          <a:bodyPr/>
          <a:lstStyle/>
          <a:p>
            <a:r>
              <a:rPr lang="zh-CN" altLang="en-CN" dirty="0"/>
              <a:t>闪存</a:t>
            </a:r>
            <a:r>
              <a:rPr lang="zh-CN" altLang="en-US" dirty="0"/>
              <a:t>盘的组织</a:t>
            </a:r>
            <a:endParaRPr lang="en-CN" dirty="0"/>
          </a:p>
        </p:txBody>
      </p:sp>
      <p:sp>
        <p:nvSpPr>
          <p:cNvPr id="3" name="Content Placeholder 2">
            <a:extLst>
              <a:ext uri="{FF2B5EF4-FFF2-40B4-BE49-F238E27FC236}">
                <a16:creationId xmlns:a16="http://schemas.microsoft.com/office/drawing/2014/main" id="{0D5697E0-583E-844D-BC9B-BDCBF18BADFA}"/>
              </a:ext>
            </a:extLst>
          </p:cNvPr>
          <p:cNvSpPr>
            <a:spLocks noGrp="1"/>
          </p:cNvSpPr>
          <p:nvPr>
            <p:ph idx="1"/>
          </p:nvPr>
        </p:nvSpPr>
        <p:spPr/>
        <p:txBody>
          <a:bodyPr/>
          <a:lstStyle/>
          <a:p>
            <a:r>
              <a:rPr lang="zh-CN" altLang="en-US" dirty="0"/>
              <a:t>通道（</a:t>
            </a:r>
            <a:r>
              <a:rPr lang="en-US" altLang="zh-CN" dirty="0"/>
              <a:t>Channel</a:t>
            </a:r>
            <a:r>
              <a:rPr lang="zh-CN" altLang="en-US" dirty="0"/>
              <a:t>）</a:t>
            </a:r>
            <a:endParaRPr lang="en-US" altLang="zh-CN" dirty="0"/>
          </a:p>
          <a:p>
            <a:pPr lvl="1"/>
            <a:r>
              <a:rPr lang="zh-CN" altLang="en-US" dirty="0"/>
              <a:t>控制器可以同时访问的闪存芯片数量</a:t>
            </a:r>
            <a:endParaRPr lang="en-US" altLang="zh-CN" dirty="0"/>
          </a:p>
          <a:p>
            <a:r>
              <a:rPr lang="zh-CN" altLang="en-US" dirty="0"/>
              <a:t>多通道（</a:t>
            </a:r>
            <a:r>
              <a:rPr lang="en-US" altLang="zh-CN" dirty="0"/>
              <a:t>Multi-channel</a:t>
            </a:r>
            <a:r>
              <a:rPr lang="zh-CN" altLang="en-US" dirty="0"/>
              <a:t>）</a:t>
            </a:r>
            <a:endParaRPr lang="en-US" altLang="zh-CN" dirty="0"/>
          </a:p>
          <a:p>
            <a:pPr lvl="1"/>
            <a:r>
              <a:rPr lang="zh-CN" altLang="en-US" dirty="0"/>
              <a:t>低端盘有</a:t>
            </a:r>
            <a:r>
              <a:rPr lang="en-US" altLang="zh-CN" dirty="0"/>
              <a:t>2</a:t>
            </a:r>
            <a:r>
              <a:rPr lang="zh-CN" altLang="en-US" dirty="0"/>
              <a:t>或</a:t>
            </a:r>
            <a:r>
              <a:rPr lang="en-US" altLang="zh-CN" dirty="0"/>
              <a:t>4</a:t>
            </a:r>
            <a:r>
              <a:rPr lang="zh-CN" altLang="en-US" dirty="0"/>
              <a:t>个通道</a:t>
            </a:r>
            <a:endParaRPr lang="en-US" altLang="zh-CN" dirty="0"/>
          </a:p>
          <a:p>
            <a:pPr lvl="1"/>
            <a:r>
              <a:rPr lang="zh-CN" altLang="en-US" dirty="0"/>
              <a:t>高端盘有</a:t>
            </a:r>
            <a:r>
              <a:rPr lang="en-US" altLang="zh-CN" dirty="0"/>
              <a:t>8</a:t>
            </a:r>
            <a:r>
              <a:rPr lang="zh-CN" altLang="en-US" dirty="0"/>
              <a:t>或</a:t>
            </a:r>
            <a:r>
              <a:rPr lang="en-US" altLang="zh-CN" dirty="0"/>
              <a:t>10</a:t>
            </a:r>
            <a:r>
              <a:rPr lang="zh-CN" altLang="en-US" dirty="0"/>
              <a:t>个</a:t>
            </a:r>
            <a:r>
              <a:rPr lang="zh-CN" altLang="en-CN" dirty="0"/>
              <a:t>通道</a:t>
            </a:r>
            <a:endParaRPr lang="en-US" dirty="0"/>
          </a:p>
          <a:p>
            <a:endParaRPr lang="en-CN" dirty="0"/>
          </a:p>
        </p:txBody>
      </p:sp>
      <p:sp>
        <p:nvSpPr>
          <p:cNvPr id="4" name="Slide Number Placeholder 3">
            <a:extLst>
              <a:ext uri="{FF2B5EF4-FFF2-40B4-BE49-F238E27FC236}">
                <a16:creationId xmlns:a16="http://schemas.microsoft.com/office/drawing/2014/main" id="{3039A64B-6E5F-C644-973B-2C34818E6357}"/>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Footer Placeholder 4">
            <a:extLst>
              <a:ext uri="{FF2B5EF4-FFF2-40B4-BE49-F238E27FC236}">
                <a16:creationId xmlns:a16="http://schemas.microsoft.com/office/drawing/2014/main" id="{460EE606-2B98-0F4E-BF6C-93F30A03DFC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Picture 5">
            <a:extLst>
              <a:ext uri="{FF2B5EF4-FFF2-40B4-BE49-F238E27FC236}">
                <a16:creationId xmlns:a16="http://schemas.microsoft.com/office/drawing/2014/main" id="{FFA3A1FA-925F-AA43-8BAD-44A5616B495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04048" y="609863"/>
            <a:ext cx="3960440" cy="4945473"/>
          </a:xfrm>
          <a:prstGeom prst="rect">
            <a:avLst/>
          </a:prstGeom>
        </p:spPr>
      </p:pic>
      <p:sp>
        <p:nvSpPr>
          <p:cNvPr id="7" name="TextBox 6">
            <a:extLst>
              <a:ext uri="{FF2B5EF4-FFF2-40B4-BE49-F238E27FC236}">
                <a16:creationId xmlns:a16="http://schemas.microsoft.com/office/drawing/2014/main" id="{EAF65746-A0A8-D64B-A374-43C2D47D1D91}"/>
              </a:ext>
            </a:extLst>
          </p:cNvPr>
          <p:cNvSpPr txBox="1"/>
          <p:nvPr/>
        </p:nvSpPr>
        <p:spPr>
          <a:xfrm>
            <a:off x="-9872" y="5474275"/>
            <a:ext cx="7439857" cy="253916"/>
          </a:xfrm>
          <a:prstGeom prst="rect">
            <a:avLst/>
          </a:prstGeom>
          <a:noFill/>
        </p:spPr>
        <p:txBody>
          <a:bodyPr wrap="none" rtlCol="0">
            <a:spAutoFit/>
          </a:bodyPr>
          <a:lstStyle/>
          <a:p>
            <a:r>
              <a:rPr lang="en-US" altLang="zh-CN" sz="1050" dirty="0"/>
              <a:t>https://</a:t>
            </a:r>
            <a:r>
              <a:rPr lang="en-US" altLang="zh-CN" sz="1050" dirty="0" err="1"/>
              <a:t>www.cactus-tech.com</a:t>
            </a:r>
            <a:r>
              <a:rPr lang="en-US" altLang="zh-CN" sz="1050" dirty="0"/>
              <a:t>/resources/blog/details/solid-state-drive-primer-8-controller-architecture-channels-and-banks/</a:t>
            </a:r>
            <a:endParaRPr lang="en-US" sz="1050" dirty="0"/>
          </a:p>
        </p:txBody>
      </p:sp>
    </p:spTree>
    <p:extLst>
      <p:ext uri="{BB962C8B-B14F-4D97-AF65-F5344CB8AC3E}">
        <p14:creationId xmlns:p14="http://schemas.microsoft.com/office/powerpoint/2010/main" val="14855581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FF5AB-E45A-A84C-AE35-92DD30D0D76C}"/>
              </a:ext>
            </a:extLst>
          </p:cNvPr>
          <p:cNvSpPr>
            <a:spLocks noGrp="1"/>
          </p:cNvSpPr>
          <p:nvPr>
            <p:ph type="title"/>
          </p:nvPr>
        </p:nvSpPr>
        <p:spPr/>
        <p:txBody>
          <a:bodyPr/>
          <a:lstStyle/>
          <a:p>
            <a:r>
              <a:rPr lang="zh-CN" altLang="en-US" dirty="0"/>
              <a:t>闪存盘的性质</a:t>
            </a:r>
            <a:endParaRPr lang="en-CN" dirty="0"/>
          </a:p>
        </p:txBody>
      </p:sp>
      <p:sp>
        <p:nvSpPr>
          <p:cNvPr id="3" name="Content Placeholder 2">
            <a:extLst>
              <a:ext uri="{FF2B5EF4-FFF2-40B4-BE49-F238E27FC236}">
                <a16:creationId xmlns:a16="http://schemas.microsoft.com/office/drawing/2014/main" id="{1732A5E4-F5A0-FB47-8BF0-E8CAAA146139}"/>
              </a:ext>
            </a:extLst>
          </p:cNvPr>
          <p:cNvSpPr>
            <a:spLocks noGrp="1"/>
          </p:cNvSpPr>
          <p:nvPr>
            <p:ph idx="1"/>
          </p:nvPr>
        </p:nvSpPr>
        <p:spPr/>
        <p:txBody>
          <a:bodyPr>
            <a:normAutofit lnSpcReduction="10000"/>
          </a:bodyPr>
          <a:lstStyle/>
          <a:p>
            <a:r>
              <a:rPr lang="zh-CN" altLang="en-US" dirty="0"/>
              <a:t>非对称的读写与擦除操作</a:t>
            </a:r>
            <a:endParaRPr lang="en-US" altLang="zh-CN" dirty="0"/>
          </a:p>
          <a:p>
            <a:pPr lvl="1"/>
            <a:r>
              <a:rPr lang="zh-CN" altLang="en-US" sz="1800" dirty="0"/>
              <a:t>页</a:t>
            </a:r>
            <a:r>
              <a:rPr lang="en-US" altLang="zh-CN" sz="1800" dirty="0"/>
              <a:t> (page) </a:t>
            </a:r>
            <a:r>
              <a:rPr lang="zh-CN" altLang="en-US" sz="1800" dirty="0"/>
              <a:t>是读写单元</a:t>
            </a:r>
            <a:r>
              <a:rPr lang="en-US" altLang="zh-CN" sz="1800" dirty="0"/>
              <a:t> (8-16KB)</a:t>
            </a:r>
          </a:p>
          <a:p>
            <a:pPr lvl="1"/>
            <a:r>
              <a:rPr lang="zh-CN" altLang="en-US" sz="1800" dirty="0"/>
              <a:t>块</a:t>
            </a:r>
            <a:r>
              <a:rPr lang="en-US" altLang="zh-CN" sz="1800" dirty="0"/>
              <a:t> (block) </a:t>
            </a:r>
            <a:r>
              <a:rPr lang="zh-CN" altLang="en-US" sz="1800" dirty="0"/>
              <a:t>是擦除单元</a:t>
            </a:r>
            <a:r>
              <a:rPr lang="en-US" altLang="zh-CN" sz="1800" dirty="0"/>
              <a:t> (4-8MB)</a:t>
            </a:r>
          </a:p>
          <a:p>
            <a:r>
              <a:rPr lang="en-US" altLang="zh-CN" dirty="0"/>
              <a:t>Program/Erase</a:t>
            </a:r>
            <a:r>
              <a:rPr lang="zh-CN" altLang="en-US" dirty="0"/>
              <a:t> </a:t>
            </a:r>
            <a:r>
              <a:rPr lang="en-US" altLang="zh-CN" dirty="0"/>
              <a:t>cycles</a:t>
            </a:r>
          </a:p>
          <a:p>
            <a:pPr lvl="1"/>
            <a:r>
              <a:rPr lang="zh-CN" altLang="en-US" sz="1800" dirty="0"/>
              <a:t>写入前需要先擦除</a:t>
            </a:r>
            <a:endParaRPr lang="en-US" altLang="zh-CN" sz="1800" dirty="0"/>
          </a:p>
          <a:p>
            <a:pPr lvl="1"/>
            <a:r>
              <a:rPr lang="zh-CN" altLang="en-US" sz="1800" dirty="0"/>
              <a:t>每个块被擦除的次数是有限的</a:t>
            </a:r>
            <a:endParaRPr lang="en-US" altLang="zh-CN" sz="1800" dirty="0"/>
          </a:p>
          <a:p>
            <a:r>
              <a:rPr lang="zh-CN" altLang="en-US" sz="2200" dirty="0"/>
              <a:t>随机访问性能</a:t>
            </a:r>
            <a:endParaRPr lang="en-US" altLang="zh-CN" sz="2200" dirty="0"/>
          </a:p>
          <a:p>
            <a:pPr lvl="1"/>
            <a:r>
              <a:rPr lang="zh-CN" altLang="en-US" sz="1800" dirty="0"/>
              <a:t>没有寻道时间</a:t>
            </a:r>
            <a:endParaRPr lang="en-US" altLang="zh-CN" sz="1800" dirty="0"/>
          </a:p>
          <a:p>
            <a:pPr lvl="1"/>
            <a:r>
              <a:rPr lang="zh-CN" altLang="en-US" sz="1800" dirty="0"/>
              <a:t>随机访问的速度提升，但仍与顺序访问有一定差距</a:t>
            </a:r>
          </a:p>
        </p:txBody>
      </p:sp>
      <p:sp>
        <p:nvSpPr>
          <p:cNvPr id="4" name="Slide Number Placeholder 3">
            <a:extLst>
              <a:ext uri="{FF2B5EF4-FFF2-40B4-BE49-F238E27FC236}">
                <a16:creationId xmlns:a16="http://schemas.microsoft.com/office/drawing/2014/main" id="{54EE74AC-B71D-DA4B-97CF-3245F28025C1}"/>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
        <p:nvSpPr>
          <p:cNvPr id="5" name="Footer Placeholder 4">
            <a:extLst>
              <a:ext uri="{FF2B5EF4-FFF2-40B4-BE49-F238E27FC236}">
                <a16:creationId xmlns:a16="http://schemas.microsoft.com/office/drawing/2014/main" id="{3D3EC55B-232E-5641-9D72-41229A119F3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0126444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FF5AB-E45A-A84C-AE35-92DD30D0D76C}"/>
              </a:ext>
            </a:extLst>
          </p:cNvPr>
          <p:cNvSpPr>
            <a:spLocks noGrp="1"/>
          </p:cNvSpPr>
          <p:nvPr>
            <p:ph type="title"/>
          </p:nvPr>
        </p:nvSpPr>
        <p:spPr/>
        <p:txBody>
          <a:bodyPr/>
          <a:lstStyle/>
          <a:p>
            <a:r>
              <a:rPr lang="zh-CN" altLang="en-US" dirty="0"/>
              <a:t>闪存盘的性质</a:t>
            </a:r>
            <a:endParaRPr lang="en-CN" dirty="0"/>
          </a:p>
        </p:txBody>
      </p:sp>
      <p:sp>
        <p:nvSpPr>
          <p:cNvPr id="3" name="Content Placeholder 2">
            <a:extLst>
              <a:ext uri="{FF2B5EF4-FFF2-40B4-BE49-F238E27FC236}">
                <a16:creationId xmlns:a16="http://schemas.microsoft.com/office/drawing/2014/main" id="{1732A5E4-F5A0-FB47-8BF0-E8CAAA146139}"/>
              </a:ext>
            </a:extLst>
          </p:cNvPr>
          <p:cNvSpPr>
            <a:spLocks noGrp="1"/>
          </p:cNvSpPr>
          <p:nvPr>
            <p:ph idx="1"/>
          </p:nvPr>
        </p:nvSpPr>
        <p:spPr/>
        <p:txBody>
          <a:bodyPr>
            <a:normAutofit/>
          </a:bodyPr>
          <a:lstStyle/>
          <a:p>
            <a:r>
              <a:rPr lang="zh-CN" altLang="en-CN" dirty="0"/>
              <a:t>磨损均衡</a:t>
            </a:r>
            <a:endParaRPr lang="en-US" altLang="zh-CN" dirty="0"/>
          </a:p>
          <a:p>
            <a:pPr lvl="1"/>
            <a:r>
              <a:rPr lang="zh-CN" altLang="en-US" sz="1800" dirty="0"/>
              <a:t>频繁写入同一个块会造成</a:t>
            </a:r>
            <a:r>
              <a:rPr lang="zh-CN" altLang="en-CN" sz="1800" b="1" dirty="0">
                <a:solidFill>
                  <a:schemeClr val="accent1"/>
                </a:solidFill>
              </a:rPr>
              <a:t>写穿</a:t>
            </a:r>
            <a:r>
              <a:rPr lang="zh-CN" altLang="en-US" sz="1800" dirty="0"/>
              <a:t>问题</a:t>
            </a:r>
            <a:endParaRPr lang="en-US" altLang="zh-CN" sz="1800" dirty="0"/>
          </a:p>
          <a:p>
            <a:pPr lvl="1"/>
            <a:r>
              <a:rPr lang="zh-CN" altLang="en-US" sz="1800" dirty="0"/>
              <a:t>因此需要</a:t>
            </a:r>
            <a:r>
              <a:rPr lang="zh-CN" altLang="en-CN" sz="1800" dirty="0"/>
              <a:t>将写</a:t>
            </a:r>
            <a:r>
              <a:rPr lang="zh-CN" altLang="en-US" sz="1800" dirty="0"/>
              <a:t>入操作尽可能均匀地分摊在整个设备</a:t>
            </a:r>
            <a:endParaRPr lang="en-US" altLang="zh-CN" sz="1800" dirty="0"/>
          </a:p>
          <a:p>
            <a:r>
              <a:rPr lang="zh-CN" altLang="en-CN" dirty="0"/>
              <a:t>多通道</a:t>
            </a:r>
            <a:endParaRPr lang="en-US" altLang="zh-CN" dirty="0"/>
          </a:p>
          <a:p>
            <a:pPr lvl="1"/>
            <a:r>
              <a:rPr lang="zh-CN" altLang="en-US" dirty="0"/>
              <a:t>高并行性</a:t>
            </a:r>
            <a:endParaRPr lang="en-US" altLang="zh-CN" dirty="0"/>
          </a:p>
          <a:p>
            <a:r>
              <a:rPr lang="zh-CN" altLang="en-CN" dirty="0"/>
              <a:t>异质</a:t>
            </a:r>
            <a:r>
              <a:rPr lang="en-US" altLang="zh-CN" dirty="0"/>
              <a:t>Cell</a:t>
            </a:r>
            <a:endParaRPr lang="en-CN" altLang="zh-CN" sz="1800" dirty="0"/>
          </a:p>
          <a:p>
            <a:pPr lvl="1"/>
            <a:r>
              <a:rPr lang="zh-CN" altLang="en-US" dirty="0"/>
              <a:t>存储</a:t>
            </a:r>
            <a:r>
              <a:rPr lang="en-US" altLang="zh-CN" dirty="0"/>
              <a:t>1</a:t>
            </a:r>
            <a:r>
              <a:rPr lang="zh-CN" altLang="en-US" dirty="0"/>
              <a:t>到</a:t>
            </a:r>
            <a:r>
              <a:rPr lang="en-US" altLang="zh-CN" dirty="0"/>
              <a:t>4</a:t>
            </a:r>
            <a:r>
              <a:rPr lang="zh-CN" altLang="en-US" dirty="0"/>
              <a:t>个比特：</a:t>
            </a:r>
            <a:r>
              <a:rPr lang="en-US" altLang="zh-CN" dirty="0"/>
              <a:t>SLC </a:t>
            </a:r>
            <a:r>
              <a:rPr lang="zh-CN" altLang="en-US" dirty="0"/>
              <a:t>、</a:t>
            </a:r>
            <a:r>
              <a:rPr lang="en-US" altLang="zh-CN" dirty="0"/>
              <a:t>MLC</a:t>
            </a:r>
            <a:r>
              <a:rPr lang="zh-CN" altLang="en-US" dirty="0"/>
              <a:t>、</a:t>
            </a:r>
            <a:r>
              <a:rPr lang="en-US" altLang="zh-CN" dirty="0"/>
              <a:t>TLC</a:t>
            </a:r>
            <a:r>
              <a:rPr lang="zh-CN" altLang="en-US" dirty="0"/>
              <a:t>、 </a:t>
            </a:r>
            <a:r>
              <a:rPr lang="en-US" altLang="zh-CN" dirty="0"/>
              <a:t>QLC</a:t>
            </a:r>
          </a:p>
          <a:p>
            <a:endParaRPr lang="en-CN" sz="2800" dirty="0"/>
          </a:p>
        </p:txBody>
      </p:sp>
      <p:sp>
        <p:nvSpPr>
          <p:cNvPr id="4" name="Slide Number Placeholder 3">
            <a:extLst>
              <a:ext uri="{FF2B5EF4-FFF2-40B4-BE49-F238E27FC236}">
                <a16:creationId xmlns:a16="http://schemas.microsoft.com/office/drawing/2014/main" id="{54EE74AC-B71D-DA4B-97CF-3245F28025C1}"/>
              </a:ext>
            </a:extLst>
          </p:cNvPr>
          <p:cNvSpPr>
            <a:spLocks noGrp="1"/>
          </p:cNvSpPr>
          <p:nvPr>
            <p:ph type="sldNum" sz="quarter" idx="12"/>
          </p:nvPr>
        </p:nvSpPr>
        <p:spPr/>
        <p:txBody>
          <a:bodyPr/>
          <a:lstStyle/>
          <a:p>
            <a:fld id="{ADE361C3-C043-4A6E-BDCE-8DA1E7D90A3B}" type="slidenum">
              <a:rPr lang="zh-CN" altLang="en-US" smtClean="0"/>
              <a:t>40</a:t>
            </a:fld>
            <a:endParaRPr lang="zh-CN" altLang="en-US"/>
          </a:p>
        </p:txBody>
      </p:sp>
      <p:sp>
        <p:nvSpPr>
          <p:cNvPr id="5" name="Footer Placeholder 4">
            <a:extLst>
              <a:ext uri="{FF2B5EF4-FFF2-40B4-BE49-F238E27FC236}">
                <a16:creationId xmlns:a16="http://schemas.microsoft.com/office/drawing/2014/main" id="{3D3EC55B-232E-5641-9D72-41229A119F3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1079626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9D3D0-B189-1A48-9B0D-1A8D50835D64}"/>
              </a:ext>
            </a:extLst>
          </p:cNvPr>
          <p:cNvSpPr>
            <a:spLocks noGrp="1"/>
          </p:cNvSpPr>
          <p:nvPr>
            <p:ph type="title"/>
          </p:nvPr>
        </p:nvSpPr>
        <p:spPr/>
        <p:txBody>
          <a:bodyPr/>
          <a:lstStyle/>
          <a:p>
            <a:r>
              <a:rPr lang="en-US" altLang="zh-CN" dirty="0"/>
              <a:t>Flash Translation Layer (FTL)</a:t>
            </a:r>
            <a:endParaRPr lang="en-CN" dirty="0"/>
          </a:p>
        </p:txBody>
      </p:sp>
      <p:sp>
        <p:nvSpPr>
          <p:cNvPr id="3" name="Content Placeholder 2">
            <a:extLst>
              <a:ext uri="{FF2B5EF4-FFF2-40B4-BE49-F238E27FC236}">
                <a16:creationId xmlns:a16="http://schemas.microsoft.com/office/drawing/2014/main" id="{7BF9AF85-D8A8-9A44-B873-4708DF6E3162}"/>
              </a:ext>
            </a:extLst>
          </p:cNvPr>
          <p:cNvSpPr>
            <a:spLocks noGrp="1"/>
          </p:cNvSpPr>
          <p:nvPr>
            <p:ph idx="1"/>
          </p:nvPr>
        </p:nvSpPr>
        <p:spPr/>
        <p:txBody>
          <a:bodyPr/>
          <a:lstStyle/>
          <a:p>
            <a:r>
              <a:rPr lang="zh-CN" altLang="en-US" b="0" dirty="0"/>
              <a:t>逻辑地址到物理地址的转换</a:t>
            </a:r>
            <a:endParaRPr lang="en-US" altLang="zh-CN" b="0" dirty="0"/>
          </a:p>
          <a:p>
            <a:pPr lvl="1"/>
            <a:r>
              <a:rPr lang="zh-CN" altLang="en-US" dirty="0"/>
              <a:t>对外使用逻辑地址，内部使用物理地址（</a:t>
            </a:r>
            <a:r>
              <a:rPr lang="zh-CN" altLang="en-US" dirty="0">
                <a:solidFill>
                  <a:schemeClr val="accent1"/>
                </a:solidFill>
              </a:rPr>
              <a:t>思考：和什么很像？</a:t>
            </a:r>
            <a:r>
              <a:rPr lang="zh-CN" altLang="en-US" dirty="0"/>
              <a:t>）</a:t>
            </a:r>
            <a:endParaRPr lang="en-US" altLang="zh-CN" dirty="0"/>
          </a:p>
          <a:p>
            <a:pPr lvl="1"/>
            <a:r>
              <a:rPr lang="zh-CN" altLang="en-CN" dirty="0"/>
              <a:t>可</a:t>
            </a:r>
            <a:r>
              <a:rPr lang="zh-CN" altLang="en-US" dirty="0"/>
              <a:t>由软件实现，也可以又固件实现</a:t>
            </a:r>
            <a:endParaRPr lang="en-US" altLang="zh-CN" dirty="0"/>
          </a:p>
          <a:p>
            <a:pPr lvl="1"/>
            <a:r>
              <a:rPr lang="zh-CN" altLang="en-US" dirty="0"/>
              <a:t>可用于垃圾回收、数据迁移、磨损均衡（</a:t>
            </a:r>
            <a:r>
              <a:rPr lang="en-US" altLang="zh-CN" dirty="0"/>
              <a:t>wear-levelling</a:t>
            </a:r>
            <a:r>
              <a:rPr lang="zh-CN" altLang="en-US" dirty="0"/>
              <a:t>）等</a:t>
            </a:r>
            <a:endParaRPr lang="en-US" altLang="zh-CN" dirty="0"/>
          </a:p>
        </p:txBody>
      </p:sp>
      <p:sp>
        <p:nvSpPr>
          <p:cNvPr id="4" name="Slide Number Placeholder 3">
            <a:extLst>
              <a:ext uri="{FF2B5EF4-FFF2-40B4-BE49-F238E27FC236}">
                <a16:creationId xmlns:a16="http://schemas.microsoft.com/office/drawing/2014/main" id="{EA1F3CE2-D0BD-B446-9A7F-C99157AEF799}"/>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
        <p:nvSpPr>
          <p:cNvPr id="5" name="Footer Placeholder 4">
            <a:extLst>
              <a:ext uri="{FF2B5EF4-FFF2-40B4-BE49-F238E27FC236}">
                <a16:creationId xmlns:a16="http://schemas.microsoft.com/office/drawing/2014/main" id="{D6BF3C99-AA6D-AC40-A0AC-D49AF813F74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8" name="Group 7">
            <a:extLst>
              <a:ext uri="{FF2B5EF4-FFF2-40B4-BE49-F238E27FC236}">
                <a16:creationId xmlns:a16="http://schemas.microsoft.com/office/drawing/2014/main" id="{7499A78E-A789-A84E-B7C9-B0A56B257CF1}"/>
              </a:ext>
            </a:extLst>
          </p:cNvPr>
          <p:cNvGrpSpPr/>
          <p:nvPr/>
        </p:nvGrpSpPr>
        <p:grpSpPr>
          <a:xfrm>
            <a:off x="1851375" y="3617819"/>
            <a:ext cx="5441249" cy="1487318"/>
            <a:chOff x="755576" y="3664777"/>
            <a:chExt cx="6705966" cy="1833017"/>
          </a:xfrm>
        </p:grpSpPr>
        <p:sp>
          <p:nvSpPr>
            <p:cNvPr id="9" name="Rectangle 8">
              <a:extLst>
                <a:ext uri="{FF2B5EF4-FFF2-40B4-BE49-F238E27FC236}">
                  <a16:creationId xmlns:a16="http://schemas.microsoft.com/office/drawing/2014/main" id="{F4A730C1-7C94-2A4B-A199-8AC267823D48}"/>
                </a:ext>
              </a:extLst>
            </p:cNvPr>
            <p:cNvSpPr/>
            <p:nvPr/>
          </p:nvSpPr>
          <p:spPr>
            <a:xfrm>
              <a:off x="3827198" y="4128994"/>
              <a:ext cx="685246" cy="10572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600" dirty="0"/>
                <a:t>FTL</a:t>
              </a:r>
            </a:p>
          </p:txBody>
        </p:sp>
        <p:cxnSp>
          <p:nvCxnSpPr>
            <p:cNvPr id="10" name="Straight Arrow Connector 9">
              <a:extLst>
                <a:ext uri="{FF2B5EF4-FFF2-40B4-BE49-F238E27FC236}">
                  <a16:creationId xmlns:a16="http://schemas.microsoft.com/office/drawing/2014/main" id="{54634372-7414-344C-9B00-E87CBF251864}"/>
                </a:ext>
              </a:extLst>
            </p:cNvPr>
            <p:cNvCxnSpPr>
              <a:cxnSpLocks/>
              <a:stCxn id="15" idx="3"/>
              <a:endCxn id="9" idx="1"/>
            </p:cNvCxnSpPr>
            <p:nvPr/>
          </p:nvCxnSpPr>
          <p:spPr>
            <a:xfrm>
              <a:off x="2048681" y="4657624"/>
              <a:ext cx="177851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4C57873-6A64-0642-9CAA-100B3DC198C3}"/>
                </a:ext>
              </a:extLst>
            </p:cNvPr>
            <p:cNvCxnSpPr>
              <a:cxnSpLocks/>
              <a:stCxn id="9" idx="3"/>
              <a:endCxn id="14" idx="1"/>
            </p:cNvCxnSpPr>
            <p:nvPr/>
          </p:nvCxnSpPr>
          <p:spPr>
            <a:xfrm>
              <a:off x="4512444" y="4657623"/>
              <a:ext cx="114492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DB64EE9-8055-E54F-A737-C24C16DD64BB}"/>
                </a:ext>
              </a:extLst>
            </p:cNvPr>
            <p:cNvSpPr txBox="1"/>
            <p:nvPr/>
          </p:nvSpPr>
          <p:spPr>
            <a:xfrm>
              <a:off x="2282523" y="4287895"/>
              <a:ext cx="1125194" cy="378892"/>
            </a:xfrm>
            <a:prstGeom prst="rect">
              <a:avLst/>
            </a:prstGeom>
            <a:noFill/>
          </p:spPr>
          <p:txBody>
            <a:bodyPr wrap="none" rtlCol="0">
              <a:spAutoFit/>
            </a:bodyPr>
            <a:lstStyle/>
            <a:p>
              <a:r>
                <a:rPr lang="zh-CN" altLang="en-US" sz="1400" dirty="0"/>
                <a:t>逻辑块号</a:t>
              </a:r>
              <a:endParaRPr lang="en-CN" sz="1400" dirty="0"/>
            </a:p>
          </p:txBody>
        </p:sp>
        <p:sp>
          <p:nvSpPr>
            <p:cNvPr id="13" name="TextBox 12">
              <a:extLst>
                <a:ext uri="{FF2B5EF4-FFF2-40B4-BE49-F238E27FC236}">
                  <a16:creationId xmlns:a16="http://schemas.microsoft.com/office/drawing/2014/main" id="{DF110D53-4BB4-A542-8512-E70AF36B2CA9}"/>
                </a:ext>
              </a:extLst>
            </p:cNvPr>
            <p:cNvSpPr txBox="1"/>
            <p:nvPr/>
          </p:nvSpPr>
          <p:spPr>
            <a:xfrm>
              <a:off x="4520720" y="4273508"/>
              <a:ext cx="986215" cy="341382"/>
            </a:xfrm>
            <a:prstGeom prst="rect">
              <a:avLst/>
            </a:prstGeom>
            <a:noFill/>
          </p:spPr>
          <p:txBody>
            <a:bodyPr wrap="none" rtlCol="0">
              <a:spAutoFit/>
            </a:bodyPr>
            <a:lstStyle/>
            <a:p>
              <a:r>
                <a:rPr lang="zh-CN" altLang="en-US" sz="1200" dirty="0"/>
                <a:t>物理块号</a:t>
              </a:r>
              <a:endParaRPr lang="en-CN" sz="1200" dirty="0"/>
            </a:p>
          </p:txBody>
        </p:sp>
        <p:sp>
          <p:nvSpPr>
            <p:cNvPr id="14" name="Rectangle 13">
              <a:extLst>
                <a:ext uri="{FF2B5EF4-FFF2-40B4-BE49-F238E27FC236}">
                  <a16:creationId xmlns:a16="http://schemas.microsoft.com/office/drawing/2014/main" id="{44CBA11A-E94E-FE4C-89D5-7FC965629D57}"/>
                </a:ext>
              </a:extLst>
            </p:cNvPr>
            <p:cNvSpPr/>
            <p:nvPr/>
          </p:nvSpPr>
          <p:spPr>
            <a:xfrm>
              <a:off x="5657372" y="4325668"/>
              <a:ext cx="1426020" cy="663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1600" dirty="0"/>
                <a:t>Flash</a:t>
              </a:r>
              <a:r>
                <a:rPr lang="zh-CN" altLang="en-US" sz="1600" dirty="0"/>
                <a:t>存储</a:t>
              </a:r>
              <a:endParaRPr lang="en-CN" sz="1600" dirty="0"/>
            </a:p>
          </p:txBody>
        </p:sp>
        <p:sp>
          <p:nvSpPr>
            <p:cNvPr id="15" name="Rectangle 14">
              <a:extLst>
                <a:ext uri="{FF2B5EF4-FFF2-40B4-BE49-F238E27FC236}">
                  <a16:creationId xmlns:a16="http://schemas.microsoft.com/office/drawing/2014/main" id="{461515D6-77E9-D143-B155-328FDF29B221}"/>
                </a:ext>
              </a:extLst>
            </p:cNvPr>
            <p:cNvSpPr/>
            <p:nvPr/>
          </p:nvSpPr>
          <p:spPr>
            <a:xfrm>
              <a:off x="755576" y="4227568"/>
              <a:ext cx="1293105" cy="860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600" dirty="0"/>
                <a:t>主机</a:t>
              </a:r>
              <a:endParaRPr lang="en-CN" sz="1600" dirty="0"/>
            </a:p>
          </p:txBody>
        </p:sp>
        <p:sp>
          <p:nvSpPr>
            <p:cNvPr id="16" name="Rectangle 15">
              <a:extLst>
                <a:ext uri="{FF2B5EF4-FFF2-40B4-BE49-F238E27FC236}">
                  <a16:creationId xmlns:a16="http://schemas.microsoft.com/office/drawing/2014/main" id="{A718ACCE-D532-E54D-B3B9-5A1ED376878B}"/>
                </a:ext>
              </a:extLst>
            </p:cNvPr>
            <p:cNvSpPr/>
            <p:nvPr/>
          </p:nvSpPr>
          <p:spPr>
            <a:xfrm>
              <a:off x="3429105" y="3664777"/>
              <a:ext cx="4015239" cy="18330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600" dirty="0"/>
            </a:p>
          </p:txBody>
        </p:sp>
        <p:sp>
          <p:nvSpPr>
            <p:cNvPr id="17" name="TextBox 16">
              <a:extLst>
                <a:ext uri="{FF2B5EF4-FFF2-40B4-BE49-F238E27FC236}">
                  <a16:creationId xmlns:a16="http://schemas.microsoft.com/office/drawing/2014/main" id="{51E861DF-2D10-804E-8A8C-44D60EC08C41}"/>
                </a:ext>
              </a:extLst>
            </p:cNvPr>
            <p:cNvSpPr txBox="1"/>
            <p:nvPr/>
          </p:nvSpPr>
          <p:spPr>
            <a:xfrm>
              <a:off x="6336348" y="3701854"/>
              <a:ext cx="1125194" cy="378892"/>
            </a:xfrm>
            <a:prstGeom prst="rect">
              <a:avLst/>
            </a:prstGeom>
            <a:noFill/>
          </p:spPr>
          <p:txBody>
            <a:bodyPr wrap="none" rtlCol="0">
              <a:spAutoFit/>
            </a:bodyPr>
            <a:lstStyle/>
            <a:p>
              <a:r>
                <a:rPr lang="zh-CN" altLang="en-CN" sz="1400" dirty="0"/>
                <a:t>固态硬盘</a:t>
              </a:r>
              <a:endParaRPr lang="en-CN" sz="1400" dirty="0"/>
            </a:p>
          </p:txBody>
        </p:sp>
      </p:grpSp>
    </p:spTree>
    <p:extLst>
      <p:ext uri="{BB962C8B-B14F-4D97-AF65-F5344CB8AC3E}">
        <p14:creationId xmlns:p14="http://schemas.microsoft.com/office/powerpoint/2010/main" val="2685580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5D4CE3-BD5A-B842-8CB6-7982CA16A63D}"/>
              </a:ext>
            </a:extLst>
          </p:cNvPr>
          <p:cNvSpPr>
            <a:spLocks noGrp="1"/>
          </p:cNvSpPr>
          <p:nvPr>
            <p:ph type="title"/>
          </p:nvPr>
        </p:nvSpPr>
        <p:spPr>
          <a:xfrm>
            <a:off x="755576" y="2425452"/>
            <a:ext cx="8229600" cy="900442"/>
          </a:xfrm>
        </p:spPr>
        <p:txBody>
          <a:bodyPr/>
          <a:lstStyle/>
          <a:p>
            <a:r>
              <a:rPr kumimoji="1" lang="zh-CN" altLang="en-US" dirty="0"/>
              <a:t>问题：如何为</a:t>
            </a:r>
            <a:r>
              <a:rPr kumimoji="1" lang="en-US" altLang="zh-CN" dirty="0"/>
              <a:t>Flash</a:t>
            </a:r>
            <a:r>
              <a:rPr kumimoji="1" lang="zh-CN" altLang="en-US" dirty="0"/>
              <a:t>设计文件系统 ？</a:t>
            </a:r>
          </a:p>
        </p:txBody>
      </p:sp>
      <p:sp>
        <p:nvSpPr>
          <p:cNvPr id="4" name="灯片编号占位符 3">
            <a:extLst>
              <a:ext uri="{FF2B5EF4-FFF2-40B4-BE49-F238E27FC236}">
                <a16:creationId xmlns:a16="http://schemas.microsoft.com/office/drawing/2014/main" id="{A6E66FBA-D3CE-2A4D-885D-5B2709C598AA}"/>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
        <p:nvSpPr>
          <p:cNvPr id="5" name="页脚占位符 4">
            <a:extLst>
              <a:ext uri="{FF2B5EF4-FFF2-40B4-BE49-F238E27FC236}">
                <a16:creationId xmlns:a16="http://schemas.microsoft.com/office/drawing/2014/main" id="{0A16D2CE-8A3E-6845-A727-1B48782ACD5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3936998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0B2AB-B876-B64C-8513-4C75E10B1B4D}"/>
              </a:ext>
            </a:extLst>
          </p:cNvPr>
          <p:cNvSpPr>
            <a:spLocks noGrp="1"/>
          </p:cNvSpPr>
          <p:nvPr>
            <p:ph type="title"/>
          </p:nvPr>
        </p:nvSpPr>
        <p:spPr/>
        <p:txBody>
          <a:bodyPr/>
          <a:lstStyle/>
          <a:p>
            <a:r>
              <a:rPr lang="zh-CN" altLang="en-US" dirty="0"/>
              <a:t>观察：</a:t>
            </a:r>
            <a:r>
              <a:rPr lang="en-US" altLang="zh-CN" dirty="0"/>
              <a:t>LFS</a:t>
            </a:r>
            <a:r>
              <a:rPr lang="zh-CN" altLang="en-US" dirty="0"/>
              <a:t>与</a:t>
            </a:r>
            <a:r>
              <a:rPr lang="en-US" altLang="zh-CN" dirty="0"/>
              <a:t>Flash</a:t>
            </a:r>
            <a:r>
              <a:rPr lang="zh-CN" altLang="en-US" dirty="0"/>
              <a:t>的</a:t>
            </a:r>
            <a:r>
              <a:rPr lang="zh-CN" altLang="en-CN" dirty="0"/>
              <a:t>相似</a:t>
            </a:r>
            <a:r>
              <a:rPr lang="zh-CN" altLang="en-US" dirty="0"/>
              <a:t>性</a:t>
            </a:r>
            <a:endParaRPr lang="en-CN" dirty="0"/>
          </a:p>
        </p:txBody>
      </p:sp>
      <p:sp>
        <p:nvSpPr>
          <p:cNvPr id="4" name="Slide Number Placeholder 3">
            <a:extLst>
              <a:ext uri="{FF2B5EF4-FFF2-40B4-BE49-F238E27FC236}">
                <a16:creationId xmlns:a16="http://schemas.microsoft.com/office/drawing/2014/main" id="{2A63365F-58EC-694A-AF66-97A4E249AA2C}"/>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
        <p:nvSpPr>
          <p:cNvPr id="5" name="Footer Placeholder 4">
            <a:extLst>
              <a:ext uri="{FF2B5EF4-FFF2-40B4-BE49-F238E27FC236}">
                <a16:creationId xmlns:a16="http://schemas.microsoft.com/office/drawing/2014/main" id="{82319557-5444-1543-A990-C8A0069771A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Content Placeholder 2">
            <a:extLst>
              <a:ext uri="{FF2B5EF4-FFF2-40B4-BE49-F238E27FC236}">
                <a16:creationId xmlns:a16="http://schemas.microsoft.com/office/drawing/2014/main" id="{17D7FC3C-3E07-AC42-82D0-2C945C9CB344}"/>
              </a:ext>
            </a:extLst>
          </p:cNvPr>
          <p:cNvSpPr txBox="1">
            <a:spLocks/>
          </p:cNvSpPr>
          <p:nvPr/>
        </p:nvSpPr>
        <p:spPr>
          <a:xfrm>
            <a:off x="457200" y="1333501"/>
            <a:ext cx="4114800"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N" altLang="zh-CN" b="0" dirty="0"/>
              <a:t>LFS</a:t>
            </a:r>
          </a:p>
          <a:p>
            <a:pPr lvl="1"/>
            <a:r>
              <a:rPr lang="en-US" altLang="zh-CN" dirty="0"/>
              <a:t>Segment</a:t>
            </a:r>
            <a:r>
              <a:rPr lang="zh-CN" altLang="en-US" dirty="0"/>
              <a:t>清理后才能使用</a:t>
            </a:r>
            <a:endParaRPr lang="en-US" altLang="zh-CN" dirty="0"/>
          </a:p>
          <a:p>
            <a:pPr lvl="1"/>
            <a:r>
              <a:rPr lang="zh-CN" altLang="en-CN" dirty="0"/>
              <a:t>顺序</a:t>
            </a:r>
            <a:r>
              <a:rPr lang="zh-CN" altLang="en-US" dirty="0"/>
              <a:t>写入</a:t>
            </a:r>
            <a:endParaRPr lang="en-US" altLang="zh-CN" dirty="0"/>
          </a:p>
          <a:p>
            <a:pPr lvl="1"/>
            <a:r>
              <a:rPr lang="zh-CN" altLang="en-US" dirty="0"/>
              <a:t>需要清理（垃圾回收）</a:t>
            </a:r>
            <a:endParaRPr lang="en-US" altLang="zh-CN" dirty="0"/>
          </a:p>
        </p:txBody>
      </p:sp>
      <p:sp>
        <p:nvSpPr>
          <p:cNvPr id="8" name="Content Placeholder 2">
            <a:extLst>
              <a:ext uri="{FF2B5EF4-FFF2-40B4-BE49-F238E27FC236}">
                <a16:creationId xmlns:a16="http://schemas.microsoft.com/office/drawing/2014/main" id="{6442620F-282B-814B-BA68-86632883C2FF}"/>
              </a:ext>
            </a:extLst>
          </p:cNvPr>
          <p:cNvSpPr txBox="1">
            <a:spLocks/>
          </p:cNvSpPr>
          <p:nvPr/>
        </p:nvSpPr>
        <p:spPr>
          <a:xfrm>
            <a:off x="4458816" y="1322912"/>
            <a:ext cx="4114800"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N" altLang="zh-CN" b="0" dirty="0"/>
              <a:t>Flash</a:t>
            </a:r>
          </a:p>
          <a:p>
            <a:pPr lvl="1"/>
            <a:r>
              <a:rPr lang="en-CN" altLang="zh-CN" dirty="0"/>
              <a:t>Block</a:t>
            </a:r>
            <a:r>
              <a:rPr lang="zh-CN" altLang="en-CN" dirty="0"/>
              <a:t>擦除</a:t>
            </a:r>
            <a:r>
              <a:rPr lang="zh-CN" altLang="en-US" dirty="0"/>
              <a:t>后才能使用</a:t>
            </a:r>
            <a:endParaRPr lang="en-CN" altLang="zh-CN" dirty="0"/>
          </a:p>
          <a:p>
            <a:pPr lvl="1"/>
            <a:r>
              <a:rPr lang="zh-CN" altLang="en-US" dirty="0"/>
              <a:t>需要考虑磨损均衡</a:t>
            </a:r>
            <a:endParaRPr lang="en-US" altLang="zh-CN" dirty="0"/>
          </a:p>
          <a:p>
            <a:pPr lvl="1"/>
            <a:r>
              <a:rPr lang="zh-CN" altLang="en-US" dirty="0"/>
              <a:t>需要垃圾回收</a:t>
            </a:r>
            <a:endParaRPr lang="en-US" altLang="zh-CN" dirty="0"/>
          </a:p>
        </p:txBody>
      </p:sp>
    </p:spTree>
    <p:extLst>
      <p:ext uri="{BB962C8B-B14F-4D97-AF65-F5344CB8AC3E}">
        <p14:creationId xmlns:p14="http://schemas.microsoft.com/office/powerpoint/2010/main" val="26279026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265B5F-E8D0-9B4B-8BB0-FFF98707AFC9}"/>
              </a:ext>
            </a:extLst>
          </p:cNvPr>
          <p:cNvSpPr/>
          <p:nvPr/>
        </p:nvSpPr>
        <p:spPr>
          <a:xfrm>
            <a:off x="1249134" y="4785990"/>
            <a:ext cx="6435948" cy="360000"/>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 name="Title 1">
            <a:extLst>
              <a:ext uri="{FF2B5EF4-FFF2-40B4-BE49-F238E27FC236}">
                <a16:creationId xmlns:a16="http://schemas.microsoft.com/office/drawing/2014/main" id="{04AA801F-C21B-904D-B19B-F50F0A7BCF45}"/>
              </a:ext>
            </a:extLst>
          </p:cNvPr>
          <p:cNvSpPr>
            <a:spLocks noGrp="1"/>
          </p:cNvSpPr>
          <p:nvPr>
            <p:ph type="title"/>
          </p:nvPr>
        </p:nvSpPr>
        <p:spPr/>
        <p:txBody>
          <a:bodyPr>
            <a:normAutofit/>
          </a:bodyPr>
          <a:lstStyle/>
          <a:p>
            <a:r>
              <a:rPr lang="en-US" altLang="zh-CN" dirty="0"/>
              <a:t>LFS</a:t>
            </a:r>
            <a:r>
              <a:rPr lang="zh-CN" altLang="en-US" dirty="0"/>
              <a:t>的结构</a:t>
            </a:r>
            <a:endParaRPr lang="en-CN" dirty="0"/>
          </a:p>
        </p:txBody>
      </p:sp>
      <p:sp>
        <p:nvSpPr>
          <p:cNvPr id="4" name="Slide Number Placeholder 3">
            <a:extLst>
              <a:ext uri="{FF2B5EF4-FFF2-40B4-BE49-F238E27FC236}">
                <a16:creationId xmlns:a16="http://schemas.microsoft.com/office/drawing/2014/main" id="{29635DD5-5238-954F-AA1D-0B15F66DB369}"/>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
        <p:nvSpPr>
          <p:cNvPr id="5" name="Footer Placeholder 4">
            <a:extLst>
              <a:ext uri="{FF2B5EF4-FFF2-40B4-BE49-F238E27FC236}">
                <a16:creationId xmlns:a16="http://schemas.microsoft.com/office/drawing/2014/main" id="{219D56D5-E01E-584F-BDA4-4A95035763D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Rectangle 8">
            <a:extLst>
              <a:ext uri="{FF2B5EF4-FFF2-40B4-BE49-F238E27FC236}">
                <a16:creationId xmlns:a16="http://schemas.microsoft.com/office/drawing/2014/main" id="{481DD187-7A04-924A-88CE-EC24085D9896}"/>
              </a:ext>
            </a:extLst>
          </p:cNvPr>
          <p:cNvSpPr/>
          <p:nvPr/>
        </p:nvSpPr>
        <p:spPr>
          <a:xfrm>
            <a:off x="14576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SB</a:t>
            </a:r>
          </a:p>
        </p:txBody>
      </p:sp>
      <p:sp>
        <p:nvSpPr>
          <p:cNvPr id="10" name="Rectangle 9">
            <a:extLst>
              <a:ext uri="{FF2B5EF4-FFF2-40B4-BE49-F238E27FC236}">
                <a16:creationId xmlns:a16="http://schemas.microsoft.com/office/drawing/2014/main" id="{234A33EC-B566-C04E-B991-752EFCE381FB}"/>
              </a:ext>
            </a:extLst>
          </p:cNvPr>
          <p:cNvSpPr/>
          <p:nvPr/>
        </p:nvSpPr>
        <p:spPr>
          <a:xfrm>
            <a:off x="17417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4" name="Rectangle 13">
            <a:extLst>
              <a:ext uri="{FF2B5EF4-FFF2-40B4-BE49-F238E27FC236}">
                <a16:creationId xmlns:a16="http://schemas.microsoft.com/office/drawing/2014/main" id="{6E071324-7B69-9744-A3AA-B557FD8A43C8}"/>
              </a:ext>
            </a:extLst>
          </p:cNvPr>
          <p:cNvSpPr/>
          <p:nvPr/>
        </p:nvSpPr>
        <p:spPr>
          <a:xfrm>
            <a:off x="2874661"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5" name="Rectangle 14">
            <a:extLst>
              <a:ext uri="{FF2B5EF4-FFF2-40B4-BE49-F238E27FC236}">
                <a16:creationId xmlns:a16="http://schemas.microsoft.com/office/drawing/2014/main" id="{A5A7ED0E-B78C-414B-9434-CB86EAA92D2B}"/>
              </a:ext>
            </a:extLst>
          </p:cNvPr>
          <p:cNvSpPr/>
          <p:nvPr/>
        </p:nvSpPr>
        <p:spPr>
          <a:xfrm>
            <a:off x="3157288" y="4785990"/>
            <a:ext cx="284100" cy="36000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6" name="Rectangle 15">
            <a:extLst>
              <a:ext uri="{FF2B5EF4-FFF2-40B4-BE49-F238E27FC236}">
                <a16:creationId xmlns:a16="http://schemas.microsoft.com/office/drawing/2014/main" id="{75D016D2-BDBC-004F-85CF-DE5499846E97}"/>
              </a:ext>
            </a:extLst>
          </p:cNvPr>
          <p:cNvSpPr/>
          <p:nvPr/>
        </p:nvSpPr>
        <p:spPr>
          <a:xfrm>
            <a:off x="3439915" y="4785990"/>
            <a:ext cx="185483"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7" name="Rectangle 16">
            <a:extLst>
              <a:ext uri="{FF2B5EF4-FFF2-40B4-BE49-F238E27FC236}">
                <a16:creationId xmlns:a16="http://schemas.microsoft.com/office/drawing/2014/main" id="{E16DFE47-FF32-D34B-B6BC-EE4D68469DA0}"/>
              </a:ext>
            </a:extLst>
          </p:cNvPr>
          <p:cNvSpPr/>
          <p:nvPr/>
        </p:nvSpPr>
        <p:spPr>
          <a:xfrm>
            <a:off x="4191320" y="4785990"/>
            <a:ext cx="146031"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8" name="Rectangle 17">
            <a:extLst>
              <a:ext uri="{FF2B5EF4-FFF2-40B4-BE49-F238E27FC236}">
                <a16:creationId xmlns:a16="http://schemas.microsoft.com/office/drawing/2014/main" id="{E41776D0-E41D-D949-9A98-1BBB02569D5C}"/>
              </a:ext>
            </a:extLst>
          </p:cNvPr>
          <p:cNvSpPr/>
          <p:nvPr/>
        </p:nvSpPr>
        <p:spPr>
          <a:xfrm>
            <a:off x="3625398" y="4785990"/>
            <a:ext cx="284100" cy="360000"/>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9" name="Rectangle 18">
            <a:extLst>
              <a:ext uri="{FF2B5EF4-FFF2-40B4-BE49-F238E27FC236}">
                <a16:creationId xmlns:a16="http://schemas.microsoft.com/office/drawing/2014/main" id="{F80BB814-B838-D94B-85BA-DD5EBCA25B94}"/>
              </a:ext>
            </a:extLst>
          </p:cNvPr>
          <p:cNvSpPr/>
          <p:nvPr/>
        </p:nvSpPr>
        <p:spPr>
          <a:xfrm>
            <a:off x="3908025"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20" name="Rectangle 19">
            <a:extLst>
              <a:ext uri="{FF2B5EF4-FFF2-40B4-BE49-F238E27FC236}">
                <a16:creationId xmlns:a16="http://schemas.microsoft.com/office/drawing/2014/main" id="{837910C3-C981-CB43-9299-479EEBF512B2}"/>
              </a:ext>
            </a:extLst>
          </p:cNvPr>
          <p:cNvSpPr/>
          <p:nvPr/>
        </p:nvSpPr>
        <p:spPr>
          <a:xfrm>
            <a:off x="4337351"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1" name="Rectangle 20">
            <a:extLst>
              <a:ext uri="{FF2B5EF4-FFF2-40B4-BE49-F238E27FC236}">
                <a16:creationId xmlns:a16="http://schemas.microsoft.com/office/drawing/2014/main" id="{0A9BB4F2-F16A-0246-B396-F25B7E09DA5D}"/>
              </a:ext>
            </a:extLst>
          </p:cNvPr>
          <p:cNvSpPr/>
          <p:nvPr/>
        </p:nvSpPr>
        <p:spPr>
          <a:xfrm>
            <a:off x="4621381" y="4785990"/>
            <a:ext cx="156145"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2" name="Rectangle 21">
            <a:extLst>
              <a:ext uri="{FF2B5EF4-FFF2-40B4-BE49-F238E27FC236}">
                <a16:creationId xmlns:a16="http://schemas.microsoft.com/office/drawing/2014/main" id="{970D0D23-F3D0-7247-84CE-3EB8FC0F5754}"/>
              </a:ext>
            </a:extLst>
          </p:cNvPr>
          <p:cNvSpPr/>
          <p:nvPr/>
        </p:nvSpPr>
        <p:spPr>
          <a:xfrm>
            <a:off x="4777526"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24" name="Rectangle 23">
            <a:extLst>
              <a:ext uri="{FF2B5EF4-FFF2-40B4-BE49-F238E27FC236}">
                <a16:creationId xmlns:a16="http://schemas.microsoft.com/office/drawing/2014/main" id="{E6D0BDA5-4DD0-0141-9581-BD934E869EF6}"/>
              </a:ext>
            </a:extLst>
          </p:cNvPr>
          <p:cNvSpPr/>
          <p:nvPr/>
        </p:nvSpPr>
        <p:spPr>
          <a:xfrm>
            <a:off x="5060529" y="4785990"/>
            <a:ext cx="284100" cy="360000"/>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31" name="Right Arrow 30">
            <a:extLst>
              <a:ext uri="{FF2B5EF4-FFF2-40B4-BE49-F238E27FC236}">
                <a16:creationId xmlns:a16="http://schemas.microsoft.com/office/drawing/2014/main" id="{5384B7E3-ED2C-B143-8B5B-A13F4D6D75F3}"/>
              </a:ext>
            </a:extLst>
          </p:cNvPr>
          <p:cNvSpPr/>
          <p:nvPr/>
        </p:nvSpPr>
        <p:spPr>
          <a:xfrm>
            <a:off x="2908477" y="4904952"/>
            <a:ext cx="2808312"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33" name="Rectangle 32">
            <a:extLst>
              <a:ext uri="{FF2B5EF4-FFF2-40B4-BE49-F238E27FC236}">
                <a16:creationId xmlns:a16="http://schemas.microsoft.com/office/drawing/2014/main" id="{03934CEA-E1FA-0A49-883A-B4D52CEAFAA2}"/>
              </a:ext>
            </a:extLst>
          </p:cNvPr>
          <p:cNvSpPr/>
          <p:nvPr/>
        </p:nvSpPr>
        <p:spPr>
          <a:xfrm>
            <a:off x="963340"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超级块</a:t>
            </a:r>
            <a:endParaRPr lang="en-CN" sz="1000" dirty="0"/>
          </a:p>
        </p:txBody>
      </p:sp>
      <p:sp>
        <p:nvSpPr>
          <p:cNvPr id="34" name="Rectangle 33">
            <a:extLst>
              <a:ext uri="{FF2B5EF4-FFF2-40B4-BE49-F238E27FC236}">
                <a16:creationId xmlns:a16="http://schemas.microsoft.com/office/drawing/2014/main" id="{30D70729-9C16-DF4D-B077-3EFA2A00E87D}"/>
              </a:ext>
            </a:extLst>
          </p:cNvPr>
          <p:cNvSpPr/>
          <p:nvPr/>
        </p:nvSpPr>
        <p:spPr>
          <a:xfrm>
            <a:off x="1463843"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检查点</a:t>
            </a:r>
            <a:endParaRPr lang="en-CN" sz="1000" dirty="0"/>
          </a:p>
        </p:txBody>
      </p:sp>
      <p:sp>
        <p:nvSpPr>
          <p:cNvPr id="35" name="Rectangle 34">
            <a:extLst>
              <a:ext uri="{FF2B5EF4-FFF2-40B4-BE49-F238E27FC236}">
                <a16:creationId xmlns:a16="http://schemas.microsoft.com/office/drawing/2014/main" id="{AC1AA524-9DDD-3E4A-8026-8D13EB0BF4E9}"/>
              </a:ext>
            </a:extLst>
          </p:cNvPr>
          <p:cNvSpPr/>
          <p:nvPr/>
        </p:nvSpPr>
        <p:spPr>
          <a:xfrm>
            <a:off x="997188" y="2887865"/>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段使用表</a:t>
            </a:r>
            <a:endParaRPr lang="en-CN" sz="1000" dirty="0"/>
          </a:p>
        </p:txBody>
      </p:sp>
      <p:sp>
        <p:nvSpPr>
          <p:cNvPr id="36" name="Rectangle 35">
            <a:extLst>
              <a:ext uri="{FF2B5EF4-FFF2-40B4-BE49-F238E27FC236}">
                <a16:creationId xmlns:a16="http://schemas.microsoft.com/office/drawing/2014/main" id="{1660AFEA-57A9-B448-B44B-8F439D7ED339}"/>
              </a:ext>
            </a:extLst>
          </p:cNvPr>
          <p:cNvSpPr/>
          <p:nvPr/>
        </p:nvSpPr>
        <p:spPr>
          <a:xfrm>
            <a:off x="997188" y="3373453"/>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t>段概要</a:t>
            </a:r>
            <a:endParaRPr lang="en-CN" sz="1000" dirty="0"/>
          </a:p>
        </p:txBody>
      </p:sp>
      <p:sp>
        <p:nvSpPr>
          <p:cNvPr id="37" name="Rectangle 36">
            <a:extLst>
              <a:ext uri="{FF2B5EF4-FFF2-40B4-BE49-F238E27FC236}">
                <a16:creationId xmlns:a16="http://schemas.microsoft.com/office/drawing/2014/main" id="{3B7BA522-C109-C84E-8D7E-B5B7A7374F8F}"/>
              </a:ext>
            </a:extLst>
          </p:cNvPr>
          <p:cNvSpPr/>
          <p:nvPr/>
        </p:nvSpPr>
        <p:spPr>
          <a:xfrm>
            <a:off x="2445096" y="1947181"/>
            <a:ext cx="933309" cy="345604"/>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err="1">
                <a:solidFill>
                  <a:sysClr val="windowText" lastClr="000000"/>
                </a:solidFill>
              </a:rPr>
              <a:t>inode</a:t>
            </a:r>
            <a:r>
              <a:rPr lang="zh-CN" altLang="en-US" sz="1000" dirty="0">
                <a:solidFill>
                  <a:sysClr val="windowText" lastClr="000000"/>
                </a:solidFill>
              </a:rPr>
              <a:t> </a:t>
            </a:r>
            <a:r>
              <a:rPr lang="en-US" altLang="zh-CN" sz="1000" dirty="0">
                <a:solidFill>
                  <a:sysClr val="windowText" lastClr="000000"/>
                </a:solidFill>
              </a:rPr>
              <a:t>map</a:t>
            </a:r>
            <a:endParaRPr lang="en-CN" sz="1000" dirty="0">
              <a:solidFill>
                <a:sysClr val="windowText" lastClr="000000"/>
              </a:solidFill>
            </a:endParaRPr>
          </a:p>
        </p:txBody>
      </p:sp>
      <p:sp>
        <p:nvSpPr>
          <p:cNvPr id="38" name="Rectangle 37">
            <a:extLst>
              <a:ext uri="{FF2B5EF4-FFF2-40B4-BE49-F238E27FC236}">
                <a16:creationId xmlns:a16="http://schemas.microsoft.com/office/drawing/2014/main" id="{5663CC65-3A6E-B14A-AE33-FDC44C60434D}"/>
              </a:ext>
            </a:extLst>
          </p:cNvPr>
          <p:cNvSpPr/>
          <p:nvPr/>
        </p:nvSpPr>
        <p:spPr>
          <a:xfrm>
            <a:off x="4000453" y="2226928"/>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目录</a:t>
            </a:r>
            <a:endParaRPr lang="en-US" altLang="zh-CN" sz="1000" dirty="0"/>
          </a:p>
          <a:p>
            <a:pPr algn="ctr"/>
            <a:r>
              <a:rPr lang="en-US" altLang="zh-CN" sz="1000" dirty="0" err="1"/>
              <a:t>inode</a:t>
            </a:r>
            <a:endParaRPr lang="en-CN" sz="1000" dirty="0"/>
          </a:p>
        </p:txBody>
      </p:sp>
      <p:sp>
        <p:nvSpPr>
          <p:cNvPr id="39" name="Rectangle 38">
            <a:extLst>
              <a:ext uri="{FF2B5EF4-FFF2-40B4-BE49-F238E27FC236}">
                <a16:creationId xmlns:a16="http://schemas.microsoft.com/office/drawing/2014/main" id="{29A78A4F-7661-4041-8453-8422DD84399F}"/>
              </a:ext>
            </a:extLst>
          </p:cNvPr>
          <p:cNvSpPr/>
          <p:nvPr/>
        </p:nvSpPr>
        <p:spPr>
          <a:xfrm>
            <a:off x="4000453" y="2839212"/>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常规文件</a:t>
            </a:r>
            <a:r>
              <a:rPr lang="en-US" altLang="zh-CN" sz="1000" dirty="0" err="1"/>
              <a:t>inode</a:t>
            </a:r>
            <a:endParaRPr lang="en-CN" sz="1000" dirty="0"/>
          </a:p>
        </p:txBody>
      </p:sp>
      <p:sp>
        <p:nvSpPr>
          <p:cNvPr id="40" name="Rectangle 39">
            <a:extLst>
              <a:ext uri="{FF2B5EF4-FFF2-40B4-BE49-F238E27FC236}">
                <a16:creationId xmlns:a16="http://schemas.microsoft.com/office/drawing/2014/main" id="{EEFED4E3-A7F9-4F4F-A11E-A2E76A541DB8}"/>
              </a:ext>
            </a:extLst>
          </p:cNvPr>
          <p:cNvSpPr/>
          <p:nvPr/>
        </p:nvSpPr>
        <p:spPr>
          <a:xfrm>
            <a:off x="5655279" y="2471680"/>
            <a:ext cx="933309" cy="345604"/>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目录数据</a:t>
            </a:r>
            <a:endParaRPr lang="en-CN" sz="1000" dirty="0"/>
          </a:p>
        </p:txBody>
      </p:sp>
      <p:sp>
        <p:nvSpPr>
          <p:cNvPr id="41" name="Rectangle 40">
            <a:extLst>
              <a:ext uri="{FF2B5EF4-FFF2-40B4-BE49-F238E27FC236}">
                <a16:creationId xmlns:a16="http://schemas.microsoft.com/office/drawing/2014/main" id="{B957CB33-91E4-6546-9ADE-83EB07781A29}"/>
              </a:ext>
            </a:extLst>
          </p:cNvPr>
          <p:cNvSpPr/>
          <p:nvPr/>
        </p:nvSpPr>
        <p:spPr>
          <a:xfrm>
            <a:off x="5655280" y="3184816"/>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42" name="Rectangle 41">
            <a:extLst>
              <a:ext uri="{FF2B5EF4-FFF2-40B4-BE49-F238E27FC236}">
                <a16:creationId xmlns:a16="http://schemas.microsoft.com/office/drawing/2014/main" id="{B5083F75-75F6-9E4A-A0F5-CD2929CDF635}"/>
              </a:ext>
            </a:extLst>
          </p:cNvPr>
          <p:cNvSpPr/>
          <p:nvPr/>
        </p:nvSpPr>
        <p:spPr>
          <a:xfrm>
            <a:off x="6776734" y="3757556"/>
            <a:ext cx="933309" cy="34560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索引块</a:t>
            </a:r>
            <a:endParaRPr lang="en-CN" sz="1000" dirty="0">
              <a:solidFill>
                <a:sysClr val="windowText" lastClr="000000"/>
              </a:solidFill>
            </a:endParaRPr>
          </a:p>
        </p:txBody>
      </p:sp>
      <p:sp>
        <p:nvSpPr>
          <p:cNvPr id="43" name="Rectangle 42">
            <a:extLst>
              <a:ext uri="{FF2B5EF4-FFF2-40B4-BE49-F238E27FC236}">
                <a16:creationId xmlns:a16="http://schemas.microsoft.com/office/drawing/2014/main" id="{8D4BC379-3842-CA47-ADBC-93D3CBD5BB3D}"/>
              </a:ext>
            </a:extLst>
          </p:cNvPr>
          <p:cNvSpPr/>
          <p:nvPr/>
        </p:nvSpPr>
        <p:spPr>
          <a:xfrm>
            <a:off x="4826872" y="3757664"/>
            <a:ext cx="933309" cy="345604"/>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二级索引块</a:t>
            </a:r>
            <a:endParaRPr lang="en-CN" sz="1000" dirty="0">
              <a:solidFill>
                <a:sysClr val="windowText" lastClr="000000"/>
              </a:solidFill>
            </a:endParaRPr>
          </a:p>
        </p:txBody>
      </p:sp>
      <p:sp>
        <p:nvSpPr>
          <p:cNvPr id="44" name="Rectangle 43">
            <a:extLst>
              <a:ext uri="{FF2B5EF4-FFF2-40B4-BE49-F238E27FC236}">
                <a16:creationId xmlns:a16="http://schemas.microsoft.com/office/drawing/2014/main" id="{AFDEF791-0082-1645-8BCE-8AE568AD370A}"/>
              </a:ext>
            </a:extLst>
          </p:cNvPr>
          <p:cNvSpPr/>
          <p:nvPr/>
        </p:nvSpPr>
        <p:spPr>
          <a:xfrm>
            <a:off x="7481522" y="3201965"/>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cxnSp>
        <p:nvCxnSpPr>
          <p:cNvPr id="46" name="Elbow Connector 45">
            <a:extLst>
              <a:ext uri="{FF2B5EF4-FFF2-40B4-BE49-F238E27FC236}">
                <a16:creationId xmlns:a16="http://schemas.microsoft.com/office/drawing/2014/main" id="{6C34F0D1-6A0D-7349-878A-CF2D39C30094}"/>
              </a:ext>
            </a:extLst>
          </p:cNvPr>
          <p:cNvCxnSpPr>
            <a:stCxn id="34" idx="3"/>
            <a:endCxn id="37" idx="0"/>
          </p:cNvCxnSpPr>
          <p:nvPr/>
        </p:nvCxnSpPr>
        <p:spPr>
          <a:xfrm>
            <a:off x="1896649" y="1741376"/>
            <a:ext cx="1015102" cy="20580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8" name="Elbow Connector 47">
            <a:extLst>
              <a:ext uri="{FF2B5EF4-FFF2-40B4-BE49-F238E27FC236}">
                <a16:creationId xmlns:a16="http://schemas.microsoft.com/office/drawing/2014/main" id="{E4CD613D-B629-7948-ACDB-AA9721336B44}"/>
              </a:ext>
            </a:extLst>
          </p:cNvPr>
          <p:cNvCxnSpPr>
            <a:cxnSpLocks/>
            <a:stCxn id="34" idx="2"/>
            <a:endCxn id="35" idx="0"/>
          </p:cNvCxnSpPr>
          <p:nvPr/>
        </p:nvCxnSpPr>
        <p:spPr>
          <a:xfrm rot="5400000">
            <a:off x="1124815" y="2332433"/>
            <a:ext cx="894461" cy="2164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1" name="Elbow Connector 50">
            <a:extLst>
              <a:ext uri="{FF2B5EF4-FFF2-40B4-BE49-F238E27FC236}">
                <a16:creationId xmlns:a16="http://schemas.microsoft.com/office/drawing/2014/main" id="{40265B92-DAB0-A247-A15C-84CDD230CBA6}"/>
              </a:ext>
            </a:extLst>
          </p:cNvPr>
          <p:cNvCxnSpPr>
            <a:cxnSpLocks/>
            <a:stCxn id="37" idx="3"/>
            <a:endCxn id="38" idx="1"/>
          </p:cNvCxnSpPr>
          <p:nvPr/>
        </p:nvCxnSpPr>
        <p:spPr>
          <a:xfrm>
            <a:off x="3378405" y="2119983"/>
            <a:ext cx="622048" cy="27974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5" name="Elbow Connector 54">
            <a:extLst>
              <a:ext uri="{FF2B5EF4-FFF2-40B4-BE49-F238E27FC236}">
                <a16:creationId xmlns:a16="http://schemas.microsoft.com/office/drawing/2014/main" id="{F524F4DB-A289-A14E-995E-94A83CE1166F}"/>
              </a:ext>
            </a:extLst>
          </p:cNvPr>
          <p:cNvCxnSpPr>
            <a:cxnSpLocks/>
            <a:stCxn id="37" idx="3"/>
            <a:endCxn id="39" idx="1"/>
          </p:cNvCxnSpPr>
          <p:nvPr/>
        </p:nvCxnSpPr>
        <p:spPr>
          <a:xfrm>
            <a:off x="3378405" y="2119983"/>
            <a:ext cx="622048" cy="89203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9" name="Elbow Connector 58">
            <a:extLst>
              <a:ext uri="{FF2B5EF4-FFF2-40B4-BE49-F238E27FC236}">
                <a16:creationId xmlns:a16="http://schemas.microsoft.com/office/drawing/2014/main" id="{83022C20-C7D5-9143-8E60-63FDF125E3A2}"/>
              </a:ext>
            </a:extLst>
          </p:cNvPr>
          <p:cNvCxnSpPr>
            <a:cxnSpLocks/>
            <a:stCxn id="38" idx="3"/>
            <a:endCxn id="40" idx="1"/>
          </p:cNvCxnSpPr>
          <p:nvPr/>
        </p:nvCxnSpPr>
        <p:spPr>
          <a:xfrm>
            <a:off x="4933762" y="2399730"/>
            <a:ext cx="721517" cy="2447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Elbow Connector 62">
            <a:extLst>
              <a:ext uri="{FF2B5EF4-FFF2-40B4-BE49-F238E27FC236}">
                <a16:creationId xmlns:a16="http://schemas.microsoft.com/office/drawing/2014/main" id="{B98E09AD-0E97-3E4D-9E74-332DF949EA1E}"/>
              </a:ext>
            </a:extLst>
          </p:cNvPr>
          <p:cNvCxnSpPr>
            <a:cxnSpLocks/>
            <a:stCxn id="39" idx="3"/>
            <a:endCxn id="41" idx="1"/>
          </p:cNvCxnSpPr>
          <p:nvPr/>
        </p:nvCxnSpPr>
        <p:spPr>
          <a:xfrm>
            <a:off x="4933762" y="3012014"/>
            <a:ext cx="721518" cy="34560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6" name="Elbow Connector 65">
            <a:extLst>
              <a:ext uri="{FF2B5EF4-FFF2-40B4-BE49-F238E27FC236}">
                <a16:creationId xmlns:a16="http://schemas.microsoft.com/office/drawing/2014/main" id="{A8BFD7C2-C92A-CF42-B964-4D8B338E82F5}"/>
              </a:ext>
            </a:extLst>
          </p:cNvPr>
          <p:cNvCxnSpPr>
            <a:cxnSpLocks/>
            <a:stCxn id="39" idx="2"/>
            <a:endCxn id="43" idx="1"/>
          </p:cNvCxnSpPr>
          <p:nvPr/>
        </p:nvCxnSpPr>
        <p:spPr>
          <a:xfrm rot="16200000" flipH="1">
            <a:off x="4274165" y="3377759"/>
            <a:ext cx="745650" cy="35976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0" name="Elbow Connector 69">
            <a:extLst>
              <a:ext uri="{FF2B5EF4-FFF2-40B4-BE49-F238E27FC236}">
                <a16:creationId xmlns:a16="http://schemas.microsoft.com/office/drawing/2014/main" id="{69361DFE-FC58-BD4C-B43B-D4827874AD6B}"/>
              </a:ext>
            </a:extLst>
          </p:cNvPr>
          <p:cNvCxnSpPr>
            <a:cxnSpLocks/>
            <a:stCxn id="43" idx="3"/>
            <a:endCxn id="42" idx="1"/>
          </p:cNvCxnSpPr>
          <p:nvPr/>
        </p:nvCxnSpPr>
        <p:spPr>
          <a:xfrm flipV="1">
            <a:off x="5760181" y="3930358"/>
            <a:ext cx="1016553" cy="1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5" name="Elbow Connector 74">
            <a:extLst>
              <a:ext uri="{FF2B5EF4-FFF2-40B4-BE49-F238E27FC236}">
                <a16:creationId xmlns:a16="http://schemas.microsoft.com/office/drawing/2014/main" id="{CF118D76-4BB7-0147-8C2C-0E03067F3492}"/>
              </a:ext>
            </a:extLst>
          </p:cNvPr>
          <p:cNvCxnSpPr>
            <a:cxnSpLocks/>
            <a:stCxn id="42" idx="3"/>
            <a:endCxn id="44" idx="2"/>
          </p:cNvCxnSpPr>
          <p:nvPr/>
        </p:nvCxnSpPr>
        <p:spPr>
          <a:xfrm flipV="1">
            <a:off x="7710043" y="3547569"/>
            <a:ext cx="238134" cy="38278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0B273302-4A4E-4841-AF30-18BD303D3037}"/>
              </a:ext>
            </a:extLst>
          </p:cNvPr>
          <p:cNvSpPr txBox="1"/>
          <p:nvPr/>
        </p:nvSpPr>
        <p:spPr>
          <a:xfrm>
            <a:off x="6815327" y="3184815"/>
            <a:ext cx="428061" cy="369332"/>
          </a:xfrm>
          <a:prstGeom prst="rect">
            <a:avLst/>
          </a:prstGeom>
          <a:noFill/>
        </p:spPr>
        <p:txBody>
          <a:bodyPr wrap="square" rtlCol="0">
            <a:spAutoFit/>
          </a:bodyPr>
          <a:lstStyle/>
          <a:p>
            <a:r>
              <a:rPr lang="en-US" dirty="0"/>
              <a:t>…</a:t>
            </a:r>
            <a:endParaRPr lang="en-CN" dirty="0"/>
          </a:p>
        </p:txBody>
      </p:sp>
      <p:sp>
        <p:nvSpPr>
          <p:cNvPr id="79" name="TextBox 78">
            <a:extLst>
              <a:ext uri="{FF2B5EF4-FFF2-40B4-BE49-F238E27FC236}">
                <a16:creationId xmlns:a16="http://schemas.microsoft.com/office/drawing/2014/main" id="{37A22199-192E-7E4F-9110-37A3F0CEE7F9}"/>
              </a:ext>
            </a:extLst>
          </p:cNvPr>
          <p:cNvSpPr txBox="1"/>
          <p:nvPr/>
        </p:nvSpPr>
        <p:spPr>
          <a:xfrm>
            <a:off x="2105725" y="3184815"/>
            <a:ext cx="954107" cy="276999"/>
          </a:xfrm>
          <a:prstGeom prst="rect">
            <a:avLst/>
          </a:prstGeom>
          <a:noFill/>
        </p:spPr>
        <p:txBody>
          <a:bodyPr wrap="none" rtlCol="0">
            <a:spAutoFit/>
          </a:bodyPr>
          <a:lstStyle/>
          <a:p>
            <a:r>
              <a:rPr lang="zh-CN" altLang="en-CN" sz="1200" dirty="0"/>
              <a:t>用于</a:t>
            </a:r>
            <a:r>
              <a:rPr lang="zh-CN" altLang="en-US" sz="1200" dirty="0"/>
              <a:t>段清理</a:t>
            </a:r>
            <a:endParaRPr lang="en-CN" sz="1200" dirty="0"/>
          </a:p>
        </p:txBody>
      </p:sp>
      <p:sp>
        <p:nvSpPr>
          <p:cNvPr id="80" name="Right Brace 79">
            <a:extLst>
              <a:ext uri="{FF2B5EF4-FFF2-40B4-BE49-F238E27FC236}">
                <a16:creationId xmlns:a16="http://schemas.microsoft.com/office/drawing/2014/main" id="{849B04C6-C233-CD42-9F62-1E992E6EE725}"/>
              </a:ext>
            </a:extLst>
          </p:cNvPr>
          <p:cNvSpPr/>
          <p:nvPr/>
        </p:nvSpPr>
        <p:spPr>
          <a:xfrm>
            <a:off x="1998834" y="2887864"/>
            <a:ext cx="167965" cy="869691"/>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47" name="Right Brace 46">
            <a:extLst>
              <a:ext uri="{FF2B5EF4-FFF2-40B4-BE49-F238E27FC236}">
                <a16:creationId xmlns:a16="http://schemas.microsoft.com/office/drawing/2014/main" id="{334A2C61-2295-E141-B0AC-7A8F347703D7}"/>
              </a:ext>
            </a:extLst>
          </p:cNvPr>
          <p:cNvSpPr/>
          <p:nvPr/>
        </p:nvSpPr>
        <p:spPr>
          <a:xfrm rot="16200000">
            <a:off x="1346012" y="903623"/>
            <a:ext cx="167965" cy="933309"/>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49" name="TextBox 48">
            <a:extLst>
              <a:ext uri="{FF2B5EF4-FFF2-40B4-BE49-F238E27FC236}">
                <a16:creationId xmlns:a16="http://schemas.microsoft.com/office/drawing/2014/main" id="{78AD8E45-2F4A-164B-B3A6-DA82ED153035}"/>
              </a:ext>
            </a:extLst>
          </p:cNvPr>
          <p:cNvSpPr txBox="1"/>
          <p:nvPr/>
        </p:nvSpPr>
        <p:spPr>
          <a:xfrm>
            <a:off x="811653" y="1017146"/>
            <a:ext cx="1303562" cy="276999"/>
          </a:xfrm>
          <a:prstGeom prst="rect">
            <a:avLst/>
          </a:prstGeom>
          <a:noFill/>
        </p:spPr>
        <p:txBody>
          <a:bodyPr wrap="none" rtlCol="0">
            <a:spAutoFit/>
          </a:bodyPr>
          <a:lstStyle/>
          <a:p>
            <a:r>
              <a:rPr lang="zh-CN" altLang="en-US" sz="1200" dirty="0"/>
              <a:t>保存在固定位置</a:t>
            </a:r>
            <a:endParaRPr lang="en-CN" sz="1200" dirty="0"/>
          </a:p>
        </p:txBody>
      </p:sp>
      <p:sp>
        <p:nvSpPr>
          <p:cNvPr id="3" name="TextBox 2">
            <a:extLst>
              <a:ext uri="{FF2B5EF4-FFF2-40B4-BE49-F238E27FC236}">
                <a16:creationId xmlns:a16="http://schemas.microsoft.com/office/drawing/2014/main" id="{155C219A-5202-8F47-9530-C338483B6310}"/>
              </a:ext>
            </a:extLst>
          </p:cNvPr>
          <p:cNvSpPr txBox="1"/>
          <p:nvPr/>
        </p:nvSpPr>
        <p:spPr>
          <a:xfrm>
            <a:off x="331942" y="1631065"/>
            <a:ext cx="354221" cy="1323439"/>
          </a:xfrm>
          <a:prstGeom prst="rect">
            <a:avLst/>
          </a:prstGeom>
          <a:noFill/>
        </p:spPr>
        <p:txBody>
          <a:bodyPr wrap="square" rtlCol="0">
            <a:spAutoFit/>
          </a:bodyPr>
          <a:lstStyle/>
          <a:p>
            <a:r>
              <a:rPr lang="zh-CN" altLang="en-CN" sz="2000" dirty="0"/>
              <a:t>逻辑</a:t>
            </a:r>
            <a:r>
              <a:rPr lang="zh-CN" altLang="en-US" sz="2000" dirty="0"/>
              <a:t>结构</a:t>
            </a:r>
            <a:endParaRPr lang="en-CN" sz="2000" dirty="0"/>
          </a:p>
        </p:txBody>
      </p:sp>
      <p:sp>
        <p:nvSpPr>
          <p:cNvPr id="50" name="TextBox 49">
            <a:extLst>
              <a:ext uri="{FF2B5EF4-FFF2-40B4-BE49-F238E27FC236}">
                <a16:creationId xmlns:a16="http://schemas.microsoft.com/office/drawing/2014/main" id="{F88942E7-C7AF-0C49-AC54-7188BF00E790}"/>
              </a:ext>
            </a:extLst>
          </p:cNvPr>
          <p:cNvSpPr txBox="1"/>
          <p:nvPr/>
        </p:nvSpPr>
        <p:spPr>
          <a:xfrm>
            <a:off x="367002" y="4161072"/>
            <a:ext cx="284100" cy="1323439"/>
          </a:xfrm>
          <a:prstGeom prst="rect">
            <a:avLst/>
          </a:prstGeom>
          <a:noFill/>
        </p:spPr>
        <p:txBody>
          <a:bodyPr wrap="square" rtlCol="0">
            <a:spAutoFit/>
          </a:bodyPr>
          <a:lstStyle/>
          <a:p>
            <a:r>
              <a:rPr lang="zh-CN" altLang="en-US" sz="2000" dirty="0"/>
              <a:t>存储结构</a:t>
            </a:r>
            <a:endParaRPr lang="en-CN" sz="2000" dirty="0"/>
          </a:p>
        </p:txBody>
      </p:sp>
    </p:spTree>
    <p:extLst>
      <p:ext uri="{BB962C8B-B14F-4D97-AF65-F5344CB8AC3E}">
        <p14:creationId xmlns:p14="http://schemas.microsoft.com/office/powerpoint/2010/main" val="27913799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265B5F-E8D0-9B4B-8BB0-FFF98707AFC9}"/>
              </a:ext>
            </a:extLst>
          </p:cNvPr>
          <p:cNvSpPr/>
          <p:nvPr/>
        </p:nvSpPr>
        <p:spPr>
          <a:xfrm>
            <a:off x="1249134" y="4785990"/>
            <a:ext cx="6435948" cy="360000"/>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 name="Title 1">
            <a:extLst>
              <a:ext uri="{FF2B5EF4-FFF2-40B4-BE49-F238E27FC236}">
                <a16:creationId xmlns:a16="http://schemas.microsoft.com/office/drawing/2014/main" id="{04AA801F-C21B-904D-B19B-F50F0A7BCF45}"/>
              </a:ext>
            </a:extLst>
          </p:cNvPr>
          <p:cNvSpPr>
            <a:spLocks noGrp="1"/>
          </p:cNvSpPr>
          <p:nvPr>
            <p:ph type="title"/>
          </p:nvPr>
        </p:nvSpPr>
        <p:spPr/>
        <p:txBody>
          <a:bodyPr>
            <a:normAutofit/>
          </a:bodyPr>
          <a:lstStyle/>
          <a:p>
            <a:r>
              <a:rPr lang="en-US" altLang="zh-CN" dirty="0"/>
              <a:t>LFS</a:t>
            </a:r>
            <a:r>
              <a:rPr lang="zh-CN" altLang="en-US" dirty="0"/>
              <a:t>的问题</a:t>
            </a:r>
            <a:r>
              <a:rPr lang="en-US" altLang="zh-CN" dirty="0"/>
              <a:t>-1</a:t>
            </a:r>
            <a:r>
              <a:rPr lang="zh-CN" altLang="en-US" dirty="0"/>
              <a:t>：递归更新问题</a:t>
            </a:r>
            <a:endParaRPr lang="en-CN" dirty="0"/>
          </a:p>
        </p:txBody>
      </p:sp>
      <p:sp>
        <p:nvSpPr>
          <p:cNvPr id="4" name="Slide Number Placeholder 3">
            <a:extLst>
              <a:ext uri="{FF2B5EF4-FFF2-40B4-BE49-F238E27FC236}">
                <a16:creationId xmlns:a16="http://schemas.microsoft.com/office/drawing/2014/main" id="{29635DD5-5238-954F-AA1D-0B15F66DB369}"/>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Footer Placeholder 4">
            <a:extLst>
              <a:ext uri="{FF2B5EF4-FFF2-40B4-BE49-F238E27FC236}">
                <a16:creationId xmlns:a16="http://schemas.microsoft.com/office/drawing/2014/main" id="{219D56D5-E01E-584F-BDA4-4A95035763D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Rectangle 8">
            <a:extLst>
              <a:ext uri="{FF2B5EF4-FFF2-40B4-BE49-F238E27FC236}">
                <a16:creationId xmlns:a16="http://schemas.microsoft.com/office/drawing/2014/main" id="{481DD187-7A04-924A-88CE-EC24085D9896}"/>
              </a:ext>
            </a:extLst>
          </p:cNvPr>
          <p:cNvSpPr/>
          <p:nvPr/>
        </p:nvSpPr>
        <p:spPr>
          <a:xfrm>
            <a:off x="14576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SB</a:t>
            </a:r>
          </a:p>
        </p:txBody>
      </p:sp>
      <p:sp>
        <p:nvSpPr>
          <p:cNvPr id="10" name="Rectangle 9">
            <a:extLst>
              <a:ext uri="{FF2B5EF4-FFF2-40B4-BE49-F238E27FC236}">
                <a16:creationId xmlns:a16="http://schemas.microsoft.com/office/drawing/2014/main" id="{234A33EC-B566-C04E-B991-752EFCE381FB}"/>
              </a:ext>
            </a:extLst>
          </p:cNvPr>
          <p:cNvSpPr/>
          <p:nvPr/>
        </p:nvSpPr>
        <p:spPr>
          <a:xfrm>
            <a:off x="17417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4" name="Rectangle 13">
            <a:extLst>
              <a:ext uri="{FF2B5EF4-FFF2-40B4-BE49-F238E27FC236}">
                <a16:creationId xmlns:a16="http://schemas.microsoft.com/office/drawing/2014/main" id="{6E071324-7B69-9744-A3AA-B557FD8A43C8}"/>
              </a:ext>
            </a:extLst>
          </p:cNvPr>
          <p:cNvSpPr/>
          <p:nvPr/>
        </p:nvSpPr>
        <p:spPr>
          <a:xfrm>
            <a:off x="2874661"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5" name="Rectangle 14">
            <a:extLst>
              <a:ext uri="{FF2B5EF4-FFF2-40B4-BE49-F238E27FC236}">
                <a16:creationId xmlns:a16="http://schemas.microsoft.com/office/drawing/2014/main" id="{A5A7ED0E-B78C-414B-9434-CB86EAA92D2B}"/>
              </a:ext>
            </a:extLst>
          </p:cNvPr>
          <p:cNvSpPr/>
          <p:nvPr/>
        </p:nvSpPr>
        <p:spPr>
          <a:xfrm>
            <a:off x="3157288" y="4785990"/>
            <a:ext cx="284100" cy="36000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6" name="Rectangle 15">
            <a:extLst>
              <a:ext uri="{FF2B5EF4-FFF2-40B4-BE49-F238E27FC236}">
                <a16:creationId xmlns:a16="http://schemas.microsoft.com/office/drawing/2014/main" id="{75D016D2-BDBC-004F-85CF-DE5499846E97}"/>
              </a:ext>
            </a:extLst>
          </p:cNvPr>
          <p:cNvSpPr/>
          <p:nvPr/>
        </p:nvSpPr>
        <p:spPr>
          <a:xfrm>
            <a:off x="3439915" y="4785990"/>
            <a:ext cx="185483"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7" name="Rectangle 16">
            <a:extLst>
              <a:ext uri="{FF2B5EF4-FFF2-40B4-BE49-F238E27FC236}">
                <a16:creationId xmlns:a16="http://schemas.microsoft.com/office/drawing/2014/main" id="{E16DFE47-FF32-D34B-B6BC-EE4D68469DA0}"/>
              </a:ext>
            </a:extLst>
          </p:cNvPr>
          <p:cNvSpPr/>
          <p:nvPr/>
        </p:nvSpPr>
        <p:spPr>
          <a:xfrm>
            <a:off x="4191320" y="4785990"/>
            <a:ext cx="146031"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8" name="Rectangle 17">
            <a:extLst>
              <a:ext uri="{FF2B5EF4-FFF2-40B4-BE49-F238E27FC236}">
                <a16:creationId xmlns:a16="http://schemas.microsoft.com/office/drawing/2014/main" id="{E41776D0-E41D-D949-9A98-1BBB02569D5C}"/>
              </a:ext>
            </a:extLst>
          </p:cNvPr>
          <p:cNvSpPr/>
          <p:nvPr/>
        </p:nvSpPr>
        <p:spPr>
          <a:xfrm>
            <a:off x="3625398" y="4785990"/>
            <a:ext cx="284100" cy="360000"/>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9" name="Rectangle 18">
            <a:extLst>
              <a:ext uri="{FF2B5EF4-FFF2-40B4-BE49-F238E27FC236}">
                <a16:creationId xmlns:a16="http://schemas.microsoft.com/office/drawing/2014/main" id="{F80BB814-B838-D94B-85BA-DD5EBCA25B94}"/>
              </a:ext>
            </a:extLst>
          </p:cNvPr>
          <p:cNvSpPr/>
          <p:nvPr/>
        </p:nvSpPr>
        <p:spPr>
          <a:xfrm>
            <a:off x="3908025"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20" name="Rectangle 19">
            <a:extLst>
              <a:ext uri="{FF2B5EF4-FFF2-40B4-BE49-F238E27FC236}">
                <a16:creationId xmlns:a16="http://schemas.microsoft.com/office/drawing/2014/main" id="{837910C3-C981-CB43-9299-479EEBF512B2}"/>
              </a:ext>
            </a:extLst>
          </p:cNvPr>
          <p:cNvSpPr/>
          <p:nvPr/>
        </p:nvSpPr>
        <p:spPr>
          <a:xfrm>
            <a:off x="4337351"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1" name="Rectangle 20">
            <a:extLst>
              <a:ext uri="{FF2B5EF4-FFF2-40B4-BE49-F238E27FC236}">
                <a16:creationId xmlns:a16="http://schemas.microsoft.com/office/drawing/2014/main" id="{0A9BB4F2-F16A-0246-B396-F25B7E09DA5D}"/>
              </a:ext>
            </a:extLst>
          </p:cNvPr>
          <p:cNvSpPr/>
          <p:nvPr/>
        </p:nvSpPr>
        <p:spPr>
          <a:xfrm>
            <a:off x="4621381" y="4785990"/>
            <a:ext cx="156145"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2" name="Rectangle 21">
            <a:extLst>
              <a:ext uri="{FF2B5EF4-FFF2-40B4-BE49-F238E27FC236}">
                <a16:creationId xmlns:a16="http://schemas.microsoft.com/office/drawing/2014/main" id="{970D0D23-F3D0-7247-84CE-3EB8FC0F5754}"/>
              </a:ext>
            </a:extLst>
          </p:cNvPr>
          <p:cNvSpPr/>
          <p:nvPr/>
        </p:nvSpPr>
        <p:spPr>
          <a:xfrm>
            <a:off x="4777526"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24" name="Rectangle 23">
            <a:extLst>
              <a:ext uri="{FF2B5EF4-FFF2-40B4-BE49-F238E27FC236}">
                <a16:creationId xmlns:a16="http://schemas.microsoft.com/office/drawing/2014/main" id="{E6D0BDA5-4DD0-0141-9581-BD934E869EF6}"/>
              </a:ext>
            </a:extLst>
          </p:cNvPr>
          <p:cNvSpPr/>
          <p:nvPr/>
        </p:nvSpPr>
        <p:spPr>
          <a:xfrm>
            <a:off x="5060529" y="4785990"/>
            <a:ext cx="284100" cy="360000"/>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31" name="Right Arrow 30">
            <a:extLst>
              <a:ext uri="{FF2B5EF4-FFF2-40B4-BE49-F238E27FC236}">
                <a16:creationId xmlns:a16="http://schemas.microsoft.com/office/drawing/2014/main" id="{5384B7E3-ED2C-B143-8B5B-A13F4D6D75F3}"/>
              </a:ext>
            </a:extLst>
          </p:cNvPr>
          <p:cNvSpPr/>
          <p:nvPr/>
        </p:nvSpPr>
        <p:spPr>
          <a:xfrm>
            <a:off x="2908477" y="4904952"/>
            <a:ext cx="2808312"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33" name="Rectangle 32">
            <a:extLst>
              <a:ext uri="{FF2B5EF4-FFF2-40B4-BE49-F238E27FC236}">
                <a16:creationId xmlns:a16="http://schemas.microsoft.com/office/drawing/2014/main" id="{03934CEA-E1FA-0A49-883A-B4D52CEAFAA2}"/>
              </a:ext>
            </a:extLst>
          </p:cNvPr>
          <p:cNvSpPr/>
          <p:nvPr/>
        </p:nvSpPr>
        <p:spPr>
          <a:xfrm>
            <a:off x="963340"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超级块</a:t>
            </a:r>
            <a:endParaRPr lang="en-CN" sz="1000" dirty="0"/>
          </a:p>
        </p:txBody>
      </p:sp>
      <p:sp>
        <p:nvSpPr>
          <p:cNvPr id="34" name="Rectangle 33">
            <a:extLst>
              <a:ext uri="{FF2B5EF4-FFF2-40B4-BE49-F238E27FC236}">
                <a16:creationId xmlns:a16="http://schemas.microsoft.com/office/drawing/2014/main" id="{30D70729-9C16-DF4D-B077-3EFA2A00E87D}"/>
              </a:ext>
            </a:extLst>
          </p:cNvPr>
          <p:cNvSpPr/>
          <p:nvPr/>
        </p:nvSpPr>
        <p:spPr>
          <a:xfrm>
            <a:off x="1463843"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检查点</a:t>
            </a:r>
            <a:endParaRPr lang="en-CN" sz="1000" dirty="0"/>
          </a:p>
        </p:txBody>
      </p:sp>
      <p:sp>
        <p:nvSpPr>
          <p:cNvPr id="35" name="Rectangle 34">
            <a:extLst>
              <a:ext uri="{FF2B5EF4-FFF2-40B4-BE49-F238E27FC236}">
                <a16:creationId xmlns:a16="http://schemas.microsoft.com/office/drawing/2014/main" id="{AC1AA524-9DDD-3E4A-8026-8D13EB0BF4E9}"/>
              </a:ext>
            </a:extLst>
          </p:cNvPr>
          <p:cNvSpPr/>
          <p:nvPr/>
        </p:nvSpPr>
        <p:spPr>
          <a:xfrm>
            <a:off x="997188" y="2887865"/>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段使用表</a:t>
            </a:r>
            <a:endParaRPr lang="en-CN" sz="1000" dirty="0"/>
          </a:p>
        </p:txBody>
      </p:sp>
      <p:sp>
        <p:nvSpPr>
          <p:cNvPr id="36" name="Rectangle 35">
            <a:extLst>
              <a:ext uri="{FF2B5EF4-FFF2-40B4-BE49-F238E27FC236}">
                <a16:creationId xmlns:a16="http://schemas.microsoft.com/office/drawing/2014/main" id="{1660AFEA-57A9-B448-B44B-8F439D7ED339}"/>
              </a:ext>
            </a:extLst>
          </p:cNvPr>
          <p:cNvSpPr/>
          <p:nvPr/>
        </p:nvSpPr>
        <p:spPr>
          <a:xfrm>
            <a:off x="997188" y="3373453"/>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t>段概要</a:t>
            </a:r>
            <a:endParaRPr lang="en-CN" sz="1000" dirty="0"/>
          </a:p>
        </p:txBody>
      </p:sp>
      <p:sp>
        <p:nvSpPr>
          <p:cNvPr id="37" name="Rectangle 36">
            <a:extLst>
              <a:ext uri="{FF2B5EF4-FFF2-40B4-BE49-F238E27FC236}">
                <a16:creationId xmlns:a16="http://schemas.microsoft.com/office/drawing/2014/main" id="{3B7BA522-C109-C84E-8D7E-B5B7A7374F8F}"/>
              </a:ext>
            </a:extLst>
          </p:cNvPr>
          <p:cNvSpPr/>
          <p:nvPr/>
        </p:nvSpPr>
        <p:spPr>
          <a:xfrm>
            <a:off x="2445096" y="1947181"/>
            <a:ext cx="933309" cy="345604"/>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err="1">
                <a:solidFill>
                  <a:sysClr val="windowText" lastClr="000000"/>
                </a:solidFill>
              </a:rPr>
              <a:t>inode</a:t>
            </a:r>
            <a:r>
              <a:rPr lang="zh-CN" altLang="en-US" sz="1000" dirty="0">
                <a:solidFill>
                  <a:sysClr val="windowText" lastClr="000000"/>
                </a:solidFill>
              </a:rPr>
              <a:t> </a:t>
            </a:r>
            <a:r>
              <a:rPr lang="en-US" altLang="zh-CN" sz="1000" dirty="0">
                <a:solidFill>
                  <a:sysClr val="windowText" lastClr="000000"/>
                </a:solidFill>
              </a:rPr>
              <a:t>map</a:t>
            </a:r>
            <a:endParaRPr lang="en-CN" sz="1000" dirty="0">
              <a:solidFill>
                <a:sysClr val="windowText" lastClr="000000"/>
              </a:solidFill>
            </a:endParaRPr>
          </a:p>
        </p:txBody>
      </p:sp>
      <p:sp>
        <p:nvSpPr>
          <p:cNvPr id="38" name="Rectangle 37">
            <a:extLst>
              <a:ext uri="{FF2B5EF4-FFF2-40B4-BE49-F238E27FC236}">
                <a16:creationId xmlns:a16="http://schemas.microsoft.com/office/drawing/2014/main" id="{5663CC65-3A6E-B14A-AE33-FDC44C60434D}"/>
              </a:ext>
            </a:extLst>
          </p:cNvPr>
          <p:cNvSpPr/>
          <p:nvPr/>
        </p:nvSpPr>
        <p:spPr>
          <a:xfrm>
            <a:off x="4000453" y="2226928"/>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目录</a:t>
            </a:r>
            <a:endParaRPr lang="en-US" altLang="zh-CN" sz="1000" dirty="0"/>
          </a:p>
          <a:p>
            <a:pPr algn="ctr"/>
            <a:r>
              <a:rPr lang="en-US" altLang="zh-CN" sz="1000" dirty="0" err="1"/>
              <a:t>inode</a:t>
            </a:r>
            <a:endParaRPr lang="en-CN" sz="1000" dirty="0"/>
          </a:p>
        </p:txBody>
      </p:sp>
      <p:sp>
        <p:nvSpPr>
          <p:cNvPr id="39" name="Rectangle 38">
            <a:extLst>
              <a:ext uri="{FF2B5EF4-FFF2-40B4-BE49-F238E27FC236}">
                <a16:creationId xmlns:a16="http://schemas.microsoft.com/office/drawing/2014/main" id="{29A78A4F-7661-4041-8453-8422DD84399F}"/>
              </a:ext>
            </a:extLst>
          </p:cNvPr>
          <p:cNvSpPr/>
          <p:nvPr/>
        </p:nvSpPr>
        <p:spPr>
          <a:xfrm>
            <a:off x="4000453" y="2839212"/>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常规文件</a:t>
            </a:r>
            <a:r>
              <a:rPr lang="en-US" altLang="zh-CN" sz="1000" dirty="0" err="1"/>
              <a:t>inode</a:t>
            </a:r>
            <a:endParaRPr lang="en-CN" sz="1000" dirty="0"/>
          </a:p>
        </p:txBody>
      </p:sp>
      <p:sp>
        <p:nvSpPr>
          <p:cNvPr id="40" name="Rectangle 39">
            <a:extLst>
              <a:ext uri="{FF2B5EF4-FFF2-40B4-BE49-F238E27FC236}">
                <a16:creationId xmlns:a16="http://schemas.microsoft.com/office/drawing/2014/main" id="{EEFED4E3-A7F9-4F4F-A11E-A2E76A541DB8}"/>
              </a:ext>
            </a:extLst>
          </p:cNvPr>
          <p:cNvSpPr/>
          <p:nvPr/>
        </p:nvSpPr>
        <p:spPr>
          <a:xfrm>
            <a:off x="5655279" y="2471680"/>
            <a:ext cx="933309" cy="345604"/>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目录数据</a:t>
            </a:r>
            <a:endParaRPr lang="en-CN" sz="1000" dirty="0"/>
          </a:p>
        </p:txBody>
      </p:sp>
      <p:sp>
        <p:nvSpPr>
          <p:cNvPr id="41" name="Rectangle 40">
            <a:extLst>
              <a:ext uri="{FF2B5EF4-FFF2-40B4-BE49-F238E27FC236}">
                <a16:creationId xmlns:a16="http://schemas.microsoft.com/office/drawing/2014/main" id="{B957CB33-91E4-6546-9ADE-83EB07781A29}"/>
              </a:ext>
            </a:extLst>
          </p:cNvPr>
          <p:cNvSpPr/>
          <p:nvPr/>
        </p:nvSpPr>
        <p:spPr>
          <a:xfrm>
            <a:off x="5655280" y="3184816"/>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42" name="Rectangle 41">
            <a:extLst>
              <a:ext uri="{FF2B5EF4-FFF2-40B4-BE49-F238E27FC236}">
                <a16:creationId xmlns:a16="http://schemas.microsoft.com/office/drawing/2014/main" id="{B5083F75-75F6-9E4A-A0F5-CD2929CDF635}"/>
              </a:ext>
            </a:extLst>
          </p:cNvPr>
          <p:cNvSpPr/>
          <p:nvPr/>
        </p:nvSpPr>
        <p:spPr>
          <a:xfrm>
            <a:off x="6776734" y="3757556"/>
            <a:ext cx="933309" cy="34560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索引块</a:t>
            </a:r>
            <a:endParaRPr lang="en-CN" sz="1000" dirty="0">
              <a:solidFill>
                <a:sysClr val="windowText" lastClr="000000"/>
              </a:solidFill>
            </a:endParaRPr>
          </a:p>
        </p:txBody>
      </p:sp>
      <p:sp>
        <p:nvSpPr>
          <p:cNvPr id="43" name="Rectangle 42">
            <a:extLst>
              <a:ext uri="{FF2B5EF4-FFF2-40B4-BE49-F238E27FC236}">
                <a16:creationId xmlns:a16="http://schemas.microsoft.com/office/drawing/2014/main" id="{8D4BC379-3842-CA47-ADBC-93D3CBD5BB3D}"/>
              </a:ext>
            </a:extLst>
          </p:cNvPr>
          <p:cNvSpPr/>
          <p:nvPr/>
        </p:nvSpPr>
        <p:spPr>
          <a:xfrm>
            <a:off x="4826872" y="3757664"/>
            <a:ext cx="933309" cy="345604"/>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二级索引块</a:t>
            </a:r>
            <a:endParaRPr lang="en-CN" sz="1000" dirty="0">
              <a:solidFill>
                <a:sysClr val="windowText" lastClr="000000"/>
              </a:solidFill>
            </a:endParaRPr>
          </a:p>
        </p:txBody>
      </p:sp>
      <p:sp>
        <p:nvSpPr>
          <p:cNvPr id="44" name="Rectangle 43">
            <a:extLst>
              <a:ext uri="{FF2B5EF4-FFF2-40B4-BE49-F238E27FC236}">
                <a16:creationId xmlns:a16="http://schemas.microsoft.com/office/drawing/2014/main" id="{AFDEF791-0082-1645-8BCE-8AE568AD370A}"/>
              </a:ext>
            </a:extLst>
          </p:cNvPr>
          <p:cNvSpPr/>
          <p:nvPr/>
        </p:nvSpPr>
        <p:spPr>
          <a:xfrm>
            <a:off x="7481522" y="3201965"/>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cxnSp>
        <p:nvCxnSpPr>
          <p:cNvPr id="46" name="Elbow Connector 45">
            <a:extLst>
              <a:ext uri="{FF2B5EF4-FFF2-40B4-BE49-F238E27FC236}">
                <a16:creationId xmlns:a16="http://schemas.microsoft.com/office/drawing/2014/main" id="{6C34F0D1-6A0D-7349-878A-CF2D39C30094}"/>
              </a:ext>
            </a:extLst>
          </p:cNvPr>
          <p:cNvCxnSpPr>
            <a:stCxn id="34" idx="3"/>
            <a:endCxn id="37" idx="0"/>
          </p:cNvCxnSpPr>
          <p:nvPr/>
        </p:nvCxnSpPr>
        <p:spPr>
          <a:xfrm>
            <a:off x="1896649" y="1741376"/>
            <a:ext cx="1015102" cy="20580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8" name="Elbow Connector 47">
            <a:extLst>
              <a:ext uri="{FF2B5EF4-FFF2-40B4-BE49-F238E27FC236}">
                <a16:creationId xmlns:a16="http://schemas.microsoft.com/office/drawing/2014/main" id="{E4CD613D-B629-7948-ACDB-AA9721336B44}"/>
              </a:ext>
            </a:extLst>
          </p:cNvPr>
          <p:cNvCxnSpPr>
            <a:cxnSpLocks/>
            <a:stCxn id="34" idx="2"/>
            <a:endCxn id="35" idx="0"/>
          </p:cNvCxnSpPr>
          <p:nvPr/>
        </p:nvCxnSpPr>
        <p:spPr>
          <a:xfrm rot="5400000">
            <a:off x="1124815" y="2332433"/>
            <a:ext cx="894461" cy="2164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1" name="Elbow Connector 50">
            <a:extLst>
              <a:ext uri="{FF2B5EF4-FFF2-40B4-BE49-F238E27FC236}">
                <a16:creationId xmlns:a16="http://schemas.microsoft.com/office/drawing/2014/main" id="{40265B92-DAB0-A247-A15C-84CDD230CBA6}"/>
              </a:ext>
            </a:extLst>
          </p:cNvPr>
          <p:cNvCxnSpPr>
            <a:cxnSpLocks/>
            <a:stCxn id="37" idx="3"/>
            <a:endCxn id="38" idx="1"/>
          </p:cNvCxnSpPr>
          <p:nvPr/>
        </p:nvCxnSpPr>
        <p:spPr>
          <a:xfrm>
            <a:off x="3378405" y="2119983"/>
            <a:ext cx="622048" cy="27974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5" name="Elbow Connector 54">
            <a:extLst>
              <a:ext uri="{FF2B5EF4-FFF2-40B4-BE49-F238E27FC236}">
                <a16:creationId xmlns:a16="http://schemas.microsoft.com/office/drawing/2014/main" id="{F524F4DB-A289-A14E-995E-94A83CE1166F}"/>
              </a:ext>
            </a:extLst>
          </p:cNvPr>
          <p:cNvCxnSpPr>
            <a:cxnSpLocks/>
            <a:stCxn id="37" idx="3"/>
            <a:endCxn id="39" idx="1"/>
          </p:cNvCxnSpPr>
          <p:nvPr/>
        </p:nvCxnSpPr>
        <p:spPr>
          <a:xfrm>
            <a:off x="3378405" y="2119983"/>
            <a:ext cx="622048" cy="89203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9" name="Elbow Connector 58">
            <a:extLst>
              <a:ext uri="{FF2B5EF4-FFF2-40B4-BE49-F238E27FC236}">
                <a16:creationId xmlns:a16="http://schemas.microsoft.com/office/drawing/2014/main" id="{83022C20-C7D5-9143-8E60-63FDF125E3A2}"/>
              </a:ext>
            </a:extLst>
          </p:cNvPr>
          <p:cNvCxnSpPr>
            <a:cxnSpLocks/>
            <a:stCxn id="38" idx="3"/>
            <a:endCxn id="40" idx="1"/>
          </p:cNvCxnSpPr>
          <p:nvPr/>
        </p:nvCxnSpPr>
        <p:spPr>
          <a:xfrm>
            <a:off x="4933762" y="2399730"/>
            <a:ext cx="721517" cy="2447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Elbow Connector 62">
            <a:extLst>
              <a:ext uri="{FF2B5EF4-FFF2-40B4-BE49-F238E27FC236}">
                <a16:creationId xmlns:a16="http://schemas.microsoft.com/office/drawing/2014/main" id="{B98E09AD-0E97-3E4D-9E74-332DF949EA1E}"/>
              </a:ext>
            </a:extLst>
          </p:cNvPr>
          <p:cNvCxnSpPr>
            <a:cxnSpLocks/>
            <a:stCxn id="39" idx="3"/>
            <a:endCxn id="41" idx="1"/>
          </p:cNvCxnSpPr>
          <p:nvPr/>
        </p:nvCxnSpPr>
        <p:spPr>
          <a:xfrm>
            <a:off x="4933762" y="3012014"/>
            <a:ext cx="721518" cy="34560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6" name="Elbow Connector 65">
            <a:extLst>
              <a:ext uri="{FF2B5EF4-FFF2-40B4-BE49-F238E27FC236}">
                <a16:creationId xmlns:a16="http://schemas.microsoft.com/office/drawing/2014/main" id="{A8BFD7C2-C92A-CF42-B964-4D8B338E82F5}"/>
              </a:ext>
            </a:extLst>
          </p:cNvPr>
          <p:cNvCxnSpPr>
            <a:cxnSpLocks/>
            <a:stCxn id="39" idx="2"/>
            <a:endCxn id="43" idx="1"/>
          </p:cNvCxnSpPr>
          <p:nvPr/>
        </p:nvCxnSpPr>
        <p:spPr>
          <a:xfrm rot="16200000" flipH="1">
            <a:off x="4274165" y="3377759"/>
            <a:ext cx="745650" cy="35976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0" name="Elbow Connector 69">
            <a:extLst>
              <a:ext uri="{FF2B5EF4-FFF2-40B4-BE49-F238E27FC236}">
                <a16:creationId xmlns:a16="http://schemas.microsoft.com/office/drawing/2014/main" id="{69361DFE-FC58-BD4C-B43B-D4827874AD6B}"/>
              </a:ext>
            </a:extLst>
          </p:cNvPr>
          <p:cNvCxnSpPr>
            <a:cxnSpLocks/>
            <a:stCxn id="43" idx="3"/>
            <a:endCxn id="42" idx="1"/>
          </p:cNvCxnSpPr>
          <p:nvPr/>
        </p:nvCxnSpPr>
        <p:spPr>
          <a:xfrm flipV="1">
            <a:off x="5760181" y="3930358"/>
            <a:ext cx="1016553" cy="1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5" name="Elbow Connector 74">
            <a:extLst>
              <a:ext uri="{FF2B5EF4-FFF2-40B4-BE49-F238E27FC236}">
                <a16:creationId xmlns:a16="http://schemas.microsoft.com/office/drawing/2014/main" id="{CF118D76-4BB7-0147-8C2C-0E03067F3492}"/>
              </a:ext>
            </a:extLst>
          </p:cNvPr>
          <p:cNvCxnSpPr>
            <a:cxnSpLocks/>
            <a:stCxn id="42" idx="3"/>
            <a:endCxn id="44" idx="2"/>
          </p:cNvCxnSpPr>
          <p:nvPr/>
        </p:nvCxnSpPr>
        <p:spPr>
          <a:xfrm flipV="1">
            <a:off x="7710043" y="3547569"/>
            <a:ext cx="238134" cy="38278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0B273302-4A4E-4841-AF30-18BD303D3037}"/>
              </a:ext>
            </a:extLst>
          </p:cNvPr>
          <p:cNvSpPr txBox="1"/>
          <p:nvPr/>
        </p:nvSpPr>
        <p:spPr>
          <a:xfrm>
            <a:off x="6815327" y="3184815"/>
            <a:ext cx="428061" cy="369332"/>
          </a:xfrm>
          <a:prstGeom prst="rect">
            <a:avLst/>
          </a:prstGeom>
          <a:noFill/>
        </p:spPr>
        <p:txBody>
          <a:bodyPr wrap="square" rtlCol="0">
            <a:spAutoFit/>
          </a:bodyPr>
          <a:lstStyle/>
          <a:p>
            <a:r>
              <a:rPr lang="en-US" dirty="0"/>
              <a:t>…</a:t>
            </a:r>
            <a:endParaRPr lang="en-CN" dirty="0"/>
          </a:p>
        </p:txBody>
      </p:sp>
      <p:sp>
        <p:nvSpPr>
          <p:cNvPr id="79" name="TextBox 78">
            <a:extLst>
              <a:ext uri="{FF2B5EF4-FFF2-40B4-BE49-F238E27FC236}">
                <a16:creationId xmlns:a16="http://schemas.microsoft.com/office/drawing/2014/main" id="{37A22199-192E-7E4F-9110-37A3F0CEE7F9}"/>
              </a:ext>
            </a:extLst>
          </p:cNvPr>
          <p:cNvSpPr txBox="1"/>
          <p:nvPr/>
        </p:nvSpPr>
        <p:spPr>
          <a:xfrm>
            <a:off x="2105725" y="3184815"/>
            <a:ext cx="954107" cy="276999"/>
          </a:xfrm>
          <a:prstGeom prst="rect">
            <a:avLst/>
          </a:prstGeom>
          <a:noFill/>
        </p:spPr>
        <p:txBody>
          <a:bodyPr wrap="none" rtlCol="0">
            <a:spAutoFit/>
          </a:bodyPr>
          <a:lstStyle/>
          <a:p>
            <a:r>
              <a:rPr lang="zh-CN" altLang="en-CN" sz="1200" dirty="0"/>
              <a:t>用于</a:t>
            </a:r>
            <a:r>
              <a:rPr lang="zh-CN" altLang="en-US" sz="1200" dirty="0"/>
              <a:t>段清理</a:t>
            </a:r>
            <a:endParaRPr lang="en-CN" sz="1200" dirty="0"/>
          </a:p>
        </p:txBody>
      </p:sp>
      <p:sp>
        <p:nvSpPr>
          <p:cNvPr id="80" name="Right Brace 79">
            <a:extLst>
              <a:ext uri="{FF2B5EF4-FFF2-40B4-BE49-F238E27FC236}">
                <a16:creationId xmlns:a16="http://schemas.microsoft.com/office/drawing/2014/main" id="{849B04C6-C233-CD42-9F62-1E992E6EE725}"/>
              </a:ext>
            </a:extLst>
          </p:cNvPr>
          <p:cNvSpPr/>
          <p:nvPr/>
        </p:nvSpPr>
        <p:spPr>
          <a:xfrm>
            <a:off x="1998834" y="2887864"/>
            <a:ext cx="167965" cy="869691"/>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47" name="Right Brace 46">
            <a:extLst>
              <a:ext uri="{FF2B5EF4-FFF2-40B4-BE49-F238E27FC236}">
                <a16:creationId xmlns:a16="http://schemas.microsoft.com/office/drawing/2014/main" id="{334A2C61-2295-E141-B0AC-7A8F347703D7}"/>
              </a:ext>
            </a:extLst>
          </p:cNvPr>
          <p:cNvSpPr/>
          <p:nvPr/>
        </p:nvSpPr>
        <p:spPr>
          <a:xfrm rot="16200000">
            <a:off x="1346012" y="903623"/>
            <a:ext cx="167965" cy="933309"/>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49" name="TextBox 48">
            <a:extLst>
              <a:ext uri="{FF2B5EF4-FFF2-40B4-BE49-F238E27FC236}">
                <a16:creationId xmlns:a16="http://schemas.microsoft.com/office/drawing/2014/main" id="{78AD8E45-2F4A-164B-B3A6-DA82ED153035}"/>
              </a:ext>
            </a:extLst>
          </p:cNvPr>
          <p:cNvSpPr txBox="1"/>
          <p:nvPr/>
        </p:nvSpPr>
        <p:spPr>
          <a:xfrm>
            <a:off x="811653" y="1017146"/>
            <a:ext cx="1303562" cy="276999"/>
          </a:xfrm>
          <a:prstGeom prst="rect">
            <a:avLst/>
          </a:prstGeom>
          <a:noFill/>
        </p:spPr>
        <p:txBody>
          <a:bodyPr wrap="none" rtlCol="0">
            <a:spAutoFit/>
          </a:bodyPr>
          <a:lstStyle/>
          <a:p>
            <a:r>
              <a:rPr lang="zh-CN" altLang="en-US" sz="1200" dirty="0"/>
              <a:t>保存在固定位置</a:t>
            </a:r>
            <a:endParaRPr lang="en-CN" sz="1200" dirty="0"/>
          </a:p>
        </p:txBody>
      </p:sp>
      <p:sp>
        <p:nvSpPr>
          <p:cNvPr id="50" name="TextBox 49">
            <a:extLst>
              <a:ext uri="{FF2B5EF4-FFF2-40B4-BE49-F238E27FC236}">
                <a16:creationId xmlns:a16="http://schemas.microsoft.com/office/drawing/2014/main" id="{445230A8-C962-C546-8ED2-2E04C54153C6}"/>
              </a:ext>
            </a:extLst>
          </p:cNvPr>
          <p:cNvSpPr txBox="1"/>
          <p:nvPr/>
        </p:nvSpPr>
        <p:spPr>
          <a:xfrm>
            <a:off x="331942" y="1631065"/>
            <a:ext cx="354221" cy="1323439"/>
          </a:xfrm>
          <a:prstGeom prst="rect">
            <a:avLst/>
          </a:prstGeom>
          <a:noFill/>
        </p:spPr>
        <p:txBody>
          <a:bodyPr wrap="square" rtlCol="0">
            <a:spAutoFit/>
          </a:bodyPr>
          <a:lstStyle/>
          <a:p>
            <a:r>
              <a:rPr lang="zh-CN" altLang="en-CN" sz="2000" dirty="0"/>
              <a:t>逻辑</a:t>
            </a:r>
            <a:r>
              <a:rPr lang="zh-CN" altLang="en-US" sz="2000" dirty="0"/>
              <a:t>结构</a:t>
            </a:r>
            <a:endParaRPr lang="en-CN" sz="2000" dirty="0"/>
          </a:p>
        </p:txBody>
      </p:sp>
      <p:sp>
        <p:nvSpPr>
          <p:cNvPr id="52" name="TextBox 51">
            <a:extLst>
              <a:ext uri="{FF2B5EF4-FFF2-40B4-BE49-F238E27FC236}">
                <a16:creationId xmlns:a16="http://schemas.microsoft.com/office/drawing/2014/main" id="{FC0CF3C7-F06A-AB48-A1B9-CC3E46D209FB}"/>
              </a:ext>
            </a:extLst>
          </p:cNvPr>
          <p:cNvSpPr txBox="1"/>
          <p:nvPr/>
        </p:nvSpPr>
        <p:spPr>
          <a:xfrm>
            <a:off x="367002" y="4161072"/>
            <a:ext cx="284100" cy="1323439"/>
          </a:xfrm>
          <a:prstGeom prst="rect">
            <a:avLst/>
          </a:prstGeom>
          <a:noFill/>
        </p:spPr>
        <p:txBody>
          <a:bodyPr wrap="square" rtlCol="0">
            <a:spAutoFit/>
          </a:bodyPr>
          <a:lstStyle/>
          <a:p>
            <a:r>
              <a:rPr lang="zh-CN" altLang="en-US" sz="2000" dirty="0"/>
              <a:t>存储结构</a:t>
            </a:r>
            <a:endParaRPr lang="en-CN" sz="2000" dirty="0"/>
          </a:p>
        </p:txBody>
      </p:sp>
    </p:spTree>
    <p:extLst>
      <p:ext uri="{BB962C8B-B14F-4D97-AF65-F5344CB8AC3E}">
        <p14:creationId xmlns:p14="http://schemas.microsoft.com/office/powerpoint/2010/main" val="26627702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265B5F-E8D0-9B4B-8BB0-FFF98707AFC9}"/>
              </a:ext>
            </a:extLst>
          </p:cNvPr>
          <p:cNvSpPr/>
          <p:nvPr/>
        </p:nvSpPr>
        <p:spPr>
          <a:xfrm>
            <a:off x="1249134" y="4785990"/>
            <a:ext cx="6435948" cy="360000"/>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 name="Title 1">
            <a:extLst>
              <a:ext uri="{FF2B5EF4-FFF2-40B4-BE49-F238E27FC236}">
                <a16:creationId xmlns:a16="http://schemas.microsoft.com/office/drawing/2014/main" id="{04AA801F-C21B-904D-B19B-F50F0A7BCF45}"/>
              </a:ext>
            </a:extLst>
          </p:cNvPr>
          <p:cNvSpPr>
            <a:spLocks noGrp="1"/>
          </p:cNvSpPr>
          <p:nvPr>
            <p:ph type="title"/>
          </p:nvPr>
        </p:nvSpPr>
        <p:spPr/>
        <p:txBody>
          <a:bodyPr>
            <a:normAutofit/>
          </a:bodyPr>
          <a:lstStyle/>
          <a:p>
            <a:r>
              <a:rPr lang="en-US" altLang="zh-CN" dirty="0"/>
              <a:t>LFS</a:t>
            </a:r>
            <a:r>
              <a:rPr lang="zh-CN" altLang="en-US" dirty="0"/>
              <a:t>的问题</a:t>
            </a:r>
            <a:r>
              <a:rPr lang="en-US" altLang="zh-CN" dirty="0"/>
              <a:t>-1</a:t>
            </a:r>
            <a:r>
              <a:rPr lang="zh-CN" altLang="en-US" dirty="0"/>
              <a:t>：递归更新问题</a:t>
            </a:r>
            <a:endParaRPr lang="en-CN" dirty="0"/>
          </a:p>
        </p:txBody>
      </p:sp>
      <p:sp>
        <p:nvSpPr>
          <p:cNvPr id="4" name="Slide Number Placeholder 3">
            <a:extLst>
              <a:ext uri="{FF2B5EF4-FFF2-40B4-BE49-F238E27FC236}">
                <a16:creationId xmlns:a16="http://schemas.microsoft.com/office/drawing/2014/main" id="{29635DD5-5238-954F-AA1D-0B15F66DB369}"/>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
        <p:nvSpPr>
          <p:cNvPr id="5" name="Footer Placeholder 4">
            <a:extLst>
              <a:ext uri="{FF2B5EF4-FFF2-40B4-BE49-F238E27FC236}">
                <a16:creationId xmlns:a16="http://schemas.microsoft.com/office/drawing/2014/main" id="{219D56D5-E01E-584F-BDA4-4A95035763D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Rectangle 8">
            <a:extLst>
              <a:ext uri="{FF2B5EF4-FFF2-40B4-BE49-F238E27FC236}">
                <a16:creationId xmlns:a16="http://schemas.microsoft.com/office/drawing/2014/main" id="{481DD187-7A04-924A-88CE-EC24085D9896}"/>
              </a:ext>
            </a:extLst>
          </p:cNvPr>
          <p:cNvSpPr/>
          <p:nvPr/>
        </p:nvSpPr>
        <p:spPr>
          <a:xfrm>
            <a:off x="14576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SB</a:t>
            </a:r>
          </a:p>
        </p:txBody>
      </p:sp>
      <p:sp>
        <p:nvSpPr>
          <p:cNvPr id="10" name="Rectangle 9">
            <a:extLst>
              <a:ext uri="{FF2B5EF4-FFF2-40B4-BE49-F238E27FC236}">
                <a16:creationId xmlns:a16="http://schemas.microsoft.com/office/drawing/2014/main" id="{234A33EC-B566-C04E-B991-752EFCE381FB}"/>
              </a:ext>
            </a:extLst>
          </p:cNvPr>
          <p:cNvSpPr/>
          <p:nvPr/>
        </p:nvSpPr>
        <p:spPr>
          <a:xfrm>
            <a:off x="17417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4" name="Rectangle 13">
            <a:extLst>
              <a:ext uri="{FF2B5EF4-FFF2-40B4-BE49-F238E27FC236}">
                <a16:creationId xmlns:a16="http://schemas.microsoft.com/office/drawing/2014/main" id="{6E071324-7B69-9744-A3AA-B557FD8A43C8}"/>
              </a:ext>
            </a:extLst>
          </p:cNvPr>
          <p:cNvSpPr/>
          <p:nvPr/>
        </p:nvSpPr>
        <p:spPr>
          <a:xfrm>
            <a:off x="2874661"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5" name="Rectangle 14">
            <a:extLst>
              <a:ext uri="{FF2B5EF4-FFF2-40B4-BE49-F238E27FC236}">
                <a16:creationId xmlns:a16="http://schemas.microsoft.com/office/drawing/2014/main" id="{A5A7ED0E-B78C-414B-9434-CB86EAA92D2B}"/>
              </a:ext>
            </a:extLst>
          </p:cNvPr>
          <p:cNvSpPr/>
          <p:nvPr/>
        </p:nvSpPr>
        <p:spPr>
          <a:xfrm>
            <a:off x="3157288" y="4785990"/>
            <a:ext cx="284100" cy="36000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6" name="Rectangle 15">
            <a:extLst>
              <a:ext uri="{FF2B5EF4-FFF2-40B4-BE49-F238E27FC236}">
                <a16:creationId xmlns:a16="http://schemas.microsoft.com/office/drawing/2014/main" id="{75D016D2-BDBC-004F-85CF-DE5499846E97}"/>
              </a:ext>
            </a:extLst>
          </p:cNvPr>
          <p:cNvSpPr/>
          <p:nvPr/>
        </p:nvSpPr>
        <p:spPr>
          <a:xfrm>
            <a:off x="3439915" y="4785990"/>
            <a:ext cx="185483"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7" name="Rectangle 16">
            <a:extLst>
              <a:ext uri="{FF2B5EF4-FFF2-40B4-BE49-F238E27FC236}">
                <a16:creationId xmlns:a16="http://schemas.microsoft.com/office/drawing/2014/main" id="{E16DFE47-FF32-D34B-B6BC-EE4D68469DA0}"/>
              </a:ext>
            </a:extLst>
          </p:cNvPr>
          <p:cNvSpPr/>
          <p:nvPr/>
        </p:nvSpPr>
        <p:spPr>
          <a:xfrm>
            <a:off x="4191320" y="4785990"/>
            <a:ext cx="146031"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8" name="Rectangle 17">
            <a:extLst>
              <a:ext uri="{FF2B5EF4-FFF2-40B4-BE49-F238E27FC236}">
                <a16:creationId xmlns:a16="http://schemas.microsoft.com/office/drawing/2014/main" id="{E41776D0-E41D-D949-9A98-1BBB02569D5C}"/>
              </a:ext>
            </a:extLst>
          </p:cNvPr>
          <p:cNvSpPr/>
          <p:nvPr/>
        </p:nvSpPr>
        <p:spPr>
          <a:xfrm>
            <a:off x="3625398" y="4785990"/>
            <a:ext cx="284100" cy="360000"/>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9" name="Rectangle 18">
            <a:extLst>
              <a:ext uri="{FF2B5EF4-FFF2-40B4-BE49-F238E27FC236}">
                <a16:creationId xmlns:a16="http://schemas.microsoft.com/office/drawing/2014/main" id="{F80BB814-B838-D94B-85BA-DD5EBCA25B94}"/>
              </a:ext>
            </a:extLst>
          </p:cNvPr>
          <p:cNvSpPr/>
          <p:nvPr/>
        </p:nvSpPr>
        <p:spPr>
          <a:xfrm>
            <a:off x="3908025"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20" name="Rectangle 19">
            <a:extLst>
              <a:ext uri="{FF2B5EF4-FFF2-40B4-BE49-F238E27FC236}">
                <a16:creationId xmlns:a16="http://schemas.microsoft.com/office/drawing/2014/main" id="{837910C3-C981-CB43-9299-479EEBF512B2}"/>
              </a:ext>
            </a:extLst>
          </p:cNvPr>
          <p:cNvSpPr/>
          <p:nvPr/>
        </p:nvSpPr>
        <p:spPr>
          <a:xfrm>
            <a:off x="4337351"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1" name="Rectangle 20">
            <a:extLst>
              <a:ext uri="{FF2B5EF4-FFF2-40B4-BE49-F238E27FC236}">
                <a16:creationId xmlns:a16="http://schemas.microsoft.com/office/drawing/2014/main" id="{0A9BB4F2-F16A-0246-B396-F25B7E09DA5D}"/>
              </a:ext>
            </a:extLst>
          </p:cNvPr>
          <p:cNvSpPr/>
          <p:nvPr/>
        </p:nvSpPr>
        <p:spPr>
          <a:xfrm>
            <a:off x="4621381" y="4785990"/>
            <a:ext cx="156145"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2" name="Rectangle 21">
            <a:extLst>
              <a:ext uri="{FF2B5EF4-FFF2-40B4-BE49-F238E27FC236}">
                <a16:creationId xmlns:a16="http://schemas.microsoft.com/office/drawing/2014/main" id="{970D0D23-F3D0-7247-84CE-3EB8FC0F5754}"/>
              </a:ext>
            </a:extLst>
          </p:cNvPr>
          <p:cNvSpPr/>
          <p:nvPr/>
        </p:nvSpPr>
        <p:spPr>
          <a:xfrm>
            <a:off x="4777526"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24" name="Rectangle 23">
            <a:extLst>
              <a:ext uri="{FF2B5EF4-FFF2-40B4-BE49-F238E27FC236}">
                <a16:creationId xmlns:a16="http://schemas.microsoft.com/office/drawing/2014/main" id="{E6D0BDA5-4DD0-0141-9581-BD934E869EF6}"/>
              </a:ext>
            </a:extLst>
          </p:cNvPr>
          <p:cNvSpPr/>
          <p:nvPr/>
        </p:nvSpPr>
        <p:spPr>
          <a:xfrm>
            <a:off x="5060529" y="4785990"/>
            <a:ext cx="284100" cy="360000"/>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31" name="Right Arrow 30">
            <a:extLst>
              <a:ext uri="{FF2B5EF4-FFF2-40B4-BE49-F238E27FC236}">
                <a16:creationId xmlns:a16="http://schemas.microsoft.com/office/drawing/2014/main" id="{5384B7E3-ED2C-B143-8B5B-A13F4D6D75F3}"/>
              </a:ext>
            </a:extLst>
          </p:cNvPr>
          <p:cNvSpPr/>
          <p:nvPr/>
        </p:nvSpPr>
        <p:spPr>
          <a:xfrm>
            <a:off x="2908477" y="4904952"/>
            <a:ext cx="2808312"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33" name="Rectangle 32">
            <a:extLst>
              <a:ext uri="{FF2B5EF4-FFF2-40B4-BE49-F238E27FC236}">
                <a16:creationId xmlns:a16="http://schemas.microsoft.com/office/drawing/2014/main" id="{03934CEA-E1FA-0A49-883A-B4D52CEAFAA2}"/>
              </a:ext>
            </a:extLst>
          </p:cNvPr>
          <p:cNvSpPr/>
          <p:nvPr/>
        </p:nvSpPr>
        <p:spPr>
          <a:xfrm>
            <a:off x="963340"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超级块</a:t>
            </a:r>
            <a:endParaRPr lang="en-CN" sz="1000" dirty="0"/>
          </a:p>
        </p:txBody>
      </p:sp>
      <p:sp>
        <p:nvSpPr>
          <p:cNvPr id="34" name="Rectangle 33">
            <a:extLst>
              <a:ext uri="{FF2B5EF4-FFF2-40B4-BE49-F238E27FC236}">
                <a16:creationId xmlns:a16="http://schemas.microsoft.com/office/drawing/2014/main" id="{30D70729-9C16-DF4D-B077-3EFA2A00E87D}"/>
              </a:ext>
            </a:extLst>
          </p:cNvPr>
          <p:cNvSpPr/>
          <p:nvPr/>
        </p:nvSpPr>
        <p:spPr>
          <a:xfrm>
            <a:off x="1463843"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检查点</a:t>
            </a:r>
            <a:endParaRPr lang="en-CN" sz="1000" dirty="0"/>
          </a:p>
        </p:txBody>
      </p:sp>
      <p:sp>
        <p:nvSpPr>
          <p:cNvPr id="35" name="Rectangle 34">
            <a:extLst>
              <a:ext uri="{FF2B5EF4-FFF2-40B4-BE49-F238E27FC236}">
                <a16:creationId xmlns:a16="http://schemas.microsoft.com/office/drawing/2014/main" id="{AC1AA524-9DDD-3E4A-8026-8D13EB0BF4E9}"/>
              </a:ext>
            </a:extLst>
          </p:cNvPr>
          <p:cNvSpPr/>
          <p:nvPr/>
        </p:nvSpPr>
        <p:spPr>
          <a:xfrm>
            <a:off x="997188" y="2887865"/>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段使用表</a:t>
            </a:r>
            <a:endParaRPr lang="en-CN" sz="1000" dirty="0"/>
          </a:p>
        </p:txBody>
      </p:sp>
      <p:sp>
        <p:nvSpPr>
          <p:cNvPr id="36" name="Rectangle 35">
            <a:extLst>
              <a:ext uri="{FF2B5EF4-FFF2-40B4-BE49-F238E27FC236}">
                <a16:creationId xmlns:a16="http://schemas.microsoft.com/office/drawing/2014/main" id="{1660AFEA-57A9-B448-B44B-8F439D7ED339}"/>
              </a:ext>
            </a:extLst>
          </p:cNvPr>
          <p:cNvSpPr/>
          <p:nvPr/>
        </p:nvSpPr>
        <p:spPr>
          <a:xfrm>
            <a:off x="997188" y="3373453"/>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t>段概要</a:t>
            </a:r>
            <a:endParaRPr lang="en-CN" sz="1000" dirty="0"/>
          </a:p>
        </p:txBody>
      </p:sp>
      <p:sp>
        <p:nvSpPr>
          <p:cNvPr id="37" name="Rectangle 36">
            <a:extLst>
              <a:ext uri="{FF2B5EF4-FFF2-40B4-BE49-F238E27FC236}">
                <a16:creationId xmlns:a16="http://schemas.microsoft.com/office/drawing/2014/main" id="{3B7BA522-C109-C84E-8D7E-B5B7A7374F8F}"/>
              </a:ext>
            </a:extLst>
          </p:cNvPr>
          <p:cNvSpPr/>
          <p:nvPr/>
        </p:nvSpPr>
        <p:spPr>
          <a:xfrm>
            <a:off x="2445096" y="1947181"/>
            <a:ext cx="933309" cy="345604"/>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err="1">
                <a:solidFill>
                  <a:sysClr val="windowText" lastClr="000000"/>
                </a:solidFill>
              </a:rPr>
              <a:t>inode</a:t>
            </a:r>
            <a:r>
              <a:rPr lang="zh-CN" altLang="en-US" sz="1000" dirty="0">
                <a:solidFill>
                  <a:sysClr val="windowText" lastClr="000000"/>
                </a:solidFill>
              </a:rPr>
              <a:t> </a:t>
            </a:r>
            <a:r>
              <a:rPr lang="en-US" altLang="zh-CN" sz="1000" dirty="0">
                <a:solidFill>
                  <a:sysClr val="windowText" lastClr="000000"/>
                </a:solidFill>
              </a:rPr>
              <a:t>map</a:t>
            </a:r>
            <a:endParaRPr lang="en-CN" sz="1000" dirty="0">
              <a:solidFill>
                <a:sysClr val="windowText" lastClr="000000"/>
              </a:solidFill>
            </a:endParaRPr>
          </a:p>
        </p:txBody>
      </p:sp>
      <p:sp>
        <p:nvSpPr>
          <p:cNvPr id="38" name="Rectangle 37">
            <a:extLst>
              <a:ext uri="{FF2B5EF4-FFF2-40B4-BE49-F238E27FC236}">
                <a16:creationId xmlns:a16="http://schemas.microsoft.com/office/drawing/2014/main" id="{5663CC65-3A6E-B14A-AE33-FDC44C60434D}"/>
              </a:ext>
            </a:extLst>
          </p:cNvPr>
          <p:cNvSpPr/>
          <p:nvPr/>
        </p:nvSpPr>
        <p:spPr>
          <a:xfrm>
            <a:off x="4000453" y="2226928"/>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目录</a:t>
            </a:r>
            <a:endParaRPr lang="en-US" altLang="zh-CN" sz="1000" dirty="0"/>
          </a:p>
          <a:p>
            <a:pPr algn="ctr"/>
            <a:r>
              <a:rPr lang="en-US" altLang="zh-CN" sz="1000" dirty="0" err="1"/>
              <a:t>inode</a:t>
            </a:r>
            <a:endParaRPr lang="en-CN" sz="1000" dirty="0"/>
          </a:p>
        </p:txBody>
      </p:sp>
      <p:sp>
        <p:nvSpPr>
          <p:cNvPr id="39" name="Rectangle 38">
            <a:extLst>
              <a:ext uri="{FF2B5EF4-FFF2-40B4-BE49-F238E27FC236}">
                <a16:creationId xmlns:a16="http://schemas.microsoft.com/office/drawing/2014/main" id="{29A78A4F-7661-4041-8453-8422DD84399F}"/>
              </a:ext>
            </a:extLst>
          </p:cNvPr>
          <p:cNvSpPr/>
          <p:nvPr/>
        </p:nvSpPr>
        <p:spPr>
          <a:xfrm>
            <a:off x="4000453" y="2839212"/>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常规文件</a:t>
            </a:r>
            <a:r>
              <a:rPr lang="en-US" altLang="zh-CN" sz="1000" dirty="0" err="1"/>
              <a:t>inode</a:t>
            </a:r>
            <a:endParaRPr lang="en-CN" sz="1000" dirty="0"/>
          </a:p>
        </p:txBody>
      </p:sp>
      <p:sp>
        <p:nvSpPr>
          <p:cNvPr id="40" name="Rectangle 39">
            <a:extLst>
              <a:ext uri="{FF2B5EF4-FFF2-40B4-BE49-F238E27FC236}">
                <a16:creationId xmlns:a16="http://schemas.microsoft.com/office/drawing/2014/main" id="{EEFED4E3-A7F9-4F4F-A11E-A2E76A541DB8}"/>
              </a:ext>
            </a:extLst>
          </p:cNvPr>
          <p:cNvSpPr/>
          <p:nvPr/>
        </p:nvSpPr>
        <p:spPr>
          <a:xfrm>
            <a:off x="5655279" y="2471680"/>
            <a:ext cx="933309" cy="345604"/>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目录数据</a:t>
            </a:r>
            <a:endParaRPr lang="en-CN" sz="1000" dirty="0"/>
          </a:p>
        </p:txBody>
      </p:sp>
      <p:sp>
        <p:nvSpPr>
          <p:cNvPr id="41" name="Rectangle 40">
            <a:extLst>
              <a:ext uri="{FF2B5EF4-FFF2-40B4-BE49-F238E27FC236}">
                <a16:creationId xmlns:a16="http://schemas.microsoft.com/office/drawing/2014/main" id="{B957CB33-91E4-6546-9ADE-83EB07781A29}"/>
              </a:ext>
            </a:extLst>
          </p:cNvPr>
          <p:cNvSpPr/>
          <p:nvPr/>
        </p:nvSpPr>
        <p:spPr>
          <a:xfrm>
            <a:off x="5655280" y="3184816"/>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42" name="Rectangle 41">
            <a:extLst>
              <a:ext uri="{FF2B5EF4-FFF2-40B4-BE49-F238E27FC236}">
                <a16:creationId xmlns:a16="http://schemas.microsoft.com/office/drawing/2014/main" id="{B5083F75-75F6-9E4A-A0F5-CD2929CDF635}"/>
              </a:ext>
            </a:extLst>
          </p:cNvPr>
          <p:cNvSpPr/>
          <p:nvPr/>
        </p:nvSpPr>
        <p:spPr>
          <a:xfrm>
            <a:off x="6776734" y="3757556"/>
            <a:ext cx="933309" cy="34560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索引块</a:t>
            </a:r>
            <a:endParaRPr lang="en-CN" sz="1000" dirty="0">
              <a:solidFill>
                <a:sysClr val="windowText" lastClr="000000"/>
              </a:solidFill>
            </a:endParaRPr>
          </a:p>
        </p:txBody>
      </p:sp>
      <p:sp>
        <p:nvSpPr>
          <p:cNvPr id="43" name="Rectangle 42">
            <a:extLst>
              <a:ext uri="{FF2B5EF4-FFF2-40B4-BE49-F238E27FC236}">
                <a16:creationId xmlns:a16="http://schemas.microsoft.com/office/drawing/2014/main" id="{8D4BC379-3842-CA47-ADBC-93D3CBD5BB3D}"/>
              </a:ext>
            </a:extLst>
          </p:cNvPr>
          <p:cNvSpPr/>
          <p:nvPr/>
        </p:nvSpPr>
        <p:spPr>
          <a:xfrm>
            <a:off x="4826872" y="3757664"/>
            <a:ext cx="933309" cy="345604"/>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二级索引块</a:t>
            </a:r>
            <a:endParaRPr lang="en-CN" sz="1000" dirty="0">
              <a:solidFill>
                <a:sysClr val="windowText" lastClr="000000"/>
              </a:solidFill>
            </a:endParaRPr>
          </a:p>
        </p:txBody>
      </p:sp>
      <p:sp>
        <p:nvSpPr>
          <p:cNvPr id="44" name="Rectangle 43">
            <a:extLst>
              <a:ext uri="{FF2B5EF4-FFF2-40B4-BE49-F238E27FC236}">
                <a16:creationId xmlns:a16="http://schemas.microsoft.com/office/drawing/2014/main" id="{AFDEF791-0082-1645-8BCE-8AE568AD370A}"/>
              </a:ext>
            </a:extLst>
          </p:cNvPr>
          <p:cNvSpPr/>
          <p:nvPr/>
        </p:nvSpPr>
        <p:spPr>
          <a:xfrm>
            <a:off x="7481522" y="3201965"/>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cxnSp>
        <p:nvCxnSpPr>
          <p:cNvPr id="46" name="Elbow Connector 45">
            <a:extLst>
              <a:ext uri="{FF2B5EF4-FFF2-40B4-BE49-F238E27FC236}">
                <a16:creationId xmlns:a16="http://schemas.microsoft.com/office/drawing/2014/main" id="{6C34F0D1-6A0D-7349-878A-CF2D39C30094}"/>
              </a:ext>
            </a:extLst>
          </p:cNvPr>
          <p:cNvCxnSpPr>
            <a:stCxn id="34" idx="3"/>
            <a:endCxn id="37" idx="0"/>
          </p:cNvCxnSpPr>
          <p:nvPr/>
        </p:nvCxnSpPr>
        <p:spPr>
          <a:xfrm>
            <a:off x="1896649" y="1741376"/>
            <a:ext cx="1015102" cy="20580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8" name="Elbow Connector 47">
            <a:extLst>
              <a:ext uri="{FF2B5EF4-FFF2-40B4-BE49-F238E27FC236}">
                <a16:creationId xmlns:a16="http://schemas.microsoft.com/office/drawing/2014/main" id="{E4CD613D-B629-7948-ACDB-AA9721336B44}"/>
              </a:ext>
            </a:extLst>
          </p:cNvPr>
          <p:cNvCxnSpPr>
            <a:cxnSpLocks/>
            <a:stCxn id="34" idx="2"/>
            <a:endCxn id="35" idx="0"/>
          </p:cNvCxnSpPr>
          <p:nvPr/>
        </p:nvCxnSpPr>
        <p:spPr>
          <a:xfrm rot="5400000">
            <a:off x="1124815" y="2332433"/>
            <a:ext cx="894461" cy="2164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1" name="Elbow Connector 50">
            <a:extLst>
              <a:ext uri="{FF2B5EF4-FFF2-40B4-BE49-F238E27FC236}">
                <a16:creationId xmlns:a16="http://schemas.microsoft.com/office/drawing/2014/main" id="{40265B92-DAB0-A247-A15C-84CDD230CBA6}"/>
              </a:ext>
            </a:extLst>
          </p:cNvPr>
          <p:cNvCxnSpPr>
            <a:cxnSpLocks/>
            <a:stCxn id="37" idx="3"/>
            <a:endCxn id="38" idx="1"/>
          </p:cNvCxnSpPr>
          <p:nvPr/>
        </p:nvCxnSpPr>
        <p:spPr>
          <a:xfrm>
            <a:off x="3378405" y="2119983"/>
            <a:ext cx="622048" cy="27974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5" name="Elbow Connector 54">
            <a:extLst>
              <a:ext uri="{FF2B5EF4-FFF2-40B4-BE49-F238E27FC236}">
                <a16:creationId xmlns:a16="http://schemas.microsoft.com/office/drawing/2014/main" id="{F524F4DB-A289-A14E-995E-94A83CE1166F}"/>
              </a:ext>
            </a:extLst>
          </p:cNvPr>
          <p:cNvCxnSpPr>
            <a:cxnSpLocks/>
            <a:stCxn id="37" idx="3"/>
            <a:endCxn id="39" idx="1"/>
          </p:cNvCxnSpPr>
          <p:nvPr/>
        </p:nvCxnSpPr>
        <p:spPr>
          <a:xfrm>
            <a:off x="3378405" y="2119983"/>
            <a:ext cx="622048" cy="89203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9" name="Elbow Connector 58">
            <a:extLst>
              <a:ext uri="{FF2B5EF4-FFF2-40B4-BE49-F238E27FC236}">
                <a16:creationId xmlns:a16="http://schemas.microsoft.com/office/drawing/2014/main" id="{83022C20-C7D5-9143-8E60-63FDF125E3A2}"/>
              </a:ext>
            </a:extLst>
          </p:cNvPr>
          <p:cNvCxnSpPr>
            <a:cxnSpLocks/>
            <a:stCxn id="38" idx="3"/>
            <a:endCxn id="40" idx="1"/>
          </p:cNvCxnSpPr>
          <p:nvPr/>
        </p:nvCxnSpPr>
        <p:spPr>
          <a:xfrm>
            <a:off x="4933762" y="2399730"/>
            <a:ext cx="721517" cy="2447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Elbow Connector 62">
            <a:extLst>
              <a:ext uri="{FF2B5EF4-FFF2-40B4-BE49-F238E27FC236}">
                <a16:creationId xmlns:a16="http://schemas.microsoft.com/office/drawing/2014/main" id="{B98E09AD-0E97-3E4D-9E74-332DF949EA1E}"/>
              </a:ext>
            </a:extLst>
          </p:cNvPr>
          <p:cNvCxnSpPr>
            <a:cxnSpLocks/>
            <a:stCxn id="39" idx="3"/>
            <a:endCxn id="41" idx="1"/>
          </p:cNvCxnSpPr>
          <p:nvPr/>
        </p:nvCxnSpPr>
        <p:spPr>
          <a:xfrm>
            <a:off x="4933762" y="3012014"/>
            <a:ext cx="721518" cy="34560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6" name="Elbow Connector 65">
            <a:extLst>
              <a:ext uri="{FF2B5EF4-FFF2-40B4-BE49-F238E27FC236}">
                <a16:creationId xmlns:a16="http://schemas.microsoft.com/office/drawing/2014/main" id="{A8BFD7C2-C92A-CF42-B964-4D8B338E82F5}"/>
              </a:ext>
            </a:extLst>
          </p:cNvPr>
          <p:cNvCxnSpPr>
            <a:cxnSpLocks/>
            <a:stCxn id="39" idx="2"/>
            <a:endCxn id="43" idx="1"/>
          </p:cNvCxnSpPr>
          <p:nvPr/>
        </p:nvCxnSpPr>
        <p:spPr>
          <a:xfrm rot="16200000" flipH="1">
            <a:off x="4274165" y="3377759"/>
            <a:ext cx="745650" cy="35976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0" name="Elbow Connector 69">
            <a:extLst>
              <a:ext uri="{FF2B5EF4-FFF2-40B4-BE49-F238E27FC236}">
                <a16:creationId xmlns:a16="http://schemas.microsoft.com/office/drawing/2014/main" id="{69361DFE-FC58-BD4C-B43B-D4827874AD6B}"/>
              </a:ext>
            </a:extLst>
          </p:cNvPr>
          <p:cNvCxnSpPr>
            <a:cxnSpLocks/>
            <a:stCxn id="43" idx="3"/>
            <a:endCxn id="42" idx="1"/>
          </p:cNvCxnSpPr>
          <p:nvPr/>
        </p:nvCxnSpPr>
        <p:spPr>
          <a:xfrm flipV="1">
            <a:off x="5760181" y="3930358"/>
            <a:ext cx="1016553" cy="1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5" name="Elbow Connector 74">
            <a:extLst>
              <a:ext uri="{FF2B5EF4-FFF2-40B4-BE49-F238E27FC236}">
                <a16:creationId xmlns:a16="http://schemas.microsoft.com/office/drawing/2014/main" id="{CF118D76-4BB7-0147-8C2C-0E03067F3492}"/>
              </a:ext>
            </a:extLst>
          </p:cNvPr>
          <p:cNvCxnSpPr>
            <a:cxnSpLocks/>
            <a:stCxn id="42" idx="3"/>
            <a:endCxn id="44" idx="2"/>
          </p:cNvCxnSpPr>
          <p:nvPr/>
        </p:nvCxnSpPr>
        <p:spPr>
          <a:xfrm flipV="1">
            <a:off x="7710043" y="3547569"/>
            <a:ext cx="238134" cy="38278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0B273302-4A4E-4841-AF30-18BD303D3037}"/>
              </a:ext>
            </a:extLst>
          </p:cNvPr>
          <p:cNvSpPr txBox="1"/>
          <p:nvPr/>
        </p:nvSpPr>
        <p:spPr>
          <a:xfrm>
            <a:off x="6815327" y="3184815"/>
            <a:ext cx="428061" cy="369332"/>
          </a:xfrm>
          <a:prstGeom prst="rect">
            <a:avLst/>
          </a:prstGeom>
          <a:noFill/>
        </p:spPr>
        <p:txBody>
          <a:bodyPr wrap="square" rtlCol="0">
            <a:spAutoFit/>
          </a:bodyPr>
          <a:lstStyle/>
          <a:p>
            <a:r>
              <a:rPr lang="en-US" dirty="0"/>
              <a:t>…</a:t>
            </a:r>
            <a:endParaRPr lang="en-CN" dirty="0"/>
          </a:p>
        </p:txBody>
      </p:sp>
      <p:sp>
        <p:nvSpPr>
          <p:cNvPr id="79" name="TextBox 78">
            <a:extLst>
              <a:ext uri="{FF2B5EF4-FFF2-40B4-BE49-F238E27FC236}">
                <a16:creationId xmlns:a16="http://schemas.microsoft.com/office/drawing/2014/main" id="{37A22199-192E-7E4F-9110-37A3F0CEE7F9}"/>
              </a:ext>
            </a:extLst>
          </p:cNvPr>
          <p:cNvSpPr txBox="1"/>
          <p:nvPr/>
        </p:nvSpPr>
        <p:spPr>
          <a:xfrm>
            <a:off x="2105725" y="3184815"/>
            <a:ext cx="954107" cy="276999"/>
          </a:xfrm>
          <a:prstGeom prst="rect">
            <a:avLst/>
          </a:prstGeom>
          <a:noFill/>
        </p:spPr>
        <p:txBody>
          <a:bodyPr wrap="none" rtlCol="0">
            <a:spAutoFit/>
          </a:bodyPr>
          <a:lstStyle/>
          <a:p>
            <a:r>
              <a:rPr lang="zh-CN" altLang="en-CN" sz="1200" dirty="0"/>
              <a:t>用于</a:t>
            </a:r>
            <a:r>
              <a:rPr lang="zh-CN" altLang="en-US" sz="1200" dirty="0"/>
              <a:t>段清理</a:t>
            </a:r>
            <a:endParaRPr lang="en-CN" sz="1200" dirty="0"/>
          </a:p>
        </p:txBody>
      </p:sp>
      <p:sp>
        <p:nvSpPr>
          <p:cNvPr id="80" name="Right Brace 79">
            <a:extLst>
              <a:ext uri="{FF2B5EF4-FFF2-40B4-BE49-F238E27FC236}">
                <a16:creationId xmlns:a16="http://schemas.microsoft.com/office/drawing/2014/main" id="{849B04C6-C233-CD42-9F62-1E992E6EE725}"/>
              </a:ext>
            </a:extLst>
          </p:cNvPr>
          <p:cNvSpPr/>
          <p:nvPr/>
        </p:nvSpPr>
        <p:spPr>
          <a:xfrm>
            <a:off x="1998834" y="2887864"/>
            <a:ext cx="167965" cy="869691"/>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3" name="TextBox 2">
            <a:extLst>
              <a:ext uri="{FF2B5EF4-FFF2-40B4-BE49-F238E27FC236}">
                <a16:creationId xmlns:a16="http://schemas.microsoft.com/office/drawing/2014/main" id="{2591972C-318E-6B4B-A838-98792BEF80BC}"/>
              </a:ext>
            </a:extLst>
          </p:cNvPr>
          <p:cNvSpPr txBox="1"/>
          <p:nvPr/>
        </p:nvSpPr>
        <p:spPr>
          <a:xfrm>
            <a:off x="7522704" y="2210211"/>
            <a:ext cx="1441420" cy="307777"/>
          </a:xfrm>
          <a:prstGeom prst="rect">
            <a:avLst/>
          </a:prstGeom>
          <a:noFill/>
        </p:spPr>
        <p:txBody>
          <a:bodyPr wrap="none" rtlCol="0">
            <a:spAutoFit/>
          </a:bodyPr>
          <a:lstStyle/>
          <a:p>
            <a:r>
              <a:rPr lang="zh-CN" altLang="en-CN" sz="1400" b="1" dirty="0">
                <a:solidFill>
                  <a:srgbClr val="C00000"/>
                </a:solidFill>
              </a:rPr>
              <a:t>修改</a:t>
            </a:r>
            <a:r>
              <a:rPr lang="zh-CN" altLang="en-US" sz="1400" b="1" dirty="0">
                <a:solidFill>
                  <a:srgbClr val="C00000"/>
                </a:solidFill>
              </a:rPr>
              <a:t>一小块数据</a:t>
            </a:r>
            <a:endParaRPr lang="en-CN" sz="1400" b="1" dirty="0">
              <a:solidFill>
                <a:srgbClr val="C00000"/>
              </a:solidFill>
            </a:endParaRPr>
          </a:p>
        </p:txBody>
      </p:sp>
      <p:cxnSp>
        <p:nvCxnSpPr>
          <p:cNvPr id="8" name="Straight Arrow Connector 7">
            <a:extLst>
              <a:ext uri="{FF2B5EF4-FFF2-40B4-BE49-F238E27FC236}">
                <a16:creationId xmlns:a16="http://schemas.microsoft.com/office/drawing/2014/main" id="{07532D6E-9D66-C145-A60C-0EA1E5540FC2}"/>
              </a:ext>
            </a:extLst>
          </p:cNvPr>
          <p:cNvCxnSpPr>
            <a:stCxn id="3" idx="2"/>
            <a:endCxn id="44" idx="0"/>
          </p:cNvCxnSpPr>
          <p:nvPr/>
        </p:nvCxnSpPr>
        <p:spPr>
          <a:xfrm flipH="1">
            <a:off x="7948177" y="2517988"/>
            <a:ext cx="295237" cy="683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ight Brace 46">
            <a:extLst>
              <a:ext uri="{FF2B5EF4-FFF2-40B4-BE49-F238E27FC236}">
                <a16:creationId xmlns:a16="http://schemas.microsoft.com/office/drawing/2014/main" id="{7EA20835-CFB5-9B4D-8114-B6E9F1522A9B}"/>
              </a:ext>
            </a:extLst>
          </p:cNvPr>
          <p:cNvSpPr/>
          <p:nvPr/>
        </p:nvSpPr>
        <p:spPr>
          <a:xfrm rot="16200000">
            <a:off x="1346012" y="903623"/>
            <a:ext cx="167965" cy="933309"/>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49" name="TextBox 48">
            <a:extLst>
              <a:ext uri="{FF2B5EF4-FFF2-40B4-BE49-F238E27FC236}">
                <a16:creationId xmlns:a16="http://schemas.microsoft.com/office/drawing/2014/main" id="{C6B5A825-336A-6F45-94B9-168F958D59E9}"/>
              </a:ext>
            </a:extLst>
          </p:cNvPr>
          <p:cNvSpPr txBox="1"/>
          <p:nvPr/>
        </p:nvSpPr>
        <p:spPr>
          <a:xfrm>
            <a:off x="811653" y="1017146"/>
            <a:ext cx="1303562" cy="276999"/>
          </a:xfrm>
          <a:prstGeom prst="rect">
            <a:avLst/>
          </a:prstGeom>
          <a:noFill/>
        </p:spPr>
        <p:txBody>
          <a:bodyPr wrap="none" rtlCol="0">
            <a:spAutoFit/>
          </a:bodyPr>
          <a:lstStyle/>
          <a:p>
            <a:r>
              <a:rPr lang="zh-CN" altLang="en-US" sz="1200" dirty="0"/>
              <a:t>保存在固定位置</a:t>
            </a:r>
            <a:endParaRPr lang="en-CN" sz="1200" dirty="0"/>
          </a:p>
        </p:txBody>
      </p:sp>
      <p:sp>
        <p:nvSpPr>
          <p:cNvPr id="52" name="TextBox 51">
            <a:extLst>
              <a:ext uri="{FF2B5EF4-FFF2-40B4-BE49-F238E27FC236}">
                <a16:creationId xmlns:a16="http://schemas.microsoft.com/office/drawing/2014/main" id="{B71B2642-85D2-2C42-9DB9-0C180A3E33A4}"/>
              </a:ext>
            </a:extLst>
          </p:cNvPr>
          <p:cNvSpPr txBox="1"/>
          <p:nvPr/>
        </p:nvSpPr>
        <p:spPr>
          <a:xfrm>
            <a:off x="331942" y="1631065"/>
            <a:ext cx="354221" cy="1323439"/>
          </a:xfrm>
          <a:prstGeom prst="rect">
            <a:avLst/>
          </a:prstGeom>
          <a:noFill/>
        </p:spPr>
        <p:txBody>
          <a:bodyPr wrap="square" rtlCol="0">
            <a:spAutoFit/>
          </a:bodyPr>
          <a:lstStyle/>
          <a:p>
            <a:r>
              <a:rPr lang="zh-CN" altLang="en-CN" sz="2000" dirty="0"/>
              <a:t>逻辑</a:t>
            </a:r>
            <a:r>
              <a:rPr lang="zh-CN" altLang="en-US" sz="2000" dirty="0"/>
              <a:t>结构</a:t>
            </a:r>
            <a:endParaRPr lang="en-CN" sz="2000" dirty="0"/>
          </a:p>
        </p:txBody>
      </p:sp>
      <p:sp>
        <p:nvSpPr>
          <p:cNvPr id="53" name="TextBox 52">
            <a:extLst>
              <a:ext uri="{FF2B5EF4-FFF2-40B4-BE49-F238E27FC236}">
                <a16:creationId xmlns:a16="http://schemas.microsoft.com/office/drawing/2014/main" id="{40E712E5-EAE7-A649-80DB-E9EE5FDCF8C3}"/>
              </a:ext>
            </a:extLst>
          </p:cNvPr>
          <p:cNvSpPr txBox="1"/>
          <p:nvPr/>
        </p:nvSpPr>
        <p:spPr>
          <a:xfrm>
            <a:off x="367002" y="4161072"/>
            <a:ext cx="284100" cy="1323439"/>
          </a:xfrm>
          <a:prstGeom prst="rect">
            <a:avLst/>
          </a:prstGeom>
          <a:noFill/>
        </p:spPr>
        <p:txBody>
          <a:bodyPr wrap="square" rtlCol="0">
            <a:spAutoFit/>
          </a:bodyPr>
          <a:lstStyle/>
          <a:p>
            <a:r>
              <a:rPr lang="zh-CN" altLang="en-US" sz="2000" dirty="0"/>
              <a:t>存储结构</a:t>
            </a:r>
            <a:endParaRPr lang="en-CN" sz="2000" dirty="0"/>
          </a:p>
        </p:txBody>
      </p:sp>
    </p:spTree>
    <p:extLst>
      <p:ext uri="{BB962C8B-B14F-4D97-AF65-F5344CB8AC3E}">
        <p14:creationId xmlns:p14="http://schemas.microsoft.com/office/powerpoint/2010/main" val="26999265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265B5F-E8D0-9B4B-8BB0-FFF98707AFC9}"/>
              </a:ext>
            </a:extLst>
          </p:cNvPr>
          <p:cNvSpPr/>
          <p:nvPr/>
        </p:nvSpPr>
        <p:spPr>
          <a:xfrm>
            <a:off x="1249134" y="4785990"/>
            <a:ext cx="6435948" cy="360000"/>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 name="Title 1">
            <a:extLst>
              <a:ext uri="{FF2B5EF4-FFF2-40B4-BE49-F238E27FC236}">
                <a16:creationId xmlns:a16="http://schemas.microsoft.com/office/drawing/2014/main" id="{04AA801F-C21B-904D-B19B-F50F0A7BCF45}"/>
              </a:ext>
            </a:extLst>
          </p:cNvPr>
          <p:cNvSpPr>
            <a:spLocks noGrp="1"/>
          </p:cNvSpPr>
          <p:nvPr>
            <p:ph type="title"/>
          </p:nvPr>
        </p:nvSpPr>
        <p:spPr/>
        <p:txBody>
          <a:bodyPr>
            <a:normAutofit/>
          </a:bodyPr>
          <a:lstStyle/>
          <a:p>
            <a:r>
              <a:rPr lang="en-US" altLang="zh-CN" dirty="0"/>
              <a:t>LFS</a:t>
            </a:r>
            <a:r>
              <a:rPr lang="zh-CN" altLang="en-US" dirty="0"/>
              <a:t>的问题</a:t>
            </a:r>
            <a:r>
              <a:rPr lang="en-US" altLang="zh-CN" dirty="0"/>
              <a:t>-1</a:t>
            </a:r>
            <a:r>
              <a:rPr lang="zh-CN" altLang="en-US" dirty="0"/>
              <a:t>：递归更新问题</a:t>
            </a:r>
            <a:endParaRPr lang="en-CN" dirty="0"/>
          </a:p>
        </p:txBody>
      </p:sp>
      <p:sp>
        <p:nvSpPr>
          <p:cNvPr id="4" name="Slide Number Placeholder 3">
            <a:extLst>
              <a:ext uri="{FF2B5EF4-FFF2-40B4-BE49-F238E27FC236}">
                <a16:creationId xmlns:a16="http://schemas.microsoft.com/office/drawing/2014/main" id="{29635DD5-5238-954F-AA1D-0B15F66DB369}"/>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Footer Placeholder 4">
            <a:extLst>
              <a:ext uri="{FF2B5EF4-FFF2-40B4-BE49-F238E27FC236}">
                <a16:creationId xmlns:a16="http://schemas.microsoft.com/office/drawing/2014/main" id="{219D56D5-E01E-584F-BDA4-4A95035763D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Rectangle 8">
            <a:extLst>
              <a:ext uri="{FF2B5EF4-FFF2-40B4-BE49-F238E27FC236}">
                <a16:creationId xmlns:a16="http://schemas.microsoft.com/office/drawing/2014/main" id="{481DD187-7A04-924A-88CE-EC24085D9896}"/>
              </a:ext>
            </a:extLst>
          </p:cNvPr>
          <p:cNvSpPr/>
          <p:nvPr/>
        </p:nvSpPr>
        <p:spPr>
          <a:xfrm>
            <a:off x="14576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SB</a:t>
            </a:r>
          </a:p>
        </p:txBody>
      </p:sp>
      <p:sp>
        <p:nvSpPr>
          <p:cNvPr id="10" name="Rectangle 9">
            <a:extLst>
              <a:ext uri="{FF2B5EF4-FFF2-40B4-BE49-F238E27FC236}">
                <a16:creationId xmlns:a16="http://schemas.microsoft.com/office/drawing/2014/main" id="{234A33EC-B566-C04E-B991-752EFCE381FB}"/>
              </a:ext>
            </a:extLst>
          </p:cNvPr>
          <p:cNvSpPr/>
          <p:nvPr/>
        </p:nvSpPr>
        <p:spPr>
          <a:xfrm>
            <a:off x="17417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4" name="Rectangle 13">
            <a:extLst>
              <a:ext uri="{FF2B5EF4-FFF2-40B4-BE49-F238E27FC236}">
                <a16:creationId xmlns:a16="http://schemas.microsoft.com/office/drawing/2014/main" id="{6E071324-7B69-9744-A3AA-B557FD8A43C8}"/>
              </a:ext>
            </a:extLst>
          </p:cNvPr>
          <p:cNvSpPr/>
          <p:nvPr/>
        </p:nvSpPr>
        <p:spPr>
          <a:xfrm>
            <a:off x="2874661"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5" name="Rectangle 14">
            <a:extLst>
              <a:ext uri="{FF2B5EF4-FFF2-40B4-BE49-F238E27FC236}">
                <a16:creationId xmlns:a16="http://schemas.microsoft.com/office/drawing/2014/main" id="{A5A7ED0E-B78C-414B-9434-CB86EAA92D2B}"/>
              </a:ext>
            </a:extLst>
          </p:cNvPr>
          <p:cNvSpPr/>
          <p:nvPr/>
        </p:nvSpPr>
        <p:spPr>
          <a:xfrm>
            <a:off x="3157288" y="4785990"/>
            <a:ext cx="284100" cy="36000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6" name="Rectangle 15">
            <a:extLst>
              <a:ext uri="{FF2B5EF4-FFF2-40B4-BE49-F238E27FC236}">
                <a16:creationId xmlns:a16="http://schemas.microsoft.com/office/drawing/2014/main" id="{75D016D2-BDBC-004F-85CF-DE5499846E97}"/>
              </a:ext>
            </a:extLst>
          </p:cNvPr>
          <p:cNvSpPr/>
          <p:nvPr/>
        </p:nvSpPr>
        <p:spPr>
          <a:xfrm>
            <a:off x="3439915" y="4785990"/>
            <a:ext cx="185483"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7" name="Rectangle 16">
            <a:extLst>
              <a:ext uri="{FF2B5EF4-FFF2-40B4-BE49-F238E27FC236}">
                <a16:creationId xmlns:a16="http://schemas.microsoft.com/office/drawing/2014/main" id="{E16DFE47-FF32-D34B-B6BC-EE4D68469DA0}"/>
              </a:ext>
            </a:extLst>
          </p:cNvPr>
          <p:cNvSpPr/>
          <p:nvPr/>
        </p:nvSpPr>
        <p:spPr>
          <a:xfrm>
            <a:off x="4191320" y="4785990"/>
            <a:ext cx="146031"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8" name="Rectangle 17">
            <a:extLst>
              <a:ext uri="{FF2B5EF4-FFF2-40B4-BE49-F238E27FC236}">
                <a16:creationId xmlns:a16="http://schemas.microsoft.com/office/drawing/2014/main" id="{E41776D0-E41D-D949-9A98-1BBB02569D5C}"/>
              </a:ext>
            </a:extLst>
          </p:cNvPr>
          <p:cNvSpPr/>
          <p:nvPr/>
        </p:nvSpPr>
        <p:spPr>
          <a:xfrm>
            <a:off x="3625398" y="4785990"/>
            <a:ext cx="284100" cy="360000"/>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9" name="Rectangle 18">
            <a:extLst>
              <a:ext uri="{FF2B5EF4-FFF2-40B4-BE49-F238E27FC236}">
                <a16:creationId xmlns:a16="http://schemas.microsoft.com/office/drawing/2014/main" id="{F80BB814-B838-D94B-85BA-DD5EBCA25B94}"/>
              </a:ext>
            </a:extLst>
          </p:cNvPr>
          <p:cNvSpPr/>
          <p:nvPr/>
        </p:nvSpPr>
        <p:spPr>
          <a:xfrm>
            <a:off x="3908025"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20" name="Rectangle 19">
            <a:extLst>
              <a:ext uri="{FF2B5EF4-FFF2-40B4-BE49-F238E27FC236}">
                <a16:creationId xmlns:a16="http://schemas.microsoft.com/office/drawing/2014/main" id="{837910C3-C981-CB43-9299-479EEBF512B2}"/>
              </a:ext>
            </a:extLst>
          </p:cNvPr>
          <p:cNvSpPr/>
          <p:nvPr/>
        </p:nvSpPr>
        <p:spPr>
          <a:xfrm>
            <a:off x="4337351"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1" name="Rectangle 20">
            <a:extLst>
              <a:ext uri="{FF2B5EF4-FFF2-40B4-BE49-F238E27FC236}">
                <a16:creationId xmlns:a16="http://schemas.microsoft.com/office/drawing/2014/main" id="{0A9BB4F2-F16A-0246-B396-F25B7E09DA5D}"/>
              </a:ext>
            </a:extLst>
          </p:cNvPr>
          <p:cNvSpPr/>
          <p:nvPr/>
        </p:nvSpPr>
        <p:spPr>
          <a:xfrm>
            <a:off x="4621381" y="4785990"/>
            <a:ext cx="156145"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2" name="Rectangle 21">
            <a:extLst>
              <a:ext uri="{FF2B5EF4-FFF2-40B4-BE49-F238E27FC236}">
                <a16:creationId xmlns:a16="http://schemas.microsoft.com/office/drawing/2014/main" id="{970D0D23-F3D0-7247-84CE-3EB8FC0F5754}"/>
              </a:ext>
            </a:extLst>
          </p:cNvPr>
          <p:cNvSpPr/>
          <p:nvPr/>
        </p:nvSpPr>
        <p:spPr>
          <a:xfrm>
            <a:off x="4777526"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24" name="Rectangle 23">
            <a:extLst>
              <a:ext uri="{FF2B5EF4-FFF2-40B4-BE49-F238E27FC236}">
                <a16:creationId xmlns:a16="http://schemas.microsoft.com/office/drawing/2014/main" id="{E6D0BDA5-4DD0-0141-9581-BD934E869EF6}"/>
              </a:ext>
            </a:extLst>
          </p:cNvPr>
          <p:cNvSpPr/>
          <p:nvPr/>
        </p:nvSpPr>
        <p:spPr>
          <a:xfrm>
            <a:off x="5060529" y="4785990"/>
            <a:ext cx="284100" cy="360000"/>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33" name="Rectangle 32">
            <a:extLst>
              <a:ext uri="{FF2B5EF4-FFF2-40B4-BE49-F238E27FC236}">
                <a16:creationId xmlns:a16="http://schemas.microsoft.com/office/drawing/2014/main" id="{03934CEA-E1FA-0A49-883A-B4D52CEAFAA2}"/>
              </a:ext>
            </a:extLst>
          </p:cNvPr>
          <p:cNvSpPr/>
          <p:nvPr/>
        </p:nvSpPr>
        <p:spPr>
          <a:xfrm>
            <a:off x="963340"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超级块</a:t>
            </a:r>
            <a:endParaRPr lang="en-CN" sz="1000" dirty="0"/>
          </a:p>
        </p:txBody>
      </p:sp>
      <p:sp>
        <p:nvSpPr>
          <p:cNvPr id="34" name="Rectangle 33">
            <a:extLst>
              <a:ext uri="{FF2B5EF4-FFF2-40B4-BE49-F238E27FC236}">
                <a16:creationId xmlns:a16="http://schemas.microsoft.com/office/drawing/2014/main" id="{30D70729-9C16-DF4D-B077-3EFA2A00E87D}"/>
              </a:ext>
            </a:extLst>
          </p:cNvPr>
          <p:cNvSpPr/>
          <p:nvPr/>
        </p:nvSpPr>
        <p:spPr>
          <a:xfrm>
            <a:off x="1463843"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检查点</a:t>
            </a:r>
            <a:endParaRPr lang="en-CN" sz="1000" dirty="0"/>
          </a:p>
        </p:txBody>
      </p:sp>
      <p:sp>
        <p:nvSpPr>
          <p:cNvPr id="35" name="Rectangle 34">
            <a:extLst>
              <a:ext uri="{FF2B5EF4-FFF2-40B4-BE49-F238E27FC236}">
                <a16:creationId xmlns:a16="http://schemas.microsoft.com/office/drawing/2014/main" id="{AC1AA524-9DDD-3E4A-8026-8D13EB0BF4E9}"/>
              </a:ext>
            </a:extLst>
          </p:cNvPr>
          <p:cNvSpPr/>
          <p:nvPr/>
        </p:nvSpPr>
        <p:spPr>
          <a:xfrm>
            <a:off x="997188" y="2887865"/>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段使用表</a:t>
            </a:r>
            <a:endParaRPr lang="en-CN" sz="1000" dirty="0"/>
          </a:p>
        </p:txBody>
      </p:sp>
      <p:sp>
        <p:nvSpPr>
          <p:cNvPr id="36" name="Rectangle 35">
            <a:extLst>
              <a:ext uri="{FF2B5EF4-FFF2-40B4-BE49-F238E27FC236}">
                <a16:creationId xmlns:a16="http://schemas.microsoft.com/office/drawing/2014/main" id="{1660AFEA-57A9-B448-B44B-8F439D7ED339}"/>
              </a:ext>
            </a:extLst>
          </p:cNvPr>
          <p:cNvSpPr/>
          <p:nvPr/>
        </p:nvSpPr>
        <p:spPr>
          <a:xfrm>
            <a:off x="997188" y="3373453"/>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t>段概要</a:t>
            </a:r>
            <a:endParaRPr lang="en-CN" sz="1000" dirty="0"/>
          </a:p>
        </p:txBody>
      </p:sp>
      <p:sp>
        <p:nvSpPr>
          <p:cNvPr id="37" name="Rectangle 36">
            <a:extLst>
              <a:ext uri="{FF2B5EF4-FFF2-40B4-BE49-F238E27FC236}">
                <a16:creationId xmlns:a16="http://schemas.microsoft.com/office/drawing/2014/main" id="{3B7BA522-C109-C84E-8D7E-B5B7A7374F8F}"/>
              </a:ext>
            </a:extLst>
          </p:cNvPr>
          <p:cNvSpPr/>
          <p:nvPr/>
        </p:nvSpPr>
        <p:spPr>
          <a:xfrm>
            <a:off x="2445096" y="1947181"/>
            <a:ext cx="933309" cy="345604"/>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err="1">
                <a:solidFill>
                  <a:sysClr val="windowText" lastClr="000000"/>
                </a:solidFill>
              </a:rPr>
              <a:t>inode</a:t>
            </a:r>
            <a:r>
              <a:rPr lang="zh-CN" altLang="en-US" sz="1000" dirty="0">
                <a:solidFill>
                  <a:sysClr val="windowText" lastClr="000000"/>
                </a:solidFill>
              </a:rPr>
              <a:t> </a:t>
            </a:r>
            <a:r>
              <a:rPr lang="en-US" altLang="zh-CN" sz="1000" dirty="0">
                <a:solidFill>
                  <a:sysClr val="windowText" lastClr="000000"/>
                </a:solidFill>
              </a:rPr>
              <a:t>map</a:t>
            </a:r>
            <a:endParaRPr lang="en-CN" sz="1000" dirty="0">
              <a:solidFill>
                <a:sysClr val="windowText" lastClr="000000"/>
              </a:solidFill>
            </a:endParaRPr>
          </a:p>
        </p:txBody>
      </p:sp>
      <p:sp>
        <p:nvSpPr>
          <p:cNvPr id="38" name="Rectangle 37">
            <a:extLst>
              <a:ext uri="{FF2B5EF4-FFF2-40B4-BE49-F238E27FC236}">
                <a16:creationId xmlns:a16="http://schemas.microsoft.com/office/drawing/2014/main" id="{5663CC65-3A6E-B14A-AE33-FDC44C60434D}"/>
              </a:ext>
            </a:extLst>
          </p:cNvPr>
          <p:cNvSpPr/>
          <p:nvPr/>
        </p:nvSpPr>
        <p:spPr>
          <a:xfrm>
            <a:off x="4000453" y="2226928"/>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目录</a:t>
            </a:r>
            <a:endParaRPr lang="en-US" altLang="zh-CN" sz="1000" dirty="0"/>
          </a:p>
          <a:p>
            <a:pPr algn="ctr"/>
            <a:r>
              <a:rPr lang="en-US" altLang="zh-CN" sz="1000" dirty="0" err="1"/>
              <a:t>inode</a:t>
            </a:r>
            <a:endParaRPr lang="en-CN" sz="1000" dirty="0"/>
          </a:p>
        </p:txBody>
      </p:sp>
      <p:sp>
        <p:nvSpPr>
          <p:cNvPr id="39" name="Rectangle 38">
            <a:extLst>
              <a:ext uri="{FF2B5EF4-FFF2-40B4-BE49-F238E27FC236}">
                <a16:creationId xmlns:a16="http://schemas.microsoft.com/office/drawing/2014/main" id="{29A78A4F-7661-4041-8453-8422DD84399F}"/>
              </a:ext>
            </a:extLst>
          </p:cNvPr>
          <p:cNvSpPr/>
          <p:nvPr/>
        </p:nvSpPr>
        <p:spPr>
          <a:xfrm>
            <a:off x="4000453" y="2839212"/>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常规文件</a:t>
            </a:r>
            <a:r>
              <a:rPr lang="en-US" altLang="zh-CN" sz="1000" dirty="0" err="1"/>
              <a:t>inode</a:t>
            </a:r>
            <a:endParaRPr lang="en-CN" sz="1000" dirty="0"/>
          </a:p>
        </p:txBody>
      </p:sp>
      <p:sp>
        <p:nvSpPr>
          <p:cNvPr id="40" name="Rectangle 39">
            <a:extLst>
              <a:ext uri="{FF2B5EF4-FFF2-40B4-BE49-F238E27FC236}">
                <a16:creationId xmlns:a16="http://schemas.microsoft.com/office/drawing/2014/main" id="{EEFED4E3-A7F9-4F4F-A11E-A2E76A541DB8}"/>
              </a:ext>
            </a:extLst>
          </p:cNvPr>
          <p:cNvSpPr/>
          <p:nvPr/>
        </p:nvSpPr>
        <p:spPr>
          <a:xfrm>
            <a:off x="5655279" y="2471680"/>
            <a:ext cx="933309" cy="345604"/>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目录数据</a:t>
            </a:r>
            <a:endParaRPr lang="en-CN" sz="1000" dirty="0"/>
          </a:p>
        </p:txBody>
      </p:sp>
      <p:sp>
        <p:nvSpPr>
          <p:cNvPr id="41" name="Rectangle 40">
            <a:extLst>
              <a:ext uri="{FF2B5EF4-FFF2-40B4-BE49-F238E27FC236}">
                <a16:creationId xmlns:a16="http://schemas.microsoft.com/office/drawing/2014/main" id="{B957CB33-91E4-6546-9ADE-83EB07781A29}"/>
              </a:ext>
            </a:extLst>
          </p:cNvPr>
          <p:cNvSpPr/>
          <p:nvPr/>
        </p:nvSpPr>
        <p:spPr>
          <a:xfrm>
            <a:off x="5655280" y="3184816"/>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42" name="Rectangle 41">
            <a:extLst>
              <a:ext uri="{FF2B5EF4-FFF2-40B4-BE49-F238E27FC236}">
                <a16:creationId xmlns:a16="http://schemas.microsoft.com/office/drawing/2014/main" id="{B5083F75-75F6-9E4A-A0F5-CD2929CDF635}"/>
              </a:ext>
            </a:extLst>
          </p:cNvPr>
          <p:cNvSpPr/>
          <p:nvPr/>
        </p:nvSpPr>
        <p:spPr>
          <a:xfrm>
            <a:off x="6776734" y="3757556"/>
            <a:ext cx="933309" cy="34560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索引块</a:t>
            </a:r>
            <a:endParaRPr lang="en-CN" sz="1000" dirty="0">
              <a:solidFill>
                <a:sysClr val="windowText" lastClr="000000"/>
              </a:solidFill>
            </a:endParaRPr>
          </a:p>
        </p:txBody>
      </p:sp>
      <p:sp>
        <p:nvSpPr>
          <p:cNvPr id="43" name="Rectangle 42">
            <a:extLst>
              <a:ext uri="{FF2B5EF4-FFF2-40B4-BE49-F238E27FC236}">
                <a16:creationId xmlns:a16="http://schemas.microsoft.com/office/drawing/2014/main" id="{8D4BC379-3842-CA47-ADBC-93D3CBD5BB3D}"/>
              </a:ext>
            </a:extLst>
          </p:cNvPr>
          <p:cNvSpPr/>
          <p:nvPr/>
        </p:nvSpPr>
        <p:spPr>
          <a:xfrm>
            <a:off x="4826872" y="3757664"/>
            <a:ext cx="933309" cy="345604"/>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二级索引块</a:t>
            </a:r>
            <a:endParaRPr lang="en-CN" sz="1000" dirty="0">
              <a:solidFill>
                <a:sysClr val="windowText" lastClr="000000"/>
              </a:solidFill>
            </a:endParaRPr>
          </a:p>
        </p:txBody>
      </p:sp>
      <p:sp>
        <p:nvSpPr>
          <p:cNvPr id="44" name="Rectangle 43">
            <a:extLst>
              <a:ext uri="{FF2B5EF4-FFF2-40B4-BE49-F238E27FC236}">
                <a16:creationId xmlns:a16="http://schemas.microsoft.com/office/drawing/2014/main" id="{AFDEF791-0082-1645-8BCE-8AE568AD370A}"/>
              </a:ext>
            </a:extLst>
          </p:cNvPr>
          <p:cNvSpPr/>
          <p:nvPr/>
        </p:nvSpPr>
        <p:spPr>
          <a:xfrm>
            <a:off x="7481522" y="3201965"/>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cxnSp>
        <p:nvCxnSpPr>
          <p:cNvPr id="46" name="Elbow Connector 45">
            <a:extLst>
              <a:ext uri="{FF2B5EF4-FFF2-40B4-BE49-F238E27FC236}">
                <a16:creationId xmlns:a16="http://schemas.microsoft.com/office/drawing/2014/main" id="{6C34F0D1-6A0D-7349-878A-CF2D39C30094}"/>
              </a:ext>
            </a:extLst>
          </p:cNvPr>
          <p:cNvCxnSpPr>
            <a:stCxn id="34" idx="3"/>
            <a:endCxn id="37" idx="0"/>
          </p:cNvCxnSpPr>
          <p:nvPr/>
        </p:nvCxnSpPr>
        <p:spPr>
          <a:xfrm>
            <a:off x="1896649" y="1741376"/>
            <a:ext cx="1015102" cy="20580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8" name="Elbow Connector 47">
            <a:extLst>
              <a:ext uri="{FF2B5EF4-FFF2-40B4-BE49-F238E27FC236}">
                <a16:creationId xmlns:a16="http://schemas.microsoft.com/office/drawing/2014/main" id="{E4CD613D-B629-7948-ACDB-AA9721336B44}"/>
              </a:ext>
            </a:extLst>
          </p:cNvPr>
          <p:cNvCxnSpPr>
            <a:cxnSpLocks/>
            <a:stCxn id="34" idx="2"/>
            <a:endCxn id="35" idx="0"/>
          </p:cNvCxnSpPr>
          <p:nvPr/>
        </p:nvCxnSpPr>
        <p:spPr>
          <a:xfrm rot="5400000">
            <a:off x="1124815" y="2332433"/>
            <a:ext cx="894461" cy="2164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1" name="Elbow Connector 50">
            <a:extLst>
              <a:ext uri="{FF2B5EF4-FFF2-40B4-BE49-F238E27FC236}">
                <a16:creationId xmlns:a16="http://schemas.microsoft.com/office/drawing/2014/main" id="{40265B92-DAB0-A247-A15C-84CDD230CBA6}"/>
              </a:ext>
            </a:extLst>
          </p:cNvPr>
          <p:cNvCxnSpPr>
            <a:cxnSpLocks/>
            <a:stCxn id="37" idx="3"/>
            <a:endCxn id="38" idx="1"/>
          </p:cNvCxnSpPr>
          <p:nvPr/>
        </p:nvCxnSpPr>
        <p:spPr>
          <a:xfrm>
            <a:off x="3378405" y="2119983"/>
            <a:ext cx="622048" cy="27974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5" name="Elbow Connector 54">
            <a:extLst>
              <a:ext uri="{FF2B5EF4-FFF2-40B4-BE49-F238E27FC236}">
                <a16:creationId xmlns:a16="http://schemas.microsoft.com/office/drawing/2014/main" id="{F524F4DB-A289-A14E-995E-94A83CE1166F}"/>
              </a:ext>
            </a:extLst>
          </p:cNvPr>
          <p:cNvCxnSpPr>
            <a:cxnSpLocks/>
            <a:stCxn id="37" idx="3"/>
            <a:endCxn id="39" idx="1"/>
          </p:cNvCxnSpPr>
          <p:nvPr/>
        </p:nvCxnSpPr>
        <p:spPr>
          <a:xfrm>
            <a:off x="3378405" y="2119983"/>
            <a:ext cx="622048" cy="89203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9" name="Elbow Connector 58">
            <a:extLst>
              <a:ext uri="{FF2B5EF4-FFF2-40B4-BE49-F238E27FC236}">
                <a16:creationId xmlns:a16="http://schemas.microsoft.com/office/drawing/2014/main" id="{83022C20-C7D5-9143-8E60-63FDF125E3A2}"/>
              </a:ext>
            </a:extLst>
          </p:cNvPr>
          <p:cNvCxnSpPr>
            <a:cxnSpLocks/>
            <a:stCxn id="38" idx="3"/>
            <a:endCxn id="40" idx="1"/>
          </p:cNvCxnSpPr>
          <p:nvPr/>
        </p:nvCxnSpPr>
        <p:spPr>
          <a:xfrm>
            <a:off x="4933762" y="2399730"/>
            <a:ext cx="721517" cy="2447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Elbow Connector 62">
            <a:extLst>
              <a:ext uri="{FF2B5EF4-FFF2-40B4-BE49-F238E27FC236}">
                <a16:creationId xmlns:a16="http://schemas.microsoft.com/office/drawing/2014/main" id="{B98E09AD-0E97-3E4D-9E74-332DF949EA1E}"/>
              </a:ext>
            </a:extLst>
          </p:cNvPr>
          <p:cNvCxnSpPr>
            <a:cxnSpLocks/>
            <a:stCxn id="39" idx="3"/>
            <a:endCxn id="41" idx="1"/>
          </p:cNvCxnSpPr>
          <p:nvPr/>
        </p:nvCxnSpPr>
        <p:spPr>
          <a:xfrm>
            <a:off x="4933762" y="3012014"/>
            <a:ext cx="721518" cy="34560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6" name="Elbow Connector 65">
            <a:extLst>
              <a:ext uri="{FF2B5EF4-FFF2-40B4-BE49-F238E27FC236}">
                <a16:creationId xmlns:a16="http://schemas.microsoft.com/office/drawing/2014/main" id="{A8BFD7C2-C92A-CF42-B964-4D8B338E82F5}"/>
              </a:ext>
            </a:extLst>
          </p:cNvPr>
          <p:cNvCxnSpPr>
            <a:cxnSpLocks/>
            <a:stCxn id="39" idx="2"/>
            <a:endCxn id="43" idx="1"/>
          </p:cNvCxnSpPr>
          <p:nvPr/>
        </p:nvCxnSpPr>
        <p:spPr>
          <a:xfrm rot="16200000" flipH="1">
            <a:off x="4274165" y="3377759"/>
            <a:ext cx="745650" cy="35976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0" name="Elbow Connector 69">
            <a:extLst>
              <a:ext uri="{FF2B5EF4-FFF2-40B4-BE49-F238E27FC236}">
                <a16:creationId xmlns:a16="http://schemas.microsoft.com/office/drawing/2014/main" id="{69361DFE-FC58-BD4C-B43B-D4827874AD6B}"/>
              </a:ext>
            </a:extLst>
          </p:cNvPr>
          <p:cNvCxnSpPr>
            <a:cxnSpLocks/>
            <a:stCxn id="43" idx="3"/>
            <a:endCxn id="42" idx="1"/>
          </p:cNvCxnSpPr>
          <p:nvPr/>
        </p:nvCxnSpPr>
        <p:spPr>
          <a:xfrm flipV="1">
            <a:off x="5760181" y="3930358"/>
            <a:ext cx="1016553" cy="1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5" name="Elbow Connector 74">
            <a:extLst>
              <a:ext uri="{FF2B5EF4-FFF2-40B4-BE49-F238E27FC236}">
                <a16:creationId xmlns:a16="http://schemas.microsoft.com/office/drawing/2014/main" id="{CF118D76-4BB7-0147-8C2C-0E03067F3492}"/>
              </a:ext>
            </a:extLst>
          </p:cNvPr>
          <p:cNvCxnSpPr>
            <a:cxnSpLocks/>
            <a:stCxn id="42" idx="3"/>
            <a:endCxn id="44" idx="2"/>
          </p:cNvCxnSpPr>
          <p:nvPr/>
        </p:nvCxnSpPr>
        <p:spPr>
          <a:xfrm flipV="1">
            <a:off x="7710043" y="3547569"/>
            <a:ext cx="238134" cy="38278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0B273302-4A4E-4841-AF30-18BD303D3037}"/>
              </a:ext>
            </a:extLst>
          </p:cNvPr>
          <p:cNvSpPr txBox="1"/>
          <p:nvPr/>
        </p:nvSpPr>
        <p:spPr>
          <a:xfrm>
            <a:off x="6815327" y="3184815"/>
            <a:ext cx="428061" cy="369332"/>
          </a:xfrm>
          <a:prstGeom prst="rect">
            <a:avLst/>
          </a:prstGeom>
          <a:noFill/>
        </p:spPr>
        <p:txBody>
          <a:bodyPr wrap="square" rtlCol="0">
            <a:spAutoFit/>
          </a:bodyPr>
          <a:lstStyle/>
          <a:p>
            <a:r>
              <a:rPr lang="en-US" dirty="0"/>
              <a:t>…</a:t>
            </a:r>
            <a:endParaRPr lang="en-CN" dirty="0"/>
          </a:p>
        </p:txBody>
      </p:sp>
      <p:sp>
        <p:nvSpPr>
          <p:cNvPr id="79" name="TextBox 78">
            <a:extLst>
              <a:ext uri="{FF2B5EF4-FFF2-40B4-BE49-F238E27FC236}">
                <a16:creationId xmlns:a16="http://schemas.microsoft.com/office/drawing/2014/main" id="{37A22199-192E-7E4F-9110-37A3F0CEE7F9}"/>
              </a:ext>
            </a:extLst>
          </p:cNvPr>
          <p:cNvSpPr txBox="1"/>
          <p:nvPr/>
        </p:nvSpPr>
        <p:spPr>
          <a:xfrm>
            <a:off x="2105725" y="3184815"/>
            <a:ext cx="954107" cy="276999"/>
          </a:xfrm>
          <a:prstGeom prst="rect">
            <a:avLst/>
          </a:prstGeom>
          <a:noFill/>
        </p:spPr>
        <p:txBody>
          <a:bodyPr wrap="none" rtlCol="0">
            <a:spAutoFit/>
          </a:bodyPr>
          <a:lstStyle/>
          <a:p>
            <a:r>
              <a:rPr lang="zh-CN" altLang="en-CN" sz="1200" dirty="0"/>
              <a:t>用于</a:t>
            </a:r>
            <a:r>
              <a:rPr lang="zh-CN" altLang="en-US" sz="1200" dirty="0"/>
              <a:t>段清理</a:t>
            </a:r>
            <a:endParaRPr lang="en-CN" sz="1200" dirty="0"/>
          </a:p>
        </p:txBody>
      </p:sp>
      <p:sp>
        <p:nvSpPr>
          <p:cNvPr id="80" name="Right Brace 79">
            <a:extLst>
              <a:ext uri="{FF2B5EF4-FFF2-40B4-BE49-F238E27FC236}">
                <a16:creationId xmlns:a16="http://schemas.microsoft.com/office/drawing/2014/main" id="{849B04C6-C233-CD42-9F62-1E992E6EE725}"/>
              </a:ext>
            </a:extLst>
          </p:cNvPr>
          <p:cNvSpPr/>
          <p:nvPr/>
        </p:nvSpPr>
        <p:spPr>
          <a:xfrm>
            <a:off x="1998834" y="2887864"/>
            <a:ext cx="167965" cy="869691"/>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3" name="TextBox 2">
            <a:extLst>
              <a:ext uri="{FF2B5EF4-FFF2-40B4-BE49-F238E27FC236}">
                <a16:creationId xmlns:a16="http://schemas.microsoft.com/office/drawing/2014/main" id="{2591972C-318E-6B4B-A838-98792BEF80BC}"/>
              </a:ext>
            </a:extLst>
          </p:cNvPr>
          <p:cNvSpPr txBox="1"/>
          <p:nvPr/>
        </p:nvSpPr>
        <p:spPr>
          <a:xfrm>
            <a:off x="7522704" y="2210211"/>
            <a:ext cx="1441420" cy="307777"/>
          </a:xfrm>
          <a:prstGeom prst="rect">
            <a:avLst/>
          </a:prstGeom>
          <a:noFill/>
        </p:spPr>
        <p:txBody>
          <a:bodyPr wrap="none" rtlCol="0">
            <a:spAutoFit/>
          </a:bodyPr>
          <a:lstStyle/>
          <a:p>
            <a:r>
              <a:rPr lang="zh-CN" altLang="en-CN" sz="1400" b="1" dirty="0">
                <a:solidFill>
                  <a:srgbClr val="C00000"/>
                </a:solidFill>
              </a:rPr>
              <a:t>修改</a:t>
            </a:r>
            <a:r>
              <a:rPr lang="zh-CN" altLang="en-US" sz="1400" b="1" dirty="0">
                <a:solidFill>
                  <a:srgbClr val="C00000"/>
                </a:solidFill>
              </a:rPr>
              <a:t>一小块数据</a:t>
            </a:r>
            <a:endParaRPr lang="en-CN" sz="1400" b="1" dirty="0">
              <a:solidFill>
                <a:srgbClr val="C00000"/>
              </a:solidFill>
            </a:endParaRPr>
          </a:p>
        </p:txBody>
      </p:sp>
      <p:cxnSp>
        <p:nvCxnSpPr>
          <p:cNvPr id="8" name="Straight Arrow Connector 7">
            <a:extLst>
              <a:ext uri="{FF2B5EF4-FFF2-40B4-BE49-F238E27FC236}">
                <a16:creationId xmlns:a16="http://schemas.microsoft.com/office/drawing/2014/main" id="{07532D6E-9D66-C145-A60C-0EA1E5540FC2}"/>
              </a:ext>
            </a:extLst>
          </p:cNvPr>
          <p:cNvCxnSpPr>
            <a:stCxn id="3" idx="2"/>
            <a:endCxn id="44" idx="0"/>
          </p:cNvCxnSpPr>
          <p:nvPr/>
        </p:nvCxnSpPr>
        <p:spPr>
          <a:xfrm flipH="1">
            <a:off x="7948177" y="2517988"/>
            <a:ext cx="295237" cy="683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CD3B6480-1350-EC45-8871-F1AC7EB167B9}"/>
              </a:ext>
            </a:extLst>
          </p:cNvPr>
          <p:cNvSpPr/>
          <p:nvPr/>
        </p:nvSpPr>
        <p:spPr>
          <a:xfrm>
            <a:off x="7979315" y="3257837"/>
            <a:ext cx="933309" cy="345604"/>
          </a:xfrm>
          <a:prstGeom prst="rect">
            <a:avLst/>
          </a:prstGeom>
          <a:solidFill>
            <a:schemeClr val="bg1">
              <a:lumMod val="75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52" name="Rectangle 51">
            <a:extLst>
              <a:ext uri="{FF2B5EF4-FFF2-40B4-BE49-F238E27FC236}">
                <a16:creationId xmlns:a16="http://schemas.microsoft.com/office/drawing/2014/main" id="{5552D356-C9F4-8C44-B2E7-046490E4C489}"/>
              </a:ext>
            </a:extLst>
          </p:cNvPr>
          <p:cNvSpPr/>
          <p:nvPr/>
        </p:nvSpPr>
        <p:spPr>
          <a:xfrm>
            <a:off x="6929949" y="3991155"/>
            <a:ext cx="933309" cy="345604"/>
          </a:xfrm>
          <a:prstGeom prst="rect">
            <a:avLst/>
          </a:prstGeom>
          <a:solidFill>
            <a:schemeClr val="accent4"/>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索引块</a:t>
            </a:r>
            <a:endParaRPr lang="en-CN" sz="1000" dirty="0">
              <a:solidFill>
                <a:sysClr val="windowText" lastClr="000000"/>
              </a:solidFill>
            </a:endParaRPr>
          </a:p>
        </p:txBody>
      </p:sp>
      <p:sp>
        <p:nvSpPr>
          <p:cNvPr id="53" name="Rectangle 52">
            <a:extLst>
              <a:ext uri="{FF2B5EF4-FFF2-40B4-BE49-F238E27FC236}">
                <a16:creationId xmlns:a16="http://schemas.microsoft.com/office/drawing/2014/main" id="{57D08A3E-B5F9-404F-8381-17FD1B3CCDF8}"/>
              </a:ext>
            </a:extLst>
          </p:cNvPr>
          <p:cNvSpPr/>
          <p:nvPr/>
        </p:nvSpPr>
        <p:spPr>
          <a:xfrm>
            <a:off x="5060374" y="3994861"/>
            <a:ext cx="933309" cy="345604"/>
          </a:xfrm>
          <a:prstGeom prst="rect">
            <a:avLst/>
          </a:prstGeom>
          <a:solidFill>
            <a:schemeClr val="accent4">
              <a:lumMod val="75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二级索引块</a:t>
            </a:r>
            <a:endParaRPr lang="en-CN" sz="1000" dirty="0">
              <a:solidFill>
                <a:sysClr val="windowText" lastClr="000000"/>
              </a:solidFill>
            </a:endParaRPr>
          </a:p>
        </p:txBody>
      </p:sp>
      <p:sp>
        <p:nvSpPr>
          <p:cNvPr id="54" name="Rectangle 53">
            <a:extLst>
              <a:ext uri="{FF2B5EF4-FFF2-40B4-BE49-F238E27FC236}">
                <a16:creationId xmlns:a16="http://schemas.microsoft.com/office/drawing/2014/main" id="{B252A085-D144-AE49-817F-72831050B1AC}"/>
              </a:ext>
            </a:extLst>
          </p:cNvPr>
          <p:cNvSpPr/>
          <p:nvPr/>
        </p:nvSpPr>
        <p:spPr>
          <a:xfrm>
            <a:off x="4130194" y="3155797"/>
            <a:ext cx="933309" cy="345604"/>
          </a:xfrm>
          <a:prstGeom prst="rect">
            <a:avLst/>
          </a:prstGeom>
          <a:solidFill>
            <a:srgbClr val="0070C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常规文件</a:t>
            </a:r>
            <a:r>
              <a:rPr lang="en-US" altLang="zh-CN" sz="1000" dirty="0" err="1"/>
              <a:t>inode</a:t>
            </a:r>
            <a:endParaRPr lang="en-CN" sz="1000" dirty="0"/>
          </a:p>
        </p:txBody>
      </p:sp>
      <p:sp>
        <p:nvSpPr>
          <p:cNvPr id="56" name="Rectangle 55">
            <a:extLst>
              <a:ext uri="{FF2B5EF4-FFF2-40B4-BE49-F238E27FC236}">
                <a16:creationId xmlns:a16="http://schemas.microsoft.com/office/drawing/2014/main" id="{F7E6055D-3E77-A44A-A0B5-599E0C75661E}"/>
              </a:ext>
            </a:extLst>
          </p:cNvPr>
          <p:cNvSpPr/>
          <p:nvPr/>
        </p:nvSpPr>
        <p:spPr>
          <a:xfrm>
            <a:off x="2582778" y="2220394"/>
            <a:ext cx="933309" cy="345604"/>
          </a:xfrm>
          <a:prstGeom prst="rect">
            <a:avLst/>
          </a:prstGeom>
          <a:solidFill>
            <a:srgbClr val="92D05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err="1">
                <a:solidFill>
                  <a:sysClr val="windowText" lastClr="000000"/>
                </a:solidFill>
              </a:rPr>
              <a:t>inode</a:t>
            </a:r>
            <a:r>
              <a:rPr lang="zh-CN" altLang="en-US" sz="1000" dirty="0">
                <a:solidFill>
                  <a:sysClr val="windowText" lastClr="000000"/>
                </a:solidFill>
              </a:rPr>
              <a:t> </a:t>
            </a:r>
            <a:r>
              <a:rPr lang="en-US" altLang="zh-CN" sz="1000" dirty="0">
                <a:solidFill>
                  <a:sysClr val="windowText" lastClr="000000"/>
                </a:solidFill>
              </a:rPr>
              <a:t>map</a:t>
            </a:r>
            <a:endParaRPr lang="en-CN" sz="1000" dirty="0">
              <a:solidFill>
                <a:sysClr val="windowText" lastClr="000000"/>
              </a:solidFill>
            </a:endParaRPr>
          </a:p>
        </p:txBody>
      </p:sp>
      <p:cxnSp>
        <p:nvCxnSpPr>
          <p:cNvPr id="57" name="Elbow Connector 56">
            <a:extLst>
              <a:ext uri="{FF2B5EF4-FFF2-40B4-BE49-F238E27FC236}">
                <a16:creationId xmlns:a16="http://schemas.microsoft.com/office/drawing/2014/main" id="{AB16CF8B-DAAC-294E-B607-E5BBE8101E0A}"/>
              </a:ext>
            </a:extLst>
          </p:cNvPr>
          <p:cNvCxnSpPr>
            <a:cxnSpLocks/>
            <a:stCxn id="53" idx="3"/>
            <a:endCxn id="52" idx="1"/>
          </p:cNvCxnSpPr>
          <p:nvPr/>
        </p:nvCxnSpPr>
        <p:spPr>
          <a:xfrm flipV="1">
            <a:off x="5993683" y="4163957"/>
            <a:ext cx="936266" cy="3706"/>
          </a:xfrm>
          <a:prstGeom prst="bentConnector3">
            <a:avLst>
              <a:gd name="adj1" fmla="val 50000"/>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58" name="Elbow Connector 57">
            <a:extLst>
              <a:ext uri="{FF2B5EF4-FFF2-40B4-BE49-F238E27FC236}">
                <a16:creationId xmlns:a16="http://schemas.microsoft.com/office/drawing/2014/main" id="{8E26A2C9-3C0D-274A-9D73-6FEF2B56FE82}"/>
              </a:ext>
            </a:extLst>
          </p:cNvPr>
          <p:cNvCxnSpPr>
            <a:cxnSpLocks/>
            <a:stCxn id="52" idx="3"/>
            <a:endCxn id="49" idx="2"/>
          </p:cNvCxnSpPr>
          <p:nvPr/>
        </p:nvCxnSpPr>
        <p:spPr>
          <a:xfrm flipV="1">
            <a:off x="7863258" y="3603441"/>
            <a:ext cx="582712" cy="560516"/>
          </a:xfrm>
          <a:prstGeom prst="bentConnector2">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1" name="Elbow Connector 60">
            <a:extLst>
              <a:ext uri="{FF2B5EF4-FFF2-40B4-BE49-F238E27FC236}">
                <a16:creationId xmlns:a16="http://schemas.microsoft.com/office/drawing/2014/main" id="{CED02B53-9801-E448-8CDF-BE7B6EAE4292}"/>
              </a:ext>
            </a:extLst>
          </p:cNvPr>
          <p:cNvCxnSpPr>
            <a:cxnSpLocks/>
            <a:stCxn id="54" idx="2"/>
            <a:endCxn id="53" idx="1"/>
          </p:cNvCxnSpPr>
          <p:nvPr/>
        </p:nvCxnSpPr>
        <p:spPr>
          <a:xfrm rot="16200000" flipH="1">
            <a:off x="4495480" y="3602769"/>
            <a:ext cx="666262" cy="463525"/>
          </a:xfrm>
          <a:prstGeom prst="bentConnector2">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4" name="Elbow Connector 63">
            <a:extLst>
              <a:ext uri="{FF2B5EF4-FFF2-40B4-BE49-F238E27FC236}">
                <a16:creationId xmlns:a16="http://schemas.microsoft.com/office/drawing/2014/main" id="{B99EA952-7FED-3742-B066-9A780DE6D7EE}"/>
              </a:ext>
            </a:extLst>
          </p:cNvPr>
          <p:cNvCxnSpPr>
            <a:cxnSpLocks/>
            <a:stCxn id="54" idx="3"/>
            <a:endCxn id="41" idx="1"/>
          </p:cNvCxnSpPr>
          <p:nvPr/>
        </p:nvCxnSpPr>
        <p:spPr>
          <a:xfrm>
            <a:off x="5063503" y="3328599"/>
            <a:ext cx="591777" cy="29019"/>
          </a:xfrm>
          <a:prstGeom prst="bentConnector3">
            <a:avLst>
              <a:gd name="adj1" fmla="val 50000"/>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7" name="Elbow Connector 66">
            <a:extLst>
              <a:ext uri="{FF2B5EF4-FFF2-40B4-BE49-F238E27FC236}">
                <a16:creationId xmlns:a16="http://schemas.microsoft.com/office/drawing/2014/main" id="{267826C7-24BE-D440-B9AC-A2DC0E5B1CA6}"/>
              </a:ext>
            </a:extLst>
          </p:cNvPr>
          <p:cNvCxnSpPr>
            <a:cxnSpLocks/>
            <a:stCxn id="56" idx="3"/>
            <a:endCxn id="54" idx="1"/>
          </p:cNvCxnSpPr>
          <p:nvPr/>
        </p:nvCxnSpPr>
        <p:spPr>
          <a:xfrm>
            <a:off x="3516087" y="2393196"/>
            <a:ext cx="614107" cy="935403"/>
          </a:xfrm>
          <a:prstGeom prst="bentConnector3">
            <a:avLst>
              <a:gd name="adj1" fmla="val 50000"/>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1" name="Elbow Connector 70">
            <a:extLst>
              <a:ext uri="{FF2B5EF4-FFF2-40B4-BE49-F238E27FC236}">
                <a16:creationId xmlns:a16="http://schemas.microsoft.com/office/drawing/2014/main" id="{90E51344-5885-5943-AC6C-2530E588BC9C}"/>
              </a:ext>
            </a:extLst>
          </p:cNvPr>
          <p:cNvCxnSpPr>
            <a:cxnSpLocks/>
            <a:stCxn id="34" idx="3"/>
            <a:endCxn id="56" idx="0"/>
          </p:cNvCxnSpPr>
          <p:nvPr/>
        </p:nvCxnSpPr>
        <p:spPr>
          <a:xfrm>
            <a:off x="1896649" y="1741376"/>
            <a:ext cx="1152784" cy="479018"/>
          </a:xfrm>
          <a:prstGeom prst="bentConnector2">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73" name="Rectangle 72">
            <a:extLst>
              <a:ext uri="{FF2B5EF4-FFF2-40B4-BE49-F238E27FC236}">
                <a16:creationId xmlns:a16="http://schemas.microsoft.com/office/drawing/2014/main" id="{7EE37FDD-A738-0148-9080-139B51638EC5}"/>
              </a:ext>
            </a:extLst>
          </p:cNvPr>
          <p:cNvSpPr/>
          <p:nvPr/>
        </p:nvSpPr>
        <p:spPr>
          <a:xfrm>
            <a:off x="5344629" y="4788371"/>
            <a:ext cx="284100" cy="360000"/>
          </a:xfrm>
          <a:prstGeom prst="rect">
            <a:avLst/>
          </a:prstGeom>
          <a:solidFill>
            <a:schemeClr val="bg1">
              <a:lumMod val="7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74" name="Rectangle 73">
            <a:extLst>
              <a:ext uri="{FF2B5EF4-FFF2-40B4-BE49-F238E27FC236}">
                <a16:creationId xmlns:a16="http://schemas.microsoft.com/office/drawing/2014/main" id="{78B047A4-FEFD-1548-8F59-E387E55A498E}"/>
              </a:ext>
            </a:extLst>
          </p:cNvPr>
          <p:cNvSpPr/>
          <p:nvPr/>
        </p:nvSpPr>
        <p:spPr>
          <a:xfrm>
            <a:off x="5630668" y="4785990"/>
            <a:ext cx="284100" cy="360000"/>
          </a:xfrm>
          <a:prstGeom prst="rect">
            <a:avLst/>
          </a:prstGeom>
          <a:solidFill>
            <a:schemeClr val="accent4"/>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76" name="Rectangle 75">
            <a:extLst>
              <a:ext uri="{FF2B5EF4-FFF2-40B4-BE49-F238E27FC236}">
                <a16:creationId xmlns:a16="http://schemas.microsoft.com/office/drawing/2014/main" id="{B2327144-B085-544F-8A01-C1606A61A260}"/>
              </a:ext>
            </a:extLst>
          </p:cNvPr>
          <p:cNvSpPr/>
          <p:nvPr/>
        </p:nvSpPr>
        <p:spPr>
          <a:xfrm>
            <a:off x="5914239" y="4785990"/>
            <a:ext cx="284100" cy="360000"/>
          </a:xfrm>
          <a:prstGeom prst="rect">
            <a:avLst/>
          </a:prstGeom>
          <a:solidFill>
            <a:schemeClr val="accent4">
              <a:lumMod val="7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77" name="Rectangle 76">
            <a:extLst>
              <a:ext uri="{FF2B5EF4-FFF2-40B4-BE49-F238E27FC236}">
                <a16:creationId xmlns:a16="http://schemas.microsoft.com/office/drawing/2014/main" id="{6E915600-F3D4-6D46-BFE8-24F6E1331BD9}"/>
              </a:ext>
            </a:extLst>
          </p:cNvPr>
          <p:cNvSpPr/>
          <p:nvPr/>
        </p:nvSpPr>
        <p:spPr>
          <a:xfrm>
            <a:off x="6198632" y="4788371"/>
            <a:ext cx="284100" cy="360000"/>
          </a:xfrm>
          <a:prstGeom prst="rect">
            <a:avLst/>
          </a:prstGeom>
          <a:solidFill>
            <a:srgbClr val="0070C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81" name="Rectangle 80">
            <a:extLst>
              <a:ext uri="{FF2B5EF4-FFF2-40B4-BE49-F238E27FC236}">
                <a16:creationId xmlns:a16="http://schemas.microsoft.com/office/drawing/2014/main" id="{CEBC8136-9909-BF43-9F0E-8340832ADE90}"/>
              </a:ext>
            </a:extLst>
          </p:cNvPr>
          <p:cNvSpPr/>
          <p:nvPr/>
        </p:nvSpPr>
        <p:spPr>
          <a:xfrm>
            <a:off x="6477534" y="4785990"/>
            <a:ext cx="284100" cy="360000"/>
          </a:xfrm>
          <a:prstGeom prst="rect">
            <a:avLst/>
          </a:prstGeom>
          <a:solidFill>
            <a:srgbClr val="92D05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31" name="Right Arrow 30">
            <a:extLst>
              <a:ext uri="{FF2B5EF4-FFF2-40B4-BE49-F238E27FC236}">
                <a16:creationId xmlns:a16="http://schemas.microsoft.com/office/drawing/2014/main" id="{5384B7E3-ED2C-B143-8B5B-A13F4D6D75F3}"/>
              </a:ext>
            </a:extLst>
          </p:cNvPr>
          <p:cNvSpPr/>
          <p:nvPr/>
        </p:nvSpPr>
        <p:spPr>
          <a:xfrm>
            <a:off x="2908477" y="4904952"/>
            <a:ext cx="2808312"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68" name="Right Brace 67">
            <a:extLst>
              <a:ext uri="{FF2B5EF4-FFF2-40B4-BE49-F238E27FC236}">
                <a16:creationId xmlns:a16="http://schemas.microsoft.com/office/drawing/2014/main" id="{14CCF89D-13DE-2341-AD0B-343C2DE6DB9A}"/>
              </a:ext>
            </a:extLst>
          </p:cNvPr>
          <p:cNvSpPr/>
          <p:nvPr/>
        </p:nvSpPr>
        <p:spPr>
          <a:xfrm rot="16200000">
            <a:off x="1346012" y="903623"/>
            <a:ext cx="167965" cy="933309"/>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69" name="TextBox 68">
            <a:extLst>
              <a:ext uri="{FF2B5EF4-FFF2-40B4-BE49-F238E27FC236}">
                <a16:creationId xmlns:a16="http://schemas.microsoft.com/office/drawing/2014/main" id="{EF8BD776-3FF9-C94F-AAC5-30272F7714D2}"/>
              </a:ext>
            </a:extLst>
          </p:cNvPr>
          <p:cNvSpPr txBox="1"/>
          <p:nvPr/>
        </p:nvSpPr>
        <p:spPr>
          <a:xfrm>
            <a:off x="811653" y="1017146"/>
            <a:ext cx="1303562" cy="276999"/>
          </a:xfrm>
          <a:prstGeom prst="rect">
            <a:avLst/>
          </a:prstGeom>
          <a:noFill/>
        </p:spPr>
        <p:txBody>
          <a:bodyPr wrap="none" rtlCol="0">
            <a:spAutoFit/>
          </a:bodyPr>
          <a:lstStyle/>
          <a:p>
            <a:r>
              <a:rPr lang="zh-CN" altLang="en-US" sz="1200" dirty="0"/>
              <a:t>保存在固定位置</a:t>
            </a:r>
            <a:endParaRPr lang="en-CN" sz="1200" dirty="0"/>
          </a:p>
        </p:txBody>
      </p:sp>
      <p:sp>
        <p:nvSpPr>
          <p:cNvPr id="72" name="TextBox 71">
            <a:extLst>
              <a:ext uri="{FF2B5EF4-FFF2-40B4-BE49-F238E27FC236}">
                <a16:creationId xmlns:a16="http://schemas.microsoft.com/office/drawing/2014/main" id="{0F3E4C2F-BDD0-AC44-B954-116A71B722FF}"/>
              </a:ext>
            </a:extLst>
          </p:cNvPr>
          <p:cNvSpPr txBox="1"/>
          <p:nvPr/>
        </p:nvSpPr>
        <p:spPr>
          <a:xfrm>
            <a:off x="4005990" y="1216674"/>
            <a:ext cx="5033399" cy="369332"/>
          </a:xfrm>
          <a:prstGeom prst="rect">
            <a:avLst/>
          </a:prstGeom>
          <a:noFill/>
        </p:spPr>
        <p:txBody>
          <a:bodyPr wrap="square" rtlCol="0">
            <a:spAutoFit/>
          </a:bodyPr>
          <a:lstStyle/>
          <a:p>
            <a:r>
              <a:rPr lang="zh-CN" altLang="en-US" dirty="0">
                <a:solidFill>
                  <a:srgbClr val="C00000"/>
                </a:solidFill>
              </a:rPr>
              <a:t>修改传递到多个结构，写放大严重</a:t>
            </a:r>
            <a:endParaRPr lang="en-CN" dirty="0">
              <a:solidFill>
                <a:srgbClr val="C00000"/>
              </a:solidFill>
            </a:endParaRPr>
          </a:p>
        </p:txBody>
      </p:sp>
      <p:sp>
        <p:nvSpPr>
          <p:cNvPr id="85" name="TextBox 84">
            <a:extLst>
              <a:ext uri="{FF2B5EF4-FFF2-40B4-BE49-F238E27FC236}">
                <a16:creationId xmlns:a16="http://schemas.microsoft.com/office/drawing/2014/main" id="{5B1F507D-A384-9245-A8BD-26B2CFA3BF94}"/>
              </a:ext>
            </a:extLst>
          </p:cNvPr>
          <p:cNvSpPr txBox="1"/>
          <p:nvPr/>
        </p:nvSpPr>
        <p:spPr>
          <a:xfrm>
            <a:off x="331942" y="1631065"/>
            <a:ext cx="354221" cy="1323439"/>
          </a:xfrm>
          <a:prstGeom prst="rect">
            <a:avLst/>
          </a:prstGeom>
          <a:noFill/>
        </p:spPr>
        <p:txBody>
          <a:bodyPr wrap="square" rtlCol="0">
            <a:spAutoFit/>
          </a:bodyPr>
          <a:lstStyle/>
          <a:p>
            <a:r>
              <a:rPr lang="zh-CN" altLang="en-CN" sz="2000" dirty="0"/>
              <a:t>逻辑</a:t>
            </a:r>
            <a:r>
              <a:rPr lang="zh-CN" altLang="en-US" sz="2000" dirty="0"/>
              <a:t>结构</a:t>
            </a:r>
            <a:endParaRPr lang="en-CN" sz="2000" dirty="0"/>
          </a:p>
        </p:txBody>
      </p:sp>
      <p:sp>
        <p:nvSpPr>
          <p:cNvPr id="86" name="TextBox 85">
            <a:extLst>
              <a:ext uri="{FF2B5EF4-FFF2-40B4-BE49-F238E27FC236}">
                <a16:creationId xmlns:a16="http://schemas.microsoft.com/office/drawing/2014/main" id="{54D5B3E5-314E-594B-997F-A639BF6CA564}"/>
              </a:ext>
            </a:extLst>
          </p:cNvPr>
          <p:cNvSpPr txBox="1"/>
          <p:nvPr/>
        </p:nvSpPr>
        <p:spPr>
          <a:xfrm>
            <a:off x="367002" y="4161072"/>
            <a:ext cx="284100" cy="1323439"/>
          </a:xfrm>
          <a:prstGeom prst="rect">
            <a:avLst/>
          </a:prstGeom>
          <a:noFill/>
        </p:spPr>
        <p:txBody>
          <a:bodyPr wrap="square" rtlCol="0">
            <a:spAutoFit/>
          </a:bodyPr>
          <a:lstStyle/>
          <a:p>
            <a:r>
              <a:rPr lang="zh-CN" altLang="en-US" sz="2000" dirty="0"/>
              <a:t>存储结构</a:t>
            </a:r>
            <a:endParaRPr lang="en-CN" sz="2000" dirty="0"/>
          </a:p>
        </p:txBody>
      </p:sp>
    </p:spTree>
    <p:extLst>
      <p:ext uri="{BB962C8B-B14F-4D97-AF65-F5344CB8AC3E}">
        <p14:creationId xmlns:p14="http://schemas.microsoft.com/office/powerpoint/2010/main" val="36929627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265B5F-E8D0-9B4B-8BB0-FFF98707AFC9}"/>
              </a:ext>
            </a:extLst>
          </p:cNvPr>
          <p:cNvSpPr/>
          <p:nvPr/>
        </p:nvSpPr>
        <p:spPr>
          <a:xfrm>
            <a:off x="1249134" y="4785990"/>
            <a:ext cx="6435948" cy="360000"/>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 name="Title 1">
            <a:extLst>
              <a:ext uri="{FF2B5EF4-FFF2-40B4-BE49-F238E27FC236}">
                <a16:creationId xmlns:a16="http://schemas.microsoft.com/office/drawing/2014/main" id="{04AA801F-C21B-904D-B19B-F50F0A7BCF45}"/>
              </a:ext>
            </a:extLst>
          </p:cNvPr>
          <p:cNvSpPr>
            <a:spLocks noGrp="1"/>
          </p:cNvSpPr>
          <p:nvPr>
            <p:ph type="title"/>
          </p:nvPr>
        </p:nvSpPr>
        <p:spPr/>
        <p:txBody>
          <a:bodyPr>
            <a:normAutofit/>
          </a:bodyPr>
          <a:lstStyle/>
          <a:p>
            <a:r>
              <a:rPr lang="en-US" altLang="zh-CN" dirty="0"/>
              <a:t>LFS</a:t>
            </a:r>
            <a:r>
              <a:rPr lang="zh-CN" altLang="en-US" dirty="0"/>
              <a:t>的问题</a:t>
            </a:r>
            <a:r>
              <a:rPr lang="en-US" altLang="zh-CN" dirty="0"/>
              <a:t>-2</a:t>
            </a:r>
            <a:r>
              <a:rPr lang="zh-CN" altLang="en-US" dirty="0"/>
              <a:t>：单一</a:t>
            </a:r>
            <a:r>
              <a:rPr lang="en-US" altLang="zh-CN" dirty="0"/>
              <a:t>log</a:t>
            </a:r>
            <a:r>
              <a:rPr lang="zh-CN" altLang="en-US" dirty="0"/>
              <a:t>顺序写入</a:t>
            </a:r>
            <a:endParaRPr lang="en-CN" dirty="0"/>
          </a:p>
        </p:txBody>
      </p:sp>
      <p:sp>
        <p:nvSpPr>
          <p:cNvPr id="4" name="Slide Number Placeholder 3">
            <a:extLst>
              <a:ext uri="{FF2B5EF4-FFF2-40B4-BE49-F238E27FC236}">
                <a16:creationId xmlns:a16="http://schemas.microsoft.com/office/drawing/2014/main" id="{29635DD5-5238-954F-AA1D-0B15F66DB369}"/>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
        <p:nvSpPr>
          <p:cNvPr id="5" name="Footer Placeholder 4">
            <a:extLst>
              <a:ext uri="{FF2B5EF4-FFF2-40B4-BE49-F238E27FC236}">
                <a16:creationId xmlns:a16="http://schemas.microsoft.com/office/drawing/2014/main" id="{219D56D5-E01E-584F-BDA4-4A95035763D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Rectangle 8">
            <a:extLst>
              <a:ext uri="{FF2B5EF4-FFF2-40B4-BE49-F238E27FC236}">
                <a16:creationId xmlns:a16="http://schemas.microsoft.com/office/drawing/2014/main" id="{481DD187-7A04-924A-88CE-EC24085D9896}"/>
              </a:ext>
            </a:extLst>
          </p:cNvPr>
          <p:cNvSpPr/>
          <p:nvPr/>
        </p:nvSpPr>
        <p:spPr>
          <a:xfrm>
            <a:off x="14576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SB</a:t>
            </a:r>
          </a:p>
        </p:txBody>
      </p:sp>
      <p:sp>
        <p:nvSpPr>
          <p:cNvPr id="10" name="Rectangle 9">
            <a:extLst>
              <a:ext uri="{FF2B5EF4-FFF2-40B4-BE49-F238E27FC236}">
                <a16:creationId xmlns:a16="http://schemas.microsoft.com/office/drawing/2014/main" id="{234A33EC-B566-C04E-B991-752EFCE381FB}"/>
              </a:ext>
            </a:extLst>
          </p:cNvPr>
          <p:cNvSpPr/>
          <p:nvPr/>
        </p:nvSpPr>
        <p:spPr>
          <a:xfrm>
            <a:off x="17417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4" name="Rectangle 13">
            <a:extLst>
              <a:ext uri="{FF2B5EF4-FFF2-40B4-BE49-F238E27FC236}">
                <a16:creationId xmlns:a16="http://schemas.microsoft.com/office/drawing/2014/main" id="{6E071324-7B69-9744-A3AA-B557FD8A43C8}"/>
              </a:ext>
            </a:extLst>
          </p:cNvPr>
          <p:cNvSpPr/>
          <p:nvPr/>
        </p:nvSpPr>
        <p:spPr>
          <a:xfrm>
            <a:off x="2874661"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5" name="Rectangle 14">
            <a:extLst>
              <a:ext uri="{FF2B5EF4-FFF2-40B4-BE49-F238E27FC236}">
                <a16:creationId xmlns:a16="http://schemas.microsoft.com/office/drawing/2014/main" id="{A5A7ED0E-B78C-414B-9434-CB86EAA92D2B}"/>
              </a:ext>
            </a:extLst>
          </p:cNvPr>
          <p:cNvSpPr/>
          <p:nvPr/>
        </p:nvSpPr>
        <p:spPr>
          <a:xfrm>
            <a:off x="3157288" y="4785990"/>
            <a:ext cx="284100" cy="36000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6" name="Rectangle 15">
            <a:extLst>
              <a:ext uri="{FF2B5EF4-FFF2-40B4-BE49-F238E27FC236}">
                <a16:creationId xmlns:a16="http://schemas.microsoft.com/office/drawing/2014/main" id="{75D016D2-BDBC-004F-85CF-DE5499846E97}"/>
              </a:ext>
            </a:extLst>
          </p:cNvPr>
          <p:cNvSpPr/>
          <p:nvPr/>
        </p:nvSpPr>
        <p:spPr>
          <a:xfrm>
            <a:off x="3439915" y="4785990"/>
            <a:ext cx="185483"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7" name="Rectangle 16">
            <a:extLst>
              <a:ext uri="{FF2B5EF4-FFF2-40B4-BE49-F238E27FC236}">
                <a16:creationId xmlns:a16="http://schemas.microsoft.com/office/drawing/2014/main" id="{E16DFE47-FF32-D34B-B6BC-EE4D68469DA0}"/>
              </a:ext>
            </a:extLst>
          </p:cNvPr>
          <p:cNvSpPr/>
          <p:nvPr/>
        </p:nvSpPr>
        <p:spPr>
          <a:xfrm>
            <a:off x="4191320" y="4785990"/>
            <a:ext cx="146031"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8" name="Rectangle 17">
            <a:extLst>
              <a:ext uri="{FF2B5EF4-FFF2-40B4-BE49-F238E27FC236}">
                <a16:creationId xmlns:a16="http://schemas.microsoft.com/office/drawing/2014/main" id="{E41776D0-E41D-D949-9A98-1BBB02569D5C}"/>
              </a:ext>
            </a:extLst>
          </p:cNvPr>
          <p:cNvSpPr/>
          <p:nvPr/>
        </p:nvSpPr>
        <p:spPr>
          <a:xfrm>
            <a:off x="3625398" y="4785990"/>
            <a:ext cx="284100" cy="360000"/>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9" name="Rectangle 18">
            <a:extLst>
              <a:ext uri="{FF2B5EF4-FFF2-40B4-BE49-F238E27FC236}">
                <a16:creationId xmlns:a16="http://schemas.microsoft.com/office/drawing/2014/main" id="{F80BB814-B838-D94B-85BA-DD5EBCA25B94}"/>
              </a:ext>
            </a:extLst>
          </p:cNvPr>
          <p:cNvSpPr/>
          <p:nvPr/>
        </p:nvSpPr>
        <p:spPr>
          <a:xfrm>
            <a:off x="3908025"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20" name="Rectangle 19">
            <a:extLst>
              <a:ext uri="{FF2B5EF4-FFF2-40B4-BE49-F238E27FC236}">
                <a16:creationId xmlns:a16="http://schemas.microsoft.com/office/drawing/2014/main" id="{837910C3-C981-CB43-9299-479EEBF512B2}"/>
              </a:ext>
            </a:extLst>
          </p:cNvPr>
          <p:cNvSpPr/>
          <p:nvPr/>
        </p:nvSpPr>
        <p:spPr>
          <a:xfrm>
            <a:off x="4337351"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1" name="Rectangle 20">
            <a:extLst>
              <a:ext uri="{FF2B5EF4-FFF2-40B4-BE49-F238E27FC236}">
                <a16:creationId xmlns:a16="http://schemas.microsoft.com/office/drawing/2014/main" id="{0A9BB4F2-F16A-0246-B396-F25B7E09DA5D}"/>
              </a:ext>
            </a:extLst>
          </p:cNvPr>
          <p:cNvSpPr/>
          <p:nvPr/>
        </p:nvSpPr>
        <p:spPr>
          <a:xfrm>
            <a:off x="4621381" y="4785990"/>
            <a:ext cx="156145"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2" name="Rectangle 21">
            <a:extLst>
              <a:ext uri="{FF2B5EF4-FFF2-40B4-BE49-F238E27FC236}">
                <a16:creationId xmlns:a16="http://schemas.microsoft.com/office/drawing/2014/main" id="{970D0D23-F3D0-7247-84CE-3EB8FC0F5754}"/>
              </a:ext>
            </a:extLst>
          </p:cNvPr>
          <p:cNvSpPr/>
          <p:nvPr/>
        </p:nvSpPr>
        <p:spPr>
          <a:xfrm>
            <a:off x="4777526"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24" name="Rectangle 23">
            <a:extLst>
              <a:ext uri="{FF2B5EF4-FFF2-40B4-BE49-F238E27FC236}">
                <a16:creationId xmlns:a16="http://schemas.microsoft.com/office/drawing/2014/main" id="{E6D0BDA5-4DD0-0141-9581-BD934E869EF6}"/>
              </a:ext>
            </a:extLst>
          </p:cNvPr>
          <p:cNvSpPr/>
          <p:nvPr/>
        </p:nvSpPr>
        <p:spPr>
          <a:xfrm>
            <a:off x="5060529" y="4785990"/>
            <a:ext cx="284100" cy="360000"/>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33" name="Rectangle 32">
            <a:extLst>
              <a:ext uri="{FF2B5EF4-FFF2-40B4-BE49-F238E27FC236}">
                <a16:creationId xmlns:a16="http://schemas.microsoft.com/office/drawing/2014/main" id="{03934CEA-E1FA-0A49-883A-B4D52CEAFAA2}"/>
              </a:ext>
            </a:extLst>
          </p:cNvPr>
          <p:cNvSpPr/>
          <p:nvPr/>
        </p:nvSpPr>
        <p:spPr>
          <a:xfrm>
            <a:off x="963340"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超级块</a:t>
            </a:r>
            <a:endParaRPr lang="en-CN" sz="1000" dirty="0"/>
          </a:p>
        </p:txBody>
      </p:sp>
      <p:sp>
        <p:nvSpPr>
          <p:cNvPr id="34" name="Rectangle 33">
            <a:extLst>
              <a:ext uri="{FF2B5EF4-FFF2-40B4-BE49-F238E27FC236}">
                <a16:creationId xmlns:a16="http://schemas.microsoft.com/office/drawing/2014/main" id="{30D70729-9C16-DF4D-B077-3EFA2A00E87D}"/>
              </a:ext>
            </a:extLst>
          </p:cNvPr>
          <p:cNvSpPr/>
          <p:nvPr/>
        </p:nvSpPr>
        <p:spPr>
          <a:xfrm>
            <a:off x="1463843"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检查点</a:t>
            </a:r>
            <a:endParaRPr lang="en-CN" sz="1000" dirty="0"/>
          </a:p>
        </p:txBody>
      </p:sp>
      <p:sp>
        <p:nvSpPr>
          <p:cNvPr id="35" name="Rectangle 34">
            <a:extLst>
              <a:ext uri="{FF2B5EF4-FFF2-40B4-BE49-F238E27FC236}">
                <a16:creationId xmlns:a16="http://schemas.microsoft.com/office/drawing/2014/main" id="{AC1AA524-9DDD-3E4A-8026-8D13EB0BF4E9}"/>
              </a:ext>
            </a:extLst>
          </p:cNvPr>
          <p:cNvSpPr/>
          <p:nvPr/>
        </p:nvSpPr>
        <p:spPr>
          <a:xfrm>
            <a:off x="997188" y="2887865"/>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段使用表</a:t>
            </a:r>
            <a:endParaRPr lang="en-CN" sz="1000" dirty="0"/>
          </a:p>
        </p:txBody>
      </p:sp>
      <p:sp>
        <p:nvSpPr>
          <p:cNvPr id="36" name="Rectangle 35">
            <a:extLst>
              <a:ext uri="{FF2B5EF4-FFF2-40B4-BE49-F238E27FC236}">
                <a16:creationId xmlns:a16="http://schemas.microsoft.com/office/drawing/2014/main" id="{1660AFEA-57A9-B448-B44B-8F439D7ED339}"/>
              </a:ext>
            </a:extLst>
          </p:cNvPr>
          <p:cNvSpPr/>
          <p:nvPr/>
        </p:nvSpPr>
        <p:spPr>
          <a:xfrm>
            <a:off x="997188" y="3373453"/>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t>段概要</a:t>
            </a:r>
            <a:endParaRPr lang="en-CN" sz="1000" dirty="0"/>
          </a:p>
        </p:txBody>
      </p:sp>
      <p:sp>
        <p:nvSpPr>
          <p:cNvPr id="37" name="Rectangle 36">
            <a:extLst>
              <a:ext uri="{FF2B5EF4-FFF2-40B4-BE49-F238E27FC236}">
                <a16:creationId xmlns:a16="http://schemas.microsoft.com/office/drawing/2014/main" id="{3B7BA522-C109-C84E-8D7E-B5B7A7374F8F}"/>
              </a:ext>
            </a:extLst>
          </p:cNvPr>
          <p:cNvSpPr/>
          <p:nvPr/>
        </p:nvSpPr>
        <p:spPr>
          <a:xfrm>
            <a:off x="2445096" y="1947181"/>
            <a:ext cx="933309" cy="345604"/>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err="1">
                <a:solidFill>
                  <a:sysClr val="windowText" lastClr="000000"/>
                </a:solidFill>
              </a:rPr>
              <a:t>inode</a:t>
            </a:r>
            <a:r>
              <a:rPr lang="zh-CN" altLang="en-US" sz="1000" dirty="0">
                <a:solidFill>
                  <a:sysClr val="windowText" lastClr="000000"/>
                </a:solidFill>
              </a:rPr>
              <a:t> </a:t>
            </a:r>
            <a:r>
              <a:rPr lang="en-US" altLang="zh-CN" sz="1000" dirty="0">
                <a:solidFill>
                  <a:sysClr val="windowText" lastClr="000000"/>
                </a:solidFill>
              </a:rPr>
              <a:t>map</a:t>
            </a:r>
            <a:endParaRPr lang="en-CN" sz="1000" dirty="0">
              <a:solidFill>
                <a:sysClr val="windowText" lastClr="000000"/>
              </a:solidFill>
            </a:endParaRPr>
          </a:p>
        </p:txBody>
      </p:sp>
      <p:sp>
        <p:nvSpPr>
          <p:cNvPr id="38" name="Rectangle 37">
            <a:extLst>
              <a:ext uri="{FF2B5EF4-FFF2-40B4-BE49-F238E27FC236}">
                <a16:creationId xmlns:a16="http://schemas.microsoft.com/office/drawing/2014/main" id="{5663CC65-3A6E-B14A-AE33-FDC44C60434D}"/>
              </a:ext>
            </a:extLst>
          </p:cNvPr>
          <p:cNvSpPr/>
          <p:nvPr/>
        </p:nvSpPr>
        <p:spPr>
          <a:xfrm>
            <a:off x="4000453" y="2226928"/>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目录</a:t>
            </a:r>
            <a:endParaRPr lang="en-US" altLang="zh-CN" sz="1000" dirty="0"/>
          </a:p>
          <a:p>
            <a:pPr algn="ctr"/>
            <a:r>
              <a:rPr lang="en-US" altLang="zh-CN" sz="1000" dirty="0" err="1"/>
              <a:t>inode</a:t>
            </a:r>
            <a:endParaRPr lang="en-CN" sz="1000" dirty="0"/>
          </a:p>
        </p:txBody>
      </p:sp>
      <p:sp>
        <p:nvSpPr>
          <p:cNvPr id="39" name="Rectangle 38">
            <a:extLst>
              <a:ext uri="{FF2B5EF4-FFF2-40B4-BE49-F238E27FC236}">
                <a16:creationId xmlns:a16="http://schemas.microsoft.com/office/drawing/2014/main" id="{29A78A4F-7661-4041-8453-8422DD84399F}"/>
              </a:ext>
            </a:extLst>
          </p:cNvPr>
          <p:cNvSpPr/>
          <p:nvPr/>
        </p:nvSpPr>
        <p:spPr>
          <a:xfrm>
            <a:off x="4000453" y="2839212"/>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常规文件</a:t>
            </a:r>
            <a:r>
              <a:rPr lang="en-US" altLang="zh-CN" sz="1000" dirty="0" err="1"/>
              <a:t>inode</a:t>
            </a:r>
            <a:endParaRPr lang="en-CN" sz="1000" dirty="0"/>
          </a:p>
        </p:txBody>
      </p:sp>
      <p:sp>
        <p:nvSpPr>
          <p:cNvPr id="40" name="Rectangle 39">
            <a:extLst>
              <a:ext uri="{FF2B5EF4-FFF2-40B4-BE49-F238E27FC236}">
                <a16:creationId xmlns:a16="http://schemas.microsoft.com/office/drawing/2014/main" id="{EEFED4E3-A7F9-4F4F-A11E-A2E76A541DB8}"/>
              </a:ext>
            </a:extLst>
          </p:cNvPr>
          <p:cNvSpPr/>
          <p:nvPr/>
        </p:nvSpPr>
        <p:spPr>
          <a:xfrm>
            <a:off x="5655279" y="2471680"/>
            <a:ext cx="933309" cy="345604"/>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目录数据</a:t>
            </a:r>
            <a:endParaRPr lang="en-CN" sz="1000" dirty="0"/>
          </a:p>
        </p:txBody>
      </p:sp>
      <p:sp>
        <p:nvSpPr>
          <p:cNvPr id="41" name="Rectangle 40">
            <a:extLst>
              <a:ext uri="{FF2B5EF4-FFF2-40B4-BE49-F238E27FC236}">
                <a16:creationId xmlns:a16="http://schemas.microsoft.com/office/drawing/2014/main" id="{B957CB33-91E4-6546-9ADE-83EB07781A29}"/>
              </a:ext>
            </a:extLst>
          </p:cNvPr>
          <p:cNvSpPr/>
          <p:nvPr/>
        </p:nvSpPr>
        <p:spPr>
          <a:xfrm>
            <a:off x="5655280" y="3184816"/>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42" name="Rectangle 41">
            <a:extLst>
              <a:ext uri="{FF2B5EF4-FFF2-40B4-BE49-F238E27FC236}">
                <a16:creationId xmlns:a16="http://schemas.microsoft.com/office/drawing/2014/main" id="{B5083F75-75F6-9E4A-A0F5-CD2929CDF635}"/>
              </a:ext>
            </a:extLst>
          </p:cNvPr>
          <p:cNvSpPr/>
          <p:nvPr/>
        </p:nvSpPr>
        <p:spPr>
          <a:xfrm>
            <a:off x="6776734" y="3757556"/>
            <a:ext cx="933309" cy="34560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索引块</a:t>
            </a:r>
            <a:endParaRPr lang="en-CN" sz="1000" dirty="0">
              <a:solidFill>
                <a:sysClr val="windowText" lastClr="000000"/>
              </a:solidFill>
            </a:endParaRPr>
          </a:p>
        </p:txBody>
      </p:sp>
      <p:sp>
        <p:nvSpPr>
          <p:cNvPr id="43" name="Rectangle 42">
            <a:extLst>
              <a:ext uri="{FF2B5EF4-FFF2-40B4-BE49-F238E27FC236}">
                <a16:creationId xmlns:a16="http://schemas.microsoft.com/office/drawing/2014/main" id="{8D4BC379-3842-CA47-ADBC-93D3CBD5BB3D}"/>
              </a:ext>
            </a:extLst>
          </p:cNvPr>
          <p:cNvSpPr/>
          <p:nvPr/>
        </p:nvSpPr>
        <p:spPr>
          <a:xfrm>
            <a:off x="4826872" y="3757664"/>
            <a:ext cx="933309" cy="345604"/>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二级索引块</a:t>
            </a:r>
            <a:endParaRPr lang="en-CN" sz="1000" dirty="0">
              <a:solidFill>
                <a:sysClr val="windowText" lastClr="000000"/>
              </a:solidFill>
            </a:endParaRPr>
          </a:p>
        </p:txBody>
      </p:sp>
      <p:sp>
        <p:nvSpPr>
          <p:cNvPr id="44" name="Rectangle 43">
            <a:extLst>
              <a:ext uri="{FF2B5EF4-FFF2-40B4-BE49-F238E27FC236}">
                <a16:creationId xmlns:a16="http://schemas.microsoft.com/office/drawing/2014/main" id="{AFDEF791-0082-1645-8BCE-8AE568AD370A}"/>
              </a:ext>
            </a:extLst>
          </p:cNvPr>
          <p:cNvSpPr/>
          <p:nvPr/>
        </p:nvSpPr>
        <p:spPr>
          <a:xfrm>
            <a:off x="7481522" y="3201965"/>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cxnSp>
        <p:nvCxnSpPr>
          <p:cNvPr id="46" name="Elbow Connector 45">
            <a:extLst>
              <a:ext uri="{FF2B5EF4-FFF2-40B4-BE49-F238E27FC236}">
                <a16:creationId xmlns:a16="http://schemas.microsoft.com/office/drawing/2014/main" id="{6C34F0D1-6A0D-7349-878A-CF2D39C30094}"/>
              </a:ext>
            </a:extLst>
          </p:cNvPr>
          <p:cNvCxnSpPr>
            <a:stCxn id="34" idx="3"/>
            <a:endCxn id="37" idx="0"/>
          </p:cNvCxnSpPr>
          <p:nvPr/>
        </p:nvCxnSpPr>
        <p:spPr>
          <a:xfrm>
            <a:off x="1896649" y="1741376"/>
            <a:ext cx="1015102" cy="20580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8" name="Elbow Connector 47">
            <a:extLst>
              <a:ext uri="{FF2B5EF4-FFF2-40B4-BE49-F238E27FC236}">
                <a16:creationId xmlns:a16="http://schemas.microsoft.com/office/drawing/2014/main" id="{E4CD613D-B629-7948-ACDB-AA9721336B44}"/>
              </a:ext>
            </a:extLst>
          </p:cNvPr>
          <p:cNvCxnSpPr>
            <a:cxnSpLocks/>
            <a:stCxn id="34" idx="2"/>
            <a:endCxn id="35" idx="0"/>
          </p:cNvCxnSpPr>
          <p:nvPr/>
        </p:nvCxnSpPr>
        <p:spPr>
          <a:xfrm rot="5400000">
            <a:off x="1124815" y="2332433"/>
            <a:ext cx="894461" cy="2164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1" name="Elbow Connector 50">
            <a:extLst>
              <a:ext uri="{FF2B5EF4-FFF2-40B4-BE49-F238E27FC236}">
                <a16:creationId xmlns:a16="http://schemas.microsoft.com/office/drawing/2014/main" id="{40265B92-DAB0-A247-A15C-84CDD230CBA6}"/>
              </a:ext>
            </a:extLst>
          </p:cNvPr>
          <p:cNvCxnSpPr>
            <a:cxnSpLocks/>
            <a:stCxn id="37" idx="3"/>
            <a:endCxn id="38" idx="1"/>
          </p:cNvCxnSpPr>
          <p:nvPr/>
        </p:nvCxnSpPr>
        <p:spPr>
          <a:xfrm>
            <a:off x="3378405" y="2119983"/>
            <a:ext cx="622048" cy="27974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5" name="Elbow Connector 54">
            <a:extLst>
              <a:ext uri="{FF2B5EF4-FFF2-40B4-BE49-F238E27FC236}">
                <a16:creationId xmlns:a16="http://schemas.microsoft.com/office/drawing/2014/main" id="{F524F4DB-A289-A14E-995E-94A83CE1166F}"/>
              </a:ext>
            </a:extLst>
          </p:cNvPr>
          <p:cNvCxnSpPr>
            <a:cxnSpLocks/>
            <a:stCxn id="37" idx="3"/>
            <a:endCxn id="39" idx="1"/>
          </p:cNvCxnSpPr>
          <p:nvPr/>
        </p:nvCxnSpPr>
        <p:spPr>
          <a:xfrm>
            <a:off x="3378405" y="2119983"/>
            <a:ext cx="622048" cy="89203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9" name="Elbow Connector 58">
            <a:extLst>
              <a:ext uri="{FF2B5EF4-FFF2-40B4-BE49-F238E27FC236}">
                <a16:creationId xmlns:a16="http://schemas.microsoft.com/office/drawing/2014/main" id="{83022C20-C7D5-9143-8E60-63FDF125E3A2}"/>
              </a:ext>
            </a:extLst>
          </p:cNvPr>
          <p:cNvCxnSpPr>
            <a:cxnSpLocks/>
            <a:stCxn id="38" idx="3"/>
            <a:endCxn id="40" idx="1"/>
          </p:cNvCxnSpPr>
          <p:nvPr/>
        </p:nvCxnSpPr>
        <p:spPr>
          <a:xfrm>
            <a:off x="4933762" y="2399730"/>
            <a:ext cx="721517" cy="2447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Elbow Connector 62">
            <a:extLst>
              <a:ext uri="{FF2B5EF4-FFF2-40B4-BE49-F238E27FC236}">
                <a16:creationId xmlns:a16="http://schemas.microsoft.com/office/drawing/2014/main" id="{B98E09AD-0E97-3E4D-9E74-332DF949EA1E}"/>
              </a:ext>
            </a:extLst>
          </p:cNvPr>
          <p:cNvCxnSpPr>
            <a:cxnSpLocks/>
            <a:stCxn id="39" idx="3"/>
            <a:endCxn id="41" idx="1"/>
          </p:cNvCxnSpPr>
          <p:nvPr/>
        </p:nvCxnSpPr>
        <p:spPr>
          <a:xfrm>
            <a:off x="4933762" y="3012014"/>
            <a:ext cx="721518" cy="34560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6" name="Elbow Connector 65">
            <a:extLst>
              <a:ext uri="{FF2B5EF4-FFF2-40B4-BE49-F238E27FC236}">
                <a16:creationId xmlns:a16="http://schemas.microsoft.com/office/drawing/2014/main" id="{A8BFD7C2-C92A-CF42-B964-4D8B338E82F5}"/>
              </a:ext>
            </a:extLst>
          </p:cNvPr>
          <p:cNvCxnSpPr>
            <a:cxnSpLocks/>
            <a:stCxn id="39" idx="2"/>
            <a:endCxn id="43" idx="1"/>
          </p:cNvCxnSpPr>
          <p:nvPr/>
        </p:nvCxnSpPr>
        <p:spPr>
          <a:xfrm rot="16200000" flipH="1">
            <a:off x="4274165" y="3377759"/>
            <a:ext cx="745650" cy="35976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0" name="Elbow Connector 69">
            <a:extLst>
              <a:ext uri="{FF2B5EF4-FFF2-40B4-BE49-F238E27FC236}">
                <a16:creationId xmlns:a16="http://schemas.microsoft.com/office/drawing/2014/main" id="{69361DFE-FC58-BD4C-B43B-D4827874AD6B}"/>
              </a:ext>
            </a:extLst>
          </p:cNvPr>
          <p:cNvCxnSpPr>
            <a:cxnSpLocks/>
            <a:stCxn id="43" idx="3"/>
            <a:endCxn id="42" idx="1"/>
          </p:cNvCxnSpPr>
          <p:nvPr/>
        </p:nvCxnSpPr>
        <p:spPr>
          <a:xfrm flipV="1">
            <a:off x="5760181" y="3930358"/>
            <a:ext cx="1016553" cy="1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5" name="Elbow Connector 74">
            <a:extLst>
              <a:ext uri="{FF2B5EF4-FFF2-40B4-BE49-F238E27FC236}">
                <a16:creationId xmlns:a16="http://schemas.microsoft.com/office/drawing/2014/main" id="{CF118D76-4BB7-0147-8C2C-0E03067F3492}"/>
              </a:ext>
            </a:extLst>
          </p:cNvPr>
          <p:cNvCxnSpPr>
            <a:cxnSpLocks/>
            <a:stCxn id="42" idx="3"/>
            <a:endCxn id="44" idx="2"/>
          </p:cNvCxnSpPr>
          <p:nvPr/>
        </p:nvCxnSpPr>
        <p:spPr>
          <a:xfrm flipV="1">
            <a:off x="7710043" y="3547569"/>
            <a:ext cx="238134" cy="38278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0B273302-4A4E-4841-AF30-18BD303D3037}"/>
              </a:ext>
            </a:extLst>
          </p:cNvPr>
          <p:cNvSpPr txBox="1"/>
          <p:nvPr/>
        </p:nvSpPr>
        <p:spPr>
          <a:xfrm>
            <a:off x="6815327" y="3184815"/>
            <a:ext cx="428061" cy="369332"/>
          </a:xfrm>
          <a:prstGeom prst="rect">
            <a:avLst/>
          </a:prstGeom>
          <a:noFill/>
        </p:spPr>
        <p:txBody>
          <a:bodyPr wrap="square" rtlCol="0">
            <a:spAutoFit/>
          </a:bodyPr>
          <a:lstStyle/>
          <a:p>
            <a:r>
              <a:rPr lang="en-US" dirty="0"/>
              <a:t>…</a:t>
            </a:r>
            <a:endParaRPr lang="en-CN" dirty="0"/>
          </a:p>
        </p:txBody>
      </p:sp>
      <p:sp>
        <p:nvSpPr>
          <p:cNvPr id="79" name="TextBox 78">
            <a:extLst>
              <a:ext uri="{FF2B5EF4-FFF2-40B4-BE49-F238E27FC236}">
                <a16:creationId xmlns:a16="http://schemas.microsoft.com/office/drawing/2014/main" id="{37A22199-192E-7E4F-9110-37A3F0CEE7F9}"/>
              </a:ext>
            </a:extLst>
          </p:cNvPr>
          <p:cNvSpPr txBox="1"/>
          <p:nvPr/>
        </p:nvSpPr>
        <p:spPr>
          <a:xfrm>
            <a:off x="2105725" y="3184815"/>
            <a:ext cx="954107" cy="276999"/>
          </a:xfrm>
          <a:prstGeom prst="rect">
            <a:avLst/>
          </a:prstGeom>
          <a:noFill/>
        </p:spPr>
        <p:txBody>
          <a:bodyPr wrap="none" rtlCol="0">
            <a:spAutoFit/>
          </a:bodyPr>
          <a:lstStyle/>
          <a:p>
            <a:r>
              <a:rPr lang="zh-CN" altLang="en-CN" sz="1200" dirty="0"/>
              <a:t>用于</a:t>
            </a:r>
            <a:r>
              <a:rPr lang="zh-CN" altLang="en-US" sz="1200" dirty="0"/>
              <a:t>段清理</a:t>
            </a:r>
            <a:endParaRPr lang="en-CN" sz="1200" dirty="0"/>
          </a:p>
        </p:txBody>
      </p:sp>
      <p:sp>
        <p:nvSpPr>
          <p:cNvPr id="80" name="Right Brace 79">
            <a:extLst>
              <a:ext uri="{FF2B5EF4-FFF2-40B4-BE49-F238E27FC236}">
                <a16:creationId xmlns:a16="http://schemas.microsoft.com/office/drawing/2014/main" id="{849B04C6-C233-CD42-9F62-1E992E6EE725}"/>
              </a:ext>
            </a:extLst>
          </p:cNvPr>
          <p:cNvSpPr/>
          <p:nvPr/>
        </p:nvSpPr>
        <p:spPr>
          <a:xfrm>
            <a:off x="1998834" y="2887864"/>
            <a:ext cx="167965" cy="869691"/>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3" name="TextBox 2">
            <a:extLst>
              <a:ext uri="{FF2B5EF4-FFF2-40B4-BE49-F238E27FC236}">
                <a16:creationId xmlns:a16="http://schemas.microsoft.com/office/drawing/2014/main" id="{2591972C-318E-6B4B-A838-98792BEF80BC}"/>
              </a:ext>
            </a:extLst>
          </p:cNvPr>
          <p:cNvSpPr txBox="1"/>
          <p:nvPr/>
        </p:nvSpPr>
        <p:spPr>
          <a:xfrm>
            <a:off x="7522704" y="2210211"/>
            <a:ext cx="1441420" cy="307777"/>
          </a:xfrm>
          <a:prstGeom prst="rect">
            <a:avLst/>
          </a:prstGeom>
          <a:noFill/>
        </p:spPr>
        <p:txBody>
          <a:bodyPr wrap="none" rtlCol="0">
            <a:spAutoFit/>
          </a:bodyPr>
          <a:lstStyle/>
          <a:p>
            <a:r>
              <a:rPr lang="zh-CN" altLang="en-CN" sz="1400" b="1" dirty="0"/>
              <a:t>修改</a:t>
            </a:r>
            <a:r>
              <a:rPr lang="zh-CN" altLang="en-US" sz="1400" b="1" dirty="0"/>
              <a:t>一小块数据</a:t>
            </a:r>
            <a:endParaRPr lang="en-CN" sz="1400" b="1" dirty="0"/>
          </a:p>
        </p:txBody>
      </p:sp>
      <p:cxnSp>
        <p:nvCxnSpPr>
          <p:cNvPr id="8" name="Straight Arrow Connector 7">
            <a:extLst>
              <a:ext uri="{FF2B5EF4-FFF2-40B4-BE49-F238E27FC236}">
                <a16:creationId xmlns:a16="http://schemas.microsoft.com/office/drawing/2014/main" id="{07532D6E-9D66-C145-A60C-0EA1E5540FC2}"/>
              </a:ext>
            </a:extLst>
          </p:cNvPr>
          <p:cNvCxnSpPr>
            <a:stCxn id="3" idx="2"/>
            <a:endCxn id="44" idx="0"/>
          </p:cNvCxnSpPr>
          <p:nvPr/>
        </p:nvCxnSpPr>
        <p:spPr>
          <a:xfrm flipH="1">
            <a:off x="7948177" y="2517988"/>
            <a:ext cx="295237" cy="6839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CD3B6480-1350-EC45-8871-F1AC7EB167B9}"/>
              </a:ext>
            </a:extLst>
          </p:cNvPr>
          <p:cNvSpPr/>
          <p:nvPr/>
        </p:nvSpPr>
        <p:spPr>
          <a:xfrm>
            <a:off x="7979315" y="3257837"/>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52" name="Rectangle 51">
            <a:extLst>
              <a:ext uri="{FF2B5EF4-FFF2-40B4-BE49-F238E27FC236}">
                <a16:creationId xmlns:a16="http://schemas.microsoft.com/office/drawing/2014/main" id="{5552D356-C9F4-8C44-B2E7-046490E4C489}"/>
              </a:ext>
            </a:extLst>
          </p:cNvPr>
          <p:cNvSpPr/>
          <p:nvPr/>
        </p:nvSpPr>
        <p:spPr>
          <a:xfrm>
            <a:off x="6929949" y="3991155"/>
            <a:ext cx="933309" cy="34560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索引块</a:t>
            </a:r>
            <a:endParaRPr lang="en-CN" sz="1000" dirty="0">
              <a:solidFill>
                <a:sysClr val="windowText" lastClr="000000"/>
              </a:solidFill>
            </a:endParaRPr>
          </a:p>
        </p:txBody>
      </p:sp>
      <p:sp>
        <p:nvSpPr>
          <p:cNvPr id="53" name="Rectangle 52">
            <a:extLst>
              <a:ext uri="{FF2B5EF4-FFF2-40B4-BE49-F238E27FC236}">
                <a16:creationId xmlns:a16="http://schemas.microsoft.com/office/drawing/2014/main" id="{57D08A3E-B5F9-404F-8381-17FD1B3CCDF8}"/>
              </a:ext>
            </a:extLst>
          </p:cNvPr>
          <p:cNvSpPr/>
          <p:nvPr/>
        </p:nvSpPr>
        <p:spPr>
          <a:xfrm>
            <a:off x="5060374" y="3994861"/>
            <a:ext cx="933309" cy="345604"/>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二级索引块</a:t>
            </a:r>
            <a:endParaRPr lang="en-CN" sz="1000" dirty="0">
              <a:solidFill>
                <a:sysClr val="windowText" lastClr="000000"/>
              </a:solidFill>
            </a:endParaRPr>
          </a:p>
        </p:txBody>
      </p:sp>
      <p:sp>
        <p:nvSpPr>
          <p:cNvPr id="54" name="Rectangle 53">
            <a:extLst>
              <a:ext uri="{FF2B5EF4-FFF2-40B4-BE49-F238E27FC236}">
                <a16:creationId xmlns:a16="http://schemas.microsoft.com/office/drawing/2014/main" id="{B252A085-D144-AE49-817F-72831050B1AC}"/>
              </a:ext>
            </a:extLst>
          </p:cNvPr>
          <p:cNvSpPr/>
          <p:nvPr/>
        </p:nvSpPr>
        <p:spPr>
          <a:xfrm>
            <a:off x="4130194" y="3155797"/>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常规文件</a:t>
            </a:r>
            <a:r>
              <a:rPr lang="en-US" altLang="zh-CN" sz="1000" dirty="0" err="1"/>
              <a:t>inode</a:t>
            </a:r>
            <a:endParaRPr lang="en-CN" sz="1000" dirty="0"/>
          </a:p>
        </p:txBody>
      </p:sp>
      <p:sp>
        <p:nvSpPr>
          <p:cNvPr id="56" name="Rectangle 55">
            <a:extLst>
              <a:ext uri="{FF2B5EF4-FFF2-40B4-BE49-F238E27FC236}">
                <a16:creationId xmlns:a16="http://schemas.microsoft.com/office/drawing/2014/main" id="{F7E6055D-3E77-A44A-A0B5-599E0C75661E}"/>
              </a:ext>
            </a:extLst>
          </p:cNvPr>
          <p:cNvSpPr/>
          <p:nvPr/>
        </p:nvSpPr>
        <p:spPr>
          <a:xfrm>
            <a:off x="2582778" y="2220394"/>
            <a:ext cx="933309" cy="345604"/>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err="1">
                <a:solidFill>
                  <a:sysClr val="windowText" lastClr="000000"/>
                </a:solidFill>
              </a:rPr>
              <a:t>inode</a:t>
            </a:r>
            <a:r>
              <a:rPr lang="zh-CN" altLang="en-US" sz="1000" dirty="0">
                <a:solidFill>
                  <a:sysClr val="windowText" lastClr="000000"/>
                </a:solidFill>
              </a:rPr>
              <a:t> </a:t>
            </a:r>
            <a:r>
              <a:rPr lang="en-US" altLang="zh-CN" sz="1000" dirty="0">
                <a:solidFill>
                  <a:sysClr val="windowText" lastClr="000000"/>
                </a:solidFill>
              </a:rPr>
              <a:t>map</a:t>
            </a:r>
            <a:endParaRPr lang="en-CN" sz="1000" dirty="0">
              <a:solidFill>
                <a:sysClr val="windowText" lastClr="000000"/>
              </a:solidFill>
            </a:endParaRPr>
          </a:p>
        </p:txBody>
      </p:sp>
      <p:cxnSp>
        <p:nvCxnSpPr>
          <p:cNvPr id="57" name="Elbow Connector 56">
            <a:extLst>
              <a:ext uri="{FF2B5EF4-FFF2-40B4-BE49-F238E27FC236}">
                <a16:creationId xmlns:a16="http://schemas.microsoft.com/office/drawing/2014/main" id="{AB16CF8B-DAAC-294E-B607-E5BBE8101E0A}"/>
              </a:ext>
            </a:extLst>
          </p:cNvPr>
          <p:cNvCxnSpPr>
            <a:cxnSpLocks/>
            <a:stCxn id="53" idx="3"/>
            <a:endCxn id="52" idx="1"/>
          </p:cNvCxnSpPr>
          <p:nvPr/>
        </p:nvCxnSpPr>
        <p:spPr>
          <a:xfrm flipV="1">
            <a:off x="5993683" y="4163957"/>
            <a:ext cx="936266" cy="3706"/>
          </a:xfrm>
          <a:prstGeom prst="bentConnector3">
            <a:avLst>
              <a:gd name="adj1" fmla="val 50000"/>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8" name="Elbow Connector 57">
            <a:extLst>
              <a:ext uri="{FF2B5EF4-FFF2-40B4-BE49-F238E27FC236}">
                <a16:creationId xmlns:a16="http://schemas.microsoft.com/office/drawing/2014/main" id="{8E26A2C9-3C0D-274A-9D73-6FEF2B56FE82}"/>
              </a:ext>
            </a:extLst>
          </p:cNvPr>
          <p:cNvCxnSpPr>
            <a:cxnSpLocks/>
            <a:stCxn id="52" idx="3"/>
            <a:endCxn id="49" idx="2"/>
          </p:cNvCxnSpPr>
          <p:nvPr/>
        </p:nvCxnSpPr>
        <p:spPr>
          <a:xfrm flipV="1">
            <a:off x="7863258" y="3603441"/>
            <a:ext cx="582712" cy="560516"/>
          </a:xfrm>
          <a:prstGeom prst="bentConnector2">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1" name="Elbow Connector 60">
            <a:extLst>
              <a:ext uri="{FF2B5EF4-FFF2-40B4-BE49-F238E27FC236}">
                <a16:creationId xmlns:a16="http://schemas.microsoft.com/office/drawing/2014/main" id="{CED02B53-9801-E448-8CDF-BE7B6EAE4292}"/>
              </a:ext>
            </a:extLst>
          </p:cNvPr>
          <p:cNvCxnSpPr>
            <a:cxnSpLocks/>
            <a:stCxn id="54" idx="2"/>
            <a:endCxn id="53" idx="1"/>
          </p:cNvCxnSpPr>
          <p:nvPr/>
        </p:nvCxnSpPr>
        <p:spPr>
          <a:xfrm rot="16200000" flipH="1">
            <a:off x="4495480" y="3602769"/>
            <a:ext cx="666262" cy="463525"/>
          </a:xfrm>
          <a:prstGeom prst="bentConnector2">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4" name="Elbow Connector 63">
            <a:extLst>
              <a:ext uri="{FF2B5EF4-FFF2-40B4-BE49-F238E27FC236}">
                <a16:creationId xmlns:a16="http://schemas.microsoft.com/office/drawing/2014/main" id="{B99EA952-7FED-3742-B066-9A780DE6D7EE}"/>
              </a:ext>
            </a:extLst>
          </p:cNvPr>
          <p:cNvCxnSpPr>
            <a:cxnSpLocks/>
            <a:stCxn id="54" idx="3"/>
            <a:endCxn id="41" idx="1"/>
          </p:cNvCxnSpPr>
          <p:nvPr/>
        </p:nvCxnSpPr>
        <p:spPr>
          <a:xfrm>
            <a:off x="5063503" y="3328599"/>
            <a:ext cx="591777" cy="29019"/>
          </a:xfrm>
          <a:prstGeom prst="bentConnector3">
            <a:avLst>
              <a:gd name="adj1" fmla="val 50000"/>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7" name="Elbow Connector 66">
            <a:extLst>
              <a:ext uri="{FF2B5EF4-FFF2-40B4-BE49-F238E27FC236}">
                <a16:creationId xmlns:a16="http://schemas.microsoft.com/office/drawing/2014/main" id="{267826C7-24BE-D440-B9AC-A2DC0E5B1CA6}"/>
              </a:ext>
            </a:extLst>
          </p:cNvPr>
          <p:cNvCxnSpPr>
            <a:cxnSpLocks/>
            <a:stCxn id="56" idx="3"/>
            <a:endCxn id="54" idx="1"/>
          </p:cNvCxnSpPr>
          <p:nvPr/>
        </p:nvCxnSpPr>
        <p:spPr>
          <a:xfrm>
            <a:off x="3516087" y="2393196"/>
            <a:ext cx="614107" cy="935403"/>
          </a:xfrm>
          <a:prstGeom prst="bentConnector3">
            <a:avLst>
              <a:gd name="adj1" fmla="val 50000"/>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71" name="Elbow Connector 70">
            <a:extLst>
              <a:ext uri="{FF2B5EF4-FFF2-40B4-BE49-F238E27FC236}">
                <a16:creationId xmlns:a16="http://schemas.microsoft.com/office/drawing/2014/main" id="{90E51344-5885-5943-AC6C-2530E588BC9C}"/>
              </a:ext>
            </a:extLst>
          </p:cNvPr>
          <p:cNvCxnSpPr>
            <a:cxnSpLocks/>
            <a:stCxn id="34" idx="3"/>
            <a:endCxn id="56" idx="0"/>
          </p:cNvCxnSpPr>
          <p:nvPr/>
        </p:nvCxnSpPr>
        <p:spPr>
          <a:xfrm>
            <a:off x="1896649" y="1741376"/>
            <a:ext cx="1152784" cy="479018"/>
          </a:xfrm>
          <a:prstGeom prst="bentConnector2">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3" name="Rectangle 72">
            <a:extLst>
              <a:ext uri="{FF2B5EF4-FFF2-40B4-BE49-F238E27FC236}">
                <a16:creationId xmlns:a16="http://schemas.microsoft.com/office/drawing/2014/main" id="{7EE37FDD-A738-0148-9080-139B51638EC5}"/>
              </a:ext>
            </a:extLst>
          </p:cNvPr>
          <p:cNvSpPr/>
          <p:nvPr/>
        </p:nvSpPr>
        <p:spPr>
          <a:xfrm>
            <a:off x="5344629" y="4788371"/>
            <a:ext cx="284100" cy="360000"/>
          </a:xfrm>
          <a:prstGeom prst="rect">
            <a:avLst/>
          </a:prstGeom>
          <a:solidFill>
            <a:schemeClr val="bg1">
              <a:lumMod val="75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74" name="Rectangle 73">
            <a:extLst>
              <a:ext uri="{FF2B5EF4-FFF2-40B4-BE49-F238E27FC236}">
                <a16:creationId xmlns:a16="http://schemas.microsoft.com/office/drawing/2014/main" id="{78B047A4-FEFD-1548-8F59-E387E55A498E}"/>
              </a:ext>
            </a:extLst>
          </p:cNvPr>
          <p:cNvSpPr/>
          <p:nvPr/>
        </p:nvSpPr>
        <p:spPr>
          <a:xfrm>
            <a:off x="5630668" y="4785990"/>
            <a:ext cx="284100" cy="360000"/>
          </a:xfrm>
          <a:prstGeom prst="rect">
            <a:avLst/>
          </a:prstGeom>
          <a:solidFill>
            <a:schemeClr val="accent4"/>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76" name="Rectangle 75">
            <a:extLst>
              <a:ext uri="{FF2B5EF4-FFF2-40B4-BE49-F238E27FC236}">
                <a16:creationId xmlns:a16="http://schemas.microsoft.com/office/drawing/2014/main" id="{B2327144-B085-544F-8A01-C1606A61A260}"/>
              </a:ext>
            </a:extLst>
          </p:cNvPr>
          <p:cNvSpPr/>
          <p:nvPr/>
        </p:nvSpPr>
        <p:spPr>
          <a:xfrm>
            <a:off x="5914239" y="4785990"/>
            <a:ext cx="284100" cy="360000"/>
          </a:xfrm>
          <a:prstGeom prst="rect">
            <a:avLst/>
          </a:prstGeom>
          <a:solidFill>
            <a:schemeClr val="accent4">
              <a:lumMod val="75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77" name="Rectangle 76">
            <a:extLst>
              <a:ext uri="{FF2B5EF4-FFF2-40B4-BE49-F238E27FC236}">
                <a16:creationId xmlns:a16="http://schemas.microsoft.com/office/drawing/2014/main" id="{6E915600-F3D4-6D46-BFE8-24F6E1331BD9}"/>
              </a:ext>
            </a:extLst>
          </p:cNvPr>
          <p:cNvSpPr/>
          <p:nvPr/>
        </p:nvSpPr>
        <p:spPr>
          <a:xfrm>
            <a:off x="6198632" y="4788371"/>
            <a:ext cx="284100" cy="360000"/>
          </a:xfrm>
          <a:prstGeom prst="rect">
            <a:avLst/>
          </a:prstGeom>
          <a:solidFill>
            <a:srgbClr val="0070C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81" name="Rectangle 80">
            <a:extLst>
              <a:ext uri="{FF2B5EF4-FFF2-40B4-BE49-F238E27FC236}">
                <a16:creationId xmlns:a16="http://schemas.microsoft.com/office/drawing/2014/main" id="{CEBC8136-9909-BF43-9F0E-8340832ADE90}"/>
              </a:ext>
            </a:extLst>
          </p:cNvPr>
          <p:cNvSpPr/>
          <p:nvPr/>
        </p:nvSpPr>
        <p:spPr>
          <a:xfrm>
            <a:off x="6477534" y="4785990"/>
            <a:ext cx="284100" cy="360000"/>
          </a:xfrm>
          <a:prstGeom prst="rect">
            <a:avLst/>
          </a:prstGeom>
          <a:solidFill>
            <a:srgbClr val="92D05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31" name="Right Arrow 30">
            <a:extLst>
              <a:ext uri="{FF2B5EF4-FFF2-40B4-BE49-F238E27FC236}">
                <a16:creationId xmlns:a16="http://schemas.microsoft.com/office/drawing/2014/main" id="{5384B7E3-ED2C-B143-8B5B-A13F4D6D75F3}"/>
              </a:ext>
            </a:extLst>
          </p:cNvPr>
          <p:cNvSpPr/>
          <p:nvPr/>
        </p:nvSpPr>
        <p:spPr>
          <a:xfrm>
            <a:off x="2908476" y="4904952"/>
            <a:ext cx="4183803" cy="153621"/>
          </a:xfrm>
          <a:prstGeom prst="rightArrow">
            <a:avLst/>
          </a:prstGeom>
          <a:ln w="38100">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68" name="Right Brace 67">
            <a:extLst>
              <a:ext uri="{FF2B5EF4-FFF2-40B4-BE49-F238E27FC236}">
                <a16:creationId xmlns:a16="http://schemas.microsoft.com/office/drawing/2014/main" id="{14CCF89D-13DE-2341-AD0B-343C2DE6DB9A}"/>
              </a:ext>
            </a:extLst>
          </p:cNvPr>
          <p:cNvSpPr/>
          <p:nvPr/>
        </p:nvSpPr>
        <p:spPr>
          <a:xfrm rot="16200000">
            <a:off x="1346012" y="903623"/>
            <a:ext cx="167965" cy="933309"/>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69" name="TextBox 68">
            <a:extLst>
              <a:ext uri="{FF2B5EF4-FFF2-40B4-BE49-F238E27FC236}">
                <a16:creationId xmlns:a16="http://schemas.microsoft.com/office/drawing/2014/main" id="{EF8BD776-3FF9-C94F-AAC5-30272F7714D2}"/>
              </a:ext>
            </a:extLst>
          </p:cNvPr>
          <p:cNvSpPr txBox="1"/>
          <p:nvPr/>
        </p:nvSpPr>
        <p:spPr>
          <a:xfrm>
            <a:off x="811653" y="1017146"/>
            <a:ext cx="1303562" cy="276999"/>
          </a:xfrm>
          <a:prstGeom prst="rect">
            <a:avLst/>
          </a:prstGeom>
          <a:noFill/>
        </p:spPr>
        <p:txBody>
          <a:bodyPr wrap="none" rtlCol="0">
            <a:spAutoFit/>
          </a:bodyPr>
          <a:lstStyle/>
          <a:p>
            <a:r>
              <a:rPr lang="zh-CN" altLang="en-US" sz="1200" dirty="0"/>
              <a:t>保存在固定位置</a:t>
            </a:r>
            <a:endParaRPr lang="en-CN" sz="1200" dirty="0"/>
          </a:p>
        </p:txBody>
      </p:sp>
      <p:sp>
        <p:nvSpPr>
          <p:cNvPr id="85" name="TextBox 84">
            <a:extLst>
              <a:ext uri="{FF2B5EF4-FFF2-40B4-BE49-F238E27FC236}">
                <a16:creationId xmlns:a16="http://schemas.microsoft.com/office/drawing/2014/main" id="{5B1F507D-A384-9245-A8BD-26B2CFA3BF94}"/>
              </a:ext>
            </a:extLst>
          </p:cNvPr>
          <p:cNvSpPr txBox="1"/>
          <p:nvPr/>
        </p:nvSpPr>
        <p:spPr>
          <a:xfrm>
            <a:off x="331942" y="1631065"/>
            <a:ext cx="354221" cy="1323439"/>
          </a:xfrm>
          <a:prstGeom prst="rect">
            <a:avLst/>
          </a:prstGeom>
          <a:noFill/>
        </p:spPr>
        <p:txBody>
          <a:bodyPr wrap="square" rtlCol="0">
            <a:spAutoFit/>
          </a:bodyPr>
          <a:lstStyle/>
          <a:p>
            <a:r>
              <a:rPr lang="zh-CN" altLang="en-CN" sz="2000" dirty="0"/>
              <a:t>逻辑</a:t>
            </a:r>
            <a:r>
              <a:rPr lang="zh-CN" altLang="en-US" sz="2000" dirty="0"/>
              <a:t>结构</a:t>
            </a:r>
            <a:endParaRPr lang="en-CN" sz="2000" dirty="0"/>
          </a:p>
        </p:txBody>
      </p:sp>
      <p:sp>
        <p:nvSpPr>
          <p:cNvPr id="86" name="TextBox 85">
            <a:extLst>
              <a:ext uri="{FF2B5EF4-FFF2-40B4-BE49-F238E27FC236}">
                <a16:creationId xmlns:a16="http://schemas.microsoft.com/office/drawing/2014/main" id="{54D5B3E5-314E-594B-997F-A639BF6CA564}"/>
              </a:ext>
            </a:extLst>
          </p:cNvPr>
          <p:cNvSpPr txBox="1"/>
          <p:nvPr/>
        </p:nvSpPr>
        <p:spPr>
          <a:xfrm>
            <a:off x="367002" y="4161072"/>
            <a:ext cx="284100" cy="1323439"/>
          </a:xfrm>
          <a:prstGeom prst="rect">
            <a:avLst/>
          </a:prstGeom>
          <a:noFill/>
        </p:spPr>
        <p:txBody>
          <a:bodyPr wrap="square" rtlCol="0">
            <a:spAutoFit/>
          </a:bodyPr>
          <a:lstStyle/>
          <a:p>
            <a:r>
              <a:rPr lang="zh-CN" altLang="en-US" sz="2000" dirty="0"/>
              <a:t>存储结构</a:t>
            </a:r>
            <a:endParaRPr lang="en-CN" sz="2000" dirty="0"/>
          </a:p>
        </p:txBody>
      </p:sp>
      <p:sp>
        <p:nvSpPr>
          <p:cNvPr id="82" name="TextBox 81">
            <a:extLst>
              <a:ext uri="{FF2B5EF4-FFF2-40B4-BE49-F238E27FC236}">
                <a16:creationId xmlns:a16="http://schemas.microsoft.com/office/drawing/2014/main" id="{21D72750-B855-C144-B2D8-79B80FC3957D}"/>
              </a:ext>
            </a:extLst>
          </p:cNvPr>
          <p:cNvSpPr txBox="1"/>
          <p:nvPr/>
        </p:nvSpPr>
        <p:spPr>
          <a:xfrm>
            <a:off x="4005991" y="1216674"/>
            <a:ext cx="4439980" cy="369332"/>
          </a:xfrm>
          <a:prstGeom prst="rect">
            <a:avLst/>
          </a:prstGeom>
          <a:noFill/>
        </p:spPr>
        <p:txBody>
          <a:bodyPr wrap="square" rtlCol="0">
            <a:spAutoFit/>
          </a:bodyPr>
          <a:lstStyle/>
          <a:p>
            <a:r>
              <a:rPr lang="zh-CN" altLang="en-US" dirty="0">
                <a:solidFill>
                  <a:srgbClr val="C00000"/>
                </a:solidFill>
              </a:rPr>
              <a:t>无法利用到现代</a:t>
            </a:r>
            <a:r>
              <a:rPr lang="en-US" altLang="zh-CN" dirty="0">
                <a:solidFill>
                  <a:srgbClr val="C00000"/>
                </a:solidFill>
              </a:rPr>
              <a:t>Flash</a:t>
            </a:r>
            <a:r>
              <a:rPr lang="zh-CN" altLang="en-US" dirty="0">
                <a:solidFill>
                  <a:srgbClr val="C00000"/>
                </a:solidFill>
              </a:rPr>
              <a:t>设备的高并行性</a:t>
            </a:r>
            <a:endParaRPr lang="en-CN" dirty="0">
              <a:solidFill>
                <a:srgbClr val="C00000"/>
              </a:solidFill>
            </a:endParaRPr>
          </a:p>
        </p:txBody>
      </p:sp>
      <p:cxnSp>
        <p:nvCxnSpPr>
          <p:cNvPr id="83" name="Straight Arrow Connector 82">
            <a:extLst>
              <a:ext uri="{FF2B5EF4-FFF2-40B4-BE49-F238E27FC236}">
                <a16:creationId xmlns:a16="http://schemas.microsoft.com/office/drawing/2014/main" id="{19C6EABA-ABFE-A54A-A33B-1F66F8CCB2D8}"/>
              </a:ext>
            </a:extLst>
          </p:cNvPr>
          <p:cNvCxnSpPr>
            <a:cxnSpLocks/>
            <a:stCxn id="82" idx="2"/>
          </p:cNvCxnSpPr>
          <p:nvPr/>
        </p:nvCxnSpPr>
        <p:spPr>
          <a:xfrm>
            <a:off x="6225981" y="1586006"/>
            <a:ext cx="67369" cy="299968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9388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00C42A-4CEC-F142-A3FB-21D9A7928A5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85507" y="1921396"/>
            <a:ext cx="4121464" cy="2780002"/>
          </a:xfrm>
          <a:prstGeom prst="rect">
            <a:avLst/>
          </a:prstGeom>
        </p:spPr>
      </p:pic>
      <p:sp>
        <p:nvSpPr>
          <p:cNvPr id="2" name="Title 1">
            <a:extLst>
              <a:ext uri="{FF2B5EF4-FFF2-40B4-BE49-F238E27FC236}">
                <a16:creationId xmlns:a16="http://schemas.microsoft.com/office/drawing/2014/main" id="{77231236-3220-BB45-9B91-DDCB0E7F74E2}"/>
              </a:ext>
            </a:extLst>
          </p:cNvPr>
          <p:cNvSpPr>
            <a:spLocks noGrp="1"/>
          </p:cNvSpPr>
          <p:nvPr>
            <p:ph type="title"/>
          </p:nvPr>
        </p:nvSpPr>
        <p:spPr/>
        <p:txBody>
          <a:bodyPr/>
          <a:lstStyle/>
          <a:p>
            <a:r>
              <a:rPr lang="en-CN" altLang="zh-CN" dirty="0"/>
              <a:t>F2FS</a:t>
            </a:r>
            <a:r>
              <a:rPr lang="zh-CN" altLang="en-CN" dirty="0"/>
              <a:t>的</a:t>
            </a:r>
            <a:r>
              <a:rPr lang="zh-CN" altLang="en-US" dirty="0"/>
              <a:t>改进</a:t>
            </a:r>
            <a:r>
              <a:rPr lang="en-US" altLang="zh-CN" dirty="0"/>
              <a:t>-1</a:t>
            </a:r>
            <a:r>
              <a:rPr lang="zh-CN" altLang="en-US" dirty="0"/>
              <a:t>：</a:t>
            </a:r>
            <a:r>
              <a:rPr lang="en-US" altLang="zh-CN" dirty="0"/>
              <a:t>NAT</a:t>
            </a:r>
            <a:endParaRPr lang="en-CN" dirty="0"/>
          </a:p>
        </p:txBody>
      </p:sp>
      <p:sp>
        <p:nvSpPr>
          <p:cNvPr id="3" name="Content Placeholder 2">
            <a:extLst>
              <a:ext uri="{FF2B5EF4-FFF2-40B4-BE49-F238E27FC236}">
                <a16:creationId xmlns:a16="http://schemas.microsoft.com/office/drawing/2014/main" id="{9CC855C6-D0F8-D745-AF50-C63C44935D95}"/>
              </a:ext>
            </a:extLst>
          </p:cNvPr>
          <p:cNvSpPr>
            <a:spLocks noGrp="1"/>
          </p:cNvSpPr>
          <p:nvPr>
            <p:ph idx="1"/>
          </p:nvPr>
        </p:nvSpPr>
        <p:spPr/>
        <p:txBody>
          <a:bodyPr>
            <a:normAutofit/>
          </a:bodyPr>
          <a:lstStyle/>
          <a:p>
            <a:r>
              <a:rPr lang="zh-CN" altLang="en-US" sz="2000" b="0" dirty="0"/>
              <a:t>引入一层 </a:t>
            </a:r>
            <a:r>
              <a:rPr lang="en-US" altLang="zh-CN" sz="2000" b="0" dirty="0"/>
              <a:t>indirection</a:t>
            </a:r>
            <a:r>
              <a:rPr lang="zh-CN" altLang="en-US" sz="2000" b="0" dirty="0"/>
              <a:t>：</a:t>
            </a:r>
            <a:r>
              <a:rPr lang="en-US" altLang="zh-CN" sz="2000" b="0" dirty="0"/>
              <a:t>NAT</a:t>
            </a:r>
            <a:r>
              <a:rPr lang="zh-CN" altLang="en-US" sz="2000" b="0" dirty="0"/>
              <a:t>（</a:t>
            </a:r>
            <a:r>
              <a:rPr lang="en-US" altLang="zh-CN" sz="2000" b="0" dirty="0">
                <a:solidFill>
                  <a:schemeClr val="accent1"/>
                </a:solidFill>
              </a:rPr>
              <a:t>node</a:t>
            </a:r>
            <a:r>
              <a:rPr lang="zh-CN" altLang="en-US" sz="2000" b="0" dirty="0">
                <a:solidFill>
                  <a:schemeClr val="accent1"/>
                </a:solidFill>
              </a:rPr>
              <a:t>地址转换表</a:t>
            </a:r>
            <a:r>
              <a:rPr lang="zh-CN" altLang="en-US" sz="2000" b="0" dirty="0"/>
              <a:t>）</a:t>
            </a:r>
            <a:endParaRPr lang="en-US" altLang="zh-CN" sz="2000" b="0" dirty="0"/>
          </a:p>
          <a:p>
            <a:pPr lvl="1"/>
            <a:r>
              <a:rPr lang="en-US" altLang="zh-CN" sz="1600" dirty="0">
                <a:solidFill>
                  <a:schemeClr val="accent1"/>
                </a:solidFill>
              </a:rPr>
              <a:t>NAT</a:t>
            </a:r>
            <a:r>
              <a:rPr lang="zh-CN" altLang="en-US" sz="1600" dirty="0">
                <a:solidFill>
                  <a:schemeClr val="accent1"/>
                </a:solidFill>
              </a:rPr>
              <a:t>：</a:t>
            </a:r>
            <a:r>
              <a:rPr lang="en-US" altLang="zh-CN" sz="1600" dirty="0">
                <a:solidFill>
                  <a:schemeClr val="accent1"/>
                </a:solidFill>
              </a:rPr>
              <a:t>Node</a:t>
            </a:r>
            <a:r>
              <a:rPr lang="zh-CN" altLang="en-US" sz="1600" dirty="0">
                <a:solidFill>
                  <a:schemeClr val="accent1"/>
                </a:solidFill>
              </a:rPr>
              <a:t> </a:t>
            </a:r>
            <a:r>
              <a:rPr lang="en-US" altLang="zh-CN" sz="1600" dirty="0">
                <a:solidFill>
                  <a:schemeClr val="accent1"/>
                </a:solidFill>
              </a:rPr>
              <a:t>Address</a:t>
            </a:r>
            <a:r>
              <a:rPr lang="zh-CN" altLang="en-US" sz="1600" dirty="0">
                <a:solidFill>
                  <a:schemeClr val="accent1"/>
                </a:solidFill>
              </a:rPr>
              <a:t> </a:t>
            </a:r>
            <a:r>
              <a:rPr lang="en-US" altLang="zh-CN" sz="1600" dirty="0">
                <a:solidFill>
                  <a:schemeClr val="accent1"/>
                </a:solidFill>
              </a:rPr>
              <a:t>Table</a:t>
            </a:r>
          </a:p>
          <a:p>
            <a:pPr lvl="1"/>
            <a:r>
              <a:rPr lang="zh-CN" altLang="en-US" sz="1600" dirty="0"/>
              <a:t>维护</a:t>
            </a:r>
            <a:r>
              <a:rPr lang="en-US" altLang="zh-CN" sz="1600" dirty="0"/>
              <a:t>node</a:t>
            </a:r>
            <a:r>
              <a:rPr lang="zh-CN" altLang="en-US" sz="1600" dirty="0"/>
              <a:t>号到逻辑块号的映射</a:t>
            </a:r>
            <a:endParaRPr lang="en-US" altLang="zh-CN" sz="1600" dirty="0"/>
          </a:p>
          <a:p>
            <a:pPr lvl="1"/>
            <a:r>
              <a:rPr lang="en-US" altLang="zh-CN" sz="1600" dirty="0"/>
              <a:t>Node</a:t>
            </a:r>
            <a:r>
              <a:rPr lang="zh-CN" altLang="en-US" sz="1600" dirty="0"/>
              <a:t>号需转换成逻辑块号才能使用</a:t>
            </a:r>
            <a:endParaRPr lang="en-US" altLang="zh-CN" sz="1600" dirty="0"/>
          </a:p>
          <a:p>
            <a:r>
              <a:rPr lang="en-US" altLang="zh-CN" sz="2000" b="0" dirty="0"/>
              <a:t>F2FS</a:t>
            </a:r>
            <a:r>
              <a:rPr lang="zh-CN" altLang="en-US" sz="2000" b="0" dirty="0"/>
              <a:t>中的文件结构</a:t>
            </a:r>
            <a:endParaRPr lang="en-US" altLang="zh-CN" sz="2000" b="0" dirty="0"/>
          </a:p>
          <a:p>
            <a:pPr lvl="1"/>
            <a:r>
              <a:rPr lang="zh-CN" altLang="en-CN" sz="1600" b="0" dirty="0"/>
              <a:t>直接</a:t>
            </a:r>
            <a:r>
              <a:rPr lang="en-US" altLang="zh-CN" sz="1600" b="0" dirty="0"/>
              <a:t>node</a:t>
            </a:r>
            <a:r>
              <a:rPr lang="zh-CN" altLang="en-US" sz="1600" b="0" dirty="0"/>
              <a:t>：</a:t>
            </a:r>
            <a:r>
              <a:rPr lang="zh-CN" altLang="en-US" sz="1600" dirty="0"/>
              <a:t>保存数据块的逻辑块号</a:t>
            </a:r>
            <a:endParaRPr lang="en-US" altLang="zh-CN" sz="1600" dirty="0"/>
          </a:p>
          <a:p>
            <a:pPr lvl="1"/>
            <a:r>
              <a:rPr lang="zh-CN" altLang="en-CN" sz="1600" b="0" dirty="0"/>
              <a:t>间接</a:t>
            </a:r>
            <a:r>
              <a:rPr lang="en-US" altLang="zh-CN" sz="1600" b="0" dirty="0"/>
              <a:t>node</a:t>
            </a:r>
            <a:r>
              <a:rPr lang="zh-CN" altLang="en-US" sz="1600" b="0" dirty="0"/>
              <a:t>：</a:t>
            </a:r>
            <a:r>
              <a:rPr lang="zh-CN" altLang="en-US" sz="1600" dirty="0"/>
              <a:t>保存</a:t>
            </a:r>
            <a:r>
              <a:rPr lang="en-US" altLang="zh-CN" sz="1600" dirty="0"/>
              <a:t>node</a:t>
            </a:r>
            <a:r>
              <a:rPr lang="zh-CN" altLang="en-US" sz="1600" dirty="0"/>
              <a:t>号</a:t>
            </a:r>
            <a:br>
              <a:rPr lang="en-US" altLang="zh-CN" sz="1600" dirty="0"/>
            </a:br>
            <a:r>
              <a:rPr lang="zh-CN" altLang="en-US" sz="1600" dirty="0"/>
              <a:t>                （相当于索引块）</a:t>
            </a:r>
            <a:endParaRPr lang="en-US" altLang="zh-CN" sz="1600" dirty="0"/>
          </a:p>
          <a:p>
            <a:pPr lvl="1"/>
            <a:r>
              <a:rPr lang="zh-CN" altLang="en-US" sz="1600" b="0" dirty="0"/>
              <a:t>数据块</a:t>
            </a:r>
            <a:r>
              <a:rPr lang="zh-CN" altLang="en-US" sz="1600" dirty="0"/>
              <a:t>：保存数据</a:t>
            </a:r>
            <a:endParaRPr lang="en-CN" sz="1600" dirty="0"/>
          </a:p>
        </p:txBody>
      </p:sp>
      <p:sp>
        <p:nvSpPr>
          <p:cNvPr id="4" name="Slide Number Placeholder 3">
            <a:extLst>
              <a:ext uri="{FF2B5EF4-FFF2-40B4-BE49-F238E27FC236}">
                <a16:creationId xmlns:a16="http://schemas.microsoft.com/office/drawing/2014/main" id="{D855EEDD-58D1-534B-9A90-AEE9CB6D77C2}"/>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Footer Placeholder 4">
            <a:extLst>
              <a:ext uri="{FF2B5EF4-FFF2-40B4-BE49-F238E27FC236}">
                <a16:creationId xmlns:a16="http://schemas.microsoft.com/office/drawing/2014/main" id="{56A22782-E573-B14E-9950-1E3F0486253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7E8F4964-A3FD-CD42-8F2A-5C2CC294AF95}"/>
              </a:ext>
            </a:extLst>
          </p:cNvPr>
          <p:cNvSpPr txBox="1"/>
          <p:nvPr/>
        </p:nvSpPr>
        <p:spPr>
          <a:xfrm>
            <a:off x="6812280" y="1362523"/>
            <a:ext cx="2152208" cy="369332"/>
          </a:xfrm>
          <a:prstGeom prst="rect">
            <a:avLst/>
          </a:prstGeom>
          <a:noFill/>
          <a:ln>
            <a:solidFill>
              <a:schemeClr val="accent1"/>
            </a:solidFill>
          </a:ln>
        </p:spPr>
        <p:txBody>
          <a:bodyPr wrap="square">
            <a:spAutoFit/>
          </a:bodyPr>
          <a:lstStyle/>
          <a:p>
            <a:r>
              <a:rPr lang="zh-CN" altLang="en-US" sz="1800" b="0" dirty="0">
                <a:solidFill>
                  <a:schemeClr val="accent1"/>
                </a:solidFill>
              </a:rPr>
              <a:t>想起了什么原则？</a:t>
            </a:r>
            <a:endParaRPr lang="zh-CN" altLang="en-US" dirty="0">
              <a:solidFill>
                <a:schemeClr val="accent1"/>
              </a:solidFill>
            </a:endParaRPr>
          </a:p>
        </p:txBody>
      </p:sp>
    </p:spTree>
    <p:extLst>
      <p:ext uri="{BB962C8B-B14F-4D97-AF65-F5344CB8AC3E}">
        <p14:creationId xmlns:p14="http://schemas.microsoft.com/office/powerpoint/2010/main" val="38062926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265B5F-E8D0-9B4B-8BB0-FFF98707AFC9}"/>
              </a:ext>
            </a:extLst>
          </p:cNvPr>
          <p:cNvSpPr/>
          <p:nvPr/>
        </p:nvSpPr>
        <p:spPr>
          <a:xfrm>
            <a:off x="1249134" y="4785990"/>
            <a:ext cx="6460909" cy="360000"/>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 name="Title 1">
            <a:extLst>
              <a:ext uri="{FF2B5EF4-FFF2-40B4-BE49-F238E27FC236}">
                <a16:creationId xmlns:a16="http://schemas.microsoft.com/office/drawing/2014/main" id="{04AA801F-C21B-904D-B19B-F50F0A7BCF45}"/>
              </a:ext>
            </a:extLst>
          </p:cNvPr>
          <p:cNvSpPr>
            <a:spLocks noGrp="1"/>
          </p:cNvSpPr>
          <p:nvPr>
            <p:ph type="title"/>
          </p:nvPr>
        </p:nvSpPr>
        <p:spPr/>
        <p:txBody>
          <a:bodyPr>
            <a:normAutofit/>
          </a:bodyPr>
          <a:lstStyle/>
          <a:p>
            <a:r>
              <a:rPr lang="en-CN" altLang="zh-CN" dirty="0"/>
              <a:t>F2FS</a:t>
            </a:r>
            <a:r>
              <a:rPr lang="zh-CN" altLang="en-CN" dirty="0"/>
              <a:t>的</a:t>
            </a:r>
            <a:r>
              <a:rPr lang="zh-CN" altLang="en-US" dirty="0"/>
              <a:t>改进</a:t>
            </a:r>
            <a:r>
              <a:rPr lang="en-US" altLang="zh-CN" dirty="0"/>
              <a:t>-1</a:t>
            </a:r>
            <a:r>
              <a:rPr lang="zh-CN" altLang="en-US" dirty="0"/>
              <a:t>：</a:t>
            </a:r>
            <a:r>
              <a:rPr lang="en-US" altLang="zh-CN" dirty="0"/>
              <a:t>NAT</a:t>
            </a:r>
            <a:endParaRPr lang="en-CN" dirty="0"/>
          </a:p>
        </p:txBody>
      </p:sp>
      <p:sp>
        <p:nvSpPr>
          <p:cNvPr id="4" name="Slide Number Placeholder 3">
            <a:extLst>
              <a:ext uri="{FF2B5EF4-FFF2-40B4-BE49-F238E27FC236}">
                <a16:creationId xmlns:a16="http://schemas.microsoft.com/office/drawing/2014/main" id="{29635DD5-5238-954F-AA1D-0B15F66DB369}"/>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
        <p:nvSpPr>
          <p:cNvPr id="5" name="Footer Placeholder 4">
            <a:extLst>
              <a:ext uri="{FF2B5EF4-FFF2-40B4-BE49-F238E27FC236}">
                <a16:creationId xmlns:a16="http://schemas.microsoft.com/office/drawing/2014/main" id="{219D56D5-E01E-584F-BDA4-4A95035763D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Rectangle 8">
            <a:extLst>
              <a:ext uri="{FF2B5EF4-FFF2-40B4-BE49-F238E27FC236}">
                <a16:creationId xmlns:a16="http://schemas.microsoft.com/office/drawing/2014/main" id="{481DD187-7A04-924A-88CE-EC24085D9896}"/>
              </a:ext>
            </a:extLst>
          </p:cNvPr>
          <p:cNvSpPr/>
          <p:nvPr/>
        </p:nvSpPr>
        <p:spPr>
          <a:xfrm>
            <a:off x="14576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SB</a:t>
            </a:r>
          </a:p>
        </p:txBody>
      </p:sp>
      <p:sp>
        <p:nvSpPr>
          <p:cNvPr id="10" name="Rectangle 9">
            <a:extLst>
              <a:ext uri="{FF2B5EF4-FFF2-40B4-BE49-F238E27FC236}">
                <a16:creationId xmlns:a16="http://schemas.microsoft.com/office/drawing/2014/main" id="{234A33EC-B566-C04E-B991-752EFCE381FB}"/>
              </a:ext>
            </a:extLst>
          </p:cNvPr>
          <p:cNvSpPr/>
          <p:nvPr/>
        </p:nvSpPr>
        <p:spPr>
          <a:xfrm>
            <a:off x="17417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4" name="Rectangle 13">
            <a:extLst>
              <a:ext uri="{FF2B5EF4-FFF2-40B4-BE49-F238E27FC236}">
                <a16:creationId xmlns:a16="http://schemas.microsoft.com/office/drawing/2014/main" id="{6E071324-7B69-9744-A3AA-B557FD8A43C8}"/>
              </a:ext>
            </a:extLst>
          </p:cNvPr>
          <p:cNvSpPr/>
          <p:nvPr/>
        </p:nvSpPr>
        <p:spPr>
          <a:xfrm>
            <a:off x="2874661"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5" name="Rectangle 14">
            <a:extLst>
              <a:ext uri="{FF2B5EF4-FFF2-40B4-BE49-F238E27FC236}">
                <a16:creationId xmlns:a16="http://schemas.microsoft.com/office/drawing/2014/main" id="{A5A7ED0E-B78C-414B-9434-CB86EAA92D2B}"/>
              </a:ext>
            </a:extLst>
          </p:cNvPr>
          <p:cNvSpPr/>
          <p:nvPr/>
        </p:nvSpPr>
        <p:spPr>
          <a:xfrm>
            <a:off x="4209650" y="4785990"/>
            <a:ext cx="284100" cy="36000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6" name="Rectangle 15">
            <a:extLst>
              <a:ext uri="{FF2B5EF4-FFF2-40B4-BE49-F238E27FC236}">
                <a16:creationId xmlns:a16="http://schemas.microsoft.com/office/drawing/2014/main" id="{75D016D2-BDBC-004F-85CF-DE5499846E97}"/>
              </a:ext>
            </a:extLst>
          </p:cNvPr>
          <p:cNvSpPr/>
          <p:nvPr/>
        </p:nvSpPr>
        <p:spPr>
          <a:xfrm>
            <a:off x="5277544" y="4784832"/>
            <a:ext cx="185483"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8" name="Rectangle 17">
            <a:extLst>
              <a:ext uri="{FF2B5EF4-FFF2-40B4-BE49-F238E27FC236}">
                <a16:creationId xmlns:a16="http://schemas.microsoft.com/office/drawing/2014/main" id="{E41776D0-E41D-D949-9A98-1BBB02569D5C}"/>
              </a:ext>
            </a:extLst>
          </p:cNvPr>
          <p:cNvSpPr/>
          <p:nvPr/>
        </p:nvSpPr>
        <p:spPr>
          <a:xfrm>
            <a:off x="3927607" y="4785990"/>
            <a:ext cx="284100" cy="360000"/>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9" name="Rectangle 18">
            <a:extLst>
              <a:ext uri="{FF2B5EF4-FFF2-40B4-BE49-F238E27FC236}">
                <a16:creationId xmlns:a16="http://schemas.microsoft.com/office/drawing/2014/main" id="{F80BB814-B838-D94B-85BA-DD5EBCA25B94}"/>
              </a:ext>
            </a:extLst>
          </p:cNvPr>
          <p:cNvSpPr/>
          <p:nvPr/>
        </p:nvSpPr>
        <p:spPr>
          <a:xfrm>
            <a:off x="3159234"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20" name="Rectangle 19">
            <a:extLst>
              <a:ext uri="{FF2B5EF4-FFF2-40B4-BE49-F238E27FC236}">
                <a16:creationId xmlns:a16="http://schemas.microsoft.com/office/drawing/2014/main" id="{837910C3-C981-CB43-9299-479EEBF512B2}"/>
              </a:ext>
            </a:extLst>
          </p:cNvPr>
          <p:cNvSpPr/>
          <p:nvPr/>
        </p:nvSpPr>
        <p:spPr>
          <a:xfrm>
            <a:off x="6176524"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1" name="Rectangle 20">
            <a:extLst>
              <a:ext uri="{FF2B5EF4-FFF2-40B4-BE49-F238E27FC236}">
                <a16:creationId xmlns:a16="http://schemas.microsoft.com/office/drawing/2014/main" id="{0A9BB4F2-F16A-0246-B396-F25B7E09DA5D}"/>
              </a:ext>
            </a:extLst>
          </p:cNvPr>
          <p:cNvSpPr/>
          <p:nvPr/>
        </p:nvSpPr>
        <p:spPr>
          <a:xfrm>
            <a:off x="5100561" y="4786669"/>
            <a:ext cx="156145"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2" name="Rectangle 21">
            <a:extLst>
              <a:ext uri="{FF2B5EF4-FFF2-40B4-BE49-F238E27FC236}">
                <a16:creationId xmlns:a16="http://schemas.microsoft.com/office/drawing/2014/main" id="{970D0D23-F3D0-7247-84CE-3EB8FC0F5754}"/>
              </a:ext>
            </a:extLst>
          </p:cNvPr>
          <p:cNvSpPr/>
          <p:nvPr/>
        </p:nvSpPr>
        <p:spPr>
          <a:xfrm>
            <a:off x="5889357" y="4788868"/>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31" name="Right Arrow 30">
            <a:extLst>
              <a:ext uri="{FF2B5EF4-FFF2-40B4-BE49-F238E27FC236}">
                <a16:creationId xmlns:a16="http://schemas.microsoft.com/office/drawing/2014/main" id="{5384B7E3-ED2C-B143-8B5B-A13F4D6D75F3}"/>
              </a:ext>
            </a:extLst>
          </p:cNvPr>
          <p:cNvSpPr/>
          <p:nvPr/>
        </p:nvSpPr>
        <p:spPr>
          <a:xfrm>
            <a:off x="2939121" y="4891878"/>
            <a:ext cx="637956"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33" name="Rectangle 32">
            <a:extLst>
              <a:ext uri="{FF2B5EF4-FFF2-40B4-BE49-F238E27FC236}">
                <a16:creationId xmlns:a16="http://schemas.microsoft.com/office/drawing/2014/main" id="{03934CEA-E1FA-0A49-883A-B4D52CEAFAA2}"/>
              </a:ext>
            </a:extLst>
          </p:cNvPr>
          <p:cNvSpPr/>
          <p:nvPr/>
        </p:nvSpPr>
        <p:spPr>
          <a:xfrm>
            <a:off x="963340"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超级块</a:t>
            </a:r>
            <a:endParaRPr lang="en-CN" sz="1000" dirty="0"/>
          </a:p>
        </p:txBody>
      </p:sp>
      <p:sp>
        <p:nvSpPr>
          <p:cNvPr id="34" name="Rectangle 33">
            <a:extLst>
              <a:ext uri="{FF2B5EF4-FFF2-40B4-BE49-F238E27FC236}">
                <a16:creationId xmlns:a16="http://schemas.microsoft.com/office/drawing/2014/main" id="{30D70729-9C16-DF4D-B077-3EFA2A00E87D}"/>
              </a:ext>
            </a:extLst>
          </p:cNvPr>
          <p:cNvSpPr/>
          <p:nvPr/>
        </p:nvSpPr>
        <p:spPr>
          <a:xfrm>
            <a:off x="1463843"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检查点</a:t>
            </a:r>
            <a:endParaRPr lang="en-CN" sz="1000" dirty="0"/>
          </a:p>
        </p:txBody>
      </p:sp>
      <p:sp>
        <p:nvSpPr>
          <p:cNvPr id="35" name="Rectangle 34">
            <a:extLst>
              <a:ext uri="{FF2B5EF4-FFF2-40B4-BE49-F238E27FC236}">
                <a16:creationId xmlns:a16="http://schemas.microsoft.com/office/drawing/2014/main" id="{AC1AA524-9DDD-3E4A-8026-8D13EB0BF4E9}"/>
              </a:ext>
            </a:extLst>
          </p:cNvPr>
          <p:cNvSpPr/>
          <p:nvPr/>
        </p:nvSpPr>
        <p:spPr>
          <a:xfrm>
            <a:off x="997188" y="2887865"/>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段使用表</a:t>
            </a:r>
            <a:endParaRPr lang="en-CN" sz="1000" dirty="0"/>
          </a:p>
        </p:txBody>
      </p:sp>
      <p:sp>
        <p:nvSpPr>
          <p:cNvPr id="36" name="Rectangle 35">
            <a:extLst>
              <a:ext uri="{FF2B5EF4-FFF2-40B4-BE49-F238E27FC236}">
                <a16:creationId xmlns:a16="http://schemas.microsoft.com/office/drawing/2014/main" id="{1660AFEA-57A9-B448-B44B-8F439D7ED339}"/>
              </a:ext>
            </a:extLst>
          </p:cNvPr>
          <p:cNvSpPr/>
          <p:nvPr/>
        </p:nvSpPr>
        <p:spPr>
          <a:xfrm>
            <a:off x="997188" y="3373453"/>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段概要</a:t>
            </a:r>
            <a:endParaRPr lang="en-CN" sz="1000" dirty="0"/>
          </a:p>
        </p:txBody>
      </p:sp>
      <p:sp>
        <p:nvSpPr>
          <p:cNvPr id="37" name="Rectangle 36">
            <a:extLst>
              <a:ext uri="{FF2B5EF4-FFF2-40B4-BE49-F238E27FC236}">
                <a16:creationId xmlns:a16="http://schemas.microsoft.com/office/drawing/2014/main" id="{3B7BA522-C109-C84E-8D7E-B5B7A7374F8F}"/>
              </a:ext>
            </a:extLst>
          </p:cNvPr>
          <p:cNvSpPr/>
          <p:nvPr/>
        </p:nvSpPr>
        <p:spPr>
          <a:xfrm>
            <a:off x="1998361" y="1490180"/>
            <a:ext cx="429565" cy="494652"/>
          </a:xfrm>
          <a:prstGeom prst="rect">
            <a:avLst/>
          </a:prstGeom>
          <a:solidFill>
            <a:srgbClr val="92D05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00" dirty="0">
                <a:solidFill>
                  <a:sysClr val="windowText" lastClr="000000"/>
                </a:solidFill>
              </a:rPr>
              <a:t>NAT</a:t>
            </a:r>
            <a:endParaRPr lang="en-CN" sz="1000" dirty="0">
              <a:solidFill>
                <a:sysClr val="windowText" lastClr="000000"/>
              </a:solidFill>
            </a:endParaRPr>
          </a:p>
        </p:txBody>
      </p:sp>
      <p:sp>
        <p:nvSpPr>
          <p:cNvPr id="38" name="Rectangle 37">
            <a:extLst>
              <a:ext uri="{FF2B5EF4-FFF2-40B4-BE49-F238E27FC236}">
                <a16:creationId xmlns:a16="http://schemas.microsoft.com/office/drawing/2014/main" id="{5663CC65-3A6E-B14A-AE33-FDC44C60434D}"/>
              </a:ext>
            </a:extLst>
          </p:cNvPr>
          <p:cNvSpPr/>
          <p:nvPr/>
        </p:nvSpPr>
        <p:spPr>
          <a:xfrm>
            <a:off x="4000453" y="2226928"/>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目录</a:t>
            </a:r>
            <a:endParaRPr lang="en-US" altLang="zh-CN" sz="1000" dirty="0"/>
          </a:p>
          <a:p>
            <a:pPr algn="ctr"/>
            <a:r>
              <a:rPr lang="en-US" altLang="zh-CN" sz="1000" dirty="0" err="1"/>
              <a:t>inode</a:t>
            </a:r>
            <a:endParaRPr lang="en-CN" sz="1000" dirty="0"/>
          </a:p>
        </p:txBody>
      </p:sp>
      <p:sp>
        <p:nvSpPr>
          <p:cNvPr id="39" name="Rectangle 38">
            <a:extLst>
              <a:ext uri="{FF2B5EF4-FFF2-40B4-BE49-F238E27FC236}">
                <a16:creationId xmlns:a16="http://schemas.microsoft.com/office/drawing/2014/main" id="{29A78A4F-7661-4041-8453-8422DD84399F}"/>
              </a:ext>
            </a:extLst>
          </p:cNvPr>
          <p:cNvSpPr/>
          <p:nvPr/>
        </p:nvSpPr>
        <p:spPr>
          <a:xfrm>
            <a:off x="4000453" y="2839212"/>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常规文件</a:t>
            </a:r>
            <a:r>
              <a:rPr lang="en-US" altLang="zh-CN" sz="1000" dirty="0" err="1"/>
              <a:t>inode</a:t>
            </a:r>
            <a:endParaRPr lang="en-CN" sz="1000" dirty="0"/>
          </a:p>
        </p:txBody>
      </p:sp>
      <p:sp>
        <p:nvSpPr>
          <p:cNvPr id="40" name="Rectangle 39">
            <a:extLst>
              <a:ext uri="{FF2B5EF4-FFF2-40B4-BE49-F238E27FC236}">
                <a16:creationId xmlns:a16="http://schemas.microsoft.com/office/drawing/2014/main" id="{EEFED4E3-A7F9-4F4F-A11E-A2E76A541DB8}"/>
              </a:ext>
            </a:extLst>
          </p:cNvPr>
          <p:cNvSpPr/>
          <p:nvPr/>
        </p:nvSpPr>
        <p:spPr>
          <a:xfrm>
            <a:off x="5655279" y="2471680"/>
            <a:ext cx="933309" cy="345604"/>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目录数据</a:t>
            </a:r>
            <a:endParaRPr lang="en-CN" sz="1000" dirty="0"/>
          </a:p>
        </p:txBody>
      </p:sp>
      <p:sp>
        <p:nvSpPr>
          <p:cNvPr id="41" name="Rectangle 40">
            <a:extLst>
              <a:ext uri="{FF2B5EF4-FFF2-40B4-BE49-F238E27FC236}">
                <a16:creationId xmlns:a16="http://schemas.microsoft.com/office/drawing/2014/main" id="{B957CB33-91E4-6546-9ADE-83EB07781A29}"/>
              </a:ext>
            </a:extLst>
          </p:cNvPr>
          <p:cNvSpPr/>
          <p:nvPr/>
        </p:nvSpPr>
        <p:spPr>
          <a:xfrm>
            <a:off x="5655280" y="3184816"/>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42" name="Rectangle 41">
            <a:extLst>
              <a:ext uri="{FF2B5EF4-FFF2-40B4-BE49-F238E27FC236}">
                <a16:creationId xmlns:a16="http://schemas.microsoft.com/office/drawing/2014/main" id="{B5083F75-75F6-9E4A-A0F5-CD2929CDF635}"/>
              </a:ext>
            </a:extLst>
          </p:cNvPr>
          <p:cNvSpPr/>
          <p:nvPr/>
        </p:nvSpPr>
        <p:spPr>
          <a:xfrm>
            <a:off x="6279327" y="4116828"/>
            <a:ext cx="933309" cy="34560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直接</a:t>
            </a:r>
            <a:r>
              <a:rPr lang="en-US" altLang="zh-CN" sz="1000" dirty="0">
                <a:solidFill>
                  <a:sysClr val="windowText" lastClr="000000"/>
                </a:solidFill>
              </a:rPr>
              <a:t>node</a:t>
            </a:r>
            <a:endParaRPr lang="en-CN" sz="1000" dirty="0">
              <a:solidFill>
                <a:sysClr val="windowText" lastClr="000000"/>
              </a:solidFill>
            </a:endParaRPr>
          </a:p>
        </p:txBody>
      </p:sp>
      <p:sp>
        <p:nvSpPr>
          <p:cNvPr id="43" name="Rectangle 42">
            <a:extLst>
              <a:ext uri="{FF2B5EF4-FFF2-40B4-BE49-F238E27FC236}">
                <a16:creationId xmlns:a16="http://schemas.microsoft.com/office/drawing/2014/main" id="{8D4BC379-3842-CA47-ADBC-93D3CBD5BB3D}"/>
              </a:ext>
            </a:extLst>
          </p:cNvPr>
          <p:cNvSpPr/>
          <p:nvPr/>
        </p:nvSpPr>
        <p:spPr>
          <a:xfrm>
            <a:off x="4826872" y="3757664"/>
            <a:ext cx="933309" cy="345604"/>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间接</a:t>
            </a:r>
            <a:r>
              <a:rPr lang="en-US" altLang="zh-CN" sz="1000" dirty="0">
                <a:solidFill>
                  <a:sysClr val="windowText" lastClr="000000"/>
                </a:solidFill>
              </a:rPr>
              <a:t>node</a:t>
            </a:r>
            <a:endParaRPr lang="en-CN" sz="1000" dirty="0">
              <a:solidFill>
                <a:sysClr val="windowText" lastClr="000000"/>
              </a:solidFill>
            </a:endParaRPr>
          </a:p>
        </p:txBody>
      </p:sp>
      <p:sp>
        <p:nvSpPr>
          <p:cNvPr id="44" name="Rectangle 43">
            <a:extLst>
              <a:ext uri="{FF2B5EF4-FFF2-40B4-BE49-F238E27FC236}">
                <a16:creationId xmlns:a16="http://schemas.microsoft.com/office/drawing/2014/main" id="{AFDEF791-0082-1645-8BCE-8AE568AD370A}"/>
              </a:ext>
            </a:extLst>
          </p:cNvPr>
          <p:cNvSpPr/>
          <p:nvPr/>
        </p:nvSpPr>
        <p:spPr>
          <a:xfrm>
            <a:off x="7481522" y="3201965"/>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cxnSp>
        <p:nvCxnSpPr>
          <p:cNvPr id="48" name="Elbow Connector 47">
            <a:extLst>
              <a:ext uri="{FF2B5EF4-FFF2-40B4-BE49-F238E27FC236}">
                <a16:creationId xmlns:a16="http://schemas.microsoft.com/office/drawing/2014/main" id="{E4CD613D-B629-7948-ACDB-AA9721336B44}"/>
              </a:ext>
            </a:extLst>
          </p:cNvPr>
          <p:cNvCxnSpPr>
            <a:cxnSpLocks/>
            <a:stCxn id="34" idx="2"/>
            <a:endCxn id="35" idx="0"/>
          </p:cNvCxnSpPr>
          <p:nvPr/>
        </p:nvCxnSpPr>
        <p:spPr>
          <a:xfrm rot="5400000">
            <a:off x="1124815" y="2332433"/>
            <a:ext cx="894461" cy="2164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1" name="Elbow Connector 50">
            <a:extLst>
              <a:ext uri="{FF2B5EF4-FFF2-40B4-BE49-F238E27FC236}">
                <a16:creationId xmlns:a16="http://schemas.microsoft.com/office/drawing/2014/main" id="{40265B92-DAB0-A247-A15C-84CDD230CBA6}"/>
              </a:ext>
            </a:extLst>
          </p:cNvPr>
          <p:cNvCxnSpPr>
            <a:cxnSpLocks/>
            <a:stCxn id="37" idx="3"/>
            <a:endCxn id="38" idx="1"/>
          </p:cNvCxnSpPr>
          <p:nvPr/>
        </p:nvCxnSpPr>
        <p:spPr>
          <a:xfrm>
            <a:off x="2427926" y="1737506"/>
            <a:ext cx="1572527" cy="66222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5" name="Elbow Connector 54">
            <a:extLst>
              <a:ext uri="{FF2B5EF4-FFF2-40B4-BE49-F238E27FC236}">
                <a16:creationId xmlns:a16="http://schemas.microsoft.com/office/drawing/2014/main" id="{F524F4DB-A289-A14E-995E-94A83CE1166F}"/>
              </a:ext>
            </a:extLst>
          </p:cNvPr>
          <p:cNvCxnSpPr>
            <a:cxnSpLocks/>
            <a:stCxn id="37" idx="3"/>
            <a:endCxn id="39" idx="1"/>
          </p:cNvCxnSpPr>
          <p:nvPr/>
        </p:nvCxnSpPr>
        <p:spPr>
          <a:xfrm>
            <a:off x="2427926" y="1737506"/>
            <a:ext cx="1572527" cy="12745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9" name="Elbow Connector 58">
            <a:extLst>
              <a:ext uri="{FF2B5EF4-FFF2-40B4-BE49-F238E27FC236}">
                <a16:creationId xmlns:a16="http://schemas.microsoft.com/office/drawing/2014/main" id="{83022C20-C7D5-9143-8E60-63FDF125E3A2}"/>
              </a:ext>
            </a:extLst>
          </p:cNvPr>
          <p:cNvCxnSpPr>
            <a:cxnSpLocks/>
            <a:stCxn id="38" idx="3"/>
            <a:endCxn id="40" idx="1"/>
          </p:cNvCxnSpPr>
          <p:nvPr/>
        </p:nvCxnSpPr>
        <p:spPr>
          <a:xfrm>
            <a:off x="4933762" y="2399730"/>
            <a:ext cx="721517" cy="2447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Elbow Connector 62">
            <a:extLst>
              <a:ext uri="{FF2B5EF4-FFF2-40B4-BE49-F238E27FC236}">
                <a16:creationId xmlns:a16="http://schemas.microsoft.com/office/drawing/2014/main" id="{B98E09AD-0E97-3E4D-9E74-332DF949EA1E}"/>
              </a:ext>
            </a:extLst>
          </p:cNvPr>
          <p:cNvCxnSpPr>
            <a:cxnSpLocks/>
            <a:stCxn id="39" idx="3"/>
            <a:endCxn id="41" idx="1"/>
          </p:cNvCxnSpPr>
          <p:nvPr/>
        </p:nvCxnSpPr>
        <p:spPr>
          <a:xfrm>
            <a:off x="4933762" y="3012014"/>
            <a:ext cx="721518" cy="34560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6" name="Elbow Connector 65">
            <a:extLst>
              <a:ext uri="{FF2B5EF4-FFF2-40B4-BE49-F238E27FC236}">
                <a16:creationId xmlns:a16="http://schemas.microsoft.com/office/drawing/2014/main" id="{A8BFD7C2-C92A-CF42-B964-4D8B338E82F5}"/>
              </a:ext>
            </a:extLst>
          </p:cNvPr>
          <p:cNvCxnSpPr>
            <a:cxnSpLocks/>
            <a:stCxn id="39" idx="2"/>
            <a:endCxn id="43" idx="0"/>
          </p:cNvCxnSpPr>
          <p:nvPr/>
        </p:nvCxnSpPr>
        <p:spPr>
          <a:xfrm rot="16200000" flipH="1">
            <a:off x="4593893" y="3058030"/>
            <a:ext cx="572848" cy="826419"/>
          </a:xfrm>
          <a:prstGeom prst="bentConnector3">
            <a:avLst>
              <a:gd name="adj1" fmla="val 50000"/>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0" name="Elbow Connector 69">
            <a:extLst>
              <a:ext uri="{FF2B5EF4-FFF2-40B4-BE49-F238E27FC236}">
                <a16:creationId xmlns:a16="http://schemas.microsoft.com/office/drawing/2014/main" id="{69361DFE-FC58-BD4C-B43B-D4827874AD6B}"/>
              </a:ext>
            </a:extLst>
          </p:cNvPr>
          <p:cNvCxnSpPr>
            <a:cxnSpLocks/>
            <a:stCxn id="43" idx="3"/>
            <a:endCxn id="42" idx="0"/>
          </p:cNvCxnSpPr>
          <p:nvPr/>
        </p:nvCxnSpPr>
        <p:spPr>
          <a:xfrm>
            <a:off x="5760181" y="3930466"/>
            <a:ext cx="985801" cy="186362"/>
          </a:xfrm>
          <a:prstGeom prst="bentConnector2">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5" name="Elbow Connector 74">
            <a:extLst>
              <a:ext uri="{FF2B5EF4-FFF2-40B4-BE49-F238E27FC236}">
                <a16:creationId xmlns:a16="http://schemas.microsoft.com/office/drawing/2014/main" id="{CF118D76-4BB7-0147-8C2C-0E03067F3492}"/>
              </a:ext>
            </a:extLst>
          </p:cNvPr>
          <p:cNvCxnSpPr>
            <a:cxnSpLocks/>
            <a:stCxn id="42" idx="3"/>
            <a:endCxn id="44" idx="2"/>
          </p:cNvCxnSpPr>
          <p:nvPr/>
        </p:nvCxnSpPr>
        <p:spPr>
          <a:xfrm flipV="1">
            <a:off x="7212636" y="3547569"/>
            <a:ext cx="735541" cy="74206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0B273302-4A4E-4841-AF30-18BD303D3037}"/>
              </a:ext>
            </a:extLst>
          </p:cNvPr>
          <p:cNvSpPr txBox="1"/>
          <p:nvPr/>
        </p:nvSpPr>
        <p:spPr>
          <a:xfrm>
            <a:off x="6815327" y="3184815"/>
            <a:ext cx="428061" cy="369332"/>
          </a:xfrm>
          <a:prstGeom prst="rect">
            <a:avLst/>
          </a:prstGeom>
          <a:noFill/>
        </p:spPr>
        <p:txBody>
          <a:bodyPr wrap="square" rtlCol="0">
            <a:spAutoFit/>
          </a:bodyPr>
          <a:lstStyle/>
          <a:p>
            <a:r>
              <a:rPr lang="en-US" dirty="0"/>
              <a:t>…</a:t>
            </a:r>
            <a:endParaRPr lang="en-CN" dirty="0"/>
          </a:p>
        </p:txBody>
      </p:sp>
      <p:sp>
        <p:nvSpPr>
          <p:cNvPr id="79" name="TextBox 78">
            <a:extLst>
              <a:ext uri="{FF2B5EF4-FFF2-40B4-BE49-F238E27FC236}">
                <a16:creationId xmlns:a16="http://schemas.microsoft.com/office/drawing/2014/main" id="{37A22199-192E-7E4F-9110-37A3F0CEE7F9}"/>
              </a:ext>
            </a:extLst>
          </p:cNvPr>
          <p:cNvSpPr txBox="1"/>
          <p:nvPr/>
        </p:nvSpPr>
        <p:spPr>
          <a:xfrm>
            <a:off x="2105725" y="3184815"/>
            <a:ext cx="954107" cy="276999"/>
          </a:xfrm>
          <a:prstGeom prst="rect">
            <a:avLst/>
          </a:prstGeom>
          <a:noFill/>
        </p:spPr>
        <p:txBody>
          <a:bodyPr wrap="none" rtlCol="0">
            <a:spAutoFit/>
          </a:bodyPr>
          <a:lstStyle/>
          <a:p>
            <a:r>
              <a:rPr lang="zh-CN" altLang="en-CN" sz="1200" dirty="0"/>
              <a:t>用于</a:t>
            </a:r>
            <a:r>
              <a:rPr lang="zh-CN" altLang="en-US" sz="1200" dirty="0"/>
              <a:t>段清理</a:t>
            </a:r>
            <a:endParaRPr lang="en-CN" sz="1200" dirty="0"/>
          </a:p>
        </p:txBody>
      </p:sp>
      <p:sp>
        <p:nvSpPr>
          <p:cNvPr id="80" name="Right Brace 79">
            <a:extLst>
              <a:ext uri="{FF2B5EF4-FFF2-40B4-BE49-F238E27FC236}">
                <a16:creationId xmlns:a16="http://schemas.microsoft.com/office/drawing/2014/main" id="{849B04C6-C233-CD42-9F62-1E992E6EE725}"/>
              </a:ext>
            </a:extLst>
          </p:cNvPr>
          <p:cNvSpPr/>
          <p:nvPr/>
        </p:nvSpPr>
        <p:spPr>
          <a:xfrm>
            <a:off x="1998834" y="2887864"/>
            <a:ext cx="167965" cy="869691"/>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45" name="Rectangle 44">
            <a:extLst>
              <a:ext uri="{FF2B5EF4-FFF2-40B4-BE49-F238E27FC236}">
                <a16:creationId xmlns:a16="http://schemas.microsoft.com/office/drawing/2014/main" id="{789ACD0B-00DB-9E42-85E5-816388D2C02D}"/>
              </a:ext>
            </a:extLst>
          </p:cNvPr>
          <p:cNvSpPr/>
          <p:nvPr/>
        </p:nvSpPr>
        <p:spPr>
          <a:xfrm>
            <a:off x="2022910" y="4785990"/>
            <a:ext cx="284100" cy="360000"/>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cxnSp>
        <p:nvCxnSpPr>
          <p:cNvPr id="58" name="Elbow Connector 57">
            <a:extLst>
              <a:ext uri="{FF2B5EF4-FFF2-40B4-BE49-F238E27FC236}">
                <a16:creationId xmlns:a16="http://schemas.microsoft.com/office/drawing/2014/main" id="{133B94EC-F58B-774A-87B0-1AC2EE673D11}"/>
              </a:ext>
            </a:extLst>
          </p:cNvPr>
          <p:cNvCxnSpPr>
            <a:cxnSpLocks/>
            <a:stCxn id="37" idx="3"/>
            <a:endCxn id="43" idx="1"/>
          </p:cNvCxnSpPr>
          <p:nvPr/>
        </p:nvCxnSpPr>
        <p:spPr>
          <a:xfrm>
            <a:off x="2427926" y="1737506"/>
            <a:ext cx="2398946" cy="2192960"/>
          </a:xfrm>
          <a:prstGeom prst="bentConnector3">
            <a:avLst>
              <a:gd name="adj1" fmla="val 32786"/>
            </a:avLst>
          </a:prstGeom>
          <a:ln>
            <a:tailEnd type="triangle"/>
          </a:ln>
        </p:spPr>
        <p:style>
          <a:lnRef idx="1">
            <a:schemeClr val="dk1"/>
          </a:lnRef>
          <a:fillRef idx="0">
            <a:schemeClr val="dk1"/>
          </a:fillRef>
          <a:effectRef idx="0">
            <a:schemeClr val="dk1"/>
          </a:effectRef>
          <a:fontRef idx="minor">
            <a:schemeClr val="tx1"/>
          </a:fontRef>
        </p:style>
      </p:cxnSp>
      <p:cxnSp>
        <p:nvCxnSpPr>
          <p:cNvPr id="60" name="Elbow Connector 59">
            <a:extLst>
              <a:ext uri="{FF2B5EF4-FFF2-40B4-BE49-F238E27FC236}">
                <a16:creationId xmlns:a16="http://schemas.microsoft.com/office/drawing/2014/main" id="{EA3B1074-16AC-AD43-BF8E-EA445A6E6816}"/>
              </a:ext>
            </a:extLst>
          </p:cNvPr>
          <p:cNvCxnSpPr>
            <a:cxnSpLocks/>
            <a:stCxn id="37" idx="3"/>
            <a:endCxn id="42" idx="1"/>
          </p:cNvCxnSpPr>
          <p:nvPr/>
        </p:nvCxnSpPr>
        <p:spPr>
          <a:xfrm>
            <a:off x="2427926" y="1737506"/>
            <a:ext cx="3851401" cy="2552124"/>
          </a:xfrm>
          <a:prstGeom prst="bentConnector3">
            <a:avLst>
              <a:gd name="adj1" fmla="val 20403"/>
            </a:avLst>
          </a:prstGeom>
          <a:ln>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CE231844-2D33-E24D-B333-F8B735649F57}"/>
              </a:ext>
            </a:extLst>
          </p:cNvPr>
          <p:cNvSpPr txBox="1"/>
          <p:nvPr/>
        </p:nvSpPr>
        <p:spPr>
          <a:xfrm>
            <a:off x="4083594" y="3429553"/>
            <a:ext cx="1032655" cy="261610"/>
          </a:xfrm>
          <a:prstGeom prst="rect">
            <a:avLst/>
          </a:prstGeom>
          <a:noFill/>
        </p:spPr>
        <p:txBody>
          <a:bodyPr wrap="none" rtlCol="0">
            <a:spAutoFit/>
          </a:bodyPr>
          <a:lstStyle/>
          <a:p>
            <a:r>
              <a:rPr lang="zh-CN" altLang="en-US" sz="1100" dirty="0">
                <a:solidFill>
                  <a:srgbClr val="C00000"/>
                </a:solidFill>
              </a:rPr>
              <a:t>使用</a:t>
            </a:r>
            <a:r>
              <a:rPr lang="en-US" altLang="zh-CN" sz="1100" dirty="0">
                <a:solidFill>
                  <a:srgbClr val="C00000"/>
                </a:solidFill>
              </a:rPr>
              <a:t>NAT</a:t>
            </a:r>
            <a:r>
              <a:rPr lang="zh-CN" altLang="en-US" sz="1100" dirty="0">
                <a:solidFill>
                  <a:srgbClr val="C00000"/>
                </a:solidFill>
              </a:rPr>
              <a:t>翻译</a:t>
            </a:r>
            <a:endParaRPr lang="en-CN" sz="1100" dirty="0">
              <a:solidFill>
                <a:srgbClr val="C00000"/>
              </a:solidFill>
            </a:endParaRPr>
          </a:p>
        </p:txBody>
      </p:sp>
      <p:sp>
        <p:nvSpPr>
          <p:cNvPr id="76" name="TextBox 75">
            <a:extLst>
              <a:ext uri="{FF2B5EF4-FFF2-40B4-BE49-F238E27FC236}">
                <a16:creationId xmlns:a16="http://schemas.microsoft.com/office/drawing/2014/main" id="{BB501C73-5729-6F45-959A-5D07CC5D5E6F}"/>
              </a:ext>
            </a:extLst>
          </p:cNvPr>
          <p:cNvSpPr txBox="1"/>
          <p:nvPr/>
        </p:nvSpPr>
        <p:spPr>
          <a:xfrm>
            <a:off x="6005664" y="3699937"/>
            <a:ext cx="1032655" cy="261610"/>
          </a:xfrm>
          <a:prstGeom prst="rect">
            <a:avLst/>
          </a:prstGeom>
          <a:noFill/>
        </p:spPr>
        <p:txBody>
          <a:bodyPr wrap="none" rtlCol="0">
            <a:spAutoFit/>
          </a:bodyPr>
          <a:lstStyle/>
          <a:p>
            <a:r>
              <a:rPr lang="zh-CN" altLang="en-US" sz="1100" dirty="0">
                <a:solidFill>
                  <a:srgbClr val="C00000"/>
                </a:solidFill>
              </a:rPr>
              <a:t>使用</a:t>
            </a:r>
            <a:r>
              <a:rPr lang="en-US" altLang="zh-CN" sz="1100" dirty="0">
                <a:solidFill>
                  <a:srgbClr val="C00000"/>
                </a:solidFill>
              </a:rPr>
              <a:t>NAT</a:t>
            </a:r>
            <a:r>
              <a:rPr lang="zh-CN" altLang="en-US" sz="1100" dirty="0">
                <a:solidFill>
                  <a:srgbClr val="C00000"/>
                </a:solidFill>
              </a:rPr>
              <a:t>翻译</a:t>
            </a:r>
            <a:endParaRPr lang="en-CN" sz="1100" dirty="0">
              <a:solidFill>
                <a:srgbClr val="C00000"/>
              </a:solidFill>
            </a:endParaRPr>
          </a:p>
        </p:txBody>
      </p:sp>
      <p:sp>
        <p:nvSpPr>
          <p:cNvPr id="77" name="Right Arrow 76">
            <a:extLst>
              <a:ext uri="{FF2B5EF4-FFF2-40B4-BE49-F238E27FC236}">
                <a16:creationId xmlns:a16="http://schemas.microsoft.com/office/drawing/2014/main" id="{5E3628CF-E787-9247-8891-CCB4084D825C}"/>
              </a:ext>
            </a:extLst>
          </p:cNvPr>
          <p:cNvSpPr/>
          <p:nvPr/>
        </p:nvSpPr>
        <p:spPr>
          <a:xfrm>
            <a:off x="5100561" y="4896220"/>
            <a:ext cx="554718"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81" name="Right Arrow 80">
            <a:extLst>
              <a:ext uri="{FF2B5EF4-FFF2-40B4-BE49-F238E27FC236}">
                <a16:creationId xmlns:a16="http://schemas.microsoft.com/office/drawing/2014/main" id="{CD0D2409-9C81-3944-8806-06BAD863670B}"/>
              </a:ext>
            </a:extLst>
          </p:cNvPr>
          <p:cNvSpPr/>
          <p:nvPr/>
        </p:nvSpPr>
        <p:spPr>
          <a:xfrm>
            <a:off x="3975197" y="4892765"/>
            <a:ext cx="662840"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83" name="Right Arrow 82">
            <a:extLst>
              <a:ext uri="{FF2B5EF4-FFF2-40B4-BE49-F238E27FC236}">
                <a16:creationId xmlns:a16="http://schemas.microsoft.com/office/drawing/2014/main" id="{EBD823FC-83D3-0842-8293-5AC4E0779CF2}"/>
              </a:ext>
            </a:extLst>
          </p:cNvPr>
          <p:cNvSpPr/>
          <p:nvPr/>
        </p:nvSpPr>
        <p:spPr>
          <a:xfrm>
            <a:off x="5952312" y="4896220"/>
            <a:ext cx="635912"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52" name="Right Brace 51">
            <a:extLst>
              <a:ext uri="{FF2B5EF4-FFF2-40B4-BE49-F238E27FC236}">
                <a16:creationId xmlns:a16="http://schemas.microsoft.com/office/drawing/2014/main" id="{E0538F16-0A91-0542-8163-6D1383597990}"/>
              </a:ext>
            </a:extLst>
          </p:cNvPr>
          <p:cNvSpPr/>
          <p:nvPr/>
        </p:nvSpPr>
        <p:spPr>
          <a:xfrm rot="16200000">
            <a:off x="1611650" y="637984"/>
            <a:ext cx="167965" cy="1464586"/>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53" name="TextBox 52">
            <a:extLst>
              <a:ext uri="{FF2B5EF4-FFF2-40B4-BE49-F238E27FC236}">
                <a16:creationId xmlns:a16="http://schemas.microsoft.com/office/drawing/2014/main" id="{55D89B43-9AF5-D545-93F2-AF36FF9C8A1D}"/>
              </a:ext>
            </a:extLst>
          </p:cNvPr>
          <p:cNvSpPr txBox="1"/>
          <p:nvPr/>
        </p:nvSpPr>
        <p:spPr>
          <a:xfrm>
            <a:off x="1043851" y="1044314"/>
            <a:ext cx="1303562" cy="276999"/>
          </a:xfrm>
          <a:prstGeom prst="rect">
            <a:avLst/>
          </a:prstGeom>
          <a:noFill/>
        </p:spPr>
        <p:txBody>
          <a:bodyPr wrap="none" rtlCol="0">
            <a:spAutoFit/>
          </a:bodyPr>
          <a:lstStyle/>
          <a:p>
            <a:r>
              <a:rPr lang="zh-CN" altLang="en-US" sz="1200" dirty="0"/>
              <a:t>保存在固定位置</a:t>
            </a:r>
            <a:endParaRPr lang="en-CN" sz="1200" dirty="0"/>
          </a:p>
        </p:txBody>
      </p:sp>
      <p:sp>
        <p:nvSpPr>
          <p:cNvPr id="54" name="TextBox 53">
            <a:extLst>
              <a:ext uri="{FF2B5EF4-FFF2-40B4-BE49-F238E27FC236}">
                <a16:creationId xmlns:a16="http://schemas.microsoft.com/office/drawing/2014/main" id="{78EC32F8-AD2A-6E45-994E-34870EFBF040}"/>
              </a:ext>
            </a:extLst>
          </p:cNvPr>
          <p:cNvSpPr txBox="1"/>
          <p:nvPr/>
        </p:nvSpPr>
        <p:spPr>
          <a:xfrm>
            <a:off x="331942" y="1631065"/>
            <a:ext cx="354221" cy="1323439"/>
          </a:xfrm>
          <a:prstGeom prst="rect">
            <a:avLst/>
          </a:prstGeom>
          <a:noFill/>
        </p:spPr>
        <p:txBody>
          <a:bodyPr wrap="square" rtlCol="0">
            <a:spAutoFit/>
          </a:bodyPr>
          <a:lstStyle/>
          <a:p>
            <a:r>
              <a:rPr lang="zh-CN" altLang="en-CN" sz="2000" dirty="0"/>
              <a:t>逻辑</a:t>
            </a:r>
            <a:r>
              <a:rPr lang="zh-CN" altLang="en-US" sz="2000" dirty="0"/>
              <a:t>结构</a:t>
            </a:r>
            <a:endParaRPr lang="en-CN" sz="2000" dirty="0"/>
          </a:p>
        </p:txBody>
      </p:sp>
      <p:sp>
        <p:nvSpPr>
          <p:cNvPr id="56" name="TextBox 55">
            <a:extLst>
              <a:ext uri="{FF2B5EF4-FFF2-40B4-BE49-F238E27FC236}">
                <a16:creationId xmlns:a16="http://schemas.microsoft.com/office/drawing/2014/main" id="{FB0F2E0E-E07A-E046-B002-3D290C019E38}"/>
              </a:ext>
            </a:extLst>
          </p:cNvPr>
          <p:cNvSpPr txBox="1"/>
          <p:nvPr/>
        </p:nvSpPr>
        <p:spPr>
          <a:xfrm>
            <a:off x="367002" y="4161072"/>
            <a:ext cx="284100" cy="1323439"/>
          </a:xfrm>
          <a:prstGeom prst="rect">
            <a:avLst/>
          </a:prstGeom>
          <a:noFill/>
        </p:spPr>
        <p:txBody>
          <a:bodyPr wrap="square" rtlCol="0">
            <a:spAutoFit/>
          </a:bodyPr>
          <a:lstStyle/>
          <a:p>
            <a:r>
              <a:rPr lang="zh-CN" altLang="en-US" sz="2000" dirty="0"/>
              <a:t>存储结构</a:t>
            </a:r>
            <a:endParaRPr lang="en-CN" sz="2000" dirty="0"/>
          </a:p>
        </p:txBody>
      </p:sp>
    </p:spTree>
    <p:extLst>
      <p:ext uri="{BB962C8B-B14F-4D97-AF65-F5344CB8AC3E}">
        <p14:creationId xmlns:p14="http://schemas.microsoft.com/office/powerpoint/2010/main" val="40859234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265B5F-E8D0-9B4B-8BB0-FFF98707AFC9}"/>
              </a:ext>
            </a:extLst>
          </p:cNvPr>
          <p:cNvSpPr/>
          <p:nvPr/>
        </p:nvSpPr>
        <p:spPr>
          <a:xfrm>
            <a:off x="1249134" y="4785990"/>
            <a:ext cx="6460909" cy="360000"/>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 name="Title 1">
            <a:extLst>
              <a:ext uri="{FF2B5EF4-FFF2-40B4-BE49-F238E27FC236}">
                <a16:creationId xmlns:a16="http://schemas.microsoft.com/office/drawing/2014/main" id="{04AA801F-C21B-904D-B19B-F50F0A7BCF45}"/>
              </a:ext>
            </a:extLst>
          </p:cNvPr>
          <p:cNvSpPr>
            <a:spLocks noGrp="1"/>
          </p:cNvSpPr>
          <p:nvPr>
            <p:ph type="title"/>
          </p:nvPr>
        </p:nvSpPr>
        <p:spPr/>
        <p:txBody>
          <a:bodyPr>
            <a:normAutofit/>
          </a:bodyPr>
          <a:lstStyle/>
          <a:p>
            <a:r>
              <a:rPr lang="en-CN" altLang="zh-CN" dirty="0"/>
              <a:t>F2FS</a:t>
            </a:r>
            <a:r>
              <a:rPr lang="zh-CN" altLang="en-CN" dirty="0"/>
              <a:t>的</a:t>
            </a:r>
            <a:r>
              <a:rPr lang="zh-CN" altLang="en-US" dirty="0"/>
              <a:t>改进</a:t>
            </a:r>
            <a:r>
              <a:rPr lang="en-US" altLang="zh-CN" dirty="0"/>
              <a:t>-1</a:t>
            </a:r>
            <a:r>
              <a:rPr lang="zh-CN" altLang="en-US" dirty="0"/>
              <a:t>：</a:t>
            </a:r>
            <a:r>
              <a:rPr lang="en-US" altLang="zh-CN" dirty="0"/>
              <a:t>NAT</a:t>
            </a:r>
            <a:endParaRPr lang="en-CN" dirty="0"/>
          </a:p>
        </p:txBody>
      </p:sp>
      <p:sp>
        <p:nvSpPr>
          <p:cNvPr id="4" name="Slide Number Placeholder 3">
            <a:extLst>
              <a:ext uri="{FF2B5EF4-FFF2-40B4-BE49-F238E27FC236}">
                <a16:creationId xmlns:a16="http://schemas.microsoft.com/office/drawing/2014/main" id="{29635DD5-5238-954F-AA1D-0B15F66DB369}"/>
              </a:ext>
            </a:extLst>
          </p:cNvPr>
          <p:cNvSpPr>
            <a:spLocks noGrp="1"/>
          </p:cNvSpPr>
          <p:nvPr>
            <p:ph type="sldNum" sz="quarter" idx="12"/>
          </p:nvPr>
        </p:nvSpPr>
        <p:spPr/>
        <p:txBody>
          <a:bodyPr/>
          <a:lstStyle/>
          <a:p>
            <a:fld id="{ADE361C3-C043-4A6E-BDCE-8DA1E7D90A3B}" type="slidenum">
              <a:rPr lang="zh-CN" altLang="en-US" smtClean="0"/>
              <a:t>51</a:t>
            </a:fld>
            <a:endParaRPr lang="zh-CN" altLang="en-US"/>
          </a:p>
        </p:txBody>
      </p:sp>
      <p:sp>
        <p:nvSpPr>
          <p:cNvPr id="5" name="Footer Placeholder 4">
            <a:extLst>
              <a:ext uri="{FF2B5EF4-FFF2-40B4-BE49-F238E27FC236}">
                <a16:creationId xmlns:a16="http://schemas.microsoft.com/office/drawing/2014/main" id="{219D56D5-E01E-584F-BDA4-4A95035763D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Rectangle 8">
            <a:extLst>
              <a:ext uri="{FF2B5EF4-FFF2-40B4-BE49-F238E27FC236}">
                <a16:creationId xmlns:a16="http://schemas.microsoft.com/office/drawing/2014/main" id="{481DD187-7A04-924A-88CE-EC24085D9896}"/>
              </a:ext>
            </a:extLst>
          </p:cNvPr>
          <p:cNvSpPr/>
          <p:nvPr/>
        </p:nvSpPr>
        <p:spPr>
          <a:xfrm>
            <a:off x="14576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SB</a:t>
            </a:r>
          </a:p>
        </p:txBody>
      </p:sp>
      <p:sp>
        <p:nvSpPr>
          <p:cNvPr id="10" name="Rectangle 9">
            <a:extLst>
              <a:ext uri="{FF2B5EF4-FFF2-40B4-BE49-F238E27FC236}">
                <a16:creationId xmlns:a16="http://schemas.microsoft.com/office/drawing/2014/main" id="{234A33EC-B566-C04E-B991-752EFCE381FB}"/>
              </a:ext>
            </a:extLst>
          </p:cNvPr>
          <p:cNvSpPr/>
          <p:nvPr/>
        </p:nvSpPr>
        <p:spPr>
          <a:xfrm>
            <a:off x="17417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4" name="Rectangle 13">
            <a:extLst>
              <a:ext uri="{FF2B5EF4-FFF2-40B4-BE49-F238E27FC236}">
                <a16:creationId xmlns:a16="http://schemas.microsoft.com/office/drawing/2014/main" id="{6E071324-7B69-9744-A3AA-B557FD8A43C8}"/>
              </a:ext>
            </a:extLst>
          </p:cNvPr>
          <p:cNvSpPr/>
          <p:nvPr/>
        </p:nvSpPr>
        <p:spPr>
          <a:xfrm>
            <a:off x="2874661"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5" name="Rectangle 14">
            <a:extLst>
              <a:ext uri="{FF2B5EF4-FFF2-40B4-BE49-F238E27FC236}">
                <a16:creationId xmlns:a16="http://schemas.microsoft.com/office/drawing/2014/main" id="{A5A7ED0E-B78C-414B-9434-CB86EAA92D2B}"/>
              </a:ext>
            </a:extLst>
          </p:cNvPr>
          <p:cNvSpPr/>
          <p:nvPr/>
        </p:nvSpPr>
        <p:spPr>
          <a:xfrm>
            <a:off x="4209650" y="4785990"/>
            <a:ext cx="284100" cy="36000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6" name="Rectangle 15">
            <a:extLst>
              <a:ext uri="{FF2B5EF4-FFF2-40B4-BE49-F238E27FC236}">
                <a16:creationId xmlns:a16="http://schemas.microsoft.com/office/drawing/2014/main" id="{75D016D2-BDBC-004F-85CF-DE5499846E97}"/>
              </a:ext>
            </a:extLst>
          </p:cNvPr>
          <p:cNvSpPr/>
          <p:nvPr/>
        </p:nvSpPr>
        <p:spPr>
          <a:xfrm>
            <a:off x="5277544" y="4784832"/>
            <a:ext cx="185483"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8" name="Rectangle 17">
            <a:extLst>
              <a:ext uri="{FF2B5EF4-FFF2-40B4-BE49-F238E27FC236}">
                <a16:creationId xmlns:a16="http://schemas.microsoft.com/office/drawing/2014/main" id="{E41776D0-E41D-D949-9A98-1BBB02569D5C}"/>
              </a:ext>
            </a:extLst>
          </p:cNvPr>
          <p:cNvSpPr/>
          <p:nvPr/>
        </p:nvSpPr>
        <p:spPr>
          <a:xfrm>
            <a:off x="3927607" y="4785990"/>
            <a:ext cx="284100" cy="360000"/>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9" name="Rectangle 18">
            <a:extLst>
              <a:ext uri="{FF2B5EF4-FFF2-40B4-BE49-F238E27FC236}">
                <a16:creationId xmlns:a16="http://schemas.microsoft.com/office/drawing/2014/main" id="{F80BB814-B838-D94B-85BA-DD5EBCA25B94}"/>
              </a:ext>
            </a:extLst>
          </p:cNvPr>
          <p:cNvSpPr/>
          <p:nvPr/>
        </p:nvSpPr>
        <p:spPr>
          <a:xfrm>
            <a:off x="3159234"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20" name="Rectangle 19">
            <a:extLst>
              <a:ext uri="{FF2B5EF4-FFF2-40B4-BE49-F238E27FC236}">
                <a16:creationId xmlns:a16="http://schemas.microsoft.com/office/drawing/2014/main" id="{837910C3-C981-CB43-9299-479EEBF512B2}"/>
              </a:ext>
            </a:extLst>
          </p:cNvPr>
          <p:cNvSpPr/>
          <p:nvPr/>
        </p:nvSpPr>
        <p:spPr>
          <a:xfrm>
            <a:off x="6176524"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1" name="Rectangle 20">
            <a:extLst>
              <a:ext uri="{FF2B5EF4-FFF2-40B4-BE49-F238E27FC236}">
                <a16:creationId xmlns:a16="http://schemas.microsoft.com/office/drawing/2014/main" id="{0A9BB4F2-F16A-0246-B396-F25B7E09DA5D}"/>
              </a:ext>
            </a:extLst>
          </p:cNvPr>
          <p:cNvSpPr/>
          <p:nvPr/>
        </p:nvSpPr>
        <p:spPr>
          <a:xfrm>
            <a:off x="5100561" y="4786669"/>
            <a:ext cx="156145"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2" name="Rectangle 21">
            <a:extLst>
              <a:ext uri="{FF2B5EF4-FFF2-40B4-BE49-F238E27FC236}">
                <a16:creationId xmlns:a16="http://schemas.microsoft.com/office/drawing/2014/main" id="{970D0D23-F3D0-7247-84CE-3EB8FC0F5754}"/>
              </a:ext>
            </a:extLst>
          </p:cNvPr>
          <p:cNvSpPr/>
          <p:nvPr/>
        </p:nvSpPr>
        <p:spPr>
          <a:xfrm>
            <a:off x="5889357" y="4788868"/>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33" name="Rectangle 32">
            <a:extLst>
              <a:ext uri="{FF2B5EF4-FFF2-40B4-BE49-F238E27FC236}">
                <a16:creationId xmlns:a16="http://schemas.microsoft.com/office/drawing/2014/main" id="{03934CEA-E1FA-0A49-883A-B4D52CEAFAA2}"/>
              </a:ext>
            </a:extLst>
          </p:cNvPr>
          <p:cNvSpPr/>
          <p:nvPr/>
        </p:nvSpPr>
        <p:spPr>
          <a:xfrm>
            <a:off x="963340"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超级块</a:t>
            </a:r>
            <a:endParaRPr lang="en-CN" sz="1000" dirty="0"/>
          </a:p>
        </p:txBody>
      </p:sp>
      <p:sp>
        <p:nvSpPr>
          <p:cNvPr id="34" name="Rectangle 33">
            <a:extLst>
              <a:ext uri="{FF2B5EF4-FFF2-40B4-BE49-F238E27FC236}">
                <a16:creationId xmlns:a16="http://schemas.microsoft.com/office/drawing/2014/main" id="{30D70729-9C16-DF4D-B077-3EFA2A00E87D}"/>
              </a:ext>
            </a:extLst>
          </p:cNvPr>
          <p:cNvSpPr/>
          <p:nvPr/>
        </p:nvSpPr>
        <p:spPr>
          <a:xfrm>
            <a:off x="1463843" y="1489348"/>
            <a:ext cx="432806" cy="504056"/>
          </a:xfrm>
          <a:prstGeom prst="rect">
            <a:avLst/>
          </a:prstGeom>
          <a:solidFill>
            <a:schemeClr val="accent5"/>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检查点</a:t>
            </a:r>
            <a:endParaRPr lang="en-CN" sz="1000" dirty="0"/>
          </a:p>
        </p:txBody>
      </p:sp>
      <p:sp>
        <p:nvSpPr>
          <p:cNvPr id="35" name="Rectangle 34">
            <a:extLst>
              <a:ext uri="{FF2B5EF4-FFF2-40B4-BE49-F238E27FC236}">
                <a16:creationId xmlns:a16="http://schemas.microsoft.com/office/drawing/2014/main" id="{AC1AA524-9DDD-3E4A-8026-8D13EB0BF4E9}"/>
              </a:ext>
            </a:extLst>
          </p:cNvPr>
          <p:cNvSpPr/>
          <p:nvPr/>
        </p:nvSpPr>
        <p:spPr>
          <a:xfrm>
            <a:off x="997188" y="2887865"/>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段使用表</a:t>
            </a:r>
            <a:endParaRPr lang="en-CN" sz="1000" dirty="0"/>
          </a:p>
        </p:txBody>
      </p:sp>
      <p:sp>
        <p:nvSpPr>
          <p:cNvPr id="36" name="Rectangle 35">
            <a:extLst>
              <a:ext uri="{FF2B5EF4-FFF2-40B4-BE49-F238E27FC236}">
                <a16:creationId xmlns:a16="http://schemas.microsoft.com/office/drawing/2014/main" id="{1660AFEA-57A9-B448-B44B-8F439D7ED339}"/>
              </a:ext>
            </a:extLst>
          </p:cNvPr>
          <p:cNvSpPr/>
          <p:nvPr/>
        </p:nvSpPr>
        <p:spPr>
          <a:xfrm>
            <a:off x="997188" y="3373453"/>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t>段概要</a:t>
            </a:r>
            <a:endParaRPr lang="en-CN" sz="1000" dirty="0"/>
          </a:p>
        </p:txBody>
      </p:sp>
      <p:sp>
        <p:nvSpPr>
          <p:cNvPr id="37" name="Rectangle 36">
            <a:extLst>
              <a:ext uri="{FF2B5EF4-FFF2-40B4-BE49-F238E27FC236}">
                <a16:creationId xmlns:a16="http://schemas.microsoft.com/office/drawing/2014/main" id="{3B7BA522-C109-C84E-8D7E-B5B7A7374F8F}"/>
              </a:ext>
            </a:extLst>
          </p:cNvPr>
          <p:cNvSpPr/>
          <p:nvPr/>
        </p:nvSpPr>
        <p:spPr>
          <a:xfrm>
            <a:off x="1998361" y="1490180"/>
            <a:ext cx="429565" cy="494652"/>
          </a:xfrm>
          <a:prstGeom prst="rect">
            <a:avLst/>
          </a:prstGeom>
          <a:solidFill>
            <a:srgbClr val="92D050"/>
          </a:solidFill>
          <a:ln w="28575">
            <a:solidFill>
              <a:srgbClr val="FF0000"/>
            </a:solidFill>
            <a:tailEnd type="triangle"/>
          </a:ln>
        </p:spPr>
        <p:style>
          <a:lnRef idx="1">
            <a:schemeClr val="dk1"/>
          </a:lnRef>
          <a:fillRef idx="0">
            <a:schemeClr val="dk1"/>
          </a:fillRef>
          <a:effectRef idx="0">
            <a:schemeClr val="dk1"/>
          </a:effectRef>
          <a:fontRef idx="minor">
            <a:schemeClr val="tx1"/>
          </a:fontRef>
        </p:style>
        <p:txBody>
          <a:bodyPr wrap="none" rtlCol="0" anchor="ctr"/>
          <a:lstStyle/>
          <a:p>
            <a:pPr algn="ctr"/>
            <a:r>
              <a:rPr lang="en-US" altLang="zh-CN" sz="1000" dirty="0">
                <a:solidFill>
                  <a:sysClr val="windowText" lastClr="000000"/>
                </a:solidFill>
              </a:rPr>
              <a:t>NAT</a:t>
            </a:r>
            <a:endParaRPr lang="en-CN" sz="1000" dirty="0">
              <a:solidFill>
                <a:sysClr val="windowText" lastClr="000000"/>
              </a:solidFill>
            </a:endParaRPr>
          </a:p>
        </p:txBody>
      </p:sp>
      <p:sp>
        <p:nvSpPr>
          <p:cNvPr id="38" name="Rectangle 37">
            <a:extLst>
              <a:ext uri="{FF2B5EF4-FFF2-40B4-BE49-F238E27FC236}">
                <a16:creationId xmlns:a16="http://schemas.microsoft.com/office/drawing/2014/main" id="{5663CC65-3A6E-B14A-AE33-FDC44C60434D}"/>
              </a:ext>
            </a:extLst>
          </p:cNvPr>
          <p:cNvSpPr/>
          <p:nvPr/>
        </p:nvSpPr>
        <p:spPr>
          <a:xfrm>
            <a:off x="4000453" y="2226928"/>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目录</a:t>
            </a:r>
            <a:endParaRPr lang="en-US" altLang="zh-CN" sz="1000" dirty="0"/>
          </a:p>
          <a:p>
            <a:pPr algn="ctr"/>
            <a:r>
              <a:rPr lang="en-US" altLang="zh-CN" sz="1000" dirty="0" err="1"/>
              <a:t>inode</a:t>
            </a:r>
            <a:endParaRPr lang="en-CN" sz="1000" dirty="0"/>
          </a:p>
        </p:txBody>
      </p:sp>
      <p:sp>
        <p:nvSpPr>
          <p:cNvPr id="39" name="Rectangle 38">
            <a:extLst>
              <a:ext uri="{FF2B5EF4-FFF2-40B4-BE49-F238E27FC236}">
                <a16:creationId xmlns:a16="http://schemas.microsoft.com/office/drawing/2014/main" id="{29A78A4F-7661-4041-8453-8422DD84399F}"/>
              </a:ext>
            </a:extLst>
          </p:cNvPr>
          <p:cNvSpPr/>
          <p:nvPr/>
        </p:nvSpPr>
        <p:spPr>
          <a:xfrm>
            <a:off x="4000453" y="2839212"/>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常规文件</a:t>
            </a:r>
            <a:r>
              <a:rPr lang="en-US" altLang="zh-CN" sz="1000" dirty="0" err="1"/>
              <a:t>inode</a:t>
            </a:r>
            <a:endParaRPr lang="en-CN" sz="1000" dirty="0"/>
          </a:p>
        </p:txBody>
      </p:sp>
      <p:sp>
        <p:nvSpPr>
          <p:cNvPr id="40" name="Rectangle 39">
            <a:extLst>
              <a:ext uri="{FF2B5EF4-FFF2-40B4-BE49-F238E27FC236}">
                <a16:creationId xmlns:a16="http://schemas.microsoft.com/office/drawing/2014/main" id="{EEFED4E3-A7F9-4F4F-A11E-A2E76A541DB8}"/>
              </a:ext>
            </a:extLst>
          </p:cNvPr>
          <p:cNvSpPr/>
          <p:nvPr/>
        </p:nvSpPr>
        <p:spPr>
          <a:xfrm>
            <a:off x="5655279" y="2471680"/>
            <a:ext cx="933309" cy="345604"/>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目录数据</a:t>
            </a:r>
            <a:endParaRPr lang="en-CN" sz="1000" dirty="0"/>
          </a:p>
        </p:txBody>
      </p:sp>
      <p:sp>
        <p:nvSpPr>
          <p:cNvPr id="41" name="Rectangle 40">
            <a:extLst>
              <a:ext uri="{FF2B5EF4-FFF2-40B4-BE49-F238E27FC236}">
                <a16:creationId xmlns:a16="http://schemas.microsoft.com/office/drawing/2014/main" id="{B957CB33-91E4-6546-9ADE-83EB07781A29}"/>
              </a:ext>
            </a:extLst>
          </p:cNvPr>
          <p:cNvSpPr/>
          <p:nvPr/>
        </p:nvSpPr>
        <p:spPr>
          <a:xfrm>
            <a:off x="5655280" y="3184816"/>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42" name="Rectangle 41">
            <a:extLst>
              <a:ext uri="{FF2B5EF4-FFF2-40B4-BE49-F238E27FC236}">
                <a16:creationId xmlns:a16="http://schemas.microsoft.com/office/drawing/2014/main" id="{B5083F75-75F6-9E4A-A0F5-CD2929CDF635}"/>
              </a:ext>
            </a:extLst>
          </p:cNvPr>
          <p:cNvSpPr/>
          <p:nvPr/>
        </p:nvSpPr>
        <p:spPr>
          <a:xfrm>
            <a:off x="6279327" y="4116828"/>
            <a:ext cx="933309" cy="34560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直接</a:t>
            </a:r>
            <a:r>
              <a:rPr lang="en-US" altLang="zh-CN" sz="1000" dirty="0">
                <a:solidFill>
                  <a:sysClr val="windowText" lastClr="000000"/>
                </a:solidFill>
              </a:rPr>
              <a:t>node</a:t>
            </a:r>
            <a:endParaRPr lang="en-CN" sz="1000" dirty="0">
              <a:solidFill>
                <a:sysClr val="windowText" lastClr="000000"/>
              </a:solidFill>
            </a:endParaRPr>
          </a:p>
        </p:txBody>
      </p:sp>
      <p:sp>
        <p:nvSpPr>
          <p:cNvPr id="43" name="Rectangle 42">
            <a:extLst>
              <a:ext uri="{FF2B5EF4-FFF2-40B4-BE49-F238E27FC236}">
                <a16:creationId xmlns:a16="http://schemas.microsoft.com/office/drawing/2014/main" id="{8D4BC379-3842-CA47-ADBC-93D3CBD5BB3D}"/>
              </a:ext>
            </a:extLst>
          </p:cNvPr>
          <p:cNvSpPr/>
          <p:nvPr/>
        </p:nvSpPr>
        <p:spPr>
          <a:xfrm>
            <a:off x="4826872" y="3757664"/>
            <a:ext cx="933309" cy="345604"/>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间接</a:t>
            </a:r>
            <a:r>
              <a:rPr lang="en-US" altLang="zh-CN" sz="1000" dirty="0">
                <a:solidFill>
                  <a:sysClr val="windowText" lastClr="000000"/>
                </a:solidFill>
              </a:rPr>
              <a:t>node</a:t>
            </a:r>
            <a:endParaRPr lang="en-CN" sz="1000" dirty="0">
              <a:solidFill>
                <a:sysClr val="windowText" lastClr="000000"/>
              </a:solidFill>
            </a:endParaRPr>
          </a:p>
        </p:txBody>
      </p:sp>
      <p:sp>
        <p:nvSpPr>
          <p:cNvPr id="44" name="Rectangle 43">
            <a:extLst>
              <a:ext uri="{FF2B5EF4-FFF2-40B4-BE49-F238E27FC236}">
                <a16:creationId xmlns:a16="http://schemas.microsoft.com/office/drawing/2014/main" id="{AFDEF791-0082-1645-8BCE-8AE568AD370A}"/>
              </a:ext>
            </a:extLst>
          </p:cNvPr>
          <p:cNvSpPr/>
          <p:nvPr/>
        </p:nvSpPr>
        <p:spPr>
          <a:xfrm>
            <a:off x="7481522" y="3201965"/>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cxnSp>
        <p:nvCxnSpPr>
          <p:cNvPr id="48" name="Elbow Connector 47">
            <a:extLst>
              <a:ext uri="{FF2B5EF4-FFF2-40B4-BE49-F238E27FC236}">
                <a16:creationId xmlns:a16="http://schemas.microsoft.com/office/drawing/2014/main" id="{E4CD613D-B629-7948-ACDB-AA9721336B44}"/>
              </a:ext>
            </a:extLst>
          </p:cNvPr>
          <p:cNvCxnSpPr>
            <a:cxnSpLocks/>
            <a:stCxn id="34" idx="2"/>
            <a:endCxn id="35" idx="0"/>
          </p:cNvCxnSpPr>
          <p:nvPr/>
        </p:nvCxnSpPr>
        <p:spPr>
          <a:xfrm rot="5400000">
            <a:off x="1124815" y="2332433"/>
            <a:ext cx="894461" cy="2164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1" name="Elbow Connector 50">
            <a:extLst>
              <a:ext uri="{FF2B5EF4-FFF2-40B4-BE49-F238E27FC236}">
                <a16:creationId xmlns:a16="http://schemas.microsoft.com/office/drawing/2014/main" id="{40265B92-DAB0-A247-A15C-84CDD230CBA6}"/>
              </a:ext>
            </a:extLst>
          </p:cNvPr>
          <p:cNvCxnSpPr>
            <a:cxnSpLocks/>
            <a:stCxn id="37" idx="3"/>
            <a:endCxn id="38" idx="1"/>
          </p:cNvCxnSpPr>
          <p:nvPr/>
        </p:nvCxnSpPr>
        <p:spPr>
          <a:xfrm>
            <a:off x="2427926" y="1737506"/>
            <a:ext cx="1572527" cy="66222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5" name="Elbow Connector 54">
            <a:extLst>
              <a:ext uri="{FF2B5EF4-FFF2-40B4-BE49-F238E27FC236}">
                <a16:creationId xmlns:a16="http://schemas.microsoft.com/office/drawing/2014/main" id="{F524F4DB-A289-A14E-995E-94A83CE1166F}"/>
              </a:ext>
            </a:extLst>
          </p:cNvPr>
          <p:cNvCxnSpPr>
            <a:cxnSpLocks/>
            <a:stCxn id="37" idx="3"/>
            <a:endCxn id="39" idx="1"/>
          </p:cNvCxnSpPr>
          <p:nvPr/>
        </p:nvCxnSpPr>
        <p:spPr>
          <a:xfrm>
            <a:off x="2427926" y="1737506"/>
            <a:ext cx="1572527" cy="12745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9" name="Elbow Connector 58">
            <a:extLst>
              <a:ext uri="{FF2B5EF4-FFF2-40B4-BE49-F238E27FC236}">
                <a16:creationId xmlns:a16="http://schemas.microsoft.com/office/drawing/2014/main" id="{83022C20-C7D5-9143-8E60-63FDF125E3A2}"/>
              </a:ext>
            </a:extLst>
          </p:cNvPr>
          <p:cNvCxnSpPr>
            <a:cxnSpLocks/>
            <a:stCxn id="38" idx="3"/>
            <a:endCxn id="40" idx="1"/>
          </p:cNvCxnSpPr>
          <p:nvPr/>
        </p:nvCxnSpPr>
        <p:spPr>
          <a:xfrm>
            <a:off x="4933762" y="2399730"/>
            <a:ext cx="721517" cy="2447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Elbow Connector 62">
            <a:extLst>
              <a:ext uri="{FF2B5EF4-FFF2-40B4-BE49-F238E27FC236}">
                <a16:creationId xmlns:a16="http://schemas.microsoft.com/office/drawing/2014/main" id="{B98E09AD-0E97-3E4D-9E74-332DF949EA1E}"/>
              </a:ext>
            </a:extLst>
          </p:cNvPr>
          <p:cNvCxnSpPr>
            <a:cxnSpLocks/>
            <a:stCxn id="39" idx="3"/>
            <a:endCxn id="41" idx="1"/>
          </p:cNvCxnSpPr>
          <p:nvPr/>
        </p:nvCxnSpPr>
        <p:spPr>
          <a:xfrm>
            <a:off x="4933762" y="3012014"/>
            <a:ext cx="721518" cy="34560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6" name="Elbow Connector 65">
            <a:extLst>
              <a:ext uri="{FF2B5EF4-FFF2-40B4-BE49-F238E27FC236}">
                <a16:creationId xmlns:a16="http://schemas.microsoft.com/office/drawing/2014/main" id="{A8BFD7C2-C92A-CF42-B964-4D8B338E82F5}"/>
              </a:ext>
            </a:extLst>
          </p:cNvPr>
          <p:cNvCxnSpPr>
            <a:cxnSpLocks/>
            <a:stCxn id="39" idx="2"/>
            <a:endCxn id="43" idx="0"/>
          </p:cNvCxnSpPr>
          <p:nvPr/>
        </p:nvCxnSpPr>
        <p:spPr>
          <a:xfrm rot="16200000" flipH="1">
            <a:off x="4593893" y="3058030"/>
            <a:ext cx="572848" cy="826419"/>
          </a:xfrm>
          <a:prstGeom prst="bentConnector3">
            <a:avLst>
              <a:gd name="adj1" fmla="val 50000"/>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0" name="Elbow Connector 69">
            <a:extLst>
              <a:ext uri="{FF2B5EF4-FFF2-40B4-BE49-F238E27FC236}">
                <a16:creationId xmlns:a16="http://schemas.microsoft.com/office/drawing/2014/main" id="{69361DFE-FC58-BD4C-B43B-D4827874AD6B}"/>
              </a:ext>
            </a:extLst>
          </p:cNvPr>
          <p:cNvCxnSpPr>
            <a:cxnSpLocks/>
            <a:stCxn id="43" idx="3"/>
            <a:endCxn id="57" idx="0"/>
          </p:cNvCxnSpPr>
          <p:nvPr/>
        </p:nvCxnSpPr>
        <p:spPr>
          <a:xfrm>
            <a:off x="5760181" y="3930466"/>
            <a:ext cx="1326097" cy="358019"/>
          </a:xfrm>
          <a:prstGeom prst="bentConnector2">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5" name="Elbow Connector 74">
            <a:extLst>
              <a:ext uri="{FF2B5EF4-FFF2-40B4-BE49-F238E27FC236}">
                <a16:creationId xmlns:a16="http://schemas.microsoft.com/office/drawing/2014/main" id="{CF118D76-4BB7-0147-8C2C-0E03067F3492}"/>
              </a:ext>
            </a:extLst>
          </p:cNvPr>
          <p:cNvCxnSpPr>
            <a:cxnSpLocks/>
            <a:stCxn id="42" idx="3"/>
            <a:endCxn id="44" idx="2"/>
          </p:cNvCxnSpPr>
          <p:nvPr/>
        </p:nvCxnSpPr>
        <p:spPr>
          <a:xfrm flipV="1">
            <a:off x="7212636" y="3547569"/>
            <a:ext cx="735541" cy="74206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0B273302-4A4E-4841-AF30-18BD303D3037}"/>
              </a:ext>
            </a:extLst>
          </p:cNvPr>
          <p:cNvSpPr txBox="1"/>
          <p:nvPr/>
        </p:nvSpPr>
        <p:spPr>
          <a:xfrm>
            <a:off x="6815327" y="3184815"/>
            <a:ext cx="428061" cy="369332"/>
          </a:xfrm>
          <a:prstGeom prst="rect">
            <a:avLst/>
          </a:prstGeom>
          <a:noFill/>
        </p:spPr>
        <p:txBody>
          <a:bodyPr wrap="square" rtlCol="0">
            <a:spAutoFit/>
          </a:bodyPr>
          <a:lstStyle/>
          <a:p>
            <a:r>
              <a:rPr lang="en-US" dirty="0"/>
              <a:t>…</a:t>
            </a:r>
            <a:endParaRPr lang="en-CN" dirty="0"/>
          </a:p>
        </p:txBody>
      </p:sp>
      <p:sp>
        <p:nvSpPr>
          <p:cNvPr id="79" name="TextBox 78">
            <a:extLst>
              <a:ext uri="{FF2B5EF4-FFF2-40B4-BE49-F238E27FC236}">
                <a16:creationId xmlns:a16="http://schemas.microsoft.com/office/drawing/2014/main" id="{37A22199-192E-7E4F-9110-37A3F0CEE7F9}"/>
              </a:ext>
            </a:extLst>
          </p:cNvPr>
          <p:cNvSpPr txBox="1"/>
          <p:nvPr/>
        </p:nvSpPr>
        <p:spPr>
          <a:xfrm>
            <a:off x="2105725" y="3184815"/>
            <a:ext cx="954107" cy="276999"/>
          </a:xfrm>
          <a:prstGeom prst="rect">
            <a:avLst/>
          </a:prstGeom>
          <a:noFill/>
        </p:spPr>
        <p:txBody>
          <a:bodyPr wrap="none" rtlCol="0">
            <a:spAutoFit/>
          </a:bodyPr>
          <a:lstStyle/>
          <a:p>
            <a:r>
              <a:rPr lang="zh-CN" altLang="en-CN" sz="1200" dirty="0"/>
              <a:t>用于</a:t>
            </a:r>
            <a:r>
              <a:rPr lang="zh-CN" altLang="en-US" sz="1200" dirty="0"/>
              <a:t>段清理</a:t>
            </a:r>
            <a:endParaRPr lang="en-CN" sz="1200" dirty="0"/>
          </a:p>
        </p:txBody>
      </p:sp>
      <p:sp>
        <p:nvSpPr>
          <p:cNvPr id="80" name="Right Brace 79">
            <a:extLst>
              <a:ext uri="{FF2B5EF4-FFF2-40B4-BE49-F238E27FC236}">
                <a16:creationId xmlns:a16="http://schemas.microsoft.com/office/drawing/2014/main" id="{849B04C6-C233-CD42-9F62-1E992E6EE725}"/>
              </a:ext>
            </a:extLst>
          </p:cNvPr>
          <p:cNvSpPr/>
          <p:nvPr/>
        </p:nvSpPr>
        <p:spPr>
          <a:xfrm>
            <a:off x="1998834" y="2887864"/>
            <a:ext cx="167965" cy="869691"/>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cxnSp>
        <p:nvCxnSpPr>
          <p:cNvPr id="82" name="Straight Connector 81">
            <a:extLst>
              <a:ext uri="{FF2B5EF4-FFF2-40B4-BE49-F238E27FC236}">
                <a16:creationId xmlns:a16="http://schemas.microsoft.com/office/drawing/2014/main" id="{EF23BCF4-EDE4-9F41-8189-77D0765B4B41}"/>
              </a:ext>
            </a:extLst>
          </p:cNvPr>
          <p:cNvCxnSpPr>
            <a:cxnSpLocks/>
          </p:cNvCxnSpPr>
          <p:nvPr/>
        </p:nvCxnSpPr>
        <p:spPr>
          <a:xfrm>
            <a:off x="755650" y="3865612"/>
            <a:ext cx="493484" cy="796229"/>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B2FF6CFD-DC99-F040-B0C6-218629FA1005}"/>
              </a:ext>
            </a:extLst>
          </p:cNvPr>
          <p:cNvCxnSpPr>
            <a:cxnSpLocks/>
          </p:cNvCxnSpPr>
          <p:nvPr/>
        </p:nvCxnSpPr>
        <p:spPr>
          <a:xfrm flipH="1">
            <a:off x="7710043" y="3873658"/>
            <a:ext cx="822397" cy="788183"/>
          </a:xfrm>
          <a:prstGeom prst="line">
            <a:avLst/>
          </a:prstGeom>
        </p:spPr>
        <p:style>
          <a:lnRef idx="1">
            <a:schemeClr val="dk1"/>
          </a:lnRef>
          <a:fillRef idx="0">
            <a:schemeClr val="dk1"/>
          </a:fillRef>
          <a:effectRef idx="0">
            <a:schemeClr val="dk1"/>
          </a:effectRef>
          <a:fontRef idx="minor">
            <a:schemeClr val="tx1"/>
          </a:fontRef>
        </p:style>
      </p:cxnSp>
      <p:sp>
        <p:nvSpPr>
          <p:cNvPr id="45" name="Rectangle 44">
            <a:extLst>
              <a:ext uri="{FF2B5EF4-FFF2-40B4-BE49-F238E27FC236}">
                <a16:creationId xmlns:a16="http://schemas.microsoft.com/office/drawing/2014/main" id="{789ACD0B-00DB-9E42-85E5-816388D2C02D}"/>
              </a:ext>
            </a:extLst>
          </p:cNvPr>
          <p:cNvSpPr/>
          <p:nvPr/>
        </p:nvSpPr>
        <p:spPr>
          <a:xfrm>
            <a:off x="2022910" y="4785990"/>
            <a:ext cx="284100" cy="360000"/>
          </a:xfrm>
          <a:prstGeom prst="rect">
            <a:avLst/>
          </a:prstGeom>
          <a:solidFill>
            <a:srgbClr val="92D05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cxnSp>
        <p:nvCxnSpPr>
          <p:cNvPr id="58" name="Elbow Connector 57">
            <a:extLst>
              <a:ext uri="{FF2B5EF4-FFF2-40B4-BE49-F238E27FC236}">
                <a16:creationId xmlns:a16="http://schemas.microsoft.com/office/drawing/2014/main" id="{133B94EC-F58B-774A-87B0-1AC2EE673D11}"/>
              </a:ext>
            </a:extLst>
          </p:cNvPr>
          <p:cNvCxnSpPr>
            <a:cxnSpLocks/>
            <a:stCxn id="37" idx="3"/>
            <a:endCxn id="43" idx="1"/>
          </p:cNvCxnSpPr>
          <p:nvPr/>
        </p:nvCxnSpPr>
        <p:spPr>
          <a:xfrm>
            <a:off x="2427926" y="1737506"/>
            <a:ext cx="2398946" cy="2192960"/>
          </a:xfrm>
          <a:prstGeom prst="bentConnector3">
            <a:avLst>
              <a:gd name="adj1" fmla="val 32786"/>
            </a:avLst>
          </a:prstGeom>
          <a:ln>
            <a:tailEnd type="triangle"/>
          </a:ln>
        </p:spPr>
        <p:style>
          <a:lnRef idx="1">
            <a:schemeClr val="dk1"/>
          </a:lnRef>
          <a:fillRef idx="0">
            <a:schemeClr val="dk1"/>
          </a:fillRef>
          <a:effectRef idx="0">
            <a:schemeClr val="dk1"/>
          </a:effectRef>
          <a:fontRef idx="minor">
            <a:schemeClr val="tx1"/>
          </a:fontRef>
        </p:style>
      </p:cxnSp>
      <p:cxnSp>
        <p:nvCxnSpPr>
          <p:cNvPr id="60" name="Elbow Connector 59">
            <a:extLst>
              <a:ext uri="{FF2B5EF4-FFF2-40B4-BE49-F238E27FC236}">
                <a16:creationId xmlns:a16="http://schemas.microsoft.com/office/drawing/2014/main" id="{EA3B1074-16AC-AD43-BF8E-EA445A6E6816}"/>
              </a:ext>
            </a:extLst>
          </p:cNvPr>
          <p:cNvCxnSpPr>
            <a:cxnSpLocks/>
            <a:stCxn id="37" idx="3"/>
            <a:endCxn id="57" idx="1"/>
          </p:cNvCxnSpPr>
          <p:nvPr/>
        </p:nvCxnSpPr>
        <p:spPr>
          <a:xfrm>
            <a:off x="2427926" y="1737506"/>
            <a:ext cx="4191697" cy="2723781"/>
          </a:xfrm>
          <a:prstGeom prst="bentConnector3">
            <a:avLst>
              <a:gd name="adj1" fmla="val 18863"/>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CE231844-2D33-E24D-B333-F8B735649F57}"/>
              </a:ext>
            </a:extLst>
          </p:cNvPr>
          <p:cNvSpPr txBox="1"/>
          <p:nvPr/>
        </p:nvSpPr>
        <p:spPr>
          <a:xfrm>
            <a:off x="4083594" y="3429553"/>
            <a:ext cx="1032655" cy="261610"/>
          </a:xfrm>
          <a:prstGeom prst="rect">
            <a:avLst/>
          </a:prstGeom>
          <a:noFill/>
        </p:spPr>
        <p:txBody>
          <a:bodyPr wrap="none" rtlCol="0">
            <a:spAutoFit/>
          </a:bodyPr>
          <a:lstStyle/>
          <a:p>
            <a:r>
              <a:rPr lang="zh-CN" altLang="en-US" sz="1100" dirty="0">
                <a:solidFill>
                  <a:srgbClr val="C00000"/>
                </a:solidFill>
              </a:rPr>
              <a:t>使用</a:t>
            </a:r>
            <a:r>
              <a:rPr lang="en-US" altLang="zh-CN" sz="1100" dirty="0">
                <a:solidFill>
                  <a:srgbClr val="C00000"/>
                </a:solidFill>
              </a:rPr>
              <a:t>NAT</a:t>
            </a:r>
            <a:r>
              <a:rPr lang="zh-CN" altLang="en-US" sz="1100" dirty="0">
                <a:solidFill>
                  <a:srgbClr val="C00000"/>
                </a:solidFill>
              </a:rPr>
              <a:t>翻译</a:t>
            </a:r>
            <a:endParaRPr lang="en-CN" sz="1100" dirty="0">
              <a:solidFill>
                <a:srgbClr val="C00000"/>
              </a:solidFill>
            </a:endParaRPr>
          </a:p>
        </p:txBody>
      </p:sp>
      <p:sp>
        <p:nvSpPr>
          <p:cNvPr id="76" name="TextBox 75">
            <a:extLst>
              <a:ext uri="{FF2B5EF4-FFF2-40B4-BE49-F238E27FC236}">
                <a16:creationId xmlns:a16="http://schemas.microsoft.com/office/drawing/2014/main" id="{BB501C73-5729-6F45-959A-5D07CC5D5E6F}"/>
              </a:ext>
            </a:extLst>
          </p:cNvPr>
          <p:cNvSpPr txBox="1"/>
          <p:nvPr/>
        </p:nvSpPr>
        <p:spPr>
          <a:xfrm>
            <a:off x="6005664" y="3699937"/>
            <a:ext cx="1032655" cy="261610"/>
          </a:xfrm>
          <a:prstGeom prst="rect">
            <a:avLst/>
          </a:prstGeom>
          <a:noFill/>
        </p:spPr>
        <p:txBody>
          <a:bodyPr wrap="none" rtlCol="0">
            <a:spAutoFit/>
          </a:bodyPr>
          <a:lstStyle/>
          <a:p>
            <a:r>
              <a:rPr lang="zh-CN" altLang="en-US" sz="1100" dirty="0">
                <a:solidFill>
                  <a:srgbClr val="C00000"/>
                </a:solidFill>
              </a:rPr>
              <a:t>使用</a:t>
            </a:r>
            <a:r>
              <a:rPr lang="en-US" altLang="zh-CN" sz="1100" dirty="0">
                <a:solidFill>
                  <a:srgbClr val="C00000"/>
                </a:solidFill>
              </a:rPr>
              <a:t>NAT</a:t>
            </a:r>
            <a:r>
              <a:rPr lang="zh-CN" altLang="en-US" sz="1100" dirty="0">
                <a:solidFill>
                  <a:srgbClr val="C00000"/>
                </a:solidFill>
              </a:rPr>
              <a:t>翻译</a:t>
            </a:r>
            <a:endParaRPr lang="en-CN" sz="1100" dirty="0">
              <a:solidFill>
                <a:srgbClr val="C00000"/>
              </a:solidFill>
            </a:endParaRPr>
          </a:p>
        </p:txBody>
      </p:sp>
      <p:sp>
        <p:nvSpPr>
          <p:cNvPr id="77" name="Right Arrow 76">
            <a:extLst>
              <a:ext uri="{FF2B5EF4-FFF2-40B4-BE49-F238E27FC236}">
                <a16:creationId xmlns:a16="http://schemas.microsoft.com/office/drawing/2014/main" id="{5E3628CF-E787-9247-8891-CCB4084D825C}"/>
              </a:ext>
            </a:extLst>
          </p:cNvPr>
          <p:cNvSpPr/>
          <p:nvPr/>
        </p:nvSpPr>
        <p:spPr>
          <a:xfrm>
            <a:off x="5100561" y="4896220"/>
            <a:ext cx="554718"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83" name="Right Arrow 82">
            <a:extLst>
              <a:ext uri="{FF2B5EF4-FFF2-40B4-BE49-F238E27FC236}">
                <a16:creationId xmlns:a16="http://schemas.microsoft.com/office/drawing/2014/main" id="{EBD823FC-83D3-0842-8293-5AC4E0779CF2}"/>
              </a:ext>
            </a:extLst>
          </p:cNvPr>
          <p:cNvSpPr/>
          <p:nvPr/>
        </p:nvSpPr>
        <p:spPr>
          <a:xfrm>
            <a:off x="5952312" y="4896220"/>
            <a:ext cx="635912"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50" name="TextBox 49">
            <a:extLst>
              <a:ext uri="{FF2B5EF4-FFF2-40B4-BE49-F238E27FC236}">
                <a16:creationId xmlns:a16="http://schemas.microsoft.com/office/drawing/2014/main" id="{4B1CA7BF-8C1C-F74E-957C-A2F6FB1BB1F6}"/>
              </a:ext>
            </a:extLst>
          </p:cNvPr>
          <p:cNvSpPr txBox="1"/>
          <p:nvPr/>
        </p:nvSpPr>
        <p:spPr>
          <a:xfrm>
            <a:off x="7522704" y="2210211"/>
            <a:ext cx="1441420" cy="307777"/>
          </a:xfrm>
          <a:prstGeom prst="rect">
            <a:avLst/>
          </a:prstGeom>
          <a:noFill/>
        </p:spPr>
        <p:txBody>
          <a:bodyPr wrap="none" rtlCol="0">
            <a:spAutoFit/>
          </a:bodyPr>
          <a:lstStyle/>
          <a:p>
            <a:r>
              <a:rPr lang="zh-CN" altLang="en-CN" sz="1400" b="1" dirty="0">
                <a:solidFill>
                  <a:srgbClr val="C00000"/>
                </a:solidFill>
              </a:rPr>
              <a:t>修改</a:t>
            </a:r>
            <a:r>
              <a:rPr lang="zh-CN" altLang="en-US" sz="1400" b="1" dirty="0">
                <a:solidFill>
                  <a:srgbClr val="C00000"/>
                </a:solidFill>
              </a:rPr>
              <a:t>一小块数据</a:t>
            </a:r>
            <a:endParaRPr lang="en-CN" sz="1400" b="1" dirty="0">
              <a:solidFill>
                <a:srgbClr val="C00000"/>
              </a:solidFill>
            </a:endParaRPr>
          </a:p>
        </p:txBody>
      </p:sp>
      <p:cxnSp>
        <p:nvCxnSpPr>
          <p:cNvPr id="52" name="Straight Arrow Connector 51">
            <a:extLst>
              <a:ext uri="{FF2B5EF4-FFF2-40B4-BE49-F238E27FC236}">
                <a16:creationId xmlns:a16="http://schemas.microsoft.com/office/drawing/2014/main" id="{71B24026-EA14-0940-A7CD-F049BE5AE889}"/>
              </a:ext>
            </a:extLst>
          </p:cNvPr>
          <p:cNvCxnSpPr>
            <a:cxnSpLocks/>
            <a:stCxn id="50" idx="2"/>
            <a:endCxn id="44" idx="0"/>
          </p:cNvCxnSpPr>
          <p:nvPr/>
        </p:nvCxnSpPr>
        <p:spPr>
          <a:xfrm flipH="1">
            <a:off x="7948177" y="2517988"/>
            <a:ext cx="295237" cy="683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712DF734-1352-2C4C-A8EE-CCF19DA8CBA0}"/>
              </a:ext>
            </a:extLst>
          </p:cNvPr>
          <p:cNvSpPr/>
          <p:nvPr/>
        </p:nvSpPr>
        <p:spPr>
          <a:xfrm>
            <a:off x="7979315" y="3257837"/>
            <a:ext cx="933309" cy="345604"/>
          </a:xfrm>
          <a:prstGeom prst="rect">
            <a:avLst/>
          </a:prstGeom>
          <a:solidFill>
            <a:schemeClr val="bg1">
              <a:lumMod val="75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57" name="Rectangle 56">
            <a:extLst>
              <a:ext uri="{FF2B5EF4-FFF2-40B4-BE49-F238E27FC236}">
                <a16:creationId xmlns:a16="http://schemas.microsoft.com/office/drawing/2014/main" id="{2075829B-20B7-F64E-BAC0-16CB0A79D6DA}"/>
              </a:ext>
            </a:extLst>
          </p:cNvPr>
          <p:cNvSpPr/>
          <p:nvPr/>
        </p:nvSpPr>
        <p:spPr>
          <a:xfrm>
            <a:off x="6619623" y="4288485"/>
            <a:ext cx="933309" cy="345604"/>
          </a:xfrm>
          <a:prstGeom prst="rect">
            <a:avLst/>
          </a:prstGeom>
          <a:solidFill>
            <a:schemeClr val="accent4"/>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直接</a:t>
            </a:r>
            <a:r>
              <a:rPr lang="en-US" altLang="zh-CN" sz="1000" dirty="0">
                <a:solidFill>
                  <a:sysClr val="windowText" lastClr="000000"/>
                </a:solidFill>
              </a:rPr>
              <a:t>node</a:t>
            </a:r>
            <a:endParaRPr lang="en-CN" sz="1000" dirty="0">
              <a:solidFill>
                <a:sysClr val="windowText" lastClr="000000"/>
              </a:solidFill>
            </a:endParaRPr>
          </a:p>
        </p:txBody>
      </p:sp>
      <p:cxnSp>
        <p:nvCxnSpPr>
          <p:cNvPr id="61" name="Elbow Connector 60">
            <a:extLst>
              <a:ext uri="{FF2B5EF4-FFF2-40B4-BE49-F238E27FC236}">
                <a16:creationId xmlns:a16="http://schemas.microsoft.com/office/drawing/2014/main" id="{1A34B020-5C86-974B-97E3-E4C4B2AF85A9}"/>
              </a:ext>
            </a:extLst>
          </p:cNvPr>
          <p:cNvCxnSpPr>
            <a:cxnSpLocks/>
            <a:stCxn id="57" idx="3"/>
            <a:endCxn id="56" idx="2"/>
          </p:cNvCxnSpPr>
          <p:nvPr/>
        </p:nvCxnSpPr>
        <p:spPr>
          <a:xfrm flipV="1">
            <a:off x="7552932" y="3603441"/>
            <a:ext cx="893038" cy="857846"/>
          </a:xfrm>
          <a:prstGeom prst="bentConnector2">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62" name="Rectangle 61">
            <a:extLst>
              <a:ext uri="{FF2B5EF4-FFF2-40B4-BE49-F238E27FC236}">
                <a16:creationId xmlns:a16="http://schemas.microsoft.com/office/drawing/2014/main" id="{7175E624-4A2E-EC46-8307-5DC83C3AECA8}"/>
              </a:ext>
            </a:extLst>
          </p:cNvPr>
          <p:cNvSpPr/>
          <p:nvPr/>
        </p:nvSpPr>
        <p:spPr>
          <a:xfrm>
            <a:off x="3451163" y="4785990"/>
            <a:ext cx="284100" cy="360000"/>
          </a:xfrm>
          <a:prstGeom prst="rect">
            <a:avLst/>
          </a:prstGeom>
          <a:solidFill>
            <a:schemeClr val="bg1">
              <a:lumMod val="7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4" name="Rectangle 63">
            <a:extLst>
              <a:ext uri="{FF2B5EF4-FFF2-40B4-BE49-F238E27FC236}">
                <a16:creationId xmlns:a16="http://schemas.microsoft.com/office/drawing/2014/main" id="{A4006C04-6092-DD49-AC68-E069574E2A5C}"/>
              </a:ext>
            </a:extLst>
          </p:cNvPr>
          <p:cNvSpPr/>
          <p:nvPr/>
        </p:nvSpPr>
        <p:spPr>
          <a:xfrm>
            <a:off x="4501029" y="4785990"/>
            <a:ext cx="284100" cy="360000"/>
          </a:xfrm>
          <a:prstGeom prst="rect">
            <a:avLst/>
          </a:prstGeom>
          <a:solidFill>
            <a:schemeClr val="accent4"/>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31" name="Right Arrow 30">
            <a:extLst>
              <a:ext uri="{FF2B5EF4-FFF2-40B4-BE49-F238E27FC236}">
                <a16:creationId xmlns:a16="http://schemas.microsoft.com/office/drawing/2014/main" id="{5384B7E3-ED2C-B143-8B5B-A13F4D6D75F3}"/>
              </a:ext>
            </a:extLst>
          </p:cNvPr>
          <p:cNvSpPr/>
          <p:nvPr/>
        </p:nvSpPr>
        <p:spPr>
          <a:xfrm>
            <a:off x="2939121" y="4891878"/>
            <a:ext cx="637956"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81" name="Right Arrow 80">
            <a:extLst>
              <a:ext uri="{FF2B5EF4-FFF2-40B4-BE49-F238E27FC236}">
                <a16:creationId xmlns:a16="http://schemas.microsoft.com/office/drawing/2014/main" id="{CD0D2409-9C81-3944-8806-06BAD863670B}"/>
              </a:ext>
            </a:extLst>
          </p:cNvPr>
          <p:cNvSpPr/>
          <p:nvPr/>
        </p:nvSpPr>
        <p:spPr>
          <a:xfrm>
            <a:off x="3975197" y="4892765"/>
            <a:ext cx="662840" cy="1536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68" name="Right Brace 67">
            <a:extLst>
              <a:ext uri="{FF2B5EF4-FFF2-40B4-BE49-F238E27FC236}">
                <a16:creationId xmlns:a16="http://schemas.microsoft.com/office/drawing/2014/main" id="{0976DD6D-F84F-0544-B911-6D7F25777C70}"/>
              </a:ext>
            </a:extLst>
          </p:cNvPr>
          <p:cNvSpPr/>
          <p:nvPr/>
        </p:nvSpPr>
        <p:spPr>
          <a:xfrm rot="16200000">
            <a:off x="1611650" y="637984"/>
            <a:ext cx="167965" cy="1464586"/>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69" name="TextBox 68">
            <a:extLst>
              <a:ext uri="{FF2B5EF4-FFF2-40B4-BE49-F238E27FC236}">
                <a16:creationId xmlns:a16="http://schemas.microsoft.com/office/drawing/2014/main" id="{874F04A1-8FA2-194F-B865-0A40716FB3FE}"/>
              </a:ext>
            </a:extLst>
          </p:cNvPr>
          <p:cNvSpPr txBox="1"/>
          <p:nvPr/>
        </p:nvSpPr>
        <p:spPr>
          <a:xfrm>
            <a:off x="1043851" y="1044314"/>
            <a:ext cx="1303562" cy="276999"/>
          </a:xfrm>
          <a:prstGeom prst="rect">
            <a:avLst/>
          </a:prstGeom>
          <a:noFill/>
        </p:spPr>
        <p:txBody>
          <a:bodyPr wrap="none" rtlCol="0">
            <a:spAutoFit/>
          </a:bodyPr>
          <a:lstStyle/>
          <a:p>
            <a:r>
              <a:rPr lang="zh-CN" altLang="en-US" sz="1200" dirty="0"/>
              <a:t>保存在固定位置</a:t>
            </a:r>
            <a:endParaRPr lang="en-CN" sz="1200" dirty="0"/>
          </a:p>
        </p:txBody>
      </p:sp>
      <p:sp>
        <p:nvSpPr>
          <p:cNvPr id="73" name="TextBox 72">
            <a:extLst>
              <a:ext uri="{FF2B5EF4-FFF2-40B4-BE49-F238E27FC236}">
                <a16:creationId xmlns:a16="http://schemas.microsoft.com/office/drawing/2014/main" id="{2A37875A-2886-CA49-AD79-85303BC2F04C}"/>
              </a:ext>
            </a:extLst>
          </p:cNvPr>
          <p:cNvSpPr txBox="1"/>
          <p:nvPr/>
        </p:nvSpPr>
        <p:spPr>
          <a:xfrm>
            <a:off x="331942" y="1631065"/>
            <a:ext cx="354221" cy="1323439"/>
          </a:xfrm>
          <a:prstGeom prst="rect">
            <a:avLst/>
          </a:prstGeom>
          <a:noFill/>
        </p:spPr>
        <p:txBody>
          <a:bodyPr wrap="square" rtlCol="0">
            <a:spAutoFit/>
          </a:bodyPr>
          <a:lstStyle/>
          <a:p>
            <a:r>
              <a:rPr lang="zh-CN" altLang="en-CN" sz="2000" dirty="0"/>
              <a:t>逻辑</a:t>
            </a:r>
            <a:r>
              <a:rPr lang="zh-CN" altLang="en-US" sz="2000" dirty="0"/>
              <a:t>结构</a:t>
            </a:r>
            <a:endParaRPr lang="en-CN" sz="2000" dirty="0"/>
          </a:p>
        </p:txBody>
      </p:sp>
      <p:sp>
        <p:nvSpPr>
          <p:cNvPr id="74" name="TextBox 73">
            <a:extLst>
              <a:ext uri="{FF2B5EF4-FFF2-40B4-BE49-F238E27FC236}">
                <a16:creationId xmlns:a16="http://schemas.microsoft.com/office/drawing/2014/main" id="{F91AD702-56E2-924B-83B0-1448965A8CBD}"/>
              </a:ext>
            </a:extLst>
          </p:cNvPr>
          <p:cNvSpPr txBox="1"/>
          <p:nvPr/>
        </p:nvSpPr>
        <p:spPr>
          <a:xfrm>
            <a:off x="367002" y="4161072"/>
            <a:ext cx="284100" cy="1323439"/>
          </a:xfrm>
          <a:prstGeom prst="rect">
            <a:avLst/>
          </a:prstGeom>
          <a:noFill/>
        </p:spPr>
        <p:txBody>
          <a:bodyPr wrap="square" rtlCol="0">
            <a:spAutoFit/>
          </a:bodyPr>
          <a:lstStyle/>
          <a:p>
            <a:r>
              <a:rPr lang="zh-CN" altLang="en-US" sz="2000" dirty="0"/>
              <a:t>存储结构</a:t>
            </a:r>
            <a:endParaRPr lang="en-CN" sz="2000" dirty="0"/>
          </a:p>
        </p:txBody>
      </p:sp>
      <p:sp>
        <p:nvSpPr>
          <p:cNvPr id="85" name="TextBox 84">
            <a:extLst>
              <a:ext uri="{FF2B5EF4-FFF2-40B4-BE49-F238E27FC236}">
                <a16:creationId xmlns:a16="http://schemas.microsoft.com/office/drawing/2014/main" id="{D6C7F15F-54F7-E74D-9A5C-574E4C8BABE0}"/>
              </a:ext>
            </a:extLst>
          </p:cNvPr>
          <p:cNvSpPr txBox="1"/>
          <p:nvPr/>
        </p:nvSpPr>
        <p:spPr>
          <a:xfrm>
            <a:off x="4005990" y="1216674"/>
            <a:ext cx="5033399" cy="369332"/>
          </a:xfrm>
          <a:prstGeom prst="rect">
            <a:avLst/>
          </a:prstGeom>
          <a:noFill/>
        </p:spPr>
        <p:txBody>
          <a:bodyPr wrap="square" rtlCol="0">
            <a:spAutoFit/>
          </a:bodyPr>
          <a:lstStyle/>
          <a:p>
            <a:r>
              <a:rPr lang="zh-CN" altLang="en-US" dirty="0">
                <a:solidFill>
                  <a:srgbClr val="C00000"/>
                </a:solidFill>
              </a:rPr>
              <a:t>通过修改</a:t>
            </a:r>
            <a:r>
              <a:rPr lang="en-US" altLang="zh-CN" dirty="0">
                <a:solidFill>
                  <a:srgbClr val="C00000"/>
                </a:solidFill>
              </a:rPr>
              <a:t>NAT</a:t>
            </a:r>
            <a:r>
              <a:rPr lang="zh-CN" altLang="en-US" dirty="0">
                <a:solidFill>
                  <a:srgbClr val="C00000"/>
                </a:solidFill>
              </a:rPr>
              <a:t>中的映射，修改只传递到</a:t>
            </a:r>
            <a:r>
              <a:rPr lang="en-US" altLang="zh-CN" dirty="0">
                <a:solidFill>
                  <a:srgbClr val="C00000"/>
                </a:solidFill>
              </a:rPr>
              <a:t>node</a:t>
            </a:r>
            <a:r>
              <a:rPr lang="zh-CN" altLang="en-US" dirty="0">
                <a:solidFill>
                  <a:srgbClr val="C00000"/>
                </a:solidFill>
              </a:rPr>
              <a:t>结构</a:t>
            </a:r>
          </a:p>
        </p:txBody>
      </p:sp>
    </p:spTree>
    <p:extLst>
      <p:ext uri="{BB962C8B-B14F-4D97-AF65-F5344CB8AC3E}">
        <p14:creationId xmlns:p14="http://schemas.microsoft.com/office/powerpoint/2010/main" val="27225301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265B5F-E8D0-9B4B-8BB0-FFF98707AFC9}"/>
              </a:ext>
            </a:extLst>
          </p:cNvPr>
          <p:cNvSpPr/>
          <p:nvPr/>
        </p:nvSpPr>
        <p:spPr>
          <a:xfrm>
            <a:off x="1249134" y="4785990"/>
            <a:ext cx="6460909" cy="360000"/>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 name="Title 1">
            <a:extLst>
              <a:ext uri="{FF2B5EF4-FFF2-40B4-BE49-F238E27FC236}">
                <a16:creationId xmlns:a16="http://schemas.microsoft.com/office/drawing/2014/main" id="{04AA801F-C21B-904D-B19B-F50F0A7BCF45}"/>
              </a:ext>
            </a:extLst>
          </p:cNvPr>
          <p:cNvSpPr>
            <a:spLocks noGrp="1"/>
          </p:cNvSpPr>
          <p:nvPr>
            <p:ph type="title"/>
          </p:nvPr>
        </p:nvSpPr>
        <p:spPr/>
        <p:txBody>
          <a:bodyPr>
            <a:normAutofit/>
          </a:bodyPr>
          <a:lstStyle/>
          <a:p>
            <a:r>
              <a:rPr lang="en-CN" altLang="zh-CN" dirty="0"/>
              <a:t>F2FS</a:t>
            </a:r>
            <a:r>
              <a:rPr lang="zh-CN" altLang="en-CN" dirty="0"/>
              <a:t>的</a:t>
            </a:r>
            <a:r>
              <a:rPr lang="zh-CN" altLang="en-US" dirty="0"/>
              <a:t>改进</a:t>
            </a:r>
            <a:r>
              <a:rPr lang="en-US" altLang="zh-CN" dirty="0"/>
              <a:t>-2</a:t>
            </a:r>
            <a:r>
              <a:rPr lang="zh-CN" altLang="en-US" dirty="0"/>
              <a:t>：多</a:t>
            </a:r>
            <a:r>
              <a:rPr lang="en-US" altLang="zh-CN" dirty="0"/>
              <a:t>log</a:t>
            </a:r>
            <a:r>
              <a:rPr lang="zh-CN" altLang="en-US" dirty="0"/>
              <a:t>并行写入</a:t>
            </a:r>
            <a:endParaRPr lang="en-CN" dirty="0"/>
          </a:p>
        </p:txBody>
      </p:sp>
      <p:sp>
        <p:nvSpPr>
          <p:cNvPr id="4" name="Slide Number Placeholder 3">
            <a:extLst>
              <a:ext uri="{FF2B5EF4-FFF2-40B4-BE49-F238E27FC236}">
                <a16:creationId xmlns:a16="http://schemas.microsoft.com/office/drawing/2014/main" id="{29635DD5-5238-954F-AA1D-0B15F66DB369}"/>
              </a:ext>
            </a:extLst>
          </p:cNvPr>
          <p:cNvSpPr>
            <a:spLocks noGrp="1"/>
          </p:cNvSpPr>
          <p:nvPr>
            <p:ph type="sldNum" sz="quarter" idx="12"/>
          </p:nvPr>
        </p:nvSpPr>
        <p:spPr/>
        <p:txBody>
          <a:bodyPr/>
          <a:lstStyle/>
          <a:p>
            <a:fld id="{ADE361C3-C043-4A6E-BDCE-8DA1E7D90A3B}" type="slidenum">
              <a:rPr lang="zh-CN" altLang="en-US" smtClean="0"/>
              <a:t>52</a:t>
            </a:fld>
            <a:endParaRPr lang="zh-CN" altLang="en-US"/>
          </a:p>
        </p:txBody>
      </p:sp>
      <p:sp>
        <p:nvSpPr>
          <p:cNvPr id="5" name="Footer Placeholder 4">
            <a:extLst>
              <a:ext uri="{FF2B5EF4-FFF2-40B4-BE49-F238E27FC236}">
                <a16:creationId xmlns:a16="http://schemas.microsoft.com/office/drawing/2014/main" id="{219D56D5-E01E-584F-BDA4-4A95035763D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Rectangle 8">
            <a:extLst>
              <a:ext uri="{FF2B5EF4-FFF2-40B4-BE49-F238E27FC236}">
                <a16:creationId xmlns:a16="http://schemas.microsoft.com/office/drawing/2014/main" id="{481DD187-7A04-924A-88CE-EC24085D9896}"/>
              </a:ext>
            </a:extLst>
          </p:cNvPr>
          <p:cNvSpPr/>
          <p:nvPr/>
        </p:nvSpPr>
        <p:spPr>
          <a:xfrm>
            <a:off x="14576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SB</a:t>
            </a:r>
          </a:p>
        </p:txBody>
      </p:sp>
      <p:sp>
        <p:nvSpPr>
          <p:cNvPr id="10" name="Rectangle 9">
            <a:extLst>
              <a:ext uri="{FF2B5EF4-FFF2-40B4-BE49-F238E27FC236}">
                <a16:creationId xmlns:a16="http://schemas.microsoft.com/office/drawing/2014/main" id="{234A33EC-B566-C04E-B991-752EFCE381FB}"/>
              </a:ext>
            </a:extLst>
          </p:cNvPr>
          <p:cNvSpPr/>
          <p:nvPr/>
        </p:nvSpPr>
        <p:spPr>
          <a:xfrm>
            <a:off x="1741756" y="4785990"/>
            <a:ext cx="284100" cy="360000"/>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4" name="Rectangle 13">
            <a:extLst>
              <a:ext uri="{FF2B5EF4-FFF2-40B4-BE49-F238E27FC236}">
                <a16:creationId xmlns:a16="http://schemas.microsoft.com/office/drawing/2014/main" id="{6E071324-7B69-9744-A3AA-B557FD8A43C8}"/>
              </a:ext>
            </a:extLst>
          </p:cNvPr>
          <p:cNvSpPr/>
          <p:nvPr/>
        </p:nvSpPr>
        <p:spPr>
          <a:xfrm>
            <a:off x="2874661"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5" name="Rectangle 14">
            <a:extLst>
              <a:ext uri="{FF2B5EF4-FFF2-40B4-BE49-F238E27FC236}">
                <a16:creationId xmlns:a16="http://schemas.microsoft.com/office/drawing/2014/main" id="{A5A7ED0E-B78C-414B-9434-CB86EAA92D2B}"/>
              </a:ext>
            </a:extLst>
          </p:cNvPr>
          <p:cNvSpPr/>
          <p:nvPr/>
        </p:nvSpPr>
        <p:spPr>
          <a:xfrm>
            <a:off x="4209650" y="4785990"/>
            <a:ext cx="284100" cy="36000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6" name="Rectangle 15">
            <a:extLst>
              <a:ext uri="{FF2B5EF4-FFF2-40B4-BE49-F238E27FC236}">
                <a16:creationId xmlns:a16="http://schemas.microsoft.com/office/drawing/2014/main" id="{75D016D2-BDBC-004F-85CF-DE5499846E97}"/>
              </a:ext>
            </a:extLst>
          </p:cNvPr>
          <p:cNvSpPr/>
          <p:nvPr/>
        </p:nvSpPr>
        <p:spPr>
          <a:xfrm>
            <a:off x="5277544" y="4784832"/>
            <a:ext cx="185483"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8" name="Rectangle 17">
            <a:extLst>
              <a:ext uri="{FF2B5EF4-FFF2-40B4-BE49-F238E27FC236}">
                <a16:creationId xmlns:a16="http://schemas.microsoft.com/office/drawing/2014/main" id="{E41776D0-E41D-D949-9A98-1BBB02569D5C}"/>
              </a:ext>
            </a:extLst>
          </p:cNvPr>
          <p:cNvSpPr/>
          <p:nvPr/>
        </p:nvSpPr>
        <p:spPr>
          <a:xfrm>
            <a:off x="3927607" y="4785990"/>
            <a:ext cx="284100" cy="360000"/>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19" name="Rectangle 18">
            <a:extLst>
              <a:ext uri="{FF2B5EF4-FFF2-40B4-BE49-F238E27FC236}">
                <a16:creationId xmlns:a16="http://schemas.microsoft.com/office/drawing/2014/main" id="{F80BB814-B838-D94B-85BA-DD5EBCA25B94}"/>
              </a:ext>
            </a:extLst>
          </p:cNvPr>
          <p:cNvSpPr/>
          <p:nvPr/>
        </p:nvSpPr>
        <p:spPr>
          <a:xfrm>
            <a:off x="3159234" y="4785990"/>
            <a:ext cx="284100" cy="360000"/>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20" name="Rectangle 19">
            <a:extLst>
              <a:ext uri="{FF2B5EF4-FFF2-40B4-BE49-F238E27FC236}">
                <a16:creationId xmlns:a16="http://schemas.microsoft.com/office/drawing/2014/main" id="{837910C3-C981-CB43-9299-479EEBF512B2}"/>
              </a:ext>
            </a:extLst>
          </p:cNvPr>
          <p:cNvSpPr/>
          <p:nvPr/>
        </p:nvSpPr>
        <p:spPr>
          <a:xfrm>
            <a:off x="6176524" y="4785990"/>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1" name="Rectangle 20">
            <a:extLst>
              <a:ext uri="{FF2B5EF4-FFF2-40B4-BE49-F238E27FC236}">
                <a16:creationId xmlns:a16="http://schemas.microsoft.com/office/drawing/2014/main" id="{0A9BB4F2-F16A-0246-B396-F25B7E09DA5D}"/>
              </a:ext>
            </a:extLst>
          </p:cNvPr>
          <p:cNvSpPr/>
          <p:nvPr/>
        </p:nvSpPr>
        <p:spPr>
          <a:xfrm>
            <a:off x="5100561" y="4786669"/>
            <a:ext cx="156145" cy="360000"/>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22" name="Rectangle 21">
            <a:extLst>
              <a:ext uri="{FF2B5EF4-FFF2-40B4-BE49-F238E27FC236}">
                <a16:creationId xmlns:a16="http://schemas.microsoft.com/office/drawing/2014/main" id="{970D0D23-F3D0-7247-84CE-3EB8FC0F5754}"/>
              </a:ext>
            </a:extLst>
          </p:cNvPr>
          <p:cNvSpPr/>
          <p:nvPr/>
        </p:nvSpPr>
        <p:spPr>
          <a:xfrm>
            <a:off x="5889357" y="4788868"/>
            <a:ext cx="284100" cy="360000"/>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33" name="Rectangle 32">
            <a:extLst>
              <a:ext uri="{FF2B5EF4-FFF2-40B4-BE49-F238E27FC236}">
                <a16:creationId xmlns:a16="http://schemas.microsoft.com/office/drawing/2014/main" id="{03934CEA-E1FA-0A49-883A-B4D52CEAFAA2}"/>
              </a:ext>
            </a:extLst>
          </p:cNvPr>
          <p:cNvSpPr/>
          <p:nvPr/>
        </p:nvSpPr>
        <p:spPr>
          <a:xfrm>
            <a:off x="963340" y="1489348"/>
            <a:ext cx="432806" cy="504056"/>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超级块</a:t>
            </a:r>
            <a:endParaRPr lang="en-CN" sz="1000" dirty="0"/>
          </a:p>
        </p:txBody>
      </p:sp>
      <p:sp>
        <p:nvSpPr>
          <p:cNvPr id="34" name="Rectangle 33">
            <a:extLst>
              <a:ext uri="{FF2B5EF4-FFF2-40B4-BE49-F238E27FC236}">
                <a16:creationId xmlns:a16="http://schemas.microsoft.com/office/drawing/2014/main" id="{30D70729-9C16-DF4D-B077-3EFA2A00E87D}"/>
              </a:ext>
            </a:extLst>
          </p:cNvPr>
          <p:cNvSpPr/>
          <p:nvPr/>
        </p:nvSpPr>
        <p:spPr>
          <a:xfrm>
            <a:off x="1463843" y="1489348"/>
            <a:ext cx="432806" cy="504056"/>
          </a:xfrm>
          <a:prstGeom prst="rect">
            <a:avLst/>
          </a:prstGeom>
          <a:solidFill>
            <a:schemeClr val="accent5"/>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检查点</a:t>
            </a:r>
            <a:endParaRPr lang="en-CN" sz="1000" dirty="0"/>
          </a:p>
        </p:txBody>
      </p:sp>
      <p:sp>
        <p:nvSpPr>
          <p:cNvPr id="35" name="Rectangle 34">
            <a:extLst>
              <a:ext uri="{FF2B5EF4-FFF2-40B4-BE49-F238E27FC236}">
                <a16:creationId xmlns:a16="http://schemas.microsoft.com/office/drawing/2014/main" id="{AC1AA524-9DDD-3E4A-8026-8D13EB0BF4E9}"/>
              </a:ext>
            </a:extLst>
          </p:cNvPr>
          <p:cNvSpPr/>
          <p:nvPr/>
        </p:nvSpPr>
        <p:spPr>
          <a:xfrm>
            <a:off x="997188" y="2887865"/>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段使用表</a:t>
            </a:r>
            <a:endParaRPr lang="en-CN" sz="1000" dirty="0"/>
          </a:p>
        </p:txBody>
      </p:sp>
      <p:sp>
        <p:nvSpPr>
          <p:cNvPr id="36" name="Rectangle 35">
            <a:extLst>
              <a:ext uri="{FF2B5EF4-FFF2-40B4-BE49-F238E27FC236}">
                <a16:creationId xmlns:a16="http://schemas.microsoft.com/office/drawing/2014/main" id="{1660AFEA-57A9-B448-B44B-8F439D7ED339}"/>
              </a:ext>
            </a:extLst>
          </p:cNvPr>
          <p:cNvSpPr/>
          <p:nvPr/>
        </p:nvSpPr>
        <p:spPr>
          <a:xfrm>
            <a:off x="997188" y="3373453"/>
            <a:ext cx="933309" cy="369972"/>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t>段概要</a:t>
            </a:r>
            <a:endParaRPr lang="en-CN" sz="1000" dirty="0"/>
          </a:p>
        </p:txBody>
      </p:sp>
      <p:sp>
        <p:nvSpPr>
          <p:cNvPr id="37" name="Rectangle 36">
            <a:extLst>
              <a:ext uri="{FF2B5EF4-FFF2-40B4-BE49-F238E27FC236}">
                <a16:creationId xmlns:a16="http://schemas.microsoft.com/office/drawing/2014/main" id="{3B7BA522-C109-C84E-8D7E-B5B7A7374F8F}"/>
              </a:ext>
            </a:extLst>
          </p:cNvPr>
          <p:cNvSpPr/>
          <p:nvPr/>
        </p:nvSpPr>
        <p:spPr>
          <a:xfrm>
            <a:off x="1998361" y="1490180"/>
            <a:ext cx="429565" cy="494652"/>
          </a:xfrm>
          <a:prstGeom prst="rect">
            <a:avLst/>
          </a:prstGeom>
          <a:solidFill>
            <a:srgbClr val="92D050"/>
          </a:solidFill>
          <a:ln w="12700">
            <a:solidFill>
              <a:schemeClr val="tx1"/>
            </a:solidFill>
            <a:tailEnd type="triangle"/>
          </a:ln>
        </p:spPr>
        <p:style>
          <a:lnRef idx="1">
            <a:schemeClr val="dk1"/>
          </a:lnRef>
          <a:fillRef idx="0">
            <a:schemeClr val="dk1"/>
          </a:fillRef>
          <a:effectRef idx="0">
            <a:schemeClr val="dk1"/>
          </a:effectRef>
          <a:fontRef idx="minor">
            <a:schemeClr val="tx1"/>
          </a:fontRef>
        </p:style>
        <p:txBody>
          <a:bodyPr wrap="none" rtlCol="0" anchor="ctr"/>
          <a:lstStyle/>
          <a:p>
            <a:pPr algn="ctr"/>
            <a:r>
              <a:rPr lang="en-US" altLang="zh-CN" sz="1000" dirty="0">
                <a:solidFill>
                  <a:sysClr val="windowText" lastClr="000000"/>
                </a:solidFill>
              </a:rPr>
              <a:t>NAT</a:t>
            </a:r>
            <a:endParaRPr lang="en-CN" sz="1000" dirty="0">
              <a:solidFill>
                <a:sysClr val="windowText" lastClr="000000"/>
              </a:solidFill>
            </a:endParaRPr>
          </a:p>
        </p:txBody>
      </p:sp>
      <p:sp>
        <p:nvSpPr>
          <p:cNvPr id="38" name="Rectangle 37">
            <a:extLst>
              <a:ext uri="{FF2B5EF4-FFF2-40B4-BE49-F238E27FC236}">
                <a16:creationId xmlns:a16="http://schemas.microsoft.com/office/drawing/2014/main" id="{5663CC65-3A6E-B14A-AE33-FDC44C60434D}"/>
              </a:ext>
            </a:extLst>
          </p:cNvPr>
          <p:cNvSpPr/>
          <p:nvPr/>
        </p:nvSpPr>
        <p:spPr>
          <a:xfrm>
            <a:off x="4000453" y="2226928"/>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t>目录</a:t>
            </a:r>
            <a:endParaRPr lang="en-US" altLang="zh-CN" sz="1000" dirty="0"/>
          </a:p>
          <a:p>
            <a:pPr algn="ctr"/>
            <a:r>
              <a:rPr lang="en-US" altLang="zh-CN" sz="1000" dirty="0" err="1"/>
              <a:t>inode</a:t>
            </a:r>
            <a:endParaRPr lang="en-CN" sz="1000" dirty="0"/>
          </a:p>
        </p:txBody>
      </p:sp>
      <p:sp>
        <p:nvSpPr>
          <p:cNvPr id="39" name="Rectangle 38">
            <a:extLst>
              <a:ext uri="{FF2B5EF4-FFF2-40B4-BE49-F238E27FC236}">
                <a16:creationId xmlns:a16="http://schemas.microsoft.com/office/drawing/2014/main" id="{29A78A4F-7661-4041-8453-8422DD84399F}"/>
              </a:ext>
            </a:extLst>
          </p:cNvPr>
          <p:cNvSpPr/>
          <p:nvPr/>
        </p:nvSpPr>
        <p:spPr>
          <a:xfrm>
            <a:off x="4000453" y="2839212"/>
            <a:ext cx="933309" cy="345604"/>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常规文件</a:t>
            </a:r>
            <a:r>
              <a:rPr lang="en-US" altLang="zh-CN" sz="1000" dirty="0" err="1"/>
              <a:t>inode</a:t>
            </a:r>
            <a:endParaRPr lang="en-CN" sz="1000" dirty="0"/>
          </a:p>
        </p:txBody>
      </p:sp>
      <p:sp>
        <p:nvSpPr>
          <p:cNvPr id="40" name="Rectangle 39">
            <a:extLst>
              <a:ext uri="{FF2B5EF4-FFF2-40B4-BE49-F238E27FC236}">
                <a16:creationId xmlns:a16="http://schemas.microsoft.com/office/drawing/2014/main" id="{EEFED4E3-A7F9-4F4F-A11E-A2E76A541DB8}"/>
              </a:ext>
            </a:extLst>
          </p:cNvPr>
          <p:cNvSpPr/>
          <p:nvPr/>
        </p:nvSpPr>
        <p:spPr>
          <a:xfrm>
            <a:off x="5655279" y="2471680"/>
            <a:ext cx="933309" cy="345604"/>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1000" dirty="0"/>
              <a:t>目录数据</a:t>
            </a:r>
            <a:endParaRPr lang="en-CN" sz="1000" dirty="0"/>
          </a:p>
        </p:txBody>
      </p:sp>
      <p:sp>
        <p:nvSpPr>
          <p:cNvPr id="41" name="Rectangle 40">
            <a:extLst>
              <a:ext uri="{FF2B5EF4-FFF2-40B4-BE49-F238E27FC236}">
                <a16:creationId xmlns:a16="http://schemas.microsoft.com/office/drawing/2014/main" id="{B957CB33-91E4-6546-9ADE-83EB07781A29}"/>
              </a:ext>
            </a:extLst>
          </p:cNvPr>
          <p:cNvSpPr/>
          <p:nvPr/>
        </p:nvSpPr>
        <p:spPr>
          <a:xfrm>
            <a:off x="5655280" y="3184816"/>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42" name="Rectangle 41">
            <a:extLst>
              <a:ext uri="{FF2B5EF4-FFF2-40B4-BE49-F238E27FC236}">
                <a16:creationId xmlns:a16="http://schemas.microsoft.com/office/drawing/2014/main" id="{B5083F75-75F6-9E4A-A0F5-CD2929CDF635}"/>
              </a:ext>
            </a:extLst>
          </p:cNvPr>
          <p:cNvSpPr/>
          <p:nvPr/>
        </p:nvSpPr>
        <p:spPr>
          <a:xfrm>
            <a:off x="6279327" y="4116828"/>
            <a:ext cx="933309" cy="34560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直接</a:t>
            </a:r>
            <a:r>
              <a:rPr lang="en-US" altLang="zh-CN" sz="1000" dirty="0">
                <a:solidFill>
                  <a:sysClr val="windowText" lastClr="000000"/>
                </a:solidFill>
              </a:rPr>
              <a:t>node</a:t>
            </a:r>
            <a:endParaRPr lang="en-CN" sz="1000" dirty="0">
              <a:solidFill>
                <a:sysClr val="windowText" lastClr="000000"/>
              </a:solidFill>
            </a:endParaRPr>
          </a:p>
        </p:txBody>
      </p:sp>
      <p:sp>
        <p:nvSpPr>
          <p:cNvPr id="43" name="Rectangle 42">
            <a:extLst>
              <a:ext uri="{FF2B5EF4-FFF2-40B4-BE49-F238E27FC236}">
                <a16:creationId xmlns:a16="http://schemas.microsoft.com/office/drawing/2014/main" id="{8D4BC379-3842-CA47-ADBC-93D3CBD5BB3D}"/>
              </a:ext>
            </a:extLst>
          </p:cNvPr>
          <p:cNvSpPr/>
          <p:nvPr/>
        </p:nvSpPr>
        <p:spPr>
          <a:xfrm>
            <a:off x="4826872" y="3757664"/>
            <a:ext cx="933309" cy="345604"/>
          </a:xfrm>
          <a:prstGeom prst="rect">
            <a:avLst/>
          </a:prstGeom>
          <a:solidFill>
            <a:schemeClr val="accent4">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间接</a:t>
            </a:r>
            <a:r>
              <a:rPr lang="en-US" altLang="zh-CN" sz="1000" dirty="0">
                <a:solidFill>
                  <a:sysClr val="windowText" lastClr="000000"/>
                </a:solidFill>
              </a:rPr>
              <a:t>node</a:t>
            </a:r>
            <a:endParaRPr lang="en-CN" sz="1000" dirty="0">
              <a:solidFill>
                <a:sysClr val="windowText" lastClr="000000"/>
              </a:solidFill>
            </a:endParaRPr>
          </a:p>
        </p:txBody>
      </p:sp>
      <p:sp>
        <p:nvSpPr>
          <p:cNvPr id="44" name="Rectangle 43">
            <a:extLst>
              <a:ext uri="{FF2B5EF4-FFF2-40B4-BE49-F238E27FC236}">
                <a16:creationId xmlns:a16="http://schemas.microsoft.com/office/drawing/2014/main" id="{AFDEF791-0082-1645-8BCE-8AE568AD370A}"/>
              </a:ext>
            </a:extLst>
          </p:cNvPr>
          <p:cNvSpPr/>
          <p:nvPr/>
        </p:nvSpPr>
        <p:spPr>
          <a:xfrm>
            <a:off x="7481522" y="3201965"/>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cxnSp>
        <p:nvCxnSpPr>
          <p:cNvPr id="48" name="Elbow Connector 47">
            <a:extLst>
              <a:ext uri="{FF2B5EF4-FFF2-40B4-BE49-F238E27FC236}">
                <a16:creationId xmlns:a16="http://schemas.microsoft.com/office/drawing/2014/main" id="{E4CD613D-B629-7948-ACDB-AA9721336B44}"/>
              </a:ext>
            </a:extLst>
          </p:cNvPr>
          <p:cNvCxnSpPr>
            <a:cxnSpLocks/>
            <a:stCxn id="34" idx="2"/>
            <a:endCxn id="35" idx="0"/>
          </p:cNvCxnSpPr>
          <p:nvPr/>
        </p:nvCxnSpPr>
        <p:spPr>
          <a:xfrm rot="5400000">
            <a:off x="1124815" y="2332433"/>
            <a:ext cx="894461" cy="21640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1" name="Elbow Connector 50">
            <a:extLst>
              <a:ext uri="{FF2B5EF4-FFF2-40B4-BE49-F238E27FC236}">
                <a16:creationId xmlns:a16="http://schemas.microsoft.com/office/drawing/2014/main" id="{40265B92-DAB0-A247-A15C-84CDD230CBA6}"/>
              </a:ext>
            </a:extLst>
          </p:cNvPr>
          <p:cNvCxnSpPr>
            <a:cxnSpLocks/>
            <a:stCxn id="37" idx="3"/>
            <a:endCxn id="38" idx="1"/>
          </p:cNvCxnSpPr>
          <p:nvPr/>
        </p:nvCxnSpPr>
        <p:spPr>
          <a:xfrm>
            <a:off x="2427926" y="1737506"/>
            <a:ext cx="1572527" cy="66222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5" name="Elbow Connector 54">
            <a:extLst>
              <a:ext uri="{FF2B5EF4-FFF2-40B4-BE49-F238E27FC236}">
                <a16:creationId xmlns:a16="http://schemas.microsoft.com/office/drawing/2014/main" id="{F524F4DB-A289-A14E-995E-94A83CE1166F}"/>
              </a:ext>
            </a:extLst>
          </p:cNvPr>
          <p:cNvCxnSpPr>
            <a:cxnSpLocks/>
            <a:stCxn id="37" idx="3"/>
            <a:endCxn id="39" idx="1"/>
          </p:cNvCxnSpPr>
          <p:nvPr/>
        </p:nvCxnSpPr>
        <p:spPr>
          <a:xfrm>
            <a:off x="2427926" y="1737506"/>
            <a:ext cx="1572527" cy="12745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9" name="Elbow Connector 58">
            <a:extLst>
              <a:ext uri="{FF2B5EF4-FFF2-40B4-BE49-F238E27FC236}">
                <a16:creationId xmlns:a16="http://schemas.microsoft.com/office/drawing/2014/main" id="{83022C20-C7D5-9143-8E60-63FDF125E3A2}"/>
              </a:ext>
            </a:extLst>
          </p:cNvPr>
          <p:cNvCxnSpPr>
            <a:cxnSpLocks/>
            <a:stCxn id="38" idx="3"/>
            <a:endCxn id="40" idx="1"/>
          </p:cNvCxnSpPr>
          <p:nvPr/>
        </p:nvCxnSpPr>
        <p:spPr>
          <a:xfrm>
            <a:off x="4933762" y="2399730"/>
            <a:ext cx="721517" cy="2447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Elbow Connector 62">
            <a:extLst>
              <a:ext uri="{FF2B5EF4-FFF2-40B4-BE49-F238E27FC236}">
                <a16:creationId xmlns:a16="http://schemas.microsoft.com/office/drawing/2014/main" id="{B98E09AD-0E97-3E4D-9E74-332DF949EA1E}"/>
              </a:ext>
            </a:extLst>
          </p:cNvPr>
          <p:cNvCxnSpPr>
            <a:cxnSpLocks/>
            <a:stCxn id="39" idx="3"/>
            <a:endCxn id="41" idx="1"/>
          </p:cNvCxnSpPr>
          <p:nvPr/>
        </p:nvCxnSpPr>
        <p:spPr>
          <a:xfrm>
            <a:off x="4933762" y="3012014"/>
            <a:ext cx="721518" cy="34560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6" name="Elbow Connector 65">
            <a:extLst>
              <a:ext uri="{FF2B5EF4-FFF2-40B4-BE49-F238E27FC236}">
                <a16:creationId xmlns:a16="http://schemas.microsoft.com/office/drawing/2014/main" id="{A8BFD7C2-C92A-CF42-B964-4D8B338E82F5}"/>
              </a:ext>
            </a:extLst>
          </p:cNvPr>
          <p:cNvCxnSpPr>
            <a:cxnSpLocks/>
            <a:stCxn id="39" idx="2"/>
            <a:endCxn id="43" idx="0"/>
          </p:cNvCxnSpPr>
          <p:nvPr/>
        </p:nvCxnSpPr>
        <p:spPr>
          <a:xfrm rot="16200000" flipH="1">
            <a:off x="4593893" y="3058030"/>
            <a:ext cx="572848" cy="826419"/>
          </a:xfrm>
          <a:prstGeom prst="bentConnector3">
            <a:avLst>
              <a:gd name="adj1" fmla="val 50000"/>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70" name="Elbow Connector 69">
            <a:extLst>
              <a:ext uri="{FF2B5EF4-FFF2-40B4-BE49-F238E27FC236}">
                <a16:creationId xmlns:a16="http://schemas.microsoft.com/office/drawing/2014/main" id="{69361DFE-FC58-BD4C-B43B-D4827874AD6B}"/>
              </a:ext>
            </a:extLst>
          </p:cNvPr>
          <p:cNvCxnSpPr>
            <a:cxnSpLocks/>
            <a:stCxn id="43" idx="3"/>
            <a:endCxn id="57" idx="0"/>
          </p:cNvCxnSpPr>
          <p:nvPr/>
        </p:nvCxnSpPr>
        <p:spPr>
          <a:xfrm>
            <a:off x="5760181" y="3930466"/>
            <a:ext cx="1326097" cy="358019"/>
          </a:xfrm>
          <a:prstGeom prst="bentConnector2">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75" name="Elbow Connector 74">
            <a:extLst>
              <a:ext uri="{FF2B5EF4-FFF2-40B4-BE49-F238E27FC236}">
                <a16:creationId xmlns:a16="http://schemas.microsoft.com/office/drawing/2014/main" id="{CF118D76-4BB7-0147-8C2C-0E03067F3492}"/>
              </a:ext>
            </a:extLst>
          </p:cNvPr>
          <p:cNvCxnSpPr>
            <a:cxnSpLocks/>
            <a:stCxn id="42" idx="3"/>
            <a:endCxn id="44" idx="2"/>
          </p:cNvCxnSpPr>
          <p:nvPr/>
        </p:nvCxnSpPr>
        <p:spPr>
          <a:xfrm flipV="1">
            <a:off x="7212636" y="3547569"/>
            <a:ext cx="735541" cy="74206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0B273302-4A4E-4841-AF30-18BD303D3037}"/>
              </a:ext>
            </a:extLst>
          </p:cNvPr>
          <p:cNvSpPr txBox="1"/>
          <p:nvPr/>
        </p:nvSpPr>
        <p:spPr>
          <a:xfrm>
            <a:off x="6815327" y="3184815"/>
            <a:ext cx="428061" cy="369332"/>
          </a:xfrm>
          <a:prstGeom prst="rect">
            <a:avLst/>
          </a:prstGeom>
          <a:noFill/>
        </p:spPr>
        <p:txBody>
          <a:bodyPr wrap="square" rtlCol="0">
            <a:spAutoFit/>
          </a:bodyPr>
          <a:lstStyle/>
          <a:p>
            <a:r>
              <a:rPr lang="en-US" dirty="0"/>
              <a:t>…</a:t>
            </a:r>
            <a:endParaRPr lang="en-CN" dirty="0"/>
          </a:p>
        </p:txBody>
      </p:sp>
      <p:sp>
        <p:nvSpPr>
          <p:cNvPr id="79" name="TextBox 78">
            <a:extLst>
              <a:ext uri="{FF2B5EF4-FFF2-40B4-BE49-F238E27FC236}">
                <a16:creationId xmlns:a16="http://schemas.microsoft.com/office/drawing/2014/main" id="{37A22199-192E-7E4F-9110-37A3F0CEE7F9}"/>
              </a:ext>
            </a:extLst>
          </p:cNvPr>
          <p:cNvSpPr txBox="1"/>
          <p:nvPr/>
        </p:nvSpPr>
        <p:spPr>
          <a:xfrm>
            <a:off x="2105725" y="3184815"/>
            <a:ext cx="954107" cy="276999"/>
          </a:xfrm>
          <a:prstGeom prst="rect">
            <a:avLst/>
          </a:prstGeom>
          <a:noFill/>
        </p:spPr>
        <p:txBody>
          <a:bodyPr wrap="none" rtlCol="0">
            <a:spAutoFit/>
          </a:bodyPr>
          <a:lstStyle/>
          <a:p>
            <a:r>
              <a:rPr lang="zh-CN" altLang="en-CN" sz="1200" dirty="0"/>
              <a:t>用于</a:t>
            </a:r>
            <a:r>
              <a:rPr lang="zh-CN" altLang="en-US" sz="1200" dirty="0"/>
              <a:t>段清理</a:t>
            </a:r>
            <a:endParaRPr lang="en-CN" sz="1200" dirty="0"/>
          </a:p>
        </p:txBody>
      </p:sp>
      <p:sp>
        <p:nvSpPr>
          <p:cNvPr id="80" name="Right Brace 79">
            <a:extLst>
              <a:ext uri="{FF2B5EF4-FFF2-40B4-BE49-F238E27FC236}">
                <a16:creationId xmlns:a16="http://schemas.microsoft.com/office/drawing/2014/main" id="{849B04C6-C233-CD42-9F62-1E992E6EE725}"/>
              </a:ext>
            </a:extLst>
          </p:cNvPr>
          <p:cNvSpPr/>
          <p:nvPr/>
        </p:nvSpPr>
        <p:spPr>
          <a:xfrm>
            <a:off x="1998834" y="2887864"/>
            <a:ext cx="167965" cy="869691"/>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cxnSp>
        <p:nvCxnSpPr>
          <p:cNvPr id="82" name="Straight Connector 81">
            <a:extLst>
              <a:ext uri="{FF2B5EF4-FFF2-40B4-BE49-F238E27FC236}">
                <a16:creationId xmlns:a16="http://schemas.microsoft.com/office/drawing/2014/main" id="{EF23BCF4-EDE4-9F41-8189-77D0765B4B41}"/>
              </a:ext>
            </a:extLst>
          </p:cNvPr>
          <p:cNvCxnSpPr>
            <a:cxnSpLocks/>
          </p:cNvCxnSpPr>
          <p:nvPr/>
        </p:nvCxnSpPr>
        <p:spPr>
          <a:xfrm>
            <a:off x="755650" y="3865612"/>
            <a:ext cx="493484" cy="796229"/>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B2FF6CFD-DC99-F040-B0C6-218629FA1005}"/>
              </a:ext>
            </a:extLst>
          </p:cNvPr>
          <p:cNvCxnSpPr>
            <a:cxnSpLocks/>
          </p:cNvCxnSpPr>
          <p:nvPr/>
        </p:nvCxnSpPr>
        <p:spPr>
          <a:xfrm flipH="1">
            <a:off x="7710043" y="3873658"/>
            <a:ext cx="822397" cy="788183"/>
          </a:xfrm>
          <a:prstGeom prst="line">
            <a:avLst/>
          </a:prstGeom>
        </p:spPr>
        <p:style>
          <a:lnRef idx="1">
            <a:schemeClr val="dk1"/>
          </a:lnRef>
          <a:fillRef idx="0">
            <a:schemeClr val="dk1"/>
          </a:fillRef>
          <a:effectRef idx="0">
            <a:schemeClr val="dk1"/>
          </a:effectRef>
          <a:fontRef idx="minor">
            <a:schemeClr val="tx1"/>
          </a:fontRef>
        </p:style>
      </p:cxnSp>
      <p:sp>
        <p:nvSpPr>
          <p:cNvPr id="45" name="Rectangle 44">
            <a:extLst>
              <a:ext uri="{FF2B5EF4-FFF2-40B4-BE49-F238E27FC236}">
                <a16:creationId xmlns:a16="http://schemas.microsoft.com/office/drawing/2014/main" id="{789ACD0B-00DB-9E42-85E5-816388D2C02D}"/>
              </a:ext>
            </a:extLst>
          </p:cNvPr>
          <p:cNvSpPr/>
          <p:nvPr/>
        </p:nvSpPr>
        <p:spPr>
          <a:xfrm>
            <a:off x="2022910" y="4785990"/>
            <a:ext cx="284100" cy="360000"/>
          </a:xfrm>
          <a:prstGeom prst="rect">
            <a:avLst/>
          </a:prstGeom>
          <a:solidFill>
            <a:srgbClr val="92D05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cxnSp>
        <p:nvCxnSpPr>
          <p:cNvPr id="58" name="Elbow Connector 57">
            <a:extLst>
              <a:ext uri="{FF2B5EF4-FFF2-40B4-BE49-F238E27FC236}">
                <a16:creationId xmlns:a16="http://schemas.microsoft.com/office/drawing/2014/main" id="{133B94EC-F58B-774A-87B0-1AC2EE673D11}"/>
              </a:ext>
            </a:extLst>
          </p:cNvPr>
          <p:cNvCxnSpPr>
            <a:cxnSpLocks/>
            <a:stCxn id="37" idx="3"/>
            <a:endCxn id="43" idx="1"/>
          </p:cNvCxnSpPr>
          <p:nvPr/>
        </p:nvCxnSpPr>
        <p:spPr>
          <a:xfrm>
            <a:off x="2427926" y="1737506"/>
            <a:ext cx="2398946" cy="2192960"/>
          </a:xfrm>
          <a:prstGeom prst="bentConnector3">
            <a:avLst>
              <a:gd name="adj1" fmla="val 32786"/>
            </a:avLst>
          </a:prstGeom>
          <a:ln>
            <a:tailEnd type="triangle"/>
          </a:ln>
        </p:spPr>
        <p:style>
          <a:lnRef idx="1">
            <a:schemeClr val="dk1"/>
          </a:lnRef>
          <a:fillRef idx="0">
            <a:schemeClr val="dk1"/>
          </a:fillRef>
          <a:effectRef idx="0">
            <a:schemeClr val="dk1"/>
          </a:effectRef>
          <a:fontRef idx="minor">
            <a:schemeClr val="tx1"/>
          </a:fontRef>
        </p:style>
      </p:cxnSp>
      <p:cxnSp>
        <p:nvCxnSpPr>
          <p:cNvPr id="60" name="Elbow Connector 59">
            <a:extLst>
              <a:ext uri="{FF2B5EF4-FFF2-40B4-BE49-F238E27FC236}">
                <a16:creationId xmlns:a16="http://schemas.microsoft.com/office/drawing/2014/main" id="{EA3B1074-16AC-AD43-BF8E-EA445A6E6816}"/>
              </a:ext>
            </a:extLst>
          </p:cNvPr>
          <p:cNvCxnSpPr>
            <a:cxnSpLocks/>
            <a:stCxn id="37" idx="3"/>
            <a:endCxn id="57" idx="1"/>
          </p:cNvCxnSpPr>
          <p:nvPr/>
        </p:nvCxnSpPr>
        <p:spPr>
          <a:xfrm>
            <a:off x="2427926" y="1737506"/>
            <a:ext cx="4191697" cy="2723781"/>
          </a:xfrm>
          <a:prstGeom prst="bentConnector3">
            <a:avLst>
              <a:gd name="adj1" fmla="val 18863"/>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CE231844-2D33-E24D-B333-F8B735649F57}"/>
              </a:ext>
            </a:extLst>
          </p:cNvPr>
          <p:cNvSpPr txBox="1"/>
          <p:nvPr/>
        </p:nvSpPr>
        <p:spPr>
          <a:xfrm>
            <a:off x="4083594" y="3429553"/>
            <a:ext cx="1032655" cy="261610"/>
          </a:xfrm>
          <a:prstGeom prst="rect">
            <a:avLst/>
          </a:prstGeom>
          <a:noFill/>
        </p:spPr>
        <p:txBody>
          <a:bodyPr wrap="none" rtlCol="0">
            <a:spAutoFit/>
          </a:bodyPr>
          <a:lstStyle/>
          <a:p>
            <a:r>
              <a:rPr lang="zh-CN" altLang="en-US" sz="1100" dirty="0"/>
              <a:t>使用</a:t>
            </a:r>
            <a:r>
              <a:rPr lang="en-US" altLang="zh-CN" sz="1100" dirty="0"/>
              <a:t>NAT</a:t>
            </a:r>
            <a:r>
              <a:rPr lang="zh-CN" altLang="en-US" sz="1100" dirty="0"/>
              <a:t>翻译</a:t>
            </a:r>
            <a:endParaRPr lang="en-CN" sz="1100" dirty="0"/>
          </a:p>
        </p:txBody>
      </p:sp>
      <p:sp>
        <p:nvSpPr>
          <p:cNvPr id="76" name="TextBox 75">
            <a:extLst>
              <a:ext uri="{FF2B5EF4-FFF2-40B4-BE49-F238E27FC236}">
                <a16:creationId xmlns:a16="http://schemas.microsoft.com/office/drawing/2014/main" id="{BB501C73-5729-6F45-959A-5D07CC5D5E6F}"/>
              </a:ext>
            </a:extLst>
          </p:cNvPr>
          <p:cNvSpPr txBox="1"/>
          <p:nvPr/>
        </p:nvSpPr>
        <p:spPr>
          <a:xfrm>
            <a:off x="6005664" y="3699937"/>
            <a:ext cx="1032655" cy="261610"/>
          </a:xfrm>
          <a:prstGeom prst="rect">
            <a:avLst/>
          </a:prstGeom>
          <a:noFill/>
        </p:spPr>
        <p:txBody>
          <a:bodyPr wrap="none" rtlCol="0">
            <a:spAutoFit/>
          </a:bodyPr>
          <a:lstStyle/>
          <a:p>
            <a:r>
              <a:rPr lang="zh-CN" altLang="en-US" sz="1100" dirty="0"/>
              <a:t>使用</a:t>
            </a:r>
            <a:r>
              <a:rPr lang="en-US" altLang="zh-CN" sz="1100" dirty="0"/>
              <a:t>NAT</a:t>
            </a:r>
            <a:r>
              <a:rPr lang="zh-CN" altLang="en-US" sz="1100" dirty="0"/>
              <a:t>翻译</a:t>
            </a:r>
            <a:endParaRPr lang="en-CN" sz="1100" dirty="0"/>
          </a:p>
        </p:txBody>
      </p:sp>
      <p:sp>
        <p:nvSpPr>
          <p:cNvPr id="77" name="Right Arrow 76">
            <a:extLst>
              <a:ext uri="{FF2B5EF4-FFF2-40B4-BE49-F238E27FC236}">
                <a16:creationId xmlns:a16="http://schemas.microsoft.com/office/drawing/2014/main" id="{5E3628CF-E787-9247-8891-CCB4084D825C}"/>
              </a:ext>
            </a:extLst>
          </p:cNvPr>
          <p:cNvSpPr/>
          <p:nvPr/>
        </p:nvSpPr>
        <p:spPr>
          <a:xfrm>
            <a:off x="5100561" y="4896220"/>
            <a:ext cx="554718" cy="153621"/>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83" name="Right Arrow 82">
            <a:extLst>
              <a:ext uri="{FF2B5EF4-FFF2-40B4-BE49-F238E27FC236}">
                <a16:creationId xmlns:a16="http://schemas.microsoft.com/office/drawing/2014/main" id="{EBD823FC-83D3-0842-8293-5AC4E0779CF2}"/>
              </a:ext>
            </a:extLst>
          </p:cNvPr>
          <p:cNvSpPr/>
          <p:nvPr/>
        </p:nvSpPr>
        <p:spPr>
          <a:xfrm>
            <a:off x="5952312" y="4896220"/>
            <a:ext cx="635912" cy="153621"/>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50" name="TextBox 49">
            <a:extLst>
              <a:ext uri="{FF2B5EF4-FFF2-40B4-BE49-F238E27FC236}">
                <a16:creationId xmlns:a16="http://schemas.microsoft.com/office/drawing/2014/main" id="{4B1CA7BF-8C1C-F74E-957C-A2F6FB1BB1F6}"/>
              </a:ext>
            </a:extLst>
          </p:cNvPr>
          <p:cNvSpPr txBox="1"/>
          <p:nvPr/>
        </p:nvSpPr>
        <p:spPr>
          <a:xfrm>
            <a:off x="7522704" y="2210211"/>
            <a:ext cx="1441420" cy="307777"/>
          </a:xfrm>
          <a:prstGeom prst="rect">
            <a:avLst/>
          </a:prstGeom>
          <a:noFill/>
        </p:spPr>
        <p:txBody>
          <a:bodyPr wrap="none" rtlCol="0">
            <a:spAutoFit/>
          </a:bodyPr>
          <a:lstStyle/>
          <a:p>
            <a:r>
              <a:rPr lang="zh-CN" altLang="en-CN" sz="1400" dirty="0"/>
              <a:t>修改</a:t>
            </a:r>
            <a:r>
              <a:rPr lang="zh-CN" altLang="en-US" sz="1400" dirty="0"/>
              <a:t>一小块数据</a:t>
            </a:r>
            <a:endParaRPr lang="en-CN" sz="1400" dirty="0"/>
          </a:p>
        </p:txBody>
      </p:sp>
      <p:cxnSp>
        <p:nvCxnSpPr>
          <p:cNvPr id="52" name="Straight Arrow Connector 51">
            <a:extLst>
              <a:ext uri="{FF2B5EF4-FFF2-40B4-BE49-F238E27FC236}">
                <a16:creationId xmlns:a16="http://schemas.microsoft.com/office/drawing/2014/main" id="{71B24026-EA14-0940-A7CD-F049BE5AE889}"/>
              </a:ext>
            </a:extLst>
          </p:cNvPr>
          <p:cNvCxnSpPr>
            <a:cxnSpLocks/>
            <a:stCxn id="50" idx="2"/>
            <a:endCxn id="44" idx="0"/>
          </p:cNvCxnSpPr>
          <p:nvPr/>
        </p:nvCxnSpPr>
        <p:spPr>
          <a:xfrm flipH="1">
            <a:off x="7948177" y="2517988"/>
            <a:ext cx="295237" cy="68397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712DF734-1352-2C4C-A8EE-CCF19DA8CBA0}"/>
              </a:ext>
            </a:extLst>
          </p:cNvPr>
          <p:cNvSpPr/>
          <p:nvPr/>
        </p:nvSpPr>
        <p:spPr>
          <a:xfrm>
            <a:off x="7979315" y="3257837"/>
            <a:ext cx="933309" cy="345604"/>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文件</a:t>
            </a:r>
            <a:r>
              <a:rPr lang="zh-CN" altLang="en-CN" sz="1000" dirty="0">
                <a:solidFill>
                  <a:sysClr val="windowText" lastClr="000000"/>
                </a:solidFill>
              </a:rPr>
              <a:t>数据</a:t>
            </a:r>
            <a:endParaRPr lang="en-CN" sz="1000" dirty="0">
              <a:solidFill>
                <a:sysClr val="windowText" lastClr="000000"/>
              </a:solidFill>
            </a:endParaRPr>
          </a:p>
        </p:txBody>
      </p:sp>
      <p:sp>
        <p:nvSpPr>
          <p:cNvPr id="57" name="Rectangle 56">
            <a:extLst>
              <a:ext uri="{FF2B5EF4-FFF2-40B4-BE49-F238E27FC236}">
                <a16:creationId xmlns:a16="http://schemas.microsoft.com/office/drawing/2014/main" id="{2075829B-20B7-F64E-BAC0-16CB0A79D6DA}"/>
              </a:ext>
            </a:extLst>
          </p:cNvPr>
          <p:cNvSpPr/>
          <p:nvPr/>
        </p:nvSpPr>
        <p:spPr>
          <a:xfrm>
            <a:off x="6619623" y="4288485"/>
            <a:ext cx="933309" cy="34560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rPr>
              <a:t>直接</a:t>
            </a:r>
            <a:r>
              <a:rPr lang="en-US" altLang="zh-CN" sz="1000" dirty="0">
                <a:solidFill>
                  <a:sysClr val="windowText" lastClr="000000"/>
                </a:solidFill>
              </a:rPr>
              <a:t>node</a:t>
            </a:r>
            <a:endParaRPr lang="en-CN" sz="1000" dirty="0">
              <a:solidFill>
                <a:sysClr val="windowText" lastClr="000000"/>
              </a:solidFill>
            </a:endParaRPr>
          </a:p>
        </p:txBody>
      </p:sp>
      <p:cxnSp>
        <p:nvCxnSpPr>
          <p:cNvPr id="61" name="Elbow Connector 60">
            <a:extLst>
              <a:ext uri="{FF2B5EF4-FFF2-40B4-BE49-F238E27FC236}">
                <a16:creationId xmlns:a16="http://schemas.microsoft.com/office/drawing/2014/main" id="{1A34B020-5C86-974B-97E3-E4C4B2AF85A9}"/>
              </a:ext>
            </a:extLst>
          </p:cNvPr>
          <p:cNvCxnSpPr>
            <a:cxnSpLocks/>
            <a:stCxn id="57" idx="3"/>
            <a:endCxn id="56" idx="2"/>
          </p:cNvCxnSpPr>
          <p:nvPr/>
        </p:nvCxnSpPr>
        <p:spPr>
          <a:xfrm flipV="1">
            <a:off x="7552932" y="3603441"/>
            <a:ext cx="893038" cy="857846"/>
          </a:xfrm>
          <a:prstGeom prst="bentConnector2">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2" name="Rectangle 61">
            <a:extLst>
              <a:ext uri="{FF2B5EF4-FFF2-40B4-BE49-F238E27FC236}">
                <a16:creationId xmlns:a16="http://schemas.microsoft.com/office/drawing/2014/main" id="{7175E624-4A2E-EC46-8307-5DC83C3AECA8}"/>
              </a:ext>
            </a:extLst>
          </p:cNvPr>
          <p:cNvSpPr/>
          <p:nvPr/>
        </p:nvSpPr>
        <p:spPr>
          <a:xfrm>
            <a:off x="3451163" y="4785990"/>
            <a:ext cx="284100" cy="360000"/>
          </a:xfrm>
          <a:prstGeom prst="rect">
            <a:avLst/>
          </a:prstGeom>
          <a:solidFill>
            <a:schemeClr val="bg1">
              <a:lumMod val="7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4" name="Rectangle 63">
            <a:extLst>
              <a:ext uri="{FF2B5EF4-FFF2-40B4-BE49-F238E27FC236}">
                <a16:creationId xmlns:a16="http://schemas.microsoft.com/office/drawing/2014/main" id="{A4006C04-6092-DD49-AC68-E069574E2A5C}"/>
              </a:ext>
            </a:extLst>
          </p:cNvPr>
          <p:cNvSpPr/>
          <p:nvPr/>
        </p:nvSpPr>
        <p:spPr>
          <a:xfrm>
            <a:off x="4501029" y="4785990"/>
            <a:ext cx="284100" cy="360000"/>
          </a:xfrm>
          <a:prstGeom prst="rect">
            <a:avLst/>
          </a:prstGeom>
          <a:solidFill>
            <a:schemeClr val="accent4"/>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solidFill>
                <a:sysClr val="windowText" lastClr="000000"/>
              </a:solidFill>
            </a:endParaRPr>
          </a:p>
        </p:txBody>
      </p:sp>
      <p:sp>
        <p:nvSpPr>
          <p:cNvPr id="31" name="Right Arrow 30">
            <a:extLst>
              <a:ext uri="{FF2B5EF4-FFF2-40B4-BE49-F238E27FC236}">
                <a16:creationId xmlns:a16="http://schemas.microsoft.com/office/drawing/2014/main" id="{5384B7E3-ED2C-B143-8B5B-A13F4D6D75F3}"/>
              </a:ext>
            </a:extLst>
          </p:cNvPr>
          <p:cNvSpPr/>
          <p:nvPr/>
        </p:nvSpPr>
        <p:spPr>
          <a:xfrm>
            <a:off x="2939121" y="4891878"/>
            <a:ext cx="637956" cy="153621"/>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81" name="Right Arrow 80">
            <a:extLst>
              <a:ext uri="{FF2B5EF4-FFF2-40B4-BE49-F238E27FC236}">
                <a16:creationId xmlns:a16="http://schemas.microsoft.com/office/drawing/2014/main" id="{CD0D2409-9C81-3944-8806-06BAD863670B}"/>
              </a:ext>
            </a:extLst>
          </p:cNvPr>
          <p:cNvSpPr/>
          <p:nvPr/>
        </p:nvSpPr>
        <p:spPr>
          <a:xfrm>
            <a:off x="3975197" y="4892765"/>
            <a:ext cx="662840" cy="153621"/>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68" name="Right Brace 67">
            <a:extLst>
              <a:ext uri="{FF2B5EF4-FFF2-40B4-BE49-F238E27FC236}">
                <a16:creationId xmlns:a16="http://schemas.microsoft.com/office/drawing/2014/main" id="{0976DD6D-F84F-0544-B911-6D7F25777C70}"/>
              </a:ext>
            </a:extLst>
          </p:cNvPr>
          <p:cNvSpPr/>
          <p:nvPr/>
        </p:nvSpPr>
        <p:spPr>
          <a:xfrm rot="16200000">
            <a:off x="1611650" y="637984"/>
            <a:ext cx="167965" cy="1464586"/>
          </a:xfrm>
          <a:prstGeom prst="rightBrace">
            <a:avLst>
              <a:gd name="adj1" fmla="val 221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69" name="TextBox 68">
            <a:extLst>
              <a:ext uri="{FF2B5EF4-FFF2-40B4-BE49-F238E27FC236}">
                <a16:creationId xmlns:a16="http://schemas.microsoft.com/office/drawing/2014/main" id="{874F04A1-8FA2-194F-B865-0A40716FB3FE}"/>
              </a:ext>
            </a:extLst>
          </p:cNvPr>
          <p:cNvSpPr txBox="1"/>
          <p:nvPr/>
        </p:nvSpPr>
        <p:spPr>
          <a:xfrm>
            <a:off x="1043851" y="1044314"/>
            <a:ext cx="1303562" cy="276999"/>
          </a:xfrm>
          <a:prstGeom prst="rect">
            <a:avLst/>
          </a:prstGeom>
          <a:noFill/>
        </p:spPr>
        <p:txBody>
          <a:bodyPr wrap="none" rtlCol="0">
            <a:spAutoFit/>
          </a:bodyPr>
          <a:lstStyle/>
          <a:p>
            <a:r>
              <a:rPr lang="zh-CN" altLang="en-US" sz="1200" dirty="0"/>
              <a:t>保存在固定位置</a:t>
            </a:r>
            <a:endParaRPr lang="en-CN" sz="1200" dirty="0"/>
          </a:p>
        </p:txBody>
      </p:sp>
      <p:sp>
        <p:nvSpPr>
          <p:cNvPr id="73" name="TextBox 72">
            <a:extLst>
              <a:ext uri="{FF2B5EF4-FFF2-40B4-BE49-F238E27FC236}">
                <a16:creationId xmlns:a16="http://schemas.microsoft.com/office/drawing/2014/main" id="{2A37875A-2886-CA49-AD79-85303BC2F04C}"/>
              </a:ext>
            </a:extLst>
          </p:cNvPr>
          <p:cNvSpPr txBox="1"/>
          <p:nvPr/>
        </p:nvSpPr>
        <p:spPr>
          <a:xfrm>
            <a:off x="331942" y="1631065"/>
            <a:ext cx="354221" cy="1323439"/>
          </a:xfrm>
          <a:prstGeom prst="rect">
            <a:avLst/>
          </a:prstGeom>
          <a:noFill/>
        </p:spPr>
        <p:txBody>
          <a:bodyPr wrap="square" rtlCol="0">
            <a:spAutoFit/>
          </a:bodyPr>
          <a:lstStyle/>
          <a:p>
            <a:r>
              <a:rPr lang="zh-CN" altLang="en-CN" sz="2000" dirty="0"/>
              <a:t>逻辑</a:t>
            </a:r>
            <a:r>
              <a:rPr lang="zh-CN" altLang="en-US" sz="2000" dirty="0"/>
              <a:t>结构</a:t>
            </a:r>
            <a:endParaRPr lang="en-CN" sz="2000" dirty="0"/>
          </a:p>
        </p:txBody>
      </p:sp>
      <p:sp>
        <p:nvSpPr>
          <p:cNvPr id="74" name="TextBox 73">
            <a:extLst>
              <a:ext uri="{FF2B5EF4-FFF2-40B4-BE49-F238E27FC236}">
                <a16:creationId xmlns:a16="http://schemas.microsoft.com/office/drawing/2014/main" id="{F91AD702-56E2-924B-83B0-1448965A8CBD}"/>
              </a:ext>
            </a:extLst>
          </p:cNvPr>
          <p:cNvSpPr txBox="1"/>
          <p:nvPr/>
        </p:nvSpPr>
        <p:spPr>
          <a:xfrm>
            <a:off x="367002" y="4161072"/>
            <a:ext cx="284100" cy="1323439"/>
          </a:xfrm>
          <a:prstGeom prst="rect">
            <a:avLst/>
          </a:prstGeom>
          <a:noFill/>
        </p:spPr>
        <p:txBody>
          <a:bodyPr wrap="square" rtlCol="0">
            <a:spAutoFit/>
          </a:bodyPr>
          <a:lstStyle/>
          <a:p>
            <a:r>
              <a:rPr lang="zh-CN" altLang="en-US" sz="2000" dirty="0"/>
              <a:t>存储结构</a:t>
            </a:r>
            <a:endParaRPr lang="en-CN" sz="2000" dirty="0"/>
          </a:p>
        </p:txBody>
      </p:sp>
      <p:sp>
        <p:nvSpPr>
          <p:cNvPr id="85" name="TextBox 84">
            <a:extLst>
              <a:ext uri="{FF2B5EF4-FFF2-40B4-BE49-F238E27FC236}">
                <a16:creationId xmlns:a16="http://schemas.microsoft.com/office/drawing/2014/main" id="{73168D7D-74C5-C948-8EB1-6260E4265AF9}"/>
              </a:ext>
            </a:extLst>
          </p:cNvPr>
          <p:cNvSpPr txBox="1"/>
          <p:nvPr/>
        </p:nvSpPr>
        <p:spPr>
          <a:xfrm>
            <a:off x="4005990" y="1216674"/>
            <a:ext cx="2273337" cy="369332"/>
          </a:xfrm>
          <a:prstGeom prst="rect">
            <a:avLst/>
          </a:prstGeom>
          <a:noFill/>
        </p:spPr>
        <p:txBody>
          <a:bodyPr wrap="square" rtlCol="0">
            <a:spAutoFit/>
          </a:bodyPr>
          <a:lstStyle/>
          <a:p>
            <a:r>
              <a:rPr lang="zh-CN" altLang="en-US" dirty="0">
                <a:solidFill>
                  <a:srgbClr val="C00000"/>
                </a:solidFill>
              </a:rPr>
              <a:t>多个</a:t>
            </a:r>
            <a:r>
              <a:rPr lang="en-US" altLang="zh-CN" dirty="0">
                <a:solidFill>
                  <a:srgbClr val="C00000"/>
                </a:solidFill>
              </a:rPr>
              <a:t>log</a:t>
            </a:r>
            <a:r>
              <a:rPr lang="zh-CN" altLang="en-US" dirty="0">
                <a:solidFill>
                  <a:srgbClr val="C00000"/>
                </a:solidFill>
              </a:rPr>
              <a:t>，并行写入</a:t>
            </a:r>
          </a:p>
        </p:txBody>
      </p:sp>
      <p:cxnSp>
        <p:nvCxnSpPr>
          <p:cNvPr id="86" name="Straight Arrow Connector 85">
            <a:extLst>
              <a:ext uri="{FF2B5EF4-FFF2-40B4-BE49-F238E27FC236}">
                <a16:creationId xmlns:a16="http://schemas.microsoft.com/office/drawing/2014/main" id="{BAC99786-F461-6E4E-BBCC-5A8BBB735024}"/>
              </a:ext>
            </a:extLst>
          </p:cNvPr>
          <p:cNvCxnSpPr>
            <a:cxnSpLocks/>
            <a:stCxn id="85" idx="2"/>
          </p:cNvCxnSpPr>
          <p:nvPr/>
        </p:nvCxnSpPr>
        <p:spPr>
          <a:xfrm>
            <a:off x="5142659" y="1586006"/>
            <a:ext cx="1167806" cy="310763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258397E8-2D8B-8B4F-AEE9-6A14F8FDAE29}"/>
              </a:ext>
            </a:extLst>
          </p:cNvPr>
          <p:cNvCxnSpPr>
            <a:cxnSpLocks/>
            <a:stCxn id="85" idx="2"/>
            <a:endCxn id="19" idx="0"/>
          </p:cNvCxnSpPr>
          <p:nvPr/>
        </p:nvCxnSpPr>
        <p:spPr>
          <a:xfrm flipH="1">
            <a:off x="3301284" y="1586006"/>
            <a:ext cx="1841375" cy="319998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12ECF06D-CB6E-3E49-B677-640C39F09BEA}"/>
              </a:ext>
            </a:extLst>
          </p:cNvPr>
          <p:cNvCxnSpPr>
            <a:cxnSpLocks/>
            <a:stCxn id="85" idx="2"/>
          </p:cNvCxnSpPr>
          <p:nvPr/>
        </p:nvCxnSpPr>
        <p:spPr>
          <a:xfrm flipH="1">
            <a:off x="4352771" y="1586006"/>
            <a:ext cx="789888" cy="310763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9111FB45-E35C-5447-A772-A8010D0CA15A}"/>
              </a:ext>
            </a:extLst>
          </p:cNvPr>
          <p:cNvCxnSpPr>
            <a:cxnSpLocks/>
            <a:stCxn id="85" idx="2"/>
          </p:cNvCxnSpPr>
          <p:nvPr/>
        </p:nvCxnSpPr>
        <p:spPr>
          <a:xfrm>
            <a:off x="5142659" y="1586006"/>
            <a:ext cx="183727" cy="307583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38648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E5DEF-C1F9-B940-AA21-7E7AC7A28B1C}"/>
              </a:ext>
            </a:extLst>
          </p:cNvPr>
          <p:cNvSpPr>
            <a:spLocks noGrp="1"/>
          </p:cNvSpPr>
          <p:nvPr>
            <p:ph type="title"/>
          </p:nvPr>
        </p:nvSpPr>
        <p:spPr/>
        <p:txBody>
          <a:bodyPr/>
          <a:lstStyle/>
          <a:p>
            <a:r>
              <a:rPr lang="zh-CN" altLang="en-US" dirty="0"/>
              <a:t>对</a:t>
            </a:r>
            <a:r>
              <a:rPr lang="zh-CN" altLang="en-CN" dirty="0"/>
              <a:t>闪存</a:t>
            </a:r>
            <a:r>
              <a:rPr lang="zh-CN" altLang="en-US" dirty="0"/>
              <a:t>友好的磁盘布局</a:t>
            </a:r>
            <a:endParaRPr lang="en-CN" dirty="0"/>
          </a:p>
        </p:txBody>
      </p:sp>
      <p:pic>
        <p:nvPicPr>
          <p:cNvPr id="6" name="Content Placeholder 5">
            <a:extLst>
              <a:ext uri="{FF2B5EF4-FFF2-40B4-BE49-F238E27FC236}">
                <a16:creationId xmlns:a16="http://schemas.microsoft.com/office/drawing/2014/main" id="{F7C8D8F1-7C32-1D46-A750-91EA3FC528FD}"/>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457200" y="3380817"/>
            <a:ext cx="8229600" cy="1916145"/>
          </a:xfrm>
          <a:prstGeom prst="rect">
            <a:avLst/>
          </a:prstGeom>
        </p:spPr>
      </p:pic>
      <p:sp>
        <p:nvSpPr>
          <p:cNvPr id="4" name="Slide Number Placeholder 3">
            <a:extLst>
              <a:ext uri="{FF2B5EF4-FFF2-40B4-BE49-F238E27FC236}">
                <a16:creationId xmlns:a16="http://schemas.microsoft.com/office/drawing/2014/main" id="{771D8613-9BFA-5C47-A952-301446EF3A86}"/>
              </a:ext>
            </a:extLst>
          </p:cNvPr>
          <p:cNvSpPr>
            <a:spLocks noGrp="1"/>
          </p:cNvSpPr>
          <p:nvPr>
            <p:ph type="sldNum" sz="quarter" idx="12"/>
          </p:nvPr>
        </p:nvSpPr>
        <p:spPr/>
        <p:txBody>
          <a:bodyPr/>
          <a:lstStyle/>
          <a:p>
            <a:fld id="{ADE361C3-C043-4A6E-BDCE-8DA1E7D90A3B}" type="slidenum">
              <a:rPr lang="zh-CN" altLang="en-US" smtClean="0"/>
              <a:t>53</a:t>
            </a:fld>
            <a:endParaRPr lang="zh-CN" altLang="en-US"/>
          </a:p>
        </p:txBody>
      </p:sp>
      <p:sp>
        <p:nvSpPr>
          <p:cNvPr id="5" name="Footer Placeholder 4">
            <a:extLst>
              <a:ext uri="{FF2B5EF4-FFF2-40B4-BE49-F238E27FC236}">
                <a16:creationId xmlns:a16="http://schemas.microsoft.com/office/drawing/2014/main" id="{998BACB2-50C1-4044-8238-A1C0EAA7DD7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Content Placeholder 6">
            <a:extLst>
              <a:ext uri="{FF2B5EF4-FFF2-40B4-BE49-F238E27FC236}">
                <a16:creationId xmlns:a16="http://schemas.microsoft.com/office/drawing/2014/main" id="{27FD2A3B-6CE1-8845-ABEA-D32668AA786B}"/>
              </a:ext>
            </a:extLst>
          </p:cNvPr>
          <p:cNvSpPr txBox="1">
            <a:spLocks/>
          </p:cNvSpPr>
          <p:nvPr/>
        </p:nvSpPr>
        <p:spPr>
          <a:xfrm>
            <a:off x="457200" y="1333501"/>
            <a:ext cx="8229600"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CN" sz="2000" b="0" dirty="0"/>
              <a:t>组织</a:t>
            </a:r>
            <a:r>
              <a:rPr lang="zh-CN" altLang="en-US" sz="2000" b="0" dirty="0"/>
              <a:t>层级</a:t>
            </a:r>
            <a:endParaRPr lang="en-US" altLang="zh-CN" sz="2000" b="0" dirty="0"/>
          </a:p>
          <a:p>
            <a:pPr lvl="1"/>
            <a:r>
              <a:rPr lang="en-US" altLang="zh-CN" sz="1600" dirty="0"/>
              <a:t>Block</a:t>
            </a:r>
            <a:r>
              <a:rPr lang="zh-CN" altLang="en-US" sz="1600" dirty="0"/>
              <a:t>：</a:t>
            </a:r>
            <a:r>
              <a:rPr lang="en-US" altLang="zh-CN" sz="1600" dirty="0"/>
              <a:t>4KB</a:t>
            </a:r>
            <a:r>
              <a:rPr lang="zh-CN" altLang="en-US" sz="1600" dirty="0"/>
              <a:t>，最小的读写单位</a:t>
            </a:r>
            <a:endParaRPr lang="en-US" altLang="zh-CN" sz="1600" dirty="0"/>
          </a:p>
          <a:p>
            <a:pPr lvl="1"/>
            <a:r>
              <a:rPr lang="en-US" altLang="zh-CN" sz="1600" b="0" dirty="0"/>
              <a:t>Segment</a:t>
            </a:r>
            <a:r>
              <a:rPr lang="zh-CN" altLang="en-US" sz="1600" b="0" dirty="0"/>
              <a:t>：</a:t>
            </a:r>
            <a:r>
              <a:rPr lang="en-US" altLang="zh-CN" sz="1600" b="0" dirty="0"/>
              <a:t>2MB</a:t>
            </a:r>
            <a:endParaRPr lang="en-CN" altLang="zh-CN" sz="1600" b="0" dirty="0"/>
          </a:p>
          <a:p>
            <a:pPr lvl="1"/>
            <a:r>
              <a:rPr lang="en-CN" altLang="zh-CN" sz="1600" b="0" dirty="0"/>
              <a:t>Section</a:t>
            </a:r>
            <a:r>
              <a:rPr lang="zh-CN" altLang="en-US" sz="1600" b="0" dirty="0"/>
              <a:t>：多个</a:t>
            </a:r>
            <a:r>
              <a:rPr lang="en-US" altLang="zh-CN" sz="1600" b="0" dirty="0"/>
              <a:t>segment</a:t>
            </a:r>
            <a:r>
              <a:rPr lang="zh-CN" altLang="en-US" sz="1600" b="0" dirty="0"/>
              <a:t>（垃圾回收</a:t>
            </a:r>
            <a:r>
              <a:rPr lang="en-US" altLang="zh-CN" sz="1600" b="0" dirty="0"/>
              <a:t>/GC</a:t>
            </a:r>
            <a:r>
              <a:rPr lang="zh-CN" altLang="en-US" sz="1600" b="0" dirty="0"/>
              <a:t>粒度）</a:t>
            </a:r>
            <a:endParaRPr lang="en-US" altLang="zh-CN" sz="1600" b="0" dirty="0"/>
          </a:p>
          <a:p>
            <a:pPr lvl="1"/>
            <a:r>
              <a:rPr lang="en-CN" altLang="zh-CN" sz="1600" b="0" dirty="0"/>
              <a:t>Zone</a:t>
            </a:r>
            <a:r>
              <a:rPr lang="zh-CN" altLang="en-US" sz="1600" dirty="0"/>
              <a:t>：多个</a:t>
            </a:r>
            <a:r>
              <a:rPr lang="en-US" altLang="zh-CN" sz="1600" dirty="0"/>
              <a:t>section</a:t>
            </a:r>
            <a:endParaRPr lang="en-CN" altLang="zh-CN" sz="1600" b="0" dirty="0"/>
          </a:p>
          <a:p>
            <a:pPr lvl="1"/>
            <a:endParaRPr lang="en-CN" sz="1600" b="0" dirty="0"/>
          </a:p>
        </p:txBody>
      </p:sp>
    </p:spTree>
    <p:extLst>
      <p:ext uri="{BB962C8B-B14F-4D97-AF65-F5344CB8AC3E}">
        <p14:creationId xmlns:p14="http://schemas.microsoft.com/office/powerpoint/2010/main" val="34772045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E5DEF-C1F9-B940-AA21-7E7AC7A28B1C}"/>
              </a:ext>
            </a:extLst>
          </p:cNvPr>
          <p:cNvSpPr>
            <a:spLocks noGrp="1"/>
          </p:cNvSpPr>
          <p:nvPr>
            <p:ph type="title"/>
          </p:nvPr>
        </p:nvSpPr>
        <p:spPr/>
        <p:txBody>
          <a:bodyPr/>
          <a:lstStyle/>
          <a:p>
            <a:r>
              <a:rPr lang="zh-CN" altLang="en-US" dirty="0"/>
              <a:t>对</a:t>
            </a:r>
            <a:r>
              <a:rPr lang="zh-CN" altLang="en-CN" dirty="0"/>
              <a:t>闪存</a:t>
            </a:r>
            <a:r>
              <a:rPr lang="zh-CN" altLang="en-US" dirty="0"/>
              <a:t>友好的磁盘布局</a:t>
            </a:r>
            <a:endParaRPr lang="en-CN" dirty="0"/>
          </a:p>
        </p:txBody>
      </p:sp>
      <p:pic>
        <p:nvPicPr>
          <p:cNvPr id="6" name="Content Placeholder 5">
            <a:extLst>
              <a:ext uri="{FF2B5EF4-FFF2-40B4-BE49-F238E27FC236}">
                <a16:creationId xmlns:a16="http://schemas.microsoft.com/office/drawing/2014/main" id="{F7C8D8F1-7C32-1D46-A750-91EA3FC528FD}"/>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457200" y="3380817"/>
            <a:ext cx="8229600" cy="1916145"/>
          </a:xfrm>
          <a:prstGeom prst="rect">
            <a:avLst/>
          </a:prstGeom>
        </p:spPr>
      </p:pic>
      <p:sp>
        <p:nvSpPr>
          <p:cNvPr id="4" name="Slide Number Placeholder 3">
            <a:extLst>
              <a:ext uri="{FF2B5EF4-FFF2-40B4-BE49-F238E27FC236}">
                <a16:creationId xmlns:a16="http://schemas.microsoft.com/office/drawing/2014/main" id="{771D8613-9BFA-5C47-A952-301446EF3A86}"/>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sp>
        <p:nvSpPr>
          <p:cNvPr id="5" name="Footer Placeholder 4">
            <a:extLst>
              <a:ext uri="{FF2B5EF4-FFF2-40B4-BE49-F238E27FC236}">
                <a16:creationId xmlns:a16="http://schemas.microsoft.com/office/drawing/2014/main" id="{998BACB2-50C1-4044-8238-A1C0EAA7DD7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Content Placeholder 6">
            <a:extLst>
              <a:ext uri="{FF2B5EF4-FFF2-40B4-BE49-F238E27FC236}">
                <a16:creationId xmlns:a16="http://schemas.microsoft.com/office/drawing/2014/main" id="{27FD2A3B-6CE1-8845-ABEA-D32668AA786B}"/>
              </a:ext>
            </a:extLst>
          </p:cNvPr>
          <p:cNvSpPr txBox="1">
            <a:spLocks/>
          </p:cNvSpPr>
          <p:nvPr/>
        </p:nvSpPr>
        <p:spPr>
          <a:xfrm>
            <a:off x="457200" y="1333501"/>
            <a:ext cx="3970784"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000" b="0" dirty="0"/>
              <a:t>系统</a:t>
            </a:r>
            <a:r>
              <a:rPr lang="zh-CN" altLang="en-CN" sz="2000" b="0" dirty="0"/>
              <a:t>元数据</a:t>
            </a:r>
            <a:r>
              <a:rPr lang="zh-CN" altLang="en-US" sz="2000" b="0" dirty="0"/>
              <a:t>（随机写入）</a:t>
            </a:r>
            <a:endParaRPr lang="en-CN" altLang="zh-CN" sz="1200" b="0" dirty="0"/>
          </a:p>
          <a:p>
            <a:pPr lvl="1"/>
            <a:r>
              <a:rPr lang="zh-CN" altLang="en-US" sz="1600" dirty="0"/>
              <a:t>存放在一起：局部性更好</a:t>
            </a:r>
            <a:endParaRPr lang="en-US" altLang="zh-CN" sz="1600" dirty="0"/>
          </a:p>
          <a:p>
            <a:pPr lvl="1"/>
            <a:r>
              <a:rPr lang="en-US" altLang="zh-CN" sz="1600" dirty="0"/>
              <a:t>CP</a:t>
            </a:r>
            <a:r>
              <a:rPr lang="zh-CN" altLang="en-US" sz="1600" dirty="0"/>
              <a:t>：检查点</a:t>
            </a:r>
            <a:endParaRPr lang="en-US" altLang="zh-CN" sz="1600" dirty="0"/>
          </a:p>
          <a:p>
            <a:pPr lvl="1"/>
            <a:r>
              <a:rPr lang="en-US" altLang="zh-CN" sz="1600" b="0" dirty="0"/>
              <a:t>SIT</a:t>
            </a:r>
            <a:r>
              <a:rPr lang="zh-CN" altLang="en-US" sz="1600" b="0" dirty="0"/>
              <a:t>：</a:t>
            </a:r>
            <a:r>
              <a:rPr lang="zh-CN" altLang="en-CN" sz="1600" b="0" dirty="0"/>
              <a:t>段</a:t>
            </a:r>
            <a:r>
              <a:rPr lang="zh-CN" altLang="en-US" sz="1600" b="0" dirty="0"/>
              <a:t>信息表</a:t>
            </a:r>
            <a:endParaRPr lang="en-US" altLang="zh-CN" sz="1600" b="0" dirty="0"/>
          </a:p>
          <a:p>
            <a:pPr lvl="1"/>
            <a:r>
              <a:rPr lang="en-US" altLang="zh-CN" sz="1600" dirty="0"/>
              <a:t>NAT</a:t>
            </a:r>
            <a:r>
              <a:rPr lang="zh-CN" altLang="en-US" sz="1600" dirty="0"/>
              <a:t>：</a:t>
            </a:r>
            <a:r>
              <a:rPr lang="en-US" altLang="zh-CN" sz="1600" dirty="0"/>
              <a:t>node</a:t>
            </a:r>
            <a:r>
              <a:rPr lang="zh-CN" altLang="en-US" sz="1600" dirty="0"/>
              <a:t>地址转换表</a:t>
            </a:r>
            <a:endParaRPr lang="en-US" altLang="zh-CN" sz="1600" dirty="0"/>
          </a:p>
          <a:p>
            <a:pPr lvl="1"/>
            <a:r>
              <a:rPr lang="en-US" altLang="zh-CN" sz="1600" b="0" dirty="0"/>
              <a:t>SSA</a:t>
            </a:r>
            <a:r>
              <a:rPr lang="zh-CN" altLang="en-US" sz="1600" b="0" dirty="0"/>
              <a:t>：</a:t>
            </a:r>
            <a:r>
              <a:rPr lang="zh-CN" altLang="en-CN" sz="1600" b="0" dirty="0"/>
              <a:t>段</a:t>
            </a:r>
            <a:r>
              <a:rPr lang="zh-CN" altLang="en-US" sz="1600" b="0" dirty="0"/>
              <a:t>概要区域</a:t>
            </a:r>
            <a:endParaRPr lang="en-US" altLang="zh-CN" sz="1600" b="0" dirty="0"/>
          </a:p>
        </p:txBody>
      </p:sp>
      <p:sp>
        <p:nvSpPr>
          <p:cNvPr id="9" name="Content Placeholder 6">
            <a:extLst>
              <a:ext uri="{FF2B5EF4-FFF2-40B4-BE49-F238E27FC236}">
                <a16:creationId xmlns:a16="http://schemas.microsoft.com/office/drawing/2014/main" id="{57B393A8-C9BC-4A48-9239-5331A23CB0A6}"/>
              </a:ext>
            </a:extLst>
          </p:cNvPr>
          <p:cNvSpPr txBox="1">
            <a:spLocks/>
          </p:cNvSpPr>
          <p:nvPr/>
        </p:nvSpPr>
        <p:spPr>
          <a:xfrm>
            <a:off x="4427984" y="1333501"/>
            <a:ext cx="3970784"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CN" sz="2000" b="0" dirty="0"/>
              <a:t>数据</a:t>
            </a:r>
            <a:r>
              <a:rPr lang="zh-CN" altLang="en-US" sz="2000" b="0" dirty="0"/>
              <a:t>区（</a:t>
            </a:r>
            <a:r>
              <a:rPr lang="zh-CN" altLang="en-CN" sz="2000" b="0" dirty="0"/>
              <a:t>多</a:t>
            </a:r>
            <a:r>
              <a:rPr lang="en-US" altLang="zh-CN" sz="2000" b="0" dirty="0"/>
              <a:t>Log</a:t>
            </a:r>
            <a:r>
              <a:rPr lang="zh-CN" altLang="en-US" sz="2000" b="0" dirty="0"/>
              <a:t>顺序写入）</a:t>
            </a:r>
            <a:endParaRPr lang="en-US" altLang="zh-CN" sz="2000" b="0" dirty="0"/>
          </a:p>
          <a:p>
            <a:pPr lvl="1"/>
            <a:r>
              <a:rPr lang="zh-CN" altLang="en-US" sz="1600" b="0" dirty="0"/>
              <a:t>区分冷</a:t>
            </a:r>
            <a:r>
              <a:rPr lang="en-US" altLang="zh-CN" sz="1600" b="0" dirty="0"/>
              <a:t>/</a:t>
            </a:r>
            <a:r>
              <a:rPr lang="zh-CN" altLang="en-US" sz="1600" b="0" dirty="0"/>
              <a:t>温</a:t>
            </a:r>
            <a:r>
              <a:rPr lang="en-US" altLang="zh-CN" sz="1600" b="0" dirty="0"/>
              <a:t>/</a:t>
            </a:r>
            <a:r>
              <a:rPr lang="zh-CN" altLang="en-US" sz="1600" b="0" dirty="0"/>
              <a:t>热数据</a:t>
            </a:r>
            <a:endParaRPr lang="en-US" altLang="zh-CN" sz="1600" b="0" dirty="0"/>
          </a:p>
          <a:p>
            <a:pPr lvl="1"/>
            <a:r>
              <a:rPr lang="zh-CN" altLang="en-US" sz="1600" dirty="0"/>
              <a:t>区分文件数据（</a:t>
            </a:r>
            <a:r>
              <a:rPr lang="en-US" altLang="zh-CN" sz="1600" dirty="0"/>
              <a:t>data</a:t>
            </a:r>
            <a:r>
              <a:rPr lang="zh-CN" altLang="en-US" sz="1600" dirty="0"/>
              <a:t> </a:t>
            </a:r>
            <a:r>
              <a:rPr lang="en-US" altLang="zh-CN" sz="1600" dirty="0"/>
              <a:t>segment</a:t>
            </a:r>
            <a:r>
              <a:rPr lang="zh-CN" altLang="en-US" sz="1600" dirty="0"/>
              <a:t>）与元数据（</a:t>
            </a:r>
            <a:r>
              <a:rPr lang="en-US" altLang="zh-CN" sz="1600" dirty="0"/>
              <a:t>node</a:t>
            </a:r>
            <a:r>
              <a:rPr lang="zh-CN" altLang="en-US" sz="1600" dirty="0"/>
              <a:t> </a:t>
            </a:r>
            <a:r>
              <a:rPr lang="en-US" altLang="zh-CN" sz="1600" dirty="0"/>
              <a:t>segment</a:t>
            </a:r>
            <a:r>
              <a:rPr lang="zh-CN" altLang="en-US" sz="1600" dirty="0"/>
              <a:t>）</a:t>
            </a:r>
            <a:endParaRPr lang="en-US" altLang="zh-CN" sz="1600" b="0" dirty="0"/>
          </a:p>
        </p:txBody>
      </p:sp>
    </p:spTree>
    <p:extLst>
      <p:ext uri="{BB962C8B-B14F-4D97-AF65-F5344CB8AC3E}">
        <p14:creationId xmlns:p14="http://schemas.microsoft.com/office/powerpoint/2010/main" val="37685405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EA9B4-9910-4147-A957-DB8133B3D185}"/>
              </a:ext>
            </a:extLst>
          </p:cNvPr>
          <p:cNvSpPr>
            <a:spLocks noGrp="1"/>
          </p:cNvSpPr>
          <p:nvPr>
            <p:ph type="title"/>
          </p:nvPr>
        </p:nvSpPr>
        <p:spPr/>
        <p:txBody>
          <a:bodyPr/>
          <a:lstStyle/>
          <a:p>
            <a:r>
              <a:rPr lang="zh-CN" altLang="en-CN" dirty="0"/>
              <a:t>多</a:t>
            </a:r>
            <a:r>
              <a:rPr lang="en-US" altLang="zh-CN" dirty="0"/>
              <a:t>Log</a:t>
            </a:r>
            <a:r>
              <a:rPr lang="zh-CN" altLang="en-US" dirty="0"/>
              <a:t>写入</a:t>
            </a:r>
            <a:endParaRPr lang="en-CN" dirty="0"/>
          </a:p>
        </p:txBody>
      </p:sp>
      <p:sp>
        <p:nvSpPr>
          <p:cNvPr id="3" name="Content Placeholder 2">
            <a:extLst>
              <a:ext uri="{FF2B5EF4-FFF2-40B4-BE49-F238E27FC236}">
                <a16:creationId xmlns:a16="http://schemas.microsoft.com/office/drawing/2014/main" id="{38CAAC3E-267A-1A41-A8A2-914C2EACFC3C}"/>
              </a:ext>
            </a:extLst>
          </p:cNvPr>
          <p:cNvSpPr>
            <a:spLocks noGrp="1"/>
          </p:cNvSpPr>
          <p:nvPr>
            <p:ph idx="1"/>
          </p:nvPr>
        </p:nvSpPr>
        <p:spPr/>
        <p:txBody>
          <a:bodyPr/>
          <a:lstStyle/>
          <a:p>
            <a:r>
              <a:rPr lang="zh-CN" altLang="en-US" sz="2000" b="0" dirty="0"/>
              <a:t>按热度将结构分类</a:t>
            </a:r>
            <a:endParaRPr lang="en-US" altLang="zh-CN" sz="2000" b="0" dirty="0"/>
          </a:p>
          <a:p>
            <a:pPr lvl="1"/>
            <a:r>
              <a:rPr lang="zh-CN" altLang="en-US" sz="1800" dirty="0"/>
              <a:t>每个类型和热度对应一个</a:t>
            </a:r>
            <a:r>
              <a:rPr lang="en-US" altLang="zh-CN" sz="1800" dirty="0"/>
              <a:t>log</a:t>
            </a:r>
            <a:endParaRPr lang="en-US" altLang="zh-CN" sz="2400" b="0" dirty="0"/>
          </a:p>
          <a:p>
            <a:pPr lvl="1"/>
            <a:r>
              <a:rPr lang="zh-CN" altLang="en-US" sz="1800" b="0" dirty="0"/>
              <a:t>默认打开</a:t>
            </a:r>
            <a:r>
              <a:rPr lang="en-US" altLang="zh-CN" sz="1800" b="0" dirty="0"/>
              <a:t>6</a:t>
            </a:r>
            <a:r>
              <a:rPr lang="zh-CN" altLang="en-US" sz="1800" b="0" dirty="0"/>
              <a:t>个</a:t>
            </a:r>
            <a:r>
              <a:rPr lang="en-US" altLang="zh-CN" sz="1800" b="0" dirty="0"/>
              <a:t>log</a:t>
            </a:r>
          </a:p>
          <a:p>
            <a:pPr lvl="1"/>
            <a:r>
              <a:rPr lang="zh-CN" altLang="en-US" sz="1800" b="0" dirty="0"/>
              <a:t>用户可进一步配置</a:t>
            </a:r>
            <a:endParaRPr lang="en-US" altLang="zh-CN" sz="1800" dirty="0"/>
          </a:p>
          <a:p>
            <a:pPr lvl="1"/>
            <a:endParaRPr lang="en-US" altLang="zh-CN" sz="2000" b="0" dirty="0"/>
          </a:p>
          <a:p>
            <a:r>
              <a:rPr lang="zh-CN" altLang="en-US" sz="2000" b="0" dirty="0"/>
              <a:t>根据硬件信息可以进一步调整</a:t>
            </a:r>
            <a:endParaRPr lang="en-US" altLang="zh-CN" sz="2000" b="0" dirty="0"/>
          </a:p>
          <a:p>
            <a:pPr lvl="1"/>
            <a:r>
              <a:rPr lang="zh-CN" altLang="en-US" sz="1800" dirty="0"/>
              <a:t>调整</a:t>
            </a:r>
            <a:r>
              <a:rPr lang="en-US" altLang="zh-CN" sz="1800" dirty="0"/>
              <a:t>zone</a:t>
            </a:r>
            <a:r>
              <a:rPr lang="zh-CN" altLang="en-US" sz="1800" dirty="0"/>
              <a:t>、</a:t>
            </a:r>
            <a:r>
              <a:rPr lang="en-US" altLang="zh-CN" sz="1800" dirty="0"/>
              <a:t>section</a:t>
            </a:r>
            <a:r>
              <a:rPr lang="zh-CN" altLang="en-US" sz="1800" dirty="0"/>
              <a:t>大小</a:t>
            </a:r>
            <a:endParaRPr lang="en-US" altLang="zh-CN" sz="1800" dirty="0"/>
          </a:p>
          <a:p>
            <a:pPr lvl="1"/>
            <a:r>
              <a:rPr lang="zh-CN" altLang="en-US" sz="1800" dirty="0"/>
              <a:t>与硬件</a:t>
            </a:r>
            <a:r>
              <a:rPr lang="en-US" altLang="zh-CN" sz="1800" dirty="0"/>
              <a:t>GC</a:t>
            </a:r>
            <a:r>
              <a:rPr lang="zh-CN" altLang="en-US" sz="1800" dirty="0"/>
              <a:t>单元对齐等</a:t>
            </a:r>
            <a:endParaRPr lang="en-US" altLang="zh-CN" sz="1800" dirty="0"/>
          </a:p>
          <a:p>
            <a:endParaRPr lang="en-CN" dirty="0"/>
          </a:p>
        </p:txBody>
      </p:sp>
      <p:sp>
        <p:nvSpPr>
          <p:cNvPr id="4" name="Slide Number Placeholder 3">
            <a:extLst>
              <a:ext uri="{FF2B5EF4-FFF2-40B4-BE49-F238E27FC236}">
                <a16:creationId xmlns:a16="http://schemas.microsoft.com/office/drawing/2014/main" id="{FF261254-CC08-874D-A094-E24458F2FD35}"/>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sp>
        <p:nvSpPr>
          <p:cNvPr id="5" name="Footer Placeholder 4">
            <a:extLst>
              <a:ext uri="{FF2B5EF4-FFF2-40B4-BE49-F238E27FC236}">
                <a16:creationId xmlns:a16="http://schemas.microsoft.com/office/drawing/2014/main" id="{5C134204-EDDC-1D47-9BD1-1FF0C95F4E7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aphicFrame>
        <p:nvGraphicFramePr>
          <p:cNvPr id="7" name="Table 8">
            <a:extLst>
              <a:ext uri="{FF2B5EF4-FFF2-40B4-BE49-F238E27FC236}">
                <a16:creationId xmlns:a16="http://schemas.microsoft.com/office/drawing/2014/main" id="{379EB4DF-48B9-054A-BC13-614392CAD327}"/>
              </a:ext>
            </a:extLst>
          </p:cNvPr>
          <p:cNvGraphicFramePr>
            <a:graphicFrameLocks noGrp="1"/>
          </p:cNvGraphicFramePr>
          <p:nvPr>
            <p:extLst>
              <p:ext uri="{D42A27DB-BD31-4B8C-83A1-F6EECF244321}">
                <p14:modId xmlns:p14="http://schemas.microsoft.com/office/powerpoint/2010/main" val="2557759619"/>
              </p:ext>
            </p:extLst>
          </p:nvPr>
        </p:nvGraphicFramePr>
        <p:xfrm>
          <a:off x="4876112" y="1501012"/>
          <a:ext cx="3816423" cy="2880487"/>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1850696597"/>
                    </a:ext>
                  </a:extLst>
                </a:gridCol>
                <a:gridCol w="576064">
                  <a:extLst>
                    <a:ext uri="{9D8B030D-6E8A-4147-A177-3AD203B41FA5}">
                      <a16:colId xmlns:a16="http://schemas.microsoft.com/office/drawing/2014/main" val="2140483703"/>
                    </a:ext>
                  </a:extLst>
                </a:gridCol>
                <a:gridCol w="2592287">
                  <a:extLst>
                    <a:ext uri="{9D8B030D-6E8A-4147-A177-3AD203B41FA5}">
                      <a16:colId xmlns:a16="http://schemas.microsoft.com/office/drawing/2014/main" val="1215168657"/>
                    </a:ext>
                  </a:extLst>
                </a:gridCol>
              </a:tblGrid>
              <a:tr h="206230">
                <a:tc>
                  <a:txBody>
                    <a:bodyPr/>
                    <a:lstStyle/>
                    <a:p>
                      <a:pPr>
                        <a:lnSpc>
                          <a:spcPct val="150000"/>
                        </a:lnSpc>
                      </a:pPr>
                      <a:r>
                        <a:rPr lang="zh-CN" altLang="en-CN" sz="1200" dirty="0"/>
                        <a:t>类型</a:t>
                      </a:r>
                      <a:endParaRPr lang="en-CN" sz="1200" dirty="0"/>
                    </a:p>
                  </a:txBody>
                  <a:tcPr anchor="ctr"/>
                </a:tc>
                <a:tc>
                  <a:txBody>
                    <a:bodyPr/>
                    <a:lstStyle/>
                    <a:p>
                      <a:pPr>
                        <a:lnSpc>
                          <a:spcPct val="150000"/>
                        </a:lnSpc>
                      </a:pPr>
                      <a:r>
                        <a:rPr lang="zh-CN" altLang="en-CN" sz="1200" dirty="0"/>
                        <a:t>热度</a:t>
                      </a:r>
                      <a:endParaRPr lang="en-CN" sz="1200" dirty="0"/>
                    </a:p>
                  </a:txBody>
                  <a:tcPr anchor="ctr"/>
                </a:tc>
                <a:tc>
                  <a:txBody>
                    <a:bodyPr/>
                    <a:lstStyle/>
                    <a:p>
                      <a:pPr>
                        <a:lnSpc>
                          <a:spcPct val="150000"/>
                        </a:lnSpc>
                      </a:pPr>
                      <a:r>
                        <a:rPr lang="zh-CN" altLang="en-CN" sz="1200" dirty="0"/>
                        <a:t>对象</a:t>
                      </a:r>
                      <a:endParaRPr lang="en-CN" sz="1200" dirty="0"/>
                    </a:p>
                  </a:txBody>
                  <a:tcPr anchor="ctr"/>
                </a:tc>
                <a:extLst>
                  <a:ext uri="{0D108BD9-81ED-4DB2-BD59-A6C34878D82A}">
                    <a16:rowId xmlns:a16="http://schemas.microsoft.com/office/drawing/2014/main" val="2121780958"/>
                  </a:ext>
                </a:extLst>
              </a:tr>
              <a:tr h="206230">
                <a:tc rowSpan="3">
                  <a:txBody>
                    <a:bodyPr/>
                    <a:lstStyle/>
                    <a:p>
                      <a:pPr>
                        <a:lnSpc>
                          <a:spcPct val="150000"/>
                        </a:lnSpc>
                      </a:pPr>
                      <a:r>
                        <a:rPr lang="en-CN" sz="1200" dirty="0"/>
                        <a:t>Node</a:t>
                      </a:r>
                    </a:p>
                  </a:txBody>
                  <a:tcPr anchor="ctr"/>
                </a:tc>
                <a:tc>
                  <a:txBody>
                    <a:bodyPr/>
                    <a:lstStyle/>
                    <a:p>
                      <a:pPr>
                        <a:lnSpc>
                          <a:spcPct val="150000"/>
                        </a:lnSpc>
                      </a:pPr>
                      <a:r>
                        <a:rPr lang="zh-CN" altLang="en-CN" sz="1200" dirty="0"/>
                        <a:t>热</a:t>
                      </a:r>
                      <a:endParaRPr lang="en-CN" sz="1200" dirty="0"/>
                    </a:p>
                  </a:txBody>
                  <a:tcPr anchor="ctr"/>
                </a:tc>
                <a:tc>
                  <a:txBody>
                    <a:bodyPr/>
                    <a:lstStyle/>
                    <a:p>
                      <a:pPr>
                        <a:lnSpc>
                          <a:spcPct val="150000"/>
                        </a:lnSpc>
                      </a:pPr>
                      <a:r>
                        <a:rPr lang="zh-CN" altLang="en-US" sz="1200" dirty="0"/>
                        <a:t>目录的</a:t>
                      </a:r>
                      <a:r>
                        <a:rPr lang="zh-CN" altLang="en-CN" sz="1200" dirty="0"/>
                        <a:t>直接</a:t>
                      </a:r>
                      <a:r>
                        <a:rPr lang="en-US" altLang="zh-CN" sz="1200" dirty="0"/>
                        <a:t>node</a:t>
                      </a:r>
                      <a:r>
                        <a:rPr lang="zh-CN" altLang="en-US" sz="1200" dirty="0"/>
                        <a:t>块（包括</a:t>
                      </a:r>
                      <a:r>
                        <a:rPr lang="en-US" altLang="zh-CN" sz="1200" dirty="0" err="1"/>
                        <a:t>inode</a:t>
                      </a:r>
                      <a:r>
                        <a:rPr lang="zh-CN" altLang="en-US" sz="1200" dirty="0"/>
                        <a:t>块）</a:t>
                      </a:r>
                      <a:endParaRPr lang="en-CN" sz="1200" dirty="0"/>
                    </a:p>
                  </a:txBody>
                  <a:tcPr anchor="ctr"/>
                </a:tc>
                <a:extLst>
                  <a:ext uri="{0D108BD9-81ED-4DB2-BD59-A6C34878D82A}">
                    <a16:rowId xmlns:a16="http://schemas.microsoft.com/office/drawing/2014/main" val="1518361571"/>
                  </a:ext>
                </a:extLst>
              </a:tr>
              <a:tr h="206230">
                <a:tc vMerge="1">
                  <a:txBody>
                    <a:bodyPr/>
                    <a:lstStyle/>
                    <a:p>
                      <a:endParaRPr lang="en-CN" dirty="0"/>
                    </a:p>
                  </a:txBody>
                  <a:tcPr/>
                </a:tc>
                <a:tc>
                  <a:txBody>
                    <a:bodyPr/>
                    <a:lstStyle/>
                    <a:p>
                      <a:pPr>
                        <a:lnSpc>
                          <a:spcPct val="150000"/>
                        </a:lnSpc>
                      </a:pPr>
                      <a:r>
                        <a:rPr lang="zh-CN" altLang="en-CN" sz="1200" dirty="0"/>
                        <a:t>温</a:t>
                      </a:r>
                      <a:endParaRPr lang="en-CN" sz="1200" dirty="0"/>
                    </a:p>
                  </a:txBody>
                  <a:tcPr anchor="ctr"/>
                </a:tc>
                <a:tc>
                  <a:txBody>
                    <a:bodyPr/>
                    <a:lstStyle/>
                    <a:p>
                      <a:pPr>
                        <a:lnSpc>
                          <a:spcPct val="150000"/>
                        </a:lnSpc>
                      </a:pPr>
                      <a:r>
                        <a:rPr lang="zh-CN" altLang="en-CN" sz="1200" dirty="0"/>
                        <a:t>常规</a:t>
                      </a:r>
                      <a:r>
                        <a:rPr lang="zh-CN" altLang="en-US" sz="1200" dirty="0"/>
                        <a:t>文件的间接</a:t>
                      </a:r>
                      <a:r>
                        <a:rPr lang="en-US" altLang="zh-CN" sz="1200" dirty="0"/>
                        <a:t>node</a:t>
                      </a:r>
                      <a:r>
                        <a:rPr lang="zh-CN" altLang="en-US" sz="1200" dirty="0"/>
                        <a:t>块</a:t>
                      </a:r>
                      <a:endParaRPr lang="en-CN" sz="1200" dirty="0"/>
                    </a:p>
                  </a:txBody>
                  <a:tcPr anchor="ctr"/>
                </a:tc>
                <a:extLst>
                  <a:ext uri="{0D108BD9-81ED-4DB2-BD59-A6C34878D82A}">
                    <a16:rowId xmlns:a16="http://schemas.microsoft.com/office/drawing/2014/main" val="3129471318"/>
                  </a:ext>
                </a:extLst>
              </a:tr>
              <a:tr h="206230">
                <a:tc vMerge="1">
                  <a:txBody>
                    <a:bodyPr/>
                    <a:lstStyle/>
                    <a:p>
                      <a:endParaRPr lang="en-CN" dirty="0"/>
                    </a:p>
                  </a:txBody>
                  <a:tcPr/>
                </a:tc>
                <a:tc>
                  <a:txBody>
                    <a:bodyPr/>
                    <a:lstStyle/>
                    <a:p>
                      <a:pPr>
                        <a:lnSpc>
                          <a:spcPct val="150000"/>
                        </a:lnSpc>
                      </a:pPr>
                      <a:r>
                        <a:rPr lang="zh-CN" altLang="en-CN" sz="1200" dirty="0"/>
                        <a:t>冷</a:t>
                      </a:r>
                      <a:endParaRPr lang="en-CN" sz="1200" dirty="0"/>
                    </a:p>
                  </a:txBody>
                  <a:tcPr anchor="ctr"/>
                </a:tc>
                <a:tc>
                  <a:txBody>
                    <a:bodyPr/>
                    <a:lstStyle/>
                    <a:p>
                      <a:pPr>
                        <a:lnSpc>
                          <a:spcPct val="150000"/>
                        </a:lnSpc>
                      </a:pPr>
                      <a:r>
                        <a:rPr lang="zh-CN" altLang="en-US" sz="1200" dirty="0"/>
                        <a:t>间接</a:t>
                      </a:r>
                      <a:r>
                        <a:rPr lang="en-US" altLang="zh-CN" sz="1200" dirty="0"/>
                        <a:t>node</a:t>
                      </a:r>
                      <a:r>
                        <a:rPr lang="zh-CN" altLang="en-US" sz="1200" dirty="0"/>
                        <a:t>块</a:t>
                      </a:r>
                      <a:endParaRPr lang="en-CN" sz="1200" dirty="0"/>
                    </a:p>
                  </a:txBody>
                  <a:tcPr anchor="ctr"/>
                </a:tc>
                <a:extLst>
                  <a:ext uri="{0D108BD9-81ED-4DB2-BD59-A6C34878D82A}">
                    <a16:rowId xmlns:a16="http://schemas.microsoft.com/office/drawing/2014/main" val="3692637409"/>
                  </a:ext>
                </a:extLst>
              </a:tr>
              <a:tr h="206230">
                <a:tc rowSpan="3">
                  <a:txBody>
                    <a:bodyPr/>
                    <a:lstStyle/>
                    <a:p>
                      <a:pPr>
                        <a:lnSpc>
                          <a:spcPct val="150000"/>
                        </a:lnSpc>
                      </a:pPr>
                      <a:r>
                        <a:rPr lang="en-CN" sz="1200" dirty="0"/>
                        <a:t>Data</a:t>
                      </a:r>
                    </a:p>
                  </a:txBody>
                  <a:tcPr anchor="ctr"/>
                </a:tc>
                <a:tc>
                  <a:txBody>
                    <a:bodyPr/>
                    <a:lstStyle/>
                    <a:p>
                      <a:pPr>
                        <a:lnSpc>
                          <a:spcPct val="150000"/>
                        </a:lnSpc>
                      </a:pPr>
                      <a:r>
                        <a:rPr lang="zh-CN" altLang="en-CN" sz="1200" dirty="0"/>
                        <a:t>热</a:t>
                      </a:r>
                      <a:endParaRPr lang="en-CN" sz="1200" dirty="0"/>
                    </a:p>
                  </a:txBody>
                  <a:tcPr anchor="ctr"/>
                </a:tc>
                <a:tc>
                  <a:txBody>
                    <a:bodyPr/>
                    <a:lstStyle/>
                    <a:p>
                      <a:pPr>
                        <a:lnSpc>
                          <a:spcPct val="150000"/>
                        </a:lnSpc>
                      </a:pPr>
                      <a:r>
                        <a:rPr lang="zh-CN" altLang="en-CN" sz="1200" dirty="0"/>
                        <a:t>存放</a:t>
                      </a:r>
                      <a:r>
                        <a:rPr lang="zh-CN" altLang="en-US" sz="1200" dirty="0"/>
                        <a:t>目录项的数据块</a:t>
                      </a:r>
                      <a:endParaRPr lang="en-CN" sz="1200" dirty="0"/>
                    </a:p>
                  </a:txBody>
                  <a:tcPr anchor="ctr"/>
                </a:tc>
                <a:extLst>
                  <a:ext uri="{0D108BD9-81ED-4DB2-BD59-A6C34878D82A}">
                    <a16:rowId xmlns:a16="http://schemas.microsoft.com/office/drawing/2014/main" val="306887242"/>
                  </a:ext>
                </a:extLst>
              </a:tr>
              <a:tr h="206230">
                <a:tc vMerge="1">
                  <a:txBody>
                    <a:bodyPr/>
                    <a:lstStyle/>
                    <a:p>
                      <a:endParaRPr lang="en-CN"/>
                    </a:p>
                  </a:txBody>
                  <a:tcPr/>
                </a:tc>
                <a:tc>
                  <a:txBody>
                    <a:bodyPr/>
                    <a:lstStyle/>
                    <a:p>
                      <a:pPr>
                        <a:lnSpc>
                          <a:spcPct val="150000"/>
                        </a:lnSpc>
                      </a:pPr>
                      <a:r>
                        <a:rPr lang="zh-CN" altLang="en-CN" sz="1200" dirty="0"/>
                        <a:t>温</a:t>
                      </a:r>
                      <a:endParaRPr lang="en-CN" sz="1200" dirty="0"/>
                    </a:p>
                  </a:txBody>
                  <a:tcPr anchor="ctr"/>
                </a:tc>
                <a:tc>
                  <a:txBody>
                    <a:bodyPr/>
                    <a:lstStyle/>
                    <a:p>
                      <a:pPr>
                        <a:lnSpc>
                          <a:spcPct val="150000"/>
                        </a:lnSpc>
                      </a:pPr>
                      <a:r>
                        <a:rPr lang="zh-CN" altLang="en-US" sz="1200" dirty="0"/>
                        <a:t>常规文件的数据块</a:t>
                      </a:r>
                      <a:endParaRPr lang="en-CN" sz="1200" dirty="0"/>
                    </a:p>
                  </a:txBody>
                  <a:tcPr anchor="ctr"/>
                </a:tc>
                <a:extLst>
                  <a:ext uri="{0D108BD9-81ED-4DB2-BD59-A6C34878D82A}">
                    <a16:rowId xmlns:a16="http://schemas.microsoft.com/office/drawing/2014/main" val="1535500137"/>
                  </a:ext>
                </a:extLst>
              </a:tr>
              <a:tr h="506201">
                <a:tc vMerge="1">
                  <a:txBody>
                    <a:bodyPr/>
                    <a:lstStyle/>
                    <a:p>
                      <a:endParaRPr lang="en-CN" dirty="0"/>
                    </a:p>
                  </a:txBody>
                  <a:tcPr/>
                </a:tc>
                <a:tc>
                  <a:txBody>
                    <a:bodyPr/>
                    <a:lstStyle/>
                    <a:p>
                      <a:pPr>
                        <a:lnSpc>
                          <a:spcPct val="150000"/>
                        </a:lnSpc>
                      </a:pPr>
                      <a:r>
                        <a:rPr lang="zh-CN" altLang="en-CN" sz="1200" dirty="0"/>
                        <a:t>冷</a:t>
                      </a:r>
                      <a:endParaRPr lang="en-CN" sz="1200" dirty="0"/>
                    </a:p>
                  </a:txBody>
                  <a:tcPr anchor="ctr"/>
                </a:tc>
                <a:tc>
                  <a:txBody>
                    <a:bodyPr/>
                    <a:lstStyle/>
                    <a:p>
                      <a:pPr>
                        <a:lnSpc>
                          <a:spcPct val="150000"/>
                        </a:lnSpc>
                      </a:pPr>
                      <a:r>
                        <a:rPr lang="zh-CN" altLang="en-US" sz="1200" dirty="0"/>
                        <a:t>被清理过程移动的数据块</a:t>
                      </a:r>
                      <a:endParaRPr lang="en-US" altLang="zh-CN" sz="1200" dirty="0"/>
                    </a:p>
                    <a:p>
                      <a:pPr>
                        <a:lnSpc>
                          <a:spcPct val="150000"/>
                        </a:lnSpc>
                      </a:pPr>
                      <a:r>
                        <a:rPr lang="zh-CN" altLang="en-US" sz="1200" dirty="0"/>
                        <a:t>用户指定的冷数据块</a:t>
                      </a:r>
                      <a:endParaRPr lang="en-US" altLang="zh-CN" sz="1200" dirty="0"/>
                    </a:p>
                    <a:p>
                      <a:pPr>
                        <a:lnSpc>
                          <a:spcPct val="150000"/>
                        </a:lnSpc>
                      </a:pPr>
                      <a:r>
                        <a:rPr lang="zh-CN" altLang="en-US" sz="1200" dirty="0"/>
                        <a:t>多媒体文件的数据块</a:t>
                      </a:r>
                      <a:endParaRPr lang="en-CN" sz="1200" dirty="0"/>
                    </a:p>
                  </a:txBody>
                  <a:tcPr anchor="ctr"/>
                </a:tc>
                <a:extLst>
                  <a:ext uri="{0D108BD9-81ED-4DB2-BD59-A6C34878D82A}">
                    <a16:rowId xmlns:a16="http://schemas.microsoft.com/office/drawing/2014/main" val="3325132938"/>
                  </a:ext>
                </a:extLst>
              </a:tr>
            </a:tbl>
          </a:graphicData>
        </a:graphic>
      </p:graphicFrame>
    </p:spTree>
    <p:extLst>
      <p:ext uri="{BB962C8B-B14F-4D97-AF65-F5344CB8AC3E}">
        <p14:creationId xmlns:p14="http://schemas.microsoft.com/office/powerpoint/2010/main" val="1791845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EA9B4-9910-4147-A957-DB8133B3D185}"/>
              </a:ext>
            </a:extLst>
          </p:cNvPr>
          <p:cNvSpPr>
            <a:spLocks noGrp="1"/>
          </p:cNvSpPr>
          <p:nvPr>
            <p:ph type="title"/>
          </p:nvPr>
        </p:nvSpPr>
        <p:spPr/>
        <p:txBody>
          <a:bodyPr/>
          <a:lstStyle/>
          <a:p>
            <a:r>
              <a:rPr lang="zh-CN" altLang="en-CN" dirty="0"/>
              <a:t>清理</a:t>
            </a:r>
            <a:r>
              <a:rPr lang="zh-CN" altLang="en-US" dirty="0"/>
              <a:t>（</a:t>
            </a:r>
            <a:r>
              <a:rPr lang="en-US" altLang="zh-CN" dirty="0"/>
              <a:t>Cleaning</a:t>
            </a:r>
            <a:r>
              <a:rPr lang="zh-CN" altLang="en-US" dirty="0"/>
              <a:t>）</a:t>
            </a:r>
            <a:endParaRPr lang="en-CN" dirty="0"/>
          </a:p>
        </p:txBody>
      </p:sp>
      <p:sp>
        <p:nvSpPr>
          <p:cNvPr id="3" name="Content Placeholder 2">
            <a:extLst>
              <a:ext uri="{FF2B5EF4-FFF2-40B4-BE49-F238E27FC236}">
                <a16:creationId xmlns:a16="http://schemas.microsoft.com/office/drawing/2014/main" id="{38CAAC3E-267A-1A41-A8A2-914C2EACFC3C}"/>
              </a:ext>
            </a:extLst>
          </p:cNvPr>
          <p:cNvSpPr>
            <a:spLocks noGrp="1"/>
          </p:cNvSpPr>
          <p:nvPr>
            <p:ph idx="1"/>
          </p:nvPr>
        </p:nvSpPr>
        <p:spPr/>
        <p:txBody>
          <a:bodyPr>
            <a:normAutofit/>
          </a:bodyPr>
          <a:lstStyle/>
          <a:p>
            <a:r>
              <a:rPr lang="zh-CN" altLang="en-CN" sz="2000" b="0" dirty="0"/>
              <a:t>以</a:t>
            </a:r>
            <a:r>
              <a:rPr lang="en-US" altLang="zh-CN" sz="2000" b="0" dirty="0"/>
              <a:t>section</a:t>
            </a:r>
            <a:r>
              <a:rPr lang="zh-CN" altLang="en-US" sz="2000" b="0" dirty="0"/>
              <a:t>为粒度</a:t>
            </a:r>
            <a:endParaRPr lang="en-US" altLang="zh-CN" sz="2000" b="0" dirty="0"/>
          </a:p>
          <a:p>
            <a:pPr lvl="1"/>
            <a:r>
              <a:rPr lang="zh-CN" altLang="en-US" sz="1800" dirty="0"/>
              <a:t>与硬件</a:t>
            </a:r>
            <a:r>
              <a:rPr lang="en-US" altLang="zh-CN" sz="1800" dirty="0"/>
              <a:t>FTL</a:t>
            </a:r>
            <a:r>
              <a:rPr lang="zh-CN" altLang="en-US" sz="1800" dirty="0"/>
              <a:t>的</a:t>
            </a:r>
            <a:r>
              <a:rPr lang="en-US" altLang="zh-CN" sz="1800" dirty="0"/>
              <a:t>GC</a:t>
            </a:r>
            <a:r>
              <a:rPr lang="zh-CN" altLang="en-US" sz="1800" dirty="0"/>
              <a:t>单位是对齐的</a:t>
            </a:r>
            <a:endParaRPr lang="en-US" altLang="zh-CN" sz="1800" dirty="0"/>
          </a:p>
          <a:p>
            <a:endParaRPr lang="en-CN" sz="2000" b="0" dirty="0"/>
          </a:p>
        </p:txBody>
      </p:sp>
      <p:sp>
        <p:nvSpPr>
          <p:cNvPr id="4" name="Slide Number Placeholder 3">
            <a:extLst>
              <a:ext uri="{FF2B5EF4-FFF2-40B4-BE49-F238E27FC236}">
                <a16:creationId xmlns:a16="http://schemas.microsoft.com/office/drawing/2014/main" id="{FF261254-CC08-874D-A094-E24458F2FD35}"/>
              </a:ext>
            </a:extLst>
          </p:cNvPr>
          <p:cNvSpPr>
            <a:spLocks noGrp="1"/>
          </p:cNvSpPr>
          <p:nvPr>
            <p:ph type="sldNum" sz="quarter" idx="12"/>
          </p:nvPr>
        </p:nvSpPr>
        <p:spPr/>
        <p:txBody>
          <a:bodyPr/>
          <a:lstStyle/>
          <a:p>
            <a:fld id="{ADE361C3-C043-4A6E-BDCE-8DA1E7D90A3B}" type="slidenum">
              <a:rPr lang="zh-CN" altLang="en-US" smtClean="0"/>
              <a:t>56</a:t>
            </a:fld>
            <a:endParaRPr lang="zh-CN" altLang="en-US"/>
          </a:p>
        </p:txBody>
      </p:sp>
      <p:sp>
        <p:nvSpPr>
          <p:cNvPr id="5" name="Footer Placeholder 4">
            <a:extLst>
              <a:ext uri="{FF2B5EF4-FFF2-40B4-BE49-F238E27FC236}">
                <a16:creationId xmlns:a16="http://schemas.microsoft.com/office/drawing/2014/main" id="{5C134204-EDDC-1D47-9BD1-1FF0C95F4E7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E3125A00-49A4-2A43-81DA-959698190B72}"/>
              </a:ext>
            </a:extLst>
          </p:cNvPr>
          <p:cNvSpPr txBox="1"/>
          <p:nvPr/>
        </p:nvSpPr>
        <p:spPr>
          <a:xfrm>
            <a:off x="4283968" y="1103577"/>
            <a:ext cx="3990195" cy="400110"/>
          </a:xfrm>
          <a:prstGeom prst="rect">
            <a:avLst/>
          </a:prstGeom>
          <a:noFill/>
        </p:spPr>
        <p:txBody>
          <a:bodyPr wrap="none" rtlCol="0">
            <a:spAutoFit/>
          </a:bodyPr>
          <a:lstStyle/>
          <a:p>
            <a:r>
              <a:rPr lang="zh-CN" altLang="en-US" sz="2000" dirty="0">
                <a:solidFill>
                  <a:srgbClr val="C00000"/>
                </a:solidFill>
              </a:rPr>
              <a:t>回想一下：</a:t>
            </a:r>
            <a:r>
              <a:rPr lang="en-US" altLang="zh-CN" sz="2000" dirty="0">
                <a:solidFill>
                  <a:srgbClr val="C00000"/>
                </a:solidFill>
              </a:rPr>
              <a:t>LFS</a:t>
            </a:r>
            <a:r>
              <a:rPr lang="zh-CN" altLang="en-US" sz="2000" dirty="0">
                <a:solidFill>
                  <a:srgbClr val="C00000"/>
                </a:solidFill>
              </a:rPr>
              <a:t>为何要进行清理？</a:t>
            </a:r>
            <a:endParaRPr lang="en-CN" sz="2000" dirty="0">
              <a:solidFill>
                <a:srgbClr val="C00000"/>
              </a:solidFill>
            </a:endParaRPr>
          </a:p>
        </p:txBody>
      </p:sp>
    </p:spTree>
    <p:extLst>
      <p:ext uri="{BB962C8B-B14F-4D97-AF65-F5344CB8AC3E}">
        <p14:creationId xmlns:p14="http://schemas.microsoft.com/office/powerpoint/2010/main" val="35239052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EA9B4-9910-4147-A957-DB8133B3D185}"/>
              </a:ext>
            </a:extLst>
          </p:cNvPr>
          <p:cNvSpPr>
            <a:spLocks noGrp="1"/>
          </p:cNvSpPr>
          <p:nvPr>
            <p:ph type="title"/>
          </p:nvPr>
        </p:nvSpPr>
        <p:spPr/>
        <p:txBody>
          <a:bodyPr/>
          <a:lstStyle/>
          <a:p>
            <a:r>
              <a:rPr lang="zh-CN" altLang="en-CN" dirty="0"/>
              <a:t>清理</a:t>
            </a:r>
            <a:r>
              <a:rPr lang="zh-CN" altLang="en-US" dirty="0"/>
              <a:t>（</a:t>
            </a:r>
            <a:r>
              <a:rPr lang="en-US" altLang="zh-CN" dirty="0"/>
              <a:t>Cleaning</a:t>
            </a:r>
            <a:r>
              <a:rPr lang="zh-CN" altLang="en-US" dirty="0"/>
              <a:t>）</a:t>
            </a:r>
            <a:endParaRPr lang="en-CN" dirty="0"/>
          </a:p>
        </p:txBody>
      </p:sp>
      <p:sp>
        <p:nvSpPr>
          <p:cNvPr id="3" name="Content Placeholder 2">
            <a:extLst>
              <a:ext uri="{FF2B5EF4-FFF2-40B4-BE49-F238E27FC236}">
                <a16:creationId xmlns:a16="http://schemas.microsoft.com/office/drawing/2014/main" id="{38CAAC3E-267A-1A41-A8A2-914C2EACFC3C}"/>
              </a:ext>
            </a:extLst>
          </p:cNvPr>
          <p:cNvSpPr>
            <a:spLocks noGrp="1"/>
          </p:cNvSpPr>
          <p:nvPr>
            <p:ph idx="1"/>
          </p:nvPr>
        </p:nvSpPr>
        <p:spPr/>
        <p:txBody>
          <a:bodyPr>
            <a:normAutofit lnSpcReduction="10000"/>
          </a:bodyPr>
          <a:lstStyle/>
          <a:p>
            <a:r>
              <a:rPr lang="zh-CN" altLang="en-CN" sz="2000" b="0" dirty="0"/>
              <a:t>以</a:t>
            </a:r>
            <a:r>
              <a:rPr lang="en-US" altLang="zh-CN" sz="2000" b="0" dirty="0"/>
              <a:t>section</a:t>
            </a:r>
            <a:r>
              <a:rPr lang="zh-CN" altLang="en-US" sz="2000" b="0" dirty="0"/>
              <a:t>为粒度</a:t>
            </a:r>
            <a:endParaRPr lang="en-US" altLang="zh-CN" sz="2000" b="0" dirty="0"/>
          </a:p>
          <a:p>
            <a:pPr lvl="1"/>
            <a:r>
              <a:rPr lang="zh-CN" altLang="en-US" sz="1800" dirty="0"/>
              <a:t>与硬件</a:t>
            </a:r>
            <a:r>
              <a:rPr lang="en-US" altLang="zh-CN" sz="1800" dirty="0"/>
              <a:t>FTL</a:t>
            </a:r>
            <a:r>
              <a:rPr lang="zh-CN" altLang="en-US" sz="1800" dirty="0"/>
              <a:t>的</a:t>
            </a:r>
            <a:r>
              <a:rPr lang="en-US" altLang="zh-CN" sz="1800" dirty="0"/>
              <a:t>GC</a:t>
            </a:r>
            <a:r>
              <a:rPr lang="zh-CN" altLang="en-US" sz="1800" dirty="0"/>
              <a:t>单位是对齐的</a:t>
            </a:r>
            <a:endParaRPr lang="en-US" altLang="zh-CN" sz="1800" dirty="0"/>
          </a:p>
          <a:p>
            <a:r>
              <a:rPr lang="zh-CN" altLang="en-US" sz="2000" b="0" dirty="0"/>
              <a:t>过程（与</a:t>
            </a:r>
            <a:r>
              <a:rPr lang="en-US" altLang="zh-CN" sz="2000" b="0" dirty="0"/>
              <a:t>LFS</a:t>
            </a:r>
            <a:r>
              <a:rPr lang="zh-CN" altLang="en-US" sz="2000" b="0" dirty="0"/>
              <a:t>类似）</a:t>
            </a:r>
            <a:endParaRPr lang="en-US" altLang="zh-CN" sz="2000" b="0" dirty="0"/>
          </a:p>
          <a:p>
            <a:pPr marL="914400" lvl="1" indent="-457200">
              <a:buFont typeface="+mj-lt"/>
              <a:buAutoNum type="arabicPeriod"/>
            </a:pPr>
            <a:r>
              <a:rPr lang="zh-CN" altLang="en-US" sz="1800" dirty="0"/>
              <a:t>选择需要清理的</a:t>
            </a:r>
            <a:r>
              <a:rPr lang="en-US" altLang="zh-CN" sz="1800" dirty="0"/>
              <a:t>section</a:t>
            </a:r>
          </a:p>
          <a:p>
            <a:pPr lvl="2"/>
            <a:r>
              <a:rPr lang="en-US" altLang="zh-CN" sz="1600" dirty="0"/>
              <a:t>Greedy</a:t>
            </a:r>
            <a:r>
              <a:rPr lang="zh-CN" altLang="en-US" sz="1600" dirty="0"/>
              <a:t>：选择有效块最少的</a:t>
            </a:r>
            <a:r>
              <a:rPr lang="en-US" altLang="zh-CN" sz="1600" dirty="0"/>
              <a:t>section</a:t>
            </a:r>
          </a:p>
          <a:p>
            <a:pPr lvl="2"/>
            <a:r>
              <a:rPr lang="en-US" altLang="zh-CN" sz="1600" dirty="0"/>
              <a:t>Cost-effective</a:t>
            </a:r>
            <a:r>
              <a:rPr lang="zh-CN" altLang="en-US" sz="1600" dirty="0"/>
              <a:t>：同时考虑数据修改时间</a:t>
            </a:r>
            <a:endParaRPr lang="en-US" altLang="zh-CN" sz="1600" dirty="0"/>
          </a:p>
          <a:p>
            <a:pPr marL="914400" lvl="1" indent="-457200">
              <a:buFont typeface="+mj-lt"/>
              <a:buAutoNum type="arabicPeriod"/>
            </a:pPr>
            <a:r>
              <a:rPr lang="zh-CN" altLang="en-US" sz="1800" dirty="0"/>
              <a:t>识别有效数据</a:t>
            </a:r>
            <a:endParaRPr lang="en-US" altLang="zh-CN" sz="1800" dirty="0"/>
          </a:p>
          <a:p>
            <a:pPr marL="914400" lvl="1" indent="-457200">
              <a:buFont typeface="+mj-lt"/>
              <a:buAutoNum type="arabicPeriod"/>
            </a:pPr>
            <a:r>
              <a:rPr lang="zh-CN" altLang="en-US" sz="1800" dirty="0"/>
              <a:t>有效数据拷贝到干净</a:t>
            </a:r>
            <a:r>
              <a:rPr lang="en-US" altLang="zh-CN" sz="1800" dirty="0"/>
              <a:t>section</a:t>
            </a:r>
          </a:p>
          <a:p>
            <a:pPr marL="914400" lvl="1" indent="-457200">
              <a:buFont typeface="+mj-lt"/>
              <a:buAutoNum type="arabicPeriod"/>
            </a:pPr>
            <a:r>
              <a:rPr lang="zh-CN" altLang="en-US" sz="1800" dirty="0"/>
              <a:t>标记被清理的</a:t>
            </a:r>
            <a:r>
              <a:rPr lang="en-US" altLang="zh-CN" sz="1800" dirty="0"/>
              <a:t>section</a:t>
            </a:r>
            <a:r>
              <a:rPr lang="zh-CN" altLang="en-US" sz="1800" dirty="0"/>
              <a:t>为</a:t>
            </a:r>
            <a:r>
              <a:rPr lang="en-US" altLang="zh-CN" sz="1800" dirty="0"/>
              <a:t>pre-free</a:t>
            </a:r>
          </a:p>
          <a:p>
            <a:pPr lvl="2"/>
            <a:r>
              <a:rPr lang="zh-CN" altLang="en-US" sz="1400" dirty="0"/>
              <a:t>在下一次</a:t>
            </a:r>
            <a:r>
              <a:rPr lang="en-US" altLang="zh-CN" sz="1400" dirty="0"/>
              <a:t>checkpoint</a:t>
            </a:r>
            <a:r>
              <a:rPr lang="zh-CN" altLang="en-US" sz="1400" dirty="0"/>
              <a:t>之后被标记为</a:t>
            </a:r>
            <a:r>
              <a:rPr lang="en-US" altLang="zh-CN" sz="1400" dirty="0"/>
              <a:t>free</a:t>
            </a:r>
          </a:p>
        </p:txBody>
      </p:sp>
      <p:sp>
        <p:nvSpPr>
          <p:cNvPr id="4" name="Slide Number Placeholder 3">
            <a:extLst>
              <a:ext uri="{FF2B5EF4-FFF2-40B4-BE49-F238E27FC236}">
                <a16:creationId xmlns:a16="http://schemas.microsoft.com/office/drawing/2014/main" id="{FF261254-CC08-874D-A094-E24458F2FD35}"/>
              </a:ext>
            </a:extLst>
          </p:cNvPr>
          <p:cNvSpPr>
            <a:spLocks noGrp="1"/>
          </p:cNvSpPr>
          <p:nvPr>
            <p:ph type="sldNum" sz="quarter" idx="12"/>
          </p:nvPr>
        </p:nvSpPr>
        <p:spPr/>
        <p:txBody>
          <a:bodyPr/>
          <a:lstStyle/>
          <a:p>
            <a:fld id="{ADE361C3-C043-4A6E-BDCE-8DA1E7D90A3B}" type="slidenum">
              <a:rPr lang="zh-CN" altLang="en-US" smtClean="0"/>
              <a:t>57</a:t>
            </a:fld>
            <a:endParaRPr lang="zh-CN" altLang="en-US"/>
          </a:p>
        </p:txBody>
      </p:sp>
      <p:sp>
        <p:nvSpPr>
          <p:cNvPr id="5" name="Footer Placeholder 4">
            <a:extLst>
              <a:ext uri="{FF2B5EF4-FFF2-40B4-BE49-F238E27FC236}">
                <a16:creationId xmlns:a16="http://schemas.microsoft.com/office/drawing/2014/main" id="{5C134204-EDDC-1D47-9BD1-1FF0C95F4E7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45454F0D-5798-C64E-BF72-5B3099D9C160}"/>
              </a:ext>
            </a:extLst>
          </p:cNvPr>
          <p:cNvSpPr txBox="1"/>
          <p:nvPr/>
        </p:nvSpPr>
        <p:spPr>
          <a:xfrm>
            <a:off x="4660841" y="3865612"/>
            <a:ext cx="4472699" cy="400110"/>
          </a:xfrm>
          <a:prstGeom prst="rect">
            <a:avLst/>
          </a:prstGeom>
          <a:noFill/>
        </p:spPr>
        <p:txBody>
          <a:bodyPr wrap="none" rtlCol="0">
            <a:spAutoFit/>
          </a:bodyPr>
          <a:lstStyle/>
          <a:p>
            <a:r>
              <a:rPr lang="zh-CN" altLang="en-US" sz="2000" dirty="0">
                <a:solidFill>
                  <a:srgbClr val="C00000"/>
                </a:solidFill>
              </a:rPr>
              <a:t>思考一下：为什么不直接标记为</a:t>
            </a:r>
            <a:r>
              <a:rPr lang="en-US" altLang="zh-CN" sz="2000" dirty="0">
                <a:solidFill>
                  <a:srgbClr val="C00000"/>
                </a:solidFill>
              </a:rPr>
              <a:t>free</a:t>
            </a:r>
            <a:r>
              <a:rPr lang="zh-CN" altLang="en-US" sz="2000" dirty="0">
                <a:solidFill>
                  <a:srgbClr val="C00000"/>
                </a:solidFill>
              </a:rPr>
              <a:t>？</a:t>
            </a:r>
            <a:endParaRPr lang="en-CN" sz="2000" dirty="0">
              <a:solidFill>
                <a:srgbClr val="C00000"/>
              </a:solidFill>
            </a:endParaRPr>
          </a:p>
        </p:txBody>
      </p:sp>
    </p:spTree>
    <p:extLst>
      <p:ext uri="{BB962C8B-B14F-4D97-AF65-F5344CB8AC3E}">
        <p14:creationId xmlns:p14="http://schemas.microsoft.com/office/powerpoint/2010/main" val="25272005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EA9B4-9910-4147-A957-DB8133B3D185}"/>
              </a:ext>
            </a:extLst>
          </p:cNvPr>
          <p:cNvSpPr>
            <a:spLocks noGrp="1"/>
          </p:cNvSpPr>
          <p:nvPr>
            <p:ph type="title"/>
          </p:nvPr>
        </p:nvSpPr>
        <p:spPr/>
        <p:txBody>
          <a:bodyPr/>
          <a:lstStyle/>
          <a:p>
            <a:r>
              <a:rPr lang="zh-CN" altLang="en-US" dirty="0"/>
              <a:t>自适应日志</a:t>
            </a:r>
            <a:endParaRPr lang="en-CN" dirty="0"/>
          </a:p>
        </p:txBody>
      </p:sp>
      <p:sp>
        <p:nvSpPr>
          <p:cNvPr id="3" name="Content Placeholder 2">
            <a:extLst>
              <a:ext uri="{FF2B5EF4-FFF2-40B4-BE49-F238E27FC236}">
                <a16:creationId xmlns:a16="http://schemas.microsoft.com/office/drawing/2014/main" id="{38CAAC3E-267A-1A41-A8A2-914C2EACFC3C}"/>
              </a:ext>
            </a:extLst>
          </p:cNvPr>
          <p:cNvSpPr>
            <a:spLocks noGrp="1"/>
          </p:cNvSpPr>
          <p:nvPr>
            <p:ph idx="1"/>
          </p:nvPr>
        </p:nvSpPr>
        <p:spPr/>
        <p:txBody>
          <a:bodyPr>
            <a:normAutofit/>
          </a:bodyPr>
          <a:lstStyle/>
          <a:p>
            <a:r>
              <a:rPr lang="zh-CN" altLang="en-US" sz="1800" b="0" dirty="0"/>
              <a:t>文件系统使用一段时间后，干净</a:t>
            </a:r>
            <a:r>
              <a:rPr lang="en-US" altLang="zh-CN" sz="1800" b="0" dirty="0"/>
              <a:t>section</a:t>
            </a:r>
            <a:r>
              <a:rPr lang="zh-CN" altLang="en-US" sz="1800" b="0" dirty="0"/>
              <a:t>不足，需要频繁清理</a:t>
            </a:r>
            <a:endParaRPr lang="en-US" altLang="zh-CN" sz="1800" b="0" dirty="0"/>
          </a:p>
          <a:p>
            <a:r>
              <a:rPr lang="en-US" altLang="zh-CN" sz="1800" b="0" dirty="0"/>
              <a:t>F2FS</a:t>
            </a:r>
            <a:r>
              <a:rPr lang="zh-CN" altLang="en-US" sz="1800" b="0" dirty="0"/>
              <a:t>动态调整</a:t>
            </a:r>
            <a:r>
              <a:rPr lang="zh-CN" altLang="en-CN" sz="1800" b="0" dirty="0"/>
              <a:t>数据段</a:t>
            </a:r>
            <a:r>
              <a:rPr lang="zh-CN" altLang="en-US" sz="1800" b="0" dirty="0"/>
              <a:t>的日志方法</a:t>
            </a:r>
            <a:endParaRPr lang="en-US" altLang="zh-CN" sz="1800" b="0" dirty="0"/>
          </a:p>
          <a:p>
            <a:pPr lvl="1"/>
            <a:r>
              <a:rPr lang="zh-CN" altLang="en-US" sz="1600" dirty="0"/>
              <a:t>干净</a:t>
            </a:r>
            <a:r>
              <a:rPr lang="en-US" altLang="zh-CN" sz="1600" dirty="0"/>
              <a:t>section</a:t>
            </a:r>
            <a:r>
              <a:rPr lang="zh-CN" altLang="en-US" sz="1600" dirty="0"/>
              <a:t>充足时，使用常规方法</a:t>
            </a:r>
            <a:endParaRPr lang="en-US" altLang="zh-CN" sz="1600" dirty="0"/>
          </a:p>
          <a:p>
            <a:pPr lvl="2"/>
            <a:r>
              <a:rPr lang="zh-CN" altLang="en-US" sz="1600" dirty="0"/>
              <a:t>日志写到干净</a:t>
            </a:r>
            <a:r>
              <a:rPr lang="en-US" altLang="zh-CN" sz="1600" dirty="0"/>
              <a:t>section</a:t>
            </a:r>
            <a:r>
              <a:rPr lang="zh-CN" altLang="en-US" sz="1600" dirty="0"/>
              <a:t>中</a:t>
            </a:r>
            <a:endParaRPr lang="en-US" altLang="zh-CN" sz="1600" dirty="0"/>
          </a:p>
          <a:p>
            <a:pPr lvl="2"/>
            <a:r>
              <a:rPr lang="zh-CN" altLang="en-US" sz="1600" dirty="0"/>
              <a:t>没有干净</a:t>
            </a:r>
            <a:r>
              <a:rPr lang="en-US" altLang="zh-CN" sz="1600" dirty="0"/>
              <a:t>section</a:t>
            </a:r>
            <a:r>
              <a:rPr lang="zh-CN" altLang="en-US" sz="1600" dirty="0"/>
              <a:t>时需要进行清理操作</a:t>
            </a:r>
            <a:endParaRPr lang="en-US" altLang="zh-CN" sz="1600" dirty="0"/>
          </a:p>
          <a:p>
            <a:pPr lvl="1"/>
            <a:r>
              <a:rPr lang="zh-CN" altLang="en-US" sz="1600" dirty="0"/>
              <a:t>干净</a:t>
            </a:r>
            <a:r>
              <a:rPr lang="en-US" altLang="zh-CN" sz="1600" dirty="0"/>
              <a:t>section</a:t>
            </a:r>
            <a:r>
              <a:rPr lang="zh-CN" altLang="en-US" sz="1600" dirty="0"/>
              <a:t>不足时，使用 </a:t>
            </a:r>
            <a:r>
              <a:rPr lang="en-US" altLang="zh-CN" sz="1600" dirty="0"/>
              <a:t>threaded</a:t>
            </a:r>
            <a:r>
              <a:rPr lang="zh-CN" altLang="en-US" sz="1600" dirty="0"/>
              <a:t> </a:t>
            </a:r>
            <a:r>
              <a:rPr lang="en-US" altLang="zh-CN" sz="1600" dirty="0"/>
              <a:t>logging</a:t>
            </a:r>
          </a:p>
          <a:p>
            <a:pPr lvl="2"/>
            <a:r>
              <a:rPr lang="zh-CN" altLang="en-US" sz="1600" dirty="0"/>
              <a:t>使用脏段中无效的块</a:t>
            </a:r>
            <a:endParaRPr lang="en-US" altLang="zh-CN" sz="1600" dirty="0"/>
          </a:p>
          <a:p>
            <a:pPr lvl="2"/>
            <a:r>
              <a:rPr lang="zh-CN" altLang="en-US" sz="1600" dirty="0"/>
              <a:t>避免清理操作</a:t>
            </a:r>
            <a:endParaRPr lang="en-US" altLang="zh-CN" sz="1600" dirty="0"/>
          </a:p>
          <a:p>
            <a:pPr lvl="2"/>
            <a:r>
              <a:rPr lang="zh-CN" altLang="en-US" sz="1600" dirty="0"/>
              <a:t>但会产生一些随机写</a:t>
            </a:r>
            <a:endParaRPr lang="en-US" altLang="zh-CN" sz="1600" dirty="0"/>
          </a:p>
          <a:p>
            <a:pPr lvl="1"/>
            <a:endParaRPr lang="en-US" altLang="zh-CN" sz="1600" dirty="0"/>
          </a:p>
          <a:p>
            <a:pPr lvl="1"/>
            <a:endParaRPr lang="en-US" altLang="zh-CN" sz="1600" dirty="0"/>
          </a:p>
          <a:p>
            <a:endParaRPr lang="en-CN" sz="1800" dirty="0"/>
          </a:p>
        </p:txBody>
      </p:sp>
      <p:sp>
        <p:nvSpPr>
          <p:cNvPr id="4" name="Slide Number Placeholder 3">
            <a:extLst>
              <a:ext uri="{FF2B5EF4-FFF2-40B4-BE49-F238E27FC236}">
                <a16:creationId xmlns:a16="http://schemas.microsoft.com/office/drawing/2014/main" id="{FF261254-CC08-874D-A094-E24458F2FD35}"/>
              </a:ext>
            </a:extLst>
          </p:cNvPr>
          <p:cNvSpPr>
            <a:spLocks noGrp="1"/>
          </p:cNvSpPr>
          <p:nvPr>
            <p:ph type="sldNum" sz="quarter" idx="12"/>
          </p:nvPr>
        </p:nvSpPr>
        <p:spPr/>
        <p:txBody>
          <a:bodyPr/>
          <a:lstStyle/>
          <a:p>
            <a:fld id="{ADE361C3-C043-4A6E-BDCE-8DA1E7D90A3B}" type="slidenum">
              <a:rPr lang="zh-CN" altLang="en-US" smtClean="0"/>
              <a:t>58</a:t>
            </a:fld>
            <a:endParaRPr lang="zh-CN" altLang="en-US"/>
          </a:p>
        </p:txBody>
      </p:sp>
      <p:sp>
        <p:nvSpPr>
          <p:cNvPr id="5" name="Footer Placeholder 4">
            <a:extLst>
              <a:ext uri="{FF2B5EF4-FFF2-40B4-BE49-F238E27FC236}">
                <a16:creationId xmlns:a16="http://schemas.microsoft.com/office/drawing/2014/main" id="{5C134204-EDDC-1D47-9BD1-1FF0C95F4E7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7" name="Group 6">
            <a:extLst>
              <a:ext uri="{FF2B5EF4-FFF2-40B4-BE49-F238E27FC236}">
                <a16:creationId xmlns:a16="http://schemas.microsoft.com/office/drawing/2014/main" id="{618F0EAD-8883-7247-817C-7D40CBA7628D}"/>
              </a:ext>
            </a:extLst>
          </p:cNvPr>
          <p:cNvGrpSpPr/>
          <p:nvPr/>
        </p:nvGrpSpPr>
        <p:grpSpPr>
          <a:xfrm>
            <a:off x="4860032" y="4227633"/>
            <a:ext cx="3968327" cy="307732"/>
            <a:chOff x="1257579" y="3612075"/>
            <a:chExt cx="3968327" cy="307732"/>
          </a:xfrm>
        </p:grpSpPr>
        <p:sp>
          <p:nvSpPr>
            <p:cNvPr id="8" name="Rectangle 7">
              <a:extLst>
                <a:ext uri="{FF2B5EF4-FFF2-40B4-BE49-F238E27FC236}">
                  <a16:creationId xmlns:a16="http://schemas.microsoft.com/office/drawing/2014/main" id="{2C84C278-660C-5049-BCEE-975D733FC968}"/>
                </a:ext>
              </a:extLst>
            </p:cNvPr>
            <p:cNvSpPr/>
            <p:nvPr/>
          </p:nvSpPr>
          <p:spPr>
            <a:xfrm>
              <a:off x="1257579" y="3612075"/>
              <a:ext cx="284100" cy="30773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tx1"/>
                  </a:solidFill>
                </a:rPr>
                <a:t>1</a:t>
              </a:r>
              <a:endParaRPr lang="en-CN" sz="1050" dirty="0">
                <a:solidFill>
                  <a:schemeClr val="tx1"/>
                </a:solidFill>
              </a:endParaRPr>
            </a:p>
          </p:txBody>
        </p:sp>
        <p:sp>
          <p:nvSpPr>
            <p:cNvPr id="9" name="Rectangle 8">
              <a:extLst>
                <a:ext uri="{FF2B5EF4-FFF2-40B4-BE49-F238E27FC236}">
                  <a16:creationId xmlns:a16="http://schemas.microsoft.com/office/drawing/2014/main" id="{1F190194-7414-4644-A612-A7EF6DE4E7BE}"/>
                </a:ext>
              </a:extLst>
            </p:cNvPr>
            <p:cNvSpPr/>
            <p:nvPr/>
          </p:nvSpPr>
          <p:spPr>
            <a:xfrm>
              <a:off x="1541679" y="3612075"/>
              <a:ext cx="284100" cy="30724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tx1"/>
                  </a:solidFill>
                </a:rPr>
                <a:t>2</a:t>
              </a:r>
              <a:endParaRPr lang="en-CN" sz="1050" dirty="0">
                <a:solidFill>
                  <a:schemeClr val="tx1"/>
                </a:solidFill>
              </a:endParaRPr>
            </a:p>
          </p:txBody>
        </p:sp>
        <p:sp>
          <p:nvSpPr>
            <p:cNvPr id="10" name="Rectangle 9">
              <a:extLst>
                <a:ext uri="{FF2B5EF4-FFF2-40B4-BE49-F238E27FC236}">
                  <a16:creationId xmlns:a16="http://schemas.microsoft.com/office/drawing/2014/main" id="{D20AFCEA-A91F-5B45-AEDB-17BF94683362}"/>
                </a:ext>
              </a:extLst>
            </p:cNvPr>
            <p:cNvSpPr/>
            <p:nvPr/>
          </p:nvSpPr>
          <p:spPr>
            <a:xfrm>
              <a:off x="1824306" y="3612075"/>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11" name="Rectangle 10">
              <a:extLst>
                <a:ext uri="{FF2B5EF4-FFF2-40B4-BE49-F238E27FC236}">
                  <a16:creationId xmlns:a16="http://schemas.microsoft.com/office/drawing/2014/main" id="{DBBAC4D1-4752-D94C-A938-F3E819880EB9}"/>
                </a:ext>
              </a:extLst>
            </p:cNvPr>
            <p:cNvSpPr/>
            <p:nvPr/>
          </p:nvSpPr>
          <p:spPr>
            <a:xfrm>
              <a:off x="2109330" y="361207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12" name="Rectangle 11">
              <a:extLst>
                <a:ext uri="{FF2B5EF4-FFF2-40B4-BE49-F238E27FC236}">
                  <a16:creationId xmlns:a16="http://schemas.microsoft.com/office/drawing/2014/main" id="{BDD0130C-0685-5C44-947E-AFC5FD6430DC}"/>
                </a:ext>
              </a:extLst>
            </p:cNvPr>
            <p:cNvSpPr/>
            <p:nvPr/>
          </p:nvSpPr>
          <p:spPr>
            <a:xfrm>
              <a:off x="2391957" y="3612075"/>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13" name="Rectangle 12">
              <a:extLst>
                <a:ext uri="{FF2B5EF4-FFF2-40B4-BE49-F238E27FC236}">
                  <a16:creationId xmlns:a16="http://schemas.microsoft.com/office/drawing/2014/main" id="{AF522C87-17C4-4A4D-9C51-31698A7E4146}"/>
                </a:ext>
              </a:extLst>
            </p:cNvPr>
            <p:cNvSpPr/>
            <p:nvPr/>
          </p:nvSpPr>
          <p:spPr>
            <a:xfrm>
              <a:off x="2674584" y="3612075"/>
              <a:ext cx="284100" cy="30724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tx1"/>
                  </a:solidFill>
                </a:rPr>
                <a:t>3</a:t>
              </a:r>
            </a:p>
          </p:txBody>
        </p:sp>
        <p:sp>
          <p:nvSpPr>
            <p:cNvPr id="14" name="Rectangle 13">
              <a:extLst>
                <a:ext uri="{FF2B5EF4-FFF2-40B4-BE49-F238E27FC236}">
                  <a16:creationId xmlns:a16="http://schemas.microsoft.com/office/drawing/2014/main" id="{09F2D840-87B8-3240-BD68-665A7A234958}"/>
                </a:ext>
              </a:extLst>
            </p:cNvPr>
            <p:cNvSpPr/>
            <p:nvPr/>
          </p:nvSpPr>
          <p:spPr>
            <a:xfrm>
              <a:off x="2957211" y="3612075"/>
              <a:ext cx="284100" cy="30773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tx1"/>
                  </a:solidFill>
                </a:rPr>
                <a:t>4</a:t>
              </a:r>
            </a:p>
          </p:txBody>
        </p:sp>
        <p:sp>
          <p:nvSpPr>
            <p:cNvPr id="15" name="Rectangle 14">
              <a:extLst>
                <a:ext uri="{FF2B5EF4-FFF2-40B4-BE49-F238E27FC236}">
                  <a16:creationId xmlns:a16="http://schemas.microsoft.com/office/drawing/2014/main" id="{0B445FEE-3CC7-AB46-9239-1F6B6367972A}"/>
                </a:ext>
              </a:extLst>
            </p:cNvPr>
            <p:cNvSpPr/>
            <p:nvPr/>
          </p:nvSpPr>
          <p:spPr>
            <a:xfrm>
              <a:off x="3239838" y="3612075"/>
              <a:ext cx="284100" cy="30724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tx1"/>
                  </a:solidFill>
                </a:rPr>
                <a:t>5</a:t>
              </a:r>
              <a:endParaRPr lang="en-CN" sz="1050" dirty="0">
                <a:solidFill>
                  <a:schemeClr val="tx1"/>
                </a:solidFill>
              </a:endParaRPr>
            </a:p>
          </p:txBody>
        </p:sp>
        <p:sp>
          <p:nvSpPr>
            <p:cNvPr id="16" name="Rectangle 15">
              <a:extLst>
                <a:ext uri="{FF2B5EF4-FFF2-40B4-BE49-F238E27FC236}">
                  <a16:creationId xmlns:a16="http://schemas.microsoft.com/office/drawing/2014/main" id="{4F84FB3B-899D-7E43-A3BC-03919206CB3C}"/>
                </a:ext>
              </a:extLst>
            </p:cNvPr>
            <p:cNvSpPr/>
            <p:nvPr/>
          </p:nvSpPr>
          <p:spPr>
            <a:xfrm>
              <a:off x="4088388" y="3612075"/>
              <a:ext cx="284100" cy="30724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dirty="0">
                  <a:solidFill>
                    <a:schemeClr val="tx1"/>
                  </a:solidFill>
                </a:rPr>
                <a:t>6</a:t>
              </a:r>
              <a:endParaRPr lang="en-CN" sz="1050" dirty="0">
                <a:solidFill>
                  <a:schemeClr val="tx1"/>
                </a:solidFill>
              </a:endParaRPr>
            </a:p>
          </p:txBody>
        </p:sp>
        <p:sp>
          <p:nvSpPr>
            <p:cNvPr id="17" name="Rectangle 16">
              <a:extLst>
                <a:ext uri="{FF2B5EF4-FFF2-40B4-BE49-F238E27FC236}">
                  <a16:creationId xmlns:a16="http://schemas.microsoft.com/office/drawing/2014/main" id="{3C08E06B-05DA-BD41-8E97-F9AD94E96C77}"/>
                </a:ext>
              </a:extLst>
            </p:cNvPr>
            <p:cNvSpPr/>
            <p:nvPr/>
          </p:nvSpPr>
          <p:spPr>
            <a:xfrm>
              <a:off x="3522466" y="3612075"/>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US" altLang="zh-CN" sz="700" dirty="0"/>
            </a:p>
          </p:txBody>
        </p:sp>
        <p:sp>
          <p:nvSpPr>
            <p:cNvPr id="18" name="Rectangle 17">
              <a:extLst>
                <a:ext uri="{FF2B5EF4-FFF2-40B4-BE49-F238E27FC236}">
                  <a16:creationId xmlns:a16="http://schemas.microsoft.com/office/drawing/2014/main" id="{0EC479E4-66D0-2741-929B-528946F494A3}"/>
                </a:ext>
              </a:extLst>
            </p:cNvPr>
            <p:cNvSpPr/>
            <p:nvPr/>
          </p:nvSpPr>
          <p:spPr>
            <a:xfrm>
              <a:off x="3805093" y="361207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19" name="Rectangle 18">
              <a:extLst>
                <a:ext uri="{FF2B5EF4-FFF2-40B4-BE49-F238E27FC236}">
                  <a16:creationId xmlns:a16="http://schemas.microsoft.com/office/drawing/2014/main" id="{EEB94E96-FAEB-FC4B-AC15-9822A74040A2}"/>
                </a:ext>
              </a:extLst>
            </p:cNvPr>
            <p:cNvSpPr/>
            <p:nvPr/>
          </p:nvSpPr>
          <p:spPr>
            <a:xfrm>
              <a:off x="4373484" y="3612075"/>
              <a:ext cx="284100" cy="307732"/>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0" name="Rectangle 19">
              <a:extLst>
                <a:ext uri="{FF2B5EF4-FFF2-40B4-BE49-F238E27FC236}">
                  <a16:creationId xmlns:a16="http://schemas.microsoft.com/office/drawing/2014/main" id="{79C6D12E-0373-B947-AEBB-DE0041911F26}"/>
                </a:ext>
              </a:extLst>
            </p:cNvPr>
            <p:cNvSpPr/>
            <p:nvPr/>
          </p:nvSpPr>
          <p:spPr>
            <a:xfrm>
              <a:off x="4657514" y="3612075"/>
              <a:ext cx="284100" cy="307241"/>
            </a:xfrm>
            <a:prstGeom prst="rect">
              <a:avLst/>
            </a:prstGeom>
            <a:pattFill prst="wdUpDiag">
              <a:fgClr>
                <a:schemeClr val="tx1">
                  <a:lumMod val="50000"/>
                  <a:lumOff val="50000"/>
                </a:schemeClr>
              </a:fgClr>
              <a:bgClr>
                <a:schemeClr val="bg1"/>
              </a:bgClr>
            </a:patt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21" name="Rectangle 20">
              <a:extLst>
                <a:ext uri="{FF2B5EF4-FFF2-40B4-BE49-F238E27FC236}">
                  <a16:creationId xmlns:a16="http://schemas.microsoft.com/office/drawing/2014/main" id="{15664F82-9FF3-4B4A-9531-95BAF47A60B4}"/>
                </a:ext>
              </a:extLst>
            </p:cNvPr>
            <p:cNvSpPr/>
            <p:nvPr/>
          </p:nvSpPr>
          <p:spPr>
            <a:xfrm>
              <a:off x="4941806" y="3612075"/>
              <a:ext cx="284100" cy="30773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050">
                  <a:solidFill>
                    <a:schemeClr val="tx1"/>
                  </a:solidFill>
                </a:rPr>
                <a:t>7</a:t>
              </a:r>
              <a:endParaRPr lang="en-US" altLang="zh-CN" sz="1050" dirty="0">
                <a:solidFill>
                  <a:schemeClr val="tx1"/>
                </a:solidFill>
              </a:endParaRPr>
            </a:p>
          </p:txBody>
        </p:sp>
      </p:grpSp>
      <p:sp>
        <p:nvSpPr>
          <p:cNvPr id="30" name="Right Brace 29">
            <a:extLst>
              <a:ext uri="{FF2B5EF4-FFF2-40B4-BE49-F238E27FC236}">
                <a16:creationId xmlns:a16="http://schemas.microsoft.com/office/drawing/2014/main" id="{46345B74-23AC-BB41-A060-F87A4674C828}"/>
              </a:ext>
            </a:extLst>
          </p:cNvPr>
          <p:cNvSpPr/>
          <p:nvPr/>
        </p:nvSpPr>
        <p:spPr>
          <a:xfrm rot="5400000">
            <a:off x="6754873" y="2762857"/>
            <a:ext cx="178641" cy="3968327"/>
          </a:xfrm>
          <a:prstGeom prst="rightBrace">
            <a:avLst>
              <a:gd name="adj1" fmla="val 39541"/>
              <a:gd name="adj2" fmla="val 5000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CN"/>
          </a:p>
        </p:txBody>
      </p:sp>
      <p:sp>
        <p:nvSpPr>
          <p:cNvPr id="31" name="TextBox 30">
            <a:extLst>
              <a:ext uri="{FF2B5EF4-FFF2-40B4-BE49-F238E27FC236}">
                <a16:creationId xmlns:a16="http://schemas.microsoft.com/office/drawing/2014/main" id="{DAFEFFC2-CC0E-DC4B-BBB2-B15FF2403EFF}"/>
              </a:ext>
            </a:extLst>
          </p:cNvPr>
          <p:cNvSpPr txBox="1"/>
          <p:nvPr/>
        </p:nvSpPr>
        <p:spPr>
          <a:xfrm>
            <a:off x="6299485" y="4836123"/>
            <a:ext cx="1107996" cy="369332"/>
          </a:xfrm>
          <a:prstGeom prst="rect">
            <a:avLst/>
          </a:prstGeom>
          <a:noFill/>
        </p:spPr>
        <p:txBody>
          <a:bodyPr wrap="none" rtlCol="0">
            <a:spAutoFit/>
          </a:bodyPr>
          <a:lstStyle/>
          <a:p>
            <a:r>
              <a:rPr lang="zh-CN" altLang="en-US" dirty="0"/>
              <a:t>脏</a:t>
            </a:r>
            <a:r>
              <a:rPr lang="zh-CN" altLang="en-CN" dirty="0"/>
              <a:t>数据</a:t>
            </a:r>
            <a:r>
              <a:rPr lang="zh-CN" altLang="en-US" dirty="0"/>
              <a:t>段</a:t>
            </a:r>
            <a:endParaRPr lang="en-CN" dirty="0"/>
          </a:p>
        </p:txBody>
      </p:sp>
      <p:sp>
        <p:nvSpPr>
          <p:cNvPr id="55" name="TextBox 54">
            <a:extLst>
              <a:ext uri="{FF2B5EF4-FFF2-40B4-BE49-F238E27FC236}">
                <a16:creationId xmlns:a16="http://schemas.microsoft.com/office/drawing/2014/main" id="{CB0D1C98-F138-B440-BCA6-A863B721FB85}"/>
              </a:ext>
            </a:extLst>
          </p:cNvPr>
          <p:cNvSpPr txBox="1"/>
          <p:nvPr/>
        </p:nvSpPr>
        <p:spPr>
          <a:xfrm>
            <a:off x="5107553" y="4858527"/>
            <a:ext cx="1082348" cy="307777"/>
          </a:xfrm>
          <a:prstGeom prst="rect">
            <a:avLst/>
          </a:prstGeom>
          <a:noFill/>
        </p:spPr>
        <p:txBody>
          <a:bodyPr wrap="none" rtlCol="0">
            <a:spAutoFit/>
          </a:bodyPr>
          <a:lstStyle/>
          <a:p>
            <a:r>
              <a:rPr lang="zh-CN" altLang="en-US" sz="1400" dirty="0"/>
              <a:t>无效数据块</a:t>
            </a:r>
            <a:endParaRPr lang="en-CN" sz="1400" dirty="0"/>
          </a:p>
        </p:txBody>
      </p:sp>
      <p:cxnSp>
        <p:nvCxnSpPr>
          <p:cNvPr id="56" name="Straight Arrow Connector 55">
            <a:extLst>
              <a:ext uri="{FF2B5EF4-FFF2-40B4-BE49-F238E27FC236}">
                <a16:creationId xmlns:a16="http://schemas.microsoft.com/office/drawing/2014/main" id="{658BA959-9FDB-3A48-87E4-003F281938FC}"/>
              </a:ext>
            </a:extLst>
          </p:cNvPr>
          <p:cNvCxnSpPr>
            <a:cxnSpLocks/>
            <a:stCxn id="55" idx="0"/>
            <a:endCxn id="10" idx="2"/>
          </p:cNvCxnSpPr>
          <p:nvPr/>
        </p:nvCxnSpPr>
        <p:spPr>
          <a:xfrm flipH="1" flipV="1">
            <a:off x="5568809" y="4535365"/>
            <a:ext cx="79918" cy="3231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75F1DDD7-F773-6843-A19D-F6A556C1E9A2}"/>
              </a:ext>
            </a:extLst>
          </p:cNvPr>
          <p:cNvSpPr txBox="1"/>
          <p:nvPr/>
        </p:nvSpPr>
        <p:spPr>
          <a:xfrm>
            <a:off x="3993842" y="4858526"/>
            <a:ext cx="1082348" cy="307777"/>
          </a:xfrm>
          <a:prstGeom prst="rect">
            <a:avLst/>
          </a:prstGeom>
          <a:noFill/>
        </p:spPr>
        <p:txBody>
          <a:bodyPr wrap="none" rtlCol="0">
            <a:spAutoFit/>
          </a:bodyPr>
          <a:lstStyle/>
          <a:p>
            <a:r>
              <a:rPr lang="zh-CN" altLang="en-US" sz="1400" dirty="0"/>
              <a:t>有效数据块</a:t>
            </a:r>
            <a:endParaRPr lang="en-CN" sz="1400" dirty="0"/>
          </a:p>
        </p:txBody>
      </p:sp>
      <p:cxnSp>
        <p:nvCxnSpPr>
          <p:cNvPr id="58" name="Straight Arrow Connector 57">
            <a:extLst>
              <a:ext uri="{FF2B5EF4-FFF2-40B4-BE49-F238E27FC236}">
                <a16:creationId xmlns:a16="http://schemas.microsoft.com/office/drawing/2014/main" id="{7E4893DF-EBBA-864F-A965-AB0AF9F272D0}"/>
              </a:ext>
            </a:extLst>
          </p:cNvPr>
          <p:cNvCxnSpPr>
            <a:cxnSpLocks/>
            <a:stCxn id="57" idx="0"/>
            <a:endCxn id="8" idx="2"/>
          </p:cNvCxnSpPr>
          <p:nvPr/>
        </p:nvCxnSpPr>
        <p:spPr>
          <a:xfrm flipV="1">
            <a:off x="4535016" y="4535365"/>
            <a:ext cx="467066" cy="3231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E514D0D-6690-EE4E-A24C-AE2C9FA456F3}"/>
              </a:ext>
            </a:extLst>
          </p:cNvPr>
          <p:cNvCxnSpPr>
            <a:cxnSpLocks/>
          </p:cNvCxnSpPr>
          <p:nvPr/>
        </p:nvCxnSpPr>
        <p:spPr>
          <a:xfrm>
            <a:off x="5568809" y="3721594"/>
            <a:ext cx="0" cy="506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8FC7B74-D3D6-D648-8A86-8C85737F6ECA}"/>
              </a:ext>
            </a:extLst>
          </p:cNvPr>
          <p:cNvCxnSpPr>
            <a:cxnSpLocks/>
          </p:cNvCxnSpPr>
          <p:nvPr/>
        </p:nvCxnSpPr>
        <p:spPr>
          <a:xfrm>
            <a:off x="5853833" y="3721594"/>
            <a:ext cx="0" cy="506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A15EDC7-3817-E648-B52C-E045079EDB65}"/>
              </a:ext>
            </a:extLst>
          </p:cNvPr>
          <p:cNvCxnSpPr>
            <a:cxnSpLocks/>
          </p:cNvCxnSpPr>
          <p:nvPr/>
        </p:nvCxnSpPr>
        <p:spPr>
          <a:xfrm>
            <a:off x="6136460" y="3721594"/>
            <a:ext cx="0" cy="506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959387A-1EF1-534D-BE0F-1085821963FD}"/>
              </a:ext>
            </a:extLst>
          </p:cNvPr>
          <p:cNvCxnSpPr>
            <a:cxnSpLocks/>
          </p:cNvCxnSpPr>
          <p:nvPr/>
        </p:nvCxnSpPr>
        <p:spPr>
          <a:xfrm>
            <a:off x="7265240" y="3721594"/>
            <a:ext cx="0" cy="506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05EA3B6-866B-2C44-8CA4-1C68F5522D1E}"/>
              </a:ext>
            </a:extLst>
          </p:cNvPr>
          <p:cNvCxnSpPr>
            <a:cxnSpLocks/>
          </p:cNvCxnSpPr>
          <p:nvPr/>
        </p:nvCxnSpPr>
        <p:spPr>
          <a:xfrm>
            <a:off x="7550264" y="3721594"/>
            <a:ext cx="0" cy="506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033E8E7-23B0-0C45-A435-317A0BE40F71}"/>
              </a:ext>
            </a:extLst>
          </p:cNvPr>
          <p:cNvCxnSpPr>
            <a:cxnSpLocks/>
          </p:cNvCxnSpPr>
          <p:nvPr/>
        </p:nvCxnSpPr>
        <p:spPr>
          <a:xfrm>
            <a:off x="8117463" y="3721594"/>
            <a:ext cx="0" cy="506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E69D2AF-43DF-E74A-8B68-51A1CCCD90AB}"/>
              </a:ext>
            </a:extLst>
          </p:cNvPr>
          <p:cNvCxnSpPr>
            <a:cxnSpLocks/>
          </p:cNvCxnSpPr>
          <p:nvPr/>
        </p:nvCxnSpPr>
        <p:spPr>
          <a:xfrm>
            <a:off x="8402487" y="3721594"/>
            <a:ext cx="0" cy="506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5AFFF3F6-80D1-1B42-8AB3-E6838A2F811E}"/>
              </a:ext>
            </a:extLst>
          </p:cNvPr>
          <p:cNvSpPr txBox="1"/>
          <p:nvPr/>
        </p:nvSpPr>
        <p:spPr>
          <a:xfrm>
            <a:off x="5362855" y="3344082"/>
            <a:ext cx="3241593" cy="307777"/>
          </a:xfrm>
          <a:prstGeom prst="rect">
            <a:avLst/>
          </a:prstGeom>
          <a:noFill/>
        </p:spPr>
        <p:txBody>
          <a:bodyPr wrap="none" rtlCol="0">
            <a:spAutoFit/>
          </a:bodyPr>
          <a:lstStyle/>
          <a:p>
            <a:r>
              <a:rPr lang="en-US" altLang="zh-CN" sz="1400" dirty="0">
                <a:solidFill>
                  <a:srgbClr val="C00000"/>
                </a:solidFill>
              </a:rPr>
              <a:t>Threaded</a:t>
            </a:r>
            <a:r>
              <a:rPr lang="zh-CN" altLang="en-US" sz="1400" dirty="0">
                <a:solidFill>
                  <a:srgbClr val="C00000"/>
                </a:solidFill>
              </a:rPr>
              <a:t> </a:t>
            </a:r>
            <a:r>
              <a:rPr lang="en-US" altLang="zh-CN" sz="1400" dirty="0">
                <a:solidFill>
                  <a:srgbClr val="C00000"/>
                </a:solidFill>
              </a:rPr>
              <a:t>logging</a:t>
            </a:r>
            <a:r>
              <a:rPr lang="zh-CN" altLang="en-US" sz="1400" dirty="0">
                <a:solidFill>
                  <a:srgbClr val="C00000"/>
                </a:solidFill>
              </a:rPr>
              <a:t> 直接使用这些无效块</a:t>
            </a:r>
            <a:endParaRPr lang="en-CN" sz="1400" dirty="0">
              <a:solidFill>
                <a:srgbClr val="C00000"/>
              </a:solidFill>
            </a:endParaRPr>
          </a:p>
        </p:txBody>
      </p:sp>
    </p:spTree>
    <p:extLst>
      <p:ext uri="{BB962C8B-B14F-4D97-AF65-F5344CB8AC3E}">
        <p14:creationId xmlns:p14="http://schemas.microsoft.com/office/powerpoint/2010/main" val="40868918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AE2A964-574E-8743-85B1-66E29DE4D400}"/>
              </a:ext>
            </a:extLst>
          </p:cNvPr>
          <p:cNvGrpSpPr/>
          <p:nvPr/>
        </p:nvGrpSpPr>
        <p:grpSpPr>
          <a:xfrm>
            <a:off x="1187624" y="4450401"/>
            <a:ext cx="341224" cy="428403"/>
            <a:chOff x="1187624" y="4164148"/>
            <a:chExt cx="341224" cy="428403"/>
          </a:xfrm>
        </p:grpSpPr>
        <p:sp>
          <p:nvSpPr>
            <p:cNvPr id="28" name="Rectangle 27">
              <a:extLst>
                <a:ext uri="{FF2B5EF4-FFF2-40B4-BE49-F238E27FC236}">
                  <a16:creationId xmlns:a16="http://schemas.microsoft.com/office/drawing/2014/main" id="{0F51F856-B0A5-7543-9E4B-C62C69296C0A}"/>
                </a:ext>
              </a:extLst>
            </p:cNvPr>
            <p:cNvSpPr/>
            <p:nvPr/>
          </p:nvSpPr>
          <p:spPr>
            <a:xfrm>
              <a:off x="1187624"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32" name="Rectangle 31">
              <a:extLst>
                <a:ext uri="{FF2B5EF4-FFF2-40B4-BE49-F238E27FC236}">
                  <a16:creationId xmlns:a16="http://schemas.microsoft.com/office/drawing/2014/main" id="{217AA249-4220-F246-8A84-6B8F7226EFC1}"/>
                </a:ext>
              </a:extLst>
            </p:cNvPr>
            <p:cNvSpPr/>
            <p:nvPr/>
          </p:nvSpPr>
          <p:spPr>
            <a:xfrm>
              <a:off x="1358236"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grpSp>
      <p:sp>
        <p:nvSpPr>
          <p:cNvPr id="2" name="Title 1">
            <a:extLst>
              <a:ext uri="{FF2B5EF4-FFF2-40B4-BE49-F238E27FC236}">
                <a16:creationId xmlns:a16="http://schemas.microsoft.com/office/drawing/2014/main" id="{DBBC564D-17F9-C448-AA59-352083BE6109}"/>
              </a:ext>
            </a:extLst>
          </p:cNvPr>
          <p:cNvSpPr>
            <a:spLocks noGrp="1"/>
          </p:cNvSpPr>
          <p:nvPr>
            <p:ph type="title"/>
          </p:nvPr>
        </p:nvSpPr>
        <p:spPr/>
        <p:txBody>
          <a:bodyPr/>
          <a:lstStyle/>
          <a:p>
            <a:r>
              <a:rPr lang="zh-CN" altLang="en-US" dirty="0"/>
              <a:t>检查点</a:t>
            </a:r>
            <a:endParaRPr lang="en-CN" dirty="0"/>
          </a:p>
        </p:txBody>
      </p:sp>
      <p:sp>
        <p:nvSpPr>
          <p:cNvPr id="3" name="Content Placeholder 2">
            <a:extLst>
              <a:ext uri="{FF2B5EF4-FFF2-40B4-BE49-F238E27FC236}">
                <a16:creationId xmlns:a16="http://schemas.microsoft.com/office/drawing/2014/main" id="{875AFC27-5399-ED43-ADA6-519D725C6CD0}"/>
              </a:ext>
            </a:extLst>
          </p:cNvPr>
          <p:cNvSpPr>
            <a:spLocks noGrp="1"/>
          </p:cNvSpPr>
          <p:nvPr>
            <p:ph idx="1"/>
          </p:nvPr>
        </p:nvSpPr>
        <p:spPr/>
        <p:txBody>
          <a:bodyPr>
            <a:normAutofit/>
          </a:bodyPr>
          <a:lstStyle/>
          <a:p>
            <a:r>
              <a:rPr lang="zh-CN" altLang="en-US" sz="2000" dirty="0"/>
              <a:t>检查点、</a:t>
            </a:r>
            <a:r>
              <a:rPr lang="en-US" altLang="zh-CN" sz="2000" dirty="0"/>
              <a:t>NAT</a:t>
            </a:r>
            <a:r>
              <a:rPr lang="zh-CN" altLang="en-US" sz="2000" dirty="0"/>
              <a:t>、</a:t>
            </a:r>
            <a:r>
              <a:rPr lang="en-US" altLang="zh-CN" sz="2000" dirty="0"/>
              <a:t>SIT</a:t>
            </a:r>
            <a:r>
              <a:rPr lang="zh-CN" altLang="en-US" sz="2000" dirty="0"/>
              <a:t> （段信息表）各有两份</a:t>
            </a:r>
            <a:endParaRPr lang="en-US" altLang="zh-CN" sz="2000" dirty="0"/>
          </a:p>
          <a:p>
            <a:r>
              <a:rPr lang="zh-CN" altLang="en-US" sz="2000" dirty="0"/>
              <a:t>检查点中保存有</a:t>
            </a:r>
            <a:r>
              <a:rPr lang="en-US" altLang="zh-CN" sz="2000" dirty="0"/>
              <a:t>NAT</a:t>
            </a:r>
            <a:r>
              <a:rPr lang="zh-CN" altLang="en-US" sz="2000" dirty="0"/>
              <a:t>和</a:t>
            </a:r>
            <a:r>
              <a:rPr lang="en-US" altLang="zh-CN" sz="2000" dirty="0"/>
              <a:t>SIT</a:t>
            </a:r>
            <a:r>
              <a:rPr lang="zh-CN" altLang="en-US" sz="2000" dirty="0"/>
              <a:t>的日志，避免</a:t>
            </a:r>
            <a:r>
              <a:rPr lang="en-US" altLang="zh-CN" sz="2000" dirty="0"/>
              <a:t>NAT</a:t>
            </a:r>
            <a:r>
              <a:rPr lang="zh-CN" altLang="en-US" sz="2000" dirty="0"/>
              <a:t>和</a:t>
            </a:r>
            <a:r>
              <a:rPr lang="en-US" altLang="zh-CN" sz="2000" dirty="0"/>
              <a:t>SIT</a:t>
            </a:r>
            <a:r>
              <a:rPr lang="zh-CN" altLang="en-US" sz="2000" dirty="0"/>
              <a:t>的频繁更新</a:t>
            </a:r>
            <a:endParaRPr lang="en-US" altLang="zh-CN" sz="2000" dirty="0"/>
          </a:p>
          <a:p>
            <a:r>
              <a:rPr lang="zh-CN" altLang="en-CN" sz="2000" dirty="0"/>
              <a:t>恢复</a:t>
            </a:r>
            <a:r>
              <a:rPr lang="zh-CN" altLang="en-US" sz="2000" dirty="0"/>
              <a:t>时回滚到最近的检查点</a:t>
            </a:r>
            <a:endParaRPr lang="en-CN" sz="2000" dirty="0"/>
          </a:p>
        </p:txBody>
      </p:sp>
      <p:sp>
        <p:nvSpPr>
          <p:cNvPr id="4" name="Slide Number Placeholder 3">
            <a:extLst>
              <a:ext uri="{FF2B5EF4-FFF2-40B4-BE49-F238E27FC236}">
                <a16:creationId xmlns:a16="http://schemas.microsoft.com/office/drawing/2014/main" id="{AEF1F4F4-7E2B-5447-B8C2-571028981E0D}"/>
              </a:ext>
            </a:extLst>
          </p:cNvPr>
          <p:cNvSpPr>
            <a:spLocks noGrp="1"/>
          </p:cNvSpPr>
          <p:nvPr>
            <p:ph type="sldNum" sz="quarter" idx="12"/>
          </p:nvPr>
        </p:nvSpPr>
        <p:spPr/>
        <p:txBody>
          <a:bodyPr/>
          <a:lstStyle/>
          <a:p>
            <a:fld id="{ADE361C3-C043-4A6E-BDCE-8DA1E7D90A3B}" type="slidenum">
              <a:rPr lang="zh-CN" altLang="en-US" smtClean="0"/>
              <a:t>59</a:t>
            </a:fld>
            <a:endParaRPr lang="zh-CN" altLang="en-US"/>
          </a:p>
        </p:txBody>
      </p:sp>
      <p:sp>
        <p:nvSpPr>
          <p:cNvPr id="5" name="Footer Placeholder 4">
            <a:extLst>
              <a:ext uri="{FF2B5EF4-FFF2-40B4-BE49-F238E27FC236}">
                <a16:creationId xmlns:a16="http://schemas.microsoft.com/office/drawing/2014/main" id="{D989E998-8001-E14F-8C78-0C517B0CD53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A9715CE5-D431-3F4A-9150-C2E96CD8407F}"/>
              </a:ext>
            </a:extLst>
          </p:cNvPr>
          <p:cNvSpPr/>
          <p:nvPr/>
        </p:nvSpPr>
        <p:spPr>
          <a:xfrm>
            <a:off x="899592" y="3512331"/>
            <a:ext cx="7688538" cy="428403"/>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 name="Rectangle 6">
            <a:extLst>
              <a:ext uri="{FF2B5EF4-FFF2-40B4-BE49-F238E27FC236}">
                <a16:creationId xmlns:a16="http://schemas.microsoft.com/office/drawing/2014/main" id="{76516D39-9DCA-734D-8926-B7B8C239AE52}"/>
              </a:ext>
            </a:extLst>
          </p:cNvPr>
          <p:cNvSpPr/>
          <p:nvPr/>
        </p:nvSpPr>
        <p:spPr>
          <a:xfrm>
            <a:off x="894954" y="3512735"/>
            <a:ext cx="239411" cy="428403"/>
          </a:xfrm>
          <a:prstGeom prst="rect">
            <a:avLst/>
          </a:prstGeom>
          <a:solidFill>
            <a:schemeClr val="accent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SB</a:t>
            </a:r>
          </a:p>
        </p:txBody>
      </p:sp>
      <p:sp>
        <p:nvSpPr>
          <p:cNvPr id="8" name="Rectangle 7">
            <a:extLst>
              <a:ext uri="{FF2B5EF4-FFF2-40B4-BE49-F238E27FC236}">
                <a16:creationId xmlns:a16="http://schemas.microsoft.com/office/drawing/2014/main" id="{65505E9F-26DC-1C47-936B-EB230DF77FF9}"/>
              </a:ext>
            </a:extLst>
          </p:cNvPr>
          <p:cNvSpPr/>
          <p:nvPr/>
        </p:nvSpPr>
        <p:spPr>
          <a:xfrm>
            <a:off x="1233035" y="3512735"/>
            <a:ext cx="338081"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3" name="Rectangle 12">
            <a:extLst>
              <a:ext uri="{FF2B5EF4-FFF2-40B4-BE49-F238E27FC236}">
                <a16:creationId xmlns:a16="http://schemas.microsoft.com/office/drawing/2014/main" id="{B9548E21-BA93-ED4C-8F67-4A3D22A1A80D}"/>
              </a:ext>
            </a:extLst>
          </p:cNvPr>
          <p:cNvSpPr/>
          <p:nvPr/>
        </p:nvSpPr>
        <p:spPr>
          <a:xfrm>
            <a:off x="3242997" y="3512331"/>
            <a:ext cx="195130"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4" name="Rectangle 13">
            <a:extLst>
              <a:ext uri="{FF2B5EF4-FFF2-40B4-BE49-F238E27FC236}">
                <a16:creationId xmlns:a16="http://schemas.microsoft.com/office/drawing/2014/main" id="{8D7A1BC3-D3CD-B74F-97B5-9D5082324841}"/>
              </a:ext>
            </a:extLst>
          </p:cNvPr>
          <p:cNvSpPr/>
          <p:nvPr/>
        </p:nvSpPr>
        <p:spPr>
          <a:xfrm>
            <a:off x="6113561" y="3512331"/>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15" name="Rectangle 14">
            <a:extLst>
              <a:ext uri="{FF2B5EF4-FFF2-40B4-BE49-F238E27FC236}">
                <a16:creationId xmlns:a16="http://schemas.microsoft.com/office/drawing/2014/main" id="{B2159BE4-6472-EE47-A4D3-543A5AA06FAB}"/>
              </a:ext>
            </a:extLst>
          </p:cNvPr>
          <p:cNvSpPr/>
          <p:nvPr/>
        </p:nvSpPr>
        <p:spPr>
          <a:xfrm>
            <a:off x="4170162" y="3505572"/>
            <a:ext cx="185814" cy="428403"/>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16" name="Rectangle 15">
            <a:extLst>
              <a:ext uri="{FF2B5EF4-FFF2-40B4-BE49-F238E27FC236}">
                <a16:creationId xmlns:a16="http://schemas.microsoft.com/office/drawing/2014/main" id="{41BDD35D-3CCA-6B44-BD91-1FF9C98FA8C8}"/>
              </a:ext>
            </a:extLst>
          </p:cNvPr>
          <p:cNvSpPr/>
          <p:nvPr/>
        </p:nvSpPr>
        <p:spPr>
          <a:xfrm>
            <a:off x="5247948" y="3512332"/>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17" name="Rectangle 16">
            <a:extLst>
              <a:ext uri="{FF2B5EF4-FFF2-40B4-BE49-F238E27FC236}">
                <a16:creationId xmlns:a16="http://schemas.microsoft.com/office/drawing/2014/main" id="{450F76D7-8121-1044-B91B-AA702E576C0E}"/>
              </a:ext>
            </a:extLst>
          </p:cNvPr>
          <p:cNvSpPr/>
          <p:nvPr/>
        </p:nvSpPr>
        <p:spPr>
          <a:xfrm>
            <a:off x="1576016" y="3512533"/>
            <a:ext cx="338081"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NAT</a:t>
            </a:r>
          </a:p>
        </p:txBody>
      </p:sp>
      <p:sp>
        <p:nvSpPr>
          <p:cNvPr id="26" name="Rectangle 25">
            <a:extLst>
              <a:ext uri="{FF2B5EF4-FFF2-40B4-BE49-F238E27FC236}">
                <a16:creationId xmlns:a16="http://schemas.microsoft.com/office/drawing/2014/main" id="{0763ABE8-4ADF-9743-A366-1263F1273864}"/>
              </a:ext>
            </a:extLst>
          </p:cNvPr>
          <p:cNvSpPr/>
          <p:nvPr/>
        </p:nvSpPr>
        <p:spPr>
          <a:xfrm>
            <a:off x="1912874" y="3512533"/>
            <a:ext cx="338081"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SIT</a:t>
            </a:r>
          </a:p>
        </p:txBody>
      </p:sp>
      <p:sp>
        <p:nvSpPr>
          <p:cNvPr id="27" name="Rectangle 26">
            <a:extLst>
              <a:ext uri="{FF2B5EF4-FFF2-40B4-BE49-F238E27FC236}">
                <a16:creationId xmlns:a16="http://schemas.microsoft.com/office/drawing/2014/main" id="{94100E3A-2F5A-764E-A4D2-B8BFCAE91F3A}"/>
              </a:ext>
            </a:extLst>
          </p:cNvPr>
          <p:cNvSpPr/>
          <p:nvPr/>
        </p:nvSpPr>
        <p:spPr>
          <a:xfrm>
            <a:off x="2250977" y="3512533"/>
            <a:ext cx="338081" cy="428403"/>
          </a:xfrm>
          <a:prstGeom prst="rect">
            <a:avLst/>
          </a:prstGeom>
          <a:solidFill>
            <a:schemeClr val="accent4">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SSA</a:t>
            </a:r>
          </a:p>
        </p:txBody>
      </p:sp>
      <p:grpSp>
        <p:nvGrpSpPr>
          <p:cNvPr id="35" name="Group 34">
            <a:extLst>
              <a:ext uri="{FF2B5EF4-FFF2-40B4-BE49-F238E27FC236}">
                <a16:creationId xmlns:a16="http://schemas.microsoft.com/office/drawing/2014/main" id="{F99B24B7-7467-3342-AA4A-C7D27D3F1EFD}"/>
              </a:ext>
            </a:extLst>
          </p:cNvPr>
          <p:cNvGrpSpPr/>
          <p:nvPr/>
        </p:nvGrpSpPr>
        <p:grpSpPr>
          <a:xfrm>
            <a:off x="1593076" y="4450401"/>
            <a:ext cx="341224" cy="428403"/>
            <a:chOff x="1576017" y="4164148"/>
            <a:chExt cx="341224" cy="428403"/>
          </a:xfrm>
        </p:grpSpPr>
        <p:sp>
          <p:nvSpPr>
            <p:cNvPr id="29" name="Rectangle 28">
              <a:extLst>
                <a:ext uri="{FF2B5EF4-FFF2-40B4-BE49-F238E27FC236}">
                  <a16:creationId xmlns:a16="http://schemas.microsoft.com/office/drawing/2014/main" id="{E1C010C2-3E57-104B-A940-1CF04310C309}"/>
                </a:ext>
              </a:extLst>
            </p:cNvPr>
            <p:cNvSpPr/>
            <p:nvPr/>
          </p:nvSpPr>
          <p:spPr>
            <a:xfrm>
              <a:off x="1576017"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3" name="Rectangle 32">
              <a:extLst>
                <a:ext uri="{FF2B5EF4-FFF2-40B4-BE49-F238E27FC236}">
                  <a16:creationId xmlns:a16="http://schemas.microsoft.com/office/drawing/2014/main" id="{2C4B287F-AB13-9B44-8A34-7F301D2C840D}"/>
                </a:ext>
              </a:extLst>
            </p:cNvPr>
            <p:cNvSpPr/>
            <p:nvPr/>
          </p:nvSpPr>
          <p:spPr>
            <a:xfrm>
              <a:off x="1746629"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grpSp>
        <p:nvGrpSpPr>
          <p:cNvPr id="36" name="Group 35">
            <a:extLst>
              <a:ext uri="{FF2B5EF4-FFF2-40B4-BE49-F238E27FC236}">
                <a16:creationId xmlns:a16="http://schemas.microsoft.com/office/drawing/2014/main" id="{D1A06B71-6E45-6348-A059-EE2A75BF3420}"/>
              </a:ext>
            </a:extLst>
          </p:cNvPr>
          <p:cNvGrpSpPr/>
          <p:nvPr/>
        </p:nvGrpSpPr>
        <p:grpSpPr>
          <a:xfrm>
            <a:off x="1998528" y="4450401"/>
            <a:ext cx="341224" cy="428403"/>
            <a:chOff x="1998528" y="4164148"/>
            <a:chExt cx="341224" cy="428403"/>
          </a:xfrm>
        </p:grpSpPr>
        <p:sp>
          <p:nvSpPr>
            <p:cNvPr id="30" name="Rectangle 29">
              <a:extLst>
                <a:ext uri="{FF2B5EF4-FFF2-40B4-BE49-F238E27FC236}">
                  <a16:creationId xmlns:a16="http://schemas.microsoft.com/office/drawing/2014/main" id="{8B356FE5-839B-0C4C-BD79-F74B3F79EFC3}"/>
                </a:ext>
              </a:extLst>
            </p:cNvPr>
            <p:cNvSpPr/>
            <p:nvPr/>
          </p:nvSpPr>
          <p:spPr>
            <a:xfrm>
              <a:off x="1998528"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4" name="Rectangle 33">
              <a:extLst>
                <a:ext uri="{FF2B5EF4-FFF2-40B4-BE49-F238E27FC236}">
                  <a16:creationId xmlns:a16="http://schemas.microsoft.com/office/drawing/2014/main" id="{110F12E6-E898-F140-A16E-5EF1D132C4CA}"/>
                </a:ext>
              </a:extLst>
            </p:cNvPr>
            <p:cNvSpPr/>
            <p:nvPr/>
          </p:nvSpPr>
          <p:spPr>
            <a:xfrm>
              <a:off x="2169140"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cxnSp>
        <p:nvCxnSpPr>
          <p:cNvPr id="44" name="Elbow Connector 43">
            <a:extLst>
              <a:ext uri="{FF2B5EF4-FFF2-40B4-BE49-F238E27FC236}">
                <a16:creationId xmlns:a16="http://schemas.microsoft.com/office/drawing/2014/main" id="{3DA596F7-CD54-6345-83BA-95727B7A6FB7}"/>
              </a:ext>
            </a:extLst>
          </p:cNvPr>
          <p:cNvCxnSpPr>
            <a:stCxn id="28" idx="2"/>
            <a:endCxn id="29" idx="2"/>
          </p:cNvCxnSpPr>
          <p:nvPr/>
        </p:nvCxnSpPr>
        <p:spPr>
          <a:xfrm rot="16200000" flipH="1">
            <a:off x="1475656" y="4676078"/>
            <a:ext cx="12700" cy="405452"/>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38034C7B-9924-4B44-8860-F3077C30486F}"/>
              </a:ext>
            </a:extLst>
          </p:cNvPr>
          <p:cNvCxnSpPr>
            <a:cxnSpLocks/>
            <a:stCxn id="28" idx="2"/>
            <a:endCxn id="30" idx="2"/>
          </p:cNvCxnSpPr>
          <p:nvPr/>
        </p:nvCxnSpPr>
        <p:spPr>
          <a:xfrm rot="16200000" flipH="1">
            <a:off x="1678382" y="4473352"/>
            <a:ext cx="12700" cy="810904"/>
          </a:xfrm>
          <a:prstGeom prst="bentConnector3">
            <a:avLst>
              <a:gd name="adj1" fmla="val 23818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Elbow Connector 47">
            <a:extLst>
              <a:ext uri="{FF2B5EF4-FFF2-40B4-BE49-F238E27FC236}">
                <a16:creationId xmlns:a16="http://schemas.microsoft.com/office/drawing/2014/main" id="{9BB40308-31F9-454E-BDCB-B3592F53D96D}"/>
              </a:ext>
            </a:extLst>
          </p:cNvPr>
          <p:cNvCxnSpPr>
            <a:cxnSpLocks/>
            <a:stCxn id="32" idx="2"/>
            <a:endCxn id="33" idx="2"/>
          </p:cNvCxnSpPr>
          <p:nvPr/>
        </p:nvCxnSpPr>
        <p:spPr>
          <a:xfrm rot="16200000" flipH="1">
            <a:off x="1646268" y="4676078"/>
            <a:ext cx="12700" cy="405452"/>
          </a:xfrm>
          <a:prstGeom prst="bentConnector3">
            <a:avLst>
              <a:gd name="adj1" fmla="val 320592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2BA2EFDE-FDA0-1B43-8610-B8AED24C814E}"/>
              </a:ext>
            </a:extLst>
          </p:cNvPr>
          <p:cNvCxnSpPr>
            <a:cxnSpLocks/>
            <a:stCxn id="32" idx="2"/>
            <a:endCxn id="34" idx="2"/>
          </p:cNvCxnSpPr>
          <p:nvPr/>
        </p:nvCxnSpPr>
        <p:spPr>
          <a:xfrm rot="16200000" flipH="1">
            <a:off x="1848994" y="4473352"/>
            <a:ext cx="12700" cy="810904"/>
          </a:xfrm>
          <a:prstGeom prst="bentConnector3">
            <a:avLst>
              <a:gd name="adj1" fmla="val 3840669"/>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B599E10-4C07-C349-90F6-5667DFAB37D1}"/>
              </a:ext>
            </a:extLst>
          </p:cNvPr>
          <p:cNvSpPr txBox="1"/>
          <p:nvPr/>
        </p:nvSpPr>
        <p:spPr>
          <a:xfrm>
            <a:off x="1067001" y="4258576"/>
            <a:ext cx="357790" cy="200055"/>
          </a:xfrm>
          <a:prstGeom prst="rect">
            <a:avLst/>
          </a:prstGeom>
          <a:noFill/>
        </p:spPr>
        <p:txBody>
          <a:bodyPr wrap="none" rtlCol="0">
            <a:spAutoFit/>
          </a:bodyPr>
          <a:lstStyle/>
          <a:p>
            <a:r>
              <a:rPr lang="en-CN" sz="700" dirty="0"/>
              <a:t>CP0</a:t>
            </a:r>
          </a:p>
        </p:txBody>
      </p:sp>
      <p:sp>
        <p:nvSpPr>
          <p:cNvPr id="59" name="TextBox 58">
            <a:extLst>
              <a:ext uri="{FF2B5EF4-FFF2-40B4-BE49-F238E27FC236}">
                <a16:creationId xmlns:a16="http://schemas.microsoft.com/office/drawing/2014/main" id="{F31BA9E1-C0D9-D549-84F7-0F9923E3158F}"/>
              </a:ext>
            </a:extLst>
          </p:cNvPr>
          <p:cNvSpPr txBox="1"/>
          <p:nvPr/>
        </p:nvSpPr>
        <p:spPr>
          <a:xfrm>
            <a:off x="1279280" y="4261751"/>
            <a:ext cx="357790" cy="200055"/>
          </a:xfrm>
          <a:prstGeom prst="rect">
            <a:avLst/>
          </a:prstGeom>
          <a:noFill/>
        </p:spPr>
        <p:txBody>
          <a:bodyPr wrap="none" rtlCol="0">
            <a:spAutoFit/>
          </a:bodyPr>
          <a:lstStyle/>
          <a:p>
            <a:r>
              <a:rPr lang="en-US" altLang="zh-CN" sz="700" dirty="0"/>
              <a:t>CP1</a:t>
            </a:r>
            <a:endParaRPr lang="en-CN" sz="700" dirty="0"/>
          </a:p>
        </p:txBody>
      </p:sp>
      <p:sp>
        <p:nvSpPr>
          <p:cNvPr id="60" name="Rectangle 59">
            <a:extLst>
              <a:ext uri="{FF2B5EF4-FFF2-40B4-BE49-F238E27FC236}">
                <a16:creationId xmlns:a16="http://schemas.microsoft.com/office/drawing/2014/main" id="{A44E4CBB-90A5-B544-8D9F-DEFD81AB2082}"/>
              </a:ext>
            </a:extLst>
          </p:cNvPr>
          <p:cNvSpPr/>
          <p:nvPr/>
        </p:nvSpPr>
        <p:spPr>
          <a:xfrm>
            <a:off x="1420539" y="4521346"/>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1" name="Rectangle 60">
            <a:extLst>
              <a:ext uri="{FF2B5EF4-FFF2-40B4-BE49-F238E27FC236}">
                <a16:creationId xmlns:a16="http://schemas.microsoft.com/office/drawing/2014/main" id="{F3BD593D-EB08-BF41-BBE2-D4EA1D563299}"/>
              </a:ext>
            </a:extLst>
          </p:cNvPr>
          <p:cNvSpPr/>
          <p:nvPr/>
        </p:nvSpPr>
        <p:spPr>
          <a:xfrm>
            <a:off x="1246350" y="4748239"/>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2" name="Rectangle 61">
            <a:extLst>
              <a:ext uri="{FF2B5EF4-FFF2-40B4-BE49-F238E27FC236}">
                <a16:creationId xmlns:a16="http://schemas.microsoft.com/office/drawing/2014/main" id="{1F82A2FE-1E67-E34B-9D3C-82A66BAC5F48}"/>
              </a:ext>
            </a:extLst>
          </p:cNvPr>
          <p:cNvSpPr/>
          <p:nvPr/>
        </p:nvSpPr>
        <p:spPr>
          <a:xfrm>
            <a:off x="1419713" y="4665236"/>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3" name="Rectangle 62">
            <a:extLst>
              <a:ext uri="{FF2B5EF4-FFF2-40B4-BE49-F238E27FC236}">
                <a16:creationId xmlns:a16="http://schemas.microsoft.com/office/drawing/2014/main" id="{8AE316E7-87A1-BC4D-9F82-B9974B405AD1}"/>
              </a:ext>
            </a:extLst>
          </p:cNvPr>
          <p:cNvSpPr/>
          <p:nvPr/>
        </p:nvSpPr>
        <p:spPr>
          <a:xfrm>
            <a:off x="1419713" y="4751933"/>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4" name="Rectangle 63">
            <a:extLst>
              <a:ext uri="{FF2B5EF4-FFF2-40B4-BE49-F238E27FC236}">
                <a16:creationId xmlns:a16="http://schemas.microsoft.com/office/drawing/2014/main" id="{14DDD204-7CE2-1240-9676-BD0908D48B14}"/>
              </a:ext>
            </a:extLst>
          </p:cNvPr>
          <p:cNvSpPr/>
          <p:nvPr/>
        </p:nvSpPr>
        <p:spPr>
          <a:xfrm>
            <a:off x="1246350" y="4516241"/>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5" name="Rectangle 64">
            <a:extLst>
              <a:ext uri="{FF2B5EF4-FFF2-40B4-BE49-F238E27FC236}">
                <a16:creationId xmlns:a16="http://schemas.microsoft.com/office/drawing/2014/main" id="{EBC3E297-A319-CC4C-9AE2-BC7B7360AB9C}"/>
              </a:ext>
            </a:extLst>
          </p:cNvPr>
          <p:cNvSpPr/>
          <p:nvPr/>
        </p:nvSpPr>
        <p:spPr>
          <a:xfrm>
            <a:off x="1246350" y="4602938"/>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6" name="TextBox 65">
            <a:extLst>
              <a:ext uri="{FF2B5EF4-FFF2-40B4-BE49-F238E27FC236}">
                <a16:creationId xmlns:a16="http://schemas.microsoft.com/office/drawing/2014/main" id="{B6FFE3B7-0A69-BA4A-99B9-F41C08CFD2C9}"/>
              </a:ext>
            </a:extLst>
          </p:cNvPr>
          <p:cNvSpPr txBox="1"/>
          <p:nvPr/>
        </p:nvSpPr>
        <p:spPr>
          <a:xfrm>
            <a:off x="263889" y="4556414"/>
            <a:ext cx="981515" cy="230832"/>
          </a:xfrm>
          <a:prstGeom prst="rect">
            <a:avLst/>
          </a:prstGeom>
          <a:noFill/>
        </p:spPr>
        <p:txBody>
          <a:bodyPr wrap="square" rtlCol="0">
            <a:spAutoFit/>
          </a:bodyPr>
          <a:lstStyle/>
          <a:p>
            <a:r>
              <a:rPr lang="en-US" altLang="zh-CN" sz="900" dirty="0"/>
              <a:t>NAT/SIT</a:t>
            </a:r>
            <a:r>
              <a:rPr lang="zh-CN" altLang="en-US" sz="900" dirty="0"/>
              <a:t>的日志</a:t>
            </a:r>
            <a:endParaRPr lang="en-CN" sz="900" dirty="0"/>
          </a:p>
        </p:txBody>
      </p:sp>
      <p:cxnSp>
        <p:nvCxnSpPr>
          <p:cNvPr id="67" name="Elbow Connector 66">
            <a:extLst>
              <a:ext uri="{FF2B5EF4-FFF2-40B4-BE49-F238E27FC236}">
                <a16:creationId xmlns:a16="http://schemas.microsoft.com/office/drawing/2014/main" id="{34E933EF-B5B0-ED4C-A69B-2FA633CABF0E}"/>
              </a:ext>
            </a:extLst>
          </p:cNvPr>
          <p:cNvCxnSpPr>
            <a:cxnSpLocks/>
            <a:stCxn id="13" idx="0"/>
            <a:endCxn id="15" idx="0"/>
          </p:cNvCxnSpPr>
          <p:nvPr/>
        </p:nvCxnSpPr>
        <p:spPr>
          <a:xfrm rot="5400000" flipH="1" flipV="1">
            <a:off x="3798436" y="3047699"/>
            <a:ext cx="6759" cy="922507"/>
          </a:xfrm>
          <a:prstGeom prst="bentConnector3">
            <a:avLst>
              <a:gd name="adj1" fmla="val 3482157"/>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E43EE5A1-482F-E24E-AF85-2ADF92890EA7}"/>
              </a:ext>
            </a:extLst>
          </p:cNvPr>
          <p:cNvCxnSpPr>
            <a:cxnSpLocks/>
            <a:stCxn id="29" idx="0"/>
            <a:endCxn id="13" idx="2"/>
          </p:cNvCxnSpPr>
          <p:nvPr/>
        </p:nvCxnSpPr>
        <p:spPr>
          <a:xfrm rot="5400000" flipH="1" flipV="1">
            <a:off x="2254639" y="3364478"/>
            <a:ext cx="509667" cy="1662180"/>
          </a:xfrm>
          <a:prstGeom prst="bentConnector3">
            <a:avLst>
              <a:gd name="adj1" fmla="val 7064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EA843193-2E61-3547-88D8-8C426D52D344}"/>
              </a:ext>
            </a:extLst>
          </p:cNvPr>
          <p:cNvSpPr/>
          <p:nvPr/>
        </p:nvSpPr>
        <p:spPr>
          <a:xfrm>
            <a:off x="5424079" y="3512331"/>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77" name="Rectangle 76">
            <a:extLst>
              <a:ext uri="{FF2B5EF4-FFF2-40B4-BE49-F238E27FC236}">
                <a16:creationId xmlns:a16="http://schemas.microsoft.com/office/drawing/2014/main" id="{151A0570-3725-674F-9999-ED1881252D6D}"/>
              </a:ext>
            </a:extLst>
          </p:cNvPr>
          <p:cNvSpPr/>
          <p:nvPr/>
        </p:nvSpPr>
        <p:spPr>
          <a:xfrm>
            <a:off x="6334288" y="3511927"/>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cxnSp>
        <p:nvCxnSpPr>
          <p:cNvPr id="78" name="Elbow Connector 77">
            <a:extLst>
              <a:ext uri="{FF2B5EF4-FFF2-40B4-BE49-F238E27FC236}">
                <a16:creationId xmlns:a16="http://schemas.microsoft.com/office/drawing/2014/main" id="{23AAFE6F-4189-C549-A860-1B8AC4738BEF}"/>
              </a:ext>
            </a:extLst>
          </p:cNvPr>
          <p:cNvCxnSpPr>
            <a:cxnSpLocks/>
            <a:stCxn id="29" idx="0"/>
            <a:endCxn id="16" idx="2"/>
          </p:cNvCxnSpPr>
          <p:nvPr/>
        </p:nvCxnSpPr>
        <p:spPr>
          <a:xfrm rot="5400000" flipH="1" flipV="1">
            <a:off x="3250985" y="2368132"/>
            <a:ext cx="509666" cy="3654872"/>
          </a:xfrm>
          <a:prstGeom prst="bentConnector3">
            <a:avLst>
              <a:gd name="adj1" fmla="val 5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72D8ED86-EB52-2C4B-9564-D89FCBFC5DB0}"/>
              </a:ext>
            </a:extLst>
          </p:cNvPr>
          <p:cNvCxnSpPr>
            <a:cxnSpLocks/>
            <a:stCxn id="76" idx="2"/>
            <a:endCxn id="77" idx="2"/>
          </p:cNvCxnSpPr>
          <p:nvPr/>
        </p:nvCxnSpPr>
        <p:spPr>
          <a:xfrm rot="5400000" flipH="1" flipV="1">
            <a:off x="5976816" y="3472898"/>
            <a:ext cx="404" cy="935267"/>
          </a:xfrm>
          <a:prstGeom prst="bentConnector3">
            <a:avLst>
              <a:gd name="adj1" fmla="val -56584158"/>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6F585F33-AA29-E74D-9998-87D2818BA2AE}"/>
              </a:ext>
            </a:extLst>
          </p:cNvPr>
          <p:cNvCxnSpPr>
            <a:cxnSpLocks/>
            <a:stCxn id="16" idx="0"/>
            <a:endCxn id="14" idx="0"/>
          </p:cNvCxnSpPr>
          <p:nvPr/>
        </p:nvCxnSpPr>
        <p:spPr>
          <a:xfrm rot="5400000" flipH="1" flipV="1">
            <a:off x="5778589" y="3066997"/>
            <a:ext cx="1" cy="890671"/>
          </a:xfrm>
          <a:prstGeom prst="bentConnector3">
            <a:avLst>
              <a:gd name="adj1" fmla="val 2286010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325BC697-A41C-374D-A69A-B16218FF35D9}"/>
              </a:ext>
            </a:extLst>
          </p:cNvPr>
          <p:cNvSpPr txBox="1"/>
          <p:nvPr/>
        </p:nvSpPr>
        <p:spPr>
          <a:xfrm>
            <a:off x="2990552" y="3922812"/>
            <a:ext cx="389815" cy="230832"/>
          </a:xfrm>
          <a:prstGeom prst="rect">
            <a:avLst/>
          </a:prstGeom>
          <a:noFill/>
        </p:spPr>
        <p:txBody>
          <a:bodyPr wrap="square" rtlCol="0">
            <a:spAutoFit/>
          </a:bodyPr>
          <a:lstStyle/>
          <a:p>
            <a:r>
              <a:rPr lang="en-US" altLang="zh-CN" sz="900" dirty="0"/>
              <a:t>dir1</a:t>
            </a:r>
            <a:endParaRPr lang="en-CN" sz="900" dirty="0"/>
          </a:p>
        </p:txBody>
      </p:sp>
      <p:sp>
        <p:nvSpPr>
          <p:cNvPr id="91" name="TextBox 90">
            <a:extLst>
              <a:ext uri="{FF2B5EF4-FFF2-40B4-BE49-F238E27FC236}">
                <a16:creationId xmlns:a16="http://schemas.microsoft.com/office/drawing/2014/main" id="{68A33BD3-36BF-AC4E-B472-099D9A6E8EA1}"/>
              </a:ext>
            </a:extLst>
          </p:cNvPr>
          <p:cNvSpPr txBox="1"/>
          <p:nvPr/>
        </p:nvSpPr>
        <p:spPr>
          <a:xfrm>
            <a:off x="4962398" y="3950034"/>
            <a:ext cx="473222" cy="230832"/>
          </a:xfrm>
          <a:prstGeom prst="rect">
            <a:avLst/>
          </a:prstGeom>
          <a:noFill/>
        </p:spPr>
        <p:txBody>
          <a:bodyPr wrap="square" rtlCol="0">
            <a:spAutoFit/>
          </a:bodyPr>
          <a:lstStyle/>
          <a:p>
            <a:r>
              <a:rPr lang="en-US" altLang="zh-CN" sz="900" dirty="0"/>
              <a:t>file1</a:t>
            </a:r>
            <a:endParaRPr lang="en-CN" sz="900" dirty="0"/>
          </a:p>
        </p:txBody>
      </p:sp>
      <p:sp>
        <p:nvSpPr>
          <p:cNvPr id="92" name="TextBox 91">
            <a:extLst>
              <a:ext uri="{FF2B5EF4-FFF2-40B4-BE49-F238E27FC236}">
                <a16:creationId xmlns:a16="http://schemas.microsoft.com/office/drawing/2014/main" id="{0144F127-C44A-3F45-8568-EAEDA791C299}"/>
              </a:ext>
            </a:extLst>
          </p:cNvPr>
          <p:cNvSpPr txBox="1"/>
          <p:nvPr/>
        </p:nvSpPr>
        <p:spPr>
          <a:xfrm>
            <a:off x="5457538" y="3945630"/>
            <a:ext cx="473222" cy="230832"/>
          </a:xfrm>
          <a:prstGeom prst="rect">
            <a:avLst/>
          </a:prstGeom>
          <a:noFill/>
        </p:spPr>
        <p:txBody>
          <a:bodyPr wrap="square" rtlCol="0">
            <a:spAutoFit/>
          </a:bodyPr>
          <a:lstStyle/>
          <a:p>
            <a:r>
              <a:rPr lang="en-US" altLang="zh-CN" sz="900" dirty="0"/>
              <a:t>file2</a:t>
            </a:r>
            <a:endParaRPr lang="en-CN" sz="900" dirty="0"/>
          </a:p>
        </p:txBody>
      </p:sp>
      <p:sp>
        <p:nvSpPr>
          <p:cNvPr id="50" name="Rectangle 49">
            <a:extLst>
              <a:ext uri="{FF2B5EF4-FFF2-40B4-BE49-F238E27FC236}">
                <a16:creationId xmlns:a16="http://schemas.microsoft.com/office/drawing/2014/main" id="{74084A99-069A-B440-9AAE-2197519C6F9C}"/>
              </a:ext>
            </a:extLst>
          </p:cNvPr>
          <p:cNvSpPr/>
          <p:nvPr/>
        </p:nvSpPr>
        <p:spPr>
          <a:xfrm>
            <a:off x="3238196" y="3523494"/>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1" name="Rectangle 50">
            <a:extLst>
              <a:ext uri="{FF2B5EF4-FFF2-40B4-BE49-F238E27FC236}">
                <a16:creationId xmlns:a16="http://schemas.microsoft.com/office/drawing/2014/main" id="{C99FB954-DEF8-1C4B-9A26-EB0B00005DE7}"/>
              </a:ext>
            </a:extLst>
          </p:cNvPr>
          <p:cNvSpPr/>
          <p:nvPr/>
        </p:nvSpPr>
        <p:spPr>
          <a:xfrm>
            <a:off x="5252303" y="3511522"/>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3" name="Rectangle 52">
            <a:extLst>
              <a:ext uri="{FF2B5EF4-FFF2-40B4-BE49-F238E27FC236}">
                <a16:creationId xmlns:a16="http://schemas.microsoft.com/office/drawing/2014/main" id="{F81185A4-6FD5-594F-9275-4CF53B724F79}"/>
              </a:ext>
            </a:extLst>
          </p:cNvPr>
          <p:cNvSpPr/>
          <p:nvPr/>
        </p:nvSpPr>
        <p:spPr>
          <a:xfrm>
            <a:off x="4172762" y="3516311"/>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4" name="Rectangle 53">
            <a:extLst>
              <a:ext uri="{FF2B5EF4-FFF2-40B4-BE49-F238E27FC236}">
                <a16:creationId xmlns:a16="http://schemas.microsoft.com/office/drawing/2014/main" id="{C55E3245-18BD-684F-B8AE-EB88BDBEAB66}"/>
              </a:ext>
            </a:extLst>
          </p:cNvPr>
          <p:cNvSpPr/>
          <p:nvPr/>
        </p:nvSpPr>
        <p:spPr>
          <a:xfrm>
            <a:off x="6115766" y="3511926"/>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9" name="Oval 8">
            <a:extLst>
              <a:ext uri="{FF2B5EF4-FFF2-40B4-BE49-F238E27FC236}">
                <a16:creationId xmlns:a16="http://schemas.microsoft.com/office/drawing/2014/main" id="{95C34FDD-1029-DC4C-8DFE-8AAFC6FAC1A9}"/>
              </a:ext>
            </a:extLst>
          </p:cNvPr>
          <p:cNvSpPr/>
          <p:nvPr/>
        </p:nvSpPr>
        <p:spPr>
          <a:xfrm>
            <a:off x="5464773" y="3798499"/>
            <a:ext cx="89221" cy="9890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5" name="Elbow Connector 54">
            <a:extLst>
              <a:ext uri="{FF2B5EF4-FFF2-40B4-BE49-F238E27FC236}">
                <a16:creationId xmlns:a16="http://schemas.microsoft.com/office/drawing/2014/main" id="{DD20A236-16BF-014F-AC6F-561A38771D78}"/>
              </a:ext>
            </a:extLst>
          </p:cNvPr>
          <p:cNvCxnSpPr>
            <a:cxnSpLocks/>
            <a:stCxn id="12" idx="2"/>
            <a:endCxn id="9" idx="7"/>
          </p:cNvCxnSpPr>
          <p:nvPr/>
        </p:nvCxnSpPr>
        <p:spPr>
          <a:xfrm flipH="1">
            <a:off x="5540928" y="2976733"/>
            <a:ext cx="487141" cy="836250"/>
          </a:xfrm>
          <a:prstGeom prst="straightConnector1">
            <a:avLst/>
          </a:prstGeom>
          <a:ln cap="flat">
            <a:solidFill>
              <a:srgbClr val="00B050"/>
            </a:solidFill>
            <a:roun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0DA0594-6DAE-B94D-8BB1-9F37C840C474}"/>
              </a:ext>
            </a:extLst>
          </p:cNvPr>
          <p:cNvSpPr txBox="1"/>
          <p:nvPr/>
        </p:nvSpPr>
        <p:spPr>
          <a:xfrm>
            <a:off x="5602311" y="2699734"/>
            <a:ext cx="851515" cy="276999"/>
          </a:xfrm>
          <a:prstGeom prst="rect">
            <a:avLst/>
          </a:prstGeom>
          <a:noFill/>
        </p:spPr>
        <p:txBody>
          <a:bodyPr wrap="none" rtlCol="0">
            <a:spAutoFit/>
          </a:bodyPr>
          <a:lstStyle/>
          <a:p>
            <a:r>
              <a:rPr lang="en-US" sz="1200" dirty="0"/>
              <a:t>f</a:t>
            </a:r>
            <a:r>
              <a:rPr lang="en-CN" sz="1200" dirty="0"/>
              <a:t>sync</a:t>
            </a:r>
            <a:r>
              <a:rPr lang="zh-CN" altLang="en-CN" sz="1200" dirty="0"/>
              <a:t>标记</a:t>
            </a:r>
            <a:endParaRPr lang="en-CN" sz="1200" dirty="0"/>
          </a:p>
        </p:txBody>
      </p:sp>
      <p:sp>
        <p:nvSpPr>
          <p:cNvPr id="68" name="TextBox 67">
            <a:extLst>
              <a:ext uri="{FF2B5EF4-FFF2-40B4-BE49-F238E27FC236}">
                <a16:creationId xmlns:a16="http://schemas.microsoft.com/office/drawing/2014/main" id="{3966DB87-A7EA-6746-AA7B-D2F015512FAF}"/>
              </a:ext>
            </a:extLst>
          </p:cNvPr>
          <p:cNvSpPr txBox="1"/>
          <p:nvPr/>
        </p:nvSpPr>
        <p:spPr>
          <a:xfrm>
            <a:off x="1133270" y="5379211"/>
            <a:ext cx="1383563" cy="230832"/>
          </a:xfrm>
          <a:prstGeom prst="rect">
            <a:avLst/>
          </a:prstGeom>
          <a:noFill/>
        </p:spPr>
        <p:txBody>
          <a:bodyPr wrap="square" rtlCol="0">
            <a:spAutoFit/>
          </a:bodyPr>
          <a:lstStyle/>
          <a:p>
            <a:r>
              <a:rPr lang="zh-CN" altLang="en-US" sz="900" dirty="0"/>
              <a:t>选择</a:t>
            </a:r>
            <a:r>
              <a:rPr lang="en-US" altLang="zh-CN" sz="900" dirty="0"/>
              <a:t>NAT/SIT</a:t>
            </a:r>
            <a:r>
              <a:rPr lang="zh-CN" altLang="en-US" sz="900" dirty="0"/>
              <a:t>的 </a:t>
            </a:r>
            <a:r>
              <a:rPr lang="en-US" altLang="zh-CN" sz="900" dirty="0"/>
              <a:t>bitmap</a:t>
            </a:r>
            <a:endParaRPr lang="en-CN" sz="900" dirty="0"/>
          </a:p>
        </p:txBody>
      </p:sp>
      <p:sp>
        <p:nvSpPr>
          <p:cNvPr id="10" name="TextBox 9">
            <a:extLst>
              <a:ext uri="{FF2B5EF4-FFF2-40B4-BE49-F238E27FC236}">
                <a16:creationId xmlns:a16="http://schemas.microsoft.com/office/drawing/2014/main" id="{16A81463-2B39-0842-B7C8-234DAFA5E738}"/>
              </a:ext>
            </a:extLst>
          </p:cNvPr>
          <p:cNvSpPr txBox="1"/>
          <p:nvPr/>
        </p:nvSpPr>
        <p:spPr>
          <a:xfrm>
            <a:off x="4860111" y="784030"/>
            <a:ext cx="3416320" cy="369332"/>
          </a:xfrm>
          <a:prstGeom prst="rect">
            <a:avLst/>
          </a:prstGeom>
          <a:noFill/>
        </p:spPr>
        <p:txBody>
          <a:bodyPr wrap="none" rtlCol="0">
            <a:spAutoFit/>
          </a:bodyPr>
          <a:lstStyle/>
          <a:p>
            <a:r>
              <a:rPr lang="zh-CN" altLang="en-US" dirty="0">
                <a:solidFill>
                  <a:srgbClr val="C00000"/>
                </a:solidFill>
              </a:rPr>
              <a:t>回想一下：为何要需要检查点？</a:t>
            </a:r>
            <a:endParaRPr lang="en-CN" dirty="0">
              <a:solidFill>
                <a:srgbClr val="C00000"/>
              </a:solidFill>
            </a:endParaRPr>
          </a:p>
        </p:txBody>
      </p:sp>
    </p:spTree>
    <p:extLst>
      <p:ext uri="{BB962C8B-B14F-4D97-AF65-F5344CB8AC3E}">
        <p14:creationId xmlns:p14="http://schemas.microsoft.com/office/powerpoint/2010/main" val="18214277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AE2A964-574E-8743-85B1-66E29DE4D400}"/>
              </a:ext>
            </a:extLst>
          </p:cNvPr>
          <p:cNvGrpSpPr/>
          <p:nvPr/>
        </p:nvGrpSpPr>
        <p:grpSpPr>
          <a:xfrm>
            <a:off x="1187624" y="4450401"/>
            <a:ext cx="341224" cy="428403"/>
            <a:chOff x="1187624" y="4164148"/>
            <a:chExt cx="341224" cy="428403"/>
          </a:xfrm>
        </p:grpSpPr>
        <p:sp>
          <p:nvSpPr>
            <p:cNvPr id="28" name="Rectangle 27">
              <a:extLst>
                <a:ext uri="{FF2B5EF4-FFF2-40B4-BE49-F238E27FC236}">
                  <a16:creationId xmlns:a16="http://schemas.microsoft.com/office/drawing/2014/main" id="{0F51F856-B0A5-7543-9E4B-C62C69296C0A}"/>
                </a:ext>
              </a:extLst>
            </p:cNvPr>
            <p:cNvSpPr/>
            <p:nvPr/>
          </p:nvSpPr>
          <p:spPr>
            <a:xfrm>
              <a:off x="1187624"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32" name="Rectangle 31">
              <a:extLst>
                <a:ext uri="{FF2B5EF4-FFF2-40B4-BE49-F238E27FC236}">
                  <a16:creationId xmlns:a16="http://schemas.microsoft.com/office/drawing/2014/main" id="{217AA249-4220-F246-8A84-6B8F7226EFC1}"/>
                </a:ext>
              </a:extLst>
            </p:cNvPr>
            <p:cNvSpPr/>
            <p:nvPr/>
          </p:nvSpPr>
          <p:spPr>
            <a:xfrm>
              <a:off x="1358236"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grpSp>
      <p:sp>
        <p:nvSpPr>
          <p:cNvPr id="2" name="Title 1">
            <a:extLst>
              <a:ext uri="{FF2B5EF4-FFF2-40B4-BE49-F238E27FC236}">
                <a16:creationId xmlns:a16="http://schemas.microsoft.com/office/drawing/2014/main" id="{DBBC564D-17F9-C448-AA59-352083BE6109}"/>
              </a:ext>
            </a:extLst>
          </p:cNvPr>
          <p:cNvSpPr>
            <a:spLocks noGrp="1"/>
          </p:cNvSpPr>
          <p:nvPr>
            <p:ph type="title"/>
          </p:nvPr>
        </p:nvSpPr>
        <p:spPr/>
        <p:txBody>
          <a:bodyPr/>
          <a:lstStyle/>
          <a:p>
            <a:r>
              <a:rPr lang="zh-CN" altLang="en-CN" dirty="0"/>
              <a:t>崩溃</a:t>
            </a:r>
            <a:r>
              <a:rPr lang="zh-CN" altLang="en-US" dirty="0"/>
              <a:t>与恢复</a:t>
            </a:r>
            <a:endParaRPr lang="en-CN" dirty="0"/>
          </a:p>
        </p:txBody>
      </p:sp>
      <p:sp>
        <p:nvSpPr>
          <p:cNvPr id="3" name="Content Placeholder 2">
            <a:extLst>
              <a:ext uri="{FF2B5EF4-FFF2-40B4-BE49-F238E27FC236}">
                <a16:creationId xmlns:a16="http://schemas.microsoft.com/office/drawing/2014/main" id="{875AFC27-5399-ED43-ADA6-519D725C6CD0}"/>
              </a:ext>
            </a:extLst>
          </p:cNvPr>
          <p:cNvSpPr>
            <a:spLocks noGrp="1"/>
          </p:cNvSpPr>
          <p:nvPr>
            <p:ph idx="1"/>
          </p:nvPr>
        </p:nvSpPr>
        <p:spPr/>
        <p:txBody>
          <a:bodyPr>
            <a:normAutofit/>
          </a:bodyPr>
          <a:lstStyle/>
          <a:p>
            <a:pPr marL="0" indent="266700">
              <a:buNone/>
            </a:pPr>
            <a:r>
              <a:rPr lang="en-US" altLang="zh-CN" sz="1800" b="0" dirty="0"/>
              <a:t>1. </a:t>
            </a:r>
            <a:r>
              <a:rPr lang="zh-CN" altLang="en-US" sz="1800" b="0" dirty="0"/>
              <a:t>创建</a:t>
            </a:r>
            <a:r>
              <a:rPr lang="en-US" altLang="zh-CN" sz="1800" b="0" dirty="0"/>
              <a:t>dir1</a:t>
            </a:r>
            <a:r>
              <a:rPr lang="zh-CN" altLang="en-US" sz="1800" b="0" dirty="0"/>
              <a:t>和</a:t>
            </a:r>
            <a:r>
              <a:rPr lang="en-US" altLang="zh-CN" sz="1800" b="0" dirty="0"/>
              <a:t>file1</a:t>
            </a:r>
          </a:p>
        </p:txBody>
      </p:sp>
      <p:sp>
        <p:nvSpPr>
          <p:cNvPr id="4" name="Slide Number Placeholder 3">
            <a:extLst>
              <a:ext uri="{FF2B5EF4-FFF2-40B4-BE49-F238E27FC236}">
                <a16:creationId xmlns:a16="http://schemas.microsoft.com/office/drawing/2014/main" id="{AEF1F4F4-7E2B-5447-B8C2-571028981E0D}"/>
              </a:ext>
            </a:extLst>
          </p:cNvPr>
          <p:cNvSpPr>
            <a:spLocks noGrp="1"/>
          </p:cNvSpPr>
          <p:nvPr>
            <p:ph type="sldNum" sz="quarter" idx="12"/>
          </p:nvPr>
        </p:nvSpPr>
        <p:spPr/>
        <p:txBody>
          <a:bodyPr/>
          <a:lstStyle/>
          <a:p>
            <a:fld id="{ADE361C3-C043-4A6E-BDCE-8DA1E7D90A3B}" type="slidenum">
              <a:rPr lang="zh-CN" altLang="en-US" smtClean="0"/>
              <a:t>60</a:t>
            </a:fld>
            <a:endParaRPr lang="zh-CN" altLang="en-US"/>
          </a:p>
        </p:txBody>
      </p:sp>
      <p:sp>
        <p:nvSpPr>
          <p:cNvPr id="5" name="Footer Placeholder 4">
            <a:extLst>
              <a:ext uri="{FF2B5EF4-FFF2-40B4-BE49-F238E27FC236}">
                <a16:creationId xmlns:a16="http://schemas.microsoft.com/office/drawing/2014/main" id="{D989E998-8001-E14F-8C78-0C517B0CD53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A9715CE5-D431-3F4A-9150-C2E96CD8407F}"/>
              </a:ext>
            </a:extLst>
          </p:cNvPr>
          <p:cNvSpPr/>
          <p:nvPr/>
        </p:nvSpPr>
        <p:spPr>
          <a:xfrm>
            <a:off x="899592" y="3512331"/>
            <a:ext cx="7688538" cy="428403"/>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 name="Rectangle 6">
            <a:extLst>
              <a:ext uri="{FF2B5EF4-FFF2-40B4-BE49-F238E27FC236}">
                <a16:creationId xmlns:a16="http://schemas.microsoft.com/office/drawing/2014/main" id="{76516D39-9DCA-734D-8926-B7B8C239AE52}"/>
              </a:ext>
            </a:extLst>
          </p:cNvPr>
          <p:cNvSpPr/>
          <p:nvPr/>
        </p:nvSpPr>
        <p:spPr>
          <a:xfrm>
            <a:off x="894954" y="3512735"/>
            <a:ext cx="239411" cy="428403"/>
          </a:xfrm>
          <a:prstGeom prst="rect">
            <a:avLst/>
          </a:prstGeom>
          <a:solidFill>
            <a:schemeClr val="accent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SB</a:t>
            </a:r>
          </a:p>
        </p:txBody>
      </p:sp>
      <p:sp>
        <p:nvSpPr>
          <p:cNvPr id="8" name="Rectangle 7">
            <a:extLst>
              <a:ext uri="{FF2B5EF4-FFF2-40B4-BE49-F238E27FC236}">
                <a16:creationId xmlns:a16="http://schemas.microsoft.com/office/drawing/2014/main" id="{65505E9F-26DC-1C47-936B-EB230DF77FF9}"/>
              </a:ext>
            </a:extLst>
          </p:cNvPr>
          <p:cNvSpPr/>
          <p:nvPr/>
        </p:nvSpPr>
        <p:spPr>
          <a:xfrm>
            <a:off x="1233035" y="3512735"/>
            <a:ext cx="338081"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3" name="Rectangle 12">
            <a:extLst>
              <a:ext uri="{FF2B5EF4-FFF2-40B4-BE49-F238E27FC236}">
                <a16:creationId xmlns:a16="http://schemas.microsoft.com/office/drawing/2014/main" id="{B9548E21-BA93-ED4C-8F67-4A3D22A1A80D}"/>
              </a:ext>
            </a:extLst>
          </p:cNvPr>
          <p:cNvSpPr/>
          <p:nvPr/>
        </p:nvSpPr>
        <p:spPr>
          <a:xfrm>
            <a:off x="3242997" y="3512331"/>
            <a:ext cx="195130"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4" name="Rectangle 13">
            <a:extLst>
              <a:ext uri="{FF2B5EF4-FFF2-40B4-BE49-F238E27FC236}">
                <a16:creationId xmlns:a16="http://schemas.microsoft.com/office/drawing/2014/main" id="{8D7A1BC3-D3CD-B74F-97B5-9D5082324841}"/>
              </a:ext>
            </a:extLst>
          </p:cNvPr>
          <p:cNvSpPr/>
          <p:nvPr/>
        </p:nvSpPr>
        <p:spPr>
          <a:xfrm>
            <a:off x="6113561" y="3512331"/>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15" name="Rectangle 14">
            <a:extLst>
              <a:ext uri="{FF2B5EF4-FFF2-40B4-BE49-F238E27FC236}">
                <a16:creationId xmlns:a16="http://schemas.microsoft.com/office/drawing/2014/main" id="{B2159BE4-6472-EE47-A4D3-543A5AA06FAB}"/>
              </a:ext>
            </a:extLst>
          </p:cNvPr>
          <p:cNvSpPr/>
          <p:nvPr/>
        </p:nvSpPr>
        <p:spPr>
          <a:xfrm>
            <a:off x="4170162" y="3505572"/>
            <a:ext cx="185814" cy="428403"/>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16" name="Rectangle 15">
            <a:extLst>
              <a:ext uri="{FF2B5EF4-FFF2-40B4-BE49-F238E27FC236}">
                <a16:creationId xmlns:a16="http://schemas.microsoft.com/office/drawing/2014/main" id="{41BDD35D-3CCA-6B44-BD91-1FF9C98FA8C8}"/>
              </a:ext>
            </a:extLst>
          </p:cNvPr>
          <p:cNvSpPr/>
          <p:nvPr/>
        </p:nvSpPr>
        <p:spPr>
          <a:xfrm>
            <a:off x="5247948" y="3512332"/>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17" name="Rectangle 16">
            <a:extLst>
              <a:ext uri="{FF2B5EF4-FFF2-40B4-BE49-F238E27FC236}">
                <a16:creationId xmlns:a16="http://schemas.microsoft.com/office/drawing/2014/main" id="{450F76D7-8121-1044-B91B-AA702E576C0E}"/>
              </a:ext>
            </a:extLst>
          </p:cNvPr>
          <p:cNvSpPr/>
          <p:nvPr/>
        </p:nvSpPr>
        <p:spPr>
          <a:xfrm>
            <a:off x="1576016" y="3512533"/>
            <a:ext cx="338081"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NAT</a:t>
            </a:r>
          </a:p>
        </p:txBody>
      </p:sp>
      <p:sp>
        <p:nvSpPr>
          <p:cNvPr id="26" name="Rectangle 25">
            <a:extLst>
              <a:ext uri="{FF2B5EF4-FFF2-40B4-BE49-F238E27FC236}">
                <a16:creationId xmlns:a16="http://schemas.microsoft.com/office/drawing/2014/main" id="{0763ABE8-4ADF-9743-A366-1263F1273864}"/>
              </a:ext>
            </a:extLst>
          </p:cNvPr>
          <p:cNvSpPr/>
          <p:nvPr/>
        </p:nvSpPr>
        <p:spPr>
          <a:xfrm>
            <a:off x="1912874" y="3512533"/>
            <a:ext cx="338081"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SIT</a:t>
            </a:r>
          </a:p>
        </p:txBody>
      </p:sp>
      <p:sp>
        <p:nvSpPr>
          <p:cNvPr id="27" name="Rectangle 26">
            <a:extLst>
              <a:ext uri="{FF2B5EF4-FFF2-40B4-BE49-F238E27FC236}">
                <a16:creationId xmlns:a16="http://schemas.microsoft.com/office/drawing/2014/main" id="{94100E3A-2F5A-764E-A4D2-B8BFCAE91F3A}"/>
              </a:ext>
            </a:extLst>
          </p:cNvPr>
          <p:cNvSpPr/>
          <p:nvPr/>
        </p:nvSpPr>
        <p:spPr>
          <a:xfrm>
            <a:off x="2250977" y="3512533"/>
            <a:ext cx="338081" cy="428403"/>
          </a:xfrm>
          <a:prstGeom prst="rect">
            <a:avLst/>
          </a:prstGeom>
          <a:solidFill>
            <a:schemeClr val="accent4">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SSA</a:t>
            </a:r>
          </a:p>
        </p:txBody>
      </p:sp>
      <p:grpSp>
        <p:nvGrpSpPr>
          <p:cNvPr id="35" name="Group 34">
            <a:extLst>
              <a:ext uri="{FF2B5EF4-FFF2-40B4-BE49-F238E27FC236}">
                <a16:creationId xmlns:a16="http://schemas.microsoft.com/office/drawing/2014/main" id="{F99B24B7-7467-3342-AA4A-C7D27D3F1EFD}"/>
              </a:ext>
            </a:extLst>
          </p:cNvPr>
          <p:cNvGrpSpPr/>
          <p:nvPr/>
        </p:nvGrpSpPr>
        <p:grpSpPr>
          <a:xfrm>
            <a:off x="1593076" y="4450401"/>
            <a:ext cx="341224" cy="428403"/>
            <a:chOff x="1576017" y="4164148"/>
            <a:chExt cx="341224" cy="428403"/>
          </a:xfrm>
        </p:grpSpPr>
        <p:sp>
          <p:nvSpPr>
            <p:cNvPr id="29" name="Rectangle 28">
              <a:extLst>
                <a:ext uri="{FF2B5EF4-FFF2-40B4-BE49-F238E27FC236}">
                  <a16:creationId xmlns:a16="http://schemas.microsoft.com/office/drawing/2014/main" id="{E1C010C2-3E57-104B-A940-1CF04310C309}"/>
                </a:ext>
              </a:extLst>
            </p:cNvPr>
            <p:cNvSpPr/>
            <p:nvPr/>
          </p:nvSpPr>
          <p:spPr>
            <a:xfrm>
              <a:off x="1576017"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3" name="Rectangle 32">
              <a:extLst>
                <a:ext uri="{FF2B5EF4-FFF2-40B4-BE49-F238E27FC236}">
                  <a16:creationId xmlns:a16="http://schemas.microsoft.com/office/drawing/2014/main" id="{2C4B287F-AB13-9B44-8A34-7F301D2C840D}"/>
                </a:ext>
              </a:extLst>
            </p:cNvPr>
            <p:cNvSpPr/>
            <p:nvPr/>
          </p:nvSpPr>
          <p:spPr>
            <a:xfrm>
              <a:off x="1746629"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grpSp>
        <p:nvGrpSpPr>
          <p:cNvPr id="36" name="Group 35">
            <a:extLst>
              <a:ext uri="{FF2B5EF4-FFF2-40B4-BE49-F238E27FC236}">
                <a16:creationId xmlns:a16="http://schemas.microsoft.com/office/drawing/2014/main" id="{D1A06B71-6E45-6348-A059-EE2A75BF3420}"/>
              </a:ext>
            </a:extLst>
          </p:cNvPr>
          <p:cNvGrpSpPr/>
          <p:nvPr/>
        </p:nvGrpSpPr>
        <p:grpSpPr>
          <a:xfrm>
            <a:off x="1998528" y="4450401"/>
            <a:ext cx="341224" cy="428403"/>
            <a:chOff x="1998528" y="4164148"/>
            <a:chExt cx="341224" cy="428403"/>
          </a:xfrm>
        </p:grpSpPr>
        <p:sp>
          <p:nvSpPr>
            <p:cNvPr id="30" name="Rectangle 29">
              <a:extLst>
                <a:ext uri="{FF2B5EF4-FFF2-40B4-BE49-F238E27FC236}">
                  <a16:creationId xmlns:a16="http://schemas.microsoft.com/office/drawing/2014/main" id="{8B356FE5-839B-0C4C-BD79-F74B3F79EFC3}"/>
                </a:ext>
              </a:extLst>
            </p:cNvPr>
            <p:cNvSpPr/>
            <p:nvPr/>
          </p:nvSpPr>
          <p:spPr>
            <a:xfrm>
              <a:off x="1998528"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4" name="Rectangle 33">
              <a:extLst>
                <a:ext uri="{FF2B5EF4-FFF2-40B4-BE49-F238E27FC236}">
                  <a16:creationId xmlns:a16="http://schemas.microsoft.com/office/drawing/2014/main" id="{110F12E6-E898-F140-A16E-5EF1D132C4CA}"/>
                </a:ext>
              </a:extLst>
            </p:cNvPr>
            <p:cNvSpPr/>
            <p:nvPr/>
          </p:nvSpPr>
          <p:spPr>
            <a:xfrm>
              <a:off x="2169140"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sp>
        <p:nvSpPr>
          <p:cNvPr id="58" name="TextBox 57">
            <a:extLst>
              <a:ext uri="{FF2B5EF4-FFF2-40B4-BE49-F238E27FC236}">
                <a16:creationId xmlns:a16="http://schemas.microsoft.com/office/drawing/2014/main" id="{DB599E10-4C07-C349-90F6-5667DFAB37D1}"/>
              </a:ext>
            </a:extLst>
          </p:cNvPr>
          <p:cNvSpPr txBox="1"/>
          <p:nvPr/>
        </p:nvSpPr>
        <p:spPr>
          <a:xfrm>
            <a:off x="1067001" y="4258576"/>
            <a:ext cx="357790" cy="200055"/>
          </a:xfrm>
          <a:prstGeom prst="rect">
            <a:avLst/>
          </a:prstGeom>
          <a:noFill/>
        </p:spPr>
        <p:txBody>
          <a:bodyPr wrap="none" rtlCol="0">
            <a:spAutoFit/>
          </a:bodyPr>
          <a:lstStyle/>
          <a:p>
            <a:r>
              <a:rPr lang="en-CN" sz="700" dirty="0"/>
              <a:t>CP0</a:t>
            </a:r>
          </a:p>
        </p:txBody>
      </p:sp>
      <p:sp>
        <p:nvSpPr>
          <p:cNvPr id="59" name="TextBox 58">
            <a:extLst>
              <a:ext uri="{FF2B5EF4-FFF2-40B4-BE49-F238E27FC236}">
                <a16:creationId xmlns:a16="http://schemas.microsoft.com/office/drawing/2014/main" id="{F31BA9E1-C0D9-D549-84F7-0F9923E3158F}"/>
              </a:ext>
            </a:extLst>
          </p:cNvPr>
          <p:cNvSpPr txBox="1"/>
          <p:nvPr/>
        </p:nvSpPr>
        <p:spPr>
          <a:xfrm>
            <a:off x="1279280" y="4261751"/>
            <a:ext cx="357790" cy="200055"/>
          </a:xfrm>
          <a:prstGeom prst="rect">
            <a:avLst/>
          </a:prstGeom>
          <a:noFill/>
        </p:spPr>
        <p:txBody>
          <a:bodyPr wrap="none" rtlCol="0">
            <a:spAutoFit/>
          </a:bodyPr>
          <a:lstStyle/>
          <a:p>
            <a:r>
              <a:rPr lang="en-US" altLang="zh-CN" sz="700" dirty="0"/>
              <a:t>CP1</a:t>
            </a:r>
            <a:endParaRPr lang="en-CN" sz="700" dirty="0"/>
          </a:p>
        </p:txBody>
      </p:sp>
      <p:sp>
        <p:nvSpPr>
          <p:cNvPr id="60" name="Rectangle 59">
            <a:extLst>
              <a:ext uri="{FF2B5EF4-FFF2-40B4-BE49-F238E27FC236}">
                <a16:creationId xmlns:a16="http://schemas.microsoft.com/office/drawing/2014/main" id="{A44E4CBB-90A5-B544-8D9F-DEFD81AB2082}"/>
              </a:ext>
            </a:extLst>
          </p:cNvPr>
          <p:cNvSpPr/>
          <p:nvPr/>
        </p:nvSpPr>
        <p:spPr>
          <a:xfrm>
            <a:off x="1420539" y="4521346"/>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1" name="Rectangle 60">
            <a:extLst>
              <a:ext uri="{FF2B5EF4-FFF2-40B4-BE49-F238E27FC236}">
                <a16:creationId xmlns:a16="http://schemas.microsoft.com/office/drawing/2014/main" id="{F3BD593D-EB08-BF41-BBE2-D4EA1D563299}"/>
              </a:ext>
            </a:extLst>
          </p:cNvPr>
          <p:cNvSpPr/>
          <p:nvPr/>
        </p:nvSpPr>
        <p:spPr>
          <a:xfrm>
            <a:off x="1246350" y="4748239"/>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2" name="Rectangle 61">
            <a:extLst>
              <a:ext uri="{FF2B5EF4-FFF2-40B4-BE49-F238E27FC236}">
                <a16:creationId xmlns:a16="http://schemas.microsoft.com/office/drawing/2014/main" id="{1F82A2FE-1E67-E34B-9D3C-82A66BAC5F48}"/>
              </a:ext>
            </a:extLst>
          </p:cNvPr>
          <p:cNvSpPr/>
          <p:nvPr/>
        </p:nvSpPr>
        <p:spPr>
          <a:xfrm>
            <a:off x="1419713" y="4665236"/>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3" name="Rectangle 62">
            <a:extLst>
              <a:ext uri="{FF2B5EF4-FFF2-40B4-BE49-F238E27FC236}">
                <a16:creationId xmlns:a16="http://schemas.microsoft.com/office/drawing/2014/main" id="{8AE316E7-87A1-BC4D-9F82-B9974B405AD1}"/>
              </a:ext>
            </a:extLst>
          </p:cNvPr>
          <p:cNvSpPr/>
          <p:nvPr/>
        </p:nvSpPr>
        <p:spPr>
          <a:xfrm>
            <a:off x="1419713" y="4751933"/>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4" name="Rectangle 63">
            <a:extLst>
              <a:ext uri="{FF2B5EF4-FFF2-40B4-BE49-F238E27FC236}">
                <a16:creationId xmlns:a16="http://schemas.microsoft.com/office/drawing/2014/main" id="{14DDD204-7CE2-1240-9676-BD0908D48B14}"/>
              </a:ext>
            </a:extLst>
          </p:cNvPr>
          <p:cNvSpPr/>
          <p:nvPr/>
        </p:nvSpPr>
        <p:spPr>
          <a:xfrm>
            <a:off x="1246350" y="4516241"/>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5" name="Rectangle 64">
            <a:extLst>
              <a:ext uri="{FF2B5EF4-FFF2-40B4-BE49-F238E27FC236}">
                <a16:creationId xmlns:a16="http://schemas.microsoft.com/office/drawing/2014/main" id="{EBC3E297-A319-CC4C-9AE2-BC7B7360AB9C}"/>
              </a:ext>
            </a:extLst>
          </p:cNvPr>
          <p:cNvSpPr/>
          <p:nvPr/>
        </p:nvSpPr>
        <p:spPr>
          <a:xfrm>
            <a:off x="1246350" y="4602938"/>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6" name="TextBox 65">
            <a:extLst>
              <a:ext uri="{FF2B5EF4-FFF2-40B4-BE49-F238E27FC236}">
                <a16:creationId xmlns:a16="http://schemas.microsoft.com/office/drawing/2014/main" id="{B6FFE3B7-0A69-BA4A-99B9-F41C08CFD2C9}"/>
              </a:ext>
            </a:extLst>
          </p:cNvPr>
          <p:cNvSpPr txBox="1"/>
          <p:nvPr/>
        </p:nvSpPr>
        <p:spPr>
          <a:xfrm>
            <a:off x="263889" y="4556414"/>
            <a:ext cx="981515" cy="230832"/>
          </a:xfrm>
          <a:prstGeom prst="rect">
            <a:avLst/>
          </a:prstGeom>
          <a:noFill/>
        </p:spPr>
        <p:txBody>
          <a:bodyPr wrap="square" rtlCol="0">
            <a:spAutoFit/>
          </a:bodyPr>
          <a:lstStyle/>
          <a:p>
            <a:r>
              <a:rPr lang="en-US" altLang="zh-CN" sz="900" dirty="0"/>
              <a:t>NAT/SIT</a:t>
            </a:r>
            <a:r>
              <a:rPr lang="zh-CN" altLang="en-US" sz="900" dirty="0"/>
              <a:t>的日志</a:t>
            </a:r>
            <a:endParaRPr lang="en-CN" sz="900" dirty="0"/>
          </a:p>
        </p:txBody>
      </p:sp>
      <p:cxnSp>
        <p:nvCxnSpPr>
          <p:cNvPr id="67" name="Elbow Connector 66">
            <a:extLst>
              <a:ext uri="{FF2B5EF4-FFF2-40B4-BE49-F238E27FC236}">
                <a16:creationId xmlns:a16="http://schemas.microsoft.com/office/drawing/2014/main" id="{34E933EF-B5B0-ED4C-A69B-2FA633CABF0E}"/>
              </a:ext>
            </a:extLst>
          </p:cNvPr>
          <p:cNvCxnSpPr>
            <a:cxnSpLocks/>
            <a:stCxn id="13" idx="0"/>
            <a:endCxn id="15" idx="0"/>
          </p:cNvCxnSpPr>
          <p:nvPr/>
        </p:nvCxnSpPr>
        <p:spPr>
          <a:xfrm rot="5400000" flipH="1" flipV="1">
            <a:off x="3798436" y="3047699"/>
            <a:ext cx="6759" cy="922507"/>
          </a:xfrm>
          <a:prstGeom prst="bentConnector3">
            <a:avLst>
              <a:gd name="adj1" fmla="val 3482157"/>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6F585F33-AA29-E74D-9998-87D2818BA2AE}"/>
              </a:ext>
            </a:extLst>
          </p:cNvPr>
          <p:cNvCxnSpPr>
            <a:cxnSpLocks/>
            <a:stCxn id="16" idx="0"/>
            <a:endCxn id="14" idx="0"/>
          </p:cNvCxnSpPr>
          <p:nvPr/>
        </p:nvCxnSpPr>
        <p:spPr>
          <a:xfrm rot="5400000" flipH="1" flipV="1">
            <a:off x="5778589" y="3066997"/>
            <a:ext cx="1" cy="890671"/>
          </a:xfrm>
          <a:prstGeom prst="bentConnector3">
            <a:avLst>
              <a:gd name="adj1" fmla="val 2286010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325BC697-A41C-374D-A69A-B16218FF35D9}"/>
              </a:ext>
            </a:extLst>
          </p:cNvPr>
          <p:cNvSpPr txBox="1"/>
          <p:nvPr/>
        </p:nvSpPr>
        <p:spPr>
          <a:xfrm>
            <a:off x="2990552" y="3922812"/>
            <a:ext cx="389815" cy="230832"/>
          </a:xfrm>
          <a:prstGeom prst="rect">
            <a:avLst/>
          </a:prstGeom>
          <a:noFill/>
        </p:spPr>
        <p:txBody>
          <a:bodyPr wrap="square" rtlCol="0">
            <a:spAutoFit/>
          </a:bodyPr>
          <a:lstStyle/>
          <a:p>
            <a:r>
              <a:rPr lang="en-US" altLang="zh-CN" sz="900" dirty="0"/>
              <a:t>dir1</a:t>
            </a:r>
            <a:endParaRPr lang="en-CN" sz="900" dirty="0"/>
          </a:p>
        </p:txBody>
      </p:sp>
      <p:sp>
        <p:nvSpPr>
          <p:cNvPr id="91" name="TextBox 90">
            <a:extLst>
              <a:ext uri="{FF2B5EF4-FFF2-40B4-BE49-F238E27FC236}">
                <a16:creationId xmlns:a16="http://schemas.microsoft.com/office/drawing/2014/main" id="{68A33BD3-36BF-AC4E-B472-099D9A6E8EA1}"/>
              </a:ext>
            </a:extLst>
          </p:cNvPr>
          <p:cNvSpPr txBox="1"/>
          <p:nvPr/>
        </p:nvSpPr>
        <p:spPr>
          <a:xfrm>
            <a:off x="4962398" y="3950034"/>
            <a:ext cx="473222" cy="230832"/>
          </a:xfrm>
          <a:prstGeom prst="rect">
            <a:avLst/>
          </a:prstGeom>
          <a:noFill/>
        </p:spPr>
        <p:txBody>
          <a:bodyPr wrap="square" rtlCol="0">
            <a:spAutoFit/>
          </a:bodyPr>
          <a:lstStyle/>
          <a:p>
            <a:r>
              <a:rPr lang="en-US" altLang="zh-CN" sz="900" dirty="0"/>
              <a:t>file1</a:t>
            </a:r>
            <a:endParaRPr lang="en-CN" sz="900" dirty="0"/>
          </a:p>
        </p:txBody>
      </p:sp>
      <p:sp>
        <p:nvSpPr>
          <p:cNvPr id="50" name="Rectangle 49">
            <a:extLst>
              <a:ext uri="{FF2B5EF4-FFF2-40B4-BE49-F238E27FC236}">
                <a16:creationId xmlns:a16="http://schemas.microsoft.com/office/drawing/2014/main" id="{74084A99-069A-B440-9AAE-2197519C6F9C}"/>
              </a:ext>
            </a:extLst>
          </p:cNvPr>
          <p:cNvSpPr/>
          <p:nvPr/>
        </p:nvSpPr>
        <p:spPr>
          <a:xfrm>
            <a:off x="3238196" y="3523494"/>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1" name="Rectangle 50">
            <a:extLst>
              <a:ext uri="{FF2B5EF4-FFF2-40B4-BE49-F238E27FC236}">
                <a16:creationId xmlns:a16="http://schemas.microsoft.com/office/drawing/2014/main" id="{C99FB954-DEF8-1C4B-9A26-EB0B00005DE7}"/>
              </a:ext>
            </a:extLst>
          </p:cNvPr>
          <p:cNvSpPr/>
          <p:nvPr/>
        </p:nvSpPr>
        <p:spPr>
          <a:xfrm>
            <a:off x="5252303" y="3511522"/>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3" name="Rectangle 52">
            <a:extLst>
              <a:ext uri="{FF2B5EF4-FFF2-40B4-BE49-F238E27FC236}">
                <a16:creationId xmlns:a16="http://schemas.microsoft.com/office/drawing/2014/main" id="{F81185A4-6FD5-594F-9275-4CF53B724F79}"/>
              </a:ext>
            </a:extLst>
          </p:cNvPr>
          <p:cNvSpPr/>
          <p:nvPr/>
        </p:nvSpPr>
        <p:spPr>
          <a:xfrm>
            <a:off x="4172762" y="3516311"/>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4" name="Rectangle 53">
            <a:extLst>
              <a:ext uri="{FF2B5EF4-FFF2-40B4-BE49-F238E27FC236}">
                <a16:creationId xmlns:a16="http://schemas.microsoft.com/office/drawing/2014/main" id="{C55E3245-18BD-684F-B8AE-EB88BDBEAB66}"/>
              </a:ext>
            </a:extLst>
          </p:cNvPr>
          <p:cNvSpPr/>
          <p:nvPr/>
        </p:nvSpPr>
        <p:spPr>
          <a:xfrm>
            <a:off x="6115766" y="3511926"/>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Tree>
    <p:extLst>
      <p:ext uri="{BB962C8B-B14F-4D97-AF65-F5344CB8AC3E}">
        <p14:creationId xmlns:p14="http://schemas.microsoft.com/office/powerpoint/2010/main" val="8038113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AE2A964-574E-8743-85B1-66E29DE4D400}"/>
              </a:ext>
            </a:extLst>
          </p:cNvPr>
          <p:cNvGrpSpPr/>
          <p:nvPr/>
        </p:nvGrpSpPr>
        <p:grpSpPr>
          <a:xfrm>
            <a:off x="1187624" y="4450401"/>
            <a:ext cx="341224" cy="428403"/>
            <a:chOff x="1187624" y="4164148"/>
            <a:chExt cx="341224" cy="428403"/>
          </a:xfrm>
        </p:grpSpPr>
        <p:sp>
          <p:nvSpPr>
            <p:cNvPr id="28" name="Rectangle 27">
              <a:extLst>
                <a:ext uri="{FF2B5EF4-FFF2-40B4-BE49-F238E27FC236}">
                  <a16:creationId xmlns:a16="http://schemas.microsoft.com/office/drawing/2014/main" id="{0F51F856-B0A5-7543-9E4B-C62C69296C0A}"/>
                </a:ext>
              </a:extLst>
            </p:cNvPr>
            <p:cNvSpPr/>
            <p:nvPr/>
          </p:nvSpPr>
          <p:spPr>
            <a:xfrm>
              <a:off x="1187624"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32" name="Rectangle 31">
              <a:extLst>
                <a:ext uri="{FF2B5EF4-FFF2-40B4-BE49-F238E27FC236}">
                  <a16:creationId xmlns:a16="http://schemas.microsoft.com/office/drawing/2014/main" id="{217AA249-4220-F246-8A84-6B8F7226EFC1}"/>
                </a:ext>
              </a:extLst>
            </p:cNvPr>
            <p:cNvSpPr/>
            <p:nvPr/>
          </p:nvSpPr>
          <p:spPr>
            <a:xfrm>
              <a:off x="1358236"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grpSp>
      <p:sp>
        <p:nvSpPr>
          <p:cNvPr id="2" name="Title 1">
            <a:extLst>
              <a:ext uri="{FF2B5EF4-FFF2-40B4-BE49-F238E27FC236}">
                <a16:creationId xmlns:a16="http://schemas.microsoft.com/office/drawing/2014/main" id="{DBBC564D-17F9-C448-AA59-352083BE6109}"/>
              </a:ext>
            </a:extLst>
          </p:cNvPr>
          <p:cNvSpPr>
            <a:spLocks noGrp="1"/>
          </p:cNvSpPr>
          <p:nvPr>
            <p:ph type="title"/>
          </p:nvPr>
        </p:nvSpPr>
        <p:spPr/>
        <p:txBody>
          <a:bodyPr/>
          <a:lstStyle/>
          <a:p>
            <a:r>
              <a:rPr lang="zh-CN" altLang="en-CN" dirty="0"/>
              <a:t>崩溃</a:t>
            </a:r>
            <a:r>
              <a:rPr lang="zh-CN" altLang="en-US" dirty="0"/>
              <a:t>与恢复</a:t>
            </a:r>
            <a:endParaRPr lang="en-CN" dirty="0"/>
          </a:p>
        </p:txBody>
      </p:sp>
      <p:sp>
        <p:nvSpPr>
          <p:cNvPr id="3" name="Content Placeholder 2">
            <a:extLst>
              <a:ext uri="{FF2B5EF4-FFF2-40B4-BE49-F238E27FC236}">
                <a16:creationId xmlns:a16="http://schemas.microsoft.com/office/drawing/2014/main" id="{875AFC27-5399-ED43-ADA6-519D725C6CD0}"/>
              </a:ext>
            </a:extLst>
          </p:cNvPr>
          <p:cNvSpPr>
            <a:spLocks noGrp="1"/>
          </p:cNvSpPr>
          <p:nvPr>
            <p:ph idx="1"/>
          </p:nvPr>
        </p:nvSpPr>
        <p:spPr/>
        <p:txBody>
          <a:bodyPr>
            <a:normAutofit/>
          </a:bodyPr>
          <a:lstStyle/>
          <a:p>
            <a:pPr marL="0" indent="266700">
              <a:buNone/>
            </a:pPr>
            <a:r>
              <a:rPr lang="en-US" altLang="zh-CN" sz="1800" b="0" dirty="0"/>
              <a:t>1. </a:t>
            </a:r>
            <a:r>
              <a:rPr lang="zh-CN" altLang="en-US" sz="1800" b="0" dirty="0"/>
              <a:t>创建</a:t>
            </a:r>
            <a:r>
              <a:rPr lang="en-US" altLang="zh-CN" sz="1800" b="0" dirty="0"/>
              <a:t>dir1</a:t>
            </a:r>
            <a:r>
              <a:rPr lang="zh-CN" altLang="en-US" sz="1800" b="0" dirty="0"/>
              <a:t>和</a:t>
            </a:r>
            <a:r>
              <a:rPr lang="en-US" altLang="zh-CN" sz="1800" b="0" dirty="0"/>
              <a:t>file1</a:t>
            </a:r>
          </a:p>
          <a:p>
            <a:pPr marL="0" indent="266700">
              <a:buNone/>
            </a:pPr>
            <a:r>
              <a:rPr lang="en-US" altLang="zh-CN" sz="1800" b="0" dirty="0"/>
              <a:t>2. </a:t>
            </a:r>
            <a:r>
              <a:rPr lang="zh-CN" altLang="en-US" sz="1800" b="0" dirty="0"/>
              <a:t>创建检查点</a:t>
            </a:r>
            <a:r>
              <a:rPr lang="en-US" altLang="zh-CN" sz="1800" b="0" dirty="0"/>
              <a:t>0</a:t>
            </a:r>
          </a:p>
        </p:txBody>
      </p:sp>
      <p:sp>
        <p:nvSpPr>
          <p:cNvPr id="4" name="Slide Number Placeholder 3">
            <a:extLst>
              <a:ext uri="{FF2B5EF4-FFF2-40B4-BE49-F238E27FC236}">
                <a16:creationId xmlns:a16="http://schemas.microsoft.com/office/drawing/2014/main" id="{AEF1F4F4-7E2B-5447-B8C2-571028981E0D}"/>
              </a:ext>
            </a:extLst>
          </p:cNvPr>
          <p:cNvSpPr>
            <a:spLocks noGrp="1"/>
          </p:cNvSpPr>
          <p:nvPr>
            <p:ph type="sldNum" sz="quarter" idx="12"/>
          </p:nvPr>
        </p:nvSpPr>
        <p:spPr/>
        <p:txBody>
          <a:bodyPr/>
          <a:lstStyle/>
          <a:p>
            <a:fld id="{ADE361C3-C043-4A6E-BDCE-8DA1E7D90A3B}" type="slidenum">
              <a:rPr lang="zh-CN" altLang="en-US" smtClean="0"/>
              <a:t>61</a:t>
            </a:fld>
            <a:endParaRPr lang="zh-CN" altLang="en-US"/>
          </a:p>
        </p:txBody>
      </p:sp>
      <p:sp>
        <p:nvSpPr>
          <p:cNvPr id="5" name="Footer Placeholder 4">
            <a:extLst>
              <a:ext uri="{FF2B5EF4-FFF2-40B4-BE49-F238E27FC236}">
                <a16:creationId xmlns:a16="http://schemas.microsoft.com/office/drawing/2014/main" id="{D989E998-8001-E14F-8C78-0C517B0CD53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A9715CE5-D431-3F4A-9150-C2E96CD8407F}"/>
              </a:ext>
            </a:extLst>
          </p:cNvPr>
          <p:cNvSpPr/>
          <p:nvPr/>
        </p:nvSpPr>
        <p:spPr>
          <a:xfrm>
            <a:off x="899592" y="3512331"/>
            <a:ext cx="7688538" cy="428403"/>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 name="Rectangle 6">
            <a:extLst>
              <a:ext uri="{FF2B5EF4-FFF2-40B4-BE49-F238E27FC236}">
                <a16:creationId xmlns:a16="http://schemas.microsoft.com/office/drawing/2014/main" id="{76516D39-9DCA-734D-8926-B7B8C239AE52}"/>
              </a:ext>
            </a:extLst>
          </p:cNvPr>
          <p:cNvSpPr/>
          <p:nvPr/>
        </p:nvSpPr>
        <p:spPr>
          <a:xfrm>
            <a:off x="894954" y="3512735"/>
            <a:ext cx="239411" cy="428403"/>
          </a:xfrm>
          <a:prstGeom prst="rect">
            <a:avLst/>
          </a:prstGeom>
          <a:solidFill>
            <a:schemeClr val="accent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SB</a:t>
            </a:r>
          </a:p>
        </p:txBody>
      </p:sp>
      <p:sp>
        <p:nvSpPr>
          <p:cNvPr id="8" name="Rectangle 7">
            <a:extLst>
              <a:ext uri="{FF2B5EF4-FFF2-40B4-BE49-F238E27FC236}">
                <a16:creationId xmlns:a16="http://schemas.microsoft.com/office/drawing/2014/main" id="{65505E9F-26DC-1C47-936B-EB230DF77FF9}"/>
              </a:ext>
            </a:extLst>
          </p:cNvPr>
          <p:cNvSpPr/>
          <p:nvPr/>
        </p:nvSpPr>
        <p:spPr>
          <a:xfrm>
            <a:off x="1233035" y="3512735"/>
            <a:ext cx="338081"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3" name="Rectangle 12">
            <a:extLst>
              <a:ext uri="{FF2B5EF4-FFF2-40B4-BE49-F238E27FC236}">
                <a16:creationId xmlns:a16="http://schemas.microsoft.com/office/drawing/2014/main" id="{B9548E21-BA93-ED4C-8F67-4A3D22A1A80D}"/>
              </a:ext>
            </a:extLst>
          </p:cNvPr>
          <p:cNvSpPr/>
          <p:nvPr/>
        </p:nvSpPr>
        <p:spPr>
          <a:xfrm>
            <a:off x="3242997" y="3512331"/>
            <a:ext cx="195130"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4" name="Rectangle 13">
            <a:extLst>
              <a:ext uri="{FF2B5EF4-FFF2-40B4-BE49-F238E27FC236}">
                <a16:creationId xmlns:a16="http://schemas.microsoft.com/office/drawing/2014/main" id="{8D7A1BC3-D3CD-B74F-97B5-9D5082324841}"/>
              </a:ext>
            </a:extLst>
          </p:cNvPr>
          <p:cNvSpPr/>
          <p:nvPr/>
        </p:nvSpPr>
        <p:spPr>
          <a:xfrm>
            <a:off x="6113561" y="3512331"/>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15" name="Rectangle 14">
            <a:extLst>
              <a:ext uri="{FF2B5EF4-FFF2-40B4-BE49-F238E27FC236}">
                <a16:creationId xmlns:a16="http://schemas.microsoft.com/office/drawing/2014/main" id="{B2159BE4-6472-EE47-A4D3-543A5AA06FAB}"/>
              </a:ext>
            </a:extLst>
          </p:cNvPr>
          <p:cNvSpPr/>
          <p:nvPr/>
        </p:nvSpPr>
        <p:spPr>
          <a:xfrm>
            <a:off x="4170162" y="3505572"/>
            <a:ext cx="185814" cy="428403"/>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16" name="Rectangle 15">
            <a:extLst>
              <a:ext uri="{FF2B5EF4-FFF2-40B4-BE49-F238E27FC236}">
                <a16:creationId xmlns:a16="http://schemas.microsoft.com/office/drawing/2014/main" id="{41BDD35D-3CCA-6B44-BD91-1FF9C98FA8C8}"/>
              </a:ext>
            </a:extLst>
          </p:cNvPr>
          <p:cNvSpPr/>
          <p:nvPr/>
        </p:nvSpPr>
        <p:spPr>
          <a:xfrm>
            <a:off x="5247948" y="3512332"/>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17" name="Rectangle 16">
            <a:extLst>
              <a:ext uri="{FF2B5EF4-FFF2-40B4-BE49-F238E27FC236}">
                <a16:creationId xmlns:a16="http://schemas.microsoft.com/office/drawing/2014/main" id="{450F76D7-8121-1044-B91B-AA702E576C0E}"/>
              </a:ext>
            </a:extLst>
          </p:cNvPr>
          <p:cNvSpPr/>
          <p:nvPr/>
        </p:nvSpPr>
        <p:spPr>
          <a:xfrm>
            <a:off x="1576016" y="3512533"/>
            <a:ext cx="338081"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NAT</a:t>
            </a:r>
          </a:p>
        </p:txBody>
      </p:sp>
      <p:sp>
        <p:nvSpPr>
          <p:cNvPr id="26" name="Rectangle 25">
            <a:extLst>
              <a:ext uri="{FF2B5EF4-FFF2-40B4-BE49-F238E27FC236}">
                <a16:creationId xmlns:a16="http://schemas.microsoft.com/office/drawing/2014/main" id="{0763ABE8-4ADF-9743-A366-1263F1273864}"/>
              </a:ext>
            </a:extLst>
          </p:cNvPr>
          <p:cNvSpPr/>
          <p:nvPr/>
        </p:nvSpPr>
        <p:spPr>
          <a:xfrm>
            <a:off x="1912874" y="3512533"/>
            <a:ext cx="338081"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SIT</a:t>
            </a:r>
          </a:p>
        </p:txBody>
      </p:sp>
      <p:sp>
        <p:nvSpPr>
          <p:cNvPr id="27" name="Rectangle 26">
            <a:extLst>
              <a:ext uri="{FF2B5EF4-FFF2-40B4-BE49-F238E27FC236}">
                <a16:creationId xmlns:a16="http://schemas.microsoft.com/office/drawing/2014/main" id="{94100E3A-2F5A-764E-A4D2-B8BFCAE91F3A}"/>
              </a:ext>
            </a:extLst>
          </p:cNvPr>
          <p:cNvSpPr/>
          <p:nvPr/>
        </p:nvSpPr>
        <p:spPr>
          <a:xfrm>
            <a:off x="2250977" y="3512533"/>
            <a:ext cx="338081" cy="428403"/>
          </a:xfrm>
          <a:prstGeom prst="rect">
            <a:avLst/>
          </a:prstGeom>
          <a:solidFill>
            <a:schemeClr val="accent4">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SSA</a:t>
            </a:r>
          </a:p>
        </p:txBody>
      </p:sp>
      <p:grpSp>
        <p:nvGrpSpPr>
          <p:cNvPr id="35" name="Group 34">
            <a:extLst>
              <a:ext uri="{FF2B5EF4-FFF2-40B4-BE49-F238E27FC236}">
                <a16:creationId xmlns:a16="http://schemas.microsoft.com/office/drawing/2014/main" id="{F99B24B7-7467-3342-AA4A-C7D27D3F1EFD}"/>
              </a:ext>
            </a:extLst>
          </p:cNvPr>
          <p:cNvGrpSpPr/>
          <p:nvPr/>
        </p:nvGrpSpPr>
        <p:grpSpPr>
          <a:xfrm>
            <a:off x="1593076" y="4450401"/>
            <a:ext cx="341224" cy="428403"/>
            <a:chOff x="1576017" y="4164148"/>
            <a:chExt cx="341224" cy="428403"/>
          </a:xfrm>
        </p:grpSpPr>
        <p:sp>
          <p:nvSpPr>
            <p:cNvPr id="29" name="Rectangle 28">
              <a:extLst>
                <a:ext uri="{FF2B5EF4-FFF2-40B4-BE49-F238E27FC236}">
                  <a16:creationId xmlns:a16="http://schemas.microsoft.com/office/drawing/2014/main" id="{E1C010C2-3E57-104B-A940-1CF04310C309}"/>
                </a:ext>
              </a:extLst>
            </p:cNvPr>
            <p:cNvSpPr/>
            <p:nvPr/>
          </p:nvSpPr>
          <p:spPr>
            <a:xfrm>
              <a:off x="1576017"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3" name="Rectangle 32">
              <a:extLst>
                <a:ext uri="{FF2B5EF4-FFF2-40B4-BE49-F238E27FC236}">
                  <a16:creationId xmlns:a16="http://schemas.microsoft.com/office/drawing/2014/main" id="{2C4B287F-AB13-9B44-8A34-7F301D2C840D}"/>
                </a:ext>
              </a:extLst>
            </p:cNvPr>
            <p:cNvSpPr/>
            <p:nvPr/>
          </p:nvSpPr>
          <p:spPr>
            <a:xfrm>
              <a:off x="1746629"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grpSp>
        <p:nvGrpSpPr>
          <p:cNvPr id="36" name="Group 35">
            <a:extLst>
              <a:ext uri="{FF2B5EF4-FFF2-40B4-BE49-F238E27FC236}">
                <a16:creationId xmlns:a16="http://schemas.microsoft.com/office/drawing/2014/main" id="{D1A06B71-6E45-6348-A059-EE2A75BF3420}"/>
              </a:ext>
            </a:extLst>
          </p:cNvPr>
          <p:cNvGrpSpPr/>
          <p:nvPr/>
        </p:nvGrpSpPr>
        <p:grpSpPr>
          <a:xfrm>
            <a:off x="1998528" y="4450401"/>
            <a:ext cx="341224" cy="428403"/>
            <a:chOff x="1998528" y="4164148"/>
            <a:chExt cx="341224" cy="428403"/>
          </a:xfrm>
        </p:grpSpPr>
        <p:sp>
          <p:nvSpPr>
            <p:cNvPr id="30" name="Rectangle 29">
              <a:extLst>
                <a:ext uri="{FF2B5EF4-FFF2-40B4-BE49-F238E27FC236}">
                  <a16:creationId xmlns:a16="http://schemas.microsoft.com/office/drawing/2014/main" id="{8B356FE5-839B-0C4C-BD79-F74B3F79EFC3}"/>
                </a:ext>
              </a:extLst>
            </p:cNvPr>
            <p:cNvSpPr/>
            <p:nvPr/>
          </p:nvSpPr>
          <p:spPr>
            <a:xfrm>
              <a:off x="1998528"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4" name="Rectangle 33">
              <a:extLst>
                <a:ext uri="{FF2B5EF4-FFF2-40B4-BE49-F238E27FC236}">
                  <a16:creationId xmlns:a16="http://schemas.microsoft.com/office/drawing/2014/main" id="{110F12E6-E898-F140-A16E-5EF1D132C4CA}"/>
                </a:ext>
              </a:extLst>
            </p:cNvPr>
            <p:cNvSpPr/>
            <p:nvPr/>
          </p:nvSpPr>
          <p:spPr>
            <a:xfrm>
              <a:off x="2169140"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cxnSp>
        <p:nvCxnSpPr>
          <p:cNvPr id="44" name="Elbow Connector 43">
            <a:extLst>
              <a:ext uri="{FF2B5EF4-FFF2-40B4-BE49-F238E27FC236}">
                <a16:creationId xmlns:a16="http://schemas.microsoft.com/office/drawing/2014/main" id="{3DA596F7-CD54-6345-83BA-95727B7A6FB7}"/>
              </a:ext>
            </a:extLst>
          </p:cNvPr>
          <p:cNvCxnSpPr>
            <a:stCxn id="28" idx="2"/>
            <a:endCxn id="29" idx="2"/>
          </p:cNvCxnSpPr>
          <p:nvPr/>
        </p:nvCxnSpPr>
        <p:spPr>
          <a:xfrm rot="16200000" flipH="1">
            <a:off x="1475656" y="4676078"/>
            <a:ext cx="12700" cy="405452"/>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38034C7B-9924-4B44-8860-F3077C30486F}"/>
              </a:ext>
            </a:extLst>
          </p:cNvPr>
          <p:cNvCxnSpPr>
            <a:cxnSpLocks/>
            <a:stCxn id="28" idx="2"/>
            <a:endCxn id="30" idx="2"/>
          </p:cNvCxnSpPr>
          <p:nvPr/>
        </p:nvCxnSpPr>
        <p:spPr>
          <a:xfrm rot="16200000" flipH="1">
            <a:off x="1678382" y="4473352"/>
            <a:ext cx="12700" cy="810904"/>
          </a:xfrm>
          <a:prstGeom prst="bentConnector3">
            <a:avLst>
              <a:gd name="adj1" fmla="val 23818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B599E10-4C07-C349-90F6-5667DFAB37D1}"/>
              </a:ext>
            </a:extLst>
          </p:cNvPr>
          <p:cNvSpPr txBox="1"/>
          <p:nvPr/>
        </p:nvSpPr>
        <p:spPr>
          <a:xfrm>
            <a:off x="1067001" y="4258576"/>
            <a:ext cx="357790" cy="200055"/>
          </a:xfrm>
          <a:prstGeom prst="rect">
            <a:avLst/>
          </a:prstGeom>
          <a:noFill/>
        </p:spPr>
        <p:txBody>
          <a:bodyPr wrap="none" rtlCol="0">
            <a:spAutoFit/>
          </a:bodyPr>
          <a:lstStyle/>
          <a:p>
            <a:r>
              <a:rPr lang="en-CN" sz="700" dirty="0"/>
              <a:t>CP0</a:t>
            </a:r>
          </a:p>
        </p:txBody>
      </p:sp>
      <p:sp>
        <p:nvSpPr>
          <p:cNvPr id="59" name="TextBox 58">
            <a:extLst>
              <a:ext uri="{FF2B5EF4-FFF2-40B4-BE49-F238E27FC236}">
                <a16:creationId xmlns:a16="http://schemas.microsoft.com/office/drawing/2014/main" id="{F31BA9E1-C0D9-D549-84F7-0F9923E3158F}"/>
              </a:ext>
            </a:extLst>
          </p:cNvPr>
          <p:cNvSpPr txBox="1"/>
          <p:nvPr/>
        </p:nvSpPr>
        <p:spPr>
          <a:xfrm>
            <a:off x="1279280" y="4261751"/>
            <a:ext cx="357790" cy="200055"/>
          </a:xfrm>
          <a:prstGeom prst="rect">
            <a:avLst/>
          </a:prstGeom>
          <a:noFill/>
        </p:spPr>
        <p:txBody>
          <a:bodyPr wrap="none" rtlCol="0">
            <a:spAutoFit/>
          </a:bodyPr>
          <a:lstStyle/>
          <a:p>
            <a:r>
              <a:rPr lang="en-US" altLang="zh-CN" sz="700" dirty="0"/>
              <a:t>CP1</a:t>
            </a:r>
            <a:endParaRPr lang="en-CN" sz="700" dirty="0"/>
          </a:p>
        </p:txBody>
      </p:sp>
      <p:sp>
        <p:nvSpPr>
          <p:cNvPr id="60" name="Rectangle 59">
            <a:extLst>
              <a:ext uri="{FF2B5EF4-FFF2-40B4-BE49-F238E27FC236}">
                <a16:creationId xmlns:a16="http://schemas.microsoft.com/office/drawing/2014/main" id="{A44E4CBB-90A5-B544-8D9F-DEFD81AB2082}"/>
              </a:ext>
            </a:extLst>
          </p:cNvPr>
          <p:cNvSpPr/>
          <p:nvPr/>
        </p:nvSpPr>
        <p:spPr>
          <a:xfrm>
            <a:off x="1420539" y="4521346"/>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1" name="Rectangle 60">
            <a:extLst>
              <a:ext uri="{FF2B5EF4-FFF2-40B4-BE49-F238E27FC236}">
                <a16:creationId xmlns:a16="http://schemas.microsoft.com/office/drawing/2014/main" id="{F3BD593D-EB08-BF41-BBE2-D4EA1D563299}"/>
              </a:ext>
            </a:extLst>
          </p:cNvPr>
          <p:cNvSpPr/>
          <p:nvPr/>
        </p:nvSpPr>
        <p:spPr>
          <a:xfrm>
            <a:off x="1246350" y="4748239"/>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2" name="Rectangle 61">
            <a:extLst>
              <a:ext uri="{FF2B5EF4-FFF2-40B4-BE49-F238E27FC236}">
                <a16:creationId xmlns:a16="http://schemas.microsoft.com/office/drawing/2014/main" id="{1F82A2FE-1E67-E34B-9D3C-82A66BAC5F48}"/>
              </a:ext>
            </a:extLst>
          </p:cNvPr>
          <p:cNvSpPr/>
          <p:nvPr/>
        </p:nvSpPr>
        <p:spPr>
          <a:xfrm>
            <a:off x="1419713" y="4665236"/>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3" name="Rectangle 62">
            <a:extLst>
              <a:ext uri="{FF2B5EF4-FFF2-40B4-BE49-F238E27FC236}">
                <a16:creationId xmlns:a16="http://schemas.microsoft.com/office/drawing/2014/main" id="{8AE316E7-87A1-BC4D-9F82-B9974B405AD1}"/>
              </a:ext>
            </a:extLst>
          </p:cNvPr>
          <p:cNvSpPr/>
          <p:nvPr/>
        </p:nvSpPr>
        <p:spPr>
          <a:xfrm>
            <a:off x="1419713" y="4751933"/>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4" name="Rectangle 63">
            <a:extLst>
              <a:ext uri="{FF2B5EF4-FFF2-40B4-BE49-F238E27FC236}">
                <a16:creationId xmlns:a16="http://schemas.microsoft.com/office/drawing/2014/main" id="{14DDD204-7CE2-1240-9676-BD0908D48B14}"/>
              </a:ext>
            </a:extLst>
          </p:cNvPr>
          <p:cNvSpPr/>
          <p:nvPr/>
        </p:nvSpPr>
        <p:spPr>
          <a:xfrm>
            <a:off x="1246350" y="4516241"/>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5" name="Rectangle 64">
            <a:extLst>
              <a:ext uri="{FF2B5EF4-FFF2-40B4-BE49-F238E27FC236}">
                <a16:creationId xmlns:a16="http://schemas.microsoft.com/office/drawing/2014/main" id="{EBC3E297-A319-CC4C-9AE2-BC7B7360AB9C}"/>
              </a:ext>
            </a:extLst>
          </p:cNvPr>
          <p:cNvSpPr/>
          <p:nvPr/>
        </p:nvSpPr>
        <p:spPr>
          <a:xfrm>
            <a:off x="1246350" y="4602938"/>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6" name="TextBox 65">
            <a:extLst>
              <a:ext uri="{FF2B5EF4-FFF2-40B4-BE49-F238E27FC236}">
                <a16:creationId xmlns:a16="http://schemas.microsoft.com/office/drawing/2014/main" id="{B6FFE3B7-0A69-BA4A-99B9-F41C08CFD2C9}"/>
              </a:ext>
            </a:extLst>
          </p:cNvPr>
          <p:cNvSpPr txBox="1"/>
          <p:nvPr/>
        </p:nvSpPr>
        <p:spPr>
          <a:xfrm>
            <a:off x="263889" y="4556414"/>
            <a:ext cx="981515" cy="230832"/>
          </a:xfrm>
          <a:prstGeom prst="rect">
            <a:avLst/>
          </a:prstGeom>
          <a:noFill/>
        </p:spPr>
        <p:txBody>
          <a:bodyPr wrap="square" rtlCol="0">
            <a:spAutoFit/>
          </a:bodyPr>
          <a:lstStyle/>
          <a:p>
            <a:r>
              <a:rPr lang="en-US" altLang="zh-CN" sz="900" dirty="0"/>
              <a:t>NAT/SIT</a:t>
            </a:r>
            <a:r>
              <a:rPr lang="zh-CN" altLang="en-US" sz="900" dirty="0"/>
              <a:t>的日志</a:t>
            </a:r>
            <a:endParaRPr lang="en-CN" sz="900" dirty="0"/>
          </a:p>
        </p:txBody>
      </p:sp>
      <p:cxnSp>
        <p:nvCxnSpPr>
          <p:cNvPr id="67" name="Elbow Connector 66">
            <a:extLst>
              <a:ext uri="{FF2B5EF4-FFF2-40B4-BE49-F238E27FC236}">
                <a16:creationId xmlns:a16="http://schemas.microsoft.com/office/drawing/2014/main" id="{34E933EF-B5B0-ED4C-A69B-2FA633CABF0E}"/>
              </a:ext>
            </a:extLst>
          </p:cNvPr>
          <p:cNvCxnSpPr>
            <a:cxnSpLocks/>
            <a:stCxn id="13" idx="0"/>
            <a:endCxn id="15" idx="0"/>
          </p:cNvCxnSpPr>
          <p:nvPr/>
        </p:nvCxnSpPr>
        <p:spPr>
          <a:xfrm rot="5400000" flipH="1" flipV="1">
            <a:off x="3798436" y="3047699"/>
            <a:ext cx="6759" cy="922507"/>
          </a:xfrm>
          <a:prstGeom prst="bentConnector3">
            <a:avLst>
              <a:gd name="adj1" fmla="val 3482157"/>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E43EE5A1-482F-E24E-AF85-2ADF92890EA7}"/>
              </a:ext>
            </a:extLst>
          </p:cNvPr>
          <p:cNvCxnSpPr>
            <a:cxnSpLocks/>
            <a:stCxn id="29" idx="0"/>
            <a:endCxn id="13" idx="2"/>
          </p:cNvCxnSpPr>
          <p:nvPr/>
        </p:nvCxnSpPr>
        <p:spPr>
          <a:xfrm rot="5400000" flipH="1" flipV="1">
            <a:off x="2254639" y="3364478"/>
            <a:ext cx="509667" cy="1662180"/>
          </a:xfrm>
          <a:prstGeom prst="bentConnector3">
            <a:avLst>
              <a:gd name="adj1" fmla="val 7064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23AAFE6F-4189-C549-A860-1B8AC4738BEF}"/>
              </a:ext>
            </a:extLst>
          </p:cNvPr>
          <p:cNvCxnSpPr>
            <a:cxnSpLocks/>
            <a:stCxn id="29" idx="0"/>
            <a:endCxn id="16" idx="2"/>
          </p:cNvCxnSpPr>
          <p:nvPr/>
        </p:nvCxnSpPr>
        <p:spPr>
          <a:xfrm rot="5400000" flipH="1" flipV="1">
            <a:off x="3250985" y="2368132"/>
            <a:ext cx="509666" cy="3654872"/>
          </a:xfrm>
          <a:prstGeom prst="bentConnector3">
            <a:avLst>
              <a:gd name="adj1" fmla="val 5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6F585F33-AA29-E74D-9998-87D2818BA2AE}"/>
              </a:ext>
            </a:extLst>
          </p:cNvPr>
          <p:cNvCxnSpPr>
            <a:cxnSpLocks/>
            <a:stCxn id="16" idx="0"/>
            <a:endCxn id="14" idx="0"/>
          </p:cNvCxnSpPr>
          <p:nvPr/>
        </p:nvCxnSpPr>
        <p:spPr>
          <a:xfrm rot="5400000" flipH="1" flipV="1">
            <a:off x="5778589" y="3066997"/>
            <a:ext cx="1" cy="890671"/>
          </a:xfrm>
          <a:prstGeom prst="bentConnector3">
            <a:avLst>
              <a:gd name="adj1" fmla="val 2286010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325BC697-A41C-374D-A69A-B16218FF35D9}"/>
              </a:ext>
            </a:extLst>
          </p:cNvPr>
          <p:cNvSpPr txBox="1"/>
          <p:nvPr/>
        </p:nvSpPr>
        <p:spPr>
          <a:xfrm>
            <a:off x="2990552" y="3922812"/>
            <a:ext cx="389815" cy="230832"/>
          </a:xfrm>
          <a:prstGeom prst="rect">
            <a:avLst/>
          </a:prstGeom>
          <a:noFill/>
        </p:spPr>
        <p:txBody>
          <a:bodyPr wrap="square" rtlCol="0">
            <a:spAutoFit/>
          </a:bodyPr>
          <a:lstStyle/>
          <a:p>
            <a:r>
              <a:rPr lang="en-US" altLang="zh-CN" sz="900" dirty="0"/>
              <a:t>dir1</a:t>
            </a:r>
            <a:endParaRPr lang="en-CN" sz="900" dirty="0"/>
          </a:p>
        </p:txBody>
      </p:sp>
      <p:sp>
        <p:nvSpPr>
          <p:cNvPr id="91" name="TextBox 90">
            <a:extLst>
              <a:ext uri="{FF2B5EF4-FFF2-40B4-BE49-F238E27FC236}">
                <a16:creationId xmlns:a16="http://schemas.microsoft.com/office/drawing/2014/main" id="{68A33BD3-36BF-AC4E-B472-099D9A6E8EA1}"/>
              </a:ext>
            </a:extLst>
          </p:cNvPr>
          <p:cNvSpPr txBox="1"/>
          <p:nvPr/>
        </p:nvSpPr>
        <p:spPr>
          <a:xfrm>
            <a:off x="4962398" y="3950034"/>
            <a:ext cx="473222" cy="230832"/>
          </a:xfrm>
          <a:prstGeom prst="rect">
            <a:avLst/>
          </a:prstGeom>
          <a:noFill/>
        </p:spPr>
        <p:txBody>
          <a:bodyPr wrap="square" rtlCol="0">
            <a:spAutoFit/>
          </a:bodyPr>
          <a:lstStyle/>
          <a:p>
            <a:r>
              <a:rPr lang="en-US" altLang="zh-CN" sz="900" dirty="0"/>
              <a:t>file1</a:t>
            </a:r>
            <a:endParaRPr lang="en-CN" sz="900" dirty="0"/>
          </a:p>
        </p:txBody>
      </p:sp>
      <p:sp>
        <p:nvSpPr>
          <p:cNvPr id="50" name="Rectangle 49">
            <a:extLst>
              <a:ext uri="{FF2B5EF4-FFF2-40B4-BE49-F238E27FC236}">
                <a16:creationId xmlns:a16="http://schemas.microsoft.com/office/drawing/2014/main" id="{74084A99-069A-B440-9AAE-2197519C6F9C}"/>
              </a:ext>
            </a:extLst>
          </p:cNvPr>
          <p:cNvSpPr/>
          <p:nvPr/>
        </p:nvSpPr>
        <p:spPr>
          <a:xfrm>
            <a:off x="3238196" y="3523494"/>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1" name="Rectangle 50">
            <a:extLst>
              <a:ext uri="{FF2B5EF4-FFF2-40B4-BE49-F238E27FC236}">
                <a16:creationId xmlns:a16="http://schemas.microsoft.com/office/drawing/2014/main" id="{C99FB954-DEF8-1C4B-9A26-EB0B00005DE7}"/>
              </a:ext>
            </a:extLst>
          </p:cNvPr>
          <p:cNvSpPr/>
          <p:nvPr/>
        </p:nvSpPr>
        <p:spPr>
          <a:xfrm>
            <a:off x="5252303" y="3511522"/>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3" name="Rectangle 52">
            <a:extLst>
              <a:ext uri="{FF2B5EF4-FFF2-40B4-BE49-F238E27FC236}">
                <a16:creationId xmlns:a16="http://schemas.microsoft.com/office/drawing/2014/main" id="{F81185A4-6FD5-594F-9275-4CF53B724F79}"/>
              </a:ext>
            </a:extLst>
          </p:cNvPr>
          <p:cNvSpPr/>
          <p:nvPr/>
        </p:nvSpPr>
        <p:spPr>
          <a:xfrm>
            <a:off x="4172762" y="3516311"/>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4" name="Rectangle 53">
            <a:extLst>
              <a:ext uri="{FF2B5EF4-FFF2-40B4-BE49-F238E27FC236}">
                <a16:creationId xmlns:a16="http://schemas.microsoft.com/office/drawing/2014/main" id="{C55E3245-18BD-684F-B8AE-EB88BDBEAB66}"/>
              </a:ext>
            </a:extLst>
          </p:cNvPr>
          <p:cNvSpPr/>
          <p:nvPr/>
        </p:nvSpPr>
        <p:spPr>
          <a:xfrm>
            <a:off x="6115766" y="3511926"/>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Tree>
    <p:extLst>
      <p:ext uri="{BB962C8B-B14F-4D97-AF65-F5344CB8AC3E}">
        <p14:creationId xmlns:p14="http://schemas.microsoft.com/office/powerpoint/2010/main" val="38679316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AE2A964-574E-8743-85B1-66E29DE4D400}"/>
              </a:ext>
            </a:extLst>
          </p:cNvPr>
          <p:cNvGrpSpPr/>
          <p:nvPr/>
        </p:nvGrpSpPr>
        <p:grpSpPr>
          <a:xfrm>
            <a:off x="1187624" y="4450401"/>
            <a:ext cx="341224" cy="428403"/>
            <a:chOff x="1187624" y="4164148"/>
            <a:chExt cx="341224" cy="428403"/>
          </a:xfrm>
        </p:grpSpPr>
        <p:sp>
          <p:nvSpPr>
            <p:cNvPr id="28" name="Rectangle 27">
              <a:extLst>
                <a:ext uri="{FF2B5EF4-FFF2-40B4-BE49-F238E27FC236}">
                  <a16:creationId xmlns:a16="http://schemas.microsoft.com/office/drawing/2014/main" id="{0F51F856-B0A5-7543-9E4B-C62C69296C0A}"/>
                </a:ext>
              </a:extLst>
            </p:cNvPr>
            <p:cNvSpPr/>
            <p:nvPr/>
          </p:nvSpPr>
          <p:spPr>
            <a:xfrm>
              <a:off x="1187624"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32" name="Rectangle 31">
              <a:extLst>
                <a:ext uri="{FF2B5EF4-FFF2-40B4-BE49-F238E27FC236}">
                  <a16:creationId xmlns:a16="http://schemas.microsoft.com/office/drawing/2014/main" id="{217AA249-4220-F246-8A84-6B8F7226EFC1}"/>
                </a:ext>
              </a:extLst>
            </p:cNvPr>
            <p:cNvSpPr/>
            <p:nvPr/>
          </p:nvSpPr>
          <p:spPr>
            <a:xfrm>
              <a:off x="1358236"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grpSp>
      <p:sp>
        <p:nvSpPr>
          <p:cNvPr id="2" name="Title 1">
            <a:extLst>
              <a:ext uri="{FF2B5EF4-FFF2-40B4-BE49-F238E27FC236}">
                <a16:creationId xmlns:a16="http://schemas.microsoft.com/office/drawing/2014/main" id="{DBBC564D-17F9-C448-AA59-352083BE6109}"/>
              </a:ext>
            </a:extLst>
          </p:cNvPr>
          <p:cNvSpPr>
            <a:spLocks noGrp="1"/>
          </p:cNvSpPr>
          <p:nvPr>
            <p:ph type="title"/>
          </p:nvPr>
        </p:nvSpPr>
        <p:spPr/>
        <p:txBody>
          <a:bodyPr/>
          <a:lstStyle/>
          <a:p>
            <a:r>
              <a:rPr lang="zh-CN" altLang="en-CN" dirty="0"/>
              <a:t>崩溃</a:t>
            </a:r>
            <a:r>
              <a:rPr lang="zh-CN" altLang="en-US" dirty="0"/>
              <a:t>与恢复</a:t>
            </a:r>
            <a:endParaRPr lang="en-CN" dirty="0"/>
          </a:p>
        </p:txBody>
      </p:sp>
      <p:sp>
        <p:nvSpPr>
          <p:cNvPr id="3" name="Content Placeholder 2">
            <a:extLst>
              <a:ext uri="{FF2B5EF4-FFF2-40B4-BE49-F238E27FC236}">
                <a16:creationId xmlns:a16="http://schemas.microsoft.com/office/drawing/2014/main" id="{875AFC27-5399-ED43-ADA6-519D725C6CD0}"/>
              </a:ext>
            </a:extLst>
          </p:cNvPr>
          <p:cNvSpPr>
            <a:spLocks noGrp="1"/>
          </p:cNvSpPr>
          <p:nvPr>
            <p:ph idx="1"/>
          </p:nvPr>
        </p:nvSpPr>
        <p:spPr/>
        <p:txBody>
          <a:bodyPr>
            <a:normAutofit/>
          </a:bodyPr>
          <a:lstStyle/>
          <a:p>
            <a:pPr marL="0" indent="266700">
              <a:buNone/>
            </a:pPr>
            <a:r>
              <a:rPr lang="en-US" altLang="zh-CN" sz="1800" b="0" dirty="0"/>
              <a:t>1. </a:t>
            </a:r>
            <a:r>
              <a:rPr lang="zh-CN" altLang="en-US" sz="1800" b="0" dirty="0"/>
              <a:t>创建</a:t>
            </a:r>
            <a:r>
              <a:rPr lang="en-US" altLang="zh-CN" sz="1800" b="0" dirty="0"/>
              <a:t>dir1</a:t>
            </a:r>
            <a:r>
              <a:rPr lang="zh-CN" altLang="en-US" sz="1800" b="0" dirty="0"/>
              <a:t>和</a:t>
            </a:r>
            <a:r>
              <a:rPr lang="en-US" altLang="zh-CN" sz="1800" b="0" dirty="0"/>
              <a:t>file1</a:t>
            </a:r>
          </a:p>
          <a:p>
            <a:pPr marL="0" indent="266700">
              <a:buNone/>
            </a:pPr>
            <a:r>
              <a:rPr lang="en-US" altLang="zh-CN" sz="1800" b="0" dirty="0"/>
              <a:t>2. </a:t>
            </a:r>
            <a:r>
              <a:rPr lang="zh-CN" altLang="en-US" sz="1800" b="0" dirty="0"/>
              <a:t>创建检查点</a:t>
            </a:r>
            <a:r>
              <a:rPr lang="en-US" altLang="zh-CN" sz="1800" b="0" dirty="0"/>
              <a:t>0</a:t>
            </a:r>
          </a:p>
          <a:p>
            <a:pPr marL="0" indent="266700">
              <a:buNone/>
            </a:pPr>
            <a:r>
              <a:rPr lang="en-US" altLang="zh-CN" sz="1800" b="0" dirty="0"/>
              <a:t>3. </a:t>
            </a:r>
            <a:r>
              <a:rPr lang="zh-CN" altLang="en-US" sz="1800" b="0" dirty="0"/>
              <a:t>创建和更新</a:t>
            </a:r>
            <a:r>
              <a:rPr lang="en-US" altLang="zh-CN" sz="1800" b="0" dirty="0"/>
              <a:t>file2</a:t>
            </a:r>
            <a:r>
              <a:rPr lang="zh-CN" altLang="en-US" sz="1800" b="0" dirty="0"/>
              <a:t>，并执行</a:t>
            </a:r>
            <a:r>
              <a:rPr lang="en-US" altLang="zh-CN" sz="1800" b="0" dirty="0" err="1"/>
              <a:t>fsync</a:t>
            </a:r>
            <a:r>
              <a:rPr lang="zh-CN" altLang="en-US" sz="1800" b="0" dirty="0"/>
              <a:t>完毕</a:t>
            </a:r>
          </a:p>
        </p:txBody>
      </p:sp>
      <p:sp>
        <p:nvSpPr>
          <p:cNvPr id="4" name="Slide Number Placeholder 3">
            <a:extLst>
              <a:ext uri="{FF2B5EF4-FFF2-40B4-BE49-F238E27FC236}">
                <a16:creationId xmlns:a16="http://schemas.microsoft.com/office/drawing/2014/main" id="{AEF1F4F4-7E2B-5447-B8C2-571028981E0D}"/>
              </a:ext>
            </a:extLst>
          </p:cNvPr>
          <p:cNvSpPr>
            <a:spLocks noGrp="1"/>
          </p:cNvSpPr>
          <p:nvPr>
            <p:ph type="sldNum" sz="quarter" idx="12"/>
          </p:nvPr>
        </p:nvSpPr>
        <p:spPr/>
        <p:txBody>
          <a:bodyPr/>
          <a:lstStyle/>
          <a:p>
            <a:fld id="{ADE361C3-C043-4A6E-BDCE-8DA1E7D90A3B}" type="slidenum">
              <a:rPr lang="zh-CN" altLang="en-US" smtClean="0"/>
              <a:t>62</a:t>
            </a:fld>
            <a:endParaRPr lang="zh-CN" altLang="en-US"/>
          </a:p>
        </p:txBody>
      </p:sp>
      <p:sp>
        <p:nvSpPr>
          <p:cNvPr id="5" name="Footer Placeholder 4">
            <a:extLst>
              <a:ext uri="{FF2B5EF4-FFF2-40B4-BE49-F238E27FC236}">
                <a16:creationId xmlns:a16="http://schemas.microsoft.com/office/drawing/2014/main" id="{D989E998-8001-E14F-8C78-0C517B0CD53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A9715CE5-D431-3F4A-9150-C2E96CD8407F}"/>
              </a:ext>
            </a:extLst>
          </p:cNvPr>
          <p:cNvSpPr/>
          <p:nvPr/>
        </p:nvSpPr>
        <p:spPr>
          <a:xfrm>
            <a:off x="899592" y="3512331"/>
            <a:ext cx="7688538" cy="428403"/>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 name="Rectangle 6">
            <a:extLst>
              <a:ext uri="{FF2B5EF4-FFF2-40B4-BE49-F238E27FC236}">
                <a16:creationId xmlns:a16="http://schemas.microsoft.com/office/drawing/2014/main" id="{76516D39-9DCA-734D-8926-B7B8C239AE52}"/>
              </a:ext>
            </a:extLst>
          </p:cNvPr>
          <p:cNvSpPr/>
          <p:nvPr/>
        </p:nvSpPr>
        <p:spPr>
          <a:xfrm>
            <a:off x="894954" y="3512735"/>
            <a:ext cx="239411" cy="428403"/>
          </a:xfrm>
          <a:prstGeom prst="rect">
            <a:avLst/>
          </a:prstGeom>
          <a:solidFill>
            <a:schemeClr val="accent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SB</a:t>
            </a:r>
          </a:p>
        </p:txBody>
      </p:sp>
      <p:sp>
        <p:nvSpPr>
          <p:cNvPr id="8" name="Rectangle 7">
            <a:extLst>
              <a:ext uri="{FF2B5EF4-FFF2-40B4-BE49-F238E27FC236}">
                <a16:creationId xmlns:a16="http://schemas.microsoft.com/office/drawing/2014/main" id="{65505E9F-26DC-1C47-936B-EB230DF77FF9}"/>
              </a:ext>
            </a:extLst>
          </p:cNvPr>
          <p:cNvSpPr/>
          <p:nvPr/>
        </p:nvSpPr>
        <p:spPr>
          <a:xfrm>
            <a:off x="1233035" y="3512735"/>
            <a:ext cx="338081"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3" name="Rectangle 12">
            <a:extLst>
              <a:ext uri="{FF2B5EF4-FFF2-40B4-BE49-F238E27FC236}">
                <a16:creationId xmlns:a16="http://schemas.microsoft.com/office/drawing/2014/main" id="{B9548E21-BA93-ED4C-8F67-4A3D22A1A80D}"/>
              </a:ext>
            </a:extLst>
          </p:cNvPr>
          <p:cNvSpPr/>
          <p:nvPr/>
        </p:nvSpPr>
        <p:spPr>
          <a:xfrm>
            <a:off x="3242997" y="3512331"/>
            <a:ext cx="195130"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4" name="Rectangle 13">
            <a:extLst>
              <a:ext uri="{FF2B5EF4-FFF2-40B4-BE49-F238E27FC236}">
                <a16:creationId xmlns:a16="http://schemas.microsoft.com/office/drawing/2014/main" id="{8D7A1BC3-D3CD-B74F-97B5-9D5082324841}"/>
              </a:ext>
            </a:extLst>
          </p:cNvPr>
          <p:cNvSpPr/>
          <p:nvPr/>
        </p:nvSpPr>
        <p:spPr>
          <a:xfrm>
            <a:off x="6113561" y="3512331"/>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15" name="Rectangle 14">
            <a:extLst>
              <a:ext uri="{FF2B5EF4-FFF2-40B4-BE49-F238E27FC236}">
                <a16:creationId xmlns:a16="http://schemas.microsoft.com/office/drawing/2014/main" id="{B2159BE4-6472-EE47-A4D3-543A5AA06FAB}"/>
              </a:ext>
            </a:extLst>
          </p:cNvPr>
          <p:cNvSpPr/>
          <p:nvPr/>
        </p:nvSpPr>
        <p:spPr>
          <a:xfrm>
            <a:off x="4170162" y="3505572"/>
            <a:ext cx="185814" cy="428403"/>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16" name="Rectangle 15">
            <a:extLst>
              <a:ext uri="{FF2B5EF4-FFF2-40B4-BE49-F238E27FC236}">
                <a16:creationId xmlns:a16="http://schemas.microsoft.com/office/drawing/2014/main" id="{41BDD35D-3CCA-6B44-BD91-1FF9C98FA8C8}"/>
              </a:ext>
            </a:extLst>
          </p:cNvPr>
          <p:cNvSpPr/>
          <p:nvPr/>
        </p:nvSpPr>
        <p:spPr>
          <a:xfrm>
            <a:off x="5247948" y="3512332"/>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17" name="Rectangle 16">
            <a:extLst>
              <a:ext uri="{FF2B5EF4-FFF2-40B4-BE49-F238E27FC236}">
                <a16:creationId xmlns:a16="http://schemas.microsoft.com/office/drawing/2014/main" id="{450F76D7-8121-1044-B91B-AA702E576C0E}"/>
              </a:ext>
            </a:extLst>
          </p:cNvPr>
          <p:cNvSpPr/>
          <p:nvPr/>
        </p:nvSpPr>
        <p:spPr>
          <a:xfrm>
            <a:off x="1576016" y="3512533"/>
            <a:ext cx="338081"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NAT</a:t>
            </a:r>
          </a:p>
        </p:txBody>
      </p:sp>
      <p:sp>
        <p:nvSpPr>
          <p:cNvPr id="26" name="Rectangle 25">
            <a:extLst>
              <a:ext uri="{FF2B5EF4-FFF2-40B4-BE49-F238E27FC236}">
                <a16:creationId xmlns:a16="http://schemas.microsoft.com/office/drawing/2014/main" id="{0763ABE8-4ADF-9743-A366-1263F1273864}"/>
              </a:ext>
            </a:extLst>
          </p:cNvPr>
          <p:cNvSpPr/>
          <p:nvPr/>
        </p:nvSpPr>
        <p:spPr>
          <a:xfrm>
            <a:off x="1912874" y="3512533"/>
            <a:ext cx="338081"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SIT</a:t>
            </a:r>
          </a:p>
        </p:txBody>
      </p:sp>
      <p:sp>
        <p:nvSpPr>
          <p:cNvPr id="27" name="Rectangle 26">
            <a:extLst>
              <a:ext uri="{FF2B5EF4-FFF2-40B4-BE49-F238E27FC236}">
                <a16:creationId xmlns:a16="http://schemas.microsoft.com/office/drawing/2014/main" id="{94100E3A-2F5A-764E-A4D2-B8BFCAE91F3A}"/>
              </a:ext>
            </a:extLst>
          </p:cNvPr>
          <p:cNvSpPr/>
          <p:nvPr/>
        </p:nvSpPr>
        <p:spPr>
          <a:xfrm>
            <a:off x="2250977" y="3512533"/>
            <a:ext cx="338081" cy="428403"/>
          </a:xfrm>
          <a:prstGeom prst="rect">
            <a:avLst/>
          </a:prstGeom>
          <a:solidFill>
            <a:schemeClr val="accent4">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SSA</a:t>
            </a:r>
          </a:p>
        </p:txBody>
      </p:sp>
      <p:grpSp>
        <p:nvGrpSpPr>
          <p:cNvPr id="35" name="Group 34">
            <a:extLst>
              <a:ext uri="{FF2B5EF4-FFF2-40B4-BE49-F238E27FC236}">
                <a16:creationId xmlns:a16="http://schemas.microsoft.com/office/drawing/2014/main" id="{F99B24B7-7467-3342-AA4A-C7D27D3F1EFD}"/>
              </a:ext>
            </a:extLst>
          </p:cNvPr>
          <p:cNvGrpSpPr/>
          <p:nvPr/>
        </p:nvGrpSpPr>
        <p:grpSpPr>
          <a:xfrm>
            <a:off x="1593076" y="4450401"/>
            <a:ext cx="341224" cy="428403"/>
            <a:chOff x="1576017" y="4164148"/>
            <a:chExt cx="341224" cy="428403"/>
          </a:xfrm>
        </p:grpSpPr>
        <p:sp>
          <p:nvSpPr>
            <p:cNvPr id="29" name="Rectangle 28">
              <a:extLst>
                <a:ext uri="{FF2B5EF4-FFF2-40B4-BE49-F238E27FC236}">
                  <a16:creationId xmlns:a16="http://schemas.microsoft.com/office/drawing/2014/main" id="{E1C010C2-3E57-104B-A940-1CF04310C309}"/>
                </a:ext>
              </a:extLst>
            </p:cNvPr>
            <p:cNvSpPr/>
            <p:nvPr/>
          </p:nvSpPr>
          <p:spPr>
            <a:xfrm>
              <a:off x="1576017"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3" name="Rectangle 32">
              <a:extLst>
                <a:ext uri="{FF2B5EF4-FFF2-40B4-BE49-F238E27FC236}">
                  <a16:creationId xmlns:a16="http://schemas.microsoft.com/office/drawing/2014/main" id="{2C4B287F-AB13-9B44-8A34-7F301D2C840D}"/>
                </a:ext>
              </a:extLst>
            </p:cNvPr>
            <p:cNvSpPr/>
            <p:nvPr/>
          </p:nvSpPr>
          <p:spPr>
            <a:xfrm>
              <a:off x="1746629"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grpSp>
        <p:nvGrpSpPr>
          <p:cNvPr id="36" name="Group 35">
            <a:extLst>
              <a:ext uri="{FF2B5EF4-FFF2-40B4-BE49-F238E27FC236}">
                <a16:creationId xmlns:a16="http://schemas.microsoft.com/office/drawing/2014/main" id="{D1A06B71-6E45-6348-A059-EE2A75BF3420}"/>
              </a:ext>
            </a:extLst>
          </p:cNvPr>
          <p:cNvGrpSpPr/>
          <p:nvPr/>
        </p:nvGrpSpPr>
        <p:grpSpPr>
          <a:xfrm>
            <a:off x="1998528" y="4450401"/>
            <a:ext cx="341224" cy="428403"/>
            <a:chOff x="1998528" y="4164148"/>
            <a:chExt cx="341224" cy="428403"/>
          </a:xfrm>
        </p:grpSpPr>
        <p:sp>
          <p:nvSpPr>
            <p:cNvPr id="30" name="Rectangle 29">
              <a:extLst>
                <a:ext uri="{FF2B5EF4-FFF2-40B4-BE49-F238E27FC236}">
                  <a16:creationId xmlns:a16="http://schemas.microsoft.com/office/drawing/2014/main" id="{8B356FE5-839B-0C4C-BD79-F74B3F79EFC3}"/>
                </a:ext>
              </a:extLst>
            </p:cNvPr>
            <p:cNvSpPr/>
            <p:nvPr/>
          </p:nvSpPr>
          <p:spPr>
            <a:xfrm>
              <a:off x="1998528"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4" name="Rectangle 33">
              <a:extLst>
                <a:ext uri="{FF2B5EF4-FFF2-40B4-BE49-F238E27FC236}">
                  <a16:creationId xmlns:a16="http://schemas.microsoft.com/office/drawing/2014/main" id="{110F12E6-E898-F140-A16E-5EF1D132C4CA}"/>
                </a:ext>
              </a:extLst>
            </p:cNvPr>
            <p:cNvSpPr/>
            <p:nvPr/>
          </p:nvSpPr>
          <p:spPr>
            <a:xfrm>
              <a:off x="2169140"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cxnSp>
        <p:nvCxnSpPr>
          <p:cNvPr id="44" name="Elbow Connector 43">
            <a:extLst>
              <a:ext uri="{FF2B5EF4-FFF2-40B4-BE49-F238E27FC236}">
                <a16:creationId xmlns:a16="http://schemas.microsoft.com/office/drawing/2014/main" id="{3DA596F7-CD54-6345-83BA-95727B7A6FB7}"/>
              </a:ext>
            </a:extLst>
          </p:cNvPr>
          <p:cNvCxnSpPr>
            <a:stCxn id="28" idx="2"/>
            <a:endCxn id="29" idx="2"/>
          </p:cNvCxnSpPr>
          <p:nvPr/>
        </p:nvCxnSpPr>
        <p:spPr>
          <a:xfrm rot="16200000" flipH="1">
            <a:off x="1475656" y="4676078"/>
            <a:ext cx="12700" cy="405452"/>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38034C7B-9924-4B44-8860-F3077C30486F}"/>
              </a:ext>
            </a:extLst>
          </p:cNvPr>
          <p:cNvCxnSpPr>
            <a:cxnSpLocks/>
            <a:stCxn id="28" idx="2"/>
            <a:endCxn id="30" idx="2"/>
          </p:cNvCxnSpPr>
          <p:nvPr/>
        </p:nvCxnSpPr>
        <p:spPr>
          <a:xfrm rot="16200000" flipH="1">
            <a:off x="1678382" y="4473352"/>
            <a:ext cx="12700" cy="810904"/>
          </a:xfrm>
          <a:prstGeom prst="bentConnector3">
            <a:avLst>
              <a:gd name="adj1" fmla="val 23818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B599E10-4C07-C349-90F6-5667DFAB37D1}"/>
              </a:ext>
            </a:extLst>
          </p:cNvPr>
          <p:cNvSpPr txBox="1"/>
          <p:nvPr/>
        </p:nvSpPr>
        <p:spPr>
          <a:xfrm>
            <a:off x="1067001" y="4258576"/>
            <a:ext cx="357790" cy="200055"/>
          </a:xfrm>
          <a:prstGeom prst="rect">
            <a:avLst/>
          </a:prstGeom>
          <a:noFill/>
        </p:spPr>
        <p:txBody>
          <a:bodyPr wrap="none" rtlCol="0">
            <a:spAutoFit/>
          </a:bodyPr>
          <a:lstStyle/>
          <a:p>
            <a:r>
              <a:rPr lang="en-CN" sz="700" dirty="0"/>
              <a:t>CP0</a:t>
            </a:r>
          </a:p>
        </p:txBody>
      </p:sp>
      <p:sp>
        <p:nvSpPr>
          <p:cNvPr id="59" name="TextBox 58">
            <a:extLst>
              <a:ext uri="{FF2B5EF4-FFF2-40B4-BE49-F238E27FC236}">
                <a16:creationId xmlns:a16="http://schemas.microsoft.com/office/drawing/2014/main" id="{F31BA9E1-C0D9-D549-84F7-0F9923E3158F}"/>
              </a:ext>
            </a:extLst>
          </p:cNvPr>
          <p:cNvSpPr txBox="1"/>
          <p:nvPr/>
        </p:nvSpPr>
        <p:spPr>
          <a:xfrm>
            <a:off x="1279280" y="4261751"/>
            <a:ext cx="357790" cy="200055"/>
          </a:xfrm>
          <a:prstGeom prst="rect">
            <a:avLst/>
          </a:prstGeom>
          <a:noFill/>
        </p:spPr>
        <p:txBody>
          <a:bodyPr wrap="none" rtlCol="0">
            <a:spAutoFit/>
          </a:bodyPr>
          <a:lstStyle/>
          <a:p>
            <a:r>
              <a:rPr lang="en-US" altLang="zh-CN" sz="700" dirty="0"/>
              <a:t>CP1</a:t>
            </a:r>
            <a:endParaRPr lang="en-CN" sz="700" dirty="0"/>
          </a:p>
        </p:txBody>
      </p:sp>
      <p:sp>
        <p:nvSpPr>
          <p:cNvPr id="60" name="Rectangle 59">
            <a:extLst>
              <a:ext uri="{FF2B5EF4-FFF2-40B4-BE49-F238E27FC236}">
                <a16:creationId xmlns:a16="http://schemas.microsoft.com/office/drawing/2014/main" id="{A44E4CBB-90A5-B544-8D9F-DEFD81AB2082}"/>
              </a:ext>
            </a:extLst>
          </p:cNvPr>
          <p:cNvSpPr/>
          <p:nvPr/>
        </p:nvSpPr>
        <p:spPr>
          <a:xfrm>
            <a:off x="1420539" y="4521346"/>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1" name="Rectangle 60">
            <a:extLst>
              <a:ext uri="{FF2B5EF4-FFF2-40B4-BE49-F238E27FC236}">
                <a16:creationId xmlns:a16="http://schemas.microsoft.com/office/drawing/2014/main" id="{F3BD593D-EB08-BF41-BBE2-D4EA1D563299}"/>
              </a:ext>
            </a:extLst>
          </p:cNvPr>
          <p:cNvSpPr/>
          <p:nvPr/>
        </p:nvSpPr>
        <p:spPr>
          <a:xfrm>
            <a:off x="1246350" y="4748239"/>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2" name="Rectangle 61">
            <a:extLst>
              <a:ext uri="{FF2B5EF4-FFF2-40B4-BE49-F238E27FC236}">
                <a16:creationId xmlns:a16="http://schemas.microsoft.com/office/drawing/2014/main" id="{1F82A2FE-1E67-E34B-9D3C-82A66BAC5F48}"/>
              </a:ext>
            </a:extLst>
          </p:cNvPr>
          <p:cNvSpPr/>
          <p:nvPr/>
        </p:nvSpPr>
        <p:spPr>
          <a:xfrm>
            <a:off x="1419713" y="4665236"/>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3" name="Rectangle 62">
            <a:extLst>
              <a:ext uri="{FF2B5EF4-FFF2-40B4-BE49-F238E27FC236}">
                <a16:creationId xmlns:a16="http://schemas.microsoft.com/office/drawing/2014/main" id="{8AE316E7-87A1-BC4D-9F82-B9974B405AD1}"/>
              </a:ext>
            </a:extLst>
          </p:cNvPr>
          <p:cNvSpPr/>
          <p:nvPr/>
        </p:nvSpPr>
        <p:spPr>
          <a:xfrm>
            <a:off x="1419713" y="4751933"/>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4" name="Rectangle 63">
            <a:extLst>
              <a:ext uri="{FF2B5EF4-FFF2-40B4-BE49-F238E27FC236}">
                <a16:creationId xmlns:a16="http://schemas.microsoft.com/office/drawing/2014/main" id="{14DDD204-7CE2-1240-9676-BD0908D48B14}"/>
              </a:ext>
            </a:extLst>
          </p:cNvPr>
          <p:cNvSpPr/>
          <p:nvPr/>
        </p:nvSpPr>
        <p:spPr>
          <a:xfrm>
            <a:off x="1246350" y="4516241"/>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5" name="Rectangle 64">
            <a:extLst>
              <a:ext uri="{FF2B5EF4-FFF2-40B4-BE49-F238E27FC236}">
                <a16:creationId xmlns:a16="http://schemas.microsoft.com/office/drawing/2014/main" id="{EBC3E297-A319-CC4C-9AE2-BC7B7360AB9C}"/>
              </a:ext>
            </a:extLst>
          </p:cNvPr>
          <p:cNvSpPr/>
          <p:nvPr/>
        </p:nvSpPr>
        <p:spPr>
          <a:xfrm>
            <a:off x="1246350" y="4602938"/>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6" name="TextBox 65">
            <a:extLst>
              <a:ext uri="{FF2B5EF4-FFF2-40B4-BE49-F238E27FC236}">
                <a16:creationId xmlns:a16="http://schemas.microsoft.com/office/drawing/2014/main" id="{B6FFE3B7-0A69-BA4A-99B9-F41C08CFD2C9}"/>
              </a:ext>
            </a:extLst>
          </p:cNvPr>
          <p:cNvSpPr txBox="1"/>
          <p:nvPr/>
        </p:nvSpPr>
        <p:spPr>
          <a:xfrm>
            <a:off x="263889" y="4556414"/>
            <a:ext cx="981515" cy="230832"/>
          </a:xfrm>
          <a:prstGeom prst="rect">
            <a:avLst/>
          </a:prstGeom>
          <a:noFill/>
        </p:spPr>
        <p:txBody>
          <a:bodyPr wrap="square" rtlCol="0">
            <a:spAutoFit/>
          </a:bodyPr>
          <a:lstStyle/>
          <a:p>
            <a:r>
              <a:rPr lang="en-US" altLang="zh-CN" sz="900" dirty="0"/>
              <a:t>NAT/SIT</a:t>
            </a:r>
            <a:r>
              <a:rPr lang="zh-CN" altLang="en-US" sz="900" dirty="0"/>
              <a:t>的日志</a:t>
            </a:r>
            <a:endParaRPr lang="en-CN" sz="900" dirty="0"/>
          </a:p>
        </p:txBody>
      </p:sp>
      <p:cxnSp>
        <p:nvCxnSpPr>
          <p:cNvPr id="67" name="Elbow Connector 66">
            <a:extLst>
              <a:ext uri="{FF2B5EF4-FFF2-40B4-BE49-F238E27FC236}">
                <a16:creationId xmlns:a16="http://schemas.microsoft.com/office/drawing/2014/main" id="{34E933EF-B5B0-ED4C-A69B-2FA633CABF0E}"/>
              </a:ext>
            </a:extLst>
          </p:cNvPr>
          <p:cNvCxnSpPr>
            <a:cxnSpLocks/>
            <a:stCxn id="13" idx="0"/>
            <a:endCxn id="15" idx="0"/>
          </p:cNvCxnSpPr>
          <p:nvPr/>
        </p:nvCxnSpPr>
        <p:spPr>
          <a:xfrm rot="5400000" flipH="1" flipV="1">
            <a:off x="3798436" y="3047699"/>
            <a:ext cx="6759" cy="922507"/>
          </a:xfrm>
          <a:prstGeom prst="bentConnector3">
            <a:avLst>
              <a:gd name="adj1" fmla="val 3482157"/>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E43EE5A1-482F-E24E-AF85-2ADF92890EA7}"/>
              </a:ext>
            </a:extLst>
          </p:cNvPr>
          <p:cNvCxnSpPr>
            <a:cxnSpLocks/>
            <a:stCxn id="29" idx="0"/>
            <a:endCxn id="13" idx="2"/>
          </p:cNvCxnSpPr>
          <p:nvPr/>
        </p:nvCxnSpPr>
        <p:spPr>
          <a:xfrm rot="5400000" flipH="1" flipV="1">
            <a:off x="2254639" y="3364478"/>
            <a:ext cx="509667" cy="1662180"/>
          </a:xfrm>
          <a:prstGeom prst="bentConnector3">
            <a:avLst>
              <a:gd name="adj1" fmla="val 7064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EA843193-2E61-3547-88D8-8C426D52D344}"/>
              </a:ext>
            </a:extLst>
          </p:cNvPr>
          <p:cNvSpPr/>
          <p:nvPr/>
        </p:nvSpPr>
        <p:spPr>
          <a:xfrm>
            <a:off x="5424079" y="3512331"/>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77" name="Rectangle 76">
            <a:extLst>
              <a:ext uri="{FF2B5EF4-FFF2-40B4-BE49-F238E27FC236}">
                <a16:creationId xmlns:a16="http://schemas.microsoft.com/office/drawing/2014/main" id="{151A0570-3725-674F-9999-ED1881252D6D}"/>
              </a:ext>
            </a:extLst>
          </p:cNvPr>
          <p:cNvSpPr/>
          <p:nvPr/>
        </p:nvSpPr>
        <p:spPr>
          <a:xfrm>
            <a:off x="6334288" y="3511927"/>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cxnSp>
        <p:nvCxnSpPr>
          <p:cNvPr id="78" name="Elbow Connector 77">
            <a:extLst>
              <a:ext uri="{FF2B5EF4-FFF2-40B4-BE49-F238E27FC236}">
                <a16:creationId xmlns:a16="http://schemas.microsoft.com/office/drawing/2014/main" id="{23AAFE6F-4189-C549-A860-1B8AC4738BEF}"/>
              </a:ext>
            </a:extLst>
          </p:cNvPr>
          <p:cNvCxnSpPr>
            <a:cxnSpLocks/>
            <a:stCxn id="29" idx="0"/>
            <a:endCxn id="16" idx="2"/>
          </p:cNvCxnSpPr>
          <p:nvPr/>
        </p:nvCxnSpPr>
        <p:spPr>
          <a:xfrm rot="5400000" flipH="1" flipV="1">
            <a:off x="3250985" y="2368132"/>
            <a:ext cx="509666" cy="3654872"/>
          </a:xfrm>
          <a:prstGeom prst="bentConnector3">
            <a:avLst>
              <a:gd name="adj1" fmla="val 5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72D8ED86-EB52-2C4B-9564-D89FCBFC5DB0}"/>
              </a:ext>
            </a:extLst>
          </p:cNvPr>
          <p:cNvCxnSpPr>
            <a:cxnSpLocks/>
            <a:stCxn id="76" idx="2"/>
            <a:endCxn id="77" idx="2"/>
          </p:cNvCxnSpPr>
          <p:nvPr/>
        </p:nvCxnSpPr>
        <p:spPr>
          <a:xfrm rot="5400000" flipH="1" flipV="1">
            <a:off x="5976816" y="3472898"/>
            <a:ext cx="404" cy="935267"/>
          </a:xfrm>
          <a:prstGeom prst="bentConnector3">
            <a:avLst>
              <a:gd name="adj1" fmla="val -56584158"/>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6F585F33-AA29-E74D-9998-87D2818BA2AE}"/>
              </a:ext>
            </a:extLst>
          </p:cNvPr>
          <p:cNvCxnSpPr>
            <a:cxnSpLocks/>
            <a:stCxn id="16" idx="0"/>
            <a:endCxn id="14" idx="0"/>
          </p:cNvCxnSpPr>
          <p:nvPr/>
        </p:nvCxnSpPr>
        <p:spPr>
          <a:xfrm rot="5400000" flipH="1" flipV="1">
            <a:off x="5778589" y="3066997"/>
            <a:ext cx="1" cy="890671"/>
          </a:xfrm>
          <a:prstGeom prst="bentConnector3">
            <a:avLst>
              <a:gd name="adj1" fmla="val 2286010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325BC697-A41C-374D-A69A-B16218FF35D9}"/>
              </a:ext>
            </a:extLst>
          </p:cNvPr>
          <p:cNvSpPr txBox="1"/>
          <p:nvPr/>
        </p:nvSpPr>
        <p:spPr>
          <a:xfrm>
            <a:off x="2990552" y="3922812"/>
            <a:ext cx="389815" cy="230832"/>
          </a:xfrm>
          <a:prstGeom prst="rect">
            <a:avLst/>
          </a:prstGeom>
          <a:noFill/>
        </p:spPr>
        <p:txBody>
          <a:bodyPr wrap="square" rtlCol="0">
            <a:spAutoFit/>
          </a:bodyPr>
          <a:lstStyle/>
          <a:p>
            <a:r>
              <a:rPr lang="en-US" altLang="zh-CN" sz="900" dirty="0"/>
              <a:t>dir1</a:t>
            </a:r>
            <a:endParaRPr lang="en-CN" sz="900" dirty="0"/>
          </a:p>
        </p:txBody>
      </p:sp>
      <p:sp>
        <p:nvSpPr>
          <p:cNvPr id="91" name="TextBox 90">
            <a:extLst>
              <a:ext uri="{FF2B5EF4-FFF2-40B4-BE49-F238E27FC236}">
                <a16:creationId xmlns:a16="http://schemas.microsoft.com/office/drawing/2014/main" id="{68A33BD3-36BF-AC4E-B472-099D9A6E8EA1}"/>
              </a:ext>
            </a:extLst>
          </p:cNvPr>
          <p:cNvSpPr txBox="1"/>
          <p:nvPr/>
        </p:nvSpPr>
        <p:spPr>
          <a:xfrm>
            <a:off x="4962398" y="3950034"/>
            <a:ext cx="473222" cy="230832"/>
          </a:xfrm>
          <a:prstGeom prst="rect">
            <a:avLst/>
          </a:prstGeom>
          <a:noFill/>
        </p:spPr>
        <p:txBody>
          <a:bodyPr wrap="square" rtlCol="0">
            <a:spAutoFit/>
          </a:bodyPr>
          <a:lstStyle/>
          <a:p>
            <a:r>
              <a:rPr lang="en-US" altLang="zh-CN" sz="900" dirty="0"/>
              <a:t>file1</a:t>
            </a:r>
            <a:endParaRPr lang="en-CN" sz="900" dirty="0"/>
          </a:p>
        </p:txBody>
      </p:sp>
      <p:sp>
        <p:nvSpPr>
          <p:cNvPr id="92" name="TextBox 91">
            <a:extLst>
              <a:ext uri="{FF2B5EF4-FFF2-40B4-BE49-F238E27FC236}">
                <a16:creationId xmlns:a16="http://schemas.microsoft.com/office/drawing/2014/main" id="{0144F127-C44A-3F45-8568-EAEDA791C299}"/>
              </a:ext>
            </a:extLst>
          </p:cNvPr>
          <p:cNvSpPr txBox="1"/>
          <p:nvPr/>
        </p:nvSpPr>
        <p:spPr>
          <a:xfrm>
            <a:off x="5457538" y="3945630"/>
            <a:ext cx="473222" cy="230832"/>
          </a:xfrm>
          <a:prstGeom prst="rect">
            <a:avLst/>
          </a:prstGeom>
          <a:noFill/>
        </p:spPr>
        <p:txBody>
          <a:bodyPr wrap="square" rtlCol="0">
            <a:spAutoFit/>
          </a:bodyPr>
          <a:lstStyle/>
          <a:p>
            <a:r>
              <a:rPr lang="en-US" altLang="zh-CN" sz="900" dirty="0"/>
              <a:t>file2</a:t>
            </a:r>
            <a:endParaRPr lang="en-CN" sz="900" dirty="0"/>
          </a:p>
        </p:txBody>
      </p:sp>
      <p:sp>
        <p:nvSpPr>
          <p:cNvPr id="50" name="Rectangle 49">
            <a:extLst>
              <a:ext uri="{FF2B5EF4-FFF2-40B4-BE49-F238E27FC236}">
                <a16:creationId xmlns:a16="http://schemas.microsoft.com/office/drawing/2014/main" id="{74084A99-069A-B440-9AAE-2197519C6F9C}"/>
              </a:ext>
            </a:extLst>
          </p:cNvPr>
          <p:cNvSpPr/>
          <p:nvPr/>
        </p:nvSpPr>
        <p:spPr>
          <a:xfrm>
            <a:off x="3238196" y="3523494"/>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1" name="Rectangle 50">
            <a:extLst>
              <a:ext uri="{FF2B5EF4-FFF2-40B4-BE49-F238E27FC236}">
                <a16:creationId xmlns:a16="http://schemas.microsoft.com/office/drawing/2014/main" id="{C99FB954-DEF8-1C4B-9A26-EB0B00005DE7}"/>
              </a:ext>
            </a:extLst>
          </p:cNvPr>
          <p:cNvSpPr/>
          <p:nvPr/>
        </p:nvSpPr>
        <p:spPr>
          <a:xfrm>
            <a:off x="5252303" y="3511522"/>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3" name="Rectangle 52">
            <a:extLst>
              <a:ext uri="{FF2B5EF4-FFF2-40B4-BE49-F238E27FC236}">
                <a16:creationId xmlns:a16="http://schemas.microsoft.com/office/drawing/2014/main" id="{F81185A4-6FD5-594F-9275-4CF53B724F79}"/>
              </a:ext>
            </a:extLst>
          </p:cNvPr>
          <p:cNvSpPr/>
          <p:nvPr/>
        </p:nvSpPr>
        <p:spPr>
          <a:xfrm>
            <a:off x="4172762" y="3516311"/>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4" name="Rectangle 53">
            <a:extLst>
              <a:ext uri="{FF2B5EF4-FFF2-40B4-BE49-F238E27FC236}">
                <a16:creationId xmlns:a16="http://schemas.microsoft.com/office/drawing/2014/main" id="{C55E3245-18BD-684F-B8AE-EB88BDBEAB66}"/>
              </a:ext>
            </a:extLst>
          </p:cNvPr>
          <p:cNvSpPr/>
          <p:nvPr/>
        </p:nvSpPr>
        <p:spPr>
          <a:xfrm>
            <a:off x="6115766" y="3511926"/>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5" name="Oval 54">
            <a:extLst>
              <a:ext uri="{FF2B5EF4-FFF2-40B4-BE49-F238E27FC236}">
                <a16:creationId xmlns:a16="http://schemas.microsoft.com/office/drawing/2014/main" id="{0E4F6E1A-A23B-784C-B246-E48B0ED39DE0}"/>
              </a:ext>
            </a:extLst>
          </p:cNvPr>
          <p:cNvSpPr/>
          <p:nvPr/>
        </p:nvSpPr>
        <p:spPr>
          <a:xfrm>
            <a:off x="5464773" y="3798499"/>
            <a:ext cx="89221" cy="9890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6" name="Elbow Connector 54">
            <a:extLst>
              <a:ext uri="{FF2B5EF4-FFF2-40B4-BE49-F238E27FC236}">
                <a16:creationId xmlns:a16="http://schemas.microsoft.com/office/drawing/2014/main" id="{CB650EDE-6F9A-DF41-BEA7-70ABCE9F6548}"/>
              </a:ext>
            </a:extLst>
          </p:cNvPr>
          <p:cNvCxnSpPr>
            <a:cxnSpLocks/>
            <a:stCxn id="57" idx="2"/>
            <a:endCxn id="55" idx="7"/>
          </p:cNvCxnSpPr>
          <p:nvPr/>
        </p:nvCxnSpPr>
        <p:spPr>
          <a:xfrm flipH="1">
            <a:off x="5540928" y="2976733"/>
            <a:ext cx="487141" cy="836250"/>
          </a:xfrm>
          <a:prstGeom prst="straightConnector1">
            <a:avLst/>
          </a:prstGeom>
          <a:ln cap="flat">
            <a:solidFill>
              <a:srgbClr val="00B050"/>
            </a:solidFill>
            <a:round/>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91D38A5-0BDE-2343-BCD6-99AE46A388BB}"/>
              </a:ext>
            </a:extLst>
          </p:cNvPr>
          <p:cNvSpPr txBox="1"/>
          <p:nvPr/>
        </p:nvSpPr>
        <p:spPr>
          <a:xfrm>
            <a:off x="5602311" y="2699734"/>
            <a:ext cx="851515" cy="276999"/>
          </a:xfrm>
          <a:prstGeom prst="rect">
            <a:avLst/>
          </a:prstGeom>
          <a:noFill/>
        </p:spPr>
        <p:txBody>
          <a:bodyPr wrap="none" rtlCol="0">
            <a:spAutoFit/>
          </a:bodyPr>
          <a:lstStyle/>
          <a:p>
            <a:r>
              <a:rPr lang="en-US" sz="1200" dirty="0"/>
              <a:t>f</a:t>
            </a:r>
            <a:r>
              <a:rPr lang="en-CN" sz="1200" dirty="0"/>
              <a:t>sync</a:t>
            </a:r>
            <a:r>
              <a:rPr lang="zh-CN" altLang="en-CN" sz="1200" dirty="0"/>
              <a:t>标记</a:t>
            </a:r>
            <a:endParaRPr lang="en-CN" sz="1200" dirty="0"/>
          </a:p>
        </p:txBody>
      </p:sp>
    </p:spTree>
    <p:extLst>
      <p:ext uri="{BB962C8B-B14F-4D97-AF65-F5344CB8AC3E}">
        <p14:creationId xmlns:p14="http://schemas.microsoft.com/office/powerpoint/2010/main" val="34155703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AE2A964-574E-8743-85B1-66E29DE4D400}"/>
              </a:ext>
            </a:extLst>
          </p:cNvPr>
          <p:cNvGrpSpPr/>
          <p:nvPr/>
        </p:nvGrpSpPr>
        <p:grpSpPr>
          <a:xfrm>
            <a:off x="1187624" y="4450401"/>
            <a:ext cx="341224" cy="428403"/>
            <a:chOff x="1187624" y="4164148"/>
            <a:chExt cx="341224" cy="428403"/>
          </a:xfrm>
        </p:grpSpPr>
        <p:sp>
          <p:nvSpPr>
            <p:cNvPr id="28" name="Rectangle 27">
              <a:extLst>
                <a:ext uri="{FF2B5EF4-FFF2-40B4-BE49-F238E27FC236}">
                  <a16:creationId xmlns:a16="http://schemas.microsoft.com/office/drawing/2014/main" id="{0F51F856-B0A5-7543-9E4B-C62C69296C0A}"/>
                </a:ext>
              </a:extLst>
            </p:cNvPr>
            <p:cNvSpPr/>
            <p:nvPr/>
          </p:nvSpPr>
          <p:spPr>
            <a:xfrm>
              <a:off x="1187624"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32" name="Rectangle 31">
              <a:extLst>
                <a:ext uri="{FF2B5EF4-FFF2-40B4-BE49-F238E27FC236}">
                  <a16:creationId xmlns:a16="http://schemas.microsoft.com/office/drawing/2014/main" id="{217AA249-4220-F246-8A84-6B8F7226EFC1}"/>
                </a:ext>
              </a:extLst>
            </p:cNvPr>
            <p:cNvSpPr/>
            <p:nvPr/>
          </p:nvSpPr>
          <p:spPr>
            <a:xfrm>
              <a:off x="1358236"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grpSp>
      <p:sp>
        <p:nvSpPr>
          <p:cNvPr id="2" name="Title 1">
            <a:extLst>
              <a:ext uri="{FF2B5EF4-FFF2-40B4-BE49-F238E27FC236}">
                <a16:creationId xmlns:a16="http://schemas.microsoft.com/office/drawing/2014/main" id="{DBBC564D-17F9-C448-AA59-352083BE6109}"/>
              </a:ext>
            </a:extLst>
          </p:cNvPr>
          <p:cNvSpPr>
            <a:spLocks noGrp="1"/>
          </p:cNvSpPr>
          <p:nvPr>
            <p:ph type="title"/>
          </p:nvPr>
        </p:nvSpPr>
        <p:spPr/>
        <p:txBody>
          <a:bodyPr/>
          <a:lstStyle/>
          <a:p>
            <a:r>
              <a:rPr lang="zh-CN" altLang="en-CN" dirty="0"/>
              <a:t>崩溃</a:t>
            </a:r>
            <a:r>
              <a:rPr lang="zh-CN" altLang="en-US" dirty="0"/>
              <a:t>与恢复</a:t>
            </a:r>
            <a:endParaRPr lang="en-CN" dirty="0"/>
          </a:p>
        </p:txBody>
      </p:sp>
      <p:sp>
        <p:nvSpPr>
          <p:cNvPr id="3" name="Content Placeholder 2">
            <a:extLst>
              <a:ext uri="{FF2B5EF4-FFF2-40B4-BE49-F238E27FC236}">
                <a16:creationId xmlns:a16="http://schemas.microsoft.com/office/drawing/2014/main" id="{875AFC27-5399-ED43-ADA6-519D725C6CD0}"/>
              </a:ext>
            </a:extLst>
          </p:cNvPr>
          <p:cNvSpPr>
            <a:spLocks noGrp="1"/>
          </p:cNvSpPr>
          <p:nvPr>
            <p:ph idx="1"/>
          </p:nvPr>
        </p:nvSpPr>
        <p:spPr/>
        <p:txBody>
          <a:bodyPr>
            <a:normAutofit/>
          </a:bodyPr>
          <a:lstStyle/>
          <a:p>
            <a:pPr marL="0" indent="266700">
              <a:buNone/>
            </a:pPr>
            <a:r>
              <a:rPr lang="en-US" altLang="zh-CN" sz="1800" b="0" dirty="0"/>
              <a:t>1. </a:t>
            </a:r>
            <a:r>
              <a:rPr lang="zh-CN" altLang="en-US" sz="1800" b="0" dirty="0"/>
              <a:t>创建</a:t>
            </a:r>
            <a:r>
              <a:rPr lang="en-US" altLang="zh-CN" sz="1800" b="0" dirty="0"/>
              <a:t>dir1</a:t>
            </a:r>
            <a:r>
              <a:rPr lang="zh-CN" altLang="en-US" sz="1800" b="0" dirty="0"/>
              <a:t>和</a:t>
            </a:r>
            <a:r>
              <a:rPr lang="en-US" altLang="zh-CN" sz="1800" b="0" dirty="0"/>
              <a:t>file1</a:t>
            </a:r>
          </a:p>
          <a:p>
            <a:pPr marL="0" indent="266700">
              <a:buNone/>
            </a:pPr>
            <a:r>
              <a:rPr lang="en-US" altLang="zh-CN" sz="1800" b="0" dirty="0"/>
              <a:t>2. </a:t>
            </a:r>
            <a:r>
              <a:rPr lang="zh-CN" altLang="en-US" sz="1800" b="0" dirty="0"/>
              <a:t>创建检查点</a:t>
            </a:r>
            <a:r>
              <a:rPr lang="en-US" altLang="zh-CN" sz="1800" b="0" dirty="0"/>
              <a:t>0</a:t>
            </a:r>
          </a:p>
          <a:p>
            <a:pPr marL="0" indent="266700">
              <a:buNone/>
            </a:pPr>
            <a:r>
              <a:rPr lang="en-US" altLang="zh-CN" sz="1800" b="0" dirty="0"/>
              <a:t>3. </a:t>
            </a:r>
            <a:r>
              <a:rPr lang="zh-CN" altLang="en-US" sz="1800" b="0" dirty="0"/>
              <a:t>创建和更新</a:t>
            </a:r>
            <a:r>
              <a:rPr lang="en-US" altLang="zh-CN" sz="1800" b="0" dirty="0"/>
              <a:t>file2</a:t>
            </a:r>
            <a:r>
              <a:rPr lang="zh-CN" altLang="en-US" sz="1800" b="0" dirty="0"/>
              <a:t>，并执行</a:t>
            </a:r>
            <a:r>
              <a:rPr lang="en-US" altLang="zh-CN" sz="1800" b="0" dirty="0" err="1"/>
              <a:t>fsync</a:t>
            </a:r>
            <a:r>
              <a:rPr lang="zh-CN" altLang="en-US" sz="1800" b="0" dirty="0"/>
              <a:t>完毕</a:t>
            </a:r>
          </a:p>
          <a:p>
            <a:pPr marL="0" indent="266700">
              <a:buNone/>
            </a:pPr>
            <a:r>
              <a:rPr lang="en-US" altLang="zh-CN" sz="1800" b="0" dirty="0"/>
              <a:t>4. </a:t>
            </a:r>
            <a:r>
              <a:rPr lang="zh-CN" altLang="en-US" sz="1800" b="0" dirty="0"/>
              <a:t>发生意外掉电</a:t>
            </a:r>
          </a:p>
        </p:txBody>
      </p:sp>
      <p:sp>
        <p:nvSpPr>
          <p:cNvPr id="4" name="Slide Number Placeholder 3">
            <a:extLst>
              <a:ext uri="{FF2B5EF4-FFF2-40B4-BE49-F238E27FC236}">
                <a16:creationId xmlns:a16="http://schemas.microsoft.com/office/drawing/2014/main" id="{AEF1F4F4-7E2B-5447-B8C2-571028981E0D}"/>
              </a:ext>
            </a:extLst>
          </p:cNvPr>
          <p:cNvSpPr>
            <a:spLocks noGrp="1"/>
          </p:cNvSpPr>
          <p:nvPr>
            <p:ph type="sldNum" sz="quarter" idx="12"/>
          </p:nvPr>
        </p:nvSpPr>
        <p:spPr/>
        <p:txBody>
          <a:bodyPr/>
          <a:lstStyle/>
          <a:p>
            <a:fld id="{ADE361C3-C043-4A6E-BDCE-8DA1E7D90A3B}" type="slidenum">
              <a:rPr lang="zh-CN" altLang="en-US" smtClean="0"/>
              <a:t>63</a:t>
            </a:fld>
            <a:endParaRPr lang="zh-CN" altLang="en-US"/>
          </a:p>
        </p:txBody>
      </p:sp>
      <p:sp>
        <p:nvSpPr>
          <p:cNvPr id="5" name="Footer Placeholder 4">
            <a:extLst>
              <a:ext uri="{FF2B5EF4-FFF2-40B4-BE49-F238E27FC236}">
                <a16:creationId xmlns:a16="http://schemas.microsoft.com/office/drawing/2014/main" id="{D989E998-8001-E14F-8C78-0C517B0CD53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A9715CE5-D431-3F4A-9150-C2E96CD8407F}"/>
              </a:ext>
            </a:extLst>
          </p:cNvPr>
          <p:cNvSpPr/>
          <p:nvPr/>
        </p:nvSpPr>
        <p:spPr>
          <a:xfrm>
            <a:off x="899592" y="3512331"/>
            <a:ext cx="7688538" cy="428403"/>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 name="Rectangle 6">
            <a:extLst>
              <a:ext uri="{FF2B5EF4-FFF2-40B4-BE49-F238E27FC236}">
                <a16:creationId xmlns:a16="http://schemas.microsoft.com/office/drawing/2014/main" id="{76516D39-9DCA-734D-8926-B7B8C239AE52}"/>
              </a:ext>
            </a:extLst>
          </p:cNvPr>
          <p:cNvSpPr/>
          <p:nvPr/>
        </p:nvSpPr>
        <p:spPr>
          <a:xfrm>
            <a:off x="894954" y="3512735"/>
            <a:ext cx="239411" cy="428403"/>
          </a:xfrm>
          <a:prstGeom prst="rect">
            <a:avLst/>
          </a:prstGeom>
          <a:solidFill>
            <a:schemeClr val="accent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SB</a:t>
            </a:r>
          </a:p>
        </p:txBody>
      </p:sp>
      <p:sp>
        <p:nvSpPr>
          <p:cNvPr id="8" name="Rectangle 7">
            <a:extLst>
              <a:ext uri="{FF2B5EF4-FFF2-40B4-BE49-F238E27FC236}">
                <a16:creationId xmlns:a16="http://schemas.microsoft.com/office/drawing/2014/main" id="{65505E9F-26DC-1C47-936B-EB230DF77FF9}"/>
              </a:ext>
            </a:extLst>
          </p:cNvPr>
          <p:cNvSpPr/>
          <p:nvPr/>
        </p:nvSpPr>
        <p:spPr>
          <a:xfrm>
            <a:off x="1233035" y="3512735"/>
            <a:ext cx="338081"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3" name="Rectangle 12">
            <a:extLst>
              <a:ext uri="{FF2B5EF4-FFF2-40B4-BE49-F238E27FC236}">
                <a16:creationId xmlns:a16="http://schemas.microsoft.com/office/drawing/2014/main" id="{B9548E21-BA93-ED4C-8F67-4A3D22A1A80D}"/>
              </a:ext>
            </a:extLst>
          </p:cNvPr>
          <p:cNvSpPr/>
          <p:nvPr/>
        </p:nvSpPr>
        <p:spPr>
          <a:xfrm>
            <a:off x="3242997" y="3512331"/>
            <a:ext cx="195130"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4" name="Rectangle 13">
            <a:extLst>
              <a:ext uri="{FF2B5EF4-FFF2-40B4-BE49-F238E27FC236}">
                <a16:creationId xmlns:a16="http://schemas.microsoft.com/office/drawing/2014/main" id="{8D7A1BC3-D3CD-B74F-97B5-9D5082324841}"/>
              </a:ext>
            </a:extLst>
          </p:cNvPr>
          <p:cNvSpPr/>
          <p:nvPr/>
        </p:nvSpPr>
        <p:spPr>
          <a:xfrm>
            <a:off x="6113561" y="3512331"/>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15" name="Rectangle 14">
            <a:extLst>
              <a:ext uri="{FF2B5EF4-FFF2-40B4-BE49-F238E27FC236}">
                <a16:creationId xmlns:a16="http://schemas.microsoft.com/office/drawing/2014/main" id="{B2159BE4-6472-EE47-A4D3-543A5AA06FAB}"/>
              </a:ext>
            </a:extLst>
          </p:cNvPr>
          <p:cNvSpPr/>
          <p:nvPr/>
        </p:nvSpPr>
        <p:spPr>
          <a:xfrm>
            <a:off x="4170162" y="3505572"/>
            <a:ext cx="185814" cy="428403"/>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16" name="Rectangle 15">
            <a:extLst>
              <a:ext uri="{FF2B5EF4-FFF2-40B4-BE49-F238E27FC236}">
                <a16:creationId xmlns:a16="http://schemas.microsoft.com/office/drawing/2014/main" id="{41BDD35D-3CCA-6B44-BD91-1FF9C98FA8C8}"/>
              </a:ext>
            </a:extLst>
          </p:cNvPr>
          <p:cNvSpPr/>
          <p:nvPr/>
        </p:nvSpPr>
        <p:spPr>
          <a:xfrm>
            <a:off x="5247948" y="3512332"/>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17" name="Rectangle 16">
            <a:extLst>
              <a:ext uri="{FF2B5EF4-FFF2-40B4-BE49-F238E27FC236}">
                <a16:creationId xmlns:a16="http://schemas.microsoft.com/office/drawing/2014/main" id="{450F76D7-8121-1044-B91B-AA702E576C0E}"/>
              </a:ext>
            </a:extLst>
          </p:cNvPr>
          <p:cNvSpPr/>
          <p:nvPr/>
        </p:nvSpPr>
        <p:spPr>
          <a:xfrm>
            <a:off x="1576016" y="3512533"/>
            <a:ext cx="338081"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NAT</a:t>
            </a:r>
          </a:p>
        </p:txBody>
      </p:sp>
      <p:sp>
        <p:nvSpPr>
          <p:cNvPr id="26" name="Rectangle 25">
            <a:extLst>
              <a:ext uri="{FF2B5EF4-FFF2-40B4-BE49-F238E27FC236}">
                <a16:creationId xmlns:a16="http://schemas.microsoft.com/office/drawing/2014/main" id="{0763ABE8-4ADF-9743-A366-1263F1273864}"/>
              </a:ext>
            </a:extLst>
          </p:cNvPr>
          <p:cNvSpPr/>
          <p:nvPr/>
        </p:nvSpPr>
        <p:spPr>
          <a:xfrm>
            <a:off x="1912874" y="3512533"/>
            <a:ext cx="338081"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SIT</a:t>
            </a:r>
          </a:p>
        </p:txBody>
      </p:sp>
      <p:sp>
        <p:nvSpPr>
          <p:cNvPr id="27" name="Rectangle 26">
            <a:extLst>
              <a:ext uri="{FF2B5EF4-FFF2-40B4-BE49-F238E27FC236}">
                <a16:creationId xmlns:a16="http://schemas.microsoft.com/office/drawing/2014/main" id="{94100E3A-2F5A-764E-A4D2-B8BFCAE91F3A}"/>
              </a:ext>
            </a:extLst>
          </p:cNvPr>
          <p:cNvSpPr/>
          <p:nvPr/>
        </p:nvSpPr>
        <p:spPr>
          <a:xfrm>
            <a:off x="2250977" y="3512533"/>
            <a:ext cx="338081" cy="428403"/>
          </a:xfrm>
          <a:prstGeom prst="rect">
            <a:avLst/>
          </a:prstGeom>
          <a:solidFill>
            <a:schemeClr val="accent4">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SSA</a:t>
            </a:r>
          </a:p>
        </p:txBody>
      </p:sp>
      <p:grpSp>
        <p:nvGrpSpPr>
          <p:cNvPr id="35" name="Group 34">
            <a:extLst>
              <a:ext uri="{FF2B5EF4-FFF2-40B4-BE49-F238E27FC236}">
                <a16:creationId xmlns:a16="http://schemas.microsoft.com/office/drawing/2014/main" id="{F99B24B7-7467-3342-AA4A-C7D27D3F1EFD}"/>
              </a:ext>
            </a:extLst>
          </p:cNvPr>
          <p:cNvGrpSpPr/>
          <p:nvPr/>
        </p:nvGrpSpPr>
        <p:grpSpPr>
          <a:xfrm>
            <a:off x="1593076" y="4450401"/>
            <a:ext cx="341224" cy="428403"/>
            <a:chOff x="1576017" y="4164148"/>
            <a:chExt cx="341224" cy="428403"/>
          </a:xfrm>
        </p:grpSpPr>
        <p:sp>
          <p:nvSpPr>
            <p:cNvPr id="29" name="Rectangle 28">
              <a:extLst>
                <a:ext uri="{FF2B5EF4-FFF2-40B4-BE49-F238E27FC236}">
                  <a16:creationId xmlns:a16="http://schemas.microsoft.com/office/drawing/2014/main" id="{E1C010C2-3E57-104B-A940-1CF04310C309}"/>
                </a:ext>
              </a:extLst>
            </p:cNvPr>
            <p:cNvSpPr/>
            <p:nvPr/>
          </p:nvSpPr>
          <p:spPr>
            <a:xfrm>
              <a:off x="1576017"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3" name="Rectangle 32">
              <a:extLst>
                <a:ext uri="{FF2B5EF4-FFF2-40B4-BE49-F238E27FC236}">
                  <a16:creationId xmlns:a16="http://schemas.microsoft.com/office/drawing/2014/main" id="{2C4B287F-AB13-9B44-8A34-7F301D2C840D}"/>
                </a:ext>
              </a:extLst>
            </p:cNvPr>
            <p:cNvSpPr/>
            <p:nvPr/>
          </p:nvSpPr>
          <p:spPr>
            <a:xfrm>
              <a:off x="1746629"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grpSp>
        <p:nvGrpSpPr>
          <p:cNvPr id="36" name="Group 35">
            <a:extLst>
              <a:ext uri="{FF2B5EF4-FFF2-40B4-BE49-F238E27FC236}">
                <a16:creationId xmlns:a16="http://schemas.microsoft.com/office/drawing/2014/main" id="{D1A06B71-6E45-6348-A059-EE2A75BF3420}"/>
              </a:ext>
            </a:extLst>
          </p:cNvPr>
          <p:cNvGrpSpPr/>
          <p:nvPr/>
        </p:nvGrpSpPr>
        <p:grpSpPr>
          <a:xfrm>
            <a:off x="1998528" y="4450401"/>
            <a:ext cx="341224" cy="428403"/>
            <a:chOff x="1998528" y="4164148"/>
            <a:chExt cx="341224" cy="428403"/>
          </a:xfrm>
        </p:grpSpPr>
        <p:sp>
          <p:nvSpPr>
            <p:cNvPr id="30" name="Rectangle 29">
              <a:extLst>
                <a:ext uri="{FF2B5EF4-FFF2-40B4-BE49-F238E27FC236}">
                  <a16:creationId xmlns:a16="http://schemas.microsoft.com/office/drawing/2014/main" id="{8B356FE5-839B-0C4C-BD79-F74B3F79EFC3}"/>
                </a:ext>
              </a:extLst>
            </p:cNvPr>
            <p:cNvSpPr/>
            <p:nvPr/>
          </p:nvSpPr>
          <p:spPr>
            <a:xfrm>
              <a:off x="1998528"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4" name="Rectangle 33">
              <a:extLst>
                <a:ext uri="{FF2B5EF4-FFF2-40B4-BE49-F238E27FC236}">
                  <a16:creationId xmlns:a16="http://schemas.microsoft.com/office/drawing/2014/main" id="{110F12E6-E898-F140-A16E-5EF1D132C4CA}"/>
                </a:ext>
              </a:extLst>
            </p:cNvPr>
            <p:cNvSpPr/>
            <p:nvPr/>
          </p:nvSpPr>
          <p:spPr>
            <a:xfrm>
              <a:off x="2169140"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cxnSp>
        <p:nvCxnSpPr>
          <p:cNvPr id="44" name="Elbow Connector 43">
            <a:extLst>
              <a:ext uri="{FF2B5EF4-FFF2-40B4-BE49-F238E27FC236}">
                <a16:creationId xmlns:a16="http://schemas.microsoft.com/office/drawing/2014/main" id="{3DA596F7-CD54-6345-83BA-95727B7A6FB7}"/>
              </a:ext>
            </a:extLst>
          </p:cNvPr>
          <p:cNvCxnSpPr>
            <a:stCxn id="28" idx="2"/>
            <a:endCxn id="29" idx="2"/>
          </p:cNvCxnSpPr>
          <p:nvPr/>
        </p:nvCxnSpPr>
        <p:spPr>
          <a:xfrm rot="16200000" flipH="1">
            <a:off x="1475656" y="4676078"/>
            <a:ext cx="12700" cy="405452"/>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38034C7B-9924-4B44-8860-F3077C30486F}"/>
              </a:ext>
            </a:extLst>
          </p:cNvPr>
          <p:cNvCxnSpPr>
            <a:cxnSpLocks/>
            <a:stCxn id="28" idx="2"/>
            <a:endCxn id="30" idx="2"/>
          </p:cNvCxnSpPr>
          <p:nvPr/>
        </p:nvCxnSpPr>
        <p:spPr>
          <a:xfrm rot="16200000" flipH="1">
            <a:off x="1678382" y="4473352"/>
            <a:ext cx="12700" cy="810904"/>
          </a:xfrm>
          <a:prstGeom prst="bentConnector3">
            <a:avLst>
              <a:gd name="adj1" fmla="val 23818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B599E10-4C07-C349-90F6-5667DFAB37D1}"/>
              </a:ext>
            </a:extLst>
          </p:cNvPr>
          <p:cNvSpPr txBox="1"/>
          <p:nvPr/>
        </p:nvSpPr>
        <p:spPr>
          <a:xfrm>
            <a:off x="1067001" y="4258576"/>
            <a:ext cx="357790" cy="200055"/>
          </a:xfrm>
          <a:prstGeom prst="rect">
            <a:avLst/>
          </a:prstGeom>
          <a:noFill/>
        </p:spPr>
        <p:txBody>
          <a:bodyPr wrap="none" rtlCol="0">
            <a:spAutoFit/>
          </a:bodyPr>
          <a:lstStyle/>
          <a:p>
            <a:r>
              <a:rPr lang="en-CN" sz="700" dirty="0"/>
              <a:t>CP0</a:t>
            </a:r>
          </a:p>
        </p:txBody>
      </p:sp>
      <p:sp>
        <p:nvSpPr>
          <p:cNvPr id="59" name="TextBox 58">
            <a:extLst>
              <a:ext uri="{FF2B5EF4-FFF2-40B4-BE49-F238E27FC236}">
                <a16:creationId xmlns:a16="http://schemas.microsoft.com/office/drawing/2014/main" id="{F31BA9E1-C0D9-D549-84F7-0F9923E3158F}"/>
              </a:ext>
            </a:extLst>
          </p:cNvPr>
          <p:cNvSpPr txBox="1"/>
          <p:nvPr/>
        </p:nvSpPr>
        <p:spPr>
          <a:xfrm>
            <a:off x="1279280" y="4261751"/>
            <a:ext cx="357790" cy="200055"/>
          </a:xfrm>
          <a:prstGeom prst="rect">
            <a:avLst/>
          </a:prstGeom>
          <a:noFill/>
        </p:spPr>
        <p:txBody>
          <a:bodyPr wrap="none" rtlCol="0">
            <a:spAutoFit/>
          </a:bodyPr>
          <a:lstStyle/>
          <a:p>
            <a:r>
              <a:rPr lang="en-US" altLang="zh-CN" sz="700" dirty="0"/>
              <a:t>CP1</a:t>
            </a:r>
            <a:endParaRPr lang="en-CN" sz="700" dirty="0"/>
          </a:p>
        </p:txBody>
      </p:sp>
      <p:sp>
        <p:nvSpPr>
          <p:cNvPr id="60" name="Rectangle 59">
            <a:extLst>
              <a:ext uri="{FF2B5EF4-FFF2-40B4-BE49-F238E27FC236}">
                <a16:creationId xmlns:a16="http://schemas.microsoft.com/office/drawing/2014/main" id="{A44E4CBB-90A5-B544-8D9F-DEFD81AB2082}"/>
              </a:ext>
            </a:extLst>
          </p:cNvPr>
          <p:cNvSpPr/>
          <p:nvPr/>
        </p:nvSpPr>
        <p:spPr>
          <a:xfrm>
            <a:off x="1420539" y="4521346"/>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1" name="Rectangle 60">
            <a:extLst>
              <a:ext uri="{FF2B5EF4-FFF2-40B4-BE49-F238E27FC236}">
                <a16:creationId xmlns:a16="http://schemas.microsoft.com/office/drawing/2014/main" id="{F3BD593D-EB08-BF41-BBE2-D4EA1D563299}"/>
              </a:ext>
            </a:extLst>
          </p:cNvPr>
          <p:cNvSpPr/>
          <p:nvPr/>
        </p:nvSpPr>
        <p:spPr>
          <a:xfrm>
            <a:off x="1246350" y="4748239"/>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2" name="Rectangle 61">
            <a:extLst>
              <a:ext uri="{FF2B5EF4-FFF2-40B4-BE49-F238E27FC236}">
                <a16:creationId xmlns:a16="http://schemas.microsoft.com/office/drawing/2014/main" id="{1F82A2FE-1E67-E34B-9D3C-82A66BAC5F48}"/>
              </a:ext>
            </a:extLst>
          </p:cNvPr>
          <p:cNvSpPr/>
          <p:nvPr/>
        </p:nvSpPr>
        <p:spPr>
          <a:xfrm>
            <a:off x="1419713" y="4665236"/>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3" name="Rectangle 62">
            <a:extLst>
              <a:ext uri="{FF2B5EF4-FFF2-40B4-BE49-F238E27FC236}">
                <a16:creationId xmlns:a16="http://schemas.microsoft.com/office/drawing/2014/main" id="{8AE316E7-87A1-BC4D-9F82-B9974B405AD1}"/>
              </a:ext>
            </a:extLst>
          </p:cNvPr>
          <p:cNvSpPr/>
          <p:nvPr/>
        </p:nvSpPr>
        <p:spPr>
          <a:xfrm>
            <a:off x="1419713" y="4751933"/>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4" name="Rectangle 63">
            <a:extLst>
              <a:ext uri="{FF2B5EF4-FFF2-40B4-BE49-F238E27FC236}">
                <a16:creationId xmlns:a16="http://schemas.microsoft.com/office/drawing/2014/main" id="{14DDD204-7CE2-1240-9676-BD0908D48B14}"/>
              </a:ext>
            </a:extLst>
          </p:cNvPr>
          <p:cNvSpPr/>
          <p:nvPr/>
        </p:nvSpPr>
        <p:spPr>
          <a:xfrm>
            <a:off x="1246350" y="4516241"/>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5" name="Rectangle 64">
            <a:extLst>
              <a:ext uri="{FF2B5EF4-FFF2-40B4-BE49-F238E27FC236}">
                <a16:creationId xmlns:a16="http://schemas.microsoft.com/office/drawing/2014/main" id="{EBC3E297-A319-CC4C-9AE2-BC7B7360AB9C}"/>
              </a:ext>
            </a:extLst>
          </p:cNvPr>
          <p:cNvSpPr/>
          <p:nvPr/>
        </p:nvSpPr>
        <p:spPr>
          <a:xfrm>
            <a:off x="1246350" y="4602938"/>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6" name="TextBox 65">
            <a:extLst>
              <a:ext uri="{FF2B5EF4-FFF2-40B4-BE49-F238E27FC236}">
                <a16:creationId xmlns:a16="http://schemas.microsoft.com/office/drawing/2014/main" id="{B6FFE3B7-0A69-BA4A-99B9-F41C08CFD2C9}"/>
              </a:ext>
            </a:extLst>
          </p:cNvPr>
          <p:cNvSpPr txBox="1"/>
          <p:nvPr/>
        </p:nvSpPr>
        <p:spPr>
          <a:xfrm>
            <a:off x="263889" y="4556414"/>
            <a:ext cx="981515" cy="230832"/>
          </a:xfrm>
          <a:prstGeom prst="rect">
            <a:avLst/>
          </a:prstGeom>
          <a:noFill/>
        </p:spPr>
        <p:txBody>
          <a:bodyPr wrap="square" rtlCol="0">
            <a:spAutoFit/>
          </a:bodyPr>
          <a:lstStyle/>
          <a:p>
            <a:r>
              <a:rPr lang="en-US" altLang="zh-CN" sz="900" dirty="0"/>
              <a:t>NAT/SIT</a:t>
            </a:r>
            <a:r>
              <a:rPr lang="zh-CN" altLang="en-US" sz="900" dirty="0"/>
              <a:t>的日志</a:t>
            </a:r>
            <a:endParaRPr lang="en-CN" sz="900" dirty="0"/>
          </a:p>
        </p:txBody>
      </p:sp>
      <p:cxnSp>
        <p:nvCxnSpPr>
          <p:cNvPr id="67" name="Elbow Connector 66">
            <a:extLst>
              <a:ext uri="{FF2B5EF4-FFF2-40B4-BE49-F238E27FC236}">
                <a16:creationId xmlns:a16="http://schemas.microsoft.com/office/drawing/2014/main" id="{34E933EF-B5B0-ED4C-A69B-2FA633CABF0E}"/>
              </a:ext>
            </a:extLst>
          </p:cNvPr>
          <p:cNvCxnSpPr>
            <a:cxnSpLocks/>
            <a:stCxn id="13" idx="0"/>
            <a:endCxn id="15" idx="0"/>
          </p:cNvCxnSpPr>
          <p:nvPr/>
        </p:nvCxnSpPr>
        <p:spPr>
          <a:xfrm rot="5400000" flipH="1" flipV="1">
            <a:off x="3798436" y="3047699"/>
            <a:ext cx="6759" cy="922507"/>
          </a:xfrm>
          <a:prstGeom prst="bentConnector3">
            <a:avLst>
              <a:gd name="adj1" fmla="val 3482157"/>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E43EE5A1-482F-E24E-AF85-2ADF92890EA7}"/>
              </a:ext>
            </a:extLst>
          </p:cNvPr>
          <p:cNvCxnSpPr>
            <a:cxnSpLocks/>
            <a:stCxn id="29" idx="0"/>
            <a:endCxn id="13" idx="2"/>
          </p:cNvCxnSpPr>
          <p:nvPr/>
        </p:nvCxnSpPr>
        <p:spPr>
          <a:xfrm rot="5400000" flipH="1" flipV="1">
            <a:off x="2254639" y="3364478"/>
            <a:ext cx="509667" cy="1662180"/>
          </a:xfrm>
          <a:prstGeom prst="bentConnector3">
            <a:avLst>
              <a:gd name="adj1" fmla="val 7064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EA843193-2E61-3547-88D8-8C426D52D344}"/>
              </a:ext>
            </a:extLst>
          </p:cNvPr>
          <p:cNvSpPr/>
          <p:nvPr/>
        </p:nvSpPr>
        <p:spPr>
          <a:xfrm>
            <a:off x="5424079" y="3512331"/>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77" name="Rectangle 76">
            <a:extLst>
              <a:ext uri="{FF2B5EF4-FFF2-40B4-BE49-F238E27FC236}">
                <a16:creationId xmlns:a16="http://schemas.microsoft.com/office/drawing/2014/main" id="{151A0570-3725-674F-9999-ED1881252D6D}"/>
              </a:ext>
            </a:extLst>
          </p:cNvPr>
          <p:cNvSpPr/>
          <p:nvPr/>
        </p:nvSpPr>
        <p:spPr>
          <a:xfrm>
            <a:off x="6334288" y="3511927"/>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cxnSp>
        <p:nvCxnSpPr>
          <p:cNvPr id="78" name="Elbow Connector 77">
            <a:extLst>
              <a:ext uri="{FF2B5EF4-FFF2-40B4-BE49-F238E27FC236}">
                <a16:creationId xmlns:a16="http://schemas.microsoft.com/office/drawing/2014/main" id="{23AAFE6F-4189-C549-A860-1B8AC4738BEF}"/>
              </a:ext>
            </a:extLst>
          </p:cNvPr>
          <p:cNvCxnSpPr>
            <a:cxnSpLocks/>
            <a:stCxn id="29" idx="0"/>
            <a:endCxn id="16" idx="2"/>
          </p:cNvCxnSpPr>
          <p:nvPr/>
        </p:nvCxnSpPr>
        <p:spPr>
          <a:xfrm rot="5400000" flipH="1" flipV="1">
            <a:off x="3250985" y="2368132"/>
            <a:ext cx="509666" cy="3654872"/>
          </a:xfrm>
          <a:prstGeom prst="bentConnector3">
            <a:avLst>
              <a:gd name="adj1" fmla="val 5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72D8ED86-EB52-2C4B-9564-D89FCBFC5DB0}"/>
              </a:ext>
            </a:extLst>
          </p:cNvPr>
          <p:cNvCxnSpPr>
            <a:cxnSpLocks/>
            <a:stCxn id="76" idx="2"/>
            <a:endCxn id="77" idx="2"/>
          </p:cNvCxnSpPr>
          <p:nvPr/>
        </p:nvCxnSpPr>
        <p:spPr>
          <a:xfrm rot="5400000" flipH="1" flipV="1">
            <a:off x="5976816" y="3472898"/>
            <a:ext cx="404" cy="935267"/>
          </a:xfrm>
          <a:prstGeom prst="bentConnector3">
            <a:avLst>
              <a:gd name="adj1" fmla="val -56584158"/>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6F585F33-AA29-E74D-9998-87D2818BA2AE}"/>
              </a:ext>
            </a:extLst>
          </p:cNvPr>
          <p:cNvCxnSpPr>
            <a:cxnSpLocks/>
            <a:stCxn id="16" idx="0"/>
            <a:endCxn id="14" idx="0"/>
          </p:cNvCxnSpPr>
          <p:nvPr/>
        </p:nvCxnSpPr>
        <p:spPr>
          <a:xfrm rot="5400000" flipH="1" flipV="1">
            <a:off x="5778589" y="3066997"/>
            <a:ext cx="1" cy="890671"/>
          </a:xfrm>
          <a:prstGeom prst="bentConnector3">
            <a:avLst>
              <a:gd name="adj1" fmla="val 2286010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325BC697-A41C-374D-A69A-B16218FF35D9}"/>
              </a:ext>
            </a:extLst>
          </p:cNvPr>
          <p:cNvSpPr txBox="1"/>
          <p:nvPr/>
        </p:nvSpPr>
        <p:spPr>
          <a:xfrm>
            <a:off x="2990552" y="3922812"/>
            <a:ext cx="389815" cy="230832"/>
          </a:xfrm>
          <a:prstGeom prst="rect">
            <a:avLst/>
          </a:prstGeom>
          <a:noFill/>
        </p:spPr>
        <p:txBody>
          <a:bodyPr wrap="square" rtlCol="0">
            <a:spAutoFit/>
          </a:bodyPr>
          <a:lstStyle/>
          <a:p>
            <a:r>
              <a:rPr lang="en-US" altLang="zh-CN" sz="900" dirty="0"/>
              <a:t>dir1</a:t>
            </a:r>
            <a:endParaRPr lang="en-CN" sz="900" dirty="0"/>
          </a:p>
        </p:txBody>
      </p:sp>
      <p:sp>
        <p:nvSpPr>
          <p:cNvPr id="91" name="TextBox 90">
            <a:extLst>
              <a:ext uri="{FF2B5EF4-FFF2-40B4-BE49-F238E27FC236}">
                <a16:creationId xmlns:a16="http://schemas.microsoft.com/office/drawing/2014/main" id="{68A33BD3-36BF-AC4E-B472-099D9A6E8EA1}"/>
              </a:ext>
            </a:extLst>
          </p:cNvPr>
          <p:cNvSpPr txBox="1"/>
          <p:nvPr/>
        </p:nvSpPr>
        <p:spPr>
          <a:xfrm>
            <a:off x="4962398" y="3950034"/>
            <a:ext cx="473222" cy="230832"/>
          </a:xfrm>
          <a:prstGeom prst="rect">
            <a:avLst/>
          </a:prstGeom>
          <a:noFill/>
        </p:spPr>
        <p:txBody>
          <a:bodyPr wrap="square" rtlCol="0">
            <a:spAutoFit/>
          </a:bodyPr>
          <a:lstStyle/>
          <a:p>
            <a:r>
              <a:rPr lang="en-US" altLang="zh-CN" sz="900" dirty="0"/>
              <a:t>file1</a:t>
            </a:r>
            <a:endParaRPr lang="en-CN" sz="900" dirty="0"/>
          </a:p>
        </p:txBody>
      </p:sp>
      <p:sp>
        <p:nvSpPr>
          <p:cNvPr id="92" name="TextBox 91">
            <a:extLst>
              <a:ext uri="{FF2B5EF4-FFF2-40B4-BE49-F238E27FC236}">
                <a16:creationId xmlns:a16="http://schemas.microsoft.com/office/drawing/2014/main" id="{0144F127-C44A-3F45-8568-EAEDA791C299}"/>
              </a:ext>
            </a:extLst>
          </p:cNvPr>
          <p:cNvSpPr txBox="1"/>
          <p:nvPr/>
        </p:nvSpPr>
        <p:spPr>
          <a:xfrm>
            <a:off x="5457538" y="3945630"/>
            <a:ext cx="473222" cy="230832"/>
          </a:xfrm>
          <a:prstGeom prst="rect">
            <a:avLst/>
          </a:prstGeom>
          <a:noFill/>
        </p:spPr>
        <p:txBody>
          <a:bodyPr wrap="square" rtlCol="0">
            <a:spAutoFit/>
          </a:bodyPr>
          <a:lstStyle/>
          <a:p>
            <a:r>
              <a:rPr lang="en-US" altLang="zh-CN" sz="900" dirty="0"/>
              <a:t>file2</a:t>
            </a:r>
            <a:endParaRPr lang="en-CN" sz="900" dirty="0"/>
          </a:p>
        </p:txBody>
      </p:sp>
      <p:sp>
        <p:nvSpPr>
          <p:cNvPr id="50" name="Rectangle 49">
            <a:extLst>
              <a:ext uri="{FF2B5EF4-FFF2-40B4-BE49-F238E27FC236}">
                <a16:creationId xmlns:a16="http://schemas.microsoft.com/office/drawing/2014/main" id="{74084A99-069A-B440-9AAE-2197519C6F9C}"/>
              </a:ext>
            </a:extLst>
          </p:cNvPr>
          <p:cNvSpPr/>
          <p:nvPr/>
        </p:nvSpPr>
        <p:spPr>
          <a:xfrm>
            <a:off x="3238196" y="3523494"/>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1" name="Rectangle 50">
            <a:extLst>
              <a:ext uri="{FF2B5EF4-FFF2-40B4-BE49-F238E27FC236}">
                <a16:creationId xmlns:a16="http://schemas.microsoft.com/office/drawing/2014/main" id="{C99FB954-DEF8-1C4B-9A26-EB0B00005DE7}"/>
              </a:ext>
            </a:extLst>
          </p:cNvPr>
          <p:cNvSpPr/>
          <p:nvPr/>
        </p:nvSpPr>
        <p:spPr>
          <a:xfrm>
            <a:off x="5252303" y="3511522"/>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3" name="Rectangle 52">
            <a:extLst>
              <a:ext uri="{FF2B5EF4-FFF2-40B4-BE49-F238E27FC236}">
                <a16:creationId xmlns:a16="http://schemas.microsoft.com/office/drawing/2014/main" id="{F81185A4-6FD5-594F-9275-4CF53B724F79}"/>
              </a:ext>
            </a:extLst>
          </p:cNvPr>
          <p:cNvSpPr/>
          <p:nvPr/>
        </p:nvSpPr>
        <p:spPr>
          <a:xfrm>
            <a:off x="4172762" y="3516311"/>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4" name="Rectangle 53">
            <a:extLst>
              <a:ext uri="{FF2B5EF4-FFF2-40B4-BE49-F238E27FC236}">
                <a16:creationId xmlns:a16="http://schemas.microsoft.com/office/drawing/2014/main" id="{C55E3245-18BD-684F-B8AE-EB88BDBEAB66}"/>
              </a:ext>
            </a:extLst>
          </p:cNvPr>
          <p:cNvSpPr/>
          <p:nvPr/>
        </p:nvSpPr>
        <p:spPr>
          <a:xfrm>
            <a:off x="6115766" y="3511926"/>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9" name="Lightning Bolt 8">
            <a:extLst>
              <a:ext uri="{FF2B5EF4-FFF2-40B4-BE49-F238E27FC236}">
                <a16:creationId xmlns:a16="http://schemas.microsoft.com/office/drawing/2014/main" id="{CB44389A-ADB7-CA4E-8878-E229E875528C}"/>
              </a:ext>
            </a:extLst>
          </p:cNvPr>
          <p:cNvSpPr/>
          <p:nvPr/>
        </p:nvSpPr>
        <p:spPr>
          <a:xfrm>
            <a:off x="2401703" y="2660066"/>
            <a:ext cx="432048" cy="648072"/>
          </a:xfrm>
          <a:prstGeom prst="lightningBol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5" name="Oval 54">
            <a:extLst>
              <a:ext uri="{FF2B5EF4-FFF2-40B4-BE49-F238E27FC236}">
                <a16:creationId xmlns:a16="http://schemas.microsoft.com/office/drawing/2014/main" id="{0E4F6E1A-A23B-784C-B246-E48B0ED39DE0}"/>
              </a:ext>
            </a:extLst>
          </p:cNvPr>
          <p:cNvSpPr/>
          <p:nvPr/>
        </p:nvSpPr>
        <p:spPr>
          <a:xfrm>
            <a:off x="5464773" y="3798499"/>
            <a:ext cx="89221" cy="9890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6" name="Elbow Connector 54">
            <a:extLst>
              <a:ext uri="{FF2B5EF4-FFF2-40B4-BE49-F238E27FC236}">
                <a16:creationId xmlns:a16="http://schemas.microsoft.com/office/drawing/2014/main" id="{CB650EDE-6F9A-DF41-BEA7-70ABCE9F6548}"/>
              </a:ext>
            </a:extLst>
          </p:cNvPr>
          <p:cNvCxnSpPr>
            <a:cxnSpLocks/>
            <a:stCxn id="57" idx="2"/>
            <a:endCxn id="55" idx="7"/>
          </p:cNvCxnSpPr>
          <p:nvPr/>
        </p:nvCxnSpPr>
        <p:spPr>
          <a:xfrm flipH="1">
            <a:off x="5540928" y="2976733"/>
            <a:ext cx="487141" cy="836250"/>
          </a:xfrm>
          <a:prstGeom prst="straightConnector1">
            <a:avLst/>
          </a:prstGeom>
          <a:ln cap="flat">
            <a:solidFill>
              <a:srgbClr val="00B050"/>
            </a:solidFill>
            <a:round/>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91D38A5-0BDE-2343-BCD6-99AE46A388BB}"/>
              </a:ext>
            </a:extLst>
          </p:cNvPr>
          <p:cNvSpPr txBox="1"/>
          <p:nvPr/>
        </p:nvSpPr>
        <p:spPr>
          <a:xfrm>
            <a:off x="5602311" y="2699734"/>
            <a:ext cx="851515" cy="276999"/>
          </a:xfrm>
          <a:prstGeom prst="rect">
            <a:avLst/>
          </a:prstGeom>
          <a:noFill/>
        </p:spPr>
        <p:txBody>
          <a:bodyPr wrap="none" rtlCol="0">
            <a:spAutoFit/>
          </a:bodyPr>
          <a:lstStyle/>
          <a:p>
            <a:r>
              <a:rPr lang="en-US" sz="1200" dirty="0"/>
              <a:t>f</a:t>
            </a:r>
            <a:r>
              <a:rPr lang="en-CN" sz="1200" dirty="0"/>
              <a:t>sync</a:t>
            </a:r>
            <a:r>
              <a:rPr lang="zh-CN" altLang="en-CN" sz="1200" dirty="0"/>
              <a:t>标记</a:t>
            </a:r>
            <a:endParaRPr lang="en-CN" sz="1200" dirty="0"/>
          </a:p>
        </p:txBody>
      </p:sp>
    </p:spTree>
    <p:extLst>
      <p:ext uri="{BB962C8B-B14F-4D97-AF65-F5344CB8AC3E}">
        <p14:creationId xmlns:p14="http://schemas.microsoft.com/office/powerpoint/2010/main" val="40054412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AE2A964-574E-8743-85B1-66E29DE4D400}"/>
              </a:ext>
            </a:extLst>
          </p:cNvPr>
          <p:cNvGrpSpPr/>
          <p:nvPr/>
        </p:nvGrpSpPr>
        <p:grpSpPr>
          <a:xfrm>
            <a:off x="1187624" y="4450401"/>
            <a:ext cx="341224" cy="428403"/>
            <a:chOff x="1187624" y="4164148"/>
            <a:chExt cx="341224" cy="428403"/>
          </a:xfrm>
        </p:grpSpPr>
        <p:sp>
          <p:nvSpPr>
            <p:cNvPr id="28" name="Rectangle 27">
              <a:extLst>
                <a:ext uri="{FF2B5EF4-FFF2-40B4-BE49-F238E27FC236}">
                  <a16:creationId xmlns:a16="http://schemas.microsoft.com/office/drawing/2014/main" id="{0F51F856-B0A5-7543-9E4B-C62C69296C0A}"/>
                </a:ext>
              </a:extLst>
            </p:cNvPr>
            <p:cNvSpPr/>
            <p:nvPr/>
          </p:nvSpPr>
          <p:spPr>
            <a:xfrm>
              <a:off x="1187624"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32" name="Rectangle 31">
              <a:extLst>
                <a:ext uri="{FF2B5EF4-FFF2-40B4-BE49-F238E27FC236}">
                  <a16:creationId xmlns:a16="http://schemas.microsoft.com/office/drawing/2014/main" id="{217AA249-4220-F246-8A84-6B8F7226EFC1}"/>
                </a:ext>
              </a:extLst>
            </p:cNvPr>
            <p:cNvSpPr/>
            <p:nvPr/>
          </p:nvSpPr>
          <p:spPr>
            <a:xfrm>
              <a:off x="1358236"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grpSp>
      <p:sp>
        <p:nvSpPr>
          <p:cNvPr id="2" name="Title 1">
            <a:extLst>
              <a:ext uri="{FF2B5EF4-FFF2-40B4-BE49-F238E27FC236}">
                <a16:creationId xmlns:a16="http://schemas.microsoft.com/office/drawing/2014/main" id="{DBBC564D-17F9-C448-AA59-352083BE6109}"/>
              </a:ext>
            </a:extLst>
          </p:cNvPr>
          <p:cNvSpPr>
            <a:spLocks noGrp="1"/>
          </p:cNvSpPr>
          <p:nvPr>
            <p:ph type="title"/>
          </p:nvPr>
        </p:nvSpPr>
        <p:spPr/>
        <p:txBody>
          <a:bodyPr/>
          <a:lstStyle/>
          <a:p>
            <a:r>
              <a:rPr lang="zh-CN" altLang="en-CN" dirty="0"/>
              <a:t>崩溃</a:t>
            </a:r>
            <a:r>
              <a:rPr lang="zh-CN" altLang="en-US" dirty="0"/>
              <a:t>与恢复：回滚（</a:t>
            </a:r>
            <a:r>
              <a:rPr lang="en-US" altLang="zh-CN" dirty="0"/>
              <a:t>roll-back</a:t>
            </a:r>
            <a:r>
              <a:rPr lang="zh-CN" altLang="en-US" dirty="0"/>
              <a:t>）</a:t>
            </a:r>
            <a:endParaRPr lang="en-CN" dirty="0"/>
          </a:p>
        </p:txBody>
      </p:sp>
      <p:sp>
        <p:nvSpPr>
          <p:cNvPr id="3" name="Content Placeholder 2">
            <a:extLst>
              <a:ext uri="{FF2B5EF4-FFF2-40B4-BE49-F238E27FC236}">
                <a16:creationId xmlns:a16="http://schemas.microsoft.com/office/drawing/2014/main" id="{875AFC27-5399-ED43-ADA6-519D725C6CD0}"/>
              </a:ext>
            </a:extLst>
          </p:cNvPr>
          <p:cNvSpPr>
            <a:spLocks noGrp="1"/>
          </p:cNvSpPr>
          <p:nvPr>
            <p:ph idx="1"/>
          </p:nvPr>
        </p:nvSpPr>
        <p:spPr/>
        <p:txBody>
          <a:bodyPr>
            <a:normAutofit/>
          </a:bodyPr>
          <a:lstStyle/>
          <a:p>
            <a:pPr marL="0" indent="266700">
              <a:buNone/>
            </a:pPr>
            <a:r>
              <a:rPr lang="en-US" altLang="zh-CN" sz="1800" b="0" dirty="0"/>
              <a:t>1. </a:t>
            </a:r>
            <a:r>
              <a:rPr lang="zh-CN" altLang="en-US" sz="1800" b="0" dirty="0"/>
              <a:t>创建</a:t>
            </a:r>
            <a:r>
              <a:rPr lang="en-US" altLang="zh-CN" sz="1800" b="0" dirty="0"/>
              <a:t>dir1</a:t>
            </a:r>
            <a:r>
              <a:rPr lang="zh-CN" altLang="en-US" sz="1800" b="0" dirty="0"/>
              <a:t>和</a:t>
            </a:r>
            <a:r>
              <a:rPr lang="en-US" altLang="zh-CN" sz="1800" b="0" dirty="0"/>
              <a:t>file1</a:t>
            </a:r>
          </a:p>
          <a:p>
            <a:pPr marL="0" indent="266700">
              <a:buNone/>
            </a:pPr>
            <a:r>
              <a:rPr lang="en-US" altLang="zh-CN" sz="1800" b="0" dirty="0"/>
              <a:t>2. </a:t>
            </a:r>
            <a:r>
              <a:rPr lang="zh-CN" altLang="en-US" sz="1800" b="0" dirty="0"/>
              <a:t>创建检查点</a:t>
            </a:r>
            <a:r>
              <a:rPr lang="en-US" altLang="zh-CN" sz="1800" b="0" dirty="0"/>
              <a:t>0</a:t>
            </a:r>
          </a:p>
          <a:p>
            <a:pPr marL="0" indent="266700">
              <a:buNone/>
            </a:pPr>
            <a:r>
              <a:rPr lang="en-US" altLang="zh-CN" sz="1800" b="0" dirty="0"/>
              <a:t>3. </a:t>
            </a:r>
            <a:r>
              <a:rPr lang="zh-CN" altLang="en-US" sz="1800" b="0" dirty="0"/>
              <a:t>创建和更新</a:t>
            </a:r>
            <a:r>
              <a:rPr lang="en-US" altLang="zh-CN" sz="1800" b="0" dirty="0"/>
              <a:t>file2</a:t>
            </a:r>
            <a:r>
              <a:rPr lang="zh-CN" altLang="en-US" sz="1800" b="0" dirty="0"/>
              <a:t>，并执行</a:t>
            </a:r>
            <a:r>
              <a:rPr lang="en-US" altLang="zh-CN" sz="1800" b="0" dirty="0" err="1"/>
              <a:t>fsync</a:t>
            </a:r>
            <a:r>
              <a:rPr lang="zh-CN" altLang="en-US" sz="1800" b="0" dirty="0"/>
              <a:t>完毕</a:t>
            </a:r>
          </a:p>
          <a:p>
            <a:pPr marL="0" indent="266700">
              <a:buNone/>
            </a:pPr>
            <a:r>
              <a:rPr lang="en-US" altLang="zh-CN" sz="1800" b="0" dirty="0"/>
              <a:t>4. </a:t>
            </a:r>
            <a:r>
              <a:rPr lang="zh-CN" altLang="en-US" sz="1800" b="0" dirty="0"/>
              <a:t>发生意外掉电</a:t>
            </a:r>
          </a:p>
        </p:txBody>
      </p:sp>
      <p:sp>
        <p:nvSpPr>
          <p:cNvPr id="4" name="Slide Number Placeholder 3">
            <a:extLst>
              <a:ext uri="{FF2B5EF4-FFF2-40B4-BE49-F238E27FC236}">
                <a16:creationId xmlns:a16="http://schemas.microsoft.com/office/drawing/2014/main" id="{AEF1F4F4-7E2B-5447-B8C2-571028981E0D}"/>
              </a:ext>
            </a:extLst>
          </p:cNvPr>
          <p:cNvSpPr>
            <a:spLocks noGrp="1"/>
          </p:cNvSpPr>
          <p:nvPr>
            <p:ph type="sldNum" sz="quarter" idx="12"/>
          </p:nvPr>
        </p:nvSpPr>
        <p:spPr/>
        <p:txBody>
          <a:bodyPr/>
          <a:lstStyle/>
          <a:p>
            <a:fld id="{ADE361C3-C043-4A6E-BDCE-8DA1E7D90A3B}" type="slidenum">
              <a:rPr lang="zh-CN" altLang="en-US" smtClean="0"/>
              <a:t>64</a:t>
            </a:fld>
            <a:endParaRPr lang="zh-CN" altLang="en-US"/>
          </a:p>
        </p:txBody>
      </p:sp>
      <p:sp>
        <p:nvSpPr>
          <p:cNvPr id="5" name="Footer Placeholder 4">
            <a:extLst>
              <a:ext uri="{FF2B5EF4-FFF2-40B4-BE49-F238E27FC236}">
                <a16:creationId xmlns:a16="http://schemas.microsoft.com/office/drawing/2014/main" id="{D989E998-8001-E14F-8C78-0C517B0CD53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A9715CE5-D431-3F4A-9150-C2E96CD8407F}"/>
              </a:ext>
            </a:extLst>
          </p:cNvPr>
          <p:cNvSpPr/>
          <p:nvPr/>
        </p:nvSpPr>
        <p:spPr>
          <a:xfrm>
            <a:off x="899592" y="3512331"/>
            <a:ext cx="7688538" cy="428403"/>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 name="Rectangle 6">
            <a:extLst>
              <a:ext uri="{FF2B5EF4-FFF2-40B4-BE49-F238E27FC236}">
                <a16:creationId xmlns:a16="http://schemas.microsoft.com/office/drawing/2014/main" id="{76516D39-9DCA-734D-8926-B7B8C239AE52}"/>
              </a:ext>
            </a:extLst>
          </p:cNvPr>
          <p:cNvSpPr/>
          <p:nvPr/>
        </p:nvSpPr>
        <p:spPr>
          <a:xfrm>
            <a:off x="894954" y="3512735"/>
            <a:ext cx="239411" cy="428403"/>
          </a:xfrm>
          <a:prstGeom prst="rect">
            <a:avLst/>
          </a:prstGeom>
          <a:solidFill>
            <a:schemeClr val="accent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SB</a:t>
            </a:r>
          </a:p>
        </p:txBody>
      </p:sp>
      <p:sp>
        <p:nvSpPr>
          <p:cNvPr id="8" name="Rectangle 7">
            <a:extLst>
              <a:ext uri="{FF2B5EF4-FFF2-40B4-BE49-F238E27FC236}">
                <a16:creationId xmlns:a16="http://schemas.microsoft.com/office/drawing/2014/main" id="{65505E9F-26DC-1C47-936B-EB230DF77FF9}"/>
              </a:ext>
            </a:extLst>
          </p:cNvPr>
          <p:cNvSpPr/>
          <p:nvPr/>
        </p:nvSpPr>
        <p:spPr>
          <a:xfrm>
            <a:off x="1233035" y="3512735"/>
            <a:ext cx="338081"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3" name="Rectangle 12">
            <a:extLst>
              <a:ext uri="{FF2B5EF4-FFF2-40B4-BE49-F238E27FC236}">
                <a16:creationId xmlns:a16="http://schemas.microsoft.com/office/drawing/2014/main" id="{B9548E21-BA93-ED4C-8F67-4A3D22A1A80D}"/>
              </a:ext>
            </a:extLst>
          </p:cNvPr>
          <p:cNvSpPr/>
          <p:nvPr/>
        </p:nvSpPr>
        <p:spPr>
          <a:xfrm>
            <a:off x="3242997" y="3512331"/>
            <a:ext cx="195130"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4" name="Rectangle 13">
            <a:extLst>
              <a:ext uri="{FF2B5EF4-FFF2-40B4-BE49-F238E27FC236}">
                <a16:creationId xmlns:a16="http://schemas.microsoft.com/office/drawing/2014/main" id="{8D7A1BC3-D3CD-B74F-97B5-9D5082324841}"/>
              </a:ext>
            </a:extLst>
          </p:cNvPr>
          <p:cNvSpPr/>
          <p:nvPr/>
        </p:nvSpPr>
        <p:spPr>
          <a:xfrm>
            <a:off x="6113561" y="3512331"/>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15" name="Rectangle 14">
            <a:extLst>
              <a:ext uri="{FF2B5EF4-FFF2-40B4-BE49-F238E27FC236}">
                <a16:creationId xmlns:a16="http://schemas.microsoft.com/office/drawing/2014/main" id="{B2159BE4-6472-EE47-A4D3-543A5AA06FAB}"/>
              </a:ext>
            </a:extLst>
          </p:cNvPr>
          <p:cNvSpPr/>
          <p:nvPr/>
        </p:nvSpPr>
        <p:spPr>
          <a:xfrm>
            <a:off x="4170162" y="3505572"/>
            <a:ext cx="185814" cy="428403"/>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16" name="Rectangle 15">
            <a:extLst>
              <a:ext uri="{FF2B5EF4-FFF2-40B4-BE49-F238E27FC236}">
                <a16:creationId xmlns:a16="http://schemas.microsoft.com/office/drawing/2014/main" id="{41BDD35D-3CCA-6B44-BD91-1FF9C98FA8C8}"/>
              </a:ext>
            </a:extLst>
          </p:cNvPr>
          <p:cNvSpPr/>
          <p:nvPr/>
        </p:nvSpPr>
        <p:spPr>
          <a:xfrm>
            <a:off x="5247948" y="3512332"/>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17" name="Rectangle 16">
            <a:extLst>
              <a:ext uri="{FF2B5EF4-FFF2-40B4-BE49-F238E27FC236}">
                <a16:creationId xmlns:a16="http://schemas.microsoft.com/office/drawing/2014/main" id="{450F76D7-8121-1044-B91B-AA702E576C0E}"/>
              </a:ext>
            </a:extLst>
          </p:cNvPr>
          <p:cNvSpPr/>
          <p:nvPr/>
        </p:nvSpPr>
        <p:spPr>
          <a:xfrm>
            <a:off x="1576016" y="3512533"/>
            <a:ext cx="338081"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NAT</a:t>
            </a:r>
          </a:p>
        </p:txBody>
      </p:sp>
      <p:sp>
        <p:nvSpPr>
          <p:cNvPr id="26" name="Rectangle 25">
            <a:extLst>
              <a:ext uri="{FF2B5EF4-FFF2-40B4-BE49-F238E27FC236}">
                <a16:creationId xmlns:a16="http://schemas.microsoft.com/office/drawing/2014/main" id="{0763ABE8-4ADF-9743-A366-1263F1273864}"/>
              </a:ext>
            </a:extLst>
          </p:cNvPr>
          <p:cNvSpPr/>
          <p:nvPr/>
        </p:nvSpPr>
        <p:spPr>
          <a:xfrm>
            <a:off x="1912874" y="3512533"/>
            <a:ext cx="338081"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SIT</a:t>
            </a:r>
          </a:p>
        </p:txBody>
      </p:sp>
      <p:sp>
        <p:nvSpPr>
          <p:cNvPr id="27" name="Rectangle 26">
            <a:extLst>
              <a:ext uri="{FF2B5EF4-FFF2-40B4-BE49-F238E27FC236}">
                <a16:creationId xmlns:a16="http://schemas.microsoft.com/office/drawing/2014/main" id="{94100E3A-2F5A-764E-A4D2-B8BFCAE91F3A}"/>
              </a:ext>
            </a:extLst>
          </p:cNvPr>
          <p:cNvSpPr/>
          <p:nvPr/>
        </p:nvSpPr>
        <p:spPr>
          <a:xfrm>
            <a:off x="2250977" y="3512533"/>
            <a:ext cx="338081" cy="428403"/>
          </a:xfrm>
          <a:prstGeom prst="rect">
            <a:avLst/>
          </a:prstGeom>
          <a:solidFill>
            <a:schemeClr val="accent4">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SSA</a:t>
            </a:r>
          </a:p>
        </p:txBody>
      </p:sp>
      <p:grpSp>
        <p:nvGrpSpPr>
          <p:cNvPr id="35" name="Group 34">
            <a:extLst>
              <a:ext uri="{FF2B5EF4-FFF2-40B4-BE49-F238E27FC236}">
                <a16:creationId xmlns:a16="http://schemas.microsoft.com/office/drawing/2014/main" id="{F99B24B7-7467-3342-AA4A-C7D27D3F1EFD}"/>
              </a:ext>
            </a:extLst>
          </p:cNvPr>
          <p:cNvGrpSpPr/>
          <p:nvPr/>
        </p:nvGrpSpPr>
        <p:grpSpPr>
          <a:xfrm>
            <a:off x="1593076" y="4450401"/>
            <a:ext cx="341224" cy="428403"/>
            <a:chOff x="1576017" y="4164148"/>
            <a:chExt cx="341224" cy="428403"/>
          </a:xfrm>
        </p:grpSpPr>
        <p:sp>
          <p:nvSpPr>
            <p:cNvPr id="29" name="Rectangle 28">
              <a:extLst>
                <a:ext uri="{FF2B5EF4-FFF2-40B4-BE49-F238E27FC236}">
                  <a16:creationId xmlns:a16="http://schemas.microsoft.com/office/drawing/2014/main" id="{E1C010C2-3E57-104B-A940-1CF04310C309}"/>
                </a:ext>
              </a:extLst>
            </p:cNvPr>
            <p:cNvSpPr/>
            <p:nvPr/>
          </p:nvSpPr>
          <p:spPr>
            <a:xfrm>
              <a:off x="1576017"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3" name="Rectangle 32">
              <a:extLst>
                <a:ext uri="{FF2B5EF4-FFF2-40B4-BE49-F238E27FC236}">
                  <a16:creationId xmlns:a16="http://schemas.microsoft.com/office/drawing/2014/main" id="{2C4B287F-AB13-9B44-8A34-7F301D2C840D}"/>
                </a:ext>
              </a:extLst>
            </p:cNvPr>
            <p:cNvSpPr/>
            <p:nvPr/>
          </p:nvSpPr>
          <p:spPr>
            <a:xfrm>
              <a:off x="1746629"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grpSp>
        <p:nvGrpSpPr>
          <p:cNvPr id="36" name="Group 35">
            <a:extLst>
              <a:ext uri="{FF2B5EF4-FFF2-40B4-BE49-F238E27FC236}">
                <a16:creationId xmlns:a16="http://schemas.microsoft.com/office/drawing/2014/main" id="{D1A06B71-6E45-6348-A059-EE2A75BF3420}"/>
              </a:ext>
            </a:extLst>
          </p:cNvPr>
          <p:cNvGrpSpPr/>
          <p:nvPr/>
        </p:nvGrpSpPr>
        <p:grpSpPr>
          <a:xfrm>
            <a:off x="1998528" y="4450401"/>
            <a:ext cx="341224" cy="428403"/>
            <a:chOff x="1998528" y="4164148"/>
            <a:chExt cx="341224" cy="428403"/>
          </a:xfrm>
        </p:grpSpPr>
        <p:sp>
          <p:nvSpPr>
            <p:cNvPr id="30" name="Rectangle 29">
              <a:extLst>
                <a:ext uri="{FF2B5EF4-FFF2-40B4-BE49-F238E27FC236}">
                  <a16:creationId xmlns:a16="http://schemas.microsoft.com/office/drawing/2014/main" id="{8B356FE5-839B-0C4C-BD79-F74B3F79EFC3}"/>
                </a:ext>
              </a:extLst>
            </p:cNvPr>
            <p:cNvSpPr/>
            <p:nvPr/>
          </p:nvSpPr>
          <p:spPr>
            <a:xfrm>
              <a:off x="1998528"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4" name="Rectangle 33">
              <a:extLst>
                <a:ext uri="{FF2B5EF4-FFF2-40B4-BE49-F238E27FC236}">
                  <a16:creationId xmlns:a16="http://schemas.microsoft.com/office/drawing/2014/main" id="{110F12E6-E898-F140-A16E-5EF1D132C4CA}"/>
                </a:ext>
              </a:extLst>
            </p:cNvPr>
            <p:cNvSpPr/>
            <p:nvPr/>
          </p:nvSpPr>
          <p:spPr>
            <a:xfrm>
              <a:off x="2169140"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cxnSp>
        <p:nvCxnSpPr>
          <p:cNvPr id="44" name="Elbow Connector 43">
            <a:extLst>
              <a:ext uri="{FF2B5EF4-FFF2-40B4-BE49-F238E27FC236}">
                <a16:creationId xmlns:a16="http://schemas.microsoft.com/office/drawing/2014/main" id="{3DA596F7-CD54-6345-83BA-95727B7A6FB7}"/>
              </a:ext>
            </a:extLst>
          </p:cNvPr>
          <p:cNvCxnSpPr>
            <a:stCxn id="28" idx="2"/>
            <a:endCxn id="29" idx="2"/>
          </p:cNvCxnSpPr>
          <p:nvPr/>
        </p:nvCxnSpPr>
        <p:spPr>
          <a:xfrm rot="16200000" flipH="1">
            <a:off x="1475656" y="4676078"/>
            <a:ext cx="12700" cy="405452"/>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38034C7B-9924-4B44-8860-F3077C30486F}"/>
              </a:ext>
            </a:extLst>
          </p:cNvPr>
          <p:cNvCxnSpPr>
            <a:cxnSpLocks/>
            <a:stCxn id="28" idx="2"/>
            <a:endCxn id="30" idx="2"/>
          </p:cNvCxnSpPr>
          <p:nvPr/>
        </p:nvCxnSpPr>
        <p:spPr>
          <a:xfrm rot="16200000" flipH="1">
            <a:off x="1678382" y="4473352"/>
            <a:ext cx="12700" cy="810904"/>
          </a:xfrm>
          <a:prstGeom prst="bentConnector3">
            <a:avLst>
              <a:gd name="adj1" fmla="val 23818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B599E10-4C07-C349-90F6-5667DFAB37D1}"/>
              </a:ext>
            </a:extLst>
          </p:cNvPr>
          <p:cNvSpPr txBox="1"/>
          <p:nvPr/>
        </p:nvSpPr>
        <p:spPr>
          <a:xfrm>
            <a:off x="1067001" y="4258576"/>
            <a:ext cx="357790" cy="200055"/>
          </a:xfrm>
          <a:prstGeom prst="rect">
            <a:avLst/>
          </a:prstGeom>
          <a:noFill/>
        </p:spPr>
        <p:txBody>
          <a:bodyPr wrap="none" rtlCol="0">
            <a:spAutoFit/>
          </a:bodyPr>
          <a:lstStyle/>
          <a:p>
            <a:r>
              <a:rPr lang="en-CN" sz="700" dirty="0"/>
              <a:t>CP0</a:t>
            </a:r>
          </a:p>
        </p:txBody>
      </p:sp>
      <p:sp>
        <p:nvSpPr>
          <p:cNvPr id="59" name="TextBox 58">
            <a:extLst>
              <a:ext uri="{FF2B5EF4-FFF2-40B4-BE49-F238E27FC236}">
                <a16:creationId xmlns:a16="http://schemas.microsoft.com/office/drawing/2014/main" id="{F31BA9E1-C0D9-D549-84F7-0F9923E3158F}"/>
              </a:ext>
            </a:extLst>
          </p:cNvPr>
          <p:cNvSpPr txBox="1"/>
          <p:nvPr/>
        </p:nvSpPr>
        <p:spPr>
          <a:xfrm>
            <a:off x="1279280" y="4261751"/>
            <a:ext cx="357790" cy="200055"/>
          </a:xfrm>
          <a:prstGeom prst="rect">
            <a:avLst/>
          </a:prstGeom>
          <a:noFill/>
        </p:spPr>
        <p:txBody>
          <a:bodyPr wrap="none" rtlCol="0">
            <a:spAutoFit/>
          </a:bodyPr>
          <a:lstStyle/>
          <a:p>
            <a:r>
              <a:rPr lang="en-US" altLang="zh-CN" sz="700" dirty="0"/>
              <a:t>CP1</a:t>
            </a:r>
            <a:endParaRPr lang="en-CN" sz="700" dirty="0"/>
          </a:p>
        </p:txBody>
      </p:sp>
      <p:sp>
        <p:nvSpPr>
          <p:cNvPr id="60" name="Rectangle 59">
            <a:extLst>
              <a:ext uri="{FF2B5EF4-FFF2-40B4-BE49-F238E27FC236}">
                <a16:creationId xmlns:a16="http://schemas.microsoft.com/office/drawing/2014/main" id="{A44E4CBB-90A5-B544-8D9F-DEFD81AB2082}"/>
              </a:ext>
            </a:extLst>
          </p:cNvPr>
          <p:cNvSpPr/>
          <p:nvPr/>
        </p:nvSpPr>
        <p:spPr>
          <a:xfrm>
            <a:off x="1420539" y="4521346"/>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1" name="Rectangle 60">
            <a:extLst>
              <a:ext uri="{FF2B5EF4-FFF2-40B4-BE49-F238E27FC236}">
                <a16:creationId xmlns:a16="http://schemas.microsoft.com/office/drawing/2014/main" id="{F3BD593D-EB08-BF41-BBE2-D4EA1D563299}"/>
              </a:ext>
            </a:extLst>
          </p:cNvPr>
          <p:cNvSpPr/>
          <p:nvPr/>
        </p:nvSpPr>
        <p:spPr>
          <a:xfrm>
            <a:off x="1246350" y="4748239"/>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2" name="Rectangle 61">
            <a:extLst>
              <a:ext uri="{FF2B5EF4-FFF2-40B4-BE49-F238E27FC236}">
                <a16:creationId xmlns:a16="http://schemas.microsoft.com/office/drawing/2014/main" id="{1F82A2FE-1E67-E34B-9D3C-82A66BAC5F48}"/>
              </a:ext>
            </a:extLst>
          </p:cNvPr>
          <p:cNvSpPr/>
          <p:nvPr/>
        </p:nvSpPr>
        <p:spPr>
          <a:xfrm>
            <a:off x="1419713" y="4665236"/>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3" name="Rectangle 62">
            <a:extLst>
              <a:ext uri="{FF2B5EF4-FFF2-40B4-BE49-F238E27FC236}">
                <a16:creationId xmlns:a16="http://schemas.microsoft.com/office/drawing/2014/main" id="{8AE316E7-87A1-BC4D-9F82-B9974B405AD1}"/>
              </a:ext>
            </a:extLst>
          </p:cNvPr>
          <p:cNvSpPr/>
          <p:nvPr/>
        </p:nvSpPr>
        <p:spPr>
          <a:xfrm>
            <a:off x="1419713" y="4751933"/>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4" name="Rectangle 63">
            <a:extLst>
              <a:ext uri="{FF2B5EF4-FFF2-40B4-BE49-F238E27FC236}">
                <a16:creationId xmlns:a16="http://schemas.microsoft.com/office/drawing/2014/main" id="{14DDD204-7CE2-1240-9676-BD0908D48B14}"/>
              </a:ext>
            </a:extLst>
          </p:cNvPr>
          <p:cNvSpPr/>
          <p:nvPr/>
        </p:nvSpPr>
        <p:spPr>
          <a:xfrm>
            <a:off x="1246350" y="4516241"/>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5" name="Rectangle 64">
            <a:extLst>
              <a:ext uri="{FF2B5EF4-FFF2-40B4-BE49-F238E27FC236}">
                <a16:creationId xmlns:a16="http://schemas.microsoft.com/office/drawing/2014/main" id="{EBC3E297-A319-CC4C-9AE2-BC7B7360AB9C}"/>
              </a:ext>
            </a:extLst>
          </p:cNvPr>
          <p:cNvSpPr/>
          <p:nvPr/>
        </p:nvSpPr>
        <p:spPr>
          <a:xfrm>
            <a:off x="1246350" y="4602938"/>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6" name="TextBox 65">
            <a:extLst>
              <a:ext uri="{FF2B5EF4-FFF2-40B4-BE49-F238E27FC236}">
                <a16:creationId xmlns:a16="http://schemas.microsoft.com/office/drawing/2014/main" id="{B6FFE3B7-0A69-BA4A-99B9-F41C08CFD2C9}"/>
              </a:ext>
            </a:extLst>
          </p:cNvPr>
          <p:cNvSpPr txBox="1"/>
          <p:nvPr/>
        </p:nvSpPr>
        <p:spPr>
          <a:xfrm>
            <a:off x="263889" y="4556414"/>
            <a:ext cx="981515" cy="230832"/>
          </a:xfrm>
          <a:prstGeom prst="rect">
            <a:avLst/>
          </a:prstGeom>
          <a:noFill/>
        </p:spPr>
        <p:txBody>
          <a:bodyPr wrap="square" rtlCol="0">
            <a:spAutoFit/>
          </a:bodyPr>
          <a:lstStyle/>
          <a:p>
            <a:r>
              <a:rPr lang="en-US" altLang="zh-CN" sz="900" dirty="0"/>
              <a:t>NAT/SIT</a:t>
            </a:r>
            <a:r>
              <a:rPr lang="zh-CN" altLang="en-US" sz="900" dirty="0"/>
              <a:t>的日志</a:t>
            </a:r>
            <a:endParaRPr lang="en-CN" sz="900" dirty="0"/>
          </a:p>
        </p:txBody>
      </p:sp>
      <p:cxnSp>
        <p:nvCxnSpPr>
          <p:cNvPr id="67" name="Elbow Connector 66">
            <a:extLst>
              <a:ext uri="{FF2B5EF4-FFF2-40B4-BE49-F238E27FC236}">
                <a16:creationId xmlns:a16="http://schemas.microsoft.com/office/drawing/2014/main" id="{34E933EF-B5B0-ED4C-A69B-2FA633CABF0E}"/>
              </a:ext>
            </a:extLst>
          </p:cNvPr>
          <p:cNvCxnSpPr>
            <a:cxnSpLocks/>
            <a:stCxn id="13" idx="0"/>
            <a:endCxn id="15" idx="0"/>
          </p:cNvCxnSpPr>
          <p:nvPr/>
        </p:nvCxnSpPr>
        <p:spPr>
          <a:xfrm rot="5400000" flipH="1" flipV="1">
            <a:off x="3798436" y="3047699"/>
            <a:ext cx="6759" cy="922507"/>
          </a:xfrm>
          <a:prstGeom prst="bentConnector3">
            <a:avLst>
              <a:gd name="adj1" fmla="val 3482157"/>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E43EE5A1-482F-E24E-AF85-2ADF92890EA7}"/>
              </a:ext>
            </a:extLst>
          </p:cNvPr>
          <p:cNvCxnSpPr>
            <a:cxnSpLocks/>
            <a:stCxn id="29" idx="0"/>
            <a:endCxn id="13" idx="2"/>
          </p:cNvCxnSpPr>
          <p:nvPr/>
        </p:nvCxnSpPr>
        <p:spPr>
          <a:xfrm rot="5400000" flipH="1" flipV="1">
            <a:off x="2254639" y="3364478"/>
            <a:ext cx="509667" cy="1662180"/>
          </a:xfrm>
          <a:prstGeom prst="bentConnector3">
            <a:avLst>
              <a:gd name="adj1" fmla="val 7064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EA843193-2E61-3547-88D8-8C426D52D344}"/>
              </a:ext>
            </a:extLst>
          </p:cNvPr>
          <p:cNvSpPr/>
          <p:nvPr/>
        </p:nvSpPr>
        <p:spPr>
          <a:xfrm>
            <a:off x="5424079" y="3512331"/>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77" name="Rectangle 76">
            <a:extLst>
              <a:ext uri="{FF2B5EF4-FFF2-40B4-BE49-F238E27FC236}">
                <a16:creationId xmlns:a16="http://schemas.microsoft.com/office/drawing/2014/main" id="{151A0570-3725-674F-9999-ED1881252D6D}"/>
              </a:ext>
            </a:extLst>
          </p:cNvPr>
          <p:cNvSpPr/>
          <p:nvPr/>
        </p:nvSpPr>
        <p:spPr>
          <a:xfrm>
            <a:off x="6334288" y="3511927"/>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cxnSp>
        <p:nvCxnSpPr>
          <p:cNvPr id="78" name="Elbow Connector 77">
            <a:extLst>
              <a:ext uri="{FF2B5EF4-FFF2-40B4-BE49-F238E27FC236}">
                <a16:creationId xmlns:a16="http://schemas.microsoft.com/office/drawing/2014/main" id="{23AAFE6F-4189-C549-A860-1B8AC4738BEF}"/>
              </a:ext>
            </a:extLst>
          </p:cNvPr>
          <p:cNvCxnSpPr>
            <a:cxnSpLocks/>
            <a:stCxn id="29" idx="0"/>
            <a:endCxn id="16" idx="2"/>
          </p:cNvCxnSpPr>
          <p:nvPr/>
        </p:nvCxnSpPr>
        <p:spPr>
          <a:xfrm rot="5400000" flipH="1" flipV="1">
            <a:off x="3250985" y="2368132"/>
            <a:ext cx="509666" cy="3654872"/>
          </a:xfrm>
          <a:prstGeom prst="bentConnector3">
            <a:avLst>
              <a:gd name="adj1" fmla="val 5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72D8ED86-EB52-2C4B-9564-D89FCBFC5DB0}"/>
              </a:ext>
            </a:extLst>
          </p:cNvPr>
          <p:cNvCxnSpPr>
            <a:cxnSpLocks/>
            <a:stCxn id="76" idx="2"/>
            <a:endCxn id="77" idx="2"/>
          </p:cNvCxnSpPr>
          <p:nvPr/>
        </p:nvCxnSpPr>
        <p:spPr>
          <a:xfrm rot="5400000" flipH="1" flipV="1">
            <a:off x="5976816" y="3472898"/>
            <a:ext cx="404" cy="935267"/>
          </a:xfrm>
          <a:prstGeom prst="bentConnector3">
            <a:avLst>
              <a:gd name="adj1" fmla="val -56584158"/>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6F585F33-AA29-E74D-9998-87D2818BA2AE}"/>
              </a:ext>
            </a:extLst>
          </p:cNvPr>
          <p:cNvCxnSpPr>
            <a:cxnSpLocks/>
            <a:stCxn id="16" idx="0"/>
            <a:endCxn id="14" idx="0"/>
          </p:cNvCxnSpPr>
          <p:nvPr/>
        </p:nvCxnSpPr>
        <p:spPr>
          <a:xfrm rot="5400000" flipH="1" flipV="1">
            <a:off x="5778589" y="3066997"/>
            <a:ext cx="1" cy="890671"/>
          </a:xfrm>
          <a:prstGeom prst="bentConnector3">
            <a:avLst>
              <a:gd name="adj1" fmla="val 2286010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325BC697-A41C-374D-A69A-B16218FF35D9}"/>
              </a:ext>
            </a:extLst>
          </p:cNvPr>
          <p:cNvSpPr txBox="1"/>
          <p:nvPr/>
        </p:nvSpPr>
        <p:spPr>
          <a:xfrm>
            <a:off x="2990552" y="3922812"/>
            <a:ext cx="389815" cy="230832"/>
          </a:xfrm>
          <a:prstGeom prst="rect">
            <a:avLst/>
          </a:prstGeom>
          <a:noFill/>
        </p:spPr>
        <p:txBody>
          <a:bodyPr wrap="square" rtlCol="0">
            <a:spAutoFit/>
          </a:bodyPr>
          <a:lstStyle/>
          <a:p>
            <a:r>
              <a:rPr lang="en-US" altLang="zh-CN" sz="900" dirty="0"/>
              <a:t>dir1</a:t>
            </a:r>
            <a:endParaRPr lang="en-CN" sz="900" dirty="0"/>
          </a:p>
        </p:txBody>
      </p:sp>
      <p:sp>
        <p:nvSpPr>
          <p:cNvPr id="91" name="TextBox 90">
            <a:extLst>
              <a:ext uri="{FF2B5EF4-FFF2-40B4-BE49-F238E27FC236}">
                <a16:creationId xmlns:a16="http://schemas.microsoft.com/office/drawing/2014/main" id="{68A33BD3-36BF-AC4E-B472-099D9A6E8EA1}"/>
              </a:ext>
            </a:extLst>
          </p:cNvPr>
          <p:cNvSpPr txBox="1"/>
          <p:nvPr/>
        </p:nvSpPr>
        <p:spPr>
          <a:xfrm>
            <a:off x="4962398" y="3950034"/>
            <a:ext cx="473222" cy="230832"/>
          </a:xfrm>
          <a:prstGeom prst="rect">
            <a:avLst/>
          </a:prstGeom>
          <a:noFill/>
        </p:spPr>
        <p:txBody>
          <a:bodyPr wrap="square" rtlCol="0">
            <a:spAutoFit/>
          </a:bodyPr>
          <a:lstStyle/>
          <a:p>
            <a:r>
              <a:rPr lang="en-US" altLang="zh-CN" sz="900" dirty="0"/>
              <a:t>file1</a:t>
            </a:r>
            <a:endParaRPr lang="en-CN" sz="900" dirty="0"/>
          </a:p>
        </p:txBody>
      </p:sp>
      <p:sp>
        <p:nvSpPr>
          <p:cNvPr id="92" name="TextBox 91">
            <a:extLst>
              <a:ext uri="{FF2B5EF4-FFF2-40B4-BE49-F238E27FC236}">
                <a16:creationId xmlns:a16="http://schemas.microsoft.com/office/drawing/2014/main" id="{0144F127-C44A-3F45-8568-EAEDA791C299}"/>
              </a:ext>
            </a:extLst>
          </p:cNvPr>
          <p:cNvSpPr txBox="1"/>
          <p:nvPr/>
        </p:nvSpPr>
        <p:spPr>
          <a:xfrm>
            <a:off x="5457538" y="3945630"/>
            <a:ext cx="473222" cy="230832"/>
          </a:xfrm>
          <a:prstGeom prst="rect">
            <a:avLst/>
          </a:prstGeom>
          <a:noFill/>
        </p:spPr>
        <p:txBody>
          <a:bodyPr wrap="square" rtlCol="0">
            <a:spAutoFit/>
          </a:bodyPr>
          <a:lstStyle/>
          <a:p>
            <a:r>
              <a:rPr lang="en-US" altLang="zh-CN" sz="900" dirty="0"/>
              <a:t>file2</a:t>
            </a:r>
            <a:endParaRPr lang="en-CN" sz="900" dirty="0"/>
          </a:p>
        </p:txBody>
      </p:sp>
      <p:sp>
        <p:nvSpPr>
          <p:cNvPr id="50" name="Rectangle 49">
            <a:extLst>
              <a:ext uri="{FF2B5EF4-FFF2-40B4-BE49-F238E27FC236}">
                <a16:creationId xmlns:a16="http://schemas.microsoft.com/office/drawing/2014/main" id="{74084A99-069A-B440-9AAE-2197519C6F9C}"/>
              </a:ext>
            </a:extLst>
          </p:cNvPr>
          <p:cNvSpPr/>
          <p:nvPr/>
        </p:nvSpPr>
        <p:spPr>
          <a:xfrm>
            <a:off x="3238196" y="3523494"/>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1" name="Rectangle 50">
            <a:extLst>
              <a:ext uri="{FF2B5EF4-FFF2-40B4-BE49-F238E27FC236}">
                <a16:creationId xmlns:a16="http://schemas.microsoft.com/office/drawing/2014/main" id="{C99FB954-DEF8-1C4B-9A26-EB0B00005DE7}"/>
              </a:ext>
            </a:extLst>
          </p:cNvPr>
          <p:cNvSpPr/>
          <p:nvPr/>
        </p:nvSpPr>
        <p:spPr>
          <a:xfrm>
            <a:off x="5252303" y="3511522"/>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3" name="Rectangle 52">
            <a:extLst>
              <a:ext uri="{FF2B5EF4-FFF2-40B4-BE49-F238E27FC236}">
                <a16:creationId xmlns:a16="http://schemas.microsoft.com/office/drawing/2014/main" id="{F81185A4-6FD5-594F-9275-4CF53B724F79}"/>
              </a:ext>
            </a:extLst>
          </p:cNvPr>
          <p:cNvSpPr/>
          <p:nvPr/>
        </p:nvSpPr>
        <p:spPr>
          <a:xfrm>
            <a:off x="4172762" y="3516311"/>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4" name="Rectangle 53">
            <a:extLst>
              <a:ext uri="{FF2B5EF4-FFF2-40B4-BE49-F238E27FC236}">
                <a16:creationId xmlns:a16="http://schemas.microsoft.com/office/drawing/2014/main" id="{C55E3245-18BD-684F-B8AE-EB88BDBEAB66}"/>
              </a:ext>
            </a:extLst>
          </p:cNvPr>
          <p:cNvSpPr/>
          <p:nvPr/>
        </p:nvSpPr>
        <p:spPr>
          <a:xfrm>
            <a:off x="6115766" y="3511926"/>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9" name="Lightning Bolt 8">
            <a:extLst>
              <a:ext uri="{FF2B5EF4-FFF2-40B4-BE49-F238E27FC236}">
                <a16:creationId xmlns:a16="http://schemas.microsoft.com/office/drawing/2014/main" id="{CB44389A-ADB7-CA4E-8878-E229E875528C}"/>
              </a:ext>
            </a:extLst>
          </p:cNvPr>
          <p:cNvSpPr/>
          <p:nvPr/>
        </p:nvSpPr>
        <p:spPr>
          <a:xfrm>
            <a:off x="2401703" y="2660066"/>
            <a:ext cx="432048" cy="648072"/>
          </a:xfrm>
          <a:prstGeom prst="lightningBol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5" name="Oval 54">
            <a:extLst>
              <a:ext uri="{FF2B5EF4-FFF2-40B4-BE49-F238E27FC236}">
                <a16:creationId xmlns:a16="http://schemas.microsoft.com/office/drawing/2014/main" id="{0E4F6E1A-A23B-784C-B246-E48B0ED39DE0}"/>
              </a:ext>
            </a:extLst>
          </p:cNvPr>
          <p:cNvSpPr/>
          <p:nvPr/>
        </p:nvSpPr>
        <p:spPr>
          <a:xfrm>
            <a:off x="5464773" y="3798499"/>
            <a:ext cx="89221" cy="9890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6" name="Elbow Connector 54">
            <a:extLst>
              <a:ext uri="{FF2B5EF4-FFF2-40B4-BE49-F238E27FC236}">
                <a16:creationId xmlns:a16="http://schemas.microsoft.com/office/drawing/2014/main" id="{CB650EDE-6F9A-DF41-BEA7-70ABCE9F6548}"/>
              </a:ext>
            </a:extLst>
          </p:cNvPr>
          <p:cNvCxnSpPr>
            <a:cxnSpLocks/>
            <a:stCxn id="57" idx="2"/>
            <a:endCxn id="55" idx="7"/>
          </p:cNvCxnSpPr>
          <p:nvPr/>
        </p:nvCxnSpPr>
        <p:spPr>
          <a:xfrm flipH="1">
            <a:off x="5540928" y="2976733"/>
            <a:ext cx="487141" cy="836250"/>
          </a:xfrm>
          <a:prstGeom prst="straightConnector1">
            <a:avLst/>
          </a:prstGeom>
          <a:ln cap="flat">
            <a:solidFill>
              <a:srgbClr val="00B050"/>
            </a:solidFill>
            <a:round/>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91D38A5-0BDE-2343-BCD6-99AE46A388BB}"/>
              </a:ext>
            </a:extLst>
          </p:cNvPr>
          <p:cNvSpPr txBox="1"/>
          <p:nvPr/>
        </p:nvSpPr>
        <p:spPr>
          <a:xfrm>
            <a:off x="5602311" y="2699734"/>
            <a:ext cx="851515" cy="276999"/>
          </a:xfrm>
          <a:prstGeom prst="rect">
            <a:avLst/>
          </a:prstGeom>
          <a:noFill/>
        </p:spPr>
        <p:txBody>
          <a:bodyPr wrap="none" rtlCol="0">
            <a:spAutoFit/>
          </a:bodyPr>
          <a:lstStyle/>
          <a:p>
            <a:r>
              <a:rPr lang="en-US" sz="1200" dirty="0"/>
              <a:t>f</a:t>
            </a:r>
            <a:r>
              <a:rPr lang="en-CN" sz="1200" dirty="0"/>
              <a:t>sync</a:t>
            </a:r>
            <a:r>
              <a:rPr lang="zh-CN" altLang="en-CN" sz="1200" dirty="0"/>
              <a:t>标记</a:t>
            </a:r>
            <a:endParaRPr lang="en-CN" sz="1200" dirty="0"/>
          </a:p>
        </p:txBody>
      </p:sp>
      <p:sp>
        <p:nvSpPr>
          <p:cNvPr id="68" name="Content Placeholder 2">
            <a:extLst>
              <a:ext uri="{FF2B5EF4-FFF2-40B4-BE49-F238E27FC236}">
                <a16:creationId xmlns:a16="http://schemas.microsoft.com/office/drawing/2014/main" id="{EEBB88C9-B4A6-6247-9DE9-D2F7EFF3B00C}"/>
              </a:ext>
            </a:extLst>
          </p:cNvPr>
          <p:cNvSpPr txBox="1">
            <a:spLocks/>
          </p:cNvSpPr>
          <p:nvPr/>
        </p:nvSpPr>
        <p:spPr>
          <a:xfrm>
            <a:off x="4978686" y="1336702"/>
            <a:ext cx="3955758" cy="3276210"/>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1800" b="0" dirty="0"/>
              <a:t>1.</a:t>
            </a:r>
            <a:r>
              <a:rPr lang="zh-CN" altLang="en-US" sz="1800" b="0" dirty="0"/>
              <a:t> 回滚到最近的检查点（</a:t>
            </a:r>
            <a:r>
              <a:rPr lang="en-US" altLang="zh-CN" sz="1800" b="0" dirty="0"/>
              <a:t>CP0</a:t>
            </a:r>
            <a:r>
              <a:rPr lang="zh-CN" altLang="en-US" sz="1800" b="0" dirty="0"/>
              <a:t>）</a:t>
            </a:r>
            <a:endParaRPr lang="en-US" altLang="zh-CN" sz="1800" b="0" dirty="0"/>
          </a:p>
          <a:p>
            <a:pPr lvl="1"/>
            <a:r>
              <a:rPr lang="zh-CN" altLang="en-US" sz="1600" b="0" dirty="0"/>
              <a:t>可找到文件</a:t>
            </a:r>
            <a:r>
              <a:rPr lang="en-US" altLang="zh-CN" sz="1600" b="0" dirty="0"/>
              <a:t>dir1</a:t>
            </a:r>
            <a:r>
              <a:rPr lang="zh-CN" altLang="en-US" sz="1600" b="0" dirty="0"/>
              <a:t>和</a:t>
            </a:r>
            <a:r>
              <a:rPr lang="en-US" altLang="zh-CN" sz="1600" b="0" dirty="0"/>
              <a:t>file1</a:t>
            </a:r>
          </a:p>
          <a:p>
            <a:pPr marL="0" indent="266700">
              <a:buNone/>
            </a:pPr>
            <a:endParaRPr lang="zh-CN" altLang="en-US" sz="1800" b="0" dirty="0"/>
          </a:p>
        </p:txBody>
      </p:sp>
      <p:sp>
        <p:nvSpPr>
          <p:cNvPr id="10" name="TextBox 9">
            <a:extLst>
              <a:ext uri="{FF2B5EF4-FFF2-40B4-BE49-F238E27FC236}">
                <a16:creationId xmlns:a16="http://schemas.microsoft.com/office/drawing/2014/main" id="{1922B0D9-9CAF-9D41-B06E-993A89C06275}"/>
              </a:ext>
            </a:extLst>
          </p:cNvPr>
          <p:cNvSpPr txBox="1"/>
          <p:nvPr/>
        </p:nvSpPr>
        <p:spPr>
          <a:xfrm>
            <a:off x="4091905" y="1325941"/>
            <a:ext cx="886781" cy="369332"/>
          </a:xfrm>
          <a:prstGeom prst="rect">
            <a:avLst/>
          </a:prstGeom>
          <a:noFill/>
        </p:spPr>
        <p:txBody>
          <a:bodyPr wrap="none" rtlCol="0">
            <a:spAutoFit/>
          </a:bodyPr>
          <a:lstStyle/>
          <a:p>
            <a:pPr lvl="0" indent="9525"/>
            <a:r>
              <a:rPr lang="zh-CN" altLang="en-US" dirty="0">
                <a:solidFill>
                  <a:srgbClr val="000000"/>
                </a:solidFill>
              </a:rPr>
              <a:t>恢复：</a:t>
            </a:r>
          </a:p>
        </p:txBody>
      </p:sp>
    </p:spTree>
    <p:extLst>
      <p:ext uri="{BB962C8B-B14F-4D97-AF65-F5344CB8AC3E}">
        <p14:creationId xmlns:p14="http://schemas.microsoft.com/office/powerpoint/2010/main" val="12335838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AE2A964-574E-8743-85B1-66E29DE4D400}"/>
              </a:ext>
            </a:extLst>
          </p:cNvPr>
          <p:cNvGrpSpPr/>
          <p:nvPr/>
        </p:nvGrpSpPr>
        <p:grpSpPr>
          <a:xfrm>
            <a:off x="1187624" y="4450401"/>
            <a:ext cx="341224" cy="428403"/>
            <a:chOff x="1187624" y="4164148"/>
            <a:chExt cx="341224" cy="428403"/>
          </a:xfrm>
        </p:grpSpPr>
        <p:sp>
          <p:nvSpPr>
            <p:cNvPr id="28" name="Rectangle 27">
              <a:extLst>
                <a:ext uri="{FF2B5EF4-FFF2-40B4-BE49-F238E27FC236}">
                  <a16:creationId xmlns:a16="http://schemas.microsoft.com/office/drawing/2014/main" id="{0F51F856-B0A5-7543-9E4B-C62C69296C0A}"/>
                </a:ext>
              </a:extLst>
            </p:cNvPr>
            <p:cNvSpPr/>
            <p:nvPr/>
          </p:nvSpPr>
          <p:spPr>
            <a:xfrm>
              <a:off x="1187624"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32" name="Rectangle 31">
              <a:extLst>
                <a:ext uri="{FF2B5EF4-FFF2-40B4-BE49-F238E27FC236}">
                  <a16:creationId xmlns:a16="http://schemas.microsoft.com/office/drawing/2014/main" id="{217AA249-4220-F246-8A84-6B8F7226EFC1}"/>
                </a:ext>
              </a:extLst>
            </p:cNvPr>
            <p:cNvSpPr/>
            <p:nvPr/>
          </p:nvSpPr>
          <p:spPr>
            <a:xfrm>
              <a:off x="1358236" y="4164148"/>
              <a:ext cx="170612"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grpSp>
      <p:sp>
        <p:nvSpPr>
          <p:cNvPr id="2" name="Title 1">
            <a:extLst>
              <a:ext uri="{FF2B5EF4-FFF2-40B4-BE49-F238E27FC236}">
                <a16:creationId xmlns:a16="http://schemas.microsoft.com/office/drawing/2014/main" id="{DBBC564D-17F9-C448-AA59-352083BE6109}"/>
              </a:ext>
            </a:extLst>
          </p:cNvPr>
          <p:cNvSpPr>
            <a:spLocks noGrp="1"/>
          </p:cNvSpPr>
          <p:nvPr>
            <p:ph type="title"/>
          </p:nvPr>
        </p:nvSpPr>
        <p:spPr/>
        <p:txBody>
          <a:bodyPr/>
          <a:lstStyle/>
          <a:p>
            <a:r>
              <a:rPr lang="zh-CN" altLang="en-CN" dirty="0"/>
              <a:t>崩溃</a:t>
            </a:r>
            <a:r>
              <a:rPr lang="zh-CN" altLang="en-US" dirty="0"/>
              <a:t>与恢复：前滚（</a:t>
            </a:r>
            <a:r>
              <a:rPr lang="en-US" altLang="zh-CN" dirty="0"/>
              <a:t>roll-forward</a:t>
            </a:r>
            <a:r>
              <a:rPr lang="zh-CN" altLang="en-US" dirty="0"/>
              <a:t>）</a:t>
            </a:r>
            <a:endParaRPr lang="en-CN" dirty="0"/>
          </a:p>
        </p:txBody>
      </p:sp>
      <p:sp>
        <p:nvSpPr>
          <p:cNvPr id="3" name="Content Placeholder 2">
            <a:extLst>
              <a:ext uri="{FF2B5EF4-FFF2-40B4-BE49-F238E27FC236}">
                <a16:creationId xmlns:a16="http://schemas.microsoft.com/office/drawing/2014/main" id="{875AFC27-5399-ED43-ADA6-519D725C6CD0}"/>
              </a:ext>
            </a:extLst>
          </p:cNvPr>
          <p:cNvSpPr>
            <a:spLocks noGrp="1"/>
          </p:cNvSpPr>
          <p:nvPr>
            <p:ph idx="1"/>
          </p:nvPr>
        </p:nvSpPr>
        <p:spPr/>
        <p:txBody>
          <a:bodyPr>
            <a:normAutofit/>
          </a:bodyPr>
          <a:lstStyle/>
          <a:p>
            <a:pPr marL="0" indent="266700">
              <a:buNone/>
            </a:pPr>
            <a:r>
              <a:rPr lang="en-US" altLang="zh-CN" sz="1800" b="0" dirty="0"/>
              <a:t>1. </a:t>
            </a:r>
            <a:r>
              <a:rPr lang="zh-CN" altLang="en-US" sz="1800" b="0" dirty="0"/>
              <a:t>创建</a:t>
            </a:r>
            <a:r>
              <a:rPr lang="en-US" altLang="zh-CN" sz="1800" b="0" dirty="0"/>
              <a:t>dir1</a:t>
            </a:r>
            <a:r>
              <a:rPr lang="zh-CN" altLang="en-US" sz="1800" b="0" dirty="0"/>
              <a:t>和</a:t>
            </a:r>
            <a:r>
              <a:rPr lang="en-US" altLang="zh-CN" sz="1800" b="0" dirty="0"/>
              <a:t>file1</a:t>
            </a:r>
          </a:p>
          <a:p>
            <a:pPr marL="0" indent="266700">
              <a:buNone/>
            </a:pPr>
            <a:r>
              <a:rPr lang="en-US" altLang="zh-CN" sz="1800" b="0" dirty="0"/>
              <a:t>2. </a:t>
            </a:r>
            <a:r>
              <a:rPr lang="zh-CN" altLang="en-US" sz="1800" b="0" dirty="0"/>
              <a:t>创建检查点</a:t>
            </a:r>
            <a:r>
              <a:rPr lang="en-US" altLang="zh-CN" sz="1800" b="0" dirty="0"/>
              <a:t>0</a:t>
            </a:r>
          </a:p>
          <a:p>
            <a:pPr marL="0" indent="266700">
              <a:buNone/>
            </a:pPr>
            <a:r>
              <a:rPr lang="en-US" altLang="zh-CN" sz="1800" b="0" dirty="0"/>
              <a:t>3. </a:t>
            </a:r>
            <a:r>
              <a:rPr lang="zh-CN" altLang="en-US" sz="1800" b="0" dirty="0"/>
              <a:t>创建和更新</a:t>
            </a:r>
            <a:r>
              <a:rPr lang="en-US" altLang="zh-CN" sz="1800" b="0" dirty="0"/>
              <a:t>file2</a:t>
            </a:r>
            <a:r>
              <a:rPr lang="zh-CN" altLang="en-US" sz="1800" b="0" dirty="0"/>
              <a:t>，并执行</a:t>
            </a:r>
            <a:r>
              <a:rPr lang="en-US" altLang="zh-CN" sz="1800" b="0" dirty="0" err="1"/>
              <a:t>fsync</a:t>
            </a:r>
            <a:r>
              <a:rPr lang="zh-CN" altLang="en-US" sz="1800" b="0" dirty="0"/>
              <a:t>完毕</a:t>
            </a:r>
          </a:p>
          <a:p>
            <a:pPr marL="0" indent="266700">
              <a:buNone/>
            </a:pPr>
            <a:r>
              <a:rPr lang="en-US" altLang="zh-CN" sz="1800" b="0" dirty="0"/>
              <a:t>4. </a:t>
            </a:r>
            <a:r>
              <a:rPr lang="zh-CN" altLang="en-US" sz="1800" b="0" dirty="0"/>
              <a:t>发生意外掉电</a:t>
            </a:r>
          </a:p>
        </p:txBody>
      </p:sp>
      <p:sp>
        <p:nvSpPr>
          <p:cNvPr id="4" name="Slide Number Placeholder 3">
            <a:extLst>
              <a:ext uri="{FF2B5EF4-FFF2-40B4-BE49-F238E27FC236}">
                <a16:creationId xmlns:a16="http://schemas.microsoft.com/office/drawing/2014/main" id="{AEF1F4F4-7E2B-5447-B8C2-571028981E0D}"/>
              </a:ext>
            </a:extLst>
          </p:cNvPr>
          <p:cNvSpPr>
            <a:spLocks noGrp="1"/>
          </p:cNvSpPr>
          <p:nvPr>
            <p:ph type="sldNum" sz="quarter" idx="12"/>
          </p:nvPr>
        </p:nvSpPr>
        <p:spPr/>
        <p:txBody>
          <a:bodyPr/>
          <a:lstStyle/>
          <a:p>
            <a:fld id="{ADE361C3-C043-4A6E-BDCE-8DA1E7D90A3B}" type="slidenum">
              <a:rPr lang="zh-CN" altLang="en-US" smtClean="0"/>
              <a:t>65</a:t>
            </a:fld>
            <a:endParaRPr lang="zh-CN" altLang="en-US"/>
          </a:p>
        </p:txBody>
      </p:sp>
      <p:sp>
        <p:nvSpPr>
          <p:cNvPr id="5" name="Footer Placeholder 4">
            <a:extLst>
              <a:ext uri="{FF2B5EF4-FFF2-40B4-BE49-F238E27FC236}">
                <a16:creationId xmlns:a16="http://schemas.microsoft.com/office/drawing/2014/main" id="{D989E998-8001-E14F-8C78-0C517B0CD53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A9715CE5-D431-3F4A-9150-C2E96CD8407F}"/>
              </a:ext>
            </a:extLst>
          </p:cNvPr>
          <p:cNvSpPr/>
          <p:nvPr/>
        </p:nvSpPr>
        <p:spPr>
          <a:xfrm>
            <a:off x="899592" y="3512331"/>
            <a:ext cx="7688538" cy="428403"/>
          </a:xfrm>
          <a:prstGeom prst="rect">
            <a:avLst/>
          </a:prstGeom>
          <a:solidFill>
            <a:schemeClr val="bg1"/>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endParaRPr lang="en-CN" sz="1050" dirty="0"/>
          </a:p>
        </p:txBody>
      </p:sp>
      <p:sp>
        <p:nvSpPr>
          <p:cNvPr id="7" name="Rectangle 6">
            <a:extLst>
              <a:ext uri="{FF2B5EF4-FFF2-40B4-BE49-F238E27FC236}">
                <a16:creationId xmlns:a16="http://schemas.microsoft.com/office/drawing/2014/main" id="{76516D39-9DCA-734D-8926-B7B8C239AE52}"/>
              </a:ext>
            </a:extLst>
          </p:cNvPr>
          <p:cNvSpPr/>
          <p:nvPr/>
        </p:nvSpPr>
        <p:spPr>
          <a:xfrm>
            <a:off x="894954" y="3512735"/>
            <a:ext cx="239411" cy="428403"/>
          </a:xfrm>
          <a:prstGeom prst="rect">
            <a:avLst/>
          </a:prstGeom>
          <a:solidFill>
            <a:schemeClr val="accent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SB</a:t>
            </a:r>
          </a:p>
        </p:txBody>
      </p:sp>
      <p:sp>
        <p:nvSpPr>
          <p:cNvPr id="8" name="Rectangle 7">
            <a:extLst>
              <a:ext uri="{FF2B5EF4-FFF2-40B4-BE49-F238E27FC236}">
                <a16:creationId xmlns:a16="http://schemas.microsoft.com/office/drawing/2014/main" id="{65505E9F-26DC-1C47-936B-EB230DF77FF9}"/>
              </a:ext>
            </a:extLst>
          </p:cNvPr>
          <p:cNvSpPr/>
          <p:nvPr/>
        </p:nvSpPr>
        <p:spPr>
          <a:xfrm>
            <a:off x="1233035" y="3512735"/>
            <a:ext cx="338081" cy="428403"/>
          </a:xfrm>
          <a:prstGeom prst="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N" sz="1000" dirty="0"/>
              <a:t>CP</a:t>
            </a:r>
          </a:p>
        </p:txBody>
      </p:sp>
      <p:sp>
        <p:nvSpPr>
          <p:cNvPr id="13" name="Rectangle 12">
            <a:extLst>
              <a:ext uri="{FF2B5EF4-FFF2-40B4-BE49-F238E27FC236}">
                <a16:creationId xmlns:a16="http://schemas.microsoft.com/office/drawing/2014/main" id="{B9548E21-BA93-ED4C-8F67-4A3D22A1A80D}"/>
              </a:ext>
            </a:extLst>
          </p:cNvPr>
          <p:cNvSpPr/>
          <p:nvPr/>
        </p:nvSpPr>
        <p:spPr>
          <a:xfrm>
            <a:off x="3242997" y="3512331"/>
            <a:ext cx="195130"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p>
        </p:txBody>
      </p:sp>
      <p:sp>
        <p:nvSpPr>
          <p:cNvPr id="14" name="Rectangle 13">
            <a:extLst>
              <a:ext uri="{FF2B5EF4-FFF2-40B4-BE49-F238E27FC236}">
                <a16:creationId xmlns:a16="http://schemas.microsoft.com/office/drawing/2014/main" id="{8D7A1BC3-D3CD-B74F-97B5-9D5082324841}"/>
              </a:ext>
            </a:extLst>
          </p:cNvPr>
          <p:cNvSpPr/>
          <p:nvPr/>
        </p:nvSpPr>
        <p:spPr>
          <a:xfrm>
            <a:off x="6113561" y="3512331"/>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15" name="Rectangle 14">
            <a:extLst>
              <a:ext uri="{FF2B5EF4-FFF2-40B4-BE49-F238E27FC236}">
                <a16:creationId xmlns:a16="http://schemas.microsoft.com/office/drawing/2014/main" id="{B2159BE4-6472-EE47-A4D3-543A5AA06FAB}"/>
              </a:ext>
            </a:extLst>
          </p:cNvPr>
          <p:cNvSpPr/>
          <p:nvPr/>
        </p:nvSpPr>
        <p:spPr>
          <a:xfrm>
            <a:off x="4170162" y="3505572"/>
            <a:ext cx="185814" cy="428403"/>
          </a:xfrm>
          <a:prstGeom prst="rect">
            <a:avLst/>
          </a:prstGeom>
          <a:solidFill>
            <a:schemeClr val="tx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chemeClr val="lt1"/>
              </a:solidFill>
            </a:endParaRPr>
          </a:p>
        </p:txBody>
      </p:sp>
      <p:sp>
        <p:nvSpPr>
          <p:cNvPr id="16" name="Rectangle 15">
            <a:extLst>
              <a:ext uri="{FF2B5EF4-FFF2-40B4-BE49-F238E27FC236}">
                <a16:creationId xmlns:a16="http://schemas.microsoft.com/office/drawing/2014/main" id="{41BDD35D-3CCA-6B44-BD91-1FF9C98FA8C8}"/>
              </a:ext>
            </a:extLst>
          </p:cNvPr>
          <p:cNvSpPr/>
          <p:nvPr/>
        </p:nvSpPr>
        <p:spPr>
          <a:xfrm>
            <a:off x="5247948" y="3512332"/>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17" name="Rectangle 16">
            <a:extLst>
              <a:ext uri="{FF2B5EF4-FFF2-40B4-BE49-F238E27FC236}">
                <a16:creationId xmlns:a16="http://schemas.microsoft.com/office/drawing/2014/main" id="{450F76D7-8121-1044-B91B-AA702E576C0E}"/>
              </a:ext>
            </a:extLst>
          </p:cNvPr>
          <p:cNvSpPr/>
          <p:nvPr/>
        </p:nvSpPr>
        <p:spPr>
          <a:xfrm>
            <a:off x="1576016" y="3512533"/>
            <a:ext cx="338081"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NAT</a:t>
            </a:r>
          </a:p>
        </p:txBody>
      </p:sp>
      <p:sp>
        <p:nvSpPr>
          <p:cNvPr id="26" name="Rectangle 25">
            <a:extLst>
              <a:ext uri="{FF2B5EF4-FFF2-40B4-BE49-F238E27FC236}">
                <a16:creationId xmlns:a16="http://schemas.microsoft.com/office/drawing/2014/main" id="{0763ABE8-4ADF-9743-A366-1263F1273864}"/>
              </a:ext>
            </a:extLst>
          </p:cNvPr>
          <p:cNvSpPr/>
          <p:nvPr/>
        </p:nvSpPr>
        <p:spPr>
          <a:xfrm>
            <a:off x="1912874" y="3512533"/>
            <a:ext cx="338081"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SIT</a:t>
            </a:r>
          </a:p>
        </p:txBody>
      </p:sp>
      <p:sp>
        <p:nvSpPr>
          <p:cNvPr id="27" name="Rectangle 26">
            <a:extLst>
              <a:ext uri="{FF2B5EF4-FFF2-40B4-BE49-F238E27FC236}">
                <a16:creationId xmlns:a16="http://schemas.microsoft.com/office/drawing/2014/main" id="{94100E3A-2F5A-764E-A4D2-B8BFCAE91F3A}"/>
              </a:ext>
            </a:extLst>
          </p:cNvPr>
          <p:cNvSpPr/>
          <p:nvPr/>
        </p:nvSpPr>
        <p:spPr>
          <a:xfrm>
            <a:off x="2250977" y="3512533"/>
            <a:ext cx="338081" cy="428403"/>
          </a:xfrm>
          <a:prstGeom prst="rect">
            <a:avLst/>
          </a:prstGeom>
          <a:solidFill>
            <a:schemeClr val="accent4">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CN" sz="1000" dirty="0">
                <a:solidFill>
                  <a:sysClr val="windowText" lastClr="000000"/>
                </a:solidFill>
              </a:rPr>
              <a:t>SSA</a:t>
            </a:r>
          </a:p>
        </p:txBody>
      </p:sp>
      <p:grpSp>
        <p:nvGrpSpPr>
          <p:cNvPr id="35" name="Group 34">
            <a:extLst>
              <a:ext uri="{FF2B5EF4-FFF2-40B4-BE49-F238E27FC236}">
                <a16:creationId xmlns:a16="http://schemas.microsoft.com/office/drawing/2014/main" id="{F99B24B7-7467-3342-AA4A-C7D27D3F1EFD}"/>
              </a:ext>
            </a:extLst>
          </p:cNvPr>
          <p:cNvGrpSpPr/>
          <p:nvPr/>
        </p:nvGrpSpPr>
        <p:grpSpPr>
          <a:xfrm>
            <a:off x="1593076" y="4450401"/>
            <a:ext cx="341224" cy="428403"/>
            <a:chOff x="1576017" y="4164148"/>
            <a:chExt cx="341224" cy="428403"/>
          </a:xfrm>
        </p:grpSpPr>
        <p:sp>
          <p:nvSpPr>
            <p:cNvPr id="29" name="Rectangle 28">
              <a:extLst>
                <a:ext uri="{FF2B5EF4-FFF2-40B4-BE49-F238E27FC236}">
                  <a16:creationId xmlns:a16="http://schemas.microsoft.com/office/drawing/2014/main" id="{E1C010C2-3E57-104B-A940-1CF04310C309}"/>
                </a:ext>
              </a:extLst>
            </p:cNvPr>
            <p:cNvSpPr/>
            <p:nvPr/>
          </p:nvSpPr>
          <p:spPr>
            <a:xfrm>
              <a:off x="1576017"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3" name="Rectangle 32">
              <a:extLst>
                <a:ext uri="{FF2B5EF4-FFF2-40B4-BE49-F238E27FC236}">
                  <a16:creationId xmlns:a16="http://schemas.microsoft.com/office/drawing/2014/main" id="{2C4B287F-AB13-9B44-8A34-7F301D2C840D}"/>
                </a:ext>
              </a:extLst>
            </p:cNvPr>
            <p:cNvSpPr/>
            <p:nvPr/>
          </p:nvSpPr>
          <p:spPr>
            <a:xfrm>
              <a:off x="1746629" y="4164148"/>
              <a:ext cx="170612" cy="428403"/>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grpSp>
        <p:nvGrpSpPr>
          <p:cNvPr id="36" name="Group 35">
            <a:extLst>
              <a:ext uri="{FF2B5EF4-FFF2-40B4-BE49-F238E27FC236}">
                <a16:creationId xmlns:a16="http://schemas.microsoft.com/office/drawing/2014/main" id="{D1A06B71-6E45-6348-A059-EE2A75BF3420}"/>
              </a:ext>
            </a:extLst>
          </p:cNvPr>
          <p:cNvGrpSpPr/>
          <p:nvPr/>
        </p:nvGrpSpPr>
        <p:grpSpPr>
          <a:xfrm>
            <a:off x="1998528" y="4450401"/>
            <a:ext cx="341224" cy="428403"/>
            <a:chOff x="1998528" y="4164148"/>
            <a:chExt cx="341224" cy="428403"/>
          </a:xfrm>
        </p:grpSpPr>
        <p:sp>
          <p:nvSpPr>
            <p:cNvPr id="30" name="Rectangle 29">
              <a:extLst>
                <a:ext uri="{FF2B5EF4-FFF2-40B4-BE49-F238E27FC236}">
                  <a16:creationId xmlns:a16="http://schemas.microsoft.com/office/drawing/2014/main" id="{8B356FE5-839B-0C4C-BD79-F74B3F79EFC3}"/>
                </a:ext>
              </a:extLst>
            </p:cNvPr>
            <p:cNvSpPr/>
            <p:nvPr/>
          </p:nvSpPr>
          <p:spPr>
            <a:xfrm>
              <a:off x="1998528"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0</a:t>
              </a:r>
              <a:endParaRPr lang="en-CN" sz="1000" dirty="0">
                <a:solidFill>
                  <a:sysClr val="windowText" lastClr="000000"/>
                </a:solidFill>
              </a:endParaRPr>
            </a:p>
          </p:txBody>
        </p:sp>
        <p:sp>
          <p:nvSpPr>
            <p:cNvPr id="34" name="Rectangle 33">
              <a:extLst>
                <a:ext uri="{FF2B5EF4-FFF2-40B4-BE49-F238E27FC236}">
                  <a16:creationId xmlns:a16="http://schemas.microsoft.com/office/drawing/2014/main" id="{110F12E6-E898-F140-A16E-5EF1D132C4CA}"/>
                </a:ext>
              </a:extLst>
            </p:cNvPr>
            <p:cNvSpPr/>
            <p:nvPr/>
          </p:nvSpPr>
          <p:spPr>
            <a:xfrm>
              <a:off x="2169140" y="4164148"/>
              <a:ext cx="170612" cy="428403"/>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zh-CN" sz="1000" dirty="0">
                  <a:solidFill>
                    <a:sysClr val="windowText" lastClr="000000"/>
                  </a:solidFill>
                </a:rPr>
                <a:t>1</a:t>
              </a:r>
              <a:endParaRPr lang="en-CN" sz="1000" dirty="0">
                <a:solidFill>
                  <a:sysClr val="windowText" lastClr="000000"/>
                </a:solidFill>
              </a:endParaRPr>
            </a:p>
          </p:txBody>
        </p:sp>
      </p:grpSp>
      <p:cxnSp>
        <p:nvCxnSpPr>
          <p:cNvPr id="44" name="Elbow Connector 43">
            <a:extLst>
              <a:ext uri="{FF2B5EF4-FFF2-40B4-BE49-F238E27FC236}">
                <a16:creationId xmlns:a16="http://schemas.microsoft.com/office/drawing/2014/main" id="{3DA596F7-CD54-6345-83BA-95727B7A6FB7}"/>
              </a:ext>
            </a:extLst>
          </p:cNvPr>
          <p:cNvCxnSpPr>
            <a:stCxn id="28" idx="2"/>
            <a:endCxn id="29" idx="2"/>
          </p:cNvCxnSpPr>
          <p:nvPr/>
        </p:nvCxnSpPr>
        <p:spPr>
          <a:xfrm rot="16200000" flipH="1">
            <a:off x="1475656" y="4676078"/>
            <a:ext cx="12700" cy="405452"/>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38034C7B-9924-4B44-8860-F3077C30486F}"/>
              </a:ext>
            </a:extLst>
          </p:cNvPr>
          <p:cNvCxnSpPr>
            <a:cxnSpLocks/>
            <a:stCxn id="28" idx="2"/>
            <a:endCxn id="30" idx="2"/>
          </p:cNvCxnSpPr>
          <p:nvPr/>
        </p:nvCxnSpPr>
        <p:spPr>
          <a:xfrm rot="16200000" flipH="1">
            <a:off x="1678382" y="4473352"/>
            <a:ext cx="12700" cy="810904"/>
          </a:xfrm>
          <a:prstGeom prst="bentConnector3">
            <a:avLst>
              <a:gd name="adj1" fmla="val 23818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B599E10-4C07-C349-90F6-5667DFAB37D1}"/>
              </a:ext>
            </a:extLst>
          </p:cNvPr>
          <p:cNvSpPr txBox="1"/>
          <p:nvPr/>
        </p:nvSpPr>
        <p:spPr>
          <a:xfrm>
            <a:off x="1067001" y="4258576"/>
            <a:ext cx="357790" cy="200055"/>
          </a:xfrm>
          <a:prstGeom prst="rect">
            <a:avLst/>
          </a:prstGeom>
          <a:noFill/>
        </p:spPr>
        <p:txBody>
          <a:bodyPr wrap="none" rtlCol="0">
            <a:spAutoFit/>
          </a:bodyPr>
          <a:lstStyle/>
          <a:p>
            <a:r>
              <a:rPr lang="en-CN" sz="700" dirty="0"/>
              <a:t>CP0</a:t>
            </a:r>
          </a:p>
        </p:txBody>
      </p:sp>
      <p:sp>
        <p:nvSpPr>
          <p:cNvPr id="59" name="TextBox 58">
            <a:extLst>
              <a:ext uri="{FF2B5EF4-FFF2-40B4-BE49-F238E27FC236}">
                <a16:creationId xmlns:a16="http://schemas.microsoft.com/office/drawing/2014/main" id="{F31BA9E1-C0D9-D549-84F7-0F9923E3158F}"/>
              </a:ext>
            </a:extLst>
          </p:cNvPr>
          <p:cNvSpPr txBox="1"/>
          <p:nvPr/>
        </p:nvSpPr>
        <p:spPr>
          <a:xfrm>
            <a:off x="1279280" y="4261751"/>
            <a:ext cx="357790" cy="200055"/>
          </a:xfrm>
          <a:prstGeom prst="rect">
            <a:avLst/>
          </a:prstGeom>
          <a:noFill/>
        </p:spPr>
        <p:txBody>
          <a:bodyPr wrap="none" rtlCol="0">
            <a:spAutoFit/>
          </a:bodyPr>
          <a:lstStyle/>
          <a:p>
            <a:r>
              <a:rPr lang="en-US" altLang="zh-CN" sz="700" dirty="0"/>
              <a:t>CP1</a:t>
            </a:r>
            <a:endParaRPr lang="en-CN" sz="700" dirty="0"/>
          </a:p>
        </p:txBody>
      </p:sp>
      <p:sp>
        <p:nvSpPr>
          <p:cNvPr id="60" name="Rectangle 59">
            <a:extLst>
              <a:ext uri="{FF2B5EF4-FFF2-40B4-BE49-F238E27FC236}">
                <a16:creationId xmlns:a16="http://schemas.microsoft.com/office/drawing/2014/main" id="{A44E4CBB-90A5-B544-8D9F-DEFD81AB2082}"/>
              </a:ext>
            </a:extLst>
          </p:cNvPr>
          <p:cNvSpPr/>
          <p:nvPr/>
        </p:nvSpPr>
        <p:spPr>
          <a:xfrm>
            <a:off x="1420539" y="4521346"/>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1" name="Rectangle 60">
            <a:extLst>
              <a:ext uri="{FF2B5EF4-FFF2-40B4-BE49-F238E27FC236}">
                <a16:creationId xmlns:a16="http://schemas.microsoft.com/office/drawing/2014/main" id="{F3BD593D-EB08-BF41-BBE2-D4EA1D563299}"/>
              </a:ext>
            </a:extLst>
          </p:cNvPr>
          <p:cNvSpPr/>
          <p:nvPr/>
        </p:nvSpPr>
        <p:spPr>
          <a:xfrm>
            <a:off x="1246350" y="4748239"/>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2" name="Rectangle 61">
            <a:extLst>
              <a:ext uri="{FF2B5EF4-FFF2-40B4-BE49-F238E27FC236}">
                <a16:creationId xmlns:a16="http://schemas.microsoft.com/office/drawing/2014/main" id="{1F82A2FE-1E67-E34B-9D3C-82A66BAC5F48}"/>
              </a:ext>
            </a:extLst>
          </p:cNvPr>
          <p:cNvSpPr/>
          <p:nvPr/>
        </p:nvSpPr>
        <p:spPr>
          <a:xfrm>
            <a:off x="1419713" y="4665236"/>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3" name="Rectangle 62">
            <a:extLst>
              <a:ext uri="{FF2B5EF4-FFF2-40B4-BE49-F238E27FC236}">
                <a16:creationId xmlns:a16="http://schemas.microsoft.com/office/drawing/2014/main" id="{8AE316E7-87A1-BC4D-9F82-B9974B405AD1}"/>
              </a:ext>
            </a:extLst>
          </p:cNvPr>
          <p:cNvSpPr/>
          <p:nvPr/>
        </p:nvSpPr>
        <p:spPr>
          <a:xfrm>
            <a:off x="1419713" y="4751933"/>
            <a:ext cx="58705" cy="86697"/>
          </a:xfrm>
          <a:prstGeom prst="rect">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4" name="Rectangle 63">
            <a:extLst>
              <a:ext uri="{FF2B5EF4-FFF2-40B4-BE49-F238E27FC236}">
                <a16:creationId xmlns:a16="http://schemas.microsoft.com/office/drawing/2014/main" id="{14DDD204-7CE2-1240-9676-BD0908D48B14}"/>
              </a:ext>
            </a:extLst>
          </p:cNvPr>
          <p:cNvSpPr/>
          <p:nvPr/>
        </p:nvSpPr>
        <p:spPr>
          <a:xfrm>
            <a:off x="1246350" y="4516241"/>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5" name="Rectangle 64">
            <a:extLst>
              <a:ext uri="{FF2B5EF4-FFF2-40B4-BE49-F238E27FC236}">
                <a16:creationId xmlns:a16="http://schemas.microsoft.com/office/drawing/2014/main" id="{EBC3E297-A319-CC4C-9AE2-BC7B7360AB9C}"/>
              </a:ext>
            </a:extLst>
          </p:cNvPr>
          <p:cNvSpPr/>
          <p:nvPr/>
        </p:nvSpPr>
        <p:spPr>
          <a:xfrm>
            <a:off x="1246350" y="4602938"/>
            <a:ext cx="58705" cy="86697"/>
          </a:xfrm>
          <a:prstGeom prst="rect">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66" name="TextBox 65">
            <a:extLst>
              <a:ext uri="{FF2B5EF4-FFF2-40B4-BE49-F238E27FC236}">
                <a16:creationId xmlns:a16="http://schemas.microsoft.com/office/drawing/2014/main" id="{B6FFE3B7-0A69-BA4A-99B9-F41C08CFD2C9}"/>
              </a:ext>
            </a:extLst>
          </p:cNvPr>
          <p:cNvSpPr txBox="1"/>
          <p:nvPr/>
        </p:nvSpPr>
        <p:spPr>
          <a:xfrm>
            <a:off x="263889" y="4556414"/>
            <a:ext cx="981515" cy="230832"/>
          </a:xfrm>
          <a:prstGeom prst="rect">
            <a:avLst/>
          </a:prstGeom>
          <a:noFill/>
        </p:spPr>
        <p:txBody>
          <a:bodyPr wrap="square" rtlCol="0">
            <a:spAutoFit/>
          </a:bodyPr>
          <a:lstStyle/>
          <a:p>
            <a:r>
              <a:rPr lang="en-US" altLang="zh-CN" sz="900" dirty="0"/>
              <a:t>NAT/SIT</a:t>
            </a:r>
            <a:r>
              <a:rPr lang="zh-CN" altLang="en-US" sz="900" dirty="0"/>
              <a:t>的日志</a:t>
            </a:r>
            <a:endParaRPr lang="en-CN" sz="900" dirty="0"/>
          </a:p>
        </p:txBody>
      </p:sp>
      <p:cxnSp>
        <p:nvCxnSpPr>
          <p:cNvPr id="67" name="Elbow Connector 66">
            <a:extLst>
              <a:ext uri="{FF2B5EF4-FFF2-40B4-BE49-F238E27FC236}">
                <a16:creationId xmlns:a16="http://schemas.microsoft.com/office/drawing/2014/main" id="{34E933EF-B5B0-ED4C-A69B-2FA633CABF0E}"/>
              </a:ext>
            </a:extLst>
          </p:cNvPr>
          <p:cNvCxnSpPr>
            <a:cxnSpLocks/>
            <a:stCxn id="13" idx="0"/>
            <a:endCxn id="15" idx="0"/>
          </p:cNvCxnSpPr>
          <p:nvPr/>
        </p:nvCxnSpPr>
        <p:spPr>
          <a:xfrm rot="5400000" flipH="1" flipV="1">
            <a:off x="3798436" y="3047699"/>
            <a:ext cx="6759" cy="922507"/>
          </a:xfrm>
          <a:prstGeom prst="bentConnector3">
            <a:avLst>
              <a:gd name="adj1" fmla="val 3482157"/>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E43EE5A1-482F-E24E-AF85-2ADF92890EA7}"/>
              </a:ext>
            </a:extLst>
          </p:cNvPr>
          <p:cNvCxnSpPr>
            <a:cxnSpLocks/>
            <a:stCxn id="29" idx="0"/>
            <a:endCxn id="13" idx="2"/>
          </p:cNvCxnSpPr>
          <p:nvPr/>
        </p:nvCxnSpPr>
        <p:spPr>
          <a:xfrm rot="5400000" flipH="1" flipV="1">
            <a:off x="2254639" y="3364478"/>
            <a:ext cx="509667" cy="1662180"/>
          </a:xfrm>
          <a:prstGeom prst="bentConnector3">
            <a:avLst>
              <a:gd name="adj1" fmla="val 7064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EA843193-2E61-3547-88D8-8C426D52D344}"/>
              </a:ext>
            </a:extLst>
          </p:cNvPr>
          <p:cNvSpPr/>
          <p:nvPr/>
        </p:nvSpPr>
        <p:spPr>
          <a:xfrm>
            <a:off x="5424079" y="3512331"/>
            <a:ext cx="170612" cy="428403"/>
          </a:xfrm>
          <a:prstGeom prst="rect">
            <a:avLst/>
          </a:prstGeom>
          <a:solidFill>
            <a:srgbClr val="0070C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zh-CN" sz="1000" dirty="0"/>
          </a:p>
        </p:txBody>
      </p:sp>
      <p:sp>
        <p:nvSpPr>
          <p:cNvPr id="77" name="Rectangle 76">
            <a:extLst>
              <a:ext uri="{FF2B5EF4-FFF2-40B4-BE49-F238E27FC236}">
                <a16:creationId xmlns:a16="http://schemas.microsoft.com/office/drawing/2014/main" id="{151A0570-3725-674F-9999-ED1881252D6D}"/>
              </a:ext>
            </a:extLst>
          </p:cNvPr>
          <p:cNvSpPr/>
          <p:nvPr/>
        </p:nvSpPr>
        <p:spPr>
          <a:xfrm>
            <a:off x="6334288" y="3511927"/>
            <a:ext cx="220727" cy="42840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cxnSp>
        <p:nvCxnSpPr>
          <p:cNvPr id="78" name="Elbow Connector 77">
            <a:extLst>
              <a:ext uri="{FF2B5EF4-FFF2-40B4-BE49-F238E27FC236}">
                <a16:creationId xmlns:a16="http://schemas.microsoft.com/office/drawing/2014/main" id="{23AAFE6F-4189-C549-A860-1B8AC4738BEF}"/>
              </a:ext>
            </a:extLst>
          </p:cNvPr>
          <p:cNvCxnSpPr>
            <a:cxnSpLocks/>
            <a:stCxn id="29" idx="0"/>
            <a:endCxn id="16" idx="2"/>
          </p:cNvCxnSpPr>
          <p:nvPr/>
        </p:nvCxnSpPr>
        <p:spPr>
          <a:xfrm rot="5400000" flipH="1" flipV="1">
            <a:off x="3250985" y="2368132"/>
            <a:ext cx="509666" cy="3654872"/>
          </a:xfrm>
          <a:prstGeom prst="bentConnector3">
            <a:avLst>
              <a:gd name="adj1" fmla="val 5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72D8ED86-EB52-2C4B-9564-D89FCBFC5DB0}"/>
              </a:ext>
            </a:extLst>
          </p:cNvPr>
          <p:cNvCxnSpPr>
            <a:cxnSpLocks/>
            <a:stCxn id="76" idx="2"/>
            <a:endCxn id="77" idx="2"/>
          </p:cNvCxnSpPr>
          <p:nvPr/>
        </p:nvCxnSpPr>
        <p:spPr>
          <a:xfrm rot="5400000" flipH="1" flipV="1">
            <a:off x="5976816" y="3472898"/>
            <a:ext cx="404" cy="935267"/>
          </a:xfrm>
          <a:prstGeom prst="bentConnector3">
            <a:avLst>
              <a:gd name="adj1" fmla="val -56584158"/>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6F585F33-AA29-E74D-9998-87D2818BA2AE}"/>
              </a:ext>
            </a:extLst>
          </p:cNvPr>
          <p:cNvCxnSpPr>
            <a:cxnSpLocks/>
            <a:stCxn id="16" idx="0"/>
            <a:endCxn id="14" idx="0"/>
          </p:cNvCxnSpPr>
          <p:nvPr/>
        </p:nvCxnSpPr>
        <p:spPr>
          <a:xfrm rot="5400000" flipH="1" flipV="1">
            <a:off x="5778589" y="3066997"/>
            <a:ext cx="1" cy="890671"/>
          </a:xfrm>
          <a:prstGeom prst="bentConnector3">
            <a:avLst>
              <a:gd name="adj1" fmla="val 22860100000"/>
            </a:avLst>
          </a:prstGeom>
          <a:ln cap="flat">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325BC697-A41C-374D-A69A-B16218FF35D9}"/>
              </a:ext>
            </a:extLst>
          </p:cNvPr>
          <p:cNvSpPr txBox="1"/>
          <p:nvPr/>
        </p:nvSpPr>
        <p:spPr>
          <a:xfrm>
            <a:off x="2990552" y="3922812"/>
            <a:ext cx="389815" cy="230832"/>
          </a:xfrm>
          <a:prstGeom prst="rect">
            <a:avLst/>
          </a:prstGeom>
          <a:noFill/>
        </p:spPr>
        <p:txBody>
          <a:bodyPr wrap="square" rtlCol="0">
            <a:spAutoFit/>
          </a:bodyPr>
          <a:lstStyle/>
          <a:p>
            <a:r>
              <a:rPr lang="en-US" altLang="zh-CN" sz="900" dirty="0"/>
              <a:t>dir1</a:t>
            </a:r>
            <a:endParaRPr lang="en-CN" sz="900" dirty="0"/>
          </a:p>
        </p:txBody>
      </p:sp>
      <p:sp>
        <p:nvSpPr>
          <p:cNvPr id="91" name="TextBox 90">
            <a:extLst>
              <a:ext uri="{FF2B5EF4-FFF2-40B4-BE49-F238E27FC236}">
                <a16:creationId xmlns:a16="http://schemas.microsoft.com/office/drawing/2014/main" id="{68A33BD3-36BF-AC4E-B472-099D9A6E8EA1}"/>
              </a:ext>
            </a:extLst>
          </p:cNvPr>
          <p:cNvSpPr txBox="1"/>
          <p:nvPr/>
        </p:nvSpPr>
        <p:spPr>
          <a:xfrm>
            <a:off x="4962398" y="3950034"/>
            <a:ext cx="473222" cy="230832"/>
          </a:xfrm>
          <a:prstGeom prst="rect">
            <a:avLst/>
          </a:prstGeom>
          <a:noFill/>
        </p:spPr>
        <p:txBody>
          <a:bodyPr wrap="square" rtlCol="0">
            <a:spAutoFit/>
          </a:bodyPr>
          <a:lstStyle/>
          <a:p>
            <a:r>
              <a:rPr lang="en-US" altLang="zh-CN" sz="900" dirty="0"/>
              <a:t>file1</a:t>
            </a:r>
            <a:endParaRPr lang="en-CN" sz="900" dirty="0"/>
          </a:p>
        </p:txBody>
      </p:sp>
      <p:sp>
        <p:nvSpPr>
          <p:cNvPr id="92" name="TextBox 91">
            <a:extLst>
              <a:ext uri="{FF2B5EF4-FFF2-40B4-BE49-F238E27FC236}">
                <a16:creationId xmlns:a16="http://schemas.microsoft.com/office/drawing/2014/main" id="{0144F127-C44A-3F45-8568-EAEDA791C299}"/>
              </a:ext>
            </a:extLst>
          </p:cNvPr>
          <p:cNvSpPr txBox="1"/>
          <p:nvPr/>
        </p:nvSpPr>
        <p:spPr>
          <a:xfrm>
            <a:off x="5457538" y="3945630"/>
            <a:ext cx="473222" cy="230832"/>
          </a:xfrm>
          <a:prstGeom prst="rect">
            <a:avLst/>
          </a:prstGeom>
          <a:noFill/>
        </p:spPr>
        <p:txBody>
          <a:bodyPr wrap="square" rtlCol="0">
            <a:spAutoFit/>
          </a:bodyPr>
          <a:lstStyle/>
          <a:p>
            <a:r>
              <a:rPr lang="en-US" altLang="zh-CN" sz="900" dirty="0"/>
              <a:t>file2</a:t>
            </a:r>
            <a:endParaRPr lang="en-CN" sz="900" dirty="0"/>
          </a:p>
        </p:txBody>
      </p:sp>
      <p:sp>
        <p:nvSpPr>
          <p:cNvPr id="50" name="Rectangle 49">
            <a:extLst>
              <a:ext uri="{FF2B5EF4-FFF2-40B4-BE49-F238E27FC236}">
                <a16:creationId xmlns:a16="http://schemas.microsoft.com/office/drawing/2014/main" id="{74084A99-069A-B440-9AAE-2197519C6F9C}"/>
              </a:ext>
            </a:extLst>
          </p:cNvPr>
          <p:cNvSpPr/>
          <p:nvPr/>
        </p:nvSpPr>
        <p:spPr>
          <a:xfrm>
            <a:off x="3238196" y="3523494"/>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1" name="Rectangle 50">
            <a:extLst>
              <a:ext uri="{FF2B5EF4-FFF2-40B4-BE49-F238E27FC236}">
                <a16:creationId xmlns:a16="http://schemas.microsoft.com/office/drawing/2014/main" id="{C99FB954-DEF8-1C4B-9A26-EB0B00005DE7}"/>
              </a:ext>
            </a:extLst>
          </p:cNvPr>
          <p:cNvSpPr/>
          <p:nvPr/>
        </p:nvSpPr>
        <p:spPr>
          <a:xfrm>
            <a:off x="5252303" y="3511522"/>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3" name="Rectangle 52">
            <a:extLst>
              <a:ext uri="{FF2B5EF4-FFF2-40B4-BE49-F238E27FC236}">
                <a16:creationId xmlns:a16="http://schemas.microsoft.com/office/drawing/2014/main" id="{F81185A4-6FD5-594F-9275-4CF53B724F79}"/>
              </a:ext>
            </a:extLst>
          </p:cNvPr>
          <p:cNvSpPr/>
          <p:nvPr/>
        </p:nvSpPr>
        <p:spPr>
          <a:xfrm>
            <a:off x="4172762" y="3516311"/>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54" name="Rectangle 53">
            <a:extLst>
              <a:ext uri="{FF2B5EF4-FFF2-40B4-BE49-F238E27FC236}">
                <a16:creationId xmlns:a16="http://schemas.microsoft.com/office/drawing/2014/main" id="{C55E3245-18BD-684F-B8AE-EB88BDBEAB66}"/>
              </a:ext>
            </a:extLst>
          </p:cNvPr>
          <p:cNvSpPr/>
          <p:nvPr/>
        </p:nvSpPr>
        <p:spPr>
          <a:xfrm>
            <a:off x="6115766" y="3511926"/>
            <a:ext cx="543482" cy="428403"/>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CN" sz="1000" dirty="0">
              <a:solidFill>
                <a:sysClr val="windowText" lastClr="000000"/>
              </a:solidFill>
            </a:endParaRPr>
          </a:p>
        </p:txBody>
      </p:sp>
      <p:sp>
        <p:nvSpPr>
          <p:cNvPr id="9" name="Lightning Bolt 8">
            <a:extLst>
              <a:ext uri="{FF2B5EF4-FFF2-40B4-BE49-F238E27FC236}">
                <a16:creationId xmlns:a16="http://schemas.microsoft.com/office/drawing/2014/main" id="{CB44389A-ADB7-CA4E-8878-E229E875528C}"/>
              </a:ext>
            </a:extLst>
          </p:cNvPr>
          <p:cNvSpPr/>
          <p:nvPr/>
        </p:nvSpPr>
        <p:spPr>
          <a:xfrm>
            <a:off x="2401703" y="2660066"/>
            <a:ext cx="432048" cy="648072"/>
          </a:xfrm>
          <a:prstGeom prst="lightningBol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5" name="Oval 54">
            <a:extLst>
              <a:ext uri="{FF2B5EF4-FFF2-40B4-BE49-F238E27FC236}">
                <a16:creationId xmlns:a16="http://schemas.microsoft.com/office/drawing/2014/main" id="{0E4F6E1A-A23B-784C-B246-E48B0ED39DE0}"/>
              </a:ext>
            </a:extLst>
          </p:cNvPr>
          <p:cNvSpPr/>
          <p:nvPr/>
        </p:nvSpPr>
        <p:spPr>
          <a:xfrm>
            <a:off x="5464773" y="3798499"/>
            <a:ext cx="89221" cy="9890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56" name="Elbow Connector 54">
            <a:extLst>
              <a:ext uri="{FF2B5EF4-FFF2-40B4-BE49-F238E27FC236}">
                <a16:creationId xmlns:a16="http://schemas.microsoft.com/office/drawing/2014/main" id="{CB650EDE-6F9A-DF41-BEA7-70ABCE9F6548}"/>
              </a:ext>
            </a:extLst>
          </p:cNvPr>
          <p:cNvCxnSpPr>
            <a:cxnSpLocks/>
            <a:stCxn id="57" idx="2"/>
            <a:endCxn id="55" idx="7"/>
          </p:cNvCxnSpPr>
          <p:nvPr/>
        </p:nvCxnSpPr>
        <p:spPr>
          <a:xfrm flipH="1">
            <a:off x="5540928" y="2976733"/>
            <a:ext cx="487141" cy="836250"/>
          </a:xfrm>
          <a:prstGeom prst="straightConnector1">
            <a:avLst/>
          </a:prstGeom>
          <a:ln cap="flat">
            <a:solidFill>
              <a:srgbClr val="00B050"/>
            </a:solidFill>
            <a:round/>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91D38A5-0BDE-2343-BCD6-99AE46A388BB}"/>
              </a:ext>
            </a:extLst>
          </p:cNvPr>
          <p:cNvSpPr txBox="1"/>
          <p:nvPr/>
        </p:nvSpPr>
        <p:spPr>
          <a:xfrm>
            <a:off x="5602311" y="2699734"/>
            <a:ext cx="851515" cy="276999"/>
          </a:xfrm>
          <a:prstGeom prst="rect">
            <a:avLst/>
          </a:prstGeom>
          <a:noFill/>
        </p:spPr>
        <p:txBody>
          <a:bodyPr wrap="none" rtlCol="0">
            <a:spAutoFit/>
          </a:bodyPr>
          <a:lstStyle/>
          <a:p>
            <a:r>
              <a:rPr lang="en-US" sz="1200" dirty="0"/>
              <a:t>f</a:t>
            </a:r>
            <a:r>
              <a:rPr lang="en-CN" sz="1200" dirty="0"/>
              <a:t>sync</a:t>
            </a:r>
            <a:r>
              <a:rPr lang="zh-CN" altLang="en-CN" sz="1200" dirty="0"/>
              <a:t>标记</a:t>
            </a:r>
            <a:endParaRPr lang="en-CN" sz="1200" dirty="0"/>
          </a:p>
        </p:txBody>
      </p:sp>
      <p:sp>
        <p:nvSpPr>
          <p:cNvPr id="68" name="Content Placeholder 2">
            <a:extLst>
              <a:ext uri="{FF2B5EF4-FFF2-40B4-BE49-F238E27FC236}">
                <a16:creationId xmlns:a16="http://schemas.microsoft.com/office/drawing/2014/main" id="{EEBB88C9-B4A6-6247-9DE9-D2F7EFF3B00C}"/>
              </a:ext>
            </a:extLst>
          </p:cNvPr>
          <p:cNvSpPr txBox="1">
            <a:spLocks/>
          </p:cNvSpPr>
          <p:nvPr/>
        </p:nvSpPr>
        <p:spPr>
          <a:xfrm>
            <a:off x="4978686" y="1336702"/>
            <a:ext cx="3955758" cy="3276210"/>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1800" b="0" dirty="0"/>
              <a:t>1.</a:t>
            </a:r>
            <a:r>
              <a:rPr lang="zh-CN" altLang="en-US" sz="1800" b="0" dirty="0"/>
              <a:t> 回滚到最近的检查点（</a:t>
            </a:r>
            <a:r>
              <a:rPr lang="en-US" altLang="zh-CN" sz="1800" b="0" dirty="0"/>
              <a:t>CP0</a:t>
            </a:r>
            <a:r>
              <a:rPr lang="zh-CN" altLang="en-US" sz="1800" b="0" dirty="0"/>
              <a:t>）</a:t>
            </a:r>
            <a:endParaRPr lang="en-US" altLang="zh-CN" sz="1800" b="0" dirty="0"/>
          </a:p>
          <a:p>
            <a:pPr lvl="1"/>
            <a:r>
              <a:rPr lang="zh-CN" altLang="en-US" sz="1600" b="0" dirty="0"/>
              <a:t>可找到文件</a:t>
            </a:r>
            <a:r>
              <a:rPr lang="en-US" altLang="zh-CN" sz="1600" b="0" dirty="0"/>
              <a:t>dir1</a:t>
            </a:r>
            <a:r>
              <a:rPr lang="zh-CN" altLang="en-US" sz="1600" b="0" dirty="0"/>
              <a:t>和</a:t>
            </a:r>
            <a:r>
              <a:rPr lang="en-US" altLang="zh-CN" sz="1600" b="0" dirty="0"/>
              <a:t>file1</a:t>
            </a:r>
          </a:p>
          <a:p>
            <a:pPr marL="0" indent="0">
              <a:buNone/>
            </a:pPr>
            <a:r>
              <a:rPr lang="en-US" altLang="zh-CN" sz="1800" b="0" dirty="0"/>
              <a:t>2. </a:t>
            </a:r>
            <a:r>
              <a:rPr lang="zh-CN" altLang="en-US" sz="1800" b="0" dirty="0"/>
              <a:t>前滚恢复</a:t>
            </a:r>
            <a:r>
              <a:rPr lang="en-US" altLang="zh-CN" sz="1800" b="0" dirty="0" err="1"/>
              <a:t>fsync</a:t>
            </a:r>
            <a:r>
              <a:rPr lang="zh-CN" altLang="en-US" sz="1800" b="0" dirty="0"/>
              <a:t>过的</a:t>
            </a:r>
            <a:r>
              <a:rPr lang="en-US" altLang="zh-CN" sz="1800" b="0" dirty="0"/>
              <a:t>file2</a:t>
            </a:r>
          </a:p>
          <a:p>
            <a:endParaRPr lang="en-US" altLang="zh-CN" sz="2000" b="0" dirty="0"/>
          </a:p>
          <a:p>
            <a:pPr marL="0" indent="266700">
              <a:buNone/>
            </a:pPr>
            <a:endParaRPr lang="zh-CN" altLang="en-US" sz="1800" b="0" dirty="0"/>
          </a:p>
        </p:txBody>
      </p:sp>
      <p:sp>
        <p:nvSpPr>
          <p:cNvPr id="10" name="TextBox 9">
            <a:extLst>
              <a:ext uri="{FF2B5EF4-FFF2-40B4-BE49-F238E27FC236}">
                <a16:creationId xmlns:a16="http://schemas.microsoft.com/office/drawing/2014/main" id="{1922B0D9-9CAF-9D41-B06E-993A89C06275}"/>
              </a:ext>
            </a:extLst>
          </p:cNvPr>
          <p:cNvSpPr txBox="1"/>
          <p:nvPr/>
        </p:nvSpPr>
        <p:spPr>
          <a:xfrm>
            <a:off x="4091905" y="1325941"/>
            <a:ext cx="886781" cy="369332"/>
          </a:xfrm>
          <a:prstGeom prst="rect">
            <a:avLst/>
          </a:prstGeom>
          <a:noFill/>
        </p:spPr>
        <p:txBody>
          <a:bodyPr wrap="none" rtlCol="0">
            <a:spAutoFit/>
          </a:bodyPr>
          <a:lstStyle/>
          <a:p>
            <a:pPr lvl="0" indent="9525"/>
            <a:r>
              <a:rPr lang="zh-CN" altLang="en-US" dirty="0">
                <a:solidFill>
                  <a:srgbClr val="000000"/>
                </a:solidFill>
              </a:rPr>
              <a:t>恢复：</a:t>
            </a:r>
          </a:p>
        </p:txBody>
      </p:sp>
    </p:spTree>
    <p:extLst>
      <p:ext uri="{BB962C8B-B14F-4D97-AF65-F5344CB8AC3E}">
        <p14:creationId xmlns:p14="http://schemas.microsoft.com/office/powerpoint/2010/main" val="35365592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C564D-17F9-C448-AA59-352083BE6109}"/>
              </a:ext>
            </a:extLst>
          </p:cNvPr>
          <p:cNvSpPr>
            <a:spLocks noGrp="1"/>
          </p:cNvSpPr>
          <p:nvPr>
            <p:ph type="title"/>
          </p:nvPr>
        </p:nvSpPr>
        <p:spPr/>
        <p:txBody>
          <a:bodyPr>
            <a:normAutofit/>
          </a:bodyPr>
          <a:lstStyle/>
          <a:p>
            <a:r>
              <a:rPr lang="zh-CN" altLang="en-US" dirty="0"/>
              <a:t>前滚：</a:t>
            </a:r>
            <a:r>
              <a:rPr lang="en-US" altLang="zh-CN" dirty="0" err="1"/>
              <a:t>fsync</a:t>
            </a:r>
            <a:r>
              <a:rPr lang="en-US" altLang="zh-CN" dirty="0"/>
              <a:t>()</a:t>
            </a:r>
            <a:r>
              <a:rPr lang="zh-CN" altLang="en-US" dirty="0"/>
              <a:t>的处理</a:t>
            </a:r>
            <a:endParaRPr lang="en-CN" dirty="0"/>
          </a:p>
        </p:txBody>
      </p:sp>
      <p:sp>
        <p:nvSpPr>
          <p:cNvPr id="3" name="Content Placeholder 2">
            <a:extLst>
              <a:ext uri="{FF2B5EF4-FFF2-40B4-BE49-F238E27FC236}">
                <a16:creationId xmlns:a16="http://schemas.microsoft.com/office/drawing/2014/main" id="{875AFC27-5399-ED43-ADA6-519D725C6CD0}"/>
              </a:ext>
            </a:extLst>
          </p:cNvPr>
          <p:cNvSpPr>
            <a:spLocks noGrp="1"/>
          </p:cNvSpPr>
          <p:nvPr>
            <p:ph idx="1"/>
          </p:nvPr>
        </p:nvSpPr>
        <p:spPr/>
        <p:txBody>
          <a:bodyPr>
            <a:normAutofit/>
          </a:bodyPr>
          <a:lstStyle/>
          <a:p>
            <a:r>
              <a:rPr lang="zh-CN" altLang="en-US" b="0" dirty="0"/>
              <a:t>原有</a:t>
            </a:r>
            <a:r>
              <a:rPr lang="en-US" altLang="zh-CN" b="0" dirty="0"/>
              <a:t>LFS</a:t>
            </a:r>
          </a:p>
          <a:p>
            <a:pPr lvl="1"/>
            <a:r>
              <a:rPr lang="zh-CN" altLang="en-US" b="0" dirty="0"/>
              <a:t>创建新的</a:t>
            </a:r>
            <a:r>
              <a:rPr lang="zh-CN" altLang="en-CN" b="0" dirty="0"/>
              <a:t>检查点</a:t>
            </a:r>
            <a:endParaRPr lang="en-US" altLang="zh-CN" b="0" dirty="0"/>
          </a:p>
          <a:p>
            <a:r>
              <a:rPr lang="en-CN" altLang="zh-CN" b="0" dirty="0"/>
              <a:t>F2FS</a:t>
            </a:r>
            <a:endParaRPr lang="en-US" altLang="zh-CN" b="0" dirty="0"/>
          </a:p>
          <a:p>
            <a:pPr lvl="1"/>
            <a:r>
              <a:rPr lang="zh-CN" altLang="en-CN" dirty="0"/>
              <a:t>无需</a:t>
            </a:r>
            <a:r>
              <a:rPr lang="zh-CN" altLang="en-US" dirty="0"/>
              <a:t>创建新的检查点</a:t>
            </a:r>
            <a:endParaRPr lang="en-US" altLang="zh-CN" dirty="0"/>
          </a:p>
          <a:p>
            <a:pPr lvl="1"/>
            <a:r>
              <a:rPr lang="zh-CN" altLang="en-US" dirty="0"/>
              <a:t>持久化文件数据块和直接</a:t>
            </a:r>
            <a:r>
              <a:rPr lang="en-US" altLang="zh-CN" dirty="0"/>
              <a:t>node</a:t>
            </a:r>
            <a:r>
              <a:rPr lang="zh-CN" altLang="en-US" dirty="0"/>
              <a:t>，并在直接</a:t>
            </a:r>
            <a:r>
              <a:rPr lang="en-US" altLang="zh-CN" dirty="0"/>
              <a:t>node</a:t>
            </a:r>
            <a:r>
              <a:rPr lang="zh-CN" altLang="en-US" dirty="0"/>
              <a:t>上附带</a:t>
            </a:r>
            <a:r>
              <a:rPr lang="en-US" altLang="zh-CN" dirty="0" err="1"/>
              <a:t>fsync</a:t>
            </a:r>
            <a:r>
              <a:rPr lang="zh-CN" altLang="en-US" dirty="0"/>
              <a:t>标记</a:t>
            </a:r>
            <a:endParaRPr lang="en-US" altLang="zh-CN" b="0" dirty="0"/>
          </a:p>
          <a:p>
            <a:pPr lvl="1"/>
            <a:r>
              <a:rPr lang="zh-CN" altLang="en-CN" b="0" dirty="0"/>
              <a:t>前滚</a:t>
            </a:r>
            <a:r>
              <a:rPr lang="zh-CN" altLang="en-US" b="0" dirty="0"/>
              <a:t>：恢复</a:t>
            </a:r>
            <a:r>
              <a:rPr lang="zh-CN" altLang="en-US" dirty="0"/>
              <a:t>检查点</a:t>
            </a:r>
            <a:r>
              <a:rPr lang="zh-CN" altLang="en-US" b="0" dirty="0"/>
              <a:t>之后</a:t>
            </a:r>
            <a:r>
              <a:rPr lang="en-US" altLang="zh-CN" b="0" dirty="0" err="1"/>
              <a:t>fsync</a:t>
            </a:r>
            <a:r>
              <a:rPr lang="zh-CN" altLang="en-US" b="0" dirty="0"/>
              <a:t>过的数据</a:t>
            </a:r>
            <a:endParaRPr lang="en-US" altLang="zh-CN" b="0" dirty="0"/>
          </a:p>
        </p:txBody>
      </p:sp>
      <p:sp>
        <p:nvSpPr>
          <p:cNvPr id="4" name="Slide Number Placeholder 3">
            <a:extLst>
              <a:ext uri="{FF2B5EF4-FFF2-40B4-BE49-F238E27FC236}">
                <a16:creationId xmlns:a16="http://schemas.microsoft.com/office/drawing/2014/main" id="{AEF1F4F4-7E2B-5447-B8C2-571028981E0D}"/>
              </a:ext>
            </a:extLst>
          </p:cNvPr>
          <p:cNvSpPr>
            <a:spLocks noGrp="1"/>
          </p:cNvSpPr>
          <p:nvPr>
            <p:ph type="sldNum" sz="quarter" idx="12"/>
          </p:nvPr>
        </p:nvSpPr>
        <p:spPr/>
        <p:txBody>
          <a:bodyPr/>
          <a:lstStyle/>
          <a:p>
            <a:fld id="{ADE361C3-C043-4A6E-BDCE-8DA1E7D90A3B}" type="slidenum">
              <a:rPr lang="zh-CN" altLang="en-US" smtClean="0"/>
              <a:t>66</a:t>
            </a:fld>
            <a:endParaRPr lang="zh-CN" altLang="en-US"/>
          </a:p>
        </p:txBody>
      </p:sp>
      <p:sp>
        <p:nvSpPr>
          <p:cNvPr id="5" name="Footer Placeholder 4">
            <a:extLst>
              <a:ext uri="{FF2B5EF4-FFF2-40B4-BE49-F238E27FC236}">
                <a16:creationId xmlns:a16="http://schemas.microsoft.com/office/drawing/2014/main" id="{D989E998-8001-E14F-8C78-0C517B0CD53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7265090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C564D-17F9-C448-AA59-352083BE6109}"/>
              </a:ext>
            </a:extLst>
          </p:cNvPr>
          <p:cNvSpPr>
            <a:spLocks noGrp="1"/>
          </p:cNvSpPr>
          <p:nvPr>
            <p:ph type="title"/>
          </p:nvPr>
        </p:nvSpPr>
        <p:spPr/>
        <p:txBody>
          <a:bodyPr>
            <a:normAutofit/>
          </a:bodyPr>
          <a:lstStyle/>
          <a:p>
            <a:r>
              <a:rPr lang="zh-CN" altLang="en-US" dirty="0"/>
              <a:t>前滚：恢复检查点之后</a:t>
            </a:r>
            <a:r>
              <a:rPr lang="en-US" altLang="zh-CN" dirty="0" err="1"/>
              <a:t>fsync</a:t>
            </a:r>
            <a:r>
              <a:rPr lang="zh-CN" altLang="en-US" dirty="0"/>
              <a:t>过的数据</a:t>
            </a:r>
            <a:endParaRPr lang="en-CN" dirty="0"/>
          </a:p>
        </p:txBody>
      </p:sp>
      <p:sp>
        <p:nvSpPr>
          <p:cNvPr id="3" name="Content Placeholder 2">
            <a:extLst>
              <a:ext uri="{FF2B5EF4-FFF2-40B4-BE49-F238E27FC236}">
                <a16:creationId xmlns:a16="http://schemas.microsoft.com/office/drawing/2014/main" id="{875AFC27-5399-ED43-ADA6-519D725C6CD0}"/>
              </a:ext>
            </a:extLst>
          </p:cNvPr>
          <p:cNvSpPr>
            <a:spLocks noGrp="1"/>
          </p:cNvSpPr>
          <p:nvPr>
            <p:ph idx="1"/>
          </p:nvPr>
        </p:nvSpPr>
        <p:spPr/>
        <p:txBody>
          <a:bodyPr>
            <a:normAutofit/>
          </a:bodyPr>
          <a:lstStyle/>
          <a:p>
            <a:r>
              <a:rPr lang="zh-CN" altLang="en-CN" b="0" dirty="0"/>
              <a:t>前滚</a:t>
            </a:r>
            <a:r>
              <a:rPr lang="zh-CN" altLang="en-US" b="0" dirty="0"/>
              <a:t>恢复</a:t>
            </a:r>
            <a:endParaRPr lang="en-US" altLang="zh-CN" sz="2000" b="0" dirty="0"/>
          </a:p>
          <a:p>
            <a:pPr marL="800100" lvl="1" indent="-342900">
              <a:buFont typeface="+mj-lt"/>
              <a:buAutoNum type="arabicPeriod"/>
            </a:pPr>
            <a:r>
              <a:rPr lang="zh-CN" altLang="en-US" dirty="0"/>
              <a:t>查找带有</a:t>
            </a:r>
            <a:r>
              <a:rPr lang="en-US" altLang="zh-CN" dirty="0" err="1"/>
              <a:t>fsync</a:t>
            </a:r>
            <a:r>
              <a:rPr lang="zh-CN" altLang="en-US" dirty="0"/>
              <a:t>标记的直接</a:t>
            </a:r>
            <a:r>
              <a:rPr lang="en-US" altLang="zh-CN" dirty="0"/>
              <a:t>node</a:t>
            </a:r>
          </a:p>
          <a:p>
            <a:pPr marL="800100" lvl="1" indent="-342900">
              <a:buFont typeface="+mj-lt"/>
              <a:buAutoNum type="arabicPeriod"/>
            </a:pPr>
            <a:r>
              <a:rPr lang="zh-CN" altLang="en-US" dirty="0"/>
              <a:t>对于每个直接</a:t>
            </a:r>
            <a:r>
              <a:rPr lang="en-US" altLang="zh-CN" dirty="0"/>
              <a:t>node</a:t>
            </a:r>
            <a:r>
              <a:rPr lang="zh-CN" altLang="en-US" dirty="0"/>
              <a:t>，对比其中的数据块指针，识别新旧数据块</a:t>
            </a:r>
            <a:endParaRPr lang="en-US" altLang="zh-CN" dirty="0"/>
          </a:p>
          <a:p>
            <a:pPr marL="800100" lvl="1" indent="-342900">
              <a:buFont typeface="+mj-lt"/>
              <a:buAutoNum type="arabicPeriod"/>
            </a:pPr>
            <a:r>
              <a:rPr lang="zh-CN" altLang="en-US" dirty="0"/>
              <a:t>更新</a:t>
            </a:r>
            <a:r>
              <a:rPr lang="en-US" altLang="zh-CN" dirty="0"/>
              <a:t>SIT</a:t>
            </a:r>
            <a:r>
              <a:rPr lang="zh-CN" altLang="en-US" dirty="0"/>
              <a:t>（段信息表），标记旧的数据块为无效</a:t>
            </a:r>
            <a:endParaRPr lang="en-US" altLang="zh-CN" dirty="0"/>
          </a:p>
          <a:p>
            <a:pPr marL="800100" lvl="1" indent="-342900">
              <a:buFont typeface="+mj-lt"/>
              <a:buAutoNum type="arabicPeriod"/>
            </a:pPr>
            <a:r>
              <a:rPr lang="zh-CN" altLang="en-US" dirty="0"/>
              <a:t>根据直接</a:t>
            </a:r>
            <a:r>
              <a:rPr lang="en-US" altLang="zh-CN" dirty="0"/>
              <a:t>node</a:t>
            </a:r>
            <a:r>
              <a:rPr lang="zh-CN" altLang="en-US" dirty="0"/>
              <a:t>中新数据块的记录，更新</a:t>
            </a:r>
            <a:r>
              <a:rPr lang="en-US" altLang="zh-CN" dirty="0"/>
              <a:t>NAT</a:t>
            </a:r>
            <a:r>
              <a:rPr lang="zh-CN" altLang="en-US" dirty="0"/>
              <a:t>和</a:t>
            </a:r>
            <a:r>
              <a:rPr lang="en-US" altLang="zh-CN" dirty="0"/>
              <a:t>SIT</a:t>
            </a:r>
          </a:p>
          <a:p>
            <a:pPr marL="800100" lvl="1" indent="-342900">
              <a:buFont typeface="+mj-lt"/>
              <a:buAutoNum type="arabicPeriod"/>
            </a:pPr>
            <a:r>
              <a:rPr lang="zh-CN" altLang="en-US" dirty="0"/>
              <a:t>创建新的检查点</a:t>
            </a:r>
            <a:endParaRPr lang="en-US" altLang="zh-CN" dirty="0"/>
          </a:p>
        </p:txBody>
      </p:sp>
      <p:sp>
        <p:nvSpPr>
          <p:cNvPr id="4" name="Slide Number Placeholder 3">
            <a:extLst>
              <a:ext uri="{FF2B5EF4-FFF2-40B4-BE49-F238E27FC236}">
                <a16:creationId xmlns:a16="http://schemas.microsoft.com/office/drawing/2014/main" id="{AEF1F4F4-7E2B-5447-B8C2-571028981E0D}"/>
              </a:ext>
            </a:extLst>
          </p:cNvPr>
          <p:cNvSpPr>
            <a:spLocks noGrp="1"/>
          </p:cNvSpPr>
          <p:nvPr>
            <p:ph type="sldNum" sz="quarter" idx="12"/>
          </p:nvPr>
        </p:nvSpPr>
        <p:spPr/>
        <p:txBody>
          <a:bodyPr/>
          <a:lstStyle/>
          <a:p>
            <a:fld id="{ADE361C3-C043-4A6E-BDCE-8DA1E7D90A3B}" type="slidenum">
              <a:rPr lang="zh-CN" altLang="en-US" smtClean="0"/>
              <a:t>67</a:t>
            </a:fld>
            <a:endParaRPr lang="zh-CN" altLang="en-US"/>
          </a:p>
        </p:txBody>
      </p:sp>
      <p:sp>
        <p:nvSpPr>
          <p:cNvPr id="5" name="Footer Placeholder 4">
            <a:extLst>
              <a:ext uri="{FF2B5EF4-FFF2-40B4-BE49-F238E27FC236}">
                <a16:creationId xmlns:a16="http://schemas.microsoft.com/office/drawing/2014/main" id="{D989E998-8001-E14F-8C78-0C517B0CD53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179334633"/>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56333</TotalTime>
  <Words>5369</Words>
  <Application>Microsoft Macintosh PowerPoint</Application>
  <PresentationFormat>全屏显示(16:10)</PresentationFormat>
  <Paragraphs>1142</Paragraphs>
  <Slides>67</Slides>
  <Notes>13</Notes>
  <HiddenSlides>5</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67</vt:i4>
      </vt:variant>
    </vt:vector>
  </HeadingPairs>
  <TitlesOfParts>
    <vt:vector size="74" baseType="lpstr">
      <vt:lpstr>DengXian</vt:lpstr>
      <vt:lpstr>微软雅黑</vt:lpstr>
      <vt:lpstr>Arial</vt:lpstr>
      <vt:lpstr>Calibri</vt:lpstr>
      <vt:lpstr>Courier</vt:lpstr>
      <vt:lpstr>Wingdings</vt:lpstr>
      <vt:lpstr>Office 主题​​</vt:lpstr>
      <vt:lpstr>日志文件系统</vt:lpstr>
      <vt:lpstr>版权声明</vt:lpstr>
      <vt:lpstr>Review：创建文件时崩溃的6种情况</vt:lpstr>
      <vt:lpstr>Review：日志（Journaling）</vt:lpstr>
      <vt:lpstr>Review：写时复制（Copy-on-Write）</vt:lpstr>
      <vt:lpstr>Review：Soft Updates</vt:lpstr>
      <vt:lpstr>Review：崩溃一致性保障方法</vt:lpstr>
      <vt:lpstr>日志文件系统（LFS）</vt:lpstr>
      <vt:lpstr>日志文件系统（Log-structured FS）</vt:lpstr>
      <vt:lpstr>日志文件系统（Log-structured FS）</vt:lpstr>
      <vt:lpstr>Sprite LFS的数据结构</vt:lpstr>
      <vt:lpstr>创建文件举例</vt:lpstr>
      <vt:lpstr>创建文件举例</vt:lpstr>
      <vt:lpstr>创建文件举例</vt:lpstr>
      <vt:lpstr>无效空间的回收</vt:lpstr>
      <vt:lpstr>空间回收管理方法：串联与拷贝</vt:lpstr>
      <vt:lpstr>空间回收管理方法：段（Segment）</vt:lpstr>
      <vt:lpstr>空间回收管理方法：段（Segment）</vt:lpstr>
      <vt:lpstr>段使用表</vt:lpstr>
      <vt:lpstr>段清理</vt:lpstr>
      <vt:lpstr>段清理</vt:lpstr>
      <vt:lpstr>段清理</vt:lpstr>
      <vt:lpstr>段清理</vt:lpstr>
      <vt:lpstr>段清理</vt:lpstr>
      <vt:lpstr>识别有效数据</vt:lpstr>
      <vt:lpstr>识别有效数据</vt:lpstr>
      <vt:lpstr>清理的策略有多种维度</vt:lpstr>
      <vt:lpstr>挂载和恢复</vt:lpstr>
      <vt:lpstr>检查点</vt:lpstr>
      <vt:lpstr>恢复：前滚（roll-forward）</vt:lpstr>
      <vt:lpstr>恢复：前滚（roll-forward）</vt:lpstr>
      <vt:lpstr>恢复：前滚（roll-forward）</vt:lpstr>
      <vt:lpstr>恢复：目录修改日志</vt:lpstr>
      <vt:lpstr>其他LFS的实现</vt:lpstr>
      <vt:lpstr>关于LFS的讨论</vt:lpstr>
      <vt:lpstr>F2FS</vt:lpstr>
      <vt:lpstr>闪存盘的组织</vt:lpstr>
      <vt:lpstr>闪存盘的组织</vt:lpstr>
      <vt:lpstr>闪存盘的性质</vt:lpstr>
      <vt:lpstr>闪存盘的性质</vt:lpstr>
      <vt:lpstr>Flash Translation Layer (FTL)</vt:lpstr>
      <vt:lpstr>问题：如何为Flash设计文件系统 ？</vt:lpstr>
      <vt:lpstr>观察：LFS与Flash的相似性</vt:lpstr>
      <vt:lpstr>LFS的结构</vt:lpstr>
      <vt:lpstr>LFS的问题-1：递归更新问题</vt:lpstr>
      <vt:lpstr>LFS的问题-1：递归更新问题</vt:lpstr>
      <vt:lpstr>LFS的问题-1：递归更新问题</vt:lpstr>
      <vt:lpstr>LFS的问题-2：单一log顺序写入</vt:lpstr>
      <vt:lpstr>F2FS的改进-1：NAT</vt:lpstr>
      <vt:lpstr>F2FS的改进-1：NAT</vt:lpstr>
      <vt:lpstr>F2FS的改进-1：NAT</vt:lpstr>
      <vt:lpstr>F2FS的改进-2：多log并行写入</vt:lpstr>
      <vt:lpstr>对闪存友好的磁盘布局</vt:lpstr>
      <vt:lpstr>对闪存友好的磁盘布局</vt:lpstr>
      <vt:lpstr>多Log写入</vt:lpstr>
      <vt:lpstr>清理（Cleaning）</vt:lpstr>
      <vt:lpstr>清理（Cleaning）</vt:lpstr>
      <vt:lpstr>自适应日志</vt:lpstr>
      <vt:lpstr>检查点</vt:lpstr>
      <vt:lpstr>崩溃与恢复</vt:lpstr>
      <vt:lpstr>崩溃与恢复</vt:lpstr>
      <vt:lpstr>崩溃与恢复</vt:lpstr>
      <vt:lpstr>崩溃与恢复</vt:lpstr>
      <vt:lpstr>崩溃与恢复：回滚（roll-back）</vt:lpstr>
      <vt:lpstr>崩溃与恢复：前滚（roll-forward）</vt:lpstr>
      <vt:lpstr>前滚：fsync()的处理</vt:lpstr>
      <vt:lpstr>前滚：恢复检查点之后fsync过的数据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Yubin Xia</cp:lastModifiedBy>
  <cp:revision>5261</cp:revision>
  <cp:lastPrinted>2016-06-13T07:55:34Z</cp:lastPrinted>
  <dcterms:created xsi:type="dcterms:W3CDTF">2017-11-24T09:35:45Z</dcterms:created>
  <dcterms:modified xsi:type="dcterms:W3CDTF">2022-04-14T05:53:51Z</dcterms:modified>
</cp:coreProperties>
</file>