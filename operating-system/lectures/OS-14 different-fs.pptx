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1306" r:id="rId2"/>
    <p:sldId id="1359" r:id="rId3"/>
    <p:sldId id="2440" r:id="rId4"/>
    <p:sldId id="2460" r:id="rId5"/>
    <p:sldId id="2561" r:id="rId6"/>
    <p:sldId id="2485" r:id="rId7"/>
    <p:sldId id="2486" r:id="rId8"/>
    <p:sldId id="2487" r:id="rId9"/>
    <p:sldId id="2488" r:id="rId10"/>
    <p:sldId id="2489" r:id="rId11"/>
    <p:sldId id="2490" r:id="rId12"/>
    <p:sldId id="2491" r:id="rId13"/>
    <p:sldId id="2492" r:id="rId14"/>
    <p:sldId id="2493" r:id="rId15"/>
    <p:sldId id="2494" r:id="rId16"/>
    <p:sldId id="2495" r:id="rId17"/>
    <p:sldId id="2496" r:id="rId18"/>
    <p:sldId id="2497" r:id="rId19"/>
    <p:sldId id="2498" r:id="rId20"/>
    <p:sldId id="2499" r:id="rId21"/>
    <p:sldId id="2500" r:id="rId22"/>
    <p:sldId id="2501" r:id="rId23"/>
    <p:sldId id="2481" r:id="rId24"/>
    <p:sldId id="2502" r:id="rId25"/>
    <p:sldId id="2503" r:id="rId26"/>
    <p:sldId id="2504" r:id="rId27"/>
    <p:sldId id="2505" r:id="rId28"/>
    <p:sldId id="2482" r:id="rId29"/>
    <p:sldId id="2484" r:id="rId30"/>
    <p:sldId id="2556" r:id="rId31"/>
    <p:sldId id="2560" r:id="rId32"/>
    <p:sldId id="2461" r:id="rId33"/>
    <p:sldId id="2462" r:id="rId34"/>
    <p:sldId id="2480" r:id="rId35"/>
    <p:sldId id="2559" r:id="rId36"/>
    <p:sldId id="2463" r:id="rId37"/>
    <p:sldId id="2465" r:id="rId38"/>
    <p:sldId id="2467" r:id="rId39"/>
    <p:sldId id="2469" r:id="rId40"/>
    <p:sldId id="2468" r:id="rId41"/>
    <p:sldId id="2557" r:id="rId42"/>
    <p:sldId id="2472" r:id="rId43"/>
    <p:sldId id="2475" r:id="rId44"/>
    <p:sldId id="2477" r:id="rId45"/>
    <p:sldId id="2457" r:id="rId46"/>
    <p:sldId id="2436" r:id="rId47"/>
    <p:sldId id="2522" r:id="rId48"/>
    <p:sldId id="2537" r:id="rId49"/>
    <p:sldId id="2455" r:id="rId50"/>
    <p:sldId id="2562" r:id="rId51"/>
    <p:sldId id="2563" r:id="rId52"/>
    <p:sldId id="2509" r:id="rId53"/>
    <p:sldId id="2566" r:id="rId54"/>
    <p:sldId id="2549" r:id="rId55"/>
    <p:sldId id="2564" r:id="rId56"/>
    <p:sldId id="2450" r:id="rId57"/>
    <p:sldId id="2565" r:id="rId58"/>
    <p:sldId id="2451" r:id="rId59"/>
    <p:sldId id="2539" r:id="rId60"/>
    <p:sldId id="2540" r:id="rId61"/>
    <p:sldId id="2452" r:id="rId62"/>
    <p:sldId id="2510" r:id="rId63"/>
    <p:sldId id="2458" r:id="rId64"/>
    <p:sldId id="2511" r:id="rId65"/>
    <p:sldId id="2526" r:id="rId66"/>
    <p:sldId id="2527" r:id="rId67"/>
    <p:sldId id="2524" r:id="rId68"/>
    <p:sldId id="2525" r:id="rId69"/>
    <p:sldId id="2523" r:id="rId70"/>
    <p:sldId id="2513" r:id="rId71"/>
    <p:sldId id="2528" r:id="rId72"/>
    <p:sldId id="2530" r:id="rId73"/>
    <p:sldId id="2514" r:id="rId74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orient="horz" pos="8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0FB92"/>
    <a:srgbClr val="941100"/>
    <a:srgbClr val="212121"/>
    <a:srgbClr val="005493"/>
    <a:srgbClr val="FF2F92"/>
    <a:srgbClr val="9437FF"/>
    <a:srgbClr val="73FEFF"/>
    <a:srgbClr val="ED3C64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16" autoAdjust="0"/>
    <p:restoredTop sz="75055" autoAdjust="0"/>
  </p:normalViewPr>
  <p:slideViewPr>
    <p:cSldViewPr>
      <p:cViewPr varScale="1">
        <p:scale>
          <a:sx n="119" d="100"/>
          <a:sy n="119" d="100"/>
        </p:scale>
        <p:origin x="184" y="504"/>
      </p:cViewPr>
      <p:guideLst>
        <p:guide orient="horz" pos="2480"/>
        <p:guide pos="2880"/>
        <p:guide orient="horz" pos="893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2022/3/31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355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" dirty="0"/>
              <a:t>需要</a:t>
            </a:r>
            <a:r>
              <a:rPr kumimoji="1" lang="en" altLang="zh-CN" dirty="0"/>
              <a:t>256K</a:t>
            </a:r>
            <a:r>
              <a:rPr kumimoji="1" lang="zh-CN" altLang="en-US" dirty="0"/>
              <a:t>个</a:t>
            </a:r>
            <a:r>
              <a:rPr kumimoji="1" lang="en-US" altLang="zh-CN" dirty="0"/>
              <a:t>4</a:t>
            </a:r>
            <a:r>
              <a:rPr kumimoji="1" lang="en" altLang="zh-CN" dirty="0"/>
              <a:t>K</a:t>
            </a:r>
            <a:r>
              <a:rPr kumimoji="1" lang="zh-CN" altLang="en-US" dirty="0"/>
              <a:t>数据块，元数据需要</a:t>
            </a:r>
            <a:r>
              <a:rPr kumimoji="1" lang="en-US" altLang="zh-CN" dirty="0"/>
              <a:t>512</a:t>
            </a:r>
            <a:r>
              <a:rPr kumimoji="1" lang="zh-CN" altLang="en-US" dirty="0"/>
              <a:t>个</a:t>
            </a:r>
            <a:r>
              <a:rPr kumimoji="1" lang="en" altLang="zh-CN" dirty="0"/>
              <a:t>indirect block</a:t>
            </a:r>
            <a:r>
              <a:rPr kumimoji="1" lang="zh-CN" altLang="en" dirty="0"/>
              <a:t>，</a:t>
            </a:r>
            <a:r>
              <a:rPr kumimoji="1" lang="zh-CN" altLang="en-US" dirty="0"/>
              <a:t>和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</a:t>
            </a:r>
            <a:r>
              <a:rPr kumimoji="1" lang="en" altLang="zh-CN" dirty="0"/>
              <a:t>double indirect block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187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Courier" pitchFamily="2" charset="0"/>
              </a:rPr>
              <a:t>基数树：</a:t>
            </a:r>
            <a:r>
              <a:rPr lang="en-US" altLang="zh-CN" sz="1200" dirty="0">
                <a:latin typeface="Courier" pitchFamily="2" charset="0"/>
              </a:rPr>
              <a:t>radix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tree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579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679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944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目录项中的文件大小用</a:t>
            </a:r>
            <a:r>
              <a:rPr lang="en-US" altLang="zh-CN" dirty="0"/>
              <a:t>4</a:t>
            </a:r>
            <a:r>
              <a:rPr lang="zh-CN" altLang="en-US" dirty="0"/>
              <a:t>字节</a:t>
            </a:r>
            <a:endParaRPr lang="en-US" altLang="zh-CN" dirty="0"/>
          </a:p>
          <a:p>
            <a:r>
              <a:rPr lang="zh-CN" altLang="en-US" dirty="0"/>
              <a:t>用更多字节保存</a:t>
            </a:r>
            <a:endParaRPr lang="en-US" altLang="zh-CN" dirty="0"/>
          </a:p>
          <a:p>
            <a:r>
              <a:rPr lang="zh-CN" altLang="en-US" dirty="0"/>
              <a:t>日志问题，没有日志，减少写；简单</a:t>
            </a:r>
            <a:endParaRPr lang="en-US" altLang="zh-CN" dirty="0"/>
          </a:p>
          <a:p>
            <a:r>
              <a:rPr lang="zh-CN" altLang="en-US" dirty="0"/>
              <a:t>无法统计</a:t>
            </a:r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count</a:t>
            </a:r>
          </a:p>
          <a:p>
            <a:r>
              <a:rPr lang="zh-CN" altLang="en-US" dirty="0"/>
              <a:t>目录项对比和顺序存储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949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读取</a:t>
            </a:r>
            <a:r>
              <a:rPr lang="en-US" altLang="zh-CN" b="0" dirty="0"/>
              <a:t>MFT</a:t>
            </a:r>
            <a:r>
              <a:rPr lang="zh-CN" altLang="en-US" b="0" dirty="0"/>
              <a:t>，生成索引</a:t>
            </a:r>
            <a:endParaRPr lang="en-US" altLang="zh-CN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/>
              <a:t>直接放在</a:t>
            </a:r>
            <a:r>
              <a:rPr lang="en-US" b="0" dirty="0"/>
              <a:t>MFT</a:t>
            </a:r>
            <a:r>
              <a:rPr lang="zh-CN" altLang="en-US" b="0" dirty="0"/>
              <a:t>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067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672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701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008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547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311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RoW</a:t>
            </a:r>
            <a:r>
              <a:rPr lang="zh-CN" altLang="en-US" dirty="0"/>
              <a:t>：与</a:t>
            </a:r>
            <a:r>
              <a:rPr lang="en-US" altLang="zh-CN" dirty="0" err="1"/>
              <a:t>CoW</a:t>
            </a:r>
            <a:r>
              <a:rPr lang="zh-CN" altLang="en-US" dirty="0"/>
              <a:t>区别在于，</a:t>
            </a:r>
            <a:r>
              <a:rPr lang="en-US" altLang="zh-CN" dirty="0"/>
              <a:t>copy</a:t>
            </a:r>
            <a:r>
              <a:rPr lang="zh-CN" altLang="en-US" dirty="0"/>
              <a:t>之后在哪一份数据上修改</a:t>
            </a:r>
            <a:endParaRPr lang="en-US" altLang="zh-CN" dirty="0"/>
          </a:p>
          <a:p>
            <a:r>
              <a:rPr lang="en-US" altLang="zh-CN" dirty="0" err="1"/>
              <a:t>UnionFS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35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b="0" dirty="0"/>
              <a:t>子卷</a:t>
            </a:r>
            <a:r>
              <a:rPr lang="zh-CN" altLang="en-US" b="0" dirty="0"/>
              <a:t>（把文件系统中的一部分变成完整的子文件系统）</a:t>
            </a:r>
            <a:endParaRPr lang="en-US" altLang="zh-CN" b="0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45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不同的文件系统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C0CB0D-F0FE-4C45-AD0F-E07BE3F0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回顾：</a:t>
            </a:r>
            <a:r>
              <a:rPr lang="en-US" altLang="zh-CN" dirty="0"/>
              <a:t>UNIX</a:t>
            </a:r>
            <a:r>
              <a:rPr lang="zh-CN" altLang="en-US" dirty="0"/>
              <a:t> </a:t>
            </a:r>
            <a:r>
              <a:rPr lang="en-US" altLang="zh-CN" dirty="0"/>
              <a:t>v6</a:t>
            </a:r>
            <a:r>
              <a:rPr lang="zh-CN" altLang="en-US" dirty="0"/>
              <a:t> 文件系统</a:t>
            </a:r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936246-8C0C-D74E-87BC-6DB06718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27704-9D7D-FA41-B1D9-71B3C084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78A08-8359-4843-B8DE-7AB9BCDC0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843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79A7-C740-8847-96D7-811DD9CE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文件的索引节</a:t>
            </a:r>
            <a:r>
              <a:rPr lang="zh-CN" altLang="en-CN" dirty="0"/>
              <a:t>点</a:t>
            </a:r>
            <a:r>
              <a:rPr lang="zh-CN" altLang="en-US" dirty="0"/>
              <a:t>：</a:t>
            </a:r>
            <a:r>
              <a:rPr lang="en-CN" dirty="0"/>
              <a:t>inode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767CA-7095-8442-A3B9-9E06ABE89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常用的元数据</a:t>
            </a:r>
            <a:endParaRPr lang="en-US" altLang="zh-CN" b="0" dirty="0"/>
          </a:p>
          <a:p>
            <a:pPr lvl="1"/>
            <a:r>
              <a:rPr lang="zh-CN" altLang="en-US" dirty="0"/>
              <a:t>文件类型</a:t>
            </a:r>
            <a:endParaRPr lang="en-US" altLang="zh-CN" dirty="0"/>
          </a:p>
          <a:p>
            <a:pPr lvl="1"/>
            <a:r>
              <a:rPr lang="zh-CN" altLang="en-US" dirty="0"/>
              <a:t>文件大小</a:t>
            </a:r>
            <a:endParaRPr lang="en-US" altLang="zh-CN" dirty="0"/>
          </a:p>
          <a:p>
            <a:pPr lvl="1"/>
            <a:r>
              <a:rPr lang="zh-CN" altLang="en-US" dirty="0"/>
              <a:t>链接数</a:t>
            </a:r>
            <a:endParaRPr lang="en-US" altLang="zh-CN" dirty="0"/>
          </a:p>
          <a:p>
            <a:pPr lvl="1"/>
            <a:r>
              <a:rPr lang="zh-CN" altLang="en-US" dirty="0"/>
              <a:t>文件权限</a:t>
            </a:r>
            <a:endParaRPr lang="en-US" altLang="zh-CN" dirty="0"/>
          </a:p>
          <a:p>
            <a:pPr lvl="1"/>
            <a:r>
              <a:rPr lang="zh-CN" altLang="en-US" dirty="0"/>
              <a:t>拥有用户</a:t>
            </a:r>
            <a:r>
              <a:rPr lang="en-US" altLang="zh-CN" dirty="0"/>
              <a:t>/</a:t>
            </a:r>
            <a:r>
              <a:rPr lang="zh-CN" altLang="en-US" dirty="0"/>
              <a:t>组</a:t>
            </a:r>
            <a:endParaRPr lang="en-US" altLang="zh-CN" dirty="0"/>
          </a:p>
          <a:p>
            <a:pPr lvl="1"/>
            <a:r>
              <a:rPr lang="zh-CN" altLang="en-CN" dirty="0"/>
              <a:t>时间</a:t>
            </a:r>
            <a:r>
              <a:rPr lang="zh-CN" altLang="en-US" dirty="0"/>
              <a:t>（创建、修改、访问时间）</a:t>
            </a:r>
            <a:endParaRPr lang="en-US" altLang="zh-CN" dirty="0"/>
          </a:p>
          <a:p>
            <a:r>
              <a:rPr lang="zh-CN" altLang="en-US" b="0" dirty="0"/>
              <a:t>具体文件数据的位置</a:t>
            </a:r>
            <a:endParaRPr lang="en-CN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11EDD-B3EF-9543-A967-C3BB37B9E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204686-76EC-5542-8D08-37B01973362B}"/>
              </a:ext>
            </a:extLst>
          </p:cNvPr>
          <p:cNvSpPr/>
          <p:nvPr/>
        </p:nvSpPr>
        <p:spPr>
          <a:xfrm>
            <a:off x="5292080" y="1129308"/>
            <a:ext cx="1008112" cy="10919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dirty="0"/>
              <a:t>常用</a:t>
            </a:r>
            <a:r>
              <a:rPr lang="zh-CN" altLang="en-US" dirty="0"/>
              <a:t>元数据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D3F2E4-AB2B-814C-ADA2-F0D6591D2115}"/>
              </a:ext>
            </a:extLst>
          </p:cNvPr>
          <p:cNvSpPr/>
          <p:nvPr/>
        </p:nvSpPr>
        <p:spPr>
          <a:xfrm>
            <a:off x="5292080" y="2221259"/>
            <a:ext cx="1008112" cy="2762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1:</a:t>
            </a:r>
            <a:r>
              <a:rPr lang="zh-CN" altLang="en-US" sz="1400" dirty="0"/>
              <a:t> </a:t>
            </a:r>
            <a:r>
              <a:rPr lang="en-US" altLang="zh-CN" sz="1400" dirty="0"/>
              <a:t>block34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54038-3E19-BC45-80F9-1C0E69049383}"/>
              </a:ext>
            </a:extLst>
          </p:cNvPr>
          <p:cNvSpPr/>
          <p:nvPr/>
        </p:nvSpPr>
        <p:spPr>
          <a:xfrm>
            <a:off x="5292080" y="2497460"/>
            <a:ext cx="1008112" cy="2762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2:</a:t>
            </a:r>
            <a:r>
              <a:rPr lang="zh-CN" altLang="en-US" sz="1400" dirty="0"/>
              <a:t> </a:t>
            </a:r>
            <a:r>
              <a:rPr lang="en-US" altLang="zh-CN" sz="1400" dirty="0"/>
              <a:t>block35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1A53C4-E95D-E142-89AE-5693558C6E46}"/>
              </a:ext>
            </a:extLst>
          </p:cNvPr>
          <p:cNvSpPr/>
          <p:nvPr/>
        </p:nvSpPr>
        <p:spPr>
          <a:xfrm>
            <a:off x="5292080" y="2773661"/>
            <a:ext cx="1008112" cy="2762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3:</a:t>
            </a:r>
            <a:r>
              <a:rPr lang="zh-CN" altLang="en-US" sz="1400" dirty="0"/>
              <a:t> </a:t>
            </a:r>
            <a:r>
              <a:rPr lang="en-US" altLang="zh-CN" sz="1400" dirty="0"/>
              <a:t>block59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5AA1A-A692-204E-A8F8-E662800E1C58}"/>
              </a:ext>
            </a:extLst>
          </p:cNvPr>
          <p:cNvSpPr/>
          <p:nvPr/>
        </p:nvSpPr>
        <p:spPr>
          <a:xfrm>
            <a:off x="5292080" y="3051724"/>
            <a:ext cx="1008112" cy="2762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4:</a:t>
            </a:r>
            <a:r>
              <a:rPr lang="zh-CN" altLang="en-US" sz="1400" dirty="0"/>
              <a:t> </a:t>
            </a:r>
            <a:r>
              <a:rPr lang="en-US" altLang="zh-CN" sz="1400" dirty="0"/>
              <a:t>block78</a:t>
            </a:r>
            <a:endParaRPr lang="en-C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370860-046F-CC4D-91AF-02A2F9FA13D9}"/>
              </a:ext>
            </a:extLst>
          </p:cNvPr>
          <p:cNvSpPr/>
          <p:nvPr/>
        </p:nvSpPr>
        <p:spPr>
          <a:xfrm>
            <a:off x="7236296" y="1418739"/>
            <a:ext cx="1008112" cy="780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数据块</a:t>
            </a:r>
            <a:endParaRPr lang="en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992E9-27B1-6B49-BD96-EBD5EF691029}"/>
              </a:ext>
            </a:extLst>
          </p:cNvPr>
          <p:cNvSpPr/>
          <p:nvPr/>
        </p:nvSpPr>
        <p:spPr>
          <a:xfrm>
            <a:off x="7236296" y="2481291"/>
            <a:ext cx="1008112" cy="780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数据块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222C31-43AA-2D44-8BF5-754280AA1EC6}"/>
              </a:ext>
            </a:extLst>
          </p:cNvPr>
          <p:cNvSpPr/>
          <p:nvPr/>
        </p:nvSpPr>
        <p:spPr>
          <a:xfrm>
            <a:off x="7236296" y="3490602"/>
            <a:ext cx="1008112" cy="780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数据块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31F119-808D-FD41-9B15-0248C1E48AB7}"/>
              </a:ext>
            </a:extLst>
          </p:cNvPr>
          <p:cNvSpPr/>
          <p:nvPr/>
        </p:nvSpPr>
        <p:spPr>
          <a:xfrm>
            <a:off x="7236296" y="4553154"/>
            <a:ext cx="1008112" cy="780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数据块</a:t>
            </a:r>
            <a:endParaRPr lang="en-CN" dirty="0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736D46AE-727D-F948-802C-F23CCD069BD2}"/>
              </a:ext>
            </a:extLst>
          </p:cNvPr>
          <p:cNvCxnSpPr>
            <a:stCxn id="7" idx="3"/>
            <a:endCxn id="12" idx="1"/>
          </p:cNvCxnSpPr>
          <p:nvPr/>
        </p:nvCxnSpPr>
        <p:spPr>
          <a:xfrm flipV="1">
            <a:off x="6300192" y="1809063"/>
            <a:ext cx="936104" cy="550297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90F7F1A4-2006-EA41-B0F8-6E0B1734D029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6300192" y="2635561"/>
            <a:ext cx="936104" cy="236054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4D0E87E4-3BE4-FC4F-999E-EF90DD9C812C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6300192" y="2911762"/>
            <a:ext cx="936104" cy="969164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A31ED506-31F8-454B-95EB-036A8FBDCDF9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6300192" y="3189825"/>
            <a:ext cx="936104" cy="1753653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A9D8E-FB66-284F-B4BB-E71C5997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222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A90BA-3EFB-4146-AA8E-4546C133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理解一个文件系统的</a:t>
            </a:r>
            <a:r>
              <a:rPr kumimoji="1" lang="en-US" altLang="zh-CN" dirty="0"/>
              <a:t>11</a:t>
            </a:r>
            <a:r>
              <a:rPr kumimoji="1" lang="zh-CN" altLang="en-US" dirty="0"/>
              <a:t>个问题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C37055-1395-1F42-95B3-41B635AD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39620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文件系统使用磁盘块的基本单位是什么？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一个文件的组织方式？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空闲空间的组织方式？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目录的结构是什么？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是否支持硬链接？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是否支持软链接？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磁盘存储的整体布局是什么？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4596CF-F270-E947-9AF8-742659073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12FA7-40A3-C744-81DC-E252AD648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D82C277-C85A-2B4B-8549-7592F2526E6C}"/>
              </a:ext>
            </a:extLst>
          </p:cNvPr>
          <p:cNvSpPr txBox="1">
            <a:spLocks/>
          </p:cNvSpPr>
          <p:nvPr/>
        </p:nvSpPr>
        <p:spPr>
          <a:xfrm>
            <a:off x="4531568" y="2713484"/>
            <a:ext cx="4452428" cy="20162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如何根据文件名查找到一个文件？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如何读取一个文件？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如何为一个文件分配新的磁盘空间？</a:t>
            </a:r>
          </a:p>
          <a:p>
            <a:pPr marL="457200" indent="-457200">
              <a:buFont typeface="+mj-lt"/>
              <a:buAutoNum type="arabicPeriod"/>
            </a:pPr>
            <a:r>
              <a:rPr lang="zh-CN" altLang="en-US" sz="1800" b="0" dirty="0"/>
              <a:t>如何挂载一个文件系统？</a:t>
            </a:r>
          </a:p>
        </p:txBody>
      </p:sp>
    </p:spTree>
    <p:extLst>
      <p:ext uri="{BB962C8B-B14F-4D97-AF65-F5344CB8AC3E}">
        <p14:creationId xmlns:p14="http://schemas.microsoft.com/office/powerpoint/2010/main" val="2371527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文件</a:t>
            </a:r>
            <a:r>
              <a:rPr lang="zh-CN" altLang="en-US" dirty="0"/>
              <a:t>的查找</a:t>
            </a:r>
            <a:endParaRPr lang="en-C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617DBCD-1E7C-DE40-A7B8-8C4B85C3F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  <a:p>
            <a:r>
              <a:rPr lang="zh-CN" altLang="en-US" b="0" dirty="0"/>
              <a:t>从根目录开始，在各级目录中逐层找下一级</a:t>
            </a:r>
            <a:endParaRPr lang="en-US" altLang="zh-CN" b="0" dirty="0"/>
          </a:p>
          <a:p>
            <a:pPr lvl="1"/>
            <a:r>
              <a:rPr lang="zh-CN" altLang="en-US" dirty="0"/>
              <a:t>在“</a:t>
            </a:r>
            <a:r>
              <a:rPr lang="en-US" altLang="zh-CN" dirty="0"/>
              <a:t>/</a:t>
            </a:r>
            <a:r>
              <a:rPr lang="zh-CN" altLang="en-US" dirty="0"/>
              <a:t>”中找“</a:t>
            </a:r>
            <a:r>
              <a:rPr lang="en-US" altLang="zh-CN" dirty="0"/>
              <a:t>OS</a:t>
            </a:r>
            <a:r>
              <a:rPr lang="zh-CN" altLang="en-US" dirty="0"/>
              <a:t>”文件（目录文件）</a:t>
            </a:r>
            <a:endParaRPr lang="en-US" altLang="zh-CN" dirty="0"/>
          </a:p>
          <a:p>
            <a:pPr lvl="1"/>
            <a:r>
              <a:rPr lang="zh-CN" altLang="en-US" dirty="0"/>
              <a:t>在“</a:t>
            </a:r>
            <a:r>
              <a:rPr lang="en-US" altLang="zh-CN" dirty="0"/>
              <a:t>/OS</a:t>
            </a:r>
            <a:r>
              <a:rPr lang="zh-CN" altLang="en-US" dirty="0"/>
              <a:t>”中找“其他”文件（目录文件）</a:t>
            </a:r>
            <a:endParaRPr lang="en-US" altLang="zh-CN" dirty="0"/>
          </a:p>
          <a:p>
            <a:pPr lvl="1"/>
            <a:r>
              <a:rPr lang="zh-CN" altLang="en-US" b="0" dirty="0"/>
              <a:t>在“</a:t>
            </a:r>
            <a:r>
              <a:rPr lang="en-US" altLang="zh-CN" b="0" dirty="0"/>
              <a:t>/OS/</a:t>
            </a:r>
            <a:r>
              <a:rPr lang="zh-CN" altLang="en-US" b="0" dirty="0"/>
              <a:t>其他”中找“算法笔记”</a:t>
            </a:r>
            <a:r>
              <a:rPr lang="zh-CN" altLang="en-US" dirty="0"/>
              <a:t>文件</a:t>
            </a:r>
            <a:endParaRPr lang="en-US" altLang="zh-CN" b="0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0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B8964FF-FF6A-7E47-93FF-7AE1F0AAADF3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2C4FDFC-1EF6-3C43-8650-E376247FECCC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2D881D8-F418-7E48-BFB7-51C8D3AE8163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C24A775-548A-D14A-8A8E-A7C26A355A6B}"/>
                </a:ext>
              </a:extLst>
            </p:cNvPr>
            <p:cNvCxnSpPr>
              <a:cxnSpLocks/>
              <a:stCxn id="34" idx="4"/>
              <a:endCxn id="10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58C5F5C-4EA2-8947-AA6F-3EECF2B15BB3}"/>
                </a:ext>
              </a:extLst>
            </p:cNvPr>
            <p:cNvCxnSpPr>
              <a:cxnSpLocks/>
              <a:stCxn id="32" idx="5"/>
              <a:endCxn id="11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741187B-EC77-4648-BFC4-6D876346169F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A548AA-C93A-DC43-A8DE-FFB9D5749DB2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ED0353-5020-3C40-B744-0E02B77C5185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DCA4AE8-5ADC-CB48-BC03-037A9A9A4279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383051-20F5-6D4A-8FE3-B6D829AB2193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3498EB3-2AE3-6742-9845-C72F3C998AC8}"/>
                </a:ext>
              </a:extLst>
            </p:cNvPr>
            <p:cNvCxnSpPr>
              <a:cxnSpLocks/>
              <a:stCxn id="33" idx="4"/>
              <a:endCxn id="18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0566F71-834E-394D-BF90-314FA053FFE3}"/>
                </a:ext>
              </a:extLst>
            </p:cNvPr>
            <p:cNvCxnSpPr>
              <a:cxnSpLocks/>
              <a:stCxn id="33" idx="5"/>
              <a:endCxn id="19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09935DC-9146-D548-B1E3-3DB9A08B7A75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5DFA287-CC48-534A-A5BD-80CF5D64FAB5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218CA9D-46E2-1D4B-B55C-CC1BBF2A637F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2C0802-6BA8-5F4C-ACF7-427DAC2EA5E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9F03EC5-DBBA-AB47-B0B8-8EEB426264F2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F0335F1-5F93-4745-89CF-6AF8AF0C6B0E}"/>
                </a:ext>
              </a:extLst>
            </p:cNvPr>
            <p:cNvCxnSpPr>
              <a:cxnSpLocks/>
              <a:stCxn id="32" idx="4"/>
              <a:endCxn id="34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AEB9D64-E4A6-6F49-A938-52B4659D1F8D}"/>
                </a:ext>
              </a:extLst>
            </p:cNvPr>
            <p:cNvCxnSpPr>
              <a:cxnSpLocks/>
              <a:stCxn id="32" idx="3"/>
              <a:endCxn id="33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2CD02E7-A170-CA48-BB52-A84737FEFE71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CCD8BF-E8AD-2F4C-B383-51C8618C368C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818B430-E8E2-284D-9BDA-32FABF8D0FF4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17580B6-F8E1-0846-87B1-E7C86F24C8B3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FC0BEE1-EB93-0144-BD37-351472863FF5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35" name="Curved Connector 34">
              <a:extLst>
                <a:ext uri="{FF2B5EF4-FFF2-40B4-BE49-F238E27FC236}">
                  <a16:creationId xmlns:a16="http://schemas.microsoft.com/office/drawing/2014/main" id="{9286E4F3-49C7-754F-B057-C0019C3CADEF}"/>
                </a:ext>
              </a:extLst>
            </p:cNvPr>
            <p:cNvCxnSpPr>
              <a:stCxn id="19" idx="4"/>
              <a:endCxn id="34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80F925-C659-414E-92DA-C95325A8DE01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018642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6417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从根目录开始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>
            <a:off x="536460" y="2574354"/>
            <a:ext cx="2449744" cy="26179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2986204" y="2705250"/>
            <a:ext cx="1988381" cy="14010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4652586" y="953625"/>
            <a:ext cx="2527767" cy="7452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OS/</a:t>
            </a:r>
            <a:r>
              <a:rPr lang="zh-CN" altLang="en-US" dirty="0"/>
              <a:t>其他</a:t>
            </a:r>
            <a:r>
              <a:rPr lang="en-US" altLang="zh-CN" dirty="0"/>
              <a:t>/</a:t>
            </a:r>
            <a:r>
              <a:rPr lang="zh-CN" altLang="en-US" dirty="0"/>
              <a:t>算法笔记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endParaRPr lang="en-CN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1B18AF8-80D4-5A47-B6E1-044835F6C981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96E5536E-5643-7C48-A970-14E9D201A332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F4840B62-CCBF-3D4B-B48B-9B929C5A8661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FBF039D1-FF87-B945-8803-9C8FF57FC91A}"/>
                </a:ext>
              </a:extLst>
            </p:cNvPr>
            <p:cNvCxnSpPr>
              <a:cxnSpLocks/>
              <a:stCxn id="84" idx="4"/>
              <a:endCxn id="62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7E02DEA-8EF3-454B-845C-EB266F8135EB}"/>
                </a:ext>
              </a:extLst>
            </p:cNvPr>
            <p:cNvCxnSpPr>
              <a:cxnSpLocks/>
              <a:stCxn id="82" idx="5"/>
              <a:endCxn id="63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D388BD4-FD12-7E49-9F5C-DB7DB02BC979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52655F1-6A2E-734C-92B0-BB2BB8B7CBFA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5A05497-AF7C-9D41-9246-072DC4767F08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5A6B186-ED2F-1540-A8BB-82A09890F76D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A71EF1B-027C-5B44-B1B4-E59E4678DEC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4460A895-F013-4C44-8557-04EC03025B14}"/>
                </a:ext>
              </a:extLst>
            </p:cNvPr>
            <p:cNvCxnSpPr>
              <a:cxnSpLocks/>
              <a:stCxn id="83" idx="4"/>
              <a:endCxn id="69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7D46EE85-15FF-D94D-A8D5-83AB0D359769}"/>
                </a:ext>
              </a:extLst>
            </p:cNvPr>
            <p:cNvCxnSpPr>
              <a:cxnSpLocks/>
              <a:stCxn id="83" idx="5"/>
              <a:endCxn id="70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1C45A2A-B8B3-8247-BECC-6AA11479C66D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EDAE795-0940-D543-ADB4-AD2DF67E5ABF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362949A-776F-5B4A-B1D4-5F8CA19B3F46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12F688C-77D5-964C-9C3B-7612FB92D497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3C694C6-8B1A-9A42-86AF-583C9A063963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808524B3-750E-B74B-AA9E-3B2AF48490B5}"/>
                </a:ext>
              </a:extLst>
            </p:cNvPr>
            <p:cNvCxnSpPr>
              <a:cxnSpLocks/>
              <a:stCxn id="82" idx="4"/>
              <a:endCxn id="84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E9748F30-5D71-F549-95E5-E3D4503902B8}"/>
                </a:ext>
              </a:extLst>
            </p:cNvPr>
            <p:cNvCxnSpPr>
              <a:cxnSpLocks/>
              <a:stCxn id="82" idx="3"/>
              <a:endCxn id="83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18596F6-B8FE-D54F-8461-A31A3C649474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ABA9347-843B-7749-BBEB-72B6D247E90E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AD3135F9-F949-C84E-9E89-48CB25029F27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0D851DCF-9B71-F942-BA3E-3D3A4190ED80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664FEFD-22E4-3C41-A168-77CC081CCCB9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85" name="Curved Connector 84">
              <a:extLst>
                <a:ext uri="{FF2B5EF4-FFF2-40B4-BE49-F238E27FC236}">
                  <a16:creationId xmlns:a16="http://schemas.microsoft.com/office/drawing/2014/main" id="{E1ADDB77-BF72-A145-A17C-74380F88A24F}"/>
                </a:ext>
              </a:extLst>
            </p:cNvPr>
            <p:cNvCxnSpPr>
              <a:stCxn id="70" idx="4"/>
              <a:endCxn id="84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8A9212C6-449D-A040-B77D-E624557050B9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67567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获取下一级文件名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>
            <a:off x="755576" y="3282069"/>
            <a:ext cx="3384376" cy="26179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4139952" y="3412965"/>
            <a:ext cx="834633" cy="69334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4652586" y="953625"/>
            <a:ext cx="2527767" cy="7452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r>
              <a:rPr lang="zh-CN" altLang="en-US" dirty="0"/>
              <a:t> 其他</a:t>
            </a:r>
            <a:r>
              <a:rPr lang="en-US" altLang="zh-CN" dirty="0"/>
              <a:t>/</a:t>
            </a:r>
            <a:r>
              <a:rPr lang="zh-CN" altLang="en-US" dirty="0"/>
              <a:t>算法笔记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endParaRPr lang="en-CN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DB259ED-634C-8841-A564-6D7ACFA6C832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E182DE8-CB84-B747-860E-2231C906E1B6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47BE306-0443-6040-8E6C-C0FC4C7A8AC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BE79FEDD-B2BA-C44A-9F74-603D96B388AA}"/>
                </a:ext>
              </a:extLst>
            </p:cNvPr>
            <p:cNvCxnSpPr>
              <a:cxnSpLocks/>
              <a:stCxn id="69" idx="4"/>
              <a:endCxn id="45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94ED235-6EEF-3145-8879-0B4C5B55C2D4}"/>
                </a:ext>
              </a:extLst>
            </p:cNvPr>
            <p:cNvCxnSpPr>
              <a:cxnSpLocks/>
              <a:stCxn id="67" idx="5"/>
              <a:endCxn id="46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F3D2E97-F21E-074D-9F28-009CD2AFD22F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8A1EE31-8099-464E-ADD8-A5B26F7EFACC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CCCDF0D-785B-F34C-885D-D4025E60FE66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0778952-588B-A844-B547-364D5FE9BC54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79E78DF-A4AB-9F47-9975-093ADBE10A97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7B8903F-5D18-EF42-A59C-F30585349E49}"/>
                </a:ext>
              </a:extLst>
            </p:cNvPr>
            <p:cNvCxnSpPr>
              <a:cxnSpLocks/>
              <a:stCxn id="68" idx="4"/>
              <a:endCxn id="53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CA9FE2A-54B8-354E-8CD1-E3D90288F82F}"/>
                </a:ext>
              </a:extLst>
            </p:cNvPr>
            <p:cNvCxnSpPr>
              <a:cxnSpLocks/>
              <a:stCxn id="68" idx="5"/>
              <a:endCxn id="54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5BD47F4-3B97-324B-A4F4-14372B7CD5B1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F9D8353-9C4E-F14F-9808-8967BE3C4166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9F6AF53-869D-EB47-86CE-F5C003FE9A3E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9AFEE63-E591-6949-BBD1-BA51EC35C94D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6F16A4A-36BA-0148-B2AA-ADA26A7F6B0C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3ABB2FE-37CB-BB43-897E-673E8048FD57}"/>
                </a:ext>
              </a:extLst>
            </p:cNvPr>
            <p:cNvCxnSpPr>
              <a:cxnSpLocks/>
              <a:stCxn id="67" idx="4"/>
              <a:endCxn id="69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4E12274-7F18-3040-B530-79BBFC85A66A}"/>
                </a:ext>
              </a:extLst>
            </p:cNvPr>
            <p:cNvCxnSpPr>
              <a:cxnSpLocks/>
              <a:stCxn id="67" idx="3"/>
              <a:endCxn id="68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4C78205-F06B-2E46-8521-3AF595DAAF57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FADDB86-A109-E14D-93E8-C50CAF9B9ADE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B2F5581-59AA-1245-8A0D-3645661AD98D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5D27D04-D784-8F48-BF9B-68D558D979AA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E340CCDD-1DD1-DD46-8B20-3545B8DBDF77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0" name="Curved Connector 69">
              <a:extLst>
                <a:ext uri="{FF2B5EF4-FFF2-40B4-BE49-F238E27FC236}">
                  <a16:creationId xmlns:a16="http://schemas.microsoft.com/office/drawing/2014/main" id="{7101D8CB-4BFD-5F49-B316-2F9A0752F3E0}"/>
                </a:ext>
              </a:extLst>
            </p:cNvPr>
            <p:cNvCxnSpPr>
              <a:stCxn id="54" idx="4"/>
              <a:endCxn id="69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318FADF-FE90-A14F-8E8A-EA477141A971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45749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在目录中查找文件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>
            <a:off x="683568" y="3488315"/>
            <a:ext cx="3384376" cy="26179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4067944" y="3619211"/>
            <a:ext cx="906641" cy="48709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1571553" cy="4399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r>
              <a:rPr lang="zh-CN" altLang="en-US" dirty="0"/>
              <a:t> 其他</a:t>
            </a:r>
            <a:r>
              <a:rPr lang="en-US" altLang="zh-CN" dirty="0"/>
              <a:t>/</a:t>
            </a:r>
            <a:r>
              <a:rPr lang="zh-CN" altLang="en-US" dirty="0"/>
              <a:t>算法笔记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endParaRPr lang="en-CN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40331E9-1618-3240-A0A8-B1C34F83B8A8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52F2AD9-9E1B-CA47-A00F-419C75F3A383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70B8CE6-292F-0D43-8277-9E4E8139AA5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CCA8B30-3127-9C42-98C1-79C334ECB201}"/>
                </a:ext>
              </a:extLst>
            </p:cNvPr>
            <p:cNvCxnSpPr>
              <a:cxnSpLocks/>
              <a:stCxn id="69" idx="4"/>
              <a:endCxn id="45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D830FE3C-5EF6-5342-B630-5A98A37EDF39}"/>
                </a:ext>
              </a:extLst>
            </p:cNvPr>
            <p:cNvCxnSpPr>
              <a:cxnSpLocks/>
              <a:stCxn id="67" idx="5"/>
              <a:endCxn id="46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7EF0D8E-9F4E-7B47-9E87-F86ED59FAD17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9B207EF-E1CF-FE4E-BDB9-318891D7643B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1D5A98D-269F-3541-8703-A648D777D5EC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E23D714-5C70-504B-AB63-D5C529555D83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6E63575-CE3A-A041-ADE6-A63575F3DD47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AD9CCE7-8545-5840-B153-970217CE3A83}"/>
                </a:ext>
              </a:extLst>
            </p:cNvPr>
            <p:cNvCxnSpPr>
              <a:cxnSpLocks/>
              <a:stCxn id="68" idx="4"/>
              <a:endCxn id="53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D216AF2-F33E-F448-B5AA-ED9A307BE7F8}"/>
                </a:ext>
              </a:extLst>
            </p:cNvPr>
            <p:cNvCxnSpPr>
              <a:cxnSpLocks/>
              <a:stCxn id="68" idx="5"/>
              <a:endCxn id="54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311A418-859E-7F46-B7BF-793A3EB1BB93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EFC520D-CDC0-7C4A-825C-F04320AF1323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A497664-C89D-E44D-B46B-61A76AB63EB6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49AE472-E279-8C4A-8EA3-187C1C0E89A3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842D84D-5E0F-B641-997C-E062AD5B7B80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6EB3784-D77F-8F48-AE3F-92E35D5B173F}"/>
                </a:ext>
              </a:extLst>
            </p:cNvPr>
            <p:cNvCxnSpPr>
              <a:cxnSpLocks/>
              <a:stCxn id="67" idx="4"/>
              <a:endCxn id="69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8020610F-3D3A-ED41-8E25-9D3674DCF368}"/>
                </a:ext>
              </a:extLst>
            </p:cNvPr>
            <p:cNvCxnSpPr>
              <a:cxnSpLocks/>
              <a:stCxn id="67" idx="3"/>
              <a:endCxn id="68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498AD4F-1BBE-1B4E-AEA0-D48B6BDA5E61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62F7B72-9420-0244-B59C-3ECAFD4BAAB5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6D2947F-AD82-D347-B46F-DA55CBDCEC1B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925D022-1FD3-8F4B-83AB-E7885AA2C808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3826A9B-42F2-AD45-B3CB-9A8670666422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0" name="Curved Connector 69">
              <a:extLst>
                <a:ext uri="{FF2B5EF4-FFF2-40B4-BE49-F238E27FC236}">
                  <a16:creationId xmlns:a16="http://schemas.microsoft.com/office/drawing/2014/main" id="{00372246-4967-2D46-BF67-28B1789B364A}"/>
                </a:ext>
              </a:extLst>
            </p:cNvPr>
            <p:cNvCxnSpPr>
              <a:stCxn id="54" idx="4"/>
              <a:endCxn id="69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5023BBE-3EF8-FB4A-BF77-B6B8AB4CE7E6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81214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检查符号链接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 flipV="1">
            <a:off x="683568" y="3865611"/>
            <a:ext cx="3384376" cy="5760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>
            <a:off x="4067944" y="4106305"/>
            <a:ext cx="906641" cy="4733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1571553" cy="4399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r>
              <a:rPr lang="zh-CN" altLang="en-US" dirty="0"/>
              <a:t> 其他</a:t>
            </a:r>
            <a:r>
              <a:rPr lang="en-US" altLang="zh-CN" dirty="0"/>
              <a:t>/</a:t>
            </a:r>
            <a:r>
              <a:rPr lang="zh-CN" altLang="en-US" dirty="0"/>
              <a:t>算法笔记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endParaRPr lang="en-CN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85EC9C1-75B8-184D-B9C4-723B3E908702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1EFEDD7-99BF-6640-8D49-72C31A986FD4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5378B1C-04B1-2745-A7A6-9958F87642B8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F72CACE-7E46-B64F-A887-A608D0CEF255}"/>
                </a:ext>
              </a:extLst>
            </p:cNvPr>
            <p:cNvCxnSpPr>
              <a:cxnSpLocks/>
              <a:stCxn id="69" idx="4"/>
              <a:endCxn id="45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E3AE5C2-D470-2E4F-B62F-AD3375501871}"/>
                </a:ext>
              </a:extLst>
            </p:cNvPr>
            <p:cNvCxnSpPr>
              <a:cxnSpLocks/>
              <a:stCxn id="67" idx="5"/>
              <a:endCxn id="46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17D3B11-E97C-9046-83D7-483D728171AF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26502E1-5379-2542-B85C-3DE62A6175EB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730DF31-825A-5542-B121-EDC2153EB1AB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D44E813-E364-CC4F-AE63-BA86DB4B2707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4E286E4-B3E9-A84A-943F-2B1B96F88AB0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F73429E8-B9FD-DA4C-A41D-18AEF674BE09}"/>
                </a:ext>
              </a:extLst>
            </p:cNvPr>
            <p:cNvCxnSpPr>
              <a:cxnSpLocks/>
              <a:stCxn id="68" idx="4"/>
              <a:endCxn id="53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85AC019-118C-5147-A030-0C6D2FFF858F}"/>
                </a:ext>
              </a:extLst>
            </p:cNvPr>
            <p:cNvCxnSpPr>
              <a:cxnSpLocks/>
              <a:stCxn id="68" idx="5"/>
              <a:endCxn id="54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525CBEC-0F2F-7447-A4E5-0C6FA4D40C61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3635007-254F-8643-941A-620315C3ECF9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C232A00-B6AD-1646-AA6C-D46B9A251BB0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408689C-0CEA-664E-8749-A8A908FACE02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54F86F6-F2DB-1F4B-ACAD-E3B0798C791E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2689A0B-1A8B-484A-9EAC-186E9195352D}"/>
                </a:ext>
              </a:extLst>
            </p:cNvPr>
            <p:cNvCxnSpPr>
              <a:cxnSpLocks/>
              <a:stCxn id="67" idx="4"/>
              <a:endCxn id="69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C7300F3-5FE9-D140-9557-4E70976BA635}"/>
                </a:ext>
              </a:extLst>
            </p:cNvPr>
            <p:cNvCxnSpPr>
              <a:cxnSpLocks/>
              <a:stCxn id="67" idx="3"/>
              <a:endCxn id="68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B063DB4-7519-1041-87B1-CFBEF54A36B7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AEBD9C4-0264-0945-AED3-8CA549D0EA80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E6F54001-7D86-0B49-9CBD-43F4ED4CDB3E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0BB6516-A548-E04D-8947-557F9DF0B6BB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5994215-7300-F040-85C8-C262EA925F02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0" name="Curved Connector 69">
              <a:extLst>
                <a:ext uri="{FF2B5EF4-FFF2-40B4-BE49-F238E27FC236}">
                  <a16:creationId xmlns:a16="http://schemas.microsoft.com/office/drawing/2014/main" id="{F7AD8418-E2EE-D943-8763-E0BE39AFE7F5}"/>
                </a:ext>
              </a:extLst>
            </p:cNvPr>
            <p:cNvCxnSpPr>
              <a:stCxn id="54" idx="4"/>
              <a:endCxn id="69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05E67AE-1083-EA4F-942D-5408572C40F2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06597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检查剩余路径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>
            <a:off x="550259" y="2936055"/>
            <a:ext cx="3661701" cy="27879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4211960" y="3075451"/>
            <a:ext cx="762625" cy="10308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1571553" cy="4399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r>
              <a:rPr lang="zh-CN" altLang="en-US" dirty="0"/>
              <a:t> 其他</a:t>
            </a:r>
            <a:r>
              <a:rPr lang="en-US" altLang="zh-CN" dirty="0"/>
              <a:t>/</a:t>
            </a:r>
            <a:r>
              <a:rPr lang="zh-CN" altLang="en-US" dirty="0"/>
              <a:t>算法笔记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endParaRPr lang="en-CN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55BC9AE-A2C8-AC4D-AC78-C58DAF4A9709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7C403EB-D2DF-A44C-A44E-91A0EC2C3B52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FB30FAF-5422-D344-8061-7A066E6F985E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97C1A76-2152-BB47-91AE-ADC8362BF8AE}"/>
                </a:ext>
              </a:extLst>
            </p:cNvPr>
            <p:cNvCxnSpPr>
              <a:cxnSpLocks/>
              <a:stCxn id="71" idx="4"/>
              <a:endCxn id="47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71CEFC0-E3E0-C640-BDD4-82624A267DEB}"/>
                </a:ext>
              </a:extLst>
            </p:cNvPr>
            <p:cNvCxnSpPr>
              <a:cxnSpLocks/>
              <a:stCxn id="69" idx="5"/>
              <a:endCxn id="49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47E3B17-6C63-5E4E-9799-86128CCBB70E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25C0FC8-8719-1648-B37A-A51BF1619398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A2015A6-3DC9-7E4E-BC99-D82D3E85830F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6FE58E9-3F33-FE47-B33E-603B32A6CD28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4BCAB4CF-4646-1447-AF21-8CBBBCA22EFD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855EC2A-C465-9741-8656-7DBA8FD0C701}"/>
                </a:ext>
              </a:extLst>
            </p:cNvPr>
            <p:cNvCxnSpPr>
              <a:cxnSpLocks/>
              <a:stCxn id="70" idx="4"/>
              <a:endCxn id="55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DBD01AE5-80E6-C74D-A634-EE4C360AA6EA}"/>
                </a:ext>
              </a:extLst>
            </p:cNvPr>
            <p:cNvCxnSpPr>
              <a:cxnSpLocks/>
              <a:stCxn id="70" idx="5"/>
              <a:endCxn id="56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9CF4F6A-AB91-F749-80B9-D220AE64EC28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E049B32-DC74-7444-8A2A-C2626D83FE65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D087F2A-8033-DC4B-9CF1-649D3828C198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98B4BE9-E10C-CD46-9BC2-F023FBE00DAD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3D53C6F-C7D0-C74A-986D-FD714539B162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BC94C8A5-942E-C645-8859-F24DA7D47FDA}"/>
                </a:ext>
              </a:extLst>
            </p:cNvPr>
            <p:cNvCxnSpPr>
              <a:cxnSpLocks/>
              <a:stCxn id="69" idx="4"/>
              <a:endCxn id="71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A764668-6735-FC44-9EEF-B3FE62FF5F7B}"/>
                </a:ext>
              </a:extLst>
            </p:cNvPr>
            <p:cNvCxnSpPr>
              <a:cxnSpLocks/>
              <a:stCxn id="69" idx="3"/>
              <a:endCxn id="70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C7CBBB4-54A5-4547-8300-4D907B850C79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32126BB-2E18-8546-AE4D-26AEC33B2A44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5F36F39-49A5-D24A-9FD7-CEB60628D15C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1C7358F-E5CE-CD48-94EA-299C42832942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666BA32-787D-0A4B-870D-824D076114B6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2" name="Curved Connector 71">
              <a:extLst>
                <a:ext uri="{FF2B5EF4-FFF2-40B4-BE49-F238E27FC236}">
                  <a16:creationId xmlns:a16="http://schemas.microsoft.com/office/drawing/2014/main" id="{920B6921-F9AB-BC44-8DEE-A48E4A7FE395}"/>
                </a:ext>
              </a:extLst>
            </p:cNvPr>
            <p:cNvCxnSpPr>
              <a:stCxn id="56" idx="4"/>
              <a:endCxn id="71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CFF5935-7CDB-9B43-90FA-8D6CB24BD233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90646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获取下一级文件名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>
            <a:off x="755576" y="3314767"/>
            <a:ext cx="3445875" cy="19080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4201451" y="3410170"/>
            <a:ext cx="773134" cy="6961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1571553" cy="4399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r>
              <a:rPr lang="zh-CN" altLang="en-US" dirty="0"/>
              <a:t> 算法笔记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r>
              <a:rPr lang="zh-CN" altLang="en-US" dirty="0"/>
              <a:t> 其他</a:t>
            </a:r>
            <a:endParaRPr lang="en-CN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1BAE138-8C68-A341-AE26-0F3D13559756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580648F-FF47-BB46-9EA3-0DE88D8D5CC0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704C35E-7C2E-904F-97DC-F44C2C75D289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78EBE7C-DBEE-D440-B826-7113B8C048AC}"/>
                </a:ext>
              </a:extLst>
            </p:cNvPr>
            <p:cNvCxnSpPr>
              <a:cxnSpLocks/>
              <a:stCxn id="70" idx="4"/>
              <a:endCxn id="46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5CBF5104-BE1E-6946-ACA5-FE3E8E147C09}"/>
                </a:ext>
              </a:extLst>
            </p:cNvPr>
            <p:cNvCxnSpPr>
              <a:cxnSpLocks/>
              <a:stCxn id="68" idx="5"/>
              <a:endCxn id="47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4F3367C-3058-634C-942E-2FF234F08910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1725F98-0191-5949-B404-933CD19D47FF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7A6B2D2-6195-5F4B-9557-1B035A5EE6C8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9B6C71E-EF42-084A-8852-D5AEAA4AD3AA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7C9E7E6-E941-244A-A63A-1D6C0144A842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E64CB62-35D3-BE4F-82AF-B6E4FBD6920A}"/>
                </a:ext>
              </a:extLst>
            </p:cNvPr>
            <p:cNvCxnSpPr>
              <a:cxnSpLocks/>
              <a:stCxn id="69" idx="4"/>
              <a:endCxn id="54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0EC1305-5C21-0146-8B15-C99B74A26CF5}"/>
                </a:ext>
              </a:extLst>
            </p:cNvPr>
            <p:cNvCxnSpPr>
              <a:cxnSpLocks/>
              <a:stCxn id="69" idx="5"/>
              <a:endCxn id="55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77DED83-960B-5D4C-BAE8-BB6947906F43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6EEA8D8-2FC7-E448-881F-EC56D48A9674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67BC460-A744-9247-8768-F09E7BBD3655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673A677-056A-D04F-8E65-A5D97FA9020B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2A3329F-9CAB-D64C-8CC8-E2FD9BF69ECA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374121F-9465-C141-B446-14DBDB44689D}"/>
                </a:ext>
              </a:extLst>
            </p:cNvPr>
            <p:cNvCxnSpPr>
              <a:cxnSpLocks/>
              <a:stCxn id="68" idx="4"/>
              <a:endCxn id="70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A55A0AC-B6A4-874D-B6DF-1B2AF376CD15}"/>
                </a:ext>
              </a:extLst>
            </p:cNvPr>
            <p:cNvCxnSpPr>
              <a:cxnSpLocks/>
              <a:stCxn id="68" idx="3"/>
              <a:endCxn id="69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16FD9F1-92EA-F44A-B1CF-0C7EE2320F65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16C3C49-734E-0343-B608-288BAA0CE2A5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1FA8F4CB-C7D8-A94D-9A40-2E5C03186622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5F0CE7BF-7ED3-A94F-80CD-2B0369D9EDF8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16F0047B-0746-4C40-88A3-B2FCA7AA9A23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1" name="Curved Connector 70">
              <a:extLst>
                <a:ext uri="{FF2B5EF4-FFF2-40B4-BE49-F238E27FC236}">
                  <a16:creationId xmlns:a16="http://schemas.microsoft.com/office/drawing/2014/main" id="{FBE0ECCF-2664-A444-BCE9-3C69B6A4B9DB}"/>
                </a:ext>
              </a:extLst>
            </p:cNvPr>
            <p:cNvCxnSpPr>
              <a:stCxn id="55" idx="4"/>
              <a:endCxn id="70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9C01197-0D3B-2841-9224-2E163935F818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29316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在目录中查找文件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 flipV="1">
            <a:off x="755576" y="3505572"/>
            <a:ext cx="3445875" cy="20268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4201451" y="3606916"/>
            <a:ext cx="773134" cy="4993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2286822" cy="13284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r>
              <a:rPr lang="zh-CN" altLang="en-US" dirty="0"/>
              <a:t> 算法笔记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r>
              <a:rPr lang="zh-CN" altLang="en-US" dirty="0"/>
              <a:t> 其他</a:t>
            </a:r>
            <a:endParaRPr lang="en-CN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0967EFF-9823-174D-95B3-6AC7D30E5430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2B76E5B-5371-1944-B123-39322F33A688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ED3CB9F-42D4-3F45-A13F-2E6C4C602C3D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AE93EA4-1D03-CA4E-8779-8858C33A6225}"/>
                </a:ext>
              </a:extLst>
            </p:cNvPr>
            <p:cNvCxnSpPr>
              <a:cxnSpLocks/>
              <a:stCxn id="69" idx="4"/>
              <a:endCxn id="45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736D21A-37F1-9E45-8299-B64686E2B38F}"/>
                </a:ext>
              </a:extLst>
            </p:cNvPr>
            <p:cNvCxnSpPr>
              <a:cxnSpLocks/>
              <a:stCxn id="67" idx="5"/>
              <a:endCxn id="46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DD388F7-ADDC-C649-851D-9D0DE887401B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B8D2710-7B03-7E41-898F-2CF7ADEA3E17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36DC5C7-1991-AA4A-9CDE-FD6A506B0DFB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85A5728-625E-2D4A-9C4C-C58CF64E9529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9FC1F3A-FAE2-1043-A1D5-B584232E5C10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21160A5-85F4-2C4A-B6CA-FAF837FA077D}"/>
                </a:ext>
              </a:extLst>
            </p:cNvPr>
            <p:cNvCxnSpPr>
              <a:cxnSpLocks/>
              <a:stCxn id="68" idx="4"/>
              <a:endCxn id="53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08F07A9-B994-7347-AB51-0C121949C5B9}"/>
                </a:ext>
              </a:extLst>
            </p:cNvPr>
            <p:cNvCxnSpPr>
              <a:cxnSpLocks/>
              <a:stCxn id="68" idx="5"/>
              <a:endCxn id="54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8104F57-57F0-8E49-A2C9-B381EAA124BE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3947E15-D5FD-5E4C-8093-9516697F4BDD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7FCA6E7-96BB-DF42-A4F7-ED906793B04C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D365B21-A283-AC4C-8AD7-64CE9867ABCF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641864B-2FCC-6B44-873B-88F58F3DECA4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15C2994B-52DD-9E4F-8722-506A45B5FFF8}"/>
                </a:ext>
              </a:extLst>
            </p:cNvPr>
            <p:cNvCxnSpPr>
              <a:cxnSpLocks/>
              <a:stCxn id="67" idx="4"/>
              <a:endCxn id="69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720C459-BC0C-3446-8DF5-5AC8AD6AD122}"/>
                </a:ext>
              </a:extLst>
            </p:cNvPr>
            <p:cNvCxnSpPr>
              <a:cxnSpLocks/>
              <a:stCxn id="67" idx="3"/>
              <a:endCxn id="68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31350C9-6EBF-9E4E-8180-01B8379DAB89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9458923-35CA-3D4A-A114-35468DEBFC59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76054CF-FFC4-4345-9AFB-CDE9CCE1CE81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8C7B5BC-B5FA-D243-83BA-2FC03E6690BC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4835702-772F-5E42-A9EA-1D2C419F1DF0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0" name="Curved Connector 69">
              <a:extLst>
                <a:ext uri="{FF2B5EF4-FFF2-40B4-BE49-F238E27FC236}">
                  <a16:creationId xmlns:a16="http://schemas.microsoft.com/office/drawing/2014/main" id="{64BCD804-45DB-674C-9493-FB2D09705D0C}"/>
                </a:ext>
              </a:extLst>
            </p:cNvPr>
            <p:cNvCxnSpPr>
              <a:stCxn id="54" idx="4"/>
              <a:endCxn id="69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D3EEB3D-1C47-FA4D-AB01-512A7579023D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91762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检查符号链接，并查找其目标路径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>
            <a:off x="755576" y="3865612"/>
            <a:ext cx="3445875" cy="5760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>
            <a:off x="4201451" y="4106305"/>
            <a:ext cx="773134" cy="473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2813946" cy="4535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r>
              <a:rPr lang="zh-CN" altLang="en-US" dirty="0"/>
              <a:t> 算法笔记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r>
              <a:rPr lang="zh-CN" altLang="en-US" dirty="0"/>
              <a:t> 其他</a:t>
            </a:r>
            <a:endParaRPr lang="en-CN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AA849FF-6099-BC43-9159-C696619974B6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26A13D1-88A1-2B4F-994A-46AB7A52086F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258391E-A268-6C42-9071-6F697E3749A8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A5C5521-562A-F449-8F8B-14B29E913667}"/>
                </a:ext>
              </a:extLst>
            </p:cNvPr>
            <p:cNvCxnSpPr>
              <a:cxnSpLocks/>
              <a:stCxn id="71" idx="4"/>
              <a:endCxn id="47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04B1FAE-3761-2B40-A557-E208A48BCCD7}"/>
                </a:ext>
              </a:extLst>
            </p:cNvPr>
            <p:cNvCxnSpPr>
              <a:cxnSpLocks/>
              <a:stCxn id="69" idx="5"/>
              <a:endCxn id="49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68DD954-6B94-D945-9B6D-99EBF0B2CEBE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D29D86E-2D85-034F-BD18-48C416E104F3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5134279-EE03-154C-8BE8-9B7C6DF1BE66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4C78951-9AFA-E84A-ABC1-2E5D9EC848B7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C2BB0F3-DB81-A44A-B0B3-03F65729F9A7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452BA6FE-0BDD-C04A-A9D4-D5DEB2C2341B}"/>
                </a:ext>
              </a:extLst>
            </p:cNvPr>
            <p:cNvCxnSpPr>
              <a:cxnSpLocks/>
              <a:stCxn id="70" idx="4"/>
              <a:endCxn id="55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E29EC346-F5FA-284B-ABAE-45752DFF54E0}"/>
                </a:ext>
              </a:extLst>
            </p:cNvPr>
            <p:cNvCxnSpPr>
              <a:cxnSpLocks/>
              <a:stCxn id="70" idx="5"/>
              <a:endCxn id="56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AF7977F-AD64-A747-A7F7-DDA403740CE9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FB5ADE5-B776-5D40-B821-2C8EE67D26A2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14D0655-4E80-9743-B7DC-3FD396790246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FA04DA-9396-6644-8F66-B350AC8719AB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E227F3E-ED60-1947-9809-76E360A276B8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CBC8F4F-3880-0A46-9DC2-CEE6F338FD1F}"/>
                </a:ext>
              </a:extLst>
            </p:cNvPr>
            <p:cNvCxnSpPr>
              <a:cxnSpLocks/>
              <a:stCxn id="69" idx="4"/>
              <a:endCxn id="71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49D61C7D-F7C0-D34B-92E9-00071EA96091}"/>
                </a:ext>
              </a:extLst>
            </p:cNvPr>
            <p:cNvCxnSpPr>
              <a:cxnSpLocks/>
              <a:stCxn id="69" idx="3"/>
              <a:endCxn id="70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7E8D6A9-69A7-6141-AD89-6BF2F917F4AC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8FEB080-2FDE-A34C-981A-410B5D1F54B1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CAAABA8-27A5-1140-B5BF-25EF6CB5349E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B5DE83E-071B-7844-8F3E-144EDE8FED1C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A9FAF3D-B966-5044-B5B1-A9093FBCDE7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2" name="Curved Connector 71">
              <a:extLst>
                <a:ext uri="{FF2B5EF4-FFF2-40B4-BE49-F238E27FC236}">
                  <a16:creationId xmlns:a16="http://schemas.microsoft.com/office/drawing/2014/main" id="{37BAB32F-9591-3540-B924-6A74162F700F}"/>
                </a:ext>
              </a:extLst>
            </p:cNvPr>
            <p:cNvCxnSpPr>
              <a:stCxn id="56" idx="4"/>
              <a:endCxn id="71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1DAE495-E170-454A-B699-C01EC266FDE5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39107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检查剩余路径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>
            <a:off x="550259" y="2936055"/>
            <a:ext cx="3661701" cy="27879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4211960" y="3075451"/>
            <a:ext cx="762625" cy="10308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2813946" cy="4535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r>
              <a:rPr lang="zh-CN" altLang="en-US" dirty="0"/>
              <a:t> 算法笔记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endParaRPr lang="en-CN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2388D6E-CF02-6540-A266-CAB9561597FE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54A4C4D-F4E8-5341-9355-59D6C56BD195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FC4B76A-0A86-E248-9485-7AE320E81A2C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2D9E141-0142-5C4D-A038-864B3E59DD2A}"/>
                </a:ext>
              </a:extLst>
            </p:cNvPr>
            <p:cNvCxnSpPr>
              <a:cxnSpLocks/>
              <a:stCxn id="68" idx="4"/>
              <a:endCxn id="4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0D7A3A0-9249-AD4C-A03F-15E126EAA9E6}"/>
                </a:ext>
              </a:extLst>
            </p:cNvPr>
            <p:cNvCxnSpPr>
              <a:cxnSpLocks/>
              <a:stCxn id="66" idx="5"/>
              <a:endCxn id="4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AB0D9ED-C64C-6B47-A1FC-95C1D9BCDF53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F1A7F93-42D8-1747-AAB1-A74CC8874739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A9825B9-9041-4044-B6D4-0C857FF144F4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CF2E9D8-4FA0-C043-B6BB-78C2E3AF190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77F0284-631E-FA45-85A0-547B39F15363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B19C0786-5712-6646-B883-C6CC0DEDF818}"/>
                </a:ext>
              </a:extLst>
            </p:cNvPr>
            <p:cNvCxnSpPr>
              <a:cxnSpLocks/>
              <a:stCxn id="67" idx="4"/>
              <a:endCxn id="5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EFA232C-7494-A049-B8A0-502C6A401624}"/>
                </a:ext>
              </a:extLst>
            </p:cNvPr>
            <p:cNvCxnSpPr>
              <a:cxnSpLocks/>
              <a:stCxn id="67" idx="5"/>
              <a:endCxn id="5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C09BFED-CC76-D643-87CE-ED625630A1DD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0040D34-4306-FF4C-9D69-A5F853B3DE40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B683875-4C09-B14D-9D37-CA9448281994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73B62AE-91DE-AF48-9DC3-1AE070A6074B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215C804-1504-4542-A5DF-40C5BAD3A739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F181245-FEC4-DD4F-9C4E-BCA6FB98EB94}"/>
                </a:ext>
              </a:extLst>
            </p:cNvPr>
            <p:cNvCxnSpPr>
              <a:cxnSpLocks/>
              <a:stCxn id="66" idx="4"/>
              <a:endCxn id="6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06E59151-F74D-3F47-9200-160D9CC40CA8}"/>
                </a:ext>
              </a:extLst>
            </p:cNvPr>
            <p:cNvCxnSpPr>
              <a:cxnSpLocks/>
              <a:stCxn id="66" idx="3"/>
              <a:endCxn id="6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B24F700-2EF4-FE41-8D42-10F721FF4591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2B7196B-72D8-9547-9831-CCA9EF66FC85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55E1AAF-0D21-5940-B6BD-D6295D66B837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34EF9ECB-58B5-1F47-BE11-8AE4ADEE66D2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5F708CF-42BF-4E48-9416-16882923E23E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69" name="Curved Connector 68">
              <a:extLst>
                <a:ext uri="{FF2B5EF4-FFF2-40B4-BE49-F238E27FC236}">
                  <a16:creationId xmlns:a16="http://schemas.microsoft.com/office/drawing/2014/main" id="{5E843E12-251D-9D49-A66F-80CBC9710EFE}"/>
                </a:ext>
              </a:extLst>
            </p:cNvPr>
            <p:cNvCxnSpPr>
              <a:stCxn id="53" idx="4"/>
              <a:endCxn id="68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1565310-68B1-9B46-9B7D-B6B12576C452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18368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获取下一级文件名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>
            <a:off x="755576" y="3314767"/>
            <a:ext cx="3445875" cy="190805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4201451" y="3410170"/>
            <a:ext cx="773134" cy="6961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2813946" cy="4535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r>
              <a:rPr lang="zh-CN" altLang="en-US" dirty="0"/>
              <a:t> 算法笔记</a:t>
            </a:r>
            <a:endParaRPr lang="en-CN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709D2D1-1D32-DE46-A16D-1CE4BF0430F7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23DAA72-6776-0840-9546-B9C51CA8EEB5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9D3B8E3-8640-D94E-8E12-3021B1E4B0DA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D2B6E1D3-CF95-6A48-B494-AB248E16AA4D}"/>
                </a:ext>
              </a:extLst>
            </p:cNvPr>
            <p:cNvCxnSpPr>
              <a:cxnSpLocks/>
              <a:stCxn id="68" idx="4"/>
              <a:endCxn id="4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71854D0-F730-BD4D-92FC-912E9C568EAF}"/>
                </a:ext>
              </a:extLst>
            </p:cNvPr>
            <p:cNvCxnSpPr>
              <a:cxnSpLocks/>
              <a:stCxn id="66" idx="5"/>
              <a:endCxn id="4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7DF219-4413-0542-8B2C-67CD3FDFA443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D123B77-9DA0-484C-8BFB-790EF1D3117D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546C43D-298C-BC40-B2EE-7AB4F44C6E44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4146066-FD07-8640-A1C1-B02A45F77E5B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2036DAE-A56A-6C4B-B157-AD9BC02742D3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87D4098-E359-FA4B-A6F5-C0E33710D262}"/>
                </a:ext>
              </a:extLst>
            </p:cNvPr>
            <p:cNvCxnSpPr>
              <a:cxnSpLocks/>
              <a:stCxn id="67" idx="4"/>
              <a:endCxn id="5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320F827-4D24-7549-A19E-FC2121DDB13E}"/>
                </a:ext>
              </a:extLst>
            </p:cNvPr>
            <p:cNvCxnSpPr>
              <a:cxnSpLocks/>
              <a:stCxn id="67" idx="5"/>
              <a:endCxn id="5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D622459-DF2B-A542-A73B-E957A455C024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B73294C-3429-8945-BD80-3F3FDD178277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C23AD47-E531-7F42-8E7E-BA40AC7295A2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019FECE-FCF7-F240-BEF8-8AD49F30AFBE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DA68563-C54B-0F4F-A111-8A964995317C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5B97D8C-B66D-E54A-872C-345020C49B51}"/>
                </a:ext>
              </a:extLst>
            </p:cNvPr>
            <p:cNvCxnSpPr>
              <a:cxnSpLocks/>
              <a:stCxn id="66" idx="4"/>
              <a:endCxn id="6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9561F20-11F5-D644-BF56-3CCFF7C5B4FE}"/>
                </a:ext>
              </a:extLst>
            </p:cNvPr>
            <p:cNvCxnSpPr>
              <a:cxnSpLocks/>
              <a:stCxn id="66" idx="3"/>
              <a:endCxn id="6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3559CA9-504F-0E49-B773-6EBB246FF281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5727A2A-BE7A-B245-8D3E-1A3B3582EE1F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3AFBFFF-2E41-3E49-B266-CCE9845251CE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80D4AE92-9CB3-AE45-A055-B66AB109BE19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F76AEBD-D029-F442-9841-5263F4FDFB40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69" name="Curved Connector 68">
              <a:extLst>
                <a:ext uri="{FF2B5EF4-FFF2-40B4-BE49-F238E27FC236}">
                  <a16:creationId xmlns:a16="http://schemas.microsoft.com/office/drawing/2014/main" id="{EDD2C761-06A1-2F45-9A12-B196F5F97551}"/>
                </a:ext>
              </a:extLst>
            </p:cNvPr>
            <p:cNvCxnSpPr>
              <a:stCxn id="53" idx="4"/>
              <a:endCxn id="68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60DF9A2-AF22-BB49-A765-BD9BF6C04D71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10837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在目录中查找文件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 flipV="1">
            <a:off x="755576" y="3505572"/>
            <a:ext cx="3445875" cy="20268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4201451" y="3606916"/>
            <a:ext cx="773134" cy="49938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3189422" cy="1308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r>
              <a:rPr lang="zh-CN" altLang="en-US" dirty="0"/>
              <a:t> 算法笔记</a:t>
            </a:r>
            <a:endParaRPr lang="en-CN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2FC818D-E4E3-8E43-A9CF-1932ECDF22E9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49FE941-8BB1-7F46-8749-7638597C603A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1D0DE52-AF31-8747-A126-05AE0D876D7C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A377336-3627-524B-9EDA-057B5A8D8491}"/>
                </a:ext>
              </a:extLst>
            </p:cNvPr>
            <p:cNvCxnSpPr>
              <a:cxnSpLocks/>
              <a:stCxn id="69" idx="4"/>
              <a:endCxn id="45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775CDB0-B931-B14E-BC14-65F97701C4B2}"/>
                </a:ext>
              </a:extLst>
            </p:cNvPr>
            <p:cNvCxnSpPr>
              <a:cxnSpLocks/>
              <a:stCxn id="67" idx="5"/>
              <a:endCxn id="46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9C8B7C1-9DDC-5346-85EE-EF036CE7D6F4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6C26DF4-BD23-884D-B4C2-4B9F83C6F81A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A2D437A-D8C5-7F42-BC9D-FE1162172ED0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3F0B763-1442-3B47-B57A-047A0F610CFF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E49DCC0-F9AB-D64B-91DE-BD0A23FC52CB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2800D8E-84D1-054C-8D8D-0DFF64FA68B1}"/>
                </a:ext>
              </a:extLst>
            </p:cNvPr>
            <p:cNvCxnSpPr>
              <a:cxnSpLocks/>
              <a:stCxn id="68" idx="4"/>
              <a:endCxn id="53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1C20A94-1B48-2942-940D-9E3961568C45}"/>
                </a:ext>
              </a:extLst>
            </p:cNvPr>
            <p:cNvCxnSpPr>
              <a:cxnSpLocks/>
              <a:stCxn id="68" idx="5"/>
              <a:endCxn id="54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747499D-83DD-BF4B-B9A0-85B98B506C5D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9B23884-B191-4E4E-9421-B9AA6D90296F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862C45-E616-A049-8337-5F0C005DEA6C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39AC3D8-2D09-B548-918A-76F2BECB7374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3AEF877-C50E-A742-BA31-1FDED63BB121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2FD5504-F94E-AA44-A0D1-EA93EBE8EEFB}"/>
                </a:ext>
              </a:extLst>
            </p:cNvPr>
            <p:cNvCxnSpPr>
              <a:cxnSpLocks/>
              <a:stCxn id="67" idx="4"/>
              <a:endCxn id="69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786A55B-2FCD-FB4E-8652-13B8F5E20904}"/>
                </a:ext>
              </a:extLst>
            </p:cNvPr>
            <p:cNvCxnSpPr>
              <a:cxnSpLocks/>
              <a:stCxn id="67" idx="3"/>
              <a:endCxn id="68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F8798AF-A622-3748-ACD8-E71743EE74A3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BCE6BCE-56E6-E341-A1C7-FDA857768E6C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8A86347-E864-474A-BD2C-F66A248C69FD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567BD97-7BD9-A849-B9B6-2A6391D8BDCC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DDE0120-BE8B-A248-9429-6AC51334EF13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0" name="Curved Connector 69">
              <a:extLst>
                <a:ext uri="{FF2B5EF4-FFF2-40B4-BE49-F238E27FC236}">
                  <a16:creationId xmlns:a16="http://schemas.microsoft.com/office/drawing/2014/main" id="{C4D027F3-E039-6448-918C-1FA5B7EC72FC}"/>
                </a:ext>
              </a:extLst>
            </p:cNvPr>
            <p:cNvCxnSpPr>
              <a:stCxn id="54" idx="4"/>
              <a:endCxn id="69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B38D3E1-3E67-C140-A9E1-8EF5EDB937A9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56750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检查符号链接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>
            <a:off x="755576" y="3865611"/>
            <a:ext cx="3445875" cy="5760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>
            <a:off x="4201451" y="4106305"/>
            <a:ext cx="773134" cy="473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3189422" cy="1308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r>
              <a:rPr lang="zh-CN" altLang="en-US" dirty="0"/>
              <a:t> 算法笔记</a:t>
            </a:r>
            <a:endParaRPr lang="en-CN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BB491B8-2AFF-434C-9F87-EEDA36DC326E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9290A7F-47C2-1E43-9CE9-1BFA63AA4064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7EBE68B-042D-0A48-81A8-6960329DC097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C3C17B06-1C1F-7142-BBB9-1AA036BE89B5}"/>
                </a:ext>
              </a:extLst>
            </p:cNvPr>
            <p:cNvCxnSpPr>
              <a:cxnSpLocks/>
              <a:stCxn id="70" idx="4"/>
              <a:endCxn id="46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98D901F-38E0-6E43-9CEA-9F6A1E0D284C}"/>
                </a:ext>
              </a:extLst>
            </p:cNvPr>
            <p:cNvCxnSpPr>
              <a:cxnSpLocks/>
              <a:stCxn id="68" idx="5"/>
              <a:endCxn id="47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C16160B-170C-4845-AEFC-791CEAD541CD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372ED6C-1404-A142-8D05-9C671F6E74F6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4818AAA-3A05-084D-B91E-C50F2B493A29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6C16417-6067-8941-ACEA-A7F994D4A25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9487F96-3B6A-9A45-A287-55E3982837C8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5C86883-3840-A84B-BDE8-A283D0AAF246}"/>
                </a:ext>
              </a:extLst>
            </p:cNvPr>
            <p:cNvCxnSpPr>
              <a:cxnSpLocks/>
              <a:stCxn id="69" idx="4"/>
              <a:endCxn id="54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FEC49B4-CFCA-7249-9BF2-FF45473AC1C4}"/>
                </a:ext>
              </a:extLst>
            </p:cNvPr>
            <p:cNvCxnSpPr>
              <a:cxnSpLocks/>
              <a:stCxn id="69" idx="5"/>
              <a:endCxn id="55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6F232B4-0066-B048-89D8-8860C5174818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71ABA2C-1EA8-B74F-A8EA-DF74249F4F07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F3DF9E6-95FF-EB44-8965-172F5C8C2937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CA4B435-521B-3741-9853-DFB4A7437A38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DCA0435-40DB-9B40-BE0A-44F95F20BE15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6405E760-E14D-3848-8FA3-D2F0883BF1B2}"/>
                </a:ext>
              </a:extLst>
            </p:cNvPr>
            <p:cNvCxnSpPr>
              <a:cxnSpLocks/>
              <a:stCxn id="68" idx="4"/>
              <a:endCxn id="70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4D99FE66-13FC-714C-902B-E2644D636E66}"/>
                </a:ext>
              </a:extLst>
            </p:cNvPr>
            <p:cNvCxnSpPr>
              <a:cxnSpLocks/>
              <a:stCxn id="68" idx="3"/>
              <a:endCxn id="69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6E3C7FC-8B7F-2848-A414-C207352BDD2C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168A770-9E66-424E-BB9B-8030C7F68DDD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4C5A852-1514-E549-BD01-35C9A83158CA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ED04B48-7FDC-C347-991F-9CC2DA7FF5C1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27F6F68-4223-7347-B0CE-88D683C9A179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1" name="Curved Connector 70">
              <a:extLst>
                <a:ext uri="{FF2B5EF4-FFF2-40B4-BE49-F238E27FC236}">
                  <a16:creationId xmlns:a16="http://schemas.microsoft.com/office/drawing/2014/main" id="{D9F98935-0742-5847-AEFA-A280D03B760B}"/>
                </a:ext>
              </a:extLst>
            </p:cNvPr>
            <p:cNvCxnSpPr>
              <a:stCxn id="55" idx="4"/>
              <a:endCxn id="70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5BC54BF-C555-9B47-837B-2640BB6DE14C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933192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A0261649-D36A-4C4C-8532-6589BBA3F296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检查剩余路径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39EFA7-78BD-0D49-A109-709C2E9F9BCD}"/>
              </a:ext>
            </a:extLst>
          </p:cNvPr>
          <p:cNvSpPr/>
          <p:nvPr/>
        </p:nvSpPr>
        <p:spPr>
          <a:xfrm flipV="1">
            <a:off x="550260" y="2936055"/>
            <a:ext cx="3651192" cy="25894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  <a:endCxn id="40" idx="3"/>
          </p:cNvCxnSpPr>
          <p:nvPr/>
        </p:nvCxnSpPr>
        <p:spPr>
          <a:xfrm flipH="1" flipV="1">
            <a:off x="4201452" y="3065526"/>
            <a:ext cx="773133" cy="10407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3189422" cy="1308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endParaRPr lang="en-CN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5AE2E4-81B5-BD45-870D-02A5C29577DD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9520788-9403-F647-B34B-E4244FE5B5F8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7C3DC8D-8C03-344A-AB18-7212CDDD1F7D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370EC795-EBCF-494C-AE91-8BC95646AFF6}"/>
                </a:ext>
              </a:extLst>
            </p:cNvPr>
            <p:cNvCxnSpPr>
              <a:cxnSpLocks/>
              <a:stCxn id="72" idx="4"/>
              <a:endCxn id="49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8A40A28-49E1-1F49-9637-1932A3B67FF2}"/>
                </a:ext>
              </a:extLst>
            </p:cNvPr>
            <p:cNvCxnSpPr>
              <a:cxnSpLocks/>
              <a:stCxn id="70" idx="5"/>
              <a:endCxn id="50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C8088A6-4FAF-364A-92E8-0954FD979298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9E0B0AB-60C4-1144-B4AF-AE3C3BADC305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1690677-21C6-5E48-A228-6B99AFCF87F6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10478EA-8BB2-1440-B20E-8D48F947D361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E184E81-4201-0F46-AE5B-D160E2D10FBB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4FD91396-19C1-414C-970D-CA0591246723}"/>
                </a:ext>
              </a:extLst>
            </p:cNvPr>
            <p:cNvCxnSpPr>
              <a:cxnSpLocks/>
              <a:stCxn id="71" idx="4"/>
              <a:endCxn id="56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557BFD23-CAE2-5747-A997-1E2524018D6D}"/>
                </a:ext>
              </a:extLst>
            </p:cNvPr>
            <p:cNvCxnSpPr>
              <a:cxnSpLocks/>
              <a:stCxn id="71" idx="5"/>
              <a:endCxn id="57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A970832-A50E-4D4F-9415-EC1C7490274A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6701603-0A54-F54E-9371-8FA42D9B85C3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437B149-6285-4C46-AF1E-155D2E97980E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CE5AE2AE-A2C5-A14F-8C9E-296CC739C240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2750F30-AD1F-9048-B0F5-92D12223BD5F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FD3FD0A-B9C6-8144-AF7B-F929AD87BB44}"/>
                </a:ext>
              </a:extLst>
            </p:cNvPr>
            <p:cNvCxnSpPr>
              <a:cxnSpLocks/>
              <a:stCxn id="70" idx="4"/>
              <a:endCxn id="72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572FDB4-9E63-5943-A753-0AA18DC209A3}"/>
                </a:ext>
              </a:extLst>
            </p:cNvPr>
            <p:cNvCxnSpPr>
              <a:cxnSpLocks/>
              <a:stCxn id="70" idx="3"/>
              <a:endCxn id="71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967D6F2-9880-6E4D-8546-097D9A5E89F6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B01878F-3820-0143-A10E-E72EFDC2556D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1DD9AA-B4A3-524A-9C45-5DCFB4D8819A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ACA2DCF-EADB-3146-BAFA-FA4FC5DF422C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C98532F-2778-B542-9042-EBECF2864B6F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3" name="Curved Connector 72">
              <a:extLst>
                <a:ext uri="{FF2B5EF4-FFF2-40B4-BE49-F238E27FC236}">
                  <a16:creationId xmlns:a16="http://schemas.microsoft.com/office/drawing/2014/main" id="{1FDB3049-8DFC-1942-B1C4-89993AB65B7D}"/>
                </a:ext>
              </a:extLst>
            </p:cNvPr>
            <p:cNvCxnSpPr>
              <a:stCxn id="57" idx="4"/>
              <a:endCxn id="72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024BFDA-251F-BC4F-AFFE-E33B764B0DFE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3030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5F0558-E0A1-5B41-A642-04726054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查找“</a:t>
            </a:r>
            <a:r>
              <a:rPr lang="en-US" altLang="zh-CN" b="0" dirty="0"/>
              <a:t>/OS/</a:t>
            </a:r>
            <a:r>
              <a:rPr lang="zh-CN" altLang="en-US" b="0" dirty="0"/>
              <a:t>其他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905F-E030-7045-AD64-B9E7F7CA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CADEB-5003-6F4A-80F9-762376942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06775-02D6-0349-9251-19270CAA87E3}"/>
              </a:ext>
            </a:extLst>
          </p:cNvPr>
          <p:cNvSpPr txBox="1"/>
          <p:nvPr/>
        </p:nvSpPr>
        <p:spPr>
          <a:xfrm>
            <a:off x="540441" y="2181858"/>
            <a:ext cx="411214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US" sz="1200" dirty="0">
                <a:latin typeface="Courier" pitchFamily="2" charset="0"/>
              </a:rPr>
              <a:t>其他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zh-CN" altLang="en-US" sz="1200" dirty="0">
                <a:latin typeface="Courier" pitchFamily="2" charset="0"/>
              </a:rPr>
              <a:t>算法笔记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get_root_inode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while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has_next_component</a:t>
            </a:r>
            <a:r>
              <a:rPr lang="en-US" altLang="zh-CN" sz="1200" dirty="0">
                <a:latin typeface="Courier" pitchFamily="2" charset="0"/>
              </a:rPr>
              <a:t>(pathname))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get_next_component</a:t>
            </a:r>
            <a:r>
              <a:rPr lang="en-US" altLang="zh-CN" sz="1200" dirty="0">
                <a:latin typeface="Courier" pitchFamily="2" charset="0"/>
              </a:rPr>
              <a:t>(pathname);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lookup(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name);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if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is_symlink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))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  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resolve_symlink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return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7E2219-6880-F846-B6EF-25249AFC8883}"/>
              </a:ext>
            </a:extLst>
          </p:cNvPr>
          <p:cNvSpPr/>
          <p:nvPr/>
        </p:nvSpPr>
        <p:spPr>
          <a:xfrm>
            <a:off x="4974585" y="392163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查找完毕</a:t>
            </a:r>
            <a:endParaRPr lang="en-US" altLang="zh-CN" dirty="0">
              <a:solidFill>
                <a:srgbClr val="C00000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114B55-1635-1E40-9ACC-0E1D3B7CA80A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1835696" y="4106305"/>
            <a:ext cx="3138889" cy="9114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A0B1C2-074A-9741-8B2C-C9D027F4CC55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6A93001-2A2B-EA43-AD05-2F1E84D3A691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52586" y="1698839"/>
            <a:ext cx="3189422" cy="1308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A146759-ABBF-624D-ADCF-9E99F0E5C8EC}"/>
              </a:ext>
            </a:extLst>
          </p:cNvPr>
          <p:cNvSpPr txBox="1"/>
          <p:nvPr/>
        </p:nvSpPr>
        <p:spPr>
          <a:xfrm>
            <a:off x="545490" y="1146059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</a:t>
            </a:r>
            <a:r>
              <a:rPr lang="en-CN" dirty="0"/>
              <a:t>athname</a:t>
            </a:r>
            <a:r>
              <a:rPr lang="en-US" altLang="zh-CN" dirty="0"/>
              <a:t>:</a:t>
            </a:r>
            <a:endParaRPr lang="en-CN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B617FB-E314-FC40-9880-369D8AF11600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en-CN" altLang="zh-CN" dirty="0"/>
              <a:t>am</a:t>
            </a:r>
            <a:r>
              <a:rPr lang="en-US" altLang="zh-CN" dirty="0"/>
              <a:t>e:</a:t>
            </a:r>
            <a:endParaRPr lang="en-CN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90179BF-0849-6043-BEB1-06DD29F1B849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CF50F67-3C9E-6342-9A43-1871C6483876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7E01371-3B32-AC46-B1DE-7FB68837CCD7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5A15F40-9D26-6F4E-A0ED-B2EC696CB5A3}"/>
                </a:ext>
              </a:extLst>
            </p:cNvPr>
            <p:cNvCxnSpPr>
              <a:cxnSpLocks/>
              <a:stCxn id="70" idx="4"/>
              <a:endCxn id="46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3514416-89C7-9241-8A46-112099E3F447}"/>
                </a:ext>
              </a:extLst>
            </p:cNvPr>
            <p:cNvCxnSpPr>
              <a:cxnSpLocks/>
              <a:stCxn id="68" idx="5"/>
              <a:endCxn id="47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ABA264C-14B9-2B4F-A4C7-A42AC155E4B7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352A199-EDE9-9D42-ADB5-F1E3D0481025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09BA8B6-21BD-434B-A626-931C40E2BDA1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F895B0-FEA8-894C-8686-F08774BC2D71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0BA57E0-9588-4346-9700-CD858BDAF939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CB25BDF-4D02-E341-B515-451FCF60DB0D}"/>
                </a:ext>
              </a:extLst>
            </p:cNvPr>
            <p:cNvCxnSpPr>
              <a:cxnSpLocks/>
              <a:stCxn id="69" idx="4"/>
              <a:endCxn id="54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3BE55BB3-AF1F-7E48-897F-237DAF17AAEF}"/>
                </a:ext>
              </a:extLst>
            </p:cNvPr>
            <p:cNvCxnSpPr>
              <a:cxnSpLocks/>
              <a:stCxn id="69" idx="5"/>
              <a:endCxn id="55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94842AA-91BD-AB44-A065-7F55B6C66991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3D9ED8A-7858-204D-894D-8A67489298F2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C555722-B9C5-874B-A6EE-072783F30E06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B9BEFB7-512C-8A4D-8CD7-6D2B41F3A7B4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F7D8339-C361-1A40-9E4E-9C4FB09B7B6F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A4512B2-85E8-C84C-960F-D42CABDF93D3}"/>
                </a:ext>
              </a:extLst>
            </p:cNvPr>
            <p:cNvCxnSpPr>
              <a:cxnSpLocks/>
              <a:stCxn id="68" idx="4"/>
              <a:endCxn id="70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588D5770-25BD-F24A-AF17-CD5CBFB45635}"/>
                </a:ext>
              </a:extLst>
            </p:cNvPr>
            <p:cNvCxnSpPr>
              <a:cxnSpLocks/>
              <a:stCxn id="68" idx="3"/>
              <a:endCxn id="69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D668D6C-2EBB-2848-AA4A-84C51F180251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7FC366E-FFA9-A243-B83A-28E766BECDD0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B6D66E0-CFC3-E743-BC20-DEB975EF09D4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AEB71101-E4D3-CA43-A23F-1B3B98AD6C80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055D1E7-398F-374F-B4BC-6F786B817DA5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1" name="Curved Connector 70">
              <a:extLst>
                <a:ext uri="{FF2B5EF4-FFF2-40B4-BE49-F238E27FC236}">
                  <a16:creationId xmlns:a16="http://schemas.microsoft.com/office/drawing/2014/main" id="{D3B57E51-093D-154B-ADF2-D15E1A78E17C}"/>
                </a:ext>
              </a:extLst>
            </p:cNvPr>
            <p:cNvCxnSpPr>
              <a:stCxn id="55" idx="4"/>
              <a:endCxn id="70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1311532-AEB2-E34C-BA76-33B39113F768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933015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50E7AA-13EA-4644-9FAB-625CC046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创建“</a:t>
            </a:r>
            <a:r>
              <a:rPr lang="en-US" altLang="zh-CN" b="0" dirty="0"/>
              <a:t>/OS/</a:t>
            </a:r>
            <a:r>
              <a:rPr lang="zh-CN" altLang="en-US" b="0" dirty="0"/>
              <a:t>考试”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B49DA-98F5-1046-879E-90793036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403DB-4FED-5D4F-923E-67DCE283E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FEEB3-1F13-A14C-B256-1A2113D5F292}"/>
              </a:ext>
            </a:extLst>
          </p:cNvPr>
          <p:cNvSpPr txBox="1"/>
          <p:nvPr/>
        </p:nvSpPr>
        <p:spPr>
          <a:xfrm>
            <a:off x="540441" y="2273885"/>
            <a:ext cx="4103568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CN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search_parent_dir</a:t>
            </a:r>
            <a:r>
              <a:rPr lang="en-US" altLang="zh-CN" sz="1200" dirty="0">
                <a:latin typeface="Courier" pitchFamily="2" charset="0"/>
              </a:rPr>
              <a:t>(pathname,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&amp;leaf);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c</a:t>
            </a:r>
            <a:r>
              <a:rPr lang="en-CN" altLang="zh-CN" sz="1200" dirty="0">
                <a:latin typeface="Courier" pitchFamily="2" charset="0"/>
              </a:rPr>
              <a:t>reate</a:t>
            </a:r>
            <a:r>
              <a:rPr lang="en-US" altLang="zh-CN" sz="1200" dirty="0">
                <a:latin typeface="Courier" pitchFamily="2" charset="0"/>
              </a:rPr>
              <a:t>_file(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leaf);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A5E90D-97A5-E847-B368-3837770EE277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B830B-9949-1A47-9AB1-9F026DDC7E85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altLang="zh-CN" dirty="0"/>
              <a:t>leaf</a:t>
            </a:r>
            <a:r>
              <a:rPr lang="en-US" altLang="zh-CN" dirty="0"/>
              <a:t>:</a:t>
            </a:r>
            <a:endParaRPr lang="en-CN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5DCC420-CCD5-5B43-B17A-1357D0978525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FEC0830-4D25-6148-8864-89928E7848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8161510-6977-594C-A2B3-49DAD31D0BF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F79B86A-B726-FC4C-8C9C-1C91A3950B82}"/>
                </a:ext>
              </a:extLst>
            </p:cNvPr>
            <p:cNvCxnSpPr>
              <a:cxnSpLocks/>
              <a:stCxn id="64" idx="4"/>
              <a:endCxn id="41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1B4321A-45B9-8246-ACCB-64F137934FCA}"/>
                </a:ext>
              </a:extLst>
            </p:cNvPr>
            <p:cNvCxnSpPr>
              <a:cxnSpLocks/>
              <a:stCxn id="62" idx="5"/>
              <a:endCxn id="43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1046708-3EB6-FF4A-9B84-FF69D8BE0882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CF476A0-295A-1249-95D5-D1D2D54EDAB1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F38E448-8672-5040-876B-1E3C23EC5E27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1FCA63B-033B-0D41-AACB-8A6FE8D9EAC6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4F11ED9-9592-A548-8BBF-D581FC9CCF41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2F5BF6D-468F-3F44-B622-BBA5AAF625FC}"/>
                </a:ext>
              </a:extLst>
            </p:cNvPr>
            <p:cNvCxnSpPr>
              <a:cxnSpLocks/>
              <a:stCxn id="63" idx="4"/>
              <a:endCxn id="49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0A9F57E-700C-4344-8DAB-BADD96F6F448}"/>
                </a:ext>
              </a:extLst>
            </p:cNvPr>
            <p:cNvCxnSpPr>
              <a:cxnSpLocks/>
              <a:stCxn id="63" idx="5"/>
              <a:endCxn id="50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4C7B301-BFBB-8A47-9DC6-F6D7D53CC935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8294B9C-90C3-C244-9EC4-70F3FA30171A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69B3011-990B-FD4A-8D40-3918803170B9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A301C9-9912-FC40-A91E-9E805F7D2B2C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5C9A2B55-A268-8546-BF24-4706C2509FEF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4DB8CA2-96E6-B942-87E6-2E861998EE5E}"/>
                </a:ext>
              </a:extLst>
            </p:cNvPr>
            <p:cNvCxnSpPr>
              <a:cxnSpLocks/>
              <a:stCxn id="62" idx="4"/>
              <a:endCxn id="64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3111D1F-1F2A-BA4B-A11B-A733355119CD}"/>
                </a:ext>
              </a:extLst>
            </p:cNvPr>
            <p:cNvCxnSpPr>
              <a:cxnSpLocks/>
              <a:stCxn id="62" idx="3"/>
              <a:endCxn id="63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AE22E00-59E9-0F4A-BA4C-332DA434BD21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364C34-68FC-B440-BE5E-6A64D4A72457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63B8845-8B97-7F42-A116-8E5B30B384DB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9526A8-E57B-3048-B1C6-2638C5E6AF48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450229C-74B1-1C4C-A1E1-36D6F129C621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65" name="Curved Connector 64">
              <a:extLst>
                <a:ext uri="{FF2B5EF4-FFF2-40B4-BE49-F238E27FC236}">
                  <a16:creationId xmlns:a16="http://schemas.microsoft.com/office/drawing/2014/main" id="{82DA073C-BF9D-0E41-A46E-772807A23860}"/>
                </a:ext>
              </a:extLst>
            </p:cNvPr>
            <p:cNvCxnSpPr>
              <a:stCxn id="50" idx="4"/>
              <a:endCxn id="64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284B7E5-0257-864C-A630-F37EA26A9D6E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1439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50E7AA-13EA-4644-9FAB-625CC046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创建“</a:t>
            </a:r>
            <a:r>
              <a:rPr lang="en-US" altLang="zh-CN" b="0" dirty="0"/>
              <a:t>/OS/</a:t>
            </a:r>
            <a:r>
              <a:rPr lang="zh-CN" altLang="en-US" b="0" dirty="0"/>
              <a:t>考试”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B49DA-98F5-1046-879E-90793036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403DB-4FED-5D4F-923E-67DCE283E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FEEB3-1F13-A14C-B256-1A2113D5F292}"/>
              </a:ext>
            </a:extLst>
          </p:cNvPr>
          <p:cNvSpPr txBox="1"/>
          <p:nvPr/>
        </p:nvSpPr>
        <p:spPr>
          <a:xfrm>
            <a:off x="540441" y="2273885"/>
            <a:ext cx="4103568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CN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search_parent_dir</a:t>
            </a:r>
            <a:r>
              <a:rPr lang="en-US" altLang="zh-CN" sz="1200" dirty="0">
                <a:latin typeface="Courier" pitchFamily="2" charset="0"/>
              </a:rPr>
              <a:t>(pathname,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&amp;leaf);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c</a:t>
            </a:r>
            <a:r>
              <a:rPr lang="en-CN" altLang="zh-CN" sz="1200" dirty="0">
                <a:latin typeface="Courier" pitchFamily="2" charset="0"/>
              </a:rPr>
              <a:t>reate</a:t>
            </a:r>
            <a:r>
              <a:rPr lang="en-US" altLang="zh-CN" sz="1200" dirty="0">
                <a:latin typeface="Courier" pitchFamily="2" charset="0"/>
              </a:rPr>
              <a:t>_file(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leaf);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A5E90D-97A5-E847-B368-3837770EE277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B830B-9949-1A47-9AB1-9F026DDC7E85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altLang="zh-CN" dirty="0"/>
              <a:t>leaf</a:t>
            </a:r>
            <a:r>
              <a:rPr lang="en-US" altLang="zh-CN" dirty="0"/>
              <a:t>:</a:t>
            </a:r>
            <a:r>
              <a:rPr lang="zh-CN" altLang="en-US" dirty="0"/>
              <a:t> 考试</a:t>
            </a:r>
            <a:endParaRPr lang="en-CN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F129A4-770C-AD4B-B1F6-34A807893A96}"/>
              </a:ext>
            </a:extLst>
          </p:cNvPr>
          <p:cNvSpPr/>
          <p:nvPr/>
        </p:nvSpPr>
        <p:spPr>
          <a:xfrm>
            <a:off x="4974585" y="392163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先查找父目录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7430D5-D8B9-C349-84D1-EF43ACF06977}"/>
              </a:ext>
            </a:extLst>
          </p:cNvPr>
          <p:cNvSpPr/>
          <p:nvPr/>
        </p:nvSpPr>
        <p:spPr>
          <a:xfrm flipV="1">
            <a:off x="561002" y="2663769"/>
            <a:ext cx="4010998" cy="25894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570500-E542-DF4A-B3F6-0B528CF24E9A}"/>
              </a:ext>
            </a:extLst>
          </p:cNvPr>
          <p:cNvCxnSpPr>
            <a:cxnSpLocks/>
            <a:stCxn id="45" idx="1"/>
            <a:endCxn id="46" idx="3"/>
          </p:cNvCxnSpPr>
          <p:nvPr/>
        </p:nvCxnSpPr>
        <p:spPr>
          <a:xfrm flipH="1" flipV="1">
            <a:off x="4572000" y="2793240"/>
            <a:ext cx="402585" cy="131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F51E49-8665-1E45-A4CB-02F9459BB968}"/>
              </a:ext>
            </a:extLst>
          </p:cNvPr>
          <p:cNvCxnSpPr>
            <a:cxnSpLocks/>
          </p:cNvCxnSpPr>
          <p:nvPr/>
        </p:nvCxnSpPr>
        <p:spPr>
          <a:xfrm>
            <a:off x="4652586" y="1698839"/>
            <a:ext cx="1571553" cy="4399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045FD4B-539B-4D4E-8673-404F9D159B45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EE80DC-E413-BB4A-9A4A-690BFFC9D4D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2DF798D-D7AE-6547-9BC4-D8C64F056DC8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23F7C05-B046-6244-8F97-2E669C9B9893}"/>
                </a:ext>
              </a:extLst>
            </p:cNvPr>
            <p:cNvCxnSpPr>
              <a:cxnSpLocks/>
              <a:stCxn id="74" idx="4"/>
              <a:endCxn id="52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992AB9C-0ED3-934A-B231-F41E0225022F}"/>
                </a:ext>
              </a:extLst>
            </p:cNvPr>
            <p:cNvCxnSpPr>
              <a:cxnSpLocks/>
              <a:stCxn id="72" idx="5"/>
              <a:endCxn id="53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3E37905-7720-524B-977D-8D1E68D51025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489CCF4-F780-3C4B-8D95-CB6FEF40D368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B0B56B4-6124-8F46-AE79-71E366AFA6F0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541F6E9-8C15-E44D-9A3E-2288C7D44784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566216A-D3D0-C64E-969E-C6621A17DADD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F682932-A3E2-D94A-BD7B-A1A4E555395A}"/>
                </a:ext>
              </a:extLst>
            </p:cNvPr>
            <p:cNvCxnSpPr>
              <a:cxnSpLocks/>
              <a:stCxn id="73" idx="4"/>
              <a:endCxn id="59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BBF7A65-45DB-DA44-B6D4-5E917A7BBD46}"/>
                </a:ext>
              </a:extLst>
            </p:cNvPr>
            <p:cNvCxnSpPr>
              <a:cxnSpLocks/>
              <a:stCxn id="73" idx="5"/>
              <a:endCxn id="60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225519A-76C8-F64F-AD80-E3A856ED6375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165DC8E-E0D3-C543-94F7-E45C027A31C5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519ED6E-4239-8448-A31F-57D02B4AAAB4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CB2679E-3325-C14D-9E7D-94E1C3271F0D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4331C20-060A-C849-93AC-709EBB84BACF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D551C6E-9EBC-8945-8EEE-D1E3F77F3579}"/>
                </a:ext>
              </a:extLst>
            </p:cNvPr>
            <p:cNvCxnSpPr>
              <a:cxnSpLocks/>
              <a:stCxn id="72" idx="4"/>
              <a:endCxn id="74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B7F250D8-0F99-D44F-AC33-FC19CB9B7C8F}"/>
                </a:ext>
              </a:extLst>
            </p:cNvPr>
            <p:cNvCxnSpPr>
              <a:cxnSpLocks/>
              <a:stCxn id="72" idx="3"/>
              <a:endCxn id="73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E14BAC3-3AAB-DB4B-9E2C-CC87D299BD7C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35D0E83-3EF1-3F45-9361-E174DC1D399C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B198E64-098E-564C-9A77-222A4E618D77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FE8506A-A7AF-1A48-867F-7EA3FCB7E2F9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63BBDD9-D147-984D-A8EB-C1E3E4353B18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5" name="Curved Connector 74">
              <a:extLst>
                <a:ext uri="{FF2B5EF4-FFF2-40B4-BE49-F238E27FC236}">
                  <a16:creationId xmlns:a16="http://schemas.microsoft.com/office/drawing/2014/main" id="{2A187962-EC7A-B941-B8CE-EDDD29FD7FC4}"/>
                </a:ext>
              </a:extLst>
            </p:cNvPr>
            <p:cNvCxnSpPr>
              <a:stCxn id="60" idx="4"/>
              <a:endCxn id="74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20F627D-6A0E-4C49-8353-88EC8BC71215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90966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DF4C4816-F9ED-8141-B711-DC1BDC85696A}"/>
              </a:ext>
            </a:extLst>
          </p:cNvPr>
          <p:cNvSpPr txBox="1"/>
          <p:nvPr/>
        </p:nvSpPr>
        <p:spPr>
          <a:xfrm>
            <a:off x="536198" y="3684123"/>
            <a:ext cx="4103568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u="sng" dirty="0" err="1">
                <a:latin typeface="Courier" pitchFamily="2" charset="0"/>
              </a:rPr>
              <a:t>create_file</a:t>
            </a:r>
            <a:r>
              <a:rPr lang="en-US" altLang="zh-CN" sz="1200" u="sng" dirty="0">
                <a:latin typeface="Courier" pitchFamily="2" charset="0"/>
              </a:rPr>
              <a:t>(parent,</a:t>
            </a:r>
            <a:r>
              <a:rPr lang="zh-CN" altLang="en-US" sz="1200" u="sng" dirty="0">
                <a:latin typeface="Courier" pitchFamily="2" charset="0"/>
              </a:rPr>
              <a:t> </a:t>
            </a:r>
            <a:r>
              <a:rPr lang="en-US" altLang="zh-CN" sz="1200" u="sng" dirty="0">
                <a:latin typeface="Courier" pitchFamily="2" charset="0"/>
              </a:rPr>
              <a:t>leaf):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allocate_inode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init_inode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add_dentry_to_dir</a:t>
            </a:r>
            <a:r>
              <a:rPr lang="en-US" altLang="zh-CN" sz="1200" dirty="0">
                <a:latin typeface="Courier" pitchFamily="2" charset="0"/>
              </a:rPr>
              <a:t>(parent,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left,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50E7AA-13EA-4644-9FAB-625CC046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创建“</a:t>
            </a:r>
            <a:r>
              <a:rPr lang="en-US" altLang="zh-CN" b="0" dirty="0"/>
              <a:t>/OS/</a:t>
            </a:r>
            <a:r>
              <a:rPr lang="zh-CN" altLang="en-US" b="0" dirty="0"/>
              <a:t>考试”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B49DA-98F5-1046-879E-90793036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403DB-4FED-5D4F-923E-67DCE283E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FEEB3-1F13-A14C-B256-1A2113D5F292}"/>
              </a:ext>
            </a:extLst>
          </p:cNvPr>
          <p:cNvSpPr txBox="1"/>
          <p:nvPr/>
        </p:nvSpPr>
        <p:spPr>
          <a:xfrm>
            <a:off x="540441" y="2273885"/>
            <a:ext cx="4103568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CN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search_parent_dir</a:t>
            </a:r>
            <a:r>
              <a:rPr lang="en-US" altLang="zh-CN" sz="1200" dirty="0">
                <a:latin typeface="Courier" pitchFamily="2" charset="0"/>
              </a:rPr>
              <a:t>(pathname,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&amp;leaf);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c</a:t>
            </a:r>
            <a:r>
              <a:rPr lang="en-CN" altLang="zh-CN" sz="1200" dirty="0">
                <a:latin typeface="Courier" pitchFamily="2" charset="0"/>
              </a:rPr>
              <a:t>reate</a:t>
            </a:r>
            <a:r>
              <a:rPr lang="en-US" altLang="zh-CN" sz="1200" dirty="0">
                <a:latin typeface="Courier" pitchFamily="2" charset="0"/>
              </a:rPr>
              <a:t>_file(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leaf);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A5E90D-97A5-E847-B368-3837770EE277}"/>
              </a:ext>
            </a:extLst>
          </p:cNvPr>
          <p:cNvSpPr txBox="1"/>
          <p:nvPr/>
        </p:nvSpPr>
        <p:spPr>
          <a:xfrm>
            <a:off x="3897690" y="1514173"/>
            <a:ext cx="75489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dirty="0"/>
              <a:t>inode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B830B-9949-1A47-9AB1-9F026DDC7E85}"/>
              </a:ext>
            </a:extLst>
          </p:cNvPr>
          <p:cNvSpPr txBox="1"/>
          <p:nvPr/>
        </p:nvSpPr>
        <p:spPr>
          <a:xfrm>
            <a:off x="550259" y="1514173"/>
            <a:ext cx="322249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altLang="zh-CN" dirty="0"/>
              <a:t>leaf</a:t>
            </a:r>
            <a:r>
              <a:rPr lang="en-US" altLang="zh-CN" dirty="0"/>
              <a:t>:</a:t>
            </a:r>
            <a:r>
              <a:rPr lang="zh-CN" altLang="en-US" dirty="0"/>
              <a:t> 考试</a:t>
            </a:r>
            <a:endParaRPr lang="en-CN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F129A4-770C-AD4B-B1F6-34A807893A96}"/>
              </a:ext>
            </a:extLst>
          </p:cNvPr>
          <p:cNvSpPr/>
          <p:nvPr/>
        </p:nvSpPr>
        <p:spPr>
          <a:xfrm>
            <a:off x="4974585" y="3921639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在父目录中创建目标文件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7430D5-D8B9-C349-84D1-EF43ACF06977}"/>
              </a:ext>
            </a:extLst>
          </p:cNvPr>
          <p:cNvSpPr/>
          <p:nvPr/>
        </p:nvSpPr>
        <p:spPr>
          <a:xfrm>
            <a:off x="561002" y="3028082"/>
            <a:ext cx="2498830" cy="20947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570500-E542-DF4A-B3F6-0B528CF24E9A}"/>
              </a:ext>
            </a:extLst>
          </p:cNvPr>
          <p:cNvCxnSpPr>
            <a:cxnSpLocks/>
            <a:stCxn id="45" idx="1"/>
            <a:endCxn id="46" idx="3"/>
          </p:cNvCxnSpPr>
          <p:nvPr/>
        </p:nvCxnSpPr>
        <p:spPr>
          <a:xfrm flipH="1" flipV="1">
            <a:off x="3059832" y="3132821"/>
            <a:ext cx="1914753" cy="9734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F51E49-8665-1E45-A4CB-02F9459BB968}"/>
              </a:ext>
            </a:extLst>
          </p:cNvPr>
          <p:cNvCxnSpPr>
            <a:cxnSpLocks/>
          </p:cNvCxnSpPr>
          <p:nvPr/>
        </p:nvCxnSpPr>
        <p:spPr>
          <a:xfrm>
            <a:off x="4652586" y="1698839"/>
            <a:ext cx="1571553" cy="4399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17D0EF-C27A-064E-B40D-5AE8B65D9214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B8C6F42-EE0D-7846-AC3C-C6E8A0BAA418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33D235F-CB79-E248-8AD2-A499023D6192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25A39F2-B2F7-3F4E-A12B-81DDAD579384}"/>
                </a:ext>
              </a:extLst>
            </p:cNvPr>
            <p:cNvCxnSpPr>
              <a:cxnSpLocks/>
              <a:stCxn id="73" idx="4"/>
              <a:endCxn id="51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253FFFA-701B-A042-AD5F-309F6EA54BA6}"/>
                </a:ext>
              </a:extLst>
            </p:cNvPr>
            <p:cNvCxnSpPr>
              <a:cxnSpLocks/>
              <a:stCxn id="71" idx="5"/>
              <a:endCxn id="52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8E81D83-837C-C54A-9187-2CB3F2F1F4D8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6D9ED5E-E773-9E48-B7CC-444BB656C140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81C9A01-31EC-F743-9DEE-B3B4F14D6011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7B4F02E-17A0-6948-895C-A04A1AA40ADB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1A8668E-65F5-4D41-B47B-0D470FB38CA9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64BA130-CD7F-FA4F-B9E9-E1F8E532CEA9}"/>
                </a:ext>
              </a:extLst>
            </p:cNvPr>
            <p:cNvCxnSpPr>
              <a:cxnSpLocks/>
              <a:stCxn id="72" idx="4"/>
              <a:endCxn id="58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A48E528-0CA1-E549-8A69-84E4C0F93B10}"/>
                </a:ext>
              </a:extLst>
            </p:cNvPr>
            <p:cNvCxnSpPr>
              <a:cxnSpLocks/>
              <a:stCxn id="72" idx="5"/>
              <a:endCxn id="59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F184BD0-227F-C249-B34A-4014E78FCACA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85DC679-D0F7-3A46-963C-E4A4687DC2E0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F4C7D7C-C703-D848-B3AC-D37514D35B97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D64486E-03E8-2C44-BCB9-64FFCCD019E2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635DB70-34D0-5A4B-ACEB-8A71EB88AA3B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4A86D4F-1671-C54B-902E-472B364BF293}"/>
                </a:ext>
              </a:extLst>
            </p:cNvPr>
            <p:cNvCxnSpPr>
              <a:cxnSpLocks/>
              <a:stCxn id="71" idx="4"/>
              <a:endCxn id="73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4A20498-1CF7-5B4F-A821-34361A16C36E}"/>
                </a:ext>
              </a:extLst>
            </p:cNvPr>
            <p:cNvCxnSpPr>
              <a:cxnSpLocks/>
              <a:stCxn id="71" idx="3"/>
              <a:endCxn id="72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5CEBAF8-7BD7-3242-B960-9AC5E5BB166E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C05C709-F003-944D-90B9-A3961556BF4D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0C393D2-6815-D247-88F4-B30942039AC4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22A6F2D-391C-444D-B582-83DDBB20405D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B1D18C4-AF10-D844-BC4B-ACFDD75AC8FE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4" name="Curved Connector 73">
              <a:extLst>
                <a:ext uri="{FF2B5EF4-FFF2-40B4-BE49-F238E27FC236}">
                  <a16:creationId xmlns:a16="http://schemas.microsoft.com/office/drawing/2014/main" id="{63DFD457-671A-7744-8340-3CF1672DB249}"/>
                </a:ext>
              </a:extLst>
            </p:cNvPr>
            <p:cNvCxnSpPr>
              <a:stCxn id="59" idx="4"/>
              <a:endCxn id="73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F88C4BA-7B9F-F249-A1C6-DA09B62587D3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05330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FA075925-D307-D643-9095-E09D5E12682F}"/>
              </a:ext>
            </a:extLst>
          </p:cNvPr>
          <p:cNvSpPr txBox="1"/>
          <p:nvPr/>
        </p:nvSpPr>
        <p:spPr>
          <a:xfrm>
            <a:off x="536198" y="3684123"/>
            <a:ext cx="4103568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u="sng" dirty="0" err="1">
                <a:latin typeface="Courier" pitchFamily="2" charset="0"/>
              </a:rPr>
              <a:t>create_file</a:t>
            </a:r>
            <a:r>
              <a:rPr lang="en-US" altLang="zh-CN" sz="1200" u="sng" dirty="0">
                <a:latin typeface="Courier" pitchFamily="2" charset="0"/>
              </a:rPr>
              <a:t>(parent,</a:t>
            </a:r>
            <a:r>
              <a:rPr lang="zh-CN" altLang="en-US" sz="1200" u="sng" dirty="0">
                <a:latin typeface="Courier" pitchFamily="2" charset="0"/>
              </a:rPr>
              <a:t> </a:t>
            </a:r>
            <a:r>
              <a:rPr lang="en-US" altLang="zh-CN" sz="1200" u="sng" dirty="0">
                <a:latin typeface="Courier" pitchFamily="2" charset="0"/>
              </a:rPr>
              <a:t>leaf):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allocate_inode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init_inode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add_dentry_to_dir</a:t>
            </a:r>
            <a:r>
              <a:rPr lang="en-US" altLang="zh-CN" sz="1200" dirty="0">
                <a:latin typeface="Courier" pitchFamily="2" charset="0"/>
              </a:rPr>
              <a:t>(parent,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left,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50E7AA-13EA-4644-9FAB-625CC046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创建“</a:t>
            </a:r>
            <a:r>
              <a:rPr lang="en-US" altLang="zh-CN" b="0" dirty="0"/>
              <a:t>/OS/</a:t>
            </a:r>
            <a:r>
              <a:rPr lang="zh-CN" altLang="en-US" b="0" dirty="0"/>
              <a:t>考试”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B49DA-98F5-1046-879E-90793036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403DB-4FED-5D4F-923E-67DCE283E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FEEB3-1F13-A14C-B256-1A2113D5F292}"/>
              </a:ext>
            </a:extLst>
          </p:cNvPr>
          <p:cNvSpPr txBox="1"/>
          <p:nvPr/>
        </p:nvSpPr>
        <p:spPr>
          <a:xfrm>
            <a:off x="540441" y="2273885"/>
            <a:ext cx="4103568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CN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search_parent_dir</a:t>
            </a:r>
            <a:r>
              <a:rPr lang="en-US" altLang="zh-CN" sz="1200" dirty="0">
                <a:latin typeface="Courier" pitchFamily="2" charset="0"/>
              </a:rPr>
              <a:t>(pathname,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&amp;leaf);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c</a:t>
            </a:r>
            <a:r>
              <a:rPr lang="en-CN" altLang="zh-CN" sz="1200" dirty="0">
                <a:latin typeface="Courier" pitchFamily="2" charset="0"/>
              </a:rPr>
              <a:t>reate</a:t>
            </a:r>
            <a:r>
              <a:rPr lang="en-US" altLang="zh-CN" sz="1200" dirty="0">
                <a:latin typeface="Courier" pitchFamily="2" charset="0"/>
              </a:rPr>
              <a:t>_file(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leaf);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A5E90D-97A5-E847-B368-3837770EE277}"/>
              </a:ext>
            </a:extLst>
          </p:cNvPr>
          <p:cNvSpPr txBox="1"/>
          <p:nvPr/>
        </p:nvSpPr>
        <p:spPr>
          <a:xfrm>
            <a:off x="3491880" y="1514173"/>
            <a:ext cx="116070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parent</a:t>
            </a:r>
            <a:endParaRPr lang="en-C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B830B-9949-1A47-9AB1-9F026DDC7E85}"/>
              </a:ext>
            </a:extLst>
          </p:cNvPr>
          <p:cNvSpPr txBox="1"/>
          <p:nvPr/>
        </p:nvSpPr>
        <p:spPr>
          <a:xfrm>
            <a:off x="550259" y="1514173"/>
            <a:ext cx="252308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altLang="zh-CN" dirty="0"/>
              <a:t>leaf</a:t>
            </a:r>
            <a:r>
              <a:rPr lang="en-US" altLang="zh-CN" dirty="0"/>
              <a:t>:</a:t>
            </a:r>
            <a:r>
              <a:rPr lang="zh-CN" altLang="en-US" dirty="0"/>
              <a:t> 考试</a:t>
            </a:r>
            <a:endParaRPr lang="en-CN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F129A4-770C-AD4B-B1F6-34A807893A96}"/>
              </a:ext>
            </a:extLst>
          </p:cNvPr>
          <p:cNvSpPr/>
          <p:nvPr/>
        </p:nvSpPr>
        <p:spPr>
          <a:xfrm>
            <a:off x="4974585" y="3921639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分配</a:t>
            </a:r>
            <a:r>
              <a:rPr lang="en-US" altLang="zh-CN" dirty="0" err="1">
                <a:solidFill>
                  <a:srgbClr val="C00000"/>
                </a:solidFill>
              </a:rPr>
              <a:t>inode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7430D5-D8B9-C349-84D1-EF43ACF06977}"/>
              </a:ext>
            </a:extLst>
          </p:cNvPr>
          <p:cNvSpPr/>
          <p:nvPr/>
        </p:nvSpPr>
        <p:spPr>
          <a:xfrm>
            <a:off x="574514" y="4088183"/>
            <a:ext cx="2498830" cy="20947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570500-E542-DF4A-B3F6-0B528CF24E9A}"/>
              </a:ext>
            </a:extLst>
          </p:cNvPr>
          <p:cNvCxnSpPr>
            <a:cxnSpLocks/>
            <a:stCxn id="45" idx="1"/>
            <a:endCxn id="46" idx="3"/>
          </p:cNvCxnSpPr>
          <p:nvPr/>
        </p:nvCxnSpPr>
        <p:spPr>
          <a:xfrm flipH="1">
            <a:off x="3073344" y="4106305"/>
            <a:ext cx="1901241" cy="866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F51E49-8665-1E45-A4CB-02F9459BB968}"/>
              </a:ext>
            </a:extLst>
          </p:cNvPr>
          <p:cNvCxnSpPr>
            <a:cxnSpLocks/>
          </p:cNvCxnSpPr>
          <p:nvPr/>
        </p:nvCxnSpPr>
        <p:spPr>
          <a:xfrm>
            <a:off x="4652586" y="1698839"/>
            <a:ext cx="1571553" cy="4399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F117609-480E-4748-9976-5C390DEC798E}"/>
              </a:ext>
            </a:extLst>
          </p:cNvPr>
          <p:cNvSpPr/>
          <p:nvPr/>
        </p:nvSpPr>
        <p:spPr>
          <a:xfrm>
            <a:off x="4683377" y="2966077"/>
            <a:ext cx="375027" cy="37502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400" dirty="0"/>
              <a:t>17</a:t>
            </a:r>
            <a:endParaRPr lang="en-CN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BB9A33-C805-EE4C-BE9F-C42867970623}"/>
              </a:ext>
            </a:extLst>
          </p:cNvPr>
          <p:cNvSpPr txBox="1"/>
          <p:nvPr/>
        </p:nvSpPr>
        <p:spPr>
          <a:xfrm>
            <a:off x="3495170" y="1881481"/>
            <a:ext cx="116070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inode</a:t>
            </a:r>
            <a:endParaRPr lang="en-C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593F380-F231-634B-B502-D8EFC9E8D8DE}"/>
              </a:ext>
            </a:extLst>
          </p:cNvPr>
          <p:cNvCxnSpPr>
            <a:cxnSpLocks/>
            <a:stCxn id="44" idx="3"/>
            <a:endCxn id="43" idx="0"/>
          </p:cNvCxnSpPr>
          <p:nvPr/>
        </p:nvCxnSpPr>
        <p:spPr>
          <a:xfrm>
            <a:off x="4655876" y="2066147"/>
            <a:ext cx="215015" cy="8999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7DAF63E-EEC9-D540-B93A-11FB34E01562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8ECB6A2-5DB6-A64E-98FD-B805EB97855A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AC9741E-5C67-CA40-9A90-684028E522F9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530A1526-87F5-1F4E-80BA-7E9C77D08A8F}"/>
                </a:ext>
              </a:extLst>
            </p:cNvPr>
            <p:cNvCxnSpPr>
              <a:cxnSpLocks/>
              <a:stCxn id="75" idx="4"/>
              <a:endCxn id="53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9612EA6-1AF4-5047-9F25-D6C6E99C30B8}"/>
                </a:ext>
              </a:extLst>
            </p:cNvPr>
            <p:cNvCxnSpPr>
              <a:cxnSpLocks/>
              <a:stCxn id="73" idx="5"/>
              <a:endCxn id="54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85F3680-FE67-D546-8007-6064218C21A4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C5CE491-ED03-1D4A-BFBD-8A7165E474A0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7184DA3-7978-B24B-A294-C0F195487DF7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E1481AB-9AF6-0441-AB70-72384D40EE6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C6B9F3C-E923-F64D-A670-E9B9D425E4F8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533851B-D24D-DF48-A5A3-97B91C2E03F0}"/>
                </a:ext>
              </a:extLst>
            </p:cNvPr>
            <p:cNvCxnSpPr>
              <a:cxnSpLocks/>
              <a:stCxn id="74" idx="4"/>
              <a:endCxn id="60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266314A9-6364-3D49-8DDC-BA11EA03249C}"/>
                </a:ext>
              </a:extLst>
            </p:cNvPr>
            <p:cNvCxnSpPr>
              <a:cxnSpLocks/>
              <a:stCxn id="74" idx="5"/>
              <a:endCxn id="61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4EE75DB-9139-F646-90BA-3F85CCF348A3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DA0DACA-9FD5-7046-A796-2268187A2D33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42DA041-851A-0E42-A317-B47910DD7E85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DA2EF60-E852-9947-864F-4B680C75CD52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7A539E0-1430-D54D-9D79-16E6A5981B11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35CF154-F515-7249-8459-D5C4E6FA1B58}"/>
                </a:ext>
              </a:extLst>
            </p:cNvPr>
            <p:cNvCxnSpPr>
              <a:cxnSpLocks/>
              <a:stCxn id="73" idx="4"/>
              <a:endCxn id="75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DEF110D-DBEF-C241-B7F3-9A9F97A375E1}"/>
                </a:ext>
              </a:extLst>
            </p:cNvPr>
            <p:cNvCxnSpPr>
              <a:cxnSpLocks/>
              <a:stCxn id="73" idx="3"/>
              <a:endCxn id="74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9A1E4CA-1566-4D40-9095-CF2AD2A0EEE9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AC62247-7812-1943-919F-E476A72EFA98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C3CDD1F-94F4-CF4C-913E-DE314738E593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EA60314-69C9-3E48-9422-BCF46A50C69E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20E7148-3F25-BB40-BBAC-5406618749F6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DD82C7DA-0712-1840-9596-09BED21481D0}"/>
                </a:ext>
              </a:extLst>
            </p:cNvPr>
            <p:cNvCxnSpPr>
              <a:stCxn id="61" idx="4"/>
              <a:endCxn id="75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3D974E5-9B31-E948-BBD4-752EAF3FDDD7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75854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2B2F9255-DC08-B940-90DD-9E9A60E40076}"/>
              </a:ext>
            </a:extLst>
          </p:cNvPr>
          <p:cNvSpPr txBox="1"/>
          <p:nvPr/>
        </p:nvSpPr>
        <p:spPr>
          <a:xfrm>
            <a:off x="536198" y="3684123"/>
            <a:ext cx="4103568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u="sng" dirty="0" err="1">
                <a:latin typeface="Courier" pitchFamily="2" charset="0"/>
              </a:rPr>
              <a:t>create_file</a:t>
            </a:r>
            <a:r>
              <a:rPr lang="en-US" altLang="zh-CN" sz="1200" u="sng" dirty="0">
                <a:latin typeface="Courier" pitchFamily="2" charset="0"/>
              </a:rPr>
              <a:t>(parent,</a:t>
            </a:r>
            <a:r>
              <a:rPr lang="zh-CN" altLang="en-US" sz="1200" u="sng" dirty="0">
                <a:latin typeface="Courier" pitchFamily="2" charset="0"/>
              </a:rPr>
              <a:t> </a:t>
            </a:r>
            <a:r>
              <a:rPr lang="en-US" altLang="zh-CN" sz="1200" u="sng" dirty="0">
                <a:latin typeface="Courier" pitchFamily="2" charset="0"/>
              </a:rPr>
              <a:t>leaf):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allocate_inode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init_inode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add_dentry_to_dir</a:t>
            </a:r>
            <a:r>
              <a:rPr lang="en-US" altLang="zh-CN" sz="1200" dirty="0">
                <a:latin typeface="Courier" pitchFamily="2" charset="0"/>
              </a:rPr>
              <a:t>(parent,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left,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50E7AA-13EA-4644-9FAB-625CC046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创建“</a:t>
            </a:r>
            <a:r>
              <a:rPr lang="en-US" altLang="zh-CN" b="0" dirty="0"/>
              <a:t>/OS/</a:t>
            </a:r>
            <a:r>
              <a:rPr lang="zh-CN" altLang="en-US" b="0" dirty="0"/>
              <a:t>考试”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B49DA-98F5-1046-879E-90793036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403DB-4FED-5D4F-923E-67DCE283E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FEEB3-1F13-A14C-B256-1A2113D5F292}"/>
              </a:ext>
            </a:extLst>
          </p:cNvPr>
          <p:cNvSpPr txBox="1"/>
          <p:nvPr/>
        </p:nvSpPr>
        <p:spPr>
          <a:xfrm>
            <a:off x="540441" y="2273885"/>
            <a:ext cx="4103568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CN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search_parent_dir</a:t>
            </a:r>
            <a:r>
              <a:rPr lang="en-US" altLang="zh-CN" sz="1200" dirty="0">
                <a:latin typeface="Courier" pitchFamily="2" charset="0"/>
              </a:rPr>
              <a:t>(pathname,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&amp;leaf);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c</a:t>
            </a:r>
            <a:r>
              <a:rPr lang="en-CN" altLang="zh-CN" sz="1200" dirty="0">
                <a:latin typeface="Courier" pitchFamily="2" charset="0"/>
              </a:rPr>
              <a:t>reate</a:t>
            </a:r>
            <a:r>
              <a:rPr lang="en-US" altLang="zh-CN" sz="1200" dirty="0">
                <a:latin typeface="Courier" pitchFamily="2" charset="0"/>
              </a:rPr>
              <a:t>_file(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leaf);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A5E90D-97A5-E847-B368-3837770EE277}"/>
              </a:ext>
            </a:extLst>
          </p:cNvPr>
          <p:cNvSpPr txBox="1"/>
          <p:nvPr/>
        </p:nvSpPr>
        <p:spPr>
          <a:xfrm>
            <a:off x="3491880" y="1514173"/>
            <a:ext cx="116070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parent</a:t>
            </a:r>
            <a:endParaRPr lang="en-C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B830B-9949-1A47-9AB1-9F026DDC7E85}"/>
              </a:ext>
            </a:extLst>
          </p:cNvPr>
          <p:cNvSpPr txBox="1"/>
          <p:nvPr/>
        </p:nvSpPr>
        <p:spPr>
          <a:xfrm>
            <a:off x="550259" y="1514173"/>
            <a:ext cx="252308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altLang="zh-CN" dirty="0"/>
              <a:t>leaf</a:t>
            </a:r>
            <a:r>
              <a:rPr lang="en-US" altLang="zh-CN" dirty="0"/>
              <a:t>:</a:t>
            </a:r>
            <a:r>
              <a:rPr lang="zh-CN" altLang="en-US" dirty="0"/>
              <a:t> 考试</a:t>
            </a:r>
            <a:endParaRPr lang="en-CN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F129A4-770C-AD4B-B1F6-34A807893A96}"/>
              </a:ext>
            </a:extLst>
          </p:cNvPr>
          <p:cNvSpPr/>
          <p:nvPr/>
        </p:nvSpPr>
        <p:spPr>
          <a:xfrm>
            <a:off x="4974585" y="3921639"/>
            <a:ext cx="19030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初始化</a:t>
            </a:r>
            <a:r>
              <a:rPr lang="en-US" altLang="zh-CN" dirty="0" err="1">
                <a:solidFill>
                  <a:srgbClr val="C00000"/>
                </a:solidFill>
              </a:rPr>
              <a:t>inode</a:t>
            </a:r>
            <a:r>
              <a:rPr lang="zh-CN" altLang="en-US" dirty="0">
                <a:solidFill>
                  <a:srgbClr val="C00000"/>
                </a:solidFill>
              </a:rPr>
              <a:t>内容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7430D5-D8B9-C349-84D1-EF43ACF06977}"/>
              </a:ext>
            </a:extLst>
          </p:cNvPr>
          <p:cNvSpPr/>
          <p:nvPr/>
        </p:nvSpPr>
        <p:spPr>
          <a:xfrm flipV="1">
            <a:off x="574514" y="4434124"/>
            <a:ext cx="2498830" cy="29558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570500-E542-DF4A-B3F6-0B528CF24E9A}"/>
              </a:ext>
            </a:extLst>
          </p:cNvPr>
          <p:cNvCxnSpPr>
            <a:cxnSpLocks/>
            <a:stCxn id="45" idx="1"/>
            <a:endCxn id="46" idx="3"/>
          </p:cNvCxnSpPr>
          <p:nvPr/>
        </p:nvCxnSpPr>
        <p:spPr>
          <a:xfrm flipH="1">
            <a:off x="3073344" y="4106305"/>
            <a:ext cx="1901241" cy="4756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F51E49-8665-1E45-A4CB-02F9459BB968}"/>
              </a:ext>
            </a:extLst>
          </p:cNvPr>
          <p:cNvCxnSpPr>
            <a:cxnSpLocks/>
          </p:cNvCxnSpPr>
          <p:nvPr/>
        </p:nvCxnSpPr>
        <p:spPr>
          <a:xfrm>
            <a:off x="4652586" y="1698839"/>
            <a:ext cx="1571553" cy="4399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F117609-480E-4748-9976-5C390DEC798E}"/>
              </a:ext>
            </a:extLst>
          </p:cNvPr>
          <p:cNvSpPr/>
          <p:nvPr/>
        </p:nvSpPr>
        <p:spPr>
          <a:xfrm>
            <a:off x="4683377" y="2966077"/>
            <a:ext cx="375027" cy="37502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400" b="1" dirty="0">
                <a:solidFill>
                  <a:srgbClr val="C00000"/>
                </a:solidFill>
              </a:rPr>
              <a:t>17</a:t>
            </a:r>
            <a:endParaRPr lang="en-CN" sz="1400" b="1" dirty="0">
              <a:solidFill>
                <a:srgbClr val="C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BB9A33-C805-EE4C-BE9F-C42867970623}"/>
              </a:ext>
            </a:extLst>
          </p:cNvPr>
          <p:cNvSpPr txBox="1"/>
          <p:nvPr/>
        </p:nvSpPr>
        <p:spPr>
          <a:xfrm>
            <a:off x="3495170" y="1881481"/>
            <a:ext cx="116070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inode</a:t>
            </a:r>
            <a:endParaRPr lang="en-C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593F380-F231-634B-B502-D8EFC9E8D8DE}"/>
              </a:ext>
            </a:extLst>
          </p:cNvPr>
          <p:cNvCxnSpPr>
            <a:cxnSpLocks/>
            <a:stCxn id="44" idx="3"/>
            <a:endCxn id="43" idx="0"/>
          </p:cNvCxnSpPr>
          <p:nvPr/>
        </p:nvCxnSpPr>
        <p:spPr>
          <a:xfrm>
            <a:off x="4655876" y="2066147"/>
            <a:ext cx="215015" cy="8999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83532F7-68D4-444A-8B16-FB1D5020F3A3}"/>
              </a:ext>
            </a:extLst>
          </p:cNvPr>
          <p:cNvGrpSpPr/>
          <p:nvPr/>
        </p:nvGrpSpPr>
        <p:grpSpPr>
          <a:xfrm>
            <a:off x="5652120" y="398161"/>
            <a:ext cx="3173733" cy="3310100"/>
            <a:chOff x="4819117" y="861490"/>
            <a:chExt cx="4218582" cy="439984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48C2FBC-F649-644F-97A2-53D23657C2E5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0A34F2E-40D5-0548-9D25-96D034EE1D58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9F53BDB-2342-CD43-80B6-8100A01E6BF1}"/>
                </a:ext>
              </a:extLst>
            </p:cNvPr>
            <p:cNvCxnSpPr>
              <a:cxnSpLocks/>
              <a:stCxn id="75" idx="4"/>
              <a:endCxn id="53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2F966A67-7E27-214C-87FF-E04F5722D175}"/>
                </a:ext>
              </a:extLst>
            </p:cNvPr>
            <p:cNvCxnSpPr>
              <a:cxnSpLocks/>
              <a:stCxn id="73" idx="5"/>
              <a:endCxn id="54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DCDA7E3-D236-D542-9E19-42081FAF70F3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947D785-F5B8-9444-87BD-18CD9B653B8C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77B87D5-CE9E-0A45-8C47-5BE84A536524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25A67AB-5220-844F-B619-50F07F3A41DC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0A1FC98-EC69-2349-8B3F-4121E6C3E337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F483B943-4C2F-8641-97DD-AE0BB972F45F}"/>
                </a:ext>
              </a:extLst>
            </p:cNvPr>
            <p:cNvCxnSpPr>
              <a:cxnSpLocks/>
              <a:stCxn id="74" idx="4"/>
              <a:endCxn id="60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6AD2806B-E571-AF42-9EA3-290A7B721A03}"/>
                </a:ext>
              </a:extLst>
            </p:cNvPr>
            <p:cNvCxnSpPr>
              <a:cxnSpLocks/>
              <a:stCxn id="74" idx="5"/>
              <a:endCxn id="61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DDBA088-F867-6A4C-8FE5-A0529729C6A2}"/>
                </a:ext>
              </a:extLst>
            </p:cNvPr>
            <p:cNvSpPr/>
            <p:nvPr/>
          </p:nvSpPr>
          <p:spPr>
            <a:xfrm>
              <a:off x="4819117" y="2789178"/>
              <a:ext cx="2158063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A31601E-148F-2849-9C24-491F6956DED4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86562A6-06B4-C244-A7A8-DBC96B8F1955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915CEBE-C5D4-D741-9998-DDEB78980EE7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5D3D8DD-638E-4B4B-B589-1E257011813F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AD76BF4A-1262-A14E-9896-A6D1BE963AD6}"/>
                </a:ext>
              </a:extLst>
            </p:cNvPr>
            <p:cNvCxnSpPr>
              <a:cxnSpLocks/>
              <a:stCxn id="73" idx="4"/>
              <a:endCxn id="75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80D9FBBC-C62D-554B-AE52-8494F365E106}"/>
                </a:ext>
              </a:extLst>
            </p:cNvPr>
            <p:cNvCxnSpPr>
              <a:cxnSpLocks/>
              <a:stCxn id="73" idx="3"/>
              <a:endCxn id="74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BD9795D-7781-B24C-BE1B-20134F91ED5B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E4EDED3-8FE0-CF4B-83F1-C6149C200218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0C65021-5B29-9F46-A22C-0C2354607982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8572E82-7DFC-8241-8991-7921D0A986CD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D18F4BA-E546-4A4B-B071-7FDE4376DA0E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A40ECB2C-96E1-BF45-92A7-1DE4AEA1AB7C}"/>
                </a:ext>
              </a:extLst>
            </p:cNvPr>
            <p:cNvCxnSpPr>
              <a:stCxn id="61" idx="4"/>
              <a:endCxn id="75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A0378FA-248F-454A-BD7B-88938C7526DC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73875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43DD6AEC-1099-3D48-8B94-5495DB5D9747}"/>
              </a:ext>
            </a:extLst>
          </p:cNvPr>
          <p:cNvSpPr txBox="1"/>
          <p:nvPr/>
        </p:nvSpPr>
        <p:spPr>
          <a:xfrm>
            <a:off x="536198" y="3684123"/>
            <a:ext cx="4103568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u="sng" dirty="0" err="1">
                <a:latin typeface="Courier" pitchFamily="2" charset="0"/>
              </a:rPr>
              <a:t>create_file</a:t>
            </a:r>
            <a:r>
              <a:rPr lang="en-US" altLang="zh-CN" sz="1200" u="sng" dirty="0">
                <a:latin typeface="Courier" pitchFamily="2" charset="0"/>
              </a:rPr>
              <a:t>(parent,</a:t>
            </a:r>
            <a:r>
              <a:rPr lang="zh-CN" altLang="en-US" sz="1200" u="sng" dirty="0">
                <a:latin typeface="Courier" pitchFamily="2" charset="0"/>
              </a:rPr>
              <a:t> </a:t>
            </a:r>
            <a:r>
              <a:rPr lang="en-US" altLang="zh-CN" sz="1200" u="sng" dirty="0">
                <a:latin typeface="Courier" pitchFamily="2" charset="0"/>
              </a:rPr>
              <a:t>leaf):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allocate_inode</a:t>
            </a:r>
            <a:r>
              <a:rPr lang="en-US" altLang="zh-CN" sz="1200" dirty="0">
                <a:latin typeface="Courier" pitchFamily="2" charset="0"/>
              </a:rPr>
              <a:t>();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init_inode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add_dentry_to_dir</a:t>
            </a:r>
            <a:r>
              <a:rPr lang="en-US" altLang="zh-CN" sz="1200" dirty="0">
                <a:latin typeface="Courier" pitchFamily="2" charset="0"/>
              </a:rPr>
              <a:t>(parent,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left,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50E7AA-13EA-4644-9FAB-625CC046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创建“</a:t>
            </a:r>
            <a:r>
              <a:rPr lang="en-US" altLang="zh-CN" b="0" dirty="0"/>
              <a:t>/OS/</a:t>
            </a:r>
            <a:r>
              <a:rPr lang="zh-CN" altLang="en-US" b="0" dirty="0"/>
              <a:t>考试”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B49DA-98F5-1046-879E-90793036F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403DB-4FED-5D4F-923E-67DCE283E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FEEB3-1F13-A14C-B256-1A2113D5F292}"/>
              </a:ext>
            </a:extLst>
          </p:cNvPr>
          <p:cNvSpPr txBox="1"/>
          <p:nvPr/>
        </p:nvSpPr>
        <p:spPr>
          <a:xfrm>
            <a:off x="540441" y="2273885"/>
            <a:ext cx="4103568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char</a:t>
            </a:r>
            <a:r>
              <a:rPr lang="zh-CN" altLang="en-US" sz="1200" dirty="0">
                <a:latin typeface="Courier" pitchFamily="2" charset="0"/>
              </a:rPr>
              <a:t> *</a:t>
            </a:r>
            <a:r>
              <a:rPr lang="en-US" altLang="zh-CN" sz="1200" dirty="0">
                <a:latin typeface="Courier" pitchFamily="2" charset="0"/>
              </a:rPr>
              <a:t>pathname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“/OS/</a:t>
            </a:r>
            <a:r>
              <a:rPr lang="zh-CN" altLang="en-CN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”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search_parent_dir</a:t>
            </a:r>
            <a:r>
              <a:rPr lang="en-US" altLang="zh-CN" sz="1200" dirty="0">
                <a:latin typeface="Courier" pitchFamily="2" charset="0"/>
              </a:rPr>
              <a:t>(pathname,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&amp;leaf);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c</a:t>
            </a:r>
            <a:r>
              <a:rPr lang="en-CN" altLang="zh-CN" sz="1200" dirty="0">
                <a:latin typeface="Courier" pitchFamily="2" charset="0"/>
              </a:rPr>
              <a:t>reate</a:t>
            </a:r>
            <a:r>
              <a:rPr lang="en-US" altLang="zh-CN" sz="1200" dirty="0">
                <a:latin typeface="Courier" pitchFamily="2" charset="0"/>
              </a:rPr>
              <a:t>_file(</a:t>
            </a:r>
            <a:r>
              <a:rPr lang="en-US" altLang="zh-CN" sz="1200" dirty="0" err="1">
                <a:latin typeface="Courier" pitchFamily="2" charset="0"/>
              </a:rPr>
              <a:t>inode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leaf);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A5E90D-97A5-E847-B368-3837770EE277}"/>
              </a:ext>
            </a:extLst>
          </p:cNvPr>
          <p:cNvSpPr txBox="1"/>
          <p:nvPr/>
        </p:nvSpPr>
        <p:spPr>
          <a:xfrm>
            <a:off x="3491880" y="1514173"/>
            <a:ext cx="116070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parent</a:t>
            </a:r>
            <a:endParaRPr lang="en-C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B830B-9949-1A47-9AB1-9F026DDC7E85}"/>
              </a:ext>
            </a:extLst>
          </p:cNvPr>
          <p:cNvSpPr txBox="1"/>
          <p:nvPr/>
        </p:nvSpPr>
        <p:spPr>
          <a:xfrm>
            <a:off x="550259" y="1514173"/>
            <a:ext cx="2523085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CN" altLang="zh-CN" dirty="0"/>
              <a:t>leaf</a:t>
            </a:r>
            <a:r>
              <a:rPr lang="en-US" altLang="zh-CN" dirty="0"/>
              <a:t>:</a:t>
            </a:r>
            <a:r>
              <a:rPr lang="zh-CN" altLang="en-US" dirty="0"/>
              <a:t> 考试</a:t>
            </a:r>
            <a:endParaRPr lang="en-CN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F129A4-770C-AD4B-B1F6-34A807893A96}"/>
              </a:ext>
            </a:extLst>
          </p:cNvPr>
          <p:cNvSpPr/>
          <p:nvPr/>
        </p:nvSpPr>
        <p:spPr>
          <a:xfrm>
            <a:off x="4974585" y="3921639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父目录中加入目录项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7430D5-D8B9-C349-84D1-EF43ACF06977}"/>
              </a:ext>
            </a:extLst>
          </p:cNvPr>
          <p:cNvSpPr/>
          <p:nvPr/>
        </p:nvSpPr>
        <p:spPr>
          <a:xfrm>
            <a:off x="574514" y="4819627"/>
            <a:ext cx="3709454" cy="23767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570500-E542-DF4A-B3F6-0B528CF24E9A}"/>
              </a:ext>
            </a:extLst>
          </p:cNvPr>
          <p:cNvCxnSpPr>
            <a:cxnSpLocks/>
            <a:stCxn id="45" idx="1"/>
            <a:endCxn id="46" idx="3"/>
          </p:cNvCxnSpPr>
          <p:nvPr/>
        </p:nvCxnSpPr>
        <p:spPr>
          <a:xfrm flipH="1">
            <a:off x="4283968" y="4106305"/>
            <a:ext cx="690617" cy="8321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F51E49-8665-1E45-A4CB-02F9459BB968}"/>
              </a:ext>
            </a:extLst>
          </p:cNvPr>
          <p:cNvCxnSpPr>
            <a:cxnSpLocks/>
          </p:cNvCxnSpPr>
          <p:nvPr/>
        </p:nvCxnSpPr>
        <p:spPr>
          <a:xfrm>
            <a:off x="4652586" y="1698839"/>
            <a:ext cx="1571553" cy="43995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7F117609-480E-4748-9976-5C390DEC798E}"/>
              </a:ext>
            </a:extLst>
          </p:cNvPr>
          <p:cNvSpPr/>
          <p:nvPr/>
        </p:nvSpPr>
        <p:spPr>
          <a:xfrm>
            <a:off x="4683377" y="2966077"/>
            <a:ext cx="375027" cy="37502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1400" b="1" dirty="0">
                <a:solidFill>
                  <a:srgbClr val="C00000"/>
                </a:solidFill>
              </a:rPr>
              <a:t>17</a:t>
            </a:r>
            <a:endParaRPr lang="en-CN" sz="1400" b="1" dirty="0">
              <a:solidFill>
                <a:srgbClr val="C0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BB9A33-C805-EE4C-BE9F-C42867970623}"/>
              </a:ext>
            </a:extLst>
          </p:cNvPr>
          <p:cNvSpPr txBox="1"/>
          <p:nvPr/>
        </p:nvSpPr>
        <p:spPr>
          <a:xfrm>
            <a:off x="3495170" y="1881481"/>
            <a:ext cx="1160706" cy="36933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inode</a:t>
            </a:r>
            <a:endParaRPr lang="en-CN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593F380-F231-634B-B502-D8EFC9E8D8DE}"/>
              </a:ext>
            </a:extLst>
          </p:cNvPr>
          <p:cNvCxnSpPr>
            <a:cxnSpLocks/>
            <a:stCxn id="44" idx="3"/>
            <a:endCxn id="43" idx="0"/>
          </p:cNvCxnSpPr>
          <p:nvPr/>
        </p:nvCxnSpPr>
        <p:spPr>
          <a:xfrm>
            <a:off x="4655876" y="2066147"/>
            <a:ext cx="215015" cy="8999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3AAEAE-6F38-9047-87D1-E315AC442C49}"/>
              </a:ext>
            </a:extLst>
          </p:cNvPr>
          <p:cNvCxnSpPr>
            <a:cxnSpLocks/>
            <a:endCxn id="43" idx="7"/>
          </p:cNvCxnSpPr>
          <p:nvPr/>
        </p:nvCxnSpPr>
        <p:spPr>
          <a:xfrm flipH="1">
            <a:off x="5003483" y="2138790"/>
            <a:ext cx="1220656" cy="8822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ACFA62F-F54F-0942-B2DB-CE1475E09992}"/>
              </a:ext>
            </a:extLst>
          </p:cNvPr>
          <p:cNvGrpSpPr/>
          <p:nvPr/>
        </p:nvGrpSpPr>
        <p:grpSpPr>
          <a:xfrm>
            <a:off x="5375330" y="398161"/>
            <a:ext cx="3450523" cy="3310100"/>
            <a:chOff x="4451203" y="861490"/>
            <a:chExt cx="4586496" cy="4399844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80633C5-FC38-174F-A68A-A3777DEDF9E7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2</a:t>
              </a:r>
              <a:endParaRPr lang="en-CN" sz="1400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149C6E5-45F1-A144-8C49-9A11B609C125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3</a:t>
              </a:r>
              <a:endParaRPr lang="en-CN" sz="1400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B49D527-EE50-8847-881E-7E01F04F9784}"/>
                </a:ext>
              </a:extLst>
            </p:cNvPr>
            <p:cNvCxnSpPr>
              <a:cxnSpLocks/>
              <a:stCxn id="76" idx="4"/>
              <a:endCxn id="5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DFF7101-CA74-674B-9364-25B5221E2C9A}"/>
                </a:ext>
              </a:extLst>
            </p:cNvPr>
            <p:cNvCxnSpPr>
              <a:cxnSpLocks/>
              <a:stCxn id="74" idx="5"/>
              <a:endCxn id="5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7406198-6152-EB41-9DDC-FDDB15C5C64B}"/>
                </a:ext>
              </a:extLst>
            </p:cNvPr>
            <p:cNvSpPr txBox="1"/>
            <p:nvPr/>
          </p:nvSpPr>
          <p:spPr>
            <a:xfrm>
              <a:off x="7081504" y="3543789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096E6BF-D3E9-0C40-9089-868E30BF360B}"/>
                </a:ext>
              </a:extLst>
            </p:cNvPr>
            <p:cNvSpPr txBox="1"/>
            <p:nvPr/>
          </p:nvSpPr>
          <p:spPr>
            <a:xfrm>
              <a:off x="7554774" y="1886026"/>
              <a:ext cx="115136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数据结构</a:t>
              </a:r>
              <a:endParaRPr lang="en-CN" sz="14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3033C0C-A368-574A-8AD3-4934E945332A}"/>
                </a:ext>
              </a:extLst>
            </p:cNvPr>
            <p:cNvSpPr txBox="1"/>
            <p:nvPr/>
          </p:nvSpPr>
          <p:spPr>
            <a:xfrm>
              <a:off x="7621411" y="861490"/>
              <a:ext cx="922403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根</a:t>
              </a:r>
              <a:r>
                <a:rPr lang="zh-CN" altLang="en-CN" sz="1400" dirty="0"/>
                <a:t>目录</a:t>
              </a:r>
              <a:endParaRPr lang="en-CN" sz="1400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8AA8836-A7C4-D149-9680-98F9B3696129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7</a:t>
              </a:r>
              <a:endParaRPr lang="en-CN" sz="1400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E047144-2ECF-5B41-A65E-4A2B5EA4B570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4</a:t>
              </a:r>
              <a:endParaRPr lang="en-CN" sz="1400" dirty="0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F4A83B1B-F924-5246-B997-B2E2C1333578}"/>
                </a:ext>
              </a:extLst>
            </p:cNvPr>
            <p:cNvCxnSpPr>
              <a:cxnSpLocks/>
              <a:stCxn id="75" idx="4"/>
              <a:endCxn id="61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705EE0B5-5C73-6442-9B8C-9E9448204026}"/>
                </a:ext>
              </a:extLst>
            </p:cNvPr>
            <p:cNvCxnSpPr>
              <a:cxnSpLocks/>
              <a:stCxn id="75" idx="5"/>
              <a:endCxn id="62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62DDB7D-2ED6-5C4D-AE71-5598628926BE}"/>
                </a:ext>
              </a:extLst>
            </p:cNvPr>
            <p:cNvSpPr/>
            <p:nvPr/>
          </p:nvSpPr>
          <p:spPr>
            <a:xfrm>
              <a:off x="4451203" y="2789178"/>
              <a:ext cx="2525977" cy="113893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25BB2E4-6015-584E-B53B-960C3CA2FA5D}"/>
                </a:ext>
              </a:extLst>
            </p:cNvPr>
            <p:cNvSpPr txBox="1"/>
            <p:nvPr/>
          </p:nvSpPr>
          <p:spPr>
            <a:xfrm>
              <a:off x="5953873" y="1882739"/>
              <a:ext cx="566689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endParaRPr lang="en-CN" sz="1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B09FBB4-40FC-5D4B-B264-59B92DD9AC3F}"/>
                </a:ext>
              </a:extLst>
            </p:cNvPr>
            <p:cNvSpPr txBox="1"/>
            <p:nvPr/>
          </p:nvSpPr>
          <p:spPr>
            <a:xfrm>
              <a:off x="5093993" y="3596255"/>
              <a:ext cx="1067927" cy="409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OS</a:t>
              </a:r>
              <a:r>
                <a:rPr lang="zh-CN" altLang="en-US" sz="1400" dirty="0"/>
                <a:t>笔记</a:t>
              </a:r>
              <a:endParaRPr lang="en-CN" sz="14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F1CE7F9-2184-B04B-A1FB-79C137507A3C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47D3AEF-FB34-0E44-AADE-D37191C68525}"/>
                </a:ext>
              </a:extLst>
            </p:cNvPr>
            <p:cNvSpPr/>
            <p:nvPr/>
          </p:nvSpPr>
          <p:spPr>
            <a:xfrm>
              <a:off x="5484187" y="1302142"/>
              <a:ext cx="3202613" cy="1204824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DE9A975D-6FDB-E749-A01F-24A546656D5C}"/>
                </a:ext>
              </a:extLst>
            </p:cNvPr>
            <p:cNvCxnSpPr>
              <a:cxnSpLocks/>
              <a:stCxn id="74" idx="4"/>
              <a:endCxn id="76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64CE758C-BAF4-D34B-830D-2FB5E650639F}"/>
                </a:ext>
              </a:extLst>
            </p:cNvPr>
            <p:cNvCxnSpPr>
              <a:cxnSpLocks/>
              <a:stCxn id="74" idx="3"/>
              <a:endCxn id="75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B1D69BD-4E27-3641-BDCB-99AB92C9A9F7}"/>
                </a:ext>
              </a:extLst>
            </p:cNvPr>
            <p:cNvSpPr txBox="1"/>
            <p:nvPr/>
          </p:nvSpPr>
          <p:spPr>
            <a:xfrm>
              <a:off x="6732201" y="1909082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算法</a:t>
              </a:r>
              <a:endParaRPr lang="en-CN" sz="14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B46BCFF-71BB-2847-B445-FE6DECBF22E9}"/>
                </a:ext>
              </a:extLst>
            </p:cNvPr>
            <p:cNvSpPr txBox="1"/>
            <p:nvPr/>
          </p:nvSpPr>
          <p:spPr>
            <a:xfrm>
              <a:off x="6326886" y="3424411"/>
              <a:ext cx="693438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其他</a:t>
              </a:r>
              <a:endParaRPr lang="en-CN" sz="140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D7F0E153-079A-864B-A01C-328B7AD02D1A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0</a:t>
              </a:r>
              <a:endParaRPr lang="en-CN" sz="1400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187A662F-0314-624F-9D10-160F55B57433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13</a:t>
              </a:r>
              <a:endParaRPr lang="en-CN" sz="1400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1D84F9DA-695E-7544-89CC-500374407FF1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400" dirty="0"/>
                <a:t>14</a:t>
              </a:r>
              <a:endParaRPr lang="en-CN" sz="1400" dirty="0"/>
            </a:p>
          </p:txBody>
        </p:sp>
        <p:cxnSp>
          <p:nvCxnSpPr>
            <p:cNvPr id="77" name="Curved Connector 76">
              <a:extLst>
                <a:ext uri="{FF2B5EF4-FFF2-40B4-BE49-F238E27FC236}">
                  <a16:creationId xmlns:a16="http://schemas.microsoft.com/office/drawing/2014/main" id="{BBBEB2CB-3F46-FB4E-A1AC-B2BBD44F8154}"/>
                </a:ext>
              </a:extLst>
            </p:cNvPr>
            <p:cNvCxnSpPr>
              <a:stCxn id="62" idx="4"/>
              <a:endCxn id="76" idx="3"/>
            </p:cNvCxnSpPr>
            <p:nvPr/>
          </p:nvCxnSpPr>
          <p:spPr>
            <a:xfrm rot="5400000" flipH="1" flipV="1">
              <a:off x="6423668" y="3725280"/>
              <a:ext cx="1235981" cy="524419"/>
            </a:xfrm>
            <a:prstGeom prst="curvedConnector3">
              <a:avLst>
                <a:gd name="adj1" fmla="val -18495"/>
              </a:avLst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97D6DB9-5569-7F4F-B16C-C87424F0FF85}"/>
                </a:ext>
              </a:extLst>
            </p:cNvPr>
            <p:cNvSpPr txBox="1"/>
            <p:nvPr/>
          </p:nvSpPr>
          <p:spPr>
            <a:xfrm>
              <a:off x="6495446" y="4868821"/>
              <a:ext cx="1214744" cy="3925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“</a:t>
              </a:r>
              <a:r>
                <a:rPr lang="en-US" altLang="zh-CN" sz="1400" dirty="0"/>
                <a:t>/</a:t>
              </a:r>
              <a:r>
                <a:rPr lang="zh-CN" altLang="en-US" sz="1400" dirty="0"/>
                <a:t>算法”</a:t>
              </a:r>
              <a:endParaRPr lang="en-CN" sz="1400" dirty="0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A959C89-D839-AD41-A91F-3F9068D4F2AA}"/>
              </a:ext>
            </a:extLst>
          </p:cNvPr>
          <p:cNvSpPr txBox="1"/>
          <p:nvPr/>
        </p:nvSpPr>
        <p:spPr>
          <a:xfrm>
            <a:off x="5368880" y="215016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400" dirty="0">
                <a:solidFill>
                  <a:srgbClr val="C00000"/>
                </a:solidFill>
              </a:rPr>
              <a:t>考试</a:t>
            </a:r>
            <a:endParaRPr lang="en-CN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801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6C8C18A-3236-054D-B104-38051A811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8075241" cy="3771636"/>
          </a:xfrm>
        </p:spPr>
        <p:txBody>
          <a:bodyPr>
            <a:normAutofit/>
          </a:bodyPr>
          <a:lstStyle/>
          <a:p>
            <a:r>
              <a:rPr lang="zh-CN" altLang="en-CN" sz="2000" b="0" dirty="0"/>
              <a:t>打开</a:t>
            </a:r>
            <a:r>
              <a:rPr lang="zh-CN" altLang="en-US" sz="2000" b="0" dirty="0"/>
              <a:t>文件</a:t>
            </a:r>
            <a:endParaRPr lang="en-US" altLang="zh-CN" sz="2000" b="0" dirty="0"/>
          </a:p>
          <a:p>
            <a:pPr lvl="1"/>
            <a:r>
              <a:rPr lang="zh-CN" altLang="en-US" sz="1800" b="0" dirty="0"/>
              <a:t>查找目标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，分配新的</a:t>
            </a:r>
            <a:r>
              <a:rPr lang="en-US" altLang="zh-CN" sz="1800" b="0" dirty="0" err="1"/>
              <a:t>fd</a:t>
            </a:r>
            <a:r>
              <a:rPr lang="zh-CN" altLang="en-US" sz="1800" b="0" dirty="0"/>
              <a:t>结构保存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，返回</a:t>
            </a:r>
            <a:r>
              <a:rPr lang="en-US" altLang="zh-CN" sz="1800" b="0" dirty="0" err="1"/>
              <a:t>fd</a:t>
            </a:r>
            <a:r>
              <a:rPr lang="zh-CN" altLang="en-US" sz="1800" b="0" dirty="0"/>
              <a:t>号</a:t>
            </a:r>
            <a:endParaRPr lang="en-US" altLang="zh-CN" sz="1800" b="0" dirty="0"/>
          </a:p>
          <a:p>
            <a:r>
              <a:rPr lang="zh-CN" altLang="en-US" sz="2000" b="0" dirty="0"/>
              <a:t>读写文件</a:t>
            </a:r>
            <a:endParaRPr lang="en-US" altLang="zh-CN" sz="2000" b="0" dirty="0"/>
          </a:p>
          <a:p>
            <a:pPr lvl="1"/>
            <a:r>
              <a:rPr lang="zh-CN" altLang="en-US" sz="1800" b="0" dirty="0"/>
              <a:t>默认从</a:t>
            </a:r>
            <a:r>
              <a:rPr lang="en-US" altLang="zh-CN" sz="1800" b="0" dirty="0" err="1"/>
              <a:t>fd</a:t>
            </a:r>
            <a:r>
              <a:rPr lang="zh-CN" altLang="en-US" sz="1800" b="0" dirty="0"/>
              <a:t>结构中记录的</a:t>
            </a:r>
            <a:r>
              <a:rPr lang="zh-CN" altLang="en-US" sz="1800" dirty="0"/>
              <a:t>位置开始读写，读写位置向文件尾移动</a:t>
            </a:r>
            <a:endParaRPr lang="en-US" altLang="zh-CN" sz="1800" dirty="0"/>
          </a:p>
          <a:p>
            <a:pPr lvl="1"/>
            <a:r>
              <a:rPr lang="zh-CN" altLang="en-US" sz="1800" dirty="0"/>
              <a:t>可通过</a:t>
            </a:r>
            <a:r>
              <a:rPr lang="en-US" altLang="zh-CN" sz="1800" dirty="0" err="1"/>
              <a:t>lseek</a:t>
            </a:r>
            <a:r>
              <a:rPr lang="zh-CN" altLang="en-US" sz="1800" dirty="0"/>
              <a:t>调整</a:t>
            </a:r>
            <a:r>
              <a:rPr lang="en-US" altLang="zh-CN" sz="1800" dirty="0" err="1"/>
              <a:t>fd</a:t>
            </a:r>
            <a:r>
              <a:rPr lang="zh-CN" altLang="en-US" sz="1800" dirty="0"/>
              <a:t>结构中记录的读写位置</a:t>
            </a:r>
            <a:endParaRPr lang="en-US" altLang="zh-CN" sz="1800" b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D2C0EB-490F-7541-A1AB-CA765CAD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打开和读写文件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E76A1-D179-EC4D-8A08-F647CB14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CE820-4209-214D-B1D7-9D27BDBF8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3B1426-3F13-1D4A-8D1D-406DEC4AE0D3}"/>
              </a:ext>
            </a:extLst>
          </p:cNvPr>
          <p:cNvSpPr txBox="1"/>
          <p:nvPr/>
        </p:nvSpPr>
        <p:spPr>
          <a:xfrm>
            <a:off x="756493" y="3768563"/>
            <a:ext cx="4151053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int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open(“/OS/</a:t>
            </a:r>
            <a:r>
              <a:rPr lang="zh-CN" altLang="en-US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”,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O_CREAT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|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O_RDWR);</a:t>
            </a:r>
          </a:p>
          <a:p>
            <a:r>
              <a:rPr lang="en-US" altLang="zh-CN" sz="1200" dirty="0">
                <a:latin typeface="Courier" pitchFamily="2" charset="0"/>
              </a:rPr>
              <a:t>write(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buf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5000);</a:t>
            </a:r>
          </a:p>
          <a:p>
            <a:r>
              <a:rPr lang="en-US" altLang="zh-CN" sz="1200" dirty="0">
                <a:latin typeface="Courier" pitchFamily="2" charset="0"/>
              </a:rPr>
              <a:t>write(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buf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5000);</a:t>
            </a:r>
          </a:p>
          <a:p>
            <a:r>
              <a:rPr lang="en-US" altLang="zh-CN" sz="1200" dirty="0" err="1">
                <a:latin typeface="Courier" pitchFamily="2" charset="0"/>
              </a:rPr>
              <a:t>lseek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0, SEEK_SET);</a:t>
            </a:r>
          </a:p>
          <a:p>
            <a:r>
              <a:rPr lang="en-US" altLang="zh-CN" sz="1200" dirty="0">
                <a:latin typeface="Courier" pitchFamily="2" charset="0"/>
              </a:rPr>
              <a:t>read(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buf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5000);</a:t>
            </a:r>
          </a:p>
          <a:p>
            <a:r>
              <a:rPr lang="en-US" altLang="zh-CN" sz="1200" dirty="0">
                <a:latin typeface="Courier" pitchFamily="2" charset="0"/>
              </a:rPr>
              <a:t>write(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buf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5000);</a:t>
            </a:r>
          </a:p>
          <a:p>
            <a:r>
              <a:rPr lang="en-US" altLang="zh-CN" sz="1200" dirty="0">
                <a:latin typeface="Courier" pitchFamily="2" charset="0"/>
              </a:rPr>
              <a:t>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34E97E-CE31-7A4B-BFD3-D3D9E257AE4A}"/>
              </a:ext>
            </a:extLst>
          </p:cNvPr>
          <p:cNvSpPr txBox="1"/>
          <p:nvPr/>
        </p:nvSpPr>
        <p:spPr>
          <a:xfrm>
            <a:off x="5868144" y="3133693"/>
            <a:ext cx="2519363" cy="21236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typedef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struct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b="1" dirty="0">
                <a:latin typeface="Courier" pitchFamily="2" charset="0"/>
              </a:rPr>
              <a:t>  </a:t>
            </a:r>
            <a:r>
              <a:rPr lang="en-US" altLang="zh-CN" sz="1200" b="1" dirty="0" err="1">
                <a:latin typeface="Courier" pitchFamily="2" charset="0"/>
              </a:rPr>
              <a:t>off_t</a:t>
            </a:r>
            <a:r>
              <a:rPr lang="zh-CN" altLang="en-US" sz="1200" b="1" dirty="0">
                <a:latin typeface="Courier" pitchFamily="2" charset="0"/>
              </a:rPr>
              <a:t> </a:t>
            </a:r>
            <a:r>
              <a:rPr lang="en-US" altLang="zh-CN" sz="1200" b="1" dirty="0">
                <a:latin typeface="Courier" pitchFamily="2" charset="0"/>
              </a:rPr>
              <a:t>pos;</a:t>
            </a:r>
          </a:p>
          <a:p>
            <a:r>
              <a:rPr lang="zh-CN" altLang="en-US" sz="1200" b="1" dirty="0">
                <a:latin typeface="Courier" pitchFamily="2" charset="0"/>
              </a:rPr>
              <a:t>  </a:t>
            </a:r>
            <a:r>
              <a:rPr lang="en-US" altLang="zh-CN" sz="1200" b="1" dirty="0">
                <a:latin typeface="Courier" pitchFamily="2" charset="0"/>
              </a:rPr>
              <a:t>struct</a:t>
            </a:r>
            <a:r>
              <a:rPr lang="zh-CN" altLang="en-US" sz="1200" b="1" dirty="0">
                <a:latin typeface="Courier" pitchFamily="2" charset="0"/>
              </a:rPr>
              <a:t> </a:t>
            </a:r>
            <a:r>
              <a:rPr lang="en-US" altLang="zh-CN" sz="1200" b="1" dirty="0" err="1">
                <a:latin typeface="Courier" pitchFamily="2" charset="0"/>
              </a:rPr>
              <a:t>inode</a:t>
            </a:r>
            <a:r>
              <a:rPr lang="zh-CN" altLang="en-US" sz="1200" b="1" dirty="0">
                <a:latin typeface="Courier" pitchFamily="2" charset="0"/>
              </a:rPr>
              <a:t> *</a:t>
            </a:r>
            <a:r>
              <a:rPr lang="en-US" altLang="zh-CN" sz="1200" b="1" dirty="0" err="1">
                <a:latin typeface="Courier" pitchFamily="2" charset="0"/>
              </a:rPr>
              <a:t>inode</a:t>
            </a:r>
            <a:r>
              <a:rPr lang="en-US" altLang="zh-CN" sz="1200" b="1" dirty="0">
                <a:latin typeface="Courier" pitchFamily="2" charset="0"/>
              </a:rPr>
              <a:t>;</a:t>
            </a:r>
          </a:p>
          <a:p>
            <a:r>
              <a:rPr lang="zh-CN" altLang="en-US" sz="1200" dirty="0">
                <a:latin typeface="Courier" pitchFamily="2" charset="0"/>
              </a:rPr>
              <a:t> 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fd_t</a:t>
            </a:r>
            <a:r>
              <a:rPr lang="en-US" altLang="zh-CN" sz="1200" dirty="0">
                <a:latin typeface="Courier" pitchFamily="2" charset="0"/>
              </a:rPr>
              <a:t>;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struct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task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{</a:t>
            </a:r>
          </a:p>
          <a:p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fd_t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fd_table</a:t>
            </a:r>
            <a:r>
              <a:rPr lang="en-US" altLang="zh-CN" sz="1200" dirty="0">
                <a:latin typeface="Courier" pitchFamily="2" charset="0"/>
              </a:rPr>
              <a:t>[MAX_FD];</a:t>
            </a:r>
          </a:p>
          <a:p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...</a:t>
            </a:r>
          </a:p>
          <a:p>
            <a:r>
              <a:rPr lang="en-US" altLang="zh-CN" sz="1200" dirty="0">
                <a:latin typeface="Courier" pitchFamily="2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508055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D2C0EB-490F-7541-A1AB-CA765CAD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mmap()</a:t>
            </a:r>
            <a:r>
              <a:rPr lang="zh-CN" altLang="en-US" dirty="0"/>
              <a:t>：用内存接口来访问文件</a:t>
            </a:r>
            <a:endParaRPr lang="en-C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10A75B-5D1F-804D-822F-90387F976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0" dirty="0"/>
              <a:t>m</a:t>
            </a:r>
            <a:r>
              <a:rPr lang="en-CN" sz="2000" b="0" dirty="0"/>
              <a:t>map</a:t>
            </a:r>
            <a:r>
              <a:rPr lang="zh-CN" altLang="en-CN" sz="2000" b="0" dirty="0"/>
              <a:t>可</a:t>
            </a:r>
            <a:r>
              <a:rPr lang="zh-CN" altLang="en-US" sz="2000" b="0" dirty="0"/>
              <a:t>将文件映射到虚拟内存空间中</a:t>
            </a:r>
            <a:endParaRPr lang="en-US" altLang="zh-CN" sz="2000" b="0" dirty="0"/>
          </a:p>
          <a:p>
            <a:pPr marL="800100" lvl="1" indent="-342900">
              <a:buAutoNum type="arabicPeriod"/>
            </a:pPr>
            <a:r>
              <a:rPr lang="en-US" altLang="zh-CN" sz="1600" dirty="0" err="1"/>
              <a:t>m</a:t>
            </a:r>
            <a:r>
              <a:rPr lang="en-US" sz="1600" b="0" dirty="0" err="1"/>
              <a:t>map</a:t>
            </a:r>
            <a:r>
              <a:rPr lang="zh-CN" altLang="en-US" sz="1600" b="0" dirty="0"/>
              <a:t>时分配虚拟地址，并标记此段虚拟地址与该文件的</a:t>
            </a:r>
            <a:r>
              <a:rPr lang="en-US" altLang="zh-CN" sz="1600" b="0" dirty="0" err="1"/>
              <a:t>inode</a:t>
            </a:r>
            <a:r>
              <a:rPr lang="zh-CN" altLang="en-US" sz="1600" b="0" dirty="0"/>
              <a:t>绑定</a:t>
            </a:r>
            <a:endParaRPr lang="en-US" altLang="zh-CN" sz="1600" b="0" dirty="0"/>
          </a:p>
          <a:p>
            <a:pPr marL="800100" lvl="1" indent="-342900">
              <a:buAutoNum type="arabicPeriod"/>
            </a:pPr>
            <a:r>
              <a:rPr lang="zh-CN" altLang="en-US" sz="1600" dirty="0"/>
              <a:t>访问</a:t>
            </a:r>
            <a:r>
              <a:rPr lang="en-US" altLang="zh-CN" sz="1600" dirty="0" err="1"/>
              <a:t>mmap</a:t>
            </a:r>
            <a:r>
              <a:rPr lang="zh-CN" altLang="en-US" sz="1600" dirty="0"/>
              <a:t>返回的虚拟地址时，触发缺页中断（</a:t>
            </a:r>
            <a:r>
              <a:rPr lang="en-US" altLang="zh-CN" sz="1600" dirty="0"/>
              <a:t>page</a:t>
            </a:r>
            <a:r>
              <a:rPr lang="zh-CN" altLang="en-US" sz="1600" dirty="0"/>
              <a:t> </a:t>
            </a:r>
            <a:r>
              <a:rPr lang="en-US" altLang="zh-CN" sz="1600" dirty="0"/>
              <a:t>fault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marL="800100" lvl="1" indent="-342900">
              <a:buAutoNum type="arabicPeriod"/>
            </a:pPr>
            <a:r>
              <a:rPr lang="zh-CN" altLang="en-US" sz="1600" b="0" dirty="0"/>
              <a:t>缺页中断处理函数，通过虚拟地址，找到该文件的</a:t>
            </a:r>
            <a:r>
              <a:rPr lang="en-US" altLang="zh-CN" sz="1600" b="0" dirty="0" err="1"/>
              <a:t>inode</a:t>
            </a:r>
            <a:endParaRPr lang="en-US" altLang="zh-CN" sz="1600" b="0" dirty="0"/>
          </a:p>
          <a:p>
            <a:pPr marL="800100" lvl="1" indent="-342900">
              <a:buAutoNum type="arabicPeriod"/>
            </a:pPr>
            <a:r>
              <a:rPr lang="zh-CN" altLang="en-US" sz="1600" dirty="0"/>
              <a:t>从磁盘中将</a:t>
            </a:r>
            <a:r>
              <a:rPr lang="en-US" altLang="zh-CN" sz="1600" dirty="0" err="1"/>
              <a:t>inode</a:t>
            </a:r>
            <a:r>
              <a:rPr lang="zh-CN" altLang="en-US" sz="1600" dirty="0"/>
              <a:t>中对应的数据读到内存页中</a:t>
            </a:r>
            <a:endParaRPr lang="en-US" altLang="zh-CN" sz="1600" dirty="0"/>
          </a:p>
          <a:p>
            <a:pPr marL="800100" lvl="1" indent="-342900">
              <a:buAutoNum type="arabicPeriod"/>
            </a:pPr>
            <a:r>
              <a:rPr lang="zh-CN" altLang="en-US" sz="1600" b="0" dirty="0"/>
              <a:t>将内存页映射添加到页表中</a:t>
            </a:r>
            <a:endParaRPr lang="en-CN" sz="16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E76A1-D179-EC4D-8A08-F647CB147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CE820-4209-214D-B1D7-9D27BDBF8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72DE0-4662-FC4F-81B8-746DFD14D1A5}"/>
              </a:ext>
            </a:extLst>
          </p:cNvPr>
          <p:cNvSpPr txBox="1"/>
          <p:nvPr/>
        </p:nvSpPr>
        <p:spPr>
          <a:xfrm>
            <a:off x="539750" y="3937000"/>
            <a:ext cx="3528194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open("/OS/</a:t>
            </a:r>
            <a:r>
              <a:rPr lang="zh-CN" altLang="en-US" sz="1200" dirty="0">
                <a:latin typeface="Courier" pitchFamily="2" charset="0"/>
              </a:rPr>
              <a:t>考试</a:t>
            </a:r>
            <a:r>
              <a:rPr lang="en-US" altLang="zh-CN" sz="1200" dirty="0">
                <a:latin typeface="Courier" pitchFamily="2" charset="0"/>
              </a:rPr>
              <a:t>",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O_RDWR);</a:t>
            </a:r>
          </a:p>
          <a:p>
            <a:r>
              <a:rPr lang="en-US" altLang="zh-CN" sz="1200" dirty="0" err="1">
                <a:latin typeface="Courier" pitchFamily="2" charset="0"/>
              </a:rPr>
              <a:t>addr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=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mmap</a:t>
            </a:r>
            <a:r>
              <a:rPr lang="en-US" altLang="zh-CN" sz="1200" dirty="0">
                <a:latin typeface="Courier" pitchFamily="2" charset="0"/>
              </a:rPr>
              <a:t>(NULL,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length,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PROT_WRITE,</a:t>
            </a:r>
          </a:p>
          <a:p>
            <a:r>
              <a:rPr lang="zh-CN" altLang="en-US" sz="1200" dirty="0">
                <a:latin typeface="Courier" pitchFamily="2" charset="0"/>
              </a:rPr>
              <a:t>            </a:t>
            </a:r>
            <a:r>
              <a:rPr lang="en-US" altLang="zh-CN" sz="1200" dirty="0">
                <a:latin typeface="Courier" pitchFamily="2" charset="0"/>
              </a:rPr>
              <a:t>MAP_SHARED,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fd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0);</a:t>
            </a:r>
          </a:p>
          <a:p>
            <a:r>
              <a:rPr lang="en-US" altLang="zh-CN" sz="1200" dirty="0" err="1">
                <a:latin typeface="Courier" pitchFamily="2" charset="0"/>
              </a:rPr>
              <a:t>memset</a:t>
            </a:r>
            <a:r>
              <a:rPr lang="en-US" altLang="zh-CN" sz="1200" dirty="0">
                <a:latin typeface="Courier" pitchFamily="2" charset="0"/>
              </a:rPr>
              <a:t>(</a:t>
            </a:r>
            <a:r>
              <a:rPr lang="en-US" altLang="zh-CN" sz="1200" dirty="0" err="1">
                <a:latin typeface="Courier" pitchFamily="2" charset="0"/>
              </a:rPr>
              <a:t>addr</a:t>
            </a:r>
            <a:r>
              <a:rPr lang="en-US" altLang="zh-CN" sz="1200" dirty="0">
                <a:latin typeface="Courier" pitchFamily="2" charset="0"/>
              </a:rPr>
              <a:t>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0,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length);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FB9E98F-151A-2C47-8CB2-3916E64AC6A8}"/>
              </a:ext>
            </a:extLst>
          </p:cNvPr>
          <p:cNvGrpSpPr/>
          <p:nvPr/>
        </p:nvGrpSpPr>
        <p:grpSpPr>
          <a:xfrm>
            <a:off x="4377682" y="3279162"/>
            <a:ext cx="698376" cy="1827475"/>
            <a:chOff x="4675306" y="2020679"/>
            <a:chExt cx="801501" cy="2664296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ABDCADE-DCB5-F440-8623-BEE3DE1F68CC}"/>
                </a:ext>
              </a:extLst>
            </p:cNvPr>
            <p:cNvSpPr/>
            <p:nvPr/>
          </p:nvSpPr>
          <p:spPr>
            <a:xfrm>
              <a:off x="4675306" y="2020679"/>
              <a:ext cx="801501" cy="26642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6C39404-BB1C-A846-AC13-3548DB34F700}"/>
                </a:ext>
              </a:extLst>
            </p:cNvPr>
            <p:cNvSpPr/>
            <p:nvPr/>
          </p:nvSpPr>
          <p:spPr>
            <a:xfrm>
              <a:off x="4675306" y="2864716"/>
              <a:ext cx="801501" cy="64085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900" dirty="0"/>
                <a:t>文件</a:t>
              </a:r>
              <a:r>
                <a:rPr lang="zh-CN" altLang="en-US" sz="900" dirty="0"/>
                <a:t>映射区域</a:t>
              </a:r>
              <a:endParaRPr lang="en-CN" sz="900" dirty="0"/>
            </a:p>
          </p:txBody>
        </p: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8CFD938-DA20-494E-A55C-454B762E4254}"/>
              </a:ext>
            </a:extLst>
          </p:cNvPr>
          <p:cNvSpPr/>
          <p:nvPr/>
        </p:nvSpPr>
        <p:spPr>
          <a:xfrm>
            <a:off x="5608346" y="3186352"/>
            <a:ext cx="1008112" cy="7117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1050" dirty="0"/>
              <a:t>起始虚拟地址</a:t>
            </a:r>
            <a:endParaRPr lang="en-US" altLang="zh-CN" sz="1050" dirty="0"/>
          </a:p>
          <a:p>
            <a:r>
              <a:rPr lang="zh-CN" altLang="en-US" sz="1050" dirty="0"/>
              <a:t>长度</a:t>
            </a:r>
            <a:endParaRPr lang="en-US" altLang="zh-CN" sz="1050" dirty="0"/>
          </a:p>
          <a:p>
            <a:r>
              <a:rPr lang="zh-CN" altLang="en-US" sz="1050" dirty="0"/>
              <a:t>访问权限</a:t>
            </a:r>
            <a:endParaRPr lang="en-US" altLang="zh-CN" sz="1050" dirty="0"/>
          </a:p>
          <a:p>
            <a:r>
              <a:rPr lang="zh-CN" altLang="en-US" sz="1050" dirty="0"/>
              <a:t>文件</a:t>
            </a:r>
            <a:endParaRPr lang="en-CN" sz="105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9835150-9B09-1143-AE4E-F035A186754C}"/>
              </a:ext>
            </a:extLst>
          </p:cNvPr>
          <p:cNvSpPr txBox="1"/>
          <p:nvPr/>
        </p:nvSpPr>
        <p:spPr>
          <a:xfrm>
            <a:off x="5602657" y="2892174"/>
            <a:ext cx="780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v</a:t>
            </a:r>
            <a:r>
              <a:rPr lang="en-CN" sz="1200" dirty="0"/>
              <a:t>m</a:t>
            </a:r>
            <a:r>
              <a:rPr lang="en-US" altLang="zh-CN" sz="1200" dirty="0"/>
              <a:t>_area</a:t>
            </a:r>
            <a:endParaRPr lang="en-CN" sz="1200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20DA7775-3590-D649-92E6-797A17FA45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5076060" y="3289547"/>
            <a:ext cx="591592" cy="56854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AC7F8DE-8419-3149-83E9-E083965D03E1}"/>
              </a:ext>
            </a:extLst>
          </p:cNvPr>
          <p:cNvGrpSpPr/>
          <p:nvPr/>
        </p:nvGrpSpPr>
        <p:grpSpPr>
          <a:xfrm>
            <a:off x="7145180" y="3465701"/>
            <a:ext cx="1602797" cy="1663935"/>
            <a:chOff x="3851920" y="679087"/>
            <a:chExt cx="2422875" cy="2515295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DF33ED1E-8D3C-3D41-880B-DA85E2EAB62F}"/>
                </a:ext>
              </a:extLst>
            </p:cNvPr>
            <p:cNvSpPr/>
            <p:nvPr/>
          </p:nvSpPr>
          <p:spPr>
            <a:xfrm>
              <a:off x="3851921" y="1701227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A167B1F-FD58-894F-BC0D-2FA93BBE3A1F}"/>
                </a:ext>
              </a:extLst>
            </p:cNvPr>
            <p:cNvSpPr/>
            <p:nvPr/>
          </p:nvSpPr>
          <p:spPr>
            <a:xfrm>
              <a:off x="3851921" y="1861431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8FDC776-37B8-164C-BA82-B3C55FC45965}"/>
                </a:ext>
              </a:extLst>
            </p:cNvPr>
            <p:cNvSpPr/>
            <p:nvPr/>
          </p:nvSpPr>
          <p:spPr>
            <a:xfrm>
              <a:off x="3851921" y="2021634"/>
              <a:ext cx="584732" cy="2903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…</a:t>
              </a:r>
              <a:endParaRPr lang="en-CN" sz="600" dirty="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9A4C8F6-1ECC-C34F-8F18-ADEA60E18032}"/>
                </a:ext>
              </a:extLst>
            </p:cNvPr>
            <p:cNvSpPr/>
            <p:nvPr/>
          </p:nvSpPr>
          <p:spPr>
            <a:xfrm>
              <a:off x="3851920" y="231194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cxnSp>
          <p:nvCxnSpPr>
            <p:cNvPr id="122" name="Curved Connector 15">
              <a:extLst>
                <a:ext uri="{FF2B5EF4-FFF2-40B4-BE49-F238E27FC236}">
                  <a16:creationId xmlns:a16="http://schemas.microsoft.com/office/drawing/2014/main" id="{C2D1AF6C-C6D7-0B4F-8B86-151B63ACE0C8}"/>
                </a:ext>
              </a:extLst>
            </p:cNvPr>
            <p:cNvCxnSpPr>
              <a:cxnSpLocks/>
              <a:stCxn id="118" idx="3"/>
              <a:endCxn id="127" idx="1"/>
            </p:cNvCxnSpPr>
            <p:nvPr/>
          </p:nvCxnSpPr>
          <p:spPr>
            <a:xfrm flipV="1">
              <a:off x="4436653" y="868690"/>
              <a:ext cx="553197" cy="912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Curved Connector 16">
              <a:extLst>
                <a:ext uri="{FF2B5EF4-FFF2-40B4-BE49-F238E27FC236}">
                  <a16:creationId xmlns:a16="http://schemas.microsoft.com/office/drawing/2014/main" id="{8FE7AB09-54F4-0C42-A89B-16D565E69935}"/>
                </a:ext>
              </a:extLst>
            </p:cNvPr>
            <p:cNvCxnSpPr>
              <a:cxnSpLocks/>
              <a:stCxn id="119" idx="3"/>
              <a:endCxn id="128" idx="1"/>
            </p:cNvCxnSpPr>
            <p:nvPr/>
          </p:nvCxnSpPr>
          <p:spPr>
            <a:xfrm flipV="1">
              <a:off x="4436653" y="1332731"/>
              <a:ext cx="545504" cy="608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8382FF0E-0012-8244-BB84-9BEFA401D9D0}"/>
                </a:ext>
              </a:extLst>
            </p:cNvPr>
            <p:cNvSpPr/>
            <p:nvPr/>
          </p:nvSpPr>
          <p:spPr>
            <a:xfrm>
              <a:off x="3851921" y="2466255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13</a:t>
              </a:r>
              <a:endParaRPr lang="en-CN" sz="600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0C77BF64-9CD5-BD42-8EFF-CC27EDC88A03}"/>
                </a:ext>
              </a:extLst>
            </p:cNvPr>
            <p:cNvSpPr/>
            <p:nvPr/>
          </p:nvSpPr>
          <p:spPr>
            <a:xfrm>
              <a:off x="4989850" y="679087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835E8B9E-DFA9-724A-83C8-872A3DAE731C}"/>
                </a:ext>
              </a:extLst>
            </p:cNvPr>
            <p:cNvSpPr/>
            <p:nvPr/>
          </p:nvSpPr>
          <p:spPr>
            <a:xfrm>
              <a:off x="4982157" y="1143128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7B4C98A-7AFF-DC4A-BB5D-9A716E928876}"/>
                </a:ext>
              </a:extLst>
            </p:cNvPr>
            <p:cNvSpPr/>
            <p:nvPr/>
          </p:nvSpPr>
          <p:spPr>
            <a:xfrm>
              <a:off x="5777227" y="1787963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0DA7BA7-122B-A44E-B9D7-F3BB806FFB2E}"/>
                </a:ext>
              </a:extLst>
            </p:cNvPr>
            <p:cNvSpPr/>
            <p:nvPr/>
          </p:nvSpPr>
          <p:spPr>
            <a:xfrm>
              <a:off x="4973971" y="263144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1</a:t>
              </a:r>
              <a:endParaRPr lang="en-CN" sz="600" dirty="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B2D7446-3991-0942-8F34-4C5931752CC6}"/>
                </a:ext>
              </a:extLst>
            </p:cNvPr>
            <p:cNvSpPr/>
            <p:nvPr/>
          </p:nvSpPr>
          <p:spPr>
            <a:xfrm>
              <a:off x="4973971" y="2765611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2</a:t>
              </a:r>
              <a:endParaRPr lang="en-CN" sz="600" dirty="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E68D9CA-338D-5941-BA7B-ECF1A824D01E}"/>
                </a:ext>
              </a:extLst>
            </p:cNvPr>
            <p:cNvSpPr/>
            <p:nvPr/>
          </p:nvSpPr>
          <p:spPr>
            <a:xfrm>
              <a:off x="4973971" y="2899778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…</a:t>
              </a:r>
              <a:endParaRPr lang="en-CN" sz="600" dirty="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5CC9F60F-926F-6240-AB5B-04EF8F00D129}"/>
                </a:ext>
              </a:extLst>
            </p:cNvPr>
            <p:cNvSpPr/>
            <p:nvPr/>
          </p:nvSpPr>
          <p:spPr>
            <a:xfrm>
              <a:off x="4973971" y="3034849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600" dirty="0"/>
                <a:t>128</a:t>
              </a:r>
              <a:endParaRPr lang="en-CN" sz="600" dirty="0"/>
            </a:p>
          </p:txBody>
        </p:sp>
        <p:cxnSp>
          <p:nvCxnSpPr>
            <p:cNvPr id="134" name="Curved Connector 59">
              <a:extLst>
                <a:ext uri="{FF2B5EF4-FFF2-40B4-BE49-F238E27FC236}">
                  <a16:creationId xmlns:a16="http://schemas.microsoft.com/office/drawing/2014/main" id="{E3C9729F-A8B6-1A48-9D94-3436A14095B1}"/>
                </a:ext>
              </a:extLst>
            </p:cNvPr>
            <p:cNvCxnSpPr>
              <a:cxnSpLocks/>
              <a:stCxn id="130" idx="3"/>
              <a:endCxn id="129" idx="1"/>
            </p:cNvCxnSpPr>
            <p:nvPr/>
          </p:nvCxnSpPr>
          <p:spPr>
            <a:xfrm flipV="1">
              <a:off x="5463669" y="1977566"/>
              <a:ext cx="313558" cy="7209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BB9835F-E66E-374B-AA3B-691209316904}"/>
                </a:ext>
              </a:extLst>
            </p:cNvPr>
            <p:cNvSpPr/>
            <p:nvPr/>
          </p:nvSpPr>
          <p:spPr>
            <a:xfrm>
              <a:off x="5785097" y="2258602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cxnSp>
          <p:nvCxnSpPr>
            <p:cNvPr id="136" name="Curved Connector 62">
              <a:extLst>
                <a:ext uri="{FF2B5EF4-FFF2-40B4-BE49-F238E27FC236}">
                  <a16:creationId xmlns:a16="http://schemas.microsoft.com/office/drawing/2014/main" id="{027AD344-9271-804A-89FA-EF2853C936A7}"/>
                </a:ext>
              </a:extLst>
            </p:cNvPr>
            <p:cNvCxnSpPr>
              <a:cxnSpLocks/>
              <a:stCxn id="131" idx="3"/>
              <a:endCxn id="135" idx="1"/>
            </p:cNvCxnSpPr>
            <p:nvPr/>
          </p:nvCxnSpPr>
          <p:spPr>
            <a:xfrm flipV="1">
              <a:off x="5463669" y="2448205"/>
              <a:ext cx="321428" cy="3844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urved Connector 136">
              <a:extLst>
                <a:ext uri="{FF2B5EF4-FFF2-40B4-BE49-F238E27FC236}">
                  <a16:creationId xmlns:a16="http://schemas.microsoft.com/office/drawing/2014/main" id="{D504C4B9-9F67-8C46-A11F-19A5C7259A22}"/>
                </a:ext>
              </a:extLst>
            </p:cNvPr>
            <p:cNvCxnSpPr>
              <a:cxnSpLocks/>
              <a:stCxn id="124" idx="3"/>
              <a:endCxn id="130" idx="1"/>
            </p:cNvCxnSpPr>
            <p:nvPr/>
          </p:nvCxnSpPr>
          <p:spPr>
            <a:xfrm>
              <a:off x="4436653" y="2546357"/>
              <a:ext cx="537318" cy="152171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7CB5895A-C9CB-654F-86E8-4E5095179DE8}"/>
                </a:ext>
              </a:extLst>
            </p:cNvPr>
            <p:cNvSpPr/>
            <p:nvPr/>
          </p:nvSpPr>
          <p:spPr>
            <a:xfrm>
              <a:off x="5785097" y="2815177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cxnSp>
          <p:nvCxnSpPr>
            <p:cNvPr id="140" name="Curved Connector 62">
              <a:extLst>
                <a:ext uri="{FF2B5EF4-FFF2-40B4-BE49-F238E27FC236}">
                  <a16:creationId xmlns:a16="http://schemas.microsoft.com/office/drawing/2014/main" id="{7EC04362-B29F-774A-A9D5-5C5F4FC179BA}"/>
                </a:ext>
              </a:extLst>
            </p:cNvPr>
            <p:cNvCxnSpPr>
              <a:cxnSpLocks/>
              <a:stCxn id="133" idx="3"/>
              <a:endCxn id="139" idx="1"/>
            </p:cNvCxnSpPr>
            <p:nvPr/>
          </p:nvCxnSpPr>
          <p:spPr>
            <a:xfrm flipV="1">
              <a:off x="5463669" y="3004780"/>
              <a:ext cx="321428" cy="971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AA81AEA-1C4F-B84B-958C-79C1BC3191DF}"/>
                </a:ext>
              </a:extLst>
            </p:cNvPr>
            <p:cNvSpPr txBox="1"/>
            <p:nvPr/>
          </p:nvSpPr>
          <p:spPr>
            <a:xfrm>
              <a:off x="5840126" y="2480978"/>
              <a:ext cx="434235" cy="3256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/>
                <a:t>…</a:t>
              </a:r>
              <a:endParaRPr lang="en-CN" sz="800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758B9A5-4B67-B94B-A851-11E65ABFE30F}"/>
                </a:ext>
              </a:extLst>
            </p:cNvPr>
            <p:cNvSpPr/>
            <p:nvPr/>
          </p:nvSpPr>
          <p:spPr>
            <a:xfrm>
              <a:off x="4966100" y="1774225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600" dirty="0"/>
            </a:p>
          </p:txBody>
        </p:sp>
        <p:cxnSp>
          <p:nvCxnSpPr>
            <p:cNvPr id="143" name="Curved Connector 16">
              <a:extLst>
                <a:ext uri="{FF2B5EF4-FFF2-40B4-BE49-F238E27FC236}">
                  <a16:creationId xmlns:a16="http://schemas.microsoft.com/office/drawing/2014/main" id="{D2CA8AD6-08A6-244D-9F46-960CBD40697C}"/>
                </a:ext>
              </a:extLst>
            </p:cNvPr>
            <p:cNvCxnSpPr>
              <a:cxnSpLocks/>
              <a:stCxn id="121" idx="3"/>
              <a:endCxn id="142" idx="1"/>
            </p:cNvCxnSpPr>
            <p:nvPr/>
          </p:nvCxnSpPr>
          <p:spPr>
            <a:xfrm flipV="1">
              <a:off x="4436652" y="1963828"/>
              <a:ext cx="529448" cy="4282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A8434C0-DBDE-2644-9D6D-4A70767C3638}"/>
                </a:ext>
              </a:extLst>
            </p:cNvPr>
            <p:cNvSpPr/>
            <p:nvPr/>
          </p:nvSpPr>
          <p:spPr>
            <a:xfrm>
              <a:off x="3851922" y="1265645"/>
              <a:ext cx="584732" cy="136081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900" dirty="0" err="1"/>
                <a:t>inode</a:t>
              </a:r>
              <a:endParaRPr lang="en-CN" sz="900" dirty="0"/>
            </a:p>
          </p:txBody>
        </p:sp>
      </p:grpSp>
      <p:cxnSp>
        <p:nvCxnSpPr>
          <p:cNvPr id="144" name="Straight Arrow Connector 112">
            <a:extLst>
              <a:ext uri="{FF2B5EF4-FFF2-40B4-BE49-F238E27FC236}">
                <a16:creationId xmlns:a16="http://schemas.microsoft.com/office/drawing/2014/main" id="{CB23F0D4-8089-8142-98F6-66D780680659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5991599" y="3797772"/>
            <a:ext cx="1153582" cy="506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786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D8982-FBFD-184E-A45C-322454E35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mmap()</a:t>
            </a:r>
            <a:r>
              <a:rPr lang="zh-CN" altLang="en-US" dirty="0"/>
              <a:t>：</a:t>
            </a:r>
            <a:r>
              <a:rPr lang="zh-CN" altLang="en-CN" dirty="0"/>
              <a:t>文件</a:t>
            </a:r>
            <a:r>
              <a:rPr lang="zh-CN" altLang="en-US" dirty="0"/>
              <a:t>内存</a:t>
            </a:r>
            <a:r>
              <a:rPr lang="zh-CN" altLang="en-CN" dirty="0"/>
              <a:t>映射</a:t>
            </a:r>
            <a:r>
              <a:rPr lang="zh-CN" altLang="en-US" dirty="0"/>
              <a:t>的优势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3E02F-AECE-0349-85ED-97C3E5F55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dirty="0"/>
              <a:t>对于随机访问，不用频繁</a:t>
            </a:r>
            <a:r>
              <a:rPr lang="en-US" sz="2000" b="0" dirty="0" err="1"/>
              <a:t>lseek</a:t>
            </a:r>
            <a:endParaRPr lang="en-US" sz="2000" b="0" dirty="0"/>
          </a:p>
          <a:p>
            <a:r>
              <a:rPr lang="zh-CN" altLang="en-US" sz="2000" b="0" dirty="0"/>
              <a:t>减少系统调用次数</a:t>
            </a:r>
            <a:endParaRPr lang="en-US" sz="2000" b="0" dirty="0"/>
          </a:p>
          <a:p>
            <a:r>
              <a:rPr lang="zh-CN" altLang="en-US" sz="2000" b="0" dirty="0"/>
              <a:t>可以减少数据</a:t>
            </a:r>
            <a:r>
              <a:rPr lang="en-US" sz="2000" b="0" dirty="0"/>
              <a:t>copy</a:t>
            </a:r>
            <a:endParaRPr lang="en-US" altLang="zh-CN" sz="2000" b="0" dirty="0"/>
          </a:p>
          <a:p>
            <a:pPr lvl="1"/>
            <a:r>
              <a:rPr lang="zh-CN" altLang="en-US" sz="1600" b="0" dirty="0"/>
              <a:t>如拷贝文件，数据无需经过中间</a:t>
            </a:r>
            <a:r>
              <a:rPr lang="en-US" altLang="zh-CN" sz="1600" b="0" dirty="0"/>
              <a:t>buffer</a:t>
            </a:r>
            <a:endParaRPr lang="en-US" sz="1600" b="0" dirty="0"/>
          </a:p>
          <a:p>
            <a:r>
              <a:rPr lang="zh-CN" altLang="en-US" sz="2000" b="0" dirty="0"/>
              <a:t>访问的局部性更好</a:t>
            </a:r>
            <a:endParaRPr lang="en-US" altLang="zh-CN" sz="2000" b="0" dirty="0"/>
          </a:p>
          <a:p>
            <a:r>
              <a:rPr lang="zh-CN" altLang="en-US" sz="2000" b="0" dirty="0"/>
              <a:t>可以用</a:t>
            </a:r>
            <a:r>
              <a:rPr lang="en-US" sz="2000" b="0" dirty="0" err="1"/>
              <a:t>madvice</a:t>
            </a:r>
            <a:r>
              <a:rPr lang="zh-CN" altLang="en-US" sz="2000" b="0" dirty="0"/>
              <a:t>为内核提供访问提示，提高性能</a:t>
            </a:r>
            <a:endParaRPr lang="en-CN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1606D-9F67-6B48-BEF0-67FDF4C7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26EEF-3AAB-E64E-A654-C01B4F3A8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648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C0CB0D-F0FE-4C45-AD0F-E07BE3F0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Ext2</a:t>
            </a:r>
            <a:r>
              <a:rPr lang="zh-CN" altLang="en-US" dirty="0"/>
              <a:t> 文件系统</a:t>
            </a:r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936246-8C0C-D74E-87BC-6DB06718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27704-9D7D-FA41-B1D9-71B3C084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78A08-8359-4843-B8DE-7AB9BCDC0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94473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Ext2</a:t>
            </a:r>
            <a:r>
              <a:rPr lang="zh-CN" altLang="en-US" dirty="0"/>
              <a:t>文件系统的存储布局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CF951C-DE8D-EC46-9153-C87CBA2295A7}"/>
              </a:ext>
            </a:extLst>
          </p:cNvPr>
          <p:cNvSpPr/>
          <p:nvPr/>
        </p:nvSpPr>
        <p:spPr>
          <a:xfrm>
            <a:off x="899790" y="3981416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DA3BC-30AE-5F48-BA21-9C7B4E849A3E}"/>
              </a:ext>
            </a:extLst>
          </p:cNvPr>
          <p:cNvSpPr/>
          <p:nvPr/>
        </p:nvSpPr>
        <p:spPr>
          <a:xfrm>
            <a:off x="1475656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块</a:t>
            </a:r>
            <a:r>
              <a:rPr lang="zh-CN" altLang="en-US" sz="1400" dirty="0"/>
              <a:t>组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BEDC5-F220-4449-B6F6-6565149AB744}"/>
              </a:ext>
            </a:extLst>
          </p:cNvPr>
          <p:cNvSpPr/>
          <p:nvPr/>
        </p:nvSpPr>
        <p:spPr>
          <a:xfrm>
            <a:off x="3635896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</a:t>
            </a:r>
            <a:endParaRPr lang="en-CN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D8B3C7-B3C9-0D46-A2B5-8318254EE8D0}"/>
              </a:ext>
            </a:extLst>
          </p:cNvPr>
          <p:cNvSpPr/>
          <p:nvPr/>
        </p:nvSpPr>
        <p:spPr>
          <a:xfrm>
            <a:off x="6660232" y="3981416"/>
            <a:ext cx="216024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</a:t>
            </a:r>
            <a:endParaRPr lang="en-C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5CF96C-E7A9-FA4C-A873-4D6EEE0B3101}"/>
              </a:ext>
            </a:extLst>
          </p:cNvPr>
          <p:cNvSpPr/>
          <p:nvPr/>
        </p:nvSpPr>
        <p:spPr>
          <a:xfrm>
            <a:off x="75557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超级块</a:t>
            </a:r>
            <a:endParaRPr lang="en-CN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EC3191-DC2C-AF40-861C-D4729E098BA9}"/>
              </a:ext>
            </a:extLst>
          </p:cNvPr>
          <p:cNvSpPr/>
          <p:nvPr/>
        </p:nvSpPr>
        <p:spPr>
          <a:xfrm>
            <a:off x="219573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</a:t>
            </a:r>
            <a:endParaRPr lang="en-US" altLang="zh-CN" sz="1400" dirty="0"/>
          </a:p>
          <a:p>
            <a:pPr algn="ctr"/>
            <a:r>
              <a:rPr lang="en-US" altLang="zh-CN" sz="1400" dirty="0"/>
              <a:t>bitmap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E4962-A8D5-954C-872D-C4B1741E0F6F}"/>
              </a:ext>
            </a:extLst>
          </p:cNvPr>
          <p:cNvSpPr/>
          <p:nvPr/>
        </p:nvSpPr>
        <p:spPr>
          <a:xfrm>
            <a:off x="291581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</a:t>
            </a:r>
            <a:r>
              <a:rPr lang="en-CN" altLang="zh-CN" sz="1400" dirty="0"/>
              <a:t>node</a:t>
            </a:r>
          </a:p>
          <a:p>
            <a:pPr algn="ctr"/>
            <a:r>
              <a:rPr lang="en-US" altLang="zh-CN" sz="1400" dirty="0"/>
              <a:t>bitmap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76BA93-AB4A-B948-92C2-C7D809539D83}"/>
              </a:ext>
            </a:extLst>
          </p:cNvPr>
          <p:cNvSpPr/>
          <p:nvPr/>
        </p:nvSpPr>
        <p:spPr>
          <a:xfrm>
            <a:off x="363589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inode</a:t>
            </a:r>
            <a:r>
              <a:rPr lang="zh-CN" altLang="en-US" sz="1400" dirty="0"/>
              <a:t>表</a:t>
            </a:r>
            <a:endParaRPr lang="en-US" altLang="zh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F2EAEF-0799-FB41-94A2-F6A7991399F1}"/>
              </a:ext>
            </a:extLst>
          </p:cNvPr>
          <p:cNvSpPr/>
          <p:nvPr/>
        </p:nvSpPr>
        <p:spPr>
          <a:xfrm>
            <a:off x="4355976" y="2929508"/>
            <a:ext cx="2088232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数据</a:t>
            </a:r>
            <a:r>
              <a:rPr lang="zh-CN" altLang="en-US" sz="1400" dirty="0"/>
              <a:t>块</a:t>
            </a:r>
            <a:endParaRPr lang="en-US" altLang="zh-CN" sz="1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3C91C44-D778-EF4B-85B3-F299F876ED14}"/>
              </a:ext>
            </a:extLst>
          </p:cNvPr>
          <p:cNvCxnSpPr>
            <a:cxnSpLocks/>
          </p:cNvCxnSpPr>
          <p:nvPr/>
        </p:nvCxnSpPr>
        <p:spPr>
          <a:xfrm flipH="1" flipV="1">
            <a:off x="755576" y="3433564"/>
            <a:ext cx="720080" cy="547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EB9F50-4B21-C24B-9507-E48C11991B46}"/>
              </a:ext>
            </a:extLst>
          </p:cNvPr>
          <p:cNvCxnSpPr>
            <a:cxnSpLocks/>
          </p:cNvCxnSpPr>
          <p:nvPr/>
        </p:nvCxnSpPr>
        <p:spPr>
          <a:xfrm flipV="1">
            <a:off x="3635896" y="3433564"/>
            <a:ext cx="2808312" cy="547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8E64BC9C-8AA9-A144-AC5A-8A1C2002A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将磁盘分为多个块组，每个块组中都有超级块，互为备份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sz="2000" b="0" dirty="0"/>
              <a:t>超级块（</a:t>
            </a:r>
            <a:r>
              <a:rPr lang="en-US" altLang="zh-CN" sz="2000" b="0" dirty="0"/>
              <a:t>Super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Block</a:t>
            </a:r>
            <a:r>
              <a:rPr lang="zh-CN" altLang="en-US" sz="2000" b="0" dirty="0"/>
              <a:t>）记录了整个文件系统的元数据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sz="2000" b="0" dirty="0"/>
              <a:t>块组描述表记录了块组中各个区域的位置和大小</a:t>
            </a:r>
            <a:endParaRPr lang="en-CN" sz="2000" b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34E703-87AF-1346-83DB-4105AAC93376}"/>
              </a:ext>
            </a:extLst>
          </p:cNvPr>
          <p:cNvSpPr/>
          <p:nvPr/>
        </p:nvSpPr>
        <p:spPr>
          <a:xfrm>
            <a:off x="1475656" y="2929508"/>
            <a:ext cx="72008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块组描述表</a:t>
            </a:r>
            <a:endParaRPr lang="en-C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EDA50C-2CA2-124A-A442-CF074B6CFF5F}"/>
              </a:ext>
            </a:extLst>
          </p:cNvPr>
          <p:cNvSpPr txBox="1"/>
          <p:nvPr/>
        </p:nvSpPr>
        <p:spPr>
          <a:xfrm>
            <a:off x="6012160" y="40252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88908AB4-84A6-044C-8C12-1039673127D8}"/>
              </a:ext>
            </a:extLst>
          </p:cNvPr>
          <p:cNvSpPr/>
          <p:nvPr/>
        </p:nvSpPr>
        <p:spPr>
          <a:xfrm rot="5400000">
            <a:off x="4704573" y="747074"/>
            <a:ext cx="311115" cy="7920682"/>
          </a:xfrm>
          <a:prstGeom prst="rightBrace">
            <a:avLst>
              <a:gd name="adj1" fmla="val 3472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5043A-3C1D-6B43-B5E2-7951AD8C531E}"/>
              </a:ext>
            </a:extLst>
          </p:cNvPr>
          <p:cNvSpPr txBox="1"/>
          <p:nvPr/>
        </p:nvSpPr>
        <p:spPr>
          <a:xfrm>
            <a:off x="3491880" y="4894331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存储设备上的</a:t>
            </a:r>
            <a:r>
              <a:rPr lang="en-US" altLang="zh-CN" sz="1600" dirty="0"/>
              <a:t>Ext2</a:t>
            </a:r>
            <a:r>
              <a:rPr lang="zh-CN" altLang="en-US" sz="1600" dirty="0"/>
              <a:t>文件系统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67784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Ext2</a:t>
            </a:r>
            <a:r>
              <a:rPr lang="zh-CN" altLang="en-US" dirty="0"/>
              <a:t>的常规文件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08E4E3A-3930-5548-BF62-A3DEE5C835CC}"/>
              </a:ext>
            </a:extLst>
          </p:cNvPr>
          <p:cNvGrpSpPr/>
          <p:nvPr/>
        </p:nvGrpSpPr>
        <p:grpSpPr>
          <a:xfrm>
            <a:off x="4491324" y="669511"/>
            <a:ext cx="3958902" cy="4419090"/>
            <a:chOff x="4491324" y="669511"/>
            <a:chExt cx="3958902" cy="441909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E24764-62EA-B247-8819-F5559A90BB03}"/>
                </a:ext>
              </a:extLst>
            </p:cNvPr>
            <p:cNvSpPr/>
            <p:nvPr/>
          </p:nvSpPr>
          <p:spPr>
            <a:xfrm>
              <a:off x="4491325" y="1058291"/>
              <a:ext cx="584732" cy="6333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00" dirty="0"/>
                <a:t>常用</a:t>
              </a:r>
              <a:r>
                <a:rPr lang="zh-CN" altLang="en-US" sz="1000" dirty="0"/>
                <a:t>元数据</a:t>
              </a:r>
              <a:endParaRPr lang="en-CN" sz="10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6F3CD0-7B5F-474D-AA69-FFA734409567}"/>
                </a:ext>
              </a:extLst>
            </p:cNvPr>
            <p:cNvSpPr/>
            <p:nvPr/>
          </p:nvSpPr>
          <p:spPr>
            <a:xfrm>
              <a:off x="4491325" y="1691651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AA6E90-10DF-D743-8513-8CDA194E8D9A}"/>
                </a:ext>
              </a:extLst>
            </p:cNvPr>
            <p:cNvSpPr/>
            <p:nvPr/>
          </p:nvSpPr>
          <p:spPr>
            <a:xfrm>
              <a:off x="4491325" y="1851855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A73495-812A-A942-89ED-16B94DB81310}"/>
                </a:ext>
              </a:extLst>
            </p:cNvPr>
            <p:cNvSpPr/>
            <p:nvPr/>
          </p:nvSpPr>
          <p:spPr>
            <a:xfrm>
              <a:off x="4491325" y="2012058"/>
              <a:ext cx="584732" cy="2903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5636AD-E9AB-9B4F-9995-300E800979AF}"/>
                </a:ext>
              </a:extLst>
            </p:cNvPr>
            <p:cNvSpPr/>
            <p:nvPr/>
          </p:nvSpPr>
          <p:spPr>
            <a:xfrm>
              <a:off x="4491324" y="2302368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endParaRPr lang="en-CN" sz="1000" dirty="0"/>
            </a:p>
          </p:txBody>
        </p:sp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2BD0275E-933E-D242-9310-BD1E62D7359D}"/>
                </a:ext>
              </a:extLst>
            </p:cNvPr>
            <p:cNvCxnSpPr>
              <a:cxnSpLocks/>
              <a:stCxn id="9" idx="3"/>
              <a:endCxn id="13" idx="1"/>
            </p:cNvCxnSpPr>
            <p:nvPr/>
          </p:nvCxnSpPr>
          <p:spPr>
            <a:xfrm flipV="1">
              <a:off x="5076057" y="859114"/>
              <a:ext cx="553197" cy="912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urved Connector 16">
              <a:extLst>
                <a:ext uri="{FF2B5EF4-FFF2-40B4-BE49-F238E27FC236}">
                  <a16:creationId xmlns:a16="http://schemas.microsoft.com/office/drawing/2014/main" id="{61226B8E-734C-1943-85D7-997134C274FD}"/>
                </a:ext>
              </a:extLst>
            </p:cNvPr>
            <p:cNvCxnSpPr>
              <a:cxnSpLocks/>
              <a:stCxn id="10" idx="3"/>
              <a:endCxn id="14" idx="1"/>
            </p:cNvCxnSpPr>
            <p:nvPr/>
          </p:nvCxnSpPr>
          <p:spPr>
            <a:xfrm flipV="1">
              <a:off x="5076057" y="1323155"/>
              <a:ext cx="545504" cy="608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urved Connector 18">
              <a:extLst>
                <a:ext uri="{FF2B5EF4-FFF2-40B4-BE49-F238E27FC236}">
                  <a16:creationId xmlns:a16="http://schemas.microsoft.com/office/drawing/2014/main" id="{0DEFCD45-2BD7-1245-94EF-7A5A242201B4}"/>
                </a:ext>
              </a:extLst>
            </p:cNvPr>
            <p:cNvCxnSpPr>
              <a:cxnSpLocks/>
              <a:stCxn id="44" idx="3"/>
              <a:endCxn id="25" idx="1"/>
            </p:cNvCxnSpPr>
            <p:nvPr/>
          </p:nvCxnSpPr>
          <p:spPr>
            <a:xfrm>
              <a:off x="5076057" y="2698065"/>
              <a:ext cx="586083" cy="44792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19A9845-5310-1842-8EE3-7BD59A41320E}"/>
                </a:ext>
              </a:extLst>
            </p:cNvPr>
            <p:cNvSpPr/>
            <p:nvPr/>
          </p:nvSpPr>
          <p:spPr>
            <a:xfrm>
              <a:off x="4491325" y="2456679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13</a:t>
              </a:r>
              <a:endParaRPr lang="en-CN" sz="10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008376D-4511-064C-9446-BFE42D4506FC}"/>
                </a:ext>
              </a:extLst>
            </p:cNvPr>
            <p:cNvSpPr/>
            <p:nvPr/>
          </p:nvSpPr>
          <p:spPr>
            <a:xfrm>
              <a:off x="4491325" y="2617963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14</a:t>
              </a:r>
              <a:endParaRPr lang="en-CN" sz="10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07F7D35-1D86-D241-8924-151246340868}"/>
                </a:ext>
              </a:extLst>
            </p:cNvPr>
            <p:cNvSpPr/>
            <p:nvPr/>
          </p:nvSpPr>
          <p:spPr>
            <a:xfrm>
              <a:off x="4491324" y="2777398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15</a:t>
              </a:r>
              <a:endParaRPr lang="en-CN" sz="1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189FF0-AA6F-624D-A5C2-98A9889C06D2}"/>
                </a:ext>
              </a:extLst>
            </p:cNvPr>
            <p:cNvSpPr/>
            <p:nvPr/>
          </p:nvSpPr>
          <p:spPr>
            <a:xfrm>
              <a:off x="5629254" y="669511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24EED7-7F52-5F42-9404-35515D77F7D5}"/>
                </a:ext>
              </a:extLst>
            </p:cNvPr>
            <p:cNvSpPr/>
            <p:nvPr/>
          </p:nvSpPr>
          <p:spPr>
            <a:xfrm>
              <a:off x="5621561" y="1133552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A1D38BA-A032-CD4B-9707-DDF82286FEFB}"/>
                </a:ext>
              </a:extLst>
            </p:cNvPr>
            <p:cNvSpPr/>
            <p:nvPr/>
          </p:nvSpPr>
          <p:spPr>
            <a:xfrm>
              <a:off x="7960528" y="155400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5B9471-F61E-B340-88EB-0AA9CCE6C427}"/>
                </a:ext>
              </a:extLst>
            </p:cNvPr>
            <p:cNvSpPr txBox="1"/>
            <p:nvPr/>
          </p:nvSpPr>
          <p:spPr>
            <a:xfrm>
              <a:off x="7031951" y="3679197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CEC525-85A1-A440-90FF-CD1E9517A963}"/>
                </a:ext>
              </a:extLst>
            </p:cNvPr>
            <p:cNvSpPr txBox="1"/>
            <p:nvPr/>
          </p:nvSpPr>
          <p:spPr>
            <a:xfrm>
              <a:off x="5436979" y="3667851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二级间接索引块</a:t>
              </a:r>
              <a:endParaRPr lang="en-CN" sz="11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E60FB90-6F01-7D4A-9E11-0F9A19A7FB9E}"/>
                </a:ext>
              </a:extLst>
            </p:cNvPr>
            <p:cNvSpPr/>
            <p:nvPr/>
          </p:nvSpPr>
          <p:spPr>
            <a:xfrm>
              <a:off x="5662140" y="307890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4D3B504-B354-3146-819A-1DE061211F4A}"/>
                </a:ext>
              </a:extLst>
            </p:cNvPr>
            <p:cNvSpPr/>
            <p:nvPr/>
          </p:nvSpPr>
          <p:spPr>
            <a:xfrm>
              <a:off x="5662140" y="3213072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AEF790-D2BF-6E43-9D45-8CCFAC926820}"/>
                </a:ext>
              </a:extLst>
            </p:cNvPr>
            <p:cNvSpPr/>
            <p:nvPr/>
          </p:nvSpPr>
          <p:spPr>
            <a:xfrm>
              <a:off x="5662140" y="3347239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684405-7E50-CD44-AF74-FF36520F3664}"/>
                </a:ext>
              </a:extLst>
            </p:cNvPr>
            <p:cNvSpPr/>
            <p:nvPr/>
          </p:nvSpPr>
          <p:spPr>
            <a:xfrm>
              <a:off x="5662140" y="348231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5E16B6EE-A824-5340-BF41-D2032E3E60CF}"/>
                </a:ext>
              </a:extLst>
            </p:cNvPr>
            <p:cNvCxnSpPr>
              <a:cxnSpLocks/>
              <a:stCxn id="25" idx="3"/>
              <a:endCxn id="32" idx="1"/>
            </p:cNvCxnSpPr>
            <p:nvPr/>
          </p:nvCxnSpPr>
          <p:spPr>
            <a:xfrm flipV="1">
              <a:off x="6151838" y="2592961"/>
              <a:ext cx="805975" cy="553028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urved Connector 29">
              <a:extLst>
                <a:ext uri="{FF2B5EF4-FFF2-40B4-BE49-F238E27FC236}">
                  <a16:creationId xmlns:a16="http://schemas.microsoft.com/office/drawing/2014/main" id="{628CE414-A587-794C-BCE5-7BB2257249EF}"/>
                </a:ext>
              </a:extLst>
            </p:cNvPr>
            <p:cNvCxnSpPr>
              <a:cxnSpLocks/>
              <a:stCxn id="26" idx="3"/>
              <a:endCxn id="111" idx="1"/>
            </p:cNvCxnSpPr>
            <p:nvPr/>
          </p:nvCxnSpPr>
          <p:spPr>
            <a:xfrm flipV="1">
              <a:off x="6151838" y="3246117"/>
              <a:ext cx="805975" cy="3403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urved Connector 30">
              <a:extLst>
                <a:ext uri="{FF2B5EF4-FFF2-40B4-BE49-F238E27FC236}">
                  <a16:creationId xmlns:a16="http://schemas.microsoft.com/office/drawing/2014/main" id="{AD5005D5-7E7E-C84B-92E1-9E999AF73215}"/>
                </a:ext>
              </a:extLst>
            </p:cNvPr>
            <p:cNvCxnSpPr>
              <a:cxnSpLocks/>
              <a:stCxn id="28" idx="3"/>
              <a:endCxn id="116" idx="1"/>
            </p:cNvCxnSpPr>
            <p:nvPr/>
          </p:nvCxnSpPr>
          <p:spPr>
            <a:xfrm>
              <a:off x="6151838" y="3549394"/>
              <a:ext cx="805975" cy="46269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F6EDF88-6307-D044-B80A-37A36810EE91}"/>
                </a:ext>
              </a:extLst>
            </p:cNvPr>
            <p:cNvGrpSpPr/>
            <p:nvPr/>
          </p:nvGrpSpPr>
          <p:grpSpPr>
            <a:xfrm>
              <a:off x="6957813" y="2525877"/>
              <a:ext cx="489698" cy="537572"/>
              <a:chOff x="7298430" y="2380870"/>
              <a:chExt cx="489698" cy="537572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59843E0-B7ED-F242-AC3E-909A99A02E6B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D4F5F5C-1476-A040-91D0-4B71327E77A5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A42FC3B-7CEA-9946-A525-4F04A4399C9E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CA7643B0-A751-054A-8C3C-064226AC07FD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9840B6D0-5AF5-CD45-82C1-6D60169A8FC0}"/>
                </a:ext>
              </a:extLst>
            </p:cNvPr>
            <p:cNvCxnSpPr>
              <a:cxnSpLocks/>
              <a:stCxn id="32" idx="3"/>
              <a:endCxn id="20" idx="1"/>
            </p:cNvCxnSpPr>
            <p:nvPr/>
          </p:nvCxnSpPr>
          <p:spPr>
            <a:xfrm flipV="1">
              <a:off x="7447511" y="1743612"/>
              <a:ext cx="513017" cy="8493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BB0139E-03D6-CB46-90FA-7D50A74E0FC9}"/>
                </a:ext>
              </a:extLst>
            </p:cNvPr>
            <p:cNvSpPr/>
            <p:nvPr/>
          </p:nvSpPr>
          <p:spPr>
            <a:xfrm>
              <a:off x="7959193" y="2097498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C2E48A6-234E-4747-8707-3E9754D6239E}"/>
                </a:ext>
              </a:extLst>
            </p:cNvPr>
            <p:cNvSpPr/>
            <p:nvPr/>
          </p:nvSpPr>
          <p:spPr>
            <a:xfrm>
              <a:off x="7959193" y="2766783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84A3FF-781E-FE43-97B8-3059DBE88E90}"/>
                </a:ext>
              </a:extLst>
            </p:cNvPr>
            <p:cNvSpPr txBox="1"/>
            <p:nvPr/>
          </p:nvSpPr>
          <p:spPr>
            <a:xfrm>
              <a:off x="8073974" y="2498451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cxnSp>
          <p:nvCxnSpPr>
            <p:cNvPr id="40" name="Curved Connector 39">
              <a:extLst>
                <a:ext uri="{FF2B5EF4-FFF2-40B4-BE49-F238E27FC236}">
                  <a16:creationId xmlns:a16="http://schemas.microsoft.com/office/drawing/2014/main" id="{08EF0D2C-BB9A-6A49-A21F-506E892535C3}"/>
                </a:ext>
              </a:extLst>
            </p:cNvPr>
            <p:cNvCxnSpPr>
              <a:cxnSpLocks/>
              <a:stCxn id="33" idx="3"/>
              <a:endCxn id="37" idx="1"/>
            </p:cNvCxnSpPr>
            <p:nvPr/>
          </p:nvCxnSpPr>
          <p:spPr>
            <a:xfrm flipV="1">
              <a:off x="7447511" y="2287101"/>
              <a:ext cx="511682" cy="4400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40">
              <a:extLst>
                <a:ext uri="{FF2B5EF4-FFF2-40B4-BE49-F238E27FC236}">
                  <a16:creationId xmlns:a16="http://schemas.microsoft.com/office/drawing/2014/main" id="{3167C3B4-78DC-6346-A8F7-2B405A1E9FD1}"/>
                </a:ext>
              </a:extLst>
            </p:cNvPr>
            <p:cNvCxnSpPr>
              <a:cxnSpLocks/>
              <a:stCxn id="35" idx="3"/>
              <a:endCxn id="38" idx="1"/>
            </p:cNvCxnSpPr>
            <p:nvPr/>
          </p:nvCxnSpPr>
          <p:spPr>
            <a:xfrm flipV="1">
              <a:off x="7447511" y="2956386"/>
              <a:ext cx="511682" cy="399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7C8048E-D0C6-D84F-B608-F9D285C602A1}"/>
                </a:ext>
              </a:extLst>
            </p:cNvPr>
            <p:cNvSpPr txBox="1"/>
            <p:nvPr/>
          </p:nvSpPr>
          <p:spPr>
            <a:xfrm>
              <a:off x="6757668" y="4489337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3903DD4-8032-394A-8A91-6228F441883C}"/>
                </a:ext>
              </a:extLst>
            </p:cNvPr>
            <p:cNvSpPr/>
            <p:nvPr/>
          </p:nvSpPr>
          <p:spPr>
            <a:xfrm>
              <a:off x="6440380" y="1008723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0F7105D-93A6-7042-964D-C37216C05579}"/>
                </a:ext>
              </a:extLst>
            </p:cNvPr>
            <p:cNvSpPr/>
            <p:nvPr/>
          </p:nvSpPr>
          <p:spPr>
            <a:xfrm>
              <a:off x="5637124" y="1852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744235A-9F4E-9F41-8F9E-D1DC70A9E933}"/>
                </a:ext>
              </a:extLst>
            </p:cNvPr>
            <p:cNvSpPr/>
            <p:nvPr/>
          </p:nvSpPr>
          <p:spPr>
            <a:xfrm>
              <a:off x="5637124" y="1986371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4E28813-E359-0F47-BFF0-D766E7F1EE58}"/>
                </a:ext>
              </a:extLst>
            </p:cNvPr>
            <p:cNvSpPr/>
            <p:nvPr/>
          </p:nvSpPr>
          <p:spPr>
            <a:xfrm>
              <a:off x="5637124" y="2120538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8B5766D-9067-B54E-8ED1-628E59A8B8FF}"/>
                </a:ext>
              </a:extLst>
            </p:cNvPr>
            <p:cNvSpPr/>
            <p:nvPr/>
          </p:nvSpPr>
          <p:spPr>
            <a:xfrm>
              <a:off x="5637124" y="2255609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60" name="Curved Connector 59">
              <a:extLst>
                <a:ext uri="{FF2B5EF4-FFF2-40B4-BE49-F238E27FC236}">
                  <a16:creationId xmlns:a16="http://schemas.microsoft.com/office/drawing/2014/main" id="{891319AD-FE0B-6E42-BF42-DE793EE77CB5}"/>
                </a:ext>
              </a:extLst>
            </p:cNvPr>
            <p:cNvCxnSpPr>
              <a:cxnSpLocks/>
              <a:stCxn id="56" idx="3"/>
              <a:endCxn id="55" idx="1"/>
            </p:cNvCxnSpPr>
            <p:nvPr/>
          </p:nvCxnSpPr>
          <p:spPr>
            <a:xfrm flipV="1">
              <a:off x="6126822" y="1198326"/>
              <a:ext cx="313558" cy="7209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F4DB0A5-7C52-294A-8FC2-30EE17FBBB08}"/>
                </a:ext>
              </a:extLst>
            </p:cNvPr>
            <p:cNvSpPr/>
            <p:nvPr/>
          </p:nvSpPr>
          <p:spPr>
            <a:xfrm>
              <a:off x="6448250" y="1479362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63" name="Curved Connector 62">
              <a:extLst>
                <a:ext uri="{FF2B5EF4-FFF2-40B4-BE49-F238E27FC236}">
                  <a16:creationId xmlns:a16="http://schemas.microsoft.com/office/drawing/2014/main" id="{607A2042-3704-3D40-BE65-B0E02867C055}"/>
                </a:ext>
              </a:extLst>
            </p:cNvPr>
            <p:cNvCxnSpPr>
              <a:cxnSpLocks/>
              <a:stCxn id="57" idx="3"/>
              <a:endCxn id="61" idx="1"/>
            </p:cNvCxnSpPr>
            <p:nvPr/>
          </p:nvCxnSpPr>
          <p:spPr>
            <a:xfrm flipV="1">
              <a:off x="6126822" y="1668965"/>
              <a:ext cx="321428" cy="3844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urved Connector 63">
              <a:extLst>
                <a:ext uri="{FF2B5EF4-FFF2-40B4-BE49-F238E27FC236}">
                  <a16:creationId xmlns:a16="http://schemas.microsoft.com/office/drawing/2014/main" id="{ED0E929A-6A68-6C45-BB86-70CC2164ED0A}"/>
                </a:ext>
              </a:extLst>
            </p:cNvPr>
            <p:cNvCxnSpPr>
              <a:cxnSpLocks/>
              <a:stCxn id="43" idx="3"/>
              <a:endCxn id="56" idx="1"/>
            </p:cNvCxnSpPr>
            <p:nvPr/>
          </p:nvCxnSpPr>
          <p:spPr>
            <a:xfrm flipV="1">
              <a:off x="5076057" y="1919288"/>
              <a:ext cx="561067" cy="61749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A64A05F-7D6D-DE41-A99F-D6B8E90239D9}"/>
                </a:ext>
              </a:extLst>
            </p:cNvPr>
            <p:cNvSpPr txBox="1"/>
            <p:nvPr/>
          </p:nvSpPr>
          <p:spPr>
            <a:xfrm>
              <a:off x="5429109" y="2400748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E368ACA-6355-0049-A91F-6FBB9D911231}"/>
                </a:ext>
              </a:extLst>
            </p:cNvPr>
            <p:cNvSpPr/>
            <p:nvPr/>
          </p:nvSpPr>
          <p:spPr>
            <a:xfrm>
              <a:off x="6448250" y="2035937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94" name="Curved Connector 62">
              <a:extLst>
                <a:ext uri="{FF2B5EF4-FFF2-40B4-BE49-F238E27FC236}">
                  <a16:creationId xmlns:a16="http://schemas.microsoft.com/office/drawing/2014/main" id="{55F53395-F63E-704B-9846-B36BECF770F0}"/>
                </a:ext>
              </a:extLst>
            </p:cNvPr>
            <p:cNvCxnSpPr>
              <a:cxnSpLocks/>
              <a:stCxn id="59" idx="3"/>
              <a:endCxn id="93" idx="1"/>
            </p:cNvCxnSpPr>
            <p:nvPr/>
          </p:nvCxnSpPr>
          <p:spPr>
            <a:xfrm flipV="1">
              <a:off x="6126822" y="2225540"/>
              <a:ext cx="321428" cy="971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515FE2B-B063-2142-892E-8897E845EE3D}"/>
                </a:ext>
              </a:extLst>
            </p:cNvPr>
            <p:cNvSpPr txBox="1"/>
            <p:nvPr/>
          </p:nvSpPr>
          <p:spPr>
            <a:xfrm>
              <a:off x="5464694" y="4826991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三级间接索引块</a:t>
              </a:r>
              <a:endParaRPr lang="en-CN" sz="11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766A8AA-5090-AC4F-A9FA-014DC2FB9069}"/>
                </a:ext>
              </a:extLst>
            </p:cNvPr>
            <p:cNvSpPr/>
            <p:nvPr/>
          </p:nvSpPr>
          <p:spPr>
            <a:xfrm>
              <a:off x="5689855" y="423804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2B3C46E-D3FA-7449-951A-D54AB784FBAE}"/>
                </a:ext>
              </a:extLst>
            </p:cNvPr>
            <p:cNvSpPr/>
            <p:nvPr/>
          </p:nvSpPr>
          <p:spPr>
            <a:xfrm>
              <a:off x="5689855" y="4372212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3EBCBE3-6BE9-8348-AB3F-308EA6C2BA00}"/>
                </a:ext>
              </a:extLst>
            </p:cNvPr>
            <p:cNvSpPr/>
            <p:nvPr/>
          </p:nvSpPr>
          <p:spPr>
            <a:xfrm>
              <a:off x="5689855" y="4506379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3BFFB844-1CBE-8A48-9314-14D6E20235D3}"/>
                </a:ext>
              </a:extLst>
            </p:cNvPr>
            <p:cNvSpPr/>
            <p:nvPr/>
          </p:nvSpPr>
          <p:spPr>
            <a:xfrm>
              <a:off x="5689855" y="464145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104" name="Curved Connector 103">
              <a:extLst>
                <a:ext uri="{FF2B5EF4-FFF2-40B4-BE49-F238E27FC236}">
                  <a16:creationId xmlns:a16="http://schemas.microsoft.com/office/drawing/2014/main" id="{D41EFAC5-04FB-AD4C-ADED-39DBEE541255}"/>
                </a:ext>
              </a:extLst>
            </p:cNvPr>
            <p:cNvCxnSpPr>
              <a:cxnSpLocks/>
              <a:stCxn id="45" idx="3"/>
              <a:endCxn id="100" idx="1"/>
            </p:cNvCxnSpPr>
            <p:nvPr/>
          </p:nvCxnSpPr>
          <p:spPr>
            <a:xfrm>
              <a:off x="5076056" y="2857500"/>
              <a:ext cx="613799" cy="144762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45C2FC3-8AC9-CA44-B882-A498F39B2CE4}"/>
                </a:ext>
              </a:extLst>
            </p:cNvPr>
            <p:cNvSpPr txBox="1"/>
            <p:nvPr/>
          </p:nvSpPr>
          <p:spPr>
            <a:xfrm>
              <a:off x="6554825" y="1805446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8678615-B419-144E-B29E-8D6E22841125}"/>
                </a:ext>
              </a:extLst>
            </p:cNvPr>
            <p:cNvGrpSpPr/>
            <p:nvPr/>
          </p:nvGrpSpPr>
          <p:grpSpPr>
            <a:xfrm>
              <a:off x="6957813" y="3179033"/>
              <a:ext cx="489698" cy="537572"/>
              <a:chOff x="7298430" y="2380870"/>
              <a:chExt cx="489698" cy="537572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12152A7F-802E-D04C-926B-2168003EC349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3B4FDEAA-8BA9-534F-87E2-AD130E2FFF44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95D6D75-B9B7-A245-9A15-4A277FECAAE0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7BA9AD0-32D5-5740-80F9-2C5DCFEF6B3D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B160BB9A-7F11-264C-8EBC-F4702672BD64}"/>
                </a:ext>
              </a:extLst>
            </p:cNvPr>
            <p:cNvGrpSpPr/>
            <p:nvPr/>
          </p:nvGrpSpPr>
          <p:grpSpPr>
            <a:xfrm>
              <a:off x="6957813" y="3945004"/>
              <a:ext cx="489698" cy="537572"/>
              <a:chOff x="7298430" y="2380870"/>
              <a:chExt cx="489698" cy="537572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5B1EEF63-769D-5647-AE1C-7C17F663E056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2DE29E46-4F00-4A42-A9FE-0C8F8BECAB78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5AEB051-D387-9440-9A20-38B3D7D8A77B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D73479DE-FB34-7E4A-8A69-6841316E3298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126" name="Curved Connector 40">
              <a:extLst>
                <a:ext uri="{FF2B5EF4-FFF2-40B4-BE49-F238E27FC236}">
                  <a16:creationId xmlns:a16="http://schemas.microsoft.com/office/drawing/2014/main" id="{BC2C11D6-31E7-FD43-A0FE-69658E294F23}"/>
                </a:ext>
              </a:extLst>
            </p:cNvPr>
            <p:cNvCxnSpPr>
              <a:cxnSpLocks/>
              <a:stCxn id="111" idx="3"/>
            </p:cNvCxnSpPr>
            <p:nvPr/>
          </p:nvCxnSpPr>
          <p:spPr>
            <a:xfrm>
              <a:off x="7447511" y="3246117"/>
              <a:ext cx="511682" cy="1079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E0D722E-5C4B-2A45-9992-ED59425DDCE0}"/>
                </a:ext>
              </a:extLst>
            </p:cNvPr>
            <p:cNvSpPr/>
            <p:nvPr/>
          </p:nvSpPr>
          <p:spPr>
            <a:xfrm>
              <a:off x="7952841" y="3282416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</p:grp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E2096D42-C982-D04D-B92B-0C8776903986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0" dirty="0"/>
              <a:t>Ext2</a:t>
            </a:r>
            <a:r>
              <a:rPr lang="zh-CN" altLang="en-US" b="0" dirty="0"/>
              <a:t>的</a:t>
            </a:r>
            <a:r>
              <a:rPr lang="en-US" altLang="zh-CN" b="0" dirty="0" err="1"/>
              <a:t>inode</a:t>
            </a:r>
            <a:r>
              <a:rPr lang="zh-CN" altLang="en-US" b="0" dirty="0"/>
              <a:t>中</a:t>
            </a:r>
            <a:endParaRPr lang="en-US" altLang="zh-CN" b="0" dirty="0"/>
          </a:p>
          <a:p>
            <a:pPr lvl="1"/>
            <a:r>
              <a:rPr lang="en-US" altLang="zh-CN" dirty="0"/>
              <a:t>12</a:t>
            </a:r>
            <a:r>
              <a:rPr lang="zh-CN" altLang="en-US" dirty="0"/>
              <a:t>个直接指针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个间接指针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个二级间接指针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个三级间接指针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047413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使用区段（</a:t>
            </a:r>
            <a:r>
              <a:rPr lang="en-US" altLang="zh-CN" dirty="0"/>
              <a:t>Extent</a:t>
            </a:r>
            <a:r>
              <a:rPr lang="zh-CN" altLang="en-US" dirty="0"/>
              <a:t>）来优化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2F9A28F8-0EDD-6D49-A660-41A9F1923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074" y="1322310"/>
            <a:ext cx="7482309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0" dirty="0"/>
              <a:t>问题：在</a:t>
            </a:r>
            <a:r>
              <a:rPr lang="en-US" altLang="zh-CN" sz="1800" b="0" dirty="0"/>
              <a:t>Ext2</a:t>
            </a:r>
            <a:r>
              <a:rPr lang="zh-CN" altLang="en-US" sz="1800" b="0" dirty="0"/>
              <a:t>的设计中，保存一个</a:t>
            </a:r>
            <a:r>
              <a:rPr lang="en-US" altLang="zh-CN" sz="1800" b="0" dirty="0"/>
              <a:t>1GB</a:t>
            </a:r>
            <a:r>
              <a:rPr lang="zh-CN" altLang="en-US" sz="1800" b="0" dirty="0"/>
              <a:t>的视频文件，文件被拆成多少数据块？需要多少元数据来维护这些数据块？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如果这些数据块物理上连续，只需要保存</a:t>
            </a:r>
            <a:r>
              <a:rPr lang="zh-CN" altLang="en-US" sz="1800" dirty="0"/>
              <a:t>起始块地址和长度</a:t>
            </a:r>
            <a:r>
              <a:rPr lang="zh-CN" altLang="en-US" sz="1800" b="0" dirty="0"/>
              <a:t>即可！</a:t>
            </a:r>
            <a:endParaRPr lang="en-US" altLang="zh-CN" sz="1800" b="0" dirty="0"/>
          </a:p>
          <a:p>
            <a:pPr marL="0" indent="0">
              <a:buNone/>
            </a:pP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区段（</a:t>
            </a:r>
            <a:r>
              <a:rPr lang="en-US" altLang="zh-CN" sz="1800" b="0" dirty="0"/>
              <a:t>Extent</a:t>
            </a:r>
            <a:r>
              <a:rPr lang="zh-CN" altLang="en-US" sz="1800" b="0" dirty="0"/>
              <a:t>）是由</a:t>
            </a:r>
            <a:r>
              <a:rPr lang="zh-CN" altLang="en-US" sz="1800" dirty="0"/>
              <a:t>物理上连续的多个数据块</a:t>
            </a:r>
            <a:r>
              <a:rPr lang="zh-CN" altLang="en-US" sz="1800" b="0" dirty="0"/>
              <a:t>组成</a:t>
            </a:r>
            <a:endParaRPr lang="en-US" altLang="zh-CN" sz="1800" b="0" dirty="0"/>
          </a:p>
          <a:p>
            <a:r>
              <a:rPr lang="zh-CN" altLang="en-US" sz="1800" b="0" dirty="0"/>
              <a:t>一个区段内的数据可以连续访问，无需按</a:t>
            </a:r>
            <a:r>
              <a:rPr lang="en-US" altLang="zh-CN" sz="1800" b="0" dirty="0"/>
              <a:t>4KB</a:t>
            </a:r>
            <a:r>
              <a:rPr lang="zh-CN" altLang="en-US" sz="1800" b="0" dirty="0"/>
              <a:t>数据块访问</a:t>
            </a:r>
            <a:endParaRPr lang="en-US" altLang="zh-CN" sz="1800" b="0" dirty="0"/>
          </a:p>
          <a:p>
            <a:r>
              <a:rPr lang="zh-CN" altLang="en-US" sz="1800" b="0" dirty="0"/>
              <a:t>可以减少元数据的数量</a:t>
            </a:r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116182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Ext4</a:t>
            </a:r>
            <a:r>
              <a:rPr lang="zh-CN" altLang="en-US" dirty="0"/>
              <a:t>文件存储 </a:t>
            </a:r>
            <a:r>
              <a:rPr lang="en-US" altLang="zh-CN" dirty="0"/>
              <a:t>–</a:t>
            </a:r>
            <a:r>
              <a:rPr lang="zh-CN" altLang="en-US" dirty="0"/>
              <a:t> 区段树（</a:t>
            </a:r>
            <a:r>
              <a:rPr lang="en-US" altLang="zh-CN" dirty="0"/>
              <a:t>Extent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C72ECF9-93B8-B641-A967-56BB2B916F83}"/>
              </a:ext>
            </a:extLst>
          </p:cNvPr>
          <p:cNvGrpSpPr/>
          <p:nvPr/>
        </p:nvGrpSpPr>
        <p:grpSpPr>
          <a:xfrm>
            <a:off x="1187624" y="820247"/>
            <a:ext cx="7271011" cy="4605516"/>
            <a:chOff x="1187624" y="820247"/>
            <a:chExt cx="7271011" cy="460551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E9BB34E-B4E7-5844-A56A-A5CC87724041}"/>
                </a:ext>
              </a:extLst>
            </p:cNvPr>
            <p:cNvGrpSpPr/>
            <p:nvPr/>
          </p:nvGrpSpPr>
          <p:grpSpPr>
            <a:xfrm>
              <a:off x="1187624" y="820247"/>
              <a:ext cx="7254124" cy="4605516"/>
              <a:chOff x="3261229" y="632977"/>
              <a:chExt cx="7254124" cy="4605516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3EF2FD8-CF2A-5449-956C-6D8DCFD8BA66}"/>
                  </a:ext>
                </a:extLst>
              </p:cNvPr>
              <p:cNvSpPr/>
              <p:nvPr/>
            </p:nvSpPr>
            <p:spPr>
              <a:xfrm>
                <a:off x="3261229" y="1742949"/>
                <a:ext cx="671659" cy="72751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100" dirty="0"/>
                  <a:t>常用</a:t>
                </a:r>
                <a:r>
                  <a:rPr lang="zh-CN" altLang="en-US" sz="1100" dirty="0"/>
                  <a:t>元数据</a:t>
                </a:r>
                <a:endParaRPr lang="en-CN" sz="1100" dirty="0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0837114-FFBB-F644-B2B1-76F591888650}"/>
                  </a:ext>
                </a:extLst>
              </p:cNvPr>
              <p:cNvSpPr/>
              <p:nvPr/>
            </p:nvSpPr>
            <p:spPr>
              <a:xfrm>
                <a:off x="3261229" y="2470466"/>
                <a:ext cx="671659" cy="184020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100" dirty="0"/>
                  <a:t>树</a:t>
                </a:r>
                <a:r>
                  <a:rPr lang="zh-CN" altLang="en-US" sz="1100" dirty="0"/>
                  <a:t>根</a:t>
                </a:r>
                <a:endParaRPr lang="en-CN" sz="1100" dirty="0"/>
              </a:p>
            </p:txBody>
          </p:sp>
          <p:cxnSp>
            <p:nvCxnSpPr>
              <p:cNvPr id="81" name="Curved Connector 80">
                <a:extLst>
                  <a:ext uri="{FF2B5EF4-FFF2-40B4-BE49-F238E27FC236}">
                    <a16:creationId xmlns:a16="http://schemas.microsoft.com/office/drawing/2014/main" id="{2C0C1E34-E343-C54E-976F-BD7CCAF8DFFF}"/>
                  </a:ext>
                </a:extLst>
              </p:cNvPr>
              <p:cNvCxnSpPr>
                <a:cxnSpLocks/>
                <a:stCxn id="74" idx="3"/>
                <a:endCxn id="83" idx="1"/>
              </p:cNvCxnSpPr>
              <p:nvPr/>
            </p:nvCxnSpPr>
            <p:spPr>
              <a:xfrm flipV="1">
                <a:off x="3932888" y="2266686"/>
                <a:ext cx="403491" cy="295790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D5DD225D-A175-9248-A597-1FE1A30140EE}"/>
                  </a:ext>
                </a:extLst>
              </p:cNvPr>
              <p:cNvSpPr/>
              <p:nvPr/>
            </p:nvSpPr>
            <p:spPr>
              <a:xfrm>
                <a:off x="4336379" y="2174676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87EB537-19CB-754E-AEE6-606340D65ED2}"/>
                  </a:ext>
                </a:extLst>
              </p:cNvPr>
              <p:cNvSpPr/>
              <p:nvPr/>
            </p:nvSpPr>
            <p:spPr>
              <a:xfrm>
                <a:off x="4336379" y="2358697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子节点</a:t>
                </a:r>
                <a:endParaRPr lang="en-CN" sz="1100" dirty="0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B39BCB74-EE59-0C4A-9489-D378189EF76A}"/>
                  </a:ext>
                </a:extLst>
              </p:cNvPr>
              <p:cNvSpPr/>
              <p:nvPr/>
            </p:nvSpPr>
            <p:spPr>
              <a:xfrm>
                <a:off x="4336379" y="2543958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050" dirty="0">
                    <a:solidFill>
                      <a:srgbClr val="000000"/>
                    </a:solidFill>
                  </a:rPr>
                  <a:t>偏移量</a:t>
                </a:r>
                <a:endParaRPr lang="en-CN" sz="1100" dirty="0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508997E-2B60-7340-B8B8-B9C06057DFA6}"/>
                  </a:ext>
                </a:extLst>
              </p:cNvPr>
              <p:cNvSpPr txBox="1"/>
              <p:nvPr/>
            </p:nvSpPr>
            <p:spPr>
              <a:xfrm>
                <a:off x="4202756" y="3748947"/>
                <a:ext cx="861020" cy="2935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索引节点</a:t>
                </a:r>
                <a:endParaRPr lang="en-CN" sz="1400" dirty="0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F0DE8195-7BC1-0E4F-AFCE-AD1B90BC90F5}"/>
                  </a:ext>
                </a:extLst>
              </p:cNvPr>
              <p:cNvSpPr/>
              <p:nvPr/>
            </p:nvSpPr>
            <p:spPr>
              <a:xfrm>
                <a:off x="4336378" y="2726576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050" dirty="0"/>
                  <a:t>子节点</a:t>
                </a:r>
                <a:endParaRPr lang="en-CN" sz="1050" dirty="0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CEFD593A-2D82-AE4C-AE11-FC392A07919F}"/>
                  </a:ext>
                </a:extLst>
              </p:cNvPr>
              <p:cNvSpPr/>
              <p:nvPr/>
            </p:nvSpPr>
            <p:spPr>
              <a:xfrm>
                <a:off x="4336378" y="2929508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偏移量</a:t>
                </a:r>
                <a:endParaRPr lang="en-CN" sz="105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46B1403-9E9D-654C-BE94-F49CF6CD4D44}"/>
                  </a:ext>
                </a:extLst>
              </p:cNvPr>
              <p:cNvSpPr/>
              <p:nvPr/>
            </p:nvSpPr>
            <p:spPr>
              <a:xfrm>
                <a:off x="4336378" y="3113528"/>
                <a:ext cx="671659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CN" sz="1050" dirty="0"/>
                  <a:t>子节点</a:t>
                </a:r>
                <a:endParaRPr lang="en-CN" sz="1050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FB458DA-BB9A-B141-81F9-9047F6E3FB71}"/>
                  </a:ext>
                </a:extLst>
              </p:cNvPr>
              <p:cNvSpPr/>
              <p:nvPr/>
            </p:nvSpPr>
            <p:spPr>
              <a:xfrm>
                <a:off x="7264966" y="1060873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A48E1B3-2F33-EF4E-BB03-B716FA36FE50}"/>
                  </a:ext>
                </a:extLst>
              </p:cNvPr>
              <p:cNvSpPr/>
              <p:nvPr/>
            </p:nvSpPr>
            <p:spPr>
              <a:xfrm>
                <a:off x="7264965" y="1699339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E4D05BB-3D6A-7440-9616-38CC2D27978A}"/>
                  </a:ext>
                </a:extLst>
              </p:cNvPr>
              <p:cNvSpPr/>
              <p:nvPr/>
            </p:nvSpPr>
            <p:spPr>
              <a:xfrm>
                <a:off x="7264965" y="3178917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cxnSp>
            <p:nvCxnSpPr>
              <p:cNvPr id="78" name="Curved Connector 77">
                <a:extLst>
                  <a:ext uri="{FF2B5EF4-FFF2-40B4-BE49-F238E27FC236}">
                    <a16:creationId xmlns:a16="http://schemas.microsoft.com/office/drawing/2014/main" id="{45927EE9-76AA-F741-BF8E-052ABF014DCC}"/>
                  </a:ext>
                </a:extLst>
              </p:cNvPr>
              <p:cNvCxnSpPr>
                <a:cxnSpLocks/>
                <a:stCxn id="152" idx="3"/>
                <a:endCxn id="75" idx="1"/>
              </p:cNvCxnSpPr>
              <p:nvPr/>
            </p:nvCxnSpPr>
            <p:spPr>
              <a:xfrm flipV="1">
                <a:off x="6495554" y="1271151"/>
                <a:ext cx="769412" cy="328403"/>
              </a:xfrm>
              <a:prstGeom prst="curvedConnector3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urved Connector 78">
                <a:extLst>
                  <a:ext uri="{FF2B5EF4-FFF2-40B4-BE49-F238E27FC236}">
                    <a16:creationId xmlns:a16="http://schemas.microsoft.com/office/drawing/2014/main" id="{CA51F6E8-4CEF-A845-8B05-9B6C85B46A9B}"/>
                  </a:ext>
                </a:extLst>
              </p:cNvPr>
              <p:cNvCxnSpPr>
                <a:cxnSpLocks/>
                <a:stCxn id="144" idx="3"/>
                <a:endCxn id="76" idx="1"/>
              </p:cNvCxnSpPr>
              <p:nvPr/>
            </p:nvCxnSpPr>
            <p:spPr>
              <a:xfrm flipV="1">
                <a:off x="6496751" y="1909617"/>
                <a:ext cx="768214" cy="243747"/>
              </a:xfrm>
              <a:prstGeom prst="curvedConnector3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urved Connector 79">
                <a:extLst>
                  <a:ext uri="{FF2B5EF4-FFF2-40B4-BE49-F238E27FC236}">
                    <a16:creationId xmlns:a16="http://schemas.microsoft.com/office/drawing/2014/main" id="{5F980D62-BC34-D448-B5D2-A857004426DA}"/>
                  </a:ext>
                </a:extLst>
              </p:cNvPr>
              <p:cNvCxnSpPr>
                <a:cxnSpLocks/>
                <a:stCxn id="163" idx="3"/>
                <a:endCxn id="77" idx="1"/>
              </p:cNvCxnSpPr>
              <p:nvPr/>
            </p:nvCxnSpPr>
            <p:spPr>
              <a:xfrm flipV="1">
                <a:off x="6495553" y="3389195"/>
                <a:ext cx="769412" cy="261845"/>
              </a:xfrm>
              <a:prstGeom prst="curvedConnector3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CCD16A34-FA47-724D-9283-78AA46D94B5B}"/>
                  </a:ext>
                </a:extLst>
              </p:cNvPr>
              <p:cNvSpPr/>
              <p:nvPr/>
            </p:nvSpPr>
            <p:spPr>
              <a:xfrm>
                <a:off x="7808064" y="1060873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66B733F8-6E66-7B46-9E07-9CCD9D1BBF51}"/>
                  </a:ext>
                </a:extLst>
              </p:cNvPr>
              <p:cNvSpPr/>
              <p:nvPr/>
            </p:nvSpPr>
            <p:spPr>
              <a:xfrm>
                <a:off x="7808063" y="3178917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B9D560A1-D1ED-F542-BD89-3843FC0F348B}"/>
                  </a:ext>
                </a:extLst>
              </p:cNvPr>
              <p:cNvSpPr/>
              <p:nvPr/>
            </p:nvSpPr>
            <p:spPr>
              <a:xfrm>
                <a:off x="8351162" y="1060873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96" name="Right Brace 95">
                <a:extLst>
                  <a:ext uri="{FF2B5EF4-FFF2-40B4-BE49-F238E27FC236}">
                    <a16:creationId xmlns:a16="http://schemas.microsoft.com/office/drawing/2014/main" id="{954B4663-9DCB-E146-A437-D786B13C8DFA}"/>
                  </a:ext>
                </a:extLst>
              </p:cNvPr>
              <p:cNvSpPr/>
              <p:nvPr/>
            </p:nvSpPr>
            <p:spPr>
              <a:xfrm rot="5400000" flipH="1">
                <a:off x="8811922" y="-642556"/>
                <a:ext cx="156474" cy="3250388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E47FA96-4DEC-0E44-B9CD-C937D9A10F75}"/>
                  </a:ext>
                </a:extLst>
              </p:cNvPr>
              <p:cNvSpPr txBox="1"/>
              <p:nvPr/>
            </p:nvSpPr>
            <p:spPr>
              <a:xfrm>
                <a:off x="8557628" y="632977"/>
                <a:ext cx="8715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400" dirty="0"/>
                  <a:t>Extent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3506B632-9468-CE4D-9732-1F72BCB15B86}"/>
                  </a:ext>
                </a:extLst>
              </p:cNvPr>
              <p:cNvSpPr/>
              <p:nvPr/>
            </p:nvSpPr>
            <p:spPr>
              <a:xfrm>
                <a:off x="4336378" y="2164716"/>
                <a:ext cx="671659" cy="37784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6D19856B-A83E-D645-80FB-BF6ECD41C7C2}"/>
                  </a:ext>
                </a:extLst>
              </p:cNvPr>
              <p:cNvSpPr/>
              <p:nvPr/>
            </p:nvSpPr>
            <p:spPr>
              <a:xfrm>
                <a:off x="4336378" y="2541314"/>
                <a:ext cx="671659" cy="37784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F6A60BE1-F20E-FD47-9435-C6C3C57DEF85}"/>
                  </a:ext>
                </a:extLst>
              </p:cNvPr>
              <p:cNvSpPr/>
              <p:nvPr/>
            </p:nvSpPr>
            <p:spPr>
              <a:xfrm>
                <a:off x="4334103" y="3307348"/>
                <a:ext cx="671659" cy="37784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5B2EA451-7E29-8049-9EE9-7C654225CF2F}"/>
                  </a:ext>
                </a:extLst>
              </p:cNvPr>
              <p:cNvSpPr/>
              <p:nvPr/>
            </p:nvSpPr>
            <p:spPr>
              <a:xfrm>
                <a:off x="4334104" y="2922311"/>
                <a:ext cx="671659" cy="37784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10B58DC1-1D25-5E42-875C-1CB777BCCAA7}"/>
                  </a:ext>
                </a:extLst>
              </p:cNvPr>
              <p:cNvGrpSpPr/>
              <p:nvPr/>
            </p:nvGrpSpPr>
            <p:grpSpPr>
              <a:xfrm>
                <a:off x="5640814" y="1321774"/>
                <a:ext cx="896399" cy="1865233"/>
                <a:chOff x="5228230" y="1391624"/>
                <a:chExt cx="896399" cy="1865233"/>
              </a:xfrm>
            </p:grpSpPr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86FA9659-B0DE-E04D-A4C1-809FA5CE9138}"/>
                    </a:ext>
                  </a:extLst>
                </p:cNvPr>
                <p:cNvSpPr/>
                <p:nvPr/>
              </p:nvSpPr>
              <p:spPr>
                <a:xfrm>
                  <a:off x="5296292" y="139528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CN" sz="1050" dirty="0"/>
                    <a:t>偏移量</a:t>
                  </a:r>
                  <a:endParaRPr lang="en-CN" sz="1100" dirty="0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A18A6D05-E081-9C47-A43F-E3DF11AA591F}"/>
                    </a:ext>
                  </a:extLst>
                </p:cNvPr>
                <p:cNvSpPr/>
                <p:nvPr/>
              </p:nvSpPr>
              <p:spPr>
                <a:xfrm>
                  <a:off x="5296292" y="1579305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100" dirty="0"/>
                    <a:t>起始块号</a:t>
                  </a:r>
                  <a:endParaRPr lang="en-CN" sz="1100" dirty="0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CAFDA33C-0C7A-9C49-BA97-89FD3316DC9F}"/>
                    </a:ext>
                  </a:extLst>
                </p:cNvPr>
                <p:cNvSpPr/>
                <p:nvPr/>
              </p:nvSpPr>
              <p:spPr>
                <a:xfrm>
                  <a:off x="5296292" y="1764566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050" dirty="0">
                      <a:solidFill>
                        <a:srgbClr val="000000"/>
                      </a:solidFill>
                    </a:rPr>
                    <a:t>长度</a:t>
                  </a:r>
                  <a:endParaRPr lang="en-CN" sz="1100" dirty="0"/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398AE844-AB3D-6549-BAB4-C9D8150493BF}"/>
                    </a:ext>
                  </a:extLst>
                </p:cNvPr>
                <p:cNvSpPr txBox="1"/>
                <p:nvPr/>
              </p:nvSpPr>
              <p:spPr>
                <a:xfrm>
                  <a:off x="5228230" y="2949080"/>
                  <a:ext cx="8963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/>
                    <a:t>叶子节点</a:t>
                  </a:r>
                  <a:endParaRPr lang="en-CN" sz="1400" dirty="0"/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47524A-DF52-6D42-B004-8CF8F1C1C85B}"/>
                    </a:ext>
                  </a:extLst>
                </p:cNvPr>
                <p:cNvSpPr/>
                <p:nvPr/>
              </p:nvSpPr>
              <p:spPr>
                <a:xfrm>
                  <a:off x="5296291" y="194718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100" dirty="0"/>
                    <a:t>偏移量</a:t>
                  </a:r>
                  <a:endParaRPr lang="en-CN" sz="1100" dirty="0"/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3596E44B-E301-C04A-BF0E-76B7EAA47256}"/>
                    </a:ext>
                  </a:extLst>
                </p:cNvPr>
                <p:cNvSpPr/>
                <p:nvPr/>
              </p:nvSpPr>
              <p:spPr>
                <a:xfrm>
                  <a:off x="5296291" y="213120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lvl="0" algn="ctr"/>
                  <a:r>
                    <a:rPr lang="zh-CN" altLang="en-US" sz="1050" dirty="0">
                      <a:solidFill>
                        <a:srgbClr val="000000"/>
                      </a:solidFill>
                    </a:rPr>
                    <a:t>起始块号</a:t>
                  </a:r>
                  <a:endParaRPr lang="en-CN" sz="11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7F5C8F31-28F9-3640-B89F-7B4FBC2D4C39}"/>
                    </a:ext>
                  </a:extLst>
                </p:cNvPr>
                <p:cNvSpPr/>
                <p:nvPr/>
              </p:nvSpPr>
              <p:spPr>
                <a:xfrm>
                  <a:off x="5296291" y="231522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100" dirty="0"/>
                    <a:t>长度</a:t>
                  </a:r>
                  <a:endParaRPr lang="en-CN" sz="1100" dirty="0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BB9CCFA1-B4B9-354C-8A3F-C2EF1D5F0DA5}"/>
                    </a:ext>
                  </a:extLst>
                </p:cNvPr>
                <p:cNvSpPr/>
                <p:nvPr/>
              </p:nvSpPr>
              <p:spPr>
                <a:xfrm>
                  <a:off x="5295094" y="1391624"/>
                  <a:ext cx="787876" cy="5555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endParaRPr lang="en-CN" sz="1100" dirty="0"/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12BAC1E-4295-EE41-AA54-A7C325DFEBFF}"/>
                    </a:ext>
                  </a:extLst>
                </p:cNvPr>
                <p:cNvSpPr/>
                <p:nvPr/>
              </p:nvSpPr>
              <p:spPr>
                <a:xfrm>
                  <a:off x="5293896" y="1947183"/>
                  <a:ext cx="787876" cy="5555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endParaRPr lang="en-CN" sz="1100" dirty="0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D89047FE-CACF-D249-A936-F584D466685A}"/>
                    </a:ext>
                  </a:extLst>
                </p:cNvPr>
                <p:cNvSpPr/>
                <p:nvPr/>
              </p:nvSpPr>
              <p:spPr>
                <a:xfrm>
                  <a:off x="5293896" y="2510958"/>
                  <a:ext cx="787876" cy="438121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1100" dirty="0"/>
                    <a:t>…</a:t>
                  </a:r>
                  <a:endParaRPr lang="en-CN" sz="1100" dirty="0"/>
                </a:p>
              </p:txBody>
            </p:sp>
          </p:grp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0F63A9E2-2257-2941-B0EB-1C3A8E5D332D}"/>
                  </a:ext>
                </a:extLst>
              </p:cNvPr>
              <p:cNvGrpSpPr/>
              <p:nvPr/>
            </p:nvGrpSpPr>
            <p:grpSpPr>
              <a:xfrm>
                <a:off x="5640813" y="3373260"/>
                <a:ext cx="896399" cy="1865233"/>
                <a:chOff x="5228230" y="1391624"/>
                <a:chExt cx="896399" cy="1865233"/>
              </a:xfrm>
            </p:grpSpPr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2507C0D8-1357-4D41-8EB8-C72FD952CAA1}"/>
                    </a:ext>
                  </a:extLst>
                </p:cNvPr>
                <p:cNvSpPr/>
                <p:nvPr/>
              </p:nvSpPr>
              <p:spPr>
                <a:xfrm>
                  <a:off x="5296292" y="139528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CN" sz="1050" dirty="0"/>
                    <a:t>偏移量</a:t>
                  </a:r>
                  <a:endParaRPr lang="en-CN" sz="1100" dirty="0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EBFF99F3-5D4D-D24C-8C42-6F5F37A6E8F2}"/>
                    </a:ext>
                  </a:extLst>
                </p:cNvPr>
                <p:cNvSpPr/>
                <p:nvPr/>
              </p:nvSpPr>
              <p:spPr>
                <a:xfrm>
                  <a:off x="5296292" y="1579305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100" dirty="0"/>
                    <a:t>起始块号</a:t>
                  </a:r>
                  <a:endParaRPr lang="en-CN" sz="1100" dirty="0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74A60234-CF03-C144-9B8C-36C8C3DD1221}"/>
                    </a:ext>
                  </a:extLst>
                </p:cNvPr>
                <p:cNvSpPr/>
                <p:nvPr/>
              </p:nvSpPr>
              <p:spPr>
                <a:xfrm>
                  <a:off x="5296292" y="1764566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050" dirty="0">
                      <a:solidFill>
                        <a:srgbClr val="000000"/>
                      </a:solidFill>
                    </a:rPr>
                    <a:t>长度</a:t>
                  </a:r>
                  <a:endParaRPr lang="en-CN" sz="1100" dirty="0"/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87F6DE00-6010-D147-9558-8063332774D4}"/>
                    </a:ext>
                  </a:extLst>
                </p:cNvPr>
                <p:cNvSpPr txBox="1"/>
                <p:nvPr/>
              </p:nvSpPr>
              <p:spPr>
                <a:xfrm>
                  <a:off x="5228230" y="2949080"/>
                  <a:ext cx="89639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dirty="0"/>
                    <a:t>叶子节点</a:t>
                  </a:r>
                  <a:endParaRPr lang="en-CN" sz="1400" dirty="0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F206BA2F-B4D3-F44B-B86E-BC08A57010AB}"/>
                    </a:ext>
                  </a:extLst>
                </p:cNvPr>
                <p:cNvSpPr/>
                <p:nvPr/>
              </p:nvSpPr>
              <p:spPr>
                <a:xfrm>
                  <a:off x="5296291" y="194718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100" dirty="0"/>
                    <a:t>偏移量</a:t>
                  </a:r>
                  <a:endParaRPr lang="en-CN" sz="1100" dirty="0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F0E92B68-8048-5F43-B577-F6396A3CB890}"/>
                    </a:ext>
                  </a:extLst>
                </p:cNvPr>
                <p:cNvSpPr/>
                <p:nvPr/>
              </p:nvSpPr>
              <p:spPr>
                <a:xfrm>
                  <a:off x="5296291" y="213120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lvl="0" algn="ctr"/>
                  <a:r>
                    <a:rPr lang="zh-CN" altLang="en-US" sz="1050" dirty="0">
                      <a:solidFill>
                        <a:srgbClr val="000000"/>
                      </a:solidFill>
                    </a:rPr>
                    <a:t>起始块号</a:t>
                  </a:r>
                  <a:endParaRPr lang="en-CN" sz="11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74207A35-961F-9A4A-9A10-8511A12D8ED1}"/>
                    </a:ext>
                  </a:extLst>
                </p:cNvPr>
                <p:cNvSpPr/>
                <p:nvPr/>
              </p:nvSpPr>
              <p:spPr>
                <a:xfrm>
                  <a:off x="5296291" y="2315224"/>
                  <a:ext cx="787876" cy="184020"/>
                </a:xfrm>
                <a:prstGeom prst="rect">
                  <a:avLst/>
                </a:prstGeom>
                <a:ln w="63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zh-CN" altLang="en-US" sz="1100" dirty="0"/>
                    <a:t>长度</a:t>
                  </a:r>
                  <a:endParaRPr lang="en-CN" sz="1100" dirty="0"/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B4CCF6F7-9E7D-E540-AC01-1F43F5E96699}"/>
                    </a:ext>
                  </a:extLst>
                </p:cNvPr>
                <p:cNvSpPr/>
                <p:nvPr/>
              </p:nvSpPr>
              <p:spPr>
                <a:xfrm>
                  <a:off x="5295094" y="1391624"/>
                  <a:ext cx="787876" cy="5555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endParaRPr lang="en-CN" sz="1100" dirty="0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66269361-629F-704B-8021-6DC9B4687D43}"/>
                    </a:ext>
                  </a:extLst>
                </p:cNvPr>
                <p:cNvSpPr/>
                <p:nvPr/>
              </p:nvSpPr>
              <p:spPr>
                <a:xfrm>
                  <a:off x="5293896" y="1947183"/>
                  <a:ext cx="787876" cy="555559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endParaRPr lang="en-CN" sz="1100" dirty="0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A79602EB-574B-884D-9C7D-6FC089B34B79}"/>
                    </a:ext>
                  </a:extLst>
                </p:cNvPr>
                <p:cNvSpPr/>
                <p:nvPr/>
              </p:nvSpPr>
              <p:spPr>
                <a:xfrm>
                  <a:off x="5293896" y="2510958"/>
                  <a:ext cx="787876" cy="438121"/>
                </a:xfrm>
                <a:prstGeom prst="rect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zh-CN" sz="1100" dirty="0"/>
                    <a:t>…</a:t>
                  </a:r>
                  <a:endParaRPr lang="en-CN" sz="1100" dirty="0"/>
                </a:p>
              </p:txBody>
            </p:sp>
          </p:grpSp>
          <p:cxnSp>
            <p:nvCxnSpPr>
              <p:cNvPr id="166" name="Curved Connector 165">
                <a:extLst>
                  <a:ext uri="{FF2B5EF4-FFF2-40B4-BE49-F238E27FC236}">
                    <a16:creationId xmlns:a16="http://schemas.microsoft.com/office/drawing/2014/main" id="{54BF6B9A-87E0-8742-B69B-9BEFD963774B}"/>
                  </a:ext>
                </a:extLst>
              </p:cNvPr>
              <p:cNvCxnSpPr>
                <a:cxnSpLocks/>
                <a:stCxn id="84" idx="3"/>
                <a:endCxn id="139" idx="1"/>
              </p:cNvCxnSpPr>
              <p:nvPr/>
            </p:nvCxnSpPr>
            <p:spPr>
              <a:xfrm flipV="1">
                <a:off x="5008038" y="1417444"/>
                <a:ext cx="700838" cy="1033263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urved Connector 166">
                <a:extLst>
                  <a:ext uri="{FF2B5EF4-FFF2-40B4-BE49-F238E27FC236}">
                    <a16:creationId xmlns:a16="http://schemas.microsoft.com/office/drawing/2014/main" id="{78C72028-2144-DD43-AFFF-FA3EAFE088B0}"/>
                  </a:ext>
                </a:extLst>
              </p:cNvPr>
              <p:cNvCxnSpPr>
                <a:cxnSpLocks/>
                <a:stCxn id="87" idx="3"/>
                <a:endCxn id="156" idx="1"/>
              </p:cNvCxnSpPr>
              <p:nvPr/>
            </p:nvCxnSpPr>
            <p:spPr>
              <a:xfrm>
                <a:off x="5008037" y="2818586"/>
                <a:ext cx="700838" cy="650344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A2C5F42-C0E4-C745-ABE2-8EF5604BAD78}"/>
                  </a:ext>
                </a:extLst>
              </p:cNvPr>
              <p:cNvSpPr txBox="1"/>
              <p:nvPr/>
            </p:nvSpPr>
            <p:spPr>
              <a:xfrm>
                <a:off x="7328765" y="2481475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…</a:t>
                </a:r>
                <a:endParaRPr lang="en-CN" dirty="0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2A8A658C-322B-E848-8156-7FB767AF4BFF}"/>
                  </a:ext>
                </a:extLst>
              </p:cNvPr>
              <p:cNvSpPr/>
              <p:nvPr/>
            </p:nvSpPr>
            <p:spPr>
              <a:xfrm>
                <a:off x="7264965" y="4548295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BEAB124F-01D8-7541-B42F-361A932A35C0}"/>
                  </a:ext>
                </a:extLst>
              </p:cNvPr>
              <p:cNvSpPr/>
              <p:nvPr/>
            </p:nvSpPr>
            <p:spPr>
              <a:xfrm>
                <a:off x="7808063" y="4548295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AE368C5-65B2-084E-924F-B7DFBD35A9DB}"/>
                  </a:ext>
                </a:extLst>
              </p:cNvPr>
              <p:cNvSpPr/>
              <p:nvPr/>
            </p:nvSpPr>
            <p:spPr>
              <a:xfrm>
                <a:off x="8351161" y="4548295"/>
                <a:ext cx="543099" cy="42055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数据块</a:t>
                </a:r>
                <a:endParaRPr lang="en-CN" sz="1100" dirty="0"/>
              </a:p>
            </p:txBody>
          </p:sp>
          <p:cxnSp>
            <p:nvCxnSpPr>
              <p:cNvPr id="176" name="Curved Connector 175">
                <a:extLst>
                  <a:ext uri="{FF2B5EF4-FFF2-40B4-BE49-F238E27FC236}">
                    <a16:creationId xmlns:a16="http://schemas.microsoft.com/office/drawing/2014/main" id="{76276B9B-4062-8E4C-8ACC-0F83CDB00EDB}"/>
                  </a:ext>
                </a:extLst>
              </p:cNvPr>
              <p:cNvCxnSpPr>
                <a:cxnSpLocks/>
                <a:stCxn id="161" idx="3"/>
                <a:endCxn id="172" idx="1"/>
              </p:cNvCxnSpPr>
              <p:nvPr/>
            </p:nvCxnSpPr>
            <p:spPr>
              <a:xfrm>
                <a:off x="6496750" y="4204850"/>
                <a:ext cx="768215" cy="553723"/>
              </a:xfrm>
              <a:prstGeom prst="curved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9CA008-0FA3-ED43-BBF1-6E85CA04DBE3}"/>
                </a:ext>
              </a:extLst>
            </p:cNvPr>
            <p:cNvSpPr/>
            <p:nvPr/>
          </p:nvSpPr>
          <p:spPr>
            <a:xfrm>
              <a:off x="5200045" y="4726782"/>
              <a:ext cx="1612028" cy="4381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4F8F1AF-70E2-4047-A91E-E39935BC2ADC}"/>
                </a:ext>
              </a:extLst>
            </p:cNvPr>
            <p:cNvSpPr/>
            <p:nvPr/>
          </p:nvSpPr>
          <p:spPr>
            <a:xfrm>
              <a:off x="6812452" y="124814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B2F8124-54E5-7D4F-AB9E-776C58881345}"/>
                </a:ext>
              </a:extLst>
            </p:cNvPr>
            <p:cNvSpPr/>
            <p:nvPr/>
          </p:nvSpPr>
          <p:spPr>
            <a:xfrm>
              <a:off x="7355550" y="124814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9FC759F-BB4A-3745-96B0-AB229EE4BCB1}"/>
                </a:ext>
              </a:extLst>
            </p:cNvPr>
            <p:cNvSpPr/>
            <p:nvPr/>
          </p:nvSpPr>
          <p:spPr>
            <a:xfrm>
              <a:off x="7898648" y="124814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652BC48-CBD8-5744-82F2-B12006122F93}"/>
                </a:ext>
              </a:extLst>
            </p:cNvPr>
            <p:cNvSpPr/>
            <p:nvPr/>
          </p:nvSpPr>
          <p:spPr>
            <a:xfrm>
              <a:off x="5200045" y="1234530"/>
              <a:ext cx="3258590" cy="4381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F05BD11-4795-B045-8BC9-B80CF4345CBE}"/>
                </a:ext>
              </a:extLst>
            </p:cNvPr>
            <p:cNvSpPr/>
            <p:nvPr/>
          </p:nvSpPr>
          <p:spPr>
            <a:xfrm>
              <a:off x="5734458" y="1889259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FCB7E8B-93A8-DB42-BC76-FD84303B72BD}"/>
                </a:ext>
              </a:extLst>
            </p:cNvPr>
            <p:cNvSpPr/>
            <p:nvPr/>
          </p:nvSpPr>
          <p:spPr>
            <a:xfrm>
              <a:off x="6277556" y="1889259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A7CCEB8-D65F-1248-9C5F-7090026CBF6B}"/>
                </a:ext>
              </a:extLst>
            </p:cNvPr>
            <p:cNvSpPr/>
            <p:nvPr/>
          </p:nvSpPr>
          <p:spPr>
            <a:xfrm>
              <a:off x="6820654" y="1889259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FB6D164D-6DCA-0640-A321-BF09F9F2F027}"/>
                </a:ext>
              </a:extLst>
            </p:cNvPr>
            <p:cNvSpPr/>
            <p:nvPr/>
          </p:nvSpPr>
          <p:spPr>
            <a:xfrm>
              <a:off x="5183142" y="1891712"/>
              <a:ext cx="2179645" cy="4381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8FC91D7-6FD2-264A-95F2-D60BC82A3820}"/>
                </a:ext>
              </a:extLst>
            </p:cNvPr>
            <p:cNvSpPr/>
            <p:nvPr/>
          </p:nvSpPr>
          <p:spPr>
            <a:xfrm>
              <a:off x="6273455" y="336618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80DB188-ADD2-2843-B57A-1C32F78F7C3A}"/>
                </a:ext>
              </a:extLst>
            </p:cNvPr>
            <p:cNvSpPr/>
            <p:nvPr/>
          </p:nvSpPr>
          <p:spPr>
            <a:xfrm>
              <a:off x="6816553" y="336618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25C03F2-043B-DB4D-A3F2-1F8A7DFC0F5B}"/>
                </a:ext>
              </a:extLst>
            </p:cNvPr>
            <p:cNvSpPr/>
            <p:nvPr/>
          </p:nvSpPr>
          <p:spPr>
            <a:xfrm>
              <a:off x="7359651" y="336618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198F3D6-AD9A-7341-8AEE-108D684DBAB8}"/>
                </a:ext>
              </a:extLst>
            </p:cNvPr>
            <p:cNvSpPr/>
            <p:nvPr/>
          </p:nvSpPr>
          <p:spPr>
            <a:xfrm>
              <a:off x="5197507" y="3357404"/>
              <a:ext cx="2701141" cy="438121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764269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60AFE6-50BD-DE4B-B13E-CDB1A1A6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Ext2</a:t>
            </a:r>
            <a:r>
              <a:rPr lang="zh-CN" altLang="en-US" dirty="0"/>
              <a:t>的</a:t>
            </a:r>
            <a:r>
              <a:rPr lang="zh-CN" altLang="en-CN" dirty="0"/>
              <a:t>目录</a:t>
            </a:r>
            <a:r>
              <a:rPr lang="zh-CN" altLang="en-US" dirty="0"/>
              <a:t>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321DC-FF66-574C-B3CB-371226E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555BA-49CC-3842-B9DA-E63F0D1AC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93077-CAC4-D343-801D-D0335D0925A2}"/>
              </a:ext>
            </a:extLst>
          </p:cNvPr>
          <p:cNvSpPr txBox="1"/>
          <p:nvPr/>
        </p:nvSpPr>
        <p:spPr>
          <a:xfrm>
            <a:off x="5434954" y="2027374"/>
            <a:ext cx="3251846" cy="1107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struct ext2_dir_entry {</a:t>
            </a:r>
          </a:p>
          <a:p>
            <a:r>
              <a:rPr lang="en-US" sz="1100" dirty="0">
                <a:latin typeface="Courier" pitchFamily="2" charset="0"/>
              </a:rPr>
              <a:t>  __le32 </a:t>
            </a:r>
            <a:r>
              <a:rPr lang="en-US" sz="1100" dirty="0" err="1">
                <a:latin typeface="Courier" pitchFamily="2" charset="0"/>
              </a:rPr>
              <a:t>inode</a:t>
            </a:r>
            <a:r>
              <a:rPr lang="en-US" sz="1100" dirty="0">
                <a:latin typeface="Courier" pitchFamily="2" charset="0"/>
              </a:rPr>
              <a:t>;	/* </a:t>
            </a:r>
            <a:r>
              <a:rPr lang="en-US" altLang="zh-CN" sz="1100" dirty="0" err="1">
                <a:latin typeface="Courier" pitchFamily="2" charset="0"/>
              </a:rPr>
              <a:t>i</a:t>
            </a:r>
            <a:r>
              <a:rPr lang="en-US" sz="1100" dirty="0" err="1">
                <a:latin typeface="Courier" pitchFamily="2" charset="0"/>
              </a:rPr>
              <a:t>node</a:t>
            </a:r>
            <a:r>
              <a:rPr lang="zh-CN" altLang="en-US" sz="1100" dirty="0">
                <a:latin typeface="Courier" pitchFamily="2" charset="0"/>
              </a:rPr>
              <a:t> 号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en-US" sz="1100" dirty="0">
                <a:latin typeface="Courier" pitchFamily="2" charset="0"/>
              </a:rPr>
              <a:t>  __le16 </a:t>
            </a:r>
            <a:r>
              <a:rPr lang="en-US" sz="1100" dirty="0" err="1">
                <a:latin typeface="Courier" pitchFamily="2" charset="0"/>
              </a:rPr>
              <a:t>rec_len</a:t>
            </a:r>
            <a:r>
              <a:rPr lang="en-US" sz="1100" dirty="0">
                <a:latin typeface="Courier" pitchFamily="2" charset="0"/>
              </a:rPr>
              <a:t>;	/* </a:t>
            </a:r>
            <a:r>
              <a:rPr lang="zh-CN" altLang="en-US" sz="1100" dirty="0">
                <a:latin typeface="Courier" pitchFamily="2" charset="0"/>
              </a:rPr>
              <a:t>目录项长度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en-US" sz="1100" dirty="0">
                <a:latin typeface="Courier" pitchFamily="2" charset="0"/>
              </a:rPr>
              <a:t>  __le16 </a:t>
            </a:r>
            <a:r>
              <a:rPr lang="en-US" sz="1100" dirty="0" err="1">
                <a:latin typeface="Courier" pitchFamily="2" charset="0"/>
              </a:rPr>
              <a:t>name_len</a:t>
            </a:r>
            <a:r>
              <a:rPr lang="en-US" sz="1100" dirty="0">
                <a:latin typeface="Courier" pitchFamily="2" charset="0"/>
              </a:rPr>
              <a:t>;	/* </a:t>
            </a:r>
            <a:r>
              <a:rPr lang="zh-CN" altLang="en-US" sz="1100" dirty="0">
                <a:latin typeface="Courier" pitchFamily="2" charset="0"/>
              </a:rPr>
              <a:t>文件名长度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en-US" sz="1100" dirty="0">
                <a:latin typeface="Courier" pitchFamily="2" charset="0"/>
              </a:rPr>
              <a:t>  char   name[];	/* </a:t>
            </a:r>
            <a:r>
              <a:rPr lang="zh-CN" altLang="en-US" sz="1100" dirty="0">
                <a:latin typeface="Courier" pitchFamily="2" charset="0"/>
              </a:rPr>
              <a:t>文件名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en-US" sz="1100" dirty="0">
                <a:latin typeface="Courier" pitchFamily="2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A86484-453D-9743-AFE0-E5461E825E6F}"/>
              </a:ext>
            </a:extLst>
          </p:cNvPr>
          <p:cNvSpPr txBox="1"/>
          <p:nvPr/>
        </p:nvSpPr>
        <p:spPr>
          <a:xfrm>
            <a:off x="5351275" y="158977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Ext2</a:t>
            </a:r>
            <a:r>
              <a:rPr lang="zh-CN" altLang="en-US" dirty="0"/>
              <a:t>的</a:t>
            </a:r>
            <a:r>
              <a:rPr lang="zh-CN" altLang="en-CN" dirty="0"/>
              <a:t>目录项</a:t>
            </a:r>
            <a:r>
              <a:rPr lang="zh-CN" altLang="en-US" dirty="0"/>
              <a:t>结构</a:t>
            </a:r>
            <a:endParaRPr lang="en-CN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89F296F-4F1D-3242-B8A8-47736A969927}"/>
              </a:ext>
            </a:extLst>
          </p:cNvPr>
          <p:cNvGrpSpPr/>
          <p:nvPr/>
        </p:nvGrpSpPr>
        <p:grpSpPr>
          <a:xfrm>
            <a:off x="539750" y="4535050"/>
            <a:ext cx="3021349" cy="270185"/>
            <a:chOff x="461955" y="4029856"/>
            <a:chExt cx="3021349" cy="27018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9DEF92-E683-F640-87F7-B84A4D32AFE5}"/>
                </a:ext>
              </a:extLst>
            </p:cNvPr>
            <p:cNvSpPr/>
            <p:nvPr/>
          </p:nvSpPr>
          <p:spPr>
            <a:xfrm>
              <a:off x="461955" y="4029856"/>
              <a:ext cx="388253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 err="1"/>
                <a:t>ino</a:t>
              </a:r>
              <a:endParaRPr lang="en-CN" sz="9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4F27431-27D6-8D46-8D22-C58B9E79A040}"/>
                </a:ext>
              </a:extLst>
            </p:cNvPr>
            <p:cNvSpPr/>
            <p:nvPr/>
          </p:nvSpPr>
          <p:spPr>
            <a:xfrm>
              <a:off x="1364971" y="4029856"/>
              <a:ext cx="1367906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900" dirty="0"/>
                <a:t>文件名</a:t>
              </a:r>
              <a:endParaRPr lang="en-CN" sz="9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7BACE2F-2C99-2843-B533-7092B2BBD245}"/>
                </a:ext>
              </a:extLst>
            </p:cNvPr>
            <p:cNvSpPr/>
            <p:nvPr/>
          </p:nvSpPr>
          <p:spPr>
            <a:xfrm>
              <a:off x="850208" y="4029856"/>
              <a:ext cx="259819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CN" sz="900" dirty="0"/>
                <a:t>rl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9C74785-BDC0-AF4F-98E7-908753BB7F90}"/>
                </a:ext>
              </a:extLst>
            </p:cNvPr>
            <p:cNvSpPr/>
            <p:nvPr/>
          </p:nvSpPr>
          <p:spPr>
            <a:xfrm>
              <a:off x="1106234" y="4029856"/>
              <a:ext cx="259820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900" dirty="0" err="1"/>
                <a:t>nl</a:t>
              </a:r>
              <a:endParaRPr lang="en-CN" sz="9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7D24069-3D68-9344-A805-FAECD58CA46F}"/>
                </a:ext>
              </a:extLst>
            </p:cNvPr>
            <p:cNvSpPr/>
            <p:nvPr/>
          </p:nvSpPr>
          <p:spPr>
            <a:xfrm>
              <a:off x="2732877" y="4029856"/>
              <a:ext cx="750427" cy="270185"/>
            </a:xfrm>
            <a:prstGeom prst="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 dirty="0"/>
            </a:p>
          </p:txBody>
        </p:sp>
      </p:grpSp>
      <p:sp>
        <p:nvSpPr>
          <p:cNvPr id="41" name="Right Brace 40">
            <a:extLst>
              <a:ext uri="{FF2B5EF4-FFF2-40B4-BE49-F238E27FC236}">
                <a16:creationId xmlns:a16="http://schemas.microsoft.com/office/drawing/2014/main" id="{6A157428-DA2C-CF4E-B11F-52A85E22C9DE}"/>
              </a:ext>
            </a:extLst>
          </p:cNvPr>
          <p:cNvSpPr/>
          <p:nvPr/>
        </p:nvSpPr>
        <p:spPr>
          <a:xfrm rot="5400000">
            <a:off x="1950295" y="3423706"/>
            <a:ext cx="200260" cy="3021349"/>
          </a:xfrm>
          <a:prstGeom prst="rightBrace">
            <a:avLst>
              <a:gd name="adj1" fmla="val 34720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9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D10451-5EE3-BF4C-8F51-205838A25BC3}"/>
              </a:ext>
            </a:extLst>
          </p:cNvPr>
          <p:cNvSpPr txBox="1"/>
          <p:nvPr/>
        </p:nvSpPr>
        <p:spPr>
          <a:xfrm>
            <a:off x="1637491" y="5104085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目录项长度</a:t>
            </a:r>
            <a:endParaRPr lang="en-CN" sz="10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57582AD-DCA8-E94B-AA68-E06CFB5D3E48}"/>
              </a:ext>
            </a:extLst>
          </p:cNvPr>
          <p:cNvSpPr/>
          <p:nvPr/>
        </p:nvSpPr>
        <p:spPr>
          <a:xfrm>
            <a:off x="3561099" y="4535049"/>
            <a:ext cx="388253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ino</a:t>
            </a:r>
            <a:endParaRPr lang="en-CN" sz="9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6F22530-D46B-7C45-91C2-CDBE53D3286F}"/>
              </a:ext>
            </a:extLst>
          </p:cNvPr>
          <p:cNvSpPr/>
          <p:nvPr/>
        </p:nvSpPr>
        <p:spPr>
          <a:xfrm>
            <a:off x="4464115" y="4535049"/>
            <a:ext cx="684767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900" dirty="0"/>
              <a:t>文件名</a:t>
            </a:r>
            <a:endParaRPr lang="en-CN" sz="9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C8EFFE5-E24D-1645-A61D-ECBD88CDB40C}"/>
              </a:ext>
            </a:extLst>
          </p:cNvPr>
          <p:cNvSpPr/>
          <p:nvPr/>
        </p:nvSpPr>
        <p:spPr>
          <a:xfrm>
            <a:off x="3949352" y="4535049"/>
            <a:ext cx="259819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900" dirty="0"/>
              <a:t>rl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43C1BBA-03EE-B948-BA4A-18E39EB2F74E}"/>
              </a:ext>
            </a:extLst>
          </p:cNvPr>
          <p:cNvSpPr/>
          <p:nvPr/>
        </p:nvSpPr>
        <p:spPr>
          <a:xfrm>
            <a:off x="4205378" y="4535049"/>
            <a:ext cx="259820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900" dirty="0" err="1"/>
              <a:t>nl</a:t>
            </a:r>
            <a:endParaRPr lang="en-CN" sz="9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E607928-1207-6E42-8C49-6F968310CA02}"/>
              </a:ext>
            </a:extLst>
          </p:cNvPr>
          <p:cNvSpPr/>
          <p:nvPr/>
        </p:nvSpPr>
        <p:spPr>
          <a:xfrm>
            <a:off x="5148882" y="4536324"/>
            <a:ext cx="388253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ino</a:t>
            </a:r>
            <a:endParaRPr lang="en-CN" sz="9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161579-CCCC-E44B-BCED-2B8B70E08C2B}"/>
              </a:ext>
            </a:extLst>
          </p:cNvPr>
          <p:cNvSpPr/>
          <p:nvPr/>
        </p:nvSpPr>
        <p:spPr>
          <a:xfrm>
            <a:off x="6051898" y="4536324"/>
            <a:ext cx="1211525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E34EDC-383F-1E48-AC3D-EF7D0BF83BC9}"/>
              </a:ext>
            </a:extLst>
          </p:cNvPr>
          <p:cNvSpPr/>
          <p:nvPr/>
        </p:nvSpPr>
        <p:spPr>
          <a:xfrm>
            <a:off x="5537135" y="4536324"/>
            <a:ext cx="259819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900" dirty="0"/>
              <a:t>rl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1FC6C9-CA02-DF4A-855E-3D6322A86D43}"/>
              </a:ext>
            </a:extLst>
          </p:cNvPr>
          <p:cNvSpPr/>
          <p:nvPr/>
        </p:nvSpPr>
        <p:spPr>
          <a:xfrm>
            <a:off x="5793161" y="4536324"/>
            <a:ext cx="259820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900" dirty="0" err="1"/>
              <a:t>nl</a:t>
            </a:r>
            <a:endParaRPr lang="en-CN" sz="9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E64369-1AE4-4246-BAFA-E21A1860804B}"/>
              </a:ext>
            </a:extLst>
          </p:cNvPr>
          <p:cNvSpPr/>
          <p:nvPr/>
        </p:nvSpPr>
        <p:spPr>
          <a:xfrm>
            <a:off x="7266132" y="4535049"/>
            <a:ext cx="388253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900" dirty="0" err="1"/>
              <a:t>ino</a:t>
            </a:r>
            <a:endParaRPr lang="en-CN" sz="9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810E780-3380-F846-A988-0995CDDC7A59}"/>
              </a:ext>
            </a:extLst>
          </p:cNvPr>
          <p:cNvSpPr/>
          <p:nvPr/>
        </p:nvSpPr>
        <p:spPr>
          <a:xfrm>
            <a:off x="8169148" y="4535049"/>
            <a:ext cx="837167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900" dirty="0"/>
              <a:t>文件名</a:t>
            </a:r>
            <a:endParaRPr lang="en-CN" sz="9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C6378DC-2E5F-B245-9C0B-86B7B6F4BC41}"/>
              </a:ext>
            </a:extLst>
          </p:cNvPr>
          <p:cNvSpPr/>
          <p:nvPr/>
        </p:nvSpPr>
        <p:spPr>
          <a:xfrm>
            <a:off x="7654385" y="4535049"/>
            <a:ext cx="259819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CN" sz="900" dirty="0"/>
              <a:t>rl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403144-6045-C24E-B63D-68ED2981E769}"/>
              </a:ext>
            </a:extLst>
          </p:cNvPr>
          <p:cNvSpPr/>
          <p:nvPr/>
        </p:nvSpPr>
        <p:spPr>
          <a:xfrm>
            <a:off x="7910411" y="4535049"/>
            <a:ext cx="259820" cy="27018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sz="900" dirty="0" err="1"/>
              <a:t>nl</a:t>
            </a:r>
            <a:endParaRPr lang="en-CN" sz="9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B2D02DB-2F1B-CE4F-9A43-1DE276802C23}"/>
              </a:ext>
            </a:extLst>
          </p:cNvPr>
          <p:cNvSpPr/>
          <p:nvPr/>
        </p:nvSpPr>
        <p:spPr>
          <a:xfrm>
            <a:off x="539000" y="4532669"/>
            <a:ext cx="3019390" cy="27018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1A23D94-302F-814C-98D0-ABD86375EB31}"/>
              </a:ext>
            </a:extLst>
          </p:cNvPr>
          <p:cNvSpPr/>
          <p:nvPr/>
        </p:nvSpPr>
        <p:spPr>
          <a:xfrm>
            <a:off x="7266131" y="4530622"/>
            <a:ext cx="1740183" cy="27018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1AAB529-C5FA-144E-ABDD-0F8D095C65BA}"/>
              </a:ext>
            </a:extLst>
          </p:cNvPr>
          <p:cNvSpPr/>
          <p:nvPr/>
        </p:nvSpPr>
        <p:spPr>
          <a:xfrm>
            <a:off x="3555885" y="4530622"/>
            <a:ext cx="1590288" cy="27018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4B5A2E-1A63-DE43-8293-2001FCEAF50D}"/>
              </a:ext>
            </a:extLst>
          </p:cNvPr>
          <p:cNvSpPr/>
          <p:nvPr/>
        </p:nvSpPr>
        <p:spPr>
          <a:xfrm>
            <a:off x="5142854" y="4530622"/>
            <a:ext cx="2123278" cy="27018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9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14A6DE-9C51-5C4B-9BC3-53C7C6D77D59}"/>
              </a:ext>
            </a:extLst>
          </p:cNvPr>
          <p:cNvSpPr txBox="1"/>
          <p:nvPr/>
        </p:nvSpPr>
        <p:spPr>
          <a:xfrm>
            <a:off x="493197" y="3916121"/>
            <a:ext cx="5113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Ext2</a:t>
            </a:r>
            <a:r>
              <a:rPr lang="zh-CN" altLang="en-US" dirty="0"/>
              <a:t>的目录</a:t>
            </a:r>
            <a:r>
              <a:rPr lang="zh-CN" altLang="en-CN" dirty="0"/>
              <a:t>复用</a:t>
            </a:r>
            <a:r>
              <a:rPr lang="zh-CN" altLang="en-US" dirty="0"/>
              <a:t>常规文件格式，目录项连续存放</a:t>
            </a:r>
            <a:endParaRPr lang="en-CN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5180DB09-16EF-8446-9C59-32CC9C280C63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内容为一组</a:t>
            </a:r>
            <a:r>
              <a:rPr lang="zh-CN" altLang="en-US" dirty="0"/>
              <a:t>目录项</a:t>
            </a:r>
            <a:r>
              <a:rPr lang="zh-CN" altLang="en-US" b="0" dirty="0"/>
              <a:t>的</a:t>
            </a:r>
            <a:r>
              <a:rPr lang="zh-CN" altLang="en-CN" b="0" dirty="0"/>
              <a:t>特殊</a:t>
            </a:r>
            <a:r>
              <a:rPr lang="zh-CN" altLang="en-US" b="0" dirty="0"/>
              <a:t>文件</a:t>
            </a:r>
            <a:endParaRPr lang="en-US" altLang="zh-CN" b="0" dirty="0"/>
          </a:p>
          <a:p>
            <a:r>
              <a:rPr lang="zh-CN" altLang="en-US" b="0" dirty="0"/>
              <a:t>目录项</a:t>
            </a:r>
            <a:endParaRPr lang="en-US" altLang="zh-CN" b="0" dirty="0"/>
          </a:p>
          <a:p>
            <a:pPr lvl="1"/>
            <a:r>
              <a:rPr lang="zh-CN" altLang="en-US" dirty="0"/>
              <a:t>文件名</a:t>
            </a:r>
            <a:r>
              <a:rPr lang="en-US" altLang="zh-CN" dirty="0"/>
              <a:t>+</a:t>
            </a:r>
            <a:r>
              <a:rPr lang="zh-CN" altLang="en-US" dirty="0"/>
              <a:t>对应文件的</a:t>
            </a:r>
            <a:r>
              <a:rPr lang="en-US" altLang="zh-CN" dirty="0" err="1"/>
              <a:t>inode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zh-CN" altLang="en-US" dirty="0"/>
              <a:t>“</a:t>
            </a:r>
            <a:r>
              <a:rPr lang="en-US" altLang="zh-CN" dirty="0"/>
              <a:t>.</a:t>
            </a:r>
            <a:r>
              <a:rPr lang="zh-CN" altLang="en-US" dirty="0"/>
              <a:t>”表示当前目录</a:t>
            </a:r>
            <a:endParaRPr lang="en-US" altLang="zh-CN" dirty="0"/>
          </a:p>
          <a:p>
            <a:pPr lvl="1"/>
            <a:r>
              <a:rPr lang="zh-CN" altLang="en-US" dirty="0"/>
              <a:t>“</a:t>
            </a:r>
            <a:r>
              <a:rPr lang="en-US" altLang="zh-CN" dirty="0"/>
              <a:t>..</a:t>
            </a:r>
            <a:r>
              <a:rPr lang="zh-CN" altLang="en-US" dirty="0"/>
              <a:t>”表示父目录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22235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A8227-4AD8-814D-B711-83F84105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符号链接</a:t>
            </a:r>
            <a:r>
              <a:rPr lang="zh-CN" altLang="en-US" dirty="0"/>
              <a:t>（软连接）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1403D-D746-5D49-B994-6ED7F2F51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5258560-CA62-0F4E-8FC8-E0CB67E84F38}"/>
              </a:ext>
            </a:extLst>
          </p:cNvPr>
          <p:cNvSpPr/>
          <p:nvPr/>
        </p:nvSpPr>
        <p:spPr>
          <a:xfrm>
            <a:off x="4218630" y="4125978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52A0D0C-84C3-0846-BAD7-05EA426F713A}"/>
              </a:ext>
            </a:extLst>
          </p:cNvPr>
          <p:cNvSpPr/>
          <p:nvPr/>
        </p:nvSpPr>
        <p:spPr>
          <a:xfrm>
            <a:off x="7729955" y="4080602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EACD267-5C1C-694F-934B-7BF53B068C9B}"/>
              </a:ext>
            </a:extLst>
          </p:cNvPr>
          <p:cNvSpPr/>
          <p:nvPr/>
        </p:nvSpPr>
        <p:spPr>
          <a:xfrm>
            <a:off x="8539206" y="3033626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en-C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F309D4-BD37-8D4B-9D43-1C8A13401779}"/>
              </a:ext>
            </a:extLst>
          </p:cNvPr>
          <p:cNvCxnSpPr>
            <a:cxnSpLocks/>
            <a:stCxn id="43" idx="3"/>
            <a:endCxn id="18" idx="0"/>
          </p:cNvCxnSpPr>
          <p:nvPr/>
        </p:nvCxnSpPr>
        <p:spPr>
          <a:xfrm flipH="1">
            <a:off x="4467877" y="3351408"/>
            <a:ext cx="1184581" cy="774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E4E53E-887C-224B-BEDB-1EDE147E89FE}"/>
              </a:ext>
            </a:extLst>
          </p:cNvPr>
          <p:cNvCxnSpPr>
            <a:cxnSpLocks/>
            <a:stCxn id="44" idx="4"/>
            <a:endCxn id="19" idx="0"/>
          </p:cNvCxnSpPr>
          <p:nvPr/>
        </p:nvCxnSpPr>
        <p:spPr>
          <a:xfrm>
            <a:off x="7480113" y="3442502"/>
            <a:ext cx="499089" cy="638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0383FB-79A6-B34E-8CFC-5A393BBB75DF}"/>
              </a:ext>
            </a:extLst>
          </p:cNvPr>
          <p:cNvCxnSpPr>
            <a:cxnSpLocks/>
            <a:stCxn id="42" idx="5"/>
            <a:endCxn id="21" idx="0"/>
          </p:cNvCxnSpPr>
          <p:nvPr/>
        </p:nvCxnSpPr>
        <p:spPr>
          <a:xfrm>
            <a:off x="7275961" y="1776066"/>
            <a:ext cx="1512492" cy="1257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A5E3590-5823-B843-AED7-5A1A84043B3B}"/>
              </a:ext>
            </a:extLst>
          </p:cNvPr>
          <p:cNvSpPr txBox="1"/>
          <p:nvPr/>
        </p:nvSpPr>
        <p:spPr>
          <a:xfrm>
            <a:off x="7081504" y="35437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算法</a:t>
            </a:r>
            <a:r>
              <a:rPr lang="zh-CN" altLang="en-US" dirty="0"/>
              <a:t>笔记</a:t>
            </a:r>
            <a:endParaRPr lang="en-C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941766-3FCB-DB4A-8B0D-9FA980DEA4B9}"/>
              </a:ext>
            </a:extLst>
          </p:cNvPr>
          <p:cNvSpPr txBox="1"/>
          <p:nvPr/>
        </p:nvSpPr>
        <p:spPr>
          <a:xfrm>
            <a:off x="7554775" y="18860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数据结构</a:t>
            </a:r>
            <a:endParaRPr lang="en-C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23DF35-FDD2-2948-A044-D978AA298BE3}"/>
              </a:ext>
            </a:extLst>
          </p:cNvPr>
          <p:cNvSpPr txBox="1"/>
          <p:nvPr/>
        </p:nvSpPr>
        <p:spPr>
          <a:xfrm>
            <a:off x="7621411" y="86149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根</a:t>
            </a:r>
            <a:r>
              <a:rPr lang="zh-CN" altLang="en-CN" dirty="0"/>
              <a:t>目录</a:t>
            </a:r>
            <a:endParaRPr lang="en-CN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E7E6A66-20AE-864B-9441-1ED382D5A315}"/>
              </a:ext>
            </a:extLst>
          </p:cNvPr>
          <p:cNvSpPr/>
          <p:nvPr/>
        </p:nvSpPr>
        <p:spPr>
          <a:xfrm>
            <a:off x="5320272" y="4131588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en-C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CFBB240-ADEA-DD4E-915C-FE85D218F9A3}"/>
              </a:ext>
            </a:extLst>
          </p:cNvPr>
          <p:cNvSpPr/>
          <p:nvPr/>
        </p:nvSpPr>
        <p:spPr>
          <a:xfrm>
            <a:off x="6530203" y="4106987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en-CN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575191-3C36-8943-B0EE-A264FAADE4E0}"/>
              </a:ext>
            </a:extLst>
          </p:cNvPr>
          <p:cNvCxnSpPr>
            <a:cxnSpLocks/>
            <a:stCxn id="43" idx="4"/>
            <a:endCxn id="28" idx="0"/>
          </p:cNvCxnSpPr>
          <p:nvPr/>
        </p:nvCxnSpPr>
        <p:spPr>
          <a:xfrm flipH="1">
            <a:off x="5569519" y="3424411"/>
            <a:ext cx="259183" cy="707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28BA74-08A1-004D-8F27-CD89E6EC897B}"/>
              </a:ext>
            </a:extLst>
          </p:cNvPr>
          <p:cNvCxnSpPr>
            <a:cxnSpLocks/>
            <a:stCxn id="43" idx="5"/>
            <a:endCxn id="29" idx="0"/>
          </p:cNvCxnSpPr>
          <p:nvPr/>
        </p:nvCxnSpPr>
        <p:spPr>
          <a:xfrm>
            <a:off x="6004945" y="3351408"/>
            <a:ext cx="774505" cy="755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0E9DCCE-06B1-8B48-A9EE-8CFD92EECF9F}"/>
              </a:ext>
            </a:extLst>
          </p:cNvPr>
          <p:cNvSpPr/>
          <p:nvPr/>
        </p:nvSpPr>
        <p:spPr>
          <a:xfrm>
            <a:off x="4336045" y="2789178"/>
            <a:ext cx="2641136" cy="113893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59E716-8DF9-0F41-A70B-4DA5FC4B6097}"/>
              </a:ext>
            </a:extLst>
          </p:cNvPr>
          <p:cNvSpPr txBox="1"/>
          <p:nvPr/>
        </p:nvSpPr>
        <p:spPr>
          <a:xfrm>
            <a:off x="5953873" y="188273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OS</a:t>
            </a:r>
            <a:endParaRPr lang="en-C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97BB54-12EC-0F44-81EF-A79D5A4CFA3F}"/>
              </a:ext>
            </a:extLst>
          </p:cNvPr>
          <p:cNvSpPr txBox="1"/>
          <p:nvPr/>
        </p:nvSpPr>
        <p:spPr>
          <a:xfrm>
            <a:off x="4336045" y="32828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OS</a:t>
            </a:r>
            <a:r>
              <a:rPr lang="zh-CN" altLang="en-US" dirty="0"/>
              <a:t>笔记</a:t>
            </a:r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19F135-65B6-B74F-AEAD-66251E334C38}"/>
              </a:ext>
            </a:extLst>
          </p:cNvPr>
          <p:cNvSpPr txBox="1"/>
          <p:nvPr/>
        </p:nvSpPr>
        <p:spPr>
          <a:xfrm>
            <a:off x="5093993" y="35962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OS</a:t>
            </a:r>
            <a:r>
              <a:rPr lang="zh-CN" altLang="en-US" dirty="0"/>
              <a:t>笔记</a:t>
            </a:r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87F3816-A346-F34F-96ED-1DAD94EE0512}"/>
              </a:ext>
            </a:extLst>
          </p:cNvPr>
          <p:cNvSpPr/>
          <p:nvPr/>
        </p:nvSpPr>
        <p:spPr>
          <a:xfrm>
            <a:off x="7059771" y="2789178"/>
            <a:ext cx="1167809" cy="114470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FADB4C-9216-E145-A103-D185C8C581CC}"/>
              </a:ext>
            </a:extLst>
          </p:cNvPr>
          <p:cNvSpPr/>
          <p:nvPr/>
        </p:nvSpPr>
        <p:spPr>
          <a:xfrm>
            <a:off x="5484187" y="1302142"/>
            <a:ext cx="3202613" cy="120482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D716A2-B4AB-F54F-B399-59CA590D102D}"/>
              </a:ext>
            </a:extLst>
          </p:cNvPr>
          <p:cNvCxnSpPr>
            <a:cxnSpLocks/>
            <a:stCxn id="42" idx="4"/>
            <a:endCxn id="44" idx="0"/>
          </p:cNvCxnSpPr>
          <p:nvPr/>
        </p:nvCxnSpPr>
        <p:spPr>
          <a:xfrm>
            <a:off x="7099718" y="1849069"/>
            <a:ext cx="380395" cy="1094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84C2C35-DD1A-3248-BCE2-5C218565C62D}"/>
              </a:ext>
            </a:extLst>
          </p:cNvPr>
          <p:cNvCxnSpPr>
            <a:cxnSpLocks/>
            <a:stCxn id="42" idx="3"/>
            <a:endCxn id="43" idx="0"/>
          </p:cNvCxnSpPr>
          <p:nvPr/>
        </p:nvCxnSpPr>
        <p:spPr>
          <a:xfrm flipH="1">
            <a:off x="5828702" y="1776066"/>
            <a:ext cx="1094772" cy="1149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3E6A524-04C3-B843-BB29-035435D59641}"/>
              </a:ext>
            </a:extLst>
          </p:cNvPr>
          <p:cNvSpPr txBox="1"/>
          <p:nvPr/>
        </p:nvSpPr>
        <p:spPr>
          <a:xfrm>
            <a:off x="6732201" y="19090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算法</a:t>
            </a:r>
            <a:endParaRPr lang="en-C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0977EA-4D51-6F4F-83C9-C0E1F1C17E59}"/>
              </a:ext>
            </a:extLst>
          </p:cNvPr>
          <p:cNvSpPr txBox="1"/>
          <p:nvPr/>
        </p:nvSpPr>
        <p:spPr>
          <a:xfrm>
            <a:off x="6326886" y="34244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其他</a:t>
            </a:r>
            <a:endParaRPr lang="en-CN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55DABF5-C33A-AE49-BCF4-CCD9B2224ED9}"/>
              </a:ext>
            </a:extLst>
          </p:cNvPr>
          <p:cNvSpPr/>
          <p:nvPr/>
        </p:nvSpPr>
        <p:spPr>
          <a:xfrm>
            <a:off x="6850471" y="1350576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B6DADBB-43FC-9D42-9080-04AE152CDED0}"/>
              </a:ext>
            </a:extLst>
          </p:cNvPr>
          <p:cNvSpPr/>
          <p:nvPr/>
        </p:nvSpPr>
        <p:spPr>
          <a:xfrm>
            <a:off x="5579455" y="2925918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dirty="0"/>
              <a:t>13</a:t>
            </a:r>
            <a:endParaRPr lang="en-CN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4220EE5-0734-1B4F-B7E5-6DD5489EA968}"/>
              </a:ext>
            </a:extLst>
          </p:cNvPr>
          <p:cNvSpPr/>
          <p:nvPr/>
        </p:nvSpPr>
        <p:spPr>
          <a:xfrm>
            <a:off x="7230866" y="2944009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dirty="0"/>
              <a:t>14</a:t>
            </a:r>
            <a:endParaRPr lang="en-CN" dirty="0"/>
          </a:p>
        </p:txBody>
      </p: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F8F7B37E-9AB9-B84C-9C6E-B1F329A8D465}"/>
              </a:ext>
            </a:extLst>
          </p:cNvPr>
          <p:cNvCxnSpPr>
            <a:stCxn id="29" idx="4"/>
            <a:endCxn id="44" idx="3"/>
          </p:cNvCxnSpPr>
          <p:nvPr/>
        </p:nvCxnSpPr>
        <p:spPr>
          <a:xfrm rot="5400000" flipH="1" flipV="1">
            <a:off x="6423668" y="3725280"/>
            <a:ext cx="1235981" cy="524419"/>
          </a:xfrm>
          <a:prstGeom prst="curvedConnector3">
            <a:avLst>
              <a:gd name="adj1" fmla="val -18495"/>
            </a:avLst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25B9954-EA0D-5144-BAE2-C7917B1390D8}"/>
              </a:ext>
            </a:extLst>
          </p:cNvPr>
          <p:cNvSpPr txBox="1"/>
          <p:nvPr/>
        </p:nvSpPr>
        <p:spPr>
          <a:xfrm>
            <a:off x="6495446" y="4868821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“</a:t>
            </a:r>
            <a:r>
              <a:rPr lang="en-US" altLang="zh-CN" dirty="0"/>
              <a:t>/</a:t>
            </a:r>
            <a:r>
              <a:rPr lang="zh-CN" altLang="en-US" dirty="0"/>
              <a:t>算法”</a:t>
            </a:r>
            <a:endParaRPr lang="en-C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9C1758-5561-9D46-A8BF-42514E32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EB1622BA-0A3A-9A48-96AE-DA70B263D8DA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内容为一个</a:t>
            </a:r>
            <a:r>
              <a:rPr lang="zh-CN" altLang="en-US" dirty="0"/>
              <a:t>路径</a:t>
            </a:r>
            <a:r>
              <a:rPr lang="zh-CN" altLang="en-US" b="0" dirty="0"/>
              <a:t>的</a:t>
            </a:r>
            <a:r>
              <a:rPr lang="zh-CN" altLang="en-CN" b="0" dirty="0"/>
              <a:t>特殊</a:t>
            </a:r>
            <a:r>
              <a:rPr lang="zh-CN" altLang="en-US" b="0" dirty="0"/>
              <a:t>文件</a:t>
            </a:r>
            <a:endParaRPr lang="en-US" altLang="zh-CN" b="0" dirty="0"/>
          </a:p>
          <a:p>
            <a:r>
              <a:rPr lang="zh-CN" altLang="en-US" b="0" dirty="0"/>
              <a:t>查找文件时会“跳”到目标路径</a:t>
            </a:r>
            <a:endParaRPr lang="en-US" altLang="zh-CN" b="0" dirty="0"/>
          </a:p>
          <a:p>
            <a:pPr lvl="1"/>
            <a:r>
              <a:rPr lang="zh-CN" altLang="en-US" dirty="0"/>
              <a:t>“</a:t>
            </a:r>
            <a:r>
              <a:rPr lang="en-US" altLang="zh-CN" dirty="0"/>
              <a:t>/OS/</a:t>
            </a:r>
            <a:r>
              <a:rPr lang="zh-CN" altLang="en-US" dirty="0"/>
              <a:t>其他</a:t>
            </a:r>
            <a:r>
              <a:rPr lang="en-US" altLang="zh-CN" dirty="0"/>
              <a:t>/</a:t>
            </a:r>
            <a:r>
              <a:rPr lang="zh-CN" altLang="en-US" dirty="0"/>
              <a:t>算法笔记”</a:t>
            </a:r>
            <a:endParaRPr lang="en-US" altLang="zh-CN" dirty="0"/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号</a:t>
            </a:r>
            <a:r>
              <a:rPr lang="en-CN" altLang="zh-CN" dirty="0"/>
              <a:t>inode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9571290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CB5E-2C1F-E34C-B555-F6CC38CD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硬链接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092E68-3582-A441-86A0-E7BE479F12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C23D56-B0AD-114E-ACC3-2481C0F796BC}"/>
              </a:ext>
            </a:extLst>
          </p:cNvPr>
          <p:cNvSpPr/>
          <p:nvPr/>
        </p:nvSpPr>
        <p:spPr>
          <a:xfrm>
            <a:off x="4218630" y="4125978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F4AC284-902D-8A42-AC3A-6B36588D51A1}"/>
              </a:ext>
            </a:extLst>
          </p:cNvPr>
          <p:cNvSpPr/>
          <p:nvPr/>
        </p:nvSpPr>
        <p:spPr>
          <a:xfrm>
            <a:off x="7729955" y="4080602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D37E3E-04D0-974F-873D-38D3CAB8EAF5}"/>
              </a:ext>
            </a:extLst>
          </p:cNvPr>
          <p:cNvSpPr/>
          <p:nvPr/>
        </p:nvSpPr>
        <p:spPr>
          <a:xfrm>
            <a:off x="8539206" y="3033626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en-CN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F590D4-E3ED-6140-95CF-A0811AC1CB49}"/>
              </a:ext>
            </a:extLst>
          </p:cNvPr>
          <p:cNvCxnSpPr>
            <a:cxnSpLocks/>
            <a:stCxn id="29" idx="3"/>
            <a:endCxn id="5" idx="0"/>
          </p:cNvCxnSpPr>
          <p:nvPr/>
        </p:nvCxnSpPr>
        <p:spPr>
          <a:xfrm flipH="1">
            <a:off x="4467877" y="3351408"/>
            <a:ext cx="1184581" cy="774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B1DFC0-351D-7A42-82C2-B1B106290A8C}"/>
              </a:ext>
            </a:extLst>
          </p:cNvPr>
          <p:cNvCxnSpPr>
            <a:cxnSpLocks/>
            <a:stCxn id="30" idx="4"/>
            <a:endCxn id="6" idx="0"/>
          </p:cNvCxnSpPr>
          <p:nvPr/>
        </p:nvCxnSpPr>
        <p:spPr>
          <a:xfrm>
            <a:off x="7480113" y="3442502"/>
            <a:ext cx="499089" cy="638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BDCD3E-2C9B-624C-839C-ECD46D89B440}"/>
              </a:ext>
            </a:extLst>
          </p:cNvPr>
          <p:cNvCxnSpPr>
            <a:cxnSpLocks/>
            <a:stCxn id="28" idx="5"/>
            <a:endCxn id="7" idx="0"/>
          </p:cNvCxnSpPr>
          <p:nvPr/>
        </p:nvCxnSpPr>
        <p:spPr>
          <a:xfrm>
            <a:off x="7275961" y="1776066"/>
            <a:ext cx="1512492" cy="1257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0DA9F33-8A69-AB44-AEF3-A729BAD9B943}"/>
              </a:ext>
            </a:extLst>
          </p:cNvPr>
          <p:cNvSpPr txBox="1"/>
          <p:nvPr/>
        </p:nvSpPr>
        <p:spPr>
          <a:xfrm>
            <a:off x="7081504" y="35437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算法</a:t>
            </a:r>
            <a:r>
              <a:rPr lang="zh-CN" altLang="en-US" dirty="0"/>
              <a:t>笔记</a:t>
            </a:r>
            <a:endParaRPr lang="en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9CA58-E811-CB4A-BD7E-9879CE776704}"/>
              </a:ext>
            </a:extLst>
          </p:cNvPr>
          <p:cNvSpPr txBox="1"/>
          <p:nvPr/>
        </p:nvSpPr>
        <p:spPr>
          <a:xfrm>
            <a:off x="7554775" y="18860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数据结构</a:t>
            </a:r>
            <a:endParaRPr lang="en-C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C24B0-AEFC-3F4C-AE70-839F5DA5840A}"/>
              </a:ext>
            </a:extLst>
          </p:cNvPr>
          <p:cNvSpPr txBox="1"/>
          <p:nvPr/>
        </p:nvSpPr>
        <p:spPr>
          <a:xfrm>
            <a:off x="7621411" y="86149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根</a:t>
            </a:r>
            <a:r>
              <a:rPr lang="zh-CN" altLang="en-CN" dirty="0"/>
              <a:t>目录</a:t>
            </a:r>
            <a:endParaRPr lang="en-C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D491E7-C988-5E43-8C94-5296682A5550}"/>
              </a:ext>
            </a:extLst>
          </p:cNvPr>
          <p:cNvSpPr/>
          <p:nvPr/>
        </p:nvSpPr>
        <p:spPr>
          <a:xfrm>
            <a:off x="5320272" y="4131588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en-C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E1CA9A-E2EC-BB4F-9BBF-DEFAC1C2B68D}"/>
              </a:ext>
            </a:extLst>
          </p:cNvPr>
          <p:cNvCxnSpPr>
            <a:cxnSpLocks/>
            <a:stCxn id="29" idx="4"/>
            <a:endCxn id="14" idx="0"/>
          </p:cNvCxnSpPr>
          <p:nvPr/>
        </p:nvCxnSpPr>
        <p:spPr>
          <a:xfrm flipH="1">
            <a:off x="5569519" y="3424411"/>
            <a:ext cx="259183" cy="707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7B804E-AFCB-9B44-9158-37750A77041D}"/>
              </a:ext>
            </a:extLst>
          </p:cNvPr>
          <p:cNvCxnSpPr>
            <a:cxnSpLocks/>
            <a:stCxn id="29" idx="5"/>
            <a:endCxn id="6" idx="2"/>
          </p:cNvCxnSpPr>
          <p:nvPr/>
        </p:nvCxnSpPr>
        <p:spPr>
          <a:xfrm>
            <a:off x="6004945" y="3351408"/>
            <a:ext cx="1725010" cy="9784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54726D4-D9DC-104A-A7EB-55EFD071601B}"/>
              </a:ext>
            </a:extLst>
          </p:cNvPr>
          <p:cNvSpPr/>
          <p:nvPr/>
        </p:nvSpPr>
        <p:spPr>
          <a:xfrm>
            <a:off x="4336045" y="2789178"/>
            <a:ext cx="2641136" cy="113893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7D04A-105D-C743-8710-85F4077CD9C2}"/>
              </a:ext>
            </a:extLst>
          </p:cNvPr>
          <p:cNvSpPr txBox="1"/>
          <p:nvPr/>
        </p:nvSpPr>
        <p:spPr>
          <a:xfrm>
            <a:off x="5953873" y="188273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OS</a:t>
            </a:r>
            <a:endParaRPr lang="en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96CF84-F2E7-8049-9DA7-7A4F8E96EA89}"/>
              </a:ext>
            </a:extLst>
          </p:cNvPr>
          <p:cNvSpPr txBox="1"/>
          <p:nvPr/>
        </p:nvSpPr>
        <p:spPr>
          <a:xfrm>
            <a:off x="4336045" y="32828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OS</a:t>
            </a:r>
            <a:r>
              <a:rPr lang="zh-CN" altLang="en-US" dirty="0"/>
              <a:t>笔记</a:t>
            </a:r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E37DA3-E0FF-CC46-A06C-2A30B58C040A}"/>
              </a:ext>
            </a:extLst>
          </p:cNvPr>
          <p:cNvSpPr txBox="1"/>
          <p:nvPr/>
        </p:nvSpPr>
        <p:spPr>
          <a:xfrm>
            <a:off x="5093993" y="35962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OS</a:t>
            </a:r>
            <a:r>
              <a:rPr lang="zh-CN" altLang="en-US" dirty="0"/>
              <a:t>笔记</a:t>
            </a:r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33F45B-445E-2D40-94B1-DF024F803464}"/>
              </a:ext>
            </a:extLst>
          </p:cNvPr>
          <p:cNvSpPr/>
          <p:nvPr/>
        </p:nvSpPr>
        <p:spPr>
          <a:xfrm>
            <a:off x="7059771" y="2789178"/>
            <a:ext cx="1167809" cy="114470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D015A5-CCEE-B547-8484-1257B88C52C4}"/>
              </a:ext>
            </a:extLst>
          </p:cNvPr>
          <p:cNvSpPr/>
          <p:nvPr/>
        </p:nvSpPr>
        <p:spPr>
          <a:xfrm>
            <a:off x="5484187" y="1302142"/>
            <a:ext cx="3202613" cy="120482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863E68-D694-E047-8342-C839AB8E7DE8}"/>
              </a:ext>
            </a:extLst>
          </p:cNvPr>
          <p:cNvCxnSpPr>
            <a:cxnSpLocks/>
            <a:stCxn id="28" idx="4"/>
            <a:endCxn id="30" idx="0"/>
          </p:cNvCxnSpPr>
          <p:nvPr/>
        </p:nvCxnSpPr>
        <p:spPr>
          <a:xfrm>
            <a:off x="7099718" y="1849069"/>
            <a:ext cx="380395" cy="1094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1B7C54-5889-0442-86C7-5D1C86A5546E}"/>
              </a:ext>
            </a:extLst>
          </p:cNvPr>
          <p:cNvCxnSpPr>
            <a:cxnSpLocks/>
            <a:stCxn id="28" idx="3"/>
            <a:endCxn id="29" idx="0"/>
          </p:cNvCxnSpPr>
          <p:nvPr/>
        </p:nvCxnSpPr>
        <p:spPr>
          <a:xfrm flipH="1">
            <a:off x="5828702" y="1776066"/>
            <a:ext cx="1094772" cy="1149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29BF9FF-FDD1-3247-8F96-B189041FA84E}"/>
              </a:ext>
            </a:extLst>
          </p:cNvPr>
          <p:cNvSpPr txBox="1"/>
          <p:nvPr/>
        </p:nvSpPr>
        <p:spPr>
          <a:xfrm>
            <a:off x="6732201" y="19090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算法</a:t>
            </a:r>
            <a:endParaRPr lang="en-C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0E113B-D6BF-CE41-89A1-0369B64D5AA2}"/>
              </a:ext>
            </a:extLst>
          </p:cNvPr>
          <p:cNvSpPr txBox="1"/>
          <p:nvPr/>
        </p:nvSpPr>
        <p:spPr>
          <a:xfrm>
            <a:off x="6393589" y="33748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其他</a:t>
            </a:r>
            <a:endParaRPr lang="en-CN" b="1" dirty="0">
              <a:solidFill>
                <a:srgbClr val="C0000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169B65-B23B-4D4F-BCDA-7EDCBE347E2B}"/>
              </a:ext>
            </a:extLst>
          </p:cNvPr>
          <p:cNvSpPr/>
          <p:nvPr/>
        </p:nvSpPr>
        <p:spPr>
          <a:xfrm>
            <a:off x="6850471" y="1350576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235C70-7563-7A4F-9120-C3EBD2C50C5F}"/>
              </a:ext>
            </a:extLst>
          </p:cNvPr>
          <p:cNvSpPr/>
          <p:nvPr/>
        </p:nvSpPr>
        <p:spPr>
          <a:xfrm>
            <a:off x="5579455" y="2925918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dirty="0"/>
              <a:t>13</a:t>
            </a:r>
            <a:endParaRPr lang="en-CN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9CF6402-611D-D346-B42A-164758C77516}"/>
              </a:ext>
            </a:extLst>
          </p:cNvPr>
          <p:cNvSpPr/>
          <p:nvPr/>
        </p:nvSpPr>
        <p:spPr>
          <a:xfrm>
            <a:off x="7230866" y="2944009"/>
            <a:ext cx="498493" cy="4984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dirty="0"/>
              <a:t>14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0ED67E-570C-1843-A040-CF9F5372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9BB2EB5-255E-8445-B65C-ADA7A28F53F0}"/>
              </a:ext>
            </a:extLst>
          </p:cNvPr>
          <p:cNvSpPr txBox="1">
            <a:spLocks/>
          </p:cNvSpPr>
          <p:nvPr/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不是一种文件</a:t>
            </a:r>
            <a:endParaRPr lang="en-US" altLang="zh-CN" b="0" dirty="0"/>
          </a:p>
          <a:p>
            <a:pPr lvl="1"/>
            <a:r>
              <a:rPr lang="zh-CN" altLang="en-US" dirty="0"/>
              <a:t>创建硬链接增加了一个指向</a:t>
            </a:r>
            <a:br>
              <a:rPr lang="en-US" altLang="zh-CN" dirty="0"/>
            </a:br>
            <a:r>
              <a:rPr lang="zh-CN" altLang="en-US" dirty="0"/>
              <a:t>现有</a:t>
            </a:r>
            <a:r>
              <a:rPr lang="en-US" altLang="zh-CN" dirty="0" err="1"/>
              <a:t>inode</a:t>
            </a:r>
            <a:r>
              <a:rPr lang="zh-CN" altLang="en-US" dirty="0"/>
              <a:t>的目录项</a:t>
            </a:r>
            <a:endParaRPr lang="en-US" altLang="zh-CN" dirty="0"/>
          </a:p>
          <a:p>
            <a:pPr lvl="1"/>
            <a:r>
              <a:rPr lang="zh-CN" altLang="en-US" b="0" dirty="0"/>
              <a:t>“</a:t>
            </a:r>
            <a:r>
              <a:rPr lang="en-US" altLang="zh-CN" b="0" dirty="0"/>
              <a:t>/OS/</a:t>
            </a:r>
            <a:r>
              <a:rPr lang="zh-CN" altLang="en-US" b="0" dirty="0"/>
              <a:t>其他”与</a:t>
            </a:r>
            <a:br>
              <a:rPr lang="en-US" altLang="zh-CN" b="0" dirty="0"/>
            </a:br>
            <a:r>
              <a:rPr lang="zh-CN" altLang="en-US" b="0" dirty="0"/>
              <a:t>“</a:t>
            </a:r>
            <a:r>
              <a:rPr lang="en-US" altLang="zh-CN" b="0" dirty="0"/>
              <a:t>/</a:t>
            </a:r>
            <a:r>
              <a:rPr lang="zh-CN" altLang="en-US" b="0" dirty="0"/>
              <a:t>算法</a:t>
            </a:r>
            <a:r>
              <a:rPr lang="en-US" altLang="zh-CN" b="0" dirty="0"/>
              <a:t>/</a:t>
            </a:r>
            <a:r>
              <a:rPr lang="zh-CN" altLang="en-US" b="0" dirty="0"/>
              <a:t>算法笔记”</a:t>
            </a:r>
            <a:br>
              <a:rPr lang="en-US" altLang="zh-CN" b="0" dirty="0"/>
            </a:br>
            <a:r>
              <a:rPr lang="zh-CN" altLang="en-US" b="0" dirty="0"/>
              <a:t>为同一份文件</a:t>
            </a:r>
            <a:endParaRPr lang="en-US" altLang="zh-CN" b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2D0DB7-2CFE-9741-BDAE-87AFC3F78D14}"/>
              </a:ext>
            </a:extLst>
          </p:cNvPr>
          <p:cNvSpPr txBox="1"/>
          <p:nvPr/>
        </p:nvSpPr>
        <p:spPr>
          <a:xfrm>
            <a:off x="435961" y="4745305"/>
            <a:ext cx="51940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问题：为何通常硬链接不支持链接到目录？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0372534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3C315-ABF5-1742-B519-6BD6C097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其他</a:t>
            </a:r>
            <a:r>
              <a:rPr lang="zh-CN" altLang="en-US" dirty="0"/>
              <a:t>常见的</a:t>
            </a:r>
            <a:r>
              <a:rPr lang="zh-CN" altLang="en-CN" dirty="0"/>
              <a:t>文件</a:t>
            </a:r>
            <a:r>
              <a:rPr lang="zh-CN" altLang="en-US" dirty="0"/>
              <a:t>类型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ADCDB-7AFC-DF48-B098-02A234608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0" dirty="0"/>
              <a:t>字符</a:t>
            </a:r>
            <a:r>
              <a:rPr lang="en-US" altLang="zh-CN" b="0" dirty="0"/>
              <a:t>/</a:t>
            </a:r>
            <a:r>
              <a:rPr lang="zh-CN" altLang="en-US" b="0" dirty="0"/>
              <a:t>块</a:t>
            </a:r>
            <a:r>
              <a:rPr lang="zh-CN" altLang="en-CN" b="0" dirty="0"/>
              <a:t>设备</a:t>
            </a:r>
            <a:r>
              <a:rPr lang="zh-CN" altLang="en-US" b="0" dirty="0"/>
              <a:t>文件</a:t>
            </a:r>
            <a:endParaRPr lang="en-US" altLang="zh-CN" b="0" dirty="0"/>
          </a:p>
          <a:p>
            <a:pPr lvl="1"/>
            <a:r>
              <a:rPr lang="zh-CN" altLang="en-US" dirty="0"/>
              <a:t>主要记录设备的</a:t>
            </a:r>
            <a:r>
              <a:rPr lang="en-US" altLang="zh-CN" dirty="0"/>
              <a:t>Major</a:t>
            </a:r>
            <a:r>
              <a:rPr lang="zh-CN" altLang="en-US" dirty="0"/>
              <a:t>和</a:t>
            </a:r>
            <a:r>
              <a:rPr lang="en-US" altLang="zh-CN" dirty="0"/>
              <a:t>Minor</a:t>
            </a:r>
            <a:r>
              <a:rPr lang="zh-CN" altLang="en-US" dirty="0"/>
              <a:t>号</a:t>
            </a:r>
            <a:endParaRPr lang="en-US" altLang="zh-CN" dirty="0"/>
          </a:p>
          <a:p>
            <a:pPr lvl="1"/>
            <a:r>
              <a:rPr lang="en-US" altLang="zh-CN" dirty="0"/>
              <a:t>Major</a:t>
            </a:r>
            <a:r>
              <a:rPr lang="zh-CN" altLang="en-US" dirty="0"/>
              <a:t>表示设备类型</a:t>
            </a:r>
            <a:endParaRPr lang="en-US" altLang="zh-CN" dirty="0"/>
          </a:p>
          <a:p>
            <a:pPr lvl="1"/>
            <a:r>
              <a:rPr lang="en-US" altLang="zh-CN" dirty="0"/>
              <a:t>Minor</a:t>
            </a:r>
            <a:r>
              <a:rPr lang="zh-CN" altLang="en-US" dirty="0"/>
              <a:t>表示设备编号</a:t>
            </a:r>
            <a:endParaRPr lang="en-US" altLang="zh-CN" dirty="0"/>
          </a:p>
          <a:p>
            <a:r>
              <a:rPr lang="en-US" altLang="zh-CN" b="0" dirty="0"/>
              <a:t>FIFO</a:t>
            </a:r>
            <a:r>
              <a:rPr lang="zh-CN" altLang="en-US" b="0" dirty="0"/>
              <a:t>文件</a:t>
            </a:r>
            <a:endParaRPr lang="en-US" altLang="zh-CN" b="0" dirty="0"/>
          </a:p>
          <a:p>
            <a:pPr lvl="1"/>
            <a:r>
              <a:rPr lang="zh-CN" altLang="en-US" sz="1800" dirty="0"/>
              <a:t>即命名管道，用于进程间通讯</a:t>
            </a:r>
            <a:endParaRPr lang="en-US" altLang="zh-CN" sz="1800" b="0" dirty="0"/>
          </a:p>
          <a:p>
            <a:r>
              <a:rPr lang="en-US" altLang="zh-CN" b="0" dirty="0"/>
              <a:t>SOCK</a:t>
            </a:r>
            <a:r>
              <a:rPr lang="zh-CN" altLang="en-US" b="0" dirty="0"/>
              <a:t>文件</a:t>
            </a:r>
            <a:endParaRPr lang="en-US" altLang="zh-CN" b="0" dirty="0"/>
          </a:p>
          <a:p>
            <a:pPr lvl="1"/>
            <a:r>
              <a:rPr lang="en-US" altLang="zh-CN" sz="1800" dirty="0"/>
              <a:t>UNIX</a:t>
            </a:r>
            <a:r>
              <a:rPr lang="zh-CN" altLang="en-US" sz="1800" dirty="0"/>
              <a:t>域套接字</a:t>
            </a:r>
            <a:r>
              <a:rPr lang="zh-CN" altLang="en-US" sz="1800" b="0" dirty="0"/>
              <a:t>，用于进程间通讯</a:t>
            </a: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801EF-10C0-284B-9177-EBEDBBDC1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6C62AB-57E5-B943-9D24-E0A1D355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431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FC25-D280-7B40-AA82-E34BCF23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符号链接</a:t>
            </a:r>
            <a:r>
              <a:rPr lang="zh-CN" altLang="en-US" dirty="0"/>
              <a:t>与</a:t>
            </a:r>
            <a:r>
              <a:rPr lang="zh-CN" altLang="en-CN" dirty="0"/>
              <a:t>硬链接比较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BAF79-48AA-3441-A9BE-DFF730CFB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符号链接</a:t>
            </a:r>
            <a:endParaRPr lang="en-US" altLang="zh-CN" sz="2000" b="0" dirty="0"/>
          </a:p>
          <a:p>
            <a:r>
              <a:rPr lang="zh-CN" altLang="en-US" sz="2000" b="0" dirty="0"/>
              <a:t>保存路径的特殊文件</a:t>
            </a:r>
            <a:endParaRPr lang="en-US" altLang="zh-CN" sz="2000" b="0" dirty="0"/>
          </a:p>
          <a:p>
            <a:r>
              <a:rPr lang="zh-CN" altLang="en-US" sz="2000" b="0" dirty="0"/>
              <a:t>可以指向任何文件</a:t>
            </a:r>
            <a:endParaRPr lang="en-US" altLang="zh-CN" sz="2000" b="0" dirty="0"/>
          </a:p>
          <a:p>
            <a:r>
              <a:rPr lang="zh-CN" altLang="en-US" sz="2000" b="0" dirty="0"/>
              <a:t>可以跨文件系统</a:t>
            </a:r>
            <a:endParaRPr lang="en-US" altLang="zh-CN" sz="2000" b="0" dirty="0"/>
          </a:p>
          <a:p>
            <a:r>
              <a:rPr lang="zh-CN" altLang="en-US" sz="2000" b="0" dirty="0"/>
              <a:t>可以指向不存在的文件</a:t>
            </a:r>
            <a:endParaRPr lang="en-US" altLang="zh-CN" sz="2000" b="0" dirty="0"/>
          </a:p>
          <a:p>
            <a:r>
              <a:rPr lang="en-US" altLang="zh-CN" sz="2000" b="0" dirty="0"/>
              <a:t>……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A87CF-1061-7B48-B2BD-43FC795AC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8DB1C1-5DD6-CB4E-9F37-8D4DC0997756}"/>
              </a:ext>
            </a:extLst>
          </p:cNvPr>
          <p:cNvSpPr txBox="1">
            <a:spLocks/>
          </p:cNvSpPr>
          <p:nvPr/>
        </p:nvSpPr>
        <p:spPr>
          <a:xfrm>
            <a:off x="4572000" y="1320536"/>
            <a:ext cx="41148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b="0" dirty="0"/>
              <a:t>硬链接</a:t>
            </a:r>
            <a:endParaRPr lang="en-US" altLang="zh-CN" sz="2000" b="0" dirty="0"/>
          </a:p>
          <a:p>
            <a:r>
              <a:rPr lang="zh-CN" altLang="en-US" sz="2000" b="0" dirty="0"/>
              <a:t>不是一种文件</a:t>
            </a:r>
            <a:endParaRPr lang="en-US" altLang="zh-CN" sz="2000" b="0" dirty="0"/>
          </a:p>
          <a:p>
            <a:r>
              <a:rPr lang="zh-CN" altLang="en-US" sz="2000" b="0" dirty="0"/>
              <a:t>不能指向目录</a:t>
            </a:r>
            <a:endParaRPr lang="en-US" altLang="zh-CN" sz="2000" b="0" dirty="0"/>
          </a:p>
          <a:p>
            <a:r>
              <a:rPr lang="zh-CN" altLang="en-US" sz="2000" b="0" dirty="0"/>
              <a:t>不能跨文件系统</a:t>
            </a:r>
            <a:endParaRPr lang="en-US" altLang="zh-CN" sz="2000" b="0" dirty="0"/>
          </a:p>
          <a:p>
            <a:r>
              <a:rPr lang="zh-CN" altLang="en-US" sz="2000" b="0" dirty="0"/>
              <a:t>指向的文件一定存在</a:t>
            </a:r>
            <a:endParaRPr lang="en-CN" altLang="zh-CN" sz="2000" b="0" dirty="0"/>
          </a:p>
          <a:p>
            <a:r>
              <a:rPr lang="en-US" altLang="zh-CN" sz="2000" b="0" dirty="0"/>
              <a:t>……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343A6-7D2A-3B4F-B9BD-01FEA6E6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879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AC0CB0D-F0FE-4C45-AD0F-E07BE3F0B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ChCore</a:t>
            </a:r>
            <a:r>
              <a:rPr lang="zh-CN" altLang="en-US" dirty="0"/>
              <a:t>的文件系统</a:t>
            </a:r>
            <a:endParaRPr lang="en-C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936246-8C0C-D74E-87BC-6DB06718A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</a:t>
            </a:r>
            <a:r>
              <a:rPr lang="en-CN" altLang="zh-CN" dirty="0"/>
              <a:t>node</a:t>
            </a:r>
            <a:r>
              <a:rPr lang="zh-CN" altLang="en-US" dirty="0"/>
              <a:t>、文件、目录、链接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27704-9D7D-FA41-B1D9-71B3C084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78A08-8359-4843-B8DE-7AB9BCDC0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8439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0BD9-E297-A945-85BE-705CDD40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ChCore</a:t>
            </a:r>
            <a:r>
              <a:rPr lang="zh-CN" altLang="en-US" dirty="0"/>
              <a:t>中的文件系统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38041-A2BE-FF45-A3CB-E97D09287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0" dirty="0" err="1"/>
              <a:t>ChCore</a:t>
            </a:r>
            <a:r>
              <a:rPr lang="zh-CN" altLang="en-US" b="0" dirty="0"/>
              <a:t>中实现了一个</a:t>
            </a:r>
            <a:r>
              <a:rPr lang="zh-CN" altLang="en-CN" b="0" dirty="0"/>
              <a:t>内存</a:t>
            </a:r>
            <a:r>
              <a:rPr lang="zh-CN" altLang="en-US" b="0" dirty="0"/>
              <a:t>文件系统</a:t>
            </a:r>
            <a:endParaRPr lang="en-US" altLang="zh-CN" b="0" dirty="0"/>
          </a:p>
          <a:p>
            <a:pPr lvl="1"/>
            <a:r>
              <a:rPr lang="zh-CN" altLang="en-US" dirty="0"/>
              <a:t>数据存在内存中，无持久化和存储格式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DAFF1-A0EC-6F4F-B245-8EE7CCC5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BDAFD-8FD8-674C-9B09-48ED680CF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9A5347-D426-B347-B1CB-0E19E34BA217}"/>
              </a:ext>
            </a:extLst>
          </p:cNvPr>
          <p:cNvSpPr txBox="1"/>
          <p:nvPr/>
        </p:nvSpPr>
        <p:spPr>
          <a:xfrm>
            <a:off x="1912452" y="3129086"/>
            <a:ext cx="4891796" cy="16158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struct </a:t>
            </a:r>
            <a:r>
              <a:rPr lang="en-US" sz="1100" dirty="0" err="1">
                <a:latin typeface="Courier" pitchFamily="2" charset="0"/>
              </a:rPr>
              <a:t>inode</a:t>
            </a:r>
            <a:r>
              <a:rPr lang="en-US" sz="1100" dirty="0">
                <a:latin typeface="Courier" pitchFamily="2" charset="0"/>
              </a:rPr>
              <a:t> {</a:t>
            </a: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int </a:t>
            </a:r>
            <a:r>
              <a:rPr lang="en-US" sz="1100" dirty="0" err="1">
                <a:latin typeface="Courier" pitchFamily="2" charset="0"/>
              </a:rPr>
              <a:t>nlinks</a:t>
            </a:r>
            <a:r>
              <a:rPr lang="en-US" sz="1100" dirty="0">
                <a:latin typeface="Courier" pitchFamily="2" charset="0"/>
              </a:rPr>
              <a:t>;		/* </a:t>
            </a:r>
            <a:r>
              <a:rPr lang="zh-CN" altLang="en-US" sz="1100" dirty="0">
                <a:latin typeface="Courier" pitchFamily="2" charset="0"/>
              </a:rPr>
              <a:t>链接数</a:t>
            </a:r>
            <a:r>
              <a:rPr lang="en-US" sz="1100" dirty="0">
                <a:latin typeface="Courier" pitchFamily="2" charset="0"/>
              </a:rPr>
              <a:t> */</a:t>
            </a: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u64 type;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altLang="zh-CN" sz="1100" dirty="0">
                <a:latin typeface="Courier" pitchFamily="2" charset="0"/>
              </a:rPr>
              <a:t>		/</a:t>
            </a:r>
            <a:r>
              <a:rPr lang="zh-CN" altLang="en-US" sz="1100" dirty="0">
                <a:latin typeface="Courier" pitchFamily="2" charset="0"/>
              </a:rPr>
              <a:t>* 文件类型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 </a:t>
            </a:r>
            <a:r>
              <a:rPr lang="en-US" sz="1100" dirty="0" err="1">
                <a:latin typeface="Courier" pitchFamily="2" charset="0"/>
              </a:rPr>
              <a:t>size_t</a:t>
            </a:r>
            <a:r>
              <a:rPr lang="en-US" sz="1100" dirty="0">
                <a:latin typeface="Courier" pitchFamily="2" charset="0"/>
              </a:rPr>
              <a:t> size;	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文件大小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union {</a:t>
            </a:r>
          </a:p>
          <a:p>
            <a:r>
              <a:rPr lang="en-US" sz="1100" dirty="0">
                <a:latin typeface="Courier" pitchFamily="2" charset="0"/>
              </a:rPr>
              <a:t>        struct </a:t>
            </a:r>
            <a:r>
              <a:rPr lang="en-US" sz="1100" dirty="0" err="1">
                <a:latin typeface="Courier" pitchFamily="2" charset="0"/>
              </a:rPr>
              <a:t>htable</a:t>
            </a:r>
            <a:r>
              <a:rPr lang="en-US" sz="1100" dirty="0">
                <a:latin typeface="Courier" pitchFamily="2" charset="0"/>
              </a:rPr>
              <a:t> </a:t>
            </a:r>
            <a:r>
              <a:rPr lang="en-US" sz="1100" dirty="0" err="1">
                <a:latin typeface="Courier" pitchFamily="2" charset="0"/>
              </a:rPr>
              <a:t>dentries</a:t>
            </a:r>
            <a:r>
              <a:rPr lang="en-US" sz="1100" dirty="0">
                <a:latin typeface="Courier" pitchFamily="2" charset="0"/>
              </a:rPr>
              <a:t>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目录文件的哈希表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zh-CN" altLang="en-US" sz="1100" dirty="0">
                <a:latin typeface="Courier" pitchFamily="2" charset="0"/>
              </a:rPr>
              <a:t>        </a:t>
            </a:r>
            <a:r>
              <a:rPr lang="en-US" sz="1100" dirty="0">
                <a:latin typeface="Courier" pitchFamily="2" charset="0"/>
              </a:rPr>
              <a:t>struct radix data;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常规文件的基数树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 };</a:t>
            </a:r>
          </a:p>
          <a:p>
            <a:r>
              <a:rPr lang="en-US" sz="1100" dirty="0">
                <a:latin typeface="Courier" pitchFamily="2" charset="0"/>
              </a:rPr>
              <a:t>};</a:t>
            </a:r>
            <a:endParaRPr lang="en-CN" sz="1100" dirty="0">
              <a:latin typeface="Courier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CBF37C-5082-1B4F-BB09-1DC36975F05D}"/>
              </a:ext>
            </a:extLst>
          </p:cNvPr>
          <p:cNvSpPr txBox="1"/>
          <p:nvPr/>
        </p:nvSpPr>
        <p:spPr>
          <a:xfrm>
            <a:off x="1697653" y="2768862"/>
            <a:ext cx="17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altLang="zh-CN" sz="1400" dirty="0"/>
              <a:t>ChCore</a:t>
            </a:r>
            <a:r>
              <a:rPr lang="zh-CN" altLang="en-US" sz="1600" dirty="0"/>
              <a:t>中的</a:t>
            </a:r>
            <a:r>
              <a:rPr lang="en-US" altLang="zh-CN" sz="1600" dirty="0" err="1"/>
              <a:t>inode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7386588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D8D4-835A-BE4F-95AF-AE599DE0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ChCore</a:t>
            </a:r>
            <a:r>
              <a:rPr lang="zh-CN" altLang="en-CN" dirty="0"/>
              <a:t>的</a:t>
            </a:r>
            <a:r>
              <a:rPr lang="zh-CN" altLang="en-US" dirty="0"/>
              <a:t>常规文件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B9133-6FA9-5A49-9485-9E45127D2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基数树 </a:t>
            </a:r>
            <a:r>
              <a:rPr lang="en-US" altLang="zh-CN" b="0" dirty="0"/>
              <a:t>(Radix</a:t>
            </a:r>
            <a:r>
              <a:rPr lang="zh-CN" altLang="en-US" b="0" dirty="0"/>
              <a:t> </a:t>
            </a:r>
            <a:r>
              <a:rPr lang="en-US" altLang="zh-CN" b="0" dirty="0"/>
              <a:t>Tree)</a:t>
            </a:r>
          </a:p>
          <a:p>
            <a:pPr lvl="1"/>
            <a:r>
              <a:rPr lang="zh-CN" altLang="en-US" dirty="0"/>
              <a:t>提供</a:t>
            </a:r>
            <a:r>
              <a:rPr lang="en-US" altLang="zh-CN" dirty="0"/>
              <a:t>&lt;</a:t>
            </a:r>
            <a:r>
              <a:rPr lang="zh-CN" altLang="en-US" dirty="0"/>
              <a:t>键</a:t>
            </a:r>
            <a:r>
              <a:rPr lang="en-US" altLang="zh-CN" dirty="0"/>
              <a:t>,</a:t>
            </a:r>
            <a:r>
              <a:rPr lang="zh-CN" altLang="en-US" dirty="0"/>
              <a:t>值</a:t>
            </a:r>
            <a:r>
              <a:rPr lang="en-US" altLang="zh-CN" dirty="0"/>
              <a:t>&gt;</a:t>
            </a:r>
            <a:r>
              <a:rPr lang="zh-CN" altLang="en-US" dirty="0"/>
              <a:t>索引</a:t>
            </a:r>
            <a:endParaRPr lang="en-US" altLang="zh-CN" dirty="0"/>
          </a:p>
          <a:p>
            <a:pPr lvl="1"/>
            <a:r>
              <a:rPr lang="zh-CN" altLang="en-US" dirty="0"/>
              <a:t>如前述</a:t>
            </a:r>
            <a:r>
              <a:rPr lang="en-US" altLang="zh-CN" dirty="0" err="1"/>
              <a:t>inode</a:t>
            </a:r>
            <a:r>
              <a:rPr lang="zh-CN" altLang="en-US" dirty="0"/>
              <a:t>中的多级间接指针</a:t>
            </a:r>
            <a:endParaRPr lang="en-US" altLang="zh-CN" dirty="0"/>
          </a:p>
          <a:p>
            <a:pPr lvl="1"/>
            <a:r>
              <a:rPr lang="zh-CN" altLang="en-US" dirty="0"/>
              <a:t>类似内存页表的结构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b="0" dirty="0" err="1"/>
              <a:t>ChCore</a:t>
            </a:r>
            <a:r>
              <a:rPr lang="zh-CN" altLang="en-US" b="0" dirty="0"/>
              <a:t>中的基数树</a:t>
            </a:r>
            <a:endParaRPr lang="en-US" altLang="zh-CN" b="0" dirty="0"/>
          </a:p>
          <a:p>
            <a:pPr lvl="1"/>
            <a:r>
              <a:rPr lang="zh-CN" altLang="en-US" b="0" dirty="0"/>
              <a:t>保存</a:t>
            </a:r>
            <a:r>
              <a:rPr lang="en-US" altLang="zh-CN" b="0" dirty="0"/>
              <a:t>&lt;</a:t>
            </a:r>
            <a:r>
              <a:rPr lang="zh-CN" altLang="en-US" b="0" dirty="0"/>
              <a:t>逻辑块号，块指针</a:t>
            </a:r>
            <a:r>
              <a:rPr lang="en-US" altLang="zh-CN" b="0" dirty="0"/>
              <a:t>&gt;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C06BD-21D9-B24E-8966-DE313CD9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B57A1-B8FF-CD4E-BAF3-2FE5E3B39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473E139-AB4F-B448-BA24-64B8822EF310}"/>
              </a:ext>
            </a:extLst>
          </p:cNvPr>
          <p:cNvGrpSpPr/>
          <p:nvPr/>
        </p:nvGrpSpPr>
        <p:grpSpPr>
          <a:xfrm>
            <a:off x="3897393" y="797071"/>
            <a:ext cx="4707055" cy="4652717"/>
            <a:chOff x="3833464" y="557897"/>
            <a:chExt cx="4707055" cy="4652717"/>
          </a:xfrm>
        </p:grpSpPr>
        <p:cxnSp>
          <p:nvCxnSpPr>
            <p:cNvPr id="14" name="Curved Connector 13">
              <a:extLst>
                <a:ext uri="{FF2B5EF4-FFF2-40B4-BE49-F238E27FC236}">
                  <a16:creationId xmlns:a16="http://schemas.microsoft.com/office/drawing/2014/main" id="{A10E31D8-278C-1946-8257-95B10BF35922}"/>
                </a:ext>
              </a:extLst>
            </p:cNvPr>
            <p:cNvCxnSpPr>
              <a:cxnSpLocks/>
              <a:stCxn id="16" idx="3"/>
              <a:endCxn id="23" idx="1"/>
            </p:cNvCxnSpPr>
            <p:nvPr/>
          </p:nvCxnSpPr>
          <p:spPr>
            <a:xfrm>
              <a:off x="5166350" y="3057636"/>
              <a:ext cx="586083" cy="44792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1E8918-73A8-3541-BFDA-E361BFBCE01A}"/>
                </a:ext>
              </a:extLst>
            </p:cNvPr>
            <p:cNvSpPr/>
            <p:nvPr/>
          </p:nvSpPr>
          <p:spPr>
            <a:xfrm>
              <a:off x="4581618" y="297753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根节点</a:t>
              </a:r>
              <a:endParaRPr lang="en-CN" sz="1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13DBBB6-F8C6-384A-8EA5-11350A2F8896}"/>
                </a:ext>
              </a:extLst>
            </p:cNvPr>
            <p:cNvSpPr/>
            <p:nvPr/>
          </p:nvSpPr>
          <p:spPr>
            <a:xfrm>
              <a:off x="8050821" y="1913580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数据页</a:t>
              </a:r>
              <a:endParaRPr lang="en-CN" sz="1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5EB1C5-21F5-C14F-B5FF-1D7B5A7824CF}"/>
                </a:ext>
              </a:extLst>
            </p:cNvPr>
            <p:cNvSpPr txBox="1"/>
            <p:nvPr/>
          </p:nvSpPr>
          <p:spPr>
            <a:xfrm>
              <a:off x="7122244" y="4038768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45F189-15AF-3241-AAB7-81B83BC9CE95}"/>
                </a:ext>
              </a:extLst>
            </p:cNvPr>
            <p:cNvSpPr txBox="1"/>
            <p:nvPr/>
          </p:nvSpPr>
          <p:spPr>
            <a:xfrm>
              <a:off x="5687670" y="4084666"/>
              <a:ext cx="61587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索引页</a:t>
              </a:r>
              <a:endParaRPr lang="en-CN" sz="11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BC63EE-29CE-F549-8C56-1DF1180046F9}"/>
                </a:ext>
              </a:extLst>
            </p:cNvPr>
            <p:cNvSpPr/>
            <p:nvPr/>
          </p:nvSpPr>
          <p:spPr>
            <a:xfrm>
              <a:off x="5752433" y="3438476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0</a:t>
              </a:r>
              <a:endParaRPr lang="en-CN" sz="10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13741F9-5D9E-7341-B841-79B05A44044A}"/>
                </a:ext>
              </a:extLst>
            </p:cNvPr>
            <p:cNvSpPr/>
            <p:nvPr/>
          </p:nvSpPr>
          <p:spPr>
            <a:xfrm>
              <a:off x="5752433" y="3572643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A64209A-B4F9-544F-A20A-F3E84060AB95}"/>
                </a:ext>
              </a:extLst>
            </p:cNvPr>
            <p:cNvSpPr/>
            <p:nvPr/>
          </p:nvSpPr>
          <p:spPr>
            <a:xfrm>
              <a:off x="5752433" y="370681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6C04F79-62DD-A441-8126-7D7E247A6B08}"/>
                </a:ext>
              </a:extLst>
            </p:cNvPr>
            <p:cNvSpPr/>
            <p:nvPr/>
          </p:nvSpPr>
          <p:spPr>
            <a:xfrm>
              <a:off x="5752433" y="3841881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511</a:t>
              </a:r>
              <a:endParaRPr lang="en-CN" sz="1000" dirty="0"/>
            </a:p>
          </p:txBody>
        </p:sp>
        <p:cxnSp>
          <p:nvCxnSpPr>
            <p:cNvPr id="27" name="Curved Connector 26">
              <a:extLst>
                <a:ext uri="{FF2B5EF4-FFF2-40B4-BE49-F238E27FC236}">
                  <a16:creationId xmlns:a16="http://schemas.microsoft.com/office/drawing/2014/main" id="{0457AF5F-D7AE-0E4A-BCE8-232883DEBA3F}"/>
                </a:ext>
              </a:extLst>
            </p:cNvPr>
            <p:cNvCxnSpPr>
              <a:cxnSpLocks/>
              <a:stCxn id="23" idx="3"/>
              <a:endCxn id="69" idx="1"/>
            </p:cNvCxnSpPr>
            <p:nvPr/>
          </p:nvCxnSpPr>
          <p:spPr>
            <a:xfrm flipV="1">
              <a:off x="6242131" y="2952532"/>
              <a:ext cx="805975" cy="553028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>
              <a:extLst>
                <a:ext uri="{FF2B5EF4-FFF2-40B4-BE49-F238E27FC236}">
                  <a16:creationId xmlns:a16="http://schemas.microsoft.com/office/drawing/2014/main" id="{C3474A86-A36A-F44C-A0D5-EB39D6214D77}"/>
                </a:ext>
              </a:extLst>
            </p:cNvPr>
            <p:cNvCxnSpPr>
              <a:cxnSpLocks/>
              <a:stCxn id="24" idx="3"/>
              <a:endCxn id="65" idx="1"/>
            </p:cNvCxnSpPr>
            <p:nvPr/>
          </p:nvCxnSpPr>
          <p:spPr>
            <a:xfrm flipV="1">
              <a:off x="6242131" y="3605688"/>
              <a:ext cx="805975" cy="3403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3FCA55C5-A6E1-B140-A49E-581C52448A75}"/>
                </a:ext>
              </a:extLst>
            </p:cNvPr>
            <p:cNvCxnSpPr>
              <a:cxnSpLocks/>
              <a:stCxn id="26" idx="3"/>
              <a:endCxn id="61" idx="1"/>
            </p:cNvCxnSpPr>
            <p:nvPr/>
          </p:nvCxnSpPr>
          <p:spPr>
            <a:xfrm>
              <a:off x="6242131" y="3908965"/>
              <a:ext cx="805975" cy="46269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61143C6-F142-9C42-9068-31CB523627A9}"/>
                </a:ext>
              </a:extLst>
            </p:cNvPr>
            <p:cNvGrpSpPr/>
            <p:nvPr/>
          </p:nvGrpSpPr>
          <p:grpSpPr>
            <a:xfrm>
              <a:off x="7048106" y="2885448"/>
              <a:ext cx="489698" cy="537572"/>
              <a:chOff x="7298430" y="2380870"/>
              <a:chExt cx="489698" cy="537572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41AD8B7-5D80-9846-A10F-FAC416091795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0</a:t>
                </a:r>
                <a:endParaRPr lang="en-CN" sz="1000" dirty="0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28F32B7-8767-A748-83DB-6C26B9E4A0DE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EC18F51-547A-EF44-9ABA-90A3C345D7DE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3BFE20D-8643-1F4E-BD26-DD00612A78CF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511</a:t>
                </a:r>
                <a:endParaRPr lang="en-CN" sz="1000" dirty="0"/>
              </a:p>
            </p:txBody>
          </p:sp>
        </p:grpSp>
        <p:cxnSp>
          <p:nvCxnSpPr>
            <p:cNvPr id="31" name="Curved Connector 35">
              <a:extLst>
                <a:ext uri="{FF2B5EF4-FFF2-40B4-BE49-F238E27FC236}">
                  <a16:creationId xmlns:a16="http://schemas.microsoft.com/office/drawing/2014/main" id="{54ADABA3-2D1D-1040-A494-F2660818AEA2}"/>
                </a:ext>
              </a:extLst>
            </p:cNvPr>
            <p:cNvCxnSpPr>
              <a:cxnSpLocks/>
              <a:stCxn id="69" idx="3"/>
              <a:endCxn id="20" idx="1"/>
            </p:cNvCxnSpPr>
            <p:nvPr/>
          </p:nvCxnSpPr>
          <p:spPr>
            <a:xfrm flipV="1">
              <a:off x="7537804" y="2103183"/>
              <a:ext cx="513017" cy="8493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9473DB-EF69-8343-848A-1F28670CEF36}"/>
                </a:ext>
              </a:extLst>
            </p:cNvPr>
            <p:cNvSpPr/>
            <p:nvPr/>
          </p:nvSpPr>
          <p:spPr>
            <a:xfrm>
              <a:off x="8049486" y="245706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数据页</a:t>
              </a:r>
              <a:endParaRPr lang="en-CN" sz="10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7562220-8654-A04E-BBDD-34D1C085AC5F}"/>
                </a:ext>
              </a:extLst>
            </p:cNvPr>
            <p:cNvSpPr/>
            <p:nvPr/>
          </p:nvSpPr>
          <p:spPr>
            <a:xfrm>
              <a:off x="8049486" y="3126354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数据页</a:t>
              </a:r>
              <a:endParaRPr lang="en-CN" sz="10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4A9E8A2-F81F-4640-A503-CF91461C34ED}"/>
                </a:ext>
              </a:extLst>
            </p:cNvPr>
            <p:cNvSpPr txBox="1"/>
            <p:nvPr/>
          </p:nvSpPr>
          <p:spPr>
            <a:xfrm>
              <a:off x="8164267" y="2858022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cxnSp>
          <p:nvCxnSpPr>
            <p:cNvPr id="35" name="Curved Connector 39">
              <a:extLst>
                <a:ext uri="{FF2B5EF4-FFF2-40B4-BE49-F238E27FC236}">
                  <a16:creationId xmlns:a16="http://schemas.microsoft.com/office/drawing/2014/main" id="{E1D4C844-8CCE-C249-B68E-015B44CDF23E}"/>
                </a:ext>
              </a:extLst>
            </p:cNvPr>
            <p:cNvCxnSpPr>
              <a:cxnSpLocks/>
              <a:stCxn id="70" idx="3"/>
              <a:endCxn id="32" idx="1"/>
            </p:cNvCxnSpPr>
            <p:nvPr/>
          </p:nvCxnSpPr>
          <p:spPr>
            <a:xfrm flipV="1">
              <a:off x="7537804" y="2646672"/>
              <a:ext cx="511682" cy="4400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40">
              <a:extLst>
                <a:ext uri="{FF2B5EF4-FFF2-40B4-BE49-F238E27FC236}">
                  <a16:creationId xmlns:a16="http://schemas.microsoft.com/office/drawing/2014/main" id="{F8C9EA07-6D9B-2747-990B-1AD557878072}"/>
                </a:ext>
              </a:extLst>
            </p:cNvPr>
            <p:cNvCxnSpPr>
              <a:cxnSpLocks/>
              <a:stCxn id="72" idx="3"/>
              <a:endCxn id="33" idx="1"/>
            </p:cNvCxnSpPr>
            <p:nvPr/>
          </p:nvCxnSpPr>
          <p:spPr>
            <a:xfrm flipV="1">
              <a:off x="7537804" y="3315957"/>
              <a:ext cx="511682" cy="399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26A9609-8669-0A4C-8FC7-F9BA95EC4271}"/>
                </a:ext>
              </a:extLst>
            </p:cNvPr>
            <p:cNvSpPr txBox="1"/>
            <p:nvPr/>
          </p:nvSpPr>
          <p:spPr>
            <a:xfrm>
              <a:off x="7014280" y="4949004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索引页</a:t>
              </a:r>
              <a:endParaRPr lang="en-CN" sz="1100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0285FE1-756E-FE4C-92A1-1A789621CF48}"/>
                </a:ext>
              </a:extLst>
            </p:cNvPr>
            <p:cNvGrpSpPr/>
            <p:nvPr/>
          </p:nvGrpSpPr>
          <p:grpSpPr>
            <a:xfrm>
              <a:off x="7048106" y="3538604"/>
              <a:ext cx="489698" cy="537572"/>
              <a:chOff x="7298430" y="2380870"/>
              <a:chExt cx="489698" cy="537572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18C049A-DA0A-F54C-AF8E-172C15A133C3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0</a:t>
                </a:r>
                <a:endParaRPr lang="en-CN" sz="1000" dirty="0"/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A726150F-AB88-FB43-9151-80433C40E957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D5F2B9A-3F37-1243-B903-BA4DEDFEF0A9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47B7B72-91B6-6D45-9328-78399C796F19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511</a:t>
                </a:r>
                <a:endParaRPr lang="en-CN" sz="1000" dirty="0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58D0B1B-B856-124D-860F-EAB2F6D8CE66}"/>
                </a:ext>
              </a:extLst>
            </p:cNvPr>
            <p:cNvGrpSpPr/>
            <p:nvPr/>
          </p:nvGrpSpPr>
          <p:grpSpPr>
            <a:xfrm>
              <a:off x="7048106" y="4304575"/>
              <a:ext cx="489698" cy="537572"/>
              <a:chOff x="7298430" y="2380870"/>
              <a:chExt cx="489698" cy="537572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7DCA1E40-B8A2-0048-99CD-60596929D56E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0</a:t>
                </a:r>
                <a:endParaRPr lang="en-CN" sz="1000" dirty="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37B455D-553C-8244-85CB-F7DAC6441D19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5803B3E-8D98-B849-9B0C-4C065A5D9E1A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C0EB77F-C299-F946-8B03-4127BE525EE0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511</a:t>
                </a:r>
                <a:endParaRPr lang="en-CN" sz="1000" dirty="0"/>
              </a:p>
            </p:txBody>
          </p:sp>
        </p:grpSp>
        <p:cxnSp>
          <p:nvCxnSpPr>
            <p:cNvPr id="59" name="Curved Connector 40">
              <a:extLst>
                <a:ext uri="{FF2B5EF4-FFF2-40B4-BE49-F238E27FC236}">
                  <a16:creationId xmlns:a16="http://schemas.microsoft.com/office/drawing/2014/main" id="{8550E1CB-72B3-6746-B6FA-5D5AFD9E3B73}"/>
                </a:ext>
              </a:extLst>
            </p:cNvPr>
            <p:cNvCxnSpPr>
              <a:cxnSpLocks/>
              <a:stCxn id="65" idx="3"/>
            </p:cNvCxnSpPr>
            <p:nvPr/>
          </p:nvCxnSpPr>
          <p:spPr>
            <a:xfrm>
              <a:off x="7537804" y="3605688"/>
              <a:ext cx="511682" cy="1079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02C863A-CC4C-A341-83A1-2798E8DF029D}"/>
                </a:ext>
              </a:extLst>
            </p:cNvPr>
            <p:cNvSpPr/>
            <p:nvPr/>
          </p:nvSpPr>
          <p:spPr>
            <a:xfrm>
              <a:off x="8043134" y="3641987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数据页</a:t>
              </a:r>
              <a:endParaRPr lang="en-CN" sz="1000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1220596-F8F4-514D-90FC-35291F21318B}"/>
                </a:ext>
              </a:extLst>
            </p:cNvPr>
            <p:cNvSpPr/>
            <p:nvPr/>
          </p:nvSpPr>
          <p:spPr>
            <a:xfrm>
              <a:off x="5572982" y="1120844"/>
              <a:ext cx="648072" cy="2686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8</a:t>
              </a:r>
              <a:r>
                <a:rPr lang="zh-CN" altLang="en-US" sz="1000" dirty="0"/>
                <a:t>位</a:t>
              </a:r>
              <a:endParaRPr lang="en-CN" sz="10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DFB6C1A-9604-4944-9C46-51A5AC612210}"/>
                </a:ext>
              </a:extLst>
            </p:cNvPr>
            <p:cNvSpPr/>
            <p:nvPr/>
          </p:nvSpPr>
          <p:spPr>
            <a:xfrm>
              <a:off x="6221054" y="1120844"/>
              <a:ext cx="648072" cy="2686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8</a:t>
              </a:r>
              <a:r>
                <a:rPr lang="zh-CN" altLang="en-US" sz="1000" dirty="0"/>
                <a:t>位</a:t>
              </a:r>
              <a:endParaRPr lang="en-CN" sz="1000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F377773-E3D5-2648-A8EB-2991339937E7}"/>
                </a:ext>
              </a:extLst>
            </p:cNvPr>
            <p:cNvSpPr/>
            <p:nvPr/>
          </p:nvSpPr>
          <p:spPr>
            <a:xfrm>
              <a:off x="6870482" y="1120844"/>
              <a:ext cx="998388" cy="2686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r>
                <a:rPr lang="zh-CN" altLang="en-US" sz="1000" dirty="0"/>
                <a:t>位</a:t>
              </a:r>
              <a:endParaRPr lang="en-CN" sz="1000" dirty="0"/>
            </a:p>
          </p:txBody>
        </p:sp>
        <p:sp>
          <p:nvSpPr>
            <p:cNvPr id="77" name="Right Brace 76">
              <a:extLst>
                <a:ext uri="{FF2B5EF4-FFF2-40B4-BE49-F238E27FC236}">
                  <a16:creationId xmlns:a16="http://schemas.microsoft.com/office/drawing/2014/main" id="{3004F334-857C-6547-92FF-94BDB9981E85}"/>
                </a:ext>
              </a:extLst>
            </p:cNvPr>
            <p:cNvSpPr/>
            <p:nvPr/>
          </p:nvSpPr>
          <p:spPr>
            <a:xfrm rot="5400000">
              <a:off x="5796888" y="1281959"/>
              <a:ext cx="200260" cy="648072"/>
            </a:xfrm>
            <a:prstGeom prst="rightBrace">
              <a:avLst>
                <a:gd name="adj1" fmla="val 3472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F413DC3-04CA-6A4D-AC20-4C7DEB39FABF}"/>
                </a:ext>
              </a:extLst>
            </p:cNvPr>
            <p:cNvSpPr txBox="1"/>
            <p:nvPr/>
          </p:nvSpPr>
          <p:spPr>
            <a:xfrm>
              <a:off x="3833464" y="107237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文件内</a:t>
              </a:r>
              <a:r>
                <a:rPr lang="zh-CN" altLang="en-US" dirty="0"/>
                <a:t>偏移量</a:t>
              </a:r>
              <a:endParaRPr lang="en-CN" dirty="0"/>
            </a:p>
          </p:txBody>
        </p:sp>
        <p:sp>
          <p:nvSpPr>
            <p:cNvPr id="79" name="Right Brace 78">
              <a:extLst>
                <a:ext uri="{FF2B5EF4-FFF2-40B4-BE49-F238E27FC236}">
                  <a16:creationId xmlns:a16="http://schemas.microsoft.com/office/drawing/2014/main" id="{EF6359E0-910E-7843-B732-4EF632789A7C}"/>
                </a:ext>
              </a:extLst>
            </p:cNvPr>
            <p:cNvSpPr/>
            <p:nvPr/>
          </p:nvSpPr>
          <p:spPr>
            <a:xfrm rot="5400000">
              <a:off x="6444960" y="1291216"/>
              <a:ext cx="200260" cy="648072"/>
            </a:xfrm>
            <a:prstGeom prst="rightBrace">
              <a:avLst>
                <a:gd name="adj1" fmla="val 3472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80" name="Right Brace 79">
              <a:extLst>
                <a:ext uri="{FF2B5EF4-FFF2-40B4-BE49-F238E27FC236}">
                  <a16:creationId xmlns:a16="http://schemas.microsoft.com/office/drawing/2014/main" id="{92580FE0-0746-8D4E-9F26-509D9CBC73C9}"/>
                </a:ext>
              </a:extLst>
            </p:cNvPr>
            <p:cNvSpPr/>
            <p:nvPr/>
          </p:nvSpPr>
          <p:spPr>
            <a:xfrm rot="5400000">
              <a:off x="7277445" y="1132448"/>
              <a:ext cx="200260" cy="982589"/>
            </a:xfrm>
            <a:prstGeom prst="rightBrace">
              <a:avLst>
                <a:gd name="adj1" fmla="val 3472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2185036-72F6-2C47-B235-6231AE4752A0}"/>
                </a:ext>
              </a:extLst>
            </p:cNvPr>
            <p:cNvSpPr txBox="1"/>
            <p:nvPr/>
          </p:nvSpPr>
          <p:spPr>
            <a:xfrm>
              <a:off x="6978883" y="1711490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页</a:t>
              </a:r>
              <a:r>
                <a:rPr lang="zh-CN" altLang="en-CN" sz="1100" dirty="0"/>
                <a:t>内</a:t>
              </a:r>
              <a:r>
                <a:rPr lang="zh-CN" altLang="en-US" sz="1100" dirty="0"/>
                <a:t>偏移量</a:t>
              </a:r>
              <a:endParaRPr lang="en-CN" sz="1100" dirty="0"/>
            </a:p>
          </p:txBody>
        </p:sp>
        <p:sp>
          <p:nvSpPr>
            <p:cNvPr id="82" name="Right Brace 81">
              <a:extLst>
                <a:ext uri="{FF2B5EF4-FFF2-40B4-BE49-F238E27FC236}">
                  <a16:creationId xmlns:a16="http://schemas.microsoft.com/office/drawing/2014/main" id="{4DB35CC6-1045-A34A-9766-4D1B264C742F}"/>
                </a:ext>
              </a:extLst>
            </p:cNvPr>
            <p:cNvSpPr/>
            <p:nvPr/>
          </p:nvSpPr>
          <p:spPr>
            <a:xfrm rot="5400000" flipH="1">
              <a:off x="6125514" y="310149"/>
              <a:ext cx="191080" cy="1296144"/>
            </a:xfrm>
            <a:prstGeom prst="rightBrace">
              <a:avLst>
                <a:gd name="adj1" fmla="val 3472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9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F3922C7-D014-7B40-8312-3D3AF9E31AD6}"/>
                </a:ext>
              </a:extLst>
            </p:cNvPr>
            <p:cNvSpPr txBox="1"/>
            <p:nvPr/>
          </p:nvSpPr>
          <p:spPr>
            <a:xfrm>
              <a:off x="5867669" y="557897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逻辑块号</a:t>
              </a:r>
              <a:endParaRPr lang="en-CN" sz="1100" dirty="0"/>
            </a:p>
          </p:txBody>
        </p:sp>
        <p:cxnSp>
          <p:nvCxnSpPr>
            <p:cNvPr id="84" name="Curved Connector 83">
              <a:extLst>
                <a:ext uri="{FF2B5EF4-FFF2-40B4-BE49-F238E27FC236}">
                  <a16:creationId xmlns:a16="http://schemas.microsoft.com/office/drawing/2014/main" id="{4895DED8-B8D9-4648-B441-7D5F18E9338A}"/>
                </a:ext>
              </a:extLst>
            </p:cNvPr>
            <p:cNvCxnSpPr>
              <a:cxnSpLocks/>
            </p:cNvCxnSpPr>
            <p:nvPr/>
          </p:nvCxnSpPr>
          <p:spPr>
            <a:xfrm>
              <a:off x="5897018" y="1949814"/>
              <a:ext cx="37366" cy="12880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urved Connector 83">
              <a:extLst>
                <a:ext uri="{FF2B5EF4-FFF2-40B4-BE49-F238E27FC236}">
                  <a16:creationId xmlns:a16="http://schemas.microsoft.com/office/drawing/2014/main" id="{AFC08ACB-0757-3E4F-9511-5C1F11DB3A8C}"/>
                </a:ext>
              </a:extLst>
            </p:cNvPr>
            <p:cNvCxnSpPr>
              <a:cxnSpLocks/>
            </p:cNvCxnSpPr>
            <p:nvPr/>
          </p:nvCxnSpPr>
          <p:spPr>
            <a:xfrm>
              <a:off x="6559744" y="1875390"/>
              <a:ext cx="650605" cy="9057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87057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D8D4-835A-BE4F-95AF-AE599DE0E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ChCore</a:t>
            </a:r>
            <a:r>
              <a:rPr lang="zh-CN" altLang="en-CN" dirty="0"/>
              <a:t>的</a:t>
            </a:r>
            <a:r>
              <a:rPr lang="zh-CN" altLang="en-US" dirty="0"/>
              <a:t>目录文件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B9133-6FA9-5A49-9485-9E45127D2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b="0" dirty="0"/>
              <a:t>哈希表</a:t>
            </a:r>
            <a:endParaRPr lang="en-US" altLang="zh-CN" b="0" dirty="0"/>
          </a:p>
          <a:p>
            <a:pPr lvl="1"/>
            <a:r>
              <a:rPr lang="zh-CN" altLang="en-US" dirty="0"/>
              <a:t>保存目录项</a:t>
            </a:r>
            <a:endParaRPr lang="en-US" altLang="zh-CN" dirty="0"/>
          </a:p>
          <a:p>
            <a:pPr lvl="1"/>
            <a:r>
              <a:rPr lang="zh-CN" altLang="en-US" dirty="0"/>
              <a:t>使用链表解决冲突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C06BD-21D9-B24E-8966-DE313CD92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B57A1-B8FF-CD4E-BAF3-2FE5E3B39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DBBB6-F8C6-384A-8EA5-11350A2F8896}"/>
              </a:ext>
            </a:extLst>
          </p:cNvPr>
          <p:cNvSpPr/>
          <p:nvPr/>
        </p:nvSpPr>
        <p:spPr>
          <a:xfrm>
            <a:off x="5531237" y="2432713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45F189-15AF-3241-AAB7-81B83BC9CE95}"/>
              </a:ext>
            </a:extLst>
          </p:cNvPr>
          <p:cNvSpPr txBox="1"/>
          <p:nvPr/>
        </p:nvSpPr>
        <p:spPr>
          <a:xfrm>
            <a:off x="4437360" y="4430146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哈希表</a:t>
            </a:r>
            <a:endParaRPr lang="en-CN" sz="11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BC63EE-29CE-F549-8C56-1DF1180046F9}"/>
              </a:ext>
            </a:extLst>
          </p:cNvPr>
          <p:cNvSpPr/>
          <p:nvPr/>
        </p:nvSpPr>
        <p:spPr>
          <a:xfrm>
            <a:off x="4555521" y="3781634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4</a:t>
            </a:r>
            <a:endParaRPr lang="en-CN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3741F9-5D9E-7341-B841-79B05A44044A}"/>
              </a:ext>
            </a:extLst>
          </p:cNvPr>
          <p:cNvSpPr/>
          <p:nvPr/>
        </p:nvSpPr>
        <p:spPr>
          <a:xfrm>
            <a:off x="4555521" y="3915801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5</a:t>
            </a:r>
            <a:endParaRPr lang="en-CN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64209A-B4F9-544F-A20A-F3E84060AB95}"/>
              </a:ext>
            </a:extLst>
          </p:cNvPr>
          <p:cNvSpPr/>
          <p:nvPr/>
        </p:nvSpPr>
        <p:spPr>
          <a:xfrm>
            <a:off x="4555521" y="4049968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C04F79-62DD-A441-8126-7D7E247A6B08}"/>
              </a:ext>
            </a:extLst>
          </p:cNvPr>
          <p:cNvSpPr/>
          <p:nvPr/>
        </p:nvSpPr>
        <p:spPr>
          <a:xfrm>
            <a:off x="4555521" y="4185039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511</a:t>
            </a:r>
            <a:endParaRPr lang="en-CN" sz="1000" dirty="0"/>
          </a:p>
        </p:txBody>
      </p:sp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0457AF5F-D7AE-0E4A-BCE8-232883DEBA3F}"/>
              </a:ext>
            </a:extLst>
          </p:cNvPr>
          <p:cNvCxnSpPr>
            <a:cxnSpLocks/>
            <a:stCxn id="85" idx="3"/>
            <a:endCxn id="20" idx="1"/>
          </p:cNvCxnSpPr>
          <p:nvPr/>
        </p:nvCxnSpPr>
        <p:spPr>
          <a:xfrm flipV="1">
            <a:off x="5045219" y="2576034"/>
            <a:ext cx="486018" cy="728857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C3474A86-A36A-F44C-A0D5-EB39D6214D77}"/>
              </a:ext>
            </a:extLst>
          </p:cNvPr>
          <p:cNvCxnSpPr>
            <a:cxnSpLocks/>
            <a:stCxn id="87" idx="3"/>
            <a:endCxn id="90" idx="1"/>
          </p:cNvCxnSpPr>
          <p:nvPr/>
        </p:nvCxnSpPr>
        <p:spPr>
          <a:xfrm flipV="1">
            <a:off x="5045219" y="3358243"/>
            <a:ext cx="482579" cy="214982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3FCA55C5-A6E1-B140-A49E-581C52448A75}"/>
              </a:ext>
            </a:extLst>
          </p:cNvPr>
          <p:cNvCxnSpPr>
            <a:cxnSpLocks/>
            <a:stCxn id="26" idx="3"/>
            <a:endCxn id="94" idx="1"/>
          </p:cNvCxnSpPr>
          <p:nvPr/>
        </p:nvCxnSpPr>
        <p:spPr>
          <a:xfrm>
            <a:off x="5045219" y="4252123"/>
            <a:ext cx="482579" cy="103311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urved Connector 35">
            <a:extLst>
              <a:ext uri="{FF2B5EF4-FFF2-40B4-BE49-F238E27FC236}">
                <a16:creationId xmlns:a16="http://schemas.microsoft.com/office/drawing/2014/main" id="{54ADABA3-2D1D-1040-A494-F2660818AEA2}"/>
              </a:ext>
            </a:extLst>
          </p:cNvPr>
          <p:cNvCxnSpPr>
            <a:cxnSpLocks/>
            <a:stCxn id="20" idx="3"/>
            <a:endCxn id="73" idx="1"/>
          </p:cNvCxnSpPr>
          <p:nvPr/>
        </p:nvCxnSpPr>
        <p:spPr>
          <a:xfrm flipV="1">
            <a:off x="6171151" y="2575130"/>
            <a:ext cx="264694" cy="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85F52FF-6DA2-A84C-816E-80DC16503DBD}"/>
              </a:ext>
            </a:extLst>
          </p:cNvPr>
          <p:cNvSpPr txBox="1"/>
          <p:nvPr/>
        </p:nvSpPr>
        <p:spPr>
          <a:xfrm>
            <a:off x="532035" y="3255878"/>
            <a:ext cx="3962400" cy="1954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" pitchFamily="2" charset="0"/>
              </a:rPr>
              <a:t>struct string {</a:t>
            </a: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char *str;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文件名字符串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 </a:t>
            </a:r>
            <a:r>
              <a:rPr lang="en-US" sz="1100" dirty="0" err="1">
                <a:latin typeface="Courier" pitchFamily="2" charset="0"/>
              </a:rPr>
              <a:t>size_t</a:t>
            </a:r>
            <a:r>
              <a:rPr lang="en-US" sz="1100" dirty="0">
                <a:latin typeface="Courier" pitchFamily="2" charset="0"/>
              </a:rPr>
              <a:t> </a:t>
            </a:r>
            <a:r>
              <a:rPr lang="en-US" sz="1100" dirty="0" err="1">
                <a:latin typeface="Courier" pitchFamily="2" charset="0"/>
              </a:rPr>
              <a:t>len</a:t>
            </a:r>
            <a:r>
              <a:rPr lang="en-US" sz="1100" dirty="0">
                <a:latin typeface="Courier" pitchFamily="2" charset="0"/>
              </a:rPr>
              <a:t>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文件名长度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u64 hash;	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文件名的哈希值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};</a:t>
            </a:r>
          </a:p>
          <a:p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struct </a:t>
            </a:r>
            <a:r>
              <a:rPr lang="en-US" sz="1100" dirty="0" err="1">
                <a:latin typeface="Courier" pitchFamily="2" charset="0"/>
              </a:rPr>
              <a:t>dentry</a:t>
            </a:r>
            <a:r>
              <a:rPr lang="en-US" sz="1100" dirty="0">
                <a:latin typeface="Courier" pitchFamily="2" charset="0"/>
              </a:rPr>
              <a:t> {</a:t>
            </a:r>
          </a:p>
          <a:p>
            <a:r>
              <a:rPr lang="zh-CN" altLang="en-US" sz="1100" dirty="0">
                <a:latin typeface="Courier" pitchFamily="2" charset="0"/>
              </a:rPr>
              <a:t>    </a:t>
            </a:r>
            <a:r>
              <a:rPr lang="en-US" sz="1100" dirty="0">
                <a:latin typeface="Courier" pitchFamily="2" charset="0"/>
              </a:rPr>
              <a:t>struct string name;</a:t>
            </a:r>
            <a:r>
              <a:rPr lang="zh-CN" altLang="en-US" sz="1100" dirty="0">
                <a:latin typeface="Courier" pitchFamily="2" charset="0"/>
              </a:rPr>
              <a:t>  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文件名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sz="1100" dirty="0">
                <a:latin typeface="Courier" pitchFamily="2" charset="0"/>
              </a:rPr>
              <a:t>struct </a:t>
            </a:r>
            <a:r>
              <a:rPr lang="en-US" sz="1100" dirty="0" err="1">
                <a:latin typeface="Courier" pitchFamily="2" charset="0"/>
              </a:rPr>
              <a:t>inode</a:t>
            </a:r>
            <a:r>
              <a:rPr lang="en-US" sz="1100" dirty="0">
                <a:latin typeface="Courier" pitchFamily="2" charset="0"/>
              </a:rPr>
              <a:t> *</a:t>
            </a:r>
            <a:r>
              <a:rPr lang="en-US" sz="1100" dirty="0" err="1">
                <a:latin typeface="Courier" pitchFamily="2" charset="0"/>
              </a:rPr>
              <a:t>inode</a:t>
            </a:r>
            <a:r>
              <a:rPr lang="en-US" sz="1100" dirty="0">
                <a:latin typeface="Courier" pitchFamily="2" charset="0"/>
              </a:rPr>
              <a:t>;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文件对应的</a:t>
            </a:r>
            <a:r>
              <a:rPr lang="en-US" altLang="zh-CN" sz="1100" dirty="0" err="1">
                <a:latin typeface="Courier" pitchFamily="2" charset="0"/>
              </a:rPr>
              <a:t>inode</a:t>
            </a:r>
            <a:r>
              <a:rPr lang="zh-CN" altLang="en-US" sz="1100" dirty="0">
                <a:latin typeface="Courier" pitchFamily="2" charset="0"/>
              </a:rPr>
              <a:t>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   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sz="1100" dirty="0">
                <a:latin typeface="Courier" pitchFamily="2" charset="0"/>
              </a:rPr>
              <a:t>struct </a:t>
            </a:r>
            <a:r>
              <a:rPr lang="en-US" sz="1100" dirty="0" err="1">
                <a:latin typeface="Courier" pitchFamily="2" charset="0"/>
              </a:rPr>
              <a:t>dentr</a:t>
            </a:r>
            <a:r>
              <a:rPr lang="en-US" altLang="zh-CN" sz="1100" dirty="0" err="1">
                <a:latin typeface="Courier" pitchFamily="2" charset="0"/>
              </a:rPr>
              <a:t>y</a:t>
            </a:r>
            <a:r>
              <a:rPr lang="zh-CN" altLang="en-US" sz="1100" dirty="0">
                <a:latin typeface="Courier" pitchFamily="2" charset="0"/>
              </a:rPr>
              <a:t> *</a:t>
            </a:r>
            <a:r>
              <a:rPr lang="en-US" sz="1100" dirty="0">
                <a:latin typeface="Courier" pitchFamily="2" charset="0"/>
              </a:rPr>
              <a:t>n</a:t>
            </a:r>
            <a:r>
              <a:rPr lang="en-US" altLang="zh-CN" sz="1100" dirty="0">
                <a:latin typeface="Courier" pitchFamily="2" charset="0"/>
              </a:rPr>
              <a:t>ext</a:t>
            </a:r>
            <a:r>
              <a:rPr lang="en-US" sz="1100" dirty="0">
                <a:latin typeface="Courier" pitchFamily="2" charset="0"/>
              </a:rPr>
              <a:t>;</a:t>
            </a:r>
            <a:r>
              <a:rPr lang="zh-CN" altLang="en-US" sz="1100" dirty="0">
                <a:latin typeface="Courier" pitchFamily="2" charset="0"/>
              </a:rPr>
              <a:t> </a:t>
            </a:r>
            <a:r>
              <a:rPr lang="en-US" altLang="zh-CN" sz="1100" dirty="0">
                <a:latin typeface="Courier" pitchFamily="2" charset="0"/>
              </a:rPr>
              <a:t>/</a:t>
            </a:r>
            <a:r>
              <a:rPr lang="zh-CN" altLang="en-US" sz="1100" dirty="0">
                <a:latin typeface="Courier" pitchFamily="2" charset="0"/>
              </a:rPr>
              <a:t>* 下一个目录项 *</a:t>
            </a:r>
            <a:r>
              <a:rPr lang="en-US" altLang="zh-CN" sz="1100" dirty="0">
                <a:latin typeface="Courier" pitchFamily="2" charset="0"/>
              </a:rPr>
              <a:t>/</a:t>
            </a:r>
            <a:endParaRPr lang="en-US" sz="1100" dirty="0">
              <a:latin typeface="Courier" pitchFamily="2" charset="0"/>
            </a:endParaRPr>
          </a:p>
          <a:p>
            <a:r>
              <a:rPr lang="en-US" sz="1100" dirty="0">
                <a:latin typeface="Courier" pitchFamily="2" charset="0"/>
              </a:rPr>
              <a:t>};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30C60A4-F7F0-284A-9789-539034AED9D0}"/>
              </a:ext>
            </a:extLst>
          </p:cNvPr>
          <p:cNvSpPr/>
          <p:nvPr/>
        </p:nvSpPr>
        <p:spPr>
          <a:xfrm>
            <a:off x="6435845" y="2431809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F2853C7-CB5B-4543-AD17-B23AA6FB1EF0}"/>
              </a:ext>
            </a:extLst>
          </p:cNvPr>
          <p:cNvSpPr/>
          <p:nvPr/>
        </p:nvSpPr>
        <p:spPr>
          <a:xfrm>
            <a:off x="4555521" y="3237807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0</a:t>
            </a:r>
            <a:endParaRPr lang="en-CN" sz="10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3F22B58-0E77-2944-A778-BAF3C5DF35F9}"/>
              </a:ext>
            </a:extLst>
          </p:cNvPr>
          <p:cNvSpPr/>
          <p:nvPr/>
        </p:nvSpPr>
        <p:spPr>
          <a:xfrm>
            <a:off x="4555521" y="3371974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27D3C67-479C-4F40-AB8A-1055DB2217F7}"/>
              </a:ext>
            </a:extLst>
          </p:cNvPr>
          <p:cNvSpPr/>
          <p:nvPr/>
        </p:nvSpPr>
        <p:spPr>
          <a:xfrm>
            <a:off x="4555521" y="3506141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F2381ED-6DB4-DA40-A019-089E34870061}"/>
              </a:ext>
            </a:extLst>
          </p:cNvPr>
          <p:cNvSpPr/>
          <p:nvPr/>
        </p:nvSpPr>
        <p:spPr>
          <a:xfrm>
            <a:off x="4555521" y="3641212"/>
            <a:ext cx="489698" cy="1341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3</a:t>
            </a:r>
            <a:endParaRPr lang="en-CN" sz="10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9ACAF5B-20ED-B640-8C78-4B1CA6B0BDD9}"/>
              </a:ext>
            </a:extLst>
          </p:cNvPr>
          <p:cNvSpPr/>
          <p:nvPr/>
        </p:nvSpPr>
        <p:spPr>
          <a:xfrm>
            <a:off x="5527798" y="3214922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cxnSp>
        <p:nvCxnSpPr>
          <p:cNvPr id="91" name="Curved Connector 35">
            <a:extLst>
              <a:ext uri="{FF2B5EF4-FFF2-40B4-BE49-F238E27FC236}">
                <a16:creationId xmlns:a16="http://schemas.microsoft.com/office/drawing/2014/main" id="{7023068D-54E3-8C47-91B7-ACA1711E6C52}"/>
              </a:ext>
            </a:extLst>
          </p:cNvPr>
          <p:cNvCxnSpPr>
            <a:cxnSpLocks/>
            <a:stCxn id="90" idx="3"/>
            <a:endCxn id="93" idx="1"/>
          </p:cNvCxnSpPr>
          <p:nvPr/>
        </p:nvCxnSpPr>
        <p:spPr>
          <a:xfrm>
            <a:off x="6167712" y="3358243"/>
            <a:ext cx="2646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015DE2BE-7102-0141-BD4C-A6C91F91E8B4}"/>
              </a:ext>
            </a:extLst>
          </p:cNvPr>
          <p:cNvSpPr/>
          <p:nvPr/>
        </p:nvSpPr>
        <p:spPr>
          <a:xfrm>
            <a:off x="6432406" y="3214922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5015741-43CC-F643-AA0B-B5FDBEAE988E}"/>
              </a:ext>
            </a:extLst>
          </p:cNvPr>
          <p:cNvSpPr/>
          <p:nvPr/>
        </p:nvSpPr>
        <p:spPr>
          <a:xfrm>
            <a:off x="5527798" y="4212113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cxnSp>
        <p:nvCxnSpPr>
          <p:cNvPr id="95" name="Curved Connector 35">
            <a:extLst>
              <a:ext uri="{FF2B5EF4-FFF2-40B4-BE49-F238E27FC236}">
                <a16:creationId xmlns:a16="http://schemas.microsoft.com/office/drawing/2014/main" id="{98D60983-F18D-8B46-9D98-602C470B8A43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 flipV="1">
            <a:off x="6167712" y="4354530"/>
            <a:ext cx="264694" cy="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A91029B-D854-5F4F-8E90-2ACA8205EEF5}"/>
              </a:ext>
            </a:extLst>
          </p:cNvPr>
          <p:cNvSpPr/>
          <p:nvPr/>
        </p:nvSpPr>
        <p:spPr>
          <a:xfrm>
            <a:off x="6432406" y="4211209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CEED534-070E-9646-AFBF-19432FEA394A}"/>
              </a:ext>
            </a:extLst>
          </p:cNvPr>
          <p:cNvSpPr/>
          <p:nvPr/>
        </p:nvSpPr>
        <p:spPr>
          <a:xfrm>
            <a:off x="7332292" y="3214922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cxnSp>
        <p:nvCxnSpPr>
          <p:cNvPr id="98" name="Curved Connector 35">
            <a:extLst>
              <a:ext uri="{FF2B5EF4-FFF2-40B4-BE49-F238E27FC236}">
                <a16:creationId xmlns:a16="http://schemas.microsoft.com/office/drawing/2014/main" id="{A20FE150-8420-9446-A6B8-4C410EC623B0}"/>
              </a:ext>
            </a:extLst>
          </p:cNvPr>
          <p:cNvCxnSpPr>
            <a:cxnSpLocks/>
            <a:stCxn id="97" idx="3"/>
            <a:endCxn id="99" idx="1"/>
          </p:cNvCxnSpPr>
          <p:nvPr/>
        </p:nvCxnSpPr>
        <p:spPr>
          <a:xfrm>
            <a:off x="7972206" y="3358243"/>
            <a:ext cx="26469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79A060A6-48BC-E04E-A402-72EF96625A51}"/>
              </a:ext>
            </a:extLst>
          </p:cNvPr>
          <p:cNvSpPr/>
          <p:nvPr/>
        </p:nvSpPr>
        <p:spPr>
          <a:xfrm>
            <a:off x="8236900" y="3214922"/>
            <a:ext cx="639914" cy="286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目录项</a:t>
            </a:r>
            <a:endParaRPr lang="en-CN" sz="1000" dirty="0"/>
          </a:p>
        </p:txBody>
      </p:sp>
      <p:cxnSp>
        <p:nvCxnSpPr>
          <p:cNvPr id="100" name="Curved Connector 35">
            <a:extLst>
              <a:ext uri="{FF2B5EF4-FFF2-40B4-BE49-F238E27FC236}">
                <a16:creationId xmlns:a16="http://schemas.microsoft.com/office/drawing/2014/main" id="{6A1F9B7B-E9E8-3F44-8B95-835C76A3A2E1}"/>
              </a:ext>
            </a:extLst>
          </p:cNvPr>
          <p:cNvCxnSpPr>
            <a:cxnSpLocks/>
            <a:stCxn id="93" idx="3"/>
            <a:endCxn id="97" idx="1"/>
          </p:cNvCxnSpPr>
          <p:nvPr/>
        </p:nvCxnSpPr>
        <p:spPr>
          <a:xfrm>
            <a:off x="7072320" y="3358243"/>
            <a:ext cx="25997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DC23295-2C33-C341-B82B-1FB747932282}"/>
              </a:ext>
            </a:extLst>
          </p:cNvPr>
          <p:cNvSpPr txBox="1"/>
          <p:nvPr/>
        </p:nvSpPr>
        <p:spPr>
          <a:xfrm>
            <a:off x="473483" y="2917324"/>
            <a:ext cx="22381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altLang="zh-CN" sz="1400" dirty="0"/>
              <a:t>ChCore</a:t>
            </a:r>
            <a:r>
              <a:rPr lang="zh-CN" altLang="en-US" sz="1600" dirty="0"/>
              <a:t>中的目录项结构</a:t>
            </a:r>
            <a:endParaRPr lang="en-US" altLang="zh-CN" sz="1600" dirty="0"/>
          </a:p>
        </p:txBody>
      </p:sp>
      <p:cxnSp>
        <p:nvCxnSpPr>
          <p:cNvPr id="102" name="Curved Connector 83">
            <a:extLst>
              <a:ext uri="{FF2B5EF4-FFF2-40B4-BE49-F238E27FC236}">
                <a16:creationId xmlns:a16="http://schemas.microsoft.com/office/drawing/2014/main" id="{355A9B5B-8CE8-EA4F-9B8F-F83D4A74E3CB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4707791" y="1754373"/>
            <a:ext cx="0" cy="116295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E62A3D9-3183-D94D-8D1A-86FB1AC86440}"/>
              </a:ext>
            </a:extLst>
          </p:cNvPr>
          <p:cNvSpPr txBox="1"/>
          <p:nvPr/>
        </p:nvSpPr>
        <p:spPr>
          <a:xfrm>
            <a:off x="3563888" y="1385041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Hash(</a:t>
            </a:r>
            <a:r>
              <a:rPr lang="zh-CN" altLang="en-US" dirty="0"/>
              <a:t>文件名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%</a:t>
            </a:r>
            <a:r>
              <a:rPr lang="zh-CN" altLang="en-US" dirty="0"/>
              <a:t> </a:t>
            </a:r>
            <a:r>
              <a:rPr lang="en-US" altLang="zh-CN" dirty="0"/>
              <a:t>512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703620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C159-C637-7E46-962B-7B79476E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基于</a:t>
            </a:r>
            <a:r>
              <a:rPr lang="en-US" altLang="zh-CN" dirty="0"/>
              <a:t>Table</a:t>
            </a:r>
            <a:r>
              <a:rPr lang="zh-CN" altLang="en-US" dirty="0"/>
              <a:t>的文件系统：</a:t>
            </a:r>
            <a:r>
              <a:rPr lang="en-US" altLang="zh-CN" dirty="0"/>
              <a:t>FAT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89376-0627-6E4A-97E9-89BE05328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1DAE4-9434-7B40-8F7A-2B3ECB0F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B3240-9E12-874A-95F3-412791820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9059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23E5-CCB3-754E-A633-D0C74294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en-US" altLang="zh-CN" dirty="0"/>
              <a:t>32</a:t>
            </a:r>
            <a:r>
              <a:rPr lang="zh-CN" altLang="en-US" dirty="0"/>
              <a:t>存储布局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D6128-5B68-084B-994A-B7CAB649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D7289-FB46-BF45-AE77-1F1E48239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917C3-324B-EE4A-97C9-FB62758A5F38}"/>
              </a:ext>
            </a:extLst>
          </p:cNvPr>
          <p:cNvSpPr/>
          <p:nvPr/>
        </p:nvSpPr>
        <p:spPr>
          <a:xfrm>
            <a:off x="558006" y="1410882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1FB3D7-6939-0C41-984A-A102E456E2D1}"/>
              </a:ext>
            </a:extLst>
          </p:cNvPr>
          <p:cNvSpPr/>
          <p:nvPr/>
        </p:nvSpPr>
        <p:spPr>
          <a:xfrm>
            <a:off x="1133872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FAT1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19E70A-C69B-B44E-B31C-B1E2A23CA73E}"/>
              </a:ext>
            </a:extLst>
          </p:cNvPr>
          <p:cNvSpPr/>
          <p:nvPr/>
        </p:nvSpPr>
        <p:spPr>
          <a:xfrm>
            <a:off x="2430016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FAT2</a:t>
            </a:r>
            <a:r>
              <a:rPr lang="zh-CN" altLang="en-US" sz="1400" dirty="0"/>
              <a:t>（备份）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2EBB5-7CC7-D444-ACCC-0C7DD1ED2818}"/>
              </a:ext>
            </a:extLst>
          </p:cNvPr>
          <p:cNvSpPr/>
          <p:nvPr/>
        </p:nvSpPr>
        <p:spPr>
          <a:xfrm>
            <a:off x="3726160" y="1410882"/>
            <a:ext cx="384882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数据区（文件和目录）</a:t>
            </a:r>
            <a:endParaRPr lang="en-CN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A607B3B-978E-4945-9660-A411F4716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709765"/>
            <a:ext cx="4648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400" b="1" dirty="0">
                <a:latin typeface="+mn-ea"/>
              </a:rPr>
              <a:t>Default FAT Cluster Sizes</a:t>
            </a:r>
            <a:r>
              <a:rPr lang="zh-CN" altLang="en-US" sz="1400" b="1" dirty="0">
                <a:latin typeface="+mn-ea"/>
              </a:rPr>
              <a:t> （簇）</a:t>
            </a:r>
            <a:endParaRPr lang="en-US" altLang="zh-CN" sz="1400" b="1" dirty="0">
              <a:latin typeface="+mn-ea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73616721-1CB3-FE44-ACB6-4A4CCE82E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347565"/>
            <a:ext cx="5867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Courier New" pitchFamily="49" charset="0"/>
                <a:ea typeface="MS PGothic" pitchFamily="34" charset="-128"/>
                <a:cs typeface="Courier New" pitchFamily="49" charset="0"/>
              </a:rPr>
              <a:t>Volume Size	    FAT32 Cluster Size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5E130859-FFEA-2E46-B2E5-4D47E0278B90}"/>
              </a:ext>
            </a:extLst>
          </p:cNvPr>
          <p:cNvSpPr txBox="1"/>
          <p:nvPr/>
        </p:nvSpPr>
        <p:spPr>
          <a:xfrm>
            <a:off x="1524000" y="2652365"/>
            <a:ext cx="5867400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&lt;32MB		    Not Supported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32MB ~ 64MB	    512 bytes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65MB ~ 128MB	    1KB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129MB ~ 256MB	    2KB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257MB ~ 8GB	    4KB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8GB ~ 16GB	       8KB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16GB ~ 32GB	    16KB</a:t>
            </a:r>
            <a:endParaRPr lang="en-US" altLang="zh-CN" b="1" dirty="0">
              <a:latin typeface="Courier New" pitchFamily="49" charset="0"/>
              <a:ea typeface="MS PGothic" pitchFamily="34" charset="-128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9642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23E5-CCB3-754E-A633-D0C74294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zh-CN" altLang="en-US" dirty="0"/>
              <a:t>：文件分配表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D6128-5B68-084B-994A-B7CAB649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D7289-FB46-BF45-AE77-1F1E48239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7917C3-324B-EE4A-97C9-FB62758A5F38}"/>
              </a:ext>
            </a:extLst>
          </p:cNvPr>
          <p:cNvSpPr/>
          <p:nvPr/>
        </p:nvSpPr>
        <p:spPr>
          <a:xfrm>
            <a:off x="558006" y="1410882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1FB3D7-6939-0C41-984A-A102E456E2D1}"/>
              </a:ext>
            </a:extLst>
          </p:cNvPr>
          <p:cNvSpPr/>
          <p:nvPr/>
        </p:nvSpPr>
        <p:spPr>
          <a:xfrm>
            <a:off x="1133872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FAT1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19E70A-C69B-B44E-B31C-B1E2A23CA73E}"/>
              </a:ext>
            </a:extLst>
          </p:cNvPr>
          <p:cNvSpPr/>
          <p:nvPr/>
        </p:nvSpPr>
        <p:spPr>
          <a:xfrm>
            <a:off x="2430016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FAT2</a:t>
            </a:r>
            <a:r>
              <a:rPr lang="zh-CN" altLang="en-US" sz="1400" dirty="0"/>
              <a:t>（备份）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52EBB5-7CC7-D444-ACCC-0C7DD1ED2818}"/>
              </a:ext>
            </a:extLst>
          </p:cNvPr>
          <p:cNvSpPr/>
          <p:nvPr/>
        </p:nvSpPr>
        <p:spPr>
          <a:xfrm>
            <a:off x="3726160" y="1410882"/>
            <a:ext cx="3848820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数据区（文件和目录）</a:t>
            </a:r>
            <a:endParaRPr lang="en-C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E2B30-026A-C74D-AE67-25A30ADFBF2B}"/>
              </a:ext>
            </a:extLst>
          </p:cNvPr>
          <p:cNvSpPr txBox="1"/>
          <p:nvPr/>
        </p:nvSpPr>
        <p:spPr>
          <a:xfrm>
            <a:off x="701185" y="4643645"/>
            <a:ext cx="656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</a:t>
            </a:r>
            <a:r>
              <a:rPr lang="zh-CN" altLang="en-US" dirty="0"/>
              <a:t>为每个数据簇增加了一个</a:t>
            </a:r>
            <a:r>
              <a:rPr lang="en-US" altLang="zh-CN" b="1" dirty="0"/>
              <a:t>next</a:t>
            </a:r>
            <a:r>
              <a:rPr lang="zh-CN" altLang="en-US" dirty="0"/>
              <a:t>指针，让簇可以串联在一起</a:t>
            </a:r>
            <a:endParaRPr lang="en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536133-D4E7-C642-9036-38F313F7C64A}"/>
              </a:ext>
            </a:extLst>
          </p:cNvPr>
          <p:cNvSpPr/>
          <p:nvPr/>
        </p:nvSpPr>
        <p:spPr>
          <a:xfrm>
            <a:off x="1545935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44CC98-02D7-3B40-9992-53591BC39A03}"/>
              </a:ext>
            </a:extLst>
          </p:cNvPr>
          <p:cNvSpPr/>
          <p:nvPr/>
        </p:nvSpPr>
        <p:spPr>
          <a:xfrm>
            <a:off x="2245602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570E25-CEFA-D344-9F16-04BF536D8D03}"/>
              </a:ext>
            </a:extLst>
          </p:cNvPr>
          <p:cNvSpPr/>
          <p:nvPr/>
        </p:nvSpPr>
        <p:spPr>
          <a:xfrm>
            <a:off x="2945269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0007</a:t>
            </a:r>
            <a:endParaRPr lang="en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92250C-A39D-954C-8D80-898C1B86EF43}"/>
              </a:ext>
            </a:extLst>
          </p:cNvPr>
          <p:cNvSpPr/>
          <p:nvPr/>
        </p:nvSpPr>
        <p:spPr>
          <a:xfrm>
            <a:off x="3644936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0005</a:t>
            </a:r>
            <a:endParaRPr lang="en-CN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6491EC-B36B-164F-99CF-CD95A2B79349}"/>
              </a:ext>
            </a:extLst>
          </p:cNvPr>
          <p:cNvSpPr/>
          <p:nvPr/>
        </p:nvSpPr>
        <p:spPr>
          <a:xfrm>
            <a:off x="4344603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E0905C-2120-FF49-A5D1-6AFF3B6DE84B}"/>
              </a:ext>
            </a:extLst>
          </p:cNvPr>
          <p:cNvSpPr/>
          <p:nvPr/>
        </p:nvSpPr>
        <p:spPr>
          <a:xfrm>
            <a:off x="5044270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0006</a:t>
            </a:r>
            <a:endParaRPr lang="en-CN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440829-A5C5-2145-8194-EABDE4055887}"/>
              </a:ext>
            </a:extLst>
          </p:cNvPr>
          <p:cNvSpPr/>
          <p:nvPr/>
        </p:nvSpPr>
        <p:spPr>
          <a:xfrm>
            <a:off x="5743937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FFFF</a:t>
            </a:r>
            <a:endParaRPr lang="en-CN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B973BF-89E1-5943-9B74-192C34737EEC}"/>
              </a:ext>
            </a:extLst>
          </p:cNvPr>
          <p:cNvSpPr/>
          <p:nvPr/>
        </p:nvSpPr>
        <p:spPr>
          <a:xfrm>
            <a:off x="6443604" y="4122513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FFFF</a:t>
            </a:r>
            <a:endParaRPr lang="en-CN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6B93DE-1ECB-124E-8664-2738528B3FB8}"/>
              </a:ext>
            </a:extLst>
          </p:cNvPr>
          <p:cNvSpPr/>
          <p:nvPr/>
        </p:nvSpPr>
        <p:spPr>
          <a:xfrm>
            <a:off x="1545935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47B493-8223-1749-B147-A5156DAFA436}"/>
              </a:ext>
            </a:extLst>
          </p:cNvPr>
          <p:cNvSpPr/>
          <p:nvPr/>
        </p:nvSpPr>
        <p:spPr>
          <a:xfrm>
            <a:off x="2245602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DBB5D-21DD-3540-A785-3DADE4557D74}"/>
              </a:ext>
            </a:extLst>
          </p:cNvPr>
          <p:cNvSpPr/>
          <p:nvPr/>
        </p:nvSpPr>
        <p:spPr>
          <a:xfrm>
            <a:off x="2945269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2809BD-3364-3942-8041-657ED9FFF9B6}"/>
              </a:ext>
            </a:extLst>
          </p:cNvPr>
          <p:cNvSpPr/>
          <p:nvPr/>
        </p:nvSpPr>
        <p:spPr>
          <a:xfrm>
            <a:off x="3644936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BC9E1B-071D-714D-9F7C-FA67A639FBA7}"/>
              </a:ext>
            </a:extLst>
          </p:cNvPr>
          <p:cNvSpPr/>
          <p:nvPr/>
        </p:nvSpPr>
        <p:spPr>
          <a:xfrm>
            <a:off x="4344603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6A7535-271D-6B49-8267-57640999136A}"/>
              </a:ext>
            </a:extLst>
          </p:cNvPr>
          <p:cNvSpPr/>
          <p:nvPr/>
        </p:nvSpPr>
        <p:spPr>
          <a:xfrm>
            <a:off x="5044270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31A33E-F77F-5140-B39E-A1CF2A776397}"/>
              </a:ext>
            </a:extLst>
          </p:cNvPr>
          <p:cNvSpPr/>
          <p:nvPr/>
        </p:nvSpPr>
        <p:spPr>
          <a:xfrm>
            <a:off x="5743937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E1F2AE-37A4-5848-B16A-04F5029BE954}"/>
              </a:ext>
            </a:extLst>
          </p:cNvPr>
          <p:cNvSpPr/>
          <p:nvPr/>
        </p:nvSpPr>
        <p:spPr>
          <a:xfrm>
            <a:off x="6443604" y="2866792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CF015A-7C05-D844-9F5B-6B93F1862FB8}"/>
              </a:ext>
            </a:extLst>
          </p:cNvPr>
          <p:cNvSpPr/>
          <p:nvPr/>
        </p:nvSpPr>
        <p:spPr>
          <a:xfrm>
            <a:off x="7143271" y="2866792"/>
            <a:ext cx="1317161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</a:t>
            </a:r>
            <a:endParaRPr lang="en-CN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B33798-ECEE-8341-BD8A-922C1119A0C4}"/>
              </a:ext>
            </a:extLst>
          </p:cNvPr>
          <p:cNvSpPr/>
          <p:nvPr/>
        </p:nvSpPr>
        <p:spPr>
          <a:xfrm>
            <a:off x="7143271" y="4122513"/>
            <a:ext cx="1317161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</a:t>
            </a:r>
            <a:endParaRPr lang="en-C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C9086-5EA9-5A4C-A5C9-27F476FDC1BA}"/>
              </a:ext>
            </a:extLst>
          </p:cNvPr>
          <p:cNvSpPr txBox="1"/>
          <p:nvPr/>
        </p:nvSpPr>
        <p:spPr>
          <a:xfrm>
            <a:off x="558006" y="30252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数据</a:t>
            </a:r>
            <a:r>
              <a:rPr lang="zh-CN" altLang="en-US" dirty="0"/>
              <a:t>簇</a:t>
            </a:r>
            <a:endParaRPr lang="en-C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6CF519-9AD5-D649-B8D4-5E09F1B0D026}"/>
              </a:ext>
            </a:extLst>
          </p:cNvPr>
          <p:cNvSpPr txBox="1"/>
          <p:nvPr/>
        </p:nvSpPr>
        <p:spPr>
          <a:xfrm>
            <a:off x="701185" y="4095868"/>
            <a:ext cx="590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</a:t>
            </a:r>
            <a:endParaRPr lang="en-CN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6308D9-CBEF-0F44-AC6B-A1EE7CAE0690}"/>
              </a:ext>
            </a:extLst>
          </p:cNvPr>
          <p:cNvCxnSpPr>
            <a:cxnSpLocks/>
          </p:cNvCxnSpPr>
          <p:nvPr/>
        </p:nvCxnSpPr>
        <p:spPr>
          <a:xfrm flipH="1">
            <a:off x="1569020" y="1914938"/>
            <a:ext cx="2157141" cy="95185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C38ECE-3262-F644-9C1D-1C8FCF487903}"/>
              </a:ext>
            </a:extLst>
          </p:cNvPr>
          <p:cNvCxnSpPr>
            <a:cxnSpLocks/>
          </p:cNvCxnSpPr>
          <p:nvPr/>
        </p:nvCxnSpPr>
        <p:spPr>
          <a:xfrm>
            <a:off x="7574980" y="1914938"/>
            <a:ext cx="867835" cy="95185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2683B46-0ABF-9745-B634-4C1091E5F3E2}"/>
              </a:ext>
            </a:extLst>
          </p:cNvPr>
          <p:cNvCxnSpPr>
            <a:cxnSpLocks/>
            <a:stCxn id="7" idx="2"/>
            <a:endCxn id="31" idx="1"/>
          </p:cNvCxnSpPr>
          <p:nvPr/>
        </p:nvCxnSpPr>
        <p:spPr>
          <a:xfrm rot="5400000">
            <a:off x="58767" y="2557357"/>
            <a:ext cx="2365596" cy="1080759"/>
          </a:xfrm>
          <a:prstGeom prst="bentConnector4">
            <a:avLst>
              <a:gd name="adj1" fmla="val 19979"/>
              <a:gd name="adj2" fmla="val 121152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8FA32A9-9578-C045-9E06-D80AF5E76A08}"/>
              </a:ext>
            </a:extLst>
          </p:cNvPr>
          <p:cNvSpPr txBox="1"/>
          <p:nvPr/>
        </p:nvSpPr>
        <p:spPr>
          <a:xfrm>
            <a:off x="1542776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0B8E34-F459-CE48-9B1D-BE3F65090F6E}"/>
              </a:ext>
            </a:extLst>
          </p:cNvPr>
          <p:cNvSpPr txBox="1"/>
          <p:nvPr/>
        </p:nvSpPr>
        <p:spPr>
          <a:xfrm>
            <a:off x="2247825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ABC0E4-A7EF-F343-BB42-A565D7F0ACE5}"/>
              </a:ext>
            </a:extLst>
          </p:cNvPr>
          <p:cNvSpPr txBox="1"/>
          <p:nvPr/>
        </p:nvSpPr>
        <p:spPr>
          <a:xfrm>
            <a:off x="2948590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40F2B8-B3CB-134C-B320-C42A525D0A95}"/>
              </a:ext>
            </a:extLst>
          </p:cNvPr>
          <p:cNvSpPr txBox="1"/>
          <p:nvPr/>
        </p:nvSpPr>
        <p:spPr>
          <a:xfrm>
            <a:off x="3653639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en-C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924623-CF20-F54C-850F-C176211158E2}"/>
              </a:ext>
            </a:extLst>
          </p:cNvPr>
          <p:cNvSpPr txBox="1"/>
          <p:nvPr/>
        </p:nvSpPr>
        <p:spPr>
          <a:xfrm>
            <a:off x="4362051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en-C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E7B0DD-DFD6-7743-84A9-439C1818B265}"/>
              </a:ext>
            </a:extLst>
          </p:cNvPr>
          <p:cNvSpPr txBox="1"/>
          <p:nvPr/>
        </p:nvSpPr>
        <p:spPr>
          <a:xfrm>
            <a:off x="5067100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0762D2-5993-3142-BB50-55576997297F}"/>
              </a:ext>
            </a:extLst>
          </p:cNvPr>
          <p:cNvSpPr txBox="1"/>
          <p:nvPr/>
        </p:nvSpPr>
        <p:spPr>
          <a:xfrm>
            <a:off x="5738555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en-C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C8BBDC-6DEB-5445-B19B-DBAA445A2F4D}"/>
              </a:ext>
            </a:extLst>
          </p:cNvPr>
          <p:cNvSpPr txBox="1"/>
          <p:nvPr/>
        </p:nvSpPr>
        <p:spPr>
          <a:xfrm>
            <a:off x="6443604" y="249746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en-C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B541A0-B06F-264E-BC7C-C5ED6C601F58}"/>
              </a:ext>
            </a:extLst>
          </p:cNvPr>
          <p:cNvSpPr txBox="1"/>
          <p:nvPr/>
        </p:nvSpPr>
        <p:spPr>
          <a:xfrm>
            <a:off x="7143271" y="24974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48D424-CF10-2F44-9A91-7B2EB36161CC}"/>
              </a:ext>
            </a:extLst>
          </p:cNvPr>
          <p:cNvSpPr txBox="1"/>
          <p:nvPr/>
        </p:nvSpPr>
        <p:spPr>
          <a:xfrm>
            <a:off x="1042757" y="255097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簇号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285802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23E5-CCB3-754E-A633-D0C74294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zh-CN" altLang="en-US" dirty="0"/>
              <a:t>：文件分配表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4D6128-5B68-084B-994A-B7CAB649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D7289-FB46-BF45-AE77-1F1E48239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E2B30-026A-C74D-AE67-25A30ADFBF2B}"/>
              </a:ext>
            </a:extLst>
          </p:cNvPr>
          <p:cNvSpPr txBox="1"/>
          <p:nvPr/>
        </p:nvSpPr>
        <p:spPr>
          <a:xfrm>
            <a:off x="701185" y="4631344"/>
            <a:ext cx="656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</a:t>
            </a:r>
            <a:r>
              <a:rPr lang="zh-CN" altLang="en-US" dirty="0"/>
              <a:t>为每个数据簇增加了一个</a:t>
            </a:r>
            <a:r>
              <a:rPr lang="en-US" altLang="zh-CN" b="1" dirty="0"/>
              <a:t>next</a:t>
            </a:r>
            <a:r>
              <a:rPr lang="zh-CN" altLang="en-US" dirty="0"/>
              <a:t>指针，让簇可以串联在一起</a:t>
            </a:r>
            <a:endParaRPr lang="en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536133-D4E7-C642-9036-38F313F7C64A}"/>
              </a:ext>
            </a:extLst>
          </p:cNvPr>
          <p:cNvSpPr/>
          <p:nvPr/>
        </p:nvSpPr>
        <p:spPr>
          <a:xfrm>
            <a:off x="1545935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44CC98-02D7-3B40-9992-53591BC39A03}"/>
              </a:ext>
            </a:extLst>
          </p:cNvPr>
          <p:cNvSpPr/>
          <p:nvPr/>
        </p:nvSpPr>
        <p:spPr>
          <a:xfrm>
            <a:off x="2245602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570E25-CEFA-D344-9F16-04BF536D8D03}"/>
              </a:ext>
            </a:extLst>
          </p:cNvPr>
          <p:cNvSpPr/>
          <p:nvPr/>
        </p:nvSpPr>
        <p:spPr>
          <a:xfrm>
            <a:off x="2945269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0007</a:t>
            </a:r>
            <a:endParaRPr lang="en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92250C-A39D-954C-8D80-898C1B86EF43}"/>
              </a:ext>
            </a:extLst>
          </p:cNvPr>
          <p:cNvSpPr/>
          <p:nvPr/>
        </p:nvSpPr>
        <p:spPr>
          <a:xfrm>
            <a:off x="3644936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0005</a:t>
            </a:r>
            <a:endParaRPr lang="en-CN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6491EC-B36B-164F-99CF-CD95A2B79349}"/>
              </a:ext>
            </a:extLst>
          </p:cNvPr>
          <p:cNvSpPr/>
          <p:nvPr/>
        </p:nvSpPr>
        <p:spPr>
          <a:xfrm>
            <a:off x="4344603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0000</a:t>
            </a:r>
            <a:endParaRPr lang="en-CN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E0905C-2120-FF49-A5D1-6AFF3B6DE84B}"/>
              </a:ext>
            </a:extLst>
          </p:cNvPr>
          <p:cNvSpPr/>
          <p:nvPr/>
        </p:nvSpPr>
        <p:spPr>
          <a:xfrm>
            <a:off x="5044270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0006</a:t>
            </a:r>
            <a:endParaRPr lang="en-CN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440829-A5C5-2145-8194-EABDE4055887}"/>
              </a:ext>
            </a:extLst>
          </p:cNvPr>
          <p:cNvSpPr/>
          <p:nvPr/>
        </p:nvSpPr>
        <p:spPr>
          <a:xfrm>
            <a:off x="5743937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FFFF</a:t>
            </a:r>
            <a:endParaRPr lang="en-CN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DB973BF-89E1-5943-9B74-192C34737EEC}"/>
              </a:ext>
            </a:extLst>
          </p:cNvPr>
          <p:cNvSpPr/>
          <p:nvPr/>
        </p:nvSpPr>
        <p:spPr>
          <a:xfrm>
            <a:off x="6443604" y="4110212"/>
            <a:ext cx="699667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FFFF</a:t>
            </a:r>
            <a:endParaRPr lang="en-CN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6B93DE-1ECB-124E-8664-2738528B3FB8}"/>
              </a:ext>
            </a:extLst>
          </p:cNvPr>
          <p:cNvSpPr/>
          <p:nvPr/>
        </p:nvSpPr>
        <p:spPr>
          <a:xfrm>
            <a:off x="1545935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47B493-8223-1749-B147-A5156DAFA436}"/>
              </a:ext>
            </a:extLst>
          </p:cNvPr>
          <p:cNvSpPr/>
          <p:nvPr/>
        </p:nvSpPr>
        <p:spPr>
          <a:xfrm>
            <a:off x="2245602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DBB5D-21DD-3540-A785-3DADE4557D74}"/>
              </a:ext>
            </a:extLst>
          </p:cNvPr>
          <p:cNvSpPr/>
          <p:nvPr/>
        </p:nvSpPr>
        <p:spPr>
          <a:xfrm>
            <a:off x="2945269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2809BD-3364-3942-8041-657ED9FFF9B6}"/>
              </a:ext>
            </a:extLst>
          </p:cNvPr>
          <p:cNvSpPr/>
          <p:nvPr/>
        </p:nvSpPr>
        <p:spPr>
          <a:xfrm>
            <a:off x="3644936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FBC9E1B-071D-714D-9F7C-FA67A639FBA7}"/>
              </a:ext>
            </a:extLst>
          </p:cNvPr>
          <p:cNvSpPr/>
          <p:nvPr/>
        </p:nvSpPr>
        <p:spPr>
          <a:xfrm>
            <a:off x="4344603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6A7535-271D-6B49-8267-57640999136A}"/>
              </a:ext>
            </a:extLst>
          </p:cNvPr>
          <p:cNvSpPr/>
          <p:nvPr/>
        </p:nvSpPr>
        <p:spPr>
          <a:xfrm>
            <a:off x="5044270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31A33E-F77F-5140-B39E-A1CF2A776397}"/>
              </a:ext>
            </a:extLst>
          </p:cNvPr>
          <p:cNvSpPr/>
          <p:nvPr/>
        </p:nvSpPr>
        <p:spPr>
          <a:xfrm>
            <a:off x="5743937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E1F2AE-37A4-5848-B16A-04F5029BE954}"/>
              </a:ext>
            </a:extLst>
          </p:cNvPr>
          <p:cNvSpPr/>
          <p:nvPr/>
        </p:nvSpPr>
        <p:spPr>
          <a:xfrm>
            <a:off x="6443604" y="2854491"/>
            <a:ext cx="699667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</a:t>
            </a:r>
            <a:endParaRPr lang="en-CN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CF015A-7C05-D844-9F5B-6B93F1862FB8}"/>
              </a:ext>
            </a:extLst>
          </p:cNvPr>
          <p:cNvSpPr/>
          <p:nvPr/>
        </p:nvSpPr>
        <p:spPr>
          <a:xfrm>
            <a:off x="7143271" y="2854491"/>
            <a:ext cx="1317161" cy="6862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</a:t>
            </a:r>
            <a:endParaRPr lang="en-CN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B33798-ECEE-8341-BD8A-922C1119A0C4}"/>
              </a:ext>
            </a:extLst>
          </p:cNvPr>
          <p:cNvSpPr/>
          <p:nvPr/>
        </p:nvSpPr>
        <p:spPr>
          <a:xfrm>
            <a:off x="7143271" y="4110212"/>
            <a:ext cx="1317161" cy="307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</a:t>
            </a:r>
            <a:endParaRPr lang="en-C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C9086-5EA9-5A4C-A5C9-27F476FDC1BA}"/>
              </a:ext>
            </a:extLst>
          </p:cNvPr>
          <p:cNvSpPr txBox="1"/>
          <p:nvPr/>
        </p:nvSpPr>
        <p:spPr>
          <a:xfrm>
            <a:off x="558006" y="30129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数据</a:t>
            </a:r>
            <a:r>
              <a:rPr lang="zh-CN" altLang="en-US" dirty="0"/>
              <a:t>簇</a:t>
            </a:r>
            <a:endParaRPr lang="en-C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6CF519-9AD5-D649-B8D4-5E09F1B0D026}"/>
              </a:ext>
            </a:extLst>
          </p:cNvPr>
          <p:cNvSpPr txBox="1"/>
          <p:nvPr/>
        </p:nvSpPr>
        <p:spPr>
          <a:xfrm>
            <a:off x="701185" y="4083567"/>
            <a:ext cx="590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FAT</a:t>
            </a:r>
            <a:endParaRPr lang="en-C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FA32A9-9578-C045-9E06-D80AF5E76A08}"/>
              </a:ext>
            </a:extLst>
          </p:cNvPr>
          <p:cNvSpPr txBox="1"/>
          <p:nvPr/>
        </p:nvSpPr>
        <p:spPr>
          <a:xfrm>
            <a:off x="1542776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en-CN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0B8E34-F459-CE48-9B1D-BE3F65090F6E}"/>
              </a:ext>
            </a:extLst>
          </p:cNvPr>
          <p:cNvSpPr txBox="1"/>
          <p:nvPr/>
        </p:nvSpPr>
        <p:spPr>
          <a:xfrm>
            <a:off x="2247825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ABC0E4-A7EF-F343-BB42-A565D7F0ACE5}"/>
              </a:ext>
            </a:extLst>
          </p:cNvPr>
          <p:cNvSpPr txBox="1"/>
          <p:nvPr/>
        </p:nvSpPr>
        <p:spPr>
          <a:xfrm>
            <a:off x="2948590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en-CN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40F2B8-B3CB-134C-B320-C42A525D0A95}"/>
              </a:ext>
            </a:extLst>
          </p:cNvPr>
          <p:cNvSpPr txBox="1"/>
          <p:nvPr/>
        </p:nvSpPr>
        <p:spPr>
          <a:xfrm>
            <a:off x="3653639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en-CN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924623-CF20-F54C-850F-C176211158E2}"/>
              </a:ext>
            </a:extLst>
          </p:cNvPr>
          <p:cNvSpPr txBox="1"/>
          <p:nvPr/>
        </p:nvSpPr>
        <p:spPr>
          <a:xfrm>
            <a:off x="4362051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en-C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EE7B0DD-DFD6-7743-84A9-439C1818B265}"/>
              </a:ext>
            </a:extLst>
          </p:cNvPr>
          <p:cNvSpPr txBox="1"/>
          <p:nvPr/>
        </p:nvSpPr>
        <p:spPr>
          <a:xfrm>
            <a:off x="5067100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en-C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0762D2-5993-3142-BB50-55576997297F}"/>
              </a:ext>
            </a:extLst>
          </p:cNvPr>
          <p:cNvSpPr txBox="1"/>
          <p:nvPr/>
        </p:nvSpPr>
        <p:spPr>
          <a:xfrm>
            <a:off x="5738555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en-CN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C8BBDC-6DEB-5445-B19B-DBAA445A2F4D}"/>
              </a:ext>
            </a:extLst>
          </p:cNvPr>
          <p:cNvSpPr txBox="1"/>
          <p:nvPr/>
        </p:nvSpPr>
        <p:spPr>
          <a:xfrm>
            <a:off x="6443604" y="24851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en-CN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FB541A0-B06F-264E-BC7C-C5ED6C601F58}"/>
              </a:ext>
            </a:extLst>
          </p:cNvPr>
          <p:cNvSpPr txBox="1"/>
          <p:nvPr/>
        </p:nvSpPr>
        <p:spPr>
          <a:xfrm>
            <a:off x="7143271" y="24851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48D424-CF10-2F44-9A91-7B2EB36161CC}"/>
              </a:ext>
            </a:extLst>
          </p:cNvPr>
          <p:cNvSpPr txBox="1"/>
          <p:nvPr/>
        </p:nvSpPr>
        <p:spPr>
          <a:xfrm>
            <a:off x="1042757" y="25386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簇号</a:t>
            </a:r>
            <a:endParaRPr lang="en-CN" sz="14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2374F8-6191-9945-984B-CA6EF4D9198A}"/>
              </a:ext>
            </a:extLst>
          </p:cNvPr>
          <p:cNvSpPr/>
          <p:nvPr/>
        </p:nvSpPr>
        <p:spPr>
          <a:xfrm>
            <a:off x="1542776" y="1816832"/>
            <a:ext cx="1157016" cy="2729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OSHW.TXT</a:t>
            </a:r>
            <a:endParaRPr lang="en-CN"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D26235C-AFFF-8846-A3C8-6D5183902EAB}"/>
              </a:ext>
            </a:extLst>
          </p:cNvPr>
          <p:cNvSpPr/>
          <p:nvPr/>
        </p:nvSpPr>
        <p:spPr>
          <a:xfrm>
            <a:off x="2699792" y="1816831"/>
            <a:ext cx="699667" cy="2729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0003</a:t>
            </a:r>
            <a:endParaRPr lang="en-CN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517AA9-55EB-5346-844A-994CC36D1ED0}"/>
              </a:ext>
            </a:extLst>
          </p:cNvPr>
          <p:cNvSpPr txBox="1"/>
          <p:nvPr/>
        </p:nvSpPr>
        <p:spPr>
          <a:xfrm>
            <a:off x="690989" y="1777380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目录项</a:t>
            </a:r>
            <a:endParaRPr lang="en-C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D2FF70-5B66-6341-83DE-FA18224CB4F1}"/>
              </a:ext>
            </a:extLst>
          </p:cNvPr>
          <p:cNvCxnSpPr>
            <a:cxnSpLocks/>
            <a:stCxn id="54" idx="3"/>
            <a:endCxn id="24" idx="0"/>
          </p:cNvCxnSpPr>
          <p:nvPr/>
        </p:nvCxnSpPr>
        <p:spPr>
          <a:xfrm>
            <a:off x="3399459" y="1953285"/>
            <a:ext cx="595311" cy="901206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11">
            <a:extLst>
              <a:ext uri="{FF2B5EF4-FFF2-40B4-BE49-F238E27FC236}">
                <a16:creationId xmlns:a16="http://schemas.microsoft.com/office/drawing/2014/main" id="{A72A394E-204E-CA4E-9CAB-8C2D10D40F13}"/>
              </a:ext>
            </a:extLst>
          </p:cNvPr>
          <p:cNvCxnSpPr>
            <a:cxnSpLocks/>
            <a:stCxn id="16" idx="0"/>
            <a:endCxn id="26" idx="2"/>
          </p:cNvCxnSpPr>
          <p:nvPr/>
        </p:nvCxnSpPr>
        <p:spPr>
          <a:xfrm rot="5400000" flipH="1" flipV="1">
            <a:off x="4409719" y="3125827"/>
            <a:ext cx="569437" cy="1399334"/>
          </a:xfrm>
          <a:prstGeom prst="bentConnector3">
            <a:avLst>
              <a:gd name="adj1" fmla="val 6396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11">
            <a:extLst>
              <a:ext uri="{FF2B5EF4-FFF2-40B4-BE49-F238E27FC236}">
                <a16:creationId xmlns:a16="http://schemas.microsoft.com/office/drawing/2014/main" id="{8E6643BE-0F91-3A45-9D19-A28E5A45DD7E}"/>
              </a:ext>
            </a:extLst>
          </p:cNvPr>
          <p:cNvCxnSpPr>
            <a:cxnSpLocks/>
            <a:stCxn id="18" idx="0"/>
            <a:endCxn id="27" idx="2"/>
          </p:cNvCxnSpPr>
          <p:nvPr/>
        </p:nvCxnSpPr>
        <p:spPr>
          <a:xfrm rot="5400000" flipH="1" flipV="1">
            <a:off x="5459219" y="3475661"/>
            <a:ext cx="569437" cy="699667"/>
          </a:xfrm>
          <a:prstGeom prst="bentConnector3">
            <a:avLst>
              <a:gd name="adj1" fmla="val 31382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11">
            <a:extLst>
              <a:ext uri="{FF2B5EF4-FFF2-40B4-BE49-F238E27FC236}">
                <a16:creationId xmlns:a16="http://schemas.microsoft.com/office/drawing/2014/main" id="{4728514E-B2D5-DF4C-8024-34435634B0A9}"/>
              </a:ext>
            </a:extLst>
          </p:cNvPr>
          <p:cNvCxnSpPr>
            <a:cxnSpLocks/>
          </p:cNvCxnSpPr>
          <p:nvPr/>
        </p:nvCxnSpPr>
        <p:spPr>
          <a:xfrm>
            <a:off x="3851920" y="3540775"/>
            <a:ext cx="0" cy="569437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11">
            <a:extLst>
              <a:ext uri="{FF2B5EF4-FFF2-40B4-BE49-F238E27FC236}">
                <a16:creationId xmlns:a16="http://schemas.microsoft.com/office/drawing/2014/main" id="{D678F558-B613-8041-8E6A-AFFD64DDDD5C}"/>
              </a:ext>
            </a:extLst>
          </p:cNvPr>
          <p:cNvCxnSpPr>
            <a:cxnSpLocks/>
          </p:cNvCxnSpPr>
          <p:nvPr/>
        </p:nvCxnSpPr>
        <p:spPr>
          <a:xfrm>
            <a:off x="5292080" y="3540775"/>
            <a:ext cx="0" cy="569437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11">
            <a:extLst>
              <a:ext uri="{FF2B5EF4-FFF2-40B4-BE49-F238E27FC236}">
                <a16:creationId xmlns:a16="http://schemas.microsoft.com/office/drawing/2014/main" id="{7B18EDDD-2F3F-434F-AC96-EAABF6FC4BD8}"/>
              </a:ext>
            </a:extLst>
          </p:cNvPr>
          <p:cNvCxnSpPr>
            <a:cxnSpLocks/>
          </p:cNvCxnSpPr>
          <p:nvPr/>
        </p:nvCxnSpPr>
        <p:spPr>
          <a:xfrm>
            <a:off x="5940152" y="3540775"/>
            <a:ext cx="0" cy="569437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676A5D0-50E2-4E4F-A38E-4C6067DC9107}"/>
              </a:ext>
            </a:extLst>
          </p:cNvPr>
          <p:cNvSpPr txBox="1"/>
          <p:nvPr/>
        </p:nvSpPr>
        <p:spPr>
          <a:xfrm>
            <a:off x="4233071" y="1810778"/>
            <a:ext cx="4314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OSHW.TXT</a:t>
            </a:r>
            <a:r>
              <a:rPr lang="zh-CN" altLang="en-US" dirty="0"/>
              <a:t>文件的数据保存在簇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363064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75C0-EDD5-A846-9EB6-137D2AE1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en-US" altLang="zh-CN" dirty="0"/>
              <a:t>32</a:t>
            </a:r>
            <a:r>
              <a:rPr lang="zh-CN" altLang="en-US" dirty="0"/>
              <a:t>中的目录项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26B05-E452-A744-ACC5-F0488EE4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EC68-0C42-E74C-A80D-20E4A5D3A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72C062E-8904-6B41-B787-7505476882CF}"/>
              </a:ext>
            </a:extLst>
          </p:cNvPr>
          <p:cNvGrpSpPr/>
          <p:nvPr/>
        </p:nvGrpSpPr>
        <p:grpSpPr>
          <a:xfrm>
            <a:off x="579112" y="3510213"/>
            <a:ext cx="7985775" cy="1197214"/>
            <a:chOff x="742221" y="1476524"/>
            <a:chExt cx="7985775" cy="119721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8CFCEA4-507F-3947-A37E-5D414D6067B9}"/>
                </a:ext>
              </a:extLst>
            </p:cNvPr>
            <p:cNvSpPr/>
            <p:nvPr/>
          </p:nvSpPr>
          <p:spPr>
            <a:xfrm>
              <a:off x="75204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CA68B9-4F37-1845-B687-EE17E32B8940}"/>
                </a:ext>
              </a:extLst>
            </p:cNvPr>
            <p:cNvSpPr/>
            <p:nvPr/>
          </p:nvSpPr>
          <p:spPr>
            <a:xfrm>
              <a:off x="981788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08669A-5F6D-4942-9381-90AA765758E7}"/>
                </a:ext>
              </a:extLst>
            </p:cNvPr>
            <p:cNvSpPr/>
            <p:nvPr/>
          </p:nvSpPr>
          <p:spPr>
            <a:xfrm>
              <a:off x="1211534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9B3CEEF-4F5C-4B4A-8782-3DD270560997}"/>
                </a:ext>
              </a:extLst>
            </p:cNvPr>
            <p:cNvSpPr/>
            <p:nvPr/>
          </p:nvSpPr>
          <p:spPr>
            <a:xfrm>
              <a:off x="144128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33A499-B9DA-9346-809E-B122EB0EB2D0}"/>
                </a:ext>
              </a:extLst>
            </p:cNvPr>
            <p:cNvSpPr/>
            <p:nvPr/>
          </p:nvSpPr>
          <p:spPr>
            <a:xfrm>
              <a:off x="1671027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5044B4-F4E0-E649-8CF9-BD80F4FEADA3}"/>
                </a:ext>
              </a:extLst>
            </p:cNvPr>
            <p:cNvSpPr/>
            <p:nvPr/>
          </p:nvSpPr>
          <p:spPr>
            <a:xfrm>
              <a:off x="190077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8B11478-6FB4-CD42-8016-CD29215328CB}"/>
                </a:ext>
              </a:extLst>
            </p:cNvPr>
            <p:cNvSpPr/>
            <p:nvPr/>
          </p:nvSpPr>
          <p:spPr>
            <a:xfrm>
              <a:off x="213051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BD9454-976F-9B4D-ACF3-96D45DAEB91C}"/>
                </a:ext>
              </a:extLst>
            </p:cNvPr>
            <p:cNvSpPr/>
            <p:nvPr/>
          </p:nvSpPr>
          <p:spPr>
            <a:xfrm>
              <a:off x="2360266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AAE853D-B9BA-D248-B338-E22373A20AF3}"/>
                </a:ext>
              </a:extLst>
            </p:cNvPr>
            <p:cNvSpPr/>
            <p:nvPr/>
          </p:nvSpPr>
          <p:spPr>
            <a:xfrm>
              <a:off x="259001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0468D18-3DE3-3B49-B1AE-552EFC3935E3}"/>
                </a:ext>
              </a:extLst>
            </p:cNvPr>
            <p:cNvSpPr/>
            <p:nvPr/>
          </p:nvSpPr>
          <p:spPr>
            <a:xfrm>
              <a:off x="281975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B3D5EB-0E84-A749-97B9-1D9A00B56F13}"/>
                </a:ext>
              </a:extLst>
            </p:cNvPr>
            <p:cNvSpPr/>
            <p:nvPr/>
          </p:nvSpPr>
          <p:spPr>
            <a:xfrm>
              <a:off x="3049506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70CCDD3-92BD-3B45-B136-61A2D65B4F9C}"/>
                </a:ext>
              </a:extLst>
            </p:cNvPr>
            <p:cNvSpPr/>
            <p:nvPr/>
          </p:nvSpPr>
          <p:spPr>
            <a:xfrm>
              <a:off x="3279252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DD6254C-7B2F-7044-8C80-E0D88E2DE6B2}"/>
                </a:ext>
              </a:extLst>
            </p:cNvPr>
            <p:cNvSpPr/>
            <p:nvPr/>
          </p:nvSpPr>
          <p:spPr>
            <a:xfrm>
              <a:off x="350899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E750273-CFE7-5D4D-B62D-C606052B9389}"/>
                </a:ext>
              </a:extLst>
            </p:cNvPr>
            <p:cNvSpPr/>
            <p:nvPr/>
          </p:nvSpPr>
          <p:spPr>
            <a:xfrm>
              <a:off x="3738744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42E2865-A00C-2246-A3E4-EC3A08E20ECC}"/>
                </a:ext>
              </a:extLst>
            </p:cNvPr>
            <p:cNvSpPr/>
            <p:nvPr/>
          </p:nvSpPr>
          <p:spPr>
            <a:xfrm>
              <a:off x="396849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C0EF98B-C2F6-4C4B-981B-920F65AB66AF}"/>
                </a:ext>
              </a:extLst>
            </p:cNvPr>
            <p:cNvSpPr/>
            <p:nvPr/>
          </p:nvSpPr>
          <p:spPr>
            <a:xfrm>
              <a:off x="4198237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19429B0-7BB0-954A-8331-142441924C11}"/>
                </a:ext>
              </a:extLst>
            </p:cNvPr>
            <p:cNvSpPr/>
            <p:nvPr/>
          </p:nvSpPr>
          <p:spPr>
            <a:xfrm>
              <a:off x="442798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F67D8F2-B74E-BF4A-BC32-655AE4E38885}"/>
                </a:ext>
              </a:extLst>
            </p:cNvPr>
            <p:cNvSpPr/>
            <p:nvPr/>
          </p:nvSpPr>
          <p:spPr>
            <a:xfrm>
              <a:off x="4657730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BAA5652-F11E-8944-A170-A2ED4FD0D9B6}"/>
                </a:ext>
              </a:extLst>
            </p:cNvPr>
            <p:cNvSpPr/>
            <p:nvPr/>
          </p:nvSpPr>
          <p:spPr>
            <a:xfrm>
              <a:off x="4887476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429F2E-B9F7-FB49-AE1D-886FE3073B69}"/>
                </a:ext>
              </a:extLst>
            </p:cNvPr>
            <p:cNvSpPr/>
            <p:nvPr/>
          </p:nvSpPr>
          <p:spPr>
            <a:xfrm>
              <a:off x="511722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EFA0C63-BE5B-7C49-B6E7-4AA9A59A03E4}"/>
                </a:ext>
              </a:extLst>
            </p:cNvPr>
            <p:cNvSpPr/>
            <p:nvPr/>
          </p:nvSpPr>
          <p:spPr>
            <a:xfrm>
              <a:off x="534696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F3AB41F-8001-8644-903C-31A69F6D503F}"/>
                </a:ext>
              </a:extLst>
            </p:cNvPr>
            <p:cNvSpPr/>
            <p:nvPr/>
          </p:nvSpPr>
          <p:spPr>
            <a:xfrm>
              <a:off x="5576715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B53CF1F-C3E4-BD47-A52D-C9662E91D209}"/>
                </a:ext>
              </a:extLst>
            </p:cNvPr>
            <p:cNvSpPr/>
            <p:nvPr/>
          </p:nvSpPr>
          <p:spPr>
            <a:xfrm>
              <a:off x="580646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E491C79-84F2-B340-8CDE-A55F17C6A229}"/>
                </a:ext>
              </a:extLst>
            </p:cNvPr>
            <p:cNvSpPr/>
            <p:nvPr/>
          </p:nvSpPr>
          <p:spPr>
            <a:xfrm>
              <a:off x="6036208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6183C3A-A5FB-1645-830C-5AF9BF1AF5A9}"/>
                </a:ext>
              </a:extLst>
            </p:cNvPr>
            <p:cNvSpPr/>
            <p:nvPr/>
          </p:nvSpPr>
          <p:spPr>
            <a:xfrm>
              <a:off x="6265955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2A585BF-5924-1F48-B95D-F08AC800B204}"/>
                </a:ext>
              </a:extLst>
            </p:cNvPr>
            <p:cNvSpPr/>
            <p:nvPr/>
          </p:nvSpPr>
          <p:spPr>
            <a:xfrm>
              <a:off x="649570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565613D-84AF-C445-8107-E0A68D405EF3}"/>
                </a:ext>
              </a:extLst>
            </p:cNvPr>
            <p:cNvSpPr/>
            <p:nvPr/>
          </p:nvSpPr>
          <p:spPr>
            <a:xfrm>
              <a:off x="6725448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6523017-91D9-4344-A206-5FD241498A2F}"/>
                </a:ext>
              </a:extLst>
            </p:cNvPr>
            <p:cNvSpPr/>
            <p:nvPr/>
          </p:nvSpPr>
          <p:spPr>
            <a:xfrm>
              <a:off x="6955194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6AEF30F-5C1D-4D48-9060-3576AF3683F4}"/>
                </a:ext>
              </a:extLst>
            </p:cNvPr>
            <p:cNvSpPr/>
            <p:nvPr/>
          </p:nvSpPr>
          <p:spPr>
            <a:xfrm>
              <a:off x="7184941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3106507-3E47-0544-B489-023800605B18}"/>
                </a:ext>
              </a:extLst>
            </p:cNvPr>
            <p:cNvSpPr/>
            <p:nvPr/>
          </p:nvSpPr>
          <p:spPr>
            <a:xfrm>
              <a:off x="7414686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42AFC15-5AA6-6044-8504-5C0DA91AA798}"/>
                </a:ext>
              </a:extLst>
            </p:cNvPr>
            <p:cNvSpPr/>
            <p:nvPr/>
          </p:nvSpPr>
          <p:spPr>
            <a:xfrm>
              <a:off x="7644433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0D18EA9-F5B5-ED44-9228-052A43F35B6C}"/>
                </a:ext>
              </a:extLst>
            </p:cNvPr>
            <p:cNvSpPr/>
            <p:nvPr/>
          </p:nvSpPr>
          <p:spPr>
            <a:xfrm>
              <a:off x="7874179" y="1849388"/>
              <a:ext cx="229747" cy="432048"/>
            </a:xfrm>
            <a:prstGeom prst="rect">
              <a:avLst/>
            </a:prstGeom>
            <a:ln w="635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10D4687-0811-7C46-86C9-DAC8AE4680C5}"/>
                </a:ext>
              </a:extLst>
            </p:cNvPr>
            <p:cNvSpPr/>
            <p:nvPr/>
          </p:nvSpPr>
          <p:spPr>
            <a:xfrm>
              <a:off x="742221" y="1845856"/>
              <a:ext cx="2527211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BE5380C-9751-2C40-BC1A-83BB580E951F}"/>
                </a:ext>
              </a:extLst>
            </p:cNvPr>
            <p:cNvSpPr txBox="1"/>
            <p:nvPr/>
          </p:nvSpPr>
          <p:spPr>
            <a:xfrm>
              <a:off x="1397687" y="1479173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短文件名</a:t>
              </a:r>
              <a:endParaRPr lang="en-CN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EC313EB-9C28-2847-B281-6C95EA91478A}"/>
                </a:ext>
              </a:extLst>
            </p:cNvPr>
            <p:cNvSpPr/>
            <p:nvPr/>
          </p:nvSpPr>
          <p:spPr>
            <a:xfrm>
              <a:off x="7184941" y="1848505"/>
              <a:ext cx="918985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4412B6-49AA-2541-A161-70A7B9DB4DD7}"/>
                </a:ext>
              </a:extLst>
            </p:cNvPr>
            <p:cNvSpPr txBox="1"/>
            <p:nvPr/>
          </p:nvSpPr>
          <p:spPr>
            <a:xfrm>
              <a:off x="7620000" y="1478856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文件</a:t>
              </a:r>
              <a:r>
                <a:rPr lang="zh-CN" altLang="en-US" dirty="0"/>
                <a:t>大小</a:t>
              </a:r>
              <a:endParaRPr lang="en-CN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BC8FB2-076E-AA45-90EF-1D08FFF44BE3}"/>
                </a:ext>
              </a:extLst>
            </p:cNvPr>
            <p:cNvSpPr/>
            <p:nvPr/>
          </p:nvSpPr>
          <p:spPr>
            <a:xfrm>
              <a:off x="6728018" y="1847622"/>
              <a:ext cx="459493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D13ECC1-42F0-EE4E-93D7-1721A4793F99}"/>
                </a:ext>
              </a:extLst>
            </p:cNvPr>
            <p:cNvSpPr txBox="1"/>
            <p:nvPr/>
          </p:nvSpPr>
          <p:spPr>
            <a:xfrm>
              <a:off x="6268621" y="2304406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簇号</a:t>
              </a:r>
              <a:r>
                <a:rPr lang="zh-CN" altLang="en-US" dirty="0"/>
                <a:t>（低位）</a:t>
              </a:r>
              <a:endParaRPr lang="en-CN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0A3EC66-57C0-3D42-8325-BEEFDFA4293A}"/>
                </a:ext>
              </a:extLst>
            </p:cNvPr>
            <p:cNvSpPr/>
            <p:nvPr/>
          </p:nvSpPr>
          <p:spPr>
            <a:xfrm>
              <a:off x="5344396" y="1847622"/>
              <a:ext cx="459493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908242F-9FFB-8047-A39B-251633CDB9BC}"/>
                </a:ext>
              </a:extLst>
            </p:cNvPr>
            <p:cNvSpPr txBox="1"/>
            <p:nvPr/>
          </p:nvSpPr>
          <p:spPr>
            <a:xfrm>
              <a:off x="4977448" y="1476524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簇号</a:t>
              </a:r>
              <a:r>
                <a:rPr lang="zh-CN" altLang="en-US" dirty="0"/>
                <a:t>（高位）</a:t>
              </a:r>
              <a:endParaRPr lang="en-CN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E99D41C-75F4-9D46-B82F-F950A2599430}"/>
                </a:ext>
              </a:extLst>
            </p:cNvPr>
            <p:cNvSpPr/>
            <p:nvPr/>
          </p:nvSpPr>
          <p:spPr>
            <a:xfrm>
              <a:off x="3274755" y="1845856"/>
              <a:ext cx="233601" cy="43204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074D69C-9EC5-C741-A01B-7561BEC002F7}"/>
                </a:ext>
              </a:extLst>
            </p:cNvPr>
            <p:cNvSpPr txBox="1"/>
            <p:nvPr/>
          </p:nvSpPr>
          <p:spPr>
            <a:xfrm>
              <a:off x="3131851" y="147652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属性</a:t>
              </a:r>
              <a:endParaRPr lang="en-CN" dirty="0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4482158-E7F4-A049-BA54-DA013CA25B23}"/>
              </a:ext>
            </a:extLst>
          </p:cNvPr>
          <p:cNvSpPr txBox="1"/>
          <p:nvPr/>
        </p:nvSpPr>
        <p:spPr>
          <a:xfrm>
            <a:off x="539552" y="2079030"/>
            <a:ext cx="7167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四种</a:t>
            </a:r>
            <a:r>
              <a:rPr lang="zh-CN" altLang="en-US" dirty="0"/>
              <a:t>目录项：</a:t>
            </a:r>
            <a:endParaRPr lang="en-US" altLang="zh-CN" dirty="0"/>
          </a:p>
          <a:p>
            <a:pPr lvl="1"/>
            <a:r>
              <a:rPr lang="zh-CN" altLang="en-US" dirty="0"/>
              <a:t>短文件名目录项、长文件名目录项、卷标目录项、</a:t>
            </a:r>
            <a:r>
              <a:rPr lang="en-US" altLang="zh-CN" dirty="0"/>
              <a:t>"."</a:t>
            </a:r>
            <a:r>
              <a:rPr lang="zh-CN" altLang="en-US" dirty="0"/>
              <a:t>和</a:t>
            </a:r>
            <a:r>
              <a:rPr lang="en-US" altLang="zh-CN" dirty="0"/>
              <a:t>".."</a:t>
            </a:r>
            <a:r>
              <a:rPr lang="zh-CN" altLang="en-US" dirty="0"/>
              <a:t>目录项</a:t>
            </a:r>
            <a:endParaRPr lang="en-US" altLang="zh-CN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9AC904-3956-D248-B2D4-415D40A7C8F2}"/>
              </a:ext>
            </a:extLst>
          </p:cNvPr>
          <p:cNvSpPr txBox="1"/>
          <p:nvPr/>
        </p:nvSpPr>
        <p:spPr>
          <a:xfrm>
            <a:off x="539739" y="1201316"/>
            <a:ext cx="6878806" cy="873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目录同样是一种（特殊的）文件 </a:t>
            </a:r>
            <a:r>
              <a:rPr lang="en-US" altLang="zh-CN" dirty="0"/>
              <a:t>——</a:t>
            </a:r>
            <a:r>
              <a:rPr lang="zh-CN" altLang="en-US" dirty="0"/>
              <a:t> 与基于</a:t>
            </a:r>
            <a:r>
              <a:rPr lang="en-US" altLang="zh-CN" dirty="0" err="1"/>
              <a:t>inode</a:t>
            </a:r>
            <a:r>
              <a:rPr lang="zh-CN" altLang="en-US" dirty="0"/>
              <a:t>的文件系统一样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目录文件包含若干个目录项，每个目录项记录</a:t>
            </a:r>
            <a:r>
              <a:rPr lang="en-US" altLang="zh-CN" dirty="0"/>
              <a:t>32</a:t>
            </a:r>
            <a:r>
              <a:rPr lang="zh-CN" altLang="en-US" dirty="0"/>
              <a:t>个字节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994977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75C0-EDD5-A846-9EB6-137D2AE1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FAT</a:t>
            </a:r>
            <a:r>
              <a:rPr lang="en-US" altLang="zh-CN" dirty="0"/>
              <a:t>32</a:t>
            </a:r>
            <a:r>
              <a:rPr lang="zh-CN" altLang="en-US" dirty="0"/>
              <a:t>中的目录项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26B05-E452-A744-ACC5-F0488EE47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EC68-0C42-E74C-A80D-20E4A5D3A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0" name="Picture 2" descr="D:\Work\TA\OS\OS-SS07\slides\fat.gif">
            <a:extLst>
              <a:ext uri="{FF2B5EF4-FFF2-40B4-BE49-F238E27FC236}">
                <a16:creationId xmlns:a16="http://schemas.microsoft.com/office/drawing/2014/main" id="{F991AAB4-A9CA-684C-BE7C-8EB0B5FEF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0" y="1606021"/>
            <a:ext cx="5969000" cy="3546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" name="Rectangle 5">
            <a:extLst>
              <a:ext uri="{FF2B5EF4-FFF2-40B4-BE49-F238E27FC236}">
                <a16:creationId xmlns:a16="http://schemas.microsoft.com/office/drawing/2014/main" id="{FB3624CB-7AFC-C540-AA66-E7102419ABB4}"/>
              </a:ext>
            </a:extLst>
          </p:cNvPr>
          <p:cNvSpPr/>
          <p:nvPr/>
        </p:nvSpPr>
        <p:spPr>
          <a:xfrm>
            <a:off x="5080000" y="1860021"/>
            <a:ext cx="381000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zh-CN" sz="1500">
              <a:solidFill>
                <a:srgbClr val="FFFFFF"/>
              </a:solidFill>
              <a:ea typeface="MS PGothic" pitchFamily="34" charset="-128"/>
            </a:endParaRPr>
          </a:p>
        </p:txBody>
      </p:sp>
      <p:sp>
        <p:nvSpPr>
          <p:cNvPr id="64" name="Rectangle 6">
            <a:extLst>
              <a:ext uri="{FF2B5EF4-FFF2-40B4-BE49-F238E27FC236}">
                <a16:creationId xmlns:a16="http://schemas.microsoft.com/office/drawing/2014/main" id="{F9A905A1-260D-E145-B5F0-0497B05023E1}"/>
              </a:ext>
            </a:extLst>
          </p:cNvPr>
          <p:cNvSpPr/>
          <p:nvPr/>
        </p:nvSpPr>
        <p:spPr>
          <a:xfrm>
            <a:off x="5080000" y="2803261"/>
            <a:ext cx="381000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zh-CN" sz="1500">
              <a:solidFill>
                <a:srgbClr val="FFFFFF"/>
              </a:solidFill>
              <a:ea typeface="MS PGothic" pitchFamily="34" charset="-128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DA690202-EBBE-2346-ACBF-CECC7A31A883}"/>
              </a:ext>
            </a:extLst>
          </p:cNvPr>
          <p:cNvSpPr/>
          <p:nvPr/>
        </p:nvSpPr>
        <p:spPr>
          <a:xfrm>
            <a:off x="5080000" y="3755761"/>
            <a:ext cx="381000" cy="5715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altLang="zh-CN" sz="1500">
              <a:solidFill>
                <a:srgbClr val="FFFFFF"/>
              </a:solidFill>
              <a:ea typeface="MS PGothic" pitchFamily="34" charset="-128"/>
            </a:endParaRPr>
          </a:p>
        </p:txBody>
      </p:sp>
      <p:cxnSp>
        <p:nvCxnSpPr>
          <p:cNvPr id="66" name="Straight Arrow Connector 9">
            <a:extLst>
              <a:ext uri="{FF2B5EF4-FFF2-40B4-BE49-F238E27FC236}">
                <a16:creationId xmlns:a16="http://schemas.microsoft.com/office/drawing/2014/main" id="{1300ABBC-B083-414D-9F32-DC9E349FA99A}"/>
              </a:ext>
            </a:extLst>
          </p:cNvPr>
          <p:cNvCxnSpPr>
            <a:endCxn id="68" idx="0"/>
          </p:cNvCxnSpPr>
          <p:nvPr/>
        </p:nvCxnSpPr>
        <p:spPr>
          <a:xfrm flipH="1">
            <a:off x="3619500" y="3374761"/>
            <a:ext cx="1460500" cy="1651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10">
            <a:extLst>
              <a:ext uri="{FF2B5EF4-FFF2-40B4-BE49-F238E27FC236}">
                <a16:creationId xmlns:a16="http://schemas.microsoft.com/office/drawing/2014/main" id="{7AD2ABFD-B886-834B-9D11-0C20F8468F4E}"/>
              </a:ext>
            </a:extLst>
          </p:cNvPr>
          <p:cNvCxnSpPr>
            <a:endCxn id="68" idx="0"/>
          </p:cNvCxnSpPr>
          <p:nvPr/>
        </p:nvCxnSpPr>
        <p:spPr>
          <a:xfrm flipH="1">
            <a:off x="3619500" y="2422261"/>
            <a:ext cx="1460500" cy="26035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13">
            <a:extLst>
              <a:ext uri="{FF2B5EF4-FFF2-40B4-BE49-F238E27FC236}">
                <a16:creationId xmlns:a16="http://schemas.microsoft.com/office/drawing/2014/main" id="{BAA01040-1A12-954E-B25C-5F94B34F5C1D}"/>
              </a:ext>
            </a:extLst>
          </p:cNvPr>
          <p:cNvSpPr txBox="1"/>
          <p:nvPr/>
        </p:nvSpPr>
        <p:spPr>
          <a:xfrm>
            <a:off x="2436241" y="5025761"/>
            <a:ext cx="2366518" cy="55399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500" b="1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long file name</a:t>
            </a:r>
          </a:p>
        </p:txBody>
      </p:sp>
      <p:sp>
        <p:nvSpPr>
          <p:cNvPr id="69" name="TextBox 14">
            <a:extLst>
              <a:ext uri="{FF2B5EF4-FFF2-40B4-BE49-F238E27FC236}">
                <a16:creationId xmlns:a16="http://schemas.microsoft.com/office/drawing/2014/main" id="{BACF23FD-CA96-A048-84CF-1A93D5FD61D6}"/>
              </a:ext>
            </a:extLst>
          </p:cNvPr>
          <p:cNvSpPr txBox="1"/>
          <p:nvPr/>
        </p:nvSpPr>
        <p:spPr>
          <a:xfrm>
            <a:off x="4934204" y="5025761"/>
            <a:ext cx="2704592" cy="32316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500" b="1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short file name</a:t>
            </a:r>
          </a:p>
        </p:txBody>
      </p:sp>
      <p:cxnSp>
        <p:nvCxnSpPr>
          <p:cNvPr id="70" name="Straight Arrow Connector 19">
            <a:extLst>
              <a:ext uri="{FF2B5EF4-FFF2-40B4-BE49-F238E27FC236}">
                <a16:creationId xmlns:a16="http://schemas.microsoft.com/office/drawing/2014/main" id="{A22BEA27-9B5C-5C4A-9A77-F34FA6B6E7EF}"/>
              </a:ext>
            </a:extLst>
          </p:cNvPr>
          <p:cNvCxnSpPr/>
          <p:nvPr/>
        </p:nvCxnSpPr>
        <p:spPr>
          <a:xfrm rot="16200000" flipH="1">
            <a:off x="5365750" y="4422511"/>
            <a:ext cx="762000" cy="5715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22">
            <a:extLst>
              <a:ext uri="{FF2B5EF4-FFF2-40B4-BE49-F238E27FC236}">
                <a16:creationId xmlns:a16="http://schemas.microsoft.com/office/drawing/2014/main" id="{C81E956A-3DA8-014B-A021-428C3439EC02}"/>
              </a:ext>
            </a:extLst>
          </p:cNvPr>
          <p:cNvSpPr txBox="1"/>
          <p:nvPr/>
        </p:nvSpPr>
        <p:spPr>
          <a:xfrm>
            <a:off x="1016000" y="1079501"/>
            <a:ext cx="6731000" cy="3231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en-US" altLang="zh-CN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e.g. file with </a:t>
            </a:r>
            <a:r>
              <a:rPr lang="ja-JP" alt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“</a:t>
            </a:r>
            <a:r>
              <a:rPr lang="en-US" altLang="zh-CN" sz="1500" b="1" u="sng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The quick brown.fox</a:t>
            </a:r>
            <a:r>
              <a:rPr lang="ja-JP" alt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”</a:t>
            </a:r>
            <a:r>
              <a:rPr lang="en-US" altLang="zh-CN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 and </a:t>
            </a:r>
            <a:r>
              <a:rPr lang="ja-JP" alt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“</a:t>
            </a:r>
            <a:r>
              <a:rPr lang="en-US" altLang="zh-CN" sz="1500" b="1" u="sng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Thequi~1.fox</a:t>
            </a:r>
            <a:r>
              <a:rPr lang="ja-JP" altLang="en-US" sz="15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MS PGothic" pitchFamily="34" charset="-128"/>
                <a:cs typeface="Courier New" pitchFamily="49" charset="0"/>
              </a:rPr>
              <a:t>”</a:t>
            </a:r>
            <a:endParaRPr lang="en-US" altLang="zh-CN" sz="1500" b="1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ea typeface="MS PGothic" pitchFamily="34" charset="-128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2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3FA59F-E557-0346-B556-783E41ED4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如何生成短文件名？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51DBA7-E617-9747-8169-D2360A272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"The quick </a:t>
            </a:r>
            <a:r>
              <a:rPr lang="en-US" altLang="zh-CN" dirty="0" err="1"/>
              <a:t>brown.fox</a:t>
            </a:r>
            <a:r>
              <a:rPr lang="en-US" altLang="zh-CN" dirty="0"/>
              <a:t>"</a:t>
            </a:r>
            <a:r>
              <a:rPr lang="zh-CN" altLang="en-US" dirty="0"/>
              <a:t> </a:t>
            </a:r>
            <a:r>
              <a:rPr lang="en-US" altLang="zh-CN" dirty="0"/>
              <a:t>-&gt;</a:t>
            </a:r>
            <a:r>
              <a:rPr lang="zh-CN" altLang="en-US" dirty="0"/>
              <a:t> </a:t>
            </a:r>
            <a:r>
              <a:rPr lang="en-US" altLang="zh-CN" dirty="0"/>
              <a:t>"Thequi~1.fox"</a:t>
            </a:r>
          </a:p>
          <a:p>
            <a:r>
              <a:rPr lang="zh-CN" altLang="en-US" dirty="0"/>
              <a:t>如果后一个文件已经存在，怎么办？</a:t>
            </a:r>
            <a:endParaRPr lang="en-US" altLang="zh-CN" dirty="0"/>
          </a:p>
          <a:p>
            <a:pPr lvl="1"/>
            <a:r>
              <a:rPr lang="zh-CN" altLang="en-US" dirty="0"/>
              <a:t>尝试：</a:t>
            </a:r>
            <a:r>
              <a:rPr lang="en-US" altLang="zh-CN" dirty="0"/>
              <a:t>THEQUI~2FOX</a:t>
            </a:r>
          </a:p>
          <a:p>
            <a:pPr lvl="1"/>
            <a:r>
              <a:rPr lang="zh-CN" altLang="en-US" dirty="0"/>
              <a:t>若还冲突，则尝试：</a:t>
            </a:r>
            <a:r>
              <a:rPr lang="en-US" altLang="zh-CN" dirty="0"/>
              <a:t>THEQUI~3FOX</a:t>
            </a:r>
          </a:p>
          <a:p>
            <a:pPr lvl="1"/>
            <a:r>
              <a:rPr lang="zh-CN" altLang="en-US" dirty="0"/>
              <a:t>若还冲突，则尝试：</a:t>
            </a:r>
            <a:r>
              <a:rPr lang="en-US" altLang="zh-CN" dirty="0"/>
              <a:t> …</a:t>
            </a:r>
          </a:p>
          <a:p>
            <a:pPr lvl="1"/>
            <a:r>
              <a:rPr lang="zh-CN" altLang="en-US" dirty="0"/>
              <a:t>若还冲突，则尝试：</a:t>
            </a:r>
            <a:r>
              <a:rPr lang="en-US" altLang="zh-CN" dirty="0"/>
              <a:t>T~999999FOX</a:t>
            </a:r>
          </a:p>
          <a:p>
            <a:pPr lvl="1"/>
            <a:r>
              <a:rPr lang="zh-CN" altLang="en-US" dirty="0"/>
              <a:t>若还冲突，则报错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1D910D-A5DF-894F-81FE-72F08DD7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DA36BF-F786-BB49-8EB0-C410C09C2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36764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3116-9587-0443-AFFE-8BA188D7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思考时间</a:t>
            </a:r>
            <a:r>
              <a:rPr lang="en-US" altLang="zh-CN" dirty="0"/>
              <a:t>🤔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E8ED3-2B1A-1646-A483-15482E30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lang="en-US" sz="2000" b="0" dirty="0"/>
              <a:t>FAT</a:t>
            </a:r>
            <a:r>
              <a:rPr lang="en-US" altLang="zh-CN" sz="2000" b="0" dirty="0"/>
              <a:t>32</a:t>
            </a:r>
            <a:r>
              <a:rPr lang="zh-CN" altLang="en-US" sz="2000" b="0" dirty="0"/>
              <a:t>最大支持多大的单个文件？为什么？</a:t>
            </a:r>
            <a:endParaRPr lang="en-US" altLang="zh-CN" sz="2000" b="0" dirty="0"/>
          </a:p>
          <a:p>
            <a:r>
              <a:rPr lang="zh-CN" altLang="en-US" sz="2000" b="0" dirty="0"/>
              <a:t>应该如何扩展</a:t>
            </a:r>
            <a:r>
              <a:rPr lang="en-US" sz="2000" b="0" dirty="0"/>
              <a:t>FAT，</a:t>
            </a:r>
            <a:r>
              <a:rPr lang="zh-CN" altLang="en-US" sz="2000" b="0" dirty="0"/>
              <a:t>使其能支持更大的文件？</a:t>
            </a:r>
          </a:p>
          <a:p>
            <a:r>
              <a:rPr lang="zh-CN" altLang="en-US" sz="2000" b="0" dirty="0"/>
              <a:t>为什么</a:t>
            </a:r>
            <a:r>
              <a:rPr lang="en-US" sz="2000" b="0" dirty="0"/>
              <a:t>U</a:t>
            </a:r>
            <a:r>
              <a:rPr lang="zh-CN" altLang="en-US" sz="2000" b="0" dirty="0"/>
              <a:t>盘一般用</a:t>
            </a:r>
            <a:r>
              <a:rPr lang="en-US" sz="2000" b="0" dirty="0"/>
              <a:t>FAT？</a:t>
            </a:r>
          </a:p>
          <a:p>
            <a:r>
              <a:rPr lang="zh-CN" altLang="en-US" sz="2000" b="0" dirty="0"/>
              <a:t>为什么</a:t>
            </a:r>
            <a:r>
              <a:rPr lang="en-US" sz="2000" b="0" dirty="0"/>
              <a:t>FAT</a:t>
            </a:r>
            <a:r>
              <a:rPr lang="zh-CN" altLang="en-US" sz="2000" b="0" dirty="0"/>
              <a:t>不支持</a:t>
            </a:r>
            <a:r>
              <a:rPr lang="en-US" sz="2000" b="0" dirty="0"/>
              <a:t>link</a:t>
            </a:r>
            <a:r>
              <a:rPr lang="zh-CN" altLang="en-US" sz="2000" b="0" dirty="0"/>
              <a:t>（硬链接）</a:t>
            </a:r>
            <a:r>
              <a:rPr lang="en-US" sz="2000" b="0" dirty="0"/>
              <a:t>？</a:t>
            </a:r>
          </a:p>
          <a:p>
            <a:r>
              <a:rPr lang="zh-CN" altLang="en-US" sz="2000" b="0" dirty="0"/>
              <a:t>为什么有时候会出现这样的错误？</a:t>
            </a:r>
            <a:endParaRPr lang="en-US" altLang="zh-CN" sz="2000" b="0" dirty="0"/>
          </a:p>
          <a:p>
            <a:r>
              <a:rPr lang="zh-CN" altLang="en-US" sz="2000" b="0" dirty="0"/>
              <a:t>为什么</a:t>
            </a:r>
            <a:r>
              <a:rPr lang="en-US" altLang="zh-CN" sz="2000" b="0" dirty="0"/>
              <a:t>FAT</a:t>
            </a:r>
            <a:r>
              <a:rPr lang="zh-CN" altLang="en-US" sz="2000" b="0" dirty="0"/>
              <a:t>会有大量的随机读写？</a:t>
            </a:r>
            <a:endParaRPr lang="en-US" altLang="zh-CN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72C4-8B7C-104B-AEEC-505125FE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65B81-5665-C949-A303-D8E7D88F9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1026" name="Picture 2" descr="corrupted image example">
            <a:extLst>
              <a:ext uri="{FF2B5EF4-FFF2-40B4-BE49-F238E27FC236}">
                <a16:creationId xmlns:a16="http://schemas.microsoft.com/office/drawing/2014/main" id="{20C39393-EA22-B044-BF3D-D1F1EED7E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155" y="2689659"/>
            <a:ext cx="2702645" cy="169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6127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AA1A-86CD-A649-AEB1-C9E75DED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思考：磁盘碎片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49B6B-334F-604B-9A50-CDBDFD535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US" b="0" dirty="0"/>
              <a:t>磁盘碎片是如何产生的？</a:t>
            </a:r>
            <a:endParaRPr lang="en-US" altLang="zh-CN" b="0" dirty="0"/>
          </a:p>
          <a:p>
            <a:pPr lvl="1"/>
            <a:r>
              <a:rPr lang="zh-CN" altLang="en-US" dirty="0"/>
              <a:t>思考场景：增大一个文件</a:t>
            </a:r>
            <a:endParaRPr lang="en-US" altLang="zh-CN" b="0" dirty="0"/>
          </a:p>
          <a:p>
            <a:pPr lvl="1"/>
            <a:r>
              <a:rPr lang="zh-CN" altLang="en-US" b="0" dirty="0"/>
              <a:t>表现形式：磁盘使用块不连续</a:t>
            </a:r>
            <a:endParaRPr lang="en-US" altLang="zh-CN" b="0" dirty="0"/>
          </a:p>
          <a:p>
            <a:pPr lvl="1"/>
            <a:r>
              <a:rPr lang="zh-CN" altLang="en-US" b="0" dirty="0"/>
              <a:t>磁盘碎片会导致什么问题？</a:t>
            </a:r>
            <a:endParaRPr lang="en-US" altLang="zh-CN" b="0" dirty="0"/>
          </a:p>
          <a:p>
            <a:r>
              <a:rPr lang="zh-CN" altLang="en-US" b="0" dirty="0"/>
              <a:t>如何避免磁盘碎片？</a:t>
            </a:r>
            <a:endParaRPr lang="en-US" altLang="zh-CN" b="0" dirty="0"/>
          </a:p>
          <a:p>
            <a:pPr lvl="1"/>
            <a:r>
              <a:rPr lang="zh-CN" altLang="en-US" b="0" dirty="0"/>
              <a:t>做好磁盘的预留</a:t>
            </a:r>
            <a:endParaRPr lang="en-US" altLang="zh-CN" b="0" dirty="0"/>
          </a:p>
          <a:p>
            <a:pPr lvl="1"/>
            <a:r>
              <a:rPr lang="zh-CN" altLang="en-US" dirty="0"/>
              <a:t>利用内存缓存延迟写入磁盘</a:t>
            </a:r>
            <a:endParaRPr lang="en-US" altLang="zh-CN" dirty="0"/>
          </a:p>
          <a:p>
            <a:pPr lvl="2"/>
            <a:r>
              <a:rPr lang="zh-CN" altLang="en-US" b="0" dirty="0"/>
              <a:t>写入时尽可能整合在一起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4361-0DBE-AE43-8E8C-45F36883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0C30B-CD4D-F44B-B34A-5259FA4D6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2" descr="Windows优化大师之磁盘碎片整理_多特软件">
            <a:extLst>
              <a:ext uri="{FF2B5EF4-FFF2-40B4-BE49-F238E27FC236}">
                <a16:creationId xmlns:a16="http://schemas.microsoft.com/office/drawing/2014/main" id="{1ED07124-9D71-E846-B41F-A234C33565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1" t="1979" b="4641"/>
          <a:stretch/>
        </p:blipFill>
        <p:spPr bwMode="auto">
          <a:xfrm>
            <a:off x="6084168" y="1993404"/>
            <a:ext cx="2737573" cy="221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A844F71-5224-A542-A31E-79778150A690}"/>
              </a:ext>
            </a:extLst>
          </p:cNvPr>
          <p:cNvSpPr txBox="1"/>
          <p:nvPr/>
        </p:nvSpPr>
        <p:spPr>
          <a:xfrm>
            <a:off x="6005138" y="4287934"/>
            <a:ext cx="28956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dirty="0"/>
              <a:t>早期</a:t>
            </a:r>
            <a:r>
              <a:rPr lang="en-US" altLang="zh-CN" b="0" dirty="0"/>
              <a:t>Windows</a:t>
            </a:r>
            <a:r>
              <a:rPr lang="zh-CN" altLang="en-US" b="0" dirty="0"/>
              <a:t>的磁盘整理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69735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6AA1A-86CD-A649-AEB1-C9E75DED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exFAT</a:t>
            </a:r>
            <a:r>
              <a:rPr lang="zh-CN" altLang="en-US" dirty="0"/>
              <a:t> </a:t>
            </a:r>
            <a:r>
              <a:rPr lang="en-US" altLang="zh-CN" dirty="0"/>
              <a:t>Highlights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49B6B-334F-604B-9A50-CDBDFD535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>
            <a:normAutofit/>
          </a:bodyPr>
          <a:lstStyle/>
          <a:p>
            <a:r>
              <a:rPr lang="zh-CN" altLang="en-US" sz="1800" b="0" dirty="0"/>
              <a:t>与</a:t>
            </a:r>
            <a:r>
              <a:rPr lang="en-US" altLang="zh-CN" sz="1800" b="0" dirty="0"/>
              <a:t>FAT32</a:t>
            </a:r>
            <a:r>
              <a:rPr lang="zh-CN" altLang="en-US" sz="1800" b="0" dirty="0"/>
              <a:t>并不兼容</a:t>
            </a:r>
            <a:endParaRPr lang="en-US" altLang="zh-CN" sz="1800" b="0" dirty="0"/>
          </a:p>
          <a:p>
            <a:r>
              <a:rPr lang="zh-CN" altLang="en-US" sz="1800" b="0" dirty="0"/>
              <a:t>使用</a:t>
            </a:r>
            <a:r>
              <a:rPr lang="en-US" altLang="zh-CN" sz="1800" b="0" dirty="0"/>
              <a:t>Bitmap</a:t>
            </a:r>
            <a:r>
              <a:rPr lang="zh-CN" altLang="en-US" sz="1800" b="0" dirty="0"/>
              <a:t>加快空间分配</a:t>
            </a:r>
            <a:endParaRPr lang="en-US" altLang="zh-CN" sz="1800" b="0" dirty="0"/>
          </a:p>
          <a:p>
            <a:r>
              <a:rPr lang="en-US" altLang="zh-CN" sz="1800" b="0" dirty="0"/>
              <a:t>Unicode</a:t>
            </a:r>
            <a:r>
              <a:rPr lang="zh-CN" altLang="en-US" sz="1800" b="0" dirty="0"/>
              <a:t>保存长文件名</a:t>
            </a:r>
            <a:endParaRPr lang="en-US" altLang="zh-CN" sz="1800" b="0" dirty="0"/>
          </a:p>
          <a:p>
            <a:r>
              <a:rPr lang="zh-CN" altLang="en-US" sz="1800" b="0" dirty="0"/>
              <a:t>允许</a:t>
            </a:r>
            <a:r>
              <a:rPr lang="en-US" altLang="zh-CN" sz="1800" b="0" dirty="0"/>
              <a:t>4GB</a:t>
            </a:r>
            <a:r>
              <a:rPr lang="zh-CN" altLang="en-US" sz="1800" b="0" dirty="0"/>
              <a:t>以上文件（新的目录项格式、文件大小用</a:t>
            </a:r>
            <a:r>
              <a:rPr lang="en-US" altLang="zh-CN" sz="1800" b="0" dirty="0"/>
              <a:t>8</a:t>
            </a:r>
            <a:r>
              <a:rPr lang="zh-CN" altLang="en-US" sz="1800" b="0" dirty="0"/>
              <a:t>个字节）</a:t>
            </a:r>
            <a:endParaRPr lang="en-US" altLang="zh-CN" sz="1800" b="0" dirty="0"/>
          </a:p>
          <a:p>
            <a:r>
              <a:rPr lang="zh-CN" altLang="en-US" sz="1800" b="0" dirty="0"/>
              <a:t>目录中查找文件时使用哈希对比</a:t>
            </a:r>
            <a:endParaRPr lang="en-US" altLang="zh-CN" sz="1800" b="0" dirty="0"/>
          </a:p>
          <a:p>
            <a:pPr lvl="1"/>
            <a:r>
              <a:rPr lang="zh-CN" altLang="en-US" sz="1400" dirty="0"/>
              <a:t>对文件名的大写形式做哈希</a:t>
            </a:r>
            <a:endParaRPr lang="en-US" altLang="zh-CN" sz="1400" dirty="0"/>
          </a:p>
          <a:p>
            <a:pPr lvl="1"/>
            <a:r>
              <a:rPr lang="zh-CN" altLang="en-US" sz="1400" b="0" dirty="0"/>
              <a:t>先匹配</a:t>
            </a:r>
            <a:r>
              <a:rPr lang="zh-CN" altLang="en-US" sz="1400" dirty="0"/>
              <a:t>哈希值</a:t>
            </a:r>
            <a:r>
              <a:rPr lang="zh-CN" altLang="en-US" sz="1400" b="0" dirty="0"/>
              <a:t>，再检查文件名防止冲突</a:t>
            </a:r>
            <a:endParaRPr lang="en-US" altLang="zh-CN" sz="1400" b="0" dirty="0"/>
          </a:p>
          <a:p>
            <a:endParaRPr lang="en-C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4361-0DBE-AE43-8E8C-45F36883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0C30B-CD4D-F44B-B34A-5259FA4D6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5E9C92-8DF0-3049-8A82-D4C11A688819}"/>
              </a:ext>
            </a:extLst>
          </p:cNvPr>
          <p:cNvSpPr txBox="1">
            <a:spLocks/>
          </p:cNvSpPr>
          <p:nvPr/>
        </p:nvSpPr>
        <p:spPr>
          <a:xfrm>
            <a:off x="4644008" y="1417638"/>
            <a:ext cx="4241842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0" dirty="0"/>
              <a:t>使用校验码保证元数据完整性</a:t>
            </a:r>
            <a:endParaRPr lang="en-US" altLang="zh-CN" sz="2000" b="0" dirty="0"/>
          </a:p>
          <a:p>
            <a:r>
              <a:rPr lang="zh-CN" altLang="en-US" sz="2000" b="0" dirty="0"/>
              <a:t>为闪存做优化</a:t>
            </a:r>
            <a:endParaRPr lang="en-US" altLang="zh-CN" sz="2000" b="0" dirty="0"/>
          </a:p>
          <a:p>
            <a:pPr lvl="1"/>
            <a:r>
              <a:rPr lang="zh-CN" altLang="en-US" sz="1800" dirty="0"/>
              <a:t>可调参数，与存储单元边界对齐</a:t>
            </a:r>
            <a:endParaRPr lang="en-US" altLang="zh-CN" sz="1800" dirty="0"/>
          </a:p>
          <a:p>
            <a:pPr lvl="1"/>
            <a:r>
              <a:rPr lang="en-US" altLang="zh-CN" sz="1800" dirty="0"/>
              <a:t>OEM</a:t>
            </a:r>
            <a:r>
              <a:rPr lang="zh-CN" altLang="en-US" sz="1800" dirty="0"/>
              <a:t>域</a:t>
            </a:r>
            <a:endParaRPr lang="en-US" altLang="zh-CN" sz="1800" dirty="0"/>
          </a:p>
          <a:p>
            <a:pPr lvl="1"/>
            <a:r>
              <a:rPr lang="zh-CN" altLang="en-US" sz="1800" dirty="0"/>
              <a:t>没有日志</a:t>
            </a:r>
            <a:endParaRPr lang="en-CN" sz="1800" dirty="0"/>
          </a:p>
        </p:txBody>
      </p:sp>
    </p:spTree>
    <p:extLst>
      <p:ext uri="{BB962C8B-B14F-4D97-AF65-F5344CB8AC3E}">
        <p14:creationId xmlns:p14="http://schemas.microsoft.com/office/powerpoint/2010/main" val="29093920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C159-C637-7E46-962B-7B79476E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CN" dirty="0"/>
              <a:t>基于</a:t>
            </a:r>
            <a:r>
              <a:rPr lang="zh-CN" altLang="en-US" dirty="0"/>
              <a:t>数据库的文件系统：</a:t>
            </a:r>
            <a:r>
              <a:rPr lang="en-US" altLang="zh-CN" dirty="0"/>
              <a:t>NTFS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89376-0627-6E4A-97E9-89BE05328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1DAE4-9434-7B40-8F7A-2B3ECB0F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B3240-9E12-874A-95F3-412791820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2547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AC2A-F8D1-FC44-9385-BFBEEC33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NTFS</a:t>
            </a:r>
            <a:r>
              <a:rPr lang="zh-CN" altLang="en-CN" dirty="0"/>
              <a:t>存储</a:t>
            </a:r>
            <a:r>
              <a:rPr lang="zh-CN" altLang="en-US" dirty="0"/>
              <a:t>布局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CA1A2-4EAC-9742-810E-8F99B2CE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A9A32-C8B9-054B-9833-298542710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171F1A-48FF-8241-A433-09F1C28B61C3}"/>
              </a:ext>
            </a:extLst>
          </p:cNvPr>
          <p:cNvSpPr/>
          <p:nvPr/>
        </p:nvSpPr>
        <p:spPr>
          <a:xfrm>
            <a:off x="523068" y="1410882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D3F700-34EF-1845-9F42-ABF83E6547E2}"/>
              </a:ext>
            </a:extLst>
          </p:cNvPr>
          <p:cNvSpPr/>
          <p:nvPr/>
        </p:nvSpPr>
        <p:spPr>
          <a:xfrm>
            <a:off x="1098934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21185-6B3B-AD43-93F1-48DD68C5A510}"/>
              </a:ext>
            </a:extLst>
          </p:cNvPr>
          <p:cNvSpPr/>
          <p:nvPr/>
        </p:nvSpPr>
        <p:spPr>
          <a:xfrm>
            <a:off x="4791730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r>
              <a:rPr lang="zh-CN" altLang="en-US" sz="1400" dirty="0"/>
              <a:t>（镜像）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A3B0B-68F1-8A49-B6D4-2ED3B6F3FBC2}"/>
              </a:ext>
            </a:extLst>
          </p:cNvPr>
          <p:cNvSpPr/>
          <p:nvPr/>
        </p:nvSpPr>
        <p:spPr>
          <a:xfrm>
            <a:off x="6087875" y="1410882"/>
            <a:ext cx="196460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33080-5E1C-9E4F-8B04-9FF0F54A78E6}"/>
              </a:ext>
            </a:extLst>
          </p:cNvPr>
          <p:cNvSpPr/>
          <p:nvPr/>
        </p:nvSpPr>
        <p:spPr>
          <a:xfrm>
            <a:off x="2199443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endParaRPr lang="en-CN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BCDF28-7969-D24E-ABA5-5D13E06FD733}"/>
              </a:ext>
            </a:extLst>
          </p:cNvPr>
          <p:cNvSpPr/>
          <p:nvPr/>
        </p:nvSpPr>
        <p:spPr>
          <a:xfrm>
            <a:off x="3299952" y="1410882"/>
            <a:ext cx="1491778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ACD2C536-ADD0-A643-B180-FAF24C469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384104"/>
            <a:ext cx="4648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400" b="1">
                <a:latin typeface="Verdana" pitchFamily="34" charset="0"/>
                <a:ea typeface="MS PGothic" pitchFamily="34" charset="-128"/>
              </a:rPr>
              <a:t>Default NTFS Cluster Sizes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17D53C43-8D97-BF49-9158-B4E986BA8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785492"/>
            <a:ext cx="58674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>
                <a:latin typeface="Courier New" pitchFamily="49" charset="0"/>
                <a:ea typeface="MS PGothic" pitchFamily="34" charset="-128"/>
                <a:cs typeface="Courier New" pitchFamily="49" charset="0"/>
              </a:rPr>
              <a:t>Volume Size	    NTFS Cluster Size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DFF9D51E-5128-A949-92BE-9422A17F05F6}"/>
              </a:ext>
            </a:extLst>
          </p:cNvPr>
          <p:cNvSpPr txBox="1"/>
          <p:nvPr/>
        </p:nvSpPr>
        <p:spPr>
          <a:xfrm>
            <a:off x="1828800" y="3090292"/>
            <a:ext cx="5867400" cy="1200150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eaLnBrk="0" hangingPunct="0"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7MB ~ 512MB	    512 bytes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513MB ~ 1GB	    1KB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1GB ~ 2GB	    2KB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cs typeface="Courier New" charset="0"/>
              </a:rPr>
              <a:t>2GB ~ 2TB	    4KB</a:t>
            </a:r>
          </a:p>
        </p:txBody>
      </p:sp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3BCDA657-20EE-F040-9A10-AE66ABA5FE88}"/>
              </a:ext>
            </a:extLst>
          </p:cNvPr>
          <p:cNvCxnSpPr/>
          <p:nvPr/>
        </p:nvCxnSpPr>
        <p:spPr>
          <a:xfrm>
            <a:off x="1828800" y="3090292"/>
            <a:ext cx="50292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9">
            <a:extLst>
              <a:ext uri="{FF2B5EF4-FFF2-40B4-BE49-F238E27FC236}">
                <a16:creationId xmlns:a16="http://schemas.microsoft.com/office/drawing/2014/main" id="{E28EE41C-9D7B-414A-BBEB-F2A61E724C23}"/>
              </a:ext>
            </a:extLst>
          </p:cNvPr>
          <p:cNvCxnSpPr/>
          <p:nvPr/>
        </p:nvCxnSpPr>
        <p:spPr>
          <a:xfrm>
            <a:off x="1828800" y="4309492"/>
            <a:ext cx="5029200" cy="1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0">
            <a:extLst>
              <a:ext uri="{FF2B5EF4-FFF2-40B4-BE49-F238E27FC236}">
                <a16:creationId xmlns:a16="http://schemas.microsoft.com/office/drawing/2014/main" id="{1E155E47-E38C-D343-9EFD-843F7C90BE8D}"/>
              </a:ext>
            </a:extLst>
          </p:cNvPr>
          <p:cNvCxnSpPr/>
          <p:nvPr/>
        </p:nvCxnSpPr>
        <p:spPr>
          <a:xfrm rot="5400000">
            <a:off x="3048794" y="3546698"/>
            <a:ext cx="152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836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BB9ADA-A642-1848-A32A-26838EF7B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altLang="zh-CN"/>
              <a:t>NTFS</a:t>
            </a:r>
            <a:r>
              <a:rPr lang="zh-CN" altLang="en-US" dirty="0"/>
              <a:t>主文件表</a:t>
            </a:r>
            <a:r>
              <a:rPr lang="en-US" altLang="zh-CN" dirty="0"/>
              <a:t>MFT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176640-1D88-EF40-AFA1-C4473CFBC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2000" dirty="0"/>
              <a:t>MFT</a:t>
            </a:r>
            <a:r>
              <a:rPr kumimoji="1" lang="zh-CN" altLang="en-US" sz="2000" dirty="0"/>
              <a:t>是一个</a:t>
            </a:r>
            <a:r>
              <a:rPr kumimoji="1" lang="zh-CN" altLang="en-US" sz="2000" dirty="0">
                <a:highlight>
                  <a:srgbClr val="FFFF00"/>
                </a:highlight>
              </a:rPr>
              <a:t>关系型数据库</a:t>
            </a:r>
            <a:r>
              <a:rPr kumimoji="1" lang="zh-CN" altLang="en-US" sz="2000" dirty="0"/>
              <a:t>（</a:t>
            </a:r>
            <a:r>
              <a:rPr kumimoji="1" lang="en-US" altLang="zh-CN" sz="2000" dirty="0"/>
              <a:t>from</a:t>
            </a:r>
            <a:r>
              <a:rPr kumimoji="1" lang="zh-CN" altLang="en-US" sz="2000" dirty="0"/>
              <a:t> 微软文档）</a:t>
            </a:r>
            <a:endParaRPr kumimoji="1" lang="en-US" altLang="zh-CN" sz="2000" dirty="0"/>
          </a:p>
          <a:p>
            <a:pPr lvl="1"/>
            <a:r>
              <a:rPr kumimoji="1" lang="en" altLang="zh-CN" sz="1800" dirty="0"/>
              <a:t>MFT</a:t>
            </a:r>
            <a:r>
              <a:rPr kumimoji="1" lang="zh-CN" altLang="en-US" sz="1800" dirty="0"/>
              <a:t>中的每一行对应着一个文件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每一列为这个文件的某个元数据</a:t>
            </a:r>
            <a:endParaRPr kumimoji="1" lang="en-US" altLang="zh-CN" sz="1800" dirty="0"/>
          </a:p>
          <a:p>
            <a:pPr lvl="1"/>
            <a:r>
              <a:rPr kumimoji="1" lang="en" altLang="zh-CN" sz="1800" dirty="0"/>
              <a:t>NTFS </a:t>
            </a:r>
            <a:r>
              <a:rPr kumimoji="1" lang="zh-CN" altLang="en-US" sz="1800" dirty="0"/>
              <a:t>中所有的文件均在 </a:t>
            </a:r>
            <a:r>
              <a:rPr kumimoji="1" lang="en" altLang="zh-CN" sz="1800" dirty="0"/>
              <a:t>MFT </a:t>
            </a:r>
            <a:r>
              <a:rPr kumimoji="1" lang="zh-CN" altLang="en-US" sz="1800" dirty="0"/>
              <a:t>中有记录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一般会预留整个文件系统存储空间的</a:t>
            </a:r>
            <a:r>
              <a:rPr kumimoji="1" lang="en-US" altLang="zh-CN" sz="1800" dirty="0"/>
              <a:t>12.5%</a:t>
            </a:r>
            <a:r>
              <a:rPr kumimoji="1" lang="zh-CN" altLang="en-US" sz="1800" dirty="0"/>
              <a:t>，专门保存</a:t>
            </a:r>
            <a:r>
              <a:rPr kumimoji="1" lang="en-US" altLang="zh-CN" sz="1800" dirty="0"/>
              <a:t>MFT</a:t>
            </a:r>
          </a:p>
          <a:p>
            <a:r>
              <a:rPr kumimoji="1" lang="zh-CN" altLang="en" sz="2000" dirty="0"/>
              <a:t>一切</a:t>
            </a:r>
            <a:r>
              <a:rPr kumimoji="1" lang="zh-CN" altLang="en-US" sz="2000" dirty="0"/>
              <a:t>皆文件</a:t>
            </a:r>
            <a:endParaRPr kumimoji="1" lang="en" altLang="zh-CN" sz="2000" dirty="0"/>
          </a:p>
          <a:p>
            <a:pPr lvl="1"/>
            <a:r>
              <a:rPr kumimoji="1" lang="en" altLang="zh-CN" sz="1800" dirty="0"/>
              <a:t>NTFS </a:t>
            </a:r>
            <a:r>
              <a:rPr kumimoji="1" lang="zh-CN" altLang="en-US" sz="1800" dirty="0"/>
              <a:t>中的所有被分配使用的空间均被某个文件所使用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用于存放文件系统元数据的空间，也会属于某个保留的元数据文件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如：</a:t>
            </a:r>
            <a:r>
              <a:rPr kumimoji="1" lang="en-US" altLang="zh-CN" sz="1800" dirty="0"/>
              <a:t>MFT</a:t>
            </a:r>
            <a:r>
              <a:rPr kumimoji="1" lang="zh-CN" altLang="en-US" sz="1800" dirty="0"/>
              <a:t>本身，也是一个文件，其元数据保存在</a:t>
            </a:r>
            <a:r>
              <a:rPr kumimoji="1" lang="en-US" altLang="zh-CN" sz="1800" dirty="0"/>
              <a:t>MFT</a:t>
            </a:r>
            <a:r>
              <a:rPr kumimoji="1" lang="zh-CN" altLang="en-US" sz="1800" dirty="0"/>
              <a:t>中（递归了？）</a:t>
            </a:r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229336-B895-DC4F-8F0F-371AC0E6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7EA45E-F535-944D-84B7-95BD28CA3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32362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AC2A-F8D1-FC44-9385-BFBEEC33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NTFS</a:t>
            </a:r>
            <a:r>
              <a:rPr lang="zh-CN" altLang="en-US" dirty="0"/>
              <a:t>主文件表</a:t>
            </a:r>
            <a:r>
              <a:rPr lang="en-US" altLang="zh-CN" dirty="0"/>
              <a:t>MFT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CA1A2-4EAC-9742-810E-8F99B2CE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A9A32-C8B9-054B-9833-298542710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43CB14-B4F0-DC45-8506-8DE2634A2D93}"/>
              </a:ext>
            </a:extLst>
          </p:cNvPr>
          <p:cNvSpPr/>
          <p:nvPr/>
        </p:nvSpPr>
        <p:spPr>
          <a:xfrm>
            <a:off x="523068" y="1410882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6DA39-14BD-064D-8D8A-7C46A3B3CA75}"/>
              </a:ext>
            </a:extLst>
          </p:cNvPr>
          <p:cNvSpPr/>
          <p:nvPr/>
        </p:nvSpPr>
        <p:spPr>
          <a:xfrm>
            <a:off x="1098934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BB6CF-ED8E-CE4C-B53F-465DD48D09F9}"/>
              </a:ext>
            </a:extLst>
          </p:cNvPr>
          <p:cNvSpPr/>
          <p:nvPr/>
        </p:nvSpPr>
        <p:spPr>
          <a:xfrm>
            <a:off x="4791730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r>
              <a:rPr lang="zh-CN" altLang="en-US" sz="1400" dirty="0"/>
              <a:t>（镜像）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EB2957-F13C-CA49-B41E-209EFBA5D0CB}"/>
              </a:ext>
            </a:extLst>
          </p:cNvPr>
          <p:cNvSpPr/>
          <p:nvPr/>
        </p:nvSpPr>
        <p:spPr>
          <a:xfrm>
            <a:off x="6087875" y="1410882"/>
            <a:ext cx="196460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3DE9E2-5DB5-F746-B6E0-F8AB3A4BC6E0}"/>
              </a:ext>
            </a:extLst>
          </p:cNvPr>
          <p:cNvSpPr/>
          <p:nvPr/>
        </p:nvSpPr>
        <p:spPr>
          <a:xfrm>
            <a:off x="2199443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endParaRPr lang="en-C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9146AE-A08E-6642-98F3-7DF9FD059BB5}"/>
              </a:ext>
            </a:extLst>
          </p:cNvPr>
          <p:cNvSpPr/>
          <p:nvPr/>
        </p:nvSpPr>
        <p:spPr>
          <a:xfrm>
            <a:off x="3299952" y="1410882"/>
            <a:ext cx="1491778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E77028-3819-E54D-904B-74D60FDF7F58}"/>
              </a:ext>
            </a:extLst>
          </p:cNvPr>
          <p:cNvSpPr/>
          <p:nvPr/>
        </p:nvSpPr>
        <p:spPr>
          <a:xfrm>
            <a:off x="2111095" y="2196512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E8F0AE-FBD6-B040-A42D-9C2FD1D347CD}"/>
              </a:ext>
            </a:extLst>
          </p:cNvPr>
          <p:cNvSpPr/>
          <p:nvPr/>
        </p:nvSpPr>
        <p:spPr>
          <a:xfrm>
            <a:off x="2111095" y="2449928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r>
              <a:rPr lang="zh-CN" altLang="en-US" sz="1400" dirty="0"/>
              <a:t>（镜像）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4769AF-C66E-4E4B-9764-867B1CDA700E}"/>
              </a:ext>
            </a:extLst>
          </p:cNvPr>
          <p:cNvSpPr/>
          <p:nvPr/>
        </p:nvSpPr>
        <p:spPr>
          <a:xfrm>
            <a:off x="2111095" y="2709854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日志</a:t>
            </a:r>
            <a:r>
              <a:rPr lang="zh-CN" altLang="en-US" sz="1400" dirty="0"/>
              <a:t>文件</a:t>
            </a:r>
            <a:endParaRPr lang="en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C7D6E1-6F5F-344C-AEB9-3C647632F970}"/>
              </a:ext>
            </a:extLst>
          </p:cNvPr>
          <p:cNvSpPr/>
          <p:nvPr/>
        </p:nvSpPr>
        <p:spPr>
          <a:xfrm>
            <a:off x="2111095" y="3540770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文件记录</a:t>
            </a:r>
            <a:endParaRPr lang="en-CN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A7B490-0E6A-6041-907F-F5AFD4F84D11}"/>
              </a:ext>
            </a:extLst>
          </p:cNvPr>
          <p:cNvSpPr/>
          <p:nvPr/>
        </p:nvSpPr>
        <p:spPr>
          <a:xfrm>
            <a:off x="2111095" y="3802345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目录记录</a:t>
            </a:r>
            <a:endParaRPr lang="en-CN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FCCCB6-9EC4-EC4E-9BAC-52EF441A3666}"/>
              </a:ext>
            </a:extLst>
          </p:cNvPr>
          <p:cNvSpPr/>
          <p:nvPr/>
        </p:nvSpPr>
        <p:spPr>
          <a:xfrm>
            <a:off x="2111095" y="4055692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文件记录</a:t>
            </a:r>
            <a:endParaRPr lang="en-CN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394A9C-4383-6E48-97B4-07A10C19BF97}"/>
              </a:ext>
            </a:extLst>
          </p:cNvPr>
          <p:cNvSpPr/>
          <p:nvPr/>
        </p:nvSpPr>
        <p:spPr>
          <a:xfrm>
            <a:off x="2111095" y="4323289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文件记录</a:t>
            </a:r>
            <a:endParaRPr lang="en-CN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E0603F-F900-E142-B76B-5AD60E1A72D0}"/>
              </a:ext>
            </a:extLst>
          </p:cNvPr>
          <p:cNvSpPr/>
          <p:nvPr/>
        </p:nvSpPr>
        <p:spPr>
          <a:xfrm>
            <a:off x="2111095" y="2971428"/>
            <a:ext cx="1274362" cy="5676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……</a:t>
            </a:r>
            <a:endParaRPr lang="en-CN" sz="1400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FC21141-7A7E-FA4C-B756-613ABEC1D0B0}"/>
              </a:ext>
            </a:extLst>
          </p:cNvPr>
          <p:cNvSpPr/>
          <p:nvPr/>
        </p:nvSpPr>
        <p:spPr>
          <a:xfrm rot="10800000">
            <a:off x="1808157" y="2208949"/>
            <a:ext cx="265772" cy="1330172"/>
          </a:xfrm>
          <a:prstGeom prst="rightBrace">
            <a:avLst>
              <a:gd name="adj1" fmla="val 3472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4179A6-2031-5146-AE23-683AAF0AEB1C}"/>
              </a:ext>
            </a:extLst>
          </p:cNvPr>
          <p:cNvSpPr txBox="1"/>
          <p:nvPr/>
        </p:nvSpPr>
        <p:spPr>
          <a:xfrm>
            <a:off x="509676" y="2579891"/>
            <a:ext cx="1326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 dirty="0"/>
              <a:t>前</a:t>
            </a:r>
            <a:r>
              <a:rPr lang="en-US" altLang="zh-CN" dirty="0"/>
              <a:t>16</a:t>
            </a:r>
            <a:r>
              <a:rPr lang="zh-CN" altLang="en-US" dirty="0"/>
              <a:t>个为保留记录</a:t>
            </a:r>
            <a:endParaRPr lang="en-US" altLang="zh-CN" dirty="0"/>
          </a:p>
          <a:p>
            <a:pPr algn="ctr"/>
            <a:r>
              <a:rPr lang="zh-CN" altLang="en-US" dirty="0"/>
              <a:t>（即元数据）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3D0A6A-736C-7145-BDAE-E6A50C21FD51}"/>
              </a:ext>
            </a:extLst>
          </p:cNvPr>
          <p:cNvSpPr/>
          <p:nvPr/>
        </p:nvSpPr>
        <p:spPr>
          <a:xfrm>
            <a:off x="2111095" y="4581181"/>
            <a:ext cx="1274362" cy="341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……</a:t>
            </a:r>
            <a:endParaRPr lang="en-CN" sz="1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DF6ACD-66AC-0A47-B70D-EC2E88B7CC24}"/>
              </a:ext>
            </a:extLst>
          </p:cNvPr>
          <p:cNvCxnSpPr>
            <a:cxnSpLocks/>
          </p:cNvCxnSpPr>
          <p:nvPr/>
        </p:nvCxnSpPr>
        <p:spPr>
          <a:xfrm flipH="1">
            <a:off x="2111095" y="1912655"/>
            <a:ext cx="88348" cy="28385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BF916AB-F2AF-494A-A61C-E488E94509E0}"/>
              </a:ext>
            </a:extLst>
          </p:cNvPr>
          <p:cNvCxnSpPr>
            <a:cxnSpLocks/>
          </p:cNvCxnSpPr>
          <p:nvPr/>
        </p:nvCxnSpPr>
        <p:spPr>
          <a:xfrm>
            <a:off x="3299953" y="1912655"/>
            <a:ext cx="85504" cy="28385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6696CA9-828E-5A46-9FC1-CB969C0C7F70}"/>
              </a:ext>
            </a:extLst>
          </p:cNvPr>
          <p:cNvSpPr txBox="1"/>
          <p:nvPr/>
        </p:nvSpPr>
        <p:spPr>
          <a:xfrm>
            <a:off x="4130221" y="2460189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</a:t>
            </a:r>
            <a:r>
              <a:rPr lang="en-US" altLang="zh-CN" dirty="0"/>
              <a:t>+</a:t>
            </a:r>
            <a:r>
              <a:rPr lang="zh-CN" altLang="en-CN" dirty="0"/>
              <a:t>树</a:t>
            </a:r>
            <a:endParaRPr lang="en-CN" dirty="0"/>
          </a:p>
        </p:txBody>
      </p:sp>
      <p:cxnSp>
        <p:nvCxnSpPr>
          <p:cNvPr id="61" name="Straight Arrow Connector 39">
            <a:extLst>
              <a:ext uri="{FF2B5EF4-FFF2-40B4-BE49-F238E27FC236}">
                <a16:creationId xmlns:a16="http://schemas.microsoft.com/office/drawing/2014/main" id="{746DEC7F-6D78-054F-9E84-83EC40416522}"/>
              </a:ext>
            </a:extLst>
          </p:cNvPr>
          <p:cNvCxnSpPr>
            <a:cxnSpLocks/>
            <a:stCxn id="13" idx="3"/>
            <a:endCxn id="60" idx="1"/>
          </p:cNvCxnSpPr>
          <p:nvPr/>
        </p:nvCxnSpPr>
        <p:spPr>
          <a:xfrm>
            <a:off x="3385457" y="2326475"/>
            <a:ext cx="744764" cy="318380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4AA480-7926-2140-9D08-BBDABBCB0916}"/>
              </a:ext>
            </a:extLst>
          </p:cNvPr>
          <p:cNvGrpSpPr/>
          <p:nvPr/>
        </p:nvGrpSpPr>
        <p:grpSpPr>
          <a:xfrm>
            <a:off x="4834260" y="2069114"/>
            <a:ext cx="1561248" cy="1738440"/>
            <a:chOff x="4836076" y="2069113"/>
            <a:chExt cx="2001399" cy="22285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D752C37-7A40-D940-BF35-82B9ADF607DD}"/>
                </a:ext>
              </a:extLst>
            </p:cNvPr>
            <p:cNvGrpSpPr/>
            <p:nvPr/>
          </p:nvGrpSpPr>
          <p:grpSpPr>
            <a:xfrm>
              <a:off x="5338272" y="2069113"/>
              <a:ext cx="1499203" cy="745691"/>
              <a:chOff x="4902518" y="2111809"/>
              <a:chExt cx="1499203" cy="745691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B70DEAB-EF22-184E-82AD-B22D941A3384}"/>
                  </a:ext>
                </a:extLst>
              </p:cNvPr>
              <p:cNvSpPr/>
              <p:nvPr/>
            </p:nvSpPr>
            <p:spPr>
              <a:xfrm>
                <a:off x="4902519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9F29356-7BB5-EC43-A74F-09893A1DFC6A}"/>
                  </a:ext>
                </a:extLst>
              </p:cNvPr>
              <p:cNvSpPr/>
              <p:nvPr/>
            </p:nvSpPr>
            <p:spPr>
              <a:xfrm>
                <a:off x="5152386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41A5E4E-88DC-7A47-A757-020F28209A55}"/>
                  </a:ext>
                </a:extLst>
              </p:cNvPr>
              <p:cNvSpPr/>
              <p:nvPr/>
            </p:nvSpPr>
            <p:spPr>
              <a:xfrm>
                <a:off x="5402253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5" name="Right Brace 34">
                <a:extLst>
                  <a:ext uri="{FF2B5EF4-FFF2-40B4-BE49-F238E27FC236}">
                    <a16:creationId xmlns:a16="http://schemas.microsoft.com/office/drawing/2014/main" id="{6278639D-F396-8241-90B9-F6F0E21E4CF1}"/>
                  </a:ext>
                </a:extLst>
              </p:cNvPr>
              <p:cNvSpPr/>
              <p:nvPr/>
            </p:nvSpPr>
            <p:spPr>
              <a:xfrm rot="5400000" flipH="1">
                <a:off x="5588310" y="1701095"/>
                <a:ext cx="127617" cy="1499202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6392345-699D-3D45-B90B-B586C474D582}"/>
                  </a:ext>
                </a:extLst>
              </p:cNvPr>
              <p:cNvSpPr txBox="1"/>
              <p:nvPr/>
            </p:nvSpPr>
            <p:spPr>
              <a:xfrm>
                <a:off x="5292080" y="2111809"/>
                <a:ext cx="802249" cy="33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100" dirty="0"/>
                  <a:t>Extent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B355873-E85B-8848-A08E-18D0ADCBDF36}"/>
                  </a:ext>
                </a:extLst>
              </p:cNvPr>
              <p:cNvSpPr/>
              <p:nvPr/>
            </p:nvSpPr>
            <p:spPr>
              <a:xfrm>
                <a:off x="5652120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F09C587-82B1-4B42-8229-DD09B6E1079F}"/>
                  </a:ext>
                </a:extLst>
              </p:cNvPr>
              <p:cNvSpPr/>
              <p:nvPr/>
            </p:nvSpPr>
            <p:spPr>
              <a:xfrm>
                <a:off x="5901987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5D0F77D-DEBB-1449-9019-E95C6869FF50}"/>
                  </a:ext>
                </a:extLst>
              </p:cNvPr>
              <p:cNvSpPr/>
              <p:nvPr/>
            </p:nvSpPr>
            <p:spPr>
              <a:xfrm>
                <a:off x="6151854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6AA1F31-BA27-6A48-AD5B-408CDE11FFD8}"/>
                </a:ext>
              </a:extLst>
            </p:cNvPr>
            <p:cNvGrpSpPr/>
            <p:nvPr/>
          </p:nvGrpSpPr>
          <p:grpSpPr>
            <a:xfrm>
              <a:off x="5338271" y="2848910"/>
              <a:ext cx="999469" cy="742967"/>
              <a:chOff x="4902518" y="2114533"/>
              <a:chExt cx="999469" cy="74296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C2617B5-55E1-234C-B561-025920F8CA40}"/>
                  </a:ext>
                </a:extLst>
              </p:cNvPr>
              <p:cNvSpPr/>
              <p:nvPr/>
            </p:nvSpPr>
            <p:spPr>
              <a:xfrm>
                <a:off x="4902519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9E7FCAF-17F9-C947-BA07-4F0D8F64ED88}"/>
                  </a:ext>
                </a:extLst>
              </p:cNvPr>
              <p:cNvSpPr/>
              <p:nvPr/>
            </p:nvSpPr>
            <p:spPr>
              <a:xfrm>
                <a:off x="5152386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546CA80-D48D-DF4A-A25C-8900FF78713F}"/>
                  </a:ext>
                </a:extLst>
              </p:cNvPr>
              <p:cNvSpPr/>
              <p:nvPr/>
            </p:nvSpPr>
            <p:spPr>
              <a:xfrm>
                <a:off x="5402253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6" name="Right Brace 45">
                <a:extLst>
                  <a:ext uri="{FF2B5EF4-FFF2-40B4-BE49-F238E27FC236}">
                    <a16:creationId xmlns:a16="http://schemas.microsoft.com/office/drawing/2014/main" id="{1A0E3CA9-9C76-CF46-8105-80822FFA1D6C}"/>
                  </a:ext>
                </a:extLst>
              </p:cNvPr>
              <p:cNvSpPr/>
              <p:nvPr/>
            </p:nvSpPr>
            <p:spPr>
              <a:xfrm rot="5400000" flipH="1">
                <a:off x="5338443" y="1950962"/>
                <a:ext cx="127617" cy="999468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26FF7A6-75E1-DF4A-9A77-0A1151702D06}"/>
                  </a:ext>
                </a:extLst>
              </p:cNvPr>
              <p:cNvSpPr txBox="1"/>
              <p:nvPr/>
            </p:nvSpPr>
            <p:spPr>
              <a:xfrm>
                <a:off x="5032588" y="2114533"/>
                <a:ext cx="802249" cy="33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100" dirty="0"/>
                  <a:t>Extent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9D5F6B4-9C68-BF4C-99AE-13B506F35B39}"/>
                  </a:ext>
                </a:extLst>
              </p:cNvPr>
              <p:cNvSpPr/>
              <p:nvPr/>
            </p:nvSpPr>
            <p:spPr>
              <a:xfrm>
                <a:off x="5652120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94CB4BA-227F-4F48-ACEF-D45122C98E07}"/>
                </a:ext>
              </a:extLst>
            </p:cNvPr>
            <p:cNvGrpSpPr/>
            <p:nvPr/>
          </p:nvGrpSpPr>
          <p:grpSpPr>
            <a:xfrm>
              <a:off x="5338270" y="3555454"/>
              <a:ext cx="1249336" cy="742206"/>
              <a:chOff x="4902518" y="2115294"/>
              <a:chExt cx="1249336" cy="742206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731D59C-9238-DD40-89DB-DD2A20DB87CD}"/>
                  </a:ext>
                </a:extLst>
              </p:cNvPr>
              <p:cNvSpPr/>
              <p:nvPr/>
            </p:nvSpPr>
            <p:spPr>
              <a:xfrm>
                <a:off x="4902519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36DF800-604D-1942-A6A8-A5F70B0C6DFB}"/>
                  </a:ext>
                </a:extLst>
              </p:cNvPr>
              <p:cNvSpPr/>
              <p:nvPr/>
            </p:nvSpPr>
            <p:spPr>
              <a:xfrm>
                <a:off x="5152386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9FCE89A-7ADD-D141-9786-1CCBEE810605}"/>
                  </a:ext>
                </a:extLst>
              </p:cNvPr>
              <p:cNvSpPr/>
              <p:nvPr/>
            </p:nvSpPr>
            <p:spPr>
              <a:xfrm>
                <a:off x="5402253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5" name="Right Brace 54">
                <a:extLst>
                  <a:ext uri="{FF2B5EF4-FFF2-40B4-BE49-F238E27FC236}">
                    <a16:creationId xmlns:a16="http://schemas.microsoft.com/office/drawing/2014/main" id="{5F5F96BE-BF41-0F4A-ABA1-FC283976FAE4}"/>
                  </a:ext>
                </a:extLst>
              </p:cNvPr>
              <p:cNvSpPr/>
              <p:nvPr/>
            </p:nvSpPr>
            <p:spPr>
              <a:xfrm rot="5400000" flipH="1">
                <a:off x="5463377" y="1826028"/>
                <a:ext cx="127617" cy="1249336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C8B836-FDE5-DF4A-9455-19C5FE878345}"/>
                  </a:ext>
                </a:extLst>
              </p:cNvPr>
              <p:cNvSpPr txBox="1"/>
              <p:nvPr/>
            </p:nvSpPr>
            <p:spPr>
              <a:xfrm>
                <a:off x="5205433" y="2115294"/>
                <a:ext cx="802248" cy="33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100" dirty="0"/>
                  <a:t>Extent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1F84276-652E-4C4C-B4B5-7884D7AB379C}"/>
                  </a:ext>
                </a:extLst>
              </p:cNvPr>
              <p:cNvSpPr/>
              <p:nvPr/>
            </p:nvSpPr>
            <p:spPr>
              <a:xfrm>
                <a:off x="5652120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8EC12F7-1636-034D-B7A7-4EE957C61331}"/>
                  </a:ext>
                </a:extLst>
              </p:cNvPr>
              <p:cNvSpPr/>
              <p:nvPr/>
            </p:nvSpPr>
            <p:spPr>
              <a:xfrm>
                <a:off x="5901987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</p:grpSp>
        <p:cxnSp>
          <p:nvCxnSpPr>
            <p:cNvPr id="64" name="Straight Arrow Connector 39">
              <a:extLst>
                <a:ext uri="{FF2B5EF4-FFF2-40B4-BE49-F238E27FC236}">
                  <a16:creationId xmlns:a16="http://schemas.microsoft.com/office/drawing/2014/main" id="{2C5BC76C-38AE-8B43-8747-62A01312E6E6}"/>
                </a:ext>
              </a:extLst>
            </p:cNvPr>
            <p:cNvCxnSpPr>
              <a:cxnSpLocks/>
              <a:stCxn id="60" idx="3"/>
              <a:endCxn id="32" idx="1"/>
            </p:cNvCxnSpPr>
            <p:nvPr/>
          </p:nvCxnSpPr>
          <p:spPr>
            <a:xfrm flipV="1">
              <a:off x="4836076" y="2643306"/>
              <a:ext cx="502197" cy="163863"/>
            </a:xfrm>
            <a:prstGeom prst="bent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39">
              <a:extLst>
                <a:ext uri="{FF2B5EF4-FFF2-40B4-BE49-F238E27FC236}">
                  <a16:creationId xmlns:a16="http://schemas.microsoft.com/office/drawing/2014/main" id="{B2E500F7-0E39-1947-AAD3-8095277F8CED}"/>
                </a:ext>
              </a:extLst>
            </p:cNvPr>
            <p:cNvCxnSpPr>
              <a:cxnSpLocks/>
              <a:stCxn id="60" idx="3"/>
              <a:endCxn id="52" idx="1"/>
            </p:cNvCxnSpPr>
            <p:nvPr/>
          </p:nvCxnSpPr>
          <p:spPr>
            <a:xfrm>
              <a:off x="4836077" y="2807169"/>
              <a:ext cx="502195" cy="1318994"/>
            </a:xfrm>
            <a:prstGeom prst="bent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39">
              <a:extLst>
                <a:ext uri="{FF2B5EF4-FFF2-40B4-BE49-F238E27FC236}">
                  <a16:creationId xmlns:a16="http://schemas.microsoft.com/office/drawing/2014/main" id="{321ECD52-0929-4446-AFFF-E96937BBB3BF}"/>
                </a:ext>
              </a:extLst>
            </p:cNvPr>
            <p:cNvCxnSpPr>
              <a:cxnSpLocks/>
              <a:stCxn id="60" idx="3"/>
              <a:endCxn id="43" idx="1"/>
            </p:cNvCxnSpPr>
            <p:nvPr/>
          </p:nvCxnSpPr>
          <p:spPr>
            <a:xfrm>
              <a:off x="4836076" y="2807169"/>
              <a:ext cx="502197" cy="613209"/>
            </a:xfrm>
            <a:prstGeom prst="bent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84905319-8531-2A4D-8C03-82C75C723864}"/>
              </a:ext>
            </a:extLst>
          </p:cNvPr>
          <p:cNvSpPr/>
          <p:nvPr/>
        </p:nvSpPr>
        <p:spPr>
          <a:xfrm>
            <a:off x="3851920" y="2069113"/>
            <a:ext cx="4834880" cy="307976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FA3790-E493-B845-86B9-362673C529D8}"/>
              </a:ext>
            </a:extLst>
          </p:cNvPr>
          <p:cNvSpPr txBox="1"/>
          <p:nvPr/>
        </p:nvSpPr>
        <p:spPr>
          <a:xfrm>
            <a:off x="7837851" y="215512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数据区</a:t>
            </a:r>
            <a:endParaRPr lang="en-C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476DFD-8725-FD4A-800D-0C9C94355C7A}"/>
              </a:ext>
            </a:extLst>
          </p:cNvPr>
          <p:cNvSpPr txBox="1"/>
          <p:nvPr/>
        </p:nvSpPr>
        <p:spPr>
          <a:xfrm>
            <a:off x="4619428" y="420491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</a:t>
            </a:r>
            <a:r>
              <a:rPr lang="en-US" altLang="zh-CN" dirty="0"/>
              <a:t>+</a:t>
            </a:r>
            <a:r>
              <a:rPr lang="zh-CN" altLang="en-CN" dirty="0"/>
              <a:t>树</a:t>
            </a:r>
            <a:endParaRPr lang="en-CN" dirty="0"/>
          </a:p>
        </p:txBody>
      </p:sp>
      <p:cxnSp>
        <p:nvCxnSpPr>
          <p:cNvPr id="77" name="Straight Arrow Connector 39">
            <a:extLst>
              <a:ext uri="{FF2B5EF4-FFF2-40B4-BE49-F238E27FC236}">
                <a16:creationId xmlns:a16="http://schemas.microsoft.com/office/drawing/2014/main" id="{26EF5EB4-D136-3645-B978-9EB872FDAAE6}"/>
              </a:ext>
            </a:extLst>
          </p:cNvPr>
          <p:cNvCxnSpPr>
            <a:cxnSpLocks/>
            <a:stCxn id="18" idx="3"/>
            <a:endCxn id="76" idx="1"/>
          </p:cNvCxnSpPr>
          <p:nvPr/>
        </p:nvCxnSpPr>
        <p:spPr>
          <a:xfrm>
            <a:off x="3385457" y="4185655"/>
            <a:ext cx="1233971" cy="203928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91E795B-D883-5746-AFE4-98EBFB10BBF0}"/>
              </a:ext>
            </a:extLst>
          </p:cNvPr>
          <p:cNvGrpSpPr/>
          <p:nvPr/>
        </p:nvGrpSpPr>
        <p:grpSpPr>
          <a:xfrm>
            <a:off x="6777899" y="4290748"/>
            <a:ext cx="974580" cy="578978"/>
            <a:chOff x="4902518" y="2115294"/>
            <a:chExt cx="1249336" cy="742206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D3E5CCA-C422-3A43-95A3-94F2FD5C13A1}"/>
                </a:ext>
              </a:extLst>
            </p:cNvPr>
            <p:cNvSpPr/>
            <p:nvPr/>
          </p:nvSpPr>
          <p:spPr>
            <a:xfrm>
              <a:off x="4902519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740F2E9-AF8A-A54D-B880-EFAC7C9C06F5}"/>
                </a:ext>
              </a:extLst>
            </p:cNvPr>
            <p:cNvSpPr/>
            <p:nvPr/>
          </p:nvSpPr>
          <p:spPr>
            <a:xfrm>
              <a:off x="5152386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4090E70-8148-E24D-B3D7-402C75A65CF2}"/>
                </a:ext>
              </a:extLst>
            </p:cNvPr>
            <p:cNvSpPr/>
            <p:nvPr/>
          </p:nvSpPr>
          <p:spPr>
            <a:xfrm>
              <a:off x="5402253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88" name="Right Brace 87">
              <a:extLst>
                <a:ext uri="{FF2B5EF4-FFF2-40B4-BE49-F238E27FC236}">
                  <a16:creationId xmlns:a16="http://schemas.microsoft.com/office/drawing/2014/main" id="{AEABEE98-8B0E-5846-BF6E-A9717F52E753}"/>
                </a:ext>
              </a:extLst>
            </p:cNvPr>
            <p:cNvSpPr/>
            <p:nvPr/>
          </p:nvSpPr>
          <p:spPr>
            <a:xfrm rot="5400000" flipH="1">
              <a:off x="5463377" y="1826028"/>
              <a:ext cx="127617" cy="1249336"/>
            </a:xfrm>
            <a:prstGeom prst="rightBrace">
              <a:avLst>
                <a:gd name="adj1" fmla="val 34720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C861F4C-66DB-664E-A5C5-C8D7DF6BC19E}"/>
                </a:ext>
              </a:extLst>
            </p:cNvPr>
            <p:cNvSpPr txBox="1"/>
            <p:nvPr/>
          </p:nvSpPr>
          <p:spPr>
            <a:xfrm>
              <a:off x="5205433" y="2115294"/>
              <a:ext cx="802248" cy="335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100" dirty="0"/>
                <a:t>Extent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77586B3-625E-AF4A-A2F6-6C96A36C4CC8}"/>
                </a:ext>
              </a:extLst>
            </p:cNvPr>
            <p:cNvSpPr/>
            <p:nvPr/>
          </p:nvSpPr>
          <p:spPr>
            <a:xfrm>
              <a:off x="5652120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F47246E-AC22-4A4F-AC20-9BC66244045D}"/>
                </a:ext>
              </a:extLst>
            </p:cNvPr>
            <p:cNvSpPr/>
            <p:nvPr/>
          </p:nvSpPr>
          <p:spPr>
            <a:xfrm>
              <a:off x="5901987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</p:grpSp>
      <p:cxnSp>
        <p:nvCxnSpPr>
          <p:cNvPr id="82" name="Straight Arrow Connector 39">
            <a:extLst>
              <a:ext uri="{FF2B5EF4-FFF2-40B4-BE49-F238E27FC236}">
                <a16:creationId xmlns:a16="http://schemas.microsoft.com/office/drawing/2014/main" id="{0E452438-E3B4-004C-811B-815AA433FA58}"/>
              </a:ext>
            </a:extLst>
          </p:cNvPr>
          <p:cNvCxnSpPr>
            <a:cxnSpLocks/>
            <a:stCxn id="76" idx="3"/>
            <a:endCxn id="98" idx="1"/>
          </p:cNvCxnSpPr>
          <p:nvPr/>
        </p:nvCxnSpPr>
        <p:spPr>
          <a:xfrm flipV="1">
            <a:off x="5323467" y="4127005"/>
            <a:ext cx="1454434" cy="262578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39">
            <a:extLst>
              <a:ext uri="{FF2B5EF4-FFF2-40B4-BE49-F238E27FC236}">
                <a16:creationId xmlns:a16="http://schemas.microsoft.com/office/drawing/2014/main" id="{4698A3CB-F056-3543-94D2-347F1AAF23AC}"/>
              </a:ext>
            </a:extLst>
          </p:cNvPr>
          <p:cNvCxnSpPr>
            <a:cxnSpLocks/>
            <a:stCxn id="76" idx="3"/>
            <a:endCxn id="85" idx="1"/>
          </p:cNvCxnSpPr>
          <p:nvPr/>
        </p:nvCxnSpPr>
        <p:spPr>
          <a:xfrm>
            <a:off x="5323467" y="4389583"/>
            <a:ext cx="1454433" cy="346362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ECD880E-4113-FF45-A241-26F7E8B86645}"/>
              </a:ext>
            </a:extLst>
          </p:cNvPr>
          <p:cNvGrpSpPr/>
          <p:nvPr/>
        </p:nvGrpSpPr>
        <p:grpSpPr>
          <a:xfrm>
            <a:off x="6777899" y="3679090"/>
            <a:ext cx="1364410" cy="581697"/>
            <a:chOff x="6858574" y="3312861"/>
            <a:chExt cx="1364410" cy="58169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1745A14-11B1-B545-AA7E-80D23B02F203}"/>
                </a:ext>
              </a:extLst>
            </p:cNvPr>
            <p:cNvSpPr/>
            <p:nvPr/>
          </p:nvSpPr>
          <p:spPr>
            <a:xfrm>
              <a:off x="6858576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8E518A3-5BC2-8F48-8DFE-D7718212A9B1}"/>
                </a:ext>
              </a:extLst>
            </p:cNvPr>
            <p:cNvSpPr/>
            <p:nvPr/>
          </p:nvSpPr>
          <p:spPr>
            <a:xfrm>
              <a:off x="7053491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C3B4F2A-A62A-1049-BBF6-6A0DA761333F}"/>
                </a:ext>
              </a:extLst>
            </p:cNvPr>
            <p:cNvSpPr/>
            <p:nvPr/>
          </p:nvSpPr>
          <p:spPr>
            <a:xfrm>
              <a:off x="7248407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1" name="Right Brace 100">
              <a:extLst>
                <a:ext uri="{FF2B5EF4-FFF2-40B4-BE49-F238E27FC236}">
                  <a16:creationId xmlns:a16="http://schemas.microsoft.com/office/drawing/2014/main" id="{4DED1203-DAC0-F145-8D52-2B94E060040D}"/>
                </a:ext>
              </a:extLst>
            </p:cNvPr>
            <p:cNvSpPr/>
            <p:nvPr/>
          </p:nvSpPr>
          <p:spPr>
            <a:xfrm rot="5400000" flipH="1">
              <a:off x="7491003" y="2895014"/>
              <a:ext cx="99551" cy="1364409"/>
            </a:xfrm>
            <a:prstGeom prst="rightBrace">
              <a:avLst>
                <a:gd name="adj1" fmla="val 34720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653C68C-00B9-E64B-AFDB-E93F6993D964}"/>
                </a:ext>
              </a:extLst>
            </p:cNvPr>
            <p:cNvSpPr txBox="1"/>
            <p:nvPr/>
          </p:nvSpPr>
          <p:spPr>
            <a:xfrm>
              <a:off x="7162463" y="3312861"/>
              <a:ext cx="6258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100" dirty="0"/>
                <a:t>Extent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B6A2A42-68C8-244E-8095-7569E5AD68FB}"/>
                </a:ext>
              </a:extLst>
            </p:cNvPr>
            <p:cNvSpPr/>
            <p:nvPr/>
          </p:nvSpPr>
          <p:spPr>
            <a:xfrm>
              <a:off x="7443323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C3F9884-115B-FD48-A021-B37A9387C1E0}"/>
                </a:ext>
              </a:extLst>
            </p:cNvPr>
            <p:cNvSpPr/>
            <p:nvPr/>
          </p:nvSpPr>
          <p:spPr>
            <a:xfrm>
              <a:off x="7638238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FEE4B9E-CAEB-8642-B30C-C1997F021D1B}"/>
                </a:ext>
              </a:extLst>
            </p:cNvPr>
            <p:cNvSpPr/>
            <p:nvPr/>
          </p:nvSpPr>
          <p:spPr>
            <a:xfrm>
              <a:off x="7833154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1A65586-F804-AF4D-ADC0-9625A87AE8FB}"/>
                </a:ext>
              </a:extLst>
            </p:cNvPr>
            <p:cNvSpPr/>
            <p:nvPr/>
          </p:nvSpPr>
          <p:spPr>
            <a:xfrm>
              <a:off x="8028068" y="3626993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2F8CDE7D-9E54-2E4E-A075-956ECF32C20C}"/>
              </a:ext>
            </a:extLst>
          </p:cNvPr>
          <p:cNvSpPr txBox="1"/>
          <p:nvPr/>
        </p:nvSpPr>
        <p:spPr>
          <a:xfrm>
            <a:off x="35496" y="4977180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MFT</a:t>
            </a:r>
            <a:r>
              <a:rPr lang="zh-CN" altLang="en-CN" dirty="0"/>
              <a:t>保存</a:t>
            </a:r>
            <a:r>
              <a:rPr lang="zh-CN" altLang="en-US" dirty="0"/>
              <a:t>了所有文件和目录的元数据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6478046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D204-4D73-C34C-B11D-072D595A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主文件表包含的文件（</a:t>
            </a:r>
            <a:r>
              <a:rPr lang="zh-CN" altLang="en-CN" dirty="0"/>
              <a:t>保留</a:t>
            </a:r>
            <a:r>
              <a:rPr lang="zh-CN" altLang="en-US" dirty="0"/>
              <a:t>文件）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F5D5F-91E9-A54E-8736-5E8BBE20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DDB68-BF6E-BB4B-A01B-0742EBE63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7CDBCC9-C6EC-5541-8275-6B6F1CE65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07" y="1100274"/>
            <a:ext cx="5763186" cy="410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227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38F2-D6A5-D94F-A06F-F8789B2A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主文件表</a:t>
            </a:r>
            <a:r>
              <a:rPr lang="zh-CN" altLang="en-US" dirty="0"/>
              <a:t>记录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A4DDA-319A-4448-B357-763B12B0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8E6E6-D726-C54A-A0EB-4DB1D8895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CD0B24-DA91-AF44-A445-5FD523531150}"/>
              </a:ext>
            </a:extLst>
          </p:cNvPr>
          <p:cNvGrpSpPr/>
          <p:nvPr/>
        </p:nvGrpSpPr>
        <p:grpSpPr>
          <a:xfrm>
            <a:off x="2771800" y="1563978"/>
            <a:ext cx="2172874" cy="2958429"/>
            <a:chOff x="1281863" y="1666557"/>
            <a:chExt cx="2172874" cy="295842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C051F1-A325-B346-9317-FE007B00C881}"/>
                </a:ext>
              </a:extLst>
            </p:cNvPr>
            <p:cNvSpPr/>
            <p:nvPr/>
          </p:nvSpPr>
          <p:spPr>
            <a:xfrm>
              <a:off x="1281863" y="1666557"/>
              <a:ext cx="2172874" cy="44695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文件记录头</a:t>
              </a:r>
              <a:endParaRPr lang="en-CN" sz="140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6C1C846-7DEB-9143-8037-A01451713B33}"/>
                </a:ext>
              </a:extLst>
            </p:cNvPr>
            <p:cNvSpPr/>
            <p:nvPr/>
          </p:nvSpPr>
          <p:spPr>
            <a:xfrm>
              <a:off x="1281863" y="2113512"/>
              <a:ext cx="2172874" cy="5585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属性</a:t>
              </a:r>
              <a:endParaRPr lang="en-CN" sz="14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57E9E7-F214-974E-9ECE-A70740201AE7}"/>
                </a:ext>
              </a:extLst>
            </p:cNvPr>
            <p:cNvSpPr/>
            <p:nvPr/>
          </p:nvSpPr>
          <p:spPr>
            <a:xfrm>
              <a:off x="1281863" y="2672108"/>
              <a:ext cx="2172874" cy="5585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属性</a:t>
              </a:r>
              <a:endParaRPr lang="en-CN" sz="14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3AF784-0398-BF45-8C72-72803097B05B}"/>
                </a:ext>
              </a:extLst>
            </p:cNvPr>
            <p:cNvSpPr/>
            <p:nvPr/>
          </p:nvSpPr>
          <p:spPr>
            <a:xfrm>
              <a:off x="1281863" y="3230704"/>
              <a:ext cx="2172874" cy="5585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……</a:t>
              </a:r>
              <a:endParaRPr lang="en-CN" sz="14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382A3B-7327-E848-A12F-6DBD07CBA4E3}"/>
                </a:ext>
              </a:extLst>
            </p:cNvPr>
            <p:cNvSpPr/>
            <p:nvPr/>
          </p:nvSpPr>
          <p:spPr>
            <a:xfrm>
              <a:off x="1281863" y="3771655"/>
              <a:ext cx="2172874" cy="55859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属性</a:t>
              </a:r>
              <a:endParaRPr lang="en-CN" sz="14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D34321-61F6-DD45-9792-40874035BF1E}"/>
                </a:ext>
              </a:extLst>
            </p:cNvPr>
            <p:cNvSpPr/>
            <p:nvPr/>
          </p:nvSpPr>
          <p:spPr>
            <a:xfrm>
              <a:off x="1281863" y="4320714"/>
              <a:ext cx="2172874" cy="30427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文件记录结束</a:t>
              </a:r>
              <a:endParaRPr lang="en-CN" sz="14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3DBDBE-C100-E34A-8C43-994C9CD8A4B2}"/>
              </a:ext>
            </a:extLst>
          </p:cNvPr>
          <p:cNvGrpSpPr/>
          <p:nvPr/>
        </p:nvGrpSpPr>
        <p:grpSpPr>
          <a:xfrm>
            <a:off x="539750" y="1787455"/>
            <a:ext cx="1274362" cy="2952361"/>
            <a:chOff x="2111095" y="2196512"/>
            <a:chExt cx="1274362" cy="295236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07818EA-EB21-A74E-AE73-D7F6DED8AD9A}"/>
                </a:ext>
              </a:extLst>
            </p:cNvPr>
            <p:cNvSpPr/>
            <p:nvPr/>
          </p:nvSpPr>
          <p:spPr>
            <a:xfrm>
              <a:off x="2111095" y="2196512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MFT</a:t>
              </a:r>
              <a:endParaRPr lang="en-CN" sz="14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67ECCF4-14E4-C949-8357-3633271B1874}"/>
                </a:ext>
              </a:extLst>
            </p:cNvPr>
            <p:cNvSpPr/>
            <p:nvPr/>
          </p:nvSpPr>
          <p:spPr>
            <a:xfrm>
              <a:off x="2111095" y="2449928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MFT</a:t>
              </a:r>
              <a:r>
                <a:rPr lang="zh-CN" altLang="en-US" sz="1400" dirty="0"/>
                <a:t>（镜像）</a:t>
              </a:r>
              <a:endParaRPr lang="en-CN" sz="14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19428AF-B7CC-5B41-9C0D-1C0C84B0F979}"/>
                </a:ext>
              </a:extLst>
            </p:cNvPr>
            <p:cNvSpPr/>
            <p:nvPr/>
          </p:nvSpPr>
          <p:spPr>
            <a:xfrm>
              <a:off x="2111095" y="2709854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400" dirty="0"/>
                <a:t>日志</a:t>
              </a:r>
              <a:r>
                <a:rPr lang="zh-CN" altLang="en-US" sz="1400" dirty="0"/>
                <a:t>文件</a:t>
              </a:r>
              <a:endParaRPr lang="en-CN" sz="14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5B8855-FC8F-ED4D-89B4-58069B14E669}"/>
                </a:ext>
              </a:extLst>
            </p:cNvPr>
            <p:cNvSpPr/>
            <p:nvPr/>
          </p:nvSpPr>
          <p:spPr>
            <a:xfrm>
              <a:off x="2111095" y="3540770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</a:t>
              </a:r>
              <a:endParaRPr lang="en-CN" sz="14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3CAB52E-05C8-CA47-98E1-88519F51C1EF}"/>
                </a:ext>
              </a:extLst>
            </p:cNvPr>
            <p:cNvSpPr/>
            <p:nvPr/>
          </p:nvSpPr>
          <p:spPr>
            <a:xfrm>
              <a:off x="2111095" y="3802345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目录记录</a:t>
              </a:r>
              <a:endParaRPr lang="en-CN" sz="14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2CE55A-BE32-9346-82D6-F9A19A3852DE}"/>
                </a:ext>
              </a:extLst>
            </p:cNvPr>
            <p:cNvSpPr/>
            <p:nvPr/>
          </p:nvSpPr>
          <p:spPr>
            <a:xfrm>
              <a:off x="2111095" y="4055692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</a:t>
              </a:r>
              <a:endParaRPr lang="en-CN" sz="14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21F7F12-F674-A248-9DE5-5E3B5E263E46}"/>
                </a:ext>
              </a:extLst>
            </p:cNvPr>
            <p:cNvSpPr/>
            <p:nvPr/>
          </p:nvSpPr>
          <p:spPr>
            <a:xfrm>
              <a:off x="2111095" y="4323289"/>
              <a:ext cx="1274362" cy="25992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/>
                <a:t>文件记录</a:t>
              </a:r>
              <a:endParaRPr lang="en-CN" sz="1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0DCAC2-793E-6143-AEAE-1D126FC953E3}"/>
                </a:ext>
              </a:extLst>
            </p:cNvPr>
            <p:cNvSpPr/>
            <p:nvPr/>
          </p:nvSpPr>
          <p:spPr>
            <a:xfrm>
              <a:off x="2111095" y="2971428"/>
              <a:ext cx="1274362" cy="56769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……</a:t>
              </a:r>
              <a:endParaRPr lang="en-CN" sz="14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164893A-D961-BF48-961C-5A0A188BE6C6}"/>
                </a:ext>
              </a:extLst>
            </p:cNvPr>
            <p:cNvSpPr/>
            <p:nvPr/>
          </p:nvSpPr>
          <p:spPr>
            <a:xfrm>
              <a:off x="2111095" y="4581180"/>
              <a:ext cx="1274362" cy="56769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/>
                <a:t>……</a:t>
              </a:r>
              <a:endParaRPr lang="en-CN" sz="1400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88ABF3-46D3-9844-9E40-F53013108ADF}"/>
              </a:ext>
            </a:extLst>
          </p:cNvPr>
          <p:cNvCxnSpPr>
            <a:cxnSpLocks/>
          </p:cNvCxnSpPr>
          <p:nvPr/>
        </p:nvCxnSpPr>
        <p:spPr>
          <a:xfrm flipV="1">
            <a:off x="1814112" y="1563978"/>
            <a:ext cx="957688" cy="156414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653F986-CCF7-BD49-B05A-DB8C0EDA54F7}"/>
              </a:ext>
            </a:extLst>
          </p:cNvPr>
          <p:cNvCxnSpPr>
            <a:cxnSpLocks/>
          </p:cNvCxnSpPr>
          <p:nvPr/>
        </p:nvCxnSpPr>
        <p:spPr>
          <a:xfrm>
            <a:off x="1814112" y="3387955"/>
            <a:ext cx="957688" cy="113445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BB845B8-61CC-9840-B684-851D08FBF3AB}"/>
              </a:ext>
            </a:extLst>
          </p:cNvPr>
          <p:cNvSpPr txBox="1"/>
          <p:nvPr/>
        </p:nvSpPr>
        <p:spPr>
          <a:xfrm>
            <a:off x="5206223" y="1647155"/>
            <a:ext cx="3935693" cy="2580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常用</a:t>
            </a:r>
            <a:r>
              <a:rPr lang="zh-CN" altLang="en-CN" sz="2000" dirty="0"/>
              <a:t>属性</a:t>
            </a:r>
            <a:r>
              <a:rPr lang="zh-CN" altLang="en-US" sz="2000" dirty="0"/>
              <a:t>包括：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文件</a:t>
            </a:r>
            <a:r>
              <a:rPr lang="zh-CN" altLang="en-US" dirty="0"/>
              <a:t>标准元数据（大小、时间等）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文件名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数据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索引根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023692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AC2A-F8D1-FC44-9385-BFBEEC33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NTFS</a:t>
            </a:r>
            <a:r>
              <a:rPr lang="zh-CN" altLang="en-US" dirty="0"/>
              <a:t>数据保存位置和目录项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7849-C3F7-0C4D-B2D7-20B81AFBA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非常驻文件（</a:t>
            </a:r>
            <a:r>
              <a:rPr lang="zh-CN" altLang="en-CN" b="0" dirty="0"/>
              <a:t>大文件</a:t>
            </a:r>
            <a:r>
              <a:rPr lang="en-US" altLang="zh-CN" b="0" dirty="0"/>
              <a:t>/</a:t>
            </a:r>
            <a:r>
              <a:rPr lang="zh-CN" altLang="en-US" b="0" dirty="0"/>
              <a:t>目录）</a:t>
            </a:r>
            <a:endParaRPr lang="en-US" altLang="zh-CN" b="0" dirty="0"/>
          </a:p>
          <a:p>
            <a:pPr lvl="1"/>
            <a:r>
              <a:rPr lang="zh-CN" altLang="en-US" dirty="0"/>
              <a:t>数据区的</a:t>
            </a:r>
            <a:r>
              <a:rPr lang="en-US" altLang="zh-CN" dirty="0"/>
              <a:t>B+</a:t>
            </a:r>
            <a:r>
              <a:rPr lang="zh-CN" altLang="en-US" dirty="0"/>
              <a:t>树和</a:t>
            </a:r>
            <a:r>
              <a:rPr lang="zh-CN" altLang="en-CN" dirty="0"/>
              <a:t>区段</a:t>
            </a:r>
            <a:endParaRPr lang="en-US" altLang="zh-CN" dirty="0"/>
          </a:p>
          <a:p>
            <a:r>
              <a:rPr lang="zh-CN" altLang="en-US" b="0" dirty="0"/>
              <a:t>常驻文件（小文件</a:t>
            </a:r>
            <a:r>
              <a:rPr lang="en-US" altLang="zh-CN" b="0" dirty="0"/>
              <a:t>/</a:t>
            </a:r>
            <a:r>
              <a:rPr lang="zh-CN" altLang="en-US" b="0" dirty="0"/>
              <a:t>目录）</a:t>
            </a:r>
          </a:p>
          <a:p>
            <a:pPr lvl="1"/>
            <a:r>
              <a:rPr lang="zh-CN" altLang="en-US" dirty="0"/>
              <a:t>大小不超过</a:t>
            </a:r>
            <a:r>
              <a:rPr lang="en-US" altLang="zh-CN" dirty="0"/>
              <a:t>MFT</a:t>
            </a:r>
            <a:r>
              <a:rPr lang="zh-CN" altLang="en-US" dirty="0"/>
              <a:t>记录的最大值（</a:t>
            </a:r>
            <a:r>
              <a:rPr lang="en-US" dirty="0"/>
              <a:t>1KB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内嵌在</a:t>
            </a:r>
            <a:r>
              <a:rPr lang="en-US" altLang="zh-CN" dirty="0"/>
              <a:t>MFT</a:t>
            </a:r>
            <a:r>
              <a:rPr lang="zh-CN" altLang="en-US" dirty="0"/>
              <a:t>中保存（在</a:t>
            </a:r>
            <a:r>
              <a:rPr lang="en-US" altLang="zh-CN" dirty="0"/>
              <a:t>"</a:t>
            </a:r>
            <a:r>
              <a:rPr lang="zh-CN" altLang="en-US" dirty="0"/>
              <a:t>数据</a:t>
            </a:r>
            <a:r>
              <a:rPr lang="en-US" altLang="zh-CN" dirty="0"/>
              <a:t>"</a:t>
            </a:r>
            <a:r>
              <a:rPr lang="zh-CN" altLang="en-US" dirty="0"/>
              <a:t>属性中）</a:t>
            </a:r>
            <a:endParaRPr lang="en-US" altLang="zh-CN" dirty="0"/>
          </a:p>
          <a:p>
            <a:r>
              <a:rPr lang="zh-CN" altLang="en-US" b="0" dirty="0"/>
              <a:t>目录项与硬链接</a:t>
            </a:r>
            <a:endParaRPr lang="en-US" altLang="zh-CN" b="0" dirty="0"/>
          </a:p>
          <a:p>
            <a:pPr lvl="1"/>
            <a:r>
              <a:rPr lang="zh-CN" altLang="en-US" dirty="0"/>
              <a:t>包含</a:t>
            </a:r>
            <a:r>
              <a:rPr lang="zh-CN" altLang="en-CN" dirty="0"/>
              <a:t>文件</a:t>
            </a:r>
            <a:r>
              <a:rPr lang="zh-CN" altLang="en-US" dirty="0"/>
              <a:t>名、文件</a:t>
            </a:r>
            <a:r>
              <a:rPr lang="en-US" altLang="zh-CN" dirty="0"/>
              <a:t>ID</a:t>
            </a:r>
            <a:r>
              <a:rPr lang="zh-CN" altLang="en-US" dirty="0"/>
              <a:t>（在</a:t>
            </a:r>
            <a:r>
              <a:rPr lang="en-US" altLang="zh-CN" dirty="0"/>
              <a:t>MFT</a:t>
            </a:r>
            <a:r>
              <a:rPr lang="zh-CN" altLang="en-US" dirty="0"/>
              <a:t>中的序号）</a:t>
            </a:r>
            <a:endParaRPr lang="en-US" altLang="zh-CN" dirty="0"/>
          </a:p>
          <a:p>
            <a:pPr lvl="1"/>
            <a:r>
              <a:rPr lang="zh-CN" altLang="en-US" dirty="0"/>
              <a:t>支持硬链接：每个硬链接拥有一个单独的目录项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CA1A2-4EAC-9742-810E-8F99B2CE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A9A32-C8B9-054B-9833-298542710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14788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7164-1D26-9C4E-B385-A98B826E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思考时间</a:t>
            </a:r>
            <a:r>
              <a:rPr lang="en-US" altLang="zh-CN" dirty="0"/>
              <a:t>🤔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6CED0-E197-2F4B-B7EE-41D620827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为什么</a:t>
            </a:r>
            <a:r>
              <a:rPr lang="en-US" b="0" dirty="0"/>
              <a:t>Everything</a:t>
            </a:r>
            <a:r>
              <a:rPr lang="zh-CN" altLang="en-US" b="0" dirty="0"/>
              <a:t>查找文件这么快？</a:t>
            </a:r>
          </a:p>
          <a:p>
            <a:endParaRPr lang="en-US" altLang="zh-CN" b="0" dirty="0"/>
          </a:p>
          <a:p>
            <a:endParaRPr lang="en-US" altLang="zh-CN" b="0" dirty="0"/>
          </a:p>
          <a:p>
            <a:pPr marL="0" indent="0">
              <a:buNone/>
            </a:pPr>
            <a:endParaRPr lang="en-US" altLang="zh-CN" b="0" dirty="0"/>
          </a:p>
          <a:p>
            <a:r>
              <a:rPr lang="zh-CN" altLang="en-US" b="0" dirty="0"/>
              <a:t>为什么</a:t>
            </a:r>
            <a:r>
              <a:rPr lang="en-US" b="0" dirty="0"/>
              <a:t>NTFS</a:t>
            </a:r>
            <a:r>
              <a:rPr lang="zh-CN" altLang="en-US" b="0" dirty="0"/>
              <a:t>存取小文件很高效？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36D4A-5D9B-AD43-818D-54D2AA88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2D82F-AA67-544D-B551-97B8A461B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09F66D-1579-BB4D-8788-B26CE4C587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6370" b="5648"/>
          <a:stretch/>
        </p:blipFill>
        <p:spPr>
          <a:xfrm>
            <a:off x="1835696" y="1849388"/>
            <a:ext cx="5004048" cy="16921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F3B77E-3B82-2043-9619-CC7FEA4147F7}"/>
              </a:ext>
            </a:extLst>
          </p:cNvPr>
          <p:cNvSpPr txBox="1"/>
          <p:nvPr/>
        </p:nvSpPr>
        <p:spPr>
          <a:xfrm>
            <a:off x="17022" y="5263670"/>
            <a:ext cx="226696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www.voidtools.com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/support/</a:t>
            </a:r>
            <a:b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everything/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using_everything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endParaRPr lang="en-CN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8892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64E6-2D9B-7E47-9511-5560B027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文件系统</a:t>
            </a:r>
            <a:r>
              <a:rPr lang="zh-CN" altLang="en-US" dirty="0"/>
              <a:t>高级功能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AD6D4-E74B-2340-A1EF-C8265E8AE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6379-B30A-034A-B76D-83321BB3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FEB32-4F62-B84C-8692-B5D5F2D81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0299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文件复制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C3432-BB9B-1A46-B8AD-34EFFB8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126"/>
            <a:ext cx="9144000" cy="1890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3B0B1-62AE-D547-BE8F-04E792C3C081}"/>
              </a:ext>
            </a:extLst>
          </p:cNvPr>
          <p:cNvSpPr txBox="1"/>
          <p:nvPr/>
        </p:nvSpPr>
        <p:spPr>
          <a:xfrm>
            <a:off x="0" y="5471543"/>
            <a:ext cx="454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http://</a:t>
            </a:r>
            <a:r>
              <a:rPr lang="en-US" sz="1200" dirty="0" err="1"/>
              <a:t>www.audiobar.cn</a:t>
            </a:r>
            <a:r>
              <a:rPr lang="en-US" sz="1200" dirty="0"/>
              <a:t>/</a:t>
            </a:r>
            <a:r>
              <a:rPr lang="en-US" sz="1200" dirty="0" err="1"/>
              <a:t>forum.php?mod</a:t>
            </a:r>
            <a:r>
              <a:rPr lang="en-US" sz="1200" dirty="0"/>
              <a:t>=</a:t>
            </a:r>
            <a:r>
              <a:rPr lang="en-US" sz="1200" dirty="0" err="1"/>
              <a:t>viewthread&amp;tid</a:t>
            </a:r>
            <a:r>
              <a:rPr lang="en-US" sz="1200" dirty="0"/>
              <a:t>=523830</a:t>
            </a:r>
            <a:endParaRPr lang="en-CN" sz="12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F6FC45-0BF4-DC40-938C-836A4C70663F}"/>
              </a:ext>
            </a:extLst>
          </p:cNvPr>
          <p:cNvSpPr/>
          <p:nvPr/>
        </p:nvSpPr>
        <p:spPr>
          <a:xfrm>
            <a:off x="1691680" y="1777380"/>
            <a:ext cx="7452320" cy="64807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6788177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文件复制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F503B-4E5A-154D-842C-FBDD00842544}"/>
              </a:ext>
            </a:extLst>
          </p:cNvPr>
          <p:cNvSpPr txBox="1"/>
          <p:nvPr/>
        </p:nvSpPr>
        <p:spPr>
          <a:xfrm>
            <a:off x="2063244" y="3066377"/>
            <a:ext cx="2372011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从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中读出数据到</a:t>
            </a:r>
            <a:r>
              <a:rPr lang="en-US" altLang="zh-CN" sz="1200" dirty="0">
                <a:latin typeface="Courier" pitchFamily="2" charset="0"/>
              </a:rPr>
              <a:t>buffer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将</a:t>
            </a:r>
            <a:r>
              <a:rPr lang="en-US" altLang="zh-CN" sz="1200" dirty="0">
                <a:latin typeface="Courier" pitchFamily="2" charset="0"/>
              </a:rPr>
              <a:t>buffer</a:t>
            </a:r>
            <a:r>
              <a:rPr lang="zh-CN" altLang="en-US" sz="1200" dirty="0">
                <a:latin typeface="Courier" pitchFamily="2" charset="0"/>
              </a:rPr>
              <a:t>中的数据写入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重复</a:t>
            </a:r>
            <a:r>
              <a:rPr lang="en-US" altLang="zh-CN" sz="1200" dirty="0">
                <a:latin typeface="Courier" pitchFamily="2" charset="0"/>
              </a:rPr>
              <a:t>3</a:t>
            </a:r>
            <a:r>
              <a:rPr lang="zh-CN" altLang="en-US" sz="1200" dirty="0">
                <a:latin typeface="Courier" pitchFamily="2" charset="0"/>
              </a:rPr>
              <a:t>、</a:t>
            </a:r>
            <a:r>
              <a:rPr lang="en-US" altLang="zh-CN" sz="1200" dirty="0">
                <a:latin typeface="Courier" pitchFamily="2" charset="0"/>
              </a:rPr>
              <a:t>4</a:t>
            </a:r>
            <a:r>
              <a:rPr lang="zh-CN" altLang="en-US" sz="1200" dirty="0">
                <a:latin typeface="Courier" pitchFamily="2" charset="0"/>
              </a:rPr>
              <a:t>直到文件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被读完</a:t>
            </a:r>
            <a:endParaRPr lang="en-US" altLang="zh-CN" sz="1200" dirty="0">
              <a:latin typeface="Courie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C3432-BB9B-1A46-B8AD-34EFFB8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126"/>
            <a:ext cx="9144000" cy="1890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3B0B1-62AE-D547-BE8F-04E792C3C081}"/>
              </a:ext>
            </a:extLst>
          </p:cNvPr>
          <p:cNvSpPr txBox="1"/>
          <p:nvPr/>
        </p:nvSpPr>
        <p:spPr>
          <a:xfrm>
            <a:off x="0" y="5299502"/>
            <a:ext cx="22765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www.audiobar.cn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forum.php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  <a:b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mod=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viewthread&amp;tid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=523830</a:t>
            </a:r>
            <a:endParaRPr lang="en-CN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6D1F3-655D-8846-9717-D808C28EF749}"/>
              </a:ext>
            </a:extLst>
          </p:cNvPr>
          <p:cNvSpPr txBox="1"/>
          <p:nvPr/>
        </p:nvSpPr>
        <p:spPr>
          <a:xfrm>
            <a:off x="4779888" y="3072140"/>
            <a:ext cx="3472656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获取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改变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X(</a:t>
            </a:r>
            <a:r>
              <a:rPr lang="en-US" altLang="zh-CN" sz="1200" dirty="0" err="1">
                <a:latin typeface="Courier" pitchFamily="2" charset="0"/>
              </a:rPr>
              <a:t>fallocate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en-US" altLang="zh-CN" sz="1200" dirty="0" err="1">
                <a:latin typeface="Courier" pitchFamily="2" charset="0"/>
              </a:rPr>
              <a:t>ftruncate</a:t>
            </a:r>
            <a:r>
              <a:rPr lang="en-US" altLang="zh-CN" sz="1200" dirty="0">
                <a:latin typeface="Courier" pitchFamily="2" charset="0"/>
              </a:rPr>
              <a:t>)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zh-CN" altLang="en-CN" sz="1200" dirty="0">
                <a:latin typeface="Courier" pitchFamily="2" charset="0"/>
              </a:rPr>
              <a:t>将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和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分别</a:t>
            </a:r>
            <a:r>
              <a:rPr lang="en-US" altLang="zh-CN" sz="1200" dirty="0" err="1">
                <a:latin typeface="Courier" pitchFamily="2" charset="0"/>
              </a:rPr>
              <a:t>mmap</a:t>
            </a:r>
            <a:r>
              <a:rPr lang="zh-CN" altLang="en-US" sz="1200" dirty="0">
                <a:latin typeface="Courier" pitchFamily="2" charset="0"/>
              </a:rPr>
              <a:t>到内存空间</a:t>
            </a:r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6.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memcpy</a:t>
            </a:r>
            <a:endParaRPr lang="en-US" altLang="zh-CN" sz="1200" dirty="0">
              <a:latin typeface="Courier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01D39-13CD-634C-817D-66DE107FE424}"/>
              </a:ext>
            </a:extLst>
          </p:cNvPr>
          <p:cNvSpPr txBox="1"/>
          <p:nvPr/>
        </p:nvSpPr>
        <p:spPr>
          <a:xfrm>
            <a:off x="2063244" y="2720688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read/write</a:t>
            </a:r>
            <a:endParaRPr lang="en-C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EDAC7-6292-2A41-8A6E-03B221D171FE}"/>
              </a:ext>
            </a:extLst>
          </p:cNvPr>
          <p:cNvSpPr txBox="1"/>
          <p:nvPr/>
        </p:nvSpPr>
        <p:spPr>
          <a:xfrm>
            <a:off x="4731864" y="2671680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mmap</a:t>
            </a:r>
            <a:endParaRPr lang="en-CN" sz="20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5BEF1C5-35FB-A146-B151-6688A517867A}"/>
              </a:ext>
            </a:extLst>
          </p:cNvPr>
          <p:cNvSpPr/>
          <p:nvPr/>
        </p:nvSpPr>
        <p:spPr>
          <a:xfrm>
            <a:off x="1691680" y="1777380"/>
            <a:ext cx="7452320" cy="64807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3663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文件复制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F503B-4E5A-154D-842C-FBDD00842544}"/>
              </a:ext>
            </a:extLst>
          </p:cNvPr>
          <p:cNvSpPr txBox="1"/>
          <p:nvPr/>
        </p:nvSpPr>
        <p:spPr>
          <a:xfrm>
            <a:off x="2063244" y="3066377"/>
            <a:ext cx="2372011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从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中读出数据到</a:t>
            </a:r>
            <a:r>
              <a:rPr lang="en-US" altLang="zh-CN" sz="1200" dirty="0">
                <a:latin typeface="Courier" pitchFamily="2" charset="0"/>
              </a:rPr>
              <a:t>buffer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将</a:t>
            </a:r>
            <a:r>
              <a:rPr lang="en-US" altLang="zh-CN" sz="1200" dirty="0">
                <a:latin typeface="Courier" pitchFamily="2" charset="0"/>
              </a:rPr>
              <a:t>buffer</a:t>
            </a:r>
            <a:r>
              <a:rPr lang="zh-CN" altLang="en-US" sz="1200" dirty="0">
                <a:latin typeface="Courier" pitchFamily="2" charset="0"/>
              </a:rPr>
              <a:t>中的数据写入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重复</a:t>
            </a:r>
            <a:r>
              <a:rPr lang="en-US" altLang="zh-CN" sz="1200" dirty="0">
                <a:latin typeface="Courier" pitchFamily="2" charset="0"/>
              </a:rPr>
              <a:t>3</a:t>
            </a:r>
            <a:r>
              <a:rPr lang="zh-CN" altLang="en-US" sz="1200" dirty="0">
                <a:latin typeface="Courier" pitchFamily="2" charset="0"/>
              </a:rPr>
              <a:t>、</a:t>
            </a:r>
            <a:r>
              <a:rPr lang="en-US" altLang="zh-CN" sz="1200" dirty="0">
                <a:latin typeface="Courier" pitchFamily="2" charset="0"/>
              </a:rPr>
              <a:t>4</a:t>
            </a:r>
            <a:r>
              <a:rPr lang="zh-CN" altLang="en-US" sz="1200" dirty="0">
                <a:latin typeface="Courier" pitchFamily="2" charset="0"/>
              </a:rPr>
              <a:t>直到文件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被读完</a:t>
            </a:r>
            <a:endParaRPr lang="en-US" altLang="zh-CN" sz="1200" dirty="0">
              <a:latin typeface="Courie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C3432-BB9B-1A46-B8AD-34EFFB8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126"/>
            <a:ext cx="9144000" cy="18902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76D1F3-655D-8846-9717-D808C28EF749}"/>
              </a:ext>
            </a:extLst>
          </p:cNvPr>
          <p:cNvSpPr txBox="1"/>
          <p:nvPr/>
        </p:nvSpPr>
        <p:spPr>
          <a:xfrm>
            <a:off x="4779888" y="3072140"/>
            <a:ext cx="3472656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获取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改变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X(</a:t>
            </a:r>
            <a:r>
              <a:rPr lang="en-US" altLang="zh-CN" sz="1200" dirty="0" err="1">
                <a:latin typeface="Courier" pitchFamily="2" charset="0"/>
              </a:rPr>
              <a:t>fallocate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en-US" altLang="zh-CN" sz="1200" dirty="0" err="1">
                <a:latin typeface="Courier" pitchFamily="2" charset="0"/>
              </a:rPr>
              <a:t>ftruncate</a:t>
            </a:r>
            <a:r>
              <a:rPr lang="en-US" altLang="zh-CN" sz="1200" dirty="0">
                <a:latin typeface="Courier" pitchFamily="2" charset="0"/>
              </a:rPr>
              <a:t>)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zh-CN" altLang="en-CN" sz="1200" dirty="0">
                <a:latin typeface="Courier" pitchFamily="2" charset="0"/>
              </a:rPr>
              <a:t>将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和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分别</a:t>
            </a:r>
            <a:r>
              <a:rPr lang="en-US" altLang="zh-CN" sz="1200" dirty="0" err="1">
                <a:latin typeface="Courier" pitchFamily="2" charset="0"/>
              </a:rPr>
              <a:t>mmap</a:t>
            </a:r>
            <a:r>
              <a:rPr lang="zh-CN" altLang="en-US" sz="1200" dirty="0">
                <a:latin typeface="Courier" pitchFamily="2" charset="0"/>
              </a:rPr>
              <a:t>到内存空间</a:t>
            </a:r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6.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memcpy</a:t>
            </a:r>
            <a:endParaRPr lang="en-US" altLang="zh-CN" sz="1200" dirty="0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C1D84-36BD-E943-9C57-2C467E69601D}"/>
              </a:ext>
            </a:extLst>
          </p:cNvPr>
          <p:cNvSpPr txBox="1"/>
          <p:nvPr/>
        </p:nvSpPr>
        <p:spPr>
          <a:xfrm>
            <a:off x="1551496" y="4725301"/>
            <a:ext cx="636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400" dirty="0">
                <a:solidFill>
                  <a:srgbClr val="C00000"/>
                </a:solidFill>
              </a:rPr>
              <a:t>文件越慢</a:t>
            </a:r>
            <a:r>
              <a:rPr lang="zh-CN" altLang="en-US" sz="2400" dirty="0">
                <a:solidFill>
                  <a:srgbClr val="C00000"/>
                </a:solidFill>
              </a:rPr>
              <a:t>，耗时越长！如何做到秒复制？</a:t>
            </a:r>
            <a:endParaRPr lang="en-CN" sz="2400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01D39-13CD-634C-817D-66DE107FE424}"/>
              </a:ext>
            </a:extLst>
          </p:cNvPr>
          <p:cNvSpPr txBox="1"/>
          <p:nvPr/>
        </p:nvSpPr>
        <p:spPr>
          <a:xfrm>
            <a:off x="2063244" y="2720688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read/write</a:t>
            </a:r>
            <a:endParaRPr lang="en-C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EDAC7-6292-2A41-8A6E-03B221D171FE}"/>
              </a:ext>
            </a:extLst>
          </p:cNvPr>
          <p:cNvSpPr txBox="1"/>
          <p:nvPr/>
        </p:nvSpPr>
        <p:spPr>
          <a:xfrm>
            <a:off x="4731864" y="2671680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mmap</a:t>
            </a:r>
            <a:endParaRPr lang="en-CN" sz="20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309220-E1B1-AB42-9A80-01C61EF622E1}"/>
              </a:ext>
            </a:extLst>
          </p:cNvPr>
          <p:cNvSpPr/>
          <p:nvPr/>
        </p:nvSpPr>
        <p:spPr>
          <a:xfrm>
            <a:off x="1691680" y="1777380"/>
            <a:ext cx="7452320" cy="64807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544F14A3-4806-2B44-9333-FA9A2694A8A8}"/>
              </a:ext>
            </a:extLst>
          </p:cNvPr>
          <p:cNvSpPr txBox="1"/>
          <p:nvPr/>
        </p:nvSpPr>
        <p:spPr>
          <a:xfrm>
            <a:off x="0" y="5299502"/>
            <a:ext cx="22765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www.audiobar.cn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forum.php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  <a:b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mod=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viewthread&amp;tid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=523830</a:t>
            </a:r>
            <a:endParaRPr lang="en-CN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687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克隆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03EBB36-4250-AD40-929C-845BC24CC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文件系统层面上的复制</a:t>
            </a:r>
            <a:endParaRPr lang="en-US" altLang="zh-CN" b="0" dirty="0"/>
          </a:p>
          <a:p>
            <a:r>
              <a:rPr lang="zh-CN" altLang="en-CN" b="0" dirty="0"/>
              <a:t>只</a:t>
            </a:r>
            <a:r>
              <a:rPr lang="zh-CN" altLang="en-US" b="0" dirty="0"/>
              <a:t>复制关键元数据</a:t>
            </a:r>
            <a:endParaRPr lang="en-US" altLang="zh-CN" b="0" dirty="0"/>
          </a:p>
          <a:p>
            <a:r>
              <a:rPr lang="zh-CN" altLang="en-CN" b="0" dirty="0"/>
              <a:t>其他部分</a:t>
            </a:r>
            <a:r>
              <a:rPr lang="en-US" altLang="zh-CN" b="0" dirty="0" err="1"/>
              <a:t>CoW</a:t>
            </a:r>
            <a:r>
              <a:rPr lang="zh-CN" altLang="en-US" b="0" dirty="0"/>
              <a:t>共享</a:t>
            </a:r>
            <a:endParaRPr lang="en-CN" b="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99E982-97AE-6C40-A0A1-868C5501B6BB}"/>
              </a:ext>
            </a:extLst>
          </p:cNvPr>
          <p:cNvGrpSpPr/>
          <p:nvPr/>
        </p:nvGrpSpPr>
        <p:grpSpPr>
          <a:xfrm>
            <a:off x="3832096" y="803797"/>
            <a:ext cx="4717130" cy="4419090"/>
            <a:chOff x="3832096" y="803797"/>
            <a:chExt cx="4717130" cy="441909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B5557E-E853-9A4C-A3A9-3FD62FA6E4D8}"/>
                </a:ext>
              </a:extLst>
            </p:cNvPr>
            <p:cNvSpPr/>
            <p:nvPr/>
          </p:nvSpPr>
          <p:spPr>
            <a:xfrm>
              <a:off x="4590325" y="1192577"/>
              <a:ext cx="584732" cy="6333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00" dirty="0"/>
                <a:t>常用</a:t>
              </a:r>
              <a:r>
                <a:rPr lang="zh-CN" altLang="en-US" sz="1000" dirty="0"/>
                <a:t>元数据</a:t>
              </a:r>
              <a:endParaRPr lang="en-CN" sz="10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C16F64-ADBA-3540-9857-F135102F443F}"/>
                </a:ext>
              </a:extLst>
            </p:cNvPr>
            <p:cNvSpPr/>
            <p:nvPr/>
          </p:nvSpPr>
          <p:spPr>
            <a:xfrm>
              <a:off x="4590325" y="1825937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20236D-FC90-7D43-8BF5-8D0FA122BFA2}"/>
                </a:ext>
              </a:extLst>
            </p:cNvPr>
            <p:cNvSpPr/>
            <p:nvPr/>
          </p:nvSpPr>
          <p:spPr>
            <a:xfrm>
              <a:off x="4590325" y="1986141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FAF219C-B018-8F44-8495-90C7E953A090}"/>
                </a:ext>
              </a:extLst>
            </p:cNvPr>
            <p:cNvSpPr/>
            <p:nvPr/>
          </p:nvSpPr>
          <p:spPr>
            <a:xfrm>
              <a:off x="4590325" y="2146344"/>
              <a:ext cx="584732" cy="2903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3F13AA1-B6B3-5D4B-B9E9-17B34037A343}"/>
                </a:ext>
              </a:extLst>
            </p:cNvPr>
            <p:cNvSpPr/>
            <p:nvPr/>
          </p:nvSpPr>
          <p:spPr>
            <a:xfrm>
              <a:off x="4590324" y="243665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endParaRPr lang="en-CN" sz="1000" dirty="0"/>
            </a:p>
          </p:txBody>
        </p:sp>
        <p:cxnSp>
          <p:nvCxnSpPr>
            <p:cNvPr id="21" name="Curved Connector 15">
              <a:extLst>
                <a:ext uri="{FF2B5EF4-FFF2-40B4-BE49-F238E27FC236}">
                  <a16:creationId xmlns:a16="http://schemas.microsoft.com/office/drawing/2014/main" id="{DC4720F8-F164-774D-959E-E9CF84E89645}"/>
                </a:ext>
              </a:extLst>
            </p:cNvPr>
            <p:cNvCxnSpPr>
              <a:cxnSpLocks/>
              <a:stCxn id="17" idx="3"/>
              <a:endCxn id="27" idx="1"/>
            </p:cNvCxnSpPr>
            <p:nvPr/>
          </p:nvCxnSpPr>
          <p:spPr>
            <a:xfrm flipV="1">
              <a:off x="5175057" y="993400"/>
              <a:ext cx="553197" cy="912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16">
              <a:extLst>
                <a:ext uri="{FF2B5EF4-FFF2-40B4-BE49-F238E27FC236}">
                  <a16:creationId xmlns:a16="http://schemas.microsoft.com/office/drawing/2014/main" id="{71FA5ED1-C235-A54C-A3D5-3ECFB6A6F943}"/>
                </a:ext>
              </a:extLst>
            </p:cNvPr>
            <p:cNvCxnSpPr>
              <a:cxnSpLocks/>
              <a:stCxn id="18" idx="3"/>
              <a:endCxn id="28" idx="1"/>
            </p:cNvCxnSpPr>
            <p:nvPr/>
          </p:nvCxnSpPr>
          <p:spPr>
            <a:xfrm flipV="1">
              <a:off x="5175057" y="1457441"/>
              <a:ext cx="545504" cy="608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urved Connector 22">
              <a:extLst>
                <a:ext uri="{FF2B5EF4-FFF2-40B4-BE49-F238E27FC236}">
                  <a16:creationId xmlns:a16="http://schemas.microsoft.com/office/drawing/2014/main" id="{0214E3FD-F959-734C-A424-39239C70A3C5}"/>
                </a:ext>
              </a:extLst>
            </p:cNvPr>
            <p:cNvCxnSpPr>
              <a:cxnSpLocks/>
              <a:stCxn id="25" idx="3"/>
              <a:endCxn id="32" idx="1"/>
            </p:cNvCxnSpPr>
            <p:nvPr/>
          </p:nvCxnSpPr>
          <p:spPr>
            <a:xfrm>
              <a:off x="5175057" y="2832351"/>
              <a:ext cx="586083" cy="44792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DA27593-4D8F-1A4E-BEB4-847DA9818EB1}"/>
                </a:ext>
              </a:extLst>
            </p:cNvPr>
            <p:cNvSpPr/>
            <p:nvPr/>
          </p:nvSpPr>
          <p:spPr>
            <a:xfrm>
              <a:off x="4590325" y="2590965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13</a:t>
              </a:r>
              <a:endParaRPr lang="en-CN" sz="10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9A3132D-868B-4147-BD7B-C34C930ABECD}"/>
                </a:ext>
              </a:extLst>
            </p:cNvPr>
            <p:cNvSpPr/>
            <p:nvPr/>
          </p:nvSpPr>
          <p:spPr>
            <a:xfrm>
              <a:off x="4590325" y="2752249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14</a:t>
              </a:r>
              <a:endParaRPr lang="en-CN" sz="10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557CAE-2BE5-EF42-A303-FB08D0498658}"/>
                </a:ext>
              </a:extLst>
            </p:cNvPr>
            <p:cNvSpPr/>
            <p:nvPr/>
          </p:nvSpPr>
          <p:spPr>
            <a:xfrm>
              <a:off x="4590324" y="291168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15</a:t>
              </a:r>
              <a:endParaRPr lang="en-CN" sz="10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EEDAD63-F1E6-0A4A-B1D0-B9306BB2619A}"/>
                </a:ext>
              </a:extLst>
            </p:cNvPr>
            <p:cNvSpPr/>
            <p:nvPr/>
          </p:nvSpPr>
          <p:spPr>
            <a:xfrm>
              <a:off x="5728254" y="803797"/>
              <a:ext cx="489698" cy="3792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2F3336-6597-0C45-9E54-EACEDE16F622}"/>
                </a:ext>
              </a:extLst>
            </p:cNvPr>
            <p:cNvSpPr/>
            <p:nvPr/>
          </p:nvSpPr>
          <p:spPr>
            <a:xfrm>
              <a:off x="5720561" y="1267838"/>
              <a:ext cx="489698" cy="3792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4BED18E-4EBC-F947-BAEC-65803749AE47}"/>
                </a:ext>
              </a:extLst>
            </p:cNvPr>
            <p:cNvSpPr/>
            <p:nvPr/>
          </p:nvSpPr>
          <p:spPr>
            <a:xfrm>
              <a:off x="8059528" y="1688295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D382E7-D778-9F46-9683-0FEDD7A94036}"/>
                </a:ext>
              </a:extLst>
            </p:cNvPr>
            <p:cNvSpPr txBox="1"/>
            <p:nvPr/>
          </p:nvSpPr>
          <p:spPr>
            <a:xfrm>
              <a:off x="7130951" y="3813483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DDB3DB3-CB24-2D41-AE13-721C06292AC5}"/>
                </a:ext>
              </a:extLst>
            </p:cNvPr>
            <p:cNvSpPr txBox="1"/>
            <p:nvPr/>
          </p:nvSpPr>
          <p:spPr>
            <a:xfrm>
              <a:off x="5535979" y="3802137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二级间接索引块</a:t>
              </a:r>
              <a:endParaRPr lang="en-CN" sz="11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E15FA92-EE55-C248-930C-6CDAA50A05B3}"/>
                </a:ext>
              </a:extLst>
            </p:cNvPr>
            <p:cNvSpPr/>
            <p:nvPr/>
          </p:nvSpPr>
          <p:spPr>
            <a:xfrm>
              <a:off x="5761140" y="3213191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5B67A1-9A3E-4B4E-8C2B-581F4B08D6CC}"/>
                </a:ext>
              </a:extLst>
            </p:cNvPr>
            <p:cNvSpPr/>
            <p:nvPr/>
          </p:nvSpPr>
          <p:spPr>
            <a:xfrm>
              <a:off x="5761140" y="3347358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E878F16-21B6-BA44-9B17-46288E6E259D}"/>
                </a:ext>
              </a:extLst>
            </p:cNvPr>
            <p:cNvSpPr/>
            <p:nvPr/>
          </p:nvSpPr>
          <p:spPr>
            <a:xfrm>
              <a:off x="5761140" y="3481525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0B52478-0E85-504E-9664-C4EFB5B5D292}"/>
                </a:ext>
              </a:extLst>
            </p:cNvPr>
            <p:cNvSpPr/>
            <p:nvPr/>
          </p:nvSpPr>
          <p:spPr>
            <a:xfrm>
              <a:off x="5761140" y="3616596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B1EBBE68-B7E5-174B-895D-0C6C81EEBF7A}"/>
                </a:ext>
              </a:extLst>
            </p:cNvPr>
            <p:cNvCxnSpPr>
              <a:cxnSpLocks/>
              <a:stCxn id="32" idx="3"/>
              <a:endCxn id="78" idx="1"/>
            </p:cNvCxnSpPr>
            <p:nvPr/>
          </p:nvCxnSpPr>
          <p:spPr>
            <a:xfrm flipV="1">
              <a:off x="6250838" y="2727247"/>
              <a:ext cx="805975" cy="553028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5A568260-71D3-3D46-9FEB-971C77ABF0B2}"/>
                </a:ext>
              </a:extLst>
            </p:cNvPr>
            <p:cNvCxnSpPr>
              <a:cxnSpLocks/>
              <a:stCxn id="33" idx="3"/>
              <a:endCxn id="74" idx="1"/>
            </p:cNvCxnSpPr>
            <p:nvPr/>
          </p:nvCxnSpPr>
          <p:spPr>
            <a:xfrm flipV="1">
              <a:off x="6250838" y="3380403"/>
              <a:ext cx="805975" cy="3403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07B8F7C0-CDC8-544E-A5B4-A28575E8CE8F}"/>
                </a:ext>
              </a:extLst>
            </p:cNvPr>
            <p:cNvCxnSpPr>
              <a:cxnSpLocks/>
              <a:stCxn id="35" idx="3"/>
              <a:endCxn id="70" idx="1"/>
            </p:cNvCxnSpPr>
            <p:nvPr/>
          </p:nvCxnSpPr>
          <p:spPr>
            <a:xfrm>
              <a:off x="6250838" y="3683680"/>
              <a:ext cx="805975" cy="46269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E55330E-EF7D-B143-83F9-59361C27ED12}"/>
                </a:ext>
              </a:extLst>
            </p:cNvPr>
            <p:cNvGrpSpPr/>
            <p:nvPr/>
          </p:nvGrpSpPr>
          <p:grpSpPr>
            <a:xfrm>
              <a:off x="7056813" y="2660163"/>
              <a:ext cx="489698" cy="537572"/>
              <a:chOff x="7298430" y="2380870"/>
              <a:chExt cx="489698" cy="537572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CF03C11-29D0-174D-82CB-45EEDFFCD1B8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1949A09-D415-564E-99E3-11A14DEFBB4D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59FB557-B4C4-7B49-A23B-0064AFC32EFC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F5BE4D1-2F6B-0549-8B55-4F4ED93C2463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40" name="Curved Connector 35">
              <a:extLst>
                <a:ext uri="{FF2B5EF4-FFF2-40B4-BE49-F238E27FC236}">
                  <a16:creationId xmlns:a16="http://schemas.microsoft.com/office/drawing/2014/main" id="{95FBE216-615D-2B4A-9F33-6493B341E6C2}"/>
                </a:ext>
              </a:extLst>
            </p:cNvPr>
            <p:cNvCxnSpPr>
              <a:cxnSpLocks/>
              <a:stCxn id="78" idx="3"/>
              <a:endCxn id="29" idx="1"/>
            </p:cNvCxnSpPr>
            <p:nvPr/>
          </p:nvCxnSpPr>
          <p:spPr>
            <a:xfrm flipV="1">
              <a:off x="7546511" y="1877898"/>
              <a:ext cx="513017" cy="8493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65F2FF8-DBAB-ED43-BA92-B9CF08608055}"/>
                </a:ext>
              </a:extLst>
            </p:cNvPr>
            <p:cNvSpPr/>
            <p:nvPr/>
          </p:nvSpPr>
          <p:spPr>
            <a:xfrm>
              <a:off x="8058193" y="2231784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4D2A12-EEA6-284A-A3C9-34853041A600}"/>
                </a:ext>
              </a:extLst>
            </p:cNvPr>
            <p:cNvSpPr/>
            <p:nvPr/>
          </p:nvSpPr>
          <p:spPr>
            <a:xfrm>
              <a:off x="8058193" y="290106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5F0883-0B7A-D148-A0A9-B4FBB7335E4D}"/>
                </a:ext>
              </a:extLst>
            </p:cNvPr>
            <p:cNvSpPr txBox="1"/>
            <p:nvPr/>
          </p:nvSpPr>
          <p:spPr>
            <a:xfrm>
              <a:off x="8172974" y="2632737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cxnSp>
          <p:nvCxnSpPr>
            <p:cNvPr id="44" name="Curved Connector 39">
              <a:extLst>
                <a:ext uri="{FF2B5EF4-FFF2-40B4-BE49-F238E27FC236}">
                  <a16:creationId xmlns:a16="http://schemas.microsoft.com/office/drawing/2014/main" id="{081E6004-2C94-B145-8DFF-D288E3074DBD}"/>
                </a:ext>
              </a:extLst>
            </p:cNvPr>
            <p:cNvCxnSpPr>
              <a:cxnSpLocks/>
              <a:stCxn id="79" idx="3"/>
              <a:endCxn id="41" idx="1"/>
            </p:cNvCxnSpPr>
            <p:nvPr/>
          </p:nvCxnSpPr>
          <p:spPr>
            <a:xfrm flipV="1">
              <a:off x="7546511" y="2421387"/>
              <a:ext cx="511682" cy="4400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urved Connector 40">
              <a:extLst>
                <a:ext uri="{FF2B5EF4-FFF2-40B4-BE49-F238E27FC236}">
                  <a16:creationId xmlns:a16="http://schemas.microsoft.com/office/drawing/2014/main" id="{E8BFAB72-F80E-0547-B432-4B4E7DEB7EC6}"/>
                </a:ext>
              </a:extLst>
            </p:cNvPr>
            <p:cNvCxnSpPr>
              <a:cxnSpLocks/>
              <a:stCxn id="81" idx="3"/>
              <a:endCxn id="42" idx="1"/>
            </p:cNvCxnSpPr>
            <p:nvPr/>
          </p:nvCxnSpPr>
          <p:spPr>
            <a:xfrm flipV="1">
              <a:off x="7546511" y="3090672"/>
              <a:ext cx="511682" cy="399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2E152B-5948-0443-A651-7A0820B3969E}"/>
                </a:ext>
              </a:extLst>
            </p:cNvPr>
            <p:cNvSpPr txBox="1"/>
            <p:nvPr/>
          </p:nvSpPr>
          <p:spPr>
            <a:xfrm>
              <a:off x="6856668" y="4623623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FFAB66-3BB7-D343-B258-4E52807062E4}"/>
                </a:ext>
              </a:extLst>
            </p:cNvPr>
            <p:cNvSpPr/>
            <p:nvPr/>
          </p:nvSpPr>
          <p:spPr>
            <a:xfrm>
              <a:off x="6539380" y="114300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F828DD5-943B-7F49-AA8A-8E2690F12821}"/>
                </a:ext>
              </a:extLst>
            </p:cNvPr>
            <p:cNvSpPr/>
            <p:nvPr/>
          </p:nvSpPr>
          <p:spPr>
            <a:xfrm>
              <a:off x="5736124" y="1986490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73BE036-E7EB-8448-AF28-78EE6F0838B9}"/>
                </a:ext>
              </a:extLst>
            </p:cNvPr>
            <p:cNvSpPr/>
            <p:nvPr/>
          </p:nvSpPr>
          <p:spPr>
            <a:xfrm>
              <a:off x="5736124" y="2120657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347CBBB-EB22-D440-8307-3D1CCB452D88}"/>
                </a:ext>
              </a:extLst>
            </p:cNvPr>
            <p:cNvSpPr/>
            <p:nvPr/>
          </p:nvSpPr>
          <p:spPr>
            <a:xfrm>
              <a:off x="5736124" y="2254824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D292A2-FD9E-7944-87F3-58F64C18DEB8}"/>
                </a:ext>
              </a:extLst>
            </p:cNvPr>
            <p:cNvSpPr/>
            <p:nvPr/>
          </p:nvSpPr>
          <p:spPr>
            <a:xfrm>
              <a:off x="5736124" y="2389895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52" name="Curved Connector 59">
              <a:extLst>
                <a:ext uri="{FF2B5EF4-FFF2-40B4-BE49-F238E27FC236}">
                  <a16:creationId xmlns:a16="http://schemas.microsoft.com/office/drawing/2014/main" id="{6FAF9EB9-978E-D94A-A1B8-7482D46781EA}"/>
                </a:ext>
              </a:extLst>
            </p:cNvPr>
            <p:cNvCxnSpPr>
              <a:cxnSpLocks/>
              <a:stCxn id="48" idx="3"/>
              <a:endCxn id="47" idx="1"/>
            </p:cNvCxnSpPr>
            <p:nvPr/>
          </p:nvCxnSpPr>
          <p:spPr>
            <a:xfrm flipV="1">
              <a:off x="6225822" y="1332612"/>
              <a:ext cx="313558" cy="7209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015473D-918A-4446-AB28-17B1E3ACEAFA}"/>
                </a:ext>
              </a:extLst>
            </p:cNvPr>
            <p:cNvSpPr/>
            <p:nvPr/>
          </p:nvSpPr>
          <p:spPr>
            <a:xfrm>
              <a:off x="6547250" y="1613648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54" name="Curved Connector 62">
              <a:extLst>
                <a:ext uri="{FF2B5EF4-FFF2-40B4-BE49-F238E27FC236}">
                  <a16:creationId xmlns:a16="http://schemas.microsoft.com/office/drawing/2014/main" id="{D6A1CD45-C0AF-9045-BB69-124558283607}"/>
                </a:ext>
              </a:extLst>
            </p:cNvPr>
            <p:cNvCxnSpPr>
              <a:cxnSpLocks/>
              <a:stCxn id="49" idx="3"/>
              <a:endCxn id="53" idx="1"/>
            </p:cNvCxnSpPr>
            <p:nvPr/>
          </p:nvCxnSpPr>
          <p:spPr>
            <a:xfrm flipV="1">
              <a:off x="6225822" y="1803251"/>
              <a:ext cx="321428" cy="3844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2C13C706-F624-8848-89A3-FDAB057A52E7}"/>
                </a:ext>
              </a:extLst>
            </p:cNvPr>
            <p:cNvCxnSpPr>
              <a:cxnSpLocks/>
              <a:stCxn id="24" idx="3"/>
              <a:endCxn id="48" idx="1"/>
            </p:cNvCxnSpPr>
            <p:nvPr/>
          </p:nvCxnSpPr>
          <p:spPr>
            <a:xfrm flipV="1">
              <a:off x="5175057" y="2053574"/>
              <a:ext cx="561067" cy="61749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2D96F8D-876F-954D-9895-74ABB3BC0A04}"/>
                </a:ext>
              </a:extLst>
            </p:cNvPr>
            <p:cNvSpPr txBox="1"/>
            <p:nvPr/>
          </p:nvSpPr>
          <p:spPr>
            <a:xfrm>
              <a:off x="5528109" y="2535034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974F11C-D1D0-BD4E-8CF6-A8D2BE096378}"/>
                </a:ext>
              </a:extLst>
            </p:cNvPr>
            <p:cNvSpPr/>
            <p:nvPr/>
          </p:nvSpPr>
          <p:spPr>
            <a:xfrm>
              <a:off x="6547250" y="2170223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58" name="Curved Connector 62">
              <a:extLst>
                <a:ext uri="{FF2B5EF4-FFF2-40B4-BE49-F238E27FC236}">
                  <a16:creationId xmlns:a16="http://schemas.microsoft.com/office/drawing/2014/main" id="{A56D60C1-68A0-EF49-8A6D-02ECAB533A5E}"/>
                </a:ext>
              </a:extLst>
            </p:cNvPr>
            <p:cNvCxnSpPr>
              <a:cxnSpLocks/>
              <a:stCxn id="51" idx="3"/>
              <a:endCxn id="57" idx="1"/>
            </p:cNvCxnSpPr>
            <p:nvPr/>
          </p:nvCxnSpPr>
          <p:spPr>
            <a:xfrm flipV="1">
              <a:off x="6225822" y="2359826"/>
              <a:ext cx="321428" cy="971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CB55123-33B7-6749-A04C-B449EA105976}"/>
                </a:ext>
              </a:extLst>
            </p:cNvPr>
            <p:cNvSpPr txBox="1"/>
            <p:nvPr/>
          </p:nvSpPr>
          <p:spPr>
            <a:xfrm>
              <a:off x="5563694" y="4961277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三级间接索引块</a:t>
              </a:r>
              <a:endParaRPr lang="en-CN" sz="11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8C28018-70DA-D249-83A7-1485A96B9451}"/>
                </a:ext>
              </a:extLst>
            </p:cNvPr>
            <p:cNvSpPr/>
            <p:nvPr/>
          </p:nvSpPr>
          <p:spPr>
            <a:xfrm>
              <a:off x="5788855" y="4372331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4A1B9B3-CEE5-3848-8A4F-2467935408F7}"/>
                </a:ext>
              </a:extLst>
            </p:cNvPr>
            <p:cNvSpPr/>
            <p:nvPr/>
          </p:nvSpPr>
          <p:spPr>
            <a:xfrm>
              <a:off x="5788855" y="4506498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8CB433-B39C-3D4A-8AFB-DE03EC71FBC0}"/>
                </a:ext>
              </a:extLst>
            </p:cNvPr>
            <p:cNvSpPr/>
            <p:nvPr/>
          </p:nvSpPr>
          <p:spPr>
            <a:xfrm>
              <a:off x="5788855" y="4640665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1CFDA9-11E2-834F-84A6-4797190C50E1}"/>
                </a:ext>
              </a:extLst>
            </p:cNvPr>
            <p:cNvSpPr/>
            <p:nvPr/>
          </p:nvSpPr>
          <p:spPr>
            <a:xfrm>
              <a:off x="5788855" y="4775736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64" name="Curved Connector 63">
              <a:extLst>
                <a:ext uri="{FF2B5EF4-FFF2-40B4-BE49-F238E27FC236}">
                  <a16:creationId xmlns:a16="http://schemas.microsoft.com/office/drawing/2014/main" id="{39C34116-A6F0-4948-9B9A-5B9793425895}"/>
                </a:ext>
              </a:extLst>
            </p:cNvPr>
            <p:cNvCxnSpPr>
              <a:cxnSpLocks/>
              <a:stCxn id="26" idx="3"/>
              <a:endCxn id="60" idx="1"/>
            </p:cNvCxnSpPr>
            <p:nvPr/>
          </p:nvCxnSpPr>
          <p:spPr>
            <a:xfrm>
              <a:off x="5175056" y="2991786"/>
              <a:ext cx="613799" cy="144762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7DE0899-452B-694D-A5D4-E77377C2EEB3}"/>
                </a:ext>
              </a:extLst>
            </p:cNvPr>
            <p:cNvSpPr txBox="1"/>
            <p:nvPr/>
          </p:nvSpPr>
          <p:spPr>
            <a:xfrm>
              <a:off x="6653825" y="1939732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9A5CA6A1-F7C9-764F-BA8C-D6A2C8EB4EB6}"/>
                </a:ext>
              </a:extLst>
            </p:cNvPr>
            <p:cNvGrpSpPr/>
            <p:nvPr/>
          </p:nvGrpSpPr>
          <p:grpSpPr>
            <a:xfrm>
              <a:off x="7056813" y="3313319"/>
              <a:ext cx="489698" cy="537572"/>
              <a:chOff x="7298430" y="2380870"/>
              <a:chExt cx="489698" cy="537572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75F1F13-0216-5B47-8D4A-A7365B4ABC43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991A007-C17F-C945-8B56-1FB992A6CF9A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A150D156-B43C-9D45-8CEA-9FE0E9306D27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C06671F-98E8-8A49-A915-9C1E6395C6B5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9E6C485-8F82-3A4B-9001-30255A0FD5E5}"/>
                </a:ext>
              </a:extLst>
            </p:cNvPr>
            <p:cNvGrpSpPr/>
            <p:nvPr/>
          </p:nvGrpSpPr>
          <p:grpSpPr>
            <a:xfrm>
              <a:off x="7056813" y="4079290"/>
              <a:ext cx="489698" cy="537572"/>
              <a:chOff x="7298430" y="2380870"/>
              <a:chExt cx="489698" cy="537572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C5B35D0D-08D3-6F43-9B44-02C1FC1D222C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9666DBE5-AD5F-DA41-AFEC-D5C4ADCEFDF7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235FB92-DF25-5D45-88EF-4EB251E50394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A385CDA-FEB8-6440-91FE-D51282EE7350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68" name="Curved Connector 40">
              <a:extLst>
                <a:ext uri="{FF2B5EF4-FFF2-40B4-BE49-F238E27FC236}">
                  <a16:creationId xmlns:a16="http://schemas.microsoft.com/office/drawing/2014/main" id="{931A429F-74B7-CA48-9A84-2514438416D2}"/>
                </a:ext>
              </a:extLst>
            </p:cNvPr>
            <p:cNvCxnSpPr>
              <a:cxnSpLocks/>
              <a:stCxn id="74" idx="3"/>
            </p:cNvCxnSpPr>
            <p:nvPr/>
          </p:nvCxnSpPr>
          <p:spPr>
            <a:xfrm>
              <a:off x="7546511" y="3380403"/>
              <a:ext cx="511682" cy="1079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6CECB08-088F-C64D-87CF-CA3106FC9E5F}"/>
                </a:ext>
              </a:extLst>
            </p:cNvPr>
            <p:cNvSpPr/>
            <p:nvPr/>
          </p:nvSpPr>
          <p:spPr>
            <a:xfrm>
              <a:off x="8051841" y="3416702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12DF936-3BBC-854D-AEB9-B2A115925727}"/>
                </a:ext>
              </a:extLst>
            </p:cNvPr>
            <p:cNvSpPr txBox="1"/>
            <p:nvPr/>
          </p:nvSpPr>
          <p:spPr>
            <a:xfrm>
              <a:off x="3832096" y="1038357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文件</a:t>
              </a:r>
              <a:r>
                <a:rPr lang="en-US" altLang="zh-CN" dirty="0"/>
                <a:t>A</a:t>
              </a:r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8971614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克隆（</a:t>
            </a:r>
            <a:r>
              <a:rPr lang="en-US" altLang="zh-CN" dirty="0"/>
              <a:t>Clone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B5557E-E853-9A4C-A3A9-3FD62FA6E4D8}"/>
              </a:ext>
            </a:extLst>
          </p:cNvPr>
          <p:cNvSpPr/>
          <p:nvPr/>
        </p:nvSpPr>
        <p:spPr>
          <a:xfrm>
            <a:off x="4590325" y="1192577"/>
            <a:ext cx="584732" cy="633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常用</a:t>
            </a:r>
            <a:r>
              <a:rPr lang="zh-CN" altLang="en-US" sz="1000" dirty="0"/>
              <a:t>元数据</a:t>
            </a:r>
            <a:endParaRPr lang="en-CN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C16F64-ADBA-3540-9857-F135102F443F}"/>
              </a:ext>
            </a:extLst>
          </p:cNvPr>
          <p:cNvSpPr/>
          <p:nvPr/>
        </p:nvSpPr>
        <p:spPr>
          <a:xfrm>
            <a:off x="4590325" y="1825937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20236D-FC90-7D43-8BF5-8D0FA122BFA2}"/>
              </a:ext>
            </a:extLst>
          </p:cNvPr>
          <p:cNvSpPr/>
          <p:nvPr/>
        </p:nvSpPr>
        <p:spPr>
          <a:xfrm>
            <a:off x="4590325" y="1986141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AF219C-B018-8F44-8495-90C7E953A090}"/>
              </a:ext>
            </a:extLst>
          </p:cNvPr>
          <p:cNvSpPr/>
          <p:nvPr/>
        </p:nvSpPr>
        <p:spPr>
          <a:xfrm>
            <a:off x="4590325" y="2146344"/>
            <a:ext cx="584732" cy="290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F13AA1-B6B3-5D4B-B9E9-17B34037A343}"/>
              </a:ext>
            </a:extLst>
          </p:cNvPr>
          <p:cNvSpPr/>
          <p:nvPr/>
        </p:nvSpPr>
        <p:spPr>
          <a:xfrm>
            <a:off x="4590324" y="2436654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</a:t>
            </a:r>
            <a:endParaRPr lang="en-CN" sz="1000" dirty="0"/>
          </a:p>
        </p:txBody>
      </p:sp>
      <p:cxnSp>
        <p:nvCxnSpPr>
          <p:cNvPr id="21" name="Curved Connector 15">
            <a:extLst>
              <a:ext uri="{FF2B5EF4-FFF2-40B4-BE49-F238E27FC236}">
                <a16:creationId xmlns:a16="http://schemas.microsoft.com/office/drawing/2014/main" id="{DC4720F8-F164-774D-959E-E9CF84E89645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 flipV="1">
            <a:off x="5175057" y="993400"/>
            <a:ext cx="553197" cy="912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16">
            <a:extLst>
              <a:ext uri="{FF2B5EF4-FFF2-40B4-BE49-F238E27FC236}">
                <a16:creationId xmlns:a16="http://schemas.microsoft.com/office/drawing/2014/main" id="{71FA5ED1-C235-A54C-A3D5-3ECFB6A6F943}"/>
              </a:ext>
            </a:extLst>
          </p:cNvPr>
          <p:cNvCxnSpPr>
            <a:cxnSpLocks/>
            <a:stCxn id="18" idx="3"/>
            <a:endCxn id="28" idx="1"/>
          </p:cNvCxnSpPr>
          <p:nvPr/>
        </p:nvCxnSpPr>
        <p:spPr>
          <a:xfrm flipV="1">
            <a:off x="5175057" y="1457441"/>
            <a:ext cx="545504" cy="6088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214E3FD-F959-734C-A424-39239C70A3C5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>
            <a:off x="5175057" y="2832351"/>
            <a:ext cx="586083" cy="44792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DA27593-4D8F-1A4E-BEB4-847DA9818EB1}"/>
              </a:ext>
            </a:extLst>
          </p:cNvPr>
          <p:cNvSpPr/>
          <p:nvPr/>
        </p:nvSpPr>
        <p:spPr>
          <a:xfrm>
            <a:off x="4590325" y="2590965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13</a:t>
            </a:r>
            <a:endParaRPr lang="en-CN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A3132D-868B-4147-BD7B-C34C930ABECD}"/>
              </a:ext>
            </a:extLst>
          </p:cNvPr>
          <p:cNvSpPr/>
          <p:nvPr/>
        </p:nvSpPr>
        <p:spPr>
          <a:xfrm>
            <a:off x="4590325" y="2752249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14</a:t>
            </a:r>
            <a:endParaRPr lang="en-CN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557CAE-2BE5-EF42-A303-FB08D0498658}"/>
              </a:ext>
            </a:extLst>
          </p:cNvPr>
          <p:cNvSpPr/>
          <p:nvPr/>
        </p:nvSpPr>
        <p:spPr>
          <a:xfrm>
            <a:off x="4590324" y="2911684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15</a:t>
            </a:r>
            <a:endParaRPr lang="en-CN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EDAD63-F1E6-0A4A-B1D0-B9306BB2619A}"/>
              </a:ext>
            </a:extLst>
          </p:cNvPr>
          <p:cNvSpPr/>
          <p:nvPr/>
        </p:nvSpPr>
        <p:spPr>
          <a:xfrm>
            <a:off x="5728254" y="803797"/>
            <a:ext cx="489698" cy="379205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2F3336-6597-0C45-9E54-EACEDE16F622}"/>
              </a:ext>
            </a:extLst>
          </p:cNvPr>
          <p:cNvSpPr/>
          <p:nvPr/>
        </p:nvSpPr>
        <p:spPr>
          <a:xfrm>
            <a:off x="5720561" y="1267838"/>
            <a:ext cx="489698" cy="379205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BED18E-4EBC-F947-BAEC-65803749AE47}"/>
              </a:ext>
            </a:extLst>
          </p:cNvPr>
          <p:cNvSpPr/>
          <p:nvPr/>
        </p:nvSpPr>
        <p:spPr>
          <a:xfrm>
            <a:off x="8059528" y="1688295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D382E7-D778-9F46-9683-0FEDD7A94036}"/>
              </a:ext>
            </a:extLst>
          </p:cNvPr>
          <p:cNvSpPr txBox="1"/>
          <p:nvPr/>
        </p:nvSpPr>
        <p:spPr>
          <a:xfrm>
            <a:off x="7130951" y="3813483"/>
            <a:ext cx="247432" cy="19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…</a:t>
            </a:r>
            <a:endParaRPr lang="en-CN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DB3DB3-CB24-2D41-AE13-721C06292AC5}"/>
              </a:ext>
            </a:extLst>
          </p:cNvPr>
          <p:cNvSpPr txBox="1"/>
          <p:nvPr/>
        </p:nvSpPr>
        <p:spPr>
          <a:xfrm>
            <a:off x="5535979" y="3802137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二级间接索引块</a:t>
            </a:r>
            <a:endParaRPr lang="en-CN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15FA92-EE55-C248-930C-6CDAA50A05B3}"/>
              </a:ext>
            </a:extLst>
          </p:cNvPr>
          <p:cNvSpPr/>
          <p:nvPr/>
        </p:nvSpPr>
        <p:spPr>
          <a:xfrm>
            <a:off x="5761140" y="3213191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5B67A1-9A3E-4B4E-8C2B-581F4B08D6CC}"/>
              </a:ext>
            </a:extLst>
          </p:cNvPr>
          <p:cNvSpPr/>
          <p:nvPr/>
        </p:nvSpPr>
        <p:spPr>
          <a:xfrm>
            <a:off x="5761140" y="3347358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878F16-21B6-BA44-9B17-46288E6E259D}"/>
              </a:ext>
            </a:extLst>
          </p:cNvPr>
          <p:cNvSpPr/>
          <p:nvPr/>
        </p:nvSpPr>
        <p:spPr>
          <a:xfrm>
            <a:off x="5761140" y="3481525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B52478-0E85-504E-9664-C4EFB5B5D292}"/>
              </a:ext>
            </a:extLst>
          </p:cNvPr>
          <p:cNvSpPr/>
          <p:nvPr/>
        </p:nvSpPr>
        <p:spPr>
          <a:xfrm>
            <a:off x="5761140" y="3616596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128</a:t>
            </a:r>
            <a:endParaRPr lang="en-CN" sz="1000" dirty="0"/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B1EBBE68-B7E5-174B-895D-0C6C81EEBF7A}"/>
              </a:ext>
            </a:extLst>
          </p:cNvPr>
          <p:cNvCxnSpPr>
            <a:cxnSpLocks/>
            <a:stCxn id="32" idx="3"/>
            <a:endCxn id="78" idx="1"/>
          </p:cNvCxnSpPr>
          <p:nvPr/>
        </p:nvCxnSpPr>
        <p:spPr>
          <a:xfrm flipV="1">
            <a:off x="6250838" y="2727247"/>
            <a:ext cx="805975" cy="55302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5A568260-71D3-3D46-9FEB-971C77ABF0B2}"/>
              </a:ext>
            </a:extLst>
          </p:cNvPr>
          <p:cNvCxnSpPr>
            <a:cxnSpLocks/>
            <a:stCxn id="33" idx="3"/>
            <a:endCxn id="74" idx="1"/>
          </p:cNvCxnSpPr>
          <p:nvPr/>
        </p:nvCxnSpPr>
        <p:spPr>
          <a:xfrm flipV="1">
            <a:off x="6250838" y="3380403"/>
            <a:ext cx="805975" cy="3403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07B8F7C0-CDC8-544E-A5B4-A28575E8CE8F}"/>
              </a:ext>
            </a:extLst>
          </p:cNvPr>
          <p:cNvCxnSpPr>
            <a:cxnSpLocks/>
            <a:stCxn id="35" idx="3"/>
            <a:endCxn id="70" idx="1"/>
          </p:cNvCxnSpPr>
          <p:nvPr/>
        </p:nvCxnSpPr>
        <p:spPr>
          <a:xfrm>
            <a:off x="6250838" y="3683680"/>
            <a:ext cx="805975" cy="46269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55330E-EF7D-B143-83F9-59361C27ED12}"/>
              </a:ext>
            </a:extLst>
          </p:cNvPr>
          <p:cNvGrpSpPr/>
          <p:nvPr/>
        </p:nvGrpSpPr>
        <p:grpSpPr>
          <a:xfrm>
            <a:off x="7056813" y="2660163"/>
            <a:ext cx="489698" cy="537572"/>
            <a:chOff x="7298430" y="2380870"/>
            <a:chExt cx="489698" cy="53757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CF03C11-29D0-174D-82CB-45EEDFFCD1B8}"/>
                </a:ext>
              </a:extLst>
            </p:cNvPr>
            <p:cNvSpPr/>
            <p:nvPr/>
          </p:nvSpPr>
          <p:spPr>
            <a:xfrm>
              <a:off x="7298430" y="238087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1949A09-D415-564E-99E3-11A14DEFBB4D}"/>
                </a:ext>
              </a:extLst>
            </p:cNvPr>
            <p:cNvSpPr/>
            <p:nvPr/>
          </p:nvSpPr>
          <p:spPr>
            <a:xfrm>
              <a:off x="7298430" y="2515037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59FB557-B4C4-7B49-A23B-0064AFC32EFC}"/>
                </a:ext>
              </a:extLst>
            </p:cNvPr>
            <p:cNvSpPr/>
            <p:nvPr/>
          </p:nvSpPr>
          <p:spPr>
            <a:xfrm>
              <a:off x="7298430" y="2649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F5BE4D1-2F6B-0549-8B55-4F4ED93C2463}"/>
                </a:ext>
              </a:extLst>
            </p:cNvPr>
            <p:cNvSpPr/>
            <p:nvPr/>
          </p:nvSpPr>
          <p:spPr>
            <a:xfrm>
              <a:off x="7298430" y="278427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</p:grpSp>
      <p:cxnSp>
        <p:nvCxnSpPr>
          <p:cNvPr id="40" name="Curved Connector 35">
            <a:extLst>
              <a:ext uri="{FF2B5EF4-FFF2-40B4-BE49-F238E27FC236}">
                <a16:creationId xmlns:a16="http://schemas.microsoft.com/office/drawing/2014/main" id="{95FBE216-615D-2B4A-9F33-6493B341E6C2}"/>
              </a:ext>
            </a:extLst>
          </p:cNvPr>
          <p:cNvCxnSpPr>
            <a:cxnSpLocks/>
            <a:stCxn id="78" idx="3"/>
            <a:endCxn id="29" idx="1"/>
          </p:cNvCxnSpPr>
          <p:nvPr/>
        </p:nvCxnSpPr>
        <p:spPr>
          <a:xfrm flipV="1">
            <a:off x="7546511" y="1877898"/>
            <a:ext cx="513017" cy="849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465F2FF8-DBAB-ED43-BA92-B9CF08608055}"/>
              </a:ext>
            </a:extLst>
          </p:cNvPr>
          <p:cNvSpPr/>
          <p:nvPr/>
        </p:nvSpPr>
        <p:spPr>
          <a:xfrm>
            <a:off x="8058193" y="2231784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4D2A12-EEA6-284A-A3C9-34853041A600}"/>
              </a:ext>
            </a:extLst>
          </p:cNvPr>
          <p:cNvSpPr/>
          <p:nvPr/>
        </p:nvSpPr>
        <p:spPr>
          <a:xfrm>
            <a:off x="8058193" y="2901069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5F0883-0B7A-D148-A0A9-B4FBB7335E4D}"/>
              </a:ext>
            </a:extLst>
          </p:cNvPr>
          <p:cNvSpPr txBox="1"/>
          <p:nvPr/>
        </p:nvSpPr>
        <p:spPr>
          <a:xfrm>
            <a:off x="8172974" y="2632737"/>
            <a:ext cx="247432" cy="19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…</a:t>
            </a:r>
            <a:endParaRPr lang="en-CN" sz="1100" dirty="0"/>
          </a:p>
        </p:txBody>
      </p:sp>
      <p:cxnSp>
        <p:nvCxnSpPr>
          <p:cNvPr id="44" name="Curved Connector 39">
            <a:extLst>
              <a:ext uri="{FF2B5EF4-FFF2-40B4-BE49-F238E27FC236}">
                <a16:creationId xmlns:a16="http://schemas.microsoft.com/office/drawing/2014/main" id="{081E6004-2C94-B145-8DFF-D288E3074DBD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 flipV="1">
            <a:off x="7546511" y="2421387"/>
            <a:ext cx="511682" cy="4400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0">
            <a:extLst>
              <a:ext uri="{FF2B5EF4-FFF2-40B4-BE49-F238E27FC236}">
                <a16:creationId xmlns:a16="http://schemas.microsoft.com/office/drawing/2014/main" id="{E8BFAB72-F80E-0547-B432-4B4E7DEB7EC6}"/>
              </a:ext>
            </a:extLst>
          </p:cNvPr>
          <p:cNvCxnSpPr>
            <a:cxnSpLocks/>
            <a:stCxn id="81" idx="3"/>
            <a:endCxn id="42" idx="1"/>
          </p:cNvCxnSpPr>
          <p:nvPr/>
        </p:nvCxnSpPr>
        <p:spPr>
          <a:xfrm flipV="1">
            <a:off x="7546511" y="3090672"/>
            <a:ext cx="511682" cy="399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72E152B-5948-0443-A651-7A0820B3969E}"/>
              </a:ext>
            </a:extLst>
          </p:cNvPr>
          <p:cNvSpPr txBox="1"/>
          <p:nvPr/>
        </p:nvSpPr>
        <p:spPr>
          <a:xfrm>
            <a:off x="6856668" y="4623623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间接索引块</a:t>
            </a:r>
            <a:endParaRPr lang="en-CN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FFAB66-3BB7-D343-B258-4E52807062E4}"/>
              </a:ext>
            </a:extLst>
          </p:cNvPr>
          <p:cNvSpPr/>
          <p:nvPr/>
        </p:nvSpPr>
        <p:spPr>
          <a:xfrm>
            <a:off x="6539380" y="1143009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F828DD5-943B-7F49-AA8A-8E2690F12821}"/>
              </a:ext>
            </a:extLst>
          </p:cNvPr>
          <p:cNvSpPr/>
          <p:nvPr/>
        </p:nvSpPr>
        <p:spPr>
          <a:xfrm>
            <a:off x="5736124" y="1986490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3BE036-E7EB-8448-AF28-78EE6F0838B9}"/>
              </a:ext>
            </a:extLst>
          </p:cNvPr>
          <p:cNvSpPr/>
          <p:nvPr/>
        </p:nvSpPr>
        <p:spPr>
          <a:xfrm>
            <a:off x="5736124" y="2120657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47CBBB-EB22-D440-8307-3D1CCB452D88}"/>
              </a:ext>
            </a:extLst>
          </p:cNvPr>
          <p:cNvSpPr/>
          <p:nvPr/>
        </p:nvSpPr>
        <p:spPr>
          <a:xfrm>
            <a:off x="5736124" y="2254824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D292A2-FD9E-7944-87F3-58F64C18DEB8}"/>
              </a:ext>
            </a:extLst>
          </p:cNvPr>
          <p:cNvSpPr/>
          <p:nvPr/>
        </p:nvSpPr>
        <p:spPr>
          <a:xfrm>
            <a:off x="5736124" y="2389895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128</a:t>
            </a:r>
            <a:endParaRPr lang="en-CN" sz="1000" dirty="0"/>
          </a:p>
        </p:txBody>
      </p:sp>
      <p:cxnSp>
        <p:nvCxnSpPr>
          <p:cNvPr id="52" name="Curved Connector 59">
            <a:extLst>
              <a:ext uri="{FF2B5EF4-FFF2-40B4-BE49-F238E27FC236}">
                <a16:creationId xmlns:a16="http://schemas.microsoft.com/office/drawing/2014/main" id="{6FAF9EB9-978E-D94A-A1B8-7482D46781EA}"/>
              </a:ext>
            </a:extLst>
          </p:cNvPr>
          <p:cNvCxnSpPr>
            <a:cxnSpLocks/>
            <a:stCxn id="48" idx="3"/>
            <a:endCxn id="47" idx="1"/>
          </p:cNvCxnSpPr>
          <p:nvPr/>
        </p:nvCxnSpPr>
        <p:spPr>
          <a:xfrm flipV="1">
            <a:off x="6225822" y="1332612"/>
            <a:ext cx="313558" cy="720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015473D-918A-4446-AB28-17B1E3ACEAFA}"/>
              </a:ext>
            </a:extLst>
          </p:cNvPr>
          <p:cNvSpPr/>
          <p:nvPr/>
        </p:nvSpPr>
        <p:spPr>
          <a:xfrm>
            <a:off x="6547250" y="1613648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cxnSp>
        <p:nvCxnSpPr>
          <p:cNvPr id="54" name="Curved Connector 62">
            <a:extLst>
              <a:ext uri="{FF2B5EF4-FFF2-40B4-BE49-F238E27FC236}">
                <a16:creationId xmlns:a16="http://schemas.microsoft.com/office/drawing/2014/main" id="{D6A1CD45-C0AF-9045-BB69-124558283607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6225822" y="1803251"/>
            <a:ext cx="321428" cy="384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2C13C706-F624-8848-89A3-FDAB057A52E7}"/>
              </a:ext>
            </a:extLst>
          </p:cNvPr>
          <p:cNvCxnSpPr>
            <a:cxnSpLocks/>
            <a:stCxn id="24" idx="3"/>
            <a:endCxn id="48" idx="1"/>
          </p:cNvCxnSpPr>
          <p:nvPr/>
        </p:nvCxnSpPr>
        <p:spPr>
          <a:xfrm flipV="1">
            <a:off x="5175057" y="2053574"/>
            <a:ext cx="561067" cy="617493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2D96F8D-876F-954D-9895-74ABB3BC0A04}"/>
              </a:ext>
            </a:extLst>
          </p:cNvPr>
          <p:cNvSpPr txBox="1"/>
          <p:nvPr/>
        </p:nvSpPr>
        <p:spPr>
          <a:xfrm>
            <a:off x="5528109" y="2535034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间接索引块</a:t>
            </a:r>
            <a:endParaRPr lang="en-CN" sz="11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74F11C-D1D0-BD4E-8CF6-A8D2BE096378}"/>
              </a:ext>
            </a:extLst>
          </p:cNvPr>
          <p:cNvSpPr/>
          <p:nvPr/>
        </p:nvSpPr>
        <p:spPr>
          <a:xfrm>
            <a:off x="6547250" y="2170223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cxnSp>
        <p:nvCxnSpPr>
          <p:cNvPr id="58" name="Curved Connector 62">
            <a:extLst>
              <a:ext uri="{FF2B5EF4-FFF2-40B4-BE49-F238E27FC236}">
                <a16:creationId xmlns:a16="http://schemas.microsoft.com/office/drawing/2014/main" id="{A56D60C1-68A0-EF49-8A6D-02ECAB533A5E}"/>
              </a:ext>
            </a:extLst>
          </p:cNvPr>
          <p:cNvCxnSpPr>
            <a:cxnSpLocks/>
            <a:stCxn id="51" idx="3"/>
            <a:endCxn id="57" idx="1"/>
          </p:cNvCxnSpPr>
          <p:nvPr/>
        </p:nvCxnSpPr>
        <p:spPr>
          <a:xfrm flipV="1">
            <a:off x="6225822" y="2359826"/>
            <a:ext cx="321428" cy="971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CB55123-33B7-6749-A04C-B449EA105976}"/>
              </a:ext>
            </a:extLst>
          </p:cNvPr>
          <p:cNvSpPr txBox="1"/>
          <p:nvPr/>
        </p:nvSpPr>
        <p:spPr>
          <a:xfrm>
            <a:off x="5563694" y="4961277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三级间接索引块</a:t>
            </a:r>
            <a:endParaRPr lang="en-CN" sz="11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8C28018-70DA-D249-83A7-1485A96B9451}"/>
              </a:ext>
            </a:extLst>
          </p:cNvPr>
          <p:cNvSpPr/>
          <p:nvPr/>
        </p:nvSpPr>
        <p:spPr>
          <a:xfrm>
            <a:off x="5788855" y="4372331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4A1B9B3-CEE5-3848-8A4F-2467935408F7}"/>
              </a:ext>
            </a:extLst>
          </p:cNvPr>
          <p:cNvSpPr/>
          <p:nvPr/>
        </p:nvSpPr>
        <p:spPr>
          <a:xfrm>
            <a:off x="5788855" y="4506498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8CB433-B39C-3D4A-8AFB-DE03EC71FBC0}"/>
              </a:ext>
            </a:extLst>
          </p:cNvPr>
          <p:cNvSpPr/>
          <p:nvPr/>
        </p:nvSpPr>
        <p:spPr>
          <a:xfrm>
            <a:off x="5788855" y="4640665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41CFDA9-11E2-834F-84A6-4797190C50E1}"/>
              </a:ext>
            </a:extLst>
          </p:cNvPr>
          <p:cNvSpPr/>
          <p:nvPr/>
        </p:nvSpPr>
        <p:spPr>
          <a:xfrm>
            <a:off x="5788855" y="4775736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128</a:t>
            </a:r>
            <a:endParaRPr lang="en-CN" sz="1000" dirty="0"/>
          </a:p>
        </p:txBody>
      </p: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39C34116-A6F0-4948-9B9A-5B9793425895}"/>
              </a:ext>
            </a:extLst>
          </p:cNvPr>
          <p:cNvCxnSpPr>
            <a:cxnSpLocks/>
            <a:stCxn id="26" idx="3"/>
            <a:endCxn id="60" idx="1"/>
          </p:cNvCxnSpPr>
          <p:nvPr/>
        </p:nvCxnSpPr>
        <p:spPr>
          <a:xfrm>
            <a:off x="5175056" y="2991786"/>
            <a:ext cx="613799" cy="144762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7DE0899-452B-694D-A5D4-E77377C2EEB3}"/>
              </a:ext>
            </a:extLst>
          </p:cNvPr>
          <p:cNvSpPr txBox="1"/>
          <p:nvPr/>
        </p:nvSpPr>
        <p:spPr>
          <a:xfrm>
            <a:off x="6653825" y="1939732"/>
            <a:ext cx="247432" cy="19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…</a:t>
            </a:r>
            <a:endParaRPr lang="en-CN" sz="1100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A5CA6A1-F7C9-764F-BA8C-D6A2C8EB4EB6}"/>
              </a:ext>
            </a:extLst>
          </p:cNvPr>
          <p:cNvGrpSpPr/>
          <p:nvPr/>
        </p:nvGrpSpPr>
        <p:grpSpPr>
          <a:xfrm>
            <a:off x="7056813" y="3313319"/>
            <a:ext cx="489698" cy="537572"/>
            <a:chOff x="7298430" y="2380870"/>
            <a:chExt cx="489698" cy="537572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75F1F13-0216-5B47-8D4A-A7365B4ABC43}"/>
                </a:ext>
              </a:extLst>
            </p:cNvPr>
            <p:cNvSpPr/>
            <p:nvPr/>
          </p:nvSpPr>
          <p:spPr>
            <a:xfrm>
              <a:off x="7298430" y="238087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991A007-C17F-C945-8B56-1FB992A6CF9A}"/>
                </a:ext>
              </a:extLst>
            </p:cNvPr>
            <p:cNvSpPr/>
            <p:nvPr/>
          </p:nvSpPr>
          <p:spPr>
            <a:xfrm>
              <a:off x="7298430" y="2515037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150D156-B43C-9D45-8CEA-9FE0E9306D27}"/>
                </a:ext>
              </a:extLst>
            </p:cNvPr>
            <p:cNvSpPr/>
            <p:nvPr/>
          </p:nvSpPr>
          <p:spPr>
            <a:xfrm>
              <a:off x="7298430" y="2649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C06671F-98E8-8A49-A915-9C1E6395C6B5}"/>
                </a:ext>
              </a:extLst>
            </p:cNvPr>
            <p:cNvSpPr/>
            <p:nvPr/>
          </p:nvSpPr>
          <p:spPr>
            <a:xfrm>
              <a:off x="7298430" y="278427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9E6C485-8F82-3A4B-9001-30255A0FD5E5}"/>
              </a:ext>
            </a:extLst>
          </p:cNvPr>
          <p:cNvGrpSpPr/>
          <p:nvPr/>
        </p:nvGrpSpPr>
        <p:grpSpPr>
          <a:xfrm>
            <a:off x="7056813" y="4079290"/>
            <a:ext cx="489698" cy="537572"/>
            <a:chOff x="7298430" y="2380870"/>
            <a:chExt cx="489698" cy="53757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5B35D0D-08D3-6F43-9B44-02C1FC1D222C}"/>
                </a:ext>
              </a:extLst>
            </p:cNvPr>
            <p:cNvSpPr/>
            <p:nvPr/>
          </p:nvSpPr>
          <p:spPr>
            <a:xfrm>
              <a:off x="7298430" y="238087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666DBE5-AD5F-DA41-AFEC-D5C4ADCEFDF7}"/>
                </a:ext>
              </a:extLst>
            </p:cNvPr>
            <p:cNvSpPr/>
            <p:nvPr/>
          </p:nvSpPr>
          <p:spPr>
            <a:xfrm>
              <a:off x="7298430" y="2515037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235FB92-DF25-5D45-88EF-4EB251E50394}"/>
                </a:ext>
              </a:extLst>
            </p:cNvPr>
            <p:cNvSpPr/>
            <p:nvPr/>
          </p:nvSpPr>
          <p:spPr>
            <a:xfrm>
              <a:off x="7298430" y="2649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A385CDA-FEB8-6440-91FE-D51282EE7350}"/>
                </a:ext>
              </a:extLst>
            </p:cNvPr>
            <p:cNvSpPr/>
            <p:nvPr/>
          </p:nvSpPr>
          <p:spPr>
            <a:xfrm>
              <a:off x="7298430" y="278427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</p:grpSp>
      <p:cxnSp>
        <p:nvCxnSpPr>
          <p:cNvPr id="68" name="Curved Connector 40">
            <a:extLst>
              <a:ext uri="{FF2B5EF4-FFF2-40B4-BE49-F238E27FC236}">
                <a16:creationId xmlns:a16="http://schemas.microsoft.com/office/drawing/2014/main" id="{931A429F-74B7-CA48-9A84-2514438416D2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7546511" y="3380403"/>
            <a:ext cx="511682" cy="1079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D6CECB08-088F-C64D-87CF-CA3106FC9E5F}"/>
              </a:ext>
            </a:extLst>
          </p:cNvPr>
          <p:cNvSpPr/>
          <p:nvPr/>
        </p:nvSpPr>
        <p:spPr>
          <a:xfrm>
            <a:off x="8051841" y="3416702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03EBB36-4250-AD40-929C-845BC24CC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文件系统层面上的复制</a:t>
            </a:r>
            <a:endParaRPr lang="en-US" altLang="zh-CN" b="0" dirty="0"/>
          </a:p>
          <a:p>
            <a:r>
              <a:rPr lang="zh-CN" altLang="en-CN" b="0" dirty="0"/>
              <a:t>只</a:t>
            </a:r>
            <a:r>
              <a:rPr lang="zh-CN" altLang="en-US" b="0" dirty="0"/>
              <a:t>复制关键元数据</a:t>
            </a:r>
            <a:endParaRPr lang="en-US" altLang="zh-CN" b="0" dirty="0"/>
          </a:p>
          <a:p>
            <a:r>
              <a:rPr lang="zh-CN" altLang="en-CN" b="0" dirty="0"/>
              <a:t>其他部分</a:t>
            </a:r>
            <a:r>
              <a:rPr lang="en-US" altLang="zh-CN" b="0" dirty="0" err="1"/>
              <a:t>CoW</a:t>
            </a:r>
            <a:r>
              <a:rPr lang="zh-CN" altLang="en-US" b="0" dirty="0"/>
              <a:t>共享</a:t>
            </a:r>
            <a:endParaRPr lang="en-CN" b="0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BE226F5-4286-874B-A485-6754E8CD0034}"/>
              </a:ext>
            </a:extLst>
          </p:cNvPr>
          <p:cNvGrpSpPr/>
          <p:nvPr/>
        </p:nvGrpSpPr>
        <p:grpSpPr>
          <a:xfrm>
            <a:off x="3295581" y="3285510"/>
            <a:ext cx="584733" cy="1879311"/>
            <a:chOff x="3642830" y="2940428"/>
            <a:chExt cx="584733" cy="187931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DD23EE-F85B-D245-A9D0-00A785B28BF6}"/>
                </a:ext>
              </a:extLst>
            </p:cNvPr>
            <p:cNvSpPr/>
            <p:nvPr/>
          </p:nvSpPr>
          <p:spPr>
            <a:xfrm>
              <a:off x="3642831" y="2940428"/>
              <a:ext cx="584732" cy="633360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00" dirty="0"/>
                <a:t>常用</a:t>
              </a:r>
              <a:r>
                <a:rPr lang="zh-CN" altLang="en-US" sz="1000" dirty="0"/>
                <a:t>元数据</a:t>
              </a:r>
              <a:endParaRPr lang="en-CN" sz="100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3C55F3B-9374-6548-BF2D-D3B72EC9ED69}"/>
                </a:ext>
              </a:extLst>
            </p:cNvPr>
            <p:cNvSpPr/>
            <p:nvPr/>
          </p:nvSpPr>
          <p:spPr>
            <a:xfrm>
              <a:off x="3642831" y="3573788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7A600AD-AA50-AE42-B16C-258A78A89350}"/>
                </a:ext>
              </a:extLst>
            </p:cNvPr>
            <p:cNvSpPr/>
            <p:nvPr/>
          </p:nvSpPr>
          <p:spPr>
            <a:xfrm>
              <a:off x="3642831" y="3733992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755C321-7118-094E-8391-8C185A09FA1E}"/>
                </a:ext>
              </a:extLst>
            </p:cNvPr>
            <p:cNvSpPr/>
            <p:nvPr/>
          </p:nvSpPr>
          <p:spPr>
            <a:xfrm>
              <a:off x="3642831" y="3894195"/>
              <a:ext cx="584732" cy="290309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EC282EF-C429-094C-9017-08B51B5829BA}"/>
                </a:ext>
              </a:extLst>
            </p:cNvPr>
            <p:cNvSpPr/>
            <p:nvPr/>
          </p:nvSpPr>
          <p:spPr>
            <a:xfrm>
              <a:off x="3642830" y="4184505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endParaRPr lang="en-CN" sz="1000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48F8871-D7D1-F545-A5CA-3D113CBFEF46}"/>
                </a:ext>
              </a:extLst>
            </p:cNvPr>
            <p:cNvSpPr/>
            <p:nvPr/>
          </p:nvSpPr>
          <p:spPr>
            <a:xfrm>
              <a:off x="3642831" y="4338816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13</a:t>
              </a:r>
              <a:endParaRPr lang="en-CN" sz="100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27F0BE7-87A0-654A-B677-ED57E86370E6}"/>
                </a:ext>
              </a:extLst>
            </p:cNvPr>
            <p:cNvSpPr/>
            <p:nvPr/>
          </p:nvSpPr>
          <p:spPr>
            <a:xfrm>
              <a:off x="3642831" y="4500100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14</a:t>
              </a:r>
              <a:endParaRPr lang="en-CN" sz="1000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A4E02D3-1FDE-2F4C-931A-E8470684B02A}"/>
                </a:ext>
              </a:extLst>
            </p:cNvPr>
            <p:cNvSpPr/>
            <p:nvPr/>
          </p:nvSpPr>
          <p:spPr>
            <a:xfrm>
              <a:off x="3642830" y="4659535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15</a:t>
              </a:r>
              <a:endParaRPr lang="en-CN" sz="1000" dirty="0"/>
            </a:p>
          </p:txBody>
        </p:sp>
      </p:grpSp>
      <p:cxnSp>
        <p:nvCxnSpPr>
          <p:cNvPr id="91" name="Curved Connector 15">
            <a:extLst>
              <a:ext uri="{FF2B5EF4-FFF2-40B4-BE49-F238E27FC236}">
                <a16:creationId xmlns:a16="http://schemas.microsoft.com/office/drawing/2014/main" id="{801D0514-2D9C-4047-9330-7B0C0EF617AA}"/>
              </a:ext>
            </a:extLst>
          </p:cNvPr>
          <p:cNvCxnSpPr>
            <a:cxnSpLocks/>
            <a:stCxn id="84" idx="3"/>
            <a:endCxn id="27" idx="1"/>
          </p:cNvCxnSpPr>
          <p:nvPr/>
        </p:nvCxnSpPr>
        <p:spPr>
          <a:xfrm flipV="1">
            <a:off x="3880314" y="993400"/>
            <a:ext cx="1847940" cy="300557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urved Connector 16">
            <a:extLst>
              <a:ext uri="{FF2B5EF4-FFF2-40B4-BE49-F238E27FC236}">
                <a16:creationId xmlns:a16="http://schemas.microsoft.com/office/drawing/2014/main" id="{EAF703EF-0C41-7F4F-B837-5E9E531455EC}"/>
              </a:ext>
            </a:extLst>
          </p:cNvPr>
          <p:cNvCxnSpPr>
            <a:cxnSpLocks/>
            <a:stCxn id="85" idx="3"/>
            <a:endCxn id="28" idx="1"/>
          </p:cNvCxnSpPr>
          <p:nvPr/>
        </p:nvCxnSpPr>
        <p:spPr>
          <a:xfrm flipV="1">
            <a:off x="3880314" y="1457441"/>
            <a:ext cx="1840247" cy="270173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urved Connector 92">
            <a:extLst>
              <a:ext uri="{FF2B5EF4-FFF2-40B4-BE49-F238E27FC236}">
                <a16:creationId xmlns:a16="http://schemas.microsoft.com/office/drawing/2014/main" id="{29846FB0-4A04-1B44-BCB8-38F3A9D5CA41}"/>
              </a:ext>
            </a:extLst>
          </p:cNvPr>
          <p:cNvCxnSpPr>
            <a:cxnSpLocks/>
            <a:stCxn id="89" idx="3"/>
            <a:endCxn id="32" idx="1"/>
          </p:cNvCxnSpPr>
          <p:nvPr/>
        </p:nvCxnSpPr>
        <p:spPr>
          <a:xfrm flipV="1">
            <a:off x="3880314" y="3280275"/>
            <a:ext cx="1880826" cy="1645009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urved Connector 93">
            <a:extLst>
              <a:ext uri="{FF2B5EF4-FFF2-40B4-BE49-F238E27FC236}">
                <a16:creationId xmlns:a16="http://schemas.microsoft.com/office/drawing/2014/main" id="{F3567589-89D5-E04C-8D02-A505BB276DA5}"/>
              </a:ext>
            </a:extLst>
          </p:cNvPr>
          <p:cNvCxnSpPr>
            <a:cxnSpLocks/>
            <a:stCxn id="88" idx="3"/>
            <a:endCxn id="48" idx="1"/>
          </p:cNvCxnSpPr>
          <p:nvPr/>
        </p:nvCxnSpPr>
        <p:spPr>
          <a:xfrm flipV="1">
            <a:off x="3880314" y="2053574"/>
            <a:ext cx="1855810" cy="2710426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94">
            <a:extLst>
              <a:ext uri="{FF2B5EF4-FFF2-40B4-BE49-F238E27FC236}">
                <a16:creationId xmlns:a16="http://schemas.microsoft.com/office/drawing/2014/main" id="{E00EE86E-8B45-6C4A-A5A1-7E73B57E6796}"/>
              </a:ext>
            </a:extLst>
          </p:cNvPr>
          <p:cNvCxnSpPr>
            <a:cxnSpLocks/>
            <a:stCxn id="90" idx="3"/>
            <a:endCxn id="60" idx="1"/>
          </p:cNvCxnSpPr>
          <p:nvPr/>
        </p:nvCxnSpPr>
        <p:spPr>
          <a:xfrm flipV="1">
            <a:off x="3880313" y="4439415"/>
            <a:ext cx="1908542" cy="645304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FBBCBA7-28BE-7E47-A278-BC5A24259F87}"/>
              </a:ext>
            </a:extLst>
          </p:cNvPr>
          <p:cNvSpPr txBox="1"/>
          <p:nvPr/>
        </p:nvSpPr>
        <p:spPr>
          <a:xfrm>
            <a:off x="5965410" y="6007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A00CAA-B215-634A-A08E-68C6B83024EF}"/>
              </a:ext>
            </a:extLst>
          </p:cNvPr>
          <p:cNvSpPr txBox="1"/>
          <p:nvPr/>
        </p:nvSpPr>
        <p:spPr>
          <a:xfrm>
            <a:off x="5870596" y="113543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8605C2-0826-E24D-9200-EDEB591E5926}"/>
              </a:ext>
            </a:extLst>
          </p:cNvPr>
          <p:cNvSpPr txBox="1"/>
          <p:nvPr/>
        </p:nvSpPr>
        <p:spPr>
          <a:xfrm>
            <a:off x="5724918" y="177873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E5C5B2-5502-2842-9295-1BDD7B6DAA55}"/>
              </a:ext>
            </a:extLst>
          </p:cNvPr>
          <p:cNvSpPr txBox="1"/>
          <p:nvPr/>
        </p:nvSpPr>
        <p:spPr>
          <a:xfrm>
            <a:off x="5821724" y="298082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37BBE66-C0F3-D34B-AB3E-B266603ED2A7}"/>
              </a:ext>
            </a:extLst>
          </p:cNvPr>
          <p:cNvSpPr txBox="1"/>
          <p:nvPr/>
        </p:nvSpPr>
        <p:spPr>
          <a:xfrm>
            <a:off x="5878892" y="41587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12DF936-3BBC-854D-AEB9-B2A115925727}"/>
              </a:ext>
            </a:extLst>
          </p:cNvPr>
          <p:cNvSpPr txBox="1"/>
          <p:nvPr/>
        </p:nvSpPr>
        <p:spPr>
          <a:xfrm>
            <a:off x="3832096" y="103835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文件</a:t>
            </a:r>
            <a:r>
              <a:rPr lang="en-US" altLang="zh-CN" dirty="0"/>
              <a:t>A</a:t>
            </a:r>
            <a:endParaRPr lang="en-CN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2499E6B-E4F1-0D4A-BC1A-1C911B83541D}"/>
              </a:ext>
            </a:extLst>
          </p:cNvPr>
          <p:cNvSpPr txBox="1"/>
          <p:nvPr/>
        </p:nvSpPr>
        <p:spPr>
          <a:xfrm>
            <a:off x="2898801" y="290901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文件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endParaRPr lang="en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6500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71FF-7C20-CD43-B96C-8F50183D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快照</a:t>
            </a:r>
            <a:r>
              <a:rPr lang="zh-CN" altLang="en-US" dirty="0"/>
              <a:t>（</a:t>
            </a:r>
            <a:r>
              <a:rPr lang="en-US" altLang="zh-CN" dirty="0"/>
              <a:t>Snapshot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4159-A6EE-4D4F-A7B7-43A97D7B0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同样使用</a:t>
            </a:r>
            <a:r>
              <a:rPr lang="en-US" altLang="zh-CN" b="0" dirty="0" err="1"/>
              <a:t>CoW</a:t>
            </a:r>
            <a:endParaRPr lang="en-US" altLang="zh-CN" b="0" dirty="0"/>
          </a:p>
          <a:p>
            <a:r>
              <a:rPr lang="zh-CN" altLang="en-US" b="0" dirty="0"/>
              <a:t>对于基于</a:t>
            </a:r>
            <a:r>
              <a:rPr lang="en-US" altLang="zh-CN" b="0" dirty="0" err="1"/>
              <a:t>inode</a:t>
            </a:r>
            <a:r>
              <a:rPr lang="zh-CN" altLang="en-US" b="0" dirty="0"/>
              <a:t>表的文件系统</a:t>
            </a:r>
            <a:endParaRPr lang="en-US" altLang="zh-CN" b="0" dirty="0"/>
          </a:p>
          <a:p>
            <a:pPr lvl="1"/>
            <a:r>
              <a:rPr lang="zh-CN" altLang="en-CN" b="0" dirty="0"/>
              <a:t>将</a:t>
            </a:r>
            <a:r>
              <a:rPr lang="en-US" altLang="zh-CN" b="0" dirty="0" err="1"/>
              <a:t>inode</a:t>
            </a:r>
            <a:r>
              <a:rPr lang="zh-CN" altLang="en-US" b="0" dirty="0"/>
              <a:t>表拷贝一份作为快照保存</a:t>
            </a:r>
            <a:endParaRPr lang="en-US" altLang="zh-CN" b="0" dirty="0"/>
          </a:p>
          <a:p>
            <a:pPr lvl="1"/>
            <a:r>
              <a:rPr lang="zh-CN" altLang="en-US" dirty="0"/>
              <a:t>标记已用数据区为</a:t>
            </a:r>
            <a:r>
              <a:rPr lang="en-US" altLang="zh-CN" dirty="0" err="1"/>
              <a:t>CoW</a:t>
            </a:r>
            <a:endParaRPr lang="en-US" altLang="zh-CN" b="0" dirty="0"/>
          </a:p>
          <a:p>
            <a:r>
              <a:rPr lang="zh-CN" altLang="en-US" b="0" dirty="0"/>
              <a:t>对于树状结构的文件系统</a:t>
            </a:r>
            <a:endParaRPr lang="en-US" altLang="zh-CN" b="0" dirty="0"/>
          </a:p>
          <a:p>
            <a:pPr lvl="1"/>
            <a:r>
              <a:rPr lang="zh-CN" altLang="en-US" dirty="0"/>
              <a:t>将树根拷贝一份作为快照保存</a:t>
            </a:r>
            <a:endParaRPr lang="en-US" altLang="zh-CN" dirty="0"/>
          </a:p>
          <a:p>
            <a:pPr lvl="1"/>
            <a:r>
              <a:rPr lang="zh-CN" altLang="en-US" b="0" dirty="0"/>
              <a:t>树根以下的节点标记为</a:t>
            </a:r>
            <a:r>
              <a:rPr lang="en-US" altLang="zh-CN" b="0" dirty="0" err="1"/>
              <a:t>CoW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1B455-F051-E445-A2CB-CD28645F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6BF15-6590-6846-9099-DEF983E3C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1138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8672-F932-1146-BD22-85662463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稀疏文件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B96E-B839-4242-9CFB-EAB2CF594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b="0" dirty="0"/>
              <a:t>一个</a:t>
            </a:r>
            <a:r>
              <a:rPr lang="zh-CN" altLang="en-US" b="0" dirty="0"/>
              <a:t>文件大部分数据为</a:t>
            </a:r>
            <a:r>
              <a:rPr lang="en-US" altLang="zh-CN" b="0" dirty="0"/>
              <a:t>0</a:t>
            </a:r>
            <a:r>
              <a:rPr lang="zh-CN" altLang="en-US" b="0" dirty="0"/>
              <a:t>，则为稀疏文件</a:t>
            </a:r>
            <a:endParaRPr lang="en-US" altLang="zh-CN" b="0" dirty="0"/>
          </a:p>
          <a:p>
            <a:pPr lvl="1"/>
            <a:r>
              <a:rPr lang="zh-CN" altLang="en-US" b="0" dirty="0"/>
              <a:t>如</a:t>
            </a:r>
            <a:r>
              <a:rPr lang="zh-CN" altLang="en-CN" b="0" dirty="0"/>
              <a:t>虚拟机</a:t>
            </a:r>
            <a:r>
              <a:rPr lang="zh-CN" altLang="en-US" b="0" dirty="0"/>
              <a:t>镜像文件</a:t>
            </a:r>
            <a:endParaRPr lang="en-US" altLang="zh-CN" b="0" dirty="0"/>
          </a:p>
          <a:p>
            <a:r>
              <a:rPr lang="zh-CN" altLang="en-US" b="0" dirty="0"/>
              <a:t>稀疏文件中大量的</a:t>
            </a:r>
            <a:r>
              <a:rPr lang="en-US" altLang="zh-CN" b="0" dirty="0"/>
              <a:t>0</a:t>
            </a:r>
            <a:r>
              <a:rPr lang="zh-CN" altLang="en-US" b="0" dirty="0"/>
              <a:t>数据，白白消耗空间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0E5B-F7C4-C140-8ADB-DEA6F99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69C8-E3CA-F94F-84E6-2C0B3FE8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5841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8672-F932-1146-BD22-85662463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0E5B-F7C4-C140-8ADB-DEA6F99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69C8-E3CA-F94F-84E6-2C0B3FE8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633146D6-A6CB-F546-B3DC-E5244CF17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在索引中增加标记</a:t>
            </a:r>
            <a:endParaRPr lang="en-US" altLang="zh-CN" b="0" dirty="0"/>
          </a:p>
          <a:p>
            <a:r>
              <a:rPr lang="zh-CN" altLang="en-CN" b="0" dirty="0"/>
              <a:t>删除</a:t>
            </a:r>
            <a:r>
              <a:rPr lang="zh-CN" altLang="en-US" b="0" dirty="0"/>
              <a:t>全</a:t>
            </a:r>
            <a:r>
              <a:rPr lang="en-US" altLang="zh-CN" b="0" dirty="0"/>
              <a:t>0</a:t>
            </a:r>
            <a:r>
              <a:rPr lang="zh-CN" altLang="en-US" b="0" dirty="0"/>
              <a:t>块</a:t>
            </a:r>
            <a:endParaRPr lang="en-CN" b="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4E2242F-3A86-7C4F-AC4F-C258B978B0C3}"/>
              </a:ext>
            </a:extLst>
          </p:cNvPr>
          <p:cNvGrpSpPr/>
          <p:nvPr/>
        </p:nvGrpSpPr>
        <p:grpSpPr>
          <a:xfrm>
            <a:off x="2843808" y="696103"/>
            <a:ext cx="5633032" cy="4640560"/>
            <a:chOff x="3261229" y="597933"/>
            <a:chExt cx="5633032" cy="46405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935E4A-4C10-8143-A1BE-F89E6F46508A}"/>
                </a:ext>
              </a:extLst>
            </p:cNvPr>
            <p:cNvSpPr/>
            <p:nvPr/>
          </p:nvSpPr>
          <p:spPr>
            <a:xfrm>
              <a:off x="3261229" y="1742949"/>
              <a:ext cx="671659" cy="7275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常用</a:t>
              </a:r>
              <a:r>
                <a:rPr lang="zh-CN" altLang="en-US" sz="1100" dirty="0"/>
                <a:t>元数据</a:t>
              </a:r>
              <a:endParaRPr lang="en-CN" sz="11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51329C1-55C2-2244-8038-A611EA6C5BBD}"/>
                </a:ext>
              </a:extLst>
            </p:cNvPr>
            <p:cNvSpPr/>
            <p:nvPr/>
          </p:nvSpPr>
          <p:spPr>
            <a:xfrm>
              <a:off x="3261229" y="2470466"/>
              <a:ext cx="671659" cy="1840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树</a:t>
              </a:r>
              <a:r>
                <a:rPr lang="zh-CN" altLang="en-US" sz="1100" dirty="0"/>
                <a:t>根</a:t>
              </a:r>
              <a:endParaRPr lang="en-CN" sz="1100" dirty="0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90064DF8-C625-8743-A97E-45CABD95F903}"/>
                </a:ext>
              </a:extLst>
            </p:cNvPr>
            <p:cNvCxnSpPr>
              <a:cxnSpLocks/>
              <a:stCxn id="75" idx="3"/>
              <a:endCxn id="77" idx="1"/>
            </p:cNvCxnSpPr>
            <p:nvPr/>
          </p:nvCxnSpPr>
          <p:spPr>
            <a:xfrm flipV="1">
              <a:off x="3932888" y="2266686"/>
              <a:ext cx="403491" cy="29579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D0D9A4F-F4EC-7A4B-A63F-60A650F06B79}"/>
                </a:ext>
              </a:extLst>
            </p:cNvPr>
            <p:cNvSpPr/>
            <p:nvPr/>
          </p:nvSpPr>
          <p:spPr>
            <a:xfrm>
              <a:off x="4336379" y="21746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偏移量</a:t>
              </a:r>
              <a:endParaRPr lang="en-CN" sz="11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255C0D2-936E-C14A-A8DC-1A9073B3FE05}"/>
                </a:ext>
              </a:extLst>
            </p:cNvPr>
            <p:cNvSpPr/>
            <p:nvPr/>
          </p:nvSpPr>
          <p:spPr>
            <a:xfrm>
              <a:off x="4336379" y="2358697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子节点</a:t>
              </a:r>
              <a:endParaRPr lang="en-CN" sz="11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30E7C58-8572-6741-9910-197E24B25DF1}"/>
                </a:ext>
              </a:extLst>
            </p:cNvPr>
            <p:cNvSpPr/>
            <p:nvPr/>
          </p:nvSpPr>
          <p:spPr>
            <a:xfrm>
              <a:off x="4336379" y="254395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>
                  <a:solidFill>
                    <a:srgbClr val="000000"/>
                  </a:solidFill>
                </a:rPr>
                <a:t>偏移量</a:t>
              </a:r>
              <a:endParaRPr lang="en-CN" sz="11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F52196F-3419-7E49-B182-2649735049BD}"/>
                </a:ext>
              </a:extLst>
            </p:cNvPr>
            <p:cNvSpPr txBox="1"/>
            <p:nvPr/>
          </p:nvSpPr>
          <p:spPr>
            <a:xfrm>
              <a:off x="4202756" y="3748947"/>
              <a:ext cx="861020" cy="293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索引节点</a:t>
              </a:r>
              <a:endParaRPr lang="en-CN" sz="14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5A53824-CD19-4445-BFC6-D922E7E789C7}"/>
                </a:ext>
              </a:extLst>
            </p:cNvPr>
            <p:cNvSpPr/>
            <p:nvPr/>
          </p:nvSpPr>
          <p:spPr>
            <a:xfrm>
              <a:off x="4336378" y="27265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32D2177-86F2-D840-871D-291A15668FC7}"/>
                </a:ext>
              </a:extLst>
            </p:cNvPr>
            <p:cNvSpPr/>
            <p:nvPr/>
          </p:nvSpPr>
          <p:spPr>
            <a:xfrm>
              <a:off x="4336378" y="292950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zh-CN" altLang="en-US" sz="1050" dirty="0">
                  <a:solidFill>
                    <a:srgbClr val="000000"/>
                  </a:solidFill>
                </a:rPr>
                <a:t>偏移量</a:t>
              </a:r>
              <a:endParaRPr lang="en-CN" sz="1050" dirty="0">
                <a:solidFill>
                  <a:srgbClr val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3B8FD-B4F5-DB46-8418-36CDE18E7F0A}"/>
                </a:ext>
              </a:extLst>
            </p:cNvPr>
            <p:cNvSpPr/>
            <p:nvPr/>
          </p:nvSpPr>
          <p:spPr>
            <a:xfrm>
              <a:off x="4336378" y="311352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E04EB8E-972E-324C-89CB-83BF11E91669}"/>
                </a:ext>
              </a:extLst>
            </p:cNvPr>
            <p:cNvSpPr/>
            <p:nvPr/>
          </p:nvSpPr>
          <p:spPr>
            <a:xfrm>
              <a:off x="7264966" y="106087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449A6AC-F483-5145-B20B-7BDF72AA46ED}"/>
                </a:ext>
              </a:extLst>
            </p:cNvPr>
            <p:cNvSpPr/>
            <p:nvPr/>
          </p:nvSpPr>
          <p:spPr>
            <a:xfrm>
              <a:off x="7264965" y="1699339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9F3AB97-0D1C-6E4A-A9BF-E655F4BC66FD}"/>
                </a:ext>
              </a:extLst>
            </p:cNvPr>
            <p:cNvSpPr/>
            <p:nvPr/>
          </p:nvSpPr>
          <p:spPr>
            <a:xfrm>
              <a:off x="7264965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87" name="Curved Connector 86">
              <a:extLst>
                <a:ext uri="{FF2B5EF4-FFF2-40B4-BE49-F238E27FC236}">
                  <a16:creationId xmlns:a16="http://schemas.microsoft.com/office/drawing/2014/main" id="{8FB23CD4-BFCB-264D-8D41-56295DC9D847}"/>
                </a:ext>
              </a:extLst>
            </p:cNvPr>
            <p:cNvCxnSpPr>
              <a:cxnSpLocks/>
              <a:stCxn id="125" idx="3"/>
              <a:endCxn id="84" idx="1"/>
            </p:cNvCxnSpPr>
            <p:nvPr/>
          </p:nvCxnSpPr>
          <p:spPr>
            <a:xfrm flipV="1">
              <a:off x="6495554" y="1271151"/>
              <a:ext cx="769412" cy="328403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urved Connector 87">
              <a:extLst>
                <a:ext uri="{FF2B5EF4-FFF2-40B4-BE49-F238E27FC236}">
                  <a16:creationId xmlns:a16="http://schemas.microsoft.com/office/drawing/2014/main" id="{8FA5CE38-F6F7-3549-91E4-CF908FA5CC1C}"/>
                </a:ext>
              </a:extLst>
            </p:cNvPr>
            <p:cNvCxnSpPr>
              <a:cxnSpLocks/>
              <a:stCxn id="123" idx="3"/>
              <a:endCxn id="85" idx="1"/>
            </p:cNvCxnSpPr>
            <p:nvPr/>
          </p:nvCxnSpPr>
          <p:spPr>
            <a:xfrm flipV="1">
              <a:off x="6496751" y="1909617"/>
              <a:ext cx="768214" cy="243747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urved Connector 88">
              <a:extLst>
                <a:ext uri="{FF2B5EF4-FFF2-40B4-BE49-F238E27FC236}">
                  <a16:creationId xmlns:a16="http://schemas.microsoft.com/office/drawing/2014/main" id="{A41D63F5-0710-F340-A570-5F186FBACBC5}"/>
                </a:ext>
              </a:extLst>
            </p:cNvPr>
            <p:cNvCxnSpPr>
              <a:cxnSpLocks/>
              <a:stCxn id="115" idx="3"/>
              <a:endCxn id="86" idx="1"/>
            </p:cNvCxnSpPr>
            <p:nvPr/>
          </p:nvCxnSpPr>
          <p:spPr>
            <a:xfrm flipV="1">
              <a:off x="6495553" y="3389195"/>
              <a:ext cx="769412" cy="261845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1C1A835-C660-CA46-A350-2801DB3B2E63}"/>
                </a:ext>
              </a:extLst>
            </p:cNvPr>
            <p:cNvSpPr/>
            <p:nvPr/>
          </p:nvSpPr>
          <p:spPr>
            <a:xfrm>
              <a:off x="7808064" y="106087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895E7DD-65CB-DD4A-A5D4-56F9B600695A}"/>
                </a:ext>
              </a:extLst>
            </p:cNvPr>
            <p:cNvSpPr/>
            <p:nvPr/>
          </p:nvSpPr>
          <p:spPr>
            <a:xfrm>
              <a:off x="7808063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B3A66D3-F535-C64E-A511-41CE50E29DDF}"/>
                </a:ext>
              </a:extLst>
            </p:cNvPr>
            <p:cNvSpPr/>
            <p:nvPr/>
          </p:nvSpPr>
          <p:spPr>
            <a:xfrm>
              <a:off x="8351162" y="106087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3" name="Right Brace 92">
              <a:extLst>
                <a:ext uri="{FF2B5EF4-FFF2-40B4-BE49-F238E27FC236}">
                  <a16:creationId xmlns:a16="http://schemas.microsoft.com/office/drawing/2014/main" id="{6214B17A-6FC0-0748-9734-36EE9CE16A2C}"/>
                </a:ext>
              </a:extLst>
            </p:cNvPr>
            <p:cNvSpPr/>
            <p:nvPr/>
          </p:nvSpPr>
          <p:spPr>
            <a:xfrm rot="5400000" flipH="1">
              <a:off x="8001376" y="167990"/>
              <a:ext cx="156474" cy="1629295"/>
            </a:xfrm>
            <a:prstGeom prst="rightBrace">
              <a:avLst>
                <a:gd name="adj1" fmla="val 34720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8F1811B-F763-214E-8215-83E8E1FB6912}"/>
                </a:ext>
              </a:extLst>
            </p:cNvPr>
            <p:cNvSpPr txBox="1"/>
            <p:nvPr/>
          </p:nvSpPr>
          <p:spPr>
            <a:xfrm>
              <a:off x="7776584" y="597933"/>
              <a:ext cx="871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400" dirty="0"/>
                <a:t>Extent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8E2ADD4-0291-B347-AECD-B7F0B13162E4}"/>
                </a:ext>
              </a:extLst>
            </p:cNvPr>
            <p:cNvSpPr/>
            <p:nvPr/>
          </p:nvSpPr>
          <p:spPr>
            <a:xfrm>
              <a:off x="4336378" y="2164716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A8DF54D-E6EA-934B-AE3B-A23ABE41869B}"/>
                </a:ext>
              </a:extLst>
            </p:cNvPr>
            <p:cNvSpPr/>
            <p:nvPr/>
          </p:nvSpPr>
          <p:spPr>
            <a:xfrm>
              <a:off x="4336378" y="2541314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9D65C97-E83E-B844-A850-E92B3DD7A490}"/>
                </a:ext>
              </a:extLst>
            </p:cNvPr>
            <p:cNvSpPr/>
            <p:nvPr/>
          </p:nvSpPr>
          <p:spPr>
            <a:xfrm>
              <a:off x="4334103" y="3307348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FF1060D-A0F7-794D-BD81-8647D2C3E5FD}"/>
                </a:ext>
              </a:extLst>
            </p:cNvPr>
            <p:cNvSpPr/>
            <p:nvPr/>
          </p:nvSpPr>
          <p:spPr>
            <a:xfrm>
              <a:off x="4334104" y="2922311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7139D39-2A3B-0B4D-9744-2332F14A3F90}"/>
                </a:ext>
              </a:extLst>
            </p:cNvPr>
            <p:cNvGrpSpPr/>
            <p:nvPr/>
          </p:nvGrpSpPr>
          <p:grpSpPr>
            <a:xfrm>
              <a:off x="5640814" y="1321774"/>
              <a:ext cx="896399" cy="1865233"/>
              <a:chOff x="5228230" y="1391624"/>
              <a:chExt cx="896399" cy="1865233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2987014-DB3E-3543-9560-EBBB9135F6F5}"/>
                  </a:ext>
                </a:extLst>
              </p:cNvPr>
              <p:cNvSpPr/>
              <p:nvPr/>
            </p:nvSpPr>
            <p:spPr>
              <a:xfrm>
                <a:off x="5296292" y="13952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087407A-4C26-5A4C-9A94-557352DB25C2}"/>
                  </a:ext>
                </a:extLst>
              </p:cNvPr>
              <p:cNvSpPr/>
              <p:nvPr/>
            </p:nvSpPr>
            <p:spPr>
              <a:xfrm>
                <a:off x="5296292" y="1579305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起始块号</a:t>
                </a:r>
                <a:endParaRPr lang="en-CN" sz="1100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1E52E5E-93FB-3548-91DB-735108239FC3}"/>
                  </a:ext>
                </a:extLst>
              </p:cNvPr>
              <p:cNvSpPr/>
              <p:nvPr/>
            </p:nvSpPr>
            <p:spPr>
              <a:xfrm>
                <a:off x="5296292" y="1764566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050" dirty="0">
                    <a:solidFill>
                      <a:srgbClr val="000000"/>
                    </a:solidFill>
                  </a:rPr>
                  <a:t>长度</a:t>
                </a:r>
                <a:endParaRPr lang="en-CN" sz="1100" dirty="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17532B6-FE6E-1146-968A-7CC9DC4E343C}"/>
                  </a:ext>
                </a:extLst>
              </p:cNvPr>
              <p:cNvSpPr txBox="1"/>
              <p:nvPr/>
            </p:nvSpPr>
            <p:spPr>
              <a:xfrm>
                <a:off x="5228230" y="2949080"/>
                <a:ext cx="8963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叶子节点</a:t>
                </a:r>
                <a:endParaRPr lang="en-CN" sz="1400" dirty="0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1EFB7584-9C9A-884D-B3FE-0C6ACEC47E39}"/>
                  </a:ext>
                </a:extLst>
              </p:cNvPr>
              <p:cNvSpPr/>
              <p:nvPr/>
            </p:nvSpPr>
            <p:spPr>
              <a:xfrm>
                <a:off x="5296291" y="19471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偏移量</a:t>
                </a:r>
                <a:endParaRPr lang="en-CN" sz="1100" dirty="0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FAEDCB39-EE8F-7F47-BA06-25CE9778CC50}"/>
                  </a:ext>
                </a:extLst>
              </p:cNvPr>
              <p:cNvSpPr/>
              <p:nvPr/>
            </p:nvSpPr>
            <p:spPr>
              <a:xfrm>
                <a:off x="5296291" y="213120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起始块号</a:t>
                </a:r>
                <a:endParaRPr lang="en-CN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8715EF76-B7FF-9D46-8BEC-00F13AC209CF}"/>
                  </a:ext>
                </a:extLst>
              </p:cNvPr>
              <p:cNvSpPr/>
              <p:nvPr/>
            </p:nvSpPr>
            <p:spPr>
              <a:xfrm>
                <a:off x="5296291" y="231522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长度</a:t>
                </a:r>
                <a:endParaRPr lang="en-CN" sz="1100" dirty="0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1EA391F-BEE8-DC4F-9632-523AF81451FC}"/>
                  </a:ext>
                </a:extLst>
              </p:cNvPr>
              <p:cNvSpPr/>
              <p:nvPr/>
            </p:nvSpPr>
            <p:spPr>
              <a:xfrm>
                <a:off x="5295094" y="1391624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D2ECBCF-088A-C543-B29F-245B108C4BB9}"/>
                  </a:ext>
                </a:extLst>
              </p:cNvPr>
              <p:cNvSpPr/>
              <p:nvPr/>
            </p:nvSpPr>
            <p:spPr>
              <a:xfrm>
                <a:off x="5293896" y="1947183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F9F384D4-2F53-CB4A-8FDE-8DECBF4AEFA6}"/>
                  </a:ext>
                </a:extLst>
              </p:cNvPr>
              <p:cNvSpPr/>
              <p:nvPr/>
            </p:nvSpPr>
            <p:spPr>
              <a:xfrm>
                <a:off x="5293896" y="2510958"/>
                <a:ext cx="787876" cy="438121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024195E-4543-DA40-B343-089EC7203D08}"/>
                </a:ext>
              </a:extLst>
            </p:cNvPr>
            <p:cNvGrpSpPr/>
            <p:nvPr/>
          </p:nvGrpSpPr>
          <p:grpSpPr>
            <a:xfrm>
              <a:off x="5640813" y="3373260"/>
              <a:ext cx="896399" cy="1865233"/>
              <a:chOff x="5228230" y="1391624"/>
              <a:chExt cx="896399" cy="1865233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6BAEC2B-8161-A84F-9CEA-31B58EB45E75}"/>
                  </a:ext>
                </a:extLst>
              </p:cNvPr>
              <p:cNvSpPr/>
              <p:nvPr/>
            </p:nvSpPr>
            <p:spPr>
              <a:xfrm>
                <a:off x="5296292" y="13952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D066881-61E2-3A47-9196-A6DD0B70DBF9}"/>
                  </a:ext>
                </a:extLst>
              </p:cNvPr>
              <p:cNvSpPr/>
              <p:nvPr/>
            </p:nvSpPr>
            <p:spPr>
              <a:xfrm>
                <a:off x="5296292" y="1579305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起始块号</a:t>
                </a:r>
                <a:endParaRPr lang="en-CN" sz="1100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6468D5A-708D-3045-A853-7E88BE512048}"/>
                  </a:ext>
                </a:extLst>
              </p:cNvPr>
              <p:cNvSpPr/>
              <p:nvPr/>
            </p:nvSpPr>
            <p:spPr>
              <a:xfrm>
                <a:off x="5296292" y="1764566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050" dirty="0">
                    <a:solidFill>
                      <a:srgbClr val="000000"/>
                    </a:solidFill>
                  </a:rPr>
                  <a:t>长度</a:t>
                </a:r>
                <a:endParaRPr lang="en-CN" sz="11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D72BF2C-0DAF-2C49-97EF-45316C3DB459}"/>
                  </a:ext>
                </a:extLst>
              </p:cNvPr>
              <p:cNvSpPr txBox="1"/>
              <p:nvPr/>
            </p:nvSpPr>
            <p:spPr>
              <a:xfrm>
                <a:off x="5228230" y="2949080"/>
                <a:ext cx="8963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叶子节点</a:t>
                </a:r>
                <a:endParaRPr lang="en-CN" sz="1400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95251EA-2F92-8141-970C-05AD0990D36A}"/>
                  </a:ext>
                </a:extLst>
              </p:cNvPr>
              <p:cNvSpPr/>
              <p:nvPr/>
            </p:nvSpPr>
            <p:spPr>
              <a:xfrm>
                <a:off x="5296291" y="19471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偏移量</a:t>
                </a:r>
                <a:endParaRPr lang="en-CN" sz="1100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AEC77BEB-7676-554F-965D-1AD3988C247E}"/>
                  </a:ext>
                </a:extLst>
              </p:cNvPr>
              <p:cNvSpPr/>
              <p:nvPr/>
            </p:nvSpPr>
            <p:spPr>
              <a:xfrm>
                <a:off x="5296291" y="213120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起始块号</a:t>
                </a:r>
                <a:endParaRPr lang="en-CN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683F6F5-3FBC-204F-B20A-BD934F51C615}"/>
                  </a:ext>
                </a:extLst>
              </p:cNvPr>
              <p:cNvSpPr/>
              <p:nvPr/>
            </p:nvSpPr>
            <p:spPr>
              <a:xfrm>
                <a:off x="5296291" y="231522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长度</a:t>
                </a:r>
                <a:endParaRPr lang="en-CN" sz="1100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BF77CDC-EAE6-AA4E-9A74-94EDE00F9C67}"/>
                  </a:ext>
                </a:extLst>
              </p:cNvPr>
              <p:cNvSpPr/>
              <p:nvPr/>
            </p:nvSpPr>
            <p:spPr>
              <a:xfrm>
                <a:off x="5295094" y="1391624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7C6DA7D-8927-4840-AB07-0D1B85C9B371}"/>
                  </a:ext>
                </a:extLst>
              </p:cNvPr>
              <p:cNvSpPr/>
              <p:nvPr/>
            </p:nvSpPr>
            <p:spPr>
              <a:xfrm>
                <a:off x="5293896" y="1947183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1A7FF630-D6BC-9C43-A2A7-9A9A21A9BC52}"/>
                  </a:ext>
                </a:extLst>
              </p:cNvPr>
              <p:cNvSpPr/>
              <p:nvPr/>
            </p:nvSpPr>
            <p:spPr>
              <a:xfrm>
                <a:off x="5293896" y="2510958"/>
                <a:ext cx="787876" cy="438121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</p:grpSp>
        <p:cxnSp>
          <p:nvCxnSpPr>
            <p:cNvPr id="101" name="Curved Connector 100">
              <a:extLst>
                <a:ext uri="{FF2B5EF4-FFF2-40B4-BE49-F238E27FC236}">
                  <a16:creationId xmlns:a16="http://schemas.microsoft.com/office/drawing/2014/main" id="{AC3C9EA2-DCC3-2C48-8378-CD73F6392048}"/>
                </a:ext>
              </a:extLst>
            </p:cNvPr>
            <p:cNvCxnSpPr>
              <a:cxnSpLocks/>
              <a:stCxn id="78" idx="3"/>
              <a:endCxn id="118" idx="1"/>
            </p:cNvCxnSpPr>
            <p:nvPr/>
          </p:nvCxnSpPr>
          <p:spPr>
            <a:xfrm flipV="1">
              <a:off x="5008038" y="1417444"/>
              <a:ext cx="700838" cy="103326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urved Connector 101">
              <a:extLst>
                <a:ext uri="{FF2B5EF4-FFF2-40B4-BE49-F238E27FC236}">
                  <a16:creationId xmlns:a16="http://schemas.microsoft.com/office/drawing/2014/main" id="{A1747E8B-469B-DD4B-9664-FDA94F4F19B2}"/>
                </a:ext>
              </a:extLst>
            </p:cNvPr>
            <p:cNvCxnSpPr>
              <a:cxnSpLocks/>
              <a:stCxn id="81" idx="3"/>
              <a:endCxn id="108" idx="1"/>
            </p:cNvCxnSpPr>
            <p:nvPr/>
          </p:nvCxnSpPr>
          <p:spPr>
            <a:xfrm>
              <a:off x="5008037" y="2818586"/>
              <a:ext cx="700838" cy="65034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29D660-5CF9-4340-B572-9169F1897404}"/>
                </a:ext>
              </a:extLst>
            </p:cNvPr>
            <p:cNvSpPr txBox="1"/>
            <p:nvPr/>
          </p:nvSpPr>
          <p:spPr>
            <a:xfrm>
              <a:off x="7328765" y="24814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CN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B71974E-6607-EB42-BA8B-7F5E22D6A333}"/>
                </a:ext>
              </a:extLst>
            </p:cNvPr>
            <p:cNvSpPr/>
            <p:nvPr/>
          </p:nvSpPr>
          <p:spPr>
            <a:xfrm>
              <a:off x="7264965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01935A-C4EA-AE4C-82B2-1CFC76D18E50}"/>
                </a:ext>
              </a:extLst>
            </p:cNvPr>
            <p:cNvSpPr/>
            <p:nvPr/>
          </p:nvSpPr>
          <p:spPr>
            <a:xfrm>
              <a:off x="7808063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9A2E244-208B-BB47-A6B5-8E1932583703}"/>
                </a:ext>
              </a:extLst>
            </p:cNvPr>
            <p:cNvSpPr/>
            <p:nvPr/>
          </p:nvSpPr>
          <p:spPr>
            <a:xfrm>
              <a:off x="8351161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107" name="Curved Connector 106">
              <a:extLst>
                <a:ext uri="{FF2B5EF4-FFF2-40B4-BE49-F238E27FC236}">
                  <a16:creationId xmlns:a16="http://schemas.microsoft.com/office/drawing/2014/main" id="{ECDC2629-3A1E-CB49-81E7-F9D1D73F2C13}"/>
                </a:ext>
              </a:extLst>
            </p:cNvPr>
            <p:cNvCxnSpPr>
              <a:cxnSpLocks/>
              <a:stCxn id="113" idx="3"/>
              <a:endCxn id="104" idx="1"/>
            </p:cNvCxnSpPr>
            <p:nvPr/>
          </p:nvCxnSpPr>
          <p:spPr>
            <a:xfrm>
              <a:off x="6496750" y="4204850"/>
              <a:ext cx="768215" cy="55372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1FEF24FC-3528-A04E-B43B-7B37FCAB2BDD}"/>
              </a:ext>
            </a:extLst>
          </p:cNvPr>
          <p:cNvSpPr/>
          <p:nvPr/>
        </p:nvSpPr>
        <p:spPr>
          <a:xfrm>
            <a:off x="4932040" y="553244"/>
            <a:ext cx="3888432" cy="247443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4EB0B2-9078-A34C-9F20-726D6ED505A2}"/>
              </a:ext>
            </a:extLst>
          </p:cNvPr>
          <p:cNvSpPr txBox="1"/>
          <p:nvPr/>
        </p:nvSpPr>
        <p:spPr>
          <a:xfrm>
            <a:off x="5139257" y="60229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全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endParaRPr lang="en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1412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8672-F932-1146-BD22-85662463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0E5B-F7C4-C140-8ADB-DEA6F99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69C8-E3CA-F94F-84E6-2C0B3FE8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633146D6-A6CB-F546-B3DC-E5244CF17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在索引中增加标记</a:t>
            </a:r>
            <a:endParaRPr lang="en-US" altLang="zh-CN" b="0" dirty="0"/>
          </a:p>
          <a:p>
            <a:r>
              <a:rPr lang="zh-CN" altLang="en-CN" b="0" dirty="0"/>
              <a:t>删除</a:t>
            </a:r>
            <a:r>
              <a:rPr lang="zh-CN" altLang="en-US" b="0" dirty="0"/>
              <a:t>全</a:t>
            </a:r>
            <a:r>
              <a:rPr lang="en-US" altLang="zh-CN" b="0" dirty="0"/>
              <a:t>0</a:t>
            </a:r>
            <a:r>
              <a:rPr lang="zh-CN" altLang="en-US" b="0" dirty="0"/>
              <a:t>块</a:t>
            </a:r>
            <a:endParaRPr lang="en-CN" b="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4E2242F-3A86-7C4F-AC4F-C258B978B0C3}"/>
              </a:ext>
            </a:extLst>
          </p:cNvPr>
          <p:cNvGrpSpPr/>
          <p:nvPr/>
        </p:nvGrpSpPr>
        <p:grpSpPr>
          <a:xfrm>
            <a:off x="2843808" y="1841119"/>
            <a:ext cx="5633031" cy="3495544"/>
            <a:chOff x="3261229" y="1742949"/>
            <a:chExt cx="5633031" cy="349554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935E4A-4C10-8143-A1BE-F89E6F46508A}"/>
                </a:ext>
              </a:extLst>
            </p:cNvPr>
            <p:cNvSpPr/>
            <p:nvPr/>
          </p:nvSpPr>
          <p:spPr>
            <a:xfrm>
              <a:off x="3261229" y="1742949"/>
              <a:ext cx="671659" cy="7275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常用</a:t>
              </a:r>
              <a:r>
                <a:rPr lang="zh-CN" altLang="en-US" sz="1100" dirty="0"/>
                <a:t>元数据</a:t>
              </a:r>
              <a:endParaRPr lang="en-CN" sz="11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51329C1-55C2-2244-8038-A611EA6C5BBD}"/>
                </a:ext>
              </a:extLst>
            </p:cNvPr>
            <p:cNvSpPr/>
            <p:nvPr/>
          </p:nvSpPr>
          <p:spPr>
            <a:xfrm>
              <a:off x="3261229" y="2470466"/>
              <a:ext cx="671659" cy="1840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树</a:t>
              </a:r>
              <a:r>
                <a:rPr lang="zh-CN" altLang="en-US" sz="1100" dirty="0"/>
                <a:t>根</a:t>
              </a:r>
              <a:endParaRPr lang="en-CN" sz="1100" dirty="0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90064DF8-C625-8743-A97E-45CABD95F903}"/>
                </a:ext>
              </a:extLst>
            </p:cNvPr>
            <p:cNvCxnSpPr>
              <a:cxnSpLocks/>
              <a:stCxn id="75" idx="3"/>
              <a:endCxn id="77" idx="1"/>
            </p:cNvCxnSpPr>
            <p:nvPr/>
          </p:nvCxnSpPr>
          <p:spPr>
            <a:xfrm flipV="1">
              <a:off x="3932888" y="2266686"/>
              <a:ext cx="403491" cy="29579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D0D9A4F-F4EC-7A4B-A63F-60A650F06B79}"/>
                </a:ext>
              </a:extLst>
            </p:cNvPr>
            <p:cNvSpPr/>
            <p:nvPr/>
          </p:nvSpPr>
          <p:spPr>
            <a:xfrm>
              <a:off x="4336379" y="21746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偏移量</a:t>
              </a:r>
              <a:endParaRPr lang="en-CN" sz="11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255C0D2-936E-C14A-A8DC-1A9073B3FE05}"/>
                </a:ext>
              </a:extLst>
            </p:cNvPr>
            <p:cNvSpPr/>
            <p:nvPr/>
          </p:nvSpPr>
          <p:spPr>
            <a:xfrm>
              <a:off x="4336379" y="2358697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子节点</a:t>
              </a:r>
              <a:endParaRPr lang="en-CN" sz="11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30E7C58-8572-6741-9910-197E24B25DF1}"/>
                </a:ext>
              </a:extLst>
            </p:cNvPr>
            <p:cNvSpPr/>
            <p:nvPr/>
          </p:nvSpPr>
          <p:spPr>
            <a:xfrm>
              <a:off x="4336379" y="254395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>
                  <a:solidFill>
                    <a:srgbClr val="000000"/>
                  </a:solidFill>
                </a:rPr>
                <a:t>偏移量</a:t>
              </a:r>
              <a:endParaRPr lang="en-CN" sz="11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F52196F-3419-7E49-B182-2649735049BD}"/>
                </a:ext>
              </a:extLst>
            </p:cNvPr>
            <p:cNvSpPr txBox="1"/>
            <p:nvPr/>
          </p:nvSpPr>
          <p:spPr>
            <a:xfrm>
              <a:off x="4202756" y="3748947"/>
              <a:ext cx="861020" cy="293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索引节点</a:t>
              </a:r>
              <a:endParaRPr lang="en-CN" sz="14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5A53824-CD19-4445-BFC6-D922E7E789C7}"/>
                </a:ext>
              </a:extLst>
            </p:cNvPr>
            <p:cNvSpPr/>
            <p:nvPr/>
          </p:nvSpPr>
          <p:spPr>
            <a:xfrm>
              <a:off x="4336378" y="27265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32D2177-86F2-D840-871D-291A15668FC7}"/>
                </a:ext>
              </a:extLst>
            </p:cNvPr>
            <p:cNvSpPr/>
            <p:nvPr/>
          </p:nvSpPr>
          <p:spPr>
            <a:xfrm>
              <a:off x="4336378" y="292950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zh-CN" altLang="en-US" sz="1050" dirty="0">
                  <a:solidFill>
                    <a:srgbClr val="000000"/>
                  </a:solidFill>
                </a:rPr>
                <a:t>偏移量</a:t>
              </a:r>
              <a:endParaRPr lang="en-CN" sz="1050" dirty="0">
                <a:solidFill>
                  <a:srgbClr val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3B8FD-B4F5-DB46-8418-36CDE18E7F0A}"/>
                </a:ext>
              </a:extLst>
            </p:cNvPr>
            <p:cNvSpPr/>
            <p:nvPr/>
          </p:nvSpPr>
          <p:spPr>
            <a:xfrm>
              <a:off x="4336378" y="311352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9F3AB97-0D1C-6E4A-A9BF-E655F4BC66FD}"/>
                </a:ext>
              </a:extLst>
            </p:cNvPr>
            <p:cNvSpPr/>
            <p:nvPr/>
          </p:nvSpPr>
          <p:spPr>
            <a:xfrm>
              <a:off x="7264965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89" name="Curved Connector 88">
              <a:extLst>
                <a:ext uri="{FF2B5EF4-FFF2-40B4-BE49-F238E27FC236}">
                  <a16:creationId xmlns:a16="http://schemas.microsoft.com/office/drawing/2014/main" id="{A41D63F5-0710-F340-A570-5F186FBACBC5}"/>
                </a:ext>
              </a:extLst>
            </p:cNvPr>
            <p:cNvCxnSpPr>
              <a:cxnSpLocks/>
              <a:stCxn id="115" idx="3"/>
              <a:endCxn id="86" idx="1"/>
            </p:cNvCxnSpPr>
            <p:nvPr/>
          </p:nvCxnSpPr>
          <p:spPr>
            <a:xfrm flipV="1">
              <a:off x="6495553" y="3389195"/>
              <a:ext cx="769412" cy="261845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895E7DD-65CB-DD4A-A5D4-56F9B600695A}"/>
                </a:ext>
              </a:extLst>
            </p:cNvPr>
            <p:cNvSpPr/>
            <p:nvPr/>
          </p:nvSpPr>
          <p:spPr>
            <a:xfrm>
              <a:off x="7808063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A8DF54D-E6EA-934B-AE3B-A23ABE41869B}"/>
                </a:ext>
              </a:extLst>
            </p:cNvPr>
            <p:cNvSpPr/>
            <p:nvPr/>
          </p:nvSpPr>
          <p:spPr>
            <a:xfrm>
              <a:off x="4336378" y="2541314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9D65C97-E83E-B844-A850-E92B3DD7A490}"/>
                </a:ext>
              </a:extLst>
            </p:cNvPr>
            <p:cNvSpPr/>
            <p:nvPr/>
          </p:nvSpPr>
          <p:spPr>
            <a:xfrm>
              <a:off x="4334103" y="3307348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FF1060D-A0F7-794D-BD81-8647D2C3E5FD}"/>
                </a:ext>
              </a:extLst>
            </p:cNvPr>
            <p:cNvSpPr/>
            <p:nvPr/>
          </p:nvSpPr>
          <p:spPr>
            <a:xfrm>
              <a:off x="4334104" y="2922311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024195E-4543-DA40-B343-089EC7203D08}"/>
                </a:ext>
              </a:extLst>
            </p:cNvPr>
            <p:cNvGrpSpPr/>
            <p:nvPr/>
          </p:nvGrpSpPr>
          <p:grpSpPr>
            <a:xfrm>
              <a:off x="5640813" y="3373260"/>
              <a:ext cx="896399" cy="1865233"/>
              <a:chOff x="5228230" y="1391624"/>
              <a:chExt cx="896399" cy="1865233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6BAEC2B-8161-A84F-9CEA-31B58EB45E75}"/>
                  </a:ext>
                </a:extLst>
              </p:cNvPr>
              <p:cNvSpPr/>
              <p:nvPr/>
            </p:nvSpPr>
            <p:spPr>
              <a:xfrm>
                <a:off x="5296292" y="13952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D066881-61E2-3A47-9196-A6DD0B70DBF9}"/>
                  </a:ext>
                </a:extLst>
              </p:cNvPr>
              <p:cNvSpPr/>
              <p:nvPr/>
            </p:nvSpPr>
            <p:spPr>
              <a:xfrm>
                <a:off x="5296292" y="1579305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起始块号</a:t>
                </a:r>
                <a:endParaRPr lang="en-CN" sz="1100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6468D5A-708D-3045-A853-7E88BE512048}"/>
                  </a:ext>
                </a:extLst>
              </p:cNvPr>
              <p:cNvSpPr/>
              <p:nvPr/>
            </p:nvSpPr>
            <p:spPr>
              <a:xfrm>
                <a:off x="5296292" y="1764566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050" dirty="0">
                    <a:solidFill>
                      <a:srgbClr val="000000"/>
                    </a:solidFill>
                  </a:rPr>
                  <a:t>长度</a:t>
                </a:r>
                <a:endParaRPr lang="en-CN" sz="11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D72BF2C-0DAF-2C49-97EF-45316C3DB459}"/>
                  </a:ext>
                </a:extLst>
              </p:cNvPr>
              <p:cNvSpPr txBox="1"/>
              <p:nvPr/>
            </p:nvSpPr>
            <p:spPr>
              <a:xfrm>
                <a:off x="5228230" y="2949080"/>
                <a:ext cx="8963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叶子节点</a:t>
                </a:r>
                <a:endParaRPr lang="en-CN" sz="1400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95251EA-2F92-8141-970C-05AD0990D36A}"/>
                  </a:ext>
                </a:extLst>
              </p:cNvPr>
              <p:cNvSpPr/>
              <p:nvPr/>
            </p:nvSpPr>
            <p:spPr>
              <a:xfrm>
                <a:off x="5296291" y="19471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偏移量</a:t>
                </a:r>
                <a:endParaRPr lang="en-CN" sz="1100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AEC77BEB-7676-554F-965D-1AD3988C247E}"/>
                  </a:ext>
                </a:extLst>
              </p:cNvPr>
              <p:cNvSpPr/>
              <p:nvPr/>
            </p:nvSpPr>
            <p:spPr>
              <a:xfrm>
                <a:off x="5296291" y="213120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起始块号</a:t>
                </a:r>
                <a:endParaRPr lang="en-CN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683F6F5-3FBC-204F-B20A-BD934F51C615}"/>
                  </a:ext>
                </a:extLst>
              </p:cNvPr>
              <p:cNvSpPr/>
              <p:nvPr/>
            </p:nvSpPr>
            <p:spPr>
              <a:xfrm>
                <a:off x="5296291" y="231522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长度</a:t>
                </a:r>
                <a:endParaRPr lang="en-CN" sz="1100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BF77CDC-EAE6-AA4E-9A74-94EDE00F9C67}"/>
                  </a:ext>
                </a:extLst>
              </p:cNvPr>
              <p:cNvSpPr/>
              <p:nvPr/>
            </p:nvSpPr>
            <p:spPr>
              <a:xfrm>
                <a:off x="5295094" y="1391624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7C6DA7D-8927-4840-AB07-0D1B85C9B371}"/>
                  </a:ext>
                </a:extLst>
              </p:cNvPr>
              <p:cNvSpPr/>
              <p:nvPr/>
            </p:nvSpPr>
            <p:spPr>
              <a:xfrm>
                <a:off x="5293896" y="1947183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1A7FF630-D6BC-9C43-A2A7-9A9A21A9BC52}"/>
                  </a:ext>
                </a:extLst>
              </p:cNvPr>
              <p:cNvSpPr/>
              <p:nvPr/>
            </p:nvSpPr>
            <p:spPr>
              <a:xfrm>
                <a:off x="5293896" y="2510958"/>
                <a:ext cx="787876" cy="438121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</p:grpSp>
        <p:cxnSp>
          <p:nvCxnSpPr>
            <p:cNvPr id="102" name="Curved Connector 101">
              <a:extLst>
                <a:ext uri="{FF2B5EF4-FFF2-40B4-BE49-F238E27FC236}">
                  <a16:creationId xmlns:a16="http://schemas.microsoft.com/office/drawing/2014/main" id="{A1747E8B-469B-DD4B-9664-FDA94F4F19B2}"/>
                </a:ext>
              </a:extLst>
            </p:cNvPr>
            <p:cNvCxnSpPr>
              <a:cxnSpLocks/>
              <a:stCxn id="81" idx="3"/>
              <a:endCxn id="108" idx="1"/>
            </p:cNvCxnSpPr>
            <p:nvPr/>
          </p:nvCxnSpPr>
          <p:spPr>
            <a:xfrm>
              <a:off x="5008037" y="2818586"/>
              <a:ext cx="700838" cy="65034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B71974E-6607-EB42-BA8B-7F5E22D6A333}"/>
                </a:ext>
              </a:extLst>
            </p:cNvPr>
            <p:cNvSpPr/>
            <p:nvPr/>
          </p:nvSpPr>
          <p:spPr>
            <a:xfrm>
              <a:off x="7264965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01935A-C4EA-AE4C-82B2-1CFC76D18E50}"/>
                </a:ext>
              </a:extLst>
            </p:cNvPr>
            <p:cNvSpPr/>
            <p:nvPr/>
          </p:nvSpPr>
          <p:spPr>
            <a:xfrm>
              <a:off x="7808063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9A2E244-208B-BB47-A6B5-8E1932583703}"/>
                </a:ext>
              </a:extLst>
            </p:cNvPr>
            <p:cNvSpPr/>
            <p:nvPr/>
          </p:nvSpPr>
          <p:spPr>
            <a:xfrm>
              <a:off x="8351161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107" name="Curved Connector 106">
              <a:extLst>
                <a:ext uri="{FF2B5EF4-FFF2-40B4-BE49-F238E27FC236}">
                  <a16:creationId xmlns:a16="http://schemas.microsoft.com/office/drawing/2014/main" id="{ECDC2629-3A1E-CB49-81E7-F9D1D73F2C13}"/>
                </a:ext>
              </a:extLst>
            </p:cNvPr>
            <p:cNvCxnSpPr>
              <a:cxnSpLocks/>
              <a:stCxn id="113" idx="3"/>
              <a:endCxn id="104" idx="1"/>
            </p:cNvCxnSpPr>
            <p:nvPr/>
          </p:nvCxnSpPr>
          <p:spPr>
            <a:xfrm>
              <a:off x="6496750" y="4204850"/>
              <a:ext cx="768215" cy="55372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8E2ADD4-0291-B347-AECD-B7F0B13162E4}"/>
                </a:ext>
              </a:extLst>
            </p:cNvPr>
            <p:cNvSpPr/>
            <p:nvPr/>
          </p:nvSpPr>
          <p:spPr>
            <a:xfrm>
              <a:off x="4336378" y="2164716"/>
              <a:ext cx="671659" cy="377840"/>
            </a:xfrm>
            <a:prstGeom prst="rect">
              <a:avLst/>
            </a:prstGeom>
            <a:noFill/>
            <a:ln>
              <a:solidFill>
                <a:srgbClr val="FF93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>
                <a:solidFill>
                  <a:srgbClr val="FF9300"/>
                </a:solidFill>
              </a:endParaRPr>
            </a:p>
          </p:txBody>
        </p:sp>
      </p:grp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1FEF24FC-3528-A04E-B43B-7B37FCAB2BDD}"/>
              </a:ext>
            </a:extLst>
          </p:cNvPr>
          <p:cNvSpPr/>
          <p:nvPr/>
        </p:nvSpPr>
        <p:spPr>
          <a:xfrm>
            <a:off x="4932040" y="553244"/>
            <a:ext cx="3888432" cy="247443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4EB0B2-9078-A34C-9F20-726D6ED505A2}"/>
              </a:ext>
            </a:extLst>
          </p:cNvPr>
          <p:cNvSpPr txBox="1"/>
          <p:nvPr/>
        </p:nvSpPr>
        <p:spPr>
          <a:xfrm>
            <a:off x="5139257" y="60229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全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182C4F-24A9-3841-AD85-62804D77B3CE}"/>
              </a:ext>
            </a:extLst>
          </p:cNvPr>
          <p:cNvSpPr txBox="1"/>
          <p:nvPr/>
        </p:nvSpPr>
        <p:spPr>
          <a:xfrm>
            <a:off x="4032314" y="194484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9300"/>
                </a:solidFill>
              </a:rPr>
              <a:t>此段</a:t>
            </a:r>
            <a:r>
              <a:rPr lang="zh-CN" altLang="en-CN" b="1" dirty="0">
                <a:solidFill>
                  <a:srgbClr val="FF9300"/>
                </a:solidFill>
              </a:rPr>
              <a:t>全</a:t>
            </a:r>
            <a:r>
              <a:rPr lang="en-US" altLang="zh-CN" b="1" dirty="0">
                <a:solidFill>
                  <a:srgbClr val="FF9300"/>
                </a:solidFill>
              </a:rPr>
              <a:t>0</a:t>
            </a:r>
            <a:endParaRPr lang="en-CN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2924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0F05-888C-F24D-8E72-B60DDBEB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文件系统的一些其他高级功能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5394-56DF-064F-96A1-3CFECB778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CN" b="0" dirty="0"/>
              <a:t>加密</a:t>
            </a:r>
            <a:endParaRPr lang="en-US" altLang="zh-CN" b="0" dirty="0"/>
          </a:p>
          <a:p>
            <a:r>
              <a:rPr lang="zh-CN" altLang="en-US" b="0" dirty="0"/>
              <a:t>压缩</a:t>
            </a:r>
            <a:endParaRPr lang="en-US" altLang="zh-CN" b="0" dirty="0"/>
          </a:p>
          <a:p>
            <a:r>
              <a:rPr lang="zh-CN" altLang="en-US" b="0" dirty="0"/>
              <a:t>去重</a:t>
            </a:r>
            <a:endParaRPr lang="en-US" altLang="zh-CN" b="0" dirty="0"/>
          </a:p>
          <a:p>
            <a:r>
              <a:rPr lang="zh-CN" altLang="en-US" b="0" dirty="0"/>
              <a:t>数据和元数据校验</a:t>
            </a:r>
            <a:endParaRPr lang="en-US" altLang="zh-CN" b="0" dirty="0"/>
          </a:p>
          <a:p>
            <a:r>
              <a:rPr lang="zh-CN" altLang="en-US" b="0" dirty="0"/>
              <a:t>配额管理（</a:t>
            </a:r>
            <a:r>
              <a:rPr lang="en-US" altLang="zh-CN" b="0" dirty="0"/>
              <a:t>QoS</a:t>
            </a:r>
            <a:r>
              <a:rPr lang="zh-CN" altLang="en-US" b="0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D12E7-EF97-6745-AD9E-F6A1E861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9515A-1B60-D943-988B-BEFE8FB65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6EC687-3798-A14E-869D-1C56006C015D}"/>
              </a:ext>
            </a:extLst>
          </p:cNvPr>
          <p:cNvSpPr txBox="1">
            <a:spLocks/>
          </p:cNvSpPr>
          <p:nvPr/>
        </p:nvSpPr>
        <p:spPr>
          <a:xfrm>
            <a:off x="4571999" y="1335243"/>
            <a:ext cx="4214125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软件</a:t>
            </a:r>
            <a:r>
              <a:rPr lang="en-US" altLang="zh-CN" b="0" dirty="0"/>
              <a:t>RAID</a:t>
            </a:r>
          </a:p>
          <a:p>
            <a:r>
              <a:rPr lang="zh-CN" altLang="en-US" b="0" dirty="0"/>
              <a:t>多设备管理</a:t>
            </a:r>
            <a:endParaRPr lang="en-US" altLang="zh-CN" b="0" dirty="0"/>
          </a:p>
          <a:p>
            <a:r>
              <a:rPr lang="zh-CN" altLang="en-CN" b="0" dirty="0"/>
              <a:t>子卷</a:t>
            </a:r>
            <a:endParaRPr lang="en-US" altLang="zh-CN" b="0" dirty="0"/>
          </a:p>
          <a:p>
            <a:r>
              <a:rPr lang="zh-CN" altLang="en-CN" b="0" dirty="0"/>
              <a:t>事务</a:t>
            </a:r>
            <a:r>
              <a:rPr lang="zh-CN" altLang="en-US" b="0" dirty="0"/>
              <a:t>（</a:t>
            </a:r>
            <a:r>
              <a:rPr lang="en-US" altLang="zh-CN" b="0" dirty="0"/>
              <a:t>Transaction</a:t>
            </a:r>
            <a:r>
              <a:rPr lang="zh-CN" altLang="en-US" b="0" dirty="0"/>
              <a:t>）</a:t>
            </a:r>
            <a:endParaRPr lang="en-CN" b="0" dirty="0"/>
          </a:p>
        </p:txBody>
      </p:sp>
    </p:spTree>
    <p:extLst>
      <p:ext uri="{BB962C8B-B14F-4D97-AF65-F5344CB8AC3E}">
        <p14:creationId xmlns:p14="http://schemas.microsoft.com/office/powerpoint/2010/main" val="3095876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44933</TotalTime>
  <Words>7260</Words>
  <Application>Microsoft Macintosh PowerPoint</Application>
  <PresentationFormat>全屏显示(16:10)</PresentationFormat>
  <Paragraphs>1778</Paragraphs>
  <Slides>73</Slides>
  <Notes>15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1" baseType="lpstr">
      <vt:lpstr>DengXian</vt:lpstr>
      <vt:lpstr>微软雅黑</vt:lpstr>
      <vt:lpstr>Arial</vt:lpstr>
      <vt:lpstr>Calibri</vt:lpstr>
      <vt:lpstr>Courier</vt:lpstr>
      <vt:lpstr>Courier New</vt:lpstr>
      <vt:lpstr>Verdana</vt:lpstr>
      <vt:lpstr>Office 主题​​</vt:lpstr>
      <vt:lpstr>不同的文件系统</vt:lpstr>
      <vt:lpstr>版权声明</vt:lpstr>
      <vt:lpstr>回顾：UNIX v6 文件系统</vt:lpstr>
      <vt:lpstr>文件的索引节点：inode</vt:lpstr>
      <vt:lpstr>理解一个文件系统的11个问题</vt:lpstr>
      <vt:lpstr>文件的查找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查找“/OS/其他/算法笔记”</vt:lpstr>
      <vt:lpstr>创建“/OS/考试”</vt:lpstr>
      <vt:lpstr>创建“/OS/考试”</vt:lpstr>
      <vt:lpstr>创建“/OS/考试”</vt:lpstr>
      <vt:lpstr>创建“/OS/考试”</vt:lpstr>
      <vt:lpstr>创建“/OS/考试”</vt:lpstr>
      <vt:lpstr>创建“/OS/考试”</vt:lpstr>
      <vt:lpstr>打开和读写文件</vt:lpstr>
      <vt:lpstr>mmap()：用内存接口来访问文件</vt:lpstr>
      <vt:lpstr>mmap()：文件内存映射的优势</vt:lpstr>
      <vt:lpstr>Ext2 文件系统</vt:lpstr>
      <vt:lpstr>Ext2文件系统的存储布局</vt:lpstr>
      <vt:lpstr>Ext2的常规文件</vt:lpstr>
      <vt:lpstr>使用区段（Extent）来优化</vt:lpstr>
      <vt:lpstr>Ext4文件存储 – 区段树（Extent）</vt:lpstr>
      <vt:lpstr>Ext2的目录文件</vt:lpstr>
      <vt:lpstr>符号链接（软连接）</vt:lpstr>
      <vt:lpstr>硬链接</vt:lpstr>
      <vt:lpstr>其他常见的文件类型</vt:lpstr>
      <vt:lpstr>符号链接与硬链接比较</vt:lpstr>
      <vt:lpstr>ChCore的文件系统</vt:lpstr>
      <vt:lpstr>ChCore中的文件系统</vt:lpstr>
      <vt:lpstr>ChCore的常规文件</vt:lpstr>
      <vt:lpstr>ChCore的目录文件</vt:lpstr>
      <vt:lpstr>基于Table的文件系统：FAT</vt:lpstr>
      <vt:lpstr>FAT32存储布局</vt:lpstr>
      <vt:lpstr>FAT：文件分配表</vt:lpstr>
      <vt:lpstr>FAT：文件分配表</vt:lpstr>
      <vt:lpstr>FAT32中的目录项</vt:lpstr>
      <vt:lpstr>FAT32中的目录项</vt:lpstr>
      <vt:lpstr>如何生成短文件名？</vt:lpstr>
      <vt:lpstr>思考时间🤔</vt:lpstr>
      <vt:lpstr>思考：磁盘碎片</vt:lpstr>
      <vt:lpstr>exFAT Highlights</vt:lpstr>
      <vt:lpstr>基于数据库的文件系统：NTFS</vt:lpstr>
      <vt:lpstr>NTFS存储布局</vt:lpstr>
      <vt:lpstr>NTFS主文件表MFT</vt:lpstr>
      <vt:lpstr>NTFS主文件表MFT</vt:lpstr>
      <vt:lpstr>主文件表包含的文件（保留文件）</vt:lpstr>
      <vt:lpstr>主文件表记录</vt:lpstr>
      <vt:lpstr>NTFS数据保存位置和目录项</vt:lpstr>
      <vt:lpstr>思考时间🤔</vt:lpstr>
      <vt:lpstr>文件系统高级功能</vt:lpstr>
      <vt:lpstr>文件复制</vt:lpstr>
      <vt:lpstr>文件复制</vt:lpstr>
      <vt:lpstr>文件复制</vt:lpstr>
      <vt:lpstr>克隆</vt:lpstr>
      <vt:lpstr>克隆（Clone）</vt:lpstr>
      <vt:lpstr>快照（Snapshot）</vt:lpstr>
      <vt:lpstr>稀疏文件</vt:lpstr>
      <vt:lpstr>稀疏文件</vt:lpstr>
      <vt:lpstr>稀疏文件</vt:lpstr>
      <vt:lpstr>文件系统的一些其他高级功能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3548</cp:revision>
  <cp:lastPrinted>2016-06-13T07:55:34Z</cp:lastPrinted>
  <dcterms:created xsi:type="dcterms:W3CDTF">2017-11-24T09:35:45Z</dcterms:created>
  <dcterms:modified xsi:type="dcterms:W3CDTF">2022-03-31T05:59:20Z</dcterms:modified>
</cp:coreProperties>
</file>