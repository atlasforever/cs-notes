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80"/>
  </p:notesMasterIdLst>
  <p:handoutMasterIdLst>
    <p:handoutMasterId r:id="rId81"/>
  </p:handoutMasterIdLst>
  <p:sldIdLst>
    <p:sldId id="2345" r:id="rId3"/>
    <p:sldId id="1359" r:id="rId4"/>
    <p:sldId id="2326" r:id="rId5"/>
    <p:sldId id="2327" r:id="rId6"/>
    <p:sldId id="2336" r:id="rId7"/>
    <p:sldId id="2337" r:id="rId8"/>
    <p:sldId id="2335" r:id="rId9"/>
    <p:sldId id="2303" r:id="rId10"/>
    <p:sldId id="2321" r:id="rId11"/>
    <p:sldId id="2235" r:id="rId12"/>
    <p:sldId id="2234" r:id="rId13"/>
    <p:sldId id="2304" r:id="rId14"/>
    <p:sldId id="2305" r:id="rId15"/>
    <p:sldId id="1371" r:id="rId16"/>
    <p:sldId id="2232" r:id="rId17"/>
    <p:sldId id="2350" r:id="rId18"/>
    <p:sldId id="2351" r:id="rId19"/>
    <p:sldId id="2328" r:id="rId20"/>
    <p:sldId id="2352" r:id="rId21"/>
    <p:sldId id="2267" r:id="rId22"/>
    <p:sldId id="2299" r:id="rId23"/>
    <p:sldId id="2330" r:id="rId24"/>
    <p:sldId id="2241" r:id="rId25"/>
    <p:sldId id="2353" r:id="rId26"/>
    <p:sldId id="2354" r:id="rId27"/>
    <p:sldId id="2249" r:id="rId28"/>
    <p:sldId id="2247" r:id="rId29"/>
    <p:sldId id="2248" r:id="rId30"/>
    <p:sldId id="2355" r:id="rId31"/>
    <p:sldId id="2356" r:id="rId32"/>
    <p:sldId id="2357" r:id="rId33"/>
    <p:sldId id="2358" r:id="rId34"/>
    <p:sldId id="2365" r:id="rId35"/>
    <p:sldId id="2380" r:id="rId36"/>
    <p:sldId id="2364" r:id="rId37"/>
    <p:sldId id="2366" r:id="rId38"/>
    <p:sldId id="2367" r:id="rId39"/>
    <p:sldId id="2368" r:id="rId40"/>
    <p:sldId id="2369" r:id="rId41"/>
    <p:sldId id="2370" r:id="rId42"/>
    <p:sldId id="2371" r:id="rId43"/>
    <p:sldId id="2372" r:id="rId44"/>
    <p:sldId id="2373" r:id="rId45"/>
    <p:sldId id="2374" r:id="rId46"/>
    <p:sldId id="2375" r:id="rId47"/>
    <p:sldId id="2376" r:id="rId48"/>
    <p:sldId id="2377" r:id="rId49"/>
    <p:sldId id="2378" r:id="rId50"/>
    <p:sldId id="2379" r:id="rId51"/>
    <p:sldId id="2251" r:id="rId52"/>
    <p:sldId id="2363" r:id="rId53"/>
    <p:sldId id="2254" r:id="rId54"/>
    <p:sldId id="2250" r:id="rId55"/>
    <p:sldId id="2255" r:id="rId56"/>
    <p:sldId id="2253" r:id="rId57"/>
    <p:sldId id="2300" r:id="rId58"/>
    <p:sldId id="2256" r:id="rId59"/>
    <p:sldId id="2269" r:id="rId60"/>
    <p:sldId id="2259" r:id="rId61"/>
    <p:sldId id="2262" r:id="rId62"/>
    <p:sldId id="2334" r:id="rId63"/>
    <p:sldId id="2246" r:id="rId64"/>
    <p:sldId id="2263" r:id="rId65"/>
    <p:sldId id="2265" r:id="rId66"/>
    <p:sldId id="2264" r:id="rId67"/>
    <p:sldId id="2307" r:id="rId68"/>
    <p:sldId id="2361" r:id="rId69"/>
    <p:sldId id="2245" r:id="rId70"/>
    <p:sldId id="2271" r:id="rId71"/>
    <p:sldId id="2276" r:id="rId72"/>
    <p:sldId id="2243" r:id="rId73"/>
    <p:sldId id="2348" r:id="rId74"/>
    <p:sldId id="2274" r:id="rId75"/>
    <p:sldId id="2272" r:id="rId76"/>
    <p:sldId id="2275" r:id="rId77"/>
    <p:sldId id="2340" r:id="rId78"/>
    <p:sldId id="2346" r:id="rId79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董 致远" initials="董" lastIdx="2" clrIdx="0">
    <p:extLst>
      <p:ext uri="{19B8F6BF-5375-455C-9EA6-DF929625EA0E}">
        <p15:presenceInfo xmlns:p15="http://schemas.microsoft.com/office/powerpoint/2012/main" userId="0563584b92f0a19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878F"/>
    <a:srgbClr val="C5E1B4"/>
    <a:srgbClr val="F9CAAD"/>
    <a:srgbClr val="A7B7D6"/>
    <a:srgbClr val="0432FF"/>
    <a:srgbClr val="FF2F92"/>
    <a:srgbClr val="73FEFF"/>
    <a:srgbClr val="941100"/>
    <a:srgbClr val="212121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254" autoAdjust="0"/>
    <p:restoredTop sz="79581" autoAdjust="0"/>
  </p:normalViewPr>
  <p:slideViewPr>
    <p:cSldViewPr>
      <p:cViewPr varScale="1">
        <p:scale>
          <a:sx n="146" d="100"/>
          <a:sy n="146" d="100"/>
        </p:scale>
        <p:origin x="232" y="160"/>
      </p:cViewPr>
      <p:guideLst/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248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viewProps" Target="view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61" Type="http://schemas.openxmlformats.org/officeDocument/2006/relationships/slide" Target="slides/slide59.xml"/><Relationship Id="rId8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2022/3/10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ernel.org/doc/Documentation/scheduler/sched-design-CFS.txt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2853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Htop</a:t>
            </a:r>
            <a:r>
              <a:rPr kumimoji="1" lang="zh-CN" altLang="en-US" dirty="0"/>
              <a:t>界面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510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调度器的作用就是协调任务执行，以用户体验、用户关心的指标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人性化是相对的</a:t>
            </a:r>
            <a:endParaRPr kumimoji="1" lang="en-US" altLang="zh-CN" dirty="0"/>
          </a:p>
          <a:p>
            <a:r>
              <a:rPr kumimoji="1" lang="zh-CN" altLang="en-US" dirty="0"/>
              <a:t>在这个场景人性化、调度指标好</a:t>
            </a:r>
            <a:endParaRPr kumimoji="1" lang="en-US" altLang="zh-CN" dirty="0"/>
          </a:p>
          <a:p>
            <a:r>
              <a:rPr kumimoji="1" lang="zh-CN" altLang="en-US" dirty="0"/>
              <a:t>但是别的场景可能就不符合用户预期，就不人性化了</a:t>
            </a:r>
            <a:endParaRPr kumimoji="1" lang="en-US" altLang="zh-CN" dirty="0"/>
          </a:p>
          <a:p>
            <a:r>
              <a:rPr kumimoji="1" lang="zh-CN" altLang="en-US" dirty="0"/>
              <a:t>但不管怎么说，调度器是必要的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0402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首先提问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0965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比较直观的，比如低能耗，资源利用率，就不解释了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3031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调度开销（制定一次决策的开销）</a:t>
            </a:r>
            <a:r>
              <a:rPr kumimoji="1" lang="en-US" altLang="zh-CN" dirty="0"/>
              <a:t>V.S.</a:t>
            </a:r>
            <a:r>
              <a:rPr kumimoji="1" lang="zh-CN" altLang="en-US" dirty="0"/>
              <a:t> 调度效果（决策是否考虑全面，效果足够好）</a:t>
            </a:r>
            <a:endParaRPr kumimoji="1" lang="en-US" altLang="zh-CN" dirty="0"/>
          </a:p>
          <a:p>
            <a:r>
              <a:rPr kumimoji="1" lang="zh-CN" altLang="en-US" dirty="0"/>
              <a:t>有些任务需要优先执行 </a:t>
            </a:r>
            <a:r>
              <a:rPr kumimoji="1" lang="en-US" altLang="zh-CN" dirty="0"/>
              <a:t>V.S.</a:t>
            </a:r>
            <a:r>
              <a:rPr kumimoji="1" lang="zh-CN" altLang="en-US" dirty="0"/>
              <a:t> 所有任务都不能饿死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014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用一些生活例子，告诉大家策略和机制的区别</a:t>
            </a:r>
            <a:endParaRPr kumimoji="1" lang="en-US" altLang="zh-CN" dirty="0"/>
          </a:p>
          <a:p>
            <a:r>
              <a:rPr kumimoji="1" lang="zh-CN" altLang="en-US" dirty="0"/>
              <a:t>比如我们上这节课，课程的具体内容是策略，但是怎么上就是机制</a:t>
            </a:r>
            <a:endParaRPr kumimoji="1" lang="en-US" altLang="zh-CN" dirty="0"/>
          </a:p>
          <a:p>
            <a:r>
              <a:rPr kumimoji="1" lang="zh-CN" altLang="en-US" dirty="0"/>
              <a:t>比如写代码、写论文都是科研的策略，但它们的机制都是用文本编辑器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7530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hlinkClick r:id="rId3"/>
              </a:rPr>
              <a:t>https://www.kernel.org/doc/Documentation/scheduler/sched-design-CFS.txt</a:t>
            </a:r>
            <a:endParaRPr lang="en" altLang="zh-CN" dirty="0"/>
          </a:p>
          <a:p>
            <a:r>
              <a:rPr kumimoji="1" lang="zh-CN" altLang="en-US" dirty="0"/>
              <a:t>有个问题是在这一页贴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86390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6629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1508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6669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299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提问：什么情况下</a:t>
            </a:r>
            <a:r>
              <a:rPr kumimoji="1" lang="en-US" altLang="zh-CN" dirty="0"/>
              <a:t>RR</a:t>
            </a:r>
            <a:r>
              <a:rPr kumimoji="1" lang="zh-CN" altLang="en-US" dirty="0"/>
              <a:t>的周转时间问题最为明显？</a:t>
            </a:r>
            <a:endParaRPr kumimoji="1" lang="en-US" altLang="zh-CN" dirty="0"/>
          </a:p>
          <a:p>
            <a:r>
              <a:rPr kumimoji="1" lang="zh-CN" altLang="en-US" dirty="0"/>
              <a:t>如果每个任务的执行时间差不多相同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时间片过长的话，</a:t>
            </a:r>
            <a:r>
              <a:rPr kumimoji="1" lang="en-US" altLang="zh-CN" dirty="0"/>
              <a:t>RR</a:t>
            </a:r>
            <a:r>
              <a:rPr kumimoji="1" lang="zh-CN" altLang="en-US" dirty="0"/>
              <a:t>会退化为</a:t>
            </a:r>
            <a:r>
              <a:rPr kumimoji="1" lang="en-US" altLang="zh-CN" dirty="0"/>
              <a:t>FCFS</a:t>
            </a:r>
          </a:p>
          <a:p>
            <a:r>
              <a:rPr kumimoji="1" lang="zh-CN" altLang="en-US" dirty="0"/>
              <a:t>时间片过短的话，在真实场景中调度开销会变大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161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7949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本质上</a:t>
            </a:r>
            <a:r>
              <a:rPr kumimoji="1" lang="en-US" altLang="zh-CN" dirty="0"/>
              <a:t>FCFS</a:t>
            </a:r>
            <a:r>
              <a:rPr kumimoji="1" lang="zh-CN" altLang="en-US" dirty="0"/>
              <a:t>的优先级是任务的到达顺序，</a:t>
            </a:r>
            <a:r>
              <a:rPr kumimoji="1" lang="en-US" altLang="zh-CN" dirty="0"/>
              <a:t>SJF</a:t>
            </a:r>
            <a:r>
              <a:rPr kumimoji="1" lang="zh-CN" altLang="en-US" dirty="0"/>
              <a:t>的优先级是任务的完成时间短</a:t>
            </a:r>
            <a:endParaRPr kumimoji="1" lang="en-US" altLang="zh-CN" dirty="0"/>
          </a:p>
          <a:p>
            <a:r>
              <a:rPr kumimoji="1" lang="en-US" altLang="zh-CN" dirty="0"/>
              <a:t>RR</a:t>
            </a:r>
            <a:r>
              <a:rPr kumimoji="1" lang="zh-CN" altLang="en-US" dirty="0"/>
              <a:t>则没有优先级概念（或者说所有任务优先级相同）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0022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1553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98117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7528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973892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原理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就是调度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次时，每个任务被调度次数的期望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==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该任务的权重</a:t>
            </a:r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 = random(0, T)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= 0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foreach(task in </a:t>
            </a:r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task_list</a:t>
            </a:r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{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 += </a:t>
            </a:r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task.ticket</a:t>
            </a:r>
            <a:endParaRPr lang="en" altLang="zh-CN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(R &lt; sum) {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schedule()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8068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权重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，</a:t>
            </a:r>
            <a:r>
              <a:rPr kumimoji="1" lang="en-US" altLang="zh-CN" dirty="0"/>
              <a:t>10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会影响任务对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的占用比例</a:t>
            </a:r>
            <a:endParaRPr kumimoji="1" lang="en-US" altLang="zh-CN" dirty="0"/>
          </a:p>
          <a:p>
            <a:r>
              <a:rPr kumimoji="1" lang="zh-CN" altLang="en-US" dirty="0"/>
              <a:t>但是优先级的话</a:t>
            </a:r>
            <a:r>
              <a:rPr kumimoji="1" lang="en-US" altLang="zh-CN" dirty="0"/>
              <a:t>2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与</a:t>
            </a:r>
            <a:r>
              <a:rPr kumimoji="1" lang="en-US" altLang="zh-CN" dirty="0"/>
              <a:t>10</a:t>
            </a:r>
            <a:r>
              <a:rPr kumimoji="1" lang="zh-CN" altLang="en-US" dirty="0"/>
              <a:t>：</a:t>
            </a:r>
            <a:r>
              <a:rPr kumimoji="1" lang="en-US" altLang="zh-CN" dirty="0"/>
              <a:t>1</a:t>
            </a:r>
            <a:r>
              <a:rPr kumimoji="1" lang="zh-CN" altLang="en-US" dirty="0"/>
              <a:t>没有区别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权重可以方便地以用户、组为粒度分配权重，层级化</a:t>
            </a:r>
            <a:endParaRPr kumimoji="1" lang="en-US" altLang="zh-CN" dirty="0"/>
          </a:p>
          <a:p>
            <a:r>
              <a:rPr kumimoji="1" lang="zh-CN" altLang="en-US" dirty="0"/>
              <a:t>权重保证没有任务会饿死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5883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74485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select client with minimum pass value */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= </a:t>
            </a:r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remove_queue_min</a:t>
            </a:r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(q);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use resource for quantum */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schedule(task);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 compute next pass using stride */</a:t>
            </a:r>
          </a:p>
          <a:p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task-&gt;pass += task-&gt;stride;</a:t>
            </a:r>
          </a:p>
          <a:p>
            <a:r>
              <a:rPr lang="en" altLang="zh-CN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insert_queue</a:t>
            </a:r>
            <a:r>
              <a:rPr lang="en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(q, current);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8398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EDF</a:t>
            </a:r>
            <a:r>
              <a:rPr kumimoji="1" lang="zh-CN" altLang="en-US" dirty="0"/>
              <a:t>是一个动态算法，它不需要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453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15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秒时，任务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在第</a:t>
            </a:r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个周期超过了截止时间，但是调度器</a:t>
            </a:r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）在调度该任务时没有执行时间信息，无法提前拒绝该任务；</a:t>
            </a:r>
          </a:p>
          <a:p>
            <a:r>
              <a:rPr lang="en-US" altLang="zh-CN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zh-CN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）并没有中断机制通知该任务的截止时间已经超过，进而调度其他任务。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0369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45308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08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C7A2471E-740E-BA4E-88ED-159BEFFBA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1" name="日期占位符 10">
            <a:extLst>
              <a:ext uri="{FF2B5EF4-FFF2-40B4-BE49-F238E27FC236}">
                <a16:creationId xmlns:a16="http://schemas.microsoft.com/office/drawing/2014/main" id="{0CF62270-1F5D-424A-A45E-3A95F9665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301232BB-776E-8442-BC68-451FF5E9E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D65122C0-504F-FA46-B066-D8E22A26C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56417E6E-741F-344B-92AB-FB18F831A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0867B0DC-E4F4-8D4C-B8A3-9ADD138A7F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1717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54042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93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页脚占位符 4">
            <a:extLst>
              <a:ext uri="{FF2B5EF4-FFF2-40B4-BE49-F238E27FC236}">
                <a16:creationId xmlns:a16="http://schemas.microsoft.com/office/drawing/2014/main" id="{CDE64A05-89A2-754D-BA16-BDBB64F49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118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2.png"/><Relationship Id="rId7" Type="http://schemas.openxmlformats.org/officeDocument/2006/relationships/image" Target="../media/image31.png"/><Relationship Id="rId12" Type="http://schemas.openxmlformats.org/officeDocument/2006/relationships/image" Target="../media/image2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11" Type="http://schemas.openxmlformats.org/officeDocument/2006/relationships/image" Target="../media/image26.png"/><Relationship Id="rId5" Type="http://schemas.openxmlformats.org/officeDocument/2006/relationships/image" Target="../media/image24.png"/><Relationship Id="rId10" Type="http://schemas.openxmlformats.org/officeDocument/2006/relationships/image" Target="../media/image34.svg"/><Relationship Id="rId4" Type="http://schemas.openxmlformats.org/officeDocument/2006/relationships/image" Target="../media/image23.svg"/><Relationship Id="rId9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3.svg"/><Relationship Id="rId7" Type="http://schemas.openxmlformats.org/officeDocument/2006/relationships/image" Target="../media/image36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32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2.svg"/><Relationship Id="rId7" Type="http://schemas.openxmlformats.org/officeDocument/2006/relationships/image" Target="../media/image23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36.svg"/><Relationship Id="rId5" Type="http://schemas.openxmlformats.org/officeDocument/2006/relationships/image" Target="../media/image34.svg"/><Relationship Id="rId10" Type="http://schemas.openxmlformats.org/officeDocument/2006/relationships/image" Target="../media/image35.png"/><Relationship Id="rId4" Type="http://schemas.openxmlformats.org/officeDocument/2006/relationships/image" Target="../media/image33.png"/><Relationship Id="rId9" Type="http://schemas.openxmlformats.org/officeDocument/2006/relationships/image" Target="../media/image25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sv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8.svg"/><Relationship Id="rId7" Type="http://schemas.openxmlformats.org/officeDocument/2006/relationships/image" Target="../media/image34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9" Type="http://schemas.openxmlformats.org/officeDocument/2006/relationships/image" Target="../media/image36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e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49.png"/><Relationship Id="rId4" Type="http://schemas.openxmlformats.org/officeDocument/2006/relationships/image" Target="../media/image48.sv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32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7" Type="http://schemas.openxmlformats.org/officeDocument/2006/relationships/hyperlink" Target="https://www.usenix.org/legacy/publications/library/proceedings/osdi/full_papers/waldspurger.pdf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29.sv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0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sz="4800" dirty="0"/>
              <a:t>处理器调度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387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/>
              <a:t>资</a:t>
            </a:r>
            <a:r>
              <a:rPr lang="zh-CN" altLang="en-US" sz="1600" b="0"/>
              <a:t>料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0CCAE3DD-16E6-F94F-A919-CF1B39E8E5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22995C2D-963F-1D46-AFD1-5A4288F58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73" y="1215663"/>
            <a:ext cx="8787615" cy="281500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72ABED3-FF16-614B-9DEF-6D5C82CBA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系统中的任务数远多于处理器数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BA306F3-1637-DB4C-A59E-FFB853D7F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AD4677-5573-7947-B872-730CA55B77FD}"/>
              </a:ext>
            </a:extLst>
          </p:cNvPr>
          <p:cNvSpPr/>
          <p:nvPr/>
        </p:nvSpPr>
        <p:spPr>
          <a:xfrm>
            <a:off x="4644009" y="1805632"/>
            <a:ext cx="720080" cy="18777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8378E48-F511-4B4A-BE30-9C72BB8701DB}"/>
              </a:ext>
            </a:extLst>
          </p:cNvPr>
          <p:cNvSpPr/>
          <p:nvPr/>
        </p:nvSpPr>
        <p:spPr>
          <a:xfrm>
            <a:off x="251520" y="1273324"/>
            <a:ext cx="4392489" cy="53230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2BA82DD-3B99-8C44-BA95-D19EB5FEC26A}"/>
              </a:ext>
            </a:extLst>
          </p:cNvPr>
          <p:cNvSpPr/>
          <p:nvPr/>
        </p:nvSpPr>
        <p:spPr>
          <a:xfrm>
            <a:off x="1741220" y="4788714"/>
            <a:ext cx="565892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zh-CN" altLang="en-US" sz="2400" b="1" dirty="0">
                <a:solidFill>
                  <a:schemeClr val="accent1"/>
                </a:solidFill>
              </a:rPr>
              <a:t>仅有</a:t>
            </a:r>
            <a:r>
              <a:rPr kumimoji="1" lang="en-US" altLang="zh-CN" sz="2400" b="1" dirty="0">
                <a:solidFill>
                  <a:schemeClr val="accent1"/>
                </a:solidFill>
              </a:rPr>
              <a:t>8</a:t>
            </a:r>
            <a:r>
              <a:rPr kumimoji="1" lang="zh-CN" altLang="en-US" sz="2400" b="1" dirty="0">
                <a:solidFill>
                  <a:schemeClr val="accent1"/>
                </a:solidFill>
              </a:rPr>
              <a:t>个处理器，如何运行</a:t>
            </a:r>
            <a:r>
              <a:rPr kumimoji="1" lang="en-US" altLang="zh-CN" sz="2400" b="1" dirty="0">
                <a:solidFill>
                  <a:schemeClr val="accent1"/>
                </a:solidFill>
              </a:rPr>
              <a:t>169</a:t>
            </a:r>
            <a:r>
              <a:rPr kumimoji="1" lang="zh-CN" altLang="en-US" sz="2400" b="1" dirty="0">
                <a:solidFill>
                  <a:schemeClr val="accent1"/>
                </a:solidFill>
              </a:rPr>
              <a:t>个任务？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3735FC0-7C94-1D41-84FF-058591BFA6AB}"/>
              </a:ext>
            </a:extLst>
          </p:cNvPr>
          <p:cNvSpPr/>
          <p:nvPr/>
        </p:nvSpPr>
        <p:spPr>
          <a:xfrm>
            <a:off x="244623" y="4117023"/>
            <a:ext cx="4084964" cy="4298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任务（</a:t>
            </a:r>
            <a:r>
              <a:rPr kumimoji="1" lang="en-US" altLang="zh-CN" sz="20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Task</a:t>
            </a:r>
            <a:r>
              <a:rPr kumimoji="1" lang="zh-CN" altLang="en-US" sz="20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）：线程、单线程进程</a:t>
            </a:r>
            <a:endParaRPr kumimoji="1" lang="en-US" altLang="zh-CN" sz="20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页脚占位符 4">
            <a:extLst>
              <a:ext uri="{FF2B5EF4-FFF2-40B4-BE49-F238E27FC236}">
                <a16:creationId xmlns:a16="http://schemas.microsoft.com/office/drawing/2014/main" id="{FA4F0A28-BA95-2648-A1EA-DEB6DB66F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919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肘形连接符 33">
            <a:extLst>
              <a:ext uri="{FF2B5EF4-FFF2-40B4-BE49-F238E27FC236}">
                <a16:creationId xmlns:a16="http://schemas.microsoft.com/office/drawing/2014/main" id="{A4663449-3B10-6F46-831B-64D546A4B906}"/>
              </a:ext>
            </a:extLst>
          </p:cNvPr>
          <p:cNvCxnSpPr>
            <a:cxnSpLocks/>
            <a:stCxn id="6" idx="2"/>
            <a:endCxn id="38" idx="2"/>
          </p:cNvCxnSpPr>
          <p:nvPr/>
        </p:nvCxnSpPr>
        <p:spPr>
          <a:xfrm rot="16200000" flipH="1">
            <a:off x="3199732" y="1996352"/>
            <a:ext cx="782321" cy="2502279"/>
          </a:xfrm>
          <a:prstGeom prst="bentConnector3">
            <a:avLst>
              <a:gd name="adj1" fmla="val 129221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5F76BF8-AE88-CB44-BF96-66E90452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2E2E165-92E7-AD45-8B36-7035DEC37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线程调度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7D1A0A-1CCF-954E-8957-357693B5246E}"/>
              </a:ext>
            </a:extLst>
          </p:cNvPr>
          <p:cNvSpPr/>
          <p:nvPr/>
        </p:nvSpPr>
        <p:spPr>
          <a:xfrm>
            <a:off x="1871701" y="2568300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2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04368A0-44E2-7D40-9382-141A7701A206}"/>
              </a:ext>
            </a:extLst>
          </p:cNvPr>
          <p:cNvSpPr/>
          <p:nvPr/>
        </p:nvSpPr>
        <p:spPr>
          <a:xfrm>
            <a:off x="1871701" y="2280268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…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7F8F12-D8A8-B14F-88DF-BF1C0D15EDA7}"/>
              </a:ext>
            </a:extLst>
          </p:cNvPr>
          <p:cNvSpPr/>
          <p:nvPr/>
        </p:nvSpPr>
        <p:spPr>
          <a:xfrm>
            <a:off x="1871701" y="1992236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168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F080F7-3CEB-204C-A7D7-AEF88F71A247}"/>
              </a:ext>
            </a:extLst>
          </p:cNvPr>
          <p:cNvSpPr/>
          <p:nvPr/>
        </p:nvSpPr>
        <p:spPr>
          <a:xfrm>
            <a:off x="5976157" y="3350622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0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FA29C4CD-492A-9640-BAE8-00498B747B00}"/>
              </a:ext>
            </a:extLst>
          </p:cNvPr>
          <p:cNvCxnSpPr>
            <a:cxnSpLocks/>
            <a:stCxn id="6" idx="2"/>
            <a:endCxn id="12" idx="2"/>
          </p:cNvCxnSpPr>
          <p:nvPr/>
        </p:nvCxnSpPr>
        <p:spPr>
          <a:xfrm rot="16200000" flipH="1">
            <a:off x="4000820" y="1195265"/>
            <a:ext cx="782322" cy="4104456"/>
          </a:xfrm>
          <a:prstGeom prst="bentConnector3">
            <a:avLst>
              <a:gd name="adj1" fmla="val 129221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肘形连接符 15">
            <a:extLst>
              <a:ext uri="{FF2B5EF4-FFF2-40B4-BE49-F238E27FC236}">
                <a16:creationId xmlns:a16="http://schemas.microsoft.com/office/drawing/2014/main" id="{61265E16-25AD-1044-B1F4-CC8EDCB65C4C}"/>
              </a:ext>
            </a:extLst>
          </p:cNvPr>
          <p:cNvCxnSpPr>
            <a:cxnSpLocks/>
            <a:stCxn id="12" idx="0"/>
            <a:endCxn id="8" idx="0"/>
          </p:cNvCxnSpPr>
          <p:nvPr/>
        </p:nvCxnSpPr>
        <p:spPr>
          <a:xfrm rot="16200000" flipV="1">
            <a:off x="3712788" y="619201"/>
            <a:ext cx="1358386" cy="4104456"/>
          </a:xfrm>
          <a:prstGeom prst="bentConnector3">
            <a:avLst>
              <a:gd name="adj1" fmla="val 11682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B0B3BA24-81B0-8F49-99ED-7AFA067BBB64}"/>
              </a:ext>
            </a:extLst>
          </p:cNvPr>
          <p:cNvSpPr/>
          <p:nvPr/>
        </p:nvSpPr>
        <p:spPr>
          <a:xfrm>
            <a:off x="1727684" y="3062590"/>
            <a:ext cx="1224136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调度器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3B30991B-2549-FB4E-AC9B-0F2A6CBFF2F3}"/>
              </a:ext>
            </a:extLst>
          </p:cNvPr>
          <p:cNvSpPr/>
          <p:nvPr/>
        </p:nvSpPr>
        <p:spPr>
          <a:xfrm>
            <a:off x="5760133" y="2328007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725399-8584-4B45-959C-3ADB0BE87237}"/>
              </a:ext>
            </a:extLst>
          </p:cNvPr>
          <p:cNvSpPr txBox="1"/>
          <p:nvPr/>
        </p:nvSpPr>
        <p:spPr>
          <a:xfrm>
            <a:off x="2230761" y="4128043"/>
            <a:ext cx="4213448" cy="953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600" b="1" dirty="0"/>
              <a:t>调度决策</a:t>
            </a:r>
            <a:r>
              <a:rPr kumimoji="1" lang="zh-CN" altLang="en-US" sz="1600" dirty="0"/>
              <a:t>：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）下一个执行的任务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2</a:t>
            </a:r>
            <a:r>
              <a:rPr kumimoji="1" lang="zh-CN" altLang="en-US" sz="1600" dirty="0"/>
              <a:t>）执行该任务的</a:t>
            </a:r>
            <a:r>
              <a:rPr kumimoji="1" lang="en-US" altLang="zh-CN" sz="1600" dirty="0"/>
              <a:t>CPU</a:t>
            </a:r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）执行的时长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CB6424-B34D-E440-B772-3FB3DA25A83C}"/>
              </a:ext>
            </a:extLst>
          </p:cNvPr>
          <p:cNvSpPr txBox="1"/>
          <p:nvPr/>
        </p:nvSpPr>
        <p:spPr>
          <a:xfrm>
            <a:off x="5188203" y="2895367"/>
            <a:ext cx="1134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/>
              <a:t>执行任务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396404D-4031-4548-8C0E-2C0834BD1FD9}"/>
              </a:ext>
            </a:extLst>
          </p:cNvPr>
          <p:cNvSpPr txBox="1"/>
          <p:nvPr/>
        </p:nvSpPr>
        <p:spPr>
          <a:xfrm>
            <a:off x="6025690" y="1068728"/>
            <a:ext cx="3228172" cy="1544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1600" b="1" dirty="0"/>
              <a:t>执行结束</a:t>
            </a:r>
            <a:r>
              <a:rPr kumimoji="1" lang="zh-CN" altLang="en-US" sz="1600" dirty="0"/>
              <a:t>：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）执行时间用尽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2</a:t>
            </a:r>
            <a:r>
              <a:rPr kumimoji="1" lang="zh-CN" altLang="en-US" sz="1600" dirty="0"/>
              <a:t>）等待</a:t>
            </a:r>
            <a:r>
              <a:rPr kumimoji="1" lang="en-US" altLang="zh-CN" sz="1600" dirty="0"/>
              <a:t>I/O</a:t>
            </a:r>
            <a:r>
              <a:rPr kumimoji="1" lang="zh-CN" altLang="en-US" sz="1600" dirty="0"/>
              <a:t>请求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3</a:t>
            </a:r>
            <a:r>
              <a:rPr kumimoji="1" lang="zh-CN" altLang="en-US" sz="1600" dirty="0"/>
              <a:t>）睡眠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4</a:t>
            </a:r>
            <a:r>
              <a:rPr kumimoji="1" lang="zh-CN" altLang="en-US" sz="1600" dirty="0"/>
              <a:t>）中断</a:t>
            </a:r>
            <a:endParaRPr kumimoji="1" lang="en-US" altLang="zh-CN" sz="1600" dirty="0"/>
          </a:p>
          <a:p>
            <a:pPr>
              <a:lnSpc>
                <a:spcPct val="120000"/>
              </a:lnSpc>
            </a:pPr>
            <a:r>
              <a:rPr kumimoji="1" lang="en-US" altLang="zh-CN" sz="1600" dirty="0"/>
              <a:t>	</a:t>
            </a:r>
            <a:r>
              <a:rPr kumimoji="1" lang="zh-CN" altLang="en-US" sz="1600" dirty="0"/>
              <a:t>  </a:t>
            </a:r>
            <a:r>
              <a:rPr kumimoji="1" lang="en-US" altLang="zh-CN" sz="1600" dirty="0"/>
              <a:t>5</a:t>
            </a:r>
            <a:r>
              <a:rPr kumimoji="1" lang="zh-CN" altLang="en-US" sz="1600" dirty="0"/>
              <a:t>）</a:t>
            </a:r>
            <a:r>
              <a:rPr kumimoji="1" lang="en-US" altLang="zh-CN" sz="1600" dirty="0"/>
              <a:t>…</a:t>
            </a:r>
            <a:endParaRPr kumimoji="1" lang="zh-CN" altLang="en-US" sz="1600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74510530-9B4D-744A-97B6-B83EDAE67DD9}"/>
              </a:ext>
            </a:extLst>
          </p:cNvPr>
          <p:cNvSpPr/>
          <p:nvPr/>
        </p:nvSpPr>
        <p:spPr>
          <a:xfrm>
            <a:off x="4373980" y="3350621"/>
            <a:ext cx="936104" cy="2880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tx1"/>
                </a:solidFill>
              </a:rPr>
              <a:t>任务</a:t>
            </a:r>
            <a:r>
              <a:rPr kumimoji="1" lang="en-US" altLang="zh-CN" sz="1400" dirty="0">
                <a:solidFill>
                  <a:schemeClr val="tx1"/>
                </a:solidFill>
              </a:rPr>
              <a:t>1</a:t>
            </a:r>
            <a:endParaRPr kumimoji="1" lang="zh-CN" altLang="en-US" sz="1400" dirty="0">
              <a:solidFill>
                <a:schemeClr val="tx1"/>
              </a:solidFill>
            </a:endParaRPr>
          </a:p>
        </p:txBody>
      </p:sp>
      <p:cxnSp>
        <p:nvCxnSpPr>
          <p:cNvPr id="40" name="肘形连接符 39">
            <a:extLst>
              <a:ext uri="{FF2B5EF4-FFF2-40B4-BE49-F238E27FC236}">
                <a16:creationId xmlns:a16="http://schemas.microsoft.com/office/drawing/2014/main" id="{9D807F82-7A36-F649-AD57-880C1A201582}"/>
              </a:ext>
            </a:extLst>
          </p:cNvPr>
          <p:cNvCxnSpPr>
            <a:cxnSpLocks/>
            <a:stCxn id="38" idx="0"/>
            <a:endCxn id="8" idx="0"/>
          </p:cNvCxnSpPr>
          <p:nvPr/>
        </p:nvCxnSpPr>
        <p:spPr>
          <a:xfrm rot="16200000" flipV="1">
            <a:off x="2911701" y="1420289"/>
            <a:ext cx="1358385" cy="2502279"/>
          </a:xfrm>
          <a:prstGeom prst="bentConnector3">
            <a:avLst>
              <a:gd name="adj1" fmla="val 116829"/>
            </a:avLst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椭圆 32">
            <a:extLst>
              <a:ext uri="{FF2B5EF4-FFF2-40B4-BE49-F238E27FC236}">
                <a16:creationId xmlns:a16="http://schemas.microsoft.com/office/drawing/2014/main" id="{B20FE223-D063-624F-AEAA-CDD682C9A799}"/>
              </a:ext>
            </a:extLst>
          </p:cNvPr>
          <p:cNvSpPr/>
          <p:nvPr/>
        </p:nvSpPr>
        <p:spPr>
          <a:xfrm>
            <a:off x="4157956" y="2332703"/>
            <a:ext cx="1368152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54" name="页脚占位符 4">
            <a:extLst>
              <a:ext uri="{FF2B5EF4-FFF2-40B4-BE49-F238E27FC236}">
                <a16:creationId xmlns:a16="http://schemas.microsoft.com/office/drawing/2014/main" id="{A6FC76A6-7E24-9946-ADBB-50B30132A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709169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213AD-A0CC-E049-BAE9-5421C0E2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如果没有调度器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FEFECE-C8FA-3E43-9DAC-DC33D202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F0F9AA-2CC3-CD43-B225-8FDBDDF7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A2EE5EB-5526-A646-99D1-318F1DB32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C8CAEF3-93AC-6C47-92F1-82B9337A9196}"/>
              </a:ext>
            </a:extLst>
          </p:cNvPr>
          <p:cNvCxnSpPr>
            <a:cxnSpLocks/>
          </p:cNvCxnSpPr>
          <p:nvPr/>
        </p:nvCxnSpPr>
        <p:spPr>
          <a:xfrm>
            <a:off x="3744712" y="2208079"/>
            <a:ext cx="3275560" cy="0"/>
          </a:xfrm>
          <a:prstGeom prst="line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501E86B2-548A-9141-9789-468649CBF555}"/>
              </a:ext>
            </a:extLst>
          </p:cNvPr>
          <p:cNvCxnSpPr>
            <a:cxnSpLocks/>
          </p:cNvCxnSpPr>
          <p:nvPr/>
        </p:nvCxnSpPr>
        <p:spPr>
          <a:xfrm>
            <a:off x="3744711" y="3342336"/>
            <a:ext cx="3347569" cy="0"/>
          </a:xfrm>
          <a:prstGeom prst="line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1321C4DA-6292-6A4F-AB81-9F89AD9289EF}"/>
              </a:ext>
            </a:extLst>
          </p:cNvPr>
          <p:cNvSpPr/>
          <p:nvPr/>
        </p:nvSpPr>
        <p:spPr>
          <a:xfrm>
            <a:off x="3859280" y="2147298"/>
            <a:ext cx="2201733" cy="1212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0692A0-6494-0F48-9F66-93B2901C177C}"/>
              </a:ext>
            </a:extLst>
          </p:cNvPr>
          <p:cNvSpPr/>
          <p:nvPr/>
        </p:nvSpPr>
        <p:spPr>
          <a:xfrm>
            <a:off x="6061012" y="3312090"/>
            <a:ext cx="599219" cy="101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6835754-4B79-C749-BA1B-FAAA3A665C48}"/>
              </a:ext>
            </a:extLst>
          </p:cNvPr>
          <p:cNvSpPr txBox="1"/>
          <p:nvPr/>
        </p:nvSpPr>
        <p:spPr>
          <a:xfrm>
            <a:off x="1499428" y="4543956"/>
            <a:ext cx="6192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程序员需要等</a:t>
            </a:r>
            <a:r>
              <a:rPr kumimoji="1" lang="en-US" altLang="zh-CN" dirty="0"/>
              <a:t>30</a:t>
            </a:r>
            <a:r>
              <a:rPr kumimoji="1" lang="zh-CN" altLang="en-US" dirty="0"/>
              <a:t>分钟才能播放他爱听的音乐</a:t>
            </a:r>
            <a:endParaRPr kumimoji="1" lang="en-US" altLang="zh-CN" dirty="0"/>
          </a:p>
        </p:txBody>
      </p:sp>
      <p:pic>
        <p:nvPicPr>
          <p:cNvPr id="42" name="图形 41" descr="无填充的愤怒表情">
            <a:extLst>
              <a:ext uri="{FF2B5EF4-FFF2-40B4-BE49-F238E27FC236}">
                <a16:creationId xmlns:a16="http://schemas.microsoft.com/office/drawing/2014/main" id="{FB911507-4CC0-6D4E-BDDA-850EC32A7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916" y="4271422"/>
            <a:ext cx="914400" cy="914400"/>
          </a:xfrm>
          <a:prstGeom prst="rect">
            <a:avLst/>
          </a:prstGeom>
        </p:spPr>
      </p:pic>
      <p:sp>
        <p:nvSpPr>
          <p:cNvPr id="43" name="椭圆 42">
            <a:extLst>
              <a:ext uri="{FF2B5EF4-FFF2-40B4-BE49-F238E27FC236}">
                <a16:creationId xmlns:a16="http://schemas.microsoft.com/office/drawing/2014/main" id="{39126E10-997C-7947-A7E6-26AD83D69172}"/>
              </a:ext>
            </a:extLst>
          </p:cNvPr>
          <p:cNvSpPr/>
          <p:nvPr/>
        </p:nvSpPr>
        <p:spPr>
          <a:xfrm>
            <a:off x="4848362" y="1119442"/>
            <a:ext cx="1068259" cy="5905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5EAD028-43E7-4545-B3D5-9768ECDCB1CB}"/>
              </a:ext>
            </a:extLst>
          </p:cNvPr>
          <p:cNvSpPr txBox="1"/>
          <p:nvPr/>
        </p:nvSpPr>
        <p:spPr>
          <a:xfrm>
            <a:off x="637990" y="1890641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一个运行</a:t>
            </a:r>
            <a:r>
              <a:rPr kumimoji="1" lang="en-US" altLang="zh-CN" dirty="0"/>
              <a:t>30</a:t>
            </a:r>
            <a:r>
              <a:rPr kumimoji="1" lang="zh-CN" altLang="en-US" dirty="0"/>
              <a:t>分钟的机器学习程序</a:t>
            </a:r>
          </a:p>
        </p:txBody>
      </p:sp>
      <p:pic>
        <p:nvPicPr>
          <p:cNvPr id="45" name="图形 44" descr="戴装备的头">
            <a:extLst>
              <a:ext uri="{FF2B5EF4-FFF2-40B4-BE49-F238E27FC236}">
                <a16:creationId xmlns:a16="http://schemas.microsoft.com/office/drawing/2014/main" id="{19150AD6-3611-704A-9267-0B781DB248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37807" y="1763894"/>
            <a:ext cx="914400" cy="914400"/>
          </a:xfrm>
          <a:prstGeom prst="rect">
            <a:avLst/>
          </a:prstGeom>
        </p:spPr>
      </p:pic>
      <p:pic>
        <p:nvPicPr>
          <p:cNvPr id="46" name="图形 45" descr="耳机">
            <a:extLst>
              <a:ext uri="{FF2B5EF4-FFF2-40B4-BE49-F238E27FC236}">
                <a16:creationId xmlns:a16="http://schemas.microsoft.com/office/drawing/2014/main" id="{01685DFA-A34D-D94C-B92B-126519F3DDE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512989" y="2852903"/>
            <a:ext cx="914400" cy="914400"/>
          </a:xfrm>
          <a:prstGeom prst="rect">
            <a:avLst/>
          </a:prstGeom>
        </p:spPr>
      </p:pic>
      <p:sp>
        <p:nvSpPr>
          <p:cNvPr id="47" name="文本框 46">
            <a:extLst>
              <a:ext uri="{FF2B5EF4-FFF2-40B4-BE49-F238E27FC236}">
                <a16:creationId xmlns:a16="http://schemas.microsoft.com/office/drawing/2014/main" id="{A9E06338-D0B1-9D4D-8017-802865E591DA}"/>
              </a:ext>
            </a:extLst>
          </p:cNvPr>
          <p:cNvSpPr txBox="1"/>
          <p:nvPr/>
        </p:nvSpPr>
        <p:spPr>
          <a:xfrm>
            <a:off x="651486" y="3117127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播放音乐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F18EDF-EB43-C94D-AC6B-D3B9C7D33C28}"/>
              </a:ext>
            </a:extLst>
          </p:cNvPr>
          <p:cNvSpPr txBox="1"/>
          <p:nvPr/>
        </p:nvSpPr>
        <p:spPr>
          <a:xfrm>
            <a:off x="4359250" y="3501242"/>
            <a:ext cx="1701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（程序执行片段）</a:t>
            </a:r>
          </a:p>
        </p:txBody>
      </p:sp>
    </p:spTree>
    <p:extLst>
      <p:ext uri="{BB962C8B-B14F-4D97-AF65-F5344CB8AC3E}">
        <p14:creationId xmlns:p14="http://schemas.microsoft.com/office/powerpoint/2010/main" val="759094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213AD-A0CC-E049-BAE9-5421C0E2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调度器让生活更美好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F0F9AA-2CC3-CD43-B225-8FDBDDF7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A2EE5EB-5526-A646-99D1-318F1DB32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75B077-B21F-7943-9508-F7B23C654476}"/>
              </a:ext>
            </a:extLst>
          </p:cNvPr>
          <p:cNvSpPr txBox="1"/>
          <p:nvPr/>
        </p:nvSpPr>
        <p:spPr>
          <a:xfrm>
            <a:off x="670134" y="1913507"/>
            <a:ext cx="2016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一个运行</a:t>
            </a:r>
            <a:r>
              <a:rPr kumimoji="1" lang="en-US" altLang="zh-CN" dirty="0"/>
              <a:t>30</a:t>
            </a:r>
            <a:r>
              <a:rPr kumimoji="1" lang="zh-CN" altLang="en-US" dirty="0"/>
              <a:t>分钟的机器学习程序</a:t>
            </a:r>
          </a:p>
        </p:txBody>
      </p:sp>
      <p:pic>
        <p:nvPicPr>
          <p:cNvPr id="22" name="图形 21" descr="戴装备的头">
            <a:extLst>
              <a:ext uri="{FF2B5EF4-FFF2-40B4-BE49-F238E27FC236}">
                <a16:creationId xmlns:a16="http://schemas.microsoft.com/office/drawing/2014/main" id="{35F3037C-93D6-554B-B77B-5C87B56DC6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951" y="1786760"/>
            <a:ext cx="914400" cy="914400"/>
          </a:xfrm>
          <a:prstGeom prst="rect">
            <a:avLst/>
          </a:prstGeom>
        </p:spPr>
      </p:pic>
      <p:pic>
        <p:nvPicPr>
          <p:cNvPr id="24" name="图形 23" descr="耳机">
            <a:extLst>
              <a:ext uri="{FF2B5EF4-FFF2-40B4-BE49-F238E27FC236}">
                <a16:creationId xmlns:a16="http://schemas.microsoft.com/office/drawing/2014/main" id="{39CF0563-3020-8445-B592-80F380254B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45133" y="2875769"/>
            <a:ext cx="914400" cy="914400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3DBAF63-AD21-9C4C-8905-53F8AE9CF50E}"/>
              </a:ext>
            </a:extLst>
          </p:cNvPr>
          <p:cNvSpPr txBox="1"/>
          <p:nvPr/>
        </p:nvSpPr>
        <p:spPr>
          <a:xfrm>
            <a:off x="683630" y="3139993"/>
            <a:ext cx="2016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播放音乐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9D2818A-D825-7B49-A616-857ABAD094B4}"/>
              </a:ext>
            </a:extLst>
          </p:cNvPr>
          <p:cNvSpPr txBox="1"/>
          <p:nvPr/>
        </p:nvSpPr>
        <p:spPr>
          <a:xfrm>
            <a:off x="1838970" y="4319226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调度器</a:t>
            </a:r>
            <a:r>
              <a:rPr kumimoji="1" lang="en-US" altLang="zh-CN" dirty="0"/>
              <a:t>"</a:t>
            </a:r>
            <a:r>
              <a:rPr kumimoji="1" lang="zh-CN" altLang="en-US" dirty="0"/>
              <a:t>人性化</a:t>
            </a:r>
            <a:r>
              <a:rPr kumimoji="1" lang="en-US" altLang="zh-CN" dirty="0"/>
              <a:t>"</a:t>
            </a:r>
            <a:r>
              <a:rPr kumimoji="1" lang="zh-CN" altLang="en-US" dirty="0"/>
              <a:t>地将程序切片执行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现在程序员可以边听音乐边等他的程序运行完了</a:t>
            </a:r>
          </a:p>
        </p:txBody>
      </p:sp>
      <p:pic>
        <p:nvPicPr>
          <p:cNvPr id="7" name="图形 6" descr="吐舌头表情，没有填充">
            <a:extLst>
              <a:ext uri="{FF2B5EF4-FFF2-40B4-BE49-F238E27FC236}">
                <a16:creationId xmlns:a16="http://schemas.microsoft.com/office/drawing/2014/main" id="{2ADC3E41-95C5-6447-9637-951E0CBDD6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79530" y="4156876"/>
            <a:ext cx="914400" cy="9144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B23488E-0C5F-AE41-93F7-F9E11A7B5220}"/>
              </a:ext>
            </a:extLst>
          </p:cNvPr>
          <p:cNvSpPr/>
          <p:nvPr/>
        </p:nvSpPr>
        <p:spPr>
          <a:xfrm>
            <a:off x="3965155" y="1168736"/>
            <a:ext cx="914400" cy="4889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调度器</a:t>
            </a:r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5C8CAEF3-93AC-6C47-92F1-82B9337A9196}"/>
              </a:ext>
            </a:extLst>
          </p:cNvPr>
          <p:cNvCxnSpPr/>
          <p:nvPr/>
        </p:nvCxnSpPr>
        <p:spPr>
          <a:xfrm>
            <a:off x="3853924" y="2296958"/>
            <a:ext cx="2707456" cy="0"/>
          </a:xfrm>
          <a:prstGeom prst="line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线连接符 20">
            <a:extLst>
              <a:ext uri="{FF2B5EF4-FFF2-40B4-BE49-F238E27FC236}">
                <a16:creationId xmlns:a16="http://schemas.microsoft.com/office/drawing/2014/main" id="{501E86B2-548A-9141-9789-468649CBF555}"/>
              </a:ext>
            </a:extLst>
          </p:cNvPr>
          <p:cNvCxnSpPr/>
          <p:nvPr/>
        </p:nvCxnSpPr>
        <p:spPr>
          <a:xfrm>
            <a:off x="3850914" y="3329887"/>
            <a:ext cx="2707456" cy="0"/>
          </a:xfrm>
          <a:prstGeom prst="line">
            <a:avLst/>
          </a:prstGeom>
          <a:ln w="12700"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1321C4DA-6292-6A4F-AB81-9F89AD9289EF}"/>
              </a:ext>
            </a:extLst>
          </p:cNvPr>
          <p:cNvSpPr/>
          <p:nvPr/>
        </p:nvSpPr>
        <p:spPr>
          <a:xfrm>
            <a:off x="3968493" y="2236177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8EF9923-CB9D-1643-B619-455F033DB45A}"/>
              </a:ext>
            </a:extLst>
          </p:cNvPr>
          <p:cNvSpPr/>
          <p:nvPr/>
        </p:nvSpPr>
        <p:spPr>
          <a:xfrm>
            <a:off x="4263185" y="3275179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D1551C1-B15C-E84B-894D-0A75A8104279}"/>
              </a:ext>
            </a:extLst>
          </p:cNvPr>
          <p:cNvSpPr/>
          <p:nvPr/>
        </p:nvSpPr>
        <p:spPr>
          <a:xfrm>
            <a:off x="4440822" y="2241933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A928F22-2BD2-E449-B910-DBECF38F94E9}"/>
              </a:ext>
            </a:extLst>
          </p:cNvPr>
          <p:cNvSpPr/>
          <p:nvPr/>
        </p:nvSpPr>
        <p:spPr>
          <a:xfrm>
            <a:off x="4710894" y="3269423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EC7F8F-ED8B-B84F-8674-3CF1E30B016C}"/>
              </a:ext>
            </a:extLst>
          </p:cNvPr>
          <p:cNvSpPr/>
          <p:nvPr/>
        </p:nvSpPr>
        <p:spPr>
          <a:xfrm>
            <a:off x="4913151" y="2255771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549EA86-2923-9E4D-BDFB-4560657370FA}"/>
              </a:ext>
            </a:extLst>
          </p:cNvPr>
          <p:cNvSpPr/>
          <p:nvPr/>
        </p:nvSpPr>
        <p:spPr>
          <a:xfrm>
            <a:off x="5196127" y="3263271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062A1F-2581-964B-AB98-68871F91E5D8}"/>
              </a:ext>
            </a:extLst>
          </p:cNvPr>
          <p:cNvSpPr/>
          <p:nvPr/>
        </p:nvSpPr>
        <p:spPr>
          <a:xfrm>
            <a:off x="5372024" y="2258342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C117FA2-1E4E-D147-A54B-FC81E8C574B4}"/>
              </a:ext>
            </a:extLst>
          </p:cNvPr>
          <p:cNvSpPr/>
          <p:nvPr/>
        </p:nvSpPr>
        <p:spPr>
          <a:xfrm>
            <a:off x="5643836" y="3275179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D7EA016D-F87B-A747-9D97-5DE8D4D9BA2E}"/>
              </a:ext>
            </a:extLst>
          </p:cNvPr>
          <p:cNvSpPr/>
          <p:nvPr/>
        </p:nvSpPr>
        <p:spPr>
          <a:xfrm>
            <a:off x="5884240" y="2241933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40692A0-6494-0F48-9F66-93B2901C177C}"/>
              </a:ext>
            </a:extLst>
          </p:cNvPr>
          <p:cNvSpPr/>
          <p:nvPr/>
        </p:nvSpPr>
        <p:spPr>
          <a:xfrm>
            <a:off x="6140974" y="3292070"/>
            <a:ext cx="240404" cy="1016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799A0D2E-FF25-824C-9012-044086D4A1BE}"/>
              </a:ext>
            </a:extLst>
          </p:cNvPr>
          <p:cNvSpPr/>
          <p:nvPr/>
        </p:nvSpPr>
        <p:spPr>
          <a:xfrm>
            <a:off x="5454889" y="1173675"/>
            <a:ext cx="1091291" cy="4839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3626F2-8917-1E4A-BDBD-7D41F5F4DE23}"/>
              </a:ext>
            </a:extLst>
          </p:cNvPr>
          <p:cNvSpPr txBox="1"/>
          <p:nvPr/>
        </p:nvSpPr>
        <p:spPr>
          <a:xfrm>
            <a:off x="4903177" y="993167"/>
            <a:ext cx="5040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 dirty="0"/>
              <a:t>+</a:t>
            </a:r>
            <a:endParaRPr kumimoji="1" lang="zh-CN" altLang="en-US" sz="4800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0593F17B-7277-1141-86B4-305F2D6927CE}"/>
              </a:ext>
            </a:extLst>
          </p:cNvPr>
          <p:cNvSpPr txBox="1"/>
          <p:nvPr/>
        </p:nvSpPr>
        <p:spPr>
          <a:xfrm>
            <a:off x="4359250" y="3501242"/>
            <a:ext cx="17017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dirty="0"/>
              <a:t>（程序执行片段）</a:t>
            </a:r>
          </a:p>
        </p:txBody>
      </p:sp>
    </p:spTree>
    <p:extLst>
      <p:ext uri="{BB962C8B-B14F-4D97-AF65-F5344CB8AC3E}">
        <p14:creationId xmlns:p14="http://schemas.microsoft.com/office/powerpoint/2010/main" val="725895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213AD-A0CC-E049-BAE9-5421C0E2F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什么是调度？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FEFECE-C8FA-3E43-9DAC-DC33D202E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dirty="0"/>
              <a:t>协调请求对于资源的使用</a:t>
            </a:r>
            <a:endParaRPr kumimoji="1" lang="en-US" altLang="zh-CN" dirty="0"/>
          </a:p>
          <a:p>
            <a:pPr lvl="1"/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F0F9AA-2CC3-CD43-B225-8FDBDDF7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8A2EE5EB-5526-A646-99D1-318F1DB32F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4F48D0BB-F0D9-804D-A495-C13F2ED8CED0}"/>
              </a:ext>
            </a:extLst>
          </p:cNvPr>
          <p:cNvSpPr/>
          <p:nvPr/>
        </p:nvSpPr>
        <p:spPr>
          <a:xfrm>
            <a:off x="3851920" y="3171479"/>
            <a:ext cx="1224136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dirty="0"/>
              <a:t>调度器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535DE8F-3566-0544-9684-FE42CD056A6F}"/>
              </a:ext>
            </a:extLst>
          </p:cNvPr>
          <p:cNvSpPr/>
          <p:nvPr/>
        </p:nvSpPr>
        <p:spPr>
          <a:xfrm rot="1800000">
            <a:off x="3092987" y="2955483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6AC32F72-AEA9-6140-BC5A-C5B82DA175B5}"/>
              </a:ext>
            </a:extLst>
          </p:cNvPr>
          <p:cNvSpPr/>
          <p:nvPr/>
        </p:nvSpPr>
        <p:spPr>
          <a:xfrm>
            <a:off x="5240587" y="3387503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B422991C-1ED1-3248-808E-E91B505A8F7A}"/>
              </a:ext>
            </a:extLst>
          </p:cNvPr>
          <p:cNvSpPr/>
          <p:nvPr/>
        </p:nvSpPr>
        <p:spPr>
          <a:xfrm>
            <a:off x="3039317" y="3446416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CE1514A5-9DDB-5044-ABC7-A3AC38F062F3}"/>
              </a:ext>
            </a:extLst>
          </p:cNvPr>
          <p:cNvSpPr/>
          <p:nvPr/>
        </p:nvSpPr>
        <p:spPr>
          <a:xfrm rot="19800000">
            <a:off x="3029319" y="3937349"/>
            <a:ext cx="648072" cy="288032"/>
          </a:xfrm>
          <a:prstGeom prst="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1F57FF1-5779-C24B-B2EF-59298C9BD4B6}"/>
              </a:ext>
            </a:extLst>
          </p:cNvPr>
          <p:cNvSpPr txBox="1"/>
          <p:nvPr/>
        </p:nvSpPr>
        <p:spPr>
          <a:xfrm>
            <a:off x="2247229" y="271003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7576BF-1814-CF48-A852-62B2594BB677}"/>
              </a:ext>
            </a:extLst>
          </p:cNvPr>
          <p:cNvSpPr txBox="1"/>
          <p:nvPr/>
        </p:nvSpPr>
        <p:spPr>
          <a:xfrm>
            <a:off x="2247229" y="340576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E5ED2CA-56E2-F247-ACD3-3A9A6F4B9DD7}"/>
              </a:ext>
            </a:extLst>
          </p:cNvPr>
          <p:cNvSpPr txBox="1"/>
          <p:nvPr/>
        </p:nvSpPr>
        <p:spPr>
          <a:xfrm>
            <a:off x="2246957" y="4042648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请求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28659C-652A-264C-AE05-308BF661EFE1}"/>
              </a:ext>
            </a:extLst>
          </p:cNvPr>
          <p:cNvSpPr txBox="1"/>
          <p:nvPr/>
        </p:nvSpPr>
        <p:spPr>
          <a:xfrm>
            <a:off x="5888659" y="290537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资源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E1E47E-79D7-2747-AFA5-FE941D12F737}"/>
              </a:ext>
            </a:extLst>
          </p:cNvPr>
          <p:cNvSpPr txBox="1"/>
          <p:nvPr/>
        </p:nvSpPr>
        <p:spPr>
          <a:xfrm>
            <a:off x="5888659" y="335009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资源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472E2CAB-E08E-4D4C-AEF9-6C203BB58A9B}"/>
              </a:ext>
            </a:extLst>
          </p:cNvPr>
          <p:cNvSpPr txBox="1"/>
          <p:nvPr/>
        </p:nvSpPr>
        <p:spPr>
          <a:xfrm>
            <a:off x="5888659" y="378431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资源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64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F748E3-FA9D-E347-8F91-A4B92D007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思考：还有哪些调度适用的场景？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9C1CF4-D2B8-C545-BC3A-0E4F9AA6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I/O (</a:t>
            </a:r>
            <a:r>
              <a:rPr kumimoji="1" lang="zh-CN" altLang="en-US" dirty="0"/>
              <a:t>磁盘</a:t>
            </a:r>
            <a:r>
              <a:rPr kumimoji="1" lang="en-US" altLang="zh-CN" dirty="0"/>
              <a:t>)</a:t>
            </a:r>
          </a:p>
          <a:p>
            <a:r>
              <a:rPr kumimoji="1" lang="zh-CN" altLang="en-US" dirty="0"/>
              <a:t>打印机</a:t>
            </a:r>
            <a:endParaRPr kumimoji="1" lang="en-US" altLang="zh-CN" dirty="0"/>
          </a:p>
          <a:p>
            <a:r>
              <a:rPr kumimoji="1" lang="zh-CN" altLang="en-US" dirty="0"/>
              <a:t>内存</a:t>
            </a:r>
            <a:endParaRPr kumimoji="1" lang="en-US" altLang="zh-CN" dirty="0"/>
          </a:p>
          <a:p>
            <a:r>
              <a:rPr kumimoji="1" lang="zh-CN" altLang="en-US" dirty="0"/>
              <a:t>网络包</a:t>
            </a:r>
            <a:endParaRPr kumimoji="1" lang="en-US" altLang="zh-CN" dirty="0"/>
          </a:p>
          <a:p>
            <a:r>
              <a:rPr kumimoji="1" lang="en-US" altLang="zh-CN" dirty="0"/>
              <a:t>…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291885E-FFDC-D843-8188-B00BCA7F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A2053D58-7907-C344-BC64-5B80E52A61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8200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F3E6A-0149-DB4A-9B75-F9CAA7AD5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调度在不同场景下的目标</a:t>
            </a:r>
          </a:p>
        </p:txBody>
      </p:sp>
      <p:pic>
        <p:nvPicPr>
          <p:cNvPr id="6" name="内容占位符 5" descr="智能手机">
            <a:extLst>
              <a:ext uri="{FF2B5EF4-FFF2-40B4-BE49-F238E27FC236}">
                <a16:creationId xmlns:a16="http://schemas.microsoft.com/office/drawing/2014/main" id="{EA356EB5-D276-884B-B7B0-692F0BF999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105" y="2298735"/>
            <a:ext cx="914400" cy="914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E0F34-D52A-3545-8BCA-404BBE23E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10" name="图形 9" descr="火箭">
            <a:extLst>
              <a:ext uri="{FF2B5EF4-FFF2-40B4-BE49-F238E27FC236}">
                <a16:creationId xmlns:a16="http://schemas.microsoft.com/office/drawing/2014/main" id="{E24E7391-790E-8044-BF6F-29B6E93F8F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67497" y="2298735"/>
            <a:ext cx="914400" cy="9144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B3EC45C9-6618-AB4A-8FF8-17A1B557E6AE}"/>
              </a:ext>
            </a:extLst>
          </p:cNvPr>
          <p:cNvSpPr txBox="1"/>
          <p:nvPr/>
        </p:nvSpPr>
        <p:spPr>
          <a:xfrm>
            <a:off x="5487242" y="3371769"/>
            <a:ext cx="111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低能耗</a:t>
            </a:r>
          </a:p>
        </p:txBody>
      </p:sp>
      <p:pic>
        <p:nvPicPr>
          <p:cNvPr id="13" name="图形 12" descr="服务器">
            <a:extLst>
              <a:ext uri="{FF2B5EF4-FFF2-40B4-BE49-F238E27FC236}">
                <a16:creationId xmlns:a16="http://schemas.microsoft.com/office/drawing/2014/main" id="{118A6025-6FC5-814B-8562-AF48C2831C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84683" y="2298735"/>
            <a:ext cx="914400" cy="9144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156E17B-CD70-D049-8783-D726ABC36160}"/>
              </a:ext>
            </a:extLst>
          </p:cNvPr>
          <p:cNvSpPr txBox="1"/>
          <p:nvPr/>
        </p:nvSpPr>
        <p:spPr>
          <a:xfrm>
            <a:off x="3783820" y="3372143"/>
            <a:ext cx="111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可扩展性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B2AC222-0289-7847-B9C1-12BF00EF66C7}"/>
              </a:ext>
            </a:extLst>
          </p:cNvPr>
          <p:cNvSpPr txBox="1"/>
          <p:nvPr/>
        </p:nvSpPr>
        <p:spPr>
          <a:xfrm>
            <a:off x="7143135" y="3332619"/>
            <a:ext cx="13349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实时性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DA0D031-0A19-154C-94C6-A8A31D463579}"/>
              </a:ext>
            </a:extLst>
          </p:cNvPr>
          <p:cNvSpPr txBox="1"/>
          <p:nvPr/>
        </p:nvSpPr>
        <p:spPr>
          <a:xfrm>
            <a:off x="5493069" y="1720662"/>
            <a:ext cx="1116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移动设备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5CDF7C8-FF72-C449-A182-5A7B6D62C357}"/>
              </a:ext>
            </a:extLst>
          </p:cNvPr>
          <p:cNvSpPr txBox="1"/>
          <p:nvPr/>
        </p:nvSpPr>
        <p:spPr>
          <a:xfrm>
            <a:off x="3660320" y="1720662"/>
            <a:ext cx="136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网络服务器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902854C-3715-D348-AB87-A95C9ED7EC8E}"/>
              </a:ext>
            </a:extLst>
          </p:cNvPr>
          <p:cNvSpPr txBox="1"/>
          <p:nvPr/>
        </p:nvSpPr>
        <p:spPr>
          <a:xfrm>
            <a:off x="7143135" y="1720662"/>
            <a:ext cx="1363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实时系统</a:t>
            </a:r>
          </a:p>
        </p:txBody>
      </p:sp>
      <p:pic>
        <p:nvPicPr>
          <p:cNvPr id="20" name="图形 19" descr="数据库">
            <a:extLst>
              <a:ext uri="{FF2B5EF4-FFF2-40B4-BE49-F238E27FC236}">
                <a16:creationId xmlns:a16="http://schemas.microsoft.com/office/drawing/2014/main" id="{EAAA6D3C-A7D0-AC43-985B-DD6BD85C408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16" y="2298735"/>
            <a:ext cx="914400" cy="91440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9CF4EBA5-B7BF-964D-9B8B-BC7B4EBA6D71}"/>
              </a:ext>
            </a:extLst>
          </p:cNvPr>
          <p:cNvSpPr txBox="1"/>
          <p:nvPr/>
        </p:nvSpPr>
        <p:spPr>
          <a:xfrm>
            <a:off x="429766" y="1720662"/>
            <a:ext cx="135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批处理系统</a:t>
            </a:r>
          </a:p>
        </p:txBody>
      </p:sp>
      <p:pic>
        <p:nvPicPr>
          <p:cNvPr id="23" name="图形 22" descr="笔记本电脑">
            <a:extLst>
              <a:ext uri="{FF2B5EF4-FFF2-40B4-BE49-F238E27FC236}">
                <a16:creationId xmlns:a16="http://schemas.microsoft.com/office/drawing/2014/main" id="{AD2A07B2-9CA6-D243-B00C-B9559E69743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338728" y="2298735"/>
            <a:ext cx="914400" cy="9144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BA728AE-C271-444F-B9ED-A4C5FE6CB3D6}"/>
              </a:ext>
            </a:extLst>
          </p:cNvPr>
          <p:cNvSpPr txBox="1"/>
          <p:nvPr/>
        </p:nvSpPr>
        <p:spPr>
          <a:xfrm>
            <a:off x="2043050" y="1720662"/>
            <a:ext cx="135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交互式系统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C82265E-DB69-FC44-94FE-3650C45BC7F5}"/>
              </a:ext>
            </a:extLst>
          </p:cNvPr>
          <p:cNvSpPr txBox="1"/>
          <p:nvPr/>
        </p:nvSpPr>
        <p:spPr>
          <a:xfrm>
            <a:off x="546853" y="3371769"/>
            <a:ext cx="1116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高吞吐量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38C7DA7-EC7B-F348-98C7-4EADAF9023FE}"/>
              </a:ext>
            </a:extLst>
          </p:cNvPr>
          <p:cNvSpPr txBox="1"/>
          <p:nvPr/>
        </p:nvSpPr>
        <p:spPr>
          <a:xfrm>
            <a:off x="2114825" y="3371769"/>
            <a:ext cx="13503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1600" b="1" dirty="0">
                <a:solidFill>
                  <a:schemeClr val="bg1">
                    <a:lumMod val="50000"/>
                  </a:schemeClr>
                </a:solidFill>
              </a:rPr>
              <a:t>低响应时间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1CAC9A-C750-1543-B129-E5F007E16AE0}"/>
              </a:ext>
            </a:extLst>
          </p:cNvPr>
          <p:cNvSpPr txBox="1"/>
          <p:nvPr/>
        </p:nvSpPr>
        <p:spPr>
          <a:xfrm>
            <a:off x="4821317" y="3916706"/>
            <a:ext cx="1782050" cy="1156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accent1"/>
                </a:solidFill>
              </a:rPr>
              <a:t>高资源利用率</a:t>
            </a:r>
            <a:endParaRPr kumimoji="1"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accent1"/>
                </a:solidFill>
              </a:rPr>
              <a:t>多任务公平性</a:t>
            </a:r>
            <a:endParaRPr kumimoji="1"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solidFill>
                  <a:schemeClr val="accent1"/>
                </a:solidFill>
              </a:rPr>
              <a:t>低调度开销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7F51580-68A1-4C41-A91C-5C00AE86F389}"/>
              </a:ext>
            </a:extLst>
          </p:cNvPr>
          <p:cNvSpPr txBox="1"/>
          <p:nvPr/>
        </p:nvSpPr>
        <p:spPr>
          <a:xfrm>
            <a:off x="2328645" y="4288485"/>
            <a:ext cx="2795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b="1" dirty="0">
                <a:solidFill>
                  <a:schemeClr val="accent1"/>
                </a:solidFill>
              </a:rPr>
              <a:t>一些共有的目标：</a:t>
            </a:r>
          </a:p>
        </p:txBody>
      </p:sp>
      <p:sp>
        <p:nvSpPr>
          <p:cNvPr id="27" name="页脚占位符 4">
            <a:extLst>
              <a:ext uri="{FF2B5EF4-FFF2-40B4-BE49-F238E27FC236}">
                <a16:creationId xmlns:a16="http://schemas.microsoft.com/office/drawing/2014/main" id="{C5A229D8-FCC3-EA4E-8FA1-B5A087B25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60400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A76C2-842D-C741-A135-49B2319B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调度器的目标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A0BF3-88A2-5340-9813-E85696D73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kumimoji="1" lang="zh-CN" altLang="en-US" dirty="0"/>
              <a:t>降低周转时间：</a:t>
            </a:r>
            <a:r>
              <a:rPr kumimoji="1" lang="zh-CN" altLang="en-US" sz="2400" b="0" dirty="0"/>
              <a:t>任务第一次进入系统到执行结束的时间</a:t>
            </a:r>
            <a:endParaRPr kumimoji="1" lang="en-US" altLang="zh-CN" sz="2400" b="0" dirty="0"/>
          </a:p>
          <a:p>
            <a:r>
              <a:rPr kumimoji="1" lang="zh-CN" altLang="en-US" dirty="0"/>
              <a:t>降低响应时间：</a:t>
            </a:r>
            <a:r>
              <a:rPr kumimoji="1" lang="zh-CN" altLang="en-US" sz="2400" b="0" dirty="0"/>
              <a:t>任务第一次进入系统到第一次给用户输出的时间</a:t>
            </a:r>
            <a:endParaRPr kumimoji="1" lang="en-US" altLang="zh-CN" b="0" dirty="0"/>
          </a:p>
          <a:p>
            <a:r>
              <a:rPr kumimoji="1" lang="zh-CN" altLang="en-US" dirty="0"/>
              <a:t>实时性：</a:t>
            </a:r>
            <a:r>
              <a:rPr kumimoji="1" lang="zh-CN" altLang="en-US" sz="2400" b="0" dirty="0"/>
              <a:t>在任务的截止时间内完成任务</a:t>
            </a:r>
            <a:endParaRPr kumimoji="1" lang="en-US" altLang="zh-CN" sz="2400" b="0" dirty="0"/>
          </a:p>
          <a:p>
            <a:r>
              <a:rPr kumimoji="1" lang="zh-CN" altLang="en-US" dirty="0"/>
              <a:t>公平性：</a:t>
            </a:r>
            <a:r>
              <a:rPr kumimoji="1" lang="zh-CN" altLang="en-US" sz="2400" b="0" dirty="0"/>
              <a:t>每个任务都应该有机会执行，不能饿死</a:t>
            </a:r>
            <a:endParaRPr kumimoji="1" lang="en-US" altLang="zh-CN" sz="2400" b="0" dirty="0"/>
          </a:p>
          <a:p>
            <a:r>
              <a:rPr kumimoji="1" lang="zh-CN" altLang="en-US" dirty="0"/>
              <a:t>开销低：</a:t>
            </a:r>
            <a:r>
              <a:rPr kumimoji="1" lang="zh-CN" altLang="en-US" sz="2400" b="0" dirty="0"/>
              <a:t>调度器是为了优化系统，而非制造性能</a:t>
            </a:r>
            <a:r>
              <a:rPr kumimoji="1" lang="en-US" altLang="zh-CN" sz="2400" b="0" dirty="0"/>
              <a:t>BUG</a:t>
            </a:r>
          </a:p>
          <a:p>
            <a:r>
              <a:rPr kumimoji="1" lang="zh-CN" altLang="en-US" dirty="0"/>
              <a:t>可扩展：</a:t>
            </a:r>
            <a:r>
              <a:rPr kumimoji="1" lang="zh-CN" altLang="en-US" sz="2400" b="0" dirty="0"/>
              <a:t>随着任务数量增加，仍能正常工作</a:t>
            </a:r>
            <a:endParaRPr kumimoji="1" lang="en-US" altLang="zh-CN" sz="2400" b="0" dirty="0"/>
          </a:p>
          <a:p>
            <a:r>
              <a:rPr kumimoji="1" lang="en-US" altLang="zh-CN" dirty="0"/>
              <a:t>…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2F2E58-0108-3F4F-B730-6261BD69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AFB82C-5AFA-9C4F-8E2F-60A0D2D958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887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FD6E33-0E6E-AA4B-A39D-011517B2B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调度的挑战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823F61-3971-514F-A0B2-20AD9A13D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4176464"/>
          </a:xfrm>
        </p:spPr>
        <p:txBody>
          <a:bodyPr>
            <a:normAutofit fontScale="92500" lnSpcReduction="20000"/>
          </a:bodyPr>
          <a:lstStyle/>
          <a:p>
            <a:r>
              <a:rPr kumimoji="1" lang="zh-CN" altLang="en-US" dirty="0"/>
              <a:t>缺少信息（没有</a:t>
            </a:r>
            <a:r>
              <a:rPr kumimoji="1" lang="zh-CN" altLang="en-US" dirty="0">
                <a:solidFill>
                  <a:srgbClr val="C00000"/>
                </a:solidFill>
              </a:rPr>
              <a:t>先知</a:t>
            </a:r>
            <a:r>
              <a:rPr kumimoji="1" lang="zh-CN" altLang="en-US" dirty="0">
                <a:sym typeface="Wingdings" pitchFamily="2" charset="2"/>
              </a:rPr>
              <a:t>）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工作场景动态变化</a:t>
            </a:r>
            <a:endParaRPr kumimoji="1" lang="en-US" altLang="zh-CN" sz="2100" dirty="0"/>
          </a:p>
          <a:p>
            <a:r>
              <a:rPr kumimoji="1" lang="zh-CN" altLang="en-US" dirty="0"/>
              <a:t>线程</a:t>
            </a:r>
            <a:r>
              <a:rPr kumimoji="1" lang="en-US" altLang="zh-CN" dirty="0"/>
              <a:t>/</a:t>
            </a:r>
            <a:r>
              <a:rPr kumimoji="1" lang="zh-CN" altLang="en-US" dirty="0"/>
              <a:t>任务间的复杂交互</a:t>
            </a:r>
            <a:endParaRPr kumimoji="1" lang="en-US" altLang="zh-CN" dirty="0"/>
          </a:p>
          <a:p>
            <a:r>
              <a:rPr kumimoji="1" lang="zh-CN" altLang="en-US" dirty="0"/>
              <a:t>调度目标多样性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不同的系统可能关注不一样的调度指标</a:t>
            </a:r>
            <a:endParaRPr kumimoji="1" lang="en-US" altLang="zh-CN" sz="2100" dirty="0"/>
          </a:p>
          <a:p>
            <a:r>
              <a:rPr kumimoji="1" lang="zh-CN" altLang="en-US" dirty="0"/>
              <a:t>许多方面存在取舍</a:t>
            </a:r>
            <a:endParaRPr kumimoji="1" lang="en-US" altLang="zh-CN" dirty="0"/>
          </a:p>
          <a:p>
            <a:pPr lvl="1"/>
            <a:r>
              <a:rPr kumimoji="1" lang="zh-CN" altLang="en-US" sz="2100" dirty="0"/>
              <a:t>调度开销 </a:t>
            </a:r>
            <a:r>
              <a:rPr kumimoji="1" lang="en-US" altLang="zh-CN" sz="2100" dirty="0"/>
              <a:t>V.S.</a:t>
            </a:r>
            <a:r>
              <a:rPr kumimoji="1" lang="zh-CN" altLang="en-US" sz="2100" dirty="0"/>
              <a:t> 调度效果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优先级 </a:t>
            </a:r>
            <a:r>
              <a:rPr kumimoji="1" lang="en-US" altLang="zh-CN" sz="2100" dirty="0"/>
              <a:t>V.S.</a:t>
            </a:r>
            <a:r>
              <a:rPr kumimoji="1" lang="zh-CN" altLang="en-US" sz="2100" dirty="0"/>
              <a:t> 公平</a:t>
            </a:r>
            <a:endParaRPr kumimoji="1" lang="en-US" altLang="zh-CN" sz="2100" dirty="0"/>
          </a:p>
          <a:p>
            <a:pPr lvl="1"/>
            <a:r>
              <a:rPr kumimoji="1" lang="zh-CN" altLang="en-US" sz="2100" dirty="0"/>
              <a:t>能耗 </a:t>
            </a:r>
            <a:r>
              <a:rPr kumimoji="1" lang="en-US" altLang="zh-CN" sz="2100" dirty="0"/>
              <a:t>V.S.</a:t>
            </a:r>
            <a:r>
              <a:rPr kumimoji="1" lang="zh-CN" altLang="en-US" sz="2100" dirty="0"/>
              <a:t> 性能</a:t>
            </a:r>
            <a:endParaRPr kumimoji="1" lang="en-US" altLang="zh-CN" sz="2100" dirty="0"/>
          </a:p>
          <a:p>
            <a:pPr lvl="1"/>
            <a:r>
              <a:rPr kumimoji="1" lang="en-US" altLang="zh-CN" sz="2100" dirty="0"/>
              <a:t>...</a:t>
            </a:r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D856ACA-3890-6646-973B-54397C209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F82B52F-0C10-2940-9650-63D9832F8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2445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98BB45-2A31-E04C-8D49-BF9BC02C3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策略 </a:t>
            </a:r>
            <a:r>
              <a:rPr kumimoji="1" lang="en-US" altLang="zh-CN" dirty="0"/>
              <a:t>V.S.</a:t>
            </a:r>
            <a:r>
              <a:rPr kumimoji="1" lang="zh-CN" altLang="en-US" dirty="0"/>
              <a:t> 机制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28885C-5BA1-3644-B73B-7DD11BFFAD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4402832" cy="3771636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策略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做什么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从上层去分析、解决问题</a:t>
            </a:r>
            <a:endParaRPr kumimoji="1" lang="en-US" altLang="zh-CN" sz="2000" dirty="0"/>
          </a:p>
          <a:p>
            <a:pPr marL="0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0D3C58-3EB4-B547-B08A-512CC63C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B227DD1-AD79-A342-BC2B-0FC3D8E3C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69875"/>
              </p:ext>
            </p:extLst>
          </p:nvPr>
        </p:nvGraphicFramePr>
        <p:xfrm>
          <a:off x="1956048" y="3260263"/>
          <a:ext cx="523190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698">
                  <a:extLst>
                    <a:ext uri="{9D8B030D-6E8A-4147-A177-3AD203B41FA5}">
                      <a16:colId xmlns:a16="http://schemas.microsoft.com/office/drawing/2014/main" val="1836358281"/>
                    </a:ext>
                  </a:extLst>
                </a:gridCol>
                <a:gridCol w="2128486">
                  <a:extLst>
                    <a:ext uri="{9D8B030D-6E8A-4147-A177-3AD203B41FA5}">
                      <a16:colId xmlns:a16="http://schemas.microsoft.com/office/drawing/2014/main" val="407954179"/>
                    </a:ext>
                  </a:extLst>
                </a:gridCol>
                <a:gridCol w="2238720">
                  <a:extLst>
                    <a:ext uri="{9D8B030D-6E8A-4147-A177-3AD203B41FA5}">
                      <a16:colId xmlns:a16="http://schemas.microsoft.com/office/drawing/2014/main" val="29562931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主题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机制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29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上课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/>
                        <a:t>《OS</a:t>
                      </a:r>
                      <a:r>
                        <a:rPr lang="zh-CN" altLang="en-US" sz="1600"/>
                        <a:t>章节</a:t>
                      </a:r>
                      <a:r>
                        <a:rPr lang="zh-CN" altLang="en-US" sz="1600" dirty="0"/>
                        <a:t>：调度</a:t>
                      </a:r>
                      <a:r>
                        <a:rPr lang="en-US" altLang="zh-CN" sz="1600" dirty="0"/>
                        <a:t>》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课堂、网课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419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上课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签到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二维码、点名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42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科研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写</a:t>
                      </a:r>
                      <a:r>
                        <a:rPr lang="en-US" altLang="zh-CN" sz="1600" dirty="0"/>
                        <a:t>C++</a:t>
                      </a:r>
                      <a:r>
                        <a:rPr lang="zh-CN" altLang="en-US" sz="1600" dirty="0"/>
                        <a:t>代码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VSCode</a:t>
                      </a:r>
                      <a:r>
                        <a:rPr lang="zh-CN" altLang="en-US" sz="1600" dirty="0"/>
                        <a:t>、</a:t>
                      </a:r>
                      <a:r>
                        <a:rPr lang="en-US" altLang="zh-CN" sz="1600" dirty="0"/>
                        <a:t>Sublime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7593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科研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写论文（</a:t>
                      </a:r>
                      <a:r>
                        <a:rPr lang="en-US" altLang="zh-CN" sz="1600" dirty="0"/>
                        <a:t>Latex</a:t>
                      </a:r>
                      <a:r>
                        <a:rPr lang="zh-CN" altLang="en-US" sz="1600" dirty="0"/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err="1"/>
                        <a:t>VSCode</a:t>
                      </a:r>
                      <a:r>
                        <a:rPr lang="zh-CN" altLang="en-US" sz="1600" dirty="0"/>
                        <a:t>、</a:t>
                      </a:r>
                      <a:r>
                        <a:rPr lang="en-US" altLang="zh-CN" sz="1600" dirty="0"/>
                        <a:t>Sublime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449399"/>
                  </a:ext>
                </a:extLst>
              </a:tr>
            </a:tbl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4428390-73E5-B44F-B2D8-4234CAAE1D6B}"/>
              </a:ext>
            </a:extLst>
          </p:cNvPr>
          <p:cNvSpPr txBox="1">
            <a:spLocks/>
          </p:cNvSpPr>
          <p:nvPr/>
        </p:nvSpPr>
        <p:spPr>
          <a:xfrm>
            <a:off x="4487144" y="1327317"/>
            <a:ext cx="4656856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/>
              <a:t>机制</a:t>
            </a:r>
            <a:endParaRPr kumimoji="1" lang="en-US" altLang="zh-CN" dirty="0"/>
          </a:p>
          <a:p>
            <a:pPr lvl="1"/>
            <a:r>
              <a:rPr kumimoji="1" lang="zh-CN" altLang="en-US" sz="2000" dirty="0"/>
              <a:t>怎么做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实现某一策略、功能</a:t>
            </a:r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DDC8496-C5F3-BE4C-AFDE-BC9F1C9840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05420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44BDF6-8DE4-5840-AC72-C5EEE215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16" y="128549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OS</a:t>
            </a:r>
            <a:r>
              <a:rPr kumimoji="1" lang="zh-CN" altLang="en-US" dirty="0"/>
              <a:t>的调度策略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874751-5611-3A43-8DAA-1ABB2D02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82A9AB-2AE1-DD4E-BCAD-A9EE93532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3" name="内容占位符 22">
            <a:extLst>
              <a:ext uri="{FF2B5EF4-FFF2-40B4-BE49-F238E27FC236}">
                <a16:creationId xmlns:a16="http://schemas.microsoft.com/office/drawing/2014/main" id="{665BFAED-D483-7242-A67B-8A0547D39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9308"/>
            <a:ext cx="8229600" cy="3975829"/>
          </a:xfrm>
        </p:spPr>
        <p:txBody>
          <a:bodyPr>
            <a:normAutofit/>
          </a:bodyPr>
          <a:lstStyle/>
          <a:p>
            <a:pPr marL="285750" indent="-285750"/>
            <a:r>
              <a:rPr kumimoji="1" lang="zh-CN" altLang="en-US" sz="2400" dirty="0"/>
              <a:t>为了满足不同需求提供多种调度策略</a:t>
            </a:r>
            <a:endParaRPr kumimoji="1" lang="en-US" altLang="zh-CN" sz="2400" dirty="0"/>
          </a:p>
          <a:p>
            <a:pPr marL="285750" indent="-285750"/>
            <a:r>
              <a:rPr kumimoji="1" lang="zh-CN" altLang="en-US" sz="2400" dirty="0"/>
              <a:t>以</a:t>
            </a:r>
            <a:r>
              <a:rPr kumimoji="1" lang="en-US" altLang="zh-CN" sz="2400" dirty="0"/>
              <a:t>Linux</a:t>
            </a:r>
            <a:r>
              <a:rPr kumimoji="1" lang="zh-CN" altLang="en-US" sz="2400" dirty="0"/>
              <a:t>两种调度器为例，每种对应多个调度策略</a:t>
            </a:r>
            <a:endParaRPr kumimoji="1" lang="en-US" altLang="zh-CN" sz="2400" dirty="0"/>
          </a:p>
          <a:p>
            <a:pPr marL="685800" lvl="1"/>
            <a:r>
              <a:rPr kumimoji="1" lang="en-US" altLang="zh-CN" sz="2000" dirty="0"/>
              <a:t>Complete Fair Scheduler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(CFS)</a:t>
            </a:r>
          </a:p>
          <a:p>
            <a:pPr marL="1085850" lvl="2"/>
            <a:r>
              <a:rPr kumimoji="1" lang="en-US" altLang="zh-CN" sz="1800" dirty="0"/>
              <a:t>SCHED_OTHER</a:t>
            </a:r>
          </a:p>
          <a:p>
            <a:pPr marL="1085850" lvl="2"/>
            <a:r>
              <a:rPr kumimoji="1" lang="en-US" altLang="zh-CN" sz="1800" dirty="0"/>
              <a:t>SCHED_BATCH</a:t>
            </a:r>
          </a:p>
          <a:p>
            <a:pPr marL="1085850" lvl="2"/>
            <a:r>
              <a:rPr kumimoji="1" lang="en-US" altLang="zh-CN" sz="1800" dirty="0"/>
              <a:t>SCHED_IDLE</a:t>
            </a:r>
          </a:p>
          <a:p>
            <a:pPr marL="685800" lvl="1"/>
            <a:r>
              <a:rPr kumimoji="1" lang="en-US" altLang="zh-CN" sz="2000" dirty="0"/>
              <a:t>Real-Time Scheduler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(RT)</a:t>
            </a:r>
          </a:p>
          <a:p>
            <a:pPr marL="1085850" lvl="2"/>
            <a:r>
              <a:rPr kumimoji="1" lang="en-US" altLang="zh-CN" sz="1800" dirty="0"/>
              <a:t>SCHED_FIFO</a:t>
            </a:r>
          </a:p>
          <a:p>
            <a:pPr marL="1085850" lvl="2"/>
            <a:r>
              <a:rPr kumimoji="1" lang="en-US" altLang="zh-CN" sz="1800" dirty="0"/>
              <a:t>SCHED_RR</a:t>
            </a:r>
          </a:p>
        </p:txBody>
      </p:sp>
    </p:spTree>
    <p:extLst>
      <p:ext uri="{BB962C8B-B14F-4D97-AF65-F5344CB8AC3E}">
        <p14:creationId xmlns:p14="http://schemas.microsoft.com/office/powerpoint/2010/main" val="35909178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经典调度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Classical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049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6B8F05-F6E3-B84C-820F-34DEC6C0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调度与提问调度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86D4FB-5A52-BC4C-B8B1-15A55924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D05D21-91EC-A743-B81A-CD79D6FC2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0F27815-F05F-894C-951E-D071283DC11A}"/>
              </a:ext>
            </a:extLst>
          </p:cNvPr>
          <p:cNvGrpSpPr/>
          <p:nvPr/>
        </p:nvGrpSpPr>
        <p:grpSpPr>
          <a:xfrm>
            <a:off x="539552" y="1550736"/>
            <a:ext cx="914400" cy="965540"/>
            <a:chOff x="2184748" y="3721596"/>
            <a:chExt cx="914400" cy="965540"/>
          </a:xfrm>
        </p:grpSpPr>
        <p:pic>
          <p:nvPicPr>
            <p:cNvPr id="14" name="图形 13" descr="用户">
              <a:extLst>
                <a:ext uri="{FF2B5EF4-FFF2-40B4-BE49-F238E27FC236}">
                  <a16:creationId xmlns:a16="http://schemas.microsoft.com/office/drawing/2014/main" id="{4BFA3E7B-D603-754F-AD0A-64B1DAD21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1880B776-CA3B-A140-81E9-517248158B26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BCBB9AEE-4248-8B45-975E-0D0416DAB8D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6" name="图形 5" descr="学位帽">
                <a:extLst>
                  <a:ext uri="{FF2B5EF4-FFF2-40B4-BE49-F238E27FC236}">
                    <a16:creationId xmlns:a16="http://schemas.microsoft.com/office/drawing/2014/main" id="{B679AA26-D1BE-DB46-9D79-27F225862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CD53F2A-02BC-364E-8C10-7DCB0AB22552}"/>
              </a:ext>
            </a:extLst>
          </p:cNvPr>
          <p:cNvGrpSpPr/>
          <p:nvPr/>
        </p:nvGrpSpPr>
        <p:grpSpPr>
          <a:xfrm>
            <a:off x="4479189" y="1550736"/>
            <a:ext cx="914400" cy="914400"/>
            <a:chOff x="2942911" y="3835579"/>
            <a:chExt cx="914400" cy="914400"/>
          </a:xfrm>
        </p:grpSpPr>
        <p:pic>
          <p:nvPicPr>
            <p:cNvPr id="8" name="图形 7" descr="用户">
              <a:extLst>
                <a:ext uri="{FF2B5EF4-FFF2-40B4-BE49-F238E27FC236}">
                  <a16:creationId xmlns:a16="http://schemas.microsoft.com/office/drawing/2014/main" id="{39020118-2932-1848-80F3-2A630AE37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942911" y="3835579"/>
              <a:ext cx="914400" cy="9144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515416B1-7C6F-EF4E-94F4-2FEB9D92F85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CBD123FD-05FA-5348-A123-D3DA8E6C35EA}"/>
              </a:ext>
            </a:extLst>
          </p:cNvPr>
          <p:cNvGrpSpPr/>
          <p:nvPr/>
        </p:nvGrpSpPr>
        <p:grpSpPr>
          <a:xfrm>
            <a:off x="2558627" y="1600163"/>
            <a:ext cx="914400" cy="914400"/>
            <a:chOff x="4114800" y="2400300"/>
            <a:chExt cx="914400" cy="914400"/>
          </a:xfrm>
        </p:grpSpPr>
        <p:pic>
          <p:nvPicPr>
            <p:cNvPr id="16" name="图形 15" descr="纸张">
              <a:extLst>
                <a:ext uri="{FF2B5EF4-FFF2-40B4-BE49-F238E27FC236}">
                  <a16:creationId xmlns:a16="http://schemas.microsoft.com/office/drawing/2014/main" id="{39A15163-F871-AF46-9F11-18C0065AB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62F7749-D5C2-9C4B-9923-C063B467961A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3C70B2FE-BF98-C743-B1A6-56FFBFCCB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1D6AA0-987F-A645-8058-355E8DAAB1F7}"/>
              </a:ext>
            </a:extLst>
          </p:cNvPr>
          <p:cNvSpPr/>
          <p:nvPr/>
        </p:nvSpPr>
        <p:spPr>
          <a:xfrm>
            <a:off x="4514225" y="2740098"/>
            <a:ext cx="844327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同学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F25B55-369E-E047-BCB3-BB3D00F27876}"/>
              </a:ext>
            </a:extLst>
          </p:cNvPr>
          <p:cNvSpPr/>
          <p:nvPr/>
        </p:nvSpPr>
        <p:spPr>
          <a:xfrm>
            <a:off x="509924" y="2706209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学霸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8777DB1-C713-DF41-87AF-31E716F55A60}"/>
              </a:ext>
            </a:extLst>
          </p:cNvPr>
          <p:cNvSpPr/>
          <p:nvPr/>
        </p:nvSpPr>
        <p:spPr>
          <a:xfrm>
            <a:off x="2058409" y="2706209"/>
            <a:ext cx="1914836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同学的问题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607C18E-141A-174F-91DF-DA67254C60A9}"/>
              </a:ext>
            </a:extLst>
          </p:cNvPr>
          <p:cNvSpPr txBox="1"/>
          <p:nvPr/>
        </p:nvSpPr>
        <p:spPr>
          <a:xfrm>
            <a:off x="1243915" y="4830772"/>
            <a:ext cx="3526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当前假设每个同学只提一个问题</a:t>
            </a:r>
          </a:p>
        </p:txBody>
      </p:sp>
      <p:sp>
        <p:nvSpPr>
          <p:cNvPr id="10" name="上下箭头 9">
            <a:extLst>
              <a:ext uri="{FF2B5EF4-FFF2-40B4-BE49-F238E27FC236}">
                <a16:creationId xmlns:a16="http://schemas.microsoft.com/office/drawing/2014/main" id="{9778E1A3-2280-8B4B-A6AC-CBDF28839E9C}"/>
              </a:ext>
            </a:extLst>
          </p:cNvPr>
          <p:cNvSpPr/>
          <p:nvPr/>
        </p:nvSpPr>
        <p:spPr>
          <a:xfrm>
            <a:off x="848109" y="3324085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642571D-7172-844B-B93A-6E3C79696982}"/>
              </a:ext>
            </a:extLst>
          </p:cNvPr>
          <p:cNvSpPr/>
          <p:nvPr/>
        </p:nvSpPr>
        <p:spPr>
          <a:xfrm>
            <a:off x="480297" y="4031071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CPU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0605C3-7D81-F54D-94C1-CDD5B1352092}"/>
              </a:ext>
            </a:extLst>
          </p:cNvPr>
          <p:cNvSpPr/>
          <p:nvPr/>
        </p:nvSpPr>
        <p:spPr>
          <a:xfrm>
            <a:off x="2528998" y="4031071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任务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上下箭头 26">
            <a:extLst>
              <a:ext uri="{FF2B5EF4-FFF2-40B4-BE49-F238E27FC236}">
                <a16:creationId xmlns:a16="http://schemas.microsoft.com/office/drawing/2014/main" id="{1C810E38-9F92-7E46-8953-4CFB3A5E6508}"/>
              </a:ext>
            </a:extLst>
          </p:cNvPr>
          <p:cNvSpPr/>
          <p:nvPr/>
        </p:nvSpPr>
        <p:spPr>
          <a:xfrm>
            <a:off x="2892249" y="3324084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上下箭头 27">
            <a:extLst>
              <a:ext uri="{FF2B5EF4-FFF2-40B4-BE49-F238E27FC236}">
                <a16:creationId xmlns:a16="http://schemas.microsoft.com/office/drawing/2014/main" id="{995BC8D9-9F1A-4F4C-9E8E-150186904B99}"/>
              </a:ext>
            </a:extLst>
          </p:cNvPr>
          <p:cNvSpPr/>
          <p:nvPr/>
        </p:nvSpPr>
        <p:spPr>
          <a:xfrm>
            <a:off x="4812805" y="3333121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DF14C6-AA4D-F048-8347-C6AF1DB9CDFF}"/>
              </a:ext>
            </a:extLst>
          </p:cNvPr>
          <p:cNvSpPr/>
          <p:nvPr/>
        </p:nvSpPr>
        <p:spPr>
          <a:xfrm>
            <a:off x="4444993" y="4040107"/>
            <a:ext cx="973655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用户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8710501-FDA4-C54F-8316-C8C1E736923C}"/>
              </a:ext>
            </a:extLst>
          </p:cNvPr>
          <p:cNvSpPr/>
          <p:nvPr/>
        </p:nvSpPr>
        <p:spPr>
          <a:xfrm>
            <a:off x="5670113" y="2276253"/>
            <a:ext cx="2794586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学霸调度问题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上下箭头 30">
            <a:extLst>
              <a:ext uri="{FF2B5EF4-FFF2-40B4-BE49-F238E27FC236}">
                <a16:creationId xmlns:a16="http://schemas.microsoft.com/office/drawing/2014/main" id="{3D404695-3F2D-8D44-B387-404763173BF4}"/>
              </a:ext>
            </a:extLst>
          </p:cNvPr>
          <p:cNvSpPr/>
          <p:nvPr/>
        </p:nvSpPr>
        <p:spPr>
          <a:xfrm>
            <a:off x="6978671" y="3129895"/>
            <a:ext cx="247154" cy="620217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F995DFE-9C66-014F-B7B0-6EBEFDF5E346}"/>
              </a:ext>
            </a:extLst>
          </p:cNvPr>
          <p:cNvSpPr/>
          <p:nvPr/>
        </p:nvSpPr>
        <p:spPr>
          <a:xfrm>
            <a:off x="5933048" y="3774553"/>
            <a:ext cx="2239352" cy="531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0000"/>
              </a:lnSpc>
              <a:spcBef>
                <a:spcPts val="1200"/>
              </a:spcBef>
            </a:pPr>
            <a:r>
              <a:rPr kumimoji="1" lang="en-US" altLang="zh-CN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CPU</a:t>
            </a:r>
            <a:r>
              <a:rPr kumimoji="1" lang="zh-CN" altLang="en-US" sz="2600" b="1" dirty="0">
                <a:solidFill>
                  <a:srgbClr val="000000">
                    <a:lumMod val="75000"/>
                    <a:lumOff val="25000"/>
                  </a:srgbClr>
                </a:solidFill>
                <a:ea typeface="微软雅黑" panose="020B0503020204020204" pitchFamily="34" charset="-122"/>
              </a:rPr>
              <a:t>调度任务</a:t>
            </a:r>
            <a:endParaRPr kumimoji="1" lang="en-US" altLang="zh-CN" sz="2600" b="1" dirty="0">
              <a:solidFill>
                <a:srgbClr val="000000">
                  <a:lumMod val="75000"/>
                  <a:lumOff val="25000"/>
                </a:srgb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49014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先到先服务（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Served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38634837-1016-CC45-9D36-88C1C20EC698}"/>
              </a:ext>
            </a:extLst>
          </p:cNvPr>
          <p:cNvGraphicFramePr>
            <a:graphicFrameLocks noGrp="1"/>
          </p:cNvGraphicFramePr>
          <p:nvPr/>
        </p:nvGraphicFramePr>
        <p:xfrm>
          <a:off x="465038" y="1587727"/>
          <a:ext cx="381777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9772208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93836398"/>
                    </a:ext>
                  </a:extLst>
                </a:gridCol>
                <a:gridCol w="1801549">
                  <a:extLst>
                    <a:ext uri="{9D8B030D-6E8A-4147-A177-3AD203B41FA5}">
                      <a16:colId xmlns:a16="http://schemas.microsoft.com/office/drawing/2014/main" val="427384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同学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到达时间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解答时间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（工作量）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8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3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418"/>
                  </a:ext>
                </a:extLst>
              </a:tr>
            </a:tbl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id="{5EEAA3E4-4627-3B4D-9E3B-7332CE2D5D6D}"/>
              </a:ext>
            </a:extLst>
          </p:cNvPr>
          <p:cNvGrpSpPr/>
          <p:nvPr/>
        </p:nvGrpSpPr>
        <p:grpSpPr>
          <a:xfrm>
            <a:off x="1259632" y="4081636"/>
            <a:ext cx="2468465" cy="504056"/>
            <a:chOff x="1151620" y="3869431"/>
            <a:chExt cx="2592288" cy="50405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C597DEB-8499-F34B-9CA0-1E596D96A4A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40F1586-F276-1843-AD31-FB23EC58901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035F894-CFB6-6447-A900-8E1AFF33141C}"/>
              </a:ext>
            </a:extLst>
          </p:cNvPr>
          <p:cNvGrpSpPr/>
          <p:nvPr/>
        </p:nvGrpSpPr>
        <p:grpSpPr>
          <a:xfrm>
            <a:off x="376323" y="4081636"/>
            <a:ext cx="1035452" cy="504056"/>
            <a:chOff x="1151620" y="3869431"/>
            <a:chExt cx="2592288" cy="50405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946DAA7-5F27-264D-ADC5-B5F50C8D91E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FD3CE01-6266-9145-8860-8D43CB44934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0621EB82-3F98-3444-904A-A80FFB27DD42}"/>
              </a:ext>
            </a:extLst>
          </p:cNvPr>
          <p:cNvGrpSpPr/>
          <p:nvPr/>
        </p:nvGrpSpPr>
        <p:grpSpPr>
          <a:xfrm>
            <a:off x="3605706" y="4081636"/>
            <a:ext cx="699755" cy="504056"/>
            <a:chOff x="1151620" y="3869431"/>
            <a:chExt cx="2592288" cy="504056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F30FF23-CDD0-EE42-BD8C-05DC6B2DF5B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939C574A-025C-9A47-8F46-73659DB6349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7" name="矩形 6">
            <a:extLst>
              <a:ext uri="{FF2B5EF4-FFF2-40B4-BE49-F238E27FC236}">
                <a16:creationId xmlns:a16="http://schemas.microsoft.com/office/drawing/2014/main" id="{98CAFEE5-4492-3E41-87FA-28010131B98F}"/>
              </a:ext>
            </a:extLst>
          </p:cNvPr>
          <p:cNvSpPr/>
          <p:nvPr/>
        </p:nvSpPr>
        <p:spPr>
          <a:xfrm>
            <a:off x="4716016" y="1579027"/>
            <a:ext cx="3416320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好处：简单、直观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问题：平均周转、响应时间过长</a:t>
            </a:r>
          </a:p>
        </p:txBody>
      </p:sp>
      <p:sp>
        <p:nvSpPr>
          <p:cNvPr id="33" name="页脚占位符 4">
            <a:extLst>
              <a:ext uri="{FF2B5EF4-FFF2-40B4-BE49-F238E27FC236}">
                <a16:creationId xmlns:a16="http://schemas.microsoft.com/office/drawing/2014/main" id="{8B69DB7A-714E-8542-8490-C8AB30F226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BB633D3C-7547-994A-98C0-C3E82098AEFE}"/>
              </a:ext>
            </a:extLst>
          </p:cNvPr>
          <p:cNvGrpSpPr/>
          <p:nvPr/>
        </p:nvGrpSpPr>
        <p:grpSpPr>
          <a:xfrm>
            <a:off x="4634445" y="4030625"/>
            <a:ext cx="914400" cy="914400"/>
            <a:chOff x="2942911" y="3750549"/>
            <a:chExt cx="914400" cy="914400"/>
          </a:xfrm>
        </p:grpSpPr>
        <p:pic>
          <p:nvPicPr>
            <p:cNvPr id="17" name="图形 16" descr="用户">
              <a:extLst>
                <a:ext uri="{FF2B5EF4-FFF2-40B4-BE49-F238E27FC236}">
                  <a16:creationId xmlns:a16="http://schemas.microsoft.com/office/drawing/2014/main" id="{EB8371E9-FF14-FF4C-B90E-563A311B62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7A2070F-668B-3146-8910-FB0E1AEA44BC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sp>
        <p:nvSpPr>
          <p:cNvPr id="5" name="云形标注 4">
            <a:extLst>
              <a:ext uri="{FF2B5EF4-FFF2-40B4-BE49-F238E27FC236}">
                <a16:creationId xmlns:a16="http://schemas.microsoft.com/office/drawing/2014/main" id="{4DD8A6D8-7840-724B-9A4B-19D1F0B83666}"/>
              </a:ext>
            </a:extLst>
          </p:cNvPr>
          <p:cNvSpPr/>
          <p:nvPr/>
        </p:nvSpPr>
        <p:spPr>
          <a:xfrm>
            <a:off x="5585257" y="3255467"/>
            <a:ext cx="3203379" cy="984061"/>
          </a:xfrm>
          <a:prstGeom prst="cloudCallout">
            <a:avLst>
              <a:gd name="adj1" fmla="val -57045"/>
              <a:gd name="adj2" fmla="val 58721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dirty="0">
                <a:solidFill>
                  <a:srgbClr val="000000"/>
                </a:solidFill>
              </a:rPr>
              <a:t>我的问题很简单却要</a:t>
            </a:r>
            <a:r>
              <a:rPr kumimoji="1" lang="zh-CN" altLang="en-US" dirty="0">
                <a:solidFill>
                  <a:srgbClr val="FF0000"/>
                </a:solidFill>
              </a:rPr>
              <a:t>等那么长时间</a:t>
            </a:r>
            <a:r>
              <a:rPr kumimoji="1" lang="en-US" altLang="zh-CN" dirty="0">
                <a:solidFill>
                  <a:srgbClr val="000000"/>
                </a:solidFill>
              </a:rPr>
              <a:t>…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102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短任务优先（</a:t>
            </a:r>
            <a:r>
              <a:rPr kumimoji="1" lang="en-US" altLang="zh-CN" dirty="0"/>
              <a:t>Shortest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Job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EEAA3E4-4627-3B4D-9E3B-7332CE2D5D6D}"/>
              </a:ext>
            </a:extLst>
          </p:cNvPr>
          <p:cNvGrpSpPr/>
          <p:nvPr/>
        </p:nvGrpSpPr>
        <p:grpSpPr>
          <a:xfrm>
            <a:off x="1995579" y="3893704"/>
            <a:ext cx="2468465" cy="504056"/>
            <a:chOff x="1151620" y="3869431"/>
            <a:chExt cx="2592288" cy="504056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C597DEB-8499-F34B-9CA0-1E596D96A4A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40F1586-F276-1843-AD31-FB23EC58901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035F894-CFB6-6447-A900-8E1AFF33141C}"/>
              </a:ext>
            </a:extLst>
          </p:cNvPr>
          <p:cNvGrpSpPr/>
          <p:nvPr/>
        </p:nvGrpSpPr>
        <p:grpSpPr>
          <a:xfrm>
            <a:off x="460105" y="3893704"/>
            <a:ext cx="1035452" cy="504056"/>
            <a:chOff x="1151620" y="3869431"/>
            <a:chExt cx="2592288" cy="504056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9946DAA7-5F27-264D-ADC5-B5F50C8D91E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0FD3CE01-6266-9145-8860-8D43CB44934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1C76C3-9F6C-8E4C-B5F8-0370FF77847C}"/>
              </a:ext>
            </a:extLst>
          </p:cNvPr>
          <p:cNvGrpSpPr/>
          <p:nvPr/>
        </p:nvGrpSpPr>
        <p:grpSpPr>
          <a:xfrm>
            <a:off x="1428953" y="3893704"/>
            <a:ext cx="699755" cy="504056"/>
            <a:chOff x="1151620" y="3869431"/>
            <a:chExt cx="2592288" cy="504056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741596E-775B-3E42-8E97-570768726121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CA837AB-28A2-0E4E-8B3E-87A3F2277FF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1F12E00C-FF86-B144-9D9E-844569D1287E}"/>
              </a:ext>
            </a:extLst>
          </p:cNvPr>
          <p:cNvGrpSpPr/>
          <p:nvPr/>
        </p:nvGrpSpPr>
        <p:grpSpPr>
          <a:xfrm>
            <a:off x="4572146" y="4265095"/>
            <a:ext cx="914400" cy="914400"/>
            <a:chOff x="2942911" y="3750549"/>
            <a:chExt cx="914400" cy="914400"/>
          </a:xfrm>
        </p:grpSpPr>
        <p:pic>
          <p:nvPicPr>
            <p:cNvPr id="60" name="图形 59" descr="用户">
              <a:extLst>
                <a:ext uri="{FF2B5EF4-FFF2-40B4-BE49-F238E27FC236}">
                  <a16:creationId xmlns:a16="http://schemas.microsoft.com/office/drawing/2014/main" id="{E6CD7E69-E9CC-294A-A59C-E33F671B0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79561A15-011A-5347-8CD7-8D176CD1EAC3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sp>
        <p:nvSpPr>
          <p:cNvPr id="36" name="页脚占位符 4">
            <a:extLst>
              <a:ext uri="{FF2B5EF4-FFF2-40B4-BE49-F238E27FC236}">
                <a16:creationId xmlns:a16="http://schemas.microsoft.com/office/drawing/2014/main" id="{56F3D7EE-C01D-AC4D-A74D-9798D9286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BBC1A61-1366-8F47-997C-46CB5219A656}"/>
              </a:ext>
            </a:extLst>
          </p:cNvPr>
          <p:cNvSpPr/>
          <p:nvPr/>
        </p:nvSpPr>
        <p:spPr>
          <a:xfrm>
            <a:off x="4782810" y="1479144"/>
            <a:ext cx="3185487" cy="12311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好处：平均周转时间短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问题：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1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）不公平，任务饿死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           </a:t>
            </a:r>
            <a:r>
              <a:rPr kumimoji="1"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2</a:t>
            </a: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）平均响应时间过长</a:t>
            </a:r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7BBAED39-509F-674D-A858-15306B6024DA}"/>
              </a:ext>
            </a:extLst>
          </p:cNvPr>
          <p:cNvGraphicFramePr>
            <a:graphicFrameLocks noGrp="1"/>
          </p:cNvGraphicFramePr>
          <p:nvPr/>
        </p:nvGraphicFramePr>
        <p:xfrm>
          <a:off x="465038" y="1587727"/>
          <a:ext cx="381777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9772208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93836398"/>
                    </a:ext>
                  </a:extLst>
                </a:gridCol>
                <a:gridCol w="1801549">
                  <a:extLst>
                    <a:ext uri="{9D8B030D-6E8A-4147-A177-3AD203B41FA5}">
                      <a16:colId xmlns:a16="http://schemas.microsoft.com/office/drawing/2014/main" val="427384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同学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到达时间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解答时间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（工作量）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8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3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418"/>
                  </a:ext>
                </a:extLst>
              </a:tr>
            </a:tbl>
          </a:graphicData>
        </a:graphic>
      </p:graphicFrame>
      <p:sp>
        <p:nvSpPr>
          <p:cNvPr id="41" name="云形标注 40">
            <a:extLst>
              <a:ext uri="{FF2B5EF4-FFF2-40B4-BE49-F238E27FC236}">
                <a16:creationId xmlns:a16="http://schemas.microsoft.com/office/drawing/2014/main" id="{49120C6F-3005-F84D-BE40-8CB44AD12E3A}"/>
              </a:ext>
            </a:extLst>
          </p:cNvPr>
          <p:cNvSpPr/>
          <p:nvPr/>
        </p:nvSpPr>
        <p:spPr>
          <a:xfrm>
            <a:off x="4782810" y="3274177"/>
            <a:ext cx="4176464" cy="984061"/>
          </a:xfrm>
          <a:prstGeom prst="cloudCallout">
            <a:avLst>
              <a:gd name="adj1" fmla="val -38539"/>
              <a:gd name="adj2" fmla="val 719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dirty="0">
                <a:solidFill>
                  <a:srgbClr val="000000"/>
                </a:solidFill>
              </a:rPr>
              <a:t>万一还有其他同学问简单的问题，那我要</a:t>
            </a:r>
            <a:r>
              <a:rPr kumimoji="1" lang="zh-CN" altLang="en-US" dirty="0">
                <a:solidFill>
                  <a:srgbClr val="FF0000"/>
                </a:solidFill>
              </a:rPr>
              <a:t>等死</a:t>
            </a:r>
            <a:r>
              <a:rPr kumimoji="1" lang="zh-CN" altLang="en-US" dirty="0">
                <a:solidFill>
                  <a:srgbClr val="000000"/>
                </a:solidFill>
              </a:rPr>
              <a:t>了</a:t>
            </a:r>
            <a:r>
              <a:rPr kumimoji="1" lang="en-US" altLang="zh-CN" dirty="0">
                <a:solidFill>
                  <a:srgbClr val="000000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8881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抢占式调度</a:t>
            </a:r>
            <a:r>
              <a:rPr kumimoji="1" lang="en-US" altLang="zh-CN" dirty="0"/>
              <a:t> (Preemptive Scheduling)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109" name="页脚占位符 4">
            <a:extLst>
              <a:ext uri="{FF2B5EF4-FFF2-40B4-BE49-F238E27FC236}">
                <a16:creationId xmlns:a16="http://schemas.microsoft.com/office/drawing/2014/main" id="{6936A909-9AEF-9E40-9C17-9B73299B8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1" name="内容占位符 1">
            <a:extLst>
              <a:ext uri="{FF2B5EF4-FFF2-40B4-BE49-F238E27FC236}">
                <a16:creationId xmlns:a16="http://schemas.microsoft.com/office/drawing/2014/main" id="{BC791DE9-4409-5740-B993-1041C8132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zh-CN" altLang="en-US" dirty="0"/>
              <a:t>每次任务执行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一定时间后会被切换到下一任务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而非执行至终止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通过定时触发的时钟中断实现</a:t>
            </a:r>
          </a:p>
        </p:txBody>
      </p:sp>
    </p:spTree>
    <p:extLst>
      <p:ext uri="{BB962C8B-B14F-4D97-AF65-F5344CB8AC3E}">
        <p14:creationId xmlns:p14="http://schemas.microsoft.com/office/powerpoint/2010/main" val="32085621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时间片轮转（</a:t>
            </a:r>
            <a:r>
              <a:rPr kumimoji="1" lang="en-US" altLang="zh-CN" dirty="0"/>
              <a:t>Round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Robin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A21C76C3-9F6C-8E4C-B5F8-0370FF77847C}"/>
              </a:ext>
            </a:extLst>
          </p:cNvPr>
          <p:cNvGrpSpPr/>
          <p:nvPr/>
        </p:nvGrpSpPr>
        <p:grpSpPr>
          <a:xfrm>
            <a:off x="312386" y="4233904"/>
            <a:ext cx="368098" cy="504056"/>
            <a:chOff x="1151620" y="3869431"/>
            <a:chExt cx="2592285" cy="504056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741596E-775B-3E42-8E97-570768726121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CA837AB-28A2-0E4E-8B3E-87A3F2277FFA}"/>
                </a:ext>
              </a:extLst>
            </p:cNvPr>
            <p:cNvSpPr/>
            <p:nvPr/>
          </p:nvSpPr>
          <p:spPr>
            <a:xfrm>
              <a:off x="1151620" y="3869431"/>
              <a:ext cx="2592285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C8E00F05-3621-4F43-A894-4A1F897C9AD2}"/>
              </a:ext>
            </a:extLst>
          </p:cNvPr>
          <p:cNvSpPr txBox="1"/>
          <p:nvPr/>
        </p:nvSpPr>
        <p:spPr>
          <a:xfrm>
            <a:off x="7796416" y="4465670"/>
            <a:ext cx="2116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…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A156EDB8-CD96-AD45-B86C-97700D1F739D}"/>
              </a:ext>
            </a:extLst>
          </p:cNvPr>
          <p:cNvGrpSpPr/>
          <p:nvPr/>
        </p:nvGrpSpPr>
        <p:grpSpPr>
          <a:xfrm>
            <a:off x="644502" y="4233092"/>
            <a:ext cx="368098" cy="504056"/>
            <a:chOff x="1151620" y="3869431"/>
            <a:chExt cx="2592288" cy="50405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2A727465-A071-A747-A857-9A40C2639C28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104564BE-E9E3-B642-BB83-9A70BFE8261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9DF67FE5-223D-F54A-A76B-94F143DE6244}"/>
              </a:ext>
            </a:extLst>
          </p:cNvPr>
          <p:cNvGrpSpPr/>
          <p:nvPr/>
        </p:nvGrpSpPr>
        <p:grpSpPr>
          <a:xfrm>
            <a:off x="975715" y="4233904"/>
            <a:ext cx="368098" cy="504056"/>
            <a:chOff x="1151620" y="3869431"/>
            <a:chExt cx="2592288" cy="504056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5723E915-2B22-EB4C-9A34-5F51D2756F42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E5799FB2-0731-3F4B-8FD2-712BA66152B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C98DA4D-5E50-F94B-A995-C064CABBA89B}"/>
              </a:ext>
            </a:extLst>
          </p:cNvPr>
          <p:cNvGrpSpPr/>
          <p:nvPr/>
        </p:nvGrpSpPr>
        <p:grpSpPr>
          <a:xfrm>
            <a:off x="1313138" y="4232969"/>
            <a:ext cx="368098" cy="504056"/>
            <a:chOff x="1151620" y="3869431"/>
            <a:chExt cx="2592288" cy="504056"/>
          </a:xfrm>
        </p:grpSpPr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5701E511-E2D5-6448-BC16-CFD31910449C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2FD4AA92-3BEE-CF4B-BEF3-22B44ACAB608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8859A0B5-35CA-6448-A178-71004A01A4D6}"/>
              </a:ext>
            </a:extLst>
          </p:cNvPr>
          <p:cNvGrpSpPr/>
          <p:nvPr/>
        </p:nvGrpSpPr>
        <p:grpSpPr>
          <a:xfrm>
            <a:off x="1650630" y="4230789"/>
            <a:ext cx="368098" cy="504056"/>
            <a:chOff x="1151620" y="3869431"/>
            <a:chExt cx="2592288" cy="504056"/>
          </a:xfrm>
        </p:grpSpPr>
        <p:sp>
          <p:nvSpPr>
            <p:cNvPr id="66" name="矩形 65">
              <a:extLst>
                <a:ext uri="{FF2B5EF4-FFF2-40B4-BE49-F238E27FC236}">
                  <a16:creationId xmlns:a16="http://schemas.microsoft.com/office/drawing/2014/main" id="{5007E049-52DA-F849-82C4-41FA39F840FB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id="{01DEC0D1-AF08-C942-B352-2D7F09D0A33B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4876BF86-D33D-5342-B800-9B6D5B2A65A7}"/>
              </a:ext>
            </a:extLst>
          </p:cNvPr>
          <p:cNvGrpSpPr/>
          <p:nvPr/>
        </p:nvGrpSpPr>
        <p:grpSpPr>
          <a:xfrm>
            <a:off x="1982746" y="4229977"/>
            <a:ext cx="368098" cy="504056"/>
            <a:chOff x="1151620" y="3869431"/>
            <a:chExt cx="2592288" cy="50405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3DE68C4B-032C-4B42-AF2D-D54EBC9EA62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81B188C6-3F3F-B54C-96A2-4A9444C3C377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B1E6665F-785B-9D4F-8878-2EFC97F5AA88}"/>
              </a:ext>
            </a:extLst>
          </p:cNvPr>
          <p:cNvGrpSpPr/>
          <p:nvPr/>
        </p:nvGrpSpPr>
        <p:grpSpPr>
          <a:xfrm>
            <a:off x="2313959" y="4230789"/>
            <a:ext cx="368098" cy="504056"/>
            <a:chOff x="1151620" y="3869431"/>
            <a:chExt cx="2592288" cy="504056"/>
          </a:xfrm>
        </p:grpSpPr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AEAA28E4-E94B-DE4B-8845-4FE0250A51B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1D689BB-8365-8747-9D0A-0BD7FE09405E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24683135-1663-4440-AA5A-21CB34B68698}"/>
              </a:ext>
            </a:extLst>
          </p:cNvPr>
          <p:cNvGrpSpPr/>
          <p:nvPr/>
        </p:nvGrpSpPr>
        <p:grpSpPr>
          <a:xfrm>
            <a:off x="2651382" y="4229854"/>
            <a:ext cx="368098" cy="504056"/>
            <a:chOff x="1151620" y="3869431"/>
            <a:chExt cx="2592288" cy="504056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6E3ACBFE-76DF-8149-B845-DE6062CD374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7D9B31BA-E466-864B-AD2D-47B4241169B2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68DC3D1C-9D02-0C41-817B-FD5F336A3985}"/>
              </a:ext>
            </a:extLst>
          </p:cNvPr>
          <p:cNvGrpSpPr/>
          <p:nvPr/>
        </p:nvGrpSpPr>
        <p:grpSpPr>
          <a:xfrm>
            <a:off x="2995724" y="4228764"/>
            <a:ext cx="368098" cy="504056"/>
            <a:chOff x="1151620" y="3869431"/>
            <a:chExt cx="2592288" cy="504056"/>
          </a:xfrm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9D048D6-B599-ED41-A41A-7E81FAB49A8B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022C3032-91B5-8247-8EAE-93DC1796995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42785CBA-8B7D-5642-871A-4C5DD0F227C7}"/>
              </a:ext>
            </a:extLst>
          </p:cNvPr>
          <p:cNvGrpSpPr/>
          <p:nvPr/>
        </p:nvGrpSpPr>
        <p:grpSpPr>
          <a:xfrm>
            <a:off x="3333216" y="4226584"/>
            <a:ext cx="368098" cy="504056"/>
            <a:chOff x="1151620" y="3869431"/>
            <a:chExt cx="2592288" cy="504056"/>
          </a:xfrm>
        </p:grpSpPr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5C44FA8F-34D1-0840-AC60-7EADFA7F8501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673856E4-C1B9-EF4F-95FE-82E4E3F32C2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C5CF0C76-66E3-2248-855C-06CE59D2DE03}"/>
              </a:ext>
            </a:extLst>
          </p:cNvPr>
          <p:cNvGrpSpPr/>
          <p:nvPr/>
        </p:nvGrpSpPr>
        <p:grpSpPr>
          <a:xfrm>
            <a:off x="3665332" y="4225772"/>
            <a:ext cx="368098" cy="504056"/>
            <a:chOff x="1151620" y="3869431"/>
            <a:chExt cx="2592288" cy="504056"/>
          </a:xfrm>
        </p:grpSpPr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19FAF467-34A4-914B-B1F4-BE87836E307A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DB37E854-D575-C741-887B-25C5EBC10AF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1830B97F-120C-D240-804D-D76B73F89F41}"/>
              </a:ext>
            </a:extLst>
          </p:cNvPr>
          <p:cNvGrpSpPr/>
          <p:nvPr/>
        </p:nvGrpSpPr>
        <p:grpSpPr>
          <a:xfrm>
            <a:off x="3996545" y="4226584"/>
            <a:ext cx="368098" cy="504056"/>
            <a:chOff x="1151620" y="3869431"/>
            <a:chExt cx="2592288" cy="504056"/>
          </a:xfrm>
        </p:grpSpPr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AFD63D65-C893-D946-B69A-3D903B513A44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FD6ACD3C-22BE-4E4B-A586-0A02F8F3D082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EDCC3DAB-4680-E54A-9003-5B670C6D2164}"/>
              </a:ext>
            </a:extLst>
          </p:cNvPr>
          <p:cNvGrpSpPr/>
          <p:nvPr/>
        </p:nvGrpSpPr>
        <p:grpSpPr>
          <a:xfrm>
            <a:off x="4333968" y="4225649"/>
            <a:ext cx="368098" cy="504056"/>
            <a:chOff x="1151620" y="3869431"/>
            <a:chExt cx="2592288" cy="504056"/>
          </a:xfrm>
        </p:grpSpPr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E4BC30EC-6A0E-4649-B088-1CBA0987B86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06697BA0-B166-2740-BA24-CAF6BAB387B7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73803013-061F-E246-AF40-67258BCC04AF}"/>
              </a:ext>
            </a:extLst>
          </p:cNvPr>
          <p:cNvGrpSpPr/>
          <p:nvPr/>
        </p:nvGrpSpPr>
        <p:grpSpPr>
          <a:xfrm>
            <a:off x="5327172" y="3984935"/>
            <a:ext cx="914400" cy="914400"/>
            <a:chOff x="2942911" y="3750549"/>
            <a:chExt cx="914400" cy="914400"/>
          </a:xfrm>
        </p:grpSpPr>
        <p:pic>
          <p:nvPicPr>
            <p:cNvPr id="98" name="图形 97" descr="用户">
              <a:extLst>
                <a:ext uri="{FF2B5EF4-FFF2-40B4-BE49-F238E27FC236}">
                  <a16:creationId xmlns:a16="http://schemas.microsoft.com/office/drawing/2014/main" id="{14E83696-3973-2648-BB2B-51DEEBF9CC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1BE5CD84-A63D-BC44-93A1-E4EA06C5771F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sp>
        <p:nvSpPr>
          <p:cNvPr id="108" name="矩形 107">
            <a:extLst>
              <a:ext uri="{FF2B5EF4-FFF2-40B4-BE49-F238E27FC236}">
                <a16:creationId xmlns:a16="http://schemas.microsoft.com/office/drawing/2014/main" id="{366006C9-0287-A04B-906D-769ECFEDFB39}"/>
              </a:ext>
            </a:extLst>
          </p:cNvPr>
          <p:cNvSpPr/>
          <p:nvPr/>
        </p:nvSpPr>
        <p:spPr>
          <a:xfrm>
            <a:off x="306790" y="3700722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9364B2B-7CA5-BC44-91FA-E7657E37EC97}"/>
              </a:ext>
            </a:extLst>
          </p:cNvPr>
          <p:cNvSpPr/>
          <p:nvPr/>
        </p:nvSpPr>
        <p:spPr>
          <a:xfrm>
            <a:off x="627164" y="3912509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B6626B89-381E-CA42-97F3-281158A0124E}"/>
              </a:ext>
            </a:extLst>
          </p:cNvPr>
          <p:cNvSpPr/>
          <p:nvPr/>
        </p:nvSpPr>
        <p:spPr>
          <a:xfrm>
            <a:off x="1326023" y="3713392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CA0655DF-E0A0-B744-A37C-13ED6EE414A1}"/>
              </a:ext>
            </a:extLst>
          </p:cNvPr>
          <p:cNvSpPr/>
          <p:nvPr/>
        </p:nvSpPr>
        <p:spPr>
          <a:xfrm>
            <a:off x="1646397" y="3925179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F46CC350-0871-C74A-8B77-9F0E5E46C079}"/>
              </a:ext>
            </a:extLst>
          </p:cNvPr>
          <p:cNvSpPr/>
          <p:nvPr/>
        </p:nvSpPr>
        <p:spPr>
          <a:xfrm>
            <a:off x="2344911" y="3727194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5A4A7E2E-1DF8-2545-8306-C02137EDAD4B}"/>
              </a:ext>
            </a:extLst>
          </p:cNvPr>
          <p:cNvSpPr/>
          <p:nvPr/>
        </p:nvSpPr>
        <p:spPr>
          <a:xfrm>
            <a:off x="2654176" y="3972099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D8445581-B182-9047-A748-CB53FF39A2DC}"/>
              </a:ext>
            </a:extLst>
          </p:cNvPr>
          <p:cNvSpPr/>
          <p:nvPr/>
        </p:nvSpPr>
        <p:spPr>
          <a:xfrm>
            <a:off x="3011711" y="3723317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A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90E9294A-CC16-2946-BE7B-16D00B517A6E}"/>
              </a:ext>
            </a:extLst>
          </p:cNvPr>
          <p:cNvSpPr/>
          <p:nvPr/>
        </p:nvSpPr>
        <p:spPr>
          <a:xfrm>
            <a:off x="3332085" y="3935104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79139449-AC78-D947-9C88-42E32A2266D1}"/>
              </a:ext>
            </a:extLst>
          </p:cNvPr>
          <p:cNvSpPr/>
          <p:nvPr/>
        </p:nvSpPr>
        <p:spPr>
          <a:xfrm>
            <a:off x="3673064" y="3940053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CACA4AE7-5807-6B47-A88D-16E859EBB2F5}"/>
              </a:ext>
            </a:extLst>
          </p:cNvPr>
          <p:cNvSpPr/>
          <p:nvPr/>
        </p:nvSpPr>
        <p:spPr>
          <a:xfrm>
            <a:off x="3998885" y="3930155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16778EF1-0C91-DB4F-A0A8-C50C35F0374F}"/>
              </a:ext>
            </a:extLst>
          </p:cNvPr>
          <p:cNvSpPr/>
          <p:nvPr/>
        </p:nvSpPr>
        <p:spPr>
          <a:xfrm>
            <a:off x="4339864" y="3935104"/>
            <a:ext cx="368098" cy="284213"/>
          </a:xfrm>
          <a:prstGeom prst="rect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>
                <a:solidFill>
                  <a:schemeClr val="tx1"/>
                </a:solidFill>
              </a:rPr>
              <a:t>B</a:t>
            </a:r>
            <a:endParaRPr kumimoji="1"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9" name="页脚占位符 4">
            <a:extLst>
              <a:ext uri="{FF2B5EF4-FFF2-40B4-BE49-F238E27FC236}">
                <a16:creationId xmlns:a16="http://schemas.microsoft.com/office/drawing/2014/main" id="{6936A909-9AEF-9E40-9C17-9B73299B8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B712DB4C-4A88-ED40-B5E6-377A83E54656}"/>
              </a:ext>
            </a:extLst>
          </p:cNvPr>
          <p:cNvSpPr/>
          <p:nvPr/>
        </p:nvSpPr>
        <p:spPr>
          <a:xfrm>
            <a:off x="4859997" y="1603636"/>
            <a:ext cx="3185487" cy="8002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好处：公平、平均响应时间短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>
              <a:spcBef>
                <a:spcPts val="1200"/>
              </a:spcBef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问题：牺牲周转时间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graphicFrame>
        <p:nvGraphicFramePr>
          <p:cNvPr id="121" name="表格 120">
            <a:extLst>
              <a:ext uri="{FF2B5EF4-FFF2-40B4-BE49-F238E27FC236}">
                <a16:creationId xmlns:a16="http://schemas.microsoft.com/office/drawing/2014/main" id="{151D388F-722B-6C43-B686-53E6DF194591}"/>
              </a:ext>
            </a:extLst>
          </p:cNvPr>
          <p:cNvGraphicFramePr>
            <a:graphicFrameLocks noGrp="1"/>
          </p:cNvGraphicFramePr>
          <p:nvPr/>
        </p:nvGraphicFramePr>
        <p:xfrm>
          <a:off x="465038" y="1587727"/>
          <a:ext cx="3817773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97722088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793836398"/>
                    </a:ext>
                  </a:extLst>
                </a:gridCol>
                <a:gridCol w="1801549">
                  <a:extLst>
                    <a:ext uri="{9D8B030D-6E8A-4147-A177-3AD203B41FA5}">
                      <a16:colId xmlns:a16="http://schemas.microsoft.com/office/drawing/2014/main" val="42738476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同学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到达时间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解答时间</a:t>
                      </a:r>
                      <a:endParaRPr lang="en-US" altLang="zh-CN" dirty="0"/>
                    </a:p>
                    <a:p>
                      <a:pPr algn="ctr"/>
                      <a:r>
                        <a:rPr lang="zh-CN" altLang="en-US" dirty="0"/>
                        <a:t>（工作量）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983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829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332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4418"/>
                  </a:ext>
                </a:extLst>
              </a:tr>
            </a:tbl>
          </a:graphicData>
        </a:graphic>
      </p:graphicFrame>
      <p:sp>
        <p:nvSpPr>
          <p:cNvPr id="122" name="云形标注 121">
            <a:extLst>
              <a:ext uri="{FF2B5EF4-FFF2-40B4-BE49-F238E27FC236}">
                <a16:creationId xmlns:a16="http://schemas.microsoft.com/office/drawing/2014/main" id="{78388534-E434-D24E-B178-E092324E4C8D}"/>
              </a:ext>
            </a:extLst>
          </p:cNvPr>
          <p:cNvSpPr/>
          <p:nvPr/>
        </p:nvSpPr>
        <p:spPr>
          <a:xfrm>
            <a:off x="5790614" y="2878184"/>
            <a:ext cx="2888348" cy="1051972"/>
          </a:xfrm>
          <a:prstGeom prst="cloudCallout">
            <a:avLst>
              <a:gd name="adj1" fmla="val -38539"/>
              <a:gd name="adj2" fmla="val 719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kumimoji="1" lang="zh-CN" altLang="en-US" dirty="0">
                <a:solidFill>
                  <a:srgbClr val="000000"/>
                </a:solidFill>
              </a:rPr>
              <a:t>感觉</a:t>
            </a:r>
            <a:r>
              <a:rPr kumimoji="1" lang="zh-CN" altLang="en-US" dirty="0">
                <a:solidFill>
                  <a:srgbClr val="FF0000"/>
                </a:solidFill>
              </a:rPr>
              <a:t>多等了好久</a:t>
            </a:r>
            <a:endParaRPr kumimoji="1" lang="en-US" altLang="zh-CN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04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10E330-99DA-C74C-82B6-E96D9B751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21987F-1DA1-2C4F-92D5-77D9FAB0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什么情况下</a:t>
            </a:r>
            <a:r>
              <a:rPr kumimoji="1" lang="en-US" altLang="zh-CN" dirty="0"/>
              <a:t>RR</a:t>
            </a:r>
            <a:r>
              <a:rPr kumimoji="1" lang="zh-CN" altLang="en-US" dirty="0"/>
              <a:t>的周转时间问题最为明显？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时间片长短应该如何确定？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过长的时间片会导致什么问题？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过短的时间片会导致什么问题？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B6A453-02BA-664B-AF56-FBE84CD6F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2E930A-109D-694D-B1F0-6BC618AE3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02325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优先级调度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Priority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0237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CD42B79-65B9-7448-9E23-11A1D64A9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操作系统中的任务是不同的，例如：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系统 </a:t>
            </a:r>
            <a:r>
              <a:rPr kumimoji="1" lang="en-US" altLang="zh-CN" sz="2000" dirty="0"/>
              <a:t>V.S.</a:t>
            </a:r>
            <a:r>
              <a:rPr kumimoji="1" lang="zh-CN" altLang="en-US" sz="2000" dirty="0"/>
              <a:t> 用户、前台 </a:t>
            </a:r>
            <a:r>
              <a:rPr kumimoji="1" lang="en-US" altLang="zh-CN" sz="2000" dirty="0"/>
              <a:t>V.S.</a:t>
            </a:r>
            <a:r>
              <a:rPr kumimoji="1" lang="zh-CN" altLang="en-US" sz="2000" dirty="0"/>
              <a:t> 后台、</a:t>
            </a:r>
            <a:r>
              <a:rPr kumimoji="1" lang="en-US" altLang="zh-CN" sz="2000" dirty="0"/>
              <a:t>…</a:t>
            </a:r>
          </a:p>
          <a:p>
            <a:r>
              <a:rPr kumimoji="1" lang="zh-CN" altLang="en-US" sz="2200" dirty="0"/>
              <a:t>如果不加以区分</a:t>
            </a:r>
            <a:endParaRPr kumimoji="1" lang="en-US" altLang="zh-CN" sz="2200" dirty="0"/>
          </a:p>
          <a:p>
            <a:pPr lvl="1"/>
            <a:r>
              <a:rPr kumimoji="1" lang="zh-CN" altLang="en-US" sz="1800" dirty="0"/>
              <a:t>系统关键任务无法及时处理</a:t>
            </a:r>
            <a:endParaRPr kumimoji="1" lang="en-US" altLang="zh-CN" sz="1800" dirty="0"/>
          </a:p>
          <a:p>
            <a:pPr lvl="1"/>
            <a:r>
              <a:rPr kumimoji="1" lang="en-US" altLang="zh-CN" sz="1800" dirty="0"/>
              <a:t>"</a:t>
            </a:r>
            <a:r>
              <a:rPr kumimoji="1" lang="zh-CN" altLang="en-US" sz="1800" dirty="0"/>
              <a:t>后台运算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导致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视频播放</a:t>
            </a:r>
            <a:r>
              <a:rPr kumimoji="1" lang="en-US" altLang="zh-CN" sz="1800" dirty="0"/>
              <a:t>"</a:t>
            </a:r>
            <a:r>
              <a:rPr kumimoji="1" lang="zh-CN" altLang="en-US" sz="1800" dirty="0"/>
              <a:t>卡顿</a:t>
            </a:r>
            <a:endParaRPr kumimoji="1" lang="en-US" altLang="zh-CN" sz="1800" dirty="0"/>
          </a:p>
          <a:p>
            <a:pPr lvl="1"/>
            <a:endParaRPr kumimoji="1" lang="en-US" altLang="zh-CN" sz="2000" dirty="0"/>
          </a:p>
          <a:p>
            <a:r>
              <a:rPr kumimoji="1" lang="zh-CN" altLang="en-US" sz="2200" dirty="0"/>
              <a:t>优先级用于确保重要的任务被优先调度</a:t>
            </a:r>
            <a:endParaRPr kumimoji="1" lang="en-US" altLang="zh-CN" sz="22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991D7BE-FD37-1541-96B5-F145880F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7F7BC6B-91E1-3A4E-B521-B18DCC56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调度优先级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D64341-AE2E-7646-8FB6-D27391C8C2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91788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3EAEB-4C0B-C044-A437-6BA371B87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添加条件：优先级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784BF5-C3D9-9C4C-B126-2BFAF34EF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309330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D708A43-84C1-AF4D-B91B-862BE34A12A2}"/>
              </a:ext>
            </a:extLst>
          </p:cNvPr>
          <p:cNvSpPr txBox="1"/>
          <p:nvPr/>
        </p:nvSpPr>
        <p:spPr>
          <a:xfrm>
            <a:off x="5854130" y="1731897"/>
            <a:ext cx="17432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女生</a:t>
            </a:r>
            <a:r>
              <a:rPr kumimoji="1" lang="zh-CN" altLang="en-US" dirty="0">
                <a:solidFill>
                  <a:srgbClr val="FF0000"/>
                </a:solidFill>
              </a:rPr>
              <a:t>优先级</a:t>
            </a:r>
            <a:r>
              <a:rPr kumimoji="1" lang="zh-CN" altLang="en-US" dirty="0"/>
              <a:t>高！</a:t>
            </a:r>
          </a:p>
        </p:txBody>
      </p: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8B2D0930-9BD3-B043-91CE-7DFAEF28689A}"/>
              </a:ext>
            </a:extLst>
          </p:cNvPr>
          <p:cNvGrpSpPr/>
          <p:nvPr/>
        </p:nvGrpSpPr>
        <p:grpSpPr>
          <a:xfrm>
            <a:off x="4939730" y="1452401"/>
            <a:ext cx="914400" cy="965540"/>
            <a:chOff x="2184748" y="3721596"/>
            <a:chExt cx="914400" cy="965540"/>
          </a:xfrm>
        </p:grpSpPr>
        <p:pic>
          <p:nvPicPr>
            <p:cNvPr id="93" name="图形 92" descr="用户">
              <a:extLst>
                <a:ext uri="{FF2B5EF4-FFF2-40B4-BE49-F238E27FC236}">
                  <a16:creationId xmlns:a16="http://schemas.microsoft.com/office/drawing/2014/main" id="{6AB5B9B5-C8D9-E14D-9E15-F77399AC0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5256F0EF-3C66-5547-AC45-6411926D903D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538C6D99-9479-EE42-998B-5BCC544858A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96" name="图形 95" descr="学位帽">
                <a:extLst>
                  <a:ext uri="{FF2B5EF4-FFF2-40B4-BE49-F238E27FC236}">
                    <a16:creationId xmlns:a16="http://schemas.microsoft.com/office/drawing/2014/main" id="{CD59CA99-8E47-E348-9112-EC4F891A68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E768CEF6-BAA5-EE4E-A886-2C74CA1F0833}"/>
              </a:ext>
            </a:extLst>
          </p:cNvPr>
          <p:cNvGrpSpPr/>
          <p:nvPr/>
        </p:nvGrpSpPr>
        <p:grpSpPr>
          <a:xfrm>
            <a:off x="2755490" y="1875711"/>
            <a:ext cx="914400" cy="914400"/>
            <a:chOff x="3968174" y="2217839"/>
            <a:chExt cx="914400" cy="914400"/>
          </a:xfrm>
        </p:grpSpPr>
        <p:pic>
          <p:nvPicPr>
            <p:cNvPr id="109" name="图形 108" descr="男性形象">
              <a:extLst>
                <a:ext uri="{FF2B5EF4-FFF2-40B4-BE49-F238E27FC236}">
                  <a16:creationId xmlns:a16="http://schemas.microsoft.com/office/drawing/2014/main" id="{B64649AC-C011-6549-B3A6-EDC8BE6FF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6FBED64D-CE19-4F40-8C27-0B53D99993E8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2672FA00-B488-2349-91CF-44620D59CA42}"/>
              </a:ext>
            </a:extLst>
          </p:cNvPr>
          <p:cNvGrpSpPr/>
          <p:nvPr/>
        </p:nvGrpSpPr>
        <p:grpSpPr>
          <a:xfrm>
            <a:off x="2755490" y="3621536"/>
            <a:ext cx="914400" cy="914400"/>
            <a:chOff x="5878583" y="1595505"/>
            <a:chExt cx="914400" cy="914400"/>
          </a:xfrm>
        </p:grpSpPr>
        <p:pic>
          <p:nvPicPr>
            <p:cNvPr id="112" name="图形 111" descr="女性形象">
              <a:extLst>
                <a:ext uri="{FF2B5EF4-FFF2-40B4-BE49-F238E27FC236}">
                  <a16:creationId xmlns:a16="http://schemas.microsoft.com/office/drawing/2014/main" id="{0929D1D5-C7A4-DF40-AD5A-D3EEF506D28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5286D50F-C1E4-5D4C-894F-E9ECA88B9F17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ACDFE729-D93E-A749-B91F-6BB3CEA79620}"/>
              </a:ext>
            </a:extLst>
          </p:cNvPr>
          <p:cNvGrpSpPr/>
          <p:nvPr/>
        </p:nvGrpSpPr>
        <p:grpSpPr>
          <a:xfrm>
            <a:off x="595250" y="2629642"/>
            <a:ext cx="914400" cy="914400"/>
            <a:chOff x="2942911" y="3750549"/>
            <a:chExt cx="914400" cy="914400"/>
          </a:xfrm>
        </p:grpSpPr>
        <p:pic>
          <p:nvPicPr>
            <p:cNvPr id="115" name="图形 114" descr="用户">
              <a:extLst>
                <a:ext uri="{FF2B5EF4-FFF2-40B4-BE49-F238E27FC236}">
                  <a16:creationId xmlns:a16="http://schemas.microsoft.com/office/drawing/2014/main" id="{1DF7DC90-3752-C145-BFB4-9AE406CC902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942911" y="3750549"/>
              <a:ext cx="914400" cy="914400"/>
            </a:xfrm>
            <a:prstGeom prst="rect">
              <a:avLst/>
            </a:prstGeom>
          </p:spPr>
        </p:pic>
        <p:sp>
          <p:nvSpPr>
            <p:cNvPr id="116" name="文本框 115">
              <a:extLst>
                <a:ext uri="{FF2B5EF4-FFF2-40B4-BE49-F238E27FC236}">
                  <a16:creationId xmlns:a16="http://schemas.microsoft.com/office/drawing/2014/main" id="{A391E1FB-231F-BE40-9457-E26CDEF21260}"/>
                </a:ext>
              </a:extLst>
            </p:cNvPr>
            <p:cNvSpPr txBox="1"/>
            <p:nvPr/>
          </p:nvSpPr>
          <p:spPr>
            <a:xfrm>
              <a:off x="2942911" y="4225652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kumimoji="1" lang="zh-CN" altLang="en-US" b="1" dirty="0"/>
            </a:p>
          </p:txBody>
        </p:sp>
      </p:grpSp>
      <p:sp>
        <p:nvSpPr>
          <p:cNvPr id="14" name="右箭头 13">
            <a:extLst>
              <a:ext uri="{FF2B5EF4-FFF2-40B4-BE49-F238E27FC236}">
                <a16:creationId xmlns:a16="http://schemas.microsoft.com/office/drawing/2014/main" id="{60BBE461-6983-1946-AF1D-520D9B266C99}"/>
              </a:ext>
            </a:extLst>
          </p:cNvPr>
          <p:cNvSpPr/>
          <p:nvPr/>
        </p:nvSpPr>
        <p:spPr>
          <a:xfrm rot="19679552">
            <a:off x="1544333" y="2521887"/>
            <a:ext cx="957808" cy="405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0" name="右箭头 119">
            <a:extLst>
              <a:ext uri="{FF2B5EF4-FFF2-40B4-BE49-F238E27FC236}">
                <a16:creationId xmlns:a16="http://schemas.microsoft.com/office/drawing/2014/main" id="{1993DFE7-88B8-3143-AE34-F08889D53665}"/>
              </a:ext>
            </a:extLst>
          </p:cNvPr>
          <p:cNvSpPr/>
          <p:nvPr/>
        </p:nvSpPr>
        <p:spPr>
          <a:xfrm rot="1800000">
            <a:off x="1544334" y="3460869"/>
            <a:ext cx="957808" cy="40558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E9E881C6-B7C4-1F4F-BF12-FA7DD45F6901}"/>
              </a:ext>
            </a:extLst>
          </p:cNvPr>
          <p:cNvGrpSpPr/>
          <p:nvPr/>
        </p:nvGrpSpPr>
        <p:grpSpPr>
          <a:xfrm>
            <a:off x="4366618" y="3077780"/>
            <a:ext cx="914400" cy="914400"/>
            <a:chOff x="3968174" y="2217839"/>
            <a:chExt cx="914400" cy="914400"/>
          </a:xfrm>
        </p:grpSpPr>
        <p:pic>
          <p:nvPicPr>
            <p:cNvPr id="122" name="图形 121" descr="男性形象">
              <a:extLst>
                <a:ext uri="{FF2B5EF4-FFF2-40B4-BE49-F238E27FC236}">
                  <a16:creationId xmlns:a16="http://schemas.microsoft.com/office/drawing/2014/main" id="{DD646658-7951-614B-906B-D6DBD3350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A0FCC599-D55A-3241-B868-24964D4BCFF4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E86DE226-A90F-AF4F-B144-1A8D63668F47}"/>
              </a:ext>
            </a:extLst>
          </p:cNvPr>
          <p:cNvGrpSpPr/>
          <p:nvPr/>
        </p:nvGrpSpPr>
        <p:grpSpPr>
          <a:xfrm>
            <a:off x="5357197" y="3082411"/>
            <a:ext cx="914400" cy="914400"/>
            <a:chOff x="5878583" y="1595505"/>
            <a:chExt cx="914400" cy="914400"/>
          </a:xfrm>
        </p:grpSpPr>
        <p:pic>
          <p:nvPicPr>
            <p:cNvPr id="125" name="图形 124" descr="女性形象">
              <a:extLst>
                <a:ext uri="{FF2B5EF4-FFF2-40B4-BE49-F238E27FC236}">
                  <a16:creationId xmlns:a16="http://schemas.microsoft.com/office/drawing/2014/main" id="{1B659F90-5148-DF47-9305-88FF0F5C3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982F592B-8108-F04E-9379-17204F5DE458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0292918C-A453-2E4E-84D5-456FB0B5AAAB}"/>
              </a:ext>
            </a:extLst>
          </p:cNvPr>
          <p:cNvGrpSpPr/>
          <p:nvPr/>
        </p:nvGrpSpPr>
        <p:grpSpPr>
          <a:xfrm>
            <a:off x="6449751" y="3077780"/>
            <a:ext cx="914400" cy="914400"/>
            <a:chOff x="3968174" y="2217839"/>
            <a:chExt cx="914400" cy="914400"/>
          </a:xfrm>
        </p:grpSpPr>
        <p:pic>
          <p:nvPicPr>
            <p:cNvPr id="128" name="图形 127" descr="男性形象">
              <a:extLst>
                <a:ext uri="{FF2B5EF4-FFF2-40B4-BE49-F238E27FC236}">
                  <a16:creationId xmlns:a16="http://schemas.microsoft.com/office/drawing/2014/main" id="{29188134-8E0B-C14F-9367-0606195D6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001A7F9C-3458-7642-A1E4-5ECA841526A1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83B3DDB3-05C8-484C-B4B2-8C704DAAE79C}"/>
              </a:ext>
            </a:extLst>
          </p:cNvPr>
          <p:cNvGrpSpPr/>
          <p:nvPr/>
        </p:nvGrpSpPr>
        <p:grpSpPr>
          <a:xfrm>
            <a:off x="7511767" y="3077780"/>
            <a:ext cx="914400" cy="914400"/>
            <a:chOff x="5878583" y="1595505"/>
            <a:chExt cx="914400" cy="914400"/>
          </a:xfrm>
        </p:grpSpPr>
        <p:pic>
          <p:nvPicPr>
            <p:cNvPr id="131" name="图形 130" descr="女性形象">
              <a:extLst>
                <a:ext uri="{FF2B5EF4-FFF2-40B4-BE49-F238E27FC236}">
                  <a16:creationId xmlns:a16="http://schemas.microsoft.com/office/drawing/2014/main" id="{956EFC02-939E-B54C-A787-07BC0FA2E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9868DE6D-99F1-C449-96E3-FC94475D86EB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D</a:t>
              </a:r>
              <a:endParaRPr kumimoji="1" lang="zh-CN" altLang="en-US" b="1" dirty="0"/>
            </a:p>
          </p:txBody>
        </p:sp>
      </p:grpSp>
      <p:sp>
        <p:nvSpPr>
          <p:cNvPr id="33" name="页脚占位符 4">
            <a:extLst>
              <a:ext uri="{FF2B5EF4-FFF2-40B4-BE49-F238E27FC236}">
                <a16:creationId xmlns:a16="http://schemas.microsoft.com/office/drawing/2014/main" id="{175952CB-0D43-934A-A4A4-CF6B72D0FC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768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9A1F49-6999-FD42-A2A2-0C6BFBF8B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思考：优先级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95717D-87D5-DD43-9FAB-0BB9F76B3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以下这些调度策略算不算优先级调度？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Come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 </a:t>
            </a:r>
            <a:r>
              <a:rPr kumimoji="1" lang="en-US" altLang="zh-CN" dirty="0"/>
              <a:t>Served</a:t>
            </a:r>
          </a:p>
          <a:p>
            <a:pPr lvl="1"/>
            <a:r>
              <a:rPr kumimoji="1" lang="en-US" altLang="zh-CN" dirty="0"/>
              <a:t>Shortest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Job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</a:p>
          <a:p>
            <a:pPr lvl="1"/>
            <a:r>
              <a:rPr kumimoji="1" lang="en-US" altLang="zh-CN" dirty="0"/>
              <a:t>Round</a:t>
            </a:r>
            <a:r>
              <a:rPr kumimoji="1" lang="zh-CN" altLang="en-US" dirty="0"/>
              <a:t> </a:t>
            </a:r>
            <a:r>
              <a:rPr kumimoji="1" lang="en-US" altLang="zh-CN" dirty="0"/>
              <a:t>Robin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AFFC36-5955-C246-9A50-CBDE72A34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E9755E-62AA-A944-80FD-7819DC143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051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52505-6BAE-6B4C-BE7E-3640541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多级队列（</a:t>
            </a:r>
            <a:r>
              <a:rPr kumimoji="1" lang="en-US" altLang="zh-CN" dirty="0"/>
              <a:t>Multi-level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3BE7B-2D16-994C-9C73-84C95DB9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3B0B52F-62C8-BE40-906E-13B60959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672" y="3652210"/>
            <a:ext cx="3293328" cy="582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zh-CN" altLang="en-US" sz="1800" dirty="0"/>
              <a:t>女生队列（高优先级）</a:t>
            </a:r>
            <a:r>
              <a:rPr kumimoji="1" lang="en-US" altLang="zh-CN" sz="1800" dirty="0" err="1"/>
              <a:t>Q</a:t>
            </a:r>
            <a:r>
              <a:rPr kumimoji="1" lang="en-US" altLang="zh-CN" sz="1800" baseline="-25000" dirty="0" err="1"/>
              <a:t>girl</a:t>
            </a:r>
            <a:endParaRPr kumimoji="1" lang="en-US" altLang="zh-CN" sz="1800" baseline="-25000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C0E6A1-5826-A446-8009-F1542375EC77}"/>
              </a:ext>
            </a:extLst>
          </p:cNvPr>
          <p:cNvGrpSpPr/>
          <p:nvPr/>
        </p:nvGrpSpPr>
        <p:grpSpPr>
          <a:xfrm>
            <a:off x="4817329" y="4234978"/>
            <a:ext cx="914400" cy="914400"/>
            <a:chOff x="3968174" y="2217839"/>
            <a:chExt cx="914400" cy="914400"/>
          </a:xfrm>
        </p:grpSpPr>
        <p:pic>
          <p:nvPicPr>
            <p:cNvPr id="9" name="图形 8" descr="男性形象">
              <a:extLst>
                <a:ext uri="{FF2B5EF4-FFF2-40B4-BE49-F238E27FC236}">
                  <a16:creationId xmlns:a16="http://schemas.microsoft.com/office/drawing/2014/main" id="{27D971F9-D990-A943-8AB2-B97CED1C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C7531A-E49E-F343-921A-FCF1515DF319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7B33C5-A34A-EE46-A483-A83F6596B033}"/>
              </a:ext>
            </a:extLst>
          </p:cNvPr>
          <p:cNvGrpSpPr/>
          <p:nvPr/>
        </p:nvGrpSpPr>
        <p:grpSpPr>
          <a:xfrm>
            <a:off x="4840251" y="3321010"/>
            <a:ext cx="914400" cy="914400"/>
            <a:chOff x="5878583" y="1595505"/>
            <a:chExt cx="914400" cy="914400"/>
          </a:xfrm>
        </p:grpSpPr>
        <p:pic>
          <p:nvPicPr>
            <p:cNvPr id="12" name="图形 11" descr="女性形象">
              <a:extLst>
                <a:ext uri="{FF2B5EF4-FFF2-40B4-BE49-F238E27FC236}">
                  <a16:creationId xmlns:a16="http://schemas.microsoft.com/office/drawing/2014/main" id="{803CE6CA-C96F-9440-B22A-E34F5CC6A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F72B47-36A0-9345-8385-7D3C3A3B105E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5FBD8AD-C37D-6140-AC92-3B711DC08AA3}"/>
              </a:ext>
            </a:extLst>
          </p:cNvPr>
          <p:cNvGrpSpPr/>
          <p:nvPr/>
        </p:nvGrpSpPr>
        <p:grpSpPr>
          <a:xfrm>
            <a:off x="6300192" y="4226993"/>
            <a:ext cx="914400" cy="914400"/>
            <a:chOff x="3968174" y="2217839"/>
            <a:chExt cx="914400" cy="914400"/>
          </a:xfrm>
        </p:grpSpPr>
        <p:pic>
          <p:nvPicPr>
            <p:cNvPr id="15" name="图形 14" descr="男性形象">
              <a:extLst>
                <a:ext uri="{FF2B5EF4-FFF2-40B4-BE49-F238E27FC236}">
                  <a16:creationId xmlns:a16="http://schemas.microsoft.com/office/drawing/2014/main" id="{69A10E96-7742-B74A-A85D-2191262B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C410A14-4D01-8F40-8346-F616F331E29B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61A20D-DA8D-8141-B59A-05B30653BAE4}"/>
              </a:ext>
            </a:extLst>
          </p:cNvPr>
          <p:cNvGrpSpPr/>
          <p:nvPr/>
        </p:nvGrpSpPr>
        <p:grpSpPr>
          <a:xfrm>
            <a:off x="6246949" y="3323531"/>
            <a:ext cx="914400" cy="914400"/>
            <a:chOff x="5878583" y="1595505"/>
            <a:chExt cx="914400" cy="914400"/>
          </a:xfrm>
        </p:grpSpPr>
        <p:pic>
          <p:nvPicPr>
            <p:cNvPr id="18" name="图形 17" descr="女性形象">
              <a:extLst>
                <a:ext uri="{FF2B5EF4-FFF2-40B4-BE49-F238E27FC236}">
                  <a16:creationId xmlns:a16="http://schemas.microsoft.com/office/drawing/2014/main" id="{640CC9B6-D549-0347-A6F2-601982AEF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B1C6A4F-203A-4945-9894-FC598ADAF0B5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D</a:t>
              </a:r>
              <a:endParaRPr kumimoji="1" lang="zh-CN" altLang="en-US" b="1" dirty="0"/>
            </a:p>
          </p:txBody>
        </p:sp>
      </p:grp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7063BF57-4790-6A4E-A4A6-C6E3956237C9}"/>
              </a:ext>
            </a:extLst>
          </p:cNvPr>
          <p:cNvSpPr txBox="1">
            <a:spLocks/>
          </p:cNvSpPr>
          <p:nvPr/>
        </p:nvSpPr>
        <p:spPr>
          <a:xfrm>
            <a:off x="457200" y="1306449"/>
            <a:ext cx="8075240" cy="19837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2000" b="0" dirty="0"/>
              <a:t>1</a:t>
            </a:r>
            <a:r>
              <a:rPr kumimoji="1" lang="zh-CN" altLang="en-US" sz="2000" b="0" dirty="0"/>
              <a:t>）维护多个队列，每个对应静态设置好的优先级</a:t>
            </a:r>
            <a:endParaRPr kumimoji="1" lang="en-US" altLang="zh-CN" sz="2000" b="0" dirty="0"/>
          </a:p>
          <a:p>
            <a:pPr marL="0" indent="0">
              <a:buFont typeface="Arial" pitchFamily="34" charset="0"/>
              <a:buNone/>
            </a:pPr>
            <a:r>
              <a:rPr kumimoji="1" lang="en-US" altLang="zh-CN" sz="2000" b="0" dirty="0"/>
              <a:t>2</a:t>
            </a:r>
            <a:r>
              <a:rPr kumimoji="1" lang="zh-CN" altLang="en-US" sz="2000" b="0" dirty="0"/>
              <a:t>）高优先级的任务优先执行</a:t>
            </a:r>
            <a:endParaRPr kumimoji="1" lang="en-US" altLang="zh-CN" sz="2000" b="0" dirty="0"/>
          </a:p>
          <a:p>
            <a:pPr marL="0" indent="0">
              <a:buNone/>
            </a:pPr>
            <a:r>
              <a:rPr kumimoji="1" lang="en-US" altLang="zh-CN" sz="2000" b="0" dirty="0"/>
              <a:t>3</a:t>
            </a:r>
            <a:r>
              <a:rPr kumimoji="1" lang="zh-CN" altLang="en-US" sz="2000" b="0" dirty="0"/>
              <a:t>）同优先级内使用</a:t>
            </a:r>
            <a:r>
              <a:rPr kumimoji="1" lang="en-US" altLang="zh-CN" sz="2000" b="0" dirty="0"/>
              <a:t>Round</a:t>
            </a:r>
            <a:r>
              <a:rPr kumimoji="1" lang="zh-CN" altLang="en-US" sz="2000" b="0" dirty="0"/>
              <a:t> </a:t>
            </a:r>
            <a:r>
              <a:rPr kumimoji="1" lang="en-US" altLang="zh-CN" sz="2000" b="0" dirty="0"/>
              <a:t>Robin</a:t>
            </a:r>
            <a:r>
              <a:rPr kumimoji="1" lang="zh-CN" altLang="en-US" sz="2000" b="0" dirty="0"/>
              <a:t>调度（也可使用其他调度策略）</a:t>
            </a:r>
          </a:p>
        </p:txBody>
      </p:sp>
      <p:sp>
        <p:nvSpPr>
          <p:cNvPr id="51" name="页脚占位符 4">
            <a:extLst>
              <a:ext uri="{FF2B5EF4-FFF2-40B4-BE49-F238E27FC236}">
                <a16:creationId xmlns:a16="http://schemas.microsoft.com/office/drawing/2014/main" id="{351EA13E-2293-B848-8216-58BB141094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2" name="内容占位符 2">
            <a:extLst>
              <a:ext uri="{FF2B5EF4-FFF2-40B4-BE49-F238E27FC236}">
                <a16:creationId xmlns:a16="http://schemas.microsoft.com/office/drawing/2014/main" id="{C776FC87-C637-CB43-8E32-D44D955A967A}"/>
              </a:ext>
            </a:extLst>
          </p:cNvPr>
          <p:cNvSpPr txBox="1">
            <a:spLocks/>
          </p:cNvSpPr>
          <p:nvPr/>
        </p:nvSpPr>
        <p:spPr>
          <a:xfrm>
            <a:off x="1289883" y="4485282"/>
            <a:ext cx="3138101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1800" dirty="0"/>
              <a:t>男生队列（低优先级）</a:t>
            </a:r>
            <a:r>
              <a:rPr kumimoji="1" lang="en-US" altLang="zh-CN" sz="1800" dirty="0" err="1"/>
              <a:t>Q</a:t>
            </a:r>
            <a:r>
              <a:rPr kumimoji="1" lang="en-US" altLang="zh-CN" sz="1800" baseline="-25000" dirty="0" err="1"/>
              <a:t>boy</a:t>
            </a:r>
            <a:endParaRPr kumimoji="1" lang="en-US" altLang="zh-CN" sz="1800" dirty="0"/>
          </a:p>
        </p:txBody>
      </p:sp>
      <p:sp>
        <p:nvSpPr>
          <p:cNvPr id="3" name="右箭头 2">
            <a:extLst>
              <a:ext uri="{FF2B5EF4-FFF2-40B4-BE49-F238E27FC236}">
                <a16:creationId xmlns:a16="http://schemas.microsoft.com/office/drawing/2014/main" id="{7C9A609C-A3DD-BB4D-89B5-9AFB71C40A43}"/>
              </a:ext>
            </a:extLst>
          </p:cNvPr>
          <p:cNvSpPr/>
          <p:nvPr/>
        </p:nvSpPr>
        <p:spPr>
          <a:xfrm>
            <a:off x="4347953" y="3787490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右箭头 52">
            <a:extLst>
              <a:ext uri="{FF2B5EF4-FFF2-40B4-BE49-F238E27FC236}">
                <a16:creationId xmlns:a16="http://schemas.microsoft.com/office/drawing/2014/main" id="{705F95EA-D81D-854C-BFF5-9C552D6AE12C}"/>
              </a:ext>
            </a:extLst>
          </p:cNvPr>
          <p:cNvSpPr/>
          <p:nvPr/>
        </p:nvSpPr>
        <p:spPr>
          <a:xfrm>
            <a:off x="5801195" y="3773531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右箭头 53">
            <a:extLst>
              <a:ext uri="{FF2B5EF4-FFF2-40B4-BE49-F238E27FC236}">
                <a16:creationId xmlns:a16="http://schemas.microsoft.com/office/drawing/2014/main" id="{F00691C4-F6D1-9643-9EF4-3E851DE21305}"/>
              </a:ext>
            </a:extLst>
          </p:cNvPr>
          <p:cNvSpPr/>
          <p:nvPr/>
        </p:nvSpPr>
        <p:spPr>
          <a:xfrm>
            <a:off x="4347953" y="4661139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右箭头 54">
            <a:extLst>
              <a:ext uri="{FF2B5EF4-FFF2-40B4-BE49-F238E27FC236}">
                <a16:creationId xmlns:a16="http://schemas.microsoft.com/office/drawing/2014/main" id="{9465592E-4946-C043-9839-6F272E8AA56E}"/>
              </a:ext>
            </a:extLst>
          </p:cNvPr>
          <p:cNvSpPr/>
          <p:nvPr/>
        </p:nvSpPr>
        <p:spPr>
          <a:xfrm>
            <a:off x="5795722" y="4687195"/>
            <a:ext cx="467735" cy="17894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3358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C2806F-CFED-2448-B10A-26713B354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添加条件：阅读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 （类比</a:t>
            </a:r>
            <a:r>
              <a:rPr kumimoji="1" lang="en-US" altLang="zh-CN" dirty="0"/>
              <a:t>I/O</a:t>
            </a:r>
            <a:r>
              <a:rPr kumimoji="1" lang="zh-CN" altLang="en-US" dirty="0"/>
              <a:t>操作）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8F8BAE-7AA6-9A4C-898F-4B158D1E5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200" dirty="0"/>
              <a:t>学霸告诉同学需要看</a:t>
            </a:r>
            <a:r>
              <a:rPr kumimoji="1" lang="en-US" altLang="zh-CN" sz="2200" dirty="0"/>
              <a:t>OS</a:t>
            </a:r>
            <a:r>
              <a:rPr kumimoji="1" lang="zh-CN" altLang="en-US" sz="2200" dirty="0"/>
              <a:t>书</a:t>
            </a:r>
            <a:endParaRPr kumimoji="1" lang="en-US" altLang="zh-CN" sz="2200" dirty="0"/>
          </a:p>
          <a:p>
            <a:pPr lvl="1"/>
            <a:r>
              <a:rPr kumimoji="1" lang="zh-CN" altLang="en-US" sz="2200" dirty="0"/>
              <a:t>（学霸只有一本</a:t>
            </a:r>
            <a:r>
              <a:rPr kumimoji="1" lang="en-US" altLang="zh-CN" sz="2200" dirty="0"/>
              <a:t>OS</a:t>
            </a:r>
            <a:r>
              <a:rPr kumimoji="1" lang="zh-CN" altLang="en-US" sz="2200" dirty="0"/>
              <a:t>书，同一时间只有一个同学能够阅读）</a:t>
            </a:r>
            <a:endParaRPr kumimoji="1" lang="en-US" altLang="zh-CN" sz="2200" dirty="0"/>
          </a:p>
          <a:p>
            <a:r>
              <a:rPr kumimoji="1" lang="zh-CN" altLang="en-US" sz="2200" dirty="0"/>
              <a:t>阅读完</a:t>
            </a:r>
            <a:r>
              <a:rPr kumimoji="1" lang="en-US" altLang="zh-CN" sz="2200" dirty="0"/>
              <a:t>OS</a:t>
            </a:r>
            <a:r>
              <a:rPr kumimoji="1" lang="zh-CN" altLang="en-US" sz="2200" dirty="0"/>
              <a:t>书后，同学再和学霸确认知识点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3B838-94FF-8245-91F7-98060614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BCB8122-4A81-C043-992A-C44C0891364C}"/>
              </a:ext>
            </a:extLst>
          </p:cNvPr>
          <p:cNvGrpSpPr/>
          <p:nvPr/>
        </p:nvGrpSpPr>
        <p:grpSpPr>
          <a:xfrm>
            <a:off x="1405880" y="3001516"/>
            <a:ext cx="914400" cy="965540"/>
            <a:chOff x="2184748" y="3721596"/>
            <a:chExt cx="914400" cy="965540"/>
          </a:xfrm>
        </p:grpSpPr>
        <p:pic>
          <p:nvPicPr>
            <p:cNvPr id="9" name="图形 8" descr="用户">
              <a:extLst>
                <a:ext uri="{FF2B5EF4-FFF2-40B4-BE49-F238E27FC236}">
                  <a16:creationId xmlns:a16="http://schemas.microsoft.com/office/drawing/2014/main" id="{384076D9-AE03-0B40-9311-2104F55C9A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2F75BABF-F007-8249-B70A-4A43D235EAFE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733C4DFF-7E55-974F-81D4-8A49546EF73B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12" name="图形 11" descr="学位帽">
                <a:extLst>
                  <a:ext uri="{FF2B5EF4-FFF2-40B4-BE49-F238E27FC236}">
                    <a16:creationId xmlns:a16="http://schemas.microsoft.com/office/drawing/2014/main" id="{96952659-4353-724B-B876-CF7EB9EB7B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5EEE8FC-5DC9-5A4D-B4CD-2A4783618D74}"/>
              </a:ext>
            </a:extLst>
          </p:cNvPr>
          <p:cNvGrpSpPr/>
          <p:nvPr/>
        </p:nvGrpSpPr>
        <p:grpSpPr>
          <a:xfrm>
            <a:off x="2811503" y="3269746"/>
            <a:ext cx="382619" cy="504056"/>
            <a:chOff x="1151620" y="3869431"/>
            <a:chExt cx="2592288" cy="504056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D91CDF0-F74D-0E46-B823-AFCC942323F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7C3FE857-8926-0144-B9D1-78DC929CE340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6" name="内容占位符 2">
            <a:extLst>
              <a:ext uri="{FF2B5EF4-FFF2-40B4-BE49-F238E27FC236}">
                <a16:creationId xmlns:a16="http://schemas.microsoft.com/office/drawing/2014/main" id="{59849004-D91B-3540-B68E-8FCECEE2D10C}"/>
              </a:ext>
            </a:extLst>
          </p:cNvPr>
          <p:cNvSpPr txBox="1">
            <a:spLocks/>
          </p:cNvSpPr>
          <p:nvPr/>
        </p:nvSpPr>
        <p:spPr>
          <a:xfrm>
            <a:off x="513397" y="3269691"/>
            <a:ext cx="914400" cy="538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dirty="0"/>
              <a:t>CPU</a:t>
            </a:r>
            <a:endParaRPr kumimoji="1" lang="zh-CN" altLang="en-US" dirty="0"/>
          </a:p>
        </p:txBody>
      </p:sp>
      <p:sp>
        <p:nvSpPr>
          <p:cNvPr id="17" name="内容占位符 2">
            <a:extLst>
              <a:ext uri="{FF2B5EF4-FFF2-40B4-BE49-F238E27FC236}">
                <a16:creationId xmlns:a16="http://schemas.microsoft.com/office/drawing/2014/main" id="{3D254F05-DEE6-7944-A0D2-2AAC5E3081CC}"/>
              </a:ext>
            </a:extLst>
          </p:cNvPr>
          <p:cNvSpPr txBox="1">
            <a:spLocks/>
          </p:cNvSpPr>
          <p:nvPr/>
        </p:nvSpPr>
        <p:spPr>
          <a:xfrm>
            <a:off x="491480" y="4085398"/>
            <a:ext cx="914400" cy="5380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I/O</a:t>
            </a:r>
            <a:endParaRPr kumimoji="1"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B200640-DD2D-C74B-A11D-B87BD45A2345}"/>
              </a:ext>
            </a:extLst>
          </p:cNvPr>
          <p:cNvGrpSpPr/>
          <p:nvPr/>
        </p:nvGrpSpPr>
        <p:grpSpPr>
          <a:xfrm>
            <a:off x="3178179" y="3845139"/>
            <a:ext cx="1312087" cy="504056"/>
            <a:chOff x="1151620" y="3869431"/>
            <a:chExt cx="2592288" cy="504056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4F3A1A2-24E3-364B-AFA9-B67686CE14C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680321A7-4BD9-274C-8386-2B0EB280D71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22" name="图形 21" descr="书籍">
            <a:extLst>
              <a:ext uri="{FF2B5EF4-FFF2-40B4-BE49-F238E27FC236}">
                <a16:creationId xmlns:a16="http://schemas.microsoft.com/office/drawing/2014/main" id="{14CE698B-D58B-134E-A656-B71597F991B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24265" y="3922946"/>
            <a:ext cx="914400" cy="914400"/>
          </a:xfrm>
          <a:prstGeom prst="rect">
            <a:avLst/>
          </a:prstGeom>
        </p:spPr>
      </p:pic>
      <p:grpSp>
        <p:nvGrpSpPr>
          <p:cNvPr id="23" name="组合 22">
            <a:extLst>
              <a:ext uri="{FF2B5EF4-FFF2-40B4-BE49-F238E27FC236}">
                <a16:creationId xmlns:a16="http://schemas.microsoft.com/office/drawing/2014/main" id="{3502A51E-0444-EE4D-AC2A-AD225CC64FFB}"/>
              </a:ext>
            </a:extLst>
          </p:cNvPr>
          <p:cNvGrpSpPr/>
          <p:nvPr/>
        </p:nvGrpSpPr>
        <p:grpSpPr>
          <a:xfrm>
            <a:off x="4481063" y="3269746"/>
            <a:ext cx="382619" cy="504056"/>
            <a:chOff x="1151620" y="3869431"/>
            <a:chExt cx="2592288" cy="504056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603B3A6D-322C-0E48-B3CE-B4D77279BAA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87900AC-310D-DF4C-83DB-EA27EDBA1D6F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02F2CA-23C8-0245-AF9E-FC1AB4AD7B64}"/>
              </a:ext>
            </a:extLst>
          </p:cNvPr>
          <p:cNvGrpSpPr/>
          <p:nvPr/>
        </p:nvGrpSpPr>
        <p:grpSpPr>
          <a:xfrm>
            <a:off x="3156973" y="3269746"/>
            <a:ext cx="382619" cy="504056"/>
            <a:chOff x="1151620" y="3869431"/>
            <a:chExt cx="2592288" cy="5040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2C6E09DD-761D-9145-ACE7-CF69600C741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B85A71FC-1D9E-3342-9A31-B51D21F0F11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52B114D3-1201-DE48-9421-2FCC6DB58D31}"/>
              </a:ext>
            </a:extLst>
          </p:cNvPr>
          <p:cNvGrpSpPr/>
          <p:nvPr/>
        </p:nvGrpSpPr>
        <p:grpSpPr>
          <a:xfrm>
            <a:off x="4382713" y="3845139"/>
            <a:ext cx="1312087" cy="504056"/>
            <a:chOff x="1151620" y="3869431"/>
            <a:chExt cx="2592288" cy="50405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51A5F6E-5365-2741-9F1D-83200462C2A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79C3FF46-E99A-E641-96E5-56A0F0F0AAC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5F561D7F-2DD4-0447-ADF0-3C0634E0E5AB}"/>
              </a:ext>
            </a:extLst>
          </p:cNvPr>
          <p:cNvGrpSpPr/>
          <p:nvPr/>
        </p:nvGrpSpPr>
        <p:grpSpPr>
          <a:xfrm>
            <a:off x="5613842" y="3289230"/>
            <a:ext cx="382619" cy="504056"/>
            <a:chOff x="1151620" y="3869431"/>
            <a:chExt cx="2592288" cy="50405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9FC2B2A-D746-064D-9FF1-4F633BE782E0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26655293-68F8-3642-B213-9F590BFF9B2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CBC5FF7-1994-604C-9179-4C197CF83BDF}"/>
              </a:ext>
            </a:extLst>
          </p:cNvPr>
          <p:cNvGrpSpPr/>
          <p:nvPr/>
        </p:nvGrpSpPr>
        <p:grpSpPr>
          <a:xfrm>
            <a:off x="6481164" y="3151792"/>
            <a:ext cx="914400" cy="914400"/>
            <a:chOff x="3968174" y="2217839"/>
            <a:chExt cx="914400" cy="914400"/>
          </a:xfrm>
        </p:grpSpPr>
        <p:pic>
          <p:nvPicPr>
            <p:cNvPr id="47" name="图形 46" descr="男性形象">
              <a:extLst>
                <a:ext uri="{FF2B5EF4-FFF2-40B4-BE49-F238E27FC236}">
                  <a16:creationId xmlns:a16="http://schemas.microsoft.com/office/drawing/2014/main" id="{F820BA4F-39A2-EC46-98C9-D0EDDD953A8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8049D08-0FAB-6649-B865-F50A2E49EA36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0E8888CB-D1EB-1945-83B7-3FC81B6E1275}"/>
              </a:ext>
            </a:extLst>
          </p:cNvPr>
          <p:cNvGrpSpPr/>
          <p:nvPr/>
        </p:nvGrpSpPr>
        <p:grpSpPr>
          <a:xfrm>
            <a:off x="7575043" y="3151792"/>
            <a:ext cx="914400" cy="914400"/>
            <a:chOff x="3968174" y="2217839"/>
            <a:chExt cx="914400" cy="914400"/>
          </a:xfrm>
        </p:grpSpPr>
        <p:pic>
          <p:nvPicPr>
            <p:cNvPr id="50" name="图形 49" descr="男性形象">
              <a:extLst>
                <a:ext uri="{FF2B5EF4-FFF2-40B4-BE49-F238E27FC236}">
                  <a16:creationId xmlns:a16="http://schemas.microsoft.com/office/drawing/2014/main" id="{C53C614E-C211-5249-B1BB-905FFD49D63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CE647FD-6FC5-B447-BE8A-B03A97A745E1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pic>
        <p:nvPicPr>
          <p:cNvPr id="52" name="图形 51" descr="书籍">
            <a:extLst>
              <a:ext uri="{FF2B5EF4-FFF2-40B4-BE49-F238E27FC236}">
                <a16:creationId xmlns:a16="http://schemas.microsoft.com/office/drawing/2014/main" id="{E251DD4C-31E1-644E-928C-120584E0BC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094180" y="3328842"/>
            <a:ext cx="419077" cy="419077"/>
          </a:xfrm>
          <a:prstGeom prst="rect">
            <a:avLst/>
          </a:prstGeom>
        </p:spPr>
      </p:pic>
      <p:pic>
        <p:nvPicPr>
          <p:cNvPr id="53" name="图形 52" descr="书籍">
            <a:extLst>
              <a:ext uri="{FF2B5EF4-FFF2-40B4-BE49-F238E27FC236}">
                <a16:creationId xmlns:a16="http://schemas.microsoft.com/office/drawing/2014/main" id="{D6C3E022-3CD6-6E41-A141-3091FFF9EE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1617" y="3318157"/>
            <a:ext cx="419077" cy="419077"/>
          </a:xfrm>
          <a:prstGeom prst="rect">
            <a:avLst/>
          </a:prstGeom>
        </p:spPr>
      </p:pic>
      <p:sp>
        <p:nvSpPr>
          <p:cNvPr id="39" name="页脚占位符 4">
            <a:extLst>
              <a:ext uri="{FF2B5EF4-FFF2-40B4-BE49-F238E27FC236}">
                <a16:creationId xmlns:a16="http://schemas.microsoft.com/office/drawing/2014/main" id="{E803AB08-9A26-B847-BA95-645DA546C9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35913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52505-6BAE-6B4C-BE7E-364054172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低资源利用率问题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43BE7B-2D16-994C-9C73-84C95DB9D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13B0B52F-62C8-BE40-906E-13B60959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3968" y="1271291"/>
            <a:ext cx="2133601" cy="582768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/>
              <a:t>优先级</a:t>
            </a:r>
            <a:r>
              <a:rPr kumimoji="1" lang="en-US" altLang="zh-CN" dirty="0"/>
              <a:t>0</a:t>
            </a:r>
            <a:r>
              <a:rPr kumimoji="1" lang="zh-CN" altLang="en-US" dirty="0"/>
              <a:t>（高）</a:t>
            </a:r>
            <a:endParaRPr kumimoji="1" lang="en-US" altLang="zh-CN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A795477-10D3-E84A-BF2A-2AB14D121950}"/>
              </a:ext>
            </a:extLst>
          </p:cNvPr>
          <p:cNvSpPr txBox="1">
            <a:spLocks/>
          </p:cNvSpPr>
          <p:nvPr/>
        </p:nvSpPr>
        <p:spPr>
          <a:xfrm>
            <a:off x="4265191" y="2063987"/>
            <a:ext cx="2133601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zh-CN" altLang="en-US" dirty="0"/>
              <a:t>优先级</a:t>
            </a:r>
            <a:r>
              <a:rPr kumimoji="1" lang="en-US" altLang="zh-CN" dirty="0"/>
              <a:t>1</a:t>
            </a:r>
            <a:r>
              <a:rPr kumimoji="1" lang="zh-CN" altLang="en-US" dirty="0"/>
              <a:t>（低）</a:t>
            </a:r>
            <a:endParaRPr kumimoji="1" lang="en-US" altLang="zh-CN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C0E6A1-5826-A446-8009-F1542375EC77}"/>
              </a:ext>
            </a:extLst>
          </p:cNvPr>
          <p:cNvGrpSpPr/>
          <p:nvPr/>
        </p:nvGrpSpPr>
        <p:grpSpPr>
          <a:xfrm>
            <a:off x="6816924" y="1968782"/>
            <a:ext cx="914400" cy="914400"/>
            <a:chOff x="3968174" y="2217839"/>
            <a:chExt cx="914400" cy="914400"/>
          </a:xfrm>
        </p:grpSpPr>
        <p:pic>
          <p:nvPicPr>
            <p:cNvPr id="9" name="图形 8" descr="男性形象">
              <a:extLst>
                <a:ext uri="{FF2B5EF4-FFF2-40B4-BE49-F238E27FC236}">
                  <a16:creationId xmlns:a16="http://schemas.microsoft.com/office/drawing/2014/main" id="{27D971F9-D990-A943-8AB2-B97CED1CE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D7C7531A-E49E-F343-921A-FCF1515DF319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6C7B33C5-A34A-EE46-A483-A83F6596B033}"/>
              </a:ext>
            </a:extLst>
          </p:cNvPr>
          <p:cNvGrpSpPr/>
          <p:nvPr/>
        </p:nvGrpSpPr>
        <p:grpSpPr>
          <a:xfrm>
            <a:off x="6818876" y="1105475"/>
            <a:ext cx="914400" cy="914400"/>
            <a:chOff x="5878583" y="1595505"/>
            <a:chExt cx="914400" cy="914400"/>
          </a:xfrm>
        </p:grpSpPr>
        <p:pic>
          <p:nvPicPr>
            <p:cNvPr id="12" name="图形 11" descr="女性形象">
              <a:extLst>
                <a:ext uri="{FF2B5EF4-FFF2-40B4-BE49-F238E27FC236}">
                  <a16:creationId xmlns:a16="http://schemas.microsoft.com/office/drawing/2014/main" id="{803CE6CA-C96F-9440-B22A-E34F5CC6A70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71F72B47-36A0-9345-8385-7D3C3A3B105E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55FBD8AD-C37D-6140-AC92-3B711DC08AA3}"/>
              </a:ext>
            </a:extLst>
          </p:cNvPr>
          <p:cNvGrpSpPr/>
          <p:nvPr/>
        </p:nvGrpSpPr>
        <p:grpSpPr>
          <a:xfrm>
            <a:off x="7910803" y="1968782"/>
            <a:ext cx="914400" cy="914400"/>
            <a:chOff x="3968174" y="2217839"/>
            <a:chExt cx="914400" cy="914400"/>
          </a:xfrm>
        </p:grpSpPr>
        <p:pic>
          <p:nvPicPr>
            <p:cNvPr id="15" name="图形 14" descr="男性形象">
              <a:extLst>
                <a:ext uri="{FF2B5EF4-FFF2-40B4-BE49-F238E27FC236}">
                  <a16:creationId xmlns:a16="http://schemas.microsoft.com/office/drawing/2014/main" id="{69A10E96-7742-B74A-A85D-2191262B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C410A14-4D01-8F40-8346-F616F331E29B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5361A20D-DA8D-8141-B59A-05B30653BAE4}"/>
              </a:ext>
            </a:extLst>
          </p:cNvPr>
          <p:cNvGrpSpPr/>
          <p:nvPr/>
        </p:nvGrpSpPr>
        <p:grpSpPr>
          <a:xfrm>
            <a:off x="7895930" y="1103012"/>
            <a:ext cx="914400" cy="914400"/>
            <a:chOff x="5878583" y="1595505"/>
            <a:chExt cx="914400" cy="914400"/>
          </a:xfrm>
        </p:grpSpPr>
        <p:pic>
          <p:nvPicPr>
            <p:cNvPr id="18" name="图形 17" descr="女性形象">
              <a:extLst>
                <a:ext uri="{FF2B5EF4-FFF2-40B4-BE49-F238E27FC236}">
                  <a16:creationId xmlns:a16="http://schemas.microsoft.com/office/drawing/2014/main" id="{640CC9B6-D549-0347-A6F2-601982AEF9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B1C6A4F-203A-4945-9894-FC598ADAF0B5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D</a:t>
              </a:r>
              <a:endParaRPr kumimoji="1" lang="zh-CN" altLang="en-US" b="1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9371CBE7-B03A-3B4A-8082-134EF20E6FF4}"/>
              </a:ext>
            </a:extLst>
          </p:cNvPr>
          <p:cNvGrpSpPr/>
          <p:nvPr/>
        </p:nvGrpSpPr>
        <p:grpSpPr>
          <a:xfrm>
            <a:off x="2194544" y="3302299"/>
            <a:ext cx="914400" cy="965540"/>
            <a:chOff x="2184748" y="3721596"/>
            <a:chExt cx="914400" cy="965540"/>
          </a:xfrm>
        </p:grpSpPr>
        <p:pic>
          <p:nvPicPr>
            <p:cNvPr id="22" name="图形 21" descr="用户">
              <a:extLst>
                <a:ext uri="{FF2B5EF4-FFF2-40B4-BE49-F238E27FC236}">
                  <a16:creationId xmlns:a16="http://schemas.microsoft.com/office/drawing/2014/main" id="{B35FB3CE-C1F9-5C41-995D-6C18747BA4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9DF6D02-3D55-5A41-9AA5-E977622D2F64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4DAFEC0B-71AE-3F42-A293-D645705AD14D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25" name="图形 24" descr="学位帽">
                <a:extLst>
                  <a:ext uri="{FF2B5EF4-FFF2-40B4-BE49-F238E27FC236}">
                    <a16:creationId xmlns:a16="http://schemas.microsoft.com/office/drawing/2014/main" id="{25FF2455-9D0A-4043-99D6-16D0B2F142C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8546D8B4-009A-4342-8852-8DAF6E0CDB88}"/>
              </a:ext>
            </a:extLst>
          </p:cNvPr>
          <p:cNvSpPr txBox="1"/>
          <p:nvPr/>
        </p:nvSpPr>
        <p:spPr>
          <a:xfrm>
            <a:off x="57188" y="1482993"/>
            <a:ext cx="3491171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b="1" dirty="0"/>
              <a:t>问题：</a:t>
            </a:r>
            <a:endParaRPr kumimoji="1" lang="en-US" altLang="zh-CN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多种资源（学霸和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书）</a:t>
            </a:r>
            <a:endParaRPr kumimoji="1" lang="en-US" altLang="zh-CN" dirty="0"/>
          </a:p>
          <a:p>
            <a:pPr algn="ctr">
              <a:lnSpc>
                <a:spcPct val="150000"/>
              </a:lnSpc>
            </a:pPr>
            <a:r>
              <a:rPr kumimoji="1" lang="zh-CN" altLang="en-US" dirty="0">
                <a:solidFill>
                  <a:srgbClr val="FF0000"/>
                </a:solidFill>
              </a:rPr>
              <a:t>没有同时利用</a:t>
            </a:r>
            <a:r>
              <a:rPr kumimoji="1" lang="zh-CN" altLang="en-US" dirty="0"/>
              <a:t>起来</a:t>
            </a:r>
            <a:endParaRPr kumimoji="1" lang="en-US" altLang="zh-CN" dirty="0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8C78A13-E6CF-AC46-8615-BD047BAE5CA8}"/>
              </a:ext>
            </a:extLst>
          </p:cNvPr>
          <p:cNvGrpSpPr/>
          <p:nvPr/>
        </p:nvGrpSpPr>
        <p:grpSpPr>
          <a:xfrm>
            <a:off x="3617887" y="3378418"/>
            <a:ext cx="368098" cy="504056"/>
            <a:chOff x="1151620" y="3869431"/>
            <a:chExt cx="2592288" cy="504056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D6C1F0DD-394F-C34F-87FA-193763416F9D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15732937-660A-A54C-B437-B77ACADD3EDB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3A23F85-3D86-DA46-AA3A-6D7DC30AAC03}"/>
              </a:ext>
            </a:extLst>
          </p:cNvPr>
          <p:cNvGrpSpPr/>
          <p:nvPr/>
        </p:nvGrpSpPr>
        <p:grpSpPr>
          <a:xfrm>
            <a:off x="3950003" y="3377606"/>
            <a:ext cx="368098" cy="504056"/>
            <a:chOff x="1151620" y="3869431"/>
            <a:chExt cx="2592288" cy="504056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A90BF112-88E3-F54E-AE3A-E499154ACC55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0C78BB90-6956-574A-8E04-11D1507F31EF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D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E1EF28D6-C0A9-ED46-9784-9149B92929C8}"/>
              </a:ext>
            </a:extLst>
          </p:cNvPr>
          <p:cNvGrpSpPr/>
          <p:nvPr/>
        </p:nvGrpSpPr>
        <p:grpSpPr>
          <a:xfrm>
            <a:off x="4281216" y="3378418"/>
            <a:ext cx="368098" cy="504056"/>
            <a:chOff x="1151620" y="3869431"/>
            <a:chExt cx="2592288" cy="504056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3902F94D-E755-144A-AB47-EDEEE5EC08C8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64DCE4C-6A52-9D44-85ED-6D1E18C1432B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717C8F54-C499-AA44-B33B-6264F5A41E1A}"/>
              </a:ext>
            </a:extLst>
          </p:cNvPr>
          <p:cNvGrpSpPr/>
          <p:nvPr/>
        </p:nvGrpSpPr>
        <p:grpSpPr>
          <a:xfrm>
            <a:off x="4618639" y="3377483"/>
            <a:ext cx="368098" cy="504056"/>
            <a:chOff x="1151620" y="3869431"/>
            <a:chExt cx="2592288" cy="504056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ADDD5ED0-41E0-7643-A9DF-FFEAD812FF7B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69C0D9E9-DB65-7E45-8405-F126EC9535CA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D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BD0BFBF3-F520-FF4A-A27F-F548D63D8C41}"/>
              </a:ext>
            </a:extLst>
          </p:cNvPr>
          <p:cNvGrpSpPr/>
          <p:nvPr/>
        </p:nvGrpSpPr>
        <p:grpSpPr>
          <a:xfrm>
            <a:off x="4956131" y="3375303"/>
            <a:ext cx="368098" cy="504056"/>
            <a:chOff x="1151620" y="3869431"/>
            <a:chExt cx="2592288" cy="504056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9D7075DC-681B-8345-BE13-B00CF68D9B69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24C52EB1-2E10-3A48-A6E4-A9E049F79601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B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6D948135-049E-CD4F-9A43-70DBB5D0D394}"/>
              </a:ext>
            </a:extLst>
          </p:cNvPr>
          <p:cNvGrpSpPr/>
          <p:nvPr/>
        </p:nvGrpSpPr>
        <p:grpSpPr>
          <a:xfrm>
            <a:off x="5288247" y="3374491"/>
            <a:ext cx="368098" cy="504056"/>
            <a:chOff x="1151620" y="3869431"/>
            <a:chExt cx="2592288" cy="504056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0CB89C22-B8E5-D643-8D8C-BCC8DF1420E0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8551A96-4397-2844-B360-C690533B8104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D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059C62C-34C6-694D-B3D3-93C869FC6616}"/>
              </a:ext>
            </a:extLst>
          </p:cNvPr>
          <p:cNvGrpSpPr/>
          <p:nvPr/>
        </p:nvGrpSpPr>
        <p:grpSpPr>
          <a:xfrm>
            <a:off x="5619460" y="3375303"/>
            <a:ext cx="368098" cy="504056"/>
            <a:chOff x="1151620" y="3869431"/>
            <a:chExt cx="2592288" cy="504056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0544944A-26A2-FE4F-B2A7-D433EA76C13F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C0F79134-3970-E748-B1AC-AEC5CF4D14C7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356FBB72-1475-1E41-B6F9-B0CB1F9FAC74}"/>
              </a:ext>
            </a:extLst>
          </p:cNvPr>
          <p:cNvGrpSpPr/>
          <p:nvPr/>
        </p:nvGrpSpPr>
        <p:grpSpPr>
          <a:xfrm>
            <a:off x="5956883" y="3374368"/>
            <a:ext cx="368098" cy="504056"/>
            <a:chOff x="1151620" y="3869431"/>
            <a:chExt cx="2592288" cy="504056"/>
          </a:xfrm>
        </p:grpSpPr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0160369A-00C2-7445-9156-FA4E9B7B216E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F9A36D4-41D7-0B49-BD51-38F050EAE8E5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191784A0-843F-A742-81C0-480A77A1DBFD}"/>
              </a:ext>
            </a:extLst>
          </p:cNvPr>
          <p:cNvGrpSpPr/>
          <p:nvPr/>
        </p:nvGrpSpPr>
        <p:grpSpPr>
          <a:xfrm>
            <a:off x="7227590" y="3396270"/>
            <a:ext cx="368098" cy="504056"/>
            <a:chOff x="1151620" y="3869431"/>
            <a:chExt cx="2592288" cy="504056"/>
          </a:xfrm>
        </p:grpSpPr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DC867AA-93D2-8E42-A9FD-120C01C36F02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E0F2F100-19B3-E047-BB7D-053FECB92A4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388D4655-AE66-F144-8867-B8115F23F3EF}"/>
              </a:ext>
            </a:extLst>
          </p:cNvPr>
          <p:cNvGrpSpPr/>
          <p:nvPr/>
        </p:nvGrpSpPr>
        <p:grpSpPr>
          <a:xfrm>
            <a:off x="8491588" y="3358432"/>
            <a:ext cx="368098" cy="504056"/>
            <a:chOff x="1151620" y="3869431"/>
            <a:chExt cx="2592288" cy="504056"/>
          </a:xfrm>
        </p:grpSpPr>
        <p:sp>
          <p:nvSpPr>
            <p:cNvPr id="57" name="矩形 56">
              <a:extLst>
                <a:ext uri="{FF2B5EF4-FFF2-40B4-BE49-F238E27FC236}">
                  <a16:creationId xmlns:a16="http://schemas.microsoft.com/office/drawing/2014/main" id="{481225C1-4C36-E04D-8EF1-AC663A48690E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id="{12441275-CEC9-5049-9DC8-9167D7C3AAD8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0E333258-E7B7-7A4A-BE07-BB2B52DE6816}"/>
              </a:ext>
            </a:extLst>
          </p:cNvPr>
          <p:cNvGrpSpPr/>
          <p:nvPr/>
        </p:nvGrpSpPr>
        <p:grpSpPr>
          <a:xfrm>
            <a:off x="5983643" y="4302793"/>
            <a:ext cx="1312087" cy="504056"/>
            <a:chOff x="1151620" y="3869431"/>
            <a:chExt cx="2592288" cy="50405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E80A2896-69C6-954D-A17E-F8742AD45007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DEB44E64-2527-A541-A9E5-C981736B099E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A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71" name="图形 70" descr="书籍">
            <a:extLst>
              <a:ext uri="{FF2B5EF4-FFF2-40B4-BE49-F238E27FC236}">
                <a16:creationId xmlns:a16="http://schemas.microsoft.com/office/drawing/2014/main" id="{9C5948FC-5141-6447-AE74-CDFE067F9DB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94544" y="4337104"/>
            <a:ext cx="914400" cy="914400"/>
          </a:xfrm>
          <a:prstGeom prst="rect">
            <a:avLst/>
          </a:prstGeom>
        </p:spPr>
      </p:pic>
      <p:grpSp>
        <p:nvGrpSpPr>
          <p:cNvPr id="72" name="组合 71">
            <a:extLst>
              <a:ext uri="{FF2B5EF4-FFF2-40B4-BE49-F238E27FC236}">
                <a16:creationId xmlns:a16="http://schemas.microsoft.com/office/drawing/2014/main" id="{D0FA152F-5F28-3F42-88BE-ED6AE231F428}"/>
              </a:ext>
            </a:extLst>
          </p:cNvPr>
          <p:cNvGrpSpPr/>
          <p:nvPr/>
        </p:nvGrpSpPr>
        <p:grpSpPr>
          <a:xfrm>
            <a:off x="7202945" y="4297767"/>
            <a:ext cx="1312087" cy="504056"/>
            <a:chOff x="1151620" y="3869431"/>
            <a:chExt cx="2592288" cy="504056"/>
          </a:xfrm>
        </p:grpSpPr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6316851F-53B0-7243-A028-2B276D06C7E0}"/>
                </a:ext>
              </a:extLst>
            </p:cNvPr>
            <p:cNvSpPr/>
            <p:nvPr/>
          </p:nvSpPr>
          <p:spPr>
            <a:xfrm>
              <a:off x="1259632" y="3869431"/>
              <a:ext cx="2376264" cy="504056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E7465D4E-478C-1948-AFE8-400A591183F9}"/>
                </a:ext>
              </a:extLst>
            </p:cNvPr>
            <p:cNvSpPr/>
            <p:nvPr/>
          </p:nvSpPr>
          <p:spPr>
            <a:xfrm>
              <a:off x="1151620" y="3869431"/>
              <a:ext cx="2592288" cy="284213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b="1" dirty="0">
                  <a:solidFill>
                    <a:schemeClr val="tx1"/>
                  </a:solidFill>
                </a:rPr>
                <a:t>C</a:t>
              </a:r>
              <a:endParaRPr kumimoji="1" lang="zh-CN" altLang="en-US" b="1" dirty="0">
                <a:solidFill>
                  <a:schemeClr val="tx1"/>
                </a:solidFill>
              </a:endParaRPr>
            </a:p>
          </p:txBody>
        </p:sp>
      </p:grpSp>
      <p:pic>
        <p:nvPicPr>
          <p:cNvPr id="76" name="图形 75" descr="书籍">
            <a:extLst>
              <a:ext uri="{FF2B5EF4-FFF2-40B4-BE49-F238E27FC236}">
                <a16:creationId xmlns:a16="http://schemas.microsoft.com/office/drawing/2014/main" id="{C9450BB7-6BB4-7B41-A109-ED5B025CBA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429940" y="2145832"/>
            <a:ext cx="419077" cy="419077"/>
          </a:xfrm>
          <a:prstGeom prst="rect">
            <a:avLst/>
          </a:prstGeom>
        </p:spPr>
      </p:pic>
      <p:pic>
        <p:nvPicPr>
          <p:cNvPr id="77" name="图形 76" descr="书籍">
            <a:extLst>
              <a:ext uri="{FF2B5EF4-FFF2-40B4-BE49-F238E27FC236}">
                <a16:creationId xmlns:a16="http://schemas.microsoft.com/office/drawing/2014/main" id="{0FAF14B0-7A1F-8941-9A83-20C50611ADD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47377" y="2135147"/>
            <a:ext cx="419077" cy="419077"/>
          </a:xfrm>
          <a:prstGeom prst="rect">
            <a:avLst/>
          </a:prstGeom>
        </p:spPr>
      </p:pic>
      <p:sp>
        <p:nvSpPr>
          <p:cNvPr id="63" name="页脚占位符 4">
            <a:extLst>
              <a:ext uri="{FF2B5EF4-FFF2-40B4-BE49-F238E27FC236}">
                <a16:creationId xmlns:a16="http://schemas.microsoft.com/office/drawing/2014/main" id="{D7A181C4-2AFB-564E-BB09-853083EEF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8359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57D2B6-89B7-F845-8792-541586B5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思考：优先级的选取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466D49-2FA6-114E-AAB7-6ECEA6840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什么样的任务应该有高优先级？</a:t>
            </a:r>
          </a:p>
          <a:p>
            <a:pPr lvl="1"/>
            <a:r>
              <a:rPr kumimoji="1" lang="en-US" altLang="zh-CN" dirty="0"/>
              <a:t>I/O</a:t>
            </a:r>
            <a:r>
              <a:rPr kumimoji="1" lang="zh-CN" altLang="en-US" dirty="0"/>
              <a:t>密集型任务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如：用户交互、磁盘访问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为了更高的</a:t>
            </a:r>
            <a:r>
              <a:rPr kumimoji="1" lang="en-US" altLang="zh-CN" dirty="0"/>
              <a:t>I/O</a:t>
            </a:r>
            <a:r>
              <a:rPr kumimoji="1" lang="zh-CN" altLang="en-US" dirty="0"/>
              <a:t>资源利用率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时延要求极高（必须在短时间内完成）的任务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如：音频播放、游戏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用户主动设置的重要任务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65F301-DA2C-834B-B737-B07C9E69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BF5014-7557-7944-B976-BAEEC48CE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193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954EFCE-AFAF-4D4E-846B-6DA25D471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zh-CN" altLang="en-US" dirty="0"/>
              <a:t>操作系统中的工作场景是</a:t>
            </a:r>
            <a:r>
              <a:rPr kumimoji="1" lang="zh-CN" altLang="en-US" dirty="0">
                <a:solidFill>
                  <a:srgbClr val="C00000"/>
                </a:solidFill>
              </a:rPr>
              <a:t>动态变化</a:t>
            </a:r>
            <a:r>
              <a:rPr kumimoji="1" lang="zh-CN" altLang="en-US" dirty="0"/>
              <a:t>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静态设置的优先级可能导致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资源利用率低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一个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密集型可能动态转变为</a:t>
            </a:r>
            <a:r>
              <a:rPr kumimoji="1" lang="en-US" altLang="zh-CN" dirty="0"/>
              <a:t>I/O</a:t>
            </a:r>
            <a:r>
              <a:rPr kumimoji="1" lang="zh-CN" altLang="en-US" dirty="0"/>
              <a:t>密集型任务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优先级反转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</a:t>
            </a:r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所以，优先级需要</a:t>
            </a:r>
            <a:r>
              <a:rPr kumimoji="1" lang="zh-CN" altLang="en-US" dirty="0">
                <a:solidFill>
                  <a:schemeClr val="accent1"/>
                </a:solidFill>
              </a:rPr>
              <a:t>动态调整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33297E9-55FE-9945-988E-A39D15BC8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29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4231A2F-BD9D-5946-ABFA-1939134A0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优先级的动态调整</a:t>
            </a:r>
          </a:p>
        </p:txBody>
      </p:sp>
    </p:spTree>
    <p:extLst>
      <p:ext uri="{BB962C8B-B14F-4D97-AF65-F5344CB8AC3E}">
        <p14:creationId xmlns:p14="http://schemas.microsoft.com/office/powerpoint/2010/main" val="17620084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53D1E84-B4F6-734B-A546-7E409B5D0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79296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任务都需要独占共享资源</a:t>
            </a:r>
            <a:endParaRPr kumimoji="1" lang="en-US" altLang="zh-CN" sz="2400" dirty="0"/>
          </a:p>
          <a:p>
            <a:pPr lvl="1"/>
            <a:r>
              <a:rPr kumimoji="1" lang="zh-CN" altLang="en-US" sz="2200" dirty="0"/>
              <a:t>共享资源</a:t>
            </a:r>
            <a:endParaRPr kumimoji="1" lang="en-US" altLang="zh-CN" sz="2200" dirty="0"/>
          </a:p>
          <a:p>
            <a:pPr lvl="2"/>
            <a:r>
              <a:rPr kumimoji="1" lang="zh-CN" altLang="en-US" sz="1800" dirty="0"/>
              <a:t>存储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硬件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OS</a:t>
            </a:r>
            <a:r>
              <a:rPr kumimoji="1" lang="zh-CN" altLang="en-US" sz="1800" dirty="0"/>
              <a:t>书</a:t>
            </a:r>
            <a:endParaRPr kumimoji="1" lang="en-US" altLang="zh-CN" sz="1800" dirty="0"/>
          </a:p>
          <a:p>
            <a:pPr lvl="2"/>
            <a:r>
              <a:rPr kumimoji="1" lang="en-US" altLang="zh-CN" sz="1800" dirty="0"/>
              <a:t>…</a:t>
            </a:r>
          </a:p>
          <a:p>
            <a:pPr lvl="1"/>
            <a:r>
              <a:rPr kumimoji="1" lang="zh-CN" altLang="en-US" sz="2000" dirty="0"/>
              <a:t>通常使用信号量、互斥锁实现独占（后续课程讲解）</a:t>
            </a:r>
            <a:endParaRPr kumimoji="1" lang="en-US" altLang="zh-CN" sz="2000" dirty="0"/>
          </a:p>
          <a:p>
            <a:r>
              <a:rPr kumimoji="1" lang="zh-CN" altLang="en-US" sz="2200" dirty="0"/>
              <a:t>低优先任务占用资源</a:t>
            </a:r>
            <a:r>
              <a:rPr kumimoji="1" lang="en-US" altLang="zh-CN" sz="2200" dirty="0"/>
              <a:t> -&gt; </a:t>
            </a:r>
            <a:r>
              <a:rPr kumimoji="1" lang="zh-CN" altLang="en-US" sz="2200" dirty="0"/>
              <a:t>高优先级任务被阻塞</a:t>
            </a:r>
            <a:endParaRPr kumimoji="1" lang="en-US" altLang="zh-CN" sz="2200" dirty="0"/>
          </a:p>
          <a:p>
            <a:pPr lvl="1"/>
            <a:endParaRPr kumimoji="1" lang="en-US" altLang="zh-CN" sz="2000" dirty="0"/>
          </a:p>
          <a:p>
            <a:pPr lvl="1"/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A0012B2-BB10-FB40-A7B4-13034378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DBFC18F-4B50-284F-ADD7-4BC1087C4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静态优先级的问题：优先级反转</a:t>
            </a:r>
          </a:p>
        </p:txBody>
      </p:sp>
    </p:spTree>
    <p:extLst>
      <p:ext uri="{BB962C8B-B14F-4D97-AF65-F5344CB8AC3E}">
        <p14:creationId xmlns:p14="http://schemas.microsoft.com/office/powerpoint/2010/main" val="38948042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A7F97-959D-B24F-BAFD-A4C14480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静态优先级的问题：优先级反转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246EE-E69F-C74D-A4F2-FF7BCC57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0F9FA2-1C70-1444-B829-178B85F15940}"/>
              </a:ext>
            </a:extLst>
          </p:cNvPr>
          <p:cNvSpPr txBox="1"/>
          <p:nvPr/>
        </p:nvSpPr>
        <p:spPr>
          <a:xfrm>
            <a:off x="4968523" y="4090727"/>
            <a:ext cx="2307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3.B</a:t>
            </a:r>
            <a:r>
              <a:rPr kumimoji="1" lang="zh-CN" altLang="en-US" dirty="0"/>
              <a:t>优先级高于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可以向学霸学习</a:t>
            </a:r>
            <a:endParaRPr kumimoji="1" lang="en-US" altLang="zh-CN" dirty="0"/>
          </a:p>
        </p:txBody>
      </p: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5E0FD848-ADB4-A540-9A2B-22BE8D6A6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2A3FE33-41A8-1A47-B1C8-08A6D5586229}"/>
              </a:ext>
            </a:extLst>
          </p:cNvPr>
          <p:cNvSpPr txBox="1"/>
          <p:nvPr/>
        </p:nvSpPr>
        <p:spPr>
          <a:xfrm>
            <a:off x="111134" y="1540928"/>
            <a:ext cx="2841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/>
              <a:t>问题：</a:t>
            </a:r>
            <a:endParaRPr kumimoji="1" lang="en-US" altLang="zh-CN" b="1" dirty="0"/>
          </a:p>
          <a:p>
            <a:pPr algn="ctr"/>
            <a:r>
              <a:rPr kumimoji="1" lang="en-US" altLang="zh-CN" dirty="0"/>
              <a:t>A</a:t>
            </a:r>
            <a:r>
              <a:rPr kumimoji="1" lang="zh-CN" altLang="en-US" dirty="0"/>
              <a:t>被</a:t>
            </a:r>
            <a:r>
              <a:rPr kumimoji="1" lang="en-US" altLang="zh-CN" dirty="0"/>
              <a:t>C</a:t>
            </a:r>
            <a:r>
              <a:rPr kumimoji="1" lang="zh-CN" altLang="en-US" dirty="0"/>
              <a:t>占有的资源</a:t>
            </a:r>
            <a:r>
              <a:rPr kumimoji="1" lang="zh-CN" altLang="en-US" dirty="0">
                <a:solidFill>
                  <a:schemeClr val="accent1"/>
                </a:solidFill>
              </a:rPr>
              <a:t>阻塞</a:t>
            </a:r>
            <a:endParaRPr kumimoji="1" lang="en-US" altLang="zh-CN" dirty="0">
              <a:solidFill>
                <a:schemeClr val="accent1"/>
              </a:solidFill>
            </a:endParaRPr>
          </a:p>
          <a:p>
            <a:pPr algn="ctr"/>
            <a:r>
              <a:rPr kumimoji="1" lang="zh-CN" altLang="en-US" dirty="0"/>
              <a:t>优先级较低的</a:t>
            </a:r>
            <a:r>
              <a:rPr kumimoji="1" lang="en-US" altLang="zh-CN" dirty="0"/>
              <a:t>B</a:t>
            </a:r>
            <a:r>
              <a:rPr kumimoji="1" lang="zh-CN" altLang="en-US" dirty="0"/>
              <a:t>先于</a:t>
            </a:r>
            <a:r>
              <a:rPr kumimoji="1" lang="en-US" altLang="zh-CN" dirty="0"/>
              <a:t>A</a:t>
            </a:r>
            <a:r>
              <a:rPr kumimoji="1" lang="zh-CN" altLang="en-US" dirty="0"/>
              <a:t>学习</a:t>
            </a:r>
            <a:endParaRPr kumimoji="1" lang="en-US" altLang="zh-CN" dirty="0"/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3BB7959-B124-AD44-B805-590A2C66B08D}"/>
              </a:ext>
            </a:extLst>
          </p:cNvPr>
          <p:cNvCxnSpPr>
            <a:cxnSpLocks/>
          </p:cNvCxnSpPr>
          <p:nvPr/>
        </p:nvCxnSpPr>
        <p:spPr>
          <a:xfrm>
            <a:off x="3266820" y="2160892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53C09A80-C26C-594C-8F6A-B3EC8910B309}"/>
              </a:ext>
            </a:extLst>
          </p:cNvPr>
          <p:cNvCxnSpPr>
            <a:cxnSpLocks/>
          </p:cNvCxnSpPr>
          <p:nvPr/>
        </p:nvCxnSpPr>
        <p:spPr>
          <a:xfrm>
            <a:off x="5120230" y="214136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87A6BC7-0E14-F044-86BF-C94353A7D284}"/>
              </a:ext>
            </a:extLst>
          </p:cNvPr>
          <p:cNvCxnSpPr>
            <a:cxnSpLocks/>
          </p:cNvCxnSpPr>
          <p:nvPr/>
        </p:nvCxnSpPr>
        <p:spPr>
          <a:xfrm>
            <a:off x="7010400" y="209165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14A0634-F94D-8848-8195-AE6DA6369057}"/>
              </a:ext>
            </a:extLst>
          </p:cNvPr>
          <p:cNvSpPr/>
          <p:nvPr/>
        </p:nvSpPr>
        <p:spPr>
          <a:xfrm>
            <a:off x="6938516" y="2359097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9BF7DDE-FB2D-8940-95A2-4B9E93FFD36D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449832" y="2701747"/>
            <a:ext cx="3554903" cy="33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>
            <a:extLst>
              <a:ext uri="{FF2B5EF4-FFF2-40B4-BE49-F238E27FC236}">
                <a16:creationId xmlns:a16="http://schemas.microsoft.com/office/drawing/2014/main" id="{4DE9246C-3495-A042-A757-429BBEA40EE0}"/>
              </a:ext>
            </a:extLst>
          </p:cNvPr>
          <p:cNvSpPr/>
          <p:nvPr/>
        </p:nvSpPr>
        <p:spPr>
          <a:xfrm>
            <a:off x="1476453" y="2728157"/>
            <a:ext cx="16722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2.</a:t>
            </a:r>
            <a:r>
              <a:rPr kumimoji="1" lang="zh-CN" altLang="en-US" dirty="0"/>
              <a:t> 抢占</a:t>
            </a:r>
            <a:r>
              <a:rPr kumimoji="1" lang="en-US" altLang="zh-CN" dirty="0"/>
              <a:t>C</a:t>
            </a:r>
          </a:p>
          <a:p>
            <a:pPr algn="ctr"/>
            <a:r>
              <a:rPr kumimoji="1" lang="zh-CN" altLang="en-US" dirty="0"/>
              <a:t>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书失败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等待</a:t>
            </a:r>
            <a:endParaRPr kumimoji="1" lang="en-US" altLang="zh-CN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0DA8AF84-4136-A441-8506-7188587950B9}"/>
              </a:ext>
            </a:extLst>
          </p:cNvPr>
          <p:cNvSpPr/>
          <p:nvPr/>
        </p:nvSpPr>
        <p:spPr>
          <a:xfrm>
            <a:off x="7060228" y="2340864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1.</a:t>
            </a:r>
            <a:r>
              <a:rPr kumimoji="1" lang="zh-CN" altLang="en-US" dirty="0"/>
              <a:t>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书成功</a:t>
            </a:r>
            <a:endParaRPr kumimoji="1" lang="en-US" altLang="zh-CN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8E99DF24-62F5-8F41-B6BB-31D784AD595C}"/>
              </a:ext>
            </a:extLst>
          </p:cNvPr>
          <p:cNvSpPr/>
          <p:nvPr/>
        </p:nvSpPr>
        <p:spPr>
          <a:xfrm>
            <a:off x="3218054" y="3046215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0F782F4-F4C9-3947-BF41-2AA928069984}"/>
              </a:ext>
            </a:extLst>
          </p:cNvPr>
          <p:cNvSpPr/>
          <p:nvPr/>
        </p:nvSpPr>
        <p:spPr>
          <a:xfrm>
            <a:off x="5034881" y="3548249"/>
            <a:ext cx="185152" cy="14051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52DB7D9-C8B8-E145-A913-3921D812DD72}"/>
              </a:ext>
            </a:extLst>
          </p:cNvPr>
          <p:cNvCxnSpPr>
            <a:cxnSpLocks/>
          </p:cNvCxnSpPr>
          <p:nvPr/>
        </p:nvCxnSpPr>
        <p:spPr>
          <a:xfrm>
            <a:off x="3444167" y="3416010"/>
            <a:ext cx="1493052" cy="132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3091D22-A64B-4A46-8D5E-611366D42823}"/>
              </a:ext>
            </a:extLst>
          </p:cNvPr>
          <p:cNvSpPr txBox="1"/>
          <p:nvPr/>
        </p:nvSpPr>
        <p:spPr>
          <a:xfrm>
            <a:off x="6722829" y="806062"/>
            <a:ext cx="217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优先级：</a:t>
            </a:r>
            <a:r>
              <a:rPr kumimoji="1" lang="en-US" altLang="zh-CN" dirty="0"/>
              <a:t>A&gt;B&gt;C</a:t>
            </a:r>
          </a:p>
        </p:txBody>
      </p: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B6767D74-74E3-7C4E-B668-D0C85D4236A2}"/>
              </a:ext>
            </a:extLst>
          </p:cNvPr>
          <p:cNvGrpSpPr/>
          <p:nvPr/>
        </p:nvGrpSpPr>
        <p:grpSpPr>
          <a:xfrm>
            <a:off x="4715612" y="1197164"/>
            <a:ext cx="914400" cy="914400"/>
            <a:chOff x="3968174" y="2217839"/>
            <a:chExt cx="914400" cy="914400"/>
          </a:xfrm>
        </p:grpSpPr>
        <p:pic>
          <p:nvPicPr>
            <p:cNvPr id="65" name="图形 64" descr="男性形象">
              <a:extLst>
                <a:ext uri="{FF2B5EF4-FFF2-40B4-BE49-F238E27FC236}">
                  <a16:creationId xmlns:a16="http://schemas.microsoft.com/office/drawing/2014/main" id="{9E951FC0-349C-A84E-9E46-97A74BE8B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2F86E008-668C-5E43-8B8C-AD0E6AD5F24F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A85433FD-5E74-354D-B87F-939610BFB02B}"/>
              </a:ext>
            </a:extLst>
          </p:cNvPr>
          <p:cNvGrpSpPr/>
          <p:nvPr/>
        </p:nvGrpSpPr>
        <p:grpSpPr>
          <a:xfrm>
            <a:off x="2772861" y="1193947"/>
            <a:ext cx="914400" cy="914400"/>
            <a:chOff x="5878583" y="1595505"/>
            <a:chExt cx="914400" cy="914400"/>
          </a:xfrm>
        </p:grpSpPr>
        <p:pic>
          <p:nvPicPr>
            <p:cNvPr id="68" name="图形 67" descr="女性形象">
              <a:extLst>
                <a:ext uri="{FF2B5EF4-FFF2-40B4-BE49-F238E27FC236}">
                  <a16:creationId xmlns:a16="http://schemas.microsoft.com/office/drawing/2014/main" id="{EAC0D675-42A9-4841-9DCD-B2ABB1BF6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1E821615-6F97-2A4E-BB2A-96D73F0724EA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D66E7F35-4274-4846-9F7E-F5DC8E713044}"/>
              </a:ext>
            </a:extLst>
          </p:cNvPr>
          <p:cNvGrpSpPr/>
          <p:nvPr/>
        </p:nvGrpSpPr>
        <p:grpSpPr>
          <a:xfrm>
            <a:off x="6553200" y="1220785"/>
            <a:ext cx="914400" cy="914400"/>
            <a:chOff x="3968174" y="2217839"/>
            <a:chExt cx="914400" cy="914400"/>
          </a:xfrm>
        </p:grpSpPr>
        <p:pic>
          <p:nvPicPr>
            <p:cNvPr id="71" name="图形 70" descr="男性形象">
              <a:extLst>
                <a:ext uri="{FF2B5EF4-FFF2-40B4-BE49-F238E27FC236}">
                  <a16:creationId xmlns:a16="http://schemas.microsoft.com/office/drawing/2014/main" id="{F6C773B8-A10E-7140-87FF-C4EA5E94E5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A4123787-247A-0F48-B2FF-88F2760D34AC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pic>
        <p:nvPicPr>
          <p:cNvPr id="73" name="图形 72" descr="书籍">
            <a:extLst>
              <a:ext uri="{FF2B5EF4-FFF2-40B4-BE49-F238E27FC236}">
                <a16:creationId xmlns:a16="http://schemas.microsoft.com/office/drawing/2014/main" id="{85E33074-0936-ED44-AE4A-39E89AD63F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1673" y="1405185"/>
            <a:ext cx="285927" cy="285927"/>
          </a:xfrm>
          <a:prstGeom prst="rect">
            <a:avLst/>
          </a:prstGeom>
        </p:spPr>
      </p:pic>
      <p:pic>
        <p:nvPicPr>
          <p:cNvPr id="74" name="图形 73" descr="书籍">
            <a:extLst>
              <a:ext uri="{FF2B5EF4-FFF2-40B4-BE49-F238E27FC236}">
                <a16:creationId xmlns:a16="http://schemas.microsoft.com/office/drawing/2014/main" id="{327D94BF-D064-9D40-9D8E-FC196F7EB27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86035" y="1386963"/>
            <a:ext cx="285927" cy="285927"/>
          </a:xfrm>
          <a:prstGeom prst="rect">
            <a:avLst/>
          </a:prstGeom>
        </p:spPr>
      </p:pic>
      <p:pic>
        <p:nvPicPr>
          <p:cNvPr id="75" name="图形 74" descr="锁">
            <a:extLst>
              <a:ext uri="{FF2B5EF4-FFF2-40B4-BE49-F238E27FC236}">
                <a16:creationId xmlns:a16="http://schemas.microsoft.com/office/drawing/2014/main" id="{CD76063A-5AC5-4544-8F27-E8CAB8956B9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17258" y="2226662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8839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A7F97-959D-B24F-BAFD-A4C14480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16" y="229590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解决方法：动态优先级继承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9246EE-E69F-C74D-A4F2-FF7BCC573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A0F9FA2-1C70-1444-B829-178B85F15940}"/>
              </a:ext>
            </a:extLst>
          </p:cNvPr>
          <p:cNvSpPr txBox="1"/>
          <p:nvPr/>
        </p:nvSpPr>
        <p:spPr>
          <a:xfrm>
            <a:off x="7006278" y="3736676"/>
            <a:ext cx="1881418" cy="7770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dirty="0"/>
              <a:t>3.</a:t>
            </a:r>
            <a:r>
              <a:rPr kumimoji="1" lang="zh-CN" altLang="en-US" dirty="0"/>
              <a:t>归还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</a:t>
            </a:r>
            <a:endParaRPr kumimoji="1" lang="en-US" altLang="zh-CN" dirty="0"/>
          </a:p>
          <a:p>
            <a:pPr algn="ctr">
              <a:lnSpc>
                <a:spcPct val="130000"/>
              </a:lnSpc>
            </a:pPr>
            <a:r>
              <a:rPr kumimoji="1" lang="zh-CN" altLang="en-US" dirty="0"/>
              <a:t>返回优先级</a:t>
            </a:r>
            <a:endParaRPr kumimoji="1" lang="en-US" altLang="zh-CN" dirty="0"/>
          </a:p>
        </p:txBody>
      </p:sp>
      <p:sp>
        <p:nvSpPr>
          <p:cNvPr id="22" name="页脚占位符 4">
            <a:extLst>
              <a:ext uri="{FF2B5EF4-FFF2-40B4-BE49-F238E27FC236}">
                <a16:creationId xmlns:a16="http://schemas.microsoft.com/office/drawing/2014/main" id="{5E0FD848-ADB4-A540-9A2B-22BE8D6A6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02BC2C8-2A80-084F-9594-AF65C517EDA1}"/>
              </a:ext>
            </a:extLst>
          </p:cNvPr>
          <p:cNvSpPr txBox="1"/>
          <p:nvPr/>
        </p:nvSpPr>
        <p:spPr>
          <a:xfrm>
            <a:off x="6722829" y="697260"/>
            <a:ext cx="217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优先级：</a:t>
            </a:r>
            <a:r>
              <a:rPr kumimoji="1" lang="en-US" altLang="zh-CN" dirty="0"/>
              <a:t>A&gt;B&gt;C</a:t>
            </a:r>
          </a:p>
        </p:txBody>
      </p:sp>
      <p:cxnSp>
        <p:nvCxnSpPr>
          <p:cNvPr id="19" name="直线连接符 18">
            <a:extLst>
              <a:ext uri="{FF2B5EF4-FFF2-40B4-BE49-F238E27FC236}">
                <a16:creationId xmlns:a16="http://schemas.microsoft.com/office/drawing/2014/main" id="{43BB7959-B124-AD44-B805-590A2C66B08D}"/>
              </a:ext>
            </a:extLst>
          </p:cNvPr>
          <p:cNvCxnSpPr>
            <a:cxnSpLocks/>
          </p:cNvCxnSpPr>
          <p:nvPr/>
        </p:nvCxnSpPr>
        <p:spPr>
          <a:xfrm>
            <a:off x="3266820" y="2160892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53C09A80-C26C-594C-8F6A-B3EC8910B309}"/>
              </a:ext>
            </a:extLst>
          </p:cNvPr>
          <p:cNvCxnSpPr>
            <a:cxnSpLocks/>
          </p:cNvCxnSpPr>
          <p:nvPr/>
        </p:nvCxnSpPr>
        <p:spPr>
          <a:xfrm>
            <a:off x="5120230" y="214136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连接符 33">
            <a:extLst>
              <a:ext uri="{FF2B5EF4-FFF2-40B4-BE49-F238E27FC236}">
                <a16:creationId xmlns:a16="http://schemas.microsoft.com/office/drawing/2014/main" id="{387A6BC7-0E14-F044-86BF-C94353A7D284}"/>
              </a:ext>
            </a:extLst>
          </p:cNvPr>
          <p:cNvCxnSpPr>
            <a:cxnSpLocks/>
          </p:cNvCxnSpPr>
          <p:nvPr/>
        </p:nvCxnSpPr>
        <p:spPr>
          <a:xfrm>
            <a:off x="7010400" y="2091650"/>
            <a:ext cx="0" cy="3037480"/>
          </a:xfrm>
          <a:prstGeom prst="line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114A0634-F94D-8848-8195-AE6DA6369057}"/>
              </a:ext>
            </a:extLst>
          </p:cNvPr>
          <p:cNvSpPr/>
          <p:nvPr/>
        </p:nvSpPr>
        <p:spPr>
          <a:xfrm>
            <a:off x="6938516" y="2359097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39BF7DDE-FB2D-8940-95A2-4B9E93FFD36D}"/>
              </a:ext>
            </a:extLst>
          </p:cNvPr>
          <p:cNvCxnSpPr>
            <a:cxnSpLocks/>
            <a:stCxn id="35" idx="2"/>
          </p:cNvCxnSpPr>
          <p:nvPr/>
        </p:nvCxnSpPr>
        <p:spPr>
          <a:xfrm flipH="1">
            <a:off x="3449832" y="2701747"/>
            <a:ext cx="3554903" cy="33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8E99DF24-62F5-8F41-B6BB-31D784AD595C}"/>
              </a:ext>
            </a:extLst>
          </p:cNvPr>
          <p:cNvSpPr/>
          <p:nvPr/>
        </p:nvSpPr>
        <p:spPr>
          <a:xfrm>
            <a:off x="3218054" y="3046215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552DB7D9-C8B8-E145-A913-3921D812DD72}"/>
              </a:ext>
            </a:extLst>
          </p:cNvPr>
          <p:cNvCxnSpPr>
            <a:cxnSpLocks/>
          </p:cNvCxnSpPr>
          <p:nvPr/>
        </p:nvCxnSpPr>
        <p:spPr>
          <a:xfrm>
            <a:off x="3444167" y="3416010"/>
            <a:ext cx="3367553" cy="244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45591438-3346-C041-9962-82B6D1410358}"/>
              </a:ext>
            </a:extLst>
          </p:cNvPr>
          <p:cNvSpPr txBox="1"/>
          <p:nvPr/>
        </p:nvSpPr>
        <p:spPr>
          <a:xfrm>
            <a:off x="-7422" y="1674607"/>
            <a:ext cx="3159917" cy="1137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b="1" dirty="0"/>
              <a:t>解决方案：</a:t>
            </a:r>
            <a:endParaRPr kumimoji="1" lang="en-US" altLang="zh-CN" b="1" dirty="0"/>
          </a:p>
          <a:p>
            <a:pPr algn="ctr">
              <a:lnSpc>
                <a:spcPct val="130000"/>
              </a:lnSpc>
            </a:pPr>
            <a:r>
              <a:rPr kumimoji="1" lang="en-US" altLang="zh-CN" dirty="0">
                <a:solidFill>
                  <a:schemeClr val="accent1"/>
                </a:solidFill>
              </a:rPr>
              <a:t>A</a:t>
            </a:r>
            <a:r>
              <a:rPr kumimoji="1" lang="zh-CN" altLang="en-US" dirty="0">
                <a:solidFill>
                  <a:schemeClr val="accent1"/>
                </a:solidFill>
              </a:rPr>
              <a:t>暂时将优先级转移</a:t>
            </a:r>
            <a:r>
              <a:rPr kumimoji="1" lang="zh-CN" altLang="en-US" dirty="0"/>
              <a:t>给</a:t>
            </a:r>
            <a:r>
              <a:rPr kumimoji="1" lang="en-US" altLang="zh-CN" dirty="0"/>
              <a:t>C</a:t>
            </a:r>
          </a:p>
          <a:p>
            <a:pPr algn="ctr">
              <a:lnSpc>
                <a:spcPct val="130000"/>
              </a:lnSpc>
            </a:pPr>
            <a:r>
              <a:rPr kumimoji="1" lang="zh-CN" altLang="en-US" dirty="0"/>
              <a:t>让</a:t>
            </a:r>
            <a:r>
              <a:rPr kumimoji="1" lang="en-US" altLang="zh-CN" dirty="0"/>
              <a:t>C</a:t>
            </a:r>
            <a:r>
              <a:rPr kumimoji="1" lang="zh-CN" altLang="en-US" dirty="0"/>
              <a:t>尽快归还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</a:t>
            </a:r>
            <a:endParaRPr kumimoji="1" lang="en-US" altLang="zh-CN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BDB37B3-ED02-274E-ABC1-BDD1AD98E80E}"/>
              </a:ext>
            </a:extLst>
          </p:cNvPr>
          <p:cNvSpPr/>
          <p:nvPr/>
        </p:nvSpPr>
        <p:spPr>
          <a:xfrm>
            <a:off x="6949128" y="3652754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12FAB4F-0FDE-4E4A-B73D-B4BC50D4CC61}"/>
              </a:ext>
            </a:extLst>
          </p:cNvPr>
          <p:cNvSpPr/>
          <p:nvPr/>
        </p:nvSpPr>
        <p:spPr>
          <a:xfrm>
            <a:off x="3228752" y="4451464"/>
            <a:ext cx="132437" cy="3426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183672FB-9DE1-E347-BBD5-4FCBBA9DC89E}"/>
              </a:ext>
            </a:extLst>
          </p:cNvPr>
          <p:cNvCxnSpPr>
            <a:cxnSpLocks/>
          </p:cNvCxnSpPr>
          <p:nvPr/>
        </p:nvCxnSpPr>
        <p:spPr>
          <a:xfrm flipH="1">
            <a:off x="3315587" y="3974070"/>
            <a:ext cx="3554903" cy="334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C15F2C53-8215-9849-AD31-A0D55D92015D}"/>
              </a:ext>
            </a:extLst>
          </p:cNvPr>
          <p:cNvSpPr/>
          <p:nvPr/>
        </p:nvSpPr>
        <p:spPr>
          <a:xfrm>
            <a:off x="7099875" y="2497460"/>
            <a:ext cx="18646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/>
              <a:t>1.</a:t>
            </a:r>
            <a:r>
              <a:rPr kumimoji="1" lang="zh-CN" altLang="en-US" dirty="0"/>
              <a:t>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书成功</a:t>
            </a:r>
            <a:endParaRPr kumimoji="1" lang="en-US" altLang="zh-CN" dirty="0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F5E7822-7491-D940-B7EF-04A680F5AF16}"/>
              </a:ext>
            </a:extLst>
          </p:cNvPr>
          <p:cNvSpPr/>
          <p:nvPr/>
        </p:nvSpPr>
        <p:spPr>
          <a:xfrm>
            <a:off x="1011620" y="2967404"/>
            <a:ext cx="2198038" cy="7770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dirty="0"/>
              <a:t>2.</a:t>
            </a:r>
            <a:r>
              <a:rPr kumimoji="1" lang="zh-CN" altLang="en-US" dirty="0"/>
              <a:t> 抢占</a:t>
            </a:r>
            <a:r>
              <a:rPr kumimoji="1" lang="en-US" altLang="zh-CN" dirty="0"/>
              <a:t>C</a:t>
            </a:r>
          </a:p>
          <a:p>
            <a:pPr algn="ctr">
              <a:lnSpc>
                <a:spcPct val="130000"/>
              </a:lnSpc>
            </a:pPr>
            <a:r>
              <a:rPr kumimoji="1" lang="zh-CN" altLang="en-US" dirty="0">
                <a:highlight>
                  <a:srgbClr val="FFFF00"/>
                </a:highlight>
              </a:rPr>
              <a:t>动态转移优先级给</a:t>
            </a:r>
            <a:r>
              <a:rPr kumimoji="1" lang="en-US" altLang="zh-CN" dirty="0">
                <a:highlight>
                  <a:srgbClr val="FFFF00"/>
                </a:highlight>
              </a:rPr>
              <a:t>C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0A8AD3C-A7E5-C24E-8FF7-E1D7B8AE0DD5}"/>
              </a:ext>
            </a:extLst>
          </p:cNvPr>
          <p:cNvSpPr/>
          <p:nvPr/>
        </p:nvSpPr>
        <p:spPr>
          <a:xfrm>
            <a:off x="1187624" y="4240732"/>
            <a:ext cx="1928733" cy="7770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en-US" altLang="zh-CN" dirty="0"/>
              <a:t>4.</a:t>
            </a:r>
            <a:r>
              <a:rPr kumimoji="1" lang="zh-CN" altLang="en-US" dirty="0"/>
              <a:t> 申请</a:t>
            </a:r>
            <a:r>
              <a:rPr kumimoji="1" lang="en-US" altLang="zh-CN" dirty="0"/>
              <a:t>OS</a:t>
            </a:r>
            <a:r>
              <a:rPr kumimoji="1" lang="zh-CN" altLang="en-US" dirty="0"/>
              <a:t>书成功</a:t>
            </a:r>
            <a:endParaRPr kumimoji="1" lang="en-US" altLang="zh-CN" dirty="0"/>
          </a:p>
          <a:p>
            <a:pPr algn="ctr">
              <a:lnSpc>
                <a:spcPct val="130000"/>
              </a:lnSpc>
            </a:pPr>
            <a:r>
              <a:rPr kumimoji="1" lang="zh-CN" altLang="en-US" dirty="0"/>
              <a:t>继续学习</a:t>
            </a:r>
            <a:endParaRPr kumimoji="1" lang="en-US" altLang="zh-CN" dirty="0"/>
          </a:p>
        </p:txBody>
      </p:sp>
      <p:pic>
        <p:nvPicPr>
          <p:cNvPr id="58" name="图形 57" descr="锁">
            <a:extLst>
              <a:ext uri="{FF2B5EF4-FFF2-40B4-BE49-F238E27FC236}">
                <a16:creationId xmlns:a16="http://schemas.microsoft.com/office/drawing/2014/main" id="{72027F0D-8E19-A54B-871C-6ECC9779F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5813" y="4394189"/>
            <a:ext cx="457200" cy="457200"/>
          </a:xfrm>
          <a:prstGeom prst="rect">
            <a:avLst/>
          </a:prstGeom>
        </p:spPr>
      </p:pic>
      <p:grpSp>
        <p:nvGrpSpPr>
          <p:cNvPr id="59" name="组合 58">
            <a:extLst>
              <a:ext uri="{FF2B5EF4-FFF2-40B4-BE49-F238E27FC236}">
                <a16:creationId xmlns:a16="http://schemas.microsoft.com/office/drawing/2014/main" id="{9F3A3D83-B81F-934D-B16B-94828E5AD209}"/>
              </a:ext>
            </a:extLst>
          </p:cNvPr>
          <p:cNvGrpSpPr/>
          <p:nvPr/>
        </p:nvGrpSpPr>
        <p:grpSpPr>
          <a:xfrm>
            <a:off x="4715612" y="1197164"/>
            <a:ext cx="914400" cy="914400"/>
            <a:chOff x="3968174" y="2217839"/>
            <a:chExt cx="914400" cy="914400"/>
          </a:xfrm>
        </p:grpSpPr>
        <p:pic>
          <p:nvPicPr>
            <p:cNvPr id="60" name="图形 59" descr="男性形象">
              <a:extLst>
                <a:ext uri="{FF2B5EF4-FFF2-40B4-BE49-F238E27FC236}">
                  <a16:creationId xmlns:a16="http://schemas.microsoft.com/office/drawing/2014/main" id="{50960E55-B9EC-FB46-A849-7F952A2E6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C9972217-7892-9440-B296-E4ABF139414A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FC17D132-13FF-404D-8C93-355903B72595}"/>
              </a:ext>
            </a:extLst>
          </p:cNvPr>
          <p:cNvGrpSpPr/>
          <p:nvPr/>
        </p:nvGrpSpPr>
        <p:grpSpPr>
          <a:xfrm>
            <a:off x="2772861" y="1193947"/>
            <a:ext cx="914400" cy="914400"/>
            <a:chOff x="5878583" y="1595505"/>
            <a:chExt cx="914400" cy="914400"/>
          </a:xfrm>
        </p:grpSpPr>
        <p:pic>
          <p:nvPicPr>
            <p:cNvPr id="63" name="图形 62" descr="女性形象">
              <a:extLst>
                <a:ext uri="{FF2B5EF4-FFF2-40B4-BE49-F238E27FC236}">
                  <a16:creationId xmlns:a16="http://schemas.microsoft.com/office/drawing/2014/main" id="{20AB4FBA-92CA-3D43-8658-0E2ADE697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5878583" y="1595505"/>
              <a:ext cx="914400" cy="914400"/>
            </a:xfrm>
            <a:prstGeom prst="rect">
              <a:avLst/>
            </a:prstGeom>
          </p:spPr>
        </p:pic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940A7855-1160-E04A-B4D3-066D1591EB46}"/>
                </a:ext>
              </a:extLst>
            </p:cNvPr>
            <p:cNvSpPr txBox="1"/>
            <p:nvPr/>
          </p:nvSpPr>
          <p:spPr>
            <a:xfrm>
              <a:off x="5878583" y="2033173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2A2E4716-9142-C746-8ED1-5510451745D9}"/>
              </a:ext>
            </a:extLst>
          </p:cNvPr>
          <p:cNvGrpSpPr/>
          <p:nvPr/>
        </p:nvGrpSpPr>
        <p:grpSpPr>
          <a:xfrm>
            <a:off x="6553200" y="1220785"/>
            <a:ext cx="914400" cy="914400"/>
            <a:chOff x="3968174" y="2217839"/>
            <a:chExt cx="914400" cy="914400"/>
          </a:xfrm>
        </p:grpSpPr>
        <p:pic>
          <p:nvPicPr>
            <p:cNvPr id="66" name="图形 65" descr="男性形象">
              <a:extLst>
                <a:ext uri="{FF2B5EF4-FFF2-40B4-BE49-F238E27FC236}">
                  <a16:creationId xmlns:a16="http://schemas.microsoft.com/office/drawing/2014/main" id="{182A2E7C-39ED-6241-BD5B-D50E9C2F4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95431330-F2E3-C642-93D9-86A713B82842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C</a:t>
              </a:r>
              <a:endParaRPr kumimoji="1" lang="zh-CN" altLang="en-US" b="1" dirty="0"/>
            </a:p>
          </p:txBody>
        </p:sp>
      </p:grpSp>
      <p:pic>
        <p:nvPicPr>
          <p:cNvPr id="68" name="图形 67" descr="书籍">
            <a:extLst>
              <a:ext uri="{FF2B5EF4-FFF2-40B4-BE49-F238E27FC236}">
                <a16:creationId xmlns:a16="http://schemas.microsoft.com/office/drawing/2014/main" id="{C56A61A5-252C-994F-803F-88AB0E7964B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81673" y="1405185"/>
            <a:ext cx="285927" cy="285927"/>
          </a:xfrm>
          <a:prstGeom prst="rect">
            <a:avLst/>
          </a:prstGeom>
        </p:spPr>
      </p:pic>
      <p:pic>
        <p:nvPicPr>
          <p:cNvPr id="69" name="图形 68" descr="书籍">
            <a:extLst>
              <a:ext uri="{FF2B5EF4-FFF2-40B4-BE49-F238E27FC236}">
                <a16:creationId xmlns:a16="http://schemas.microsoft.com/office/drawing/2014/main" id="{C5106360-6BBE-C84C-9016-7E9C196609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86035" y="1386963"/>
            <a:ext cx="285927" cy="285927"/>
          </a:xfrm>
          <a:prstGeom prst="rect">
            <a:avLst/>
          </a:prstGeom>
        </p:spPr>
      </p:pic>
      <p:pic>
        <p:nvPicPr>
          <p:cNvPr id="70" name="图形 69" descr="锁">
            <a:extLst>
              <a:ext uri="{FF2B5EF4-FFF2-40B4-BE49-F238E27FC236}">
                <a16:creationId xmlns:a16="http://schemas.microsoft.com/office/drawing/2014/main" id="{C7B051CB-EFD8-E844-9C55-E0DCF72B23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1316" y="2177073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53734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EE03CFD-C569-DB41-B85B-B7B005B8F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周转时间、响应时间过长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FCFS</a:t>
            </a:r>
            <a:endParaRPr kumimoji="1" lang="en-US" altLang="zh-CN" sz="2000" dirty="0"/>
          </a:p>
          <a:p>
            <a:r>
              <a:rPr kumimoji="1" lang="zh-CN" altLang="en-US" sz="2000" dirty="0"/>
              <a:t>依赖对于任务的先验知识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需要预知任务执行时间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SJF</a:t>
            </a:r>
          </a:p>
          <a:p>
            <a:pPr lvl="1"/>
            <a:r>
              <a:rPr kumimoji="1" lang="zh-CN" altLang="en-US" sz="1800" dirty="0"/>
              <a:t>需要预知任务是否为</a:t>
            </a:r>
            <a:r>
              <a:rPr kumimoji="1" lang="en-US" altLang="zh-CN" sz="1800" dirty="0"/>
              <a:t>I/O</a:t>
            </a:r>
            <a:r>
              <a:rPr kumimoji="1" lang="zh-CN" altLang="en-US" sz="1800" dirty="0"/>
              <a:t>密集型任务</a:t>
            </a:r>
            <a:endParaRPr kumimoji="1" lang="en-US" altLang="zh-CN" sz="1800" dirty="0"/>
          </a:p>
          <a:p>
            <a:pPr lvl="2"/>
            <a:r>
              <a:rPr kumimoji="1" lang="en-US" altLang="zh-CN" sz="1600" dirty="0"/>
              <a:t>MLQ</a:t>
            </a:r>
            <a:r>
              <a:rPr kumimoji="1" lang="zh-CN" altLang="en-US" sz="1600" dirty="0"/>
              <a:t>（用于设置任务优先级）</a:t>
            </a:r>
            <a:endParaRPr kumimoji="1" lang="en-US" altLang="zh-CN" sz="1600" dirty="0"/>
          </a:p>
          <a:p>
            <a:r>
              <a:rPr kumimoji="1" lang="zh-CN" altLang="en-US" sz="2000" dirty="0"/>
              <a:t>假设调度没有开销</a:t>
            </a:r>
            <a:endParaRPr kumimoji="1" lang="en-US" altLang="zh-CN" sz="2000" dirty="0"/>
          </a:p>
          <a:p>
            <a:pPr lvl="1"/>
            <a:r>
              <a:rPr kumimoji="1" lang="en-US" altLang="zh-CN" sz="1800" dirty="0"/>
              <a:t>RR</a:t>
            </a:r>
            <a:r>
              <a:rPr kumimoji="1" lang="zh-CN" altLang="en-US" sz="1800" dirty="0"/>
              <a:t>（将时间片设置过短会导致调度开销过大）</a:t>
            </a:r>
            <a:endParaRPr kumimoji="1" lang="en-US" altLang="zh-CN" sz="1800" dirty="0"/>
          </a:p>
          <a:p>
            <a:endParaRPr kumimoji="1" lang="en-US" altLang="zh-CN" sz="2000" dirty="0"/>
          </a:p>
          <a:p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8C473F-01BE-DA49-A779-7DD1467AC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9B139E0-C629-1843-8569-FBA9DC3D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目前介绍的调度策略的限制</a:t>
            </a:r>
          </a:p>
        </p:txBody>
      </p:sp>
    </p:spTree>
    <p:extLst>
      <p:ext uri="{BB962C8B-B14F-4D97-AF65-F5344CB8AC3E}">
        <p14:creationId xmlns:p14="http://schemas.microsoft.com/office/powerpoint/2010/main" val="25485921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多级反馈队列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Multi-Level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Feedback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Queue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9308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3B9E20C-D489-C340-84AF-7C0A1F0AD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sz="2000" dirty="0"/>
              <a:t>Multi-Level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Feedback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Queue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(MLFQ)</a:t>
            </a:r>
            <a:endParaRPr kumimoji="1" lang="en-US" altLang="zh-CN" sz="1800" dirty="0"/>
          </a:p>
          <a:p>
            <a:r>
              <a:rPr kumimoji="1" lang="en-US" altLang="zh-CN" sz="2000" dirty="0" err="1"/>
              <a:t>Corbato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于</a:t>
            </a:r>
            <a:r>
              <a:rPr kumimoji="1" lang="en-US" altLang="zh-CN" sz="1800" dirty="0"/>
              <a:t>1962</a:t>
            </a:r>
            <a:r>
              <a:rPr kumimoji="1" lang="zh-CN" altLang="en-US" sz="1800" dirty="0"/>
              <a:t>年，发表了</a:t>
            </a:r>
            <a:r>
              <a:rPr lang="en-US" altLang="zh-CN" sz="1800" dirty="0">
                <a:ea typeface="宋体" panose="02010600030101010101" pitchFamily="2" charset="-122"/>
              </a:rPr>
              <a:t>Compatible Time-Sharing System CTSS)</a:t>
            </a:r>
            <a:r>
              <a:rPr kumimoji="1" lang="zh-CN" altLang="en-US" sz="1800" dirty="0"/>
              <a:t>的相关论文</a:t>
            </a:r>
            <a:endParaRPr kumimoji="1" lang="en-US" altLang="zh-CN" sz="1800" dirty="0"/>
          </a:p>
          <a:p>
            <a:pPr lvl="2"/>
            <a:r>
              <a:rPr kumimoji="1" lang="zh-CN" altLang="en-US" sz="1600" dirty="0"/>
              <a:t>在该论文中提出了</a:t>
            </a:r>
            <a:r>
              <a:rPr kumimoji="1" lang="en-US" altLang="zh-CN" sz="1600" dirty="0"/>
              <a:t>MLFQ</a:t>
            </a:r>
            <a:r>
              <a:rPr kumimoji="1" lang="zh-CN" altLang="en-US" sz="1600" dirty="0"/>
              <a:t>以及其它概念</a:t>
            </a:r>
            <a:endParaRPr kumimoji="1" lang="en-US" altLang="zh-CN" sz="1800" dirty="0"/>
          </a:p>
          <a:p>
            <a:pPr lvl="1"/>
            <a:r>
              <a:rPr kumimoji="1" lang="zh-CN" altLang="en-US" sz="1800" dirty="0"/>
              <a:t>于</a:t>
            </a:r>
            <a:r>
              <a:rPr kumimoji="1" lang="en-US" altLang="zh-CN" sz="1800" dirty="0"/>
              <a:t>1990</a:t>
            </a:r>
            <a:r>
              <a:rPr kumimoji="1" lang="zh-CN" altLang="en-US" sz="1800" dirty="0"/>
              <a:t>年，获得图灵奖</a:t>
            </a:r>
            <a:endParaRPr kumimoji="1" lang="en-US" altLang="zh-CN" sz="1800" dirty="0"/>
          </a:p>
          <a:p>
            <a:pPr lvl="2"/>
            <a:r>
              <a:rPr kumimoji="1" lang="zh-CN" altLang="en-US" sz="1800" dirty="0"/>
              <a:t>因</a:t>
            </a:r>
            <a:r>
              <a:rPr kumimoji="1" lang="en-US" altLang="zh-CN" sz="1800" dirty="0"/>
              <a:t>CTSS</a:t>
            </a:r>
            <a:r>
              <a:rPr kumimoji="1" lang="zh-CN" altLang="en-US" sz="1800" dirty="0"/>
              <a:t>和</a:t>
            </a:r>
            <a:r>
              <a:rPr lang="zh-CN" altLang="zh-CN" sz="1800" dirty="0"/>
              <a:t>Multics</a:t>
            </a:r>
            <a:r>
              <a:rPr lang="zh-CN" altLang="en-US" sz="1800" dirty="0"/>
              <a:t>方面的贡献</a:t>
            </a:r>
            <a:endParaRPr lang="en-US" altLang="zh-CN" sz="1800" dirty="0"/>
          </a:p>
          <a:p>
            <a:endParaRPr kumimoji="1" lang="en-US" altLang="zh-CN" sz="2000" dirty="0"/>
          </a:p>
          <a:p>
            <a:pPr marL="0" indent="0">
              <a:buNone/>
            </a:pPr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5C19C9B-DE81-FE42-BC87-4E1041386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7448E29-49EF-8549-B029-DD72749C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CN" altLang="en-US" sz="2800" dirty="0"/>
              <a:t>多级反馈队列</a:t>
            </a:r>
          </a:p>
        </p:txBody>
      </p:sp>
      <p:pic>
        <p:nvPicPr>
          <p:cNvPr id="5" name="图片 4" descr="www-corbato.jpg">
            <a:extLst>
              <a:ext uri="{FF2B5EF4-FFF2-40B4-BE49-F238E27FC236}">
                <a16:creationId xmlns:a16="http://schemas.microsoft.com/office/drawing/2014/main" id="{88D23C74-811F-BF48-8914-AA1685BC1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2687" y="3001516"/>
            <a:ext cx="1357313" cy="1752600"/>
          </a:xfrm>
          <a:prstGeom prst="roundRect">
            <a:avLst>
              <a:gd name="adj" fmla="val 8968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94003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25ADB52-94BC-7C49-B85A-1955F7BDC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一个</a:t>
            </a:r>
            <a:r>
              <a:rPr kumimoji="1" lang="zh-CN" altLang="en-US" dirty="0">
                <a:highlight>
                  <a:srgbClr val="FFFF00"/>
                </a:highlight>
              </a:rPr>
              <a:t>无需先验知识</a:t>
            </a:r>
            <a:r>
              <a:rPr kumimoji="1" lang="zh-CN" altLang="en-US" dirty="0"/>
              <a:t>的通用调度策略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周转时间低、响应时间低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调度开销低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通过</a:t>
            </a:r>
            <a:r>
              <a:rPr kumimoji="1" lang="zh-CN" altLang="en-US" dirty="0">
                <a:highlight>
                  <a:srgbClr val="FFFF00"/>
                </a:highlight>
              </a:rPr>
              <a:t>动态分析</a:t>
            </a:r>
            <a:r>
              <a:rPr kumimoji="1" lang="zh-CN" altLang="en-US" dirty="0"/>
              <a:t>任务运行历史，总结任务特征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类似思想的体现：分支预测、缓存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需要注意：如果工作场景变化频繁，效果可能会很差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C43F8E5-2CCD-E24F-A4BF-19434C53D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DABC58D-A797-6D4E-BE4D-27A08C960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的主要目标与思路</a:t>
            </a:r>
          </a:p>
        </p:txBody>
      </p:sp>
    </p:spTree>
    <p:extLst>
      <p:ext uri="{BB962C8B-B14F-4D97-AF65-F5344CB8AC3E}">
        <p14:creationId xmlns:p14="http://schemas.microsoft.com/office/powerpoint/2010/main" val="234821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64FD558-1AE3-0241-9A91-6989777C1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5194920" cy="3771636"/>
          </a:xfrm>
        </p:spPr>
        <p:txBody>
          <a:bodyPr>
            <a:normAutofit/>
          </a:bodyPr>
          <a:lstStyle/>
          <a:p>
            <a:r>
              <a:rPr kumimoji="1" lang="zh-CN" altLang="en" dirty="0"/>
              <a:t>规则</a:t>
            </a:r>
            <a:r>
              <a:rPr kumimoji="1" lang="en" altLang="zh-CN" dirty="0"/>
              <a:t> 1: </a:t>
            </a:r>
          </a:p>
          <a:p>
            <a:pPr lvl="1">
              <a:lnSpc>
                <a:spcPct val="140000"/>
              </a:lnSpc>
            </a:pPr>
            <a:r>
              <a:rPr kumimoji="1" lang="zh-CN" altLang="en-US" sz="1900" dirty="0"/>
              <a:t>优先级高的任务会抢占优先级低的任务</a:t>
            </a:r>
            <a:endParaRPr kumimoji="1" lang="en-US" altLang="zh-CN" sz="1900" dirty="0"/>
          </a:p>
          <a:p>
            <a:r>
              <a:rPr kumimoji="1" lang="zh-CN" altLang="en" dirty="0"/>
              <a:t>规则</a:t>
            </a:r>
            <a:r>
              <a:rPr kumimoji="1" lang="en" altLang="zh-CN" dirty="0"/>
              <a:t> 2: </a:t>
            </a:r>
          </a:p>
          <a:p>
            <a:pPr lvl="1">
              <a:lnSpc>
                <a:spcPct val="140000"/>
              </a:lnSpc>
            </a:pPr>
            <a:r>
              <a:rPr kumimoji="1" lang="zh-CN" altLang="en-US" sz="1900" dirty="0"/>
              <a:t>每个任务会被分配时间片，优先级相同的两个任务使用时间片轮转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B82EB4-FA6D-0745-A75C-1C747F57B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A4E7730-8B1C-6D4A-BDD6-1D0C4727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基本算法（基于</a:t>
            </a:r>
            <a:r>
              <a:rPr kumimoji="1" lang="en-US" altLang="zh-CN" dirty="0"/>
              <a:t>Multi-Level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Queue</a:t>
            </a:r>
            <a:r>
              <a:rPr kumimoji="1" lang="zh-CN" altLang="en-US" dirty="0"/>
              <a:t>）</a:t>
            </a:r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D1C15907-E142-E642-AD45-D7957D650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1417340"/>
            <a:ext cx="3098938" cy="318591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67910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2FC906-6C11-C749-B4B4-9B927F3F6A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442" y="1335515"/>
            <a:ext cx="5410944" cy="3771636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规则</a:t>
            </a:r>
            <a:r>
              <a:rPr lang="en-US" altLang="zh-CN" sz="2000" dirty="0"/>
              <a:t> 3: </a:t>
            </a: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任务被创建时，假设该任务是短任务，为它分配最高优先级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规则</a:t>
            </a:r>
            <a:r>
              <a:rPr lang="en-US" altLang="zh-CN" sz="2000" dirty="0"/>
              <a:t> 4a: </a:t>
            </a: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一个任务时间片耗尽后，它的优先级会被降低一级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规则</a:t>
            </a:r>
            <a:r>
              <a:rPr lang="en-US" altLang="zh-CN" sz="2000" dirty="0"/>
              <a:t> 4b: </a:t>
            </a:r>
          </a:p>
          <a:p>
            <a:pPr lvl="1">
              <a:spcBef>
                <a:spcPts val="0"/>
              </a:spcBef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如果一个任务在时间片耗尽前放弃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，那么它的优先级不变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任务重新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执行</a:t>
            </a:r>
            <a:r>
              <a:rPr lang="zh-C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时，会被分配新的时间片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DAA489D-13A1-F64F-9FAC-BF71F4121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7D5CFB7-4D11-2744-BC05-CF6AABD1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如何设置任务优先级？</a:t>
            </a:r>
          </a:p>
        </p:txBody>
      </p:sp>
      <p:sp>
        <p:nvSpPr>
          <p:cNvPr id="5" name="内容占位符 1">
            <a:extLst>
              <a:ext uri="{FF2B5EF4-FFF2-40B4-BE49-F238E27FC236}">
                <a16:creationId xmlns:a16="http://schemas.microsoft.com/office/drawing/2014/main" id="{28E3FF37-0CF7-9C47-8777-C38C6F9879FB}"/>
              </a:ext>
            </a:extLst>
          </p:cNvPr>
          <p:cNvSpPr txBox="1">
            <a:spLocks/>
          </p:cNvSpPr>
          <p:nvPr/>
        </p:nvSpPr>
        <p:spPr>
          <a:xfrm>
            <a:off x="179512" y="1335515"/>
            <a:ext cx="5410944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defRPr/>
            </a:pPr>
            <a:r>
              <a:rPr lang="zh-CN" altLang="en-US" sz="2000" dirty="0"/>
              <a:t>针对混合工作场景</a:t>
            </a:r>
            <a:endParaRPr lang="en-US" altLang="zh-CN" sz="2000" dirty="0"/>
          </a:p>
          <a:p>
            <a:pPr lvl="1">
              <a:spcBef>
                <a:spcPts val="0"/>
              </a:spcBef>
              <a:defRPr/>
            </a:pPr>
            <a:r>
              <a:rPr kumimoji="1" lang="zh-CN" altLang="en-US" sz="1800" dirty="0"/>
              <a:t>执行时间短的任务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r>
              <a:rPr kumimoji="1" lang="zh-CN" altLang="en-US" sz="1800" dirty="0"/>
              <a:t>交互式任务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1800" dirty="0"/>
              <a:t>I/O</a:t>
            </a:r>
            <a:r>
              <a:rPr kumimoji="1" lang="zh-CN" altLang="en-US" sz="1800" dirty="0"/>
              <a:t>密集型任务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endParaRPr kumimoji="1" lang="en-US" altLang="zh-CN" sz="1400" dirty="0"/>
          </a:p>
          <a:p>
            <a:pPr lvl="1">
              <a:spcBef>
                <a:spcPts val="0"/>
              </a:spcBef>
              <a:defRPr/>
            </a:pPr>
            <a:r>
              <a:rPr kumimoji="1" lang="zh-CN" altLang="en-US" sz="1800" dirty="0"/>
              <a:t>执行时间长的任务</a:t>
            </a:r>
            <a:endParaRPr kumimoji="1" lang="en-US" altLang="zh-CN" sz="1800" dirty="0"/>
          </a:p>
          <a:p>
            <a:pPr lvl="2">
              <a:spcBef>
                <a:spcPts val="0"/>
              </a:spcBef>
              <a:defRPr/>
            </a:pPr>
            <a:r>
              <a:rPr kumimoji="1" lang="en-US" altLang="zh-CN" sz="1800" dirty="0"/>
              <a:t>CPU</a:t>
            </a:r>
            <a:r>
              <a:rPr kumimoji="1" lang="zh-CN" altLang="en-US" sz="1800" dirty="0"/>
              <a:t>密集型计算任务</a:t>
            </a:r>
          </a:p>
        </p:txBody>
      </p:sp>
    </p:spTree>
    <p:extLst>
      <p:ext uri="{BB962C8B-B14F-4D97-AF65-F5344CB8AC3E}">
        <p14:creationId xmlns:p14="http://schemas.microsoft.com/office/powerpoint/2010/main" val="26053338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320CC1A-64E7-B841-A0AB-2F3230E95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39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EEF10DFD-4646-4E49-8C96-575FBF218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5046898D-6C88-1945-B2B9-6E110F4C1858}"/>
              </a:ext>
            </a:extLst>
          </p:cNvPr>
          <p:cNvSpPr txBox="1">
            <a:spLocks noChangeArrowheads="1"/>
          </p:cNvSpPr>
          <p:nvPr/>
        </p:nvSpPr>
        <p:spPr>
          <a:xfrm>
            <a:off x="1044429" y="5118713"/>
            <a:ext cx="2780948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1.</a:t>
            </a:r>
            <a:r>
              <a:rPr kumimoji="1" lang="zh-CN" altLang="en-US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一个</a:t>
            </a:r>
            <a:r>
              <a:rPr kumimoji="1" lang="zh-CN" altLang="en-US" sz="1800" b="0" dirty="0"/>
              <a:t>长任务的执行</a:t>
            </a:r>
            <a:endParaRPr kumimoji="1" lang="en-GB" altLang="zh-CN" sz="1800" b="0" dirty="0"/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9540E3AA-3842-9643-BF6D-3DABD7EC0B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379012"/>
            <a:ext cx="2926606" cy="257710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图片 2">
            <a:extLst>
              <a:ext uri="{FF2B5EF4-FFF2-40B4-BE49-F238E27FC236}">
                <a16:creationId xmlns:a16="http://schemas.microsoft.com/office/drawing/2014/main" id="{93BE12A2-193B-E44A-88F3-BE66A8B652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2759" y="2353444"/>
            <a:ext cx="2863093" cy="25830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9A89F23F-4CD3-8942-9163-C561E48315A4}"/>
              </a:ext>
            </a:extLst>
          </p:cNvPr>
          <p:cNvSpPr txBox="1">
            <a:spLocks noChangeArrowheads="1"/>
          </p:cNvSpPr>
          <p:nvPr/>
        </p:nvSpPr>
        <p:spPr>
          <a:xfrm>
            <a:off x="4526686" y="5118712"/>
            <a:ext cx="3960440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FontTx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ea typeface="宋体" panose="02010600030101010101" pitchFamily="2" charset="-122"/>
              </a:rPr>
              <a:t>2.</a:t>
            </a:r>
            <a:r>
              <a:rPr kumimoji="1" lang="zh-CN" altLang="en-US" sz="1800" b="0" dirty="0">
                <a:ea typeface="宋体" panose="02010600030101010101" pitchFamily="2" charset="-122"/>
              </a:rPr>
              <a:t> </a:t>
            </a:r>
            <a:r>
              <a:rPr kumimoji="1" lang="zh-CN" altLang="en-US" sz="1800" b="0" dirty="0"/>
              <a:t>长任务执行时，一个短任务被创建</a:t>
            </a:r>
            <a:endParaRPr kumimoji="1" lang="en-GB" altLang="zh-CN" sz="1800" b="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E3D3CEE-A86D-3F40-99DC-4BAC2B68F0F1}"/>
              </a:ext>
            </a:extLst>
          </p:cNvPr>
          <p:cNvSpPr/>
          <p:nvPr/>
        </p:nvSpPr>
        <p:spPr>
          <a:xfrm>
            <a:off x="4488081" y="1000314"/>
            <a:ext cx="4432448" cy="777008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defRPr/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对于短任务：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它会很快执行完，证明自己是个短任务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C057D24-5594-E149-8C9F-3990773D10EC}"/>
              </a:ext>
            </a:extLst>
          </p:cNvPr>
          <p:cNvSpPr/>
          <p:nvPr/>
        </p:nvSpPr>
        <p:spPr>
          <a:xfrm>
            <a:off x="421356" y="1000314"/>
            <a:ext cx="3502572" cy="113710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对于长任务：</a:t>
            </a:r>
            <a:endParaRPr kumimoji="1" lang="en-US" altLang="zh-CN" b="1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MLFQ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会逐渐降低它的优先级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并将它视为长任务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7B3731F-0671-A04B-9F35-19E83EEEE076}"/>
              </a:ext>
            </a:extLst>
          </p:cNvPr>
          <p:cNvSpPr txBox="1"/>
          <p:nvPr/>
        </p:nvSpPr>
        <p:spPr>
          <a:xfrm>
            <a:off x="103183" y="4147640"/>
            <a:ext cx="724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/>
              <a:t>队列</a:t>
            </a:r>
            <a:r>
              <a:rPr kumimoji="1" lang="en-US" altLang="zh-CN" sz="1400" dirty="0"/>
              <a:t>-0</a:t>
            </a:r>
            <a:endParaRPr kumimoji="1" lang="zh-CN" altLang="en-US" sz="14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B0A185F-389A-3D45-A6A0-2889AE384997}"/>
              </a:ext>
            </a:extLst>
          </p:cNvPr>
          <p:cNvSpPr txBox="1"/>
          <p:nvPr/>
        </p:nvSpPr>
        <p:spPr>
          <a:xfrm>
            <a:off x="103183" y="3423692"/>
            <a:ext cx="724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/>
              <a:t>队列</a:t>
            </a:r>
            <a:r>
              <a:rPr kumimoji="1" lang="en-US" altLang="zh-CN" sz="1400" dirty="0"/>
              <a:t>-1</a:t>
            </a:r>
            <a:endParaRPr kumimoji="1" lang="zh-CN" altLang="en-US" sz="14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C7422-9352-4944-9A10-705C1AA3669E}"/>
              </a:ext>
            </a:extLst>
          </p:cNvPr>
          <p:cNvSpPr txBox="1"/>
          <p:nvPr/>
        </p:nvSpPr>
        <p:spPr>
          <a:xfrm>
            <a:off x="103183" y="2697775"/>
            <a:ext cx="724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dirty="0"/>
              <a:t>队列</a:t>
            </a:r>
            <a:r>
              <a:rPr kumimoji="1" lang="en-US" altLang="zh-CN" sz="1400" dirty="0"/>
              <a:t>-2</a:t>
            </a:r>
            <a:endParaRPr kumimoji="1"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1251559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E328A6B-E148-014B-AD7E-F44CAFF4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6CC7CAC-2078-AB44-A342-8F84144F9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pic>
        <p:nvPicPr>
          <p:cNvPr id="5" name="图片 3">
            <a:extLst>
              <a:ext uri="{FF2B5EF4-FFF2-40B4-BE49-F238E27FC236}">
                <a16:creationId xmlns:a16="http://schemas.microsoft.com/office/drawing/2014/main" id="{8728D56B-6994-7744-823B-460D733FD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222" y="1555367"/>
            <a:ext cx="3449991" cy="3210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A2929C21-0ED8-5245-BAA8-9B44442B1B75}"/>
              </a:ext>
            </a:extLst>
          </p:cNvPr>
          <p:cNvSpPr txBox="1">
            <a:spLocks noChangeArrowheads="1"/>
          </p:cNvSpPr>
          <p:nvPr/>
        </p:nvSpPr>
        <p:spPr>
          <a:xfrm>
            <a:off x="23767" y="4959150"/>
            <a:ext cx="5206899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3.</a:t>
            </a:r>
            <a:r>
              <a:rPr kumimoji="1" lang="zh-CN" altLang="en-US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混合</a:t>
            </a:r>
            <a:r>
              <a:rPr kumimoji="1" lang="en-US" altLang="zh-CN" sz="1800" b="0" dirty="0">
                <a:solidFill>
                  <a:srgbClr val="000000"/>
                </a:solidFill>
                <a:ea typeface="微软雅黑"/>
                <a:cs typeface="+mn-cs"/>
              </a:rPr>
              <a:t>CPU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密集型与</a:t>
            </a:r>
            <a:r>
              <a:rPr kumimoji="1" lang="en-US" altLang="zh-CN" sz="1800" b="0" dirty="0">
                <a:solidFill>
                  <a:srgbClr val="000000"/>
                </a:solidFill>
                <a:ea typeface="微软雅黑"/>
                <a:cs typeface="+mn-cs"/>
              </a:rPr>
              <a:t>I/O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密集型任务</a:t>
            </a:r>
            <a:r>
              <a:rPr kumimoji="1" lang="zh-CN" altLang="en-US" sz="1800" b="0" dirty="0"/>
              <a:t>的执行</a:t>
            </a:r>
            <a:endParaRPr kumimoji="1" lang="en-GB" altLang="zh-CN" sz="1800" b="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4FA2CC5-467B-0042-B0A5-256F24FC397A}"/>
              </a:ext>
            </a:extLst>
          </p:cNvPr>
          <p:cNvSpPr/>
          <p:nvPr/>
        </p:nvSpPr>
        <p:spPr>
          <a:xfrm>
            <a:off x="4716016" y="1498526"/>
            <a:ext cx="4129714" cy="1289456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对于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I/O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密集型任务：</a:t>
            </a:r>
            <a:endParaRPr kumimoji="1" lang="en-US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它会在时间片执行完以前放弃</a:t>
            </a: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CPU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MLFQ</a:t>
            </a:r>
            <a:r>
              <a:rPr kumimoji="1"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a typeface="微软雅黑" panose="020B0503020204020204" pitchFamily="34" charset="-122"/>
              </a:rPr>
              <a:t>保持它的优先级不变即可</a:t>
            </a:r>
            <a:endParaRPr kumimoji="1" lang="en-GB" altLang="zh-CN" dirty="0">
              <a:solidFill>
                <a:schemeClr val="tx1">
                  <a:lumMod val="75000"/>
                  <a:lumOff val="25000"/>
                </a:schemeClr>
              </a:solidFill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030291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F626997-BD3A-7A48-BECE-2231C5F5B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zh-CN" altLang="en-US" sz="2400" dirty="0">
                <a:ea typeface="msgothic"/>
                <a:cs typeface="msgothic"/>
              </a:rPr>
              <a:t>长任务饿死（</a:t>
            </a:r>
            <a:r>
              <a:rPr lang="en-US" altLang="zh-CN" sz="2400" dirty="0">
                <a:ea typeface="msgothic"/>
                <a:cs typeface="msgothic"/>
              </a:rPr>
              <a:t>Starvation</a:t>
            </a:r>
            <a:r>
              <a:rPr lang="zh-CN" altLang="en-US" sz="2400" dirty="0">
                <a:ea typeface="msgothic"/>
                <a:cs typeface="msgothic"/>
              </a:rPr>
              <a:t>）</a:t>
            </a:r>
            <a:endParaRPr lang="en-US" altLang="zh-CN" sz="24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ea typeface="msgothic"/>
                <a:cs typeface="msgothic"/>
              </a:rPr>
              <a:t>过多的短任务、</a:t>
            </a:r>
            <a:r>
              <a:rPr lang="en-US" altLang="zh-CN" sz="2000" dirty="0">
                <a:ea typeface="msgothic"/>
                <a:cs typeface="msgothic"/>
              </a:rPr>
              <a:t>I/O</a:t>
            </a:r>
            <a:r>
              <a:rPr lang="zh-CN" altLang="en-US" sz="2000" dirty="0">
                <a:ea typeface="msgothic"/>
                <a:cs typeface="msgothic"/>
              </a:rPr>
              <a:t>密集型任务可能占用所有</a:t>
            </a:r>
            <a:r>
              <a:rPr lang="en-US" altLang="zh-CN" sz="2000" dirty="0">
                <a:ea typeface="msgothic"/>
                <a:cs typeface="msgothic"/>
              </a:rPr>
              <a:t>CPU</a:t>
            </a:r>
            <a:r>
              <a:rPr lang="zh-CN" altLang="en-US" sz="2000" dirty="0">
                <a:ea typeface="msgothic"/>
                <a:cs typeface="msgothic"/>
              </a:rPr>
              <a:t>时间</a:t>
            </a:r>
            <a:endParaRPr lang="en-US" altLang="zh-CN" sz="2000" dirty="0">
              <a:ea typeface="msgothic"/>
              <a:cs typeface="msgothic"/>
            </a:endParaRPr>
          </a:p>
          <a:p>
            <a:pPr marL="0" indent="0">
              <a:spcBef>
                <a:spcPct val="0"/>
              </a:spcBef>
              <a:buNone/>
            </a:pPr>
            <a:endParaRPr lang="en-US" altLang="zh-CN" sz="2000" dirty="0">
              <a:ea typeface="msgothic"/>
              <a:cs typeface="msgothic"/>
            </a:endParaRPr>
          </a:p>
          <a:p>
            <a:pPr>
              <a:spcBef>
                <a:spcPct val="0"/>
              </a:spcBef>
            </a:pPr>
            <a:r>
              <a:rPr lang="zh-CN" altLang="en-US" sz="2400" dirty="0">
                <a:ea typeface="msgothic"/>
                <a:cs typeface="msgothic"/>
              </a:rPr>
              <a:t>任务特征可能动态变化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en-US" altLang="zh-CN" sz="2000" dirty="0">
                <a:ea typeface="宋体" panose="02010600030101010101" pitchFamily="2" charset="-122"/>
              </a:rPr>
              <a:t> CPU</a:t>
            </a:r>
            <a:r>
              <a:rPr kumimoji="1" lang="zh-CN" altLang="en-US" sz="2000" dirty="0">
                <a:cs typeface="+mn-cs"/>
              </a:rPr>
              <a:t>密集型任务</a:t>
            </a:r>
            <a:r>
              <a:rPr kumimoji="1" lang="en-US" altLang="zh-CN" sz="2000" dirty="0">
                <a:cs typeface="+mn-cs"/>
                <a:sym typeface="Wingdings" pitchFamily="2" charset="2"/>
              </a:rPr>
              <a:t></a:t>
            </a:r>
            <a:r>
              <a:rPr kumimoji="1" lang="zh-CN" altLang="en-US" sz="2000" dirty="0">
                <a:cs typeface="+mn-cs"/>
                <a:sym typeface="Wingdings" pitchFamily="2" charset="2"/>
              </a:rPr>
              <a:t>交互式任务，</a:t>
            </a:r>
            <a:r>
              <a:rPr kumimoji="1" lang="en-US" altLang="zh-CN" sz="2000" dirty="0">
                <a:cs typeface="+mn-cs"/>
                <a:sym typeface="Wingdings" pitchFamily="2" charset="2"/>
              </a:rPr>
              <a:t>…</a:t>
            </a:r>
            <a:endParaRPr lang="en-GB" altLang="zh-CN" sz="2000" dirty="0">
              <a:ea typeface="msgothic"/>
              <a:cs typeface="msgothic"/>
            </a:endParaRPr>
          </a:p>
          <a:p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A1C688F-BC6F-1B49-A9CF-67310BE3A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CB24CC3-F5CF-A644-9B7F-5B8A501CE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基本算法的问题（一）</a:t>
            </a:r>
          </a:p>
        </p:txBody>
      </p:sp>
    </p:spTree>
    <p:extLst>
      <p:ext uri="{BB962C8B-B14F-4D97-AF65-F5344CB8AC3E}">
        <p14:creationId xmlns:p14="http://schemas.microsoft.com/office/powerpoint/2010/main" val="11860911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6EAB64B-6787-DD4D-BE8A-ADC60E87B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sz="2400" dirty="0"/>
              <a:t>规则</a:t>
            </a:r>
            <a:r>
              <a:rPr kumimoji="1" lang="en" altLang="zh-CN" sz="2400" dirty="0"/>
              <a:t> 5: </a:t>
            </a:r>
          </a:p>
          <a:p>
            <a:pPr lvl="1">
              <a:lnSpc>
                <a:spcPct val="140000"/>
              </a:lnSpc>
              <a:spcBef>
                <a:spcPts val="0"/>
              </a:spcBef>
              <a:defRPr/>
            </a:pPr>
            <a:r>
              <a:rPr lang="zh-CN" alt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某个时间段</a:t>
            </a:r>
            <a:r>
              <a:rPr lang="e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将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系统中所有任务优先级升为最高</a:t>
            </a:r>
            <a:endParaRPr kumimoji="1" lang="en-US" altLang="zh-CN" sz="1800" dirty="0"/>
          </a:p>
          <a:p>
            <a:r>
              <a:rPr kumimoji="1" lang="zh-CN" altLang="en" sz="2400" dirty="0"/>
              <a:t>避免</a:t>
            </a:r>
            <a:r>
              <a:rPr kumimoji="1" lang="zh-CN" altLang="en-US" sz="2400" dirty="0"/>
              <a:t>长任务饿死</a:t>
            </a:r>
            <a:endParaRPr kumimoji="1" lang="en" altLang="zh-CN" sz="2400" dirty="0"/>
          </a:p>
          <a:p>
            <a:pPr lvl="1"/>
            <a:r>
              <a:rPr kumimoji="1" lang="zh-CN" altLang="en-US" sz="2000" dirty="0"/>
              <a:t>所有</a:t>
            </a:r>
            <a:r>
              <a:rPr kumimoji="1" lang="zh-CN" altLang="en" sz="2000" dirty="0"/>
              <a:t>任务</a:t>
            </a:r>
            <a:r>
              <a:rPr kumimoji="1" lang="zh-CN" altLang="en-US" sz="2000" dirty="0"/>
              <a:t>的优先级会定时地提升最高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最高级</a:t>
            </a:r>
            <a:r>
              <a:rPr kumimoji="1" lang="zh-CN" altLang="en-US" sz="2000" dirty="0"/>
              <a:t>队列采用</a:t>
            </a:r>
            <a:r>
              <a:rPr kumimoji="1" lang="en-US" altLang="zh-CN" sz="2000" dirty="0"/>
              <a:t>RR</a:t>
            </a:r>
            <a:r>
              <a:rPr kumimoji="1" lang="zh-CN" altLang="en-US" sz="2000" dirty="0"/>
              <a:t>，长任务一定会被调度到</a:t>
            </a:r>
            <a:endParaRPr kumimoji="1" lang="en-US" altLang="zh-CN" sz="2000" dirty="0"/>
          </a:p>
          <a:p>
            <a:r>
              <a:rPr kumimoji="1" lang="zh-CN" altLang="en-US" sz="2400" dirty="0"/>
              <a:t>针对任务特征动态变化的场景</a:t>
            </a:r>
            <a:endParaRPr kumimoji="1" lang="en-US" altLang="zh-CN" sz="2800" dirty="0">
              <a:sym typeface="Wingdings" pitchFamily="2" charset="2"/>
            </a:endParaRPr>
          </a:p>
          <a:p>
            <a:pPr lvl="1"/>
            <a:r>
              <a:rPr kumimoji="1" lang="en" altLang="zh-CN" sz="2000" dirty="0"/>
              <a:t>MLFQ</a:t>
            </a:r>
            <a:r>
              <a:rPr kumimoji="1" lang="zh-CN" altLang="en" sz="2000" dirty="0"/>
              <a:t>会</a:t>
            </a:r>
            <a:r>
              <a:rPr kumimoji="1" lang="zh-CN" altLang="en-US" sz="2000" dirty="0"/>
              <a:t>定时地重新审视每个任务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D5F1E1-7EF8-F146-AFC8-561EDA148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3237DCD-AE9B-104A-8D24-09EBBF1F4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定时优先级提升（</a:t>
            </a:r>
            <a:r>
              <a:rPr kumimoji="1" lang="en-US" altLang="zh-CN" dirty="0"/>
              <a:t>Priority</a:t>
            </a:r>
            <a:r>
              <a:rPr kumimoji="1" lang="zh-CN" altLang="en-US" dirty="0"/>
              <a:t> </a:t>
            </a:r>
            <a:r>
              <a:rPr kumimoji="1" lang="en-US" altLang="zh-CN" dirty="0"/>
              <a:t>Boost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26251864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1DA20D-6E38-B747-8444-39CB6747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174D2CD-4157-424F-A308-C6560F6D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4</a:t>
            </a:r>
            <a:endParaRPr kumimoji="1" lang="zh-CN" altLang="en-US" dirty="0"/>
          </a:p>
        </p:txBody>
      </p:sp>
      <p:pic>
        <p:nvPicPr>
          <p:cNvPr id="5" name="图片 1">
            <a:extLst>
              <a:ext uri="{FF2B5EF4-FFF2-40B4-BE49-F238E27FC236}">
                <a16:creationId xmlns:a16="http://schemas.microsoft.com/office/drawing/2014/main" id="{5F0A056C-DFC2-144C-9E27-5075B04323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5561" y="1333501"/>
            <a:ext cx="6792877" cy="3276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D0AB939A-8B57-8546-A3F9-A2C7B865D6D6}"/>
              </a:ext>
            </a:extLst>
          </p:cNvPr>
          <p:cNvSpPr txBox="1">
            <a:spLocks noChangeArrowheads="1"/>
          </p:cNvSpPr>
          <p:nvPr/>
        </p:nvSpPr>
        <p:spPr>
          <a:xfrm>
            <a:off x="1175560" y="4840976"/>
            <a:ext cx="6792877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4.</a:t>
            </a:r>
            <a:r>
              <a:rPr kumimoji="1" lang="zh-CN" altLang="en-US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 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采用定时优先级提升的前后对比（左为采用前，右为采用后）</a:t>
            </a:r>
            <a:endParaRPr kumimoji="1" lang="en-GB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2394141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2CC6339-78DA-0B4F-A3E3-124BC45E3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zh-CN" altLang="en-US" sz="2200" dirty="0">
                <a:ea typeface="msgothic"/>
                <a:cs typeface="msgothic"/>
              </a:rPr>
              <a:t>无法应对抢占</a:t>
            </a:r>
            <a:r>
              <a:rPr lang="en-US" altLang="zh-CN" sz="2200" dirty="0">
                <a:ea typeface="msgothic"/>
                <a:cs typeface="msgothic"/>
              </a:rPr>
              <a:t>CPU</a:t>
            </a:r>
            <a:r>
              <a:rPr lang="zh-CN" altLang="en-US" sz="2200" dirty="0">
                <a:ea typeface="msgothic"/>
                <a:cs typeface="msgothic"/>
              </a:rPr>
              <a:t>时间的攻击（</a:t>
            </a:r>
            <a:r>
              <a:rPr lang="en-US" altLang="zh-CN" sz="2200" dirty="0">
                <a:ea typeface="msgothic"/>
                <a:cs typeface="msgothic"/>
              </a:rPr>
              <a:t>Gaming Scheduler Attack</a:t>
            </a:r>
            <a:r>
              <a:rPr lang="zh-CN" altLang="en-US" sz="2200" dirty="0">
                <a:ea typeface="msgothic"/>
                <a:cs typeface="msgothic"/>
              </a:rPr>
              <a:t>）</a:t>
            </a:r>
            <a:endParaRPr lang="en-US" altLang="zh-CN" sz="22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endParaRPr lang="en-US" altLang="zh-CN" sz="18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ea typeface="msgothic"/>
                <a:cs typeface="msgothic"/>
              </a:rPr>
              <a:t>恶意任务在时间片用完前发起</a:t>
            </a:r>
            <a:r>
              <a:rPr lang="en-US" altLang="zh-CN" sz="2000" dirty="0">
                <a:ea typeface="msgothic"/>
                <a:cs typeface="msgothic"/>
              </a:rPr>
              <a:t>I/O</a:t>
            </a:r>
            <a:r>
              <a:rPr lang="zh-CN" altLang="en-US" sz="2000" dirty="0">
                <a:ea typeface="msgothic"/>
                <a:cs typeface="msgothic"/>
              </a:rPr>
              <a:t>请求</a:t>
            </a:r>
            <a:endParaRPr lang="en-US" altLang="zh-CN" sz="20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endParaRPr lang="en-US" altLang="zh-CN" sz="2000" dirty="0">
              <a:ea typeface="msgothic"/>
              <a:cs typeface="msgothic"/>
            </a:endParaRPr>
          </a:p>
          <a:p>
            <a:pPr lvl="1">
              <a:spcBef>
                <a:spcPct val="0"/>
              </a:spcBef>
            </a:pPr>
            <a:r>
              <a:rPr lang="zh-CN" altLang="en-US" sz="2000" dirty="0">
                <a:ea typeface="msgothic"/>
                <a:cs typeface="msgothic"/>
              </a:rPr>
              <a:t>避免</a:t>
            </a:r>
            <a:r>
              <a:rPr lang="en-US" altLang="zh-CN" sz="2000" dirty="0">
                <a:ea typeface="msgothic"/>
                <a:cs typeface="msgothic"/>
              </a:rPr>
              <a:t>MLFQ</a:t>
            </a:r>
            <a:r>
              <a:rPr lang="zh-CN" altLang="en-US" sz="2000" dirty="0">
                <a:ea typeface="msgothic"/>
                <a:cs typeface="msgothic"/>
              </a:rPr>
              <a:t>将该任务的优先级降低，并且每次重新执行时间片会被重置</a:t>
            </a:r>
            <a:endParaRPr lang="en-US" altLang="zh-CN" sz="2000" dirty="0">
              <a:ea typeface="msgothic"/>
              <a:cs typeface="msgothic"/>
            </a:endParaRPr>
          </a:p>
          <a:p>
            <a:pPr lvl="2">
              <a:spcBef>
                <a:spcPct val="0"/>
              </a:spcBef>
            </a:pPr>
            <a:endParaRPr lang="en-US" altLang="zh-CN" dirty="0">
              <a:ea typeface="msgothic"/>
              <a:cs typeface="msgothic"/>
            </a:endParaRPr>
          </a:p>
          <a:p>
            <a:pPr lvl="2">
              <a:spcBef>
                <a:spcPct val="0"/>
              </a:spcBef>
            </a:pPr>
            <a:r>
              <a:rPr lang="zh-CN" altLang="en-US" dirty="0">
                <a:ea typeface="msgothic"/>
                <a:cs typeface="msgothic"/>
              </a:rPr>
              <a:t>几近独占</a:t>
            </a:r>
            <a:r>
              <a:rPr lang="en-US" altLang="zh-CN" dirty="0">
                <a:ea typeface="msgothic"/>
                <a:cs typeface="msgothic"/>
              </a:rPr>
              <a:t>CPU</a:t>
            </a:r>
            <a:r>
              <a:rPr lang="zh-CN" altLang="en-US" dirty="0">
                <a:ea typeface="msgothic"/>
                <a:cs typeface="msgothic"/>
              </a:rPr>
              <a:t>！</a:t>
            </a:r>
            <a:endParaRPr lang="en-US" altLang="zh-CN" dirty="0">
              <a:ea typeface="msgothic"/>
              <a:cs typeface="msgothic"/>
            </a:endParaRPr>
          </a:p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C58C636-EC20-4C4E-A079-1D89D905A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EE008C5-FC6C-874E-A000-498962E4A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基本算法的问题（二）</a:t>
            </a:r>
          </a:p>
        </p:txBody>
      </p:sp>
    </p:spTree>
    <p:extLst>
      <p:ext uri="{BB962C8B-B14F-4D97-AF65-F5344CB8AC3E}">
        <p14:creationId xmlns:p14="http://schemas.microsoft.com/office/powerpoint/2010/main" val="9760054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781EF91-5059-0649-A692-D801F4D9D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sz="2400" dirty="0"/>
              <a:t>规则</a:t>
            </a:r>
            <a:r>
              <a:rPr kumimoji="1" lang="en" altLang="zh-CN" sz="2400" dirty="0"/>
              <a:t> </a:t>
            </a:r>
            <a:r>
              <a:rPr kumimoji="1" lang="en-US" altLang="zh-CN" sz="2400" dirty="0"/>
              <a:t>6</a:t>
            </a:r>
            <a:r>
              <a:rPr kumimoji="1" lang="en" altLang="zh-CN" sz="2400" dirty="0"/>
              <a:t>: </a:t>
            </a:r>
          </a:p>
          <a:p>
            <a:pPr lvl="1">
              <a:lnSpc>
                <a:spcPct val="160000"/>
              </a:lnSpc>
              <a:spcBef>
                <a:spcPts val="0"/>
              </a:spcBef>
              <a:defRPr/>
            </a:pP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一个任务时间片耗尽后（无论它期间放弃了多次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，它的时间片不会被重置），它的优先级会被降低一级</a:t>
            </a:r>
            <a:endParaRPr lang="e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" altLang="zh-CN" sz="2000" dirty="0"/>
          </a:p>
          <a:p>
            <a:r>
              <a:rPr kumimoji="1" lang="en" altLang="zh-CN" sz="2400" dirty="0"/>
              <a:t>MLFQ</a:t>
            </a:r>
            <a:r>
              <a:rPr kumimoji="1" lang="zh-CN" altLang="en" sz="2400" dirty="0"/>
              <a:t>会</a:t>
            </a:r>
            <a:r>
              <a:rPr kumimoji="1" lang="zh-CN" altLang="en-US" sz="2400" dirty="0"/>
              <a:t>：</a:t>
            </a:r>
            <a:endParaRPr kumimoji="1" lang="en" altLang="zh-CN" sz="2400" dirty="0"/>
          </a:p>
          <a:p>
            <a:pPr lvl="1"/>
            <a:r>
              <a:rPr kumimoji="1" lang="zh-CN" altLang="en-US" sz="2000" dirty="0"/>
              <a:t>记录每个任务在当前优先级使用的时间片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当</a:t>
            </a:r>
            <a:r>
              <a:rPr kumimoji="1" lang="zh-CN" altLang="en-US" sz="2000" dirty="0"/>
              <a:t>累计一个完整时间片被用完后，降低其优先级</a:t>
            </a:r>
            <a:endParaRPr kumimoji="1" lang="en" altLang="zh-CN" sz="2000" dirty="0"/>
          </a:p>
          <a:p>
            <a:endParaRPr kumimoji="1" lang="zh-CN" altLang="en-US" sz="2000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8A89295-D92B-8A45-82E9-2F4425B5F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45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CAD7E0A-B49C-F147-84DA-6F109874F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更准确地记录执行时间（</a:t>
            </a:r>
            <a:r>
              <a:rPr kumimoji="1" lang="en-US" altLang="zh-CN" dirty="0"/>
              <a:t>Better</a:t>
            </a:r>
            <a:r>
              <a:rPr kumimoji="1" lang="zh-CN" altLang="en-US" dirty="0"/>
              <a:t> </a:t>
            </a:r>
            <a:r>
              <a:rPr kumimoji="1" lang="en-US" altLang="zh-CN" dirty="0"/>
              <a:t>Accounting</a:t>
            </a:r>
            <a:r>
              <a:rPr kumimoji="1"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006392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E1DA20D-6E38-B747-8444-39CB6747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174D2CD-4157-424F-A308-C6560F6D5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样例执行</a:t>
            </a:r>
            <a:r>
              <a:rPr kumimoji="1" lang="en-US" altLang="zh-CN" dirty="0"/>
              <a:t>5</a:t>
            </a:r>
            <a:endParaRPr kumimoji="1" lang="zh-CN" alt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0AB939A-8B57-8546-A3F9-A2C7B865D6D6}"/>
              </a:ext>
            </a:extLst>
          </p:cNvPr>
          <p:cNvSpPr txBox="1">
            <a:spLocks noChangeArrowheads="1"/>
          </p:cNvSpPr>
          <p:nvPr/>
        </p:nvSpPr>
        <p:spPr>
          <a:xfrm>
            <a:off x="899592" y="4660106"/>
            <a:ext cx="6792877" cy="642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kumimoji="1" lang="en-US" altLang="zh-CN" sz="1800" b="0" dirty="0">
                <a:solidFill>
                  <a:srgbClr val="000000"/>
                </a:solidFill>
                <a:ea typeface="宋体" panose="02010600030101010101" pitchFamily="2" charset="-122"/>
                <a:cs typeface="+mn-cs"/>
              </a:rPr>
              <a:t>5.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</a:rPr>
              <a:t>使用</a:t>
            </a:r>
            <a:r>
              <a:rPr kumimoji="1" lang="zh-CN" altLang="en-US" sz="1800" b="0" dirty="0">
                <a:solidFill>
                  <a:srgbClr val="000000"/>
                </a:solidFill>
                <a:ea typeface="微软雅黑"/>
                <a:cs typeface="+mn-cs"/>
              </a:rPr>
              <a:t>准确记录执行时间的前后对比（左为采用前，右为采用后）</a:t>
            </a:r>
            <a:endParaRPr kumimoji="1" lang="en-GB" altLang="zh-CN" sz="1800" b="0" dirty="0"/>
          </a:p>
        </p:txBody>
      </p:sp>
      <p:pic>
        <p:nvPicPr>
          <p:cNvPr id="7" name="图片 4">
            <a:extLst>
              <a:ext uri="{FF2B5EF4-FFF2-40B4-BE49-F238E27FC236}">
                <a16:creationId xmlns:a16="http://schemas.microsoft.com/office/drawing/2014/main" id="{54A610AF-C1F9-F246-9DA4-02D042E4F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303694"/>
            <a:ext cx="6684293" cy="31389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62542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8989BE2-E2C4-624E-B756-B14ECE3C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" sz="2400" dirty="0"/>
              <a:t>如何</a:t>
            </a:r>
            <a:r>
              <a:rPr kumimoji="1" lang="zh-CN" altLang="en-US" sz="2400" dirty="0"/>
              <a:t>确定</a:t>
            </a:r>
            <a:r>
              <a:rPr kumimoji="1" lang="en-US" altLang="zh-CN" sz="2400" dirty="0"/>
              <a:t>MLFQ</a:t>
            </a:r>
            <a:r>
              <a:rPr kumimoji="1" lang="zh-CN" altLang="en-US" sz="2400" dirty="0"/>
              <a:t>的各种参数？</a:t>
            </a:r>
            <a:endParaRPr kumimoji="1" lang="en-US" altLang="zh-CN" sz="2400" dirty="0"/>
          </a:p>
          <a:p>
            <a:pPr lvl="1"/>
            <a:r>
              <a:rPr kumimoji="1" lang="zh-CN" altLang="en" sz="2000" dirty="0"/>
              <a:t>优先级</a:t>
            </a:r>
            <a:r>
              <a:rPr kumimoji="1" lang="zh-CN" altLang="en-US" sz="2000" dirty="0"/>
              <a:t>队列的数量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不同</a:t>
            </a:r>
            <a:r>
              <a:rPr kumimoji="1" lang="zh-CN" altLang="en-US" sz="2000" dirty="0"/>
              <a:t>队列的时间片长短</a:t>
            </a:r>
            <a:endParaRPr kumimoji="1" lang="en" altLang="zh-CN" sz="2000" dirty="0"/>
          </a:p>
          <a:p>
            <a:pPr lvl="1"/>
            <a:r>
              <a:rPr kumimoji="1" lang="zh-CN" altLang="en" sz="2000" dirty="0"/>
              <a:t>定时</a:t>
            </a:r>
            <a:r>
              <a:rPr kumimoji="1" lang="zh-CN" altLang="en-US" sz="2000" dirty="0"/>
              <a:t>优先级提升的时间间隔</a:t>
            </a:r>
            <a:endParaRPr kumimoji="1" lang="en-US" altLang="zh-CN" sz="2000" dirty="0"/>
          </a:p>
          <a:p>
            <a:pPr lvl="1"/>
            <a:endParaRPr kumimoji="1" lang="en-US" altLang="zh-CN" sz="2000" dirty="0"/>
          </a:p>
          <a:p>
            <a:r>
              <a:rPr kumimoji="1" lang="zh-CN" altLang="en" sz="2400" dirty="0"/>
              <a:t>每个</a:t>
            </a:r>
            <a:r>
              <a:rPr kumimoji="1" lang="zh-CN" altLang="en-US" sz="2400" dirty="0"/>
              <a:t>参数都体现了</a:t>
            </a:r>
            <a:r>
              <a:rPr kumimoji="1" lang="en-US" altLang="zh-CN" sz="2400" dirty="0"/>
              <a:t>MLFQ</a:t>
            </a:r>
            <a:r>
              <a:rPr kumimoji="1" lang="zh-CN" altLang="en-US" sz="2400" dirty="0"/>
              <a:t>的权衡</a:t>
            </a:r>
            <a:endParaRPr kumimoji="1" lang="en" altLang="zh-CN" sz="2400" dirty="0"/>
          </a:p>
          <a:p>
            <a:pPr lvl="1"/>
            <a:r>
              <a:rPr kumimoji="1" lang="zh-CN" altLang="en" sz="2000" dirty="0"/>
              <a:t>对于</a:t>
            </a:r>
            <a:r>
              <a:rPr kumimoji="1" lang="zh-CN" altLang="en-US" sz="2000" dirty="0"/>
              <a:t>不同的工作场景，不同的参数会导致不一样的表现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AEF61F-D867-C944-BDDD-5A63FEF30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77EF576-5EEB-ED4C-87AD-6C35A817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的参数调试</a:t>
            </a:r>
          </a:p>
        </p:txBody>
      </p:sp>
    </p:spTree>
    <p:extLst>
      <p:ext uri="{BB962C8B-B14F-4D97-AF65-F5344CB8AC3E}">
        <p14:creationId xmlns:p14="http://schemas.microsoft.com/office/powerpoint/2010/main" val="22887478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A3F8AE9-B20F-F145-ADD0-C743C5486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为不同队列选择不同的时间片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高优先级队列时间片较短，针对短任务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提升响应时间</a:t>
            </a:r>
            <a:endParaRPr kumimoji="1" lang="en-US" altLang="zh-CN" sz="1800" dirty="0"/>
          </a:p>
          <a:p>
            <a:pPr lvl="1"/>
            <a:r>
              <a:rPr kumimoji="1" lang="zh-CN" altLang="en-US" sz="2000" dirty="0"/>
              <a:t>低优先级队列时间片较长，针对长任务</a:t>
            </a:r>
            <a:endParaRPr kumimoji="1" lang="en-US" altLang="zh-CN" sz="2000" dirty="0"/>
          </a:p>
          <a:p>
            <a:pPr lvl="2"/>
            <a:r>
              <a:rPr kumimoji="1" lang="zh-CN" altLang="en-US" sz="1800" dirty="0"/>
              <a:t>降低调度开销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906578-540A-F34D-8457-442538D2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48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05C378B-BBA6-AB4F-9D09-CD37E6A0A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各个队列时间片长短的选择</a:t>
            </a:r>
          </a:p>
        </p:txBody>
      </p:sp>
      <p:pic>
        <p:nvPicPr>
          <p:cNvPr id="5" name="图片 2">
            <a:extLst>
              <a:ext uri="{FF2B5EF4-FFF2-40B4-BE49-F238E27FC236}">
                <a16:creationId xmlns:a16="http://schemas.microsoft.com/office/drawing/2014/main" id="{816E3313-2F35-7640-B0BE-97FC4BF17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2031494"/>
            <a:ext cx="2483897" cy="211303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4086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082A392-90D1-414F-AD8E-355A66C8D2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" altLang="zh-CN" dirty="0"/>
              <a:t>Multi</a:t>
            </a:r>
            <a:r>
              <a:rPr kumimoji="1" lang="en-US" altLang="zh-CN" dirty="0"/>
              <a:t>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Feedback</a:t>
            </a:r>
            <a:r>
              <a:rPr kumimoji="1" lang="zh-CN" altLang="en-US" dirty="0"/>
              <a:t> </a:t>
            </a:r>
            <a:r>
              <a:rPr kumimoji="1" lang="en-US" altLang="zh-CN" dirty="0"/>
              <a:t>Queue</a:t>
            </a:r>
            <a:endParaRPr kumimoji="1" lang="en" altLang="zh-CN" dirty="0"/>
          </a:p>
          <a:p>
            <a:pPr lvl="1"/>
            <a:r>
              <a:rPr kumimoji="1" lang="zh-CN" altLang="en-US" dirty="0"/>
              <a:t>通过观察任务的历史执行，动态确定任务优先级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无需任务的先验知识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同时达到了周转时间和响应时间两方面的要求</a:t>
            </a:r>
            <a:endParaRPr kumimoji="1" lang="en" altLang="zh-CN" dirty="0"/>
          </a:p>
          <a:p>
            <a:pPr lvl="2"/>
            <a:r>
              <a:rPr kumimoji="1" lang="zh-CN" altLang="en" dirty="0"/>
              <a:t>对于</a:t>
            </a:r>
            <a:r>
              <a:rPr kumimoji="1" lang="zh-CN" altLang="en-US" dirty="0"/>
              <a:t>短任务，周转时间指标近似于</a:t>
            </a:r>
            <a:r>
              <a:rPr kumimoji="1" lang="en-US" altLang="zh-CN" dirty="0"/>
              <a:t>SJF</a:t>
            </a:r>
          </a:p>
          <a:p>
            <a:pPr lvl="2"/>
            <a:r>
              <a:rPr kumimoji="1" lang="zh-CN" altLang="en-US" dirty="0"/>
              <a:t>对于交互式任务，响应时间指标近似于</a:t>
            </a:r>
            <a:r>
              <a:rPr kumimoji="1" lang="en-US" altLang="zh-CN" dirty="0"/>
              <a:t>RR</a:t>
            </a:r>
          </a:p>
          <a:p>
            <a:pPr lvl="1"/>
            <a:r>
              <a:rPr kumimoji="1" lang="zh-CN" altLang="en" dirty="0"/>
              <a:t>可以避免</a:t>
            </a:r>
            <a:r>
              <a:rPr kumimoji="1" lang="zh-CN" altLang="en-US" dirty="0"/>
              <a:t>长任务的饿死</a:t>
            </a:r>
            <a:endParaRPr kumimoji="1" lang="en-US" altLang="zh-CN" dirty="0"/>
          </a:p>
          <a:p>
            <a:r>
              <a:rPr kumimoji="1" lang="zh-CN" altLang="en" dirty="0"/>
              <a:t>许多</a:t>
            </a:r>
            <a:r>
              <a:rPr kumimoji="1" lang="zh-CN" altLang="en-US" dirty="0"/>
              <a:t>著名系统的调度器是基于</a:t>
            </a:r>
            <a:r>
              <a:rPr kumimoji="1" lang="en-US" altLang="zh-CN" dirty="0"/>
              <a:t>MLFQ</a:t>
            </a:r>
            <a:r>
              <a:rPr kumimoji="1" lang="zh-CN" altLang="en-US"/>
              <a:t>实现的</a:t>
            </a:r>
            <a:endParaRPr kumimoji="1" lang="en" altLang="zh-CN" dirty="0"/>
          </a:p>
          <a:p>
            <a:pPr lvl="1"/>
            <a:r>
              <a:rPr kumimoji="1" lang="en" altLang="zh-CN" dirty="0"/>
              <a:t>BSD, Solaris, Windows NT </a:t>
            </a:r>
            <a:r>
              <a:rPr kumimoji="1" lang="zh-CN" altLang="en" dirty="0"/>
              <a:t>和</a:t>
            </a:r>
            <a:r>
              <a:rPr kumimoji="1" lang="zh-CN" altLang="en-US" dirty="0"/>
              <a:t>后续</a:t>
            </a:r>
            <a:r>
              <a:rPr kumimoji="1" lang="en" altLang="zh-CN" dirty="0"/>
              <a:t>Windows</a:t>
            </a:r>
            <a:r>
              <a:rPr kumimoji="1" lang="zh-CN" altLang="en" dirty="0"/>
              <a:t>操作系统</a:t>
            </a:r>
            <a:endParaRPr kumimoji="1" lang="en" altLang="zh-CN" dirty="0"/>
          </a:p>
          <a:p>
            <a:endParaRPr kumimoji="1"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54141EE-D49C-ED4A-82B8-51AA49CC3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49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E18EF39-93F9-2641-B9B7-BA51EA524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MLFQ</a:t>
            </a:r>
            <a:r>
              <a:rPr kumimoji="1" lang="zh-CN" altLang="en-US" dirty="0"/>
              <a:t>总结</a:t>
            </a:r>
          </a:p>
        </p:txBody>
      </p:sp>
    </p:spTree>
    <p:extLst>
      <p:ext uri="{BB962C8B-B14F-4D97-AF65-F5344CB8AC3E}">
        <p14:creationId xmlns:p14="http://schemas.microsoft.com/office/powerpoint/2010/main" val="15045014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公平共享调度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Fair-Share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7067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02B017-C18C-3048-A146-5D1CFE4B1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70494B72-8749-064E-94B7-D9EE4E72B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场景：共享服务器</a:t>
            </a:r>
          </a:p>
        </p:txBody>
      </p:sp>
      <p:pic>
        <p:nvPicPr>
          <p:cNvPr id="6" name="图形 5" descr="用户">
            <a:extLst>
              <a:ext uri="{FF2B5EF4-FFF2-40B4-BE49-F238E27FC236}">
                <a16:creationId xmlns:a16="http://schemas.microsoft.com/office/drawing/2014/main" id="{ECDCB32D-F60F-0445-9643-81E09F54A1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43761" y="4067226"/>
            <a:ext cx="673224" cy="673224"/>
          </a:xfrm>
          <a:prstGeom prst="rect">
            <a:avLst/>
          </a:prstGeom>
        </p:spPr>
      </p:pic>
      <p:sp>
        <p:nvSpPr>
          <p:cNvPr id="11" name="云形 10">
            <a:extLst>
              <a:ext uri="{FF2B5EF4-FFF2-40B4-BE49-F238E27FC236}">
                <a16:creationId xmlns:a16="http://schemas.microsoft.com/office/drawing/2014/main" id="{97C2EE60-D483-5046-A46C-42F6A73805F0}"/>
              </a:ext>
            </a:extLst>
          </p:cNvPr>
          <p:cNvSpPr/>
          <p:nvPr/>
        </p:nvSpPr>
        <p:spPr>
          <a:xfrm>
            <a:off x="3995935" y="1729600"/>
            <a:ext cx="4900353" cy="2163149"/>
          </a:xfrm>
          <a:prstGeom prst="clou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" name="图形 18" descr="用户">
            <a:extLst>
              <a:ext uri="{FF2B5EF4-FFF2-40B4-BE49-F238E27FC236}">
                <a16:creationId xmlns:a16="http://schemas.microsoft.com/office/drawing/2014/main" id="{0E117A69-2760-7B45-A0AF-487BACFE1F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2240" y="4067226"/>
            <a:ext cx="673224" cy="673224"/>
          </a:xfrm>
          <a:prstGeom prst="rect">
            <a:avLst/>
          </a:prstGeom>
        </p:spPr>
      </p:pic>
      <p:sp>
        <p:nvSpPr>
          <p:cNvPr id="2" name="圆角矩形 1">
            <a:extLst>
              <a:ext uri="{FF2B5EF4-FFF2-40B4-BE49-F238E27FC236}">
                <a16:creationId xmlns:a16="http://schemas.microsoft.com/office/drawing/2014/main" id="{CF0D1C01-1AF2-EB4B-BA64-C0EE804C3E85}"/>
              </a:ext>
            </a:extLst>
          </p:cNvPr>
          <p:cNvSpPr/>
          <p:nvPr/>
        </p:nvSpPr>
        <p:spPr>
          <a:xfrm>
            <a:off x="4602222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249FFBFA-CF0A-814A-ACFF-AF5CD59E3AB6}"/>
              </a:ext>
            </a:extLst>
          </p:cNvPr>
          <p:cNvSpPr/>
          <p:nvPr/>
        </p:nvSpPr>
        <p:spPr>
          <a:xfrm>
            <a:off x="5045900" y="2451884"/>
            <a:ext cx="334581" cy="504056"/>
          </a:xfrm>
          <a:prstGeom prst="roundRect">
            <a:avLst/>
          </a:prstGeom>
          <a:solidFill>
            <a:srgbClr val="6987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564A2E05-6151-6F44-A81F-5E86D8C8CA9F}"/>
              </a:ext>
            </a:extLst>
          </p:cNvPr>
          <p:cNvSpPr/>
          <p:nvPr/>
        </p:nvSpPr>
        <p:spPr>
          <a:xfrm>
            <a:off x="5480134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DA1B85A5-0DD3-7248-BCA3-B9B7C6612584}"/>
              </a:ext>
            </a:extLst>
          </p:cNvPr>
          <p:cNvSpPr/>
          <p:nvPr/>
        </p:nvSpPr>
        <p:spPr>
          <a:xfrm>
            <a:off x="5914368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3A4C4391-0B7C-8C4B-97CC-0F699F621A16}"/>
              </a:ext>
            </a:extLst>
          </p:cNvPr>
          <p:cNvSpPr/>
          <p:nvPr/>
        </p:nvSpPr>
        <p:spPr>
          <a:xfrm>
            <a:off x="6344208" y="2451884"/>
            <a:ext cx="334581" cy="50405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DB8B2B08-8689-9648-A353-8CCD27E92F09}"/>
              </a:ext>
            </a:extLst>
          </p:cNvPr>
          <p:cNvCxnSpPr>
            <a:cxnSpLocks/>
            <a:endCxn id="2" idx="2"/>
          </p:cNvCxnSpPr>
          <p:nvPr/>
        </p:nvCxnSpPr>
        <p:spPr>
          <a:xfrm flipV="1">
            <a:off x="4611666" y="2955940"/>
            <a:ext cx="157847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1BDA606-8A0D-3F49-BC8F-1E8B381BE10C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4632773" y="2955940"/>
            <a:ext cx="1014652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E2643269-7075-FA46-A754-675B80BF7108}"/>
              </a:ext>
            </a:extLst>
          </p:cNvPr>
          <p:cNvCxnSpPr>
            <a:cxnSpLocks/>
            <a:endCxn id="23" idx="2"/>
          </p:cNvCxnSpPr>
          <p:nvPr/>
        </p:nvCxnSpPr>
        <p:spPr>
          <a:xfrm flipV="1">
            <a:off x="4632773" y="2955940"/>
            <a:ext cx="1448886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CDD59690-EC6E-4E4F-A4AA-4215B37FF7DE}"/>
              </a:ext>
            </a:extLst>
          </p:cNvPr>
          <p:cNvCxnSpPr>
            <a:cxnSpLocks/>
            <a:endCxn id="25" idx="2"/>
          </p:cNvCxnSpPr>
          <p:nvPr/>
        </p:nvCxnSpPr>
        <p:spPr>
          <a:xfrm flipV="1">
            <a:off x="4616167" y="2955940"/>
            <a:ext cx="1895332" cy="1263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7B04A2EF-A3D7-744D-85D6-6E624ED02A6C}"/>
              </a:ext>
            </a:extLst>
          </p:cNvPr>
          <p:cNvCxnSpPr>
            <a:cxnSpLocks/>
            <a:stCxn id="19" idx="1"/>
            <a:endCxn id="21" idx="2"/>
          </p:cNvCxnSpPr>
          <p:nvPr/>
        </p:nvCxnSpPr>
        <p:spPr>
          <a:xfrm flipH="1" flipV="1">
            <a:off x="5213191" y="2955940"/>
            <a:ext cx="1519049" cy="14478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右箭头 36">
            <a:extLst>
              <a:ext uri="{FF2B5EF4-FFF2-40B4-BE49-F238E27FC236}">
                <a16:creationId xmlns:a16="http://schemas.microsoft.com/office/drawing/2014/main" id="{58E4EC88-BC8A-E140-A16C-983EB315A2AB}"/>
              </a:ext>
            </a:extLst>
          </p:cNvPr>
          <p:cNvSpPr/>
          <p:nvPr/>
        </p:nvSpPr>
        <p:spPr>
          <a:xfrm>
            <a:off x="6777508" y="2614608"/>
            <a:ext cx="354398" cy="2520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76A15F8-6ABC-BF42-804C-F7BE75CF2057}"/>
              </a:ext>
            </a:extLst>
          </p:cNvPr>
          <p:cNvSpPr txBox="1"/>
          <p:nvPr/>
        </p:nvSpPr>
        <p:spPr>
          <a:xfrm>
            <a:off x="3687549" y="4801716"/>
            <a:ext cx="169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</a:t>
            </a:r>
            <a:r>
              <a:rPr kumimoji="1" lang="zh-CN" altLang="en-US" dirty="0"/>
              <a:t>发起</a:t>
            </a:r>
            <a:r>
              <a:rPr kumimoji="1" lang="en-US" altLang="zh-CN" dirty="0"/>
              <a:t>4</a:t>
            </a:r>
            <a:r>
              <a:rPr kumimoji="1" lang="zh-CN" altLang="en-US" dirty="0"/>
              <a:t>个任务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ABAC88F-083E-E247-A700-59297179F2FF}"/>
              </a:ext>
            </a:extLst>
          </p:cNvPr>
          <p:cNvSpPr txBox="1"/>
          <p:nvPr/>
        </p:nvSpPr>
        <p:spPr>
          <a:xfrm>
            <a:off x="6284979" y="4834040"/>
            <a:ext cx="1692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B</a:t>
            </a:r>
            <a:r>
              <a:rPr kumimoji="1" lang="zh-CN" altLang="en-US" dirty="0"/>
              <a:t>发起</a:t>
            </a:r>
            <a:r>
              <a:rPr kumimoji="1" lang="en-US" altLang="zh-CN" dirty="0"/>
              <a:t>1</a:t>
            </a:r>
            <a:r>
              <a:rPr kumimoji="1" lang="zh-CN" altLang="en-US" dirty="0"/>
              <a:t>个任务</a:t>
            </a:r>
          </a:p>
        </p:txBody>
      </p:sp>
      <p:pic>
        <p:nvPicPr>
          <p:cNvPr id="43" name="图形 42" descr="处理器">
            <a:extLst>
              <a:ext uri="{FF2B5EF4-FFF2-40B4-BE49-F238E27FC236}">
                <a16:creationId xmlns:a16="http://schemas.microsoft.com/office/drawing/2014/main" id="{7274385A-CBA2-7E4F-835D-EE8FC13A536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159551" y="2413265"/>
            <a:ext cx="654713" cy="654713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33D0CA47-0FBF-4C42-A8BD-193A7F1F248F}"/>
              </a:ext>
            </a:extLst>
          </p:cNvPr>
          <p:cNvSpPr txBox="1"/>
          <p:nvPr/>
        </p:nvSpPr>
        <p:spPr>
          <a:xfrm>
            <a:off x="6450883" y="2051152"/>
            <a:ext cx="2110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CPU</a:t>
            </a:r>
            <a:r>
              <a:rPr kumimoji="1" lang="zh-CN" altLang="en-US" dirty="0"/>
              <a:t>（时间片轮转）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0B8D993-B7FB-CC4F-AC03-52073EFBF6EF}"/>
              </a:ext>
            </a:extLst>
          </p:cNvPr>
          <p:cNvSpPr txBox="1"/>
          <p:nvPr/>
        </p:nvSpPr>
        <p:spPr>
          <a:xfrm>
            <a:off x="5243314" y="2083006"/>
            <a:ext cx="1100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任务队列</a:t>
            </a:r>
          </a:p>
        </p:txBody>
      </p:sp>
      <p:sp>
        <p:nvSpPr>
          <p:cNvPr id="49" name="内容占位符 2">
            <a:extLst>
              <a:ext uri="{FF2B5EF4-FFF2-40B4-BE49-F238E27FC236}">
                <a16:creationId xmlns:a16="http://schemas.microsoft.com/office/drawing/2014/main" id="{1FDACA10-42EB-DB48-8FA6-81CB7845E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978" y="1280437"/>
            <a:ext cx="8229600" cy="3771636"/>
          </a:xfrm>
        </p:spPr>
        <p:txBody>
          <a:bodyPr>
            <a:normAutofit/>
          </a:bodyPr>
          <a:lstStyle/>
          <a:p>
            <a:r>
              <a:rPr kumimoji="1" lang="en-US" altLang="zh-CN" sz="1800" dirty="0"/>
              <a:t>A</a:t>
            </a:r>
            <a:r>
              <a:rPr kumimoji="1" lang="zh-CN" altLang="en-US" sz="1800" dirty="0"/>
              <a:t>和</a:t>
            </a:r>
            <a:r>
              <a:rPr kumimoji="1" lang="en-US" altLang="zh-CN" sz="1800" dirty="0"/>
              <a:t>B</a:t>
            </a:r>
            <a:r>
              <a:rPr kumimoji="1" lang="zh-CN" altLang="en-US" sz="1800" dirty="0"/>
              <a:t>两位同学合资买了一台服务器，他们每人负担了一半的费用</a:t>
            </a:r>
            <a:endParaRPr kumimoji="1" lang="en-US" altLang="zh-CN" sz="1800" dirty="0"/>
          </a:p>
          <a:p>
            <a:pPr lvl="1"/>
            <a:endParaRPr kumimoji="1" lang="en-US" altLang="zh-CN" sz="1600" dirty="0"/>
          </a:p>
          <a:p>
            <a:r>
              <a:rPr kumimoji="1" lang="zh-CN" altLang="en-US" sz="1800" dirty="0"/>
              <a:t>两人应</a:t>
            </a:r>
            <a:r>
              <a:rPr kumimoji="1" lang="zh-CN" altLang="en-US" sz="1800" dirty="0">
                <a:solidFill>
                  <a:srgbClr val="C00000"/>
                </a:solidFill>
              </a:rPr>
              <a:t>均分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时间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而非被发起的任务数量决定</a:t>
            </a:r>
            <a:endParaRPr kumimoji="1" lang="en-US" altLang="zh-CN" sz="1600" dirty="0"/>
          </a:p>
          <a:p>
            <a:pPr lvl="1"/>
            <a:endParaRPr kumimoji="1" lang="en-US" altLang="zh-CN" sz="1600" dirty="0"/>
          </a:p>
          <a:p>
            <a:r>
              <a:rPr kumimoji="1" lang="zh-CN" altLang="en-US" sz="1800" dirty="0"/>
              <a:t>如果</a:t>
            </a:r>
            <a:r>
              <a:rPr kumimoji="1" lang="en-US" altLang="zh-CN" sz="1800" dirty="0"/>
              <a:t>CPU</a:t>
            </a:r>
            <a:r>
              <a:rPr kumimoji="1" lang="zh-CN" altLang="en-US" sz="1800" dirty="0"/>
              <a:t>使用时间片轮转调度</a:t>
            </a:r>
            <a:endParaRPr kumimoji="1" lang="en-US" altLang="zh-CN" sz="1800" dirty="0"/>
          </a:p>
          <a:p>
            <a:pPr lvl="1"/>
            <a:r>
              <a:rPr kumimoji="1" lang="en-US" altLang="zh-CN" sz="1600" dirty="0"/>
              <a:t>A</a:t>
            </a:r>
            <a:r>
              <a:rPr kumimoji="1" lang="zh-CN" altLang="en-US" sz="1600" dirty="0"/>
              <a:t>占用</a:t>
            </a:r>
            <a:r>
              <a:rPr kumimoji="1" lang="en-US" altLang="zh-CN" sz="1600" dirty="0"/>
              <a:t>80%CPU</a:t>
            </a:r>
            <a:r>
              <a:rPr kumimoji="1" lang="zh-CN" altLang="en-US" sz="1600" dirty="0"/>
              <a:t>时间</a:t>
            </a:r>
            <a:endParaRPr kumimoji="1" lang="en-US" altLang="zh-CN" sz="1600" dirty="0"/>
          </a:p>
          <a:p>
            <a:pPr lvl="1"/>
            <a:r>
              <a:rPr kumimoji="1" lang="en-US" altLang="zh-CN" sz="1600" dirty="0"/>
              <a:t>B</a:t>
            </a:r>
            <a:r>
              <a:rPr kumimoji="1" lang="zh-CN" altLang="en-US" sz="1600" dirty="0"/>
              <a:t>占用</a:t>
            </a:r>
            <a:r>
              <a:rPr kumimoji="1" lang="en-US" altLang="zh-CN" sz="1600" dirty="0"/>
              <a:t>20%CPU</a:t>
            </a:r>
            <a:r>
              <a:rPr kumimoji="1" lang="zh-CN" altLang="en-US" sz="1600" dirty="0"/>
              <a:t>时间</a:t>
            </a:r>
            <a:endParaRPr kumimoji="1"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23221005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FD8BC5-13BB-304D-A944-3DD842E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公平共享（用户级，非任务级）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3A026-1701-6B41-84C5-E1E331299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每个用户占用的资源是成比例的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而非被任务的数量决定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每个用户占用的资源是可以被计算的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设定</a:t>
            </a:r>
            <a:r>
              <a:rPr kumimoji="1" lang="en-US" altLang="zh-CN" dirty="0"/>
              <a:t>"</a:t>
            </a:r>
            <a:r>
              <a:rPr kumimoji="1" lang="zh-CN" altLang="en-US" dirty="0"/>
              <a:t>权重值</a:t>
            </a:r>
            <a:r>
              <a:rPr kumimoji="1" lang="en-US" altLang="zh-CN" dirty="0"/>
              <a:t>"</a:t>
            </a:r>
            <a:r>
              <a:rPr kumimoji="1" lang="zh-CN" altLang="en-US" dirty="0"/>
              <a:t>以确定相对比例（绝对值不重要）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例：权重为</a:t>
            </a:r>
            <a:r>
              <a:rPr kumimoji="1" lang="en-US" altLang="zh-CN" dirty="0"/>
              <a:t>4</a:t>
            </a:r>
            <a:r>
              <a:rPr kumimoji="1" lang="zh-CN" altLang="en-US" dirty="0"/>
              <a:t>的用户使用资源，是权重为</a:t>
            </a:r>
            <a:r>
              <a:rPr kumimoji="1" lang="en-US" altLang="zh-CN" dirty="0"/>
              <a:t>2</a:t>
            </a:r>
            <a:r>
              <a:rPr kumimoji="1" lang="zh-CN" altLang="en-US" dirty="0"/>
              <a:t>的用户的</a:t>
            </a:r>
            <a:r>
              <a:rPr kumimoji="1" lang="en-US" altLang="zh-CN" dirty="0"/>
              <a:t>2</a:t>
            </a:r>
            <a:r>
              <a:rPr kumimoji="1" lang="zh-CN" altLang="en-US" dirty="0"/>
              <a:t>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0B08BA-50FD-CD49-AE52-A5B60D146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5D6FAB-5ACB-484D-A792-41FAB11DD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56619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0EB56D-8F9C-0E41-9D5A-182653C09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添加条件：一个同学会问多个问题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27FC9D-F533-7341-A6CA-6947A593B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291E04-2CA7-1B47-A0C1-23A28AC9EF1A}"/>
              </a:ext>
            </a:extLst>
          </p:cNvPr>
          <p:cNvGrpSpPr/>
          <p:nvPr/>
        </p:nvGrpSpPr>
        <p:grpSpPr>
          <a:xfrm>
            <a:off x="741760" y="2745484"/>
            <a:ext cx="914400" cy="965540"/>
            <a:chOff x="2184748" y="3721596"/>
            <a:chExt cx="914400" cy="965540"/>
          </a:xfrm>
        </p:grpSpPr>
        <p:pic>
          <p:nvPicPr>
            <p:cNvPr id="6" name="图形 5" descr="用户">
              <a:extLst>
                <a:ext uri="{FF2B5EF4-FFF2-40B4-BE49-F238E27FC236}">
                  <a16:creationId xmlns:a16="http://schemas.microsoft.com/office/drawing/2014/main" id="{A98E13A8-0D97-0746-871B-2349F9E80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84748" y="3772736"/>
              <a:ext cx="914400" cy="914400"/>
            </a:xfrm>
            <a:prstGeom prst="rect">
              <a:avLst/>
            </a:prstGeom>
          </p:spPr>
        </p:pic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F806FA82-2663-DA4E-98B9-BB3998D34D05}"/>
                </a:ext>
              </a:extLst>
            </p:cNvPr>
            <p:cNvGrpSpPr/>
            <p:nvPr/>
          </p:nvGrpSpPr>
          <p:grpSpPr>
            <a:xfrm>
              <a:off x="2430293" y="3721596"/>
              <a:ext cx="423310" cy="423310"/>
              <a:chOff x="2348489" y="3580911"/>
              <a:chExt cx="586916" cy="586916"/>
            </a:xfrm>
          </p:grpSpPr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0FFC74FC-2E1A-5D4F-A3F8-F95F2E7D02A9}"/>
                  </a:ext>
                </a:extLst>
              </p:cNvPr>
              <p:cNvSpPr/>
              <p:nvPr/>
            </p:nvSpPr>
            <p:spPr>
              <a:xfrm>
                <a:off x="2435855" y="3747852"/>
                <a:ext cx="412186" cy="28803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pic>
            <p:nvPicPr>
              <p:cNvPr id="9" name="图形 8" descr="学位帽">
                <a:extLst>
                  <a:ext uri="{FF2B5EF4-FFF2-40B4-BE49-F238E27FC236}">
                    <a16:creationId xmlns:a16="http://schemas.microsoft.com/office/drawing/2014/main" id="{7440FCEA-B8B7-3C41-97F8-8FE85E2774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348489" y="3580911"/>
                <a:ext cx="586916" cy="586916"/>
              </a:xfrm>
              <a:prstGeom prst="rect">
                <a:avLst/>
              </a:prstGeom>
            </p:spPr>
          </p:pic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FDAE441-6D64-8E4E-A420-DB1F5045E259}"/>
              </a:ext>
            </a:extLst>
          </p:cNvPr>
          <p:cNvGrpSpPr/>
          <p:nvPr/>
        </p:nvGrpSpPr>
        <p:grpSpPr>
          <a:xfrm>
            <a:off x="5463356" y="1763030"/>
            <a:ext cx="914400" cy="914400"/>
            <a:chOff x="3968174" y="2217839"/>
            <a:chExt cx="914400" cy="914400"/>
          </a:xfrm>
        </p:grpSpPr>
        <p:pic>
          <p:nvPicPr>
            <p:cNvPr id="11" name="图形 10" descr="男性形象">
              <a:extLst>
                <a:ext uri="{FF2B5EF4-FFF2-40B4-BE49-F238E27FC236}">
                  <a16:creationId xmlns:a16="http://schemas.microsoft.com/office/drawing/2014/main" id="{0B5E81DF-6BF3-7B42-A59F-9C80ADA2E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C6FD2887-D6A3-564B-943B-4A97B20B4F50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5CE1A7B-B591-6243-9539-8CBA9E266BEB}"/>
              </a:ext>
            </a:extLst>
          </p:cNvPr>
          <p:cNvGrpSpPr/>
          <p:nvPr/>
        </p:nvGrpSpPr>
        <p:grpSpPr>
          <a:xfrm>
            <a:off x="2766243" y="1531080"/>
            <a:ext cx="914400" cy="914400"/>
            <a:chOff x="4114800" y="2400300"/>
            <a:chExt cx="914400" cy="914400"/>
          </a:xfrm>
        </p:grpSpPr>
        <p:pic>
          <p:nvPicPr>
            <p:cNvPr id="17" name="图形 16" descr="纸张">
              <a:extLst>
                <a:ext uri="{FF2B5EF4-FFF2-40B4-BE49-F238E27FC236}">
                  <a16:creationId xmlns:a16="http://schemas.microsoft.com/office/drawing/2014/main" id="{3A50259B-1978-FD4A-8252-85057A5F5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EBA5E28-555F-B44A-8CA6-5366A299EA96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A1</a:t>
              </a:r>
              <a:endParaRPr kumimoji="1" lang="zh-CN" altLang="en-US" b="1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89CC3D9-DB0B-9240-B905-4C214BBA5C4B}"/>
              </a:ext>
            </a:extLst>
          </p:cNvPr>
          <p:cNvGrpSpPr/>
          <p:nvPr/>
        </p:nvGrpSpPr>
        <p:grpSpPr>
          <a:xfrm>
            <a:off x="2766243" y="2492330"/>
            <a:ext cx="914400" cy="914400"/>
            <a:chOff x="4114800" y="2400300"/>
            <a:chExt cx="914400" cy="914400"/>
          </a:xfrm>
        </p:grpSpPr>
        <p:pic>
          <p:nvPicPr>
            <p:cNvPr id="21" name="图形 20" descr="纸张">
              <a:extLst>
                <a:ext uri="{FF2B5EF4-FFF2-40B4-BE49-F238E27FC236}">
                  <a16:creationId xmlns:a16="http://schemas.microsoft.com/office/drawing/2014/main" id="{93C5FCDB-5F97-464D-A8DA-8E4B6E089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4FC22E4-2DBD-0D44-AFB9-34C447DE4AC1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A2</a:t>
              </a:r>
              <a:endParaRPr kumimoji="1" lang="zh-CN" altLang="en-US" b="1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A361E2E1-7652-E747-A1DF-2FB21D54B66A}"/>
              </a:ext>
            </a:extLst>
          </p:cNvPr>
          <p:cNvGrpSpPr/>
          <p:nvPr/>
        </p:nvGrpSpPr>
        <p:grpSpPr>
          <a:xfrm>
            <a:off x="2774958" y="3952267"/>
            <a:ext cx="914400" cy="914400"/>
            <a:chOff x="4114800" y="2400300"/>
            <a:chExt cx="914400" cy="914400"/>
          </a:xfrm>
        </p:grpSpPr>
        <p:pic>
          <p:nvPicPr>
            <p:cNvPr id="27" name="图形 26" descr="纸张">
              <a:extLst>
                <a:ext uri="{FF2B5EF4-FFF2-40B4-BE49-F238E27FC236}">
                  <a16:creationId xmlns:a16="http://schemas.microsoft.com/office/drawing/2014/main" id="{DCE9D7D1-286B-4149-8F87-973D51D75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C4BE873-65BD-C74D-95A3-DF379AFED79D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B1</a:t>
              </a:r>
              <a:endParaRPr kumimoji="1" lang="zh-CN" altLang="en-US" b="1" dirty="0"/>
            </a:p>
          </p:txBody>
        </p:sp>
      </p:grpSp>
      <p:sp>
        <p:nvSpPr>
          <p:cNvPr id="29" name="左箭头 28">
            <a:extLst>
              <a:ext uri="{FF2B5EF4-FFF2-40B4-BE49-F238E27FC236}">
                <a16:creationId xmlns:a16="http://schemas.microsoft.com/office/drawing/2014/main" id="{C341301F-DBBB-F247-A10E-1CEA56359EE8}"/>
              </a:ext>
            </a:extLst>
          </p:cNvPr>
          <p:cNvSpPr/>
          <p:nvPr/>
        </p:nvSpPr>
        <p:spPr>
          <a:xfrm>
            <a:off x="4119531" y="2007188"/>
            <a:ext cx="904936" cy="42608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左箭头 29">
            <a:extLst>
              <a:ext uri="{FF2B5EF4-FFF2-40B4-BE49-F238E27FC236}">
                <a16:creationId xmlns:a16="http://schemas.microsoft.com/office/drawing/2014/main" id="{B866B74F-E579-6F42-AF53-F610CE84C07A}"/>
              </a:ext>
            </a:extLst>
          </p:cNvPr>
          <p:cNvSpPr/>
          <p:nvPr/>
        </p:nvSpPr>
        <p:spPr>
          <a:xfrm>
            <a:off x="4119531" y="4129452"/>
            <a:ext cx="904936" cy="42608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左箭头 30">
            <a:extLst>
              <a:ext uri="{FF2B5EF4-FFF2-40B4-BE49-F238E27FC236}">
                <a16:creationId xmlns:a16="http://schemas.microsoft.com/office/drawing/2014/main" id="{13A8F9D5-4CB5-2A44-B23A-04DC83737187}"/>
              </a:ext>
            </a:extLst>
          </p:cNvPr>
          <p:cNvSpPr/>
          <p:nvPr/>
        </p:nvSpPr>
        <p:spPr>
          <a:xfrm rot="1800000">
            <a:off x="1718178" y="3839460"/>
            <a:ext cx="904936" cy="42608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左箭头 31">
            <a:extLst>
              <a:ext uri="{FF2B5EF4-FFF2-40B4-BE49-F238E27FC236}">
                <a16:creationId xmlns:a16="http://schemas.microsoft.com/office/drawing/2014/main" id="{0A5538C5-A439-CF4D-AA87-64639AB4E6D0}"/>
              </a:ext>
            </a:extLst>
          </p:cNvPr>
          <p:cNvSpPr/>
          <p:nvPr/>
        </p:nvSpPr>
        <p:spPr>
          <a:xfrm rot="19800000">
            <a:off x="1676910" y="2263601"/>
            <a:ext cx="904936" cy="426083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A00DAA9-14A1-F148-9FAE-2E42119D5B9C}"/>
              </a:ext>
            </a:extLst>
          </p:cNvPr>
          <p:cNvSpPr txBox="1"/>
          <p:nvPr/>
        </p:nvSpPr>
        <p:spPr>
          <a:xfrm>
            <a:off x="6446192" y="4083745"/>
            <a:ext cx="2312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A</a:t>
            </a:r>
            <a:r>
              <a:rPr kumimoji="1" lang="zh-CN" altLang="en-US" dirty="0"/>
              <a:t>耍赖！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我们应该平分学霸！</a:t>
            </a:r>
            <a:endParaRPr kumimoji="1" lang="en-US" altLang="zh-CN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261BA9F-0405-6C4E-B44C-8B7F3E987684}"/>
              </a:ext>
            </a:extLst>
          </p:cNvPr>
          <p:cNvSpPr txBox="1"/>
          <p:nvPr/>
        </p:nvSpPr>
        <p:spPr>
          <a:xfrm>
            <a:off x="6446192" y="1902944"/>
            <a:ext cx="2133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学霸</a:t>
            </a:r>
            <a:r>
              <a:rPr kumimoji="1" lang="en-US" altLang="zh-CN" dirty="0"/>
              <a:t>66.6%</a:t>
            </a:r>
            <a:r>
              <a:rPr kumimoji="1" lang="zh-CN" altLang="en-US" dirty="0"/>
              <a:t>时间都会回答我的问题</a:t>
            </a:r>
            <a:endParaRPr kumimoji="1" lang="en-US" altLang="zh-CN" dirty="0"/>
          </a:p>
        </p:txBody>
      </p:sp>
      <p:sp>
        <p:nvSpPr>
          <p:cNvPr id="35" name="页脚占位符 4">
            <a:extLst>
              <a:ext uri="{FF2B5EF4-FFF2-40B4-BE49-F238E27FC236}">
                <a16:creationId xmlns:a16="http://schemas.microsoft.com/office/drawing/2014/main" id="{426AC6C5-5470-E142-9789-491EDAC4DB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595420FB-698B-604B-BE33-7241A9C42F2F}"/>
              </a:ext>
            </a:extLst>
          </p:cNvPr>
          <p:cNvGrpSpPr/>
          <p:nvPr/>
        </p:nvGrpSpPr>
        <p:grpSpPr>
          <a:xfrm>
            <a:off x="5463356" y="3970104"/>
            <a:ext cx="914400" cy="914400"/>
            <a:chOff x="3968174" y="2217839"/>
            <a:chExt cx="914400" cy="914400"/>
          </a:xfrm>
        </p:grpSpPr>
        <p:pic>
          <p:nvPicPr>
            <p:cNvPr id="37" name="图形 36" descr="男性形象">
              <a:extLst>
                <a:ext uri="{FF2B5EF4-FFF2-40B4-BE49-F238E27FC236}">
                  <a16:creationId xmlns:a16="http://schemas.microsoft.com/office/drawing/2014/main" id="{D2C4377F-3FE9-6346-96A3-4EEDB9032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5F75D969-8082-4949-8CB4-FE58AA3198FB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5722015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FB4652-53DA-DE49-A5F8-E021CCEB9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方法：使用</a:t>
            </a:r>
            <a:r>
              <a:rPr kumimoji="1" lang="en-US" altLang="zh-CN" dirty="0"/>
              <a:t>"ticket"</a:t>
            </a:r>
            <a:r>
              <a:rPr kumimoji="1" lang="zh-CN" altLang="en-US" dirty="0"/>
              <a:t>表示任务的权重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FE00FB-9E25-7449-9FEF-8899D792D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7859EBF-DC06-7346-A636-CD1C89A1C8FB}"/>
              </a:ext>
            </a:extLst>
          </p:cNvPr>
          <p:cNvGrpSpPr/>
          <p:nvPr/>
        </p:nvGrpSpPr>
        <p:grpSpPr>
          <a:xfrm>
            <a:off x="4893448" y="2191825"/>
            <a:ext cx="914400" cy="914400"/>
            <a:chOff x="3968174" y="2217839"/>
            <a:chExt cx="914400" cy="914400"/>
          </a:xfrm>
        </p:grpSpPr>
        <p:pic>
          <p:nvPicPr>
            <p:cNvPr id="6" name="图形 5" descr="男性形象">
              <a:extLst>
                <a:ext uri="{FF2B5EF4-FFF2-40B4-BE49-F238E27FC236}">
                  <a16:creationId xmlns:a16="http://schemas.microsoft.com/office/drawing/2014/main" id="{4DF98C56-1567-1241-8B98-494B125B9E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32EFFBF-FDE5-2A4A-A613-4D51937322B6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</a:t>
              </a:r>
              <a:endParaRPr kumimoji="1" lang="zh-CN" altLang="en-US" b="1" dirty="0"/>
            </a:p>
          </p:txBody>
        </p:sp>
      </p:grp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B37E1D5D-7481-1844-8C9F-CF3E93DFE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0090" y="2358020"/>
            <a:ext cx="578048" cy="582768"/>
          </a:xfrm>
        </p:spPr>
        <p:txBody>
          <a:bodyPr/>
          <a:lstStyle/>
          <a:p>
            <a:pPr marL="0" indent="0" algn="ctr">
              <a:buNone/>
            </a:pPr>
            <a:r>
              <a:rPr kumimoji="1" lang="en-US" altLang="zh-CN" dirty="0"/>
              <a:t>50</a:t>
            </a:r>
          </a:p>
        </p:txBody>
      </p:sp>
      <p:sp>
        <p:nvSpPr>
          <p:cNvPr id="12" name="内容占位符 2">
            <a:extLst>
              <a:ext uri="{FF2B5EF4-FFF2-40B4-BE49-F238E27FC236}">
                <a16:creationId xmlns:a16="http://schemas.microsoft.com/office/drawing/2014/main" id="{FEA46FDF-9C6F-3440-9E67-CE83D88900FC}"/>
              </a:ext>
            </a:extLst>
          </p:cNvPr>
          <p:cNvSpPr txBox="1">
            <a:spLocks/>
          </p:cNvSpPr>
          <p:nvPr/>
        </p:nvSpPr>
        <p:spPr>
          <a:xfrm>
            <a:off x="5765057" y="4431482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/>
              <a:t>50</a:t>
            </a:r>
            <a:endParaRPr kumimoji="1" lang="en-US" altLang="zh-CN" dirty="0"/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B08F5AFB-AB66-6A4A-B1C5-0B037B0A706C}"/>
              </a:ext>
            </a:extLst>
          </p:cNvPr>
          <p:cNvGrpSpPr/>
          <p:nvPr/>
        </p:nvGrpSpPr>
        <p:grpSpPr>
          <a:xfrm>
            <a:off x="7833518" y="1644528"/>
            <a:ext cx="914400" cy="914400"/>
            <a:chOff x="4114800" y="2400300"/>
            <a:chExt cx="914400" cy="914400"/>
          </a:xfrm>
        </p:grpSpPr>
        <p:pic>
          <p:nvPicPr>
            <p:cNvPr id="14" name="图形 13" descr="纸张">
              <a:extLst>
                <a:ext uri="{FF2B5EF4-FFF2-40B4-BE49-F238E27FC236}">
                  <a16:creationId xmlns:a16="http://schemas.microsoft.com/office/drawing/2014/main" id="{BE146975-6B2D-A647-B6A6-ADD65BCB775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FAA5A6A-B6AB-CA46-8386-151A21B576E0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A1</a:t>
              </a:r>
              <a:endParaRPr kumimoji="1" lang="zh-CN" altLang="en-US" b="1" dirty="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051B09F0-AE7B-1B4E-BE1D-D3E819080E4D}"/>
              </a:ext>
            </a:extLst>
          </p:cNvPr>
          <p:cNvGrpSpPr/>
          <p:nvPr/>
        </p:nvGrpSpPr>
        <p:grpSpPr>
          <a:xfrm>
            <a:off x="7833518" y="2605778"/>
            <a:ext cx="914400" cy="914400"/>
            <a:chOff x="4114800" y="2400300"/>
            <a:chExt cx="914400" cy="914400"/>
          </a:xfrm>
        </p:grpSpPr>
        <p:pic>
          <p:nvPicPr>
            <p:cNvPr id="17" name="图形 16" descr="纸张">
              <a:extLst>
                <a:ext uri="{FF2B5EF4-FFF2-40B4-BE49-F238E27FC236}">
                  <a16:creationId xmlns:a16="http://schemas.microsoft.com/office/drawing/2014/main" id="{EAE2F52B-A652-FA43-9093-7A9DD79F2F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4332A966-91D9-8A41-BFCD-7D6F873F02A2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A2</a:t>
              </a:r>
              <a:endParaRPr kumimoji="1" lang="zh-CN" altLang="en-US" b="1" dirty="0"/>
            </a:p>
          </p:txBody>
        </p:sp>
      </p:grp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AEC64787-0EA8-AE47-A486-D1341E704828}"/>
              </a:ext>
            </a:extLst>
          </p:cNvPr>
          <p:cNvSpPr txBox="1">
            <a:spLocks/>
          </p:cNvSpPr>
          <p:nvPr/>
        </p:nvSpPr>
        <p:spPr>
          <a:xfrm>
            <a:off x="7323228" y="1929048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20</a:t>
            </a:r>
          </a:p>
        </p:txBody>
      </p:sp>
      <p:sp>
        <p:nvSpPr>
          <p:cNvPr id="20" name="内容占位符 2">
            <a:extLst>
              <a:ext uri="{FF2B5EF4-FFF2-40B4-BE49-F238E27FC236}">
                <a16:creationId xmlns:a16="http://schemas.microsoft.com/office/drawing/2014/main" id="{11D1ACF7-C15A-3E4F-8B15-97F256ACC1C4}"/>
              </a:ext>
            </a:extLst>
          </p:cNvPr>
          <p:cNvSpPr txBox="1">
            <a:spLocks/>
          </p:cNvSpPr>
          <p:nvPr/>
        </p:nvSpPr>
        <p:spPr>
          <a:xfrm>
            <a:off x="7323228" y="2814841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30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7DBAC567-6782-8F4A-84C9-E94CD1B203CD}"/>
              </a:ext>
            </a:extLst>
          </p:cNvPr>
          <p:cNvGrpSpPr/>
          <p:nvPr/>
        </p:nvGrpSpPr>
        <p:grpSpPr>
          <a:xfrm>
            <a:off x="7772400" y="4223871"/>
            <a:ext cx="914400" cy="914400"/>
            <a:chOff x="4114800" y="2400300"/>
            <a:chExt cx="914400" cy="914400"/>
          </a:xfrm>
        </p:grpSpPr>
        <p:pic>
          <p:nvPicPr>
            <p:cNvPr id="22" name="图形 21" descr="纸张">
              <a:extLst>
                <a:ext uri="{FF2B5EF4-FFF2-40B4-BE49-F238E27FC236}">
                  <a16:creationId xmlns:a16="http://schemas.microsoft.com/office/drawing/2014/main" id="{FEEF5AE2-4482-CC40-91E0-9A5AF410F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FDEF77D-41F5-7E49-9D73-4562C0C46495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B1</a:t>
              </a:r>
              <a:endParaRPr kumimoji="1" lang="zh-CN" altLang="en-US" b="1" dirty="0"/>
            </a:p>
          </p:txBody>
        </p:sp>
      </p:grpSp>
      <p:sp>
        <p:nvSpPr>
          <p:cNvPr id="24" name="内容占位符 2">
            <a:extLst>
              <a:ext uri="{FF2B5EF4-FFF2-40B4-BE49-F238E27FC236}">
                <a16:creationId xmlns:a16="http://schemas.microsoft.com/office/drawing/2014/main" id="{9A1774EC-B08E-CE43-8321-DA10B4C12A2E}"/>
              </a:ext>
            </a:extLst>
          </p:cNvPr>
          <p:cNvSpPr txBox="1">
            <a:spLocks/>
          </p:cNvSpPr>
          <p:nvPr/>
        </p:nvSpPr>
        <p:spPr>
          <a:xfrm>
            <a:off x="7194352" y="4431482"/>
            <a:ext cx="578048" cy="582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kumimoji="1" lang="en-US" altLang="zh-CN" dirty="0"/>
              <a:t>50</a:t>
            </a:r>
          </a:p>
        </p:txBody>
      </p: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857EC05-47D1-F84F-B9A5-2C6DCC21A9EA}"/>
              </a:ext>
            </a:extLst>
          </p:cNvPr>
          <p:cNvCxnSpPr>
            <a:cxnSpLocks/>
            <a:stCxn id="11" idx="3"/>
            <a:endCxn id="19" idx="1"/>
          </p:cNvCxnSpPr>
          <p:nvPr/>
        </p:nvCxnSpPr>
        <p:spPr>
          <a:xfrm flipV="1">
            <a:off x="6318138" y="2220432"/>
            <a:ext cx="1005090" cy="4289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0DF73127-93FB-2645-8536-043298D61B71}"/>
              </a:ext>
            </a:extLst>
          </p:cNvPr>
          <p:cNvCxnSpPr>
            <a:cxnSpLocks/>
            <a:stCxn id="11" idx="3"/>
            <a:endCxn id="20" idx="1"/>
          </p:cNvCxnSpPr>
          <p:nvPr/>
        </p:nvCxnSpPr>
        <p:spPr>
          <a:xfrm>
            <a:off x="6318138" y="2649404"/>
            <a:ext cx="1005090" cy="4568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D420D604-3BED-B24C-9B15-CF816FB2768C}"/>
              </a:ext>
            </a:extLst>
          </p:cNvPr>
          <p:cNvCxnSpPr>
            <a:cxnSpLocks/>
            <a:stCxn id="12" idx="3"/>
            <a:endCxn id="24" idx="1"/>
          </p:cNvCxnSpPr>
          <p:nvPr/>
        </p:nvCxnSpPr>
        <p:spPr>
          <a:xfrm>
            <a:off x="6343105" y="4722866"/>
            <a:ext cx="85124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内容占位符 2">
                <a:extLst>
                  <a:ext uri="{FF2B5EF4-FFF2-40B4-BE49-F238E27FC236}">
                    <a16:creationId xmlns:a16="http://schemas.microsoft.com/office/drawing/2014/main" id="{C1DAFF8C-E0E7-8348-BCDC-EA919132C0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200" y="1333501"/>
                <a:ext cx="8229600" cy="377163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lnSpc>
                    <a:spcPct val="120000"/>
                  </a:lnSpc>
                  <a:spcBef>
                    <a:spcPts val="1200"/>
                  </a:spcBef>
                  <a:buFont typeface="Arial" pitchFamily="34" charset="0"/>
                  <a:buChar char="•"/>
                  <a:defRPr sz="2600" b="1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1pPr>
                <a:lvl2pPr marL="742950" indent="-28575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24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•"/>
                  <a:defRPr sz="20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–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ct val="20000"/>
                  </a:spcBef>
                  <a:buFont typeface="Arial" pitchFamily="34" charset="0"/>
                  <a:buChar char="»"/>
                  <a:defRPr sz="1800" b="0" i="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微软雅黑" panose="020B0503020204020204" pitchFamily="34" charset="-122"/>
                    <a:cs typeface="微软雅黑" panose="020B0503020204020204" pitchFamily="34" charset="-122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000" i="1">
                        <a:latin typeface="Cambria Math" panose="02040503050406030204" pitchFamily="18" charset="0"/>
                      </a:rPr>
                      <m:t>𝒕𝒊𝒄𝒌𝒆𝒕</m:t>
                    </m:r>
                  </m:oMath>
                </a14:m>
                <a:r>
                  <a:rPr kumimoji="1" lang="zh-CN" altLang="en-US" sz="2000" dirty="0"/>
                  <a:t>：每个问题对应的权重</a:t>
                </a:r>
                <a:r>
                  <a:rPr kumimoji="1" lang="en-US" altLang="zh-CN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000" dirty="0"/>
                  <a:t>：</a:t>
                </a:r>
                <a:r>
                  <a:rPr kumimoji="1" lang="en-US" altLang="zh-CN" sz="2000" dirty="0"/>
                  <a:t>ticket</a:t>
                </a:r>
                <a:r>
                  <a:rPr kumimoji="1" lang="zh-CN" altLang="en-US" sz="2000" dirty="0"/>
                  <a:t>的总量</a:t>
                </a:r>
                <a:endParaRPr kumimoji="1" lang="en-US" altLang="zh-CN" sz="2000" dirty="0"/>
              </a:p>
              <a:p>
                <a:r>
                  <a:rPr kumimoji="1" lang="zh-CN" altLang="en-US" sz="2000" dirty="0"/>
                  <a:t>问题</a:t>
                </a:r>
                <a:r>
                  <a:rPr kumimoji="1" lang="en-US" altLang="zh-CN" sz="2000" dirty="0"/>
                  <a:t>A1</a:t>
                </a:r>
                <a:r>
                  <a:rPr kumimoji="1" lang="zh-CN" altLang="en-US" sz="2000" dirty="0"/>
                  <a:t>可占用学霸时间的比例</a:t>
                </a:r>
                <a:endParaRPr kumimoji="1" lang="en-US" altLang="zh-CN" sz="20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18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  <m:t>𝒊𝒄𝒌𝒆𝒕</m:t>
                            </m:r>
                          </m:e>
                          <m:sub>
                            <m: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  <m:r>
                              <a:rPr kumimoji="1" lang="en-US" altLang="zh-CN" sz="18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kumimoji="1"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kumimoji="1" lang="en-US" altLang="zh-CN" sz="18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1800" b="0" i="0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kumimoji="1" lang="en-US" altLang="zh-CN" sz="1800" dirty="0"/>
              </a:p>
              <a:p>
                <a:r>
                  <a:rPr kumimoji="1" lang="zh-CN" altLang="en-US" sz="2000" dirty="0"/>
                  <a:t>同学</a:t>
                </a:r>
                <a:r>
                  <a:rPr kumimoji="1" lang="en-US" altLang="zh-CN" sz="2000" dirty="0"/>
                  <a:t>A</a:t>
                </a:r>
                <a:r>
                  <a:rPr kumimoji="1" lang="zh-CN" altLang="en-US" sz="2000" dirty="0"/>
                  <a:t>可占用学霸时间的比例</a:t>
                </a:r>
                <a:endParaRPr kumimoji="1" lang="en-US" altLang="zh-CN" sz="20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  <m:t>𝑖𝑐𝑘𝑒𝑡</m:t>
                            </m:r>
                          </m:e>
                          <m:sub>
                            <m:r>
                              <a:rPr kumimoji="1" lang="en-US" altLang="zh-CN" sz="2000" i="1">
                                <a:latin typeface="Cambria Math" panose="02040503050406030204" pitchFamily="18" charset="0"/>
                              </a:rPr>
                              <m:t>𝑨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2000" b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kumimoji="1" lang="en-US" altLang="zh-CN" sz="2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ticket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CN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ticket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kumimoji="1" lang="en-US" altLang="zh-CN" sz="2000" b="0" i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den>
                    </m:f>
                    <m:r>
                      <a:rPr kumimoji="1" lang="en-US" altLang="zh-CN" sz="2000" b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kumimoji="1" lang="en-US" altLang="zh-CN" sz="2000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kumimoji="1" lang="en-US" altLang="zh-CN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CN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zh-CN" altLang="en-US" sz="2000" dirty="0"/>
              </a:p>
            </p:txBody>
          </p:sp>
        </mc:Choice>
        <mc:Fallback xmlns="">
          <p:sp>
            <p:nvSpPr>
              <p:cNvPr id="38" name="内容占位符 2">
                <a:extLst>
                  <a:ext uri="{FF2B5EF4-FFF2-40B4-BE49-F238E27FC236}">
                    <a16:creationId xmlns:a16="http://schemas.microsoft.com/office/drawing/2014/main" id="{C1DAFF8C-E0E7-8348-BCDC-EA919132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333501"/>
                <a:ext cx="8229600" cy="3771636"/>
              </a:xfrm>
              <a:prstGeom prst="rect">
                <a:avLst/>
              </a:prstGeom>
              <a:blipFill>
                <a:blip r:embed="rId8"/>
                <a:stretch>
                  <a:fillRect l="-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页脚占位符 4">
            <a:extLst>
              <a:ext uri="{FF2B5EF4-FFF2-40B4-BE49-F238E27FC236}">
                <a16:creationId xmlns:a16="http://schemas.microsoft.com/office/drawing/2014/main" id="{C49EF724-B867-6E43-9D09-7D8A586C2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657E7AA0-BE06-9945-BCEA-1792146E75FB}"/>
              </a:ext>
            </a:extLst>
          </p:cNvPr>
          <p:cNvGrpSpPr/>
          <p:nvPr/>
        </p:nvGrpSpPr>
        <p:grpSpPr>
          <a:xfrm>
            <a:off x="4893448" y="4190737"/>
            <a:ext cx="914400" cy="914400"/>
            <a:chOff x="3968174" y="2217839"/>
            <a:chExt cx="914400" cy="914400"/>
          </a:xfrm>
        </p:grpSpPr>
        <p:pic>
          <p:nvPicPr>
            <p:cNvPr id="31" name="图形 30" descr="男性形象">
              <a:extLst>
                <a:ext uri="{FF2B5EF4-FFF2-40B4-BE49-F238E27FC236}">
                  <a16:creationId xmlns:a16="http://schemas.microsoft.com/office/drawing/2014/main" id="{279C2AED-4834-294F-A7E4-EAC684153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68174" y="2217839"/>
              <a:ext cx="914400" cy="914400"/>
            </a:xfrm>
            <a:prstGeom prst="rect">
              <a:avLst/>
            </a:prstGeom>
          </p:spPr>
        </p:pic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7BE55CC-1421-0141-9FA1-41407DF92764}"/>
                </a:ext>
              </a:extLst>
            </p:cNvPr>
            <p:cNvSpPr txBox="1"/>
            <p:nvPr/>
          </p:nvSpPr>
          <p:spPr>
            <a:xfrm>
              <a:off x="3968174" y="2654055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</a:t>
              </a:r>
              <a:endParaRPr kumimoji="1"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52690832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91F431-2F53-F344-B9D7-B994A2AA2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公平共享：彩票调度（</a:t>
            </a:r>
            <a:r>
              <a:rPr lang="en" altLang="zh-CN" dirty="0"/>
              <a:t>Lottery</a:t>
            </a:r>
            <a:r>
              <a:rPr lang="zh-CN" altLang="en-US" dirty="0"/>
              <a:t> </a:t>
            </a:r>
            <a:r>
              <a:rPr lang="en-US" altLang="zh-CN" dirty="0"/>
              <a:t>Scheduling</a:t>
            </a:r>
            <a:r>
              <a:rPr lang="zh-CN" altLang="en-US" dirty="0"/>
              <a:t>）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B5637B-D4D7-7C4D-BCD5-6A36C61AF2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546" y="1120484"/>
                <a:ext cx="8229600" cy="3771636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2000" dirty="0"/>
                  <a:t>每次调度时，生成随机数</a:t>
                </a:r>
                <a14:m>
                  <m:oMath xmlns:m="http://schemas.openxmlformats.org/officeDocument/2006/math">
                    <m:r>
                      <a:rPr kumimoji="1" lang="en-US" altLang="zh-CN" sz="2000" b="1" i="1" smtClean="0">
                        <a:latin typeface="Cambria Math" panose="02040503050406030204" pitchFamily="18" charset="0"/>
                      </a:rPr>
                      <m:t>𝑹</m:t>
                    </m:r>
                    <m:r>
                      <a:rPr kumimoji="1" lang="en-US" altLang="zh-CN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ctrlP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kumimoji="1" lang="en-US" altLang="zh-CN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e>
                    </m:d>
                  </m:oMath>
                </a14:m>
                <a:endParaRPr kumimoji="1" lang="en-US" altLang="zh-CN" sz="2000" b="1" dirty="0">
                  <a:ea typeface="Cambria Math" panose="02040503050406030204" pitchFamily="18" charset="0"/>
                </a:endParaRPr>
              </a:p>
              <a:p>
                <a:r>
                  <a:rPr kumimoji="1" lang="zh-CN" altLang="en-US" sz="2000" dirty="0"/>
                  <a:t>根据</a:t>
                </a:r>
                <a:r>
                  <a:rPr kumimoji="1" lang="en-US" altLang="zh-CN" sz="2000" dirty="0"/>
                  <a:t>R</a:t>
                </a:r>
                <a:r>
                  <a:rPr kumimoji="1" lang="zh-CN" altLang="en-US" sz="2000" dirty="0"/>
                  <a:t>，找到对应的任务</a:t>
                </a:r>
                <a:endParaRPr kumimoji="1" lang="en-US" altLang="zh-CN" sz="2000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</a:rPr>
                      <m:t>𝑹</m:t>
                    </m:r>
                  </m:oMath>
                </a14:m>
                <a:r>
                  <a:rPr kumimoji="1" lang="en-US" altLang="zh-CN" sz="2200" dirty="0"/>
                  <a:t>=51</a:t>
                </a:r>
                <a:r>
                  <a:rPr kumimoji="1" lang="zh-CN" altLang="en-US" sz="2200" dirty="0"/>
                  <a:t> </a:t>
                </a:r>
                <a:r>
                  <a:rPr kumimoji="1" lang="en-US" altLang="zh-CN" sz="2200" dirty="0">
                    <a:sym typeface="Wingdings" pitchFamily="2" charset="2"/>
                  </a:rPr>
                  <a:t></a:t>
                </a:r>
                <a:r>
                  <a:rPr kumimoji="1" lang="zh-CN" altLang="en-US" sz="2200" dirty="0">
                    <a:sym typeface="Wingdings" pitchFamily="2" charset="2"/>
                  </a:rPr>
                  <a:t> </a:t>
                </a:r>
                <a:r>
                  <a:rPr kumimoji="1" lang="zh-CN" altLang="en-US" sz="2200" dirty="0"/>
                  <a:t>调度</a:t>
                </a:r>
                <a:r>
                  <a:rPr kumimoji="1" lang="en-US" altLang="zh-CN" sz="2200" dirty="0"/>
                  <a:t>B1</a:t>
                </a:r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9B5637B-D4D7-7C4D-BCD5-6A36C61AF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546" y="1120484"/>
                <a:ext cx="8229600" cy="3771636"/>
              </a:xfrm>
              <a:blipFill>
                <a:blip r:embed="rId3"/>
                <a:stretch>
                  <a:fillRect l="-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F4451B-DABE-E24E-BC0D-B772C69D6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3A7CCB-9D40-3C4D-8CF2-096E521DD957}"/>
              </a:ext>
            </a:extLst>
          </p:cNvPr>
          <p:cNvSpPr/>
          <p:nvPr/>
        </p:nvSpPr>
        <p:spPr>
          <a:xfrm>
            <a:off x="727938" y="3534829"/>
            <a:ext cx="745740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C00000"/>
                </a:solidFill>
              </a:rPr>
              <a:t>20</a:t>
            </a:r>
            <a:endParaRPr kumimoji="1"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78B1463-F93C-1740-B9B5-D6DA9BF70FAB}"/>
              </a:ext>
            </a:extLst>
          </p:cNvPr>
          <p:cNvSpPr/>
          <p:nvPr/>
        </p:nvSpPr>
        <p:spPr>
          <a:xfrm>
            <a:off x="1473678" y="3534829"/>
            <a:ext cx="1100808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C00000"/>
                </a:solidFill>
              </a:rPr>
              <a:t>30</a:t>
            </a:r>
            <a:endParaRPr kumimoji="1" lang="zh-CN" altLang="en-US" sz="2800" b="1" dirty="0">
              <a:solidFill>
                <a:srgbClr val="C0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DFDC3B-7F5C-3F44-B26B-9A19DDC83517}"/>
              </a:ext>
            </a:extLst>
          </p:cNvPr>
          <p:cNvSpPr/>
          <p:nvPr/>
        </p:nvSpPr>
        <p:spPr>
          <a:xfrm>
            <a:off x="2553798" y="3534829"/>
            <a:ext cx="1846548" cy="7200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800" b="1" dirty="0">
                <a:solidFill>
                  <a:srgbClr val="C00000"/>
                </a:solidFill>
              </a:rPr>
              <a:t>50</a:t>
            </a:r>
            <a:endParaRPr kumimoji="1" lang="zh-CN" altLang="en-US" sz="2800" b="1" dirty="0">
              <a:solidFill>
                <a:srgbClr val="C00000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C8BA86ED-7BDD-CE42-8B2E-A59B98DDC91E}"/>
              </a:ext>
            </a:extLst>
          </p:cNvPr>
          <p:cNvGrpSpPr/>
          <p:nvPr/>
        </p:nvGrpSpPr>
        <p:grpSpPr>
          <a:xfrm>
            <a:off x="723982" y="4368419"/>
            <a:ext cx="914400" cy="914400"/>
            <a:chOff x="4114800" y="2400300"/>
            <a:chExt cx="914400" cy="914400"/>
          </a:xfrm>
        </p:grpSpPr>
        <p:pic>
          <p:nvPicPr>
            <p:cNvPr id="10" name="图形 9" descr="纸张">
              <a:extLst>
                <a:ext uri="{FF2B5EF4-FFF2-40B4-BE49-F238E27FC236}">
                  <a16:creationId xmlns:a16="http://schemas.microsoft.com/office/drawing/2014/main" id="{1DB3A041-BAF4-9E46-84CA-3C50B6E8F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E331123-B675-B346-8B6E-DF6BBB85D9E3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A1</a:t>
              </a:r>
              <a:endParaRPr kumimoji="1" lang="zh-CN" altLang="en-US" b="1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A38D4D6-6DF0-3141-ADDC-49CE36BF7751}"/>
              </a:ext>
            </a:extLst>
          </p:cNvPr>
          <p:cNvGrpSpPr/>
          <p:nvPr/>
        </p:nvGrpSpPr>
        <p:grpSpPr>
          <a:xfrm>
            <a:off x="1649234" y="4368419"/>
            <a:ext cx="914400" cy="914400"/>
            <a:chOff x="4114800" y="2400300"/>
            <a:chExt cx="914400" cy="914400"/>
          </a:xfrm>
        </p:grpSpPr>
        <p:pic>
          <p:nvPicPr>
            <p:cNvPr id="13" name="图形 12" descr="纸张">
              <a:extLst>
                <a:ext uri="{FF2B5EF4-FFF2-40B4-BE49-F238E27FC236}">
                  <a16:creationId xmlns:a16="http://schemas.microsoft.com/office/drawing/2014/main" id="{C70B723D-1262-9D41-B24C-87C0AEF6C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1F2AA4E8-D630-7A4D-A554-58DB2A7BFBF7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A2</a:t>
              </a:r>
              <a:endParaRPr kumimoji="1" lang="zh-CN" altLang="en-US" b="1" dirty="0"/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093869E-46AE-8F44-AAC2-DAAAF93C3E16}"/>
              </a:ext>
            </a:extLst>
          </p:cNvPr>
          <p:cNvGrpSpPr/>
          <p:nvPr/>
        </p:nvGrpSpPr>
        <p:grpSpPr>
          <a:xfrm>
            <a:off x="3019872" y="4368419"/>
            <a:ext cx="914400" cy="914400"/>
            <a:chOff x="4114800" y="2400300"/>
            <a:chExt cx="914400" cy="914400"/>
          </a:xfrm>
        </p:grpSpPr>
        <p:pic>
          <p:nvPicPr>
            <p:cNvPr id="16" name="图形 15" descr="纸张">
              <a:extLst>
                <a:ext uri="{FF2B5EF4-FFF2-40B4-BE49-F238E27FC236}">
                  <a16:creationId xmlns:a16="http://schemas.microsoft.com/office/drawing/2014/main" id="{8B6CB6E8-D6BC-144E-A0BD-7EEAE3B52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E8CFFB5-99A0-7843-A10F-E0DF773B4E7A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B1</a:t>
              </a:r>
              <a:endParaRPr kumimoji="1" lang="zh-CN" altLang="en-US" b="1" dirty="0"/>
            </a:p>
          </p:txBody>
        </p:sp>
      </p:grpSp>
      <p:sp>
        <p:nvSpPr>
          <p:cNvPr id="6" name="下箭头 5">
            <a:extLst>
              <a:ext uri="{FF2B5EF4-FFF2-40B4-BE49-F238E27FC236}">
                <a16:creationId xmlns:a16="http://schemas.microsoft.com/office/drawing/2014/main" id="{CE3D2F65-86FC-6747-8A89-35D96D3A04E4}"/>
              </a:ext>
            </a:extLst>
          </p:cNvPr>
          <p:cNvSpPr/>
          <p:nvPr/>
        </p:nvSpPr>
        <p:spPr>
          <a:xfrm>
            <a:off x="2506942" y="3240216"/>
            <a:ext cx="264858" cy="2378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53FE1FB-A23A-8E48-A605-EDB36D755E9E}"/>
              </a:ext>
            </a:extLst>
          </p:cNvPr>
          <p:cNvSpPr/>
          <p:nvPr/>
        </p:nvSpPr>
        <p:spPr>
          <a:xfrm>
            <a:off x="1582936" y="2641476"/>
            <a:ext cx="441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51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A1EBBE2-78EE-224D-921E-B06400009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8497" y="1224030"/>
            <a:ext cx="3238500" cy="2590800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6" name="下箭头 25">
            <a:extLst>
              <a:ext uri="{FF2B5EF4-FFF2-40B4-BE49-F238E27FC236}">
                <a16:creationId xmlns:a16="http://schemas.microsoft.com/office/drawing/2014/main" id="{AE7BD622-D05B-394D-BDD3-A73499221E73}"/>
              </a:ext>
            </a:extLst>
          </p:cNvPr>
          <p:cNvSpPr/>
          <p:nvPr/>
        </p:nvSpPr>
        <p:spPr>
          <a:xfrm rot="16200000">
            <a:off x="1543454" y="2122957"/>
            <a:ext cx="264858" cy="190380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C549A53-CE64-C941-88BA-FCF96BAF68E4}"/>
              </a:ext>
            </a:extLst>
          </p:cNvPr>
          <p:cNvSpPr txBox="1"/>
          <p:nvPr/>
        </p:nvSpPr>
        <p:spPr>
          <a:xfrm>
            <a:off x="31988" y="5456829"/>
            <a:ext cx="88604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/>
              <a:t>Lottery Scheduling: Flexible Proportional-Share Resource Management. </a:t>
            </a:r>
            <a:r>
              <a:rPr lang="en-US" altLang="zh-CN" sz="900" dirty="0">
                <a:hlinkClick r:id="rId7"/>
              </a:rPr>
              <a:t>https://www.usenix.org/legacy/publications/library/proceedings/osdi/full_papers/waldspurger.pdf</a:t>
            </a:r>
            <a:endParaRPr lang="en-US" altLang="zh-CN" sz="900" dirty="0"/>
          </a:p>
        </p:txBody>
      </p:sp>
    </p:spTree>
    <p:extLst>
      <p:ext uri="{BB962C8B-B14F-4D97-AF65-F5344CB8AC3E}">
        <p14:creationId xmlns:p14="http://schemas.microsoft.com/office/powerpoint/2010/main" val="32709862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B47005-7DB6-3D47-B43A-B7C0357FD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Ticket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Transfer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6E62C-CAE8-5C45-8EFC-07623DBDC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5338"/>
            <a:ext cx="8229600" cy="3919799"/>
          </a:xfrm>
        </p:spPr>
        <p:txBody>
          <a:bodyPr>
            <a:normAutofit/>
          </a:bodyPr>
          <a:lstStyle/>
          <a:p>
            <a:r>
              <a:rPr kumimoji="1" lang="zh-CN" altLang="en-US" sz="2000" dirty="0"/>
              <a:t>场景：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在通信过程中，客户端需要等到服务端返回才能继续执行</a:t>
            </a:r>
            <a:endParaRPr kumimoji="1" lang="en-US" altLang="zh-CN" sz="2000" dirty="0"/>
          </a:p>
          <a:p>
            <a:r>
              <a:rPr kumimoji="1" lang="zh-CN" altLang="en-US" sz="2000" dirty="0"/>
              <a:t>客户端将自己所有的</a:t>
            </a:r>
            <a:r>
              <a:rPr kumimoji="1" lang="en-US" altLang="zh-CN" sz="2000" dirty="0"/>
              <a:t>ticket</a:t>
            </a:r>
            <a:r>
              <a:rPr kumimoji="1" lang="zh-CN" altLang="en-US" sz="2000" dirty="0"/>
              <a:t>移交给服务端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确保服务端可以尽可能使用更多资源，迅速处理</a:t>
            </a:r>
            <a:endParaRPr kumimoji="1" lang="en-US" altLang="zh-CN" sz="2000" dirty="0"/>
          </a:p>
          <a:p>
            <a:r>
              <a:rPr kumimoji="1" lang="zh-CN" altLang="en-US" sz="2200" dirty="0"/>
              <a:t>同样适用于其他同步场景</a:t>
            </a:r>
            <a:endParaRPr kumimoji="1" lang="en-US" altLang="zh-CN" sz="2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2E0250-DE5B-5347-89EE-F8499C21A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87BE23D-FDEF-A845-8F68-07E497E46323}"/>
              </a:ext>
            </a:extLst>
          </p:cNvPr>
          <p:cNvSpPr/>
          <p:nvPr/>
        </p:nvSpPr>
        <p:spPr>
          <a:xfrm>
            <a:off x="4711089" y="3865002"/>
            <a:ext cx="1305999" cy="64807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客户端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1A70A5B9-FB07-7749-A8E1-2F0C051D372F}"/>
              </a:ext>
            </a:extLst>
          </p:cNvPr>
          <p:cNvSpPr/>
          <p:nvPr/>
        </p:nvSpPr>
        <p:spPr>
          <a:xfrm>
            <a:off x="7601264" y="3865753"/>
            <a:ext cx="1440160" cy="648072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服务端</a:t>
            </a:r>
          </a:p>
        </p:txBody>
      </p:sp>
      <p:cxnSp>
        <p:nvCxnSpPr>
          <p:cNvPr id="8" name="曲线连接符 7">
            <a:extLst>
              <a:ext uri="{FF2B5EF4-FFF2-40B4-BE49-F238E27FC236}">
                <a16:creationId xmlns:a16="http://schemas.microsoft.com/office/drawing/2014/main" id="{1F6EFC45-C94F-354D-BA09-6579DE27740D}"/>
              </a:ext>
            </a:extLst>
          </p:cNvPr>
          <p:cNvCxnSpPr>
            <a:cxnSpLocks/>
            <a:stCxn id="5" idx="0"/>
            <a:endCxn id="6" idx="0"/>
          </p:cNvCxnSpPr>
          <p:nvPr/>
        </p:nvCxnSpPr>
        <p:spPr>
          <a:xfrm rot="16200000" flipH="1">
            <a:off x="6842340" y="2386750"/>
            <a:ext cx="751" cy="2957255"/>
          </a:xfrm>
          <a:prstGeom prst="curvedConnector3">
            <a:avLst>
              <a:gd name="adj1" fmla="val -3043941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曲线连接符 10">
            <a:extLst>
              <a:ext uri="{FF2B5EF4-FFF2-40B4-BE49-F238E27FC236}">
                <a16:creationId xmlns:a16="http://schemas.microsoft.com/office/drawing/2014/main" id="{637D64AC-D27C-4445-A069-6C228F14C908}"/>
              </a:ext>
            </a:extLst>
          </p:cNvPr>
          <p:cNvCxnSpPr>
            <a:cxnSpLocks/>
            <a:stCxn id="6" idx="4"/>
            <a:endCxn id="5" idx="4"/>
          </p:cNvCxnSpPr>
          <p:nvPr/>
        </p:nvCxnSpPr>
        <p:spPr>
          <a:xfrm rot="5400000" flipH="1">
            <a:off x="6842341" y="3034823"/>
            <a:ext cx="751" cy="2957255"/>
          </a:xfrm>
          <a:prstGeom prst="curvedConnector3">
            <a:avLst>
              <a:gd name="adj1" fmla="val -3043941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9FC5F27-8558-EF43-8B2F-4246E2BE12C4}"/>
              </a:ext>
            </a:extLst>
          </p:cNvPr>
          <p:cNvSpPr txBox="1"/>
          <p:nvPr/>
        </p:nvSpPr>
        <p:spPr>
          <a:xfrm>
            <a:off x="6494345" y="3243200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请求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A9DAE12-4FF8-2146-92BB-CA4D40911918}"/>
              </a:ext>
            </a:extLst>
          </p:cNvPr>
          <p:cNvSpPr txBox="1"/>
          <p:nvPr/>
        </p:nvSpPr>
        <p:spPr>
          <a:xfrm>
            <a:off x="6494345" y="4740166"/>
            <a:ext cx="64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返回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ECF4A6-5842-9C41-9C86-BF50E31D429B}"/>
              </a:ext>
            </a:extLst>
          </p:cNvPr>
          <p:cNvSpPr txBox="1"/>
          <p:nvPr/>
        </p:nvSpPr>
        <p:spPr>
          <a:xfrm>
            <a:off x="6189715" y="3723512"/>
            <a:ext cx="1305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传递</a:t>
            </a:r>
            <a:r>
              <a:rPr kumimoji="1" lang="en-US" altLang="zh-CN" dirty="0"/>
              <a:t>tickets</a:t>
            </a:r>
            <a:endParaRPr kumimoji="1"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C90F872-0189-5149-8E3E-92640BB923EE}"/>
              </a:ext>
            </a:extLst>
          </p:cNvPr>
          <p:cNvSpPr txBox="1"/>
          <p:nvPr/>
        </p:nvSpPr>
        <p:spPr>
          <a:xfrm>
            <a:off x="5830645" y="4314804"/>
            <a:ext cx="2133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/>
              <a:t>返还</a:t>
            </a:r>
            <a:r>
              <a:rPr kumimoji="1" lang="en-US" altLang="zh-CN" dirty="0"/>
              <a:t>tickets</a:t>
            </a:r>
            <a:endParaRPr kumimoji="1" lang="zh-CN" altLang="en-US" dirty="0"/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A1470847-66ED-D04A-81B7-AD54A29ACA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7361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1E8EB-8134-CB4B-A235-467A0BA9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思考：权重 与 优先 的异同</a:t>
            </a:r>
            <a:r>
              <a:rPr kumimoji="1" lang="en-US" altLang="zh-CN" dirty="0"/>
              <a:t>?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811B24-29C1-854F-9D82-C82CA328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权重影响任务对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的占用比例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不会有任务饿死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优先级影响任务对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的使用顺序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可能产生饿死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59762-59F1-E842-B14D-C18DA6B1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46C8E9-9822-6143-B798-E2B46E90C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123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C1E8EB-8134-CB4B-A235-467A0BA9C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思考：随机的利弊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811B24-29C1-854F-9D82-C82CA3282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随机的好处是？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简单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随机带来的问题是？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不精确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伪随机非真随机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各个任务对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时间的占比会有误差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59762-59F1-E842-B14D-C18DA6B17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1DBE48-8835-7A4D-AC51-BB446EA13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81729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3A0D-4F48-334C-B51E-1CE41F36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Stride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73FF626-021B-0D4E-BE27-AB071B3AA69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9512" y="1129308"/>
                <a:ext cx="8507288" cy="3975829"/>
              </a:xfrm>
            </p:spPr>
            <p:txBody>
              <a:bodyPr>
                <a:normAutofit/>
              </a:bodyPr>
              <a:lstStyle/>
              <a:p>
                <a:r>
                  <a:rPr kumimoji="1" lang="zh-CN" altLang="en-US" sz="2400" dirty="0"/>
                  <a:t>可以看做</a:t>
                </a:r>
                <a:r>
                  <a:rPr kumimoji="1" lang="zh-CN" altLang="en-US" sz="2400" dirty="0">
                    <a:solidFill>
                      <a:srgbClr val="C00000"/>
                    </a:solidFill>
                  </a:rPr>
                  <a:t>确定性版本</a:t>
                </a:r>
                <a:r>
                  <a:rPr kumimoji="1" lang="zh-CN" altLang="en-US" sz="2400" dirty="0"/>
                  <a:t>的</a:t>
                </a:r>
                <a:r>
                  <a:rPr kumimoji="1" lang="en-US" altLang="zh-CN" sz="2400" dirty="0"/>
                  <a:t>Lottery</a:t>
                </a:r>
                <a:r>
                  <a:rPr kumimoji="1" lang="zh-CN" altLang="en-US" sz="2400" dirty="0"/>
                  <a:t> </a:t>
                </a:r>
                <a:r>
                  <a:rPr kumimoji="1" lang="en-US" altLang="zh-CN" sz="2400" dirty="0"/>
                  <a:t>Scheduling</a:t>
                </a:r>
              </a:p>
              <a:p>
                <a:pPr lvl="1"/>
                <a:r>
                  <a:rPr kumimoji="1" lang="zh-CN" altLang="en-US" sz="2000" dirty="0"/>
                  <a:t>可以沿用</a:t>
                </a:r>
                <a:r>
                  <a:rPr kumimoji="1" lang="en-US" altLang="zh-CN" sz="2000" dirty="0"/>
                  <a:t>tickets</a:t>
                </a:r>
                <a:r>
                  <a:rPr kumimoji="1" lang="zh-CN" altLang="en-US" sz="2000" dirty="0"/>
                  <a:t>的概念</a:t>
                </a:r>
                <a:endParaRPr kumimoji="1" lang="en-US" altLang="zh-CN" sz="2000" dirty="0"/>
              </a:p>
              <a:p>
                <a:r>
                  <a:rPr kumimoji="1" lang="en-US" altLang="zh-CN" sz="2400" dirty="0"/>
                  <a:t>Stride——</a:t>
                </a:r>
                <a:r>
                  <a:rPr kumimoji="1" lang="zh-CN" altLang="en-US" sz="2400" dirty="0"/>
                  <a:t>步幅，任务一次执行增加的</a:t>
                </a:r>
                <a:r>
                  <a:rPr kumimoji="1" lang="zh-CN" altLang="en-US" sz="2400" dirty="0">
                    <a:solidFill>
                      <a:schemeClr val="accent1"/>
                    </a:solidFill>
                  </a:rPr>
                  <a:t>虚拟时间</a:t>
                </a:r>
                <a:endParaRPr kumimoji="1" lang="en-US" altLang="zh-CN" sz="2400" dirty="0">
                  <a:solidFill>
                    <a:schemeClr val="accent1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𝑠𝑡𝑟𝑖𝑑𝑒</m:t>
                    </m:r>
                    <m:r>
                      <a:rPr kumimoji="1" lang="en-US" altLang="zh-CN" sz="20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  <m:t>MaxStride</m:t>
                        </m:r>
                      </m:num>
                      <m:den>
                        <m:r>
                          <a:rPr kumimoji="1" lang="en-US" altLang="zh-CN" sz="2000" i="1" dirty="0">
                            <a:latin typeface="Cambria Math" panose="02040503050406030204" pitchFamily="18" charset="0"/>
                          </a:rPr>
                          <m:t>𝒕𝒊𝒄𝒌𝒆𝒕</m:t>
                        </m:r>
                      </m:den>
                    </m:f>
                  </m:oMath>
                </a14:m>
                <a:endParaRPr kumimoji="1" lang="en-US" altLang="zh-CN" sz="2000" i="1" dirty="0">
                  <a:latin typeface="Cambria Math" panose="02040503050406030204" pitchFamily="18" charset="0"/>
                </a:endParaRPr>
              </a:p>
              <a:p>
                <a:pPr lvl="2"/>
                <a:r>
                  <a:rPr kumimoji="1" lang="en-US" altLang="zh-CN" sz="1800" dirty="0" err="1"/>
                  <a:t>MaxStride</a:t>
                </a:r>
                <a:r>
                  <a:rPr kumimoji="1" lang="zh-CN" altLang="en-US" sz="1800" dirty="0"/>
                  <a:t>是一个足够大的整数</a:t>
                </a:r>
                <a:endParaRPr kumimoji="1" lang="en-US" altLang="zh-CN" sz="1800" dirty="0"/>
              </a:p>
              <a:p>
                <a:pPr lvl="2"/>
                <a:r>
                  <a:rPr lang="zh-CN" altLang="en-US" sz="1800" dirty="0"/>
                  <a:t>本例中设为</a:t>
                </a:r>
                <a:r>
                  <a:rPr kumimoji="1" lang="zh-CN" altLang="en-US" sz="1800" dirty="0"/>
                  <a:t>所有</a:t>
                </a:r>
                <a:r>
                  <a:rPr kumimoji="1" lang="en-US" altLang="zh-CN" sz="1800" dirty="0"/>
                  <a:t>tickets</a:t>
                </a:r>
                <a:r>
                  <a:rPr kumimoji="1" lang="zh-CN" altLang="en-US" sz="1800" dirty="0"/>
                  <a:t>的最小公倍数</a:t>
                </a:r>
                <a:endParaRPr kumimoji="1" lang="en-US" altLang="zh-CN" sz="1800" i="1" dirty="0">
                  <a:latin typeface="Cambria Math" panose="02040503050406030204" pitchFamily="18" charset="0"/>
                </a:endParaRPr>
              </a:p>
              <a:p>
                <a:r>
                  <a:rPr kumimoji="1" lang="en-US" altLang="zh-CN" sz="2400" dirty="0"/>
                  <a:t>Pass——</a:t>
                </a:r>
                <a:r>
                  <a:rPr kumimoji="1" lang="zh-CN" altLang="en-US" sz="2400" dirty="0"/>
                  <a:t>累计执行的虚拟时间</a:t>
                </a:r>
                <a:endParaRPr kumimoji="1" lang="en-US" altLang="zh-CN" sz="2400" dirty="0"/>
              </a:p>
              <a:p>
                <a:endParaRPr kumimoji="1"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73FF626-021B-0D4E-BE27-AB071B3AA6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129308"/>
                <a:ext cx="8507288" cy="3975829"/>
              </a:xfrm>
              <a:blipFill>
                <a:blip r:embed="rId2"/>
                <a:stretch>
                  <a:fillRect l="-894" t="-3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7C329-733B-274F-94FF-373869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B8835B4-BD7D-4E4A-9FD5-6B6294907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893982"/>
              </p:ext>
            </p:extLst>
          </p:nvPr>
        </p:nvGraphicFramePr>
        <p:xfrm>
          <a:off x="6156176" y="3219319"/>
          <a:ext cx="27150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25">
                  <a:extLst>
                    <a:ext uri="{9D8B030D-6E8A-4147-A177-3AD203B41FA5}">
                      <a16:colId xmlns:a16="http://schemas.microsoft.com/office/drawing/2014/main" val="304335859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344552663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27641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Ticket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Stride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507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40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5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514314"/>
                  </a:ext>
                </a:extLst>
              </a:tr>
            </a:tbl>
          </a:graphicData>
        </a:graphic>
      </p:graphicFrame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8FA8DC5-1630-F14A-AEF3-3FB4AF107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D373BA-C927-7241-8434-D292001B535D}"/>
              </a:ext>
            </a:extLst>
          </p:cNvPr>
          <p:cNvSpPr/>
          <p:nvPr/>
        </p:nvSpPr>
        <p:spPr>
          <a:xfrm>
            <a:off x="6684487" y="4702679"/>
            <a:ext cx="18710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 err="1">
                <a:solidFill>
                  <a:schemeClr val="accent1"/>
                </a:solidFill>
              </a:rPr>
              <a:t>MaxStride</a:t>
            </a:r>
            <a:r>
              <a:rPr kumimoji="1" lang="zh-CN" altLang="en-US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=</a:t>
            </a:r>
            <a:r>
              <a:rPr kumimoji="1" lang="zh-CN" altLang="en-US" dirty="0">
                <a:solidFill>
                  <a:schemeClr val="accent1"/>
                </a:solidFill>
              </a:rPr>
              <a:t> </a:t>
            </a:r>
            <a:r>
              <a:rPr kumimoji="1" lang="en-US" altLang="zh-CN" dirty="0">
                <a:solidFill>
                  <a:schemeClr val="accent1"/>
                </a:solidFill>
              </a:rPr>
              <a:t>300</a:t>
            </a:r>
            <a:endParaRPr lang="zh-CN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4148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3A0D-4F48-334C-B51E-1CE41F36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Stride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7C329-733B-274F-94FF-373869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7DC75301-182A-3243-A7BC-F2C618455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3874675"/>
              </p:ext>
            </p:extLst>
          </p:nvPr>
        </p:nvGraphicFramePr>
        <p:xfrm>
          <a:off x="5796136" y="3081758"/>
          <a:ext cx="271507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5025">
                  <a:extLst>
                    <a:ext uri="{9D8B030D-6E8A-4147-A177-3AD203B41FA5}">
                      <a16:colId xmlns:a16="http://schemas.microsoft.com/office/drawing/2014/main" val="304335859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3445526639"/>
                    </a:ext>
                  </a:extLst>
                </a:gridCol>
                <a:gridCol w="905025">
                  <a:extLst>
                    <a:ext uri="{9D8B030D-6E8A-4147-A177-3AD203B41FA5}">
                      <a16:colId xmlns:a16="http://schemas.microsoft.com/office/drawing/2014/main" val="27641476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Ticket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Stride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75071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30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404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245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B1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4514314"/>
                  </a:ext>
                </a:extLst>
              </a:tr>
            </a:tbl>
          </a:graphicData>
        </a:graphic>
      </p:graphicFrame>
      <p:sp>
        <p:nvSpPr>
          <p:cNvPr id="17" name="矩形 16">
            <a:extLst>
              <a:ext uri="{FF2B5EF4-FFF2-40B4-BE49-F238E27FC236}">
                <a16:creationId xmlns:a16="http://schemas.microsoft.com/office/drawing/2014/main" id="{570C7921-86D0-9941-AC32-9E51514AB2EF}"/>
              </a:ext>
            </a:extLst>
          </p:cNvPr>
          <p:cNvSpPr/>
          <p:nvPr/>
        </p:nvSpPr>
        <p:spPr>
          <a:xfrm>
            <a:off x="1541035" y="4143412"/>
            <a:ext cx="432048" cy="14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945F54-B8B3-3548-8057-9648B1A8D7FC}"/>
              </a:ext>
            </a:extLst>
          </p:cNvPr>
          <p:cNvSpPr/>
          <p:nvPr/>
        </p:nvSpPr>
        <p:spPr>
          <a:xfrm>
            <a:off x="3082161" y="4722852"/>
            <a:ext cx="432048" cy="86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2248338-AE78-A945-959B-F57C053FD651}"/>
              </a:ext>
            </a:extLst>
          </p:cNvPr>
          <p:cNvSpPr/>
          <p:nvPr/>
        </p:nvSpPr>
        <p:spPr>
          <a:xfrm>
            <a:off x="1538818" y="2723534"/>
            <a:ext cx="432048" cy="14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F1B2128-51D2-C340-AA35-FB6848CBD631}"/>
              </a:ext>
            </a:extLst>
          </p:cNvPr>
          <p:cNvSpPr/>
          <p:nvPr/>
        </p:nvSpPr>
        <p:spPr>
          <a:xfrm>
            <a:off x="1538818" y="1287982"/>
            <a:ext cx="432048" cy="14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04922EC-C0FD-7F45-91B1-08D53F060E68}"/>
              </a:ext>
            </a:extLst>
          </p:cNvPr>
          <p:cNvSpPr/>
          <p:nvPr/>
        </p:nvSpPr>
        <p:spPr>
          <a:xfrm>
            <a:off x="4593427" y="3420209"/>
            <a:ext cx="432048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737E148-D26A-B740-90DC-BE0AEF3E9B56}"/>
              </a:ext>
            </a:extLst>
          </p:cNvPr>
          <p:cNvSpPr/>
          <p:nvPr/>
        </p:nvSpPr>
        <p:spPr>
          <a:xfrm>
            <a:off x="4593427" y="1984578"/>
            <a:ext cx="432048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3469EA9-76AF-8645-AF5F-9D96D0733453}"/>
              </a:ext>
            </a:extLst>
          </p:cNvPr>
          <p:cNvSpPr/>
          <p:nvPr/>
        </p:nvSpPr>
        <p:spPr>
          <a:xfrm>
            <a:off x="4596512" y="1264578"/>
            <a:ext cx="432048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95AD2C-3030-E044-826A-304C18A6EB9D}"/>
              </a:ext>
            </a:extLst>
          </p:cNvPr>
          <p:cNvSpPr/>
          <p:nvPr/>
        </p:nvSpPr>
        <p:spPr>
          <a:xfrm>
            <a:off x="4593427" y="2704578"/>
            <a:ext cx="432048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C9B4664-56FD-2147-B22A-9907B4B16768}"/>
              </a:ext>
            </a:extLst>
          </p:cNvPr>
          <p:cNvSpPr/>
          <p:nvPr/>
        </p:nvSpPr>
        <p:spPr>
          <a:xfrm>
            <a:off x="4591210" y="4863966"/>
            <a:ext cx="432048" cy="72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CFA8016-86CD-0148-980C-7A0B6A031026}"/>
              </a:ext>
            </a:extLst>
          </p:cNvPr>
          <p:cNvSpPr/>
          <p:nvPr/>
        </p:nvSpPr>
        <p:spPr>
          <a:xfrm>
            <a:off x="4591210" y="4148335"/>
            <a:ext cx="432048" cy="72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11C9D34-E6B1-8E4C-A5C0-A329D46851AA}"/>
              </a:ext>
            </a:extLst>
          </p:cNvPr>
          <p:cNvSpPr/>
          <p:nvPr/>
        </p:nvSpPr>
        <p:spPr>
          <a:xfrm>
            <a:off x="3082161" y="3861190"/>
            <a:ext cx="432048" cy="86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49AF18-A4C0-0C4F-AF6F-88F612BB1DDD}"/>
              </a:ext>
            </a:extLst>
          </p:cNvPr>
          <p:cNvSpPr/>
          <p:nvPr/>
        </p:nvSpPr>
        <p:spPr>
          <a:xfrm>
            <a:off x="3082161" y="3007350"/>
            <a:ext cx="432048" cy="86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F925DD2-67E5-7246-A313-C533ACE948A3}"/>
              </a:ext>
            </a:extLst>
          </p:cNvPr>
          <p:cNvSpPr/>
          <p:nvPr/>
        </p:nvSpPr>
        <p:spPr>
          <a:xfrm>
            <a:off x="3082161" y="2135528"/>
            <a:ext cx="432048" cy="864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51B6E917-23FB-E545-B382-57A754D9B78D}"/>
              </a:ext>
            </a:extLst>
          </p:cNvPr>
          <p:cNvSpPr/>
          <p:nvPr/>
        </p:nvSpPr>
        <p:spPr>
          <a:xfrm>
            <a:off x="3082161" y="1263706"/>
            <a:ext cx="432048" cy="864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F10B21B3-8944-874B-A4E6-31554BD2CCED}"/>
              </a:ext>
            </a:extLst>
          </p:cNvPr>
          <p:cNvGrpSpPr/>
          <p:nvPr/>
        </p:nvGrpSpPr>
        <p:grpSpPr>
          <a:xfrm>
            <a:off x="1993874" y="4705551"/>
            <a:ext cx="914400" cy="914400"/>
            <a:chOff x="4114800" y="2400300"/>
            <a:chExt cx="914400" cy="914400"/>
          </a:xfrm>
        </p:grpSpPr>
        <p:pic>
          <p:nvPicPr>
            <p:cNvPr id="35" name="图形 34" descr="纸张">
              <a:extLst>
                <a:ext uri="{FF2B5EF4-FFF2-40B4-BE49-F238E27FC236}">
                  <a16:creationId xmlns:a16="http://schemas.microsoft.com/office/drawing/2014/main" id="{06BB1DA2-69EC-CD46-AC7F-56C2B8C924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BF7C0944-85B9-D34D-B950-C46626192437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A1</a:t>
              </a:r>
              <a:endParaRPr kumimoji="1" lang="zh-CN" altLang="en-US" b="1" dirty="0"/>
            </a:p>
          </p:txBody>
        </p:sp>
      </p:grp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38E68163-CFFE-894E-BCF1-BD0DEB8AF037}"/>
              </a:ext>
            </a:extLst>
          </p:cNvPr>
          <p:cNvGrpSpPr/>
          <p:nvPr/>
        </p:nvGrpSpPr>
        <p:grpSpPr>
          <a:xfrm>
            <a:off x="3522433" y="4740643"/>
            <a:ext cx="914400" cy="914400"/>
            <a:chOff x="4114800" y="2400300"/>
            <a:chExt cx="914400" cy="914400"/>
          </a:xfrm>
        </p:grpSpPr>
        <p:pic>
          <p:nvPicPr>
            <p:cNvPr id="38" name="图形 37" descr="纸张">
              <a:extLst>
                <a:ext uri="{FF2B5EF4-FFF2-40B4-BE49-F238E27FC236}">
                  <a16:creationId xmlns:a16="http://schemas.microsoft.com/office/drawing/2014/main" id="{9210A632-FB00-7B42-A7C3-2E68124CF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2852295C-3135-3A4D-88A7-1CECAD972268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A2</a:t>
              </a:r>
              <a:endParaRPr kumimoji="1" lang="zh-CN" altLang="en-US" b="1" dirty="0"/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44332B17-9A69-A642-AD38-35CD73F64A1A}"/>
              </a:ext>
            </a:extLst>
          </p:cNvPr>
          <p:cNvGrpSpPr/>
          <p:nvPr/>
        </p:nvGrpSpPr>
        <p:grpSpPr>
          <a:xfrm>
            <a:off x="5017862" y="4726750"/>
            <a:ext cx="914400" cy="914400"/>
            <a:chOff x="4114800" y="2400300"/>
            <a:chExt cx="914400" cy="914400"/>
          </a:xfrm>
        </p:grpSpPr>
        <p:pic>
          <p:nvPicPr>
            <p:cNvPr id="41" name="图形 40" descr="纸张">
              <a:extLst>
                <a:ext uri="{FF2B5EF4-FFF2-40B4-BE49-F238E27FC236}">
                  <a16:creationId xmlns:a16="http://schemas.microsoft.com/office/drawing/2014/main" id="{7B96F3E3-DB4A-AD4E-98B9-A28E083AF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14800" y="2400300"/>
              <a:ext cx="914400" cy="914400"/>
            </a:xfrm>
            <a:prstGeom prst="rect">
              <a:avLst/>
            </a:prstGeom>
          </p:spPr>
        </p:pic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DC8D2CF-7400-0840-8FB6-8FEF03114A24}"/>
                </a:ext>
              </a:extLst>
            </p:cNvPr>
            <p:cNvSpPr txBox="1"/>
            <p:nvPr/>
          </p:nvSpPr>
          <p:spPr>
            <a:xfrm>
              <a:off x="4114800" y="2790527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B1</a:t>
              </a:r>
              <a:endParaRPr kumimoji="1" lang="zh-CN" altLang="en-US" b="1" dirty="0"/>
            </a:p>
          </p:txBody>
        </p:sp>
      </p:grp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A79EC335-1200-C343-BD46-8A41DB7F19E0}"/>
              </a:ext>
            </a:extLst>
          </p:cNvPr>
          <p:cNvCxnSpPr>
            <a:cxnSpLocks/>
          </p:cNvCxnSpPr>
          <p:nvPr/>
        </p:nvCxnSpPr>
        <p:spPr>
          <a:xfrm flipV="1">
            <a:off x="1226431" y="1328318"/>
            <a:ext cx="0" cy="4211894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矩形 44">
            <a:extLst>
              <a:ext uri="{FF2B5EF4-FFF2-40B4-BE49-F238E27FC236}">
                <a16:creationId xmlns:a16="http://schemas.microsoft.com/office/drawing/2014/main" id="{E607ACAC-CD57-A44E-96AD-2755DF7C8364}"/>
              </a:ext>
            </a:extLst>
          </p:cNvPr>
          <p:cNvSpPr/>
          <p:nvPr/>
        </p:nvSpPr>
        <p:spPr>
          <a:xfrm>
            <a:off x="256213" y="3278960"/>
            <a:ext cx="787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/>
              <a:t>Stride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0662BFD-A430-3C44-A90A-C58BE4B6E914}"/>
              </a:ext>
            </a:extLst>
          </p:cNvPr>
          <p:cNvSpPr txBox="1"/>
          <p:nvPr/>
        </p:nvSpPr>
        <p:spPr>
          <a:xfrm>
            <a:off x="724052" y="5309806"/>
            <a:ext cx="424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54E6786-F1A8-A143-9669-90B1559FA6D5}"/>
              </a:ext>
            </a:extLst>
          </p:cNvPr>
          <p:cNvSpPr txBox="1"/>
          <p:nvPr/>
        </p:nvSpPr>
        <p:spPr>
          <a:xfrm>
            <a:off x="611564" y="1199313"/>
            <a:ext cx="5784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30</a:t>
            </a:r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2D08F9A-1E6F-6B47-BCCE-2224B0C75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0389" y="944535"/>
            <a:ext cx="3412604" cy="1400043"/>
          </a:xfrm>
          <a:prstGeom prst="rect">
            <a:avLst/>
          </a:prstGeom>
          <a:ln w="381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038783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DA3A0D-4F48-334C-B51E-1CE41F365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公平共享调度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757C329-733B-274F-94FF-373869396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D8FA8DC5-1630-F14A-AEF3-3FB4AF107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E17F4DE-A6EE-8640-A336-178FA5BA3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305207"/>
              </p:ext>
            </p:extLst>
          </p:nvPr>
        </p:nvGraphicFramePr>
        <p:xfrm>
          <a:off x="1175792" y="1705372"/>
          <a:ext cx="6792415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239">
                  <a:extLst>
                    <a:ext uri="{9D8B030D-6E8A-4147-A177-3AD203B41FA5}">
                      <a16:colId xmlns:a16="http://schemas.microsoft.com/office/drawing/2014/main" val="3678748856"/>
                    </a:ext>
                  </a:extLst>
                </a:gridCol>
                <a:gridCol w="2024986">
                  <a:extLst>
                    <a:ext uri="{9D8B030D-6E8A-4147-A177-3AD203B41FA5}">
                      <a16:colId xmlns:a16="http://schemas.microsoft.com/office/drawing/2014/main" val="1155396680"/>
                    </a:ext>
                  </a:extLst>
                </a:gridCol>
                <a:gridCol w="2607190">
                  <a:extLst>
                    <a:ext uri="{9D8B030D-6E8A-4147-A177-3AD203B41FA5}">
                      <a16:colId xmlns:a16="http://schemas.microsoft.com/office/drawing/2014/main" val="20856982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Lottery</a:t>
                      </a:r>
                    </a:p>
                    <a:p>
                      <a:pPr algn="ctr"/>
                      <a:r>
                        <a:rPr lang="en-US" altLang="zh-CN" dirty="0"/>
                        <a:t>Scheduling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Stride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/>
                        <a:t>Scheduling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73274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调度决策生成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随机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确定性计算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24804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任务实际执行时间与预期的差距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6210206"/>
                  </a:ext>
                </a:extLst>
              </a:tr>
            </a:tbl>
          </a:graphicData>
        </a:graphic>
      </p:graphicFrame>
      <p:sp>
        <p:nvSpPr>
          <p:cNvPr id="3" name="矩形 2">
            <a:extLst>
              <a:ext uri="{FF2B5EF4-FFF2-40B4-BE49-F238E27FC236}">
                <a16:creationId xmlns:a16="http://schemas.microsoft.com/office/drawing/2014/main" id="{F13C57E0-55FB-EF4F-B3FB-B9FB9B1C5AD9}"/>
              </a:ext>
            </a:extLst>
          </p:cNvPr>
          <p:cNvSpPr/>
          <p:nvPr/>
        </p:nvSpPr>
        <p:spPr>
          <a:xfrm>
            <a:off x="1175792" y="4171191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预期</a:t>
            </a:r>
            <a:r>
              <a:rPr lang="en-US" altLang="zh-CN" dirty="0"/>
              <a:t>——</a:t>
            </a:r>
            <a:r>
              <a:rPr lang="zh-CN" altLang="en-US" dirty="0"/>
              <a:t>根据任务权重计算的执行时间期望</a:t>
            </a:r>
          </a:p>
        </p:txBody>
      </p:sp>
    </p:spTree>
    <p:extLst>
      <p:ext uri="{BB962C8B-B14F-4D97-AF65-F5344CB8AC3E}">
        <p14:creationId xmlns:p14="http://schemas.microsoft.com/office/powerpoint/2010/main" val="36711657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实时调度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Real-Time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8413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5AA1B7-0491-524B-971B-0C101F8C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实时调度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1547F1-2462-9844-9AB1-995683FA8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5626968" cy="2055796"/>
          </a:xfrm>
        </p:spPr>
        <p:txBody>
          <a:bodyPr>
            <a:normAutofit/>
          </a:bodyPr>
          <a:lstStyle/>
          <a:p>
            <a:r>
              <a:rPr kumimoji="1" lang="zh-CN" altLang="en-US" sz="1800" dirty="0"/>
              <a:t>每个任务都有截止时间（</a:t>
            </a:r>
            <a:r>
              <a:rPr kumimoji="1" lang="en-US" altLang="zh-CN" sz="1800" dirty="0"/>
              <a:t>Deadline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r>
              <a:rPr kumimoji="1" lang="zh-CN" altLang="en-US" sz="1800" dirty="0"/>
              <a:t>软实时（</a:t>
            </a:r>
            <a:r>
              <a:rPr kumimoji="1" lang="en-US" altLang="zh-CN" sz="1800" dirty="0"/>
              <a:t>Soft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Time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视频播放，每一帧的渲染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超过截止时间 </a:t>
            </a:r>
            <a:r>
              <a:rPr kumimoji="1" lang="en-US" altLang="zh-CN" sz="1600" dirty="0">
                <a:sym typeface="Wingdings" pitchFamily="2" charset="2"/>
              </a:rPr>
              <a:t></a:t>
            </a:r>
            <a:r>
              <a:rPr kumimoji="1" lang="zh-CN" altLang="en-US" sz="1600" dirty="0">
                <a:sym typeface="Wingdings" pitchFamily="2" charset="2"/>
              </a:rPr>
              <a:t> </a:t>
            </a:r>
            <a:r>
              <a:rPr kumimoji="1" lang="zh-CN" altLang="en-US" sz="1600" dirty="0"/>
              <a:t>画质差</a:t>
            </a:r>
            <a:endParaRPr kumimoji="1" lang="en-US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AA543F-ED47-E842-BF20-C22A6B86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F046C1-4024-1E42-B352-9F03337B2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70C2294-92C4-EA48-BB56-32F3A697F989}"/>
              </a:ext>
            </a:extLst>
          </p:cNvPr>
          <p:cNvGraphicFramePr>
            <a:graphicFrameLocks noGrp="1"/>
          </p:cNvGraphicFramePr>
          <p:nvPr/>
        </p:nvGraphicFramePr>
        <p:xfrm>
          <a:off x="627074" y="3145532"/>
          <a:ext cx="7622505" cy="1719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841">
                  <a:extLst>
                    <a:ext uri="{9D8B030D-6E8A-4147-A177-3AD203B41FA5}">
                      <a16:colId xmlns:a16="http://schemas.microsoft.com/office/drawing/2014/main" val="3721439892"/>
                    </a:ext>
                  </a:extLst>
                </a:gridCol>
                <a:gridCol w="1403161">
                  <a:extLst>
                    <a:ext uri="{9D8B030D-6E8A-4147-A177-3AD203B41FA5}">
                      <a16:colId xmlns:a16="http://schemas.microsoft.com/office/drawing/2014/main" val="3986500129"/>
                    </a:ext>
                  </a:extLst>
                </a:gridCol>
                <a:gridCol w="1524501">
                  <a:extLst>
                    <a:ext uri="{9D8B030D-6E8A-4147-A177-3AD203B41FA5}">
                      <a16:colId xmlns:a16="http://schemas.microsoft.com/office/drawing/2014/main" val="3618652220"/>
                    </a:ext>
                  </a:extLst>
                </a:gridCol>
                <a:gridCol w="1524501">
                  <a:extLst>
                    <a:ext uri="{9D8B030D-6E8A-4147-A177-3AD203B41FA5}">
                      <a16:colId xmlns:a16="http://schemas.microsoft.com/office/drawing/2014/main" val="1340334930"/>
                    </a:ext>
                  </a:extLst>
                </a:gridCol>
                <a:gridCol w="1524501">
                  <a:extLst>
                    <a:ext uri="{9D8B030D-6E8A-4147-A177-3AD203B41FA5}">
                      <a16:colId xmlns:a16="http://schemas.microsoft.com/office/drawing/2014/main" val="3688876752"/>
                    </a:ext>
                  </a:extLst>
                </a:gridCol>
              </a:tblGrid>
              <a:tr h="30256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速度（千米</a:t>
                      </a:r>
                      <a:r>
                        <a:rPr lang="en-US" altLang="zh-CN" sz="1400" b="0" dirty="0"/>
                        <a:t>/</a:t>
                      </a:r>
                      <a:r>
                        <a:rPr lang="zh-CN" altLang="en-US" sz="1400" b="0" dirty="0"/>
                        <a:t>小时）</a:t>
                      </a:r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速度（米 </a:t>
                      </a:r>
                      <a:r>
                        <a:rPr lang="en-US" altLang="zh-CN" sz="1400" b="0" dirty="0"/>
                        <a:t>/</a:t>
                      </a:r>
                      <a:r>
                        <a:rPr lang="zh-CN" altLang="en-US" sz="1400" b="0" dirty="0"/>
                        <a:t> 秒）</a:t>
                      </a:r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/>
                        <a:t>停车距离</a:t>
                      </a:r>
                      <a:r>
                        <a:rPr lang="en-US" altLang="zh-CN" sz="1400" b="0" dirty="0"/>
                        <a:t>(</a:t>
                      </a:r>
                      <a:r>
                        <a:rPr lang="zh-CN" altLang="en-US" sz="1400" b="0" dirty="0"/>
                        <a:t>米</a:t>
                      </a:r>
                      <a:r>
                        <a:rPr lang="en-US" altLang="zh-CN" sz="1400" b="0" dirty="0"/>
                        <a:t>)</a:t>
                      </a:r>
                    </a:p>
                    <a:p>
                      <a:pPr algn="ctr"/>
                      <a:r>
                        <a:rPr lang="zh-CN" altLang="en-US" sz="1400" b="0" dirty="0"/>
                        <a:t>干地</a:t>
                      </a:r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/>
                        <a:t>停车距离</a:t>
                      </a:r>
                      <a:r>
                        <a:rPr lang="en-US" altLang="zh-CN" sz="1400" b="0" dirty="0"/>
                        <a:t>(</a:t>
                      </a:r>
                      <a:r>
                        <a:rPr lang="zh-CN" altLang="en-US" sz="1400" b="0" dirty="0"/>
                        <a:t>米</a:t>
                      </a:r>
                      <a:r>
                        <a:rPr lang="en-US" altLang="zh-CN" sz="1400" b="0" dirty="0"/>
                        <a:t>)</a:t>
                      </a:r>
                    </a:p>
                    <a:p>
                      <a:pPr algn="ctr"/>
                      <a:r>
                        <a:rPr lang="zh-CN" altLang="en-US" sz="1400" b="0" dirty="0"/>
                        <a:t>潮地</a:t>
                      </a:r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0" dirty="0"/>
                        <a:t>停车距离</a:t>
                      </a:r>
                      <a:r>
                        <a:rPr lang="en-US" altLang="zh-CN" sz="1400" b="0" dirty="0"/>
                        <a:t>(</a:t>
                      </a:r>
                      <a:r>
                        <a:rPr lang="zh-CN" altLang="en-US" sz="1400" b="0" dirty="0"/>
                        <a:t>米</a:t>
                      </a:r>
                      <a:r>
                        <a:rPr lang="en-US" altLang="zh-CN" sz="1400" b="0" dirty="0"/>
                        <a:t>)</a:t>
                      </a:r>
                    </a:p>
                    <a:p>
                      <a:pPr algn="ctr"/>
                      <a:r>
                        <a:rPr lang="zh-CN" altLang="en-US" sz="1400" b="0" dirty="0"/>
                        <a:t>雪地</a:t>
                      </a:r>
                    </a:p>
                  </a:txBody>
                  <a:tcPr marL="82296" marR="82296" marT="41148" marB="41148"/>
                </a:tc>
                <a:extLst>
                  <a:ext uri="{0D108BD9-81ED-4DB2-BD59-A6C34878D82A}">
                    <a16:rowId xmlns:a16="http://schemas.microsoft.com/office/drawing/2014/main" val="171966034"/>
                  </a:ext>
                </a:extLst>
              </a:tr>
              <a:tr h="302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60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16.67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17.15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25.72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51.44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extLst>
                  <a:ext uri="{0D108BD9-81ED-4DB2-BD59-A6C34878D82A}">
                    <a16:rowId xmlns:a16="http://schemas.microsoft.com/office/drawing/2014/main" val="3722901330"/>
                  </a:ext>
                </a:extLst>
              </a:tr>
              <a:tr h="302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90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25.00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38.58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57.87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115.74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extLst>
                  <a:ext uri="{0D108BD9-81ED-4DB2-BD59-A6C34878D82A}">
                    <a16:rowId xmlns:a16="http://schemas.microsoft.com/office/drawing/2014/main" val="1354380748"/>
                  </a:ext>
                </a:extLst>
              </a:tr>
              <a:tr h="302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120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33.33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68.59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102.88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205.76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extLst>
                  <a:ext uri="{0D108BD9-81ED-4DB2-BD59-A6C34878D82A}">
                    <a16:rowId xmlns:a16="http://schemas.microsoft.com/office/drawing/2014/main" val="2855554157"/>
                  </a:ext>
                </a:extLst>
              </a:tr>
              <a:tr h="30256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150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41.67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107.17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160.75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321.50</a:t>
                      </a:r>
                      <a:endParaRPr lang="zh-CN" altLang="en-US" sz="1400" dirty="0"/>
                    </a:p>
                  </a:txBody>
                  <a:tcPr marL="82296" marR="82296" marT="41148" marB="41148"/>
                </a:tc>
                <a:extLst>
                  <a:ext uri="{0D108BD9-81ED-4DB2-BD59-A6C34878D82A}">
                    <a16:rowId xmlns:a16="http://schemas.microsoft.com/office/drawing/2014/main" val="1764179240"/>
                  </a:ext>
                </a:extLst>
              </a:tr>
            </a:tbl>
          </a:graphicData>
        </a:graphic>
      </p:graphicFrame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0835C24-0D89-914D-B38C-D9E58A2A6D7B}"/>
              </a:ext>
            </a:extLst>
          </p:cNvPr>
          <p:cNvSpPr txBox="1">
            <a:spLocks/>
          </p:cNvSpPr>
          <p:nvPr/>
        </p:nvSpPr>
        <p:spPr>
          <a:xfrm>
            <a:off x="4438327" y="1816734"/>
            <a:ext cx="4248473" cy="16501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1800" dirty="0"/>
              <a:t>硬实时（</a:t>
            </a:r>
            <a:r>
              <a:rPr kumimoji="1" lang="en-US" altLang="zh-CN" sz="1800" dirty="0"/>
              <a:t>Hard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Real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Time</a:t>
            </a:r>
            <a:r>
              <a:rPr kumimoji="1" lang="zh-CN" altLang="en-US" sz="1800" dirty="0"/>
              <a:t>）</a:t>
            </a:r>
            <a:endParaRPr kumimoji="1" lang="en-US" altLang="zh-CN" sz="1800" dirty="0"/>
          </a:p>
          <a:p>
            <a:pPr lvl="1"/>
            <a:r>
              <a:rPr kumimoji="1" lang="zh-CN" altLang="en-US" sz="1600" dirty="0"/>
              <a:t>自动驾驶汽车的刹车任务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超过截止时间 </a:t>
            </a:r>
            <a:r>
              <a:rPr kumimoji="1" lang="en-US" altLang="zh-CN" sz="1600" dirty="0">
                <a:sym typeface="Wingdings" pitchFamily="2" charset="2"/>
              </a:rPr>
              <a:t></a:t>
            </a:r>
            <a:r>
              <a:rPr kumimoji="1" lang="zh-CN" altLang="en-US" sz="1600" dirty="0">
                <a:sym typeface="Wingdings" pitchFamily="2" charset="2"/>
              </a:rPr>
              <a:t> </a:t>
            </a:r>
            <a:r>
              <a:rPr kumimoji="1" lang="zh-CN" altLang="en-US" sz="1600" dirty="0"/>
              <a:t>严重后果</a:t>
            </a:r>
            <a:endParaRPr kumimoji="1" lang="en-US" altLang="zh-CN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76F824-9977-2C4E-879A-70D57F9397F8}"/>
              </a:ext>
            </a:extLst>
          </p:cNvPr>
          <p:cNvSpPr/>
          <p:nvPr/>
        </p:nvSpPr>
        <p:spPr>
          <a:xfrm>
            <a:off x="3448510" y="4900779"/>
            <a:ext cx="20088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1400" b="1" dirty="0">
                <a:solidFill>
                  <a:schemeClr val="accent1"/>
                </a:solidFill>
              </a:rPr>
              <a:t>不同条件下的刹车距离</a:t>
            </a:r>
          </a:p>
        </p:txBody>
      </p:sp>
    </p:spTree>
    <p:extLst>
      <p:ext uri="{BB962C8B-B14F-4D97-AF65-F5344CB8AC3E}">
        <p14:creationId xmlns:p14="http://schemas.microsoft.com/office/powerpoint/2010/main" val="14757256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D4FBD-C1B2-654B-8236-BE2862E99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最早截止时间优先（</a:t>
            </a:r>
            <a:r>
              <a:rPr kumimoji="1" lang="en-US" altLang="zh-CN" dirty="0"/>
              <a:t>Earliest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Deadline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2C3216-5785-E144-B5C5-C39676BDD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任务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</a:t>
            </a:r>
            <a:r>
              <a:rPr kumimoji="1" lang="zh-CN" altLang="en-US" dirty="0"/>
              <a:t>：所需执行时间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P</a:t>
            </a:r>
            <a:r>
              <a:rPr kumimoji="1" lang="zh-CN" altLang="en-US" dirty="0"/>
              <a:t>：任务触发的时间周期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假设</a:t>
            </a:r>
            <a:r>
              <a:rPr kumimoji="1" lang="en-US" altLang="zh-CN" dirty="0"/>
              <a:t>P</a:t>
            </a:r>
            <a:r>
              <a:rPr kumimoji="1" lang="zh-CN" altLang="en-US" dirty="0"/>
              <a:t>同时是任务截止时间</a:t>
            </a:r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当实时任务满足条件：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这些任务对</a:t>
            </a:r>
            <a:r>
              <a:rPr kumimoji="1" lang="en-US" altLang="zh-CN" dirty="0"/>
              <a:t>EDF</a:t>
            </a:r>
            <a:r>
              <a:rPr kumimoji="1" lang="zh-CN" altLang="en-US" dirty="0"/>
              <a:t>是可调度的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所有任务在截止时间前完成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3A9DD7-7A66-5A43-8E3C-05B11E64F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2F8B557-2453-F244-AA7F-1A872BE4D973}"/>
                  </a:ext>
                </a:extLst>
              </p:cNvPr>
              <p:cNvSpPr txBox="1"/>
              <p:nvPr/>
            </p:nvSpPr>
            <p:spPr>
              <a:xfrm>
                <a:off x="6012160" y="2269390"/>
                <a:ext cx="1909946" cy="11762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i="1" smtClean="0">
                          <a:latin typeface="Cambria Math" panose="02040503050406030204" pitchFamily="18" charset="0"/>
                        </a:rPr>
                        <m:t>(</m:t>
                      </m:r>
                      <m:nary>
                        <m:naryPr>
                          <m:chr m:val="∑"/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1"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kumimoji="1" lang="en-US" altLang="zh-CN" sz="2800" b="0" i="1" smtClean="0">
                          <a:latin typeface="Cambria Math" panose="02040503050406030204" pitchFamily="18" charset="0"/>
                        </a:rPr>
                        <m:t>≤1)</m:t>
                      </m:r>
                    </m:oMath>
                  </m:oMathPara>
                </a14:m>
                <a:endParaRPr kumimoji="1" lang="zh-CN" altLang="en-US" sz="28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2F8B557-2453-F244-AA7F-1A872BE4D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2160" y="2269390"/>
                <a:ext cx="1909946" cy="1176219"/>
              </a:xfrm>
              <a:prstGeom prst="rect">
                <a:avLst/>
              </a:prstGeom>
              <a:blipFill>
                <a:blip r:embed="rId2"/>
                <a:stretch>
                  <a:fillRect l="-58553" t="-119355" r="-5263" b="-1795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39F6050-EC5A-694A-ADF1-106FBED37757}"/>
              </a:ext>
            </a:extLst>
          </p:cNvPr>
          <p:cNvSpPr txBox="1"/>
          <p:nvPr/>
        </p:nvSpPr>
        <p:spPr>
          <a:xfrm>
            <a:off x="5940152" y="3637434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1"/>
                </a:solidFill>
              </a:rPr>
              <a:t>反映了</a:t>
            </a:r>
            <a:r>
              <a:rPr kumimoji="1" lang="en-US" altLang="zh-CN" dirty="0">
                <a:solidFill>
                  <a:schemeClr val="accent1"/>
                </a:solidFill>
              </a:rPr>
              <a:t>CPU</a:t>
            </a:r>
            <a:r>
              <a:rPr kumimoji="1" lang="zh-CN" altLang="en-US" dirty="0">
                <a:solidFill>
                  <a:schemeClr val="accent1"/>
                </a:solidFill>
              </a:rPr>
              <a:t>利用率</a:t>
            </a: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FAF69A22-1EE9-8146-A4D3-D74CF514D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52248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5ABD-CF3D-0A4A-BA71-3BE0FEDE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kumimoji="1" lang="zh-CN" altLang="en-US" dirty="0"/>
              <a:t>最早截止时间优先（</a:t>
            </a:r>
            <a:r>
              <a:rPr kumimoji="1" lang="en-US" altLang="zh-CN" dirty="0"/>
              <a:t>Earliest</a:t>
            </a:r>
            <a:r>
              <a:rPr kumimoji="1" lang="zh-CN" altLang="en-US" dirty="0"/>
              <a:t> </a:t>
            </a:r>
            <a:r>
              <a:rPr kumimoji="1" lang="en-US" altLang="zh-CN" dirty="0"/>
              <a:t>Deadline</a:t>
            </a:r>
            <a:r>
              <a:rPr kumimoji="1" lang="zh-CN" altLang="en-US" dirty="0"/>
              <a:t> </a:t>
            </a:r>
            <a:r>
              <a:rPr kumimoji="1" lang="en-US" altLang="zh-CN" dirty="0"/>
              <a:t>First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5A6A52-A794-E44A-9145-0DEADE90E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000" dirty="0"/>
              <a:t>每次调度截止时间最近的任务</a:t>
            </a:r>
            <a:endParaRPr kumimoji="1" lang="en-US" altLang="zh-CN" sz="2000" dirty="0"/>
          </a:p>
          <a:p>
            <a:r>
              <a:rPr kumimoji="1" lang="en-US" altLang="zh-CN" sz="2000" dirty="0"/>
              <a:t>EDF</a:t>
            </a:r>
            <a:r>
              <a:rPr kumimoji="1" lang="zh-CN" altLang="en-US" sz="2000" dirty="0"/>
              <a:t>是动态算法</a:t>
            </a:r>
            <a:endParaRPr kumimoji="1" lang="en-US" altLang="zh-CN" sz="2000" dirty="0"/>
          </a:p>
          <a:p>
            <a:pPr lvl="1"/>
            <a:r>
              <a:rPr kumimoji="1" lang="zh-CN" altLang="en-US" sz="1800" dirty="0"/>
              <a:t>无需预知执行时间、任务周期</a:t>
            </a:r>
            <a:endParaRPr kumimoji="1" lang="en-US" altLang="zh-CN" sz="1800" dirty="0"/>
          </a:p>
          <a:p>
            <a:r>
              <a:rPr kumimoji="1" lang="zh-CN" altLang="en-US" sz="2000" dirty="0"/>
              <a:t>在任务可调度的情况下能够实现最优调度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760262-004B-5742-A7F4-C54B39B5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FF40EEF-E3B4-604B-95ED-B05D336709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700" y="3416299"/>
            <a:ext cx="5181600" cy="1930400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940C074-91EB-4E47-9BE4-F089588DCACC}"/>
              </a:ext>
            </a:extLst>
          </p:cNvPr>
          <p:cNvGraphicFramePr>
            <a:graphicFrameLocks noGrp="1"/>
          </p:cNvGraphicFramePr>
          <p:nvPr/>
        </p:nvGraphicFramePr>
        <p:xfrm>
          <a:off x="5580112" y="1345332"/>
          <a:ext cx="3250704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47">
                  <a:extLst>
                    <a:ext uri="{9D8B030D-6E8A-4147-A177-3AD203B41FA5}">
                      <a16:colId xmlns:a16="http://schemas.microsoft.com/office/drawing/2014/main" val="460881584"/>
                    </a:ext>
                  </a:extLst>
                </a:gridCol>
                <a:gridCol w="898329">
                  <a:extLst>
                    <a:ext uri="{9D8B030D-6E8A-4147-A177-3AD203B41FA5}">
                      <a16:colId xmlns:a16="http://schemas.microsoft.com/office/drawing/2014/main" val="463895668"/>
                    </a:ext>
                  </a:extLst>
                </a:gridCol>
                <a:gridCol w="1666528">
                  <a:extLst>
                    <a:ext uri="{9D8B030D-6E8A-4147-A177-3AD203B41FA5}">
                      <a16:colId xmlns:a16="http://schemas.microsoft.com/office/drawing/2014/main" val="2165052943"/>
                    </a:ext>
                  </a:extLst>
                </a:gridCol>
              </a:tblGrid>
              <a:tr h="269433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执行时间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任务周期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截止时间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852801"/>
                  </a:ext>
                </a:extLst>
              </a:tr>
              <a:tr h="2694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</a:t>
                      </a:r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47291"/>
                  </a:ext>
                </a:extLst>
              </a:tr>
              <a:tr h="2694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</a:t>
                      </a:r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63403"/>
                  </a:ext>
                </a:extLst>
              </a:tr>
              <a:tr h="2694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</a:t>
                      </a:r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41464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033F647-D6C2-D342-8460-B70E37FE3744}"/>
              </a:ext>
            </a:extLst>
          </p:cNvPr>
          <p:cNvSpPr txBox="1"/>
          <p:nvPr/>
        </p:nvSpPr>
        <p:spPr>
          <a:xfrm>
            <a:off x="394363" y="348819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264445-891D-7F4C-A391-88F6DEF77988}"/>
              </a:ext>
            </a:extLst>
          </p:cNvPr>
          <p:cNvSpPr txBox="1"/>
          <p:nvPr/>
        </p:nvSpPr>
        <p:spPr>
          <a:xfrm>
            <a:off x="390596" y="406328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4D167B-7ED1-E144-B0CE-9C093F29FD6F}"/>
              </a:ext>
            </a:extLst>
          </p:cNvPr>
          <p:cNvSpPr txBox="1"/>
          <p:nvPr/>
        </p:nvSpPr>
        <p:spPr>
          <a:xfrm>
            <a:off x="390596" y="4632709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28C1FC-64E5-6646-AF67-969F51622668}"/>
                  </a:ext>
                </a:extLst>
              </p:cNvPr>
              <p:cNvSpPr txBox="1"/>
              <p:nvPr/>
            </p:nvSpPr>
            <p:spPr>
              <a:xfrm>
                <a:off x="7136558" y="3911861"/>
                <a:ext cx="921983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28C1FC-64E5-6646-AF67-969F51622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6558" y="3911861"/>
                <a:ext cx="921983" cy="672172"/>
              </a:xfrm>
              <a:prstGeom prst="rect">
                <a:avLst/>
              </a:prstGeom>
              <a:blipFill>
                <a:blip r:embed="rId4"/>
                <a:stretch>
                  <a:fillRect l="-79730" t="-120370" r="-2703" b="-18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3CDBCAB2-FD75-D34B-8B25-076070373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929375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5ABD-CF3D-0A4A-BA71-3BE0FEDEA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427" y="19454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多米诺效应</a:t>
            </a:r>
          </a:p>
        </p:txBody>
      </p:sp>
      <p:pic>
        <p:nvPicPr>
          <p:cNvPr id="7" name="内容占位符 6" descr="手机屏幕的截图&#10;&#10;描述已自动生成">
            <a:extLst>
              <a:ext uri="{FF2B5EF4-FFF2-40B4-BE49-F238E27FC236}">
                <a16:creationId xmlns:a16="http://schemas.microsoft.com/office/drawing/2014/main" id="{68E993D1-7C36-5E4A-8F5C-3BAE07EF88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894836"/>
            <a:ext cx="5638800" cy="23749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760262-004B-5742-A7F4-C54B39B5F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940C074-91EB-4E47-9BE4-F089588DCACC}"/>
              </a:ext>
            </a:extLst>
          </p:cNvPr>
          <p:cNvGraphicFramePr>
            <a:graphicFrameLocks noGrp="1"/>
          </p:cNvGraphicFramePr>
          <p:nvPr/>
        </p:nvGraphicFramePr>
        <p:xfrm>
          <a:off x="5585868" y="1372136"/>
          <a:ext cx="3250704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47">
                  <a:extLst>
                    <a:ext uri="{9D8B030D-6E8A-4147-A177-3AD203B41FA5}">
                      <a16:colId xmlns:a16="http://schemas.microsoft.com/office/drawing/2014/main" val="460881584"/>
                    </a:ext>
                  </a:extLst>
                </a:gridCol>
                <a:gridCol w="898329">
                  <a:extLst>
                    <a:ext uri="{9D8B030D-6E8A-4147-A177-3AD203B41FA5}">
                      <a16:colId xmlns:a16="http://schemas.microsoft.com/office/drawing/2014/main" val="463895668"/>
                    </a:ext>
                  </a:extLst>
                </a:gridCol>
                <a:gridCol w="1666528">
                  <a:extLst>
                    <a:ext uri="{9D8B030D-6E8A-4147-A177-3AD203B41FA5}">
                      <a16:colId xmlns:a16="http://schemas.microsoft.com/office/drawing/2014/main" val="2165052943"/>
                    </a:ext>
                  </a:extLst>
                </a:gridCol>
              </a:tblGrid>
              <a:tr h="269433"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执行时间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任务周期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截止时间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6852801"/>
                  </a:ext>
                </a:extLst>
              </a:tr>
              <a:tr h="2694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</a:t>
                      </a:r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3947291"/>
                  </a:ext>
                </a:extLst>
              </a:tr>
              <a:tr h="2694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</a:t>
                      </a:r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9063403"/>
                  </a:ext>
                </a:extLst>
              </a:tr>
              <a:tr h="26943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任务</a:t>
                      </a:r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414642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3033F647-D6C2-D342-8460-B70E37FE3744}"/>
              </a:ext>
            </a:extLst>
          </p:cNvPr>
          <p:cNvSpPr txBox="1"/>
          <p:nvPr/>
        </p:nvSpPr>
        <p:spPr>
          <a:xfrm>
            <a:off x="332869" y="322760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0264445-891D-7F4C-A391-88F6DEF77988}"/>
              </a:ext>
            </a:extLst>
          </p:cNvPr>
          <p:cNvSpPr txBox="1"/>
          <p:nvPr/>
        </p:nvSpPr>
        <p:spPr>
          <a:xfrm>
            <a:off x="329102" y="3802690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4D167B-7ED1-E144-B0CE-9C093F29FD6F}"/>
              </a:ext>
            </a:extLst>
          </p:cNvPr>
          <p:cNvSpPr txBox="1"/>
          <p:nvPr/>
        </p:nvSpPr>
        <p:spPr>
          <a:xfrm>
            <a:off x="329102" y="437211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任务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C26ABB0-622C-0542-B75E-343932772D44}"/>
                  </a:ext>
                </a:extLst>
              </p:cNvPr>
              <p:cNvSpPr txBox="1"/>
              <p:nvPr/>
            </p:nvSpPr>
            <p:spPr>
              <a:xfrm>
                <a:off x="7423376" y="3538151"/>
                <a:ext cx="921984" cy="672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CN" sz="16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kumimoji="1"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kumimoji="1"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  <m:r>
                        <a:rPr kumimoji="1" lang="en-US" altLang="zh-CN" sz="1600" b="0" i="1" smtClean="0"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kumimoji="1" lang="zh-CN" altLang="en-US" sz="16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C26ABB0-622C-0542-B75E-343932772D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3376" y="3538151"/>
                <a:ext cx="921984" cy="672172"/>
              </a:xfrm>
              <a:prstGeom prst="rect">
                <a:avLst/>
              </a:prstGeom>
              <a:blipFill>
                <a:blip r:embed="rId4"/>
                <a:stretch>
                  <a:fillRect l="-82192" t="-120370" r="-4110" b="-18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A8F8CD59-BFA3-D142-85FA-C6F04F2BED6D}"/>
              </a:ext>
            </a:extLst>
          </p:cNvPr>
          <p:cNvSpPr txBox="1">
            <a:spLocks/>
          </p:cNvSpPr>
          <p:nvPr/>
        </p:nvSpPr>
        <p:spPr>
          <a:xfrm>
            <a:off x="329102" y="1333501"/>
            <a:ext cx="8357698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dirty="0"/>
              <a:t>在任务不可调度时，会造成</a:t>
            </a:r>
            <a:br>
              <a:rPr kumimoji="1" lang="en-US" altLang="zh-CN" sz="2400" dirty="0"/>
            </a:br>
            <a:r>
              <a:rPr kumimoji="1" lang="zh-CN" altLang="en-US" sz="2400" dirty="0"/>
              <a:t>多数任务都错过截止时间</a:t>
            </a:r>
            <a:endParaRPr kumimoji="1" lang="en-US" altLang="zh-CN" sz="24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5419F0-F0BF-3B42-9492-D20BE97982FD}"/>
              </a:ext>
            </a:extLst>
          </p:cNvPr>
          <p:cNvSpPr txBox="1"/>
          <p:nvPr/>
        </p:nvSpPr>
        <p:spPr>
          <a:xfrm>
            <a:off x="219685" y="5187487"/>
            <a:ext cx="23341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00" dirty="0"/>
              <a:t>方框中数字代表第</a:t>
            </a:r>
            <a:r>
              <a:rPr kumimoji="1" lang="en-US" altLang="zh-CN" sz="1100" dirty="0"/>
              <a:t>n</a:t>
            </a:r>
            <a:r>
              <a:rPr kumimoji="1" lang="zh-CN" altLang="en-US" sz="1100" dirty="0"/>
              <a:t>个周期的任务</a:t>
            </a:r>
          </a:p>
        </p:txBody>
      </p: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B1572BC4-4056-184D-8F14-E8A84F868F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994988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DEBB5E3-48B2-4846-BE71-DADCBFE5E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视频实时渲染系统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视频帧需要在被播放时间点前被渲染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若超过截止时间</a:t>
            </a:r>
            <a:endParaRPr kumimoji="1" lang="en-US" altLang="zh-CN" dirty="0"/>
          </a:p>
          <a:p>
            <a:pPr marL="914400" lvl="2" indent="0">
              <a:buNone/>
            </a:pP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/>
              <a:t>降低后续视频帧的清晰度</a:t>
            </a:r>
            <a:endParaRPr kumimoji="1" lang="en-US" altLang="zh-CN" dirty="0"/>
          </a:p>
          <a:p>
            <a:r>
              <a:rPr kumimoji="1" lang="zh-CN" altLang="en-US" dirty="0"/>
              <a:t>车载防撞系统，定时处理车载雷达信号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雷达信号必须在给定截止时间内被处理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若超过截止时间</a:t>
            </a:r>
            <a:endParaRPr kumimoji="1" lang="en-US" altLang="zh-CN" dirty="0"/>
          </a:p>
          <a:p>
            <a:pPr marL="914400" lvl="2" indent="0">
              <a:buNone/>
            </a:pPr>
            <a:r>
              <a:rPr kumimoji="1" lang="en-US" altLang="zh-CN" dirty="0">
                <a:sym typeface="Wingdings" pitchFamily="2" charset="2"/>
              </a:rPr>
              <a:t></a:t>
            </a:r>
            <a:r>
              <a:rPr kumimoji="1" lang="zh-CN" altLang="en-US" dirty="0"/>
              <a:t>需要立即减速或刹车</a:t>
            </a:r>
            <a:endParaRPr kumimoji="1" lang="en-US" altLang="zh-CN" dirty="0"/>
          </a:p>
          <a:p>
            <a:pPr lvl="1"/>
            <a:endParaRPr kumimoji="1" lang="zh-CN" altLang="en-US" dirty="0"/>
          </a:p>
          <a:p>
            <a:endParaRPr kumimoji="1"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3F7C951-BE46-9446-B5B8-84D4E87BC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67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697A6FA-9C54-654C-850D-9CF8E3916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最早截止时间优先的实际应用</a:t>
            </a:r>
          </a:p>
        </p:txBody>
      </p:sp>
    </p:spTree>
    <p:extLst>
      <p:ext uri="{BB962C8B-B14F-4D97-AF65-F5344CB8AC3E}">
        <p14:creationId xmlns:p14="http://schemas.microsoft.com/office/powerpoint/2010/main" val="253603709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多核调度策略</a:t>
            </a:r>
            <a:endParaRPr kumimoji="1" lang="zh-CN" altLang="en-US" b="1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Multicore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Policy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61D95-77C6-4F44-A6A2-DDF144D5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145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>
            <a:extLst>
              <a:ext uri="{FF2B5EF4-FFF2-40B4-BE49-F238E27FC236}">
                <a16:creationId xmlns:a16="http://schemas.microsoft.com/office/drawing/2014/main" id="{DA99CE96-FAD3-A445-A5CA-0992D9EBB2CD}"/>
              </a:ext>
            </a:extLst>
          </p:cNvPr>
          <p:cNvSpPr/>
          <p:nvPr/>
        </p:nvSpPr>
        <p:spPr>
          <a:xfrm>
            <a:off x="4206636" y="2209428"/>
            <a:ext cx="3312368" cy="188805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3616CD0-D1E6-C644-817A-12FE6B57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多核调度需要考虑的额外因素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E8952-AFFC-8843-A324-3B5EDBE3D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一个进程的不同线程可以在不同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上同时运行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08FD8-91A8-4046-A972-DC953189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5" name="任意形状 4">
            <a:extLst>
              <a:ext uri="{FF2B5EF4-FFF2-40B4-BE49-F238E27FC236}">
                <a16:creationId xmlns:a16="http://schemas.microsoft.com/office/drawing/2014/main" id="{2521BAB8-5470-9F46-B6DF-1617C05FE11A}"/>
              </a:ext>
            </a:extLst>
          </p:cNvPr>
          <p:cNvSpPr/>
          <p:nvPr/>
        </p:nvSpPr>
        <p:spPr>
          <a:xfrm>
            <a:off x="5142740" y="2573484"/>
            <a:ext cx="327673" cy="109182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4CB43D3-D507-3440-96E6-AA9516C02999}"/>
              </a:ext>
            </a:extLst>
          </p:cNvPr>
          <p:cNvSpPr txBox="1"/>
          <p:nvPr/>
        </p:nvSpPr>
        <p:spPr>
          <a:xfrm>
            <a:off x="7380160" y="238881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4907C357-E861-B040-B45F-B5D223EDD346}"/>
              </a:ext>
            </a:extLst>
          </p:cNvPr>
          <p:cNvSpPr/>
          <p:nvPr/>
        </p:nvSpPr>
        <p:spPr>
          <a:xfrm>
            <a:off x="5723975" y="2607544"/>
            <a:ext cx="327673" cy="109182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B9681EE9-17F1-8D4F-808B-D08B688BDD42}"/>
              </a:ext>
            </a:extLst>
          </p:cNvPr>
          <p:cNvSpPr/>
          <p:nvPr/>
        </p:nvSpPr>
        <p:spPr>
          <a:xfrm>
            <a:off x="6293816" y="2607544"/>
            <a:ext cx="327673" cy="109182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248AA74-DADC-7A46-9AE4-14DA7BDD3EF0}"/>
              </a:ext>
            </a:extLst>
          </p:cNvPr>
          <p:cNvSpPr txBox="1"/>
          <p:nvPr/>
        </p:nvSpPr>
        <p:spPr>
          <a:xfrm>
            <a:off x="6559968" y="2968788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线程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30B491D-257C-BB47-ADC5-D867B1B8EFBA}"/>
              </a:ext>
            </a:extLst>
          </p:cNvPr>
          <p:cNvSpPr/>
          <p:nvPr/>
        </p:nvSpPr>
        <p:spPr>
          <a:xfrm>
            <a:off x="4139952" y="4475011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F2A189-F09A-6F48-97C9-96607B50CC61}"/>
              </a:ext>
            </a:extLst>
          </p:cNvPr>
          <p:cNvSpPr/>
          <p:nvPr/>
        </p:nvSpPr>
        <p:spPr>
          <a:xfrm>
            <a:off x="6156024" y="4478795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A32B27DD-DCE4-C446-BD3D-E36E002C83EF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752020" y="3665305"/>
            <a:ext cx="390720" cy="809706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F7CFA0C8-697C-E24C-8019-F84965A4EB35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6438884" y="3699365"/>
            <a:ext cx="329208" cy="779430"/>
          </a:xfrm>
          <a:prstGeom prst="straightConnector1">
            <a:avLst/>
          </a:prstGeom>
          <a:ln w="508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83DE80FB-065C-1F45-A3C5-813F750FB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869364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4EDEC7-87CF-C646-A011-47A625DB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多核调度需要考虑的额外因素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209F84-8CA4-A84A-A6CF-E68F7B1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785562CA-934E-FB4C-B89B-F09E147F2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同一个进程的线程很可能有依赖关系</a:t>
            </a:r>
            <a:endParaRPr lang="en-US" altLang="zh-CN" sz="2400" dirty="0"/>
          </a:p>
          <a:p>
            <a:pPr lvl="1"/>
            <a:r>
              <a:rPr lang="zh-CN" altLang="en-US" dirty="0"/>
              <a:t>例：</a:t>
            </a:r>
            <a:r>
              <a:rPr lang="en-US" altLang="zh-CN" dirty="0"/>
              <a:t>GCC</a:t>
            </a:r>
            <a:r>
              <a:rPr lang="zh-CN" altLang="en-US" dirty="0"/>
              <a:t> 编译</a:t>
            </a:r>
            <a:r>
              <a:rPr lang="en-US" altLang="zh-CN" dirty="0" err="1"/>
              <a:t>a.out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sz="2200" dirty="0"/>
              <a:t>每个线程编译一个文件（</a:t>
            </a:r>
            <a:r>
              <a:rPr lang="en-US" altLang="zh-CN" sz="2200" dirty="0"/>
              <a:t>.c</a:t>
            </a:r>
            <a:r>
              <a:rPr lang="zh-CN" altLang="en-US" sz="2200" dirty="0"/>
              <a:t>到</a:t>
            </a:r>
            <a:r>
              <a:rPr lang="en-US" altLang="zh-CN" sz="2200" dirty="0"/>
              <a:t>.o</a:t>
            </a:r>
            <a:r>
              <a:rPr lang="zh-CN" altLang="en-US" sz="2200" dirty="0"/>
              <a:t>）</a:t>
            </a:r>
            <a:endParaRPr lang="en-US" altLang="zh-CN" sz="2200" dirty="0"/>
          </a:p>
          <a:p>
            <a:pPr lvl="1"/>
            <a:r>
              <a:rPr lang="zh-CN" altLang="en-US" sz="2200" dirty="0"/>
              <a:t>线程间依赖：</a:t>
            </a:r>
            <a:endParaRPr lang="en-US" altLang="zh-CN" sz="2200" dirty="0"/>
          </a:p>
          <a:p>
            <a:pPr lvl="2"/>
            <a:r>
              <a:rPr lang="zh-CN" altLang="en-US" sz="1600" dirty="0"/>
              <a:t>所有</a:t>
            </a:r>
            <a:r>
              <a:rPr lang="en-US" altLang="zh-CN" sz="1600" dirty="0"/>
              <a:t>.o</a:t>
            </a:r>
            <a:r>
              <a:rPr lang="zh-CN" altLang="en-US" sz="1600" dirty="0"/>
              <a:t>生成完才能进入下一步操作</a:t>
            </a:r>
            <a:endParaRPr lang="en-US" altLang="zh-CN" sz="1600" dirty="0"/>
          </a:p>
          <a:p>
            <a:pPr lvl="1"/>
            <a:endParaRPr lang="en-US" altLang="zh-CN" sz="2200" dirty="0"/>
          </a:p>
        </p:txBody>
      </p:sp>
      <p:sp>
        <p:nvSpPr>
          <p:cNvPr id="11" name="下箭头 10">
            <a:extLst>
              <a:ext uri="{FF2B5EF4-FFF2-40B4-BE49-F238E27FC236}">
                <a16:creationId xmlns:a16="http://schemas.microsoft.com/office/drawing/2014/main" id="{E360853D-6204-5440-9D81-BEF054D7065E}"/>
              </a:ext>
            </a:extLst>
          </p:cNvPr>
          <p:cNvSpPr/>
          <p:nvPr/>
        </p:nvSpPr>
        <p:spPr>
          <a:xfrm>
            <a:off x="6226353" y="314583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48BC84-50B1-8E41-82AA-A1F53AFFF90A}"/>
              </a:ext>
            </a:extLst>
          </p:cNvPr>
          <p:cNvSpPr/>
          <p:nvPr/>
        </p:nvSpPr>
        <p:spPr>
          <a:xfrm>
            <a:off x="5345234" y="2657445"/>
            <a:ext cx="38010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>
                <a:highlight>
                  <a:srgbClr val="FFFF00"/>
                </a:highlight>
              </a:rPr>
              <a:t>gcc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file1.c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file2.c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file3.c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>
                <a:highlight>
                  <a:srgbClr val="FFFF00"/>
                </a:highlight>
              </a:rPr>
              <a:t>–o</a:t>
            </a:r>
            <a:r>
              <a:rPr lang="zh-CN" altLang="en-US" sz="2000" dirty="0">
                <a:highlight>
                  <a:srgbClr val="FFFF00"/>
                </a:highlight>
              </a:rPr>
              <a:t> </a:t>
            </a:r>
            <a:r>
              <a:rPr lang="en-US" altLang="zh-CN" sz="2000" dirty="0" err="1">
                <a:highlight>
                  <a:srgbClr val="FFFF00"/>
                </a:highlight>
              </a:rPr>
              <a:t>a.out</a:t>
            </a:r>
            <a:endParaRPr lang="zh-CN" altLang="en-US" sz="2000" dirty="0">
              <a:highlight>
                <a:srgbClr val="FFFF00"/>
              </a:highlight>
            </a:endParaRPr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F269BAE2-816D-B34D-AFD3-181A212A8C47}"/>
              </a:ext>
            </a:extLst>
          </p:cNvPr>
          <p:cNvSpPr/>
          <p:nvPr/>
        </p:nvSpPr>
        <p:spPr>
          <a:xfrm>
            <a:off x="6933656" y="314583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下箭头 16">
            <a:extLst>
              <a:ext uri="{FF2B5EF4-FFF2-40B4-BE49-F238E27FC236}">
                <a16:creationId xmlns:a16="http://schemas.microsoft.com/office/drawing/2014/main" id="{C9107364-A7EF-624B-87B2-7047600F5F60}"/>
              </a:ext>
            </a:extLst>
          </p:cNvPr>
          <p:cNvSpPr/>
          <p:nvPr/>
        </p:nvSpPr>
        <p:spPr>
          <a:xfrm>
            <a:off x="7626057" y="3145838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8D2E4E9-B367-7549-8A2F-173501997245}"/>
              </a:ext>
            </a:extLst>
          </p:cNvPr>
          <p:cNvSpPr/>
          <p:nvPr/>
        </p:nvSpPr>
        <p:spPr>
          <a:xfrm>
            <a:off x="5852080" y="3633534"/>
            <a:ext cx="23791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file1.o</a:t>
            </a:r>
            <a:r>
              <a:rPr lang="zh-CN" altLang="en-US" sz="2000" dirty="0"/>
              <a:t> </a:t>
            </a:r>
            <a:r>
              <a:rPr lang="en-US" altLang="zh-CN" sz="2000" dirty="0"/>
              <a:t>file2.o</a:t>
            </a:r>
            <a:r>
              <a:rPr lang="zh-CN" altLang="en-US" sz="2000" dirty="0"/>
              <a:t> </a:t>
            </a:r>
            <a:r>
              <a:rPr lang="en-US" altLang="zh-CN" sz="2000" dirty="0"/>
              <a:t>file3.o</a:t>
            </a:r>
            <a:endParaRPr lang="zh-CN" altLang="en-US" sz="2000" dirty="0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53B7F029-5412-0549-BC4E-ED64DDF4818E}"/>
              </a:ext>
            </a:extLst>
          </p:cNvPr>
          <p:cNvSpPr/>
          <p:nvPr/>
        </p:nvSpPr>
        <p:spPr>
          <a:xfrm rot="18900000">
            <a:off x="6371387" y="4033104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下箭头 19">
            <a:extLst>
              <a:ext uri="{FF2B5EF4-FFF2-40B4-BE49-F238E27FC236}">
                <a16:creationId xmlns:a16="http://schemas.microsoft.com/office/drawing/2014/main" id="{FC2E43A5-D8CF-C94C-A75B-AABA05A5BF53}"/>
              </a:ext>
            </a:extLst>
          </p:cNvPr>
          <p:cNvSpPr/>
          <p:nvPr/>
        </p:nvSpPr>
        <p:spPr>
          <a:xfrm>
            <a:off x="6947803" y="4045179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687BA35F-621C-0942-AD93-4567900356B3}"/>
              </a:ext>
            </a:extLst>
          </p:cNvPr>
          <p:cNvSpPr/>
          <p:nvPr/>
        </p:nvSpPr>
        <p:spPr>
          <a:xfrm rot="2700000">
            <a:off x="7503499" y="4047754"/>
            <a:ext cx="216024" cy="43612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598D5D-E212-A742-827C-E925775BAAEE}"/>
              </a:ext>
            </a:extLst>
          </p:cNvPr>
          <p:cNvSpPr/>
          <p:nvPr/>
        </p:nvSpPr>
        <p:spPr>
          <a:xfrm>
            <a:off x="6630017" y="4482166"/>
            <a:ext cx="7537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/>
              <a:t>a.out</a:t>
            </a:r>
            <a:endParaRPr lang="zh-CN" altLang="en-US" sz="2000" dirty="0"/>
          </a:p>
        </p:txBody>
      </p:sp>
      <p:sp>
        <p:nvSpPr>
          <p:cNvPr id="14" name="页脚占位符 4">
            <a:extLst>
              <a:ext uri="{FF2B5EF4-FFF2-40B4-BE49-F238E27FC236}">
                <a16:creationId xmlns:a16="http://schemas.microsoft.com/office/drawing/2014/main" id="{5D4ED23E-46E9-6148-B9C4-9BC4E5FD12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22619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616CD0-D1E6-C644-817A-12FE6B57D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群组调度：</a:t>
            </a:r>
            <a:r>
              <a:rPr kumimoji="1" lang="en-US" altLang="zh-CN" dirty="0"/>
              <a:t>Gang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4E8952-AFFC-8843-A324-3B5EDBE3D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在多个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上同时执行一个进程的多个线程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C08FD8-91A8-4046-A972-DC953189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613FC74-989D-DA4A-B1A6-FE1B34BB9480}"/>
              </a:ext>
            </a:extLst>
          </p:cNvPr>
          <p:cNvSpPr/>
          <p:nvPr/>
        </p:nvSpPr>
        <p:spPr>
          <a:xfrm>
            <a:off x="813437" y="2353444"/>
            <a:ext cx="2068763" cy="13380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任意形状 5">
            <a:extLst>
              <a:ext uri="{FF2B5EF4-FFF2-40B4-BE49-F238E27FC236}">
                <a16:creationId xmlns:a16="http://schemas.microsoft.com/office/drawing/2014/main" id="{C4805AFD-7AF3-E14B-9B1C-F7C13F47B5DB}"/>
              </a:ext>
            </a:extLst>
          </p:cNvPr>
          <p:cNvSpPr/>
          <p:nvPr/>
        </p:nvSpPr>
        <p:spPr>
          <a:xfrm>
            <a:off x="1232325" y="2522075"/>
            <a:ext cx="270686" cy="63145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AF629D53-F08B-A942-BD0D-82E2F03E95A5}"/>
              </a:ext>
            </a:extLst>
          </p:cNvPr>
          <p:cNvSpPr/>
          <p:nvPr/>
        </p:nvSpPr>
        <p:spPr>
          <a:xfrm>
            <a:off x="1712476" y="2541773"/>
            <a:ext cx="270686" cy="63145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74387502-761C-9B4C-8876-3F41B74FF357}"/>
              </a:ext>
            </a:extLst>
          </p:cNvPr>
          <p:cNvSpPr/>
          <p:nvPr/>
        </p:nvSpPr>
        <p:spPr>
          <a:xfrm>
            <a:off x="2183214" y="2541773"/>
            <a:ext cx="270686" cy="631451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081D2E2-48A2-6447-B1D9-B77D4CAF751C}"/>
              </a:ext>
            </a:extLst>
          </p:cNvPr>
          <p:cNvSpPr txBox="1"/>
          <p:nvPr/>
        </p:nvSpPr>
        <p:spPr>
          <a:xfrm>
            <a:off x="158764" y="2310582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8C84FFE-A4EC-644D-8985-DDE13D67721C}"/>
              </a:ext>
            </a:extLst>
          </p:cNvPr>
          <p:cNvSpPr txBox="1"/>
          <p:nvPr/>
        </p:nvSpPr>
        <p:spPr>
          <a:xfrm>
            <a:off x="1207163" y="3216086"/>
            <a:ext cx="1551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线程</a:t>
            </a:r>
            <a:r>
              <a:rPr kumimoji="1" lang="en-US" altLang="zh-CN" dirty="0"/>
              <a:t>1,2…</a:t>
            </a:r>
            <a:endParaRPr kumimoji="1"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E7F95E-1ED6-B343-A592-A335FD54AE76}"/>
              </a:ext>
            </a:extLst>
          </p:cNvPr>
          <p:cNvSpPr/>
          <p:nvPr/>
        </p:nvSpPr>
        <p:spPr>
          <a:xfrm>
            <a:off x="3559486" y="43369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E8A8B9-6A83-D94B-9F6E-ACD295E45F10}"/>
              </a:ext>
            </a:extLst>
          </p:cNvPr>
          <p:cNvSpPr/>
          <p:nvPr/>
        </p:nvSpPr>
        <p:spPr>
          <a:xfrm>
            <a:off x="5372418" y="43369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78610F-4C95-5041-9D9A-F307FE4B122A}"/>
              </a:ext>
            </a:extLst>
          </p:cNvPr>
          <p:cNvSpPr/>
          <p:nvPr/>
        </p:nvSpPr>
        <p:spPr>
          <a:xfrm>
            <a:off x="7092280" y="4336954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0FE1543-6731-2743-931A-0A4DBBF56CA4}"/>
              </a:ext>
            </a:extLst>
          </p:cNvPr>
          <p:cNvGrpSpPr/>
          <p:nvPr/>
        </p:nvGrpSpPr>
        <p:grpSpPr>
          <a:xfrm>
            <a:off x="3870396" y="3501310"/>
            <a:ext cx="765182" cy="631451"/>
            <a:chOff x="4087480" y="3481612"/>
            <a:chExt cx="765182" cy="631451"/>
          </a:xfrm>
        </p:grpSpPr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7673E837-4FE5-324A-9571-B0952A21189F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ED9D1460-52A9-5F4B-9085-6DFAB9007B81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A1</a:t>
              </a:r>
              <a:endParaRPr kumimoji="1" lang="zh-CN" altLang="en-US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410DDB7-5A46-BB41-85C2-A84BEAC9B164}"/>
              </a:ext>
            </a:extLst>
          </p:cNvPr>
          <p:cNvGrpSpPr/>
          <p:nvPr/>
        </p:nvGrpSpPr>
        <p:grpSpPr>
          <a:xfrm>
            <a:off x="5537554" y="3501310"/>
            <a:ext cx="765182" cy="631451"/>
            <a:chOff x="4087480" y="3481612"/>
            <a:chExt cx="765182" cy="631451"/>
          </a:xfrm>
        </p:grpSpPr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EF3F9D9F-687D-864D-9CC0-07F74C9C9D19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5B6A5A5-D108-1848-8711-DDE4EBA8E7EA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A2</a:t>
              </a:r>
              <a:endParaRPr kumimoji="1" lang="zh-CN" altLang="en-US" dirty="0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34D22D33-8C04-1141-B3FA-6B7CB01DB608}"/>
              </a:ext>
            </a:extLst>
          </p:cNvPr>
          <p:cNvGrpSpPr/>
          <p:nvPr/>
        </p:nvGrpSpPr>
        <p:grpSpPr>
          <a:xfrm>
            <a:off x="7321757" y="3501310"/>
            <a:ext cx="765182" cy="631451"/>
            <a:chOff x="4087480" y="3481612"/>
            <a:chExt cx="765182" cy="631451"/>
          </a:xfrm>
        </p:grpSpPr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A7AA1C56-EFD8-9648-9551-98E97EBC6F6D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040AACBE-3757-7B4D-B8A8-48A61B582D50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A3</a:t>
              </a:r>
              <a:endParaRPr kumimoji="1" lang="zh-CN" altLang="en-US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6D2E9678-7B2C-334B-BDB5-15441912A5C2}"/>
              </a:ext>
            </a:extLst>
          </p:cNvPr>
          <p:cNvGrpSpPr/>
          <p:nvPr/>
        </p:nvGrpSpPr>
        <p:grpSpPr>
          <a:xfrm>
            <a:off x="3870396" y="2661134"/>
            <a:ext cx="765182" cy="631451"/>
            <a:chOff x="4087480" y="3481612"/>
            <a:chExt cx="765182" cy="631451"/>
          </a:xfrm>
        </p:grpSpPr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5D2598DF-1B34-ED4E-93F0-304B4EDEFA39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A200D03F-90E7-C844-9900-2DF9555AC397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B1</a:t>
              </a:r>
              <a:endParaRPr kumimoji="1" lang="zh-CN" altLang="en-US" dirty="0"/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B31FD696-BE9A-DC45-BA53-7A03CAAF6FF5}"/>
              </a:ext>
            </a:extLst>
          </p:cNvPr>
          <p:cNvGrpSpPr/>
          <p:nvPr/>
        </p:nvGrpSpPr>
        <p:grpSpPr>
          <a:xfrm>
            <a:off x="5537554" y="2661134"/>
            <a:ext cx="765182" cy="631451"/>
            <a:chOff x="4087480" y="3481612"/>
            <a:chExt cx="765182" cy="631451"/>
          </a:xfrm>
        </p:grpSpPr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F7BC026E-EC07-374A-854E-4598FA28231B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3A4FBA87-BF92-334A-8B90-115DA74F0ED3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B2</a:t>
              </a:r>
              <a:endParaRPr kumimoji="1" lang="zh-CN" altLang="en-US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3269933-D694-754C-8776-41C437A56842}"/>
              </a:ext>
            </a:extLst>
          </p:cNvPr>
          <p:cNvGrpSpPr/>
          <p:nvPr/>
        </p:nvGrpSpPr>
        <p:grpSpPr>
          <a:xfrm>
            <a:off x="7321757" y="2661134"/>
            <a:ext cx="765182" cy="631451"/>
            <a:chOff x="4087480" y="3481612"/>
            <a:chExt cx="765182" cy="631451"/>
          </a:xfrm>
        </p:grpSpPr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6AF9DF36-AB43-CB4C-87FD-4FB9BEF7FE94}"/>
                </a:ext>
              </a:extLst>
            </p:cNvPr>
            <p:cNvSpPr/>
            <p:nvPr/>
          </p:nvSpPr>
          <p:spPr>
            <a:xfrm>
              <a:off x="4087480" y="3481612"/>
              <a:ext cx="270686" cy="631451"/>
            </a:xfrm>
            <a:custGeom>
              <a:avLst/>
              <a:gdLst>
                <a:gd name="connsiteX0" fmla="*/ 41070 w 327673"/>
                <a:gd name="connsiteY0" fmla="*/ 0 h 1091821"/>
                <a:gd name="connsiteX1" fmla="*/ 327673 w 327673"/>
                <a:gd name="connsiteY1" fmla="*/ 232012 h 1091821"/>
                <a:gd name="connsiteX2" fmla="*/ 41070 w 327673"/>
                <a:gd name="connsiteY2" fmla="*/ 450376 h 1091821"/>
                <a:gd name="connsiteX3" fmla="*/ 259434 w 327673"/>
                <a:gd name="connsiteY3" fmla="*/ 655093 h 1091821"/>
                <a:gd name="connsiteX4" fmla="*/ 127 w 327673"/>
                <a:gd name="connsiteY4" fmla="*/ 887105 h 1091821"/>
                <a:gd name="connsiteX5" fmla="*/ 232139 w 327673"/>
                <a:gd name="connsiteY5" fmla="*/ 1091821 h 10918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7673" h="1091821">
                  <a:moveTo>
                    <a:pt x="41070" y="0"/>
                  </a:moveTo>
                  <a:cubicBezTo>
                    <a:pt x="184371" y="78474"/>
                    <a:pt x="327673" y="156949"/>
                    <a:pt x="327673" y="232012"/>
                  </a:cubicBezTo>
                  <a:cubicBezTo>
                    <a:pt x="327673" y="307075"/>
                    <a:pt x="52443" y="379863"/>
                    <a:pt x="41070" y="450376"/>
                  </a:cubicBezTo>
                  <a:cubicBezTo>
                    <a:pt x="29697" y="520889"/>
                    <a:pt x="266258" y="582305"/>
                    <a:pt x="259434" y="655093"/>
                  </a:cubicBezTo>
                  <a:cubicBezTo>
                    <a:pt x="252610" y="727881"/>
                    <a:pt x="4676" y="814317"/>
                    <a:pt x="127" y="887105"/>
                  </a:cubicBezTo>
                  <a:cubicBezTo>
                    <a:pt x="-4422" y="959893"/>
                    <a:pt x="113858" y="1025857"/>
                    <a:pt x="232139" y="1091821"/>
                  </a:cubicBezTo>
                </a:path>
              </a:pathLst>
            </a:cu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ADB31A7C-B541-7D4B-AD4D-C20FF0C52997}"/>
                </a:ext>
              </a:extLst>
            </p:cNvPr>
            <p:cNvSpPr txBox="1"/>
            <p:nvPr/>
          </p:nvSpPr>
          <p:spPr>
            <a:xfrm>
              <a:off x="4330125" y="3626125"/>
              <a:ext cx="5225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B3</a:t>
              </a:r>
              <a:endParaRPr kumimoji="1" lang="zh-CN" altLang="en-US" dirty="0"/>
            </a:p>
          </p:txBody>
        </p:sp>
      </p:grpSp>
      <p:sp>
        <p:nvSpPr>
          <p:cNvPr id="32" name="页脚占位符 4">
            <a:extLst>
              <a:ext uri="{FF2B5EF4-FFF2-40B4-BE49-F238E27FC236}">
                <a16:creationId xmlns:a16="http://schemas.microsoft.com/office/drawing/2014/main" id="{E200F87D-E5A2-9141-97E8-512C2249D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14803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ADAFF53-90D6-4449-A069-F7AE6D09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070AB4F-822C-B44D-B496-D5DEC1476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群组调度：</a:t>
            </a:r>
            <a:r>
              <a:rPr kumimoji="1" lang="en-US" altLang="zh-CN" dirty="0"/>
              <a:t>Gang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DFD201-22EB-C84A-9848-A64ADC3AB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929" y="2692268"/>
            <a:ext cx="6154142" cy="2604694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6BA51F1-A49F-8849-BFDC-67E0F937C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/>
          <a:lstStyle/>
          <a:p>
            <a:r>
              <a:rPr kumimoji="1" lang="en-US" altLang="zh-CN" dirty="0"/>
              <a:t>4</a:t>
            </a:r>
            <a:r>
              <a:rPr kumimoji="1" lang="zh-CN" altLang="en-US" dirty="0"/>
              <a:t>组任务</a:t>
            </a:r>
            <a:r>
              <a:rPr kumimoji="1" lang="en-US" altLang="zh-CN" dirty="0"/>
              <a:t>A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</a:t>
            </a:r>
            <a:r>
              <a:rPr kumimoji="1" lang="zh-CN" altLang="en-US" dirty="0"/>
              <a:t>、</a:t>
            </a:r>
            <a:r>
              <a:rPr kumimoji="1" lang="en-US" altLang="zh-CN" dirty="0"/>
              <a:t>C</a:t>
            </a:r>
            <a:r>
              <a:rPr kumimoji="1" lang="zh-CN" altLang="en-US" dirty="0"/>
              <a:t>、</a:t>
            </a:r>
            <a:r>
              <a:rPr kumimoji="1" lang="en-US" altLang="zh-CN" dirty="0"/>
              <a:t>D</a:t>
            </a:r>
          </a:p>
          <a:p>
            <a:pPr lvl="1"/>
            <a:r>
              <a:rPr kumimoji="1" lang="zh-CN" altLang="en-US" dirty="0"/>
              <a:t>组内任务都是关联任务，需要尽可能同时执行</a:t>
            </a:r>
          </a:p>
        </p:txBody>
      </p:sp>
    </p:spTree>
    <p:extLst>
      <p:ext uri="{BB962C8B-B14F-4D97-AF65-F5344CB8AC3E}">
        <p14:creationId xmlns:p14="http://schemas.microsoft.com/office/powerpoint/2010/main" val="41744142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B1FC3-1C5F-0A40-A43A-6619D857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全局使用一个调度器的问题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E38E82-A1F5-F243-A6F7-149A2246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B8776A-CF1E-6C40-BD79-FBBF7767D9C6}"/>
              </a:ext>
            </a:extLst>
          </p:cNvPr>
          <p:cNvSpPr/>
          <p:nvPr/>
        </p:nvSpPr>
        <p:spPr>
          <a:xfrm>
            <a:off x="2858918" y="474211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F3227A6-5842-5D4F-A5BF-DA363AD386A3}"/>
              </a:ext>
            </a:extLst>
          </p:cNvPr>
          <p:cNvSpPr/>
          <p:nvPr/>
        </p:nvSpPr>
        <p:spPr>
          <a:xfrm>
            <a:off x="4875142" y="474211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C151BE-0779-8042-9F1E-38764E137A16}"/>
              </a:ext>
            </a:extLst>
          </p:cNvPr>
          <p:cNvSpPr/>
          <p:nvPr/>
        </p:nvSpPr>
        <p:spPr>
          <a:xfrm>
            <a:off x="6891366" y="4742118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263217-5E42-764E-9F03-4A51C15ABCC7}"/>
              </a:ext>
            </a:extLst>
          </p:cNvPr>
          <p:cNvSpPr/>
          <p:nvPr/>
        </p:nvSpPr>
        <p:spPr>
          <a:xfrm>
            <a:off x="4695122" y="1363321"/>
            <a:ext cx="1584176" cy="57606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调度器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789B146A-845B-AE45-872F-D020F5EC046D}"/>
              </a:ext>
            </a:extLst>
          </p:cNvPr>
          <p:cNvCxnSpPr>
            <a:cxnSpLocks/>
          </p:cNvCxnSpPr>
          <p:nvPr/>
        </p:nvCxnSpPr>
        <p:spPr>
          <a:xfrm flipV="1">
            <a:off x="3532757" y="2135759"/>
            <a:ext cx="1342385" cy="9737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93CD0E-6C8F-BD4A-8FA4-4A7F49D4353B}"/>
              </a:ext>
            </a:extLst>
          </p:cNvPr>
          <p:cNvCxnSpPr>
            <a:cxnSpLocks/>
          </p:cNvCxnSpPr>
          <p:nvPr/>
        </p:nvCxnSpPr>
        <p:spPr>
          <a:xfrm flipV="1">
            <a:off x="5487210" y="2103506"/>
            <a:ext cx="0" cy="1152128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9361710-84CB-7243-AD9B-C730C93F43F7}"/>
              </a:ext>
            </a:extLst>
          </p:cNvPr>
          <p:cNvCxnSpPr>
            <a:cxnSpLocks/>
          </p:cNvCxnSpPr>
          <p:nvPr/>
        </p:nvCxnSpPr>
        <p:spPr>
          <a:xfrm flipH="1" flipV="1">
            <a:off x="6099278" y="2139208"/>
            <a:ext cx="1404156" cy="1018594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F448F01-1482-604E-B2E8-978744D13854}"/>
              </a:ext>
            </a:extLst>
          </p:cNvPr>
          <p:cNvSpPr txBox="1"/>
          <p:nvPr/>
        </p:nvSpPr>
        <p:spPr>
          <a:xfrm>
            <a:off x="59395" y="2534334"/>
            <a:ext cx="2278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执行一定时间片后</a:t>
            </a:r>
            <a:endParaRPr kumimoji="1" lang="en-US" altLang="zh-CN" dirty="0"/>
          </a:p>
          <a:p>
            <a:r>
              <a:rPr kumimoji="1" lang="zh-CN" altLang="en-US" dirty="0"/>
              <a:t>重新进入调度队列</a:t>
            </a:r>
          </a:p>
        </p:txBody>
      </p:sp>
      <p:sp>
        <p:nvSpPr>
          <p:cNvPr id="30" name="任意形状 29">
            <a:extLst>
              <a:ext uri="{FF2B5EF4-FFF2-40B4-BE49-F238E27FC236}">
                <a16:creationId xmlns:a16="http://schemas.microsoft.com/office/drawing/2014/main" id="{E3AA07A3-53E8-D249-9413-E72460D0B746}"/>
              </a:ext>
            </a:extLst>
          </p:cNvPr>
          <p:cNvSpPr/>
          <p:nvPr/>
        </p:nvSpPr>
        <p:spPr>
          <a:xfrm>
            <a:off x="2179063" y="1315716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任意形状 35">
            <a:extLst>
              <a:ext uri="{FF2B5EF4-FFF2-40B4-BE49-F238E27FC236}">
                <a16:creationId xmlns:a16="http://schemas.microsoft.com/office/drawing/2014/main" id="{22434D4C-42E2-B745-B090-948B067D6E6A}"/>
              </a:ext>
            </a:extLst>
          </p:cNvPr>
          <p:cNvSpPr/>
          <p:nvPr/>
        </p:nvSpPr>
        <p:spPr>
          <a:xfrm>
            <a:off x="3470986" y="4160008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任意形状 36">
            <a:extLst>
              <a:ext uri="{FF2B5EF4-FFF2-40B4-BE49-F238E27FC236}">
                <a16:creationId xmlns:a16="http://schemas.microsoft.com/office/drawing/2014/main" id="{4100B971-3CAB-F648-918C-D025DA782E45}"/>
              </a:ext>
            </a:extLst>
          </p:cNvPr>
          <p:cNvSpPr/>
          <p:nvPr/>
        </p:nvSpPr>
        <p:spPr>
          <a:xfrm>
            <a:off x="2477815" y="1315716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A46A5522-2273-A844-9128-5277CF0BB929}"/>
              </a:ext>
            </a:extLst>
          </p:cNvPr>
          <p:cNvSpPr/>
          <p:nvPr/>
        </p:nvSpPr>
        <p:spPr>
          <a:xfrm>
            <a:off x="2885178" y="1511575"/>
            <a:ext cx="1363329" cy="324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9" name="曲线连接符 8">
            <a:extLst>
              <a:ext uri="{FF2B5EF4-FFF2-40B4-BE49-F238E27FC236}">
                <a16:creationId xmlns:a16="http://schemas.microsoft.com/office/drawing/2014/main" id="{E540EA0A-ABE6-B34C-9054-C99153E3BFC8}"/>
              </a:ext>
            </a:extLst>
          </p:cNvPr>
          <p:cNvCxnSpPr>
            <a:cxnSpLocks/>
          </p:cNvCxnSpPr>
          <p:nvPr/>
        </p:nvCxnSpPr>
        <p:spPr>
          <a:xfrm flipH="1" flipV="1">
            <a:off x="2053728" y="2100927"/>
            <a:ext cx="1149277" cy="1880923"/>
          </a:xfrm>
          <a:prstGeom prst="curvedConnector3">
            <a:avLst>
              <a:gd name="adj1" fmla="val 9915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形状 25">
            <a:extLst>
              <a:ext uri="{FF2B5EF4-FFF2-40B4-BE49-F238E27FC236}">
                <a16:creationId xmlns:a16="http://schemas.microsoft.com/office/drawing/2014/main" id="{7AF6F0F0-3C4A-3D40-ABE4-E153970E3EBC}"/>
              </a:ext>
            </a:extLst>
          </p:cNvPr>
          <p:cNvSpPr/>
          <p:nvPr/>
        </p:nvSpPr>
        <p:spPr>
          <a:xfrm>
            <a:off x="5386480" y="4155588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EF879AF9-2267-CD41-BFFF-1E7F53EAA0A7}"/>
              </a:ext>
            </a:extLst>
          </p:cNvPr>
          <p:cNvSpPr/>
          <p:nvPr/>
        </p:nvSpPr>
        <p:spPr>
          <a:xfrm>
            <a:off x="7419677" y="4167702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任意形状 28">
            <a:extLst>
              <a:ext uri="{FF2B5EF4-FFF2-40B4-BE49-F238E27FC236}">
                <a16:creationId xmlns:a16="http://schemas.microsoft.com/office/drawing/2014/main" id="{23BC7682-CD51-DE4D-877E-1E2C0822A57F}"/>
              </a:ext>
            </a:extLst>
          </p:cNvPr>
          <p:cNvSpPr/>
          <p:nvPr/>
        </p:nvSpPr>
        <p:spPr>
          <a:xfrm>
            <a:off x="5386648" y="3700100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任意形状 30">
            <a:extLst>
              <a:ext uri="{FF2B5EF4-FFF2-40B4-BE49-F238E27FC236}">
                <a16:creationId xmlns:a16="http://schemas.microsoft.com/office/drawing/2014/main" id="{6079EC43-1FC9-AF4F-9DC5-309633A8D0BC}"/>
              </a:ext>
            </a:extLst>
          </p:cNvPr>
          <p:cNvSpPr/>
          <p:nvPr/>
        </p:nvSpPr>
        <p:spPr>
          <a:xfrm>
            <a:off x="7419677" y="3694316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任意形状 32">
            <a:extLst>
              <a:ext uri="{FF2B5EF4-FFF2-40B4-BE49-F238E27FC236}">
                <a16:creationId xmlns:a16="http://schemas.microsoft.com/office/drawing/2014/main" id="{65F8186E-86A2-D04A-BF23-8D38D2880F88}"/>
              </a:ext>
            </a:extLst>
          </p:cNvPr>
          <p:cNvSpPr/>
          <p:nvPr/>
        </p:nvSpPr>
        <p:spPr>
          <a:xfrm>
            <a:off x="3504863" y="3694315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任意形状 33">
            <a:extLst>
              <a:ext uri="{FF2B5EF4-FFF2-40B4-BE49-F238E27FC236}">
                <a16:creationId xmlns:a16="http://schemas.microsoft.com/office/drawing/2014/main" id="{9057B7E6-0D66-5A49-BBE4-00E92819E1F2}"/>
              </a:ext>
            </a:extLst>
          </p:cNvPr>
          <p:cNvSpPr/>
          <p:nvPr/>
        </p:nvSpPr>
        <p:spPr>
          <a:xfrm>
            <a:off x="5386480" y="3305395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任意形状 34">
            <a:extLst>
              <a:ext uri="{FF2B5EF4-FFF2-40B4-BE49-F238E27FC236}">
                <a16:creationId xmlns:a16="http://schemas.microsoft.com/office/drawing/2014/main" id="{6E72FA01-F74C-404A-B4E1-CB214EFCD263}"/>
              </a:ext>
            </a:extLst>
          </p:cNvPr>
          <p:cNvSpPr/>
          <p:nvPr/>
        </p:nvSpPr>
        <p:spPr>
          <a:xfrm>
            <a:off x="7438719" y="3254354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任意形状 39">
            <a:extLst>
              <a:ext uri="{FF2B5EF4-FFF2-40B4-BE49-F238E27FC236}">
                <a16:creationId xmlns:a16="http://schemas.microsoft.com/office/drawing/2014/main" id="{F18B3A6E-D14F-114B-8B57-DA700FF233A5}"/>
              </a:ext>
            </a:extLst>
          </p:cNvPr>
          <p:cNvSpPr/>
          <p:nvPr/>
        </p:nvSpPr>
        <p:spPr>
          <a:xfrm>
            <a:off x="3532757" y="3249754"/>
            <a:ext cx="201460" cy="324445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页脚占位符 4">
            <a:extLst>
              <a:ext uri="{FF2B5EF4-FFF2-40B4-BE49-F238E27FC236}">
                <a16:creationId xmlns:a16="http://schemas.microsoft.com/office/drawing/2014/main" id="{3E1573B2-3FA6-7F4B-947A-DD0DE9631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201906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801D4D09-51A1-D44B-A51D-519504516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229600" cy="3771636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所有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竞争全局调度器</a:t>
            </a:r>
            <a:endParaRPr kumimoji="1" lang="en-US" altLang="zh-CN" sz="2400" dirty="0"/>
          </a:p>
          <a:p>
            <a:r>
              <a:rPr kumimoji="1" lang="zh-CN" altLang="en-US" sz="2400" dirty="0"/>
              <a:t>同一个线程可能在不同</a:t>
            </a:r>
            <a:r>
              <a:rPr kumimoji="1" lang="en-US" altLang="zh-CN" sz="2400" dirty="0"/>
              <a:t>CPU</a:t>
            </a:r>
            <a:r>
              <a:rPr kumimoji="1" lang="zh-CN" altLang="en-US" sz="2400" dirty="0"/>
              <a:t>上切换</a:t>
            </a:r>
            <a:endParaRPr kumimoji="1" lang="en-US" altLang="zh-CN" sz="2400" dirty="0"/>
          </a:p>
          <a:p>
            <a:pPr marL="685800" lvl="1"/>
            <a:r>
              <a:rPr kumimoji="1" lang="zh-CN" altLang="en-US" sz="2200" dirty="0"/>
              <a:t>切换开销大：</a:t>
            </a:r>
            <a:r>
              <a:rPr kumimoji="1" lang="en-US" altLang="zh-CN" sz="2200" dirty="0"/>
              <a:t>Cache</a:t>
            </a:r>
            <a:r>
              <a:rPr kumimoji="1" lang="zh-CN" altLang="en-US" sz="2200" dirty="0"/>
              <a:t>、</a:t>
            </a:r>
            <a:r>
              <a:rPr kumimoji="1" lang="en-US" altLang="zh-CN" sz="2200" dirty="0"/>
              <a:t>TLB</a:t>
            </a:r>
            <a:r>
              <a:rPr kumimoji="1" lang="zh-CN" altLang="en-US" sz="2200" dirty="0"/>
              <a:t>、</a:t>
            </a:r>
            <a:r>
              <a:rPr kumimoji="1" lang="en-US" altLang="zh-CN" sz="2200" dirty="0"/>
              <a:t>…</a:t>
            </a:r>
          </a:p>
          <a:p>
            <a:pPr marL="685800" lvl="1"/>
            <a:r>
              <a:rPr kumimoji="1" lang="zh-CN" altLang="en-US" sz="2200" dirty="0"/>
              <a:t>缓存局部性差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44EDEC7-87CF-C646-A011-47A625DB6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全局使用一个调度器的问题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209F84-8CA4-A84A-A6CF-E68F7B185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283E16A-0AA4-EE4D-B344-0D8E9682A6F0}"/>
              </a:ext>
            </a:extLst>
          </p:cNvPr>
          <p:cNvSpPr/>
          <p:nvPr/>
        </p:nvSpPr>
        <p:spPr>
          <a:xfrm>
            <a:off x="1789826" y="3540030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BFFC76D-0343-CA44-9790-3DE43F7D61CB}"/>
              </a:ext>
            </a:extLst>
          </p:cNvPr>
          <p:cNvSpPr/>
          <p:nvPr/>
        </p:nvSpPr>
        <p:spPr>
          <a:xfrm>
            <a:off x="1772678" y="4519832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" name="任意形状 6">
            <a:extLst>
              <a:ext uri="{FF2B5EF4-FFF2-40B4-BE49-F238E27FC236}">
                <a16:creationId xmlns:a16="http://schemas.microsoft.com/office/drawing/2014/main" id="{108E35C9-B04A-9644-94F7-A7C7C2924B87}"/>
              </a:ext>
            </a:extLst>
          </p:cNvPr>
          <p:cNvSpPr/>
          <p:nvPr/>
        </p:nvSpPr>
        <p:spPr>
          <a:xfrm>
            <a:off x="3806050" y="3512423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253D33C5-6674-884F-8308-5010D8F10320}"/>
              </a:ext>
            </a:extLst>
          </p:cNvPr>
          <p:cNvSpPr/>
          <p:nvPr/>
        </p:nvSpPr>
        <p:spPr>
          <a:xfrm>
            <a:off x="4526130" y="4381499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任意形状 8">
            <a:extLst>
              <a:ext uri="{FF2B5EF4-FFF2-40B4-BE49-F238E27FC236}">
                <a16:creationId xmlns:a16="http://schemas.microsoft.com/office/drawing/2014/main" id="{00E6D0FA-C34C-3340-9B15-E8D3B30FA280}"/>
              </a:ext>
            </a:extLst>
          </p:cNvPr>
          <p:cNvSpPr/>
          <p:nvPr/>
        </p:nvSpPr>
        <p:spPr>
          <a:xfrm>
            <a:off x="5287888" y="3512423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任意形状 11">
            <a:extLst>
              <a:ext uri="{FF2B5EF4-FFF2-40B4-BE49-F238E27FC236}">
                <a16:creationId xmlns:a16="http://schemas.microsoft.com/office/drawing/2014/main" id="{6B35D877-DBE2-C541-BBAF-F43628D2C2E4}"/>
              </a:ext>
            </a:extLst>
          </p:cNvPr>
          <p:cNvSpPr/>
          <p:nvPr/>
        </p:nvSpPr>
        <p:spPr>
          <a:xfrm>
            <a:off x="6156176" y="4381499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任意形状 12">
            <a:extLst>
              <a:ext uri="{FF2B5EF4-FFF2-40B4-BE49-F238E27FC236}">
                <a16:creationId xmlns:a16="http://schemas.microsoft.com/office/drawing/2014/main" id="{0C9A95C7-D7D0-DA4C-B049-F477AB5A091F}"/>
              </a:ext>
            </a:extLst>
          </p:cNvPr>
          <p:cNvSpPr/>
          <p:nvPr/>
        </p:nvSpPr>
        <p:spPr>
          <a:xfrm>
            <a:off x="7016080" y="3550016"/>
            <a:ext cx="201460" cy="6712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页脚占位符 4">
            <a:extLst>
              <a:ext uri="{FF2B5EF4-FFF2-40B4-BE49-F238E27FC236}">
                <a16:creationId xmlns:a16="http://schemas.microsoft.com/office/drawing/2014/main" id="{D8167643-40E9-3B47-8BA8-EBD7C4135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89837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DB1FC3-1C5F-0A40-A43A-6619D8571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kumimoji="1" lang="en-US" altLang="zh-CN" dirty="0"/>
              <a:t>Two-level</a:t>
            </a:r>
            <a:r>
              <a:rPr kumimoji="1" lang="zh-CN" altLang="en-US" dirty="0"/>
              <a:t> </a:t>
            </a:r>
            <a:r>
              <a:rPr kumimoji="1" lang="en-US" altLang="zh-CN" dirty="0"/>
              <a:t>Scheduling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E38E82-A1F5-F243-A6F7-149A22468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EB8776A-CF1E-6C40-BD79-FBBF7767D9C6}"/>
              </a:ext>
            </a:extLst>
          </p:cNvPr>
          <p:cNvSpPr/>
          <p:nvPr/>
        </p:nvSpPr>
        <p:spPr>
          <a:xfrm>
            <a:off x="2142410" y="4608686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1C151BE-0779-8042-9F1E-38764E137A16}"/>
              </a:ext>
            </a:extLst>
          </p:cNvPr>
          <p:cNvSpPr/>
          <p:nvPr/>
        </p:nvSpPr>
        <p:spPr>
          <a:xfrm>
            <a:off x="6300211" y="4378679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2263217-5E42-764E-9F03-4A51C15ABCC7}"/>
              </a:ext>
            </a:extLst>
          </p:cNvPr>
          <p:cNvSpPr/>
          <p:nvPr/>
        </p:nvSpPr>
        <p:spPr>
          <a:xfrm>
            <a:off x="3635896" y="1444708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全局调度器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789B146A-845B-AE45-872F-D020F5EC046D}"/>
              </a:ext>
            </a:extLst>
          </p:cNvPr>
          <p:cNvCxnSpPr>
            <a:cxnSpLocks/>
          </p:cNvCxnSpPr>
          <p:nvPr/>
        </p:nvCxnSpPr>
        <p:spPr>
          <a:xfrm flipV="1">
            <a:off x="3390971" y="1945789"/>
            <a:ext cx="353919" cy="256738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8A93CD0E-6C8F-BD4A-8FA4-4A7F49D4353B}"/>
              </a:ext>
            </a:extLst>
          </p:cNvPr>
          <p:cNvCxnSpPr>
            <a:cxnSpLocks/>
          </p:cNvCxnSpPr>
          <p:nvPr/>
        </p:nvCxnSpPr>
        <p:spPr>
          <a:xfrm flipV="1">
            <a:off x="4633560" y="1972557"/>
            <a:ext cx="0" cy="393954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D9361710-84CB-7243-AD9B-C730C93F43F7}"/>
              </a:ext>
            </a:extLst>
          </p:cNvPr>
          <p:cNvCxnSpPr>
            <a:cxnSpLocks/>
          </p:cNvCxnSpPr>
          <p:nvPr/>
        </p:nvCxnSpPr>
        <p:spPr>
          <a:xfrm flipH="1" flipV="1">
            <a:off x="5420121" y="1871703"/>
            <a:ext cx="349165" cy="253289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2F448F01-1482-604E-B2E8-978744D13854}"/>
              </a:ext>
            </a:extLst>
          </p:cNvPr>
          <p:cNvSpPr txBox="1"/>
          <p:nvPr/>
        </p:nvSpPr>
        <p:spPr>
          <a:xfrm>
            <a:off x="1082894" y="4116933"/>
            <a:ext cx="1707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一定时间片后</a:t>
            </a:r>
            <a:endParaRPr kumimoji="1" lang="en-US" altLang="zh-CN" dirty="0"/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A46A5522-2273-A844-9128-5277CF0BB929}"/>
              </a:ext>
            </a:extLst>
          </p:cNvPr>
          <p:cNvSpPr/>
          <p:nvPr/>
        </p:nvSpPr>
        <p:spPr>
          <a:xfrm>
            <a:off x="1926682" y="1499167"/>
            <a:ext cx="1363329" cy="3244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任意形状 20">
            <a:extLst>
              <a:ext uri="{FF2B5EF4-FFF2-40B4-BE49-F238E27FC236}">
                <a16:creationId xmlns:a16="http://schemas.microsoft.com/office/drawing/2014/main" id="{E1B8DF64-D7C3-304E-81A0-7BD78D013086}"/>
              </a:ext>
            </a:extLst>
          </p:cNvPr>
          <p:cNvSpPr/>
          <p:nvPr/>
        </p:nvSpPr>
        <p:spPr>
          <a:xfrm flipH="1">
            <a:off x="946044" y="1503502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任意形状 23">
            <a:extLst>
              <a:ext uri="{FF2B5EF4-FFF2-40B4-BE49-F238E27FC236}">
                <a16:creationId xmlns:a16="http://schemas.microsoft.com/office/drawing/2014/main" id="{C92B68A3-84E2-E74D-95CA-8139161CD756}"/>
              </a:ext>
            </a:extLst>
          </p:cNvPr>
          <p:cNvSpPr/>
          <p:nvPr/>
        </p:nvSpPr>
        <p:spPr>
          <a:xfrm flipH="1">
            <a:off x="1179181" y="149005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任意形状 24">
            <a:extLst>
              <a:ext uri="{FF2B5EF4-FFF2-40B4-BE49-F238E27FC236}">
                <a16:creationId xmlns:a16="http://schemas.microsoft.com/office/drawing/2014/main" id="{310E029B-B039-4941-AB63-13EA535B127D}"/>
              </a:ext>
            </a:extLst>
          </p:cNvPr>
          <p:cNvSpPr/>
          <p:nvPr/>
        </p:nvSpPr>
        <p:spPr>
          <a:xfrm flipH="1">
            <a:off x="1412318" y="1503502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任意形状 26">
            <a:extLst>
              <a:ext uri="{FF2B5EF4-FFF2-40B4-BE49-F238E27FC236}">
                <a16:creationId xmlns:a16="http://schemas.microsoft.com/office/drawing/2014/main" id="{771BF059-7B3E-7447-A991-494799BC17E8}"/>
              </a:ext>
            </a:extLst>
          </p:cNvPr>
          <p:cNvSpPr/>
          <p:nvPr/>
        </p:nvSpPr>
        <p:spPr>
          <a:xfrm flipH="1">
            <a:off x="1645455" y="149005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7E92080-2ED9-A94F-8C5B-1F2052D5E025}"/>
              </a:ext>
            </a:extLst>
          </p:cNvPr>
          <p:cNvSpPr/>
          <p:nvPr/>
        </p:nvSpPr>
        <p:spPr>
          <a:xfrm>
            <a:off x="1998103" y="3424475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本地调度器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332F458-CD73-724F-AA22-BB13BDF50201}"/>
              </a:ext>
            </a:extLst>
          </p:cNvPr>
          <p:cNvSpPr/>
          <p:nvPr/>
        </p:nvSpPr>
        <p:spPr>
          <a:xfrm>
            <a:off x="6087839" y="3314088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本地调度器</a:t>
            </a:r>
          </a:p>
        </p:txBody>
      </p:sp>
      <p:sp>
        <p:nvSpPr>
          <p:cNvPr id="44" name="任意形状 43">
            <a:extLst>
              <a:ext uri="{FF2B5EF4-FFF2-40B4-BE49-F238E27FC236}">
                <a16:creationId xmlns:a16="http://schemas.microsoft.com/office/drawing/2014/main" id="{35BD6D96-C54F-7844-BB1E-FD1BF9843107}"/>
              </a:ext>
            </a:extLst>
          </p:cNvPr>
          <p:cNvSpPr/>
          <p:nvPr/>
        </p:nvSpPr>
        <p:spPr>
          <a:xfrm flipH="1">
            <a:off x="2853628" y="246031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" name="任意形状 45">
            <a:extLst>
              <a:ext uri="{FF2B5EF4-FFF2-40B4-BE49-F238E27FC236}">
                <a16:creationId xmlns:a16="http://schemas.microsoft.com/office/drawing/2014/main" id="{7B02FE32-2F51-FC41-8E5B-7AA39D853A5D}"/>
              </a:ext>
            </a:extLst>
          </p:cNvPr>
          <p:cNvSpPr/>
          <p:nvPr/>
        </p:nvSpPr>
        <p:spPr>
          <a:xfrm flipH="1">
            <a:off x="3086765" y="2446860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任意形状 58">
            <a:extLst>
              <a:ext uri="{FF2B5EF4-FFF2-40B4-BE49-F238E27FC236}">
                <a16:creationId xmlns:a16="http://schemas.microsoft.com/office/drawing/2014/main" id="{67D39627-BE2B-D445-A9A1-8E2C602DE224}"/>
              </a:ext>
            </a:extLst>
          </p:cNvPr>
          <p:cNvSpPr/>
          <p:nvPr/>
        </p:nvSpPr>
        <p:spPr>
          <a:xfrm flipH="1">
            <a:off x="6679142" y="2403983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1" name="任意形状 60">
            <a:extLst>
              <a:ext uri="{FF2B5EF4-FFF2-40B4-BE49-F238E27FC236}">
                <a16:creationId xmlns:a16="http://schemas.microsoft.com/office/drawing/2014/main" id="{12A81AD0-2BD2-3B42-AC87-9B88EE9A747E}"/>
              </a:ext>
            </a:extLst>
          </p:cNvPr>
          <p:cNvSpPr/>
          <p:nvPr/>
        </p:nvSpPr>
        <p:spPr>
          <a:xfrm flipH="1">
            <a:off x="6912279" y="2390532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" name="任意形状 61">
            <a:extLst>
              <a:ext uri="{FF2B5EF4-FFF2-40B4-BE49-F238E27FC236}">
                <a16:creationId xmlns:a16="http://schemas.microsoft.com/office/drawing/2014/main" id="{8F1C192E-D1D1-0B45-A396-04A2B1F5A834}"/>
              </a:ext>
            </a:extLst>
          </p:cNvPr>
          <p:cNvSpPr/>
          <p:nvPr/>
        </p:nvSpPr>
        <p:spPr>
          <a:xfrm flipH="1">
            <a:off x="2902072" y="4023003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5" name="曲线连接符 14">
            <a:extLst>
              <a:ext uri="{FF2B5EF4-FFF2-40B4-BE49-F238E27FC236}">
                <a16:creationId xmlns:a16="http://schemas.microsoft.com/office/drawing/2014/main" id="{AE236E6F-D1FC-CD49-A1B9-D6478F31EC3D}"/>
              </a:ext>
            </a:extLst>
          </p:cNvPr>
          <p:cNvCxnSpPr>
            <a:cxnSpLocks/>
          </p:cNvCxnSpPr>
          <p:nvPr/>
        </p:nvCxnSpPr>
        <p:spPr>
          <a:xfrm rot="10800000">
            <a:off x="2374477" y="2713563"/>
            <a:ext cx="180020" cy="1377428"/>
          </a:xfrm>
          <a:prstGeom prst="curvedConnector3">
            <a:avLst>
              <a:gd name="adj1" fmla="val 57572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3A3A038F-EF88-F64C-8E42-BF233B497572}"/>
              </a:ext>
            </a:extLst>
          </p:cNvPr>
          <p:cNvCxnSpPr>
            <a:cxnSpLocks/>
          </p:cNvCxnSpPr>
          <p:nvPr/>
        </p:nvCxnSpPr>
        <p:spPr>
          <a:xfrm flipV="1">
            <a:off x="3086765" y="2932650"/>
            <a:ext cx="0" cy="4202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5A44023E-FD5F-294D-8226-5C34521020CD}"/>
              </a:ext>
            </a:extLst>
          </p:cNvPr>
          <p:cNvSpPr/>
          <p:nvPr/>
        </p:nvSpPr>
        <p:spPr>
          <a:xfrm>
            <a:off x="1086899" y="2262167"/>
            <a:ext cx="2612817" cy="334802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9CA5C21-66C6-E04E-83A0-8649B70C9B0E}"/>
              </a:ext>
            </a:extLst>
          </p:cNvPr>
          <p:cNvSpPr/>
          <p:nvPr/>
        </p:nvSpPr>
        <p:spPr>
          <a:xfrm>
            <a:off x="5957644" y="2184719"/>
            <a:ext cx="1893640" cy="313839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96D14379-92FB-5A45-B50E-80FD6AAE66F2}"/>
              </a:ext>
            </a:extLst>
          </p:cNvPr>
          <p:cNvCxnSpPr>
            <a:cxnSpLocks/>
          </p:cNvCxnSpPr>
          <p:nvPr/>
        </p:nvCxnSpPr>
        <p:spPr>
          <a:xfrm flipV="1">
            <a:off x="6866664" y="2873092"/>
            <a:ext cx="0" cy="4202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任意形状 68">
            <a:extLst>
              <a:ext uri="{FF2B5EF4-FFF2-40B4-BE49-F238E27FC236}">
                <a16:creationId xmlns:a16="http://schemas.microsoft.com/office/drawing/2014/main" id="{E0FCC878-41A1-4548-BAF2-1CEDB1D5CCF8}"/>
              </a:ext>
            </a:extLst>
          </p:cNvPr>
          <p:cNvSpPr/>
          <p:nvPr/>
        </p:nvSpPr>
        <p:spPr>
          <a:xfrm flipH="1">
            <a:off x="6807509" y="3836725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B2E2CF48-2600-D843-ACA0-DD13E2C881E3}"/>
              </a:ext>
            </a:extLst>
          </p:cNvPr>
          <p:cNvSpPr/>
          <p:nvPr/>
        </p:nvSpPr>
        <p:spPr>
          <a:xfrm>
            <a:off x="4269613" y="4686215"/>
            <a:ext cx="122413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CPU</a:t>
            </a:r>
            <a:endParaRPr kumimoji="1" lang="zh-CN" altLang="en-US" b="1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BA7BD44-03B7-2B4F-80BF-97D466926BA8}"/>
              </a:ext>
            </a:extLst>
          </p:cNvPr>
          <p:cNvSpPr/>
          <p:nvPr/>
        </p:nvSpPr>
        <p:spPr>
          <a:xfrm>
            <a:off x="4057241" y="3621624"/>
            <a:ext cx="1584176" cy="393954"/>
          </a:xfrm>
          <a:prstGeom prst="rect">
            <a:avLst/>
          </a:prstGeom>
          <a:ln>
            <a:solidFill>
              <a:srgbClr val="9411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b="1" dirty="0"/>
              <a:t>本地调度器</a:t>
            </a:r>
          </a:p>
        </p:txBody>
      </p:sp>
      <p:sp>
        <p:nvSpPr>
          <p:cNvPr id="72" name="任意形状 71">
            <a:extLst>
              <a:ext uri="{FF2B5EF4-FFF2-40B4-BE49-F238E27FC236}">
                <a16:creationId xmlns:a16="http://schemas.microsoft.com/office/drawing/2014/main" id="{0C3E1D5A-8A3C-2042-A2EC-8A860AC0F6DD}"/>
              </a:ext>
            </a:extLst>
          </p:cNvPr>
          <p:cNvSpPr/>
          <p:nvPr/>
        </p:nvSpPr>
        <p:spPr>
          <a:xfrm flipH="1">
            <a:off x="4458937" y="2712855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任意形状 73">
            <a:extLst>
              <a:ext uri="{FF2B5EF4-FFF2-40B4-BE49-F238E27FC236}">
                <a16:creationId xmlns:a16="http://schemas.microsoft.com/office/drawing/2014/main" id="{4B73DF57-4785-454D-A940-860E5ACF9A0D}"/>
              </a:ext>
            </a:extLst>
          </p:cNvPr>
          <p:cNvSpPr/>
          <p:nvPr/>
        </p:nvSpPr>
        <p:spPr>
          <a:xfrm flipH="1">
            <a:off x="4692074" y="2699404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09B7491-AA02-9C40-B770-D351C432F64D}"/>
              </a:ext>
            </a:extLst>
          </p:cNvPr>
          <p:cNvSpPr/>
          <p:nvPr/>
        </p:nvSpPr>
        <p:spPr>
          <a:xfrm>
            <a:off x="3783263" y="2460311"/>
            <a:ext cx="2068471" cy="317033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AB464695-3E6D-0649-965E-8490B91D2FF9}"/>
              </a:ext>
            </a:extLst>
          </p:cNvPr>
          <p:cNvCxnSpPr>
            <a:cxnSpLocks/>
          </p:cNvCxnSpPr>
          <p:nvPr/>
        </p:nvCxnSpPr>
        <p:spPr>
          <a:xfrm flipV="1">
            <a:off x="4836066" y="3180628"/>
            <a:ext cx="0" cy="420286"/>
          </a:xfrm>
          <a:prstGeom prst="straightConnector1">
            <a:avLst/>
          </a:prstGeom>
          <a:ln w="508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任意形状 76">
            <a:extLst>
              <a:ext uri="{FF2B5EF4-FFF2-40B4-BE49-F238E27FC236}">
                <a16:creationId xmlns:a16="http://schemas.microsoft.com/office/drawing/2014/main" id="{0423C908-58DD-1740-9614-A0A2F28DFF82}"/>
              </a:ext>
            </a:extLst>
          </p:cNvPr>
          <p:cNvSpPr/>
          <p:nvPr/>
        </p:nvSpPr>
        <p:spPr>
          <a:xfrm flipH="1">
            <a:off x="4776911" y="4144261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任意形状 77">
            <a:extLst>
              <a:ext uri="{FF2B5EF4-FFF2-40B4-BE49-F238E27FC236}">
                <a16:creationId xmlns:a16="http://schemas.microsoft.com/office/drawing/2014/main" id="{458A4D57-D64A-9E4F-A6AD-9AE8192E5EB1}"/>
              </a:ext>
            </a:extLst>
          </p:cNvPr>
          <p:cNvSpPr/>
          <p:nvPr/>
        </p:nvSpPr>
        <p:spPr>
          <a:xfrm flipH="1">
            <a:off x="4927838" y="2712855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任意形状 79">
            <a:extLst>
              <a:ext uri="{FF2B5EF4-FFF2-40B4-BE49-F238E27FC236}">
                <a16:creationId xmlns:a16="http://schemas.microsoft.com/office/drawing/2014/main" id="{D46DC0D8-C2E7-D149-8E6E-A523637A71D6}"/>
              </a:ext>
            </a:extLst>
          </p:cNvPr>
          <p:cNvSpPr/>
          <p:nvPr/>
        </p:nvSpPr>
        <p:spPr>
          <a:xfrm flipH="1">
            <a:off x="5160975" y="2699404"/>
            <a:ext cx="96179" cy="320474"/>
          </a:xfrm>
          <a:custGeom>
            <a:avLst/>
            <a:gdLst>
              <a:gd name="connsiteX0" fmla="*/ 41070 w 327673"/>
              <a:gd name="connsiteY0" fmla="*/ 0 h 1091821"/>
              <a:gd name="connsiteX1" fmla="*/ 327673 w 327673"/>
              <a:gd name="connsiteY1" fmla="*/ 232012 h 1091821"/>
              <a:gd name="connsiteX2" fmla="*/ 41070 w 327673"/>
              <a:gd name="connsiteY2" fmla="*/ 450376 h 1091821"/>
              <a:gd name="connsiteX3" fmla="*/ 259434 w 327673"/>
              <a:gd name="connsiteY3" fmla="*/ 655093 h 1091821"/>
              <a:gd name="connsiteX4" fmla="*/ 127 w 327673"/>
              <a:gd name="connsiteY4" fmla="*/ 887105 h 1091821"/>
              <a:gd name="connsiteX5" fmla="*/ 232139 w 327673"/>
              <a:gd name="connsiteY5" fmla="*/ 1091821 h 1091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7673" h="1091821">
                <a:moveTo>
                  <a:pt x="41070" y="0"/>
                </a:moveTo>
                <a:cubicBezTo>
                  <a:pt x="184371" y="78474"/>
                  <a:pt x="327673" y="156949"/>
                  <a:pt x="327673" y="232012"/>
                </a:cubicBezTo>
                <a:cubicBezTo>
                  <a:pt x="327673" y="307075"/>
                  <a:pt x="52443" y="379863"/>
                  <a:pt x="41070" y="450376"/>
                </a:cubicBezTo>
                <a:cubicBezTo>
                  <a:pt x="29697" y="520889"/>
                  <a:pt x="266258" y="582305"/>
                  <a:pt x="259434" y="655093"/>
                </a:cubicBezTo>
                <a:cubicBezTo>
                  <a:pt x="252610" y="727881"/>
                  <a:pt x="4676" y="814317"/>
                  <a:pt x="127" y="887105"/>
                </a:cubicBezTo>
                <a:cubicBezTo>
                  <a:pt x="-4422" y="959893"/>
                  <a:pt x="113858" y="1025857"/>
                  <a:pt x="232139" y="1091821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137916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108F8EB-5A5F-214F-9DCF-192432E21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pPr/>
              <a:t>76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7BDDCC7-5A84-1248-A0B9-CB6F73B96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的多核调度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6ED068E-0434-8943-B7D6-4686749AC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1615374"/>
            <a:ext cx="1257300" cy="1816100"/>
          </a:xfrm>
          <a:prstGeom prst="rect">
            <a:avLst/>
          </a:prstGeom>
        </p:spPr>
      </p:pic>
      <p:sp>
        <p:nvSpPr>
          <p:cNvPr id="6" name="椭圆 5">
            <a:extLst>
              <a:ext uri="{FF2B5EF4-FFF2-40B4-BE49-F238E27FC236}">
                <a16:creationId xmlns:a16="http://schemas.microsoft.com/office/drawing/2014/main" id="{C1FB05E9-185D-4A41-A231-7AF8E33A5E89}"/>
              </a:ext>
            </a:extLst>
          </p:cNvPr>
          <p:cNvSpPr/>
          <p:nvPr/>
        </p:nvSpPr>
        <p:spPr>
          <a:xfrm>
            <a:off x="827584" y="2281436"/>
            <a:ext cx="1257300" cy="4839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44B7D094-80F3-A743-A844-318636C91CD3}"/>
              </a:ext>
            </a:extLst>
          </p:cNvPr>
          <p:cNvCxnSpPr>
            <a:cxnSpLocks/>
            <a:stCxn id="6" idx="6"/>
            <a:endCxn id="5" idx="1"/>
          </p:cNvCxnSpPr>
          <p:nvPr/>
        </p:nvCxnSpPr>
        <p:spPr>
          <a:xfrm>
            <a:off x="2084884" y="2523424"/>
            <a:ext cx="830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734182FE-E520-4647-B067-BC0546361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0232" y="1615374"/>
            <a:ext cx="1257300" cy="1816100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1F6B4891-9436-224F-8E20-CA7A8D0E6891}"/>
              </a:ext>
            </a:extLst>
          </p:cNvPr>
          <p:cNvSpPr/>
          <p:nvPr/>
        </p:nvSpPr>
        <p:spPr>
          <a:xfrm>
            <a:off x="4572000" y="2281436"/>
            <a:ext cx="1257300" cy="4839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CPU</a:t>
            </a:r>
            <a:r>
              <a:rPr kumimoji="1" lang="zh-CN" altLang="en-US" dirty="0"/>
              <a:t> 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15664F-4886-0342-A1DE-CA2410A7AE39}"/>
              </a:ext>
            </a:extLst>
          </p:cNvPr>
          <p:cNvSpPr/>
          <p:nvPr/>
        </p:nvSpPr>
        <p:spPr>
          <a:xfrm>
            <a:off x="1691680" y="4019581"/>
            <a:ext cx="5609292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CN" dirty="0" err="1"/>
              <a:t>ChCore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&amp;</a:t>
            </a:r>
            <a:r>
              <a:rPr kumimoji="1" lang="zh-CN" altLang="en-US" dirty="0"/>
              <a:t> 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同样使用</a:t>
            </a:r>
            <a:r>
              <a:rPr kumimoji="1" lang="en-US" altLang="zh-CN" dirty="0"/>
              <a:t>Two-level Scheduling</a:t>
            </a:r>
            <a:r>
              <a:rPr kumimoji="1" lang="zh-CN" altLang="en-US" dirty="0"/>
              <a:t>的架构</a:t>
            </a:r>
            <a:endParaRPr kumimoji="1" lang="en-US" altLang="zh-CN" dirty="0"/>
          </a:p>
          <a:p>
            <a:pPr algn="ctr">
              <a:lnSpc>
                <a:spcPct val="150000"/>
              </a:lnSpc>
            </a:pPr>
            <a:r>
              <a:rPr kumimoji="1" lang="zh-CN" altLang="en-US" dirty="0"/>
              <a:t>每个</a:t>
            </a:r>
            <a:r>
              <a:rPr kumimoji="1" lang="en-US" altLang="zh-CN" dirty="0"/>
              <a:t>CPU</a:t>
            </a:r>
            <a:r>
              <a:rPr kumimoji="1" lang="zh-CN" altLang="en-US" dirty="0"/>
              <a:t>有各自的本地调度器和</a:t>
            </a:r>
            <a:r>
              <a:rPr kumimoji="1" lang="en-US" altLang="zh-CN" dirty="0" err="1"/>
              <a:t>runq</a:t>
            </a:r>
            <a:endParaRPr lang="zh-CN" altLang="en-US" dirty="0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4FB145D-E58C-8D40-BA4E-34DFFB52137E}"/>
              </a:ext>
            </a:extLst>
          </p:cNvPr>
          <p:cNvCxnSpPr>
            <a:cxnSpLocks/>
            <a:stCxn id="12" idx="6"/>
            <a:endCxn id="11" idx="1"/>
          </p:cNvCxnSpPr>
          <p:nvPr/>
        </p:nvCxnSpPr>
        <p:spPr>
          <a:xfrm>
            <a:off x="5829300" y="2523424"/>
            <a:ext cx="8309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页脚占位符 4">
            <a:extLst>
              <a:ext uri="{FF2B5EF4-FFF2-40B4-BE49-F238E27FC236}">
                <a16:creationId xmlns:a16="http://schemas.microsoft.com/office/drawing/2014/main" id="{0CADCEE1-79F5-D642-A3C6-E6FDF94A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03151912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DA81B-7BA1-DE46-A98C-45611703D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216" y="200557"/>
            <a:ext cx="8229600" cy="900442"/>
          </a:xfrm>
        </p:spPr>
        <p:txBody>
          <a:bodyPr/>
          <a:lstStyle/>
          <a:p>
            <a:r>
              <a:rPr kumimoji="1" lang="zh-CN" altLang="en-US" dirty="0"/>
              <a:t>调度小结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07B89D-AB33-C646-A672-3B03C8286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1316"/>
            <a:ext cx="8229600" cy="3903821"/>
          </a:xfrm>
        </p:spPr>
        <p:txBody>
          <a:bodyPr>
            <a:noAutofit/>
          </a:bodyPr>
          <a:lstStyle/>
          <a:p>
            <a:r>
              <a:rPr kumimoji="1" lang="zh-CN" altLang="en-US" sz="2000" dirty="0"/>
              <a:t>策略 </a:t>
            </a:r>
            <a:r>
              <a:rPr kumimoji="1" lang="en-US" altLang="zh-CN" sz="2000" dirty="0"/>
              <a:t>V.S.</a:t>
            </a:r>
            <a:r>
              <a:rPr kumimoji="1" lang="zh-CN" altLang="en-US" sz="2000" dirty="0"/>
              <a:t> 机制</a:t>
            </a:r>
            <a:endParaRPr kumimoji="1" lang="en-US" altLang="zh-CN" sz="2000" dirty="0"/>
          </a:p>
          <a:p>
            <a:r>
              <a:rPr kumimoji="1" lang="zh-CN" altLang="en-US" sz="2000" dirty="0"/>
              <a:t>经典调度：</a:t>
            </a:r>
            <a:r>
              <a:rPr kumimoji="1" lang="zh-CN" altLang="en-US" sz="2000" b="0" dirty="0"/>
              <a:t>先到先得、短任务优先、时间片轮转</a:t>
            </a:r>
            <a:endParaRPr kumimoji="1" lang="en-US" altLang="zh-CN" sz="2000" b="0" dirty="0"/>
          </a:p>
          <a:p>
            <a:r>
              <a:rPr kumimoji="1" lang="zh-CN" altLang="en-US" sz="2000" dirty="0"/>
              <a:t>优先级调度：</a:t>
            </a:r>
            <a:r>
              <a:rPr kumimoji="1" lang="zh-CN" altLang="en-US" sz="2000" b="0" dirty="0"/>
              <a:t>优先级的选取、优先级反转、优先级继承</a:t>
            </a:r>
            <a:endParaRPr kumimoji="1" lang="en-US" altLang="zh-CN" sz="2000" b="0" dirty="0"/>
          </a:p>
          <a:p>
            <a:r>
              <a:rPr kumimoji="1" lang="zh-CN" altLang="en-US" sz="2000" dirty="0"/>
              <a:t>多级反馈队列</a:t>
            </a:r>
            <a:r>
              <a:rPr kumimoji="1" lang="zh-CN" altLang="en-US" sz="2000" b="0" dirty="0"/>
              <a:t>：</a:t>
            </a:r>
            <a:r>
              <a:rPr kumimoji="1" lang="en-US" altLang="zh-CN" sz="2000" b="0" dirty="0"/>
              <a:t>MLFQ</a:t>
            </a:r>
          </a:p>
          <a:p>
            <a:r>
              <a:rPr kumimoji="1" lang="zh-CN" altLang="en-US" sz="2000" dirty="0"/>
              <a:t>公平共享调度：</a:t>
            </a:r>
            <a:r>
              <a:rPr kumimoji="1" lang="zh-CN" altLang="en-US" sz="2000" b="0" dirty="0"/>
              <a:t>彩票调度、步幅调度</a:t>
            </a:r>
            <a:endParaRPr kumimoji="1" lang="en-US" altLang="zh-CN" sz="2000" b="0" dirty="0"/>
          </a:p>
          <a:p>
            <a:r>
              <a:rPr kumimoji="1" lang="zh-CN" altLang="en-US" sz="2000" dirty="0"/>
              <a:t>实时调度：</a:t>
            </a:r>
            <a:r>
              <a:rPr kumimoji="1" lang="zh-CN" altLang="en-US" sz="2000" b="0" dirty="0"/>
              <a:t>最早截止时间优先</a:t>
            </a:r>
            <a:endParaRPr kumimoji="1" lang="en-US" altLang="zh-CN" sz="2000" b="0" dirty="0"/>
          </a:p>
          <a:p>
            <a:r>
              <a:rPr kumimoji="1" lang="zh-CN" altLang="en-US" sz="2000" dirty="0"/>
              <a:t>多核调度：</a:t>
            </a:r>
            <a:r>
              <a:rPr kumimoji="1" lang="zh-CN" altLang="en-US" sz="2000" b="0" dirty="0"/>
              <a:t>群组调度、两级调度</a:t>
            </a:r>
            <a:endParaRPr kumimoji="1" lang="en-US" altLang="zh-CN" sz="20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EC2497-7327-5844-9B5F-05B7CC21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296962"/>
            <a:ext cx="2133600" cy="304271"/>
          </a:xfrm>
        </p:spPr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57530A-19D3-094E-BE1B-E86B401390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09619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52859</TotalTime>
  <Words>4845</Words>
  <Application>Microsoft Macintosh PowerPoint</Application>
  <PresentationFormat>全屏显示(16:10)</PresentationFormat>
  <Paragraphs>974</Paragraphs>
  <Slides>77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77</vt:i4>
      </vt:variant>
    </vt:vector>
  </HeadingPairs>
  <TitlesOfParts>
    <vt:vector size="84" baseType="lpstr">
      <vt:lpstr>DengXian</vt:lpstr>
      <vt:lpstr>Arial</vt:lpstr>
      <vt:lpstr>Calibri</vt:lpstr>
      <vt:lpstr>Cambria Math</vt:lpstr>
      <vt:lpstr>Times New Roman</vt:lpstr>
      <vt:lpstr>Office 主题​​</vt:lpstr>
      <vt:lpstr>1_Office 主题​​</vt:lpstr>
      <vt:lpstr>处理器调度</vt:lpstr>
      <vt:lpstr>版权声明</vt:lpstr>
      <vt:lpstr>系统中的任务数远多于处理器数</vt:lpstr>
      <vt:lpstr>进程/线程调度</vt:lpstr>
      <vt:lpstr>如果没有调度器</vt:lpstr>
      <vt:lpstr>调度器让生活更美好</vt:lpstr>
      <vt:lpstr>什么是调度？</vt:lpstr>
      <vt:lpstr>思考：还有哪些调度适用的场景？</vt:lpstr>
      <vt:lpstr>调度在不同场景下的目标</vt:lpstr>
      <vt:lpstr>调度器的目标</vt:lpstr>
      <vt:lpstr>调度的挑战 </vt:lpstr>
      <vt:lpstr>策略 V.S. 机制</vt:lpstr>
      <vt:lpstr>OS的调度策略</vt:lpstr>
      <vt:lpstr>经典调度</vt:lpstr>
      <vt:lpstr>CPU调度与提问调度</vt:lpstr>
      <vt:lpstr>先到先服务（First Come First Served）</vt:lpstr>
      <vt:lpstr>短任务优先（Shortest Job First）</vt:lpstr>
      <vt:lpstr>抢占式调度 (Preemptive Scheduling)</vt:lpstr>
      <vt:lpstr>时间片轮转（Round Robin）</vt:lpstr>
      <vt:lpstr>思考：</vt:lpstr>
      <vt:lpstr>优先级调度</vt:lpstr>
      <vt:lpstr>调度优先级</vt:lpstr>
      <vt:lpstr>添加条件：优先级</vt:lpstr>
      <vt:lpstr>思考：优先级</vt:lpstr>
      <vt:lpstr>多级队列（Multi-level Queue）</vt:lpstr>
      <vt:lpstr>添加条件：阅读OS书 （类比I/O操作）</vt:lpstr>
      <vt:lpstr>低资源利用率问题</vt:lpstr>
      <vt:lpstr>思考：优先级的选取</vt:lpstr>
      <vt:lpstr>优先级的动态调整</vt:lpstr>
      <vt:lpstr>静态优先级的问题：优先级反转</vt:lpstr>
      <vt:lpstr>静态优先级的问题：优先级反转</vt:lpstr>
      <vt:lpstr>解决方法：动态优先级继承</vt:lpstr>
      <vt:lpstr>目前介绍的调度策略的限制</vt:lpstr>
      <vt:lpstr>多级反馈队列</vt:lpstr>
      <vt:lpstr>多级反馈队列</vt:lpstr>
      <vt:lpstr>MLFQ的主要目标与思路</vt:lpstr>
      <vt:lpstr>基本算法（基于Multi-Level Queue）</vt:lpstr>
      <vt:lpstr>如何设置任务优先级？</vt:lpstr>
      <vt:lpstr>样例执行1、2</vt:lpstr>
      <vt:lpstr>样例执行3</vt:lpstr>
      <vt:lpstr>基本算法的问题（一）</vt:lpstr>
      <vt:lpstr>定时优先级提升（Priority Boost）</vt:lpstr>
      <vt:lpstr>样例执行4</vt:lpstr>
      <vt:lpstr>基本算法的问题（二）</vt:lpstr>
      <vt:lpstr>更准确地记录执行时间（Better Accounting）</vt:lpstr>
      <vt:lpstr>样例执行5</vt:lpstr>
      <vt:lpstr>MLFQ的参数调试</vt:lpstr>
      <vt:lpstr>MLFQ各个队列时间片长短的选择</vt:lpstr>
      <vt:lpstr>MLFQ总结</vt:lpstr>
      <vt:lpstr>公平共享调度</vt:lpstr>
      <vt:lpstr>场景：共享服务器</vt:lpstr>
      <vt:lpstr>公平共享（用户级，非任务级）</vt:lpstr>
      <vt:lpstr>添加条件：一个同学会问多个问题</vt:lpstr>
      <vt:lpstr>方法：使用"ticket"表示任务的权重</vt:lpstr>
      <vt:lpstr>公平共享：彩票调度（Lottery Scheduling）</vt:lpstr>
      <vt:lpstr>Ticket Transfer</vt:lpstr>
      <vt:lpstr>思考：权重 与 优先 的异同?</vt:lpstr>
      <vt:lpstr>思考：随机的利弊</vt:lpstr>
      <vt:lpstr>Stride Scheduling</vt:lpstr>
      <vt:lpstr>Stride Scheduling</vt:lpstr>
      <vt:lpstr>公平共享调度</vt:lpstr>
      <vt:lpstr>实时调度</vt:lpstr>
      <vt:lpstr>实时调度</vt:lpstr>
      <vt:lpstr>最早截止时间优先（Earliest Deadline First）</vt:lpstr>
      <vt:lpstr>最早截止时间优先（Earliest Deadline First）</vt:lpstr>
      <vt:lpstr>多米诺效应</vt:lpstr>
      <vt:lpstr>最早截止时间优先的实际应用</vt:lpstr>
      <vt:lpstr>多核调度策略</vt:lpstr>
      <vt:lpstr>多核调度需要考虑的额外因素</vt:lpstr>
      <vt:lpstr>多核调度需要考虑的额外因素</vt:lpstr>
      <vt:lpstr>群组调度：Gang Scheduling</vt:lpstr>
      <vt:lpstr>群组调度：Gang Scheduling</vt:lpstr>
      <vt:lpstr>全局使用一个调度器的问题</vt:lpstr>
      <vt:lpstr>全局使用一个调度器的问题</vt:lpstr>
      <vt:lpstr>Two-level Scheduling</vt:lpstr>
      <vt:lpstr>ChCore &amp; Linux的多核调度</vt:lpstr>
      <vt:lpstr>调度小结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Yubin Xia</cp:lastModifiedBy>
  <cp:revision>2479</cp:revision>
  <cp:lastPrinted>2020-03-02T13:38:09Z</cp:lastPrinted>
  <dcterms:created xsi:type="dcterms:W3CDTF">2017-11-24T09:35:45Z</dcterms:created>
  <dcterms:modified xsi:type="dcterms:W3CDTF">2022-03-10T05:55:38Z</dcterms:modified>
</cp:coreProperties>
</file>