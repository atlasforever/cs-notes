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3"/>
  </p:notesMasterIdLst>
  <p:handoutMasterIdLst>
    <p:handoutMasterId r:id="rId84"/>
  </p:handoutMasterIdLst>
  <p:sldIdLst>
    <p:sldId id="1306" r:id="rId2"/>
    <p:sldId id="1359" r:id="rId3"/>
    <p:sldId id="1454" r:id="rId4"/>
    <p:sldId id="1451" r:id="rId5"/>
    <p:sldId id="1363" r:id="rId6"/>
    <p:sldId id="1364" r:id="rId7"/>
    <p:sldId id="2391" r:id="rId8"/>
    <p:sldId id="2328" r:id="rId9"/>
    <p:sldId id="2404" r:id="rId10"/>
    <p:sldId id="2405" r:id="rId11"/>
    <p:sldId id="2407" r:id="rId12"/>
    <p:sldId id="2403" r:id="rId13"/>
    <p:sldId id="2408" r:id="rId14"/>
    <p:sldId id="2324" r:id="rId15"/>
    <p:sldId id="1366" r:id="rId16"/>
    <p:sldId id="2329" r:id="rId17"/>
    <p:sldId id="2373" r:id="rId18"/>
    <p:sldId id="1394" r:id="rId19"/>
    <p:sldId id="1368" r:id="rId20"/>
    <p:sldId id="1397" r:id="rId21"/>
    <p:sldId id="2330" r:id="rId22"/>
    <p:sldId id="2409" r:id="rId23"/>
    <p:sldId id="2331" r:id="rId24"/>
    <p:sldId id="2385" r:id="rId25"/>
    <p:sldId id="2352" r:id="rId26"/>
    <p:sldId id="2353" r:id="rId27"/>
    <p:sldId id="2354" r:id="rId28"/>
    <p:sldId id="2343" r:id="rId29"/>
    <p:sldId id="2355" r:id="rId30"/>
    <p:sldId id="2356" r:id="rId31"/>
    <p:sldId id="1401" r:id="rId32"/>
    <p:sldId id="2374" r:id="rId33"/>
    <p:sldId id="1369" r:id="rId34"/>
    <p:sldId id="1405" r:id="rId35"/>
    <p:sldId id="1406" r:id="rId36"/>
    <p:sldId id="1407" r:id="rId37"/>
    <p:sldId id="1411" r:id="rId38"/>
    <p:sldId id="1408" r:id="rId39"/>
    <p:sldId id="1409" r:id="rId40"/>
    <p:sldId id="2393" r:id="rId41"/>
    <p:sldId id="2410" r:id="rId42"/>
    <p:sldId id="2411" r:id="rId43"/>
    <p:sldId id="2413" r:id="rId44"/>
    <p:sldId id="1370" r:id="rId45"/>
    <p:sldId id="2394" r:id="rId46"/>
    <p:sldId id="1412" r:id="rId47"/>
    <p:sldId id="1452" r:id="rId48"/>
    <p:sldId id="2395" r:id="rId49"/>
    <p:sldId id="1413" r:id="rId50"/>
    <p:sldId id="2335" r:id="rId51"/>
    <p:sldId id="2396" r:id="rId52"/>
    <p:sldId id="2398" r:id="rId53"/>
    <p:sldId id="2399" r:id="rId54"/>
    <p:sldId id="1417" r:id="rId55"/>
    <p:sldId id="2400" r:id="rId56"/>
    <p:sldId id="2401" r:id="rId57"/>
    <p:sldId id="2387" r:id="rId58"/>
    <p:sldId id="2388" r:id="rId59"/>
    <p:sldId id="2423" r:id="rId60"/>
    <p:sldId id="2424" r:id="rId61"/>
    <p:sldId id="2425" r:id="rId62"/>
    <p:sldId id="2397" r:id="rId63"/>
    <p:sldId id="1416" r:id="rId64"/>
    <p:sldId id="1418" r:id="rId65"/>
    <p:sldId id="2426" r:id="rId66"/>
    <p:sldId id="2376" r:id="rId67"/>
    <p:sldId id="2337" r:id="rId68"/>
    <p:sldId id="2338" r:id="rId69"/>
    <p:sldId id="2381" r:id="rId70"/>
    <p:sldId id="1372" r:id="rId71"/>
    <p:sldId id="1419" r:id="rId72"/>
    <p:sldId id="2379" r:id="rId73"/>
    <p:sldId id="2380" r:id="rId74"/>
    <p:sldId id="1421" r:id="rId75"/>
    <p:sldId id="1422" r:id="rId76"/>
    <p:sldId id="1423" r:id="rId77"/>
    <p:sldId id="1453" r:id="rId78"/>
    <p:sldId id="1424" r:id="rId79"/>
    <p:sldId id="1425" r:id="rId80"/>
    <p:sldId id="1426" r:id="rId81"/>
    <p:sldId id="1427" r:id="rId82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B92"/>
    <a:srgbClr val="941100"/>
    <a:srgbClr val="212121"/>
    <a:srgbClr val="005493"/>
    <a:srgbClr val="FF2F92"/>
    <a:srgbClr val="9437FF"/>
    <a:srgbClr val="73FEFF"/>
    <a:srgbClr val="ED3C64"/>
    <a:srgbClr val="FF93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82" autoAdjust="0"/>
    <p:restoredTop sz="83996" autoAdjust="0"/>
  </p:normalViewPr>
  <p:slideViewPr>
    <p:cSldViewPr>
      <p:cViewPr varScale="1">
        <p:scale>
          <a:sx n="154" d="100"/>
          <a:sy n="154" d="100"/>
        </p:scale>
        <p:origin x="496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386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2022/3/16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6257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333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264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324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050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345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396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1296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6686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0160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为了</a:t>
            </a:r>
            <a:r>
              <a:rPr lang="zh-CN" altLang="en-US"/>
              <a:t>解决解决竞争冒险，提出了一套协议</a:t>
            </a:r>
            <a:endParaRPr lang="en-US" altLang="zh-CN"/>
          </a:p>
          <a:p>
            <a:r>
              <a:rPr lang="zh-CN" altLang="en-US"/>
              <a:t>，提出了临界区的抽象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0589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为了</a:t>
            </a:r>
            <a:r>
              <a:rPr lang="zh-CN" altLang="en-US"/>
              <a:t>解决解决竞争冒险</a:t>
            </a:r>
            <a:endParaRPr lang="en-US" altLang="zh-CN"/>
          </a:p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268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为了</a:t>
            </a:r>
            <a:r>
              <a:rPr lang="zh-CN" altLang="en-US"/>
              <a:t>解决解决竞争冒险</a:t>
            </a:r>
            <a:endParaRPr lang="en-US" altLang="zh-CN"/>
          </a:p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904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852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单核</a:t>
            </a:r>
            <a:r>
              <a:rPr lang="zh-CN" altLang="en-US"/>
              <a:t> 调度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2039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为了</a:t>
            </a:r>
            <a:r>
              <a:rPr lang="zh-CN" altLang="en-US"/>
              <a:t>解决解决竞争冒险</a:t>
            </a:r>
            <a:endParaRPr lang="en-US" altLang="zh-CN"/>
          </a:p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1828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8882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3249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4865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/>
              <a:t>LL/sc</a:t>
            </a:r>
            <a:r>
              <a:rPr lang="zh-CN" altLang="en-CN" dirty="0"/>
              <a:t>详细</a:t>
            </a:r>
            <a:r>
              <a:rPr lang="zh-CN" altLang="en-US" dirty="0"/>
              <a:t>一点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2605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/>
              <a:t>LL/sc</a:t>
            </a:r>
            <a:r>
              <a:rPr lang="zh-CN" altLang="en-CN" dirty="0"/>
              <a:t>详细</a:t>
            </a:r>
            <a:r>
              <a:rPr lang="zh-CN" altLang="en-US" dirty="0"/>
              <a:t>一点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2941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/>
              <a:t>LL/sc</a:t>
            </a:r>
            <a:r>
              <a:rPr lang="zh-CN" altLang="en-CN" dirty="0"/>
              <a:t>详细</a:t>
            </a:r>
            <a:r>
              <a:rPr lang="zh-CN" altLang="en-US" dirty="0"/>
              <a:t>一点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9909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prstClr val="black">
                    <a:lumMod val="75000"/>
                    <a:lumOff val="25000"/>
                  </a:prstClr>
                </a:solidFill>
              </a:rPr>
              <a:t>Load-linked and Store-conditional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6303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if no one has updated *</a:t>
            </a:r>
            <a:r>
              <a:rPr lang="en-US" altLang="zh-CN" sz="1200" dirty="0" err="1">
                <a:latin typeface="Consolas" panose="020B0609020204030204" pitchFamily="49" charset="0"/>
              </a:rPr>
              <a:t>ptr</a:t>
            </a:r>
            <a:r>
              <a:rPr lang="en-US" altLang="zh-CN" sz="1200" dirty="0">
                <a:latin typeface="Consolas" panose="020B0609020204030204" pitchFamily="49" charset="0"/>
              </a:rPr>
              <a:t> since the </a:t>
            </a:r>
            <a:r>
              <a:rPr lang="en-US" altLang="zh-CN" sz="1200" dirty="0" err="1">
                <a:latin typeface="Consolas" panose="020B0609020204030204" pitchFamily="49" charset="0"/>
              </a:rPr>
              <a:t>LoadLinked</a:t>
            </a:r>
            <a:r>
              <a:rPr lang="en-US" altLang="zh-CN" sz="1200" dirty="0">
                <a:latin typeface="Consolas" panose="020B0609020204030204" pitchFamily="49" charset="0"/>
              </a:rPr>
              <a:t> to this address,</a:t>
            </a:r>
            <a:r>
              <a:rPr lang="zh-CN" altLang="en-US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</a:rPr>
              <a:t>then</a:t>
            </a:r>
            <a:r>
              <a:rPr lang="zh-CN" altLang="en-US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</a:rPr>
              <a:t>change</a:t>
            </a:r>
            <a:r>
              <a:rPr lang="zh-CN" altLang="en-US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</a:rPr>
              <a:t>the</a:t>
            </a:r>
            <a:r>
              <a:rPr lang="zh-CN" altLang="en-US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</a:rPr>
              <a:t>value</a:t>
            </a:r>
            <a:r>
              <a:rPr lang="zh-CN" altLang="en-US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</a:rPr>
              <a:t>of</a:t>
            </a:r>
            <a:r>
              <a:rPr lang="zh-CN" altLang="en-US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</a:rPr>
              <a:t>the</a:t>
            </a:r>
            <a:r>
              <a:rPr lang="zh-CN" altLang="en-US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</a:rPr>
              <a:t>pointer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9944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2304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79340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5715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8550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0759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4131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893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1922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483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7527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1965年提出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0400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1965年提出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07390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本章开头的两个例子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28865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本章开头的两个例子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1213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本章开头的两个例子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53405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04000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95207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72084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3255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21196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951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emf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6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4800" dirty="0"/>
              <a:t>同步原语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陈海波 </a:t>
            </a:r>
            <a:r>
              <a:rPr kumimoji="1" lang="en-US" altLang="zh-CN" sz="180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kumimoji="1" lang="zh-CN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 夏虞斌</a:t>
            </a:r>
            <a:endParaRPr kumimoji="1" lang="en-US" altLang="zh-CN" sz="18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上海交通大学并行与分布式系统研究所</a:t>
            </a:r>
            <a:endParaRPr kumimoji="1" lang="en-US" altLang="zh-CN" sz="18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>
                <a:solidFill>
                  <a:schemeClr val="tx1">
                    <a:lumMod val="50000"/>
                    <a:lumOff val="50000"/>
                  </a:schemeClr>
                </a:solidFill>
              </a:rPr>
              <a:t>https://ipads.se.sjtu.edu.cn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SE3357-1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·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操作系统（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2022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春）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4DB58-9478-0845-B9D0-F1002C2E0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BCEED-A5B4-B84B-A1BD-916B50513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回顾</a:t>
            </a:r>
            <a:r>
              <a:rPr lang="zh-CN" altLang="en-US"/>
              <a:t>：进程间通讯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35E65-422A-F74D-A219-96DD31974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645407" cy="37716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/>
              <a:t>进程间通信</a:t>
            </a:r>
            <a:r>
              <a:rPr kumimoji="1" lang="en-US" altLang="zh-CN" sz="2000" dirty="0"/>
              <a:t>:</a:t>
            </a:r>
            <a:r>
              <a:rPr kumimoji="1" lang="zh-CN" altLang="en-US" sz="2000" dirty="0"/>
              <a:t> </a:t>
            </a:r>
            <a:r>
              <a:rPr kumimoji="1" lang="zh-CN" altLang="en-US" sz="2000" b="0" dirty="0"/>
              <a:t>两个</a:t>
            </a:r>
            <a:r>
              <a:rPr kumimoji="1" lang="en-US" altLang="zh-CN" sz="2000" b="0" dirty="0"/>
              <a:t>(</a:t>
            </a:r>
            <a:r>
              <a:rPr kumimoji="1" lang="zh-CN" altLang="en-US" sz="2000" b="0" dirty="0"/>
              <a:t>或多个</a:t>
            </a:r>
            <a:r>
              <a:rPr kumimoji="1" lang="en-US" altLang="zh-CN" sz="2000" b="0" dirty="0"/>
              <a:t>)</a:t>
            </a:r>
            <a:r>
              <a:rPr kumimoji="1" lang="zh-CN" altLang="en-US" sz="2000" b="0" dirty="0"/>
              <a:t>不同的进程，通过内核或其他共享资源进行通信，来传递控制信息或数据</a:t>
            </a:r>
            <a:endParaRPr kumimoji="1" lang="en-US" altLang="zh-CN" sz="2000" b="0" dirty="0"/>
          </a:p>
          <a:p>
            <a:pPr lvl="1">
              <a:lnSpc>
                <a:spcPct val="150000"/>
              </a:lnSpc>
            </a:pPr>
            <a:r>
              <a:rPr kumimoji="1" lang="zh-CN" altLang="en-US" sz="1800" dirty="0"/>
              <a:t>直接通讯</a:t>
            </a:r>
            <a:r>
              <a:rPr kumimoji="1" lang="en-US" altLang="zh-CN" sz="1800" dirty="0"/>
              <a:t>/</a:t>
            </a:r>
            <a:r>
              <a:rPr kumimoji="1" lang="zh-CN" altLang="en-US" sz="1800" dirty="0"/>
              <a:t>间接通讯</a:t>
            </a:r>
            <a:endParaRPr kumimoji="1" lang="en-US" altLang="zh-CN" sz="1800" b="0" dirty="0"/>
          </a:p>
          <a:p>
            <a:pPr>
              <a:lnSpc>
                <a:spcPct val="150000"/>
              </a:lnSpc>
            </a:pPr>
            <a:r>
              <a:rPr lang="zh-CN" altLang="en-US" sz="2000"/>
              <a:t>进程间协作：</a:t>
            </a:r>
            <a:r>
              <a:rPr lang="zh-CN" altLang="en-US" sz="2000" b="0"/>
              <a:t>基于消息传递的抽象</a:t>
            </a:r>
            <a:endParaRPr lang="en-US" altLang="zh-CN" sz="2000" b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93B4A6-F5BE-094C-A9F9-8E87CF130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5" name="矩形 5">
            <a:extLst>
              <a:ext uri="{FF2B5EF4-FFF2-40B4-BE49-F238E27FC236}">
                <a16:creationId xmlns:a16="http://schemas.microsoft.com/office/drawing/2014/main" id="{CABDF780-3927-A640-9716-8FE52563BC5B}"/>
              </a:ext>
            </a:extLst>
          </p:cNvPr>
          <p:cNvSpPr/>
          <p:nvPr/>
        </p:nvSpPr>
        <p:spPr>
          <a:xfrm>
            <a:off x="5698159" y="2655360"/>
            <a:ext cx="3122971" cy="10564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b" anchorCtr="0"/>
          <a:lstStyle/>
          <a:p>
            <a:pPr algn="ctr"/>
            <a:r>
              <a:rPr kumimoji="1" lang="zh-CN" altLang="en-US" sz="16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内核</a:t>
            </a:r>
          </a:p>
        </p:txBody>
      </p:sp>
      <p:sp>
        <p:nvSpPr>
          <p:cNvPr id="6" name="矩形 6">
            <a:extLst>
              <a:ext uri="{FF2B5EF4-FFF2-40B4-BE49-F238E27FC236}">
                <a16:creationId xmlns:a16="http://schemas.microsoft.com/office/drawing/2014/main" id="{5A39CBE0-98A1-5940-8C6A-655977284A7D}"/>
              </a:ext>
            </a:extLst>
          </p:cNvPr>
          <p:cNvSpPr/>
          <p:nvPr/>
        </p:nvSpPr>
        <p:spPr>
          <a:xfrm>
            <a:off x="5681775" y="2054937"/>
            <a:ext cx="1368152" cy="4488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6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发送者</a:t>
            </a:r>
          </a:p>
        </p:txBody>
      </p:sp>
      <p:sp>
        <p:nvSpPr>
          <p:cNvPr id="7" name="矩形 7">
            <a:extLst>
              <a:ext uri="{FF2B5EF4-FFF2-40B4-BE49-F238E27FC236}">
                <a16:creationId xmlns:a16="http://schemas.microsoft.com/office/drawing/2014/main" id="{0EC0B832-D738-5849-810D-6B6ADE14D7B7}"/>
              </a:ext>
            </a:extLst>
          </p:cNvPr>
          <p:cNvSpPr/>
          <p:nvPr/>
        </p:nvSpPr>
        <p:spPr>
          <a:xfrm>
            <a:off x="7265950" y="2054937"/>
            <a:ext cx="1538795" cy="4488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6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接收者</a:t>
            </a:r>
          </a:p>
        </p:txBody>
      </p:sp>
      <p:cxnSp>
        <p:nvCxnSpPr>
          <p:cNvPr id="8" name="肘形连接符 8">
            <a:extLst>
              <a:ext uri="{FF2B5EF4-FFF2-40B4-BE49-F238E27FC236}">
                <a16:creationId xmlns:a16="http://schemas.microsoft.com/office/drawing/2014/main" id="{705AB765-4A7D-4F44-A67B-2E6E748FB76A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00599" y="1804185"/>
            <a:ext cx="12700" cy="1379750"/>
          </a:xfrm>
          <a:prstGeom prst="bentConnector3">
            <a:avLst>
              <a:gd name="adj1" fmla="val 388192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肘形连接符 9">
            <a:extLst>
              <a:ext uri="{FF2B5EF4-FFF2-40B4-BE49-F238E27FC236}">
                <a16:creationId xmlns:a16="http://schemas.microsoft.com/office/drawing/2014/main" id="{4BC2F5B4-57EB-AA4D-9F11-F2FB0F7D5CA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00599" y="1669062"/>
            <a:ext cx="12700" cy="1669497"/>
          </a:xfrm>
          <a:prstGeom prst="bentConnector3">
            <a:avLst>
              <a:gd name="adj1" fmla="val 4575906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10">
            <a:extLst>
              <a:ext uri="{FF2B5EF4-FFF2-40B4-BE49-F238E27FC236}">
                <a16:creationId xmlns:a16="http://schemas.microsoft.com/office/drawing/2014/main" id="{AAB29D34-B767-124A-BE0E-1811DCBC113B}"/>
              </a:ext>
            </a:extLst>
          </p:cNvPr>
          <p:cNvSpPr txBox="1"/>
          <p:nvPr/>
        </p:nvSpPr>
        <p:spPr>
          <a:xfrm>
            <a:off x="6714421" y="2706463"/>
            <a:ext cx="985056" cy="246221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600" b="1" i="1" dirty="0">
                <a:solidFill>
                  <a:srgbClr val="BE384B"/>
                </a:solidFill>
              </a:rPr>
              <a:t>IPC</a:t>
            </a:r>
            <a:r>
              <a:rPr kumimoji="1" lang="zh-CN" altLang="en-US" sz="1600" b="1" i="1" dirty="0">
                <a:solidFill>
                  <a:srgbClr val="BE384B"/>
                </a:solidFill>
              </a:rPr>
              <a:t> </a:t>
            </a:r>
            <a:r>
              <a:rPr kumimoji="1" lang="en-US" altLang="zh-CN" sz="1600" b="1" i="1" dirty="0">
                <a:solidFill>
                  <a:srgbClr val="BE384B"/>
                </a:solidFill>
              </a:rPr>
              <a:t>call</a:t>
            </a:r>
          </a:p>
        </p:txBody>
      </p:sp>
      <p:sp>
        <p:nvSpPr>
          <p:cNvPr id="11" name="文本框 11">
            <a:extLst>
              <a:ext uri="{FF2B5EF4-FFF2-40B4-BE49-F238E27FC236}">
                <a16:creationId xmlns:a16="http://schemas.microsoft.com/office/drawing/2014/main" id="{AD95E663-9383-B942-A846-64ABAB9B6567}"/>
              </a:ext>
            </a:extLst>
          </p:cNvPr>
          <p:cNvSpPr txBox="1"/>
          <p:nvPr/>
        </p:nvSpPr>
        <p:spPr>
          <a:xfrm>
            <a:off x="6767116" y="3135782"/>
            <a:ext cx="985056" cy="246221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600" b="1" i="1" dirty="0">
                <a:solidFill>
                  <a:srgbClr val="BE384B"/>
                </a:solidFill>
              </a:rPr>
              <a:t>IPC</a:t>
            </a:r>
            <a:r>
              <a:rPr kumimoji="1" lang="zh-CN" altLang="en-US" sz="1600" b="1" i="1" dirty="0">
                <a:solidFill>
                  <a:srgbClr val="BE384B"/>
                </a:solidFill>
              </a:rPr>
              <a:t> </a:t>
            </a:r>
            <a:r>
              <a:rPr kumimoji="1" lang="en-US" altLang="zh-CN" sz="1600" b="1" i="1" dirty="0">
                <a:solidFill>
                  <a:srgbClr val="BE384B"/>
                </a:solidFill>
              </a:rPr>
              <a:t>return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14B13E-98D9-2647-AD79-167690F8388A}"/>
              </a:ext>
            </a:extLst>
          </p:cNvPr>
          <p:cNvSpPr/>
          <p:nvPr/>
        </p:nvSpPr>
        <p:spPr>
          <a:xfrm>
            <a:off x="985120" y="4381499"/>
            <a:ext cx="71737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今天的主题：直接基于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共享内存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操作 （如发送者直接修改全局变量）</a:t>
            </a:r>
            <a:endParaRPr lang="en-CN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EBC3761-5FDA-5A43-B914-15EF58103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7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+mn-lt"/>
              </a:rPr>
              <a:t>多处理器与多核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93FC97-892D-9A43-86D7-FF73FEEA8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615" y="1529948"/>
            <a:ext cx="3158257" cy="3510390"/>
          </a:xfrm>
        </p:spPr>
        <p:txBody>
          <a:bodyPr>
            <a:normAutofit/>
          </a:bodyPr>
          <a:lstStyle/>
          <a:p>
            <a:r>
              <a:rPr lang="zh-CN" altLang="en-CN" sz="2000" b="0" dirty="0"/>
              <a:t>单核</a:t>
            </a:r>
            <a:r>
              <a:rPr lang="zh-CN" altLang="en-US" sz="2000" b="0" dirty="0"/>
              <a:t>性能提升遇到瓶颈</a:t>
            </a:r>
            <a:endParaRPr lang="en-US" altLang="zh-CN" sz="2000" b="0" dirty="0"/>
          </a:p>
          <a:p>
            <a:r>
              <a:rPr lang="zh-CN" altLang="en-US" sz="2000" b="0" dirty="0"/>
              <a:t>不能通过一味提升频率来获得更好的性能</a:t>
            </a:r>
            <a:endParaRPr lang="en-US" altLang="zh-CN" sz="2000" b="0" dirty="0"/>
          </a:p>
          <a:p>
            <a:r>
              <a:rPr lang="zh-CN" altLang="en-US" sz="2000" b="0" dirty="0"/>
              <a:t>通过增加</a:t>
            </a:r>
            <a:r>
              <a:rPr lang="en-US" altLang="zh-CN" sz="2000" b="0" dirty="0"/>
              <a:t>CPU</a:t>
            </a:r>
            <a:r>
              <a:rPr lang="zh-CN" altLang="en-US" sz="2000" b="0" dirty="0"/>
              <a:t>核数来提升软件的性能</a:t>
            </a:r>
            <a:endParaRPr lang="en-US" altLang="zh-CN" sz="2000" b="0" dirty="0"/>
          </a:p>
          <a:p>
            <a:r>
              <a:rPr lang="zh-CN" altLang="en-US" sz="2000" b="0" dirty="0"/>
              <a:t>桌面</a:t>
            </a:r>
            <a:r>
              <a:rPr lang="en-US" altLang="zh-CN" sz="2000" b="0" dirty="0"/>
              <a:t>/</a:t>
            </a:r>
            <a:r>
              <a:rPr lang="zh-CN" altLang="en-US" sz="2000" b="0" dirty="0"/>
              <a:t>移动平台均向多核迈进</a:t>
            </a:r>
            <a:endParaRPr lang="en-CN" altLang="zh-CN" sz="2000"/>
          </a:p>
          <a:p>
            <a:endParaRPr lang="en-US" altLang="zh-CN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C3B4F1-0E18-8F48-8F48-CFB3181ADD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524" y="1297596"/>
            <a:ext cx="4680520" cy="351039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F9D7C4-2C47-B74C-98AA-8C45DFFD5C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BB93F-3533-4A4A-9C2B-95E20F079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177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3FFAD-3494-E74C-81C0-B185F3E6F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多核</a:t>
            </a:r>
            <a:r>
              <a:rPr lang="zh-CN" altLang="en-US"/>
              <a:t>不是免费的午餐</a:t>
            </a:r>
            <a:endParaRPr lang="en-CN"/>
          </a:p>
        </p:txBody>
      </p:sp>
      <p:pic>
        <p:nvPicPr>
          <p:cNvPr id="5" name="Picture 4" descr="A group of people standing in the sand&#10;&#10;Description automatically generated">
            <a:extLst>
              <a:ext uri="{FF2B5EF4-FFF2-40B4-BE49-F238E27FC236}">
                <a16:creationId xmlns:a16="http://schemas.microsoft.com/office/drawing/2014/main" id="{C2F6BEA9-92AB-F54F-ACB4-6B90A7C14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135349"/>
            <a:ext cx="3226912" cy="36267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B7A445-DFFA-B34F-B2E9-29B6BF867132}"/>
              </a:ext>
            </a:extLst>
          </p:cNvPr>
          <p:cNvSpPr txBox="1"/>
          <p:nvPr/>
        </p:nvSpPr>
        <p:spPr>
          <a:xfrm>
            <a:off x="890409" y="4807851"/>
            <a:ext cx="26692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网图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：多核的真相</a:t>
            </a:r>
            <a:endParaRPr lang="en-CN" sz="16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46B8B2DD-31CD-254D-A051-F645D5EAF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2930884"/>
            <a:ext cx="4546848" cy="5639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CN" sz="1800" b="0" dirty="0"/>
              <a:t>面临</a:t>
            </a:r>
            <a:r>
              <a:rPr lang="zh-CN" altLang="en-US" sz="1800" b="0" dirty="0"/>
              <a:t>的两个问题：</a:t>
            </a:r>
            <a:endParaRPr lang="en-US" altLang="zh-CN" sz="1800" b="0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37BE16F2-E53E-E544-B3F2-77465D31DDF3}"/>
              </a:ext>
            </a:extLst>
          </p:cNvPr>
          <p:cNvSpPr txBox="1">
            <a:spLocks/>
          </p:cNvSpPr>
          <p:nvPr/>
        </p:nvSpPr>
        <p:spPr>
          <a:xfrm>
            <a:off x="4572000" y="1063406"/>
            <a:ext cx="4546848" cy="1585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zh-CN" altLang="en-US" sz="1800" b="0" dirty="0"/>
              <a:t>假设现在需要建房子：</a:t>
            </a:r>
            <a:endParaRPr lang="en-US" altLang="zh-CN" sz="1800" b="0" dirty="0"/>
          </a:p>
          <a:p>
            <a:r>
              <a:rPr lang="zh-CN" altLang="en-US" sz="1800" b="0" dirty="0"/>
              <a:t>工作量 </a:t>
            </a:r>
            <a:r>
              <a:rPr lang="en-US" altLang="zh-CN" sz="1800" b="0" dirty="0"/>
              <a:t>=</a:t>
            </a:r>
            <a:r>
              <a:rPr lang="zh-CN" altLang="en-US" sz="1800" b="0" dirty="0"/>
              <a:t> </a:t>
            </a:r>
            <a:r>
              <a:rPr lang="en-US" altLang="zh-CN" sz="1800" b="0" dirty="0"/>
              <a:t>1000</a:t>
            </a:r>
            <a:r>
              <a:rPr lang="zh-CN" altLang="en-US" sz="1800" b="0" dirty="0"/>
              <a:t>人</a:t>
            </a:r>
            <a:r>
              <a:rPr lang="en-US" altLang="zh-CN" sz="1800" b="0" dirty="0"/>
              <a:t>/</a:t>
            </a:r>
            <a:r>
              <a:rPr lang="zh-CN" altLang="en-US" sz="1800" b="0" dirty="0"/>
              <a:t>年</a:t>
            </a:r>
            <a:endParaRPr lang="en-US" altLang="zh-CN" sz="1800" b="0" dirty="0"/>
          </a:p>
          <a:p>
            <a:r>
              <a:rPr lang="zh-CN" altLang="en-US" sz="1800" b="0" dirty="0"/>
              <a:t>工头找了</a:t>
            </a:r>
            <a:r>
              <a:rPr lang="en-US" altLang="zh-CN" sz="1800" b="0" dirty="0"/>
              <a:t>10</a:t>
            </a:r>
            <a:r>
              <a:rPr lang="zh-CN" altLang="en-US" sz="1800" b="0" dirty="0"/>
              <a:t>万人，需要多久？</a:t>
            </a:r>
            <a:endParaRPr lang="en-US" altLang="zh-CN" sz="1800" b="0" dirty="0"/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EB6D4107-0F42-E54A-9D35-84EB552D14DC}"/>
              </a:ext>
            </a:extLst>
          </p:cNvPr>
          <p:cNvSpPr txBox="1">
            <a:spLocks/>
          </p:cNvSpPr>
          <p:nvPr/>
        </p:nvSpPr>
        <p:spPr>
          <a:xfrm>
            <a:off x="4572000" y="3494825"/>
            <a:ext cx="3888432" cy="1792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itchFamily="34" charset="0"/>
              <a:buAutoNum type="arabicPeriod"/>
            </a:pPr>
            <a:r>
              <a:rPr lang="zh-CN" altLang="en-US" sz="1800" b="0" dirty="0"/>
              <a:t>工人人多手杂，不听指挥，导致施工事故（</a:t>
            </a:r>
            <a:r>
              <a:rPr lang="zh-CN" altLang="en-US" sz="1800" dirty="0"/>
              <a:t>正确性</a:t>
            </a:r>
            <a:r>
              <a:rPr lang="zh-CN" altLang="en-US" sz="1800" b="0" dirty="0"/>
              <a:t>问题）</a:t>
            </a:r>
            <a:endParaRPr lang="en-US" altLang="zh-CN" sz="1800" b="0" dirty="0"/>
          </a:p>
          <a:p>
            <a:pPr marL="457200" indent="-457200">
              <a:buFont typeface="Arial" pitchFamily="34" charset="0"/>
              <a:buAutoNum type="arabicPeriod"/>
            </a:pPr>
            <a:r>
              <a:rPr lang="zh-CN" altLang="en-US" sz="1800" b="0" dirty="0"/>
              <a:t>工具有限，大部分工人无事可干（</a:t>
            </a:r>
            <a:r>
              <a:rPr lang="zh-CN" altLang="en-US" sz="1800" dirty="0"/>
              <a:t>性能可扩展性</a:t>
            </a:r>
            <a:r>
              <a:rPr lang="zh-CN" altLang="en-US" sz="1800" b="0" dirty="0"/>
              <a:t>问题）</a:t>
            </a:r>
            <a:endParaRPr lang="en-US" altLang="zh-CN" sz="1800" b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D73170-6440-7149-9B4E-AF5C50862F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C957B-F40F-544C-9BF2-050CA0D12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97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3FFAD-3494-E74C-81C0-B185F3E6F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363272" cy="90044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操作系统在多处理器多核环境下面临的问题</a:t>
            </a:r>
            <a:endParaRPr lang="en-C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E65FFF-7865-F74D-AA15-D795F7BF7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517" y="2641476"/>
            <a:ext cx="3672409" cy="2160240"/>
          </a:xfrm>
        </p:spPr>
        <p:txBody>
          <a:bodyPr>
            <a:normAutofit/>
          </a:bodyPr>
          <a:lstStyle/>
          <a:p>
            <a:r>
              <a:rPr lang="zh-CN" altLang="en-US" sz="2000" b="0" dirty="0"/>
              <a:t>对共享资源的竞争导致错误</a:t>
            </a:r>
            <a:endParaRPr lang="en-US" altLang="zh-CN" sz="2000" b="0" dirty="0"/>
          </a:p>
          <a:p>
            <a:r>
              <a:rPr lang="zh-CN" altLang="en-US" sz="2000" b="0" dirty="0"/>
              <a:t>操作系统提供</a:t>
            </a:r>
            <a:r>
              <a:rPr lang="zh-CN" altLang="en-US" sz="2000" dirty="0"/>
              <a:t>同步原语</a:t>
            </a:r>
            <a:r>
              <a:rPr lang="zh-CN" altLang="en-US" sz="2000" b="0" dirty="0"/>
              <a:t>供开发者使用</a:t>
            </a:r>
            <a:endParaRPr lang="en-US" altLang="zh-CN" sz="2000" b="0" dirty="0"/>
          </a:p>
          <a:p>
            <a:r>
              <a:rPr lang="zh-CN" altLang="en-US" sz="2000" b="0" dirty="0"/>
              <a:t>使用同步原语带来新的问题</a:t>
            </a:r>
            <a:endParaRPr lang="en-US" altLang="zh-CN" sz="2000" b="0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AF37DF1-452B-6145-8B5F-C961F2000E95}"/>
              </a:ext>
            </a:extLst>
          </p:cNvPr>
          <p:cNvSpPr txBox="1">
            <a:spLocks/>
          </p:cNvSpPr>
          <p:nvPr/>
        </p:nvSpPr>
        <p:spPr>
          <a:xfrm>
            <a:off x="1187622" y="1762187"/>
            <a:ext cx="2654201" cy="592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2000"/>
              <a:t>正确性保证</a:t>
            </a:r>
            <a:endParaRPr lang="en-US" altLang="zh-CN" sz="200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3C29F463-E7D2-544B-8C36-0B6171417CBB}"/>
              </a:ext>
            </a:extLst>
          </p:cNvPr>
          <p:cNvSpPr txBox="1">
            <a:spLocks/>
          </p:cNvSpPr>
          <p:nvPr/>
        </p:nvSpPr>
        <p:spPr>
          <a:xfrm>
            <a:off x="5226099" y="1762187"/>
            <a:ext cx="2654201" cy="592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2000">
                <a:solidFill>
                  <a:schemeClr val="bg2">
                    <a:lumMod val="75000"/>
                  </a:schemeClr>
                </a:solidFill>
              </a:rPr>
              <a:t>性能保证</a:t>
            </a:r>
            <a:endParaRPr lang="en-US" altLang="zh-CN" sz="20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A00B1C9A-DB21-7443-9249-7B45A91677E7}"/>
              </a:ext>
            </a:extLst>
          </p:cNvPr>
          <p:cNvSpPr txBox="1">
            <a:spLocks/>
          </p:cNvSpPr>
          <p:nvPr/>
        </p:nvSpPr>
        <p:spPr>
          <a:xfrm>
            <a:off x="4860032" y="2641476"/>
            <a:ext cx="3826768" cy="187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0">
                <a:solidFill>
                  <a:schemeClr val="bg2">
                    <a:lumMod val="75000"/>
                  </a:schemeClr>
                </a:solidFill>
              </a:rPr>
              <a:t>多核多处理器硬件与特性</a:t>
            </a:r>
            <a:endParaRPr lang="en-US" altLang="zh-CN" sz="2000" b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CN" altLang="en-US" sz="2000" b="0">
                <a:solidFill>
                  <a:schemeClr val="bg2">
                    <a:lumMod val="75000"/>
                  </a:schemeClr>
                </a:solidFill>
              </a:rPr>
              <a:t>可扩展性问题导致性能断崖</a:t>
            </a:r>
            <a:endParaRPr lang="en-US" altLang="zh-CN" sz="2000" b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CN" altLang="en-US" sz="2000" b="0">
                <a:solidFill>
                  <a:schemeClr val="bg2">
                    <a:lumMod val="75000"/>
                  </a:schemeClr>
                </a:solidFill>
              </a:rPr>
              <a:t>系统软件设计如何利用硬件特性</a:t>
            </a:r>
            <a:endParaRPr lang="en-US" altLang="zh-CN" sz="2000" b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F782BE-448B-A64F-A7A0-B50D114A4D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98E84-116E-A046-92B0-EFE81A33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749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10F937E5-8682-944E-A25C-2A9EA512A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3672418"/>
            <a:ext cx="7964487" cy="1135062"/>
          </a:xfrm>
        </p:spPr>
        <p:txBody>
          <a:bodyPr>
            <a:noAutofit/>
          </a:bodyPr>
          <a:lstStyle/>
          <a:p>
            <a:r>
              <a:rPr kumimoji="1" lang="zh-CN" altLang="en-US" sz="3200" dirty="0"/>
              <a:t>生产者消费者问题，竞争条件，临界区问题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5B65C5-675B-A041-8655-D4BEB7DE0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779625-77B4-2847-9CFF-16E65D68EF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2852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377D33D-A78D-1349-B1DC-0C17DB2E6BF7}"/>
              </a:ext>
            </a:extLst>
          </p:cNvPr>
          <p:cNvSpPr txBox="1">
            <a:spLocks/>
          </p:cNvSpPr>
          <p:nvPr/>
        </p:nvSpPr>
        <p:spPr>
          <a:xfrm>
            <a:off x="539552" y="4272386"/>
            <a:ext cx="7704856" cy="1102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6DED5-9A2D-1B43-9EFA-F6CA5A90D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28" name="Content Placeholder 5">
            <a:extLst>
              <a:ext uri="{FF2B5EF4-FFF2-40B4-BE49-F238E27FC236}">
                <a16:creationId xmlns:a16="http://schemas.microsoft.com/office/drawing/2014/main" id="{0888B2BD-5285-E44A-B3B7-8C4BD53C7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817" y="1898363"/>
            <a:ext cx="3600400" cy="2307153"/>
          </a:xfr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2E40AD2-C323-B848-96C6-BE99FE87F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657" y="2685518"/>
            <a:ext cx="547797" cy="5477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70D184-71A1-A34D-8DB8-9129DF508C6D}"/>
              </a:ext>
            </a:extLst>
          </p:cNvPr>
          <p:cNvSpPr/>
          <p:nvPr/>
        </p:nvSpPr>
        <p:spPr>
          <a:xfrm>
            <a:off x="5026947" y="27627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" pitchFamily="2" charset="0"/>
              </a:rPr>
              <a:t>1</a:t>
            </a:r>
            <a:endParaRPr lang="en-CN" b="1">
              <a:solidFill>
                <a:schemeClr val="bg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B5C3E41-D762-DB49-A573-56861C9DF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/>
              <a:t>生产者消费者问题</a:t>
            </a:r>
            <a:endParaRPr lang="en-C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ABD95C-0DBD-DB42-A11F-857E1CD43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13" name="图片 5">
            <a:extLst>
              <a:ext uri="{FF2B5EF4-FFF2-40B4-BE49-F238E27FC236}">
                <a16:creationId xmlns:a16="http://schemas.microsoft.com/office/drawing/2014/main" id="{199ACD88-650E-4F40-B102-8D7DF63CD4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209" y="1105987"/>
            <a:ext cx="720321" cy="720321"/>
          </a:xfrm>
          <a:prstGeom prst="rect">
            <a:avLst/>
          </a:prstGeom>
        </p:spPr>
      </p:pic>
      <p:pic>
        <p:nvPicPr>
          <p:cNvPr id="14" name="Picture 13" descr="A picture containing drawing, table&#10;&#10;Description automatically generated">
            <a:extLst>
              <a:ext uri="{FF2B5EF4-FFF2-40B4-BE49-F238E27FC236}">
                <a16:creationId xmlns:a16="http://schemas.microsoft.com/office/drawing/2014/main" id="{D818AFD1-BB13-AA4B-8EAA-2D00401869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4165396"/>
            <a:ext cx="847713" cy="104305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BE93B64-C5B0-4C4E-BC7D-6977FF580432}"/>
              </a:ext>
            </a:extLst>
          </p:cNvPr>
          <p:cNvSpPr/>
          <p:nvPr/>
        </p:nvSpPr>
        <p:spPr>
          <a:xfrm>
            <a:off x="6185315" y="125794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快递员</a:t>
            </a:r>
            <a:endParaRPr lang="en-CN" b="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3EC32D-0071-F246-A00F-33E909473CC7}"/>
              </a:ext>
            </a:extLst>
          </p:cNvPr>
          <p:cNvSpPr/>
          <p:nvPr/>
        </p:nvSpPr>
        <p:spPr>
          <a:xfrm flipH="1">
            <a:off x="1259633" y="4585692"/>
            <a:ext cx="13247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/>
              <a:t>小明</a:t>
            </a:r>
            <a:endParaRPr lang="en-CN" b="1"/>
          </a:p>
        </p:txBody>
      </p:sp>
      <p:pic>
        <p:nvPicPr>
          <p:cNvPr id="18" name="图片 5">
            <a:extLst>
              <a:ext uri="{FF2B5EF4-FFF2-40B4-BE49-F238E27FC236}">
                <a16:creationId xmlns:a16="http://schemas.microsoft.com/office/drawing/2014/main" id="{1C9CD45A-DA8B-614A-A913-39EBC8DB8D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610" y="4248852"/>
            <a:ext cx="720321" cy="72032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967E7C5-D903-9540-92B4-C6EC3330B395}"/>
              </a:ext>
            </a:extLst>
          </p:cNvPr>
          <p:cNvSpPr/>
          <p:nvPr/>
        </p:nvSpPr>
        <p:spPr>
          <a:xfrm>
            <a:off x="6211716" y="4400813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快递员</a:t>
            </a:r>
            <a:endParaRPr lang="en-CN" b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604060-8ABD-8048-BC7B-D9DA9176BF7C}"/>
              </a:ext>
            </a:extLst>
          </p:cNvPr>
          <p:cNvSpPr/>
          <p:nvPr/>
        </p:nvSpPr>
        <p:spPr>
          <a:xfrm>
            <a:off x="6617159" y="2651856"/>
            <a:ext cx="18550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/>
              <a:t>多个快递员向快递点放快递</a:t>
            </a:r>
            <a:endParaRPr lang="en-CN" b="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40C299-2011-BF46-B670-C7A8B26EBEED}"/>
              </a:ext>
            </a:extLst>
          </p:cNvPr>
          <p:cNvSpPr/>
          <p:nvPr/>
        </p:nvSpPr>
        <p:spPr>
          <a:xfrm>
            <a:off x="569126" y="3529451"/>
            <a:ext cx="13810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/>
              <a:t>小明从快递点拿快递</a:t>
            </a:r>
            <a:endParaRPr lang="en-CN" b="1"/>
          </a:p>
        </p:txBody>
      </p:sp>
      <p:pic>
        <p:nvPicPr>
          <p:cNvPr id="22" name="图片 7">
            <a:extLst>
              <a:ext uri="{FF2B5EF4-FFF2-40B4-BE49-F238E27FC236}">
                <a16:creationId xmlns:a16="http://schemas.microsoft.com/office/drawing/2014/main" id="{EBB2BC16-AE34-4347-8545-CBC8207CE7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859" y="1369780"/>
            <a:ext cx="1369132" cy="136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310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377D33D-A78D-1349-B1DC-0C17DB2E6BF7}"/>
              </a:ext>
            </a:extLst>
          </p:cNvPr>
          <p:cNvSpPr txBox="1">
            <a:spLocks/>
          </p:cNvSpPr>
          <p:nvPr/>
        </p:nvSpPr>
        <p:spPr>
          <a:xfrm>
            <a:off x="539552" y="4272386"/>
            <a:ext cx="7704856" cy="1102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6DED5-9A2D-1B43-9EFA-F6CA5A90D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28" name="Content Placeholder 5">
            <a:extLst>
              <a:ext uri="{FF2B5EF4-FFF2-40B4-BE49-F238E27FC236}">
                <a16:creationId xmlns:a16="http://schemas.microsoft.com/office/drawing/2014/main" id="{0888B2BD-5285-E44A-B3B7-8C4BD53C7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703923"/>
            <a:ext cx="3600400" cy="2307153"/>
          </a:xfr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2E40AD2-C323-B848-96C6-BE99FE87F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352" y="2491078"/>
            <a:ext cx="547797" cy="5477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70D184-71A1-A34D-8DB8-9129DF508C6D}"/>
              </a:ext>
            </a:extLst>
          </p:cNvPr>
          <p:cNvSpPr/>
          <p:nvPr/>
        </p:nvSpPr>
        <p:spPr>
          <a:xfrm>
            <a:off x="2652642" y="256835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" pitchFamily="2" charset="0"/>
              </a:rPr>
              <a:t>1</a:t>
            </a:r>
            <a:endParaRPr lang="en-CN" b="1">
              <a:solidFill>
                <a:schemeClr val="bg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B5C3E41-D762-DB49-A573-56861C9DF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/>
              <a:t>生产者放入有限缓冲区</a:t>
            </a:r>
            <a:endParaRPr lang="en-C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ABD95C-0DBD-DB42-A11F-857E1CD43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F9B302-61D0-CB45-8343-1B86695541DF}"/>
              </a:ext>
            </a:extLst>
          </p:cNvPr>
          <p:cNvSpPr/>
          <p:nvPr/>
        </p:nvSpPr>
        <p:spPr>
          <a:xfrm>
            <a:off x="3923928" y="1472314"/>
            <a:ext cx="518457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volatile int buffer_write_cnt = 0;</a:t>
            </a:r>
          </a:p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volatile int buffer_read_cnt = 0;</a:t>
            </a:r>
          </a:p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int buffer[5];</a:t>
            </a:r>
          </a:p>
          <a:p>
            <a:endParaRPr lang="en-US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void </a:t>
            </a:r>
            <a:r>
              <a:rPr lang="en-US">
                <a:solidFill>
                  <a:srgbClr val="FF0000"/>
                </a:solidFill>
                <a:latin typeface="Menlo" panose="020B0609030804020204" pitchFamily="49" charset="0"/>
              </a:rPr>
              <a:t>buffer_add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(int msg)</a:t>
            </a:r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buffer[buffer_write_cnt] = msg;</a:t>
            </a:r>
          </a:p>
          <a:p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buffer_write_cnt = </a:t>
            </a:r>
          </a:p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	(buffer_write_cnt + 1) </a:t>
            </a:r>
            <a:r>
              <a:rPr lang="en-US" b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% 5;</a:t>
            </a:r>
            <a:endParaRPr lang="en-US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10F7EF-B17C-6B49-989A-3F6519BC5E6A}"/>
              </a:ext>
            </a:extLst>
          </p:cNvPr>
          <p:cNvSpPr/>
          <p:nvPr/>
        </p:nvSpPr>
        <p:spPr>
          <a:xfrm>
            <a:off x="2919149" y="4545075"/>
            <a:ext cx="36279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此时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buffer_write_cnt</a:t>
            </a:r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altLang="zh-CN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altLang="zh-CN">
                <a:solidFill>
                  <a:srgbClr val="000000"/>
                </a:solidFill>
                <a:latin typeface="Menlo" panose="020B0609030804020204" pitchFamily="49" charset="0"/>
              </a:rPr>
              <a:t>3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48776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377D33D-A78D-1349-B1DC-0C17DB2E6BF7}"/>
              </a:ext>
            </a:extLst>
          </p:cNvPr>
          <p:cNvSpPr txBox="1">
            <a:spLocks/>
          </p:cNvSpPr>
          <p:nvPr/>
        </p:nvSpPr>
        <p:spPr>
          <a:xfrm>
            <a:off x="539552" y="4272386"/>
            <a:ext cx="7704856" cy="1102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6DED5-9A2D-1B43-9EFA-F6CA5A90D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28" name="Content Placeholder 5">
            <a:extLst>
              <a:ext uri="{FF2B5EF4-FFF2-40B4-BE49-F238E27FC236}">
                <a16:creationId xmlns:a16="http://schemas.microsoft.com/office/drawing/2014/main" id="{0888B2BD-5285-E44A-B3B7-8C4BD53C7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965233"/>
            <a:ext cx="3600400" cy="2307153"/>
          </a:xfr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2E40AD2-C323-B848-96C6-BE99FE87F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352" y="2752388"/>
            <a:ext cx="547797" cy="5477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70D184-71A1-A34D-8DB8-9129DF508C6D}"/>
              </a:ext>
            </a:extLst>
          </p:cNvPr>
          <p:cNvSpPr/>
          <p:nvPr/>
        </p:nvSpPr>
        <p:spPr>
          <a:xfrm>
            <a:off x="2652642" y="282966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" pitchFamily="2" charset="0"/>
              </a:rPr>
              <a:t>1</a:t>
            </a:r>
            <a:endParaRPr lang="en-CN" b="1">
              <a:solidFill>
                <a:schemeClr val="bg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B5C3E41-D762-DB49-A573-56861C9DF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/>
              <a:t>消费者从有限缓冲区拿取</a:t>
            </a:r>
            <a:endParaRPr lang="en-C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ABD95C-0DBD-DB42-A11F-857E1CD43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F9B302-61D0-CB45-8343-1B86695541DF}"/>
              </a:ext>
            </a:extLst>
          </p:cNvPr>
          <p:cNvSpPr/>
          <p:nvPr/>
        </p:nvSpPr>
        <p:spPr>
          <a:xfrm>
            <a:off x="4041502" y="1612209"/>
            <a:ext cx="537429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volatile int buffer_write_cnt = 0;</a:t>
            </a:r>
          </a:p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volatile int buffer_read_cnt = 0;</a:t>
            </a:r>
          </a:p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int buffer[5];</a:t>
            </a:r>
          </a:p>
          <a:p>
            <a:endParaRPr lang="en-US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int </a:t>
            </a:r>
            <a:r>
              <a:rPr lang="en-US">
                <a:solidFill>
                  <a:srgbClr val="FF0000"/>
                </a:solidFill>
                <a:latin typeface="Menlo" panose="020B0609030804020204" pitchFamily="49" charset="0"/>
              </a:rPr>
              <a:t>buffer_remov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e(void)</a:t>
            </a:r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int ret = buffer[buffer_read_cnt];</a:t>
            </a:r>
          </a:p>
          <a:p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buffer_read_cnt = </a:t>
            </a:r>
          </a:p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	(buffer_read_cnt + 1) </a:t>
            </a:r>
            <a:r>
              <a:rPr lang="en-US">
                <a:solidFill>
                  <a:srgbClr val="008000"/>
                </a:solidFill>
                <a:latin typeface="Menlo" panose="020B0609030804020204" pitchFamily="49" charset="0"/>
              </a:rPr>
              <a:t>% 5;</a:t>
            </a:r>
            <a:endParaRPr lang="en-US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return ret;</a:t>
            </a:r>
          </a:p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CC50A7-04D4-1841-8DB7-2C8221953751}"/>
              </a:ext>
            </a:extLst>
          </p:cNvPr>
          <p:cNvSpPr/>
          <p:nvPr/>
        </p:nvSpPr>
        <p:spPr>
          <a:xfrm>
            <a:off x="1973661" y="4701190"/>
            <a:ext cx="35637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此时 </a:t>
            </a:r>
            <a:r>
              <a:rPr lang="zh-CN" altLang="en-US" b="1"/>
              <a:t>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buffer_read_cnt</a:t>
            </a:r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altLang="zh-CN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altLang="zh-CN">
                <a:solidFill>
                  <a:srgbClr val="000000"/>
                </a:solidFill>
                <a:latin typeface="Menlo" panose="020B0609030804020204" pitchFamily="49" charset="0"/>
              </a:rPr>
              <a:t>1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85137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377D33D-A78D-1349-B1DC-0C17DB2E6BF7}"/>
              </a:ext>
            </a:extLst>
          </p:cNvPr>
          <p:cNvSpPr txBox="1">
            <a:spLocks/>
          </p:cNvSpPr>
          <p:nvPr/>
        </p:nvSpPr>
        <p:spPr>
          <a:xfrm>
            <a:off x="539552" y="4272386"/>
            <a:ext cx="7704856" cy="1102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6DED5-9A2D-1B43-9EFA-F6CA5A90D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28" name="Content Placeholder 5">
            <a:extLst>
              <a:ext uri="{FF2B5EF4-FFF2-40B4-BE49-F238E27FC236}">
                <a16:creationId xmlns:a16="http://schemas.microsoft.com/office/drawing/2014/main" id="{0888B2BD-5285-E44A-B3B7-8C4BD53C7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77" y="2363071"/>
            <a:ext cx="3600400" cy="2307153"/>
          </a:xfr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2E40AD2-C323-B848-96C6-BE99FE87F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817" y="3150226"/>
            <a:ext cx="547797" cy="5477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70D184-71A1-A34D-8DB8-9129DF508C6D}"/>
              </a:ext>
            </a:extLst>
          </p:cNvPr>
          <p:cNvSpPr/>
          <p:nvPr/>
        </p:nvSpPr>
        <p:spPr>
          <a:xfrm>
            <a:off x="2835107" y="3227502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" pitchFamily="2" charset="0"/>
              </a:rPr>
              <a:t>1</a:t>
            </a:r>
            <a:endParaRPr lang="en-CN" b="1">
              <a:solidFill>
                <a:schemeClr val="bg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B5C3E41-D762-DB49-A573-56861C9DF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/>
              <a:t>生产者消费者问题</a:t>
            </a:r>
            <a:endParaRPr lang="en-C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ABD95C-0DBD-DB42-A11F-857E1CD43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A0433D-85A6-284C-8468-CA85EDE34E95}"/>
              </a:ext>
            </a:extLst>
          </p:cNvPr>
          <p:cNvSpPr/>
          <p:nvPr/>
        </p:nvSpPr>
        <p:spPr>
          <a:xfrm>
            <a:off x="5436096" y="495645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考虑这样一个</a:t>
            </a:r>
            <a:r>
              <a:rPr lang="zh-CN" altLang="en-US" b="1"/>
              <a:t>执行流程</a:t>
            </a:r>
            <a:endParaRPr lang="en-CN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6EE58A-2E45-4C4A-A84C-BD413ECE517A}"/>
              </a:ext>
            </a:extLst>
          </p:cNvPr>
          <p:cNvSpPr/>
          <p:nvPr/>
        </p:nvSpPr>
        <p:spPr>
          <a:xfrm>
            <a:off x="6815775" y="858438"/>
            <a:ext cx="18710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*其他流程也是可能的</a:t>
            </a:r>
            <a:endParaRPr lang="en-CN" sz="1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14FD1F-B050-9748-94B1-BB2B479BEE52}"/>
              </a:ext>
            </a:extLst>
          </p:cNvPr>
          <p:cNvSpPr/>
          <p:nvPr/>
        </p:nvSpPr>
        <p:spPr>
          <a:xfrm>
            <a:off x="3807376" y="1598202"/>
            <a:ext cx="60167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void </a:t>
            </a:r>
            <a:r>
              <a:rPr lang="en-US">
                <a:solidFill>
                  <a:srgbClr val="FF0000"/>
                </a:solidFill>
                <a:latin typeface="Menlo" panose="020B0609030804020204" pitchFamily="49" charset="0"/>
              </a:rPr>
              <a:t>buffer_add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(int msg)</a:t>
            </a:r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buffer[buffer_write_cnt] = msg;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726055-2C57-8140-8045-027C0E56B62A}"/>
              </a:ext>
            </a:extLst>
          </p:cNvPr>
          <p:cNvSpPr/>
          <p:nvPr/>
        </p:nvSpPr>
        <p:spPr>
          <a:xfrm>
            <a:off x="3962377" y="3742027"/>
            <a:ext cx="60167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void </a:t>
            </a:r>
            <a:r>
              <a:rPr lang="en-US">
                <a:solidFill>
                  <a:srgbClr val="FF0000"/>
                </a:solidFill>
                <a:latin typeface="Menlo" panose="020B0609030804020204" pitchFamily="49" charset="0"/>
              </a:rPr>
              <a:t>buffer_add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(int msg)</a:t>
            </a:r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BE11D6-74A4-D04D-ADB8-CB1557BDF91E}"/>
              </a:ext>
            </a:extLst>
          </p:cNvPr>
          <p:cNvSpPr/>
          <p:nvPr/>
        </p:nvSpPr>
        <p:spPr>
          <a:xfrm>
            <a:off x="3331496" y="1561523"/>
            <a:ext cx="463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P1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D6B4D6-F9D7-5B49-A4C9-1B8CB0E3B8C1}"/>
              </a:ext>
            </a:extLst>
          </p:cNvPr>
          <p:cNvSpPr/>
          <p:nvPr/>
        </p:nvSpPr>
        <p:spPr>
          <a:xfrm>
            <a:off x="3331496" y="4114056"/>
            <a:ext cx="463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P2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CBC0A2-735E-4F42-9E09-3729F6566536}"/>
              </a:ext>
            </a:extLst>
          </p:cNvPr>
          <p:cNvSpPr/>
          <p:nvPr/>
        </p:nvSpPr>
        <p:spPr>
          <a:xfrm>
            <a:off x="589399" y="1160749"/>
            <a:ext cx="29738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Menlo" panose="020B0609030804020204" pitchFamily="49" charset="0"/>
              </a:rPr>
              <a:t>buffer_write_cnt = 3</a:t>
            </a:r>
            <a:endParaRPr lang="en-C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516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377D33D-A78D-1349-B1DC-0C17DB2E6BF7}"/>
              </a:ext>
            </a:extLst>
          </p:cNvPr>
          <p:cNvSpPr txBox="1">
            <a:spLocks/>
          </p:cNvSpPr>
          <p:nvPr/>
        </p:nvSpPr>
        <p:spPr>
          <a:xfrm>
            <a:off x="539552" y="4272386"/>
            <a:ext cx="7704856" cy="1102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6DED5-9A2D-1B43-9EFA-F6CA5A90D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28" name="Content Placeholder 5">
            <a:extLst>
              <a:ext uri="{FF2B5EF4-FFF2-40B4-BE49-F238E27FC236}">
                <a16:creationId xmlns:a16="http://schemas.microsoft.com/office/drawing/2014/main" id="{0888B2BD-5285-E44A-B3B7-8C4BD53C7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77" y="2363071"/>
            <a:ext cx="3600400" cy="2307153"/>
          </a:xfr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2E40AD2-C323-B848-96C6-BE99FE87F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817" y="3150226"/>
            <a:ext cx="547797" cy="5477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70D184-71A1-A34D-8DB8-9129DF508C6D}"/>
              </a:ext>
            </a:extLst>
          </p:cNvPr>
          <p:cNvSpPr/>
          <p:nvPr/>
        </p:nvSpPr>
        <p:spPr>
          <a:xfrm>
            <a:off x="2835107" y="3227502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" pitchFamily="2" charset="0"/>
              </a:rPr>
              <a:t>1</a:t>
            </a:r>
            <a:endParaRPr lang="en-CN" b="1">
              <a:solidFill>
                <a:schemeClr val="bg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B5C3E41-D762-DB49-A573-56861C9DF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/>
              <a:t>生产者消费者问题</a:t>
            </a:r>
            <a:endParaRPr lang="en-C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ABD95C-0DBD-DB42-A11F-857E1CD43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A0433D-85A6-284C-8468-CA85EDE34E95}"/>
              </a:ext>
            </a:extLst>
          </p:cNvPr>
          <p:cNvSpPr/>
          <p:nvPr/>
        </p:nvSpPr>
        <p:spPr>
          <a:xfrm>
            <a:off x="5436096" y="495645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考虑这样一个</a:t>
            </a:r>
            <a:r>
              <a:rPr lang="zh-CN" altLang="en-US" b="1"/>
              <a:t>执行流程</a:t>
            </a:r>
            <a:endParaRPr lang="en-CN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6EE58A-2E45-4C4A-A84C-BD413ECE517A}"/>
              </a:ext>
            </a:extLst>
          </p:cNvPr>
          <p:cNvSpPr/>
          <p:nvPr/>
        </p:nvSpPr>
        <p:spPr>
          <a:xfrm>
            <a:off x="6815775" y="858438"/>
            <a:ext cx="18710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*其他流程也是可能的</a:t>
            </a:r>
            <a:endParaRPr lang="en-CN" sz="1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14FD1F-B050-9748-94B1-BB2B479BEE52}"/>
              </a:ext>
            </a:extLst>
          </p:cNvPr>
          <p:cNvSpPr/>
          <p:nvPr/>
        </p:nvSpPr>
        <p:spPr>
          <a:xfrm>
            <a:off x="3807376" y="1598202"/>
            <a:ext cx="60167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void </a:t>
            </a:r>
            <a:r>
              <a:rPr lang="en-US">
                <a:solidFill>
                  <a:srgbClr val="FF0000"/>
                </a:solidFill>
                <a:latin typeface="Menlo" panose="020B0609030804020204" pitchFamily="49" charset="0"/>
              </a:rPr>
              <a:t>buffer_add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(int msg)</a:t>
            </a:r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buffer[buffer_write_cnt] = msg;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726055-2C57-8140-8045-027C0E56B62A}"/>
              </a:ext>
            </a:extLst>
          </p:cNvPr>
          <p:cNvSpPr/>
          <p:nvPr/>
        </p:nvSpPr>
        <p:spPr>
          <a:xfrm>
            <a:off x="3962377" y="3742027"/>
            <a:ext cx="60167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void </a:t>
            </a:r>
            <a:r>
              <a:rPr lang="en-US">
                <a:solidFill>
                  <a:srgbClr val="FF0000"/>
                </a:solidFill>
                <a:latin typeface="Menlo" panose="020B0609030804020204" pitchFamily="49" charset="0"/>
              </a:rPr>
              <a:t>buffer_add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(int msg)</a:t>
            </a:r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buffer[buffer_write_cnt] = msg;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BE11D6-74A4-D04D-ADB8-CB1557BDF91E}"/>
              </a:ext>
            </a:extLst>
          </p:cNvPr>
          <p:cNvSpPr/>
          <p:nvPr/>
        </p:nvSpPr>
        <p:spPr>
          <a:xfrm>
            <a:off x="3331496" y="1561523"/>
            <a:ext cx="463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P1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D6B4D6-F9D7-5B49-A4C9-1B8CB0E3B8C1}"/>
              </a:ext>
            </a:extLst>
          </p:cNvPr>
          <p:cNvSpPr/>
          <p:nvPr/>
        </p:nvSpPr>
        <p:spPr>
          <a:xfrm>
            <a:off x="3331496" y="4114056"/>
            <a:ext cx="463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P2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CBC0A2-735E-4F42-9E09-3729F6566536}"/>
              </a:ext>
            </a:extLst>
          </p:cNvPr>
          <p:cNvSpPr/>
          <p:nvPr/>
        </p:nvSpPr>
        <p:spPr>
          <a:xfrm>
            <a:off x="589399" y="1160749"/>
            <a:ext cx="29738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Menlo" panose="020B0609030804020204" pitchFamily="49" charset="0"/>
              </a:rPr>
              <a:t>buffer_write_cnt = 3</a:t>
            </a:r>
            <a:endParaRPr lang="en-CN">
              <a:solidFill>
                <a:srgbClr val="FF0000"/>
              </a:solidFill>
            </a:endParaRPr>
          </a:p>
        </p:txBody>
      </p:sp>
      <p:pic>
        <p:nvPicPr>
          <p:cNvPr id="20" name="图片 10">
            <a:extLst>
              <a:ext uri="{FF2B5EF4-FFF2-40B4-BE49-F238E27FC236}">
                <a16:creationId xmlns:a16="http://schemas.microsoft.com/office/drawing/2014/main" id="{51439180-71CD-214A-B3E6-3EDA91E752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217" y="3302626"/>
            <a:ext cx="547797" cy="54779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2D06DC3-8A3D-944E-8742-DEBB62596DD0}"/>
              </a:ext>
            </a:extLst>
          </p:cNvPr>
          <p:cNvSpPr/>
          <p:nvPr/>
        </p:nvSpPr>
        <p:spPr>
          <a:xfrm>
            <a:off x="2987507" y="3379902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" pitchFamily="2" charset="0"/>
              </a:rPr>
              <a:t>2</a:t>
            </a:r>
            <a:endParaRPr lang="en-CN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001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377D33D-A78D-1349-B1DC-0C17DB2E6BF7}"/>
              </a:ext>
            </a:extLst>
          </p:cNvPr>
          <p:cNvSpPr txBox="1">
            <a:spLocks/>
          </p:cNvSpPr>
          <p:nvPr/>
        </p:nvSpPr>
        <p:spPr>
          <a:xfrm>
            <a:off x="539552" y="4272386"/>
            <a:ext cx="7704856" cy="1102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6DED5-9A2D-1B43-9EFA-F6CA5A90D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28" name="Content Placeholder 5">
            <a:extLst>
              <a:ext uri="{FF2B5EF4-FFF2-40B4-BE49-F238E27FC236}">
                <a16:creationId xmlns:a16="http://schemas.microsoft.com/office/drawing/2014/main" id="{0888B2BD-5285-E44A-B3B7-8C4BD53C7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77" y="2363071"/>
            <a:ext cx="3600400" cy="2307153"/>
          </a:xfr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2E40AD2-C323-B848-96C6-BE99FE87F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817" y="3150226"/>
            <a:ext cx="547797" cy="5477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70D184-71A1-A34D-8DB8-9129DF508C6D}"/>
              </a:ext>
            </a:extLst>
          </p:cNvPr>
          <p:cNvSpPr/>
          <p:nvPr/>
        </p:nvSpPr>
        <p:spPr>
          <a:xfrm>
            <a:off x="2835107" y="3227502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" pitchFamily="2" charset="0"/>
              </a:rPr>
              <a:t>1</a:t>
            </a:r>
            <a:endParaRPr lang="en-CN" b="1">
              <a:solidFill>
                <a:schemeClr val="bg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B5C3E41-D762-DB49-A573-56861C9DF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/>
              <a:t>生产者消费者问题</a:t>
            </a:r>
            <a:endParaRPr lang="en-C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ABD95C-0DBD-DB42-A11F-857E1CD43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A0433D-85A6-284C-8468-CA85EDE34E95}"/>
              </a:ext>
            </a:extLst>
          </p:cNvPr>
          <p:cNvSpPr/>
          <p:nvPr/>
        </p:nvSpPr>
        <p:spPr>
          <a:xfrm>
            <a:off x="5436096" y="495645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考虑这样一个</a:t>
            </a:r>
            <a:r>
              <a:rPr lang="zh-CN" altLang="en-US" b="1"/>
              <a:t>执行流程</a:t>
            </a:r>
            <a:endParaRPr lang="en-CN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6EE58A-2E45-4C4A-A84C-BD413ECE517A}"/>
              </a:ext>
            </a:extLst>
          </p:cNvPr>
          <p:cNvSpPr/>
          <p:nvPr/>
        </p:nvSpPr>
        <p:spPr>
          <a:xfrm>
            <a:off x="6815775" y="858438"/>
            <a:ext cx="18710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*其他流程也是可能的</a:t>
            </a:r>
            <a:endParaRPr lang="en-CN" sz="1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14FD1F-B050-9748-94B1-BB2B479BEE52}"/>
              </a:ext>
            </a:extLst>
          </p:cNvPr>
          <p:cNvSpPr/>
          <p:nvPr/>
        </p:nvSpPr>
        <p:spPr>
          <a:xfrm>
            <a:off x="3807376" y="1598202"/>
            <a:ext cx="60167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void </a:t>
            </a:r>
            <a:r>
              <a:rPr lang="en-US">
                <a:solidFill>
                  <a:srgbClr val="FF0000"/>
                </a:solidFill>
                <a:latin typeface="Menlo" panose="020B0609030804020204" pitchFamily="49" charset="0"/>
              </a:rPr>
              <a:t>buffer_add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(int msg)</a:t>
            </a:r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buffer[buffer_write_cnt] = msg;</a:t>
            </a:r>
          </a:p>
          <a:p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buffer_write_cnt = </a:t>
            </a:r>
          </a:p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	(buffer_write_cnt + 1) </a:t>
            </a:r>
            <a:r>
              <a:rPr lang="en-US">
                <a:solidFill>
                  <a:srgbClr val="008000"/>
                </a:solidFill>
                <a:latin typeface="Menlo" panose="020B0609030804020204" pitchFamily="49" charset="0"/>
              </a:rPr>
              <a:t>% 5;</a:t>
            </a:r>
            <a:endParaRPr lang="en-US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726055-2C57-8140-8045-027C0E56B62A}"/>
              </a:ext>
            </a:extLst>
          </p:cNvPr>
          <p:cNvSpPr/>
          <p:nvPr/>
        </p:nvSpPr>
        <p:spPr>
          <a:xfrm>
            <a:off x="3962377" y="3742027"/>
            <a:ext cx="60167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void </a:t>
            </a:r>
            <a:r>
              <a:rPr lang="en-US">
                <a:solidFill>
                  <a:srgbClr val="FF0000"/>
                </a:solidFill>
                <a:latin typeface="Menlo" panose="020B0609030804020204" pitchFamily="49" charset="0"/>
              </a:rPr>
              <a:t>buffer_add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(int msg)</a:t>
            </a:r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buffer[buffer_write_cnt] = msg;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BE11D6-74A4-D04D-ADB8-CB1557BDF91E}"/>
              </a:ext>
            </a:extLst>
          </p:cNvPr>
          <p:cNvSpPr/>
          <p:nvPr/>
        </p:nvSpPr>
        <p:spPr>
          <a:xfrm>
            <a:off x="3331496" y="1561523"/>
            <a:ext cx="463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P1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D6B4D6-F9D7-5B49-A4C9-1B8CB0E3B8C1}"/>
              </a:ext>
            </a:extLst>
          </p:cNvPr>
          <p:cNvSpPr/>
          <p:nvPr/>
        </p:nvSpPr>
        <p:spPr>
          <a:xfrm>
            <a:off x="3331496" y="4114056"/>
            <a:ext cx="463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P2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CBC0A2-735E-4F42-9E09-3729F6566536}"/>
              </a:ext>
            </a:extLst>
          </p:cNvPr>
          <p:cNvSpPr/>
          <p:nvPr/>
        </p:nvSpPr>
        <p:spPr>
          <a:xfrm>
            <a:off x="589399" y="1160749"/>
            <a:ext cx="29738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Menlo" panose="020B0609030804020204" pitchFamily="49" charset="0"/>
              </a:rPr>
              <a:t>buffer_write_cnt = 4</a:t>
            </a:r>
            <a:endParaRPr lang="en-CN">
              <a:solidFill>
                <a:srgbClr val="FF0000"/>
              </a:solidFill>
            </a:endParaRPr>
          </a:p>
        </p:txBody>
      </p:sp>
      <p:pic>
        <p:nvPicPr>
          <p:cNvPr id="17" name="图片 10">
            <a:extLst>
              <a:ext uri="{FF2B5EF4-FFF2-40B4-BE49-F238E27FC236}">
                <a16:creationId xmlns:a16="http://schemas.microsoft.com/office/drawing/2014/main" id="{AE89A2FF-820F-A844-8321-E0551A7852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217" y="3302626"/>
            <a:ext cx="547797" cy="54779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029DBCB-2DB6-B241-8624-03360B054333}"/>
              </a:ext>
            </a:extLst>
          </p:cNvPr>
          <p:cNvSpPr/>
          <p:nvPr/>
        </p:nvSpPr>
        <p:spPr>
          <a:xfrm>
            <a:off x="2987507" y="3379902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" pitchFamily="2" charset="0"/>
              </a:rPr>
              <a:t>2</a:t>
            </a:r>
            <a:endParaRPr lang="en-CN" b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5E5776-3640-DD47-A00F-92C194C0D769}"/>
              </a:ext>
            </a:extLst>
          </p:cNvPr>
          <p:cNvSpPr/>
          <p:nvPr/>
        </p:nvSpPr>
        <p:spPr>
          <a:xfrm>
            <a:off x="251520" y="1952044"/>
            <a:ext cx="21985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/>
              <a:t>两个快递员同时选择</a:t>
            </a:r>
            <a:r>
              <a:rPr lang="en-US" altLang="zh-CN" b="1"/>
              <a:t>3</a:t>
            </a:r>
            <a:r>
              <a:rPr lang="zh-CN" altLang="en-US" b="1"/>
              <a:t>号位置放入快递，</a:t>
            </a:r>
            <a:endParaRPr lang="en-US" altLang="zh-CN" b="1"/>
          </a:p>
          <a:p>
            <a:r>
              <a:rPr lang="zh-CN" altLang="en-US" b="1"/>
              <a:t>快递被撞到地上</a:t>
            </a:r>
            <a:endParaRPr lang="en-CN" b="1"/>
          </a:p>
        </p:txBody>
      </p:sp>
    </p:spTree>
    <p:extLst>
      <p:ext uri="{BB962C8B-B14F-4D97-AF65-F5344CB8AC3E}">
        <p14:creationId xmlns:p14="http://schemas.microsoft.com/office/powerpoint/2010/main" val="3029312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竞争条件 </a:t>
            </a:r>
            <a:r>
              <a:rPr lang="en-US" altLang="zh-CN"/>
              <a:t>Race</a:t>
            </a:r>
            <a:r>
              <a:rPr lang="zh-CN" altLang="en-US"/>
              <a:t> </a:t>
            </a:r>
            <a:r>
              <a:rPr lang="en-US" altLang="zh-CN"/>
              <a:t>Condition</a:t>
            </a:r>
            <a:endParaRPr lang="en-C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7F46C99-194F-DC4A-B488-DAAFE03C27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542" y="1516316"/>
            <a:ext cx="3210947" cy="2057590"/>
          </a:xfrm>
        </p:spPr>
      </p:pic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377D33D-A78D-1349-B1DC-0C17DB2E6BF7}"/>
              </a:ext>
            </a:extLst>
          </p:cNvPr>
          <p:cNvSpPr txBox="1">
            <a:spLocks/>
          </p:cNvSpPr>
          <p:nvPr/>
        </p:nvSpPr>
        <p:spPr>
          <a:xfrm>
            <a:off x="539552" y="4272386"/>
            <a:ext cx="7704856" cy="1102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E470DCBA-6355-4843-B922-3011D46729BB}"/>
              </a:ext>
            </a:extLst>
          </p:cNvPr>
          <p:cNvSpPr txBox="1">
            <a:spLocks/>
          </p:cNvSpPr>
          <p:nvPr/>
        </p:nvSpPr>
        <p:spPr>
          <a:xfrm>
            <a:off x="395536" y="1050621"/>
            <a:ext cx="8640960" cy="510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zh-CN" altLang="en-US" sz="2000" b="0"/>
              <a:t>如何确保他们</a:t>
            </a:r>
            <a:r>
              <a:rPr lang="zh-CN" altLang="en-US" sz="2000"/>
              <a:t>不会</a:t>
            </a:r>
            <a:r>
              <a:rPr lang="zh-CN" altLang="en-US" sz="2000" b="0"/>
              <a:t>将新产生的数据放入到同一个缓冲区中，造成</a:t>
            </a:r>
            <a:r>
              <a:rPr lang="zh-CN" altLang="en-US" sz="2000"/>
              <a:t>数据覆盖</a:t>
            </a:r>
            <a:r>
              <a:rPr lang="zh-CN" altLang="en-US" sz="2000" b="0"/>
              <a:t>？</a:t>
            </a:r>
            <a:endParaRPr lang="en-US" altLang="zh-CN" sz="2000" b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0C30D858-A30E-0A44-8DCA-2BA5B33CF33D}"/>
              </a:ext>
            </a:extLst>
          </p:cNvPr>
          <p:cNvSpPr txBox="1">
            <a:spLocks/>
          </p:cNvSpPr>
          <p:nvPr/>
        </p:nvSpPr>
        <p:spPr>
          <a:xfrm>
            <a:off x="133658" y="3740630"/>
            <a:ext cx="6526574" cy="629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zh-CN" altLang="en-US" sz="2000" b="0"/>
              <a:t>此时产生了</a:t>
            </a:r>
            <a:r>
              <a:rPr lang="zh-CN" altLang="en-US" sz="2000"/>
              <a:t>竞争条件</a:t>
            </a:r>
            <a:r>
              <a:rPr lang="zh-CN" altLang="en-US" sz="2000" b="0"/>
              <a:t>（竞争冒险、竞态条件）：</a:t>
            </a:r>
            <a:endParaRPr lang="en-US" altLang="zh-CN" sz="2000" b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7F4AF531-AB3E-1B43-85E4-5B9E66AE57D0}"/>
              </a:ext>
            </a:extLst>
          </p:cNvPr>
          <p:cNvSpPr txBox="1">
            <a:spLocks/>
          </p:cNvSpPr>
          <p:nvPr/>
        </p:nvSpPr>
        <p:spPr>
          <a:xfrm>
            <a:off x="539552" y="4291774"/>
            <a:ext cx="7848872" cy="1144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0"/>
              <a:t>当多个进程同时对共享的数据进行操作</a:t>
            </a:r>
            <a:endParaRPr lang="en-US" altLang="zh-CN" sz="2000" b="0"/>
          </a:p>
          <a:p>
            <a:r>
              <a:rPr lang="zh-CN" altLang="en-US" sz="2000" b="0"/>
              <a:t>该共享数据最后的结果</a:t>
            </a:r>
            <a:r>
              <a:rPr lang="zh-CN" altLang="en-US" sz="2000"/>
              <a:t>依赖于这些进程特定的执行顺序</a:t>
            </a:r>
            <a:endParaRPr lang="en-US" altLang="zh-CN" sz="20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6DED5-9A2D-1B43-9EFA-F6CA5A90D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03445-94A8-B64D-95A7-540A45964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725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临界区</a:t>
            </a:r>
            <a:r>
              <a:rPr lang="zh-CN" altLang="en-US"/>
              <a:t>问题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795C87-CA7B-B44B-ADA7-043694E1F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91" y="1750030"/>
            <a:ext cx="2474242" cy="330619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565BB1-451C-3946-935C-BAA5B2A4FB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5DF7251B-1334-6D45-882B-D21797DC409A}"/>
              </a:ext>
            </a:extLst>
          </p:cNvPr>
          <p:cNvSpPr txBox="1">
            <a:spLocks/>
          </p:cNvSpPr>
          <p:nvPr/>
        </p:nvSpPr>
        <p:spPr>
          <a:xfrm>
            <a:off x="395536" y="1050621"/>
            <a:ext cx="8640960" cy="510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zh-CN" altLang="en-US" sz="2000" b="0"/>
              <a:t>如何确保他们</a:t>
            </a:r>
            <a:r>
              <a:rPr lang="zh-CN" altLang="en-US" sz="2000"/>
              <a:t>不会</a:t>
            </a:r>
            <a:r>
              <a:rPr lang="zh-CN" altLang="en-US" sz="2000" b="0"/>
              <a:t>将新产生的数据放入到同一个缓冲区中，造成</a:t>
            </a:r>
            <a:r>
              <a:rPr lang="zh-CN" altLang="en-US" sz="2000"/>
              <a:t>数据覆盖</a:t>
            </a:r>
            <a:r>
              <a:rPr lang="zh-CN" altLang="en-US" sz="2000" b="0"/>
              <a:t>？</a:t>
            </a:r>
            <a:endParaRPr lang="en-US" altLang="zh-CN" sz="2000" b="0"/>
          </a:p>
        </p:txBody>
      </p:sp>
      <p:pic>
        <p:nvPicPr>
          <p:cNvPr id="10" name="图片 7">
            <a:extLst>
              <a:ext uri="{FF2B5EF4-FFF2-40B4-BE49-F238E27FC236}">
                <a16:creationId xmlns:a16="http://schemas.microsoft.com/office/drawing/2014/main" id="{1008B3F0-AC9A-144C-B7B5-E5A1643185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1810906"/>
            <a:ext cx="1369132" cy="1369132"/>
          </a:xfrm>
          <a:prstGeom prst="rect">
            <a:avLst/>
          </a:prstGeom>
        </p:spPr>
      </p:pic>
      <p:sp>
        <p:nvSpPr>
          <p:cNvPr id="12" name="文本框 20">
            <a:extLst>
              <a:ext uri="{FF2B5EF4-FFF2-40B4-BE49-F238E27FC236}">
                <a16:creationId xmlns:a16="http://schemas.microsoft.com/office/drawing/2014/main" id="{1893202A-2F6E-2040-B67B-2B9825254646}"/>
              </a:ext>
            </a:extLst>
          </p:cNvPr>
          <p:cNvSpPr txBox="1"/>
          <p:nvPr/>
        </p:nvSpPr>
        <p:spPr>
          <a:xfrm>
            <a:off x="7165290" y="1736780"/>
            <a:ext cx="1570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给快递桌添加登记本</a:t>
            </a:r>
          </a:p>
        </p:txBody>
      </p:sp>
      <p:pic>
        <p:nvPicPr>
          <p:cNvPr id="13" name="图片 5">
            <a:extLst>
              <a:ext uri="{FF2B5EF4-FFF2-40B4-BE49-F238E27FC236}">
                <a16:creationId xmlns:a16="http://schemas.microsoft.com/office/drawing/2014/main" id="{327522AC-DEC7-2440-BC90-FF146DE515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243" y="3734793"/>
            <a:ext cx="720321" cy="720321"/>
          </a:xfrm>
          <a:prstGeom prst="rect">
            <a:avLst/>
          </a:prstGeom>
        </p:spPr>
      </p:pic>
      <p:pic>
        <p:nvPicPr>
          <p:cNvPr id="14" name="图片 5">
            <a:extLst>
              <a:ext uri="{FF2B5EF4-FFF2-40B4-BE49-F238E27FC236}">
                <a16:creationId xmlns:a16="http://schemas.microsoft.com/office/drawing/2014/main" id="{308CA8B4-2EE6-DA4B-A049-DFEC9DB246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7678" y="3534637"/>
            <a:ext cx="720321" cy="72032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13FC12C8-1AFF-804C-B3D6-17DDCE71457E}"/>
              </a:ext>
            </a:extLst>
          </p:cNvPr>
          <p:cNvSpPr/>
          <p:nvPr/>
        </p:nvSpPr>
        <p:spPr>
          <a:xfrm>
            <a:off x="134425" y="2958660"/>
            <a:ext cx="11721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/>
              <a:t>放</a:t>
            </a:r>
            <a:r>
              <a:rPr kumimoji="1" lang="en-US" altLang="zh-CN" dirty="0"/>
              <a:t>/</a:t>
            </a:r>
            <a:r>
              <a:rPr kumimoji="1" lang="zh-CN" altLang="en-US" dirty="0"/>
              <a:t>取快递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D1DC17-ACE2-3542-9FC0-240163E7A566}"/>
              </a:ext>
            </a:extLst>
          </p:cNvPr>
          <p:cNvSpPr/>
          <p:nvPr/>
        </p:nvSpPr>
        <p:spPr>
          <a:xfrm>
            <a:off x="72411" y="2263898"/>
            <a:ext cx="12961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1400" dirty="0"/>
              <a:t>填写登记表，看能不能进</a:t>
            </a:r>
            <a:endParaRPr lang="en-CN" sz="14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9EFFDA-E01C-AF44-9CAC-21FC5C1A4A35}"/>
              </a:ext>
            </a:extLst>
          </p:cNvPr>
          <p:cNvSpPr/>
          <p:nvPr/>
        </p:nvSpPr>
        <p:spPr>
          <a:xfrm>
            <a:off x="21935" y="3683570"/>
            <a:ext cx="14301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CN" sz="1400"/>
              <a:t>更新</a:t>
            </a:r>
            <a:r>
              <a:rPr lang="zh-CN" altLang="en-US" sz="1400"/>
              <a:t>登记表</a:t>
            </a:r>
            <a:endParaRPr lang="en-CN" sz="140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3AFF249-3828-7148-81EE-B6E98EDA3B9C}"/>
              </a:ext>
            </a:extLst>
          </p:cNvPr>
          <p:cNvCxnSpPr>
            <a:cxnSpLocks/>
          </p:cNvCxnSpPr>
          <p:nvPr/>
        </p:nvCxnSpPr>
        <p:spPr>
          <a:xfrm flipH="1" flipV="1">
            <a:off x="6882688" y="2773051"/>
            <a:ext cx="1471824" cy="68456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290242A-C562-A84A-BF65-35B36473154E}"/>
              </a:ext>
            </a:extLst>
          </p:cNvPr>
          <p:cNvCxnSpPr>
            <a:cxnSpLocks/>
          </p:cNvCxnSpPr>
          <p:nvPr/>
        </p:nvCxnSpPr>
        <p:spPr>
          <a:xfrm flipV="1">
            <a:off x="4644008" y="2773051"/>
            <a:ext cx="2026505" cy="89810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picture containing bottle&#10;&#10;Description automatically generated">
            <a:extLst>
              <a:ext uri="{FF2B5EF4-FFF2-40B4-BE49-F238E27FC236}">
                <a16:creationId xmlns:a16="http://schemas.microsoft.com/office/drawing/2014/main" id="{D503ED57-125A-C44D-830F-40C5A032FE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736" y="1681510"/>
            <a:ext cx="989554" cy="98955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DD7F865-85C0-5542-B8D5-8083E4388994}"/>
              </a:ext>
            </a:extLst>
          </p:cNvPr>
          <p:cNvSpPr/>
          <p:nvPr/>
        </p:nvSpPr>
        <p:spPr>
          <a:xfrm>
            <a:off x="3096723" y="4714888"/>
            <a:ext cx="59811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1600" b="1" dirty="0">
                <a:solidFill>
                  <a:schemeClr val="accent1"/>
                </a:solidFill>
              </a:rPr>
              <a:t>必须保证：某一时刻有且只有一个进程可以进入临界区执行</a:t>
            </a:r>
            <a:endParaRPr lang="en-US" altLang="zh-CN" sz="1600" b="1" dirty="0">
              <a:solidFill>
                <a:schemeClr val="accent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2B5A5F1-7D1D-E942-A77B-E13B9AA30891}"/>
              </a:ext>
            </a:extLst>
          </p:cNvPr>
          <p:cNvCxnSpPr>
            <a:cxnSpLocks/>
          </p:cNvCxnSpPr>
          <p:nvPr/>
        </p:nvCxnSpPr>
        <p:spPr>
          <a:xfrm>
            <a:off x="3473633" y="3142806"/>
            <a:ext cx="864966" cy="158042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AC9CD-5D25-154E-8803-B0A93BAED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78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解决</a:t>
            </a:r>
            <a:r>
              <a:rPr lang="zh-CN" altLang="en-CN"/>
              <a:t>临界区</a:t>
            </a:r>
            <a:r>
              <a:rPr lang="zh-CN" altLang="en-US"/>
              <a:t>问题的三个要求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795C87-CA7B-B44B-ADA7-043694E1F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1361104"/>
            <a:ext cx="2908300" cy="3886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A2B2FED-F414-394D-85A0-392DF49CDCB4}"/>
              </a:ext>
            </a:extLst>
          </p:cNvPr>
          <p:cNvSpPr/>
          <p:nvPr/>
        </p:nvSpPr>
        <p:spPr>
          <a:xfrm>
            <a:off x="457200" y="1387448"/>
            <a:ext cx="4898503" cy="4237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CN" b="1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互斥访问</a:t>
            </a: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：在同一时刻，</a:t>
            </a:r>
            <a:r>
              <a:rPr lang="en-CN" b="1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有且仅有一个进程</a:t>
            </a: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可以进入临界区</a:t>
            </a:r>
            <a:endParaRPr lang="en-CN">
              <a:solidFill>
                <a:srgbClr val="FF0000"/>
              </a:solidFill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CN" b="1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有限等待</a:t>
            </a: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：当一个进程申请进入临界区之后，必须在</a:t>
            </a:r>
            <a:r>
              <a:rPr lang="en-CN" b="1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有限的时间</a:t>
            </a: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内获得许可进入临界区而不能无限等待</a:t>
            </a:r>
            <a:endParaRPr lang="en-CN">
              <a:solidFill>
                <a:srgbClr val="FF0000"/>
              </a:solidFill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CN" b="1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空闲让进</a:t>
            </a: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：当没有进程在临界区中时，必须在申请进入临界区的进程中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选择一个进入临界区，保证执行临界区的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进展</a:t>
            </a:r>
            <a:endParaRPr lang="en-CN">
              <a:solidFill>
                <a:srgbClr val="FF0000"/>
              </a:solidFill>
              <a:ea typeface="微软雅黑" panose="020B0503020204020204" pitchFamily="34" charset="-122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565BB1-451C-3946-935C-BAA5B2A4FB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95266-172F-D149-8B81-DB79E3EA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017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68220227-692E-0747-BF2A-CFB0F01FC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基本同步原语：软件实现与硬件实现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E9C181-EF04-594B-969F-F4199F21D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65F122-5C07-454F-AEE1-F125F5ABA7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0576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B2FED-F414-394D-85A0-392DF49CDCB4}"/>
              </a:ext>
            </a:extLst>
          </p:cNvPr>
          <p:cNvSpPr/>
          <p:nvPr/>
        </p:nvSpPr>
        <p:spPr>
          <a:xfrm>
            <a:off x="6662069" y="4226081"/>
            <a:ext cx="1782452" cy="14397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互斥访问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有限等待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空闲让进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C23A620-7E40-5C40-871B-F15FF7E9E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 dirty="0"/>
              <a:t>回顾软件解决方案：皮特森算法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E4DA4F-7528-9D4E-961F-03F1765FCA89}"/>
              </a:ext>
            </a:extLst>
          </p:cNvPr>
          <p:cNvSpPr/>
          <p:nvPr/>
        </p:nvSpPr>
        <p:spPr>
          <a:xfrm>
            <a:off x="1130720" y="4623861"/>
            <a:ext cx="5079557" cy="469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 b="1" dirty="0">
                <a:solidFill>
                  <a:srgbClr val="C00000"/>
                </a:solidFill>
                <a:latin typeface="Courier" pitchFamily="2" charset="0"/>
              </a:rPr>
              <a:t>思考</a:t>
            </a:r>
            <a:r>
              <a:rPr lang="zh-CN" altLang="en-US" b="1" dirty="0">
                <a:solidFill>
                  <a:srgbClr val="C00000"/>
                </a:solidFill>
                <a:latin typeface="Courier" pitchFamily="2" charset="0"/>
              </a:rPr>
              <a:t>：是否满足解决临界区问题的三个</a:t>
            </a:r>
            <a:r>
              <a:rPr lang="zh-CN" altLang="en-CN" b="1" dirty="0">
                <a:solidFill>
                  <a:srgbClr val="C00000"/>
                </a:solidFill>
                <a:latin typeface="Courier" pitchFamily="2" charset="0"/>
              </a:rPr>
              <a:t>必要</a:t>
            </a:r>
            <a:r>
              <a:rPr lang="zh-CN" altLang="en-US" b="1" dirty="0">
                <a:solidFill>
                  <a:srgbClr val="C00000"/>
                </a:solidFill>
                <a:latin typeface="Courier" pitchFamily="2" charset="0"/>
              </a:rPr>
              <a:t>条件？</a:t>
            </a:r>
            <a:endParaRPr lang="en-US" altLang="zh-CN" b="1" dirty="0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F4970068-C8D8-E445-B3F8-18D749F9AB26}"/>
              </a:ext>
            </a:extLst>
          </p:cNvPr>
          <p:cNvSpPr/>
          <p:nvPr/>
        </p:nvSpPr>
        <p:spPr>
          <a:xfrm>
            <a:off x="6382385" y="4240292"/>
            <a:ext cx="144016" cy="1303573"/>
          </a:xfrm>
          <a:prstGeom prst="leftBrace">
            <a:avLst>
              <a:gd name="adj1" fmla="val 90516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09495B-47EF-E34A-9F46-AD81C7B606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EFCABB-C413-E645-B4FC-7B7587BC2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6F6B00-F505-9348-977A-BEDBE9B5B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888" y="1014408"/>
            <a:ext cx="7032223" cy="319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972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有没有更简单的方法？比如关闭中断？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44F84E-7592-8F41-A024-8E4A0DAFCA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45885"/>
            <a:ext cx="2908300" cy="3886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9DA9F3E-1E70-F24F-9AB7-38B2652B758A}"/>
              </a:ext>
            </a:extLst>
          </p:cNvPr>
          <p:cNvSpPr/>
          <p:nvPr/>
        </p:nvSpPr>
        <p:spPr>
          <a:xfrm>
            <a:off x="4211960" y="1948578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>
                <a:latin typeface="Courier" pitchFamily="2" charset="0"/>
              </a:rPr>
              <a:t>关闭</a:t>
            </a:r>
            <a:r>
              <a:rPr lang="zh-CN" altLang="en-US">
                <a:latin typeface="Courier" pitchFamily="2" charset="0"/>
              </a:rPr>
              <a:t>所有核心的中断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ED2A29-92A0-4740-8033-F9543E5FA66B}"/>
              </a:ext>
            </a:extLst>
          </p:cNvPr>
          <p:cNvSpPr/>
          <p:nvPr/>
        </p:nvSpPr>
        <p:spPr>
          <a:xfrm>
            <a:off x="4211960" y="3573016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开启所有核心的中断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BE35E-6F3E-E04E-84EB-4826744212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F0082-252A-D148-A610-9C9B3FB32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08A3A658-D58D-A44C-B3B4-C8E9FB0B9ED7}"/>
              </a:ext>
            </a:extLst>
          </p:cNvPr>
          <p:cNvSpPr/>
          <p:nvPr/>
        </p:nvSpPr>
        <p:spPr>
          <a:xfrm>
            <a:off x="5156351" y="1273595"/>
            <a:ext cx="30963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这样能解决临界区问题吗？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08286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有没有更简单的方法？比如关闭中断？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44F84E-7592-8F41-A024-8E4A0DAFCA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45885"/>
            <a:ext cx="2908300" cy="3886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9DA9F3E-1E70-F24F-9AB7-38B2652B758A}"/>
              </a:ext>
            </a:extLst>
          </p:cNvPr>
          <p:cNvSpPr/>
          <p:nvPr/>
        </p:nvSpPr>
        <p:spPr>
          <a:xfrm>
            <a:off x="4211960" y="1948578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>
                <a:latin typeface="Courier" pitchFamily="2" charset="0"/>
              </a:rPr>
              <a:t>关闭</a:t>
            </a:r>
            <a:r>
              <a:rPr lang="zh-CN" altLang="en-US">
                <a:latin typeface="Courier" pitchFamily="2" charset="0"/>
              </a:rPr>
              <a:t>所有核心的中断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ED2A29-92A0-4740-8033-F9543E5FA66B}"/>
              </a:ext>
            </a:extLst>
          </p:cNvPr>
          <p:cNvSpPr/>
          <p:nvPr/>
        </p:nvSpPr>
        <p:spPr>
          <a:xfrm>
            <a:off x="4211960" y="3573016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开启所有核心的中断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F82F-D787-C542-AD9D-B10390AA0EF5}"/>
              </a:ext>
            </a:extLst>
          </p:cNvPr>
          <p:cNvSpPr/>
          <p:nvPr/>
        </p:nvSpPr>
        <p:spPr>
          <a:xfrm>
            <a:off x="6876256" y="1821446"/>
            <a:ext cx="2088232" cy="21209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可以解决单个</a:t>
            </a:r>
            <a:r>
              <a:rPr lang="en-US" altLang="zh-CN" dirty="0"/>
              <a:t>CPU</a:t>
            </a:r>
            <a:r>
              <a:rPr lang="zh-CN" altLang="en-US" dirty="0">
                <a:latin typeface="+mn-ea"/>
              </a:rPr>
              <a:t>核上的临界区问题</a:t>
            </a:r>
            <a:endParaRPr lang="en-US" altLang="zh-CN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如果在多个核心中，关闭中断不能阻塞其他进程执行</a:t>
            </a:r>
            <a:endParaRPr lang="en-CN">
              <a:latin typeface="+mn-ea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D35FB4-1157-D341-BEC8-698FDA2F6A52}"/>
              </a:ext>
            </a:extLst>
          </p:cNvPr>
          <p:cNvSpPr/>
          <p:nvPr/>
        </p:nvSpPr>
        <p:spPr>
          <a:xfrm>
            <a:off x="5156351" y="1273595"/>
            <a:ext cx="30963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这样能解决临界区问题吗？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9E546B-AC73-1846-8C27-C056C351DB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A75E34-AAAF-B64E-A7E8-717DFDAD7753}"/>
              </a:ext>
            </a:extLst>
          </p:cNvPr>
          <p:cNvSpPr/>
          <p:nvPr/>
        </p:nvSpPr>
        <p:spPr>
          <a:xfrm>
            <a:off x="4716016" y="4446123"/>
            <a:ext cx="41414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Courier" pitchFamily="2" charset="0"/>
              </a:rPr>
              <a:t>并不能阻止多个</a:t>
            </a:r>
            <a:r>
              <a:rPr lang="en-US" altLang="zh-CN" dirty="0">
                <a:solidFill>
                  <a:srgbClr val="C00000"/>
                </a:solidFill>
              </a:rPr>
              <a:t>CPU</a:t>
            </a:r>
            <a:r>
              <a:rPr lang="zh-CN" altLang="en-US" dirty="0">
                <a:solidFill>
                  <a:srgbClr val="C00000"/>
                </a:solidFill>
                <a:latin typeface="Courier" pitchFamily="2" charset="0"/>
              </a:rPr>
              <a:t>核同时进入临界区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5F339-74F6-6A48-8C3B-D0007A8B4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631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1578"/>
            <a:ext cx="8229600" cy="900442"/>
          </a:xfrm>
        </p:spPr>
        <p:txBody>
          <a:bodyPr/>
          <a:lstStyle/>
          <a:p>
            <a:r>
              <a:rPr lang="zh-CN" altLang="en-US"/>
              <a:t>有没有更简单的方法？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795C87-CA7B-B44B-ADA7-043694E1F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91" y="1750030"/>
            <a:ext cx="2474242" cy="330619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565BB1-451C-3946-935C-BAA5B2A4FB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5DF7251B-1334-6D45-882B-D21797DC409A}"/>
              </a:ext>
            </a:extLst>
          </p:cNvPr>
          <p:cNvSpPr txBox="1">
            <a:spLocks/>
          </p:cNvSpPr>
          <p:nvPr/>
        </p:nvSpPr>
        <p:spPr>
          <a:xfrm>
            <a:off x="395536" y="1050621"/>
            <a:ext cx="8640960" cy="510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zh-CN" altLang="en-US" sz="2000" b="0"/>
              <a:t>如何确保他们</a:t>
            </a:r>
            <a:r>
              <a:rPr lang="zh-CN" altLang="en-US" sz="2000"/>
              <a:t>不会</a:t>
            </a:r>
            <a:r>
              <a:rPr lang="zh-CN" altLang="en-US" sz="2000" b="0"/>
              <a:t>将新产生的数据放入到同一个缓冲区中，造成</a:t>
            </a:r>
            <a:r>
              <a:rPr lang="zh-CN" altLang="en-US" sz="2000"/>
              <a:t>数据覆盖</a:t>
            </a:r>
            <a:r>
              <a:rPr lang="zh-CN" altLang="en-US" sz="2000" b="0"/>
              <a:t>？</a:t>
            </a:r>
            <a:endParaRPr lang="en-US" altLang="zh-CN" sz="2000" b="0"/>
          </a:p>
        </p:txBody>
      </p:sp>
      <p:pic>
        <p:nvPicPr>
          <p:cNvPr id="10" name="图片 7">
            <a:extLst>
              <a:ext uri="{FF2B5EF4-FFF2-40B4-BE49-F238E27FC236}">
                <a16:creationId xmlns:a16="http://schemas.microsoft.com/office/drawing/2014/main" id="{1008B3F0-AC9A-144C-B7B5-E5A1643185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450" y="2052477"/>
            <a:ext cx="1369132" cy="1369132"/>
          </a:xfrm>
          <a:prstGeom prst="rect">
            <a:avLst/>
          </a:prstGeom>
        </p:spPr>
      </p:pic>
      <p:sp>
        <p:nvSpPr>
          <p:cNvPr id="12" name="文本框 20">
            <a:extLst>
              <a:ext uri="{FF2B5EF4-FFF2-40B4-BE49-F238E27FC236}">
                <a16:creationId xmlns:a16="http://schemas.microsoft.com/office/drawing/2014/main" id="{1893202A-2F6E-2040-B67B-2B9825254646}"/>
              </a:ext>
            </a:extLst>
          </p:cNvPr>
          <p:cNvSpPr txBox="1"/>
          <p:nvPr/>
        </p:nvSpPr>
        <p:spPr>
          <a:xfrm>
            <a:off x="5785520" y="2834815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给快递桌添加</a:t>
            </a:r>
            <a:r>
              <a:rPr kumimoji="1" lang="zh-CN" altLang="en-US" b="1" dirty="0">
                <a:solidFill>
                  <a:schemeClr val="accent1"/>
                </a:solidFill>
              </a:rPr>
              <a:t>互斥锁</a:t>
            </a:r>
          </a:p>
        </p:txBody>
      </p:sp>
      <p:pic>
        <p:nvPicPr>
          <p:cNvPr id="14" name="图片 5">
            <a:extLst>
              <a:ext uri="{FF2B5EF4-FFF2-40B4-BE49-F238E27FC236}">
                <a16:creationId xmlns:a16="http://schemas.microsoft.com/office/drawing/2014/main" id="{308CA8B4-2EE6-DA4B-A049-DFEC9DB246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872" y="3836049"/>
            <a:ext cx="720321" cy="720321"/>
          </a:xfrm>
          <a:prstGeom prst="rect">
            <a:avLst/>
          </a:prstGeom>
        </p:spPr>
      </p:pic>
      <p:pic>
        <p:nvPicPr>
          <p:cNvPr id="15" name="图片 5">
            <a:extLst>
              <a:ext uri="{FF2B5EF4-FFF2-40B4-BE49-F238E27FC236}">
                <a16:creationId xmlns:a16="http://schemas.microsoft.com/office/drawing/2014/main" id="{B61C7ADC-B682-BD41-8317-D697B22916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479" y="4117445"/>
            <a:ext cx="720321" cy="720321"/>
          </a:xfrm>
          <a:prstGeom prst="rect">
            <a:avLst/>
          </a:prstGeom>
        </p:spPr>
      </p:pic>
      <p:pic>
        <p:nvPicPr>
          <p:cNvPr id="16" name="图片 5">
            <a:extLst>
              <a:ext uri="{FF2B5EF4-FFF2-40B4-BE49-F238E27FC236}">
                <a16:creationId xmlns:a16="http://schemas.microsoft.com/office/drawing/2014/main" id="{333F23A6-B1ED-0643-9F1D-91C108E7D2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3944058"/>
            <a:ext cx="720321" cy="72032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13FC12C8-1AFF-804C-B3D6-17DDCE71457E}"/>
              </a:ext>
            </a:extLst>
          </p:cNvPr>
          <p:cNvSpPr/>
          <p:nvPr/>
        </p:nvSpPr>
        <p:spPr>
          <a:xfrm>
            <a:off x="134425" y="2958660"/>
            <a:ext cx="11721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/>
              <a:t>放</a:t>
            </a:r>
            <a:r>
              <a:rPr kumimoji="1" lang="en-US" altLang="zh-CN" dirty="0"/>
              <a:t>/</a:t>
            </a:r>
            <a:r>
              <a:rPr kumimoji="1" lang="zh-CN" altLang="en-US" dirty="0"/>
              <a:t>取快递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D1DC17-ACE2-3542-9FC0-240163E7A566}"/>
              </a:ext>
            </a:extLst>
          </p:cNvPr>
          <p:cNvSpPr/>
          <p:nvPr/>
        </p:nvSpPr>
        <p:spPr>
          <a:xfrm>
            <a:off x="72411" y="2263898"/>
            <a:ext cx="12961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1400" dirty="0"/>
              <a:t>拿钥匙</a:t>
            </a:r>
            <a:endParaRPr lang="en-CN" sz="14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9EFFDA-E01C-AF44-9CAC-21FC5C1A4A35}"/>
              </a:ext>
            </a:extLst>
          </p:cNvPr>
          <p:cNvSpPr/>
          <p:nvPr/>
        </p:nvSpPr>
        <p:spPr>
          <a:xfrm>
            <a:off x="21935" y="3683570"/>
            <a:ext cx="14301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1400" dirty="0"/>
              <a:t>还钥匙</a:t>
            </a:r>
            <a:endParaRPr lang="en-CN" sz="1400"/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6D8E01FF-CA2C-9346-AD3E-2FDEC2232C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440" y="1631252"/>
            <a:ext cx="1137292" cy="1137292"/>
          </a:xfrm>
          <a:prstGeom prst="rect">
            <a:avLst/>
          </a:prstGeom>
        </p:spPr>
      </p:pic>
      <p:pic>
        <p:nvPicPr>
          <p:cNvPr id="29" name="Picture 28" descr="A picture containing bottle&#10;&#10;Description automatically generated">
            <a:extLst>
              <a:ext uri="{FF2B5EF4-FFF2-40B4-BE49-F238E27FC236}">
                <a16:creationId xmlns:a16="http://schemas.microsoft.com/office/drawing/2014/main" id="{2DBD5639-14DD-BD4D-A509-8351259C9E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8100" y="1820084"/>
            <a:ext cx="808046" cy="808046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C53CDD5-BA1C-994B-83BB-A3B04A7DB2F7}"/>
              </a:ext>
            </a:extLst>
          </p:cNvPr>
          <p:cNvCxnSpPr>
            <a:stCxn id="29" idx="3"/>
            <a:endCxn id="6" idx="1"/>
          </p:cNvCxnSpPr>
          <p:nvPr/>
        </p:nvCxnSpPr>
        <p:spPr>
          <a:xfrm flipV="1">
            <a:off x="6746146" y="2199898"/>
            <a:ext cx="706294" cy="24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77342-B5CE-9549-B199-A9BBCA4FF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10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377D33D-A78D-1349-B1DC-0C17DB2E6BF7}"/>
              </a:ext>
            </a:extLst>
          </p:cNvPr>
          <p:cNvSpPr txBox="1">
            <a:spLocks/>
          </p:cNvSpPr>
          <p:nvPr/>
        </p:nvSpPr>
        <p:spPr>
          <a:xfrm>
            <a:off x="539552" y="4272386"/>
            <a:ext cx="7704856" cy="1102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6DED5-9A2D-1B43-9EFA-F6CA5A90D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28" name="Content Placeholder 5">
            <a:extLst>
              <a:ext uri="{FF2B5EF4-FFF2-40B4-BE49-F238E27FC236}">
                <a16:creationId xmlns:a16="http://schemas.microsoft.com/office/drawing/2014/main" id="{0888B2BD-5285-E44A-B3B7-8C4BD53C7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703923"/>
            <a:ext cx="3600400" cy="2307153"/>
          </a:xfr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2E40AD2-C323-B848-96C6-BE99FE87F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352" y="2491078"/>
            <a:ext cx="547797" cy="5477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70D184-71A1-A34D-8DB8-9129DF508C6D}"/>
              </a:ext>
            </a:extLst>
          </p:cNvPr>
          <p:cNvSpPr/>
          <p:nvPr/>
        </p:nvSpPr>
        <p:spPr>
          <a:xfrm>
            <a:off x="2652642" y="256835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" pitchFamily="2" charset="0"/>
              </a:rPr>
              <a:t>1</a:t>
            </a:r>
            <a:endParaRPr lang="en-CN" b="1">
              <a:solidFill>
                <a:schemeClr val="bg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B5C3E41-D762-DB49-A573-56861C9DF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/>
              <a:t>生产者放入有限缓冲区</a:t>
            </a:r>
            <a:r>
              <a:rPr lang="en-US" altLang="zh-CN"/>
              <a:t>-</a:t>
            </a:r>
            <a:r>
              <a:rPr lang="zh-CN" altLang="en-US"/>
              <a:t>使用互斥锁</a:t>
            </a:r>
            <a:endParaRPr lang="en-C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ABD95C-0DBD-DB42-A11F-857E1CD43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F9B302-61D0-CB45-8343-1B86695541DF}"/>
              </a:ext>
            </a:extLst>
          </p:cNvPr>
          <p:cNvSpPr/>
          <p:nvPr/>
        </p:nvSpPr>
        <p:spPr>
          <a:xfrm>
            <a:off x="3923928" y="1330715"/>
            <a:ext cx="518457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volatile int buffer_write_cnt = 0;</a:t>
            </a:r>
          </a:p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volatile int buffer_read_cnt = 0;</a:t>
            </a:r>
          </a:p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int buffer[5];</a:t>
            </a:r>
          </a:p>
          <a:p>
            <a:r>
              <a:rPr lang="en-US">
                <a:solidFill>
                  <a:srgbClr val="FF0000"/>
                </a:solidFill>
                <a:latin typeface="Menlo" panose="020B0609030804020204" pitchFamily="49" charset="0"/>
              </a:rPr>
              <a:t>lock_t buffer_lock;</a:t>
            </a:r>
          </a:p>
          <a:p>
            <a:endParaRPr lang="en-US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void </a:t>
            </a:r>
            <a:r>
              <a:rPr lang="en-US">
                <a:solidFill>
                  <a:srgbClr val="FF0000"/>
                </a:solidFill>
                <a:latin typeface="Menlo" panose="020B0609030804020204" pitchFamily="49" charset="0"/>
              </a:rPr>
              <a:t>buffer_add_safe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(int msg)</a:t>
            </a:r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>
                <a:solidFill>
                  <a:srgbClr val="FF0000"/>
                </a:solidFill>
                <a:latin typeface="Menlo" panose="020B0609030804020204" pitchFamily="49" charset="0"/>
              </a:rPr>
              <a:t>lock(&amp;buffer_lock);</a:t>
            </a:r>
          </a:p>
          <a:p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buffer[buffer_write_cnt] = msg;</a:t>
            </a:r>
          </a:p>
          <a:p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buffer_write_cnt = </a:t>
            </a:r>
          </a:p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	(buffer_write_cnt + 1) </a:t>
            </a:r>
            <a:r>
              <a:rPr lang="en-US" b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% 5;</a:t>
            </a:r>
          </a:p>
          <a:p>
            <a:r>
              <a:rPr lang="en-US">
                <a:solidFill>
                  <a:srgbClr val="008000"/>
                </a:solidFill>
                <a:latin typeface="Menlo" panose="020B0609030804020204" pitchFamily="49" charset="0"/>
              </a:rPr>
              <a:t>  </a:t>
            </a:r>
            <a:r>
              <a:rPr lang="en-US">
                <a:solidFill>
                  <a:srgbClr val="FF0000"/>
                </a:solidFill>
                <a:latin typeface="Menlo" panose="020B0609030804020204" pitchFamily="49" charset="0"/>
              </a:rPr>
              <a:t>unlock(&amp;buffer_lock);</a:t>
            </a:r>
          </a:p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88C1C2C3-4D29-184D-BA42-423C0BC910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376" y="1556120"/>
            <a:ext cx="912440" cy="912440"/>
          </a:xfrm>
          <a:prstGeom prst="rect">
            <a:avLst/>
          </a:prstGeom>
        </p:spPr>
      </p:pic>
      <p:sp>
        <p:nvSpPr>
          <p:cNvPr id="13" name="文本框 20">
            <a:extLst>
              <a:ext uri="{FF2B5EF4-FFF2-40B4-BE49-F238E27FC236}">
                <a16:creationId xmlns:a16="http://schemas.microsoft.com/office/drawing/2014/main" id="{695A3D34-0D29-A24F-968C-9929C8D31DC6}"/>
              </a:ext>
            </a:extLst>
          </p:cNvPr>
          <p:cNvSpPr txBox="1"/>
          <p:nvPr/>
        </p:nvSpPr>
        <p:spPr>
          <a:xfrm>
            <a:off x="1920323" y="4086106"/>
            <a:ext cx="14646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accent1"/>
                </a:solidFill>
              </a:rPr>
              <a:t>等待钥匙，不能向</a:t>
            </a:r>
            <a:r>
              <a:rPr kumimoji="1" lang="en-US" altLang="zh-CN" b="1" dirty="0">
                <a:solidFill>
                  <a:schemeClr val="accent1"/>
                </a:solidFill>
              </a:rPr>
              <a:t>3</a:t>
            </a:r>
            <a:r>
              <a:rPr kumimoji="1" lang="zh-CN" altLang="en-US" b="1" dirty="0">
                <a:solidFill>
                  <a:schemeClr val="accent1"/>
                </a:solidFill>
              </a:rPr>
              <a:t>号位置放入快递</a:t>
            </a:r>
          </a:p>
        </p:txBody>
      </p:sp>
    </p:spTree>
    <p:extLst>
      <p:ext uri="{BB962C8B-B14F-4D97-AF65-F5344CB8AC3E}">
        <p14:creationId xmlns:p14="http://schemas.microsoft.com/office/powerpoint/2010/main" val="2308045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Compare And Swap (CAS)</a:t>
            </a:r>
            <a:r>
              <a:rPr lang="zh-CN" altLang="en-US" dirty="0"/>
              <a:t> 操作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52637B-0D47-7442-918F-D791897D93C9}"/>
              </a:ext>
            </a:extLst>
          </p:cNvPr>
          <p:cNvSpPr/>
          <p:nvPr/>
        </p:nvSpPr>
        <p:spPr>
          <a:xfrm>
            <a:off x="775556" y="1029295"/>
            <a:ext cx="75189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int CAS(int *addr, int expected, int new_value) { </a:t>
            </a:r>
          </a:p>
          <a:p>
            <a:r>
              <a:rPr lang="en-CN">
                <a:latin typeface="Courier" pitchFamily="2" charset="0"/>
              </a:rPr>
              <a:t>	int tmp = *addr;</a:t>
            </a:r>
          </a:p>
          <a:p>
            <a:r>
              <a:rPr lang="en-CN">
                <a:latin typeface="Courier" pitchFamily="2" charset="0"/>
              </a:rPr>
              <a:t>	if (*addr == expected)</a:t>
            </a:r>
          </a:p>
          <a:p>
            <a:r>
              <a:rPr lang="en-CN">
                <a:latin typeface="Courier" pitchFamily="2" charset="0"/>
              </a:rPr>
              <a:t>		*addr = new_value;</a:t>
            </a:r>
          </a:p>
          <a:p>
            <a:r>
              <a:rPr lang="en-CN">
                <a:latin typeface="Courier" pitchFamily="2" charset="0"/>
              </a:rPr>
              <a:t>	return tmp;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6BA770-6B08-044A-9230-37C748CFEF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DF78AA9F-4990-4746-8161-8D3F80BA95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70" y="1766497"/>
            <a:ext cx="1137292" cy="11372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6AEC19-88E5-6E4F-B1D5-6BED2171BF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58" y="2922120"/>
            <a:ext cx="2044204" cy="273155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5237F10-AD95-F343-81CE-6E63387001E7}"/>
              </a:ext>
            </a:extLst>
          </p:cNvPr>
          <p:cNvSpPr/>
          <p:nvPr/>
        </p:nvSpPr>
        <p:spPr>
          <a:xfrm>
            <a:off x="2987824" y="2578665"/>
            <a:ext cx="46785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>
                <a:latin typeface="Courier" pitchFamily="2" charset="0"/>
              </a:rPr>
              <a:t>全局</a:t>
            </a:r>
            <a:r>
              <a:rPr lang="zh-CN" altLang="en-US">
                <a:latin typeface="Courier" pitchFamily="2" charset="0"/>
              </a:rPr>
              <a:t>标记 *</a:t>
            </a:r>
            <a:r>
              <a:rPr lang="en-US" altLang="zh-CN">
                <a:latin typeface="Courier" pitchFamily="2" charset="0"/>
              </a:rPr>
              <a:t>lock</a:t>
            </a:r>
            <a:r>
              <a:rPr lang="zh-CN" altLang="en-US">
                <a:latin typeface="Courier" pitchFamily="2" charset="0"/>
              </a:rPr>
              <a:t>：</a:t>
            </a:r>
            <a:r>
              <a:rPr lang="en-US" altLang="zh-CN">
                <a:latin typeface="Courier" pitchFamily="2" charset="0"/>
              </a:rPr>
              <a:t>0</a:t>
            </a:r>
            <a:r>
              <a:rPr lang="zh-CN" altLang="en-US">
                <a:latin typeface="Courier" pitchFamily="2" charset="0"/>
              </a:rPr>
              <a:t>表示空闲，</a:t>
            </a:r>
            <a:r>
              <a:rPr lang="en-US" altLang="zh-CN">
                <a:latin typeface="Courier" pitchFamily="2" charset="0"/>
              </a:rPr>
              <a:t>1</a:t>
            </a:r>
            <a:r>
              <a:rPr lang="zh-CN" altLang="en-US">
                <a:latin typeface="Courier" pitchFamily="2" charset="0"/>
              </a:rPr>
              <a:t>表示锁</a:t>
            </a:r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0FCD1F-E81E-E14C-91AB-2DE20D6C601F}"/>
              </a:ext>
            </a:extLst>
          </p:cNvPr>
          <p:cNvSpPr/>
          <p:nvPr/>
        </p:nvSpPr>
        <p:spPr>
          <a:xfrm>
            <a:off x="3569853" y="3023957"/>
            <a:ext cx="5106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>
                <a:latin typeface="Courier" pitchFamily="2" charset="0"/>
              </a:rPr>
              <a:t>while(CAS(lock, 0, 1) != 0)</a:t>
            </a:r>
          </a:p>
          <a:p>
            <a:r>
              <a:rPr lang="en-US" altLang="zh-CN">
                <a:latin typeface="Courier" pitchFamily="2" charset="0"/>
              </a:rPr>
              <a:t>	/* Busy-looping */;</a:t>
            </a:r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C66956-947E-2949-81AF-3C2CF614C5FA}"/>
              </a:ext>
            </a:extLst>
          </p:cNvPr>
          <p:cNvSpPr/>
          <p:nvPr/>
        </p:nvSpPr>
        <p:spPr>
          <a:xfrm>
            <a:off x="3419872" y="4186444"/>
            <a:ext cx="5106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*</a:t>
            </a:r>
            <a:r>
              <a:rPr lang="en-US" altLang="zh-CN">
                <a:latin typeface="Courier" pitchFamily="2" charset="0"/>
              </a:rPr>
              <a:t>lock = 0;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256D47-6783-744C-A8B6-15DEA8554168}"/>
              </a:ext>
            </a:extLst>
          </p:cNvPr>
          <p:cNvSpPr/>
          <p:nvPr/>
        </p:nvSpPr>
        <p:spPr>
          <a:xfrm>
            <a:off x="3273877" y="3714351"/>
            <a:ext cx="46785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latin typeface="Courier" pitchFamily="2" charset="0"/>
              </a:rPr>
              <a:t>lock</a:t>
            </a:r>
            <a:r>
              <a:rPr lang="zh-CN" altLang="en-US">
                <a:latin typeface="Courier" pitchFamily="2" charset="0"/>
              </a:rPr>
              <a:t>操作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728310-94E2-1748-9EB8-82385BDEF016}"/>
              </a:ext>
            </a:extLst>
          </p:cNvPr>
          <p:cNvSpPr/>
          <p:nvPr/>
        </p:nvSpPr>
        <p:spPr>
          <a:xfrm>
            <a:off x="3059832" y="3025418"/>
            <a:ext cx="510660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AC92D5-D1E2-EA46-9A97-65A4ABA0AC2A}"/>
              </a:ext>
            </a:extLst>
          </p:cNvPr>
          <p:cNvSpPr/>
          <p:nvPr/>
        </p:nvSpPr>
        <p:spPr>
          <a:xfrm>
            <a:off x="3031230" y="4135923"/>
            <a:ext cx="5106601" cy="4547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C8D939-8C01-7D49-9566-E100A9C6B0C1}"/>
              </a:ext>
            </a:extLst>
          </p:cNvPr>
          <p:cNvSpPr/>
          <p:nvPr/>
        </p:nvSpPr>
        <p:spPr>
          <a:xfrm>
            <a:off x="3245084" y="4626708"/>
            <a:ext cx="46785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latin typeface="Courier" pitchFamily="2" charset="0"/>
              </a:rPr>
              <a:t>unlock</a:t>
            </a:r>
            <a:r>
              <a:rPr lang="zh-CN" altLang="en-US">
                <a:latin typeface="Courier" pitchFamily="2" charset="0"/>
              </a:rPr>
              <a:t>操作</a:t>
            </a:r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D9BD31-A1FF-1248-A55F-CA0CFD6D6084}"/>
              </a:ext>
            </a:extLst>
          </p:cNvPr>
          <p:cNvSpPr/>
          <p:nvPr/>
        </p:nvSpPr>
        <p:spPr>
          <a:xfrm>
            <a:off x="3169634" y="5032097"/>
            <a:ext cx="59070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CN">
                <a:solidFill>
                  <a:schemeClr val="accent1"/>
                </a:solidFill>
              </a:rPr>
              <a:t>多个</a:t>
            </a:r>
            <a:r>
              <a:rPr lang="zh-CN" altLang="en-US">
                <a:solidFill>
                  <a:schemeClr val="accent1"/>
                </a:solidFill>
              </a:rPr>
              <a:t>核心同时执行这个操作会产生什么问题？</a:t>
            </a:r>
            <a:endParaRPr lang="en-CN">
              <a:solidFill>
                <a:schemeClr val="accent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572D406-CB1A-FF4F-8187-3B6E46B7E9B6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2224762" y="3348584"/>
            <a:ext cx="835070" cy="84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F0D60D9-259E-3A4A-AED0-2B2E0997713F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213911" y="4363287"/>
            <a:ext cx="817319" cy="258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E1D28-05F4-154B-A169-8A3AEC186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555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硬件原子操作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52637B-0D47-7442-918F-D791897D93C9}"/>
              </a:ext>
            </a:extLst>
          </p:cNvPr>
          <p:cNvSpPr/>
          <p:nvPr/>
        </p:nvSpPr>
        <p:spPr>
          <a:xfrm>
            <a:off x="775556" y="3121522"/>
            <a:ext cx="7518920" cy="1754326"/>
          </a:xfrm>
          <a:prstGeom prst="rect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int CAS(int *addr, int expected, int new_value) { </a:t>
            </a:r>
          </a:p>
          <a:p>
            <a:r>
              <a:rPr lang="en-CN">
                <a:latin typeface="Courier" pitchFamily="2" charset="0"/>
              </a:rPr>
              <a:t>	int tmp = *addr;</a:t>
            </a:r>
          </a:p>
          <a:p>
            <a:r>
              <a:rPr lang="en-CN">
                <a:latin typeface="Courier" pitchFamily="2" charset="0"/>
              </a:rPr>
              <a:t>	if (*addr == expected)</a:t>
            </a:r>
          </a:p>
          <a:p>
            <a:r>
              <a:rPr lang="en-CN">
                <a:latin typeface="Courier" pitchFamily="2" charset="0"/>
              </a:rPr>
              <a:t>		*addr = new_value;</a:t>
            </a:r>
          </a:p>
          <a:p>
            <a:r>
              <a:rPr lang="en-CN">
                <a:latin typeface="Courier" pitchFamily="2" charset="0"/>
              </a:rPr>
              <a:t>	return tmp;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096036-8CC3-9F4C-9B21-F95714849F2B}"/>
              </a:ext>
            </a:extLst>
          </p:cNvPr>
          <p:cNvSpPr/>
          <p:nvPr/>
        </p:nvSpPr>
        <p:spPr>
          <a:xfrm>
            <a:off x="683568" y="1146723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原子操作：</a:t>
            </a:r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97C29A-4598-7844-A26F-38AC97AB0788}"/>
              </a:ext>
            </a:extLst>
          </p:cNvPr>
          <p:cNvSpPr/>
          <p:nvPr/>
        </p:nvSpPr>
        <p:spPr>
          <a:xfrm>
            <a:off x="1339750" y="1491470"/>
            <a:ext cx="6408712" cy="1289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不可被打断的操作集合</a:t>
            </a:r>
            <a:endParaRPr lang="en-CN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CN"/>
              <a:t>如同</a:t>
            </a:r>
            <a:r>
              <a:rPr lang="zh-CN" altLang="en-US"/>
              <a:t>执行一条指令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其他核心不会看到中间状态 </a:t>
            </a:r>
            <a:r>
              <a:rPr lang="en-US" altLang="zh-CN"/>
              <a:t>all-or-nothing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6BA770-6B08-044A-9230-37C748CFEF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EF1CD-821A-634A-A0D4-27BD03FE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519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硬件原子操作：</a:t>
            </a:r>
            <a:r>
              <a:rPr lang="en-US" altLang="zh-CN" dirty="0"/>
              <a:t>Intel</a:t>
            </a:r>
            <a:r>
              <a:rPr lang="zh-CN" altLang="en-US" dirty="0"/>
              <a:t>锁总线实现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854BF0-F0E4-D244-9311-DECEF120A57D}"/>
              </a:ext>
            </a:extLst>
          </p:cNvPr>
          <p:cNvSpPr/>
          <p:nvPr/>
        </p:nvSpPr>
        <p:spPr>
          <a:xfrm>
            <a:off x="4834947" y="3685428"/>
            <a:ext cx="3647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/>
              <a:t>对</a:t>
            </a:r>
            <a:r>
              <a:rPr lang="zh-CN" altLang="en-US"/>
              <a:t>任意地址的修改都要经过</a:t>
            </a:r>
            <a:r>
              <a:rPr lang="zh-CN" altLang="en-US" b="1"/>
              <a:t>总线</a:t>
            </a:r>
            <a:r>
              <a:rPr lang="zh-CN" altLang="en-US"/>
              <a:t>的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37C175-7009-9441-8D2C-F650CB3D5ED5}"/>
              </a:ext>
            </a:extLst>
          </p:cNvPr>
          <p:cNvSpPr/>
          <p:nvPr/>
        </p:nvSpPr>
        <p:spPr>
          <a:xfrm>
            <a:off x="5136311" y="4092911"/>
            <a:ext cx="3044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通过</a:t>
            </a:r>
            <a:r>
              <a:rPr lang="zh-CN" altLang="en-US" b="1"/>
              <a:t>锁总线</a:t>
            </a:r>
            <a:r>
              <a:rPr lang="zh-CN" altLang="en-US"/>
              <a:t>来实现原子操作*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D40D18-8718-FD4E-A0F9-1A61CED50F72}"/>
              </a:ext>
            </a:extLst>
          </p:cNvPr>
          <p:cNvSpPr/>
          <p:nvPr/>
        </p:nvSpPr>
        <p:spPr>
          <a:xfrm>
            <a:off x="2474363" y="5092486"/>
            <a:ext cx="41841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</a:t>
            </a:r>
            <a:r>
              <a:rPr lang="en-US" altLang="zh-CN" sz="1400"/>
              <a:t>Intel</a:t>
            </a:r>
            <a:r>
              <a:rPr lang="zh-CN" altLang="en-US" sz="1400"/>
              <a:t>手册描述，实际实现可能与此不同（更高效）</a:t>
            </a:r>
            <a:endParaRPr lang="en-CN" sz="14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EF68DC-A498-B349-9941-EBB0CC587B03}"/>
              </a:ext>
            </a:extLst>
          </p:cNvPr>
          <p:cNvSpPr/>
          <p:nvPr/>
        </p:nvSpPr>
        <p:spPr>
          <a:xfrm>
            <a:off x="4834946" y="4506627"/>
            <a:ext cx="3647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在第二行锁总线，在第五行放总线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F9BEF5-E933-E444-9E6D-45F95F125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310551-C766-C64B-88A0-81844F784DCA}"/>
              </a:ext>
            </a:extLst>
          </p:cNvPr>
          <p:cNvSpPr/>
          <p:nvPr/>
        </p:nvSpPr>
        <p:spPr>
          <a:xfrm>
            <a:off x="4210250" y="1562707"/>
            <a:ext cx="489654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CN">
                <a:latin typeface="Courier" pitchFamily="2" charset="0"/>
              </a:rPr>
              <a:t>int CAS(int *addr, int expected,</a:t>
            </a:r>
          </a:p>
          <a:p>
            <a:r>
              <a:rPr lang="zh-CN" altLang="en-US" dirty="0">
                <a:latin typeface="Courier" pitchFamily="2" charset="0"/>
              </a:rPr>
              <a:t>           </a:t>
            </a:r>
            <a:r>
              <a:rPr lang="en-CN">
                <a:latin typeface="Courier" pitchFamily="2" charset="0"/>
              </a:rPr>
              <a:t>int new_value) { </a:t>
            </a:r>
          </a:p>
          <a:p>
            <a:r>
              <a:rPr lang="en-US" altLang="zh-CN" dirty="0">
                <a:latin typeface="Courier" pitchFamily="2" charset="0"/>
              </a:rPr>
              <a:t>2.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>
                <a:latin typeface="Courier" pitchFamily="2" charset="0"/>
              </a:rPr>
              <a:t>	int tmp = *addr;</a:t>
            </a:r>
          </a:p>
          <a:p>
            <a:r>
              <a:rPr lang="en-US" altLang="zh-CN" dirty="0">
                <a:latin typeface="Courier" pitchFamily="2" charset="0"/>
              </a:rPr>
              <a:t>3.</a:t>
            </a:r>
            <a:r>
              <a:rPr lang="en-CN">
                <a:latin typeface="Courier" pitchFamily="2" charset="0"/>
              </a:rPr>
              <a:t>	if (*addr == expected)</a:t>
            </a:r>
          </a:p>
          <a:p>
            <a:r>
              <a:rPr lang="en-US" altLang="zh-CN" dirty="0">
                <a:latin typeface="Courier" pitchFamily="2" charset="0"/>
              </a:rPr>
              <a:t>4.</a:t>
            </a:r>
            <a:r>
              <a:rPr lang="en-CN">
                <a:latin typeface="Courier" pitchFamily="2" charset="0"/>
              </a:rPr>
              <a:t>		*addr = new_value;</a:t>
            </a:r>
          </a:p>
          <a:p>
            <a:r>
              <a:rPr lang="en-US" altLang="zh-CN" dirty="0">
                <a:latin typeface="Courier" pitchFamily="2" charset="0"/>
              </a:rPr>
              <a:t>5.</a:t>
            </a:r>
            <a:r>
              <a:rPr lang="en-CN">
                <a:latin typeface="Courier" pitchFamily="2" charset="0"/>
              </a:rPr>
              <a:t>	return tmp;</a:t>
            </a:r>
          </a:p>
          <a:p>
            <a:r>
              <a:rPr lang="en-US" altLang="zh-CN" dirty="0">
                <a:latin typeface="Courier" pitchFamily="2" charset="0"/>
              </a:rPr>
              <a:t>6.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A7AB79-94A0-D946-8D20-81332D3395F1}"/>
              </a:ext>
            </a:extLst>
          </p:cNvPr>
          <p:cNvSpPr/>
          <p:nvPr/>
        </p:nvSpPr>
        <p:spPr>
          <a:xfrm>
            <a:off x="683568" y="2131298"/>
            <a:ext cx="936104" cy="7524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>
                <a:solidFill>
                  <a:schemeClr val="tx1"/>
                </a:solidFill>
              </a:rPr>
              <a:t>CPU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0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2C1503-C8F3-E04B-A789-AECC6831B8B4}"/>
              </a:ext>
            </a:extLst>
          </p:cNvPr>
          <p:cNvSpPr/>
          <p:nvPr/>
        </p:nvSpPr>
        <p:spPr>
          <a:xfrm>
            <a:off x="2330347" y="2131298"/>
            <a:ext cx="936104" cy="7524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>
                <a:solidFill>
                  <a:schemeClr val="tx1"/>
                </a:solidFill>
              </a:rPr>
              <a:t>CPU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CN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29D25D-5D95-C241-848B-9FEBE6A9F567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151620" y="2883719"/>
            <a:ext cx="0" cy="33777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31CDDDE-9174-CB44-A00C-1C5F95A8E038}"/>
              </a:ext>
            </a:extLst>
          </p:cNvPr>
          <p:cNvCxnSpPr>
            <a:cxnSpLocks/>
          </p:cNvCxnSpPr>
          <p:nvPr/>
        </p:nvCxnSpPr>
        <p:spPr>
          <a:xfrm>
            <a:off x="2771800" y="2883719"/>
            <a:ext cx="0" cy="33777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A1B33E8-F181-9D45-B774-CE6D00648AF0}"/>
              </a:ext>
            </a:extLst>
          </p:cNvPr>
          <p:cNvCxnSpPr>
            <a:cxnSpLocks/>
          </p:cNvCxnSpPr>
          <p:nvPr/>
        </p:nvCxnSpPr>
        <p:spPr>
          <a:xfrm flipH="1">
            <a:off x="1115616" y="3221496"/>
            <a:ext cx="16921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BB043E7-45B9-EA47-8AB2-347A1DE5091E}"/>
              </a:ext>
            </a:extLst>
          </p:cNvPr>
          <p:cNvSpPr/>
          <p:nvPr/>
        </p:nvSpPr>
        <p:spPr>
          <a:xfrm>
            <a:off x="1407712" y="3449881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互联总线</a:t>
            </a:r>
            <a:endParaRPr lang="en-CN"/>
          </a:p>
        </p:txBody>
      </p:sp>
      <p:sp>
        <p:nvSpPr>
          <p:cNvPr id="37" name="Cloud 36">
            <a:extLst>
              <a:ext uri="{FF2B5EF4-FFF2-40B4-BE49-F238E27FC236}">
                <a16:creationId xmlns:a16="http://schemas.microsoft.com/office/drawing/2014/main" id="{760FFE79-6CC4-C543-8310-8AB10DFBAE4B}"/>
              </a:ext>
            </a:extLst>
          </p:cNvPr>
          <p:cNvSpPr/>
          <p:nvPr/>
        </p:nvSpPr>
        <p:spPr>
          <a:xfrm>
            <a:off x="333012" y="1078908"/>
            <a:ext cx="1786217" cy="993491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我要</a:t>
            </a:r>
            <a:r>
              <a:rPr lang="en-US" altLang="zh-CN">
                <a:solidFill>
                  <a:schemeClr val="tx1"/>
                </a:solidFill>
              </a:rPr>
              <a:t>CAS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addr</a:t>
            </a:r>
            <a:endParaRPr lang="en-CN">
              <a:solidFill>
                <a:schemeClr val="tx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02DAA17-08CF-9A4D-9E1E-331950848FCB}"/>
              </a:ext>
            </a:extLst>
          </p:cNvPr>
          <p:cNvCxnSpPr/>
          <p:nvPr/>
        </p:nvCxnSpPr>
        <p:spPr>
          <a:xfrm>
            <a:off x="1331640" y="3001516"/>
            <a:ext cx="114272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CACEA206-677C-F24F-97C1-D89DDDF060B1}"/>
              </a:ext>
            </a:extLst>
          </p:cNvPr>
          <p:cNvSpPr/>
          <p:nvPr/>
        </p:nvSpPr>
        <p:spPr>
          <a:xfrm>
            <a:off x="2375013" y="1157928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缓存一致性后面会介绍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067DF8-66BC-3544-9D74-562227EB86DB}"/>
              </a:ext>
            </a:extLst>
          </p:cNvPr>
          <p:cNvSpPr/>
          <p:nvPr/>
        </p:nvSpPr>
        <p:spPr>
          <a:xfrm>
            <a:off x="773461" y="3972324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声明一下，并且锁总线</a:t>
            </a:r>
            <a:endParaRPr lang="en-CN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49E743A-948B-E740-B45A-2D5EF657EB32}"/>
              </a:ext>
            </a:extLst>
          </p:cNvPr>
          <p:cNvCxnSpPr>
            <a:cxnSpLocks/>
          </p:cNvCxnSpPr>
          <p:nvPr/>
        </p:nvCxnSpPr>
        <p:spPr>
          <a:xfrm>
            <a:off x="4210250" y="2209428"/>
            <a:ext cx="3242070" cy="0"/>
          </a:xfrm>
          <a:prstGeom prst="straightConnector1">
            <a:avLst/>
          </a:prstGeom>
          <a:ln w="571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36EA6BB0-DE2B-3F4A-A876-1BEB05D9FF9C}"/>
              </a:ext>
            </a:extLst>
          </p:cNvPr>
          <p:cNvSpPr/>
          <p:nvPr/>
        </p:nvSpPr>
        <p:spPr>
          <a:xfrm>
            <a:off x="4488634" y="1805460"/>
            <a:ext cx="86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N">
                <a:solidFill>
                  <a:schemeClr val="accent1"/>
                </a:solidFill>
              </a:rPr>
              <a:t>CPU</a:t>
            </a:r>
            <a:r>
              <a:rPr lang="zh-CN" altLang="en-US">
                <a:solidFill>
                  <a:schemeClr val="accent1"/>
                </a:solidFill>
              </a:rPr>
              <a:t> </a:t>
            </a:r>
            <a:r>
              <a:rPr lang="en-US" altLang="zh-CN">
                <a:solidFill>
                  <a:schemeClr val="accent1"/>
                </a:solidFill>
              </a:rPr>
              <a:t>0</a:t>
            </a:r>
            <a:endParaRPr lang="en-CN">
              <a:solidFill>
                <a:schemeClr val="accent1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D63D126-D715-A340-9E91-452CFEFCEA12}"/>
              </a:ext>
            </a:extLst>
          </p:cNvPr>
          <p:cNvCxnSpPr>
            <a:cxnSpLocks/>
          </p:cNvCxnSpPr>
          <p:nvPr/>
        </p:nvCxnSpPr>
        <p:spPr>
          <a:xfrm>
            <a:off x="4178553" y="3001516"/>
            <a:ext cx="4209871" cy="0"/>
          </a:xfrm>
          <a:prstGeom prst="straightConnector1">
            <a:avLst/>
          </a:prstGeom>
          <a:ln w="571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C6FAB6A7-E7C3-0943-8679-E9580CDC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2051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硬件原子操作：</a:t>
            </a:r>
            <a:r>
              <a:rPr lang="en-US" altLang="zh-CN" dirty="0"/>
              <a:t>Intel</a:t>
            </a:r>
            <a:r>
              <a:rPr lang="zh-CN" altLang="en-US" dirty="0"/>
              <a:t>锁总线实现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854BF0-F0E4-D244-9311-DECEF120A57D}"/>
              </a:ext>
            </a:extLst>
          </p:cNvPr>
          <p:cNvSpPr/>
          <p:nvPr/>
        </p:nvSpPr>
        <p:spPr>
          <a:xfrm>
            <a:off x="4834947" y="3685428"/>
            <a:ext cx="3647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/>
              <a:t>对</a:t>
            </a:r>
            <a:r>
              <a:rPr lang="zh-CN" altLang="en-US"/>
              <a:t>任意地址的修改都要经过</a:t>
            </a:r>
            <a:r>
              <a:rPr lang="zh-CN" altLang="en-US" b="1"/>
              <a:t>总线</a:t>
            </a:r>
            <a:r>
              <a:rPr lang="zh-CN" altLang="en-US"/>
              <a:t>的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37C175-7009-9441-8D2C-F650CB3D5ED5}"/>
              </a:ext>
            </a:extLst>
          </p:cNvPr>
          <p:cNvSpPr/>
          <p:nvPr/>
        </p:nvSpPr>
        <p:spPr>
          <a:xfrm>
            <a:off x="5136311" y="4092911"/>
            <a:ext cx="3044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通过</a:t>
            </a:r>
            <a:r>
              <a:rPr lang="zh-CN" altLang="en-US" b="1"/>
              <a:t>锁总线</a:t>
            </a:r>
            <a:r>
              <a:rPr lang="zh-CN" altLang="en-US"/>
              <a:t>来实现原子操作*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D40D18-8718-FD4E-A0F9-1A61CED50F72}"/>
              </a:ext>
            </a:extLst>
          </p:cNvPr>
          <p:cNvSpPr/>
          <p:nvPr/>
        </p:nvSpPr>
        <p:spPr>
          <a:xfrm>
            <a:off x="2474363" y="5092486"/>
            <a:ext cx="41841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</a:t>
            </a:r>
            <a:r>
              <a:rPr lang="en-US" altLang="zh-CN" sz="1400"/>
              <a:t>Intel</a:t>
            </a:r>
            <a:r>
              <a:rPr lang="zh-CN" altLang="en-US" sz="1400"/>
              <a:t>手册描述，实际实现可能与此不同（更高效）</a:t>
            </a:r>
            <a:endParaRPr lang="en-CN" sz="14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EF68DC-A498-B349-9941-EBB0CC587B03}"/>
              </a:ext>
            </a:extLst>
          </p:cNvPr>
          <p:cNvSpPr/>
          <p:nvPr/>
        </p:nvSpPr>
        <p:spPr>
          <a:xfrm>
            <a:off x="4834946" y="4506627"/>
            <a:ext cx="3647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在第二行锁总线，在第五行放总线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F9BEF5-E933-E444-9E6D-45F95F125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310551-C766-C64B-88A0-81844F784DCA}"/>
              </a:ext>
            </a:extLst>
          </p:cNvPr>
          <p:cNvSpPr/>
          <p:nvPr/>
        </p:nvSpPr>
        <p:spPr>
          <a:xfrm>
            <a:off x="4210250" y="1562707"/>
            <a:ext cx="489654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CN">
                <a:latin typeface="Courier" pitchFamily="2" charset="0"/>
              </a:rPr>
              <a:t>int CAS(int *addr, int expected,</a:t>
            </a:r>
          </a:p>
          <a:p>
            <a:r>
              <a:rPr lang="zh-CN" altLang="en-US" dirty="0">
                <a:latin typeface="Courier" pitchFamily="2" charset="0"/>
              </a:rPr>
              <a:t>           </a:t>
            </a:r>
            <a:r>
              <a:rPr lang="en-CN">
                <a:latin typeface="Courier" pitchFamily="2" charset="0"/>
              </a:rPr>
              <a:t>int new_value) { </a:t>
            </a:r>
          </a:p>
          <a:p>
            <a:r>
              <a:rPr lang="en-US" altLang="zh-CN" dirty="0">
                <a:latin typeface="Courier" pitchFamily="2" charset="0"/>
              </a:rPr>
              <a:t>2.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>
                <a:latin typeface="Courier" pitchFamily="2" charset="0"/>
              </a:rPr>
              <a:t>	int tmp = *addr;</a:t>
            </a:r>
          </a:p>
          <a:p>
            <a:r>
              <a:rPr lang="en-US" altLang="zh-CN" dirty="0">
                <a:latin typeface="Courier" pitchFamily="2" charset="0"/>
              </a:rPr>
              <a:t>3.</a:t>
            </a:r>
            <a:r>
              <a:rPr lang="en-CN">
                <a:latin typeface="Courier" pitchFamily="2" charset="0"/>
              </a:rPr>
              <a:t>	if (*addr == expected)</a:t>
            </a:r>
          </a:p>
          <a:p>
            <a:r>
              <a:rPr lang="en-US" altLang="zh-CN" dirty="0">
                <a:latin typeface="Courier" pitchFamily="2" charset="0"/>
              </a:rPr>
              <a:t>4.</a:t>
            </a:r>
            <a:r>
              <a:rPr lang="en-CN">
                <a:latin typeface="Courier" pitchFamily="2" charset="0"/>
              </a:rPr>
              <a:t>		*addr = new_value;</a:t>
            </a:r>
          </a:p>
          <a:p>
            <a:r>
              <a:rPr lang="en-US" altLang="zh-CN" dirty="0">
                <a:latin typeface="Courier" pitchFamily="2" charset="0"/>
              </a:rPr>
              <a:t>5.</a:t>
            </a:r>
            <a:r>
              <a:rPr lang="en-CN">
                <a:latin typeface="Courier" pitchFamily="2" charset="0"/>
              </a:rPr>
              <a:t>	return tmp;</a:t>
            </a:r>
          </a:p>
          <a:p>
            <a:r>
              <a:rPr lang="en-US" altLang="zh-CN" dirty="0">
                <a:latin typeface="Courier" pitchFamily="2" charset="0"/>
              </a:rPr>
              <a:t>6.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A7AB79-94A0-D946-8D20-81332D3395F1}"/>
              </a:ext>
            </a:extLst>
          </p:cNvPr>
          <p:cNvSpPr/>
          <p:nvPr/>
        </p:nvSpPr>
        <p:spPr>
          <a:xfrm>
            <a:off x="683568" y="2131298"/>
            <a:ext cx="936104" cy="7524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>
                <a:solidFill>
                  <a:schemeClr val="tx1"/>
                </a:solidFill>
              </a:rPr>
              <a:t>CPU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0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2C1503-C8F3-E04B-A789-AECC6831B8B4}"/>
              </a:ext>
            </a:extLst>
          </p:cNvPr>
          <p:cNvSpPr/>
          <p:nvPr/>
        </p:nvSpPr>
        <p:spPr>
          <a:xfrm>
            <a:off x="2330347" y="2131298"/>
            <a:ext cx="936104" cy="7524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>
                <a:solidFill>
                  <a:schemeClr val="tx1"/>
                </a:solidFill>
              </a:rPr>
              <a:t>CPU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CN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29D25D-5D95-C241-848B-9FEBE6A9F567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151620" y="2883719"/>
            <a:ext cx="0" cy="33777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31CDDDE-9174-CB44-A00C-1C5F95A8E038}"/>
              </a:ext>
            </a:extLst>
          </p:cNvPr>
          <p:cNvCxnSpPr>
            <a:cxnSpLocks/>
          </p:cNvCxnSpPr>
          <p:nvPr/>
        </p:nvCxnSpPr>
        <p:spPr>
          <a:xfrm>
            <a:off x="2771800" y="2883719"/>
            <a:ext cx="0" cy="33777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A1B33E8-F181-9D45-B774-CE6D00648AF0}"/>
              </a:ext>
            </a:extLst>
          </p:cNvPr>
          <p:cNvCxnSpPr>
            <a:cxnSpLocks/>
          </p:cNvCxnSpPr>
          <p:nvPr/>
        </p:nvCxnSpPr>
        <p:spPr>
          <a:xfrm flipH="1">
            <a:off x="1115616" y="3221496"/>
            <a:ext cx="16921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BB043E7-45B9-EA47-8AB2-347A1DE5091E}"/>
              </a:ext>
            </a:extLst>
          </p:cNvPr>
          <p:cNvSpPr/>
          <p:nvPr/>
        </p:nvSpPr>
        <p:spPr>
          <a:xfrm>
            <a:off x="1407712" y="3449881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互联总线</a:t>
            </a:r>
            <a:endParaRPr lang="en-C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ACEA206-677C-F24F-97C1-D89DDDF060B1}"/>
              </a:ext>
            </a:extLst>
          </p:cNvPr>
          <p:cNvSpPr/>
          <p:nvPr/>
        </p:nvSpPr>
        <p:spPr>
          <a:xfrm>
            <a:off x="2387137" y="960541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缓存一致性后面会介绍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067DF8-66BC-3544-9D74-562227EB86DB}"/>
              </a:ext>
            </a:extLst>
          </p:cNvPr>
          <p:cNvSpPr/>
          <p:nvPr/>
        </p:nvSpPr>
        <p:spPr>
          <a:xfrm>
            <a:off x="1509974" y="3224700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锁住了</a:t>
            </a:r>
            <a:endParaRPr lang="en-C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A978A6-8194-1F47-B011-9CB5663098C4}"/>
              </a:ext>
            </a:extLst>
          </p:cNvPr>
          <p:cNvCxnSpPr/>
          <p:nvPr/>
        </p:nvCxnSpPr>
        <p:spPr>
          <a:xfrm flipV="1">
            <a:off x="2375013" y="2972056"/>
            <a:ext cx="0" cy="49887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loud 21">
            <a:extLst>
              <a:ext uri="{FF2B5EF4-FFF2-40B4-BE49-F238E27FC236}">
                <a16:creationId xmlns:a16="http://schemas.microsoft.com/office/drawing/2014/main" id="{A299E5F3-985C-BA48-B63A-A39BB96DC2BA}"/>
              </a:ext>
            </a:extLst>
          </p:cNvPr>
          <p:cNvSpPr/>
          <p:nvPr/>
        </p:nvSpPr>
        <p:spPr>
          <a:xfrm>
            <a:off x="2431366" y="1357692"/>
            <a:ext cx="1863226" cy="993491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我</a:t>
            </a:r>
            <a:r>
              <a:rPr lang="zh-CN" altLang="en-US">
                <a:solidFill>
                  <a:schemeClr val="tx1"/>
                </a:solidFill>
              </a:rPr>
              <a:t>也</a:t>
            </a:r>
            <a:r>
              <a:rPr lang="zh-CN" altLang="en-CN">
                <a:solidFill>
                  <a:schemeClr val="tx1"/>
                </a:solidFill>
              </a:rPr>
              <a:t>要</a:t>
            </a:r>
            <a:r>
              <a:rPr lang="en-US" altLang="zh-CN">
                <a:solidFill>
                  <a:schemeClr val="tx1"/>
                </a:solidFill>
              </a:rPr>
              <a:t>CAS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addr</a:t>
            </a:r>
            <a:endParaRPr lang="en-CN">
              <a:solidFill>
                <a:schemeClr val="tx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E8BA8E4-2A13-AA43-8BCA-44D7264E80C8}"/>
              </a:ext>
            </a:extLst>
          </p:cNvPr>
          <p:cNvCxnSpPr>
            <a:cxnSpLocks/>
          </p:cNvCxnSpPr>
          <p:nvPr/>
        </p:nvCxnSpPr>
        <p:spPr>
          <a:xfrm flipH="1">
            <a:off x="2489873" y="2877825"/>
            <a:ext cx="513461" cy="2880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2D1D89F-F9EA-9A4B-9448-BFACFA305984}"/>
              </a:ext>
            </a:extLst>
          </p:cNvPr>
          <p:cNvSpPr/>
          <p:nvPr/>
        </p:nvSpPr>
        <p:spPr>
          <a:xfrm>
            <a:off x="2946283" y="2901415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改不成</a:t>
            </a:r>
            <a:endParaRPr lang="en-CN"/>
          </a:p>
        </p:txBody>
      </p:sp>
      <p:sp>
        <p:nvSpPr>
          <p:cNvPr id="27" name="Cloud 26">
            <a:extLst>
              <a:ext uri="{FF2B5EF4-FFF2-40B4-BE49-F238E27FC236}">
                <a16:creationId xmlns:a16="http://schemas.microsoft.com/office/drawing/2014/main" id="{3549593C-5E44-DA48-95BE-435B0BB6D9D6}"/>
              </a:ext>
            </a:extLst>
          </p:cNvPr>
          <p:cNvSpPr/>
          <p:nvPr/>
        </p:nvSpPr>
        <p:spPr>
          <a:xfrm>
            <a:off x="333012" y="1078908"/>
            <a:ext cx="1786217" cy="993491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我要</a:t>
            </a:r>
            <a:r>
              <a:rPr lang="en-US" altLang="zh-CN">
                <a:solidFill>
                  <a:schemeClr val="tx1"/>
                </a:solidFill>
              </a:rPr>
              <a:t>CAS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addr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1F6E974-E493-CF40-9C58-21B00616E6D0}"/>
              </a:ext>
            </a:extLst>
          </p:cNvPr>
          <p:cNvSpPr/>
          <p:nvPr/>
        </p:nvSpPr>
        <p:spPr>
          <a:xfrm>
            <a:off x="4456937" y="2382203"/>
            <a:ext cx="86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N">
                <a:solidFill>
                  <a:schemeClr val="accent1"/>
                </a:solidFill>
              </a:rPr>
              <a:t>CPU</a:t>
            </a:r>
            <a:r>
              <a:rPr lang="zh-CN" altLang="en-US">
                <a:solidFill>
                  <a:schemeClr val="accent1"/>
                </a:solidFill>
              </a:rPr>
              <a:t> </a:t>
            </a:r>
            <a:r>
              <a:rPr lang="en-US" altLang="zh-CN">
                <a:solidFill>
                  <a:schemeClr val="accent1"/>
                </a:solidFill>
              </a:rPr>
              <a:t>0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57F11F2-574D-934C-B23D-6EDE33AA6B9E}"/>
              </a:ext>
            </a:extLst>
          </p:cNvPr>
          <p:cNvSpPr/>
          <p:nvPr/>
        </p:nvSpPr>
        <p:spPr>
          <a:xfrm>
            <a:off x="4395611" y="1760321"/>
            <a:ext cx="18517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N">
                <a:solidFill>
                  <a:schemeClr val="accent1"/>
                </a:solidFill>
              </a:rPr>
              <a:t>CPU</a:t>
            </a:r>
            <a:r>
              <a:rPr lang="zh-CN" altLang="en-US">
                <a:solidFill>
                  <a:schemeClr val="accent1"/>
                </a:solidFill>
              </a:rPr>
              <a:t> </a:t>
            </a:r>
            <a:r>
              <a:rPr lang="en-US" altLang="zh-CN">
                <a:solidFill>
                  <a:schemeClr val="accent1"/>
                </a:solidFill>
              </a:rPr>
              <a:t>1</a:t>
            </a:r>
            <a:r>
              <a:rPr lang="zh-CN" altLang="en-US">
                <a:solidFill>
                  <a:schemeClr val="accent1"/>
                </a:solidFill>
              </a:rPr>
              <a:t> 没法向下</a:t>
            </a:r>
            <a:endParaRPr lang="en-CN">
              <a:solidFill>
                <a:schemeClr val="accent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600F062-4B6C-0547-97AA-A50996EE2459}"/>
              </a:ext>
            </a:extLst>
          </p:cNvPr>
          <p:cNvCxnSpPr>
            <a:cxnSpLocks/>
          </p:cNvCxnSpPr>
          <p:nvPr/>
        </p:nvCxnSpPr>
        <p:spPr>
          <a:xfrm>
            <a:off x="4210250" y="2209428"/>
            <a:ext cx="3242070" cy="0"/>
          </a:xfrm>
          <a:prstGeom prst="straightConnector1">
            <a:avLst/>
          </a:prstGeom>
          <a:ln w="571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93F9002-09C3-4049-B63B-1FAA056ACDF7}"/>
              </a:ext>
            </a:extLst>
          </p:cNvPr>
          <p:cNvCxnSpPr>
            <a:cxnSpLocks/>
          </p:cNvCxnSpPr>
          <p:nvPr/>
        </p:nvCxnSpPr>
        <p:spPr>
          <a:xfrm>
            <a:off x="4178553" y="3001516"/>
            <a:ext cx="4209871" cy="0"/>
          </a:xfrm>
          <a:prstGeom prst="straightConnector1">
            <a:avLst/>
          </a:prstGeom>
          <a:ln w="571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8C7A9C2-D913-154E-87F1-ED505E565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3066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硬件原子操作：</a:t>
            </a:r>
            <a:r>
              <a:rPr lang="en-US" altLang="zh-CN" dirty="0"/>
              <a:t>Intel</a:t>
            </a:r>
            <a:r>
              <a:rPr lang="zh-CN" altLang="en-US" dirty="0"/>
              <a:t>锁总线实现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854BF0-F0E4-D244-9311-DECEF120A57D}"/>
              </a:ext>
            </a:extLst>
          </p:cNvPr>
          <p:cNvSpPr/>
          <p:nvPr/>
        </p:nvSpPr>
        <p:spPr>
          <a:xfrm>
            <a:off x="4834947" y="3685428"/>
            <a:ext cx="3647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/>
              <a:t>对</a:t>
            </a:r>
            <a:r>
              <a:rPr lang="zh-CN" altLang="en-US"/>
              <a:t>任意地址的修改都要经过</a:t>
            </a:r>
            <a:r>
              <a:rPr lang="zh-CN" altLang="en-US" b="1"/>
              <a:t>总线</a:t>
            </a:r>
            <a:r>
              <a:rPr lang="zh-CN" altLang="en-US"/>
              <a:t>的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37C175-7009-9441-8D2C-F650CB3D5ED5}"/>
              </a:ext>
            </a:extLst>
          </p:cNvPr>
          <p:cNvSpPr/>
          <p:nvPr/>
        </p:nvSpPr>
        <p:spPr>
          <a:xfrm>
            <a:off x="5136311" y="4092911"/>
            <a:ext cx="3044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通过</a:t>
            </a:r>
            <a:r>
              <a:rPr lang="zh-CN" altLang="en-US" b="1"/>
              <a:t>锁总线</a:t>
            </a:r>
            <a:r>
              <a:rPr lang="zh-CN" altLang="en-US"/>
              <a:t>来实现原子操作*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D40D18-8718-FD4E-A0F9-1A61CED50F72}"/>
              </a:ext>
            </a:extLst>
          </p:cNvPr>
          <p:cNvSpPr/>
          <p:nvPr/>
        </p:nvSpPr>
        <p:spPr>
          <a:xfrm>
            <a:off x="2474363" y="5092486"/>
            <a:ext cx="41841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</a:t>
            </a:r>
            <a:r>
              <a:rPr lang="en-US" altLang="zh-CN" sz="1400"/>
              <a:t>Intel</a:t>
            </a:r>
            <a:r>
              <a:rPr lang="zh-CN" altLang="en-US" sz="1400"/>
              <a:t>手册描述，实际实现可能与此不同（更高效）</a:t>
            </a:r>
            <a:endParaRPr lang="en-CN" sz="14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EF68DC-A498-B349-9941-EBB0CC587B03}"/>
              </a:ext>
            </a:extLst>
          </p:cNvPr>
          <p:cNvSpPr/>
          <p:nvPr/>
        </p:nvSpPr>
        <p:spPr>
          <a:xfrm>
            <a:off x="4834946" y="4506627"/>
            <a:ext cx="3647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在第二行锁总线，在第五行放总线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F9BEF5-E933-E444-9E6D-45F95F125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310551-C766-C64B-88A0-81844F784DCA}"/>
              </a:ext>
            </a:extLst>
          </p:cNvPr>
          <p:cNvSpPr/>
          <p:nvPr/>
        </p:nvSpPr>
        <p:spPr>
          <a:xfrm>
            <a:off x="4210250" y="1562707"/>
            <a:ext cx="489654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CN">
                <a:latin typeface="Courier" pitchFamily="2" charset="0"/>
              </a:rPr>
              <a:t>int CAS(int *addr, int expected,</a:t>
            </a:r>
          </a:p>
          <a:p>
            <a:r>
              <a:rPr lang="zh-CN" altLang="en-US" dirty="0">
                <a:latin typeface="Courier" pitchFamily="2" charset="0"/>
              </a:rPr>
              <a:t>           </a:t>
            </a:r>
            <a:r>
              <a:rPr lang="en-CN">
                <a:latin typeface="Courier" pitchFamily="2" charset="0"/>
              </a:rPr>
              <a:t>int new_value) { </a:t>
            </a:r>
          </a:p>
          <a:p>
            <a:r>
              <a:rPr lang="en-US" altLang="zh-CN" dirty="0">
                <a:latin typeface="Courier" pitchFamily="2" charset="0"/>
              </a:rPr>
              <a:t>2.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>
                <a:latin typeface="Courier" pitchFamily="2" charset="0"/>
              </a:rPr>
              <a:t>	int tmp = *addr;</a:t>
            </a:r>
          </a:p>
          <a:p>
            <a:r>
              <a:rPr lang="en-US" altLang="zh-CN" dirty="0">
                <a:latin typeface="Courier" pitchFamily="2" charset="0"/>
              </a:rPr>
              <a:t>3.</a:t>
            </a:r>
            <a:r>
              <a:rPr lang="en-CN">
                <a:latin typeface="Courier" pitchFamily="2" charset="0"/>
              </a:rPr>
              <a:t>	if (*addr == expected)</a:t>
            </a:r>
          </a:p>
          <a:p>
            <a:r>
              <a:rPr lang="en-US" altLang="zh-CN" dirty="0">
                <a:latin typeface="Courier" pitchFamily="2" charset="0"/>
              </a:rPr>
              <a:t>4.</a:t>
            </a:r>
            <a:r>
              <a:rPr lang="en-CN">
                <a:latin typeface="Courier" pitchFamily="2" charset="0"/>
              </a:rPr>
              <a:t>		*addr = new_value;</a:t>
            </a:r>
          </a:p>
          <a:p>
            <a:r>
              <a:rPr lang="en-US" altLang="zh-CN" dirty="0">
                <a:latin typeface="Courier" pitchFamily="2" charset="0"/>
              </a:rPr>
              <a:t>5.</a:t>
            </a:r>
            <a:r>
              <a:rPr lang="en-CN">
                <a:latin typeface="Courier" pitchFamily="2" charset="0"/>
              </a:rPr>
              <a:t>	return tmp;</a:t>
            </a:r>
          </a:p>
          <a:p>
            <a:r>
              <a:rPr lang="en-US" altLang="zh-CN" dirty="0">
                <a:latin typeface="Courier" pitchFamily="2" charset="0"/>
              </a:rPr>
              <a:t>6.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A7AB79-94A0-D946-8D20-81332D3395F1}"/>
              </a:ext>
            </a:extLst>
          </p:cNvPr>
          <p:cNvSpPr/>
          <p:nvPr/>
        </p:nvSpPr>
        <p:spPr>
          <a:xfrm>
            <a:off x="683568" y="2131298"/>
            <a:ext cx="936104" cy="7524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>
                <a:solidFill>
                  <a:schemeClr val="tx1"/>
                </a:solidFill>
              </a:rPr>
              <a:t>CPU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2C1503-C8F3-E04B-A789-AECC6831B8B4}"/>
              </a:ext>
            </a:extLst>
          </p:cNvPr>
          <p:cNvSpPr/>
          <p:nvPr/>
        </p:nvSpPr>
        <p:spPr>
          <a:xfrm>
            <a:off x="2330347" y="2131298"/>
            <a:ext cx="936104" cy="7524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>
                <a:solidFill>
                  <a:schemeClr val="tx1"/>
                </a:solidFill>
              </a:rPr>
              <a:t>CPU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29D25D-5D95-C241-848B-9FEBE6A9F567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151620" y="2883719"/>
            <a:ext cx="0" cy="33777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31CDDDE-9174-CB44-A00C-1C5F95A8E038}"/>
              </a:ext>
            </a:extLst>
          </p:cNvPr>
          <p:cNvCxnSpPr>
            <a:cxnSpLocks/>
          </p:cNvCxnSpPr>
          <p:nvPr/>
        </p:nvCxnSpPr>
        <p:spPr>
          <a:xfrm>
            <a:off x="2771800" y="2883719"/>
            <a:ext cx="0" cy="33777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A1B33E8-F181-9D45-B774-CE6D00648AF0}"/>
              </a:ext>
            </a:extLst>
          </p:cNvPr>
          <p:cNvCxnSpPr>
            <a:cxnSpLocks/>
          </p:cNvCxnSpPr>
          <p:nvPr/>
        </p:nvCxnSpPr>
        <p:spPr>
          <a:xfrm flipH="1">
            <a:off x="1115616" y="3221496"/>
            <a:ext cx="16921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BB043E7-45B9-EA47-8AB2-347A1DE5091E}"/>
              </a:ext>
            </a:extLst>
          </p:cNvPr>
          <p:cNvSpPr/>
          <p:nvPr/>
        </p:nvSpPr>
        <p:spPr>
          <a:xfrm>
            <a:off x="1366367" y="349995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互联总线</a:t>
            </a:r>
            <a:endParaRPr lang="en-C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ACEA206-677C-F24F-97C1-D89DDDF060B1}"/>
              </a:ext>
            </a:extLst>
          </p:cNvPr>
          <p:cNvSpPr/>
          <p:nvPr/>
        </p:nvSpPr>
        <p:spPr>
          <a:xfrm>
            <a:off x="2421939" y="979005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缓存一致性后面会介绍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25" name="Cloud 24">
            <a:extLst>
              <a:ext uri="{FF2B5EF4-FFF2-40B4-BE49-F238E27FC236}">
                <a16:creationId xmlns:a16="http://schemas.microsoft.com/office/drawing/2014/main" id="{96ED9A30-7341-A04A-A3F3-77CB2476E8C6}"/>
              </a:ext>
            </a:extLst>
          </p:cNvPr>
          <p:cNvSpPr/>
          <p:nvPr/>
        </p:nvSpPr>
        <p:spPr>
          <a:xfrm>
            <a:off x="333012" y="1078908"/>
            <a:ext cx="1786217" cy="993491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成功了</a:t>
            </a:r>
            <a:r>
              <a:rPr lang="zh-CN" altLang="en-US">
                <a:solidFill>
                  <a:schemeClr val="tx1"/>
                </a:solidFill>
              </a:rPr>
              <a:t>！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27" name="Cloud 26">
            <a:extLst>
              <a:ext uri="{FF2B5EF4-FFF2-40B4-BE49-F238E27FC236}">
                <a16:creationId xmlns:a16="http://schemas.microsoft.com/office/drawing/2014/main" id="{3951DF20-0D72-6E4C-B114-A884CF5C66DD}"/>
              </a:ext>
            </a:extLst>
          </p:cNvPr>
          <p:cNvSpPr/>
          <p:nvPr/>
        </p:nvSpPr>
        <p:spPr>
          <a:xfrm>
            <a:off x="2431366" y="1357692"/>
            <a:ext cx="1863226" cy="993491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我</a:t>
            </a:r>
            <a:r>
              <a:rPr lang="zh-CN" altLang="en-US">
                <a:solidFill>
                  <a:schemeClr val="tx1"/>
                </a:solidFill>
              </a:rPr>
              <a:t>开始</a:t>
            </a:r>
            <a:r>
              <a:rPr lang="en-US" altLang="zh-CN">
                <a:solidFill>
                  <a:schemeClr val="tx1"/>
                </a:solidFill>
              </a:rPr>
              <a:t>CAS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addr</a:t>
            </a:r>
            <a:endParaRPr lang="en-CN">
              <a:solidFill>
                <a:schemeClr val="tx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951AE86-819D-AE4C-88B0-9957251BE937}"/>
              </a:ext>
            </a:extLst>
          </p:cNvPr>
          <p:cNvCxnSpPr>
            <a:cxnSpLocks/>
          </p:cNvCxnSpPr>
          <p:nvPr/>
        </p:nvCxnSpPr>
        <p:spPr>
          <a:xfrm flipH="1">
            <a:off x="1087420" y="3353173"/>
            <a:ext cx="1684380" cy="3887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CE763D2-9458-E74A-A86E-BE4FEAB68995}"/>
              </a:ext>
            </a:extLst>
          </p:cNvPr>
          <p:cNvSpPr/>
          <p:nvPr/>
        </p:nvSpPr>
        <p:spPr>
          <a:xfrm>
            <a:off x="773461" y="3972324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声明一下，并且锁总线</a:t>
            </a:r>
            <a:endParaRPr lang="en-C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20B7D5F-0F27-9A48-A88E-D452DB0A09E8}"/>
              </a:ext>
            </a:extLst>
          </p:cNvPr>
          <p:cNvSpPr/>
          <p:nvPr/>
        </p:nvSpPr>
        <p:spPr>
          <a:xfrm>
            <a:off x="4441845" y="3039668"/>
            <a:ext cx="86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N">
                <a:solidFill>
                  <a:schemeClr val="accent1"/>
                </a:solidFill>
              </a:rPr>
              <a:t>CPU</a:t>
            </a:r>
            <a:r>
              <a:rPr lang="zh-CN" altLang="en-US">
                <a:solidFill>
                  <a:schemeClr val="accent1"/>
                </a:solidFill>
              </a:rPr>
              <a:t> </a:t>
            </a:r>
            <a:r>
              <a:rPr lang="en-US" altLang="zh-CN">
                <a:solidFill>
                  <a:schemeClr val="accent1"/>
                </a:solidFill>
              </a:rPr>
              <a:t>0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875844-DF78-6F48-A5CD-E09638EB914C}"/>
              </a:ext>
            </a:extLst>
          </p:cNvPr>
          <p:cNvSpPr/>
          <p:nvPr/>
        </p:nvSpPr>
        <p:spPr>
          <a:xfrm>
            <a:off x="4285684" y="2428277"/>
            <a:ext cx="928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solidFill>
                  <a:schemeClr val="accent1"/>
                </a:solidFill>
              </a:rPr>
              <a:t>CPU</a:t>
            </a:r>
            <a:r>
              <a:rPr lang="zh-CN" altLang="en-US">
                <a:solidFill>
                  <a:schemeClr val="accent1"/>
                </a:solidFill>
              </a:rPr>
              <a:t> </a:t>
            </a:r>
            <a:r>
              <a:rPr lang="en-US" altLang="zh-CN">
                <a:solidFill>
                  <a:schemeClr val="accent1"/>
                </a:solidFill>
              </a:rPr>
              <a:t>1</a:t>
            </a:r>
            <a:r>
              <a:rPr lang="zh-CN" altLang="en-US">
                <a:solidFill>
                  <a:schemeClr val="accent1"/>
                </a:solidFill>
              </a:rPr>
              <a:t> </a:t>
            </a:r>
            <a:endParaRPr lang="en-CN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73DF39A-DF90-AD45-92A9-817EB498ADA3}"/>
              </a:ext>
            </a:extLst>
          </p:cNvPr>
          <p:cNvCxnSpPr>
            <a:cxnSpLocks/>
          </p:cNvCxnSpPr>
          <p:nvPr/>
        </p:nvCxnSpPr>
        <p:spPr>
          <a:xfrm>
            <a:off x="4210250" y="2209428"/>
            <a:ext cx="3242070" cy="0"/>
          </a:xfrm>
          <a:prstGeom prst="straightConnector1">
            <a:avLst/>
          </a:prstGeom>
          <a:ln w="571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73F71EE-22B0-B84E-96D6-334C23EBBBDA}"/>
              </a:ext>
            </a:extLst>
          </p:cNvPr>
          <p:cNvCxnSpPr>
            <a:cxnSpLocks/>
          </p:cNvCxnSpPr>
          <p:nvPr/>
        </p:nvCxnSpPr>
        <p:spPr>
          <a:xfrm>
            <a:off x="4178553" y="3001516"/>
            <a:ext cx="4209871" cy="0"/>
          </a:xfrm>
          <a:prstGeom prst="straightConnector1">
            <a:avLst/>
          </a:prstGeom>
          <a:ln w="571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BBF6213-D26E-7B4A-908A-245481175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229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52292C-30C6-C246-B071-762F3F781B24}"/>
              </a:ext>
            </a:extLst>
          </p:cNvPr>
          <p:cNvSpPr/>
          <p:nvPr/>
        </p:nvSpPr>
        <p:spPr>
          <a:xfrm>
            <a:off x="4005322" y="1529761"/>
            <a:ext cx="466025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retry:	ldxr	x0, addr</a:t>
            </a:r>
          </a:p>
          <a:p>
            <a:r>
              <a:rPr lang="en-CN">
                <a:latin typeface="Courier" pitchFamily="2" charset="0"/>
              </a:rPr>
              <a:t>	cmp	x0, expected</a:t>
            </a:r>
          </a:p>
          <a:p>
            <a:r>
              <a:rPr lang="en-CN">
                <a:latin typeface="Courier" pitchFamily="2" charset="0"/>
              </a:rPr>
              <a:t>	bne	out</a:t>
            </a:r>
          </a:p>
          <a:p>
            <a:r>
              <a:rPr lang="en-CN">
                <a:latin typeface="Courier" pitchFamily="2" charset="0"/>
              </a:rPr>
              <a:t>	stxr	x1, new_value, addr</a:t>
            </a:r>
          </a:p>
          <a:p>
            <a:r>
              <a:rPr lang="en-CN">
                <a:latin typeface="Courier" pitchFamily="2" charset="0"/>
              </a:rPr>
              <a:t>	cbnz	x1, retry</a:t>
            </a:r>
          </a:p>
          <a:p>
            <a:r>
              <a:rPr lang="en-CN">
                <a:latin typeface="Courier" pitchFamily="2" charset="0"/>
              </a:rPr>
              <a:t>out:	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2CEAEF-FD04-FE44-ADDF-8970C5269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硬件原子操作：</a:t>
            </a:r>
            <a:r>
              <a:rPr lang="en-US" altLang="zh-CN" dirty="0"/>
              <a:t>ARM</a:t>
            </a:r>
            <a:r>
              <a:rPr lang="zh-CN" altLang="en-US" dirty="0"/>
              <a:t>使用</a:t>
            </a:r>
            <a:r>
              <a:rPr lang="en-CN"/>
              <a:t>LL/SC</a:t>
            </a:r>
            <a:r>
              <a:rPr lang="zh-CN" altLang="en-CN" dirty="0"/>
              <a:t>实现</a:t>
            </a:r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AFEC5C-5EC3-9544-BB17-4FA515648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1B53A5-6437-BE48-B347-054A0EB97F4D}"/>
              </a:ext>
            </a:extLst>
          </p:cNvPr>
          <p:cNvSpPr/>
          <p:nvPr/>
        </p:nvSpPr>
        <p:spPr>
          <a:xfrm>
            <a:off x="5224013" y="3380535"/>
            <a:ext cx="33906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Load-linked &amp; Store-conditional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9F89FF-4FDD-DA49-80A7-22159B4F2B49}"/>
              </a:ext>
            </a:extLst>
          </p:cNvPr>
          <p:cNvSpPr/>
          <p:nvPr/>
        </p:nvSpPr>
        <p:spPr>
          <a:xfrm>
            <a:off x="5313501" y="3810735"/>
            <a:ext cx="2813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 dirty="0"/>
              <a:t>第</a:t>
            </a:r>
            <a:r>
              <a:rPr lang="zh-CN" altLang="en-US" dirty="0"/>
              <a:t>一</a:t>
            </a:r>
            <a:r>
              <a:rPr lang="zh-CN" altLang="en-CN" dirty="0"/>
              <a:t>行</a:t>
            </a:r>
            <a:r>
              <a:rPr lang="zh-CN" altLang="en-US" dirty="0"/>
              <a:t>读的时候</a:t>
            </a:r>
            <a:r>
              <a:rPr lang="zh-CN" altLang="en-US" b="1" dirty="0"/>
              <a:t>监视</a:t>
            </a:r>
            <a:r>
              <a:rPr lang="en-US" altLang="zh-CN" dirty="0" err="1">
                <a:latin typeface="Courier" pitchFamily="2" charset="0"/>
              </a:rPr>
              <a:t>addr</a:t>
            </a:r>
            <a:endParaRPr lang="en-US" altLang="zh-CN" dirty="0">
              <a:latin typeface="Courier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C1B444-6A76-C94C-BADB-6ABBA2318373}"/>
              </a:ext>
            </a:extLst>
          </p:cNvPr>
          <p:cNvSpPr/>
          <p:nvPr/>
        </p:nvSpPr>
        <p:spPr>
          <a:xfrm>
            <a:off x="4427983" y="4209311"/>
            <a:ext cx="46602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第四行修改的时候看</a:t>
            </a:r>
            <a:r>
              <a:rPr lang="en-US" altLang="zh-CN">
                <a:latin typeface="Courier" pitchFamily="2" charset="0"/>
              </a:rPr>
              <a:t>addr</a:t>
            </a:r>
            <a:r>
              <a:rPr lang="zh-CN" altLang="en-US" b="1">
                <a:latin typeface="Courier" pitchFamily="2" charset="0"/>
              </a:rPr>
              <a:t>是否被其他人修改</a:t>
            </a:r>
            <a:endParaRPr lang="en-US" altLang="zh-CN" b="1">
              <a:latin typeface="Courier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1206E6-2BF5-A547-862A-DFC8F1487C11}"/>
              </a:ext>
            </a:extLst>
          </p:cNvPr>
          <p:cNvSpPr/>
          <p:nvPr/>
        </p:nvSpPr>
        <p:spPr>
          <a:xfrm>
            <a:off x="4736700" y="4658490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>
                <a:latin typeface="Courier" pitchFamily="2" charset="0"/>
              </a:rPr>
              <a:t>没人</a:t>
            </a:r>
            <a:r>
              <a:rPr lang="zh-CN" altLang="en-US">
                <a:latin typeface="Courier" pitchFamily="2" charset="0"/>
              </a:rPr>
              <a:t>修改就写成功，否则回到第二行</a:t>
            </a:r>
            <a:endParaRPr lang="en-US" altLang="zh-CN">
              <a:latin typeface="Courier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27BC5A-1D43-E147-B923-CBF2BF833EE6}"/>
              </a:ext>
            </a:extLst>
          </p:cNvPr>
          <p:cNvSpPr/>
          <p:nvPr/>
        </p:nvSpPr>
        <p:spPr>
          <a:xfrm>
            <a:off x="457200" y="2065412"/>
            <a:ext cx="1450504" cy="25930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ADB5E5-ED05-494A-95CB-1781496A4BD0}"/>
              </a:ext>
            </a:extLst>
          </p:cNvPr>
          <p:cNvSpPr/>
          <p:nvPr/>
        </p:nvSpPr>
        <p:spPr>
          <a:xfrm>
            <a:off x="611560" y="3626069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A5CBD2-F034-EE4A-BFB3-23515EAC92B6}"/>
              </a:ext>
            </a:extLst>
          </p:cNvPr>
          <p:cNvSpPr/>
          <p:nvPr/>
        </p:nvSpPr>
        <p:spPr>
          <a:xfrm>
            <a:off x="710570" y="3182504"/>
            <a:ext cx="9541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/>
              <a:t>Monitor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19AA1C-AC92-2A48-BAC4-240CC3388492}"/>
              </a:ext>
            </a:extLst>
          </p:cNvPr>
          <p:cNvSpPr/>
          <p:nvPr/>
        </p:nvSpPr>
        <p:spPr>
          <a:xfrm>
            <a:off x="611559" y="3995401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89A5B0-29B1-AE4E-853E-02B73C52A911}"/>
              </a:ext>
            </a:extLst>
          </p:cNvPr>
          <p:cNvSpPr/>
          <p:nvPr/>
        </p:nvSpPr>
        <p:spPr>
          <a:xfrm>
            <a:off x="2261629" y="3610848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168557-BC22-A34E-BD12-1D3A96EA29B9}"/>
              </a:ext>
            </a:extLst>
          </p:cNvPr>
          <p:cNvSpPr/>
          <p:nvPr/>
        </p:nvSpPr>
        <p:spPr>
          <a:xfrm>
            <a:off x="2360639" y="3167283"/>
            <a:ext cx="9541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/>
              <a:t>Monitor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8CD7D1-38B5-1541-9C4C-C13B1524F392}"/>
              </a:ext>
            </a:extLst>
          </p:cNvPr>
          <p:cNvSpPr/>
          <p:nvPr/>
        </p:nvSpPr>
        <p:spPr>
          <a:xfrm>
            <a:off x="2261628" y="3980180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EB13F3-A062-0048-A7AE-19CDDC548884}"/>
              </a:ext>
            </a:extLst>
          </p:cNvPr>
          <p:cNvSpPr/>
          <p:nvPr/>
        </p:nvSpPr>
        <p:spPr>
          <a:xfrm>
            <a:off x="846462" y="2246400"/>
            <a:ext cx="671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N"/>
              <a:t>CPU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F54B89-007B-9846-88AE-816F341AFF17}"/>
              </a:ext>
            </a:extLst>
          </p:cNvPr>
          <p:cNvSpPr/>
          <p:nvPr/>
        </p:nvSpPr>
        <p:spPr>
          <a:xfrm>
            <a:off x="2082701" y="2065017"/>
            <a:ext cx="1450504" cy="25930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EAEDD7-5C3C-A645-ACA6-D7015FE1AB64}"/>
              </a:ext>
            </a:extLst>
          </p:cNvPr>
          <p:cNvSpPr/>
          <p:nvPr/>
        </p:nvSpPr>
        <p:spPr>
          <a:xfrm>
            <a:off x="2471963" y="2246005"/>
            <a:ext cx="671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N"/>
              <a:t>CPU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D1B8A9-F8C9-8646-B2BE-896FA749E56B}"/>
              </a:ext>
            </a:extLst>
          </p:cNvPr>
          <p:cNvSpPr/>
          <p:nvPr/>
        </p:nvSpPr>
        <p:spPr>
          <a:xfrm>
            <a:off x="814401" y="3647853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B050"/>
                </a:solidFill>
                <a:latin typeface="Courier" pitchFamily="2" charset="0"/>
              </a:rPr>
              <a:t>addr</a:t>
            </a:r>
            <a:endParaRPr lang="en-CN">
              <a:solidFill>
                <a:srgbClr val="00B050"/>
              </a:solidFill>
            </a:endParaRPr>
          </a:p>
        </p:txBody>
      </p:sp>
      <p:sp>
        <p:nvSpPr>
          <p:cNvPr id="28" name="Cloud 27">
            <a:extLst>
              <a:ext uri="{FF2B5EF4-FFF2-40B4-BE49-F238E27FC236}">
                <a16:creationId xmlns:a16="http://schemas.microsoft.com/office/drawing/2014/main" id="{9C258F96-A071-714A-8A18-814F18DA9224}"/>
              </a:ext>
            </a:extLst>
          </p:cNvPr>
          <p:cNvSpPr/>
          <p:nvPr/>
        </p:nvSpPr>
        <p:spPr>
          <a:xfrm>
            <a:off x="194016" y="1050137"/>
            <a:ext cx="1786217" cy="993491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我要看</a:t>
            </a:r>
            <a:r>
              <a:rPr lang="en-US" altLang="zh-CN">
                <a:solidFill>
                  <a:schemeClr val="tx1"/>
                </a:solidFill>
              </a:rPr>
              <a:t>addr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29" name="Cloud 28">
            <a:extLst>
              <a:ext uri="{FF2B5EF4-FFF2-40B4-BE49-F238E27FC236}">
                <a16:creationId xmlns:a16="http://schemas.microsoft.com/office/drawing/2014/main" id="{50FF56F1-6D66-594A-A648-EC5153C0B182}"/>
              </a:ext>
            </a:extLst>
          </p:cNvPr>
          <p:cNvSpPr/>
          <p:nvPr/>
        </p:nvSpPr>
        <p:spPr>
          <a:xfrm>
            <a:off x="1980233" y="1056905"/>
            <a:ext cx="1786217" cy="993491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我也要看</a:t>
            </a:r>
            <a:r>
              <a:rPr lang="en-US" altLang="zh-CN">
                <a:solidFill>
                  <a:schemeClr val="tx1"/>
                </a:solidFill>
              </a:rPr>
              <a:t>addr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1EB8F3-1230-194D-B8B6-23522B8CE7D8}"/>
              </a:ext>
            </a:extLst>
          </p:cNvPr>
          <p:cNvSpPr/>
          <p:nvPr/>
        </p:nvSpPr>
        <p:spPr>
          <a:xfrm>
            <a:off x="2439902" y="3639852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B050"/>
                </a:solidFill>
                <a:latin typeface="Courier" pitchFamily="2" charset="0"/>
              </a:rPr>
              <a:t>addr</a:t>
            </a:r>
            <a:endParaRPr lang="en-CN">
              <a:solidFill>
                <a:srgbClr val="00B050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CC55FC0-48E2-ED40-8802-B1E0CE38AB20}"/>
              </a:ext>
            </a:extLst>
          </p:cNvPr>
          <p:cNvCxnSpPr>
            <a:cxnSpLocks/>
          </p:cNvCxnSpPr>
          <p:nvPr/>
        </p:nvCxnSpPr>
        <p:spPr>
          <a:xfrm>
            <a:off x="1170143" y="4678147"/>
            <a:ext cx="0" cy="33777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4D81D22-17C8-9346-A1FA-5C913D7AE1CA}"/>
              </a:ext>
            </a:extLst>
          </p:cNvPr>
          <p:cNvCxnSpPr>
            <a:cxnSpLocks/>
          </p:cNvCxnSpPr>
          <p:nvPr/>
        </p:nvCxnSpPr>
        <p:spPr>
          <a:xfrm>
            <a:off x="2790323" y="4678147"/>
            <a:ext cx="0" cy="33777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CDC4155-0ED0-664A-A35E-4B60D8573573}"/>
              </a:ext>
            </a:extLst>
          </p:cNvPr>
          <p:cNvCxnSpPr>
            <a:cxnSpLocks/>
          </p:cNvCxnSpPr>
          <p:nvPr/>
        </p:nvCxnSpPr>
        <p:spPr>
          <a:xfrm flipH="1">
            <a:off x="1134139" y="5015924"/>
            <a:ext cx="16921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EE369095-2AE2-E045-8442-E450C6C2E391}"/>
              </a:ext>
            </a:extLst>
          </p:cNvPr>
          <p:cNvSpPr/>
          <p:nvPr/>
        </p:nvSpPr>
        <p:spPr>
          <a:xfrm>
            <a:off x="3624392" y="3426389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B050"/>
                </a:solidFill>
                <a:latin typeface="Courier" pitchFamily="2" charset="0"/>
              </a:rPr>
              <a:t>绿色没人修改</a:t>
            </a:r>
            <a:endParaRPr lang="en-US" altLang="zh-CN">
              <a:solidFill>
                <a:srgbClr val="00B050"/>
              </a:solidFill>
              <a:latin typeface="Courier" pitchFamily="2" charset="0"/>
            </a:endParaRPr>
          </a:p>
          <a:p>
            <a:r>
              <a:rPr lang="zh-CN" altLang="en-CN">
                <a:solidFill>
                  <a:srgbClr val="C00000"/>
                </a:solidFill>
              </a:rPr>
              <a:t>红色</a:t>
            </a:r>
            <a:r>
              <a:rPr lang="zh-CN" altLang="en-US">
                <a:solidFill>
                  <a:srgbClr val="C00000"/>
                </a:solidFill>
              </a:rPr>
              <a:t>被修改</a:t>
            </a:r>
            <a:endParaRPr lang="en-CN">
              <a:solidFill>
                <a:srgbClr val="C00000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3D9E66F-E58C-AB4C-94CA-27E321F3A7A5}"/>
              </a:ext>
            </a:extLst>
          </p:cNvPr>
          <p:cNvCxnSpPr>
            <a:cxnSpLocks/>
          </p:cNvCxnSpPr>
          <p:nvPr/>
        </p:nvCxnSpPr>
        <p:spPr>
          <a:xfrm>
            <a:off x="4305704" y="1849388"/>
            <a:ext cx="3575253" cy="0"/>
          </a:xfrm>
          <a:prstGeom prst="straightConnector1">
            <a:avLst/>
          </a:prstGeom>
          <a:ln w="571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8C5FF953-A9A6-F849-B6B5-0136AE8FAB9A}"/>
              </a:ext>
            </a:extLst>
          </p:cNvPr>
          <p:cNvSpPr/>
          <p:nvPr/>
        </p:nvSpPr>
        <p:spPr>
          <a:xfrm>
            <a:off x="4077851" y="1244703"/>
            <a:ext cx="10567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N">
                <a:solidFill>
                  <a:schemeClr val="accent1"/>
                </a:solidFill>
              </a:rPr>
              <a:t>CPU</a:t>
            </a:r>
            <a:r>
              <a:rPr lang="zh-CN" altLang="en-US">
                <a:solidFill>
                  <a:schemeClr val="accent1"/>
                </a:solidFill>
              </a:rPr>
              <a:t> </a:t>
            </a:r>
            <a:r>
              <a:rPr lang="en-US" altLang="zh-CN">
                <a:solidFill>
                  <a:schemeClr val="accent1"/>
                </a:solidFill>
              </a:rPr>
              <a:t>0/1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F0E43FE9-4D84-EE4C-831B-099B8FCBD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0D542F-3815-334D-A61B-646A71060F86}"/>
              </a:ext>
            </a:extLst>
          </p:cNvPr>
          <p:cNvSpPr/>
          <p:nvPr/>
        </p:nvSpPr>
        <p:spPr>
          <a:xfrm>
            <a:off x="7709847" y="15005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Courier" pitchFamily="2" charset="0"/>
              </a:rPr>
              <a:t>LL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8CBB1B0-2F5A-C341-AA43-D6BC7EC3E577}"/>
              </a:ext>
            </a:extLst>
          </p:cNvPr>
          <p:cNvSpPr/>
          <p:nvPr/>
        </p:nvSpPr>
        <p:spPr>
          <a:xfrm>
            <a:off x="8603968" y="2373922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Courier" pitchFamily="2" charset="0"/>
              </a:rPr>
              <a:t>SC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3922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CEAEF-FD04-FE44-ADDF-8970C5269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硬件原子操作：</a:t>
            </a:r>
            <a:r>
              <a:rPr lang="en-US" altLang="zh-CN"/>
              <a:t>ARM</a:t>
            </a:r>
            <a:r>
              <a:rPr lang="zh-CN" altLang="en-US"/>
              <a:t>使用</a:t>
            </a:r>
            <a:r>
              <a:rPr lang="en-CN"/>
              <a:t>LL/SC</a:t>
            </a:r>
            <a:r>
              <a:rPr lang="zh-CN" altLang="en-CN"/>
              <a:t>实现</a:t>
            </a:r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AFEC5C-5EC3-9544-BB17-4FA515648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9F89FF-4FDD-DA49-80A7-22159B4F2B49}"/>
              </a:ext>
            </a:extLst>
          </p:cNvPr>
          <p:cNvSpPr/>
          <p:nvPr/>
        </p:nvSpPr>
        <p:spPr>
          <a:xfrm>
            <a:off x="5313501" y="3810735"/>
            <a:ext cx="2813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 dirty="0"/>
              <a:t>第</a:t>
            </a:r>
            <a:r>
              <a:rPr lang="zh-CN" altLang="en-US" dirty="0"/>
              <a:t>一</a:t>
            </a:r>
            <a:r>
              <a:rPr lang="zh-CN" altLang="en-CN" dirty="0"/>
              <a:t>行</a:t>
            </a:r>
            <a:r>
              <a:rPr lang="zh-CN" altLang="en-US" dirty="0"/>
              <a:t>读的时候</a:t>
            </a:r>
            <a:r>
              <a:rPr lang="zh-CN" altLang="en-US" b="1" dirty="0"/>
              <a:t>监视</a:t>
            </a:r>
            <a:r>
              <a:rPr lang="en-US" altLang="zh-CN" dirty="0" err="1">
                <a:latin typeface="Courier" pitchFamily="2" charset="0"/>
              </a:rPr>
              <a:t>addr</a:t>
            </a:r>
            <a:endParaRPr lang="en-US" altLang="zh-CN" dirty="0">
              <a:latin typeface="Courier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C1B444-6A76-C94C-BADB-6ABBA2318373}"/>
              </a:ext>
            </a:extLst>
          </p:cNvPr>
          <p:cNvSpPr/>
          <p:nvPr/>
        </p:nvSpPr>
        <p:spPr>
          <a:xfrm>
            <a:off x="4427983" y="4209311"/>
            <a:ext cx="46602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第四行修改的时候看</a:t>
            </a:r>
            <a:r>
              <a:rPr lang="en-US" altLang="zh-CN">
                <a:latin typeface="Courier" pitchFamily="2" charset="0"/>
              </a:rPr>
              <a:t>addr</a:t>
            </a:r>
            <a:r>
              <a:rPr lang="zh-CN" altLang="en-US" b="1">
                <a:latin typeface="Courier" pitchFamily="2" charset="0"/>
              </a:rPr>
              <a:t>是否被其他人修改</a:t>
            </a:r>
            <a:endParaRPr lang="en-US" altLang="zh-CN" b="1">
              <a:latin typeface="Courier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1206E6-2BF5-A547-862A-DFC8F1487C11}"/>
              </a:ext>
            </a:extLst>
          </p:cNvPr>
          <p:cNvSpPr/>
          <p:nvPr/>
        </p:nvSpPr>
        <p:spPr>
          <a:xfrm>
            <a:off x="4736700" y="4658490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>
                <a:latin typeface="Courier" pitchFamily="2" charset="0"/>
              </a:rPr>
              <a:t>没人</a:t>
            </a:r>
            <a:r>
              <a:rPr lang="zh-CN" altLang="en-US">
                <a:latin typeface="Courier" pitchFamily="2" charset="0"/>
              </a:rPr>
              <a:t>修改就写成功，否则回到第二行</a:t>
            </a:r>
            <a:endParaRPr lang="en-US" altLang="zh-CN">
              <a:latin typeface="Courier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27BC5A-1D43-E147-B923-CBF2BF833EE6}"/>
              </a:ext>
            </a:extLst>
          </p:cNvPr>
          <p:cNvSpPr/>
          <p:nvPr/>
        </p:nvSpPr>
        <p:spPr>
          <a:xfrm>
            <a:off x="457200" y="2065412"/>
            <a:ext cx="1450504" cy="25930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ADB5E5-ED05-494A-95CB-1781496A4BD0}"/>
              </a:ext>
            </a:extLst>
          </p:cNvPr>
          <p:cNvSpPr/>
          <p:nvPr/>
        </p:nvSpPr>
        <p:spPr>
          <a:xfrm>
            <a:off x="611560" y="3626069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A5CBD2-F034-EE4A-BFB3-23515EAC92B6}"/>
              </a:ext>
            </a:extLst>
          </p:cNvPr>
          <p:cNvSpPr/>
          <p:nvPr/>
        </p:nvSpPr>
        <p:spPr>
          <a:xfrm>
            <a:off x="710570" y="3182504"/>
            <a:ext cx="9541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/>
              <a:t>Monitor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19AA1C-AC92-2A48-BAC4-240CC3388492}"/>
              </a:ext>
            </a:extLst>
          </p:cNvPr>
          <p:cNvSpPr/>
          <p:nvPr/>
        </p:nvSpPr>
        <p:spPr>
          <a:xfrm>
            <a:off x="611559" y="3995401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89A5B0-29B1-AE4E-853E-02B73C52A911}"/>
              </a:ext>
            </a:extLst>
          </p:cNvPr>
          <p:cNvSpPr/>
          <p:nvPr/>
        </p:nvSpPr>
        <p:spPr>
          <a:xfrm>
            <a:off x="2261629" y="3610848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168557-BC22-A34E-BD12-1D3A96EA29B9}"/>
              </a:ext>
            </a:extLst>
          </p:cNvPr>
          <p:cNvSpPr/>
          <p:nvPr/>
        </p:nvSpPr>
        <p:spPr>
          <a:xfrm>
            <a:off x="2360639" y="3167283"/>
            <a:ext cx="9541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/>
              <a:t>Monitor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8CD7D1-38B5-1541-9C4C-C13B1524F392}"/>
              </a:ext>
            </a:extLst>
          </p:cNvPr>
          <p:cNvSpPr/>
          <p:nvPr/>
        </p:nvSpPr>
        <p:spPr>
          <a:xfrm>
            <a:off x="2261628" y="3980180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EB13F3-A062-0048-A7AE-19CDDC548884}"/>
              </a:ext>
            </a:extLst>
          </p:cNvPr>
          <p:cNvSpPr/>
          <p:nvPr/>
        </p:nvSpPr>
        <p:spPr>
          <a:xfrm>
            <a:off x="846462" y="2246400"/>
            <a:ext cx="671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N"/>
              <a:t>CPU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F54B89-007B-9846-88AE-816F341AFF17}"/>
              </a:ext>
            </a:extLst>
          </p:cNvPr>
          <p:cNvSpPr/>
          <p:nvPr/>
        </p:nvSpPr>
        <p:spPr>
          <a:xfrm>
            <a:off x="2082701" y="2065017"/>
            <a:ext cx="1450504" cy="25930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EAEDD7-5C3C-A645-ACA6-D7015FE1AB64}"/>
              </a:ext>
            </a:extLst>
          </p:cNvPr>
          <p:cNvSpPr/>
          <p:nvPr/>
        </p:nvSpPr>
        <p:spPr>
          <a:xfrm>
            <a:off x="2471963" y="2246005"/>
            <a:ext cx="671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N"/>
              <a:t>CPU</a:t>
            </a:r>
          </a:p>
        </p:txBody>
      </p:sp>
      <p:sp>
        <p:nvSpPr>
          <p:cNvPr id="28" name="Cloud 27">
            <a:extLst>
              <a:ext uri="{FF2B5EF4-FFF2-40B4-BE49-F238E27FC236}">
                <a16:creationId xmlns:a16="http://schemas.microsoft.com/office/drawing/2014/main" id="{9C258F96-A071-714A-8A18-814F18DA9224}"/>
              </a:ext>
            </a:extLst>
          </p:cNvPr>
          <p:cNvSpPr/>
          <p:nvPr/>
        </p:nvSpPr>
        <p:spPr>
          <a:xfrm>
            <a:off x="105033" y="1070920"/>
            <a:ext cx="2088753" cy="993491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对比</a:t>
            </a:r>
            <a:r>
              <a:rPr lang="zh-CN" altLang="en-US">
                <a:solidFill>
                  <a:schemeClr val="tx1"/>
                </a:solidFill>
              </a:rPr>
              <a:t>成功了，我要改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29" name="Cloud 28">
            <a:extLst>
              <a:ext uri="{FF2B5EF4-FFF2-40B4-BE49-F238E27FC236}">
                <a16:creationId xmlns:a16="http://schemas.microsoft.com/office/drawing/2014/main" id="{50FF56F1-6D66-594A-A648-EC5153C0B182}"/>
              </a:ext>
            </a:extLst>
          </p:cNvPr>
          <p:cNvSpPr/>
          <p:nvPr/>
        </p:nvSpPr>
        <p:spPr>
          <a:xfrm>
            <a:off x="1980233" y="1056905"/>
            <a:ext cx="1786217" cy="993491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我也要看</a:t>
            </a:r>
            <a:r>
              <a:rPr lang="en-US" altLang="zh-CN">
                <a:solidFill>
                  <a:schemeClr val="tx1"/>
                </a:solidFill>
              </a:rPr>
              <a:t>addr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1EB8F3-1230-194D-B8B6-23522B8CE7D8}"/>
              </a:ext>
            </a:extLst>
          </p:cNvPr>
          <p:cNvSpPr/>
          <p:nvPr/>
        </p:nvSpPr>
        <p:spPr>
          <a:xfrm>
            <a:off x="2439902" y="3639852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addr</a:t>
            </a:r>
            <a:endParaRPr lang="en-CN">
              <a:solidFill>
                <a:srgbClr val="C00000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CA8C6EF-C5C0-CB48-BE7C-9B7C3AD1570B}"/>
              </a:ext>
            </a:extLst>
          </p:cNvPr>
          <p:cNvCxnSpPr>
            <a:cxnSpLocks/>
          </p:cNvCxnSpPr>
          <p:nvPr/>
        </p:nvCxnSpPr>
        <p:spPr>
          <a:xfrm>
            <a:off x="1170143" y="4690045"/>
            <a:ext cx="0" cy="33777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67E3BEA-52B4-8745-963A-F6AEAD20C6F5}"/>
              </a:ext>
            </a:extLst>
          </p:cNvPr>
          <p:cNvCxnSpPr>
            <a:cxnSpLocks/>
          </p:cNvCxnSpPr>
          <p:nvPr/>
        </p:nvCxnSpPr>
        <p:spPr>
          <a:xfrm>
            <a:off x="2790323" y="4690045"/>
            <a:ext cx="0" cy="33777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5BD4704-9D0B-0140-B8BD-279BDD5B12B8}"/>
              </a:ext>
            </a:extLst>
          </p:cNvPr>
          <p:cNvCxnSpPr>
            <a:cxnSpLocks/>
          </p:cNvCxnSpPr>
          <p:nvPr/>
        </p:nvCxnSpPr>
        <p:spPr>
          <a:xfrm flipH="1">
            <a:off x="1134139" y="5027822"/>
            <a:ext cx="16921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FA69BD2-D71A-2147-B0B9-5AFD12192882}"/>
              </a:ext>
            </a:extLst>
          </p:cNvPr>
          <p:cNvCxnSpPr>
            <a:cxnSpLocks/>
            <a:endCxn id="30" idx="1"/>
          </p:cNvCxnSpPr>
          <p:nvPr/>
        </p:nvCxnSpPr>
        <p:spPr>
          <a:xfrm flipV="1">
            <a:off x="1664678" y="3824518"/>
            <a:ext cx="775224" cy="4109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96EDAC9D-1DB0-6147-9B1A-1895AB7365D6}"/>
              </a:ext>
            </a:extLst>
          </p:cNvPr>
          <p:cNvSpPr/>
          <p:nvPr/>
        </p:nvSpPr>
        <p:spPr>
          <a:xfrm>
            <a:off x="814401" y="3647853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B050"/>
                </a:solidFill>
                <a:latin typeface="Courier" pitchFamily="2" charset="0"/>
              </a:rPr>
              <a:t>addr</a:t>
            </a:r>
            <a:endParaRPr lang="en-CN">
              <a:solidFill>
                <a:srgbClr val="00B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3F1F32-E827-B344-9AD6-A7369E49C1F7}"/>
              </a:ext>
            </a:extLst>
          </p:cNvPr>
          <p:cNvSpPr txBox="1"/>
          <p:nvPr/>
        </p:nvSpPr>
        <p:spPr>
          <a:xfrm>
            <a:off x="531791" y="2689965"/>
            <a:ext cx="1301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 sz="1200">
                <a:solidFill>
                  <a:srgbClr val="C00000"/>
                </a:solidFill>
              </a:rPr>
              <a:t>没有人</a:t>
            </a:r>
            <a:r>
              <a:rPr lang="zh-CN" altLang="en-US" sz="1200">
                <a:solidFill>
                  <a:srgbClr val="C00000"/>
                </a:solidFill>
              </a:rPr>
              <a:t>改这个地址，我改成功了</a:t>
            </a:r>
            <a:endParaRPr lang="en-CN" sz="1200">
              <a:solidFill>
                <a:srgbClr val="C0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93FE63-3743-6747-8A7E-E350213E10E7}"/>
              </a:ext>
            </a:extLst>
          </p:cNvPr>
          <p:cNvSpPr/>
          <p:nvPr/>
        </p:nvSpPr>
        <p:spPr>
          <a:xfrm>
            <a:off x="3624392" y="3426389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B050"/>
                </a:solidFill>
                <a:latin typeface="Courier" pitchFamily="2" charset="0"/>
              </a:rPr>
              <a:t>绿色没人修改</a:t>
            </a:r>
            <a:endParaRPr lang="en-US" altLang="zh-CN">
              <a:solidFill>
                <a:srgbClr val="00B050"/>
              </a:solidFill>
              <a:latin typeface="Courier" pitchFamily="2" charset="0"/>
            </a:endParaRPr>
          </a:p>
          <a:p>
            <a:r>
              <a:rPr lang="zh-CN" altLang="en-CN">
                <a:solidFill>
                  <a:srgbClr val="C00000"/>
                </a:solidFill>
              </a:rPr>
              <a:t>红色</a:t>
            </a:r>
            <a:r>
              <a:rPr lang="zh-CN" altLang="en-US">
                <a:solidFill>
                  <a:srgbClr val="C00000"/>
                </a:solidFill>
              </a:rPr>
              <a:t>被修改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E56CC09-AB21-B544-AFBC-00564A00D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37" name="Rectangle 4">
            <a:extLst>
              <a:ext uri="{FF2B5EF4-FFF2-40B4-BE49-F238E27FC236}">
                <a16:creationId xmlns:a16="http://schemas.microsoft.com/office/drawing/2014/main" id="{82F3DDFB-7C4D-FE45-964A-F2C72A29C99B}"/>
              </a:ext>
            </a:extLst>
          </p:cNvPr>
          <p:cNvSpPr/>
          <p:nvPr/>
        </p:nvSpPr>
        <p:spPr>
          <a:xfrm>
            <a:off x="5224013" y="3380535"/>
            <a:ext cx="33906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Load-linked &amp; Store-conditional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D78808E-71A3-EC40-855C-0096DAAD3CB3}"/>
              </a:ext>
            </a:extLst>
          </p:cNvPr>
          <p:cNvSpPr/>
          <p:nvPr/>
        </p:nvSpPr>
        <p:spPr>
          <a:xfrm>
            <a:off x="4005322" y="1529761"/>
            <a:ext cx="466025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retry:	ldxr	x0, addr</a:t>
            </a:r>
          </a:p>
          <a:p>
            <a:r>
              <a:rPr lang="en-CN">
                <a:latin typeface="Courier" pitchFamily="2" charset="0"/>
              </a:rPr>
              <a:t>	cmp	x0, expected</a:t>
            </a:r>
          </a:p>
          <a:p>
            <a:r>
              <a:rPr lang="en-CN">
                <a:latin typeface="Courier" pitchFamily="2" charset="0"/>
              </a:rPr>
              <a:t>	bne	out</a:t>
            </a:r>
          </a:p>
          <a:p>
            <a:r>
              <a:rPr lang="en-CN">
                <a:latin typeface="Courier" pitchFamily="2" charset="0"/>
              </a:rPr>
              <a:t>	stxr	x1, new_value, addr</a:t>
            </a:r>
          </a:p>
          <a:p>
            <a:r>
              <a:rPr lang="en-CN">
                <a:latin typeface="Courier" pitchFamily="2" charset="0"/>
              </a:rPr>
              <a:t>	cbnz	x1, retry</a:t>
            </a:r>
          </a:p>
          <a:p>
            <a:r>
              <a:rPr lang="en-CN">
                <a:latin typeface="Courier" pitchFamily="2" charset="0"/>
              </a:rPr>
              <a:t>out:	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9317AA2-ADD2-F244-83C5-CA52352C9EAE}"/>
              </a:ext>
            </a:extLst>
          </p:cNvPr>
          <p:cNvSpPr/>
          <p:nvPr/>
        </p:nvSpPr>
        <p:spPr>
          <a:xfrm>
            <a:off x="4139830" y="2175281"/>
            <a:ext cx="86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N">
                <a:solidFill>
                  <a:schemeClr val="accent1"/>
                </a:solidFill>
              </a:rPr>
              <a:t>CPU</a:t>
            </a:r>
            <a:r>
              <a:rPr lang="zh-CN" altLang="en-US">
                <a:solidFill>
                  <a:schemeClr val="accent1"/>
                </a:solidFill>
              </a:rPr>
              <a:t> </a:t>
            </a:r>
            <a:r>
              <a:rPr lang="en-US" altLang="zh-CN">
                <a:solidFill>
                  <a:schemeClr val="accent1"/>
                </a:solidFill>
              </a:rPr>
              <a:t>0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719C4CA-1443-BB4B-964A-F668DE665AA3}"/>
              </a:ext>
            </a:extLst>
          </p:cNvPr>
          <p:cNvSpPr/>
          <p:nvPr/>
        </p:nvSpPr>
        <p:spPr>
          <a:xfrm>
            <a:off x="7709847" y="15005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Courier" pitchFamily="2" charset="0"/>
              </a:rPr>
              <a:t>LL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0C77A5C-FD7E-8D49-8C23-C084F2F7B685}"/>
              </a:ext>
            </a:extLst>
          </p:cNvPr>
          <p:cNvSpPr/>
          <p:nvPr/>
        </p:nvSpPr>
        <p:spPr>
          <a:xfrm>
            <a:off x="8603968" y="2373922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Courier" pitchFamily="2" charset="0"/>
              </a:rPr>
              <a:t>SC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B84A40B-8843-1749-A8FB-929901F8ECAF}"/>
              </a:ext>
            </a:extLst>
          </p:cNvPr>
          <p:cNvCxnSpPr>
            <a:cxnSpLocks/>
          </p:cNvCxnSpPr>
          <p:nvPr/>
        </p:nvCxnSpPr>
        <p:spPr>
          <a:xfrm>
            <a:off x="4211960" y="2696184"/>
            <a:ext cx="3575253" cy="0"/>
          </a:xfrm>
          <a:prstGeom prst="straightConnector1">
            <a:avLst/>
          </a:prstGeom>
          <a:ln w="571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54E7DAE4-C389-B041-80F0-D700000EDDEC}"/>
              </a:ext>
            </a:extLst>
          </p:cNvPr>
          <p:cNvSpPr/>
          <p:nvPr/>
        </p:nvSpPr>
        <p:spPr>
          <a:xfrm>
            <a:off x="5820924" y="2418234"/>
            <a:ext cx="440179" cy="2699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FFE40D-CAED-D744-A05E-745121BA0B8D}"/>
              </a:ext>
            </a:extLst>
          </p:cNvPr>
          <p:cNvSpPr/>
          <p:nvPr/>
        </p:nvSpPr>
        <p:spPr>
          <a:xfrm>
            <a:off x="7101787" y="206675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是否成功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666117B-9552-0A42-B34A-BB4A688C2076}"/>
              </a:ext>
            </a:extLst>
          </p:cNvPr>
          <p:cNvSpPr/>
          <p:nvPr/>
        </p:nvSpPr>
        <p:spPr>
          <a:xfrm>
            <a:off x="4138844" y="2758713"/>
            <a:ext cx="86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N">
                <a:solidFill>
                  <a:schemeClr val="accent1"/>
                </a:solidFill>
              </a:rPr>
              <a:t>CPU</a:t>
            </a:r>
            <a:r>
              <a:rPr lang="zh-CN" altLang="en-US">
                <a:solidFill>
                  <a:schemeClr val="accent1"/>
                </a:solidFill>
              </a:rPr>
              <a:t> </a:t>
            </a:r>
            <a:r>
              <a:rPr lang="en-US" altLang="zh-CN">
                <a:solidFill>
                  <a:schemeClr val="accent1"/>
                </a:solidFill>
              </a:rPr>
              <a:t>1</a:t>
            </a:r>
            <a:endParaRPr lang="en-CN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5102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3061C4BC-04D7-1C48-9D67-2A0CF99075BE}"/>
              </a:ext>
            </a:extLst>
          </p:cNvPr>
          <p:cNvSpPr/>
          <p:nvPr/>
        </p:nvSpPr>
        <p:spPr>
          <a:xfrm>
            <a:off x="4005322" y="1529761"/>
            <a:ext cx="466025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retry:	ldxr	x0, addr</a:t>
            </a:r>
          </a:p>
          <a:p>
            <a:r>
              <a:rPr lang="en-CN">
                <a:latin typeface="Courier" pitchFamily="2" charset="0"/>
              </a:rPr>
              <a:t>	cmp	x0, expected</a:t>
            </a:r>
          </a:p>
          <a:p>
            <a:r>
              <a:rPr lang="en-CN">
                <a:latin typeface="Courier" pitchFamily="2" charset="0"/>
              </a:rPr>
              <a:t>	bne	out</a:t>
            </a:r>
          </a:p>
          <a:p>
            <a:r>
              <a:rPr lang="en-CN">
                <a:latin typeface="Courier" pitchFamily="2" charset="0"/>
              </a:rPr>
              <a:t>	stxr	x1, new_value, addr</a:t>
            </a:r>
          </a:p>
          <a:p>
            <a:r>
              <a:rPr lang="en-CN">
                <a:latin typeface="Courier" pitchFamily="2" charset="0"/>
              </a:rPr>
              <a:t>	cbnz	x1, retry</a:t>
            </a:r>
          </a:p>
          <a:p>
            <a:r>
              <a:rPr lang="en-CN">
                <a:latin typeface="Courier" pitchFamily="2" charset="0"/>
              </a:rPr>
              <a:t>out:	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2CEAEF-FD04-FE44-ADDF-8970C5269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硬件原子操作：</a:t>
            </a:r>
            <a:r>
              <a:rPr lang="en-US" altLang="zh-CN"/>
              <a:t>ARM</a:t>
            </a:r>
            <a:r>
              <a:rPr lang="zh-CN" altLang="en-US"/>
              <a:t>使用</a:t>
            </a:r>
            <a:r>
              <a:rPr lang="en-CN"/>
              <a:t>LL/SC</a:t>
            </a:r>
            <a:r>
              <a:rPr lang="zh-CN" altLang="en-CN"/>
              <a:t>实现</a:t>
            </a:r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AFEC5C-5EC3-9544-BB17-4FA515648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9F89FF-4FDD-DA49-80A7-22159B4F2B49}"/>
              </a:ext>
            </a:extLst>
          </p:cNvPr>
          <p:cNvSpPr/>
          <p:nvPr/>
        </p:nvSpPr>
        <p:spPr>
          <a:xfrm>
            <a:off x="5313501" y="3810735"/>
            <a:ext cx="2813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 dirty="0"/>
              <a:t>第</a:t>
            </a:r>
            <a:r>
              <a:rPr lang="zh-CN" altLang="en-US" dirty="0"/>
              <a:t>一</a:t>
            </a:r>
            <a:r>
              <a:rPr lang="zh-CN" altLang="en-CN" dirty="0"/>
              <a:t>行</a:t>
            </a:r>
            <a:r>
              <a:rPr lang="zh-CN" altLang="en-US" dirty="0"/>
              <a:t>读的时候</a:t>
            </a:r>
            <a:r>
              <a:rPr lang="zh-CN" altLang="en-US" b="1" dirty="0"/>
              <a:t>监视</a:t>
            </a:r>
            <a:r>
              <a:rPr lang="en-US" altLang="zh-CN" dirty="0" err="1">
                <a:latin typeface="Courier" pitchFamily="2" charset="0"/>
              </a:rPr>
              <a:t>addr</a:t>
            </a:r>
            <a:endParaRPr lang="en-US" altLang="zh-CN" dirty="0">
              <a:latin typeface="Courier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C1B444-6A76-C94C-BADB-6ABBA2318373}"/>
              </a:ext>
            </a:extLst>
          </p:cNvPr>
          <p:cNvSpPr/>
          <p:nvPr/>
        </p:nvSpPr>
        <p:spPr>
          <a:xfrm>
            <a:off x="4427983" y="4209311"/>
            <a:ext cx="46602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第四行修改的时候看</a:t>
            </a:r>
            <a:r>
              <a:rPr lang="en-US" altLang="zh-CN">
                <a:latin typeface="Courier" pitchFamily="2" charset="0"/>
              </a:rPr>
              <a:t>addr</a:t>
            </a:r>
            <a:r>
              <a:rPr lang="zh-CN" altLang="en-US" b="1">
                <a:latin typeface="Courier" pitchFamily="2" charset="0"/>
              </a:rPr>
              <a:t>是否被其他人修改</a:t>
            </a:r>
            <a:endParaRPr lang="en-US" altLang="zh-CN" b="1">
              <a:latin typeface="Courier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1206E6-2BF5-A547-862A-DFC8F1487C11}"/>
              </a:ext>
            </a:extLst>
          </p:cNvPr>
          <p:cNvSpPr/>
          <p:nvPr/>
        </p:nvSpPr>
        <p:spPr>
          <a:xfrm>
            <a:off x="4736700" y="4658490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>
                <a:latin typeface="Courier" pitchFamily="2" charset="0"/>
              </a:rPr>
              <a:t>没人</a:t>
            </a:r>
            <a:r>
              <a:rPr lang="zh-CN" altLang="en-US">
                <a:latin typeface="Courier" pitchFamily="2" charset="0"/>
              </a:rPr>
              <a:t>修改就写成功，否则回到第二行</a:t>
            </a:r>
            <a:endParaRPr lang="en-US" altLang="zh-CN">
              <a:latin typeface="Courier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27BC5A-1D43-E147-B923-CBF2BF833EE6}"/>
              </a:ext>
            </a:extLst>
          </p:cNvPr>
          <p:cNvSpPr/>
          <p:nvPr/>
        </p:nvSpPr>
        <p:spPr>
          <a:xfrm>
            <a:off x="457200" y="2065412"/>
            <a:ext cx="1450504" cy="25930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ADB5E5-ED05-494A-95CB-1781496A4BD0}"/>
              </a:ext>
            </a:extLst>
          </p:cNvPr>
          <p:cNvSpPr/>
          <p:nvPr/>
        </p:nvSpPr>
        <p:spPr>
          <a:xfrm>
            <a:off x="611560" y="3626069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A5CBD2-F034-EE4A-BFB3-23515EAC92B6}"/>
              </a:ext>
            </a:extLst>
          </p:cNvPr>
          <p:cNvSpPr/>
          <p:nvPr/>
        </p:nvSpPr>
        <p:spPr>
          <a:xfrm>
            <a:off x="710570" y="3182504"/>
            <a:ext cx="9541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/>
              <a:t>Monitor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19AA1C-AC92-2A48-BAC4-240CC3388492}"/>
              </a:ext>
            </a:extLst>
          </p:cNvPr>
          <p:cNvSpPr/>
          <p:nvPr/>
        </p:nvSpPr>
        <p:spPr>
          <a:xfrm>
            <a:off x="611559" y="3995401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89A5B0-29B1-AE4E-853E-02B73C52A911}"/>
              </a:ext>
            </a:extLst>
          </p:cNvPr>
          <p:cNvSpPr/>
          <p:nvPr/>
        </p:nvSpPr>
        <p:spPr>
          <a:xfrm>
            <a:off x="2261629" y="3610848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168557-BC22-A34E-BD12-1D3A96EA29B9}"/>
              </a:ext>
            </a:extLst>
          </p:cNvPr>
          <p:cNvSpPr/>
          <p:nvPr/>
        </p:nvSpPr>
        <p:spPr>
          <a:xfrm>
            <a:off x="2360639" y="3167283"/>
            <a:ext cx="9541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/>
              <a:t>Monitor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8CD7D1-38B5-1541-9C4C-C13B1524F392}"/>
              </a:ext>
            </a:extLst>
          </p:cNvPr>
          <p:cNvSpPr/>
          <p:nvPr/>
        </p:nvSpPr>
        <p:spPr>
          <a:xfrm>
            <a:off x="2261628" y="3980180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EB13F3-A062-0048-A7AE-19CDDC548884}"/>
              </a:ext>
            </a:extLst>
          </p:cNvPr>
          <p:cNvSpPr/>
          <p:nvPr/>
        </p:nvSpPr>
        <p:spPr>
          <a:xfrm>
            <a:off x="846462" y="2246400"/>
            <a:ext cx="671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N"/>
              <a:t>CPU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F54B89-007B-9846-88AE-816F341AFF17}"/>
              </a:ext>
            </a:extLst>
          </p:cNvPr>
          <p:cNvSpPr/>
          <p:nvPr/>
        </p:nvSpPr>
        <p:spPr>
          <a:xfrm>
            <a:off x="2082701" y="2065017"/>
            <a:ext cx="1450504" cy="25930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EAEDD7-5C3C-A645-ACA6-D7015FE1AB64}"/>
              </a:ext>
            </a:extLst>
          </p:cNvPr>
          <p:cNvSpPr/>
          <p:nvPr/>
        </p:nvSpPr>
        <p:spPr>
          <a:xfrm>
            <a:off x="2471963" y="2246005"/>
            <a:ext cx="671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N"/>
              <a:t>CPU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1EB8F3-1230-194D-B8B6-23522B8CE7D8}"/>
              </a:ext>
            </a:extLst>
          </p:cNvPr>
          <p:cNvSpPr/>
          <p:nvPr/>
        </p:nvSpPr>
        <p:spPr>
          <a:xfrm>
            <a:off x="2439902" y="3639852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addr</a:t>
            </a:r>
            <a:endParaRPr lang="en-CN">
              <a:solidFill>
                <a:srgbClr val="C00000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CA8C6EF-C5C0-CB48-BE7C-9B7C3AD1570B}"/>
              </a:ext>
            </a:extLst>
          </p:cNvPr>
          <p:cNvCxnSpPr>
            <a:cxnSpLocks/>
          </p:cNvCxnSpPr>
          <p:nvPr/>
        </p:nvCxnSpPr>
        <p:spPr>
          <a:xfrm>
            <a:off x="1170143" y="4690045"/>
            <a:ext cx="0" cy="33777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67E3BEA-52B4-8745-963A-F6AEAD20C6F5}"/>
              </a:ext>
            </a:extLst>
          </p:cNvPr>
          <p:cNvCxnSpPr>
            <a:cxnSpLocks/>
          </p:cNvCxnSpPr>
          <p:nvPr/>
        </p:nvCxnSpPr>
        <p:spPr>
          <a:xfrm>
            <a:off x="2790323" y="4690045"/>
            <a:ext cx="0" cy="33777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5BD4704-9D0B-0140-B8BD-279BDD5B12B8}"/>
              </a:ext>
            </a:extLst>
          </p:cNvPr>
          <p:cNvCxnSpPr>
            <a:cxnSpLocks/>
          </p:cNvCxnSpPr>
          <p:nvPr/>
        </p:nvCxnSpPr>
        <p:spPr>
          <a:xfrm flipH="1">
            <a:off x="1134139" y="5027822"/>
            <a:ext cx="16921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7E93FE63-3743-6747-8A7E-E350213E10E7}"/>
              </a:ext>
            </a:extLst>
          </p:cNvPr>
          <p:cNvSpPr/>
          <p:nvPr/>
        </p:nvSpPr>
        <p:spPr>
          <a:xfrm>
            <a:off x="3624392" y="3426389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B050"/>
                </a:solidFill>
                <a:latin typeface="Courier" pitchFamily="2" charset="0"/>
              </a:rPr>
              <a:t>绿色没人修改</a:t>
            </a:r>
            <a:endParaRPr lang="en-US" altLang="zh-CN">
              <a:solidFill>
                <a:srgbClr val="00B050"/>
              </a:solidFill>
              <a:latin typeface="Courier" pitchFamily="2" charset="0"/>
            </a:endParaRPr>
          </a:p>
          <a:p>
            <a:r>
              <a:rPr lang="zh-CN" altLang="en-CN">
                <a:solidFill>
                  <a:srgbClr val="C00000"/>
                </a:solidFill>
              </a:rPr>
              <a:t>红色</a:t>
            </a:r>
            <a:r>
              <a:rPr lang="zh-CN" altLang="en-US">
                <a:solidFill>
                  <a:srgbClr val="C00000"/>
                </a:solidFill>
              </a:rPr>
              <a:t>被修改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33" name="Cloud 32">
            <a:extLst>
              <a:ext uri="{FF2B5EF4-FFF2-40B4-BE49-F238E27FC236}">
                <a16:creationId xmlns:a16="http://schemas.microsoft.com/office/drawing/2014/main" id="{971CF8C1-240B-1140-9018-9914C2A9D337}"/>
              </a:ext>
            </a:extLst>
          </p:cNvPr>
          <p:cNvSpPr/>
          <p:nvPr/>
        </p:nvSpPr>
        <p:spPr>
          <a:xfrm>
            <a:off x="1745946" y="1038696"/>
            <a:ext cx="2088753" cy="993491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对比</a:t>
            </a:r>
            <a:r>
              <a:rPr lang="zh-CN" altLang="en-US">
                <a:solidFill>
                  <a:schemeClr val="tx1"/>
                </a:solidFill>
              </a:rPr>
              <a:t>成功了，我要改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0A7B7C-2E3F-7348-87F4-137C812668C6}"/>
              </a:ext>
            </a:extLst>
          </p:cNvPr>
          <p:cNvSpPr/>
          <p:nvPr/>
        </p:nvSpPr>
        <p:spPr>
          <a:xfrm>
            <a:off x="2194573" y="2568145"/>
            <a:ext cx="12949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>
                <a:solidFill>
                  <a:srgbClr val="C00000"/>
                </a:solidFill>
              </a:rPr>
              <a:t>有人要改我这个地址，我不能存了，回去重新看</a:t>
            </a:r>
            <a:endParaRPr lang="en-CN" sz="1200">
              <a:solidFill>
                <a:srgbClr val="C00000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588D0D1-E1B9-7448-9B13-68AC3FF3707F}"/>
              </a:ext>
            </a:extLst>
          </p:cNvPr>
          <p:cNvCxnSpPr>
            <a:cxnSpLocks/>
          </p:cNvCxnSpPr>
          <p:nvPr/>
        </p:nvCxnSpPr>
        <p:spPr>
          <a:xfrm>
            <a:off x="4348294" y="1864186"/>
            <a:ext cx="3575253" cy="0"/>
          </a:xfrm>
          <a:prstGeom prst="straightConnector1">
            <a:avLst/>
          </a:prstGeom>
          <a:ln w="571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02AC78C-F863-9B4F-ADDC-9C5F9D02D16E}"/>
              </a:ext>
            </a:extLst>
          </p:cNvPr>
          <p:cNvCxnSpPr>
            <a:cxnSpLocks/>
          </p:cNvCxnSpPr>
          <p:nvPr/>
        </p:nvCxnSpPr>
        <p:spPr>
          <a:xfrm>
            <a:off x="4334452" y="3001516"/>
            <a:ext cx="3938704" cy="0"/>
          </a:xfrm>
          <a:prstGeom prst="straightConnector1">
            <a:avLst/>
          </a:prstGeom>
          <a:ln w="571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504BCA3-70E2-E148-8E64-A4D590D9EF75}"/>
              </a:ext>
            </a:extLst>
          </p:cNvPr>
          <p:cNvSpPr/>
          <p:nvPr/>
        </p:nvSpPr>
        <p:spPr>
          <a:xfrm>
            <a:off x="4441845" y="2272287"/>
            <a:ext cx="86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N">
                <a:solidFill>
                  <a:schemeClr val="accent1"/>
                </a:solidFill>
              </a:rPr>
              <a:t>CPU</a:t>
            </a:r>
            <a:r>
              <a:rPr lang="zh-CN" altLang="en-US">
                <a:solidFill>
                  <a:schemeClr val="accent1"/>
                </a:solidFill>
              </a:rPr>
              <a:t> </a:t>
            </a:r>
            <a:r>
              <a:rPr lang="en-US" altLang="zh-CN">
                <a:solidFill>
                  <a:schemeClr val="accent1"/>
                </a:solidFill>
              </a:rPr>
              <a:t>1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4859107A-30A4-0246-B684-61FA812D82AE}"/>
              </a:ext>
            </a:extLst>
          </p:cNvPr>
          <p:cNvSpPr/>
          <p:nvPr/>
        </p:nvSpPr>
        <p:spPr>
          <a:xfrm>
            <a:off x="3767539" y="1727123"/>
            <a:ext cx="1320887" cy="805724"/>
          </a:xfrm>
          <a:prstGeom prst="arc">
            <a:avLst>
              <a:gd name="adj1" fmla="val 8477354"/>
              <a:gd name="adj2" fmla="val 12781161"/>
            </a:avLst>
          </a:prstGeom>
          <a:ln w="50800">
            <a:solidFill>
              <a:srgbClr val="00B050"/>
            </a:solidFill>
            <a:headEnd type="none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00B05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A3E8C3-4181-1C4D-B62D-37371D1DC85D}"/>
              </a:ext>
            </a:extLst>
          </p:cNvPr>
          <p:cNvSpPr/>
          <p:nvPr/>
        </p:nvSpPr>
        <p:spPr>
          <a:xfrm>
            <a:off x="4466026" y="110005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失败重试</a:t>
            </a:r>
            <a:endParaRPr lang="en-CN"/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BC4E29F2-89B1-4A44-8C83-F5AC84915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39" name="Rectangle 4">
            <a:extLst>
              <a:ext uri="{FF2B5EF4-FFF2-40B4-BE49-F238E27FC236}">
                <a16:creationId xmlns:a16="http://schemas.microsoft.com/office/drawing/2014/main" id="{4EB2D6C4-E0CE-7F47-BF9B-B4ADC7DCD64B}"/>
              </a:ext>
            </a:extLst>
          </p:cNvPr>
          <p:cNvSpPr/>
          <p:nvPr/>
        </p:nvSpPr>
        <p:spPr>
          <a:xfrm>
            <a:off x="5224013" y="3380535"/>
            <a:ext cx="33906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Load-linked &amp; Store-conditional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0692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硬件原子操作：使用硬件辅助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2FF0FA-6802-D041-A59C-5117EFEA195D}"/>
              </a:ext>
            </a:extLst>
          </p:cNvPr>
          <p:cNvSpPr/>
          <p:nvPr/>
        </p:nvSpPr>
        <p:spPr>
          <a:xfrm>
            <a:off x="812540" y="1631673"/>
            <a:ext cx="75189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>
                <a:latin typeface="Courier" pitchFamily="2" charset="0"/>
              </a:rPr>
              <a:t>1.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CN">
                <a:latin typeface="Courier" pitchFamily="2" charset="0"/>
              </a:rPr>
              <a:t>int CAS(int *addr, int expected, int new_value) { </a:t>
            </a:r>
          </a:p>
          <a:p>
            <a:r>
              <a:rPr lang="en-US" altLang="zh-CN">
                <a:latin typeface="Courier" pitchFamily="2" charset="0"/>
              </a:rPr>
              <a:t>2.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CN">
                <a:latin typeface="Courier" pitchFamily="2" charset="0"/>
              </a:rPr>
              <a:t>	int tmp = *addr;</a:t>
            </a:r>
          </a:p>
          <a:p>
            <a:r>
              <a:rPr lang="en-US" altLang="zh-CN">
                <a:latin typeface="Courier" pitchFamily="2" charset="0"/>
              </a:rPr>
              <a:t>3.</a:t>
            </a:r>
            <a:r>
              <a:rPr lang="en-CN">
                <a:latin typeface="Courier" pitchFamily="2" charset="0"/>
              </a:rPr>
              <a:t>	if (*addr == expected)</a:t>
            </a:r>
          </a:p>
          <a:p>
            <a:r>
              <a:rPr lang="en-US" altLang="zh-CN">
                <a:latin typeface="Courier" pitchFamily="2" charset="0"/>
              </a:rPr>
              <a:t>4.</a:t>
            </a:r>
            <a:r>
              <a:rPr lang="en-CN">
                <a:latin typeface="Courier" pitchFamily="2" charset="0"/>
              </a:rPr>
              <a:t>		*addr = new_value;</a:t>
            </a:r>
          </a:p>
          <a:p>
            <a:r>
              <a:rPr lang="en-US" altLang="zh-CN">
                <a:latin typeface="Courier" pitchFamily="2" charset="0"/>
              </a:rPr>
              <a:t>5.</a:t>
            </a:r>
            <a:r>
              <a:rPr lang="en-CN">
                <a:latin typeface="Courier" pitchFamily="2" charset="0"/>
              </a:rPr>
              <a:t>	return tmp;</a:t>
            </a:r>
          </a:p>
          <a:p>
            <a:r>
              <a:rPr lang="en-US" altLang="zh-CN">
                <a:latin typeface="Courier" pitchFamily="2" charset="0"/>
              </a:rPr>
              <a:t>6.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DCAF08-CEC3-124C-95CE-1283D24F0B97}"/>
              </a:ext>
            </a:extLst>
          </p:cNvPr>
          <p:cNvSpPr/>
          <p:nvPr/>
        </p:nvSpPr>
        <p:spPr>
          <a:xfrm>
            <a:off x="2843808" y="1160703"/>
            <a:ext cx="3971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 b="1" dirty="0"/>
              <a:t>比较</a:t>
            </a:r>
            <a:r>
              <a:rPr lang="zh-CN" altLang="en-US" b="1" dirty="0"/>
              <a:t>并替换（</a:t>
            </a:r>
            <a:r>
              <a:rPr lang="en-US" altLang="zh-CN" b="1" dirty="0"/>
              <a:t>Compare</a:t>
            </a:r>
            <a:r>
              <a:rPr lang="zh-CN" altLang="en-US" b="1" dirty="0"/>
              <a:t> </a:t>
            </a:r>
            <a:r>
              <a:rPr lang="en-US" altLang="zh-CN" b="1" dirty="0"/>
              <a:t>And</a:t>
            </a:r>
            <a:r>
              <a:rPr lang="zh-CN" altLang="en-US" b="1" dirty="0"/>
              <a:t> </a:t>
            </a:r>
            <a:r>
              <a:rPr lang="en-US" altLang="zh-CN" b="1" dirty="0"/>
              <a:t>Swap</a:t>
            </a:r>
            <a:r>
              <a:rPr lang="zh-CN" altLang="en-US" b="1" dirty="0"/>
              <a:t>）</a:t>
            </a:r>
            <a:endParaRPr lang="en-CN" b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A2D5C7-41FB-A746-B4CB-10525B812E8D}"/>
              </a:ext>
            </a:extLst>
          </p:cNvPr>
          <p:cNvSpPr/>
          <p:nvPr/>
        </p:nvSpPr>
        <p:spPr>
          <a:xfrm>
            <a:off x="812540" y="3755086"/>
            <a:ext cx="751892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latin typeface="Courier" pitchFamily="2" charset="0"/>
              </a:rPr>
              <a:t>int FAA(int *addr, int add_value) {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latin typeface="Courier" pitchFamily="2" charset="0"/>
              </a:rPr>
              <a:t>	int tmp = *addr;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latin typeface="Courier" pitchFamily="2" charset="0"/>
              </a:rPr>
              <a:t>	*addr = *addr + add_value;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latin typeface="Courier" pitchFamily="2" charset="0"/>
              </a:rPr>
              <a:t>	return tmp;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latin typeface="Courier" pitchFamily="2" charset="0"/>
              </a:rPr>
              <a:t>}</a:t>
            </a:r>
            <a:endParaRPr lang="en-CN">
              <a:latin typeface="Courier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084539-1A1A-0742-A962-3243E24BF5D0}"/>
              </a:ext>
            </a:extLst>
          </p:cNvPr>
          <p:cNvSpPr/>
          <p:nvPr/>
        </p:nvSpPr>
        <p:spPr>
          <a:xfrm>
            <a:off x="2843808" y="3321206"/>
            <a:ext cx="34247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获取并增加（</a:t>
            </a:r>
            <a:r>
              <a:rPr lang="en-US" altLang="zh-CN" b="1" dirty="0"/>
              <a:t>Fetch</a:t>
            </a:r>
            <a:r>
              <a:rPr lang="zh-CN" altLang="en-US" b="1" dirty="0"/>
              <a:t> </a:t>
            </a:r>
            <a:r>
              <a:rPr lang="en-US" altLang="zh-CN" b="1" dirty="0"/>
              <a:t>And</a:t>
            </a:r>
            <a:r>
              <a:rPr lang="zh-CN" altLang="en-US" b="1" dirty="0"/>
              <a:t> </a:t>
            </a:r>
            <a:r>
              <a:rPr lang="en-US" altLang="zh-CN" b="1" dirty="0"/>
              <a:t>Add</a:t>
            </a:r>
            <a:r>
              <a:rPr lang="zh-CN" altLang="en-US" b="1" dirty="0"/>
              <a:t>）</a:t>
            </a:r>
            <a:endParaRPr lang="en-CN" b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CA27CD-1202-C84A-B5A5-E1E460993A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DBB85-1A18-4641-9451-E011D5F08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070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8F90B9AC-EED3-7241-B5B9-D2AE3FB66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锁的实现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04F656-28A6-E94B-97AC-8DDAE530D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F04DD-4D06-BC49-847F-9FBBA35AA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3916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340"/>
            <a:ext cx="8579296" cy="1132238"/>
          </a:xfrm>
        </p:spPr>
        <p:txBody>
          <a:bodyPr>
            <a:normAutofit/>
          </a:bodyPr>
          <a:lstStyle/>
          <a:p>
            <a:r>
              <a:rPr lang="zh-CN" altLang="en-US" dirty="0"/>
              <a:t>自旋锁（</a:t>
            </a:r>
            <a:r>
              <a:rPr lang="en-US" altLang="zh-CN" dirty="0"/>
              <a:t>Spinlock</a:t>
            </a:r>
            <a:r>
              <a:rPr lang="zh-CN" altLang="en-US" dirty="0"/>
              <a:t>）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52DA13-32FA-054E-8E09-8D359905A9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45885"/>
            <a:ext cx="2908300" cy="3886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575B907-A403-7142-92E7-D43A64A6D928}"/>
              </a:ext>
            </a:extLst>
          </p:cNvPr>
          <p:cNvSpPr/>
          <p:nvPr/>
        </p:nvSpPr>
        <p:spPr>
          <a:xfrm>
            <a:off x="4141963" y="1345402"/>
            <a:ext cx="46785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>
                <a:latin typeface="Courier" pitchFamily="2" charset="0"/>
              </a:rPr>
              <a:t>全局</a:t>
            </a:r>
            <a:r>
              <a:rPr lang="zh-CN" altLang="en-US">
                <a:latin typeface="Courier" pitchFamily="2" charset="0"/>
              </a:rPr>
              <a:t>标记 *</a:t>
            </a:r>
            <a:r>
              <a:rPr lang="en-US" altLang="zh-CN">
                <a:latin typeface="Courier" pitchFamily="2" charset="0"/>
              </a:rPr>
              <a:t>lock</a:t>
            </a:r>
            <a:r>
              <a:rPr lang="zh-CN" altLang="en-US">
                <a:latin typeface="Courier" pitchFamily="2" charset="0"/>
              </a:rPr>
              <a:t>：</a:t>
            </a:r>
            <a:r>
              <a:rPr lang="en-US" altLang="zh-CN">
                <a:latin typeface="Courier" pitchFamily="2" charset="0"/>
              </a:rPr>
              <a:t>0</a:t>
            </a:r>
            <a:r>
              <a:rPr lang="zh-CN" altLang="en-US">
                <a:latin typeface="Courier" pitchFamily="2" charset="0"/>
              </a:rPr>
              <a:t>表示空闲，</a:t>
            </a:r>
            <a:r>
              <a:rPr lang="en-US" altLang="zh-CN">
                <a:latin typeface="Courier" pitchFamily="2" charset="0"/>
              </a:rPr>
              <a:t>1</a:t>
            </a:r>
            <a:r>
              <a:rPr lang="zh-CN" altLang="en-US">
                <a:latin typeface="Courier" pitchFamily="2" charset="0"/>
              </a:rPr>
              <a:t>表示锁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CC7434-F75F-A047-B28D-9EA06F39A774}"/>
              </a:ext>
            </a:extLst>
          </p:cNvPr>
          <p:cNvSpPr/>
          <p:nvPr/>
        </p:nvSpPr>
        <p:spPr>
          <a:xfrm>
            <a:off x="3806236" y="1831309"/>
            <a:ext cx="5106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>
                <a:latin typeface="Courier" pitchFamily="2" charset="0"/>
              </a:rPr>
              <a:t>while(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atomic_CAS</a:t>
            </a:r>
            <a:r>
              <a:rPr lang="en-US" altLang="zh-CN">
                <a:latin typeface="Courier" pitchFamily="2" charset="0"/>
              </a:rPr>
              <a:t>(lock, 0, 1) != 0)</a:t>
            </a:r>
          </a:p>
          <a:p>
            <a:r>
              <a:rPr lang="en-US" altLang="zh-CN">
                <a:latin typeface="Courier" pitchFamily="2" charset="0"/>
              </a:rPr>
              <a:t>	/* Busy-looping */;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D2128E-49DA-4D4F-A963-5D6E489B2903}"/>
              </a:ext>
            </a:extLst>
          </p:cNvPr>
          <p:cNvSpPr/>
          <p:nvPr/>
        </p:nvSpPr>
        <p:spPr>
          <a:xfrm>
            <a:off x="3806236" y="3505572"/>
            <a:ext cx="5106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*</a:t>
            </a:r>
            <a:r>
              <a:rPr lang="en-US" altLang="zh-CN">
                <a:latin typeface="Courier" pitchFamily="2" charset="0"/>
              </a:rPr>
              <a:t>lock = 0;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4B83F9-35B9-FF4F-B37E-AF7FB13BF2B6}"/>
              </a:ext>
            </a:extLst>
          </p:cNvPr>
          <p:cNvSpPr/>
          <p:nvPr/>
        </p:nvSpPr>
        <p:spPr>
          <a:xfrm>
            <a:off x="3806236" y="2594215"/>
            <a:ext cx="46785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latin typeface="Courier" pitchFamily="2" charset="0"/>
              </a:rPr>
              <a:t>lock</a:t>
            </a:r>
            <a:r>
              <a:rPr lang="zh-CN" altLang="en-US">
                <a:latin typeface="Courier" pitchFamily="2" charset="0"/>
              </a:rPr>
              <a:t>操作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F1863F-897C-4845-8011-79AFE9BC0DB1}"/>
              </a:ext>
            </a:extLst>
          </p:cNvPr>
          <p:cNvSpPr/>
          <p:nvPr/>
        </p:nvSpPr>
        <p:spPr>
          <a:xfrm>
            <a:off x="3713871" y="1831309"/>
            <a:ext cx="510660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AAB643-FA5B-2749-9668-059ECA62A46A}"/>
              </a:ext>
            </a:extLst>
          </p:cNvPr>
          <p:cNvSpPr/>
          <p:nvPr/>
        </p:nvSpPr>
        <p:spPr>
          <a:xfrm>
            <a:off x="3713870" y="3367072"/>
            <a:ext cx="510660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F10423-3312-1A4B-8787-D624D3079693}"/>
              </a:ext>
            </a:extLst>
          </p:cNvPr>
          <p:cNvSpPr/>
          <p:nvPr/>
        </p:nvSpPr>
        <p:spPr>
          <a:xfrm>
            <a:off x="3927915" y="4098802"/>
            <a:ext cx="46785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latin typeface="Courier" pitchFamily="2" charset="0"/>
              </a:rPr>
              <a:t>unlock</a:t>
            </a:r>
            <a:r>
              <a:rPr lang="zh-CN" altLang="en-US">
                <a:latin typeface="Courier" pitchFamily="2" charset="0"/>
              </a:rPr>
              <a:t>操作</a:t>
            </a:r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9184AA-BE21-C542-9A2A-168CDEF4E5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A3772-896A-584B-A552-664C30F13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5007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3767"/>
            <a:ext cx="8579296" cy="1132238"/>
          </a:xfrm>
        </p:spPr>
        <p:txBody>
          <a:bodyPr>
            <a:normAutofit/>
          </a:bodyPr>
          <a:lstStyle/>
          <a:p>
            <a:r>
              <a:rPr lang="zh-CN" altLang="en-US" dirty="0"/>
              <a:t>自旋锁（</a:t>
            </a:r>
            <a:r>
              <a:rPr lang="en-US" altLang="zh-CN" dirty="0"/>
              <a:t>Spinlock</a:t>
            </a:r>
            <a:r>
              <a:rPr lang="zh-CN" altLang="en-US" dirty="0"/>
              <a:t>）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CC7434-F75F-A047-B28D-9EA06F39A774}"/>
              </a:ext>
            </a:extLst>
          </p:cNvPr>
          <p:cNvSpPr/>
          <p:nvPr/>
        </p:nvSpPr>
        <p:spPr>
          <a:xfrm>
            <a:off x="5364088" y="2123437"/>
            <a:ext cx="3528392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00B050"/>
                </a:solidFill>
                <a:latin typeface="Courier" pitchFamily="2" charset="0"/>
              </a:rPr>
              <a:t>void</a:t>
            </a:r>
            <a:r>
              <a:rPr lang="en-US" altLang="zh-CN" sz="1400">
                <a:latin typeface="Courier" pitchFamily="2" charset="0"/>
              </a:rPr>
              <a:t> </a:t>
            </a:r>
            <a:r>
              <a:rPr lang="en-US" altLang="zh-CN" sz="1400">
                <a:solidFill>
                  <a:srgbClr val="FF2F92"/>
                </a:solidFill>
                <a:latin typeface="Courier" pitchFamily="2" charset="0"/>
              </a:rPr>
              <a:t>lock</a:t>
            </a:r>
            <a:r>
              <a:rPr lang="en-US" altLang="zh-CN" sz="1400">
                <a:latin typeface="Courier" pitchFamily="2" charset="0"/>
              </a:rPr>
              <a:t>(</a:t>
            </a:r>
            <a:r>
              <a:rPr lang="en-US" altLang="zh-CN" sz="1400">
                <a:solidFill>
                  <a:srgbClr val="00B050"/>
                </a:solidFill>
                <a:latin typeface="Courier" pitchFamily="2" charset="0"/>
              </a:rPr>
              <a:t>int</a:t>
            </a:r>
            <a:r>
              <a:rPr lang="en-US" altLang="zh-CN" sz="1400">
                <a:latin typeface="Courier" pitchFamily="2" charset="0"/>
              </a:rPr>
              <a:t> *lock) {</a:t>
            </a:r>
          </a:p>
          <a:p>
            <a:r>
              <a:rPr lang="zh-CN" altLang="en-US" sz="1400">
                <a:latin typeface="Courier" pitchFamily="2" charset="0"/>
              </a:rPr>
              <a:t>    </a:t>
            </a:r>
            <a:r>
              <a:rPr lang="en-US" altLang="zh-CN" sz="1400">
                <a:latin typeface="Courier" pitchFamily="2" charset="0"/>
              </a:rPr>
              <a:t>while(atomic_CAS(lock, </a:t>
            </a:r>
            <a:r>
              <a:rPr lang="en-US" altLang="zh-CN" sz="1400">
                <a:solidFill>
                  <a:schemeClr val="accent5"/>
                </a:solidFill>
                <a:latin typeface="Courier" pitchFamily="2" charset="0"/>
              </a:rPr>
              <a:t>0</a:t>
            </a:r>
            <a:r>
              <a:rPr lang="en-US" altLang="zh-CN" sz="1400">
                <a:latin typeface="Courier" pitchFamily="2" charset="0"/>
              </a:rPr>
              <a:t>, </a:t>
            </a:r>
            <a:r>
              <a:rPr lang="en-US" altLang="zh-CN" sz="1400">
                <a:solidFill>
                  <a:schemeClr val="accent5"/>
                </a:solidFill>
                <a:latin typeface="Courier" pitchFamily="2" charset="0"/>
              </a:rPr>
              <a:t>1</a:t>
            </a:r>
            <a:r>
              <a:rPr lang="en-US" altLang="zh-CN" sz="1400">
                <a:latin typeface="Courier" pitchFamily="2" charset="0"/>
              </a:rPr>
              <a:t>) </a:t>
            </a:r>
          </a:p>
          <a:p>
            <a:r>
              <a:rPr lang="en-US" altLang="zh-CN" sz="1400">
                <a:latin typeface="Courier" pitchFamily="2" charset="0"/>
              </a:rPr>
              <a:t>	!= </a:t>
            </a:r>
            <a:r>
              <a:rPr lang="en-US" altLang="zh-CN" sz="1400">
                <a:solidFill>
                  <a:schemeClr val="accent5"/>
                </a:solidFill>
                <a:latin typeface="Courier" pitchFamily="2" charset="0"/>
              </a:rPr>
              <a:t>0</a:t>
            </a:r>
            <a:r>
              <a:rPr lang="en-US" altLang="zh-CN" sz="1400">
                <a:latin typeface="Courier" pitchFamily="2" charset="0"/>
              </a:rPr>
              <a:t>)</a:t>
            </a:r>
          </a:p>
          <a:p>
            <a:r>
              <a:rPr lang="en-US" altLang="zh-CN" sz="1400">
                <a:latin typeface="Courier" pitchFamily="2" charset="0"/>
              </a:rPr>
              <a:t>	</a:t>
            </a:r>
            <a:r>
              <a:rPr lang="en-US" altLang="zh-CN" sz="1400">
                <a:solidFill>
                  <a:srgbClr val="00B0F0"/>
                </a:solidFill>
                <a:latin typeface="Courier" pitchFamily="2" charset="0"/>
              </a:rPr>
              <a:t>/* Busy-looping */ </a:t>
            </a:r>
            <a:r>
              <a:rPr lang="en-US" altLang="zh-CN" sz="1400">
                <a:latin typeface="Courier" pitchFamily="2" charset="0"/>
              </a:rPr>
              <a:t>;</a:t>
            </a:r>
          </a:p>
          <a:p>
            <a:r>
              <a:rPr lang="en-US" sz="1400">
                <a:latin typeface="Courier" pitchFamily="2" charset="0"/>
              </a:rPr>
              <a:t>}</a:t>
            </a:r>
          </a:p>
          <a:p>
            <a:endParaRPr lang="en-US" sz="1400">
              <a:latin typeface="Courier" pitchFamily="2" charset="0"/>
            </a:endParaRPr>
          </a:p>
          <a:p>
            <a:r>
              <a:rPr lang="en-US" sz="1400">
                <a:solidFill>
                  <a:srgbClr val="00B050"/>
                </a:solidFill>
                <a:latin typeface="Courier" pitchFamily="2" charset="0"/>
              </a:rPr>
              <a:t>void</a:t>
            </a:r>
            <a:r>
              <a:rPr lang="en-US" sz="1400">
                <a:latin typeface="Courier" pitchFamily="2" charset="0"/>
              </a:rPr>
              <a:t> </a:t>
            </a:r>
            <a:r>
              <a:rPr lang="en-US" sz="1400">
                <a:solidFill>
                  <a:srgbClr val="FF2F92"/>
                </a:solidFill>
                <a:latin typeface="Courier" pitchFamily="2" charset="0"/>
              </a:rPr>
              <a:t>unlock</a:t>
            </a:r>
            <a:r>
              <a:rPr lang="en-US" sz="1400">
                <a:latin typeface="Courier" pitchFamily="2" charset="0"/>
              </a:rPr>
              <a:t>(</a:t>
            </a:r>
            <a:r>
              <a:rPr lang="en-US" sz="1400">
                <a:solidFill>
                  <a:srgbClr val="00B050"/>
                </a:solidFill>
                <a:latin typeface="Courier" pitchFamily="2" charset="0"/>
              </a:rPr>
              <a:t>int</a:t>
            </a:r>
            <a:r>
              <a:rPr lang="en-US" sz="1400">
                <a:latin typeface="Courier" pitchFamily="2" charset="0"/>
              </a:rPr>
              <a:t> *lock) {</a:t>
            </a:r>
          </a:p>
          <a:p>
            <a:r>
              <a:rPr lang="zh-CN" altLang="en-US" sz="1400">
                <a:latin typeface="Courier" pitchFamily="2" charset="0"/>
              </a:rPr>
              <a:t>    </a:t>
            </a:r>
            <a:r>
              <a:rPr lang="en-US" sz="1400">
                <a:latin typeface="Courier" pitchFamily="2" charset="0"/>
              </a:rPr>
              <a:t>*lock = </a:t>
            </a:r>
            <a:r>
              <a:rPr lang="en-US" sz="1400">
                <a:solidFill>
                  <a:schemeClr val="accent5"/>
                </a:solidFill>
                <a:latin typeface="Courier" pitchFamily="2" charset="0"/>
              </a:rPr>
              <a:t>0</a:t>
            </a:r>
            <a:r>
              <a:rPr lang="en-US" sz="1400">
                <a:latin typeface="Courier" pitchFamily="2" charset="0"/>
              </a:rPr>
              <a:t>;</a:t>
            </a:r>
          </a:p>
          <a:p>
            <a:r>
              <a:rPr lang="en-US" sz="1400">
                <a:latin typeface="Courier" pitchFamily="2" charset="0"/>
              </a:rPr>
              <a:t>}</a:t>
            </a:r>
            <a:endParaRPr lang="en-CN" sz="1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620516-0572-F342-8159-56F16FB89E97}"/>
              </a:ext>
            </a:extLst>
          </p:cNvPr>
          <p:cNvSpPr/>
          <p:nvPr/>
        </p:nvSpPr>
        <p:spPr>
          <a:xfrm>
            <a:off x="325646" y="1992648"/>
            <a:ext cx="4534386" cy="34934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互斥访问 </a:t>
            </a:r>
            <a:r>
              <a:rPr lang="en-CN"/>
              <a:t>✓</a:t>
            </a:r>
            <a:endParaRPr lang="en-CN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有限等待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？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有的“运气差”的进程可能永远也不能成功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 pitchFamily="2" charset="0"/>
              </a:rPr>
              <a:t>CAS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 pitchFamily="2" charset="0"/>
              </a:rPr>
              <a:t>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 pitchFamily="2" charset="0"/>
              </a:rPr>
              <a:t>=&gt;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 pitchFamily="2" charset="0"/>
              </a:rPr>
              <a:t>出现饥饿</a:t>
            </a:r>
            <a:endParaRPr lang="en-CN">
              <a:solidFill>
                <a:schemeClr val="tx1">
                  <a:lumMod val="75000"/>
                  <a:lumOff val="25000"/>
                </a:schemeClr>
              </a:solidFill>
              <a:latin typeface="Courier" pitchFamily="2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空闲让进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？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zh-CN" altLang="en-CN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依赖于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硬件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=&gt;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当多个核同时对一个地址执行原子操作时，能否保证至少有一个能够成功*</a:t>
            </a:r>
            <a:endParaRPr lang="en-CN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1576B0-EDEA-AA45-98AE-B8D486D03DC1}"/>
              </a:ext>
            </a:extLst>
          </p:cNvPr>
          <p:cNvSpPr/>
          <p:nvPr/>
        </p:nvSpPr>
        <p:spPr>
          <a:xfrm>
            <a:off x="884259" y="1194910"/>
            <a:ext cx="6735741" cy="468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>
                <a:solidFill>
                  <a:srgbClr val="C00000"/>
                </a:solidFill>
                <a:latin typeface="Courier" pitchFamily="2" charset="0"/>
              </a:rPr>
              <a:t>思考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：是否满足解决临界区问题的三个</a:t>
            </a:r>
            <a:r>
              <a:rPr lang="zh-CN" altLang="en-CN">
                <a:solidFill>
                  <a:srgbClr val="C00000"/>
                </a:solidFill>
                <a:latin typeface="Courier" pitchFamily="2" charset="0"/>
              </a:rPr>
              <a:t>必要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条件？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8C3A4C-9A55-DB47-94E1-258086054618}"/>
              </a:ext>
            </a:extLst>
          </p:cNvPr>
          <p:cNvSpPr/>
          <p:nvPr/>
        </p:nvSpPr>
        <p:spPr>
          <a:xfrm>
            <a:off x="4725701" y="5069579"/>
            <a:ext cx="431079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/>
              <a:t>*</a:t>
            </a:r>
            <a:r>
              <a:rPr lang="zh-CN" altLang="en-CN" sz="1400" dirty="0"/>
              <a:t>这里</a:t>
            </a:r>
            <a:r>
              <a:rPr lang="zh-CN" altLang="en-US" sz="1400" dirty="0"/>
              <a:t>我们认为硬件能够确保原子操作</a:t>
            </a:r>
            <a:r>
              <a:rPr lang="en-US" altLang="zh-CN" sz="1400" dirty="0"/>
              <a:t>make</a:t>
            </a:r>
            <a:r>
              <a:rPr lang="zh-CN" altLang="en-US" sz="1400" dirty="0"/>
              <a:t> </a:t>
            </a:r>
            <a:r>
              <a:rPr lang="en-US" altLang="zh-CN" sz="1400" dirty="0"/>
              <a:t>progress</a:t>
            </a:r>
            <a:endParaRPr lang="en-CN" sz="1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909AAC-09A5-6346-8727-CAAD0859DADB}"/>
              </a:ext>
            </a:extLst>
          </p:cNvPr>
          <p:cNvSpPr/>
          <p:nvPr/>
        </p:nvSpPr>
        <p:spPr>
          <a:xfrm>
            <a:off x="5364088" y="4244982"/>
            <a:ext cx="35283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>
                <a:latin typeface="Courier" pitchFamily="2" charset="0"/>
              </a:rPr>
              <a:t>自旋锁</a:t>
            </a:r>
            <a:r>
              <a:rPr lang="zh-CN" altLang="en-US">
                <a:latin typeface="Courier" pitchFamily="2" charset="0"/>
              </a:rPr>
              <a:t>实现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CD71F9-29EA-F844-8BD7-E124CAE28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81628-6E29-974A-98B4-5049B5230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1187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536"/>
            <a:ext cx="8579296" cy="1132238"/>
          </a:xfrm>
        </p:spPr>
        <p:txBody>
          <a:bodyPr>
            <a:normAutofit/>
          </a:bodyPr>
          <a:lstStyle/>
          <a:p>
            <a:r>
              <a:rPr lang="zh-CN" altLang="en-US" dirty="0"/>
              <a:t>排号锁（</a:t>
            </a:r>
            <a:r>
              <a:rPr lang="en-US" altLang="zh-CN" dirty="0"/>
              <a:t>Ticket</a:t>
            </a:r>
            <a:r>
              <a:rPr lang="zh-CN" altLang="en-US" dirty="0"/>
              <a:t> </a:t>
            </a:r>
            <a:r>
              <a:rPr lang="en-US" altLang="zh-CN" dirty="0"/>
              <a:t>Lock</a:t>
            </a:r>
            <a:r>
              <a:rPr lang="zh-CN" altLang="en-US" dirty="0"/>
              <a:t>）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1576B0-EDEA-AA45-98AE-B8D486D03DC1}"/>
              </a:ext>
            </a:extLst>
          </p:cNvPr>
          <p:cNvSpPr/>
          <p:nvPr/>
        </p:nvSpPr>
        <p:spPr>
          <a:xfrm>
            <a:off x="884259" y="1194910"/>
            <a:ext cx="6735741" cy="468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>
                <a:solidFill>
                  <a:srgbClr val="C00000"/>
                </a:solidFill>
                <a:latin typeface="Courier" pitchFamily="2" charset="0"/>
              </a:rPr>
              <a:t>思考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：我们如何保证竞争者的公平性？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489368-DE0F-4D48-B4B1-F22C5C4DA8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16651-A8EB-6148-A14A-959D2F247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4657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3549"/>
            <a:ext cx="8579296" cy="1132238"/>
          </a:xfrm>
        </p:spPr>
        <p:txBody>
          <a:bodyPr>
            <a:normAutofit/>
          </a:bodyPr>
          <a:lstStyle/>
          <a:p>
            <a:r>
              <a:rPr lang="zh-CN" altLang="en-US" dirty="0"/>
              <a:t>排号锁（</a:t>
            </a:r>
            <a:r>
              <a:rPr lang="en-US" altLang="zh-CN" dirty="0"/>
              <a:t>Ticket</a:t>
            </a:r>
            <a:r>
              <a:rPr lang="zh-CN" altLang="en-US" dirty="0"/>
              <a:t> </a:t>
            </a:r>
            <a:r>
              <a:rPr lang="en-US" altLang="zh-CN" dirty="0"/>
              <a:t>Lock</a:t>
            </a:r>
            <a:r>
              <a:rPr lang="zh-CN" altLang="en-US" dirty="0"/>
              <a:t>）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1576B0-EDEA-AA45-98AE-B8D486D03DC1}"/>
              </a:ext>
            </a:extLst>
          </p:cNvPr>
          <p:cNvSpPr/>
          <p:nvPr/>
        </p:nvSpPr>
        <p:spPr>
          <a:xfrm>
            <a:off x="884259" y="1194910"/>
            <a:ext cx="6735741" cy="468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>
                <a:solidFill>
                  <a:srgbClr val="C00000"/>
                </a:solidFill>
                <a:latin typeface="Courier" pitchFamily="2" charset="0"/>
              </a:rPr>
              <a:t>思考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：我们如何保证竞争者的公平性？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6BC64B-6A61-2F4E-B3CC-4928D0385440}"/>
              </a:ext>
            </a:extLst>
          </p:cNvPr>
          <p:cNvSpPr/>
          <p:nvPr/>
        </p:nvSpPr>
        <p:spPr>
          <a:xfrm>
            <a:off x="1877947" y="1663885"/>
            <a:ext cx="47483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通过遵循竞争者到达的顺序来传递锁。</a:t>
            </a:r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BCDA76-202C-B548-8AA8-C57EC7D29BCD}"/>
              </a:ext>
            </a:extLst>
          </p:cNvPr>
          <p:cNvSpPr/>
          <p:nvPr/>
        </p:nvSpPr>
        <p:spPr>
          <a:xfrm>
            <a:off x="935811" y="2226193"/>
            <a:ext cx="72723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latin typeface="Courier" pitchFamily="2" charset="0"/>
              </a:rPr>
              <a:t>o</a:t>
            </a:r>
            <a:r>
              <a:rPr lang="en-CN" altLang="zh-CN">
                <a:latin typeface="Courier" pitchFamily="2" charset="0"/>
              </a:rPr>
              <a:t>wner</a:t>
            </a:r>
            <a:r>
              <a:rPr lang="zh-CN" altLang="en-US">
                <a:latin typeface="Courier" pitchFamily="2" charset="0"/>
              </a:rPr>
              <a:t>：表示当前在吃的食客</a:t>
            </a:r>
            <a:r>
              <a:rPr lang="en-US" altLang="zh-CN">
                <a:latin typeface="Courier" pitchFamily="2" charset="0"/>
              </a:rPr>
              <a:t>	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next</a:t>
            </a:r>
            <a:r>
              <a:rPr lang="zh-CN" altLang="en-US">
                <a:latin typeface="Courier" pitchFamily="2" charset="0"/>
              </a:rPr>
              <a:t>：表示目前放号的最新值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BF78BE-AE31-A443-AFF1-64DA6E688A27}"/>
              </a:ext>
            </a:extLst>
          </p:cNvPr>
          <p:cNvSpPr/>
          <p:nvPr/>
        </p:nvSpPr>
        <p:spPr>
          <a:xfrm>
            <a:off x="2149577" y="3231440"/>
            <a:ext cx="504056" cy="50405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B0D2D4-981D-624C-B226-4C2A2B7AA597}"/>
              </a:ext>
            </a:extLst>
          </p:cNvPr>
          <p:cNvSpPr/>
          <p:nvPr/>
        </p:nvSpPr>
        <p:spPr>
          <a:xfrm>
            <a:off x="3058329" y="3231440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187DED-2B2D-E545-91FE-3614FCF52DED}"/>
              </a:ext>
            </a:extLst>
          </p:cNvPr>
          <p:cNvSpPr/>
          <p:nvPr/>
        </p:nvSpPr>
        <p:spPr>
          <a:xfrm>
            <a:off x="3967081" y="3231440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D2718C-AC3E-5F4D-B8F7-9FEA23AD40A1}"/>
              </a:ext>
            </a:extLst>
          </p:cNvPr>
          <p:cNvSpPr/>
          <p:nvPr/>
        </p:nvSpPr>
        <p:spPr>
          <a:xfrm>
            <a:off x="4907202" y="3231440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CF6008D-8825-0146-B584-D6473D56B686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4914788" y="3735496"/>
            <a:ext cx="244442" cy="77790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6231F25-ABB6-704F-BF09-B6D99C9DBF90}"/>
              </a:ext>
            </a:extLst>
          </p:cNvPr>
          <p:cNvSpPr/>
          <p:nvPr/>
        </p:nvSpPr>
        <p:spPr>
          <a:xfrm>
            <a:off x="5166817" y="4469575"/>
            <a:ext cx="30055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buFont typeface="+mj-lt"/>
              <a:buAutoNum type="arabicPeriod"/>
            </a:pPr>
            <a:r>
              <a:rPr lang="zh-CN" altLang="en-US">
                <a:latin typeface="Courier" pitchFamily="2" charset="0"/>
              </a:rPr>
              <a:t>拿号 </a:t>
            </a:r>
            <a:r>
              <a:rPr lang="en-US" altLang="zh-CN">
                <a:latin typeface="Courier" pitchFamily="2" charset="0"/>
              </a:rPr>
              <a:t>=&gt; 6</a:t>
            </a:r>
            <a:r>
              <a:rPr lang="zh-CN" altLang="en-US">
                <a:latin typeface="Courier" pitchFamily="2" charset="0"/>
              </a:rPr>
              <a:t>号</a:t>
            </a:r>
            <a:endParaRPr lang="en-US" altLang="zh-CN">
              <a:latin typeface="Courier" pitchFamily="2" charset="0"/>
            </a:endParaRPr>
          </a:p>
          <a:p>
            <a:pPr algn="ctr"/>
            <a:r>
              <a:rPr lang="en-US" altLang="zh-CN">
                <a:latin typeface="Courier" pitchFamily="2" charset="0"/>
              </a:rPr>
              <a:t>my_ticket =  a</a:t>
            </a:r>
            <a:r>
              <a:rPr lang="en-CN" altLang="zh-CN">
                <a:latin typeface="Courier" pitchFamily="2" charset="0"/>
              </a:rPr>
              <a:t>tmoic_FAA(&amp;next, 1)</a:t>
            </a:r>
            <a:endParaRPr lang="en-US" altLang="zh-CN">
              <a:latin typeface="Courier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C3C6F6-667A-D442-84FE-218ADF16CCBB}"/>
              </a:ext>
            </a:extLst>
          </p:cNvPr>
          <p:cNvSpPr/>
          <p:nvPr/>
        </p:nvSpPr>
        <p:spPr>
          <a:xfrm>
            <a:off x="5580378" y="3164615"/>
            <a:ext cx="300558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latin typeface="Courier" pitchFamily="2" charset="0"/>
              </a:rPr>
              <a:t>2.</a:t>
            </a:r>
            <a:r>
              <a:rPr lang="zh-CN" altLang="en-US">
                <a:latin typeface="Courier" pitchFamily="2" charset="0"/>
              </a:rPr>
              <a:t>等待叫号</a:t>
            </a:r>
            <a:endParaRPr lang="en-US" altLang="zh-CN">
              <a:latin typeface="Courier" pitchFamily="2" charset="0"/>
            </a:endParaRPr>
          </a:p>
          <a:p>
            <a:pPr algn="ctr"/>
            <a:r>
              <a:rPr lang="en-US">
                <a:latin typeface="Courier" pitchFamily="2" charset="0"/>
              </a:rPr>
              <a:t>while(owner != my_ticket); 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2C33D2-3D90-6940-816B-9DC4BA7D319B}"/>
              </a:ext>
            </a:extLst>
          </p:cNvPr>
          <p:cNvSpPr/>
          <p:nvPr/>
        </p:nvSpPr>
        <p:spPr>
          <a:xfrm>
            <a:off x="1436882" y="4510612"/>
            <a:ext cx="14253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Courier" pitchFamily="2" charset="0"/>
              </a:rPr>
              <a:t>owner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=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3</a:t>
            </a:r>
          </a:p>
          <a:p>
            <a:pPr algn="ctr"/>
            <a:r>
              <a:rPr lang="en-US">
                <a:latin typeface="Courier" pitchFamily="2" charset="0"/>
              </a:rPr>
              <a:t>next = </a:t>
            </a:r>
            <a:r>
              <a:rPr lang="en-US">
                <a:solidFill>
                  <a:schemeClr val="accent1"/>
                </a:solidFill>
                <a:latin typeface="Courier" pitchFamily="2" charset="0"/>
              </a:rPr>
              <a:t>6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89BBE63-FBF4-A045-827C-9193860FC2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9" name="Picture 8" descr="A picture containing drawing, table&#10;&#10;Description automatically generated">
            <a:extLst>
              <a:ext uri="{FF2B5EF4-FFF2-40B4-BE49-F238E27FC236}">
                <a16:creationId xmlns:a16="http://schemas.microsoft.com/office/drawing/2014/main" id="{AD48F3FF-09FC-AD49-95B1-89416444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873" y="4310745"/>
            <a:ext cx="808679" cy="995027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6AD8233D-019A-6E49-B7FE-68A2983D84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57" y="2963016"/>
            <a:ext cx="1073696" cy="536848"/>
          </a:xfrm>
          <a:prstGeom prst="rect">
            <a:avLst/>
          </a:prstGeom>
        </p:spPr>
      </p:pic>
      <p:pic>
        <p:nvPicPr>
          <p:cNvPr id="23" name="Picture 22" descr="A picture containing window, food&#10;&#10;Description automatically generated">
            <a:extLst>
              <a:ext uri="{FF2B5EF4-FFF2-40B4-BE49-F238E27FC236}">
                <a16:creationId xmlns:a16="http://schemas.microsoft.com/office/drawing/2014/main" id="{01B560AB-BC5E-6E42-AE14-A86BBD89C5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671" y="2637983"/>
            <a:ext cx="762601" cy="481493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2B3E04E-80CF-F342-BD91-625A813006E8}"/>
              </a:ext>
            </a:extLst>
          </p:cNvPr>
          <p:cNvSpPr/>
          <p:nvPr/>
        </p:nvSpPr>
        <p:spPr>
          <a:xfrm>
            <a:off x="-11997" y="3460614"/>
            <a:ext cx="19832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假设只有一桌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...</a:t>
            </a:r>
            <a:endParaRPr lang="en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3FAC6D-961D-0740-B372-64CF9C9F9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9798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5506"/>
            <a:ext cx="8579296" cy="1132238"/>
          </a:xfrm>
        </p:spPr>
        <p:txBody>
          <a:bodyPr>
            <a:normAutofit/>
          </a:bodyPr>
          <a:lstStyle/>
          <a:p>
            <a:r>
              <a:rPr lang="zh-CN" altLang="en-US" dirty="0"/>
              <a:t>排号锁（</a:t>
            </a:r>
            <a:r>
              <a:rPr lang="en-US" altLang="zh-CN" dirty="0"/>
              <a:t>Ticket</a:t>
            </a:r>
            <a:r>
              <a:rPr lang="zh-CN" altLang="en-US" dirty="0"/>
              <a:t> </a:t>
            </a:r>
            <a:r>
              <a:rPr lang="en-US" altLang="zh-CN" dirty="0"/>
              <a:t>Lock</a:t>
            </a:r>
            <a:r>
              <a:rPr lang="zh-CN" altLang="en-US" dirty="0"/>
              <a:t>）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1576B0-EDEA-AA45-98AE-B8D486D03DC1}"/>
              </a:ext>
            </a:extLst>
          </p:cNvPr>
          <p:cNvSpPr/>
          <p:nvPr/>
        </p:nvSpPr>
        <p:spPr>
          <a:xfrm>
            <a:off x="884259" y="1194910"/>
            <a:ext cx="6735741" cy="468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>
                <a:solidFill>
                  <a:srgbClr val="C00000"/>
                </a:solidFill>
                <a:latin typeface="Courier" pitchFamily="2" charset="0"/>
              </a:rPr>
              <a:t>思考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：我们如何保证竞争者的公平性？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6BC64B-6A61-2F4E-B3CC-4928D0385440}"/>
              </a:ext>
            </a:extLst>
          </p:cNvPr>
          <p:cNvSpPr/>
          <p:nvPr/>
        </p:nvSpPr>
        <p:spPr>
          <a:xfrm>
            <a:off x="1877947" y="1663885"/>
            <a:ext cx="47483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通过遵循竞争者到达的</a:t>
            </a:r>
            <a:r>
              <a:rPr lang="zh-CN" altLang="en-US" b="1" dirty="0">
                <a:latin typeface="Courier" pitchFamily="2" charset="0"/>
              </a:rPr>
              <a:t>顺序</a:t>
            </a:r>
            <a:r>
              <a:rPr lang="zh-CN" altLang="en-US" dirty="0">
                <a:latin typeface="Courier" pitchFamily="2" charset="0"/>
              </a:rPr>
              <a:t>来传递锁。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BF78BE-AE31-A443-AFF1-64DA6E688A27}"/>
              </a:ext>
            </a:extLst>
          </p:cNvPr>
          <p:cNvSpPr/>
          <p:nvPr/>
        </p:nvSpPr>
        <p:spPr>
          <a:xfrm>
            <a:off x="2149577" y="3231440"/>
            <a:ext cx="504056" cy="50405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B0D2D4-981D-624C-B226-4C2A2B7AA597}"/>
              </a:ext>
            </a:extLst>
          </p:cNvPr>
          <p:cNvSpPr/>
          <p:nvPr/>
        </p:nvSpPr>
        <p:spPr>
          <a:xfrm>
            <a:off x="3058329" y="3231440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187DED-2B2D-E545-91FE-3614FCF52DED}"/>
              </a:ext>
            </a:extLst>
          </p:cNvPr>
          <p:cNvSpPr/>
          <p:nvPr/>
        </p:nvSpPr>
        <p:spPr>
          <a:xfrm>
            <a:off x="3967081" y="3231440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D2718C-AC3E-5F4D-B8F7-9FEA23AD40A1}"/>
              </a:ext>
            </a:extLst>
          </p:cNvPr>
          <p:cNvSpPr/>
          <p:nvPr/>
        </p:nvSpPr>
        <p:spPr>
          <a:xfrm>
            <a:off x="4907202" y="3231440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6</a:t>
            </a:r>
            <a:endParaRPr lang="en-CN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219BD4B-EF9A-874B-B5F3-76037D673670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2401605" y="3735496"/>
            <a:ext cx="1827607" cy="77790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1DBA792-1B6A-224B-85D0-A0FB881FF4A7}"/>
              </a:ext>
            </a:extLst>
          </p:cNvPr>
          <p:cNvSpPr/>
          <p:nvPr/>
        </p:nvSpPr>
        <p:spPr>
          <a:xfrm>
            <a:off x="1198081" y="4203872"/>
            <a:ext cx="2407048" cy="468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latin typeface="Courier" pitchFamily="2" charset="0"/>
              </a:rPr>
              <a:t>吃完了，买单</a:t>
            </a:r>
            <a:endParaRPr lang="en-US" altLang="zh-CN">
              <a:latin typeface="Courier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52E1AB-075B-074A-B213-5015F1DDBD5F}"/>
              </a:ext>
            </a:extLst>
          </p:cNvPr>
          <p:cNvSpPr/>
          <p:nvPr/>
        </p:nvSpPr>
        <p:spPr>
          <a:xfrm>
            <a:off x="6194610" y="4511483"/>
            <a:ext cx="14253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Courier" pitchFamily="2" charset="0"/>
              </a:rPr>
              <a:t>owner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=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3</a:t>
            </a:r>
          </a:p>
          <a:p>
            <a:pPr algn="ctr"/>
            <a:r>
              <a:rPr lang="en-US">
                <a:latin typeface="Courier" pitchFamily="2" charset="0"/>
              </a:rPr>
              <a:t>next = 7</a:t>
            </a:r>
            <a:endParaRPr lang="en-C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DA9F58-99D8-DF46-B3CB-44F0982F4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19" name="Picture 18" descr="A picture containing drawing, table&#10;&#10;Description automatically generated">
            <a:extLst>
              <a:ext uri="{FF2B5EF4-FFF2-40B4-BE49-F238E27FC236}">
                <a16:creationId xmlns:a16="http://schemas.microsoft.com/office/drawing/2014/main" id="{026E42FD-9BA0-F54A-85A7-C09C64F1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727" y="4299202"/>
            <a:ext cx="808679" cy="995027"/>
          </a:xfrm>
          <a:prstGeom prst="rect">
            <a:avLst/>
          </a:prstGeom>
        </p:spPr>
      </p:pic>
      <p:pic>
        <p:nvPicPr>
          <p:cNvPr id="20" name="Picture 19" descr="A picture containing window, food&#10;&#10;Description automatically generated">
            <a:extLst>
              <a:ext uri="{FF2B5EF4-FFF2-40B4-BE49-F238E27FC236}">
                <a16:creationId xmlns:a16="http://schemas.microsoft.com/office/drawing/2014/main" id="{BBC6EB5B-B158-A046-8656-79C1D482C0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820" y="2629929"/>
            <a:ext cx="762601" cy="481493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3610D93E-B031-C94F-A667-E0F53C247A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57" y="2963016"/>
            <a:ext cx="1073696" cy="53684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E2F0EC6-9C66-3E46-9D77-7F8E7C9DF845}"/>
              </a:ext>
            </a:extLst>
          </p:cNvPr>
          <p:cNvSpPr/>
          <p:nvPr/>
        </p:nvSpPr>
        <p:spPr>
          <a:xfrm>
            <a:off x="-11997" y="3460614"/>
            <a:ext cx="19832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假设只有一桌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...</a:t>
            </a:r>
            <a:endParaRPr lang="en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DBF2E8-ED0B-5344-9A4C-FAD37CB52481}"/>
              </a:ext>
            </a:extLst>
          </p:cNvPr>
          <p:cNvSpPr/>
          <p:nvPr/>
        </p:nvSpPr>
        <p:spPr>
          <a:xfrm>
            <a:off x="5441660" y="3881097"/>
            <a:ext cx="1701107" cy="4683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>
                <a:latin typeface="Courier" pitchFamily="2" charset="0"/>
              </a:rPr>
              <a:t>owner += 1 </a:t>
            </a:r>
            <a:endParaRPr lang="en-CN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17E03D6-AF84-5F45-B1BA-EBC4F236337A}"/>
              </a:ext>
            </a:extLst>
          </p:cNvPr>
          <p:cNvCxnSpPr>
            <a:cxnSpLocks/>
          </p:cNvCxnSpPr>
          <p:nvPr/>
        </p:nvCxnSpPr>
        <p:spPr>
          <a:xfrm flipH="1" flipV="1">
            <a:off x="3369666" y="3809150"/>
            <a:ext cx="1154800" cy="4900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1E2B8B6-A8B0-C14A-B9DA-825F74795353}"/>
              </a:ext>
            </a:extLst>
          </p:cNvPr>
          <p:cNvSpPr/>
          <p:nvPr/>
        </p:nvSpPr>
        <p:spPr>
          <a:xfrm>
            <a:off x="4914790" y="3602095"/>
            <a:ext cx="2407048" cy="468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>
                <a:latin typeface="Courier" pitchFamily="2" charset="0"/>
              </a:rPr>
              <a:t>2.</a:t>
            </a:r>
            <a:r>
              <a:rPr lang="zh-CN" altLang="en-US">
                <a:latin typeface="Courier" pitchFamily="2" charset="0"/>
              </a:rPr>
              <a:t> 叫下个人进来</a:t>
            </a:r>
            <a:endParaRPr lang="en-US" altLang="zh-CN">
              <a:latin typeface="Courier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D21871-8632-244A-B1F3-8C068EE66A35}"/>
              </a:ext>
            </a:extLst>
          </p:cNvPr>
          <p:cNvSpPr/>
          <p:nvPr/>
        </p:nvSpPr>
        <p:spPr>
          <a:xfrm>
            <a:off x="3682154" y="2722607"/>
            <a:ext cx="3906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latin typeface="Courier" pitchFamily="2" charset="0"/>
              </a:rPr>
              <a:t>while(owner != my_ticket); </a:t>
            </a:r>
            <a:endParaRPr lang="en-C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ED80CD-0BA7-834E-A35D-4EBD0830D51C}"/>
              </a:ext>
            </a:extLst>
          </p:cNvPr>
          <p:cNvSpPr/>
          <p:nvPr/>
        </p:nvSpPr>
        <p:spPr>
          <a:xfrm>
            <a:off x="935811" y="2226193"/>
            <a:ext cx="72723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latin typeface="Courier" pitchFamily="2" charset="0"/>
              </a:rPr>
              <a:t>o</a:t>
            </a:r>
            <a:r>
              <a:rPr lang="en-CN" altLang="zh-CN">
                <a:latin typeface="Courier" pitchFamily="2" charset="0"/>
              </a:rPr>
              <a:t>wner</a:t>
            </a:r>
            <a:r>
              <a:rPr lang="zh-CN" altLang="en-US">
                <a:latin typeface="Courier" pitchFamily="2" charset="0"/>
              </a:rPr>
              <a:t>：表示当前在吃的食客</a:t>
            </a:r>
            <a:r>
              <a:rPr lang="en-US" altLang="zh-CN">
                <a:latin typeface="Courier" pitchFamily="2" charset="0"/>
              </a:rPr>
              <a:t>	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next</a:t>
            </a:r>
            <a:r>
              <a:rPr lang="zh-CN" altLang="en-US">
                <a:latin typeface="Courier" pitchFamily="2" charset="0"/>
              </a:rPr>
              <a:t>：表示目前放号的最新值</a:t>
            </a:r>
            <a:endParaRPr lang="en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BD630A-44AB-6D45-9CFE-4866164E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070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1196"/>
            <a:ext cx="8579296" cy="1132238"/>
          </a:xfrm>
        </p:spPr>
        <p:txBody>
          <a:bodyPr>
            <a:normAutofit/>
          </a:bodyPr>
          <a:lstStyle/>
          <a:p>
            <a:r>
              <a:rPr lang="zh-CN" altLang="en-US" dirty="0"/>
              <a:t>排号锁（</a:t>
            </a:r>
            <a:r>
              <a:rPr lang="en-US" altLang="zh-CN" dirty="0"/>
              <a:t>Ticket</a:t>
            </a:r>
            <a:r>
              <a:rPr lang="zh-CN" altLang="en-US" dirty="0"/>
              <a:t> </a:t>
            </a:r>
            <a:r>
              <a:rPr lang="en-US" altLang="zh-CN" dirty="0"/>
              <a:t>Lock</a:t>
            </a:r>
            <a:r>
              <a:rPr lang="zh-CN" altLang="en-US" dirty="0"/>
              <a:t>）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1576B0-EDEA-AA45-98AE-B8D486D03DC1}"/>
              </a:ext>
            </a:extLst>
          </p:cNvPr>
          <p:cNvSpPr/>
          <p:nvPr/>
        </p:nvSpPr>
        <p:spPr>
          <a:xfrm>
            <a:off x="884259" y="1194910"/>
            <a:ext cx="6735741" cy="468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>
                <a:solidFill>
                  <a:srgbClr val="C00000"/>
                </a:solidFill>
                <a:latin typeface="Courier" pitchFamily="2" charset="0"/>
              </a:rPr>
              <a:t>思考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：我们如何保证竞争者的公平性？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6BC64B-6A61-2F4E-B3CC-4928D0385440}"/>
              </a:ext>
            </a:extLst>
          </p:cNvPr>
          <p:cNvSpPr/>
          <p:nvPr/>
        </p:nvSpPr>
        <p:spPr>
          <a:xfrm>
            <a:off x="1877947" y="1663885"/>
            <a:ext cx="47483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通过遵循竞争者到达的顺序来传递锁。</a:t>
            </a:r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BCDA76-202C-B548-8AA8-C57EC7D29BCD}"/>
              </a:ext>
            </a:extLst>
          </p:cNvPr>
          <p:cNvSpPr/>
          <p:nvPr/>
        </p:nvSpPr>
        <p:spPr>
          <a:xfrm>
            <a:off x="935811" y="2226193"/>
            <a:ext cx="72723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latin typeface="Courier" pitchFamily="2" charset="0"/>
              </a:rPr>
              <a:t>o</a:t>
            </a:r>
            <a:r>
              <a:rPr lang="en-CN" altLang="zh-CN">
                <a:latin typeface="Courier" pitchFamily="2" charset="0"/>
              </a:rPr>
              <a:t>wner</a:t>
            </a:r>
            <a:r>
              <a:rPr lang="zh-CN" altLang="en-US">
                <a:latin typeface="Courier" pitchFamily="2" charset="0"/>
              </a:rPr>
              <a:t>：表示当前的持有者</a:t>
            </a:r>
            <a:r>
              <a:rPr lang="en-US" altLang="zh-CN">
                <a:latin typeface="Courier" pitchFamily="2" charset="0"/>
              </a:rPr>
              <a:t>	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next</a:t>
            </a:r>
            <a:r>
              <a:rPr lang="zh-CN" altLang="en-US">
                <a:latin typeface="Courier" pitchFamily="2" charset="0"/>
              </a:rPr>
              <a:t>：表示目前放号的最新值</a:t>
            </a:r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7BA594-C889-5645-8F62-634599991A01}"/>
              </a:ext>
            </a:extLst>
          </p:cNvPr>
          <p:cNvSpPr/>
          <p:nvPr/>
        </p:nvSpPr>
        <p:spPr>
          <a:xfrm>
            <a:off x="683568" y="2857500"/>
            <a:ext cx="21237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>
                <a:latin typeface="Courier" pitchFamily="2" charset="0"/>
              </a:rPr>
              <a:t>lock</a:t>
            </a:r>
            <a:r>
              <a:rPr lang="zh-CN" altLang="en-CN">
                <a:latin typeface="Courier" pitchFamily="2" charset="0"/>
              </a:rPr>
              <a:t>操作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7F362A-8CD3-5846-8EB3-9BC332ABD149}"/>
              </a:ext>
            </a:extLst>
          </p:cNvPr>
          <p:cNvSpPr/>
          <p:nvPr/>
        </p:nvSpPr>
        <p:spPr>
          <a:xfrm>
            <a:off x="5652120" y="2857500"/>
            <a:ext cx="21237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latin typeface="Courier" pitchFamily="2" charset="0"/>
              </a:rPr>
              <a:t>unl</a:t>
            </a:r>
            <a:r>
              <a:rPr lang="en-CN" altLang="zh-CN">
                <a:latin typeface="Courier" pitchFamily="2" charset="0"/>
              </a:rPr>
              <a:t>ock</a:t>
            </a:r>
            <a:r>
              <a:rPr lang="zh-CN" altLang="en-CN">
                <a:latin typeface="Courier" pitchFamily="2" charset="0"/>
              </a:rPr>
              <a:t>操作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3174E3-01AC-C14D-9368-48BBEBE4D8C5}"/>
              </a:ext>
            </a:extLst>
          </p:cNvPr>
          <p:cNvSpPr/>
          <p:nvPr/>
        </p:nvSpPr>
        <p:spPr>
          <a:xfrm>
            <a:off x="467342" y="3384667"/>
            <a:ext cx="4115957" cy="1907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>
                <a:latin typeface="Courier" pitchFamily="2" charset="0"/>
              </a:rPr>
              <a:t>my_ticket = atomic_FAA(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Courier" pitchFamily="2" charset="0"/>
              </a:rPr>
              <a:t>	&amp;lock-&gt;next, 1);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1600">
                <a:latin typeface="Courier" pitchFamily="2" charset="0"/>
              </a:rPr>
              <a:t>while(lock-&gt;owner !=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	my_ticket)	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	/* waiting */;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8B3B4E-258E-2B46-BBAA-A5866741BC87}"/>
              </a:ext>
            </a:extLst>
          </p:cNvPr>
          <p:cNvSpPr/>
          <p:nvPr/>
        </p:nvSpPr>
        <p:spPr>
          <a:xfrm>
            <a:off x="5142314" y="3615708"/>
            <a:ext cx="29679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latin typeface="Courier" pitchFamily="2" charset="0"/>
              </a:rPr>
              <a:t>lock-&gt;owner ++;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EBF34E-5774-CC44-BFCF-7EBE9D8B3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C7C28B-D338-3146-B9A5-77B1072F4BCD}"/>
              </a:ext>
            </a:extLst>
          </p:cNvPr>
          <p:cNvSpPr/>
          <p:nvPr/>
        </p:nvSpPr>
        <p:spPr>
          <a:xfrm>
            <a:off x="3936968" y="368744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拿号</a:t>
            </a:r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21C2A4-7621-FB42-B56E-204A9A72FABB}"/>
              </a:ext>
            </a:extLst>
          </p:cNvPr>
          <p:cNvSpPr/>
          <p:nvPr/>
        </p:nvSpPr>
        <p:spPr>
          <a:xfrm>
            <a:off x="3936968" y="452009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等号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D6A5EE-84AE-5148-B1FE-305300DAE087}"/>
              </a:ext>
            </a:extLst>
          </p:cNvPr>
          <p:cNvSpPr/>
          <p:nvPr/>
        </p:nvSpPr>
        <p:spPr>
          <a:xfrm>
            <a:off x="8022991" y="361570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叫号</a:t>
            </a:r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FB1D3-E713-E14B-B6CD-0F5E1EA47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0475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0903"/>
            <a:ext cx="8579296" cy="1132238"/>
          </a:xfrm>
        </p:spPr>
        <p:txBody>
          <a:bodyPr>
            <a:normAutofit/>
          </a:bodyPr>
          <a:lstStyle/>
          <a:p>
            <a:r>
              <a:rPr lang="zh-CN" altLang="en-US" dirty="0"/>
              <a:t>排号锁（</a:t>
            </a:r>
            <a:r>
              <a:rPr lang="en-US" altLang="zh-CN" dirty="0"/>
              <a:t>Ticket</a:t>
            </a:r>
            <a:r>
              <a:rPr lang="zh-CN" altLang="en-US" dirty="0"/>
              <a:t> </a:t>
            </a:r>
            <a:r>
              <a:rPr lang="en-US" altLang="zh-CN" dirty="0"/>
              <a:t>Lock</a:t>
            </a:r>
            <a:r>
              <a:rPr lang="zh-CN" altLang="en-US" dirty="0"/>
              <a:t>）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CC7434-F75F-A047-B28D-9EA06F39A774}"/>
              </a:ext>
            </a:extLst>
          </p:cNvPr>
          <p:cNvSpPr/>
          <p:nvPr/>
        </p:nvSpPr>
        <p:spPr>
          <a:xfrm>
            <a:off x="5004049" y="1992648"/>
            <a:ext cx="3888432" cy="22467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00B050"/>
                </a:solidFill>
                <a:latin typeface="Courier" pitchFamily="2" charset="0"/>
              </a:rPr>
              <a:t>void</a:t>
            </a:r>
            <a:r>
              <a:rPr lang="en-US" altLang="zh-CN" sz="1400">
                <a:latin typeface="Courier" pitchFamily="2" charset="0"/>
              </a:rPr>
              <a:t> </a:t>
            </a:r>
            <a:r>
              <a:rPr lang="en-US" altLang="zh-CN" sz="1400">
                <a:solidFill>
                  <a:srgbClr val="FF2F92"/>
                </a:solidFill>
                <a:latin typeface="Courier" pitchFamily="2" charset="0"/>
              </a:rPr>
              <a:t>lock</a:t>
            </a:r>
            <a:r>
              <a:rPr lang="en-US" altLang="zh-CN" sz="1400">
                <a:latin typeface="Courier" pitchFamily="2" charset="0"/>
              </a:rPr>
              <a:t>(</a:t>
            </a:r>
            <a:r>
              <a:rPr lang="en-US" altLang="zh-CN" sz="1400">
                <a:solidFill>
                  <a:srgbClr val="00B050"/>
                </a:solidFill>
                <a:latin typeface="Courier" pitchFamily="2" charset="0"/>
              </a:rPr>
              <a:t>int</a:t>
            </a:r>
            <a:r>
              <a:rPr lang="en-US" altLang="zh-CN" sz="1400">
                <a:latin typeface="Courier" pitchFamily="2" charset="0"/>
              </a:rPr>
              <a:t> *lock) {</a:t>
            </a:r>
          </a:p>
          <a:p>
            <a:r>
              <a:rPr lang="zh-CN" altLang="en-US" sz="1400">
                <a:latin typeface="Courier" pitchFamily="2" charset="0"/>
              </a:rPr>
              <a:t>    </a:t>
            </a:r>
            <a:r>
              <a:rPr lang="en-US" altLang="zh-CN" sz="1400">
                <a:latin typeface="Courier" pitchFamily="2" charset="0"/>
              </a:rPr>
              <a:t>volatile unsigned my_ticket =</a:t>
            </a:r>
          </a:p>
          <a:p>
            <a:r>
              <a:rPr lang="en-US" altLang="zh-CN" sz="1400">
                <a:latin typeface="Courier" pitchFamily="2" charset="0"/>
              </a:rPr>
              <a:t>        atomic_FAA(&amp;lock-&gt;next, 1);</a:t>
            </a:r>
          </a:p>
          <a:p>
            <a:r>
              <a:rPr lang="en-US" altLang="zh-CN" sz="1400">
                <a:latin typeface="Courier" pitchFamily="2" charset="0"/>
              </a:rPr>
              <a:t>    while(lock-&gt;owner != my_ticket)</a:t>
            </a:r>
          </a:p>
          <a:p>
            <a:r>
              <a:rPr lang="en-US" altLang="zh-CN" sz="1400">
                <a:latin typeface="Courier" pitchFamily="2" charset="0"/>
              </a:rPr>
              <a:t>	/* busy waiting */;</a:t>
            </a:r>
          </a:p>
          <a:p>
            <a:r>
              <a:rPr lang="en-US" sz="1400">
                <a:latin typeface="Courier" pitchFamily="2" charset="0"/>
              </a:rPr>
              <a:t>}</a:t>
            </a:r>
          </a:p>
          <a:p>
            <a:endParaRPr lang="en-US" sz="1400">
              <a:latin typeface="Courier" pitchFamily="2" charset="0"/>
            </a:endParaRPr>
          </a:p>
          <a:p>
            <a:r>
              <a:rPr lang="en-US" sz="1400">
                <a:solidFill>
                  <a:srgbClr val="00B050"/>
                </a:solidFill>
                <a:latin typeface="Courier" pitchFamily="2" charset="0"/>
              </a:rPr>
              <a:t>void</a:t>
            </a:r>
            <a:r>
              <a:rPr lang="en-US" sz="1400">
                <a:latin typeface="Courier" pitchFamily="2" charset="0"/>
              </a:rPr>
              <a:t> </a:t>
            </a:r>
            <a:r>
              <a:rPr lang="en-US" sz="1400">
                <a:solidFill>
                  <a:srgbClr val="FF2F92"/>
                </a:solidFill>
                <a:latin typeface="Courier" pitchFamily="2" charset="0"/>
              </a:rPr>
              <a:t>unlock</a:t>
            </a:r>
            <a:r>
              <a:rPr lang="en-US" sz="1400">
                <a:latin typeface="Courier" pitchFamily="2" charset="0"/>
              </a:rPr>
              <a:t>(</a:t>
            </a:r>
            <a:r>
              <a:rPr lang="en-US" sz="1400">
                <a:solidFill>
                  <a:srgbClr val="00B050"/>
                </a:solidFill>
                <a:latin typeface="Courier" pitchFamily="2" charset="0"/>
              </a:rPr>
              <a:t>int</a:t>
            </a:r>
            <a:r>
              <a:rPr lang="en-US" sz="1400">
                <a:latin typeface="Courier" pitchFamily="2" charset="0"/>
              </a:rPr>
              <a:t> *lock) {</a:t>
            </a:r>
          </a:p>
          <a:p>
            <a:r>
              <a:rPr lang="zh-CN" altLang="en-US" sz="1400">
                <a:latin typeface="Courier" pitchFamily="2" charset="0"/>
              </a:rPr>
              <a:t>    </a:t>
            </a:r>
            <a:r>
              <a:rPr lang="en-US" altLang="zh-CN" sz="1400">
                <a:latin typeface="Courier" pitchFamily="2" charset="0"/>
              </a:rPr>
              <a:t>lock-&gt;owner ++;</a:t>
            </a:r>
            <a:endParaRPr lang="en-US" sz="1400">
              <a:latin typeface="Courier" pitchFamily="2" charset="0"/>
            </a:endParaRPr>
          </a:p>
          <a:p>
            <a:r>
              <a:rPr lang="en-US" sz="1400">
                <a:latin typeface="Courier" pitchFamily="2" charset="0"/>
              </a:rPr>
              <a:t>}</a:t>
            </a:r>
            <a:endParaRPr lang="en-CN" sz="1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620516-0572-F342-8159-56F16FB89E97}"/>
              </a:ext>
            </a:extLst>
          </p:cNvPr>
          <p:cNvSpPr/>
          <p:nvPr/>
        </p:nvSpPr>
        <p:spPr>
          <a:xfrm>
            <a:off x="325646" y="1992648"/>
            <a:ext cx="4534386" cy="2377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互斥访问 </a:t>
            </a:r>
            <a:r>
              <a:rPr lang="en-CN"/>
              <a:t>✓</a:t>
            </a:r>
            <a:endParaRPr lang="en-CN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有限等待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？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 pitchFamily="2" charset="0"/>
              </a:rPr>
              <a:t>按照顺序，在前序竞争者保证有限时间释放时，可以达到有限等待</a:t>
            </a:r>
            <a:endParaRPr lang="en-CN">
              <a:solidFill>
                <a:schemeClr val="tx1">
                  <a:lumMod val="75000"/>
                  <a:lumOff val="25000"/>
                </a:schemeClr>
              </a:solidFill>
              <a:latin typeface="Courier" pitchFamily="2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空闲让进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*</a:t>
            </a: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 </a:t>
            </a:r>
            <a:r>
              <a:rPr lang="en-CN"/>
              <a:t>✓</a:t>
            </a:r>
            <a:endParaRPr lang="en-CN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1576B0-EDEA-AA45-98AE-B8D486D03DC1}"/>
              </a:ext>
            </a:extLst>
          </p:cNvPr>
          <p:cNvSpPr/>
          <p:nvPr/>
        </p:nvSpPr>
        <p:spPr>
          <a:xfrm>
            <a:off x="884259" y="1194910"/>
            <a:ext cx="6735741" cy="468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>
                <a:solidFill>
                  <a:srgbClr val="C00000"/>
                </a:solidFill>
                <a:latin typeface="Courier" pitchFamily="2" charset="0"/>
              </a:rPr>
              <a:t>思考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：是否满足解决临界区问题的三个</a:t>
            </a:r>
            <a:r>
              <a:rPr lang="zh-CN" altLang="en-CN">
                <a:solidFill>
                  <a:srgbClr val="C00000"/>
                </a:solidFill>
                <a:latin typeface="Courier" pitchFamily="2" charset="0"/>
              </a:rPr>
              <a:t>必要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条件？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8C3A4C-9A55-DB47-94E1-258086054618}"/>
              </a:ext>
            </a:extLst>
          </p:cNvPr>
          <p:cNvSpPr/>
          <p:nvPr/>
        </p:nvSpPr>
        <p:spPr>
          <a:xfrm>
            <a:off x="3995936" y="5002707"/>
            <a:ext cx="431079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</a:t>
            </a:r>
            <a:r>
              <a:rPr lang="zh-CN" altLang="en-CN" sz="1400"/>
              <a:t>这里</a:t>
            </a:r>
            <a:r>
              <a:rPr lang="zh-CN" altLang="en-US" sz="1400"/>
              <a:t>我们认为硬件能够确保原子操作</a:t>
            </a:r>
            <a:r>
              <a:rPr lang="en-US" altLang="zh-CN" sz="1400"/>
              <a:t>make</a:t>
            </a:r>
            <a:r>
              <a:rPr lang="zh-CN" altLang="en-US" sz="1400"/>
              <a:t> </a:t>
            </a:r>
            <a:r>
              <a:rPr lang="en-US" altLang="zh-CN" sz="1400"/>
              <a:t>progress</a:t>
            </a:r>
            <a:endParaRPr lang="en-CN" sz="1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909AAC-09A5-6346-8727-CAAD0859DADB}"/>
              </a:ext>
            </a:extLst>
          </p:cNvPr>
          <p:cNvSpPr/>
          <p:nvPr/>
        </p:nvSpPr>
        <p:spPr>
          <a:xfrm>
            <a:off x="5184068" y="4335424"/>
            <a:ext cx="35283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排号</a:t>
            </a:r>
            <a:r>
              <a:rPr lang="zh-CN" altLang="en-CN">
                <a:latin typeface="Courier" pitchFamily="2" charset="0"/>
              </a:rPr>
              <a:t>锁</a:t>
            </a:r>
            <a:r>
              <a:rPr lang="zh-CN" altLang="en-US">
                <a:latin typeface="Courier" pitchFamily="2" charset="0"/>
              </a:rPr>
              <a:t>实现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2DB5F1-81A9-4741-8A60-5A802DBDD4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4EDA1-27F0-1D4D-8655-37788E1E7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6123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F589F-7915-4B4C-B51C-9C1631609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条件变量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4CF1C-8CD3-1744-A13E-6F33B20A0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975E0-E812-0047-9C25-09316646B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AAE11358-E64A-724C-B630-B6EFC7EF73A8}"/>
              </a:ext>
            </a:extLst>
          </p:cNvPr>
          <p:cNvSpPr txBox="1">
            <a:spLocks/>
          </p:cNvSpPr>
          <p:nvPr/>
        </p:nvSpPr>
        <p:spPr>
          <a:xfrm>
            <a:off x="648816" y="3672418"/>
            <a:ext cx="7772400" cy="113506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kumimoji="1" lang="zh-CN" altLang="en-US" dirty="0"/>
              <a:t>条件变量</a:t>
            </a:r>
          </a:p>
        </p:txBody>
      </p:sp>
    </p:spTree>
    <p:extLst>
      <p:ext uri="{BB962C8B-B14F-4D97-AF65-F5344CB8AC3E}">
        <p14:creationId xmlns:p14="http://schemas.microsoft.com/office/powerpoint/2010/main" val="26478801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377D33D-A78D-1349-B1DC-0C17DB2E6BF7}"/>
              </a:ext>
            </a:extLst>
          </p:cNvPr>
          <p:cNvSpPr txBox="1">
            <a:spLocks/>
          </p:cNvSpPr>
          <p:nvPr/>
        </p:nvSpPr>
        <p:spPr>
          <a:xfrm>
            <a:off x="539552" y="4272386"/>
            <a:ext cx="7704856" cy="1102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6DED5-9A2D-1B43-9EFA-F6CA5A90D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28" name="Content Placeholder 5">
            <a:extLst>
              <a:ext uri="{FF2B5EF4-FFF2-40B4-BE49-F238E27FC236}">
                <a16:creationId xmlns:a16="http://schemas.microsoft.com/office/drawing/2014/main" id="{0888B2BD-5285-E44A-B3B7-8C4BD53C7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817" y="1898363"/>
            <a:ext cx="3600400" cy="2307153"/>
          </a:xfr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2E40AD2-C323-B848-96C6-BE99FE87F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657" y="2685518"/>
            <a:ext cx="547797" cy="5477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70D184-71A1-A34D-8DB8-9129DF508C6D}"/>
              </a:ext>
            </a:extLst>
          </p:cNvPr>
          <p:cNvSpPr/>
          <p:nvPr/>
        </p:nvSpPr>
        <p:spPr>
          <a:xfrm>
            <a:off x="5026947" y="27627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" pitchFamily="2" charset="0"/>
              </a:rPr>
              <a:t>1</a:t>
            </a:r>
            <a:endParaRPr lang="en-CN" b="1">
              <a:solidFill>
                <a:schemeClr val="bg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B5C3E41-D762-DB49-A573-56861C9DF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/>
              <a:t>生产者消费者问题</a:t>
            </a:r>
            <a:endParaRPr lang="en-C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ABD95C-0DBD-DB42-A11F-857E1CD43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13" name="图片 5">
            <a:extLst>
              <a:ext uri="{FF2B5EF4-FFF2-40B4-BE49-F238E27FC236}">
                <a16:creationId xmlns:a16="http://schemas.microsoft.com/office/drawing/2014/main" id="{199ACD88-650E-4F40-B102-8D7DF63CD4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209" y="1105987"/>
            <a:ext cx="720321" cy="720321"/>
          </a:xfrm>
          <a:prstGeom prst="rect">
            <a:avLst/>
          </a:prstGeom>
        </p:spPr>
      </p:pic>
      <p:pic>
        <p:nvPicPr>
          <p:cNvPr id="14" name="Picture 13" descr="A picture containing drawing, table&#10;&#10;Description automatically generated">
            <a:extLst>
              <a:ext uri="{FF2B5EF4-FFF2-40B4-BE49-F238E27FC236}">
                <a16:creationId xmlns:a16="http://schemas.microsoft.com/office/drawing/2014/main" id="{D818AFD1-BB13-AA4B-8EAA-2D00401869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4165396"/>
            <a:ext cx="847713" cy="104305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BE93B64-C5B0-4C4E-BC7D-6977FF580432}"/>
              </a:ext>
            </a:extLst>
          </p:cNvPr>
          <p:cNvSpPr/>
          <p:nvPr/>
        </p:nvSpPr>
        <p:spPr>
          <a:xfrm>
            <a:off x="6185315" y="125794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快递员</a:t>
            </a:r>
            <a:endParaRPr lang="en-CN" b="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3EC32D-0071-F246-A00F-33E909473CC7}"/>
              </a:ext>
            </a:extLst>
          </p:cNvPr>
          <p:cNvSpPr/>
          <p:nvPr/>
        </p:nvSpPr>
        <p:spPr>
          <a:xfrm flipH="1">
            <a:off x="1259633" y="4585692"/>
            <a:ext cx="13247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/>
              <a:t>小明</a:t>
            </a:r>
            <a:endParaRPr lang="en-CN" b="1"/>
          </a:p>
        </p:txBody>
      </p:sp>
      <p:pic>
        <p:nvPicPr>
          <p:cNvPr id="18" name="图片 5">
            <a:extLst>
              <a:ext uri="{FF2B5EF4-FFF2-40B4-BE49-F238E27FC236}">
                <a16:creationId xmlns:a16="http://schemas.microsoft.com/office/drawing/2014/main" id="{1C9CD45A-DA8B-614A-A913-39EBC8DB8D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610" y="4248852"/>
            <a:ext cx="720321" cy="72032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967E7C5-D903-9540-92B4-C6EC3330B395}"/>
              </a:ext>
            </a:extLst>
          </p:cNvPr>
          <p:cNvSpPr/>
          <p:nvPr/>
        </p:nvSpPr>
        <p:spPr>
          <a:xfrm>
            <a:off x="6211716" y="4400813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快递员</a:t>
            </a:r>
            <a:endParaRPr lang="en-CN" b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604060-8ABD-8048-BC7B-D9DA9176BF7C}"/>
              </a:ext>
            </a:extLst>
          </p:cNvPr>
          <p:cNvSpPr/>
          <p:nvPr/>
        </p:nvSpPr>
        <p:spPr>
          <a:xfrm>
            <a:off x="6617159" y="2651856"/>
            <a:ext cx="18550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/>
              <a:t>多个快递员向快递点放快递</a:t>
            </a:r>
            <a:endParaRPr lang="en-CN" b="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40C299-2011-BF46-B670-C7A8B26EBEED}"/>
              </a:ext>
            </a:extLst>
          </p:cNvPr>
          <p:cNvSpPr/>
          <p:nvPr/>
        </p:nvSpPr>
        <p:spPr>
          <a:xfrm>
            <a:off x="569126" y="3529451"/>
            <a:ext cx="13810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/>
              <a:t>小明从快递点拿快递</a:t>
            </a:r>
            <a:endParaRPr lang="en-CN" b="1"/>
          </a:p>
        </p:txBody>
      </p:sp>
      <p:pic>
        <p:nvPicPr>
          <p:cNvPr id="22" name="图片 7">
            <a:extLst>
              <a:ext uri="{FF2B5EF4-FFF2-40B4-BE49-F238E27FC236}">
                <a16:creationId xmlns:a16="http://schemas.microsoft.com/office/drawing/2014/main" id="{EBB2BC16-AE34-4347-8545-CBC8207CE7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859" y="1369780"/>
            <a:ext cx="1369132" cy="136913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88B4D49-4E10-AD49-BD32-F3B09274B4DA}"/>
              </a:ext>
            </a:extLst>
          </p:cNvPr>
          <p:cNvSpPr/>
          <p:nvPr/>
        </p:nvSpPr>
        <p:spPr>
          <a:xfrm>
            <a:off x="6569786" y="2005525"/>
            <a:ext cx="18148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互斥锁解决了快递员之间的协同</a:t>
            </a:r>
            <a:endParaRPr lang="en-CN" b="1">
              <a:solidFill>
                <a:srgbClr val="FF0000"/>
              </a:solidFill>
            </a:endParaRPr>
          </a:p>
        </p:txBody>
      </p:sp>
      <p:pic>
        <p:nvPicPr>
          <p:cNvPr id="24" name="Picture 23" descr="A close up of a logo&#10;&#10;Description automatically generated">
            <a:extLst>
              <a:ext uri="{FF2B5EF4-FFF2-40B4-BE49-F238E27FC236}">
                <a16:creationId xmlns:a16="http://schemas.microsoft.com/office/drawing/2014/main" id="{8D0CB84A-B6EA-564D-B457-F59B972D27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817" y="1073028"/>
            <a:ext cx="758892" cy="75889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C449C9D-0BAD-1548-A5C5-FD0B4419C4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76012" y="1664935"/>
            <a:ext cx="504056" cy="58948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2EF82BF-4B02-DA45-B9FE-DDF63DCE62FB}"/>
              </a:ext>
            </a:extLst>
          </p:cNvPr>
          <p:cNvSpPr/>
          <p:nvPr/>
        </p:nvSpPr>
        <p:spPr>
          <a:xfrm>
            <a:off x="2914340" y="5014686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快递员与小明之间如何协同</a:t>
            </a:r>
            <a:r>
              <a:rPr lang="zh-CN" altLang="en-US" b="1">
                <a:solidFill>
                  <a:srgbClr val="FF0000"/>
                </a:solidFill>
              </a:rPr>
              <a:t>？</a:t>
            </a:r>
            <a:endParaRPr lang="en-CN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7466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377D33D-A78D-1349-B1DC-0C17DB2E6BF7}"/>
              </a:ext>
            </a:extLst>
          </p:cNvPr>
          <p:cNvSpPr txBox="1">
            <a:spLocks/>
          </p:cNvSpPr>
          <p:nvPr/>
        </p:nvSpPr>
        <p:spPr>
          <a:xfrm>
            <a:off x="539552" y="4272386"/>
            <a:ext cx="7704856" cy="1102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6DED5-9A2D-1B43-9EFA-F6CA5A90D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28" name="Content Placeholder 5">
            <a:extLst>
              <a:ext uri="{FF2B5EF4-FFF2-40B4-BE49-F238E27FC236}">
                <a16:creationId xmlns:a16="http://schemas.microsoft.com/office/drawing/2014/main" id="{0888B2BD-5285-E44A-B3B7-8C4BD53C7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85" y="1961894"/>
            <a:ext cx="3600400" cy="2307153"/>
          </a:xfr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2E40AD2-C323-B848-96C6-BE99FE87F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225" y="2749049"/>
            <a:ext cx="547797" cy="5477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70D184-71A1-A34D-8DB8-9129DF508C6D}"/>
              </a:ext>
            </a:extLst>
          </p:cNvPr>
          <p:cNvSpPr/>
          <p:nvPr/>
        </p:nvSpPr>
        <p:spPr>
          <a:xfrm>
            <a:off x="2909515" y="282632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" pitchFamily="2" charset="0"/>
              </a:rPr>
              <a:t>1</a:t>
            </a:r>
            <a:endParaRPr lang="en-CN" b="1">
              <a:solidFill>
                <a:schemeClr val="bg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B5C3E41-D762-DB49-A573-56861C9DF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/>
              <a:t>生产者消费者问题</a:t>
            </a:r>
            <a:r>
              <a:rPr lang="en-US" altLang="zh-CN"/>
              <a:t>-</a:t>
            </a:r>
            <a:r>
              <a:rPr lang="zh-CN" altLang="en-US"/>
              <a:t>生产者</a:t>
            </a:r>
            <a:endParaRPr lang="en-C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ABD95C-0DBD-DB42-A11F-857E1CD43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D81643-7FA5-454F-9C02-EF9DFF159BDC}"/>
              </a:ext>
            </a:extLst>
          </p:cNvPr>
          <p:cNvSpPr/>
          <p:nvPr/>
        </p:nvSpPr>
        <p:spPr>
          <a:xfrm>
            <a:off x="4648516" y="1147505"/>
            <a:ext cx="424496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Menlo" panose="020B0609030804020204" pitchFamily="49" charset="0"/>
              </a:rPr>
              <a:t>void producer(void) {</a:t>
            </a:r>
          </a:p>
          <a:p>
            <a:r>
              <a:rPr lang="zh-CN" altLang="en-US" sz="140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400">
                <a:solidFill>
                  <a:srgbClr val="000000"/>
                </a:solidFill>
                <a:latin typeface="Menlo" panose="020B0609030804020204" pitchFamily="49" charset="0"/>
              </a:rPr>
              <a:t>new_msg = produce_new();</a:t>
            </a:r>
          </a:p>
          <a:p>
            <a:r>
              <a:rPr lang="zh-CN" altLang="en-US" sz="140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400">
                <a:solidFill>
                  <a:srgbClr val="000000"/>
                </a:solidFill>
                <a:latin typeface="Menlo" panose="020B0609030804020204" pitchFamily="49" charset="0"/>
              </a:rPr>
              <a:t>lock(&amp;empty_cnt_lock);</a:t>
            </a:r>
          </a:p>
          <a:p>
            <a:r>
              <a:rPr lang="zh-CN" altLang="en-US" sz="140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400">
                <a:solidFill>
                  <a:srgbClr val="FF0000"/>
                </a:solidFill>
                <a:latin typeface="Menlo" panose="020B0609030804020204" pitchFamily="49" charset="0"/>
              </a:rPr>
              <a:t>while (empty_slot == 0) {</a:t>
            </a:r>
          </a:p>
          <a:p>
            <a:r>
              <a:rPr lang="zh-CN" altLang="en-US" sz="1400">
                <a:solidFill>
                  <a:srgbClr val="FF0000"/>
                </a:solidFill>
                <a:latin typeface="Menlo" panose="020B0609030804020204" pitchFamily="49" charset="0"/>
              </a:rPr>
              <a:t>    </a:t>
            </a:r>
            <a:r>
              <a:rPr lang="en-US" sz="1400">
                <a:solidFill>
                  <a:srgbClr val="FF0000"/>
                </a:solidFill>
                <a:latin typeface="Menlo" panose="020B0609030804020204" pitchFamily="49" charset="0"/>
              </a:rPr>
              <a:t>unlock(&amp;empty_cnt_lock);</a:t>
            </a:r>
          </a:p>
          <a:p>
            <a:r>
              <a:rPr lang="zh-CN" altLang="en-US" sz="1400">
                <a:solidFill>
                  <a:srgbClr val="FF0000"/>
                </a:solidFill>
                <a:latin typeface="Menlo" panose="020B0609030804020204" pitchFamily="49" charset="0"/>
              </a:rPr>
              <a:t>    </a:t>
            </a:r>
            <a:r>
              <a:rPr lang="en-US" sz="1400">
                <a:solidFill>
                  <a:srgbClr val="FF0000"/>
                </a:solidFill>
                <a:latin typeface="Menlo" panose="020B0609030804020204" pitchFamily="49" charset="0"/>
              </a:rPr>
              <a:t>lock(&amp;empty_cnt_lock);</a:t>
            </a:r>
          </a:p>
          <a:p>
            <a:r>
              <a:rPr lang="zh-CN" altLang="en-US" sz="1400">
                <a:solidFill>
                  <a:srgbClr val="FF0000"/>
                </a:solidFill>
                <a:latin typeface="Menlo" panose="020B0609030804020204" pitchFamily="49" charset="0"/>
              </a:rPr>
              <a:t>  </a:t>
            </a:r>
            <a:r>
              <a:rPr lang="en-US" sz="1400">
                <a:solidFill>
                  <a:srgbClr val="FF0000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zh-CN" altLang="en-US" sz="140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400">
                <a:solidFill>
                  <a:srgbClr val="7030A0"/>
                </a:solidFill>
                <a:latin typeface="Menlo" panose="020B0609030804020204" pitchFamily="49" charset="0"/>
              </a:rPr>
              <a:t>empty_slot --;</a:t>
            </a:r>
          </a:p>
          <a:p>
            <a:r>
              <a:rPr lang="zh-CN" altLang="en-US" sz="140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400">
                <a:solidFill>
                  <a:srgbClr val="000000"/>
                </a:solidFill>
                <a:latin typeface="Menlo" panose="020B0609030804020204" pitchFamily="49" charset="0"/>
              </a:rPr>
              <a:t>unlock(&amp;empty_cnt_lock);</a:t>
            </a:r>
          </a:p>
          <a:p>
            <a:endParaRPr lang="en-US" sz="14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zh-CN" altLang="en-US" sz="140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400">
                <a:solidFill>
                  <a:srgbClr val="000000"/>
                </a:solidFill>
                <a:latin typeface="Menlo" panose="020B0609030804020204" pitchFamily="49" charset="0"/>
              </a:rPr>
              <a:t>buffer_add_safe(new_msg);</a:t>
            </a:r>
          </a:p>
          <a:p>
            <a:endParaRPr lang="en-US" sz="14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zh-CN" altLang="en-US" sz="140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400">
                <a:solidFill>
                  <a:srgbClr val="000000"/>
                </a:solidFill>
                <a:latin typeface="Menlo" panose="020B0609030804020204" pitchFamily="49" charset="0"/>
              </a:rPr>
              <a:t>lock(&amp;filled_cnt_lock);</a:t>
            </a:r>
          </a:p>
          <a:p>
            <a:r>
              <a:rPr lang="zh-CN" altLang="en-US" sz="1400">
                <a:solidFill>
                  <a:srgbClr val="00B050"/>
                </a:solidFill>
                <a:latin typeface="Menlo" panose="020B0609030804020204" pitchFamily="49" charset="0"/>
              </a:rPr>
              <a:t>  </a:t>
            </a:r>
            <a:r>
              <a:rPr lang="en-US" sz="1400">
                <a:solidFill>
                  <a:srgbClr val="00B050"/>
                </a:solidFill>
                <a:latin typeface="Menlo" panose="020B0609030804020204" pitchFamily="49" charset="0"/>
              </a:rPr>
              <a:t>filled_slot ++;</a:t>
            </a:r>
          </a:p>
          <a:p>
            <a:r>
              <a:rPr lang="zh-CN" altLang="en-US" sz="140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400">
                <a:solidFill>
                  <a:srgbClr val="000000"/>
                </a:solidFill>
                <a:latin typeface="Menlo" panose="020B0609030804020204" pitchFamily="49" charset="0"/>
              </a:rPr>
              <a:t>unlock(&amp;filled_cnt_lock);</a:t>
            </a:r>
          </a:p>
          <a:p>
            <a:r>
              <a:rPr lang="en-US" sz="140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C8EA62-CAE7-9D4D-8A9D-C48B4536BA16}"/>
              </a:ext>
            </a:extLst>
          </p:cNvPr>
          <p:cNvSpPr/>
          <p:nvPr/>
        </p:nvSpPr>
        <p:spPr>
          <a:xfrm>
            <a:off x="539552" y="1193672"/>
            <a:ext cx="37837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int </a:t>
            </a:r>
            <a:r>
              <a:rPr lang="en-US">
                <a:solidFill>
                  <a:srgbClr val="7030A0"/>
                </a:solidFill>
                <a:latin typeface="Menlo" panose="020B0609030804020204" pitchFamily="49" charset="0"/>
              </a:rPr>
              <a:t>empty_slot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= </a:t>
            </a:r>
            <a:r>
              <a:rPr lang="en-US" altLang="zh-CN">
                <a:solidFill>
                  <a:srgbClr val="000000"/>
                </a:solidFill>
                <a:latin typeface="Menlo" panose="020B0609030804020204" pitchFamily="49" charset="0"/>
              </a:rPr>
              <a:t>2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int </a:t>
            </a:r>
            <a:r>
              <a:rPr lang="en-US">
                <a:solidFill>
                  <a:srgbClr val="00B050"/>
                </a:solidFill>
                <a:latin typeface="Menlo" panose="020B0609030804020204" pitchFamily="49" charset="0"/>
              </a:rPr>
              <a:t>filled_slot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= </a:t>
            </a:r>
            <a:r>
              <a:rPr lang="en-US" altLang="zh-CN">
                <a:solidFill>
                  <a:srgbClr val="000000"/>
                </a:solidFill>
                <a:latin typeface="Menlo" panose="020B0609030804020204" pitchFamily="49" charset="0"/>
              </a:rPr>
              <a:t>3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F90193-33C4-1044-99E7-1821DFAD68A9}"/>
              </a:ext>
            </a:extLst>
          </p:cNvPr>
          <p:cNvSpPr/>
          <p:nvPr/>
        </p:nvSpPr>
        <p:spPr>
          <a:xfrm>
            <a:off x="3397876" y="1147505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空位计数器</a:t>
            </a:r>
            <a:endParaRPr lang="en-CN" b="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4121E8-1B1E-F04C-9EC7-223C13867DA0}"/>
              </a:ext>
            </a:extLst>
          </p:cNvPr>
          <p:cNvSpPr/>
          <p:nvPr/>
        </p:nvSpPr>
        <p:spPr>
          <a:xfrm>
            <a:off x="3397876" y="1493695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快递计数器</a:t>
            </a:r>
            <a:endParaRPr lang="en-CN" b="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07A779-5281-1D47-A63B-F6CBD9DFBF3D}"/>
              </a:ext>
            </a:extLst>
          </p:cNvPr>
          <p:cNvSpPr/>
          <p:nvPr/>
        </p:nvSpPr>
        <p:spPr>
          <a:xfrm>
            <a:off x="7908212" y="186302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等待空位</a:t>
            </a:r>
            <a:endParaRPr lang="en-CN" b="1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D7A836-021E-244B-8727-98F930275688}"/>
              </a:ext>
            </a:extLst>
          </p:cNvPr>
          <p:cNvSpPr/>
          <p:nvPr/>
        </p:nvSpPr>
        <p:spPr>
          <a:xfrm>
            <a:off x="6572079" y="462467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使用互斥锁保护计数器</a:t>
            </a:r>
            <a:endParaRPr lang="en-CN" b="1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8A98C02-39E5-614C-BD14-0BEA7FDAB3E9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7596336" y="831799"/>
            <a:ext cx="222238" cy="7295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7E2442E-3648-BD45-AB9E-6A60FC7E625A}"/>
              </a:ext>
            </a:extLst>
          </p:cNvPr>
          <p:cNvSpPr/>
          <p:nvPr/>
        </p:nvSpPr>
        <p:spPr>
          <a:xfrm>
            <a:off x="7078638" y="2564383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更新空位计数器</a:t>
            </a:r>
            <a:endParaRPr lang="en-CN" b="1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B10A68-88B9-2D40-9806-04DFD940A744}"/>
              </a:ext>
            </a:extLst>
          </p:cNvPr>
          <p:cNvSpPr/>
          <p:nvPr/>
        </p:nvSpPr>
        <p:spPr>
          <a:xfrm>
            <a:off x="7690410" y="323167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放入快递</a:t>
            </a:r>
            <a:endParaRPr lang="en-CN" b="1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795990-C07E-A44A-9416-512DDE6C2200}"/>
              </a:ext>
            </a:extLst>
          </p:cNvPr>
          <p:cNvSpPr/>
          <p:nvPr/>
        </p:nvSpPr>
        <p:spPr>
          <a:xfrm>
            <a:off x="7416042" y="372135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更新快递计数器</a:t>
            </a:r>
            <a:endParaRPr lang="en-CN" b="1"/>
          </a:p>
        </p:txBody>
      </p:sp>
    </p:spTree>
    <p:extLst>
      <p:ext uri="{BB962C8B-B14F-4D97-AF65-F5344CB8AC3E}">
        <p14:creationId xmlns:p14="http://schemas.microsoft.com/office/powerpoint/2010/main" val="26428521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377D33D-A78D-1349-B1DC-0C17DB2E6BF7}"/>
              </a:ext>
            </a:extLst>
          </p:cNvPr>
          <p:cNvSpPr txBox="1">
            <a:spLocks/>
          </p:cNvSpPr>
          <p:nvPr/>
        </p:nvSpPr>
        <p:spPr>
          <a:xfrm>
            <a:off x="539552" y="4272386"/>
            <a:ext cx="7704856" cy="1102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6DED5-9A2D-1B43-9EFA-F6CA5A90D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28" name="Content Placeholder 5">
            <a:extLst>
              <a:ext uri="{FF2B5EF4-FFF2-40B4-BE49-F238E27FC236}">
                <a16:creationId xmlns:a16="http://schemas.microsoft.com/office/drawing/2014/main" id="{0888B2BD-5285-E44A-B3B7-8C4BD53C7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85" y="1961894"/>
            <a:ext cx="3600400" cy="2307153"/>
          </a:xfr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2E40AD2-C323-B848-96C6-BE99FE87F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225" y="2749049"/>
            <a:ext cx="547797" cy="5477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70D184-71A1-A34D-8DB8-9129DF508C6D}"/>
              </a:ext>
            </a:extLst>
          </p:cNvPr>
          <p:cNvSpPr/>
          <p:nvPr/>
        </p:nvSpPr>
        <p:spPr>
          <a:xfrm>
            <a:off x="2909515" y="282632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" pitchFamily="2" charset="0"/>
              </a:rPr>
              <a:t>1</a:t>
            </a:r>
            <a:endParaRPr lang="en-CN" b="1">
              <a:solidFill>
                <a:schemeClr val="bg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B5C3E41-D762-DB49-A573-56861C9DF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/>
              <a:t>生产者消费者问题</a:t>
            </a:r>
            <a:r>
              <a:rPr lang="en-US" altLang="zh-CN"/>
              <a:t>-</a:t>
            </a:r>
            <a:r>
              <a:rPr lang="zh-CN" altLang="en-US"/>
              <a:t>消费者</a:t>
            </a:r>
            <a:endParaRPr lang="en-C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ABD95C-0DBD-DB42-A11F-857E1CD43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D81643-7FA5-454F-9C02-EF9DFF159BDC}"/>
              </a:ext>
            </a:extLst>
          </p:cNvPr>
          <p:cNvSpPr/>
          <p:nvPr/>
        </p:nvSpPr>
        <p:spPr>
          <a:xfrm>
            <a:off x="4648516" y="1147505"/>
            <a:ext cx="4244969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Menlo" panose="020B0609030804020204" pitchFamily="49" charset="0"/>
              </a:rPr>
              <a:t>void producer(void) {</a:t>
            </a:r>
          </a:p>
          <a:p>
            <a:r>
              <a:rPr lang="zh-CN" altLang="en-US" sz="140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altLang="zh-CN" sz="1400">
                <a:solidFill>
                  <a:srgbClr val="000000"/>
                </a:solidFill>
                <a:latin typeface="Menlo" panose="020B0609030804020204" pitchFamily="49" charset="0"/>
              </a:rPr>
              <a:t>lock(&amp;filled_cnt_lock);</a:t>
            </a:r>
          </a:p>
          <a:p>
            <a:r>
              <a:rPr lang="zh-CN" altLang="en-US" sz="1400">
                <a:solidFill>
                  <a:srgbClr val="FF0000"/>
                </a:solidFill>
                <a:latin typeface="Menlo" panose="020B0609030804020204" pitchFamily="49" charset="0"/>
              </a:rPr>
              <a:t>  </a:t>
            </a:r>
            <a:r>
              <a:rPr lang="en-US" altLang="zh-CN" sz="1400">
                <a:solidFill>
                  <a:srgbClr val="FF0000"/>
                </a:solidFill>
                <a:latin typeface="Menlo" panose="020B0609030804020204" pitchFamily="49" charset="0"/>
              </a:rPr>
              <a:t>while (filled_slot == 0){</a:t>
            </a:r>
          </a:p>
          <a:p>
            <a:r>
              <a:rPr lang="zh-CN" altLang="en-US" sz="1400">
                <a:solidFill>
                  <a:srgbClr val="FF0000"/>
                </a:solidFill>
                <a:latin typeface="Menlo" panose="020B0609030804020204" pitchFamily="49" charset="0"/>
              </a:rPr>
              <a:t>    </a:t>
            </a:r>
            <a:r>
              <a:rPr lang="en-US" altLang="zh-CN" sz="1400">
                <a:solidFill>
                  <a:srgbClr val="FF0000"/>
                </a:solidFill>
                <a:latin typeface="Menlo" panose="020B0609030804020204" pitchFamily="49" charset="0"/>
              </a:rPr>
              <a:t>unlock(&amp;filled_cnt_lock);</a:t>
            </a:r>
          </a:p>
          <a:p>
            <a:r>
              <a:rPr lang="zh-CN" altLang="en-US" sz="1400">
                <a:solidFill>
                  <a:srgbClr val="FF0000"/>
                </a:solidFill>
                <a:latin typeface="Menlo" panose="020B0609030804020204" pitchFamily="49" charset="0"/>
              </a:rPr>
              <a:t>    </a:t>
            </a:r>
            <a:r>
              <a:rPr lang="en-US" altLang="zh-CN" sz="1400">
                <a:solidFill>
                  <a:srgbClr val="FF0000"/>
                </a:solidFill>
                <a:latin typeface="Menlo" panose="020B0609030804020204" pitchFamily="49" charset="0"/>
              </a:rPr>
              <a:t>lock(&amp;filled_cnt_lock);</a:t>
            </a:r>
          </a:p>
          <a:p>
            <a:r>
              <a:rPr lang="zh-CN" altLang="en-US" sz="1400">
                <a:solidFill>
                  <a:srgbClr val="FF0000"/>
                </a:solidFill>
                <a:latin typeface="Menlo" panose="020B0609030804020204" pitchFamily="49" charset="0"/>
              </a:rPr>
              <a:t>  </a:t>
            </a:r>
            <a:r>
              <a:rPr lang="en-US" altLang="zh-CN" sz="1400">
                <a:solidFill>
                  <a:srgbClr val="FF0000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zh-CN" altLang="en-US" sz="1400">
                <a:solidFill>
                  <a:srgbClr val="00B050"/>
                </a:solidFill>
                <a:latin typeface="Menlo" panose="020B0609030804020204" pitchFamily="49" charset="0"/>
              </a:rPr>
              <a:t>  </a:t>
            </a:r>
            <a:r>
              <a:rPr lang="en-US" altLang="zh-CN" sz="1400">
                <a:solidFill>
                  <a:srgbClr val="00B050"/>
                </a:solidFill>
                <a:latin typeface="Menlo" panose="020B0609030804020204" pitchFamily="49" charset="0"/>
              </a:rPr>
              <a:t>filled_slot --;</a:t>
            </a:r>
          </a:p>
          <a:p>
            <a:r>
              <a:rPr lang="zh-CN" altLang="en-US" sz="140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altLang="zh-CN" sz="1400">
                <a:solidFill>
                  <a:srgbClr val="000000"/>
                </a:solidFill>
                <a:latin typeface="Menlo" panose="020B0609030804020204" pitchFamily="49" charset="0"/>
              </a:rPr>
              <a:t>unlock(&amp;filled_cnt_lock);</a:t>
            </a:r>
          </a:p>
          <a:p>
            <a:endParaRPr lang="en-US" altLang="zh-CN" sz="14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zh-CN" altLang="en-US" sz="140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altLang="zh-CN" sz="1400">
                <a:solidFill>
                  <a:srgbClr val="000000"/>
                </a:solidFill>
                <a:latin typeface="Menlo" panose="020B0609030804020204" pitchFamily="49" charset="0"/>
              </a:rPr>
              <a:t>cur_msg = buffer_remove_safe();</a:t>
            </a:r>
          </a:p>
          <a:p>
            <a:endParaRPr lang="en-US" altLang="zh-CN" sz="14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zh-CN" altLang="en-US" sz="140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altLang="zh-CN" sz="1400">
                <a:solidFill>
                  <a:srgbClr val="000000"/>
                </a:solidFill>
                <a:latin typeface="Menlo" panose="020B0609030804020204" pitchFamily="49" charset="0"/>
              </a:rPr>
              <a:t>lock(&amp;empty_cnt_lock);</a:t>
            </a:r>
          </a:p>
          <a:p>
            <a:r>
              <a:rPr lang="zh-CN" altLang="en-US" sz="140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altLang="zh-CN" sz="1400">
                <a:solidFill>
                  <a:srgbClr val="7030A0"/>
                </a:solidFill>
                <a:latin typeface="Menlo" panose="020B0609030804020204" pitchFamily="49" charset="0"/>
              </a:rPr>
              <a:t>empty_slot ++;</a:t>
            </a:r>
          </a:p>
          <a:p>
            <a:r>
              <a:rPr lang="zh-CN" altLang="en-US" sz="140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altLang="zh-CN" sz="1400">
                <a:solidFill>
                  <a:srgbClr val="000000"/>
                </a:solidFill>
                <a:latin typeface="Menlo" panose="020B0609030804020204" pitchFamily="49" charset="0"/>
              </a:rPr>
              <a:t>unlock(&amp;filled_cnt_lock);</a:t>
            </a:r>
          </a:p>
          <a:p>
            <a:endParaRPr lang="en-US" altLang="zh-CN" sz="14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zh-CN" altLang="en-US" sz="140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altLang="zh-CN" sz="1400">
                <a:solidFill>
                  <a:srgbClr val="000000"/>
                </a:solidFill>
                <a:latin typeface="Menlo" panose="020B0609030804020204" pitchFamily="49" charset="0"/>
              </a:rPr>
              <a:t>consume_msg(cur_msg);</a:t>
            </a:r>
          </a:p>
          <a:p>
            <a:r>
              <a:rPr lang="en-US" sz="140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C8EA62-CAE7-9D4D-8A9D-C48B4536BA16}"/>
              </a:ext>
            </a:extLst>
          </p:cNvPr>
          <p:cNvSpPr/>
          <p:nvPr/>
        </p:nvSpPr>
        <p:spPr>
          <a:xfrm>
            <a:off x="539552" y="1193672"/>
            <a:ext cx="37837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int </a:t>
            </a:r>
            <a:r>
              <a:rPr lang="en-US">
                <a:solidFill>
                  <a:srgbClr val="7030A0"/>
                </a:solidFill>
                <a:latin typeface="Menlo" panose="020B0609030804020204" pitchFamily="49" charset="0"/>
              </a:rPr>
              <a:t>empty_slot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= </a:t>
            </a:r>
            <a:r>
              <a:rPr lang="en-US" altLang="zh-CN">
                <a:solidFill>
                  <a:srgbClr val="000000"/>
                </a:solidFill>
                <a:latin typeface="Menlo" panose="020B0609030804020204" pitchFamily="49" charset="0"/>
              </a:rPr>
              <a:t>2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int </a:t>
            </a:r>
            <a:r>
              <a:rPr lang="en-US">
                <a:solidFill>
                  <a:srgbClr val="00B050"/>
                </a:solidFill>
                <a:latin typeface="Menlo" panose="020B0609030804020204" pitchFamily="49" charset="0"/>
              </a:rPr>
              <a:t>filled_slot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= </a:t>
            </a:r>
            <a:r>
              <a:rPr lang="en-US" altLang="zh-CN">
                <a:solidFill>
                  <a:srgbClr val="000000"/>
                </a:solidFill>
                <a:latin typeface="Menlo" panose="020B0609030804020204" pitchFamily="49" charset="0"/>
              </a:rPr>
              <a:t>3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F90193-33C4-1044-99E7-1821DFAD68A9}"/>
              </a:ext>
            </a:extLst>
          </p:cNvPr>
          <p:cNvSpPr/>
          <p:nvPr/>
        </p:nvSpPr>
        <p:spPr>
          <a:xfrm>
            <a:off x="3397876" y="1147505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空位计数器</a:t>
            </a:r>
            <a:endParaRPr lang="en-CN" b="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4121E8-1B1E-F04C-9EC7-223C13867DA0}"/>
              </a:ext>
            </a:extLst>
          </p:cNvPr>
          <p:cNvSpPr/>
          <p:nvPr/>
        </p:nvSpPr>
        <p:spPr>
          <a:xfrm>
            <a:off x="3397876" y="1493695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快递计数器</a:t>
            </a:r>
            <a:endParaRPr lang="en-CN" b="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07A779-5281-1D47-A63B-F6CBD9DFBF3D}"/>
              </a:ext>
            </a:extLst>
          </p:cNvPr>
          <p:cNvSpPr/>
          <p:nvPr/>
        </p:nvSpPr>
        <p:spPr>
          <a:xfrm>
            <a:off x="7908212" y="186302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等待快递</a:t>
            </a:r>
            <a:endParaRPr lang="en-CN" b="1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D7A836-021E-244B-8727-98F930275688}"/>
              </a:ext>
            </a:extLst>
          </p:cNvPr>
          <p:cNvSpPr/>
          <p:nvPr/>
        </p:nvSpPr>
        <p:spPr>
          <a:xfrm>
            <a:off x="6572079" y="462467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使用互斥锁保护计数器</a:t>
            </a:r>
            <a:endParaRPr lang="en-CN" b="1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8A98C02-39E5-614C-BD14-0BEA7FDAB3E9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7596336" y="831799"/>
            <a:ext cx="222238" cy="7295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7E2442E-3648-BD45-AB9E-6A60FC7E625A}"/>
              </a:ext>
            </a:extLst>
          </p:cNvPr>
          <p:cNvSpPr/>
          <p:nvPr/>
        </p:nvSpPr>
        <p:spPr>
          <a:xfrm>
            <a:off x="7185145" y="2340614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更新快递计数器</a:t>
            </a:r>
            <a:endParaRPr lang="en-CN" b="1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B10A68-88B9-2D40-9806-04DFD940A744}"/>
              </a:ext>
            </a:extLst>
          </p:cNvPr>
          <p:cNvSpPr/>
          <p:nvPr/>
        </p:nvSpPr>
        <p:spPr>
          <a:xfrm>
            <a:off x="7707455" y="284576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拿走快递</a:t>
            </a:r>
            <a:endParaRPr lang="en-CN" b="1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795990-C07E-A44A-9416-512DDE6C2200}"/>
              </a:ext>
            </a:extLst>
          </p:cNvPr>
          <p:cNvSpPr/>
          <p:nvPr/>
        </p:nvSpPr>
        <p:spPr>
          <a:xfrm>
            <a:off x="7287732" y="3621496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更新空位计数器</a:t>
            </a:r>
            <a:endParaRPr lang="en-CN" b="1"/>
          </a:p>
        </p:txBody>
      </p:sp>
    </p:spTree>
    <p:extLst>
      <p:ext uri="{BB962C8B-B14F-4D97-AF65-F5344CB8AC3E}">
        <p14:creationId xmlns:p14="http://schemas.microsoft.com/office/powerpoint/2010/main" val="19971883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electronics&#10;&#10;Description automatically generated">
            <a:extLst>
              <a:ext uri="{FF2B5EF4-FFF2-40B4-BE49-F238E27FC236}">
                <a16:creationId xmlns:a16="http://schemas.microsoft.com/office/drawing/2014/main" id="{794D9609-D177-6E4D-A4EA-084C8EC1E7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4985" y="4433585"/>
            <a:ext cx="863944" cy="10822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条件变量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1B6393-54AD-D04F-9860-5BB6FC578869}"/>
              </a:ext>
            </a:extLst>
          </p:cNvPr>
          <p:cNvSpPr/>
          <p:nvPr/>
        </p:nvSpPr>
        <p:spPr>
          <a:xfrm>
            <a:off x="1547664" y="1097810"/>
            <a:ext cx="4115957" cy="799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while(</a:t>
            </a:r>
            <a:r>
              <a:rPr lang="en-US" altLang="zh-CN" sz="1600">
                <a:latin typeface="Courier" pitchFamily="2" charset="0"/>
              </a:rPr>
              <a:t>something</a:t>
            </a:r>
            <a:r>
              <a:rPr lang="en-US" sz="1600">
                <a:latin typeface="Courier" pitchFamily="2" charset="0"/>
              </a:rPr>
              <a:t>)	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	/* busy waiting */;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FC1C56-0FB7-7D47-8B13-CFA52B07FC25}"/>
              </a:ext>
            </a:extLst>
          </p:cNvPr>
          <p:cNvSpPr/>
          <p:nvPr/>
        </p:nvSpPr>
        <p:spPr>
          <a:xfrm>
            <a:off x="457200" y="1158690"/>
            <a:ext cx="35283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/>
              <a:t>实现中</a:t>
            </a:r>
            <a:r>
              <a:rPr lang="zh-CN" altLang="en-US"/>
              <a:t>：</a:t>
            </a:r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4ADA1-3BC6-E341-B5B8-CB7193482BC5}"/>
              </a:ext>
            </a:extLst>
          </p:cNvPr>
          <p:cNvSpPr/>
          <p:nvPr/>
        </p:nvSpPr>
        <p:spPr>
          <a:xfrm>
            <a:off x="971562" y="3266196"/>
            <a:ext cx="3084917" cy="799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if(!some_condition)	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	wait(condition);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9BFFCC-B428-B447-B2AE-B60FD81EE19A}"/>
              </a:ext>
            </a:extLst>
          </p:cNvPr>
          <p:cNvSpPr/>
          <p:nvPr/>
        </p:nvSpPr>
        <p:spPr>
          <a:xfrm>
            <a:off x="4972117" y="3937620"/>
            <a:ext cx="3315721" cy="799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u</a:t>
            </a:r>
            <a:r>
              <a:rPr lang="en-CN" sz="1600">
                <a:latin typeface="Courier" pitchFamily="2" charset="0"/>
              </a:rPr>
              <a:t>pdate(some_condition);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s</a:t>
            </a:r>
            <a:r>
              <a:rPr lang="en-CN" sz="1600">
                <a:latin typeface="Courier" pitchFamily="2" charset="0"/>
              </a:rPr>
              <a:t>ignal(condition);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EB1FD2D-A576-4742-95F9-7AABC34B7B25}"/>
              </a:ext>
            </a:extLst>
          </p:cNvPr>
          <p:cNvCxnSpPr>
            <a:cxnSpLocks/>
          </p:cNvCxnSpPr>
          <p:nvPr/>
        </p:nvCxnSpPr>
        <p:spPr>
          <a:xfrm>
            <a:off x="4499992" y="3266196"/>
            <a:ext cx="0" cy="21829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AD25CF8-8A23-3A47-85E8-9989487DA3B1}"/>
              </a:ext>
            </a:extLst>
          </p:cNvPr>
          <p:cNvSpPr/>
          <p:nvPr/>
        </p:nvSpPr>
        <p:spPr>
          <a:xfrm>
            <a:off x="1373145" y="3048196"/>
            <a:ext cx="16965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线程</a:t>
            </a:r>
            <a:r>
              <a:rPr lang="en-US" altLang="zh-CN" dirty="0">
                <a:latin typeface="Courier" pitchFamily="2" charset="0"/>
              </a:rPr>
              <a:t>-0</a:t>
            </a:r>
            <a:endParaRPr lang="en-C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3C098B-068C-5241-8488-770C0C4992C1}"/>
              </a:ext>
            </a:extLst>
          </p:cNvPr>
          <p:cNvSpPr/>
          <p:nvPr/>
        </p:nvSpPr>
        <p:spPr>
          <a:xfrm>
            <a:off x="5365068" y="3037073"/>
            <a:ext cx="23762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线程</a:t>
            </a:r>
            <a:r>
              <a:rPr lang="en-US" altLang="zh-CN" dirty="0">
                <a:latin typeface="Courier" pitchFamily="2" charset="0"/>
              </a:rPr>
              <a:t>-1</a:t>
            </a:r>
            <a:endParaRPr lang="en-C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308B54-3D14-8C42-9214-2258911A51A5}"/>
              </a:ext>
            </a:extLst>
          </p:cNvPr>
          <p:cNvSpPr/>
          <p:nvPr/>
        </p:nvSpPr>
        <p:spPr>
          <a:xfrm>
            <a:off x="971561" y="4662092"/>
            <a:ext cx="3240395" cy="799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Wake up and check condition again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C2E53A-53B1-284E-9035-AACCFF812345}"/>
              </a:ext>
            </a:extLst>
          </p:cNvPr>
          <p:cNvCxnSpPr/>
          <p:nvPr/>
        </p:nvCxnSpPr>
        <p:spPr>
          <a:xfrm>
            <a:off x="4056479" y="3937620"/>
            <a:ext cx="1308589" cy="127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F641499-2852-A241-BC50-11D30E8F2E22}"/>
              </a:ext>
            </a:extLst>
          </p:cNvPr>
          <p:cNvCxnSpPr>
            <a:cxnSpLocks/>
          </p:cNvCxnSpPr>
          <p:nvPr/>
        </p:nvCxnSpPr>
        <p:spPr>
          <a:xfrm flipH="1">
            <a:off x="3189437" y="4662092"/>
            <a:ext cx="2030636" cy="139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875651-3515-7C41-80F4-6E3FB632C5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862589-F7D1-F740-A45B-128EA05A0574}"/>
              </a:ext>
            </a:extLst>
          </p:cNvPr>
          <p:cNvSpPr/>
          <p:nvPr/>
        </p:nvSpPr>
        <p:spPr>
          <a:xfrm>
            <a:off x="1930208" y="3742316"/>
            <a:ext cx="2055385" cy="31889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ED20E8-EC1A-6741-903D-5E62AB084EDA}"/>
              </a:ext>
            </a:extLst>
          </p:cNvPr>
          <p:cNvSpPr/>
          <p:nvPr/>
        </p:nvSpPr>
        <p:spPr>
          <a:xfrm>
            <a:off x="4934004" y="4433585"/>
            <a:ext cx="2503941" cy="2718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CD4BAA0-3F33-034E-909B-09655632E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30F55B-304A-A646-B50E-F55F247AEF61}"/>
              </a:ext>
            </a:extLst>
          </p:cNvPr>
          <p:cNvSpPr/>
          <p:nvPr/>
        </p:nvSpPr>
        <p:spPr>
          <a:xfrm>
            <a:off x="4314104" y="1143856"/>
            <a:ext cx="2056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循环忙等浪费CPU</a:t>
            </a:r>
            <a:endParaRPr lang="en-CN" b="1"/>
          </a:p>
        </p:txBody>
      </p:sp>
      <p:pic>
        <p:nvPicPr>
          <p:cNvPr id="22" name="Picture 21" descr="A picture containing drawing, table&#10;&#10;Description automatically generated">
            <a:extLst>
              <a:ext uri="{FF2B5EF4-FFF2-40B4-BE49-F238E27FC236}">
                <a16:creationId xmlns:a16="http://schemas.microsoft.com/office/drawing/2014/main" id="{215AEEDA-F6EA-8344-A547-7CEE527DF2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3" y="3048196"/>
            <a:ext cx="847713" cy="1043055"/>
          </a:xfrm>
          <a:prstGeom prst="rect">
            <a:avLst/>
          </a:prstGeom>
        </p:spPr>
      </p:pic>
      <p:pic>
        <p:nvPicPr>
          <p:cNvPr id="24" name="图片 5">
            <a:extLst>
              <a:ext uri="{FF2B5EF4-FFF2-40B4-BE49-F238E27FC236}">
                <a16:creationId xmlns:a16="http://schemas.microsoft.com/office/drawing/2014/main" id="{EDA9E2DB-40F5-2D40-89EA-6CAB73031E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641" y="4209349"/>
            <a:ext cx="720321" cy="72032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7372D93-778D-FE42-87EB-7BADA3A3325E}"/>
              </a:ext>
            </a:extLst>
          </p:cNvPr>
          <p:cNvSpPr/>
          <p:nvPr/>
        </p:nvSpPr>
        <p:spPr>
          <a:xfrm>
            <a:off x="1671090" y="2612072"/>
            <a:ext cx="58018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条件变量：</a:t>
            </a:r>
            <a:r>
              <a:rPr lang="zh-CN" altLang="en-US" b="1">
                <a:latin typeface="Courier" pitchFamily="2" charset="0"/>
              </a:rPr>
              <a:t>提供睡眠</a:t>
            </a:r>
            <a:r>
              <a:rPr lang="en-US" altLang="zh-CN" b="1">
                <a:latin typeface="Courier" pitchFamily="2" charset="0"/>
              </a:rPr>
              <a:t>/</a:t>
            </a:r>
            <a:r>
              <a:rPr lang="zh-CN" altLang="en-US" b="1">
                <a:latin typeface="Courier" pitchFamily="2" charset="0"/>
              </a:rPr>
              <a:t>唤醒机制，避免无意义的等待。</a:t>
            </a:r>
            <a:endParaRPr lang="en-CN" b="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C03CD4-D7FD-E846-AB3B-CE8FDF195878}"/>
              </a:ext>
            </a:extLst>
          </p:cNvPr>
          <p:cNvSpPr/>
          <p:nvPr/>
        </p:nvSpPr>
        <p:spPr>
          <a:xfrm>
            <a:off x="457199" y="2058360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快递来了打个电话！</a:t>
            </a:r>
            <a:endParaRPr lang="en-CN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1737B4B-9827-3B47-B3AD-BBFA5A4E073E}"/>
              </a:ext>
            </a:extLst>
          </p:cNvPr>
          <p:cNvCxnSpPr>
            <a:stCxn id="26" idx="2"/>
            <a:endCxn id="22" idx="0"/>
          </p:cNvCxnSpPr>
          <p:nvPr/>
        </p:nvCxnSpPr>
        <p:spPr>
          <a:xfrm flipH="1">
            <a:off x="457200" y="2427692"/>
            <a:ext cx="1131078" cy="620504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55F5F750-F031-F742-8007-A80F28415962}"/>
              </a:ext>
            </a:extLst>
          </p:cNvPr>
          <p:cNvSpPr/>
          <p:nvPr/>
        </p:nvSpPr>
        <p:spPr>
          <a:xfrm>
            <a:off x="7472908" y="3472912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快递来了！</a:t>
            </a:r>
            <a:endParaRPr lang="en-CN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CBF1A02-863E-6F47-BB1D-A10EC1BA333E}"/>
              </a:ext>
            </a:extLst>
          </p:cNvPr>
          <p:cNvCxnSpPr>
            <a:cxnSpLocks/>
            <a:stCxn id="29" idx="2"/>
            <a:endCxn id="24" idx="0"/>
          </p:cNvCxnSpPr>
          <p:nvPr/>
        </p:nvCxnSpPr>
        <p:spPr>
          <a:xfrm>
            <a:off x="8142322" y="3842244"/>
            <a:ext cx="257480" cy="36710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72809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条件变量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1B6393-54AD-D04F-9860-5BB6FC578869}"/>
              </a:ext>
            </a:extLst>
          </p:cNvPr>
          <p:cNvSpPr/>
          <p:nvPr/>
        </p:nvSpPr>
        <p:spPr>
          <a:xfrm>
            <a:off x="2514021" y="1561356"/>
            <a:ext cx="4115957" cy="799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while(</a:t>
            </a:r>
            <a:r>
              <a:rPr lang="en-US" altLang="zh-CN" sz="1600">
                <a:latin typeface="Courier" pitchFamily="2" charset="0"/>
              </a:rPr>
              <a:t>something</a:t>
            </a:r>
            <a:r>
              <a:rPr lang="en-US" sz="1600">
                <a:latin typeface="Courier" pitchFamily="2" charset="0"/>
              </a:rPr>
              <a:t>)	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	/* busy waiting */;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FC1C56-0FB7-7D47-8B13-CFA52B07FC25}"/>
              </a:ext>
            </a:extLst>
          </p:cNvPr>
          <p:cNvSpPr/>
          <p:nvPr/>
        </p:nvSpPr>
        <p:spPr>
          <a:xfrm>
            <a:off x="457200" y="1158690"/>
            <a:ext cx="35283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之前互斥锁的实现中：</a:t>
            </a:r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5F9E56-9CEF-F64A-A6A3-44ABBB07E253}"/>
              </a:ext>
            </a:extLst>
          </p:cNvPr>
          <p:cNvSpPr/>
          <p:nvPr/>
        </p:nvSpPr>
        <p:spPr>
          <a:xfrm>
            <a:off x="1671090" y="2612072"/>
            <a:ext cx="58018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条件变量：</a:t>
            </a:r>
            <a:r>
              <a:rPr lang="zh-CN" altLang="en-US" b="1">
                <a:latin typeface="Courier" pitchFamily="2" charset="0"/>
              </a:rPr>
              <a:t>提供睡眠</a:t>
            </a:r>
            <a:r>
              <a:rPr lang="en-US" altLang="zh-CN" b="1">
                <a:latin typeface="Courier" pitchFamily="2" charset="0"/>
              </a:rPr>
              <a:t>/</a:t>
            </a:r>
            <a:r>
              <a:rPr lang="zh-CN" altLang="en-US" b="1">
                <a:latin typeface="Courier" pitchFamily="2" charset="0"/>
              </a:rPr>
              <a:t>唤醒机制，避免无意义的等待。</a:t>
            </a:r>
            <a:endParaRPr lang="en-CN" b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4ADA1-3BC6-E341-B5B8-CB7193482BC5}"/>
              </a:ext>
            </a:extLst>
          </p:cNvPr>
          <p:cNvSpPr/>
          <p:nvPr/>
        </p:nvSpPr>
        <p:spPr>
          <a:xfrm>
            <a:off x="971562" y="3266196"/>
            <a:ext cx="3084917" cy="799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if(!some_condition)	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	wait(condition);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9BFFCC-B428-B447-B2AE-B60FD81EE19A}"/>
              </a:ext>
            </a:extLst>
          </p:cNvPr>
          <p:cNvSpPr/>
          <p:nvPr/>
        </p:nvSpPr>
        <p:spPr>
          <a:xfrm>
            <a:off x="4972117" y="3937620"/>
            <a:ext cx="3315721" cy="799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u</a:t>
            </a:r>
            <a:r>
              <a:rPr lang="en-CN" sz="1600">
                <a:latin typeface="Courier" pitchFamily="2" charset="0"/>
              </a:rPr>
              <a:t>pdate(some_condition);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s</a:t>
            </a:r>
            <a:r>
              <a:rPr lang="en-CN" sz="1600">
                <a:latin typeface="Courier" pitchFamily="2" charset="0"/>
              </a:rPr>
              <a:t>ignal(condition);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EB1FD2D-A576-4742-95F9-7AABC34B7B25}"/>
              </a:ext>
            </a:extLst>
          </p:cNvPr>
          <p:cNvCxnSpPr>
            <a:cxnSpLocks/>
          </p:cNvCxnSpPr>
          <p:nvPr/>
        </p:nvCxnSpPr>
        <p:spPr>
          <a:xfrm>
            <a:off x="4499992" y="3266196"/>
            <a:ext cx="0" cy="21829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AD25CF8-8A23-3A47-85E8-9989487DA3B1}"/>
              </a:ext>
            </a:extLst>
          </p:cNvPr>
          <p:cNvSpPr/>
          <p:nvPr/>
        </p:nvSpPr>
        <p:spPr>
          <a:xfrm>
            <a:off x="1373145" y="3048196"/>
            <a:ext cx="16965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线程</a:t>
            </a:r>
            <a:r>
              <a:rPr lang="en-US" altLang="zh-CN" dirty="0">
                <a:latin typeface="Courier" pitchFamily="2" charset="0"/>
              </a:rPr>
              <a:t>-0</a:t>
            </a:r>
            <a:endParaRPr lang="en-C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3C098B-068C-5241-8488-770C0C4992C1}"/>
              </a:ext>
            </a:extLst>
          </p:cNvPr>
          <p:cNvSpPr/>
          <p:nvPr/>
        </p:nvSpPr>
        <p:spPr>
          <a:xfrm>
            <a:off x="5365068" y="3037073"/>
            <a:ext cx="23762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线程</a:t>
            </a:r>
            <a:r>
              <a:rPr lang="en-US" altLang="zh-CN" dirty="0">
                <a:latin typeface="Courier" pitchFamily="2" charset="0"/>
              </a:rPr>
              <a:t>-1</a:t>
            </a:r>
            <a:endParaRPr lang="en-C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308B54-3D14-8C42-9214-2258911A51A5}"/>
              </a:ext>
            </a:extLst>
          </p:cNvPr>
          <p:cNvSpPr/>
          <p:nvPr/>
        </p:nvSpPr>
        <p:spPr>
          <a:xfrm>
            <a:off x="971561" y="4662092"/>
            <a:ext cx="3240395" cy="799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Wake up and check condition again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C2E53A-53B1-284E-9035-AACCFF812345}"/>
              </a:ext>
            </a:extLst>
          </p:cNvPr>
          <p:cNvCxnSpPr/>
          <p:nvPr/>
        </p:nvCxnSpPr>
        <p:spPr>
          <a:xfrm>
            <a:off x="4056479" y="3937620"/>
            <a:ext cx="1308589" cy="127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F641499-2852-A241-BC50-11D30E8F2E22}"/>
              </a:ext>
            </a:extLst>
          </p:cNvPr>
          <p:cNvCxnSpPr>
            <a:cxnSpLocks/>
          </p:cNvCxnSpPr>
          <p:nvPr/>
        </p:nvCxnSpPr>
        <p:spPr>
          <a:xfrm flipH="1">
            <a:off x="3189437" y="4662092"/>
            <a:ext cx="2030636" cy="139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875651-3515-7C41-80F4-6E3FB632C5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862589-F7D1-F740-A45B-128EA05A0574}"/>
              </a:ext>
            </a:extLst>
          </p:cNvPr>
          <p:cNvSpPr/>
          <p:nvPr/>
        </p:nvSpPr>
        <p:spPr>
          <a:xfrm>
            <a:off x="1930208" y="3742316"/>
            <a:ext cx="2055385" cy="31889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ED20E8-EC1A-6741-903D-5E62AB084EDA}"/>
              </a:ext>
            </a:extLst>
          </p:cNvPr>
          <p:cNvSpPr/>
          <p:nvPr/>
        </p:nvSpPr>
        <p:spPr>
          <a:xfrm>
            <a:off x="4934004" y="4433585"/>
            <a:ext cx="2503941" cy="2718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CD4BAA0-3F33-034E-909B-09655632E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5AE88A-8DCC-0B47-91AA-406EC208FC79}"/>
              </a:ext>
            </a:extLst>
          </p:cNvPr>
          <p:cNvSpPr/>
          <p:nvPr/>
        </p:nvSpPr>
        <p:spPr>
          <a:xfrm>
            <a:off x="539552" y="2929508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ourier" pitchFamily="2" charset="0"/>
              </a:rPr>
              <a:t>Lock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A6E7DD-A815-7848-8A67-9284540ED250}"/>
              </a:ext>
            </a:extLst>
          </p:cNvPr>
          <p:cNvSpPr/>
          <p:nvPr/>
        </p:nvSpPr>
        <p:spPr>
          <a:xfrm>
            <a:off x="467544" y="4081636"/>
            <a:ext cx="85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unlock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57CFD1-12C4-D54A-8D02-4C650EC6C4FF}"/>
              </a:ext>
            </a:extLst>
          </p:cNvPr>
          <p:cNvSpPr/>
          <p:nvPr/>
        </p:nvSpPr>
        <p:spPr>
          <a:xfrm>
            <a:off x="4644008" y="3577580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ourier" pitchFamily="2" charset="0"/>
              </a:rPr>
              <a:t>Lock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AC2E85-EFD4-534F-86F0-FC1FC054BF8F}"/>
              </a:ext>
            </a:extLst>
          </p:cNvPr>
          <p:cNvSpPr/>
          <p:nvPr/>
        </p:nvSpPr>
        <p:spPr>
          <a:xfrm>
            <a:off x="4644008" y="4801716"/>
            <a:ext cx="85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unlock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398869-3487-404A-AF99-E6150E5DFB6C}"/>
              </a:ext>
            </a:extLst>
          </p:cNvPr>
          <p:cNvSpPr/>
          <p:nvPr/>
        </p:nvSpPr>
        <p:spPr>
          <a:xfrm>
            <a:off x="3563888" y="314553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这个锁谁释放？</a:t>
            </a:r>
            <a:endParaRPr lang="en-C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03F361-D69A-C748-B15B-786D43040CA0}"/>
              </a:ext>
            </a:extLst>
          </p:cNvPr>
          <p:cNvSpPr/>
          <p:nvPr/>
        </p:nvSpPr>
        <p:spPr>
          <a:xfrm>
            <a:off x="4218892" y="1127186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latin typeface="Courier" pitchFamily="2" charset="0"/>
              </a:rPr>
              <a:t>需要使用</a:t>
            </a:r>
            <a:r>
              <a:rPr lang="zh-CN" altLang="en-US" b="1">
                <a:solidFill>
                  <a:srgbClr val="FF0000"/>
                </a:solidFill>
                <a:latin typeface="Courier" pitchFamily="2" charset="0"/>
              </a:rPr>
              <a:t>互斥锁</a:t>
            </a:r>
            <a:r>
              <a:rPr lang="zh-CN" altLang="en-US">
                <a:solidFill>
                  <a:srgbClr val="FF0000"/>
                </a:solidFill>
                <a:latin typeface="Courier" pitchFamily="2" charset="0"/>
              </a:rPr>
              <a:t>保护共享条件的更新</a:t>
            </a:r>
            <a:endParaRPr lang="en-C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0026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条件变量的接口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FC1C56-0FB7-7D47-8B13-CFA52B07FC25}"/>
              </a:ext>
            </a:extLst>
          </p:cNvPr>
          <p:cNvSpPr/>
          <p:nvPr/>
        </p:nvSpPr>
        <p:spPr>
          <a:xfrm>
            <a:off x="457200" y="1158690"/>
            <a:ext cx="35283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提供的两个接口：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6AD74E-ABE5-E343-BFBB-8E0D314614A7}"/>
              </a:ext>
            </a:extLst>
          </p:cNvPr>
          <p:cNvSpPr/>
          <p:nvPr/>
        </p:nvSpPr>
        <p:spPr>
          <a:xfrm>
            <a:off x="647564" y="2113988"/>
            <a:ext cx="7848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ourier" pitchFamily="2" charset="0"/>
              </a:rPr>
              <a:t>void cond_wait(struct cond *cond, struct lock *mutex);</a:t>
            </a:r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3E21AF-EEE3-754B-8670-69CAFB6B21EF}"/>
              </a:ext>
            </a:extLst>
          </p:cNvPr>
          <p:cNvSpPr/>
          <p:nvPr/>
        </p:nvSpPr>
        <p:spPr>
          <a:xfrm>
            <a:off x="647564" y="4250474"/>
            <a:ext cx="7848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ourier" pitchFamily="2" charset="0"/>
              </a:rPr>
              <a:t>void cond_signal(struct cond *cond);</a:t>
            </a:r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7BFF8A-6918-3041-AD0F-712BAA9A9C68}"/>
              </a:ext>
            </a:extLst>
          </p:cNvPr>
          <p:cNvSpPr/>
          <p:nvPr/>
        </p:nvSpPr>
        <p:spPr>
          <a:xfrm>
            <a:off x="457200" y="1645758"/>
            <a:ext cx="15987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等待的接口：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C5B21D-8B0C-354E-B172-218885FCF9F5}"/>
              </a:ext>
            </a:extLst>
          </p:cNvPr>
          <p:cNvSpPr/>
          <p:nvPr/>
        </p:nvSpPr>
        <p:spPr>
          <a:xfrm>
            <a:off x="441225" y="3904051"/>
            <a:ext cx="15987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唤醒的接口：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08F57B-92BF-BD48-8282-B9D5D1B181BD}"/>
              </a:ext>
            </a:extLst>
          </p:cNvPr>
          <p:cNvSpPr/>
          <p:nvPr/>
        </p:nvSpPr>
        <p:spPr>
          <a:xfrm>
            <a:off x="5292080" y="1954865"/>
            <a:ext cx="2915344" cy="6308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EBF084-D71F-4944-8CEB-10CC05B5F360}"/>
              </a:ext>
            </a:extLst>
          </p:cNvPr>
          <p:cNvSpPr/>
          <p:nvPr/>
        </p:nvSpPr>
        <p:spPr>
          <a:xfrm>
            <a:off x="625730" y="2497011"/>
            <a:ext cx="4594342" cy="1289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/>
              <a:t>放入条件变量的</a:t>
            </a:r>
            <a:r>
              <a:rPr lang="zh-CN" altLang="en-US" b="1"/>
              <a:t>等待队列</a:t>
            </a:r>
            <a:endParaRPr lang="en-CN" altLang="zh-CN" b="1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/>
              <a:t>阻塞自己同时</a:t>
            </a:r>
            <a:r>
              <a:rPr lang="zh-CN" altLang="en-CN" b="1"/>
              <a:t>释放</a:t>
            </a:r>
            <a:r>
              <a:rPr lang="zh-CN" altLang="en-US" b="1"/>
              <a:t>锁</a:t>
            </a:r>
            <a:endParaRPr lang="en-US" altLang="zh-CN" b="1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/>
              <a:t>被唤醒后重新</a:t>
            </a:r>
            <a:r>
              <a:rPr lang="zh-CN" altLang="en-US" b="1"/>
              <a:t>获取锁</a:t>
            </a:r>
            <a:endParaRPr lang="en-US" altLang="zh-CN" b="1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0ACE75-1660-914F-8813-B18679568832}"/>
              </a:ext>
            </a:extLst>
          </p:cNvPr>
          <p:cNvSpPr/>
          <p:nvPr/>
        </p:nvSpPr>
        <p:spPr>
          <a:xfrm>
            <a:off x="647564" y="4525811"/>
            <a:ext cx="6265596" cy="87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CN"/>
              <a:t>检查</a:t>
            </a:r>
            <a:r>
              <a:rPr lang="zh-CN" altLang="en-US" b="1"/>
              <a:t>等待队列</a:t>
            </a:r>
            <a:endParaRPr lang="en-US" altLang="zh-CN" b="1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/>
              <a:t>如果有等待者则</a:t>
            </a:r>
            <a:r>
              <a:rPr lang="zh-CN" altLang="en-US" b="1"/>
              <a:t>移出等待队列并唤醒</a:t>
            </a:r>
            <a:endParaRPr lang="en-US" altLang="zh-CN" b="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6CC4A-E6FC-6945-BE7C-0D703E2A1B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9FEAD-1B37-3341-9851-1B195541DBCA}"/>
              </a:ext>
            </a:extLst>
          </p:cNvPr>
          <p:cNvSpPr/>
          <p:nvPr/>
        </p:nvSpPr>
        <p:spPr>
          <a:xfrm>
            <a:off x="1628080" y="1652604"/>
            <a:ext cx="51229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等待需要在临界区中</a:t>
            </a:r>
            <a:endParaRPr lang="en-C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9F8155-E438-1E43-9F28-C95FD7320CCF}"/>
              </a:ext>
            </a:extLst>
          </p:cNvPr>
          <p:cNvCxnSpPr>
            <a:stCxn id="10" idx="2"/>
          </p:cNvCxnSpPr>
          <p:nvPr/>
        </p:nvCxnSpPr>
        <p:spPr>
          <a:xfrm flipH="1">
            <a:off x="3203848" y="2585719"/>
            <a:ext cx="3545904" cy="60705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6ABACFA-84CB-CC44-A646-7F0DF6F2A8E9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3203848" y="2585719"/>
            <a:ext cx="3545904" cy="100182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55444-9415-8B44-BDED-298CF4DF6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1463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条件变量的实现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0FBC59-1289-A340-999E-67C983B6D749}"/>
              </a:ext>
            </a:extLst>
          </p:cNvPr>
          <p:cNvSpPr/>
          <p:nvPr/>
        </p:nvSpPr>
        <p:spPr>
          <a:xfrm>
            <a:off x="5116294" y="3824128"/>
            <a:ext cx="37273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wakeup(list_remove</a:t>
            </a:r>
          </a:p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	(cond-&gt;wait_list));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41ABA-D722-C549-A640-8C0853B7A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6429DB-E59B-354E-B205-D753A8521133}"/>
              </a:ext>
            </a:extLst>
          </p:cNvPr>
          <p:cNvSpPr/>
          <p:nvPr/>
        </p:nvSpPr>
        <p:spPr>
          <a:xfrm>
            <a:off x="457200" y="2653268"/>
            <a:ext cx="374441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>
                <a:latin typeface="Courier" pitchFamily="2" charset="0"/>
              </a:rPr>
              <a:t>list_append(cond-&gt;wait_list,</a:t>
            </a:r>
          </a:p>
          <a:p>
            <a:r>
              <a:rPr lang="en-US" sz="1600">
                <a:latin typeface="Courier" pitchFamily="2" charset="0"/>
              </a:rPr>
              <a:t>	proc_self()); </a:t>
            </a:r>
            <a:endParaRPr lang="en-CN" sz="16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6C6517-9495-F04D-AEAE-A7A18C755BAC}"/>
              </a:ext>
            </a:extLst>
          </p:cNvPr>
          <p:cNvSpPr/>
          <p:nvPr/>
        </p:nvSpPr>
        <p:spPr>
          <a:xfrm>
            <a:off x="1485870" y="3206191"/>
            <a:ext cx="2036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>
                <a:latin typeface="Courier" pitchFamily="2" charset="0"/>
              </a:rPr>
              <a:t>unlock(mutex);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F9BD00-0E53-FC4D-A30E-90FA0F6E4825}"/>
              </a:ext>
            </a:extLst>
          </p:cNvPr>
          <p:cNvSpPr/>
          <p:nvPr/>
        </p:nvSpPr>
        <p:spPr>
          <a:xfrm>
            <a:off x="1521745" y="1129308"/>
            <a:ext cx="6100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solidFill>
                  <a:srgbClr val="941100"/>
                </a:solidFill>
              </a:rPr>
              <a:t>思考：为什么这里要原子的 </a:t>
            </a:r>
            <a:r>
              <a:rPr lang="en-US">
                <a:solidFill>
                  <a:srgbClr val="941100"/>
                </a:solidFill>
                <a:latin typeface="Courier" pitchFamily="2" charset="0"/>
              </a:rPr>
              <a:t>atomic_block_unlock</a:t>
            </a:r>
            <a:r>
              <a:rPr lang="zh-CN" altLang="en-US">
                <a:solidFill>
                  <a:srgbClr val="941100"/>
                </a:solidFill>
              </a:rPr>
              <a:t>？</a:t>
            </a:r>
            <a:endParaRPr lang="en-CN">
              <a:solidFill>
                <a:srgbClr val="9411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532C82-20B4-8D41-9E4D-6D63FBCDAA39}"/>
              </a:ext>
            </a:extLst>
          </p:cNvPr>
          <p:cNvSpPr/>
          <p:nvPr/>
        </p:nvSpPr>
        <p:spPr>
          <a:xfrm>
            <a:off x="1655687" y="2053620"/>
            <a:ext cx="16965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线程</a:t>
            </a:r>
            <a:r>
              <a:rPr lang="en-US" altLang="zh-CN" dirty="0">
                <a:latin typeface="Courier" pitchFamily="2" charset="0"/>
              </a:rPr>
              <a:t>-0</a:t>
            </a:r>
            <a:endParaRPr lang="en-C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E72B9F-EAEC-0C4D-95CE-021B0BB003DB}"/>
              </a:ext>
            </a:extLst>
          </p:cNvPr>
          <p:cNvSpPr/>
          <p:nvPr/>
        </p:nvSpPr>
        <p:spPr>
          <a:xfrm>
            <a:off x="5791813" y="2053620"/>
            <a:ext cx="23762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线程</a:t>
            </a:r>
            <a:r>
              <a:rPr lang="en-US" altLang="zh-CN" dirty="0">
                <a:latin typeface="Courier" pitchFamily="2" charset="0"/>
              </a:rPr>
              <a:t>-1</a:t>
            </a:r>
            <a:endParaRPr lang="en-C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18545A-6062-5143-B50A-DAACC28CD888}"/>
              </a:ext>
            </a:extLst>
          </p:cNvPr>
          <p:cNvSpPr/>
          <p:nvPr/>
        </p:nvSpPr>
        <p:spPr>
          <a:xfrm>
            <a:off x="6085309" y="3485574"/>
            <a:ext cx="17892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>
                <a:latin typeface="Courier" pitchFamily="2" charset="0"/>
              </a:rPr>
              <a:t>lock(mutex);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AB2F20-4F34-9845-98A2-A6EB538ECFE7}"/>
              </a:ext>
            </a:extLst>
          </p:cNvPr>
          <p:cNvSpPr/>
          <p:nvPr/>
        </p:nvSpPr>
        <p:spPr>
          <a:xfrm>
            <a:off x="1311340" y="4446175"/>
            <a:ext cx="2036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C00000"/>
                </a:solidFill>
                <a:latin typeface="Courier" pitchFamily="2" charset="0"/>
              </a:rPr>
              <a:t>block_myself();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CCCCF4D-DA28-104D-B440-95AC579048EB}"/>
              </a:ext>
            </a:extLst>
          </p:cNvPr>
          <p:cNvCxnSpPr>
            <a:cxnSpLocks/>
          </p:cNvCxnSpPr>
          <p:nvPr/>
        </p:nvCxnSpPr>
        <p:spPr>
          <a:xfrm>
            <a:off x="3356024" y="3438535"/>
            <a:ext cx="2265973" cy="216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02DE53C-00A5-BE47-9EEC-35D44C4008C4}"/>
              </a:ext>
            </a:extLst>
          </p:cNvPr>
          <p:cNvCxnSpPr>
            <a:cxnSpLocks/>
          </p:cNvCxnSpPr>
          <p:nvPr/>
        </p:nvCxnSpPr>
        <p:spPr>
          <a:xfrm flipH="1">
            <a:off x="3522005" y="4235910"/>
            <a:ext cx="2099992" cy="349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4BE4EA4E-FABA-9A4C-B209-BD93B72D556F}"/>
              </a:ext>
            </a:extLst>
          </p:cNvPr>
          <p:cNvSpPr/>
          <p:nvPr/>
        </p:nvSpPr>
        <p:spPr>
          <a:xfrm>
            <a:off x="6195115" y="4410801"/>
            <a:ext cx="1569660" cy="4584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唤醒时还没睡</a:t>
            </a:r>
            <a:endParaRPr lang="en-US" altLang="zh-C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B2ED5FD-9D6F-DD4B-B0DF-937E249804EF}"/>
              </a:ext>
            </a:extLst>
          </p:cNvPr>
          <p:cNvSpPr/>
          <p:nvPr/>
        </p:nvSpPr>
        <p:spPr>
          <a:xfrm>
            <a:off x="1603690" y="4752877"/>
            <a:ext cx="1800493" cy="4584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睡了后没人唤醒</a:t>
            </a:r>
            <a:endParaRPr lang="en-US" altLang="zh-C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EE86FCF-3266-B041-A0BB-80A0AE4618E7}"/>
              </a:ext>
            </a:extLst>
          </p:cNvPr>
          <p:cNvSpPr/>
          <p:nvPr/>
        </p:nvSpPr>
        <p:spPr>
          <a:xfrm>
            <a:off x="3027346" y="1455540"/>
            <a:ext cx="3089307" cy="4684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>
                <a:solidFill>
                  <a:srgbClr val="941100"/>
                </a:solidFill>
                <a:latin typeface="Courier" pitchFamily="2" charset="0"/>
              </a:rPr>
              <a:t>wakeup</a:t>
            </a:r>
            <a:r>
              <a:rPr lang="zh-CN" altLang="en-US">
                <a:solidFill>
                  <a:srgbClr val="941100"/>
                </a:solidFill>
                <a:latin typeface="Courier" pitchFamily="2" charset="0"/>
              </a:rPr>
              <a:t>必须在临界区内同理</a:t>
            </a:r>
            <a:endParaRPr lang="en-US" altLang="zh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BD8A3B-C15B-834A-8E45-7B17D94FD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9855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条件变量的接口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FC1C56-0FB7-7D47-8B13-CFA52B07FC25}"/>
              </a:ext>
            </a:extLst>
          </p:cNvPr>
          <p:cNvSpPr/>
          <p:nvPr/>
        </p:nvSpPr>
        <p:spPr>
          <a:xfrm>
            <a:off x="457200" y="1158690"/>
            <a:ext cx="35283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提供的两个接口：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6AD74E-ABE5-E343-BFBB-8E0D314614A7}"/>
              </a:ext>
            </a:extLst>
          </p:cNvPr>
          <p:cNvSpPr/>
          <p:nvPr/>
        </p:nvSpPr>
        <p:spPr>
          <a:xfrm>
            <a:off x="647564" y="2113988"/>
            <a:ext cx="7848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ourier" pitchFamily="2" charset="0"/>
              </a:rPr>
              <a:t>void cond_wait(struct cond *cond, struct lock *mutex);</a:t>
            </a:r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3E21AF-EEE3-754B-8670-69CAFB6B21EF}"/>
              </a:ext>
            </a:extLst>
          </p:cNvPr>
          <p:cNvSpPr/>
          <p:nvPr/>
        </p:nvSpPr>
        <p:spPr>
          <a:xfrm>
            <a:off x="647564" y="4250474"/>
            <a:ext cx="7848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ourier" pitchFamily="2" charset="0"/>
              </a:rPr>
              <a:t>void cond_signal(struct cond *cond);</a:t>
            </a:r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7BFF8A-6918-3041-AD0F-712BAA9A9C68}"/>
              </a:ext>
            </a:extLst>
          </p:cNvPr>
          <p:cNvSpPr/>
          <p:nvPr/>
        </p:nvSpPr>
        <p:spPr>
          <a:xfrm>
            <a:off x="457200" y="1645758"/>
            <a:ext cx="15987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等待的接口：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C5B21D-8B0C-354E-B172-218885FCF9F5}"/>
              </a:ext>
            </a:extLst>
          </p:cNvPr>
          <p:cNvSpPr/>
          <p:nvPr/>
        </p:nvSpPr>
        <p:spPr>
          <a:xfrm>
            <a:off x="441225" y="3904051"/>
            <a:ext cx="15987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唤醒的接口：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08F57B-92BF-BD48-8282-B9D5D1B181BD}"/>
              </a:ext>
            </a:extLst>
          </p:cNvPr>
          <p:cNvSpPr/>
          <p:nvPr/>
        </p:nvSpPr>
        <p:spPr>
          <a:xfrm>
            <a:off x="5292080" y="1954865"/>
            <a:ext cx="2915344" cy="6308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EBF084-D71F-4944-8CEB-10CC05B5F360}"/>
              </a:ext>
            </a:extLst>
          </p:cNvPr>
          <p:cNvSpPr/>
          <p:nvPr/>
        </p:nvSpPr>
        <p:spPr>
          <a:xfrm>
            <a:off x="625730" y="2497011"/>
            <a:ext cx="4594342" cy="1289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/>
              <a:t>放入条件变量的</a:t>
            </a:r>
            <a:r>
              <a:rPr lang="zh-CN" altLang="en-US" b="1"/>
              <a:t>等待队列</a:t>
            </a:r>
            <a:endParaRPr lang="en-CN" altLang="zh-CN" b="1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/>
              <a:t>阻塞自己同时</a:t>
            </a:r>
            <a:r>
              <a:rPr lang="zh-CN" altLang="en-CN" b="1"/>
              <a:t>释放</a:t>
            </a:r>
            <a:r>
              <a:rPr lang="zh-CN" altLang="en-US" b="1"/>
              <a:t>锁</a:t>
            </a:r>
            <a:endParaRPr lang="en-US" altLang="zh-CN" b="1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/>
              <a:t>被唤醒后重新</a:t>
            </a:r>
            <a:r>
              <a:rPr lang="zh-CN" altLang="en-US" b="1"/>
              <a:t>获取锁</a:t>
            </a:r>
            <a:endParaRPr lang="en-US" altLang="zh-CN" b="1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0ACE75-1660-914F-8813-B18679568832}"/>
              </a:ext>
            </a:extLst>
          </p:cNvPr>
          <p:cNvSpPr/>
          <p:nvPr/>
        </p:nvSpPr>
        <p:spPr>
          <a:xfrm>
            <a:off x="647564" y="4525811"/>
            <a:ext cx="6265596" cy="87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CN"/>
              <a:t>检查</a:t>
            </a:r>
            <a:r>
              <a:rPr lang="zh-CN" altLang="en-US" b="1"/>
              <a:t>等待队列</a:t>
            </a:r>
            <a:endParaRPr lang="en-US" altLang="zh-CN" b="1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/>
              <a:t>如果有等待者则</a:t>
            </a:r>
            <a:r>
              <a:rPr lang="zh-CN" altLang="en-US" b="1"/>
              <a:t>移出等待队列并唤醒</a:t>
            </a:r>
            <a:endParaRPr lang="en-US" altLang="zh-CN" b="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6CC4A-E6FC-6945-BE7C-0D703E2A1B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9FEAD-1B37-3341-9851-1B195541DBCA}"/>
              </a:ext>
            </a:extLst>
          </p:cNvPr>
          <p:cNvSpPr/>
          <p:nvPr/>
        </p:nvSpPr>
        <p:spPr>
          <a:xfrm>
            <a:off x="1628080" y="1652604"/>
            <a:ext cx="51229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等待需要在临界区中</a:t>
            </a:r>
            <a:endParaRPr lang="en-C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9F8155-E438-1E43-9F28-C95FD7320CCF}"/>
              </a:ext>
            </a:extLst>
          </p:cNvPr>
          <p:cNvCxnSpPr>
            <a:stCxn id="10" idx="2"/>
          </p:cNvCxnSpPr>
          <p:nvPr/>
        </p:nvCxnSpPr>
        <p:spPr>
          <a:xfrm flipH="1">
            <a:off x="3203848" y="2585719"/>
            <a:ext cx="3545904" cy="60705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6ABACFA-84CB-CC44-A646-7F0DF6F2A8E9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3203848" y="2585719"/>
            <a:ext cx="3545904" cy="100182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55444-9415-8B44-BDED-298CF4DF6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5935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条件变量的使用示例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6AD74E-ABE5-E343-BFBB-8E0D314614A7}"/>
              </a:ext>
            </a:extLst>
          </p:cNvPr>
          <p:cNvSpPr/>
          <p:nvPr/>
        </p:nvSpPr>
        <p:spPr>
          <a:xfrm>
            <a:off x="457200" y="2124010"/>
            <a:ext cx="454684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latin typeface="Courier" pitchFamily="2" charset="0"/>
              </a:rPr>
              <a:t>...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latin typeface="Courier" pitchFamily="2" charset="0"/>
              </a:rPr>
              <a:t>/* Wait empty slot */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chemeClr val="accent1"/>
                </a:solidFill>
                <a:latin typeface="Courier" pitchFamily="2" charset="0"/>
              </a:rPr>
              <a:t>lock</a:t>
            </a:r>
            <a:r>
              <a:rPr lang="en-US">
                <a:latin typeface="Courier" pitchFamily="2" charset="0"/>
              </a:rPr>
              <a:t>(</a:t>
            </a:r>
            <a:r>
              <a:rPr lang="en-US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>
                <a:latin typeface="Courier" pitchFamily="2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latin typeface="Courier" pitchFamily="2" charset="0"/>
              </a:rPr>
              <a:t>while (empty_slot == 0)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latin typeface="Courier" pitchFamily="2" charset="0"/>
              </a:rPr>
              <a:t>	</a:t>
            </a:r>
            <a:r>
              <a:rPr lang="en-US">
                <a:solidFill>
                  <a:schemeClr val="accent1"/>
                </a:solidFill>
                <a:latin typeface="Courier" pitchFamily="2" charset="0"/>
              </a:rPr>
              <a:t>cond_wait</a:t>
            </a:r>
            <a:r>
              <a:rPr lang="en-US">
                <a:latin typeface="Courier" pitchFamily="2" charset="0"/>
              </a:rPr>
              <a:t>(</a:t>
            </a:r>
            <a:r>
              <a:rPr lang="en-US">
                <a:solidFill>
                  <a:srgbClr val="00B050"/>
                </a:solidFill>
                <a:latin typeface="Courier" pitchFamily="2" charset="0"/>
              </a:rPr>
              <a:t>empty_cond</a:t>
            </a:r>
            <a:r>
              <a:rPr lang="en-US">
                <a:latin typeface="Courier" pitchFamily="2" charset="0"/>
              </a:rPr>
              <a:t>,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latin typeface="Courier" pitchFamily="2" charset="0"/>
              </a:rPr>
              <a:t>		</a:t>
            </a:r>
            <a:r>
              <a:rPr lang="en-US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>
                <a:latin typeface="Courier" pitchFamily="2" charset="0"/>
              </a:rPr>
              <a:t>); 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latin typeface="Courier" pitchFamily="2" charset="0"/>
              </a:rPr>
              <a:t>empty_slot --; 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US">
                <a:latin typeface="Courier" pitchFamily="2" charset="0"/>
              </a:rPr>
              <a:t>(</a:t>
            </a:r>
            <a:r>
              <a:rPr lang="en-US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>
                <a:latin typeface="Courier" pitchFamily="2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latin typeface="Courier" pitchFamily="2" charset="0"/>
              </a:rPr>
              <a:t>...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608D20-8DF4-6641-B42A-DFC03A2F604F}"/>
              </a:ext>
            </a:extLst>
          </p:cNvPr>
          <p:cNvSpPr/>
          <p:nvPr/>
        </p:nvSpPr>
        <p:spPr>
          <a:xfrm>
            <a:off x="1257673" y="1565643"/>
            <a:ext cx="25922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/>
              <a:t>等待空位</a:t>
            </a:r>
            <a:r>
              <a:rPr lang="zh-CN" altLang="en-US"/>
              <a:t>代码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0F6E07-BAD2-C343-B8AE-316C2668E9F6}"/>
              </a:ext>
            </a:extLst>
          </p:cNvPr>
          <p:cNvSpPr/>
          <p:nvPr/>
        </p:nvSpPr>
        <p:spPr>
          <a:xfrm>
            <a:off x="4981272" y="2452454"/>
            <a:ext cx="39038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latin typeface="Courier" pitchFamily="2" charset="0"/>
              </a:rPr>
              <a:t>...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latin typeface="Courier" pitchFamily="2" charset="0"/>
              </a:rPr>
              <a:t>/* Add empty slot */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chemeClr val="accent1"/>
                </a:solidFill>
                <a:latin typeface="Courier" pitchFamily="2" charset="0"/>
              </a:rPr>
              <a:t>lock</a:t>
            </a:r>
            <a:r>
              <a:rPr lang="en-US">
                <a:latin typeface="Courier" pitchFamily="2" charset="0"/>
              </a:rPr>
              <a:t>(</a:t>
            </a:r>
            <a:r>
              <a:rPr lang="en-US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>
                <a:latin typeface="Courier" pitchFamily="2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latin typeface="Courier" pitchFamily="2" charset="0"/>
              </a:rPr>
              <a:t>empty_slot ++;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chemeClr val="accent1"/>
                </a:solidFill>
                <a:latin typeface="Courier" pitchFamily="2" charset="0"/>
              </a:rPr>
              <a:t>cond_signal</a:t>
            </a:r>
            <a:r>
              <a:rPr lang="en-US">
                <a:latin typeface="Courier" pitchFamily="2" charset="0"/>
              </a:rPr>
              <a:t>(empty_cond);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US">
                <a:latin typeface="Courier" pitchFamily="2" charset="0"/>
              </a:rPr>
              <a:t>(</a:t>
            </a:r>
            <a:r>
              <a:rPr lang="en-US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>
                <a:latin typeface="Courier" pitchFamily="2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latin typeface="Courier" pitchFamily="2" charset="0"/>
              </a:rPr>
              <a:t>...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FA1416-2ECC-A04F-AB4A-9ADF898287D9}"/>
              </a:ext>
            </a:extLst>
          </p:cNvPr>
          <p:cNvSpPr/>
          <p:nvPr/>
        </p:nvSpPr>
        <p:spPr>
          <a:xfrm>
            <a:off x="5512504" y="1565643"/>
            <a:ext cx="28414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/>
              <a:t>生产空位</a:t>
            </a:r>
            <a:r>
              <a:rPr lang="zh-CN" altLang="en-US"/>
              <a:t>代码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6C8799-7359-094A-8621-063343CF99C5}"/>
              </a:ext>
            </a:extLst>
          </p:cNvPr>
          <p:cNvSpPr/>
          <p:nvPr/>
        </p:nvSpPr>
        <p:spPr>
          <a:xfrm>
            <a:off x="457199" y="2924317"/>
            <a:ext cx="3705529" cy="3652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873019-9964-2F40-A364-FD7BECCD0343}"/>
              </a:ext>
            </a:extLst>
          </p:cNvPr>
          <p:cNvSpPr/>
          <p:nvPr/>
        </p:nvSpPr>
        <p:spPr>
          <a:xfrm>
            <a:off x="2010544" y="5023591"/>
            <a:ext cx="51229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思考：为什么这里要用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while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？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9C63F-A697-1E4D-B0D5-14116429D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4B51B-C06D-B048-8A52-D17D2702F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2857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条件变量的使用示例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6AD74E-ABE5-E343-BFBB-8E0D314614A7}"/>
              </a:ext>
            </a:extLst>
          </p:cNvPr>
          <p:cNvSpPr/>
          <p:nvPr/>
        </p:nvSpPr>
        <p:spPr>
          <a:xfrm>
            <a:off x="4860032" y="3623889"/>
            <a:ext cx="45468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Courier" pitchFamily="2" charset="0"/>
              </a:rPr>
              <a:t>lock</a:t>
            </a:r>
            <a:r>
              <a:rPr lang="en-US">
                <a:latin typeface="Courier" pitchFamily="2" charset="0"/>
              </a:rPr>
              <a:t>(</a:t>
            </a:r>
            <a:r>
              <a:rPr lang="en-US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>
                <a:latin typeface="Courier" pitchFamily="2" charset="0"/>
              </a:rPr>
              <a:t>);</a:t>
            </a:r>
          </a:p>
          <a:p>
            <a:r>
              <a:rPr lang="en-US">
                <a:latin typeface="Courier" pitchFamily="2" charset="0"/>
              </a:rPr>
              <a:t>empty_slot --; </a:t>
            </a:r>
          </a:p>
          <a:p>
            <a:r>
              <a:rPr lang="en-US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US">
                <a:latin typeface="Courier" pitchFamily="2" charset="0"/>
              </a:rPr>
              <a:t>(</a:t>
            </a:r>
            <a:r>
              <a:rPr lang="en-US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>
                <a:latin typeface="Courier" pitchFamily="2" charset="0"/>
              </a:rPr>
              <a:t>);...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608D20-8DF4-6641-B42A-DFC03A2F604F}"/>
              </a:ext>
            </a:extLst>
          </p:cNvPr>
          <p:cNvSpPr/>
          <p:nvPr/>
        </p:nvSpPr>
        <p:spPr>
          <a:xfrm>
            <a:off x="1257673" y="1565643"/>
            <a:ext cx="25922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线程 </a:t>
            </a:r>
            <a:r>
              <a:rPr lang="en-US" altLang="zh-CN" dirty="0"/>
              <a:t>1</a:t>
            </a:r>
            <a:endParaRPr lang="en-C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873019-9964-2F40-A364-FD7BECCD0343}"/>
              </a:ext>
            </a:extLst>
          </p:cNvPr>
          <p:cNvSpPr/>
          <p:nvPr/>
        </p:nvSpPr>
        <p:spPr>
          <a:xfrm>
            <a:off x="2010544" y="1185618"/>
            <a:ext cx="51229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思考：为什么这里要用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while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？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9C63F-A697-1E4D-B0D5-14116429D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1B2A0D-450A-2444-BCA3-0ADE76BC262D}"/>
              </a:ext>
            </a:extLst>
          </p:cNvPr>
          <p:cNvSpPr/>
          <p:nvPr/>
        </p:nvSpPr>
        <p:spPr>
          <a:xfrm>
            <a:off x="5294041" y="1554950"/>
            <a:ext cx="25922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线程 </a:t>
            </a:r>
            <a:r>
              <a:rPr lang="en-US" altLang="zh-CN" dirty="0"/>
              <a:t>2</a:t>
            </a:r>
            <a:endParaRPr lang="en-C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B1F014-6550-CE4A-A6E0-9D0BE6226984}"/>
              </a:ext>
            </a:extLst>
          </p:cNvPr>
          <p:cNvSpPr/>
          <p:nvPr/>
        </p:nvSpPr>
        <p:spPr>
          <a:xfrm>
            <a:off x="313184" y="2220794"/>
            <a:ext cx="454684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Courier" pitchFamily="2" charset="0"/>
              </a:rPr>
              <a:t>lock</a:t>
            </a:r>
            <a:r>
              <a:rPr lang="en-US">
                <a:latin typeface="Courier" pitchFamily="2" charset="0"/>
              </a:rPr>
              <a:t>(</a:t>
            </a:r>
            <a:r>
              <a:rPr lang="en-US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>
                <a:latin typeface="Courier" pitchFamily="2" charset="0"/>
              </a:rPr>
              <a:t>);</a:t>
            </a:r>
          </a:p>
          <a:p>
            <a:r>
              <a:rPr lang="en-US">
                <a:latin typeface="Courier" pitchFamily="2" charset="0"/>
              </a:rPr>
              <a:t>if (empty_slot == 0)</a:t>
            </a:r>
          </a:p>
          <a:p>
            <a:r>
              <a:rPr lang="en-US">
                <a:latin typeface="Courier" pitchFamily="2" charset="0"/>
              </a:rPr>
              <a:t>	</a:t>
            </a:r>
            <a:r>
              <a:rPr lang="en-US">
                <a:solidFill>
                  <a:schemeClr val="accent1"/>
                </a:solidFill>
                <a:latin typeface="Courier" pitchFamily="2" charset="0"/>
              </a:rPr>
              <a:t>cond_wait</a:t>
            </a:r>
            <a:r>
              <a:rPr lang="en-US">
                <a:latin typeface="Courier" pitchFamily="2" charset="0"/>
              </a:rPr>
              <a:t>(</a:t>
            </a:r>
            <a:r>
              <a:rPr lang="en-US">
                <a:solidFill>
                  <a:srgbClr val="00B050"/>
                </a:solidFill>
                <a:latin typeface="Courier" pitchFamily="2" charset="0"/>
              </a:rPr>
              <a:t>empty_cond</a:t>
            </a:r>
            <a:r>
              <a:rPr lang="en-US">
                <a:latin typeface="Courier" pitchFamily="2" charset="0"/>
              </a:rPr>
              <a:t>,</a:t>
            </a:r>
          </a:p>
          <a:p>
            <a:r>
              <a:rPr lang="en-US">
                <a:latin typeface="Courier" pitchFamily="2" charset="0"/>
              </a:rPr>
              <a:t>		</a:t>
            </a:r>
            <a:r>
              <a:rPr lang="en-US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>
                <a:latin typeface="Courier" pitchFamily="2" charset="0"/>
              </a:rPr>
              <a:t>);</a:t>
            </a:r>
          </a:p>
          <a:p>
            <a:endParaRPr lang="en-US">
              <a:latin typeface="Courier" pitchFamily="2" charset="0"/>
            </a:endParaRPr>
          </a:p>
          <a:p>
            <a:r>
              <a:rPr lang="en-US">
                <a:latin typeface="Courier" pitchFamily="2" charset="0"/>
              </a:rPr>
              <a:t> </a:t>
            </a:r>
          </a:p>
          <a:p>
            <a:endParaRPr lang="en-US">
              <a:latin typeface="Courier" pitchFamily="2" charset="0"/>
            </a:endParaRPr>
          </a:p>
          <a:p>
            <a:endParaRPr lang="en-US">
              <a:latin typeface="Courier" pitchFamily="2" charset="0"/>
            </a:endParaRPr>
          </a:p>
          <a:p>
            <a:r>
              <a:rPr lang="en-US">
                <a:latin typeface="Courier" pitchFamily="2" charset="0"/>
              </a:rPr>
              <a:t>empty_slot --; </a:t>
            </a:r>
          </a:p>
          <a:p>
            <a:r>
              <a:rPr lang="en-US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US">
                <a:latin typeface="Courier" pitchFamily="2" charset="0"/>
              </a:rPr>
              <a:t>(</a:t>
            </a:r>
            <a:r>
              <a:rPr lang="en-US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>
                <a:latin typeface="Courier" pitchFamily="2" charset="0"/>
              </a:rPr>
              <a:t>);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89E91D9-2669-DB41-BC0A-3E57F29D87E4}"/>
              </a:ext>
            </a:extLst>
          </p:cNvPr>
          <p:cNvCxnSpPr>
            <a:cxnSpLocks/>
          </p:cNvCxnSpPr>
          <p:nvPr/>
        </p:nvCxnSpPr>
        <p:spPr>
          <a:xfrm flipH="1">
            <a:off x="4510893" y="2920951"/>
            <a:ext cx="1418358" cy="5916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184542F-47A2-D54D-9A30-AD70F8705A66}"/>
              </a:ext>
            </a:extLst>
          </p:cNvPr>
          <p:cNvSpPr/>
          <p:nvPr/>
        </p:nvSpPr>
        <p:spPr>
          <a:xfrm>
            <a:off x="6300192" y="2672834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有新的空位，唤醒</a:t>
            </a:r>
            <a:endParaRPr lang="en-CN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DE56797-C9D0-1A43-BFB3-0DD775F9774C}"/>
              </a:ext>
            </a:extLst>
          </p:cNvPr>
          <p:cNvCxnSpPr>
            <a:cxnSpLocks/>
          </p:cNvCxnSpPr>
          <p:nvPr/>
        </p:nvCxnSpPr>
        <p:spPr>
          <a:xfrm flipH="1" flipV="1">
            <a:off x="4498648" y="4395783"/>
            <a:ext cx="1265958" cy="3370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09F213C-1165-7744-BE89-6FE0E6CE342B}"/>
              </a:ext>
            </a:extLst>
          </p:cNvPr>
          <p:cNvSpPr/>
          <p:nvPr/>
        </p:nvSpPr>
        <p:spPr>
          <a:xfrm>
            <a:off x="5929251" y="4582061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重新拿到锁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C83C0F-9AE3-4F44-9DD2-E012088094A3}"/>
              </a:ext>
            </a:extLst>
          </p:cNvPr>
          <p:cNvSpPr/>
          <p:nvPr/>
        </p:nvSpPr>
        <p:spPr>
          <a:xfrm>
            <a:off x="6189584" y="3014227"/>
            <a:ext cx="2252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ourier" pitchFamily="2" charset="0"/>
              </a:rPr>
              <a:t>empty_slot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= 1</a:t>
            </a:r>
            <a:r>
              <a:rPr lang="en-US">
                <a:latin typeface="Courier" pitchFamily="2" charset="0"/>
              </a:rPr>
              <a:t> 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D848E3-7399-FE4F-BCCD-0E2B770559A0}"/>
              </a:ext>
            </a:extLst>
          </p:cNvPr>
          <p:cNvSpPr/>
          <p:nvPr/>
        </p:nvSpPr>
        <p:spPr>
          <a:xfrm>
            <a:off x="6732240" y="4349755"/>
            <a:ext cx="2252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ourier" pitchFamily="2" charset="0"/>
              </a:rPr>
              <a:t>empty_slot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= 0</a:t>
            </a:r>
            <a:r>
              <a:rPr lang="en-US">
                <a:latin typeface="Courier" pitchFamily="2" charset="0"/>
              </a:rPr>
              <a:t> </a:t>
            </a:r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903C6B-EF9C-454C-818F-132D8E55479C}"/>
              </a:ext>
            </a:extLst>
          </p:cNvPr>
          <p:cNvSpPr/>
          <p:nvPr/>
        </p:nvSpPr>
        <p:spPr>
          <a:xfrm>
            <a:off x="1260070" y="5009778"/>
            <a:ext cx="2252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Courier" pitchFamily="2" charset="0"/>
              </a:rPr>
              <a:t>empty_slot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= -1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9AB01-3E43-E448-AB53-3E48AD13A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7936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信号量（</a:t>
            </a:r>
            <a:r>
              <a:rPr kumimoji="1" lang="en-US" altLang="zh-CN" dirty="0"/>
              <a:t>Semaphore</a:t>
            </a:r>
            <a:r>
              <a:rPr kumimoji="1" lang="zh-CN" altLang="en-US" dirty="0"/>
              <a:t>）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5697635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信号量 （</a:t>
            </a:r>
            <a:r>
              <a:rPr lang="en-US" altLang="zh-CN" dirty="0"/>
              <a:t>PV</a:t>
            </a:r>
            <a:r>
              <a:rPr lang="zh-CN" altLang="en-US" dirty="0"/>
              <a:t>原语）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93C58-8B04-134A-BC0C-09FE30F1344C}"/>
              </a:ext>
            </a:extLst>
          </p:cNvPr>
          <p:cNvSpPr/>
          <p:nvPr/>
        </p:nvSpPr>
        <p:spPr>
          <a:xfrm>
            <a:off x="3409456" y="3370527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N">
                <a:latin typeface="Courier" pitchFamily="2" charset="0"/>
              </a:rPr>
              <a:t>void </a:t>
            </a:r>
            <a:r>
              <a:rPr lang="en-US" altLang="zh-CN">
                <a:latin typeface="Courier" pitchFamily="2" charset="0"/>
              </a:rPr>
              <a:t>sem_</a:t>
            </a:r>
            <a:r>
              <a:rPr lang="en-CN">
                <a:latin typeface="Courier" pitchFamily="2" charset="0"/>
              </a:rPr>
              <a:t>wait(sem_t *sem) {</a:t>
            </a:r>
          </a:p>
          <a:p>
            <a:r>
              <a:rPr lang="en-CN">
                <a:latin typeface="Courier" pitchFamily="2" charset="0"/>
              </a:rPr>
              <a:t>	while(sem-&gt;</a:t>
            </a:r>
            <a:r>
              <a:rPr lang="en-CN" b="1">
                <a:latin typeface="Courier" pitchFamily="2" charset="0"/>
              </a:rPr>
              <a:t>cnt</a:t>
            </a:r>
            <a:r>
              <a:rPr lang="en-CN">
                <a:latin typeface="Courier" pitchFamily="2" charset="0"/>
              </a:rPr>
              <a:t> &lt;= 0)</a:t>
            </a:r>
          </a:p>
          <a:p>
            <a:r>
              <a:rPr lang="en-CN">
                <a:latin typeface="Courier" pitchFamily="2" charset="0"/>
              </a:rPr>
              <a:t>		</a:t>
            </a:r>
            <a:r>
              <a:rPr lang="en-US" altLang="zh-CN">
                <a:latin typeface="Courier" pitchFamily="2" charset="0"/>
              </a:rPr>
              <a:t>/</a:t>
            </a:r>
            <a:r>
              <a:rPr lang="zh-CN" altLang="en-US">
                <a:latin typeface="Courier" pitchFamily="2" charset="0"/>
              </a:rPr>
              <a:t>* </a:t>
            </a:r>
            <a:r>
              <a:rPr lang="en-US" altLang="zh-CN">
                <a:latin typeface="Courier" pitchFamily="2" charset="0"/>
              </a:rPr>
              <a:t>Waiting */</a:t>
            </a:r>
            <a:r>
              <a:rPr lang="en-CN">
                <a:latin typeface="Courier" pitchFamily="2" charset="0"/>
              </a:rPr>
              <a:t>;</a:t>
            </a:r>
          </a:p>
          <a:p>
            <a:r>
              <a:rPr lang="en-CN">
                <a:latin typeface="Courier" pitchFamily="2" charset="0"/>
              </a:rPr>
              <a:t>	S --; </a:t>
            </a:r>
          </a:p>
          <a:p>
            <a:r>
              <a:rPr lang="en-CN">
                <a:latin typeface="Courier" pitchFamily="2" charset="0"/>
              </a:rPr>
              <a:t>}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D71BC3-CAFF-7044-A7D2-6C4C686203FF}"/>
              </a:ext>
            </a:extLst>
          </p:cNvPr>
          <p:cNvSpPr/>
          <p:nvPr/>
        </p:nvSpPr>
        <p:spPr>
          <a:xfrm>
            <a:off x="3049518" y="1730097"/>
            <a:ext cx="45704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语义上：信号量记录了</a:t>
            </a:r>
            <a:r>
              <a:rPr lang="zh-CN" altLang="en-US" b="1">
                <a:latin typeface="Courier" pitchFamily="2" charset="0"/>
              </a:rPr>
              <a:t>当前可用资源的数量</a:t>
            </a:r>
            <a:endParaRPr lang="en-US" altLang="zh-CN" b="1">
              <a:latin typeface="Courier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00C3ED-9EDD-444F-8BED-ECA269DAAB71}"/>
              </a:ext>
            </a:extLst>
          </p:cNvPr>
          <p:cNvSpPr/>
          <p:nvPr/>
        </p:nvSpPr>
        <p:spPr>
          <a:xfrm>
            <a:off x="1409916" y="1131637"/>
            <a:ext cx="63241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Courier" pitchFamily="2" charset="0"/>
              </a:rPr>
              <a:t>信号量：协调（阻塞</a:t>
            </a:r>
            <a:r>
              <a:rPr lang="en-US" altLang="zh-CN" dirty="0">
                <a:latin typeface="Courier" pitchFamily="2" charset="0"/>
              </a:rPr>
              <a:t>/</a:t>
            </a:r>
            <a:r>
              <a:rPr lang="zh-CN" altLang="en-US" dirty="0">
                <a:latin typeface="Courier" pitchFamily="2" charset="0"/>
              </a:rPr>
              <a:t>放行）多个线程共享有限数量的资源。</a:t>
            </a:r>
            <a:endParaRPr lang="en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77C0EB-7998-8B44-B7BC-64EA55318C85}"/>
              </a:ext>
            </a:extLst>
          </p:cNvPr>
          <p:cNvSpPr/>
          <p:nvPr/>
        </p:nvSpPr>
        <p:spPr>
          <a:xfrm>
            <a:off x="4018147" y="2927017"/>
            <a:ext cx="1938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b="1" dirty="0">
                <a:latin typeface="Courier" pitchFamily="2" charset="0"/>
              </a:rPr>
              <a:t>P</a:t>
            </a:r>
            <a:r>
              <a:rPr lang="zh-CN" altLang="en-CN" b="1" dirty="0">
                <a:latin typeface="Courier" pitchFamily="2" charset="0"/>
              </a:rPr>
              <a:t>操作</a:t>
            </a:r>
            <a:r>
              <a:rPr lang="zh-CN" altLang="en-US" b="1" dirty="0">
                <a:latin typeface="Courier" pitchFamily="2" charset="0"/>
              </a:rPr>
              <a:t>：消耗资源</a:t>
            </a:r>
            <a:endParaRPr lang="en-CN" b="1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F0B72-07EC-B449-AEBD-18A16E90E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D55C2-2C06-3F46-97EA-AC95EA41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957ED6-6891-B044-A51B-B1FA9321A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09" y="1907410"/>
            <a:ext cx="1937892" cy="258532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3DFB75-F4AB-9740-8FA2-8E0DC0AAD62F}"/>
              </a:ext>
            </a:extLst>
          </p:cNvPr>
          <p:cNvSpPr/>
          <p:nvPr/>
        </p:nvSpPr>
        <p:spPr>
          <a:xfrm>
            <a:off x="457200" y="4602112"/>
            <a:ext cx="19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Linux Libertine"/>
              </a:rPr>
              <a:t>Edsger W. Dijkstra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999E74-55F5-6F43-BB37-2D993E399780}"/>
              </a:ext>
            </a:extLst>
          </p:cNvPr>
          <p:cNvSpPr/>
          <p:nvPr/>
        </p:nvSpPr>
        <p:spPr>
          <a:xfrm>
            <a:off x="3442253" y="2328557"/>
            <a:ext cx="37850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提供了两个原语用于</a:t>
            </a:r>
            <a:r>
              <a:rPr lang="zh-CN" altLang="en-US" b="1">
                <a:latin typeface="Courier" pitchFamily="2" charset="0"/>
              </a:rPr>
              <a:t>等待</a:t>
            </a:r>
            <a:r>
              <a:rPr lang="en-US" altLang="zh-CN" b="1">
                <a:latin typeface="Courier" pitchFamily="2" charset="0"/>
              </a:rPr>
              <a:t>/</a:t>
            </a:r>
            <a:r>
              <a:rPr lang="zh-CN" altLang="en-US" b="1">
                <a:latin typeface="Courier" pitchFamily="2" charset="0"/>
              </a:rPr>
              <a:t>消耗</a:t>
            </a:r>
            <a:r>
              <a:rPr lang="zh-CN" altLang="en-US">
                <a:latin typeface="Courier" pitchFamily="2" charset="0"/>
              </a:rPr>
              <a:t>资源</a:t>
            </a:r>
            <a:endParaRPr lang="en-US" altLang="zh-CN" b="1">
              <a:latin typeface="Courier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2C8808-6E84-AD4E-A792-50BB8A6D73C4}"/>
              </a:ext>
            </a:extLst>
          </p:cNvPr>
          <p:cNvSpPr/>
          <p:nvPr/>
        </p:nvSpPr>
        <p:spPr>
          <a:xfrm>
            <a:off x="6397550" y="2814200"/>
            <a:ext cx="24449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cnt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代表剩余资源数量</a:t>
            </a:r>
            <a:endParaRPr lang="en-CN">
              <a:solidFill>
                <a:schemeClr val="accent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87A4258-79C3-934A-AD52-798DA545A4A1}"/>
              </a:ext>
            </a:extLst>
          </p:cNvPr>
          <p:cNvCxnSpPr>
            <a:stCxn id="17" idx="2"/>
          </p:cNvCxnSpPr>
          <p:nvPr/>
        </p:nvCxnSpPr>
        <p:spPr>
          <a:xfrm flipH="1">
            <a:off x="6372200" y="3183532"/>
            <a:ext cx="1247800" cy="5586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4909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信号量 （</a:t>
            </a:r>
            <a:r>
              <a:rPr lang="en-US" altLang="zh-CN" dirty="0"/>
              <a:t>PV</a:t>
            </a:r>
            <a:r>
              <a:rPr lang="zh-CN" altLang="en-US" dirty="0"/>
              <a:t>原语）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D71BC3-CAFF-7044-A7D2-6C4C686203FF}"/>
              </a:ext>
            </a:extLst>
          </p:cNvPr>
          <p:cNvSpPr/>
          <p:nvPr/>
        </p:nvSpPr>
        <p:spPr>
          <a:xfrm>
            <a:off x="3049518" y="1730097"/>
            <a:ext cx="45704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语义上：信号量记录了</a:t>
            </a:r>
            <a:r>
              <a:rPr lang="zh-CN" altLang="en-US" b="1">
                <a:latin typeface="Courier" pitchFamily="2" charset="0"/>
              </a:rPr>
              <a:t>当前可用资源的数量</a:t>
            </a:r>
            <a:endParaRPr lang="en-US" altLang="zh-CN" b="1">
              <a:latin typeface="Courier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00C3ED-9EDD-444F-8BED-ECA269DAAB71}"/>
              </a:ext>
            </a:extLst>
          </p:cNvPr>
          <p:cNvSpPr/>
          <p:nvPr/>
        </p:nvSpPr>
        <p:spPr>
          <a:xfrm>
            <a:off x="1409916" y="1131637"/>
            <a:ext cx="63241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Courier" pitchFamily="2" charset="0"/>
              </a:rPr>
              <a:t>信号量：协调（阻塞</a:t>
            </a:r>
            <a:r>
              <a:rPr lang="en-US" altLang="zh-CN" dirty="0">
                <a:latin typeface="Courier" pitchFamily="2" charset="0"/>
              </a:rPr>
              <a:t>/</a:t>
            </a:r>
            <a:r>
              <a:rPr lang="zh-CN" altLang="en-US" dirty="0">
                <a:latin typeface="Courier" pitchFamily="2" charset="0"/>
              </a:rPr>
              <a:t>放行）多个线程共享有限数量的资源。</a:t>
            </a:r>
            <a:endParaRPr lang="en-C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F0B72-07EC-B449-AEBD-18A16E90E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D55C2-2C06-3F46-97EA-AC95EA41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957ED6-6891-B044-A51B-B1FA9321A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09" y="1907410"/>
            <a:ext cx="1937892" cy="258532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3DFB75-F4AB-9740-8FA2-8E0DC0AAD62F}"/>
              </a:ext>
            </a:extLst>
          </p:cNvPr>
          <p:cNvSpPr/>
          <p:nvPr/>
        </p:nvSpPr>
        <p:spPr>
          <a:xfrm>
            <a:off x="457200" y="4602112"/>
            <a:ext cx="19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Linux Libertine"/>
              </a:rPr>
              <a:t>Edsger W. Dijkstra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999E74-55F5-6F43-BB37-2D993E399780}"/>
              </a:ext>
            </a:extLst>
          </p:cNvPr>
          <p:cNvSpPr/>
          <p:nvPr/>
        </p:nvSpPr>
        <p:spPr>
          <a:xfrm>
            <a:off x="3442253" y="2328557"/>
            <a:ext cx="37850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提供了两个原语用于</a:t>
            </a:r>
            <a:r>
              <a:rPr lang="zh-CN" altLang="en-US" b="1">
                <a:latin typeface="Courier" pitchFamily="2" charset="0"/>
              </a:rPr>
              <a:t>等待</a:t>
            </a:r>
            <a:r>
              <a:rPr lang="en-US" altLang="zh-CN" b="1">
                <a:latin typeface="Courier" pitchFamily="2" charset="0"/>
              </a:rPr>
              <a:t>/</a:t>
            </a:r>
            <a:r>
              <a:rPr lang="zh-CN" altLang="en-US" b="1">
                <a:latin typeface="Courier" pitchFamily="2" charset="0"/>
              </a:rPr>
              <a:t>消耗</a:t>
            </a:r>
            <a:r>
              <a:rPr lang="zh-CN" altLang="en-US">
                <a:latin typeface="Courier" pitchFamily="2" charset="0"/>
              </a:rPr>
              <a:t>资源</a:t>
            </a:r>
            <a:endParaRPr lang="en-US" altLang="zh-CN" b="1">
              <a:latin typeface="Courier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8D34C5-BD38-5247-9C32-0F4A4BC5217E}"/>
              </a:ext>
            </a:extLst>
          </p:cNvPr>
          <p:cNvSpPr/>
          <p:nvPr/>
        </p:nvSpPr>
        <p:spPr>
          <a:xfrm>
            <a:off x="3865480" y="3031582"/>
            <a:ext cx="1938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b="1" dirty="0">
                <a:latin typeface="Courier" pitchFamily="2" charset="0"/>
              </a:rPr>
              <a:t>V</a:t>
            </a:r>
            <a:r>
              <a:rPr lang="zh-CN" altLang="en-CN" b="1" dirty="0">
                <a:latin typeface="Courier" pitchFamily="2" charset="0"/>
              </a:rPr>
              <a:t>操作</a:t>
            </a:r>
            <a:r>
              <a:rPr lang="zh-CN" altLang="en-US" b="1" dirty="0">
                <a:latin typeface="Courier" pitchFamily="2" charset="0"/>
              </a:rPr>
              <a:t>：增加资源</a:t>
            </a:r>
            <a:endParaRPr lang="en-CN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89947C-8604-A14A-9AE4-10D64E7EAC7E}"/>
              </a:ext>
            </a:extLst>
          </p:cNvPr>
          <p:cNvSpPr/>
          <p:nvPr/>
        </p:nvSpPr>
        <p:spPr>
          <a:xfrm>
            <a:off x="3704037" y="352958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N">
                <a:latin typeface="Courier" pitchFamily="2" charset="0"/>
              </a:rPr>
              <a:t>void sem_signal(sem_t *sem) {</a:t>
            </a:r>
          </a:p>
          <a:p>
            <a:r>
              <a:rPr lang="en-CN">
                <a:latin typeface="Courier" pitchFamily="2" charset="0"/>
              </a:rPr>
              <a:t>	sem-&gt;cnt ++;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C8ED60-2D43-0E47-A07A-DF8BA052BB40}"/>
              </a:ext>
            </a:extLst>
          </p:cNvPr>
          <p:cNvSpPr/>
          <p:nvPr/>
        </p:nvSpPr>
        <p:spPr>
          <a:xfrm>
            <a:off x="4326503" y="4717555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chemeClr val="accent1"/>
                </a:solidFill>
                <a:latin typeface="Courier" pitchFamily="2" charset="0"/>
              </a:rPr>
              <a:t>只展示语义，并非真实实现</a:t>
            </a:r>
            <a:endParaRPr lang="en-US" altLang="zh-CN" b="1">
              <a:solidFill>
                <a:schemeClr val="accent1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9185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信号量的使用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4237997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93C58-8B04-134A-BC0C-09FE30F1344C}"/>
              </a:ext>
            </a:extLst>
          </p:cNvPr>
          <p:cNvSpPr/>
          <p:nvPr/>
        </p:nvSpPr>
        <p:spPr>
          <a:xfrm>
            <a:off x="415712" y="3361556"/>
            <a:ext cx="52882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ourier" pitchFamily="2" charset="0"/>
              </a:rPr>
              <a:t>void producer(void) {</a:t>
            </a:r>
          </a:p>
          <a:p>
            <a:r>
              <a:rPr lang="en-US">
                <a:latin typeface="Courier" pitchFamily="2" charset="0"/>
              </a:rPr>
              <a:t>	new_msg = produce_new(); 	</a:t>
            </a:r>
            <a:r>
              <a:rPr lang="en-US">
                <a:solidFill>
                  <a:schemeClr val="accent1"/>
                </a:solidFill>
                <a:latin typeface="Courier" pitchFamily="2" charset="0"/>
              </a:rPr>
              <a:t>sem_wait</a:t>
            </a:r>
            <a:r>
              <a:rPr lang="en-US">
                <a:latin typeface="Courier" pitchFamily="2" charset="0"/>
              </a:rPr>
              <a:t>(&amp;empty_slot_sem);</a:t>
            </a:r>
          </a:p>
          <a:p>
            <a:r>
              <a:rPr lang="en-US">
                <a:latin typeface="Courier" pitchFamily="2" charset="0"/>
              </a:rPr>
              <a:t>	buffer_add(new_msg); 	</a:t>
            </a:r>
          </a:p>
          <a:p>
            <a:r>
              <a:rPr lang="en-US">
                <a:latin typeface="Courier" pitchFamily="2" charset="0"/>
              </a:rPr>
              <a:t>       </a:t>
            </a:r>
            <a:r>
              <a:rPr lang="en-CN" dirty="0">
                <a:latin typeface="Courier" pitchFamily="2" charset="0"/>
              </a:rPr>
              <a:t>// ...</a:t>
            </a:r>
          </a:p>
          <a:p>
            <a:r>
              <a:rPr lang="en-US">
                <a:latin typeface="Courier" pitchFamily="2" charset="0"/>
              </a:rPr>
              <a:t>}</a:t>
            </a:r>
            <a:endParaRPr lang="en-CN">
              <a:latin typeface="Courier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F4477A-A1CF-3344-84EB-70166AC121D2}"/>
              </a:ext>
            </a:extLst>
          </p:cNvPr>
          <p:cNvSpPr/>
          <p:nvPr/>
        </p:nvSpPr>
        <p:spPr>
          <a:xfrm>
            <a:off x="5540743" y="4101822"/>
            <a:ext cx="20249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消耗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empty_slot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19E82-4823-2D4D-B976-E634A3E19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65468-10D2-9544-B3DC-89EEB6EF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1C30F9-B691-AB4C-9137-172F45B35DA9}"/>
              </a:ext>
            </a:extLst>
          </p:cNvPr>
          <p:cNvSpPr/>
          <p:nvPr/>
        </p:nvSpPr>
        <p:spPr>
          <a:xfrm>
            <a:off x="3635896" y="123376"/>
            <a:ext cx="749119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600" dirty="0">
                <a:latin typeface="Courier" pitchFamily="2" charset="0"/>
              </a:rPr>
              <a:t>while(true) {</a:t>
            </a:r>
          </a:p>
          <a:p>
            <a:r>
              <a:rPr lang="en-CN" sz="1600" dirty="0">
                <a:latin typeface="Courier" pitchFamily="2" charset="0"/>
              </a:rPr>
              <a:t>	new_msg = produce_new();</a:t>
            </a:r>
            <a:endParaRPr lang="en-CN" sz="1600" dirty="0">
              <a:solidFill>
                <a:schemeClr val="accent1"/>
              </a:solidFill>
              <a:latin typeface="Courier" pitchFamily="2" charset="0"/>
            </a:endParaRPr>
          </a:p>
          <a:p>
            <a:r>
              <a:rPr lang="en-CN" sz="1600" dirty="0">
                <a:solidFill>
                  <a:schemeClr val="accent1"/>
                </a:solidFill>
                <a:latin typeface="Courier" pitchFamily="2" charset="0"/>
              </a:rPr>
              <a:t>	</a:t>
            </a:r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+ lock(&amp;empty_slot_lock);</a:t>
            </a:r>
          </a:p>
          <a:p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	while (empty_slot == 0) </a:t>
            </a:r>
          </a:p>
          <a:p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		+ cond_wait(&amp;empty_cond,</a:t>
            </a:r>
          </a:p>
          <a:p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                     &amp;empty_slot_lock);</a:t>
            </a:r>
          </a:p>
          <a:p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	empty_slot --;</a:t>
            </a:r>
          </a:p>
          <a:p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	+ unlock(&amp;empty_slot_lock);</a:t>
            </a:r>
          </a:p>
          <a:p>
            <a:endParaRPr lang="en-CN" sz="1600" dirty="0">
              <a:latin typeface="Courier" pitchFamily="2" charset="0"/>
            </a:endParaRPr>
          </a:p>
          <a:p>
            <a:r>
              <a:rPr lang="en-CN" sz="1600" dirty="0">
                <a:latin typeface="Courier" pitchFamily="2" charset="0"/>
              </a:rPr>
              <a:t>	buffer_add(new_msg);</a:t>
            </a:r>
          </a:p>
          <a:p>
            <a:r>
              <a:rPr lang="en-CN" sz="1600" dirty="0">
                <a:latin typeface="Courier" pitchFamily="2" charset="0"/>
              </a:rPr>
              <a:t>	// ...</a:t>
            </a:r>
          </a:p>
          <a:p>
            <a:r>
              <a:rPr lang="en-CN" sz="1600" dirty="0">
                <a:latin typeface="Courier" pitchFamily="2" charset="0"/>
              </a:rPr>
              <a:t>}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E88CAC-D282-5A4B-B0F0-C4F86E159DAF}"/>
              </a:ext>
            </a:extLst>
          </p:cNvPr>
          <p:cNvCxnSpPr/>
          <p:nvPr/>
        </p:nvCxnSpPr>
        <p:spPr>
          <a:xfrm flipH="1">
            <a:off x="2051720" y="1361104"/>
            <a:ext cx="2483296" cy="264852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5CB8E0D-007E-CB46-A283-1F536405BE6D}"/>
              </a:ext>
            </a:extLst>
          </p:cNvPr>
          <p:cNvSpPr/>
          <p:nvPr/>
        </p:nvSpPr>
        <p:spPr>
          <a:xfrm>
            <a:off x="1400502" y="1891944"/>
            <a:ext cx="21329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CN">
                <a:latin typeface="Courier" pitchFamily="2" charset="0"/>
              </a:rPr>
              <a:t>使用</a:t>
            </a:r>
            <a:r>
              <a:rPr lang="zh-CN" altLang="en-US">
                <a:latin typeface="Courier" pitchFamily="2" charset="0"/>
              </a:rPr>
              <a:t>信号量可以将其压缩到</a:t>
            </a:r>
            <a:r>
              <a:rPr lang="zh-CN" altLang="en-US" b="1">
                <a:latin typeface="Courier" pitchFamily="2" charset="0"/>
              </a:rPr>
              <a:t>一行代码</a:t>
            </a:r>
            <a:endParaRPr lang="en-CN" b="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75C291-1533-3843-850B-BF38B2018A86}"/>
              </a:ext>
            </a:extLst>
          </p:cNvPr>
          <p:cNvSpPr/>
          <p:nvPr/>
        </p:nvSpPr>
        <p:spPr>
          <a:xfrm>
            <a:off x="4936015" y="3043850"/>
            <a:ext cx="34823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将空位看成一种</a:t>
            </a:r>
            <a:r>
              <a:rPr lang="zh-CN" altLang="en-US" b="1">
                <a:latin typeface="Courier" pitchFamily="2" charset="0"/>
              </a:rPr>
              <a:t>资源</a:t>
            </a:r>
            <a:r>
              <a:rPr lang="zh-CN" altLang="en-US">
                <a:latin typeface="Courier" pitchFamily="2" charset="0"/>
              </a:rPr>
              <a:t>：</a:t>
            </a:r>
            <a:endParaRPr lang="en-US" altLang="zh-CN">
              <a:latin typeface="Courier" pitchFamily="2" charset="0"/>
            </a:endParaRPr>
          </a:p>
          <a:p>
            <a:pPr algn="ctr"/>
            <a:r>
              <a:rPr lang="zh-CN" altLang="en-US">
                <a:latin typeface="Courier" pitchFamily="2" charset="0"/>
              </a:rPr>
              <a:t>生产者需要</a:t>
            </a:r>
            <a:r>
              <a:rPr lang="zh-CN" altLang="en-US" b="1">
                <a:latin typeface="Courier" pitchFamily="2" charset="0"/>
              </a:rPr>
              <a:t>消耗空位</a:t>
            </a:r>
            <a:endParaRPr lang="en-CN" b="1"/>
          </a:p>
        </p:txBody>
      </p:sp>
    </p:spTree>
    <p:extLst>
      <p:ext uri="{BB962C8B-B14F-4D97-AF65-F5344CB8AC3E}">
        <p14:creationId xmlns:p14="http://schemas.microsoft.com/office/powerpoint/2010/main" val="38147611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信号量的使用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4237997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93C58-8B04-134A-BC0C-09FE30F1344C}"/>
              </a:ext>
            </a:extLst>
          </p:cNvPr>
          <p:cNvSpPr/>
          <p:nvPr/>
        </p:nvSpPr>
        <p:spPr>
          <a:xfrm>
            <a:off x="847654" y="1361104"/>
            <a:ext cx="52882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ourier" pitchFamily="2" charset="0"/>
              </a:rPr>
              <a:t>void producer(void) {</a:t>
            </a:r>
          </a:p>
          <a:p>
            <a:r>
              <a:rPr lang="en-US">
                <a:latin typeface="Courier" pitchFamily="2" charset="0"/>
              </a:rPr>
              <a:t>	new_msg = produce_new(); 	</a:t>
            </a:r>
            <a:r>
              <a:rPr lang="en-US">
                <a:solidFill>
                  <a:schemeClr val="accent1"/>
                </a:solidFill>
                <a:latin typeface="Courier" pitchFamily="2" charset="0"/>
              </a:rPr>
              <a:t>sem_wait</a:t>
            </a:r>
            <a:r>
              <a:rPr lang="en-US">
                <a:latin typeface="Courier" pitchFamily="2" charset="0"/>
              </a:rPr>
              <a:t>(&amp;empty_slot_sem);</a:t>
            </a:r>
          </a:p>
          <a:p>
            <a:r>
              <a:rPr lang="en-US">
                <a:latin typeface="Courier" pitchFamily="2" charset="0"/>
              </a:rPr>
              <a:t>	buffer_add(new_msg); 	</a:t>
            </a:r>
            <a:r>
              <a:rPr lang="en-US">
                <a:solidFill>
                  <a:schemeClr val="accent1"/>
                </a:solidFill>
                <a:latin typeface="Courier" pitchFamily="2" charset="0"/>
              </a:rPr>
              <a:t>sem_signal</a:t>
            </a:r>
            <a:r>
              <a:rPr lang="en-US">
                <a:latin typeface="Courier" pitchFamily="2" charset="0"/>
              </a:rPr>
              <a:t>(&amp;filled_slot_sem);</a:t>
            </a:r>
          </a:p>
          <a:p>
            <a:r>
              <a:rPr lang="en-US">
                <a:latin typeface="Courier" pitchFamily="2" charset="0"/>
              </a:rPr>
              <a:t>}</a:t>
            </a:r>
            <a:endParaRPr lang="en-CN">
              <a:latin typeface="Courier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1CB56D-2A50-EC49-BB9D-46342C582C8D}"/>
              </a:ext>
            </a:extLst>
          </p:cNvPr>
          <p:cNvSpPr/>
          <p:nvPr/>
        </p:nvSpPr>
        <p:spPr>
          <a:xfrm>
            <a:off x="908614" y="3347226"/>
            <a:ext cx="52272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ourier" pitchFamily="2" charset="0"/>
              </a:rPr>
              <a:t>void consumer(void) {</a:t>
            </a:r>
          </a:p>
          <a:p>
            <a:r>
              <a:rPr lang="en-US">
                <a:latin typeface="Courier" pitchFamily="2" charset="0"/>
              </a:rPr>
              <a:t>	</a:t>
            </a:r>
            <a:r>
              <a:rPr lang="en-US">
                <a:solidFill>
                  <a:schemeClr val="accent1"/>
                </a:solidFill>
                <a:latin typeface="Courier" pitchFamily="2" charset="0"/>
              </a:rPr>
              <a:t>sem_wait</a:t>
            </a:r>
            <a:r>
              <a:rPr lang="en-US">
                <a:latin typeface="Courier" pitchFamily="2" charset="0"/>
              </a:rPr>
              <a:t>(&amp;filled_slot_sem);</a:t>
            </a:r>
          </a:p>
          <a:p>
            <a:r>
              <a:rPr lang="en-US">
                <a:latin typeface="Courier" pitchFamily="2" charset="0"/>
              </a:rPr>
              <a:t>	cur_msg = buffer_remove(); 	</a:t>
            </a:r>
            <a:r>
              <a:rPr lang="en-US">
                <a:solidFill>
                  <a:schemeClr val="accent1"/>
                </a:solidFill>
                <a:latin typeface="Courier" pitchFamily="2" charset="0"/>
              </a:rPr>
              <a:t>sem_ signal</a:t>
            </a:r>
            <a:r>
              <a:rPr lang="en-US">
                <a:latin typeface="Courier" pitchFamily="2" charset="0"/>
              </a:rPr>
              <a:t>(&amp;empty_slot_sem); 	handle_msg(cur_msg);</a:t>
            </a:r>
          </a:p>
          <a:p>
            <a:r>
              <a:rPr lang="en-US">
                <a:latin typeface="Courier" pitchFamily="2" charset="0"/>
              </a:rPr>
              <a:t>}</a:t>
            </a:r>
            <a:endParaRPr lang="en-CN">
              <a:latin typeface="Courier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F4477A-A1CF-3344-84EB-70166AC121D2}"/>
              </a:ext>
            </a:extLst>
          </p:cNvPr>
          <p:cNvSpPr/>
          <p:nvPr/>
        </p:nvSpPr>
        <p:spPr>
          <a:xfrm>
            <a:off x="6271433" y="1889761"/>
            <a:ext cx="20249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消耗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empty_slot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9950C3-1122-E94D-8703-4343893FEDB4}"/>
              </a:ext>
            </a:extLst>
          </p:cNvPr>
          <p:cNvSpPr/>
          <p:nvPr/>
        </p:nvSpPr>
        <p:spPr>
          <a:xfrm>
            <a:off x="6273809" y="2482860"/>
            <a:ext cx="2162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增加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filled_slot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7D6F5A-9460-1445-BBDD-48CE7C945E4D}"/>
              </a:ext>
            </a:extLst>
          </p:cNvPr>
          <p:cNvSpPr/>
          <p:nvPr/>
        </p:nvSpPr>
        <p:spPr>
          <a:xfrm>
            <a:off x="6287415" y="3535628"/>
            <a:ext cx="2162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消耗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filled_slot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CA4F1A-B21D-3D41-B357-1D55D057E5CE}"/>
              </a:ext>
            </a:extLst>
          </p:cNvPr>
          <p:cNvSpPr/>
          <p:nvPr/>
        </p:nvSpPr>
        <p:spPr>
          <a:xfrm>
            <a:off x="6271433" y="4235384"/>
            <a:ext cx="20249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增加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empty_slot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19E82-4823-2D4D-B976-E634A3E19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65468-10D2-9544-B3DC-89EEB6EF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0505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二元信号量与计数信号量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4237997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19E82-4823-2D4D-B976-E634A3E19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65468-10D2-9544-B3DC-89EEB6EF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C47778-B9EA-D74C-887C-E48A103EFCE6}"/>
              </a:ext>
            </a:extLst>
          </p:cNvPr>
          <p:cNvSpPr/>
          <p:nvPr/>
        </p:nvSpPr>
        <p:spPr>
          <a:xfrm>
            <a:off x="539552" y="1350394"/>
            <a:ext cx="61926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sem_</a:t>
            </a:r>
            <a:r>
              <a:rPr lang="en-US" altLang="zh-CN">
                <a:latin typeface="Courier" pitchFamily="2" charset="0"/>
              </a:rPr>
              <a:t>init</a:t>
            </a:r>
            <a:r>
              <a:rPr lang="en-CN">
                <a:latin typeface="Courier" pitchFamily="2" charset="0"/>
              </a:rPr>
              <a:t>(sem_t *sem, int init_cnt) {</a:t>
            </a:r>
          </a:p>
          <a:p>
            <a:r>
              <a:rPr lang="en-CN">
                <a:latin typeface="Courier" pitchFamily="2" charset="0"/>
              </a:rPr>
              <a:t>    sem-&gt;cnt = init_cnt;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7F0180-170E-714A-8D46-D8075580CB4D}"/>
              </a:ext>
            </a:extLst>
          </p:cNvPr>
          <p:cNvCxnSpPr>
            <a:cxnSpLocks/>
          </p:cNvCxnSpPr>
          <p:nvPr/>
        </p:nvCxnSpPr>
        <p:spPr>
          <a:xfrm flipV="1">
            <a:off x="4237997" y="1705372"/>
            <a:ext cx="838059" cy="72008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3F7DFBD-75DA-D34A-A0AC-F8C538B68FA5}"/>
              </a:ext>
            </a:extLst>
          </p:cNvPr>
          <p:cNvSpPr/>
          <p:nvPr/>
        </p:nvSpPr>
        <p:spPr>
          <a:xfrm>
            <a:off x="623668" y="2638063"/>
            <a:ext cx="4477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latin typeface="Courier" pitchFamily="2" charset="0"/>
              </a:rPr>
              <a:t>当初始化的资源数量为</a:t>
            </a:r>
            <a:r>
              <a:rPr lang="en-US" altLang="zh-CN" b="1">
                <a:latin typeface="Courier" pitchFamily="2" charset="0"/>
              </a:rPr>
              <a:t>1</a:t>
            </a:r>
            <a:r>
              <a:rPr lang="zh-CN" altLang="en-US" b="1">
                <a:latin typeface="Courier" pitchFamily="2" charset="0"/>
              </a:rPr>
              <a:t>时，为二元信号量</a:t>
            </a:r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AE53F3-506B-7846-B608-220DA3313F6C}"/>
              </a:ext>
            </a:extLst>
          </p:cNvPr>
          <p:cNvSpPr/>
          <p:nvPr/>
        </p:nvSpPr>
        <p:spPr>
          <a:xfrm>
            <a:off x="1547582" y="3075078"/>
            <a:ext cx="57502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其计数器只有可能为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两个值，故被称为二元信号量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2286F5-EC7E-1D40-9148-E7C00BDD39F6}"/>
              </a:ext>
            </a:extLst>
          </p:cNvPr>
          <p:cNvSpPr/>
          <p:nvPr/>
        </p:nvSpPr>
        <p:spPr>
          <a:xfrm>
            <a:off x="2195736" y="3512093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同一时刻</a:t>
            </a:r>
            <a:r>
              <a:rPr lang="en-CN" b="1"/>
              <a:t>只有一个</a:t>
            </a:r>
            <a:r>
              <a:rPr lang="en-CN"/>
              <a:t>线程能够拿到资源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C8E94D-F4BF-4B48-BC1C-5C5683A09794}"/>
              </a:ext>
            </a:extLst>
          </p:cNvPr>
          <p:cNvSpPr/>
          <p:nvPr/>
        </p:nvSpPr>
        <p:spPr>
          <a:xfrm>
            <a:off x="623668" y="4034828"/>
            <a:ext cx="47083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latin typeface="Courier" pitchFamily="2" charset="0"/>
              </a:rPr>
              <a:t>当初始化的资源数量大于</a:t>
            </a:r>
            <a:r>
              <a:rPr lang="en-US" altLang="zh-CN" b="1">
                <a:latin typeface="Courier" pitchFamily="2" charset="0"/>
              </a:rPr>
              <a:t>1</a:t>
            </a:r>
            <a:r>
              <a:rPr lang="zh-CN" altLang="en-US" b="1">
                <a:latin typeface="Courier" pitchFamily="2" charset="0"/>
              </a:rPr>
              <a:t>时，为计数信号量</a:t>
            </a:r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6E0991-5B3D-3A42-AA38-0F6BB85D7FA9}"/>
              </a:ext>
            </a:extLst>
          </p:cNvPr>
          <p:cNvSpPr/>
          <p:nvPr/>
        </p:nvSpPr>
        <p:spPr>
          <a:xfrm>
            <a:off x="2195735" y="4510893"/>
            <a:ext cx="4108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同一时刻</a:t>
            </a:r>
            <a:r>
              <a:rPr lang="en-CN" b="1"/>
              <a:t>可能有多个</a:t>
            </a:r>
            <a:r>
              <a:rPr lang="en-CN"/>
              <a:t>线程能够拿到资源</a:t>
            </a:r>
          </a:p>
        </p:txBody>
      </p:sp>
    </p:spTree>
    <p:extLst>
      <p:ext uri="{BB962C8B-B14F-4D97-AF65-F5344CB8AC3E}">
        <p14:creationId xmlns:p14="http://schemas.microsoft.com/office/powerpoint/2010/main" val="12922199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信号量实现：基本语义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93C58-8B04-134A-BC0C-09FE30F1344C}"/>
              </a:ext>
            </a:extLst>
          </p:cNvPr>
          <p:cNvSpPr/>
          <p:nvPr/>
        </p:nvSpPr>
        <p:spPr>
          <a:xfrm>
            <a:off x="2411760" y="1938337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N">
                <a:latin typeface="Courier" pitchFamily="2" charset="0"/>
              </a:rPr>
              <a:t>void wait(int S) {</a:t>
            </a:r>
          </a:p>
          <a:p>
            <a:r>
              <a:rPr lang="en-CN">
                <a:latin typeface="Courier" pitchFamily="2" charset="0"/>
              </a:rPr>
              <a:t>	while(S &lt;= 0)</a:t>
            </a:r>
          </a:p>
          <a:p>
            <a:r>
              <a:rPr lang="en-CN">
                <a:latin typeface="Courier" pitchFamily="2" charset="0"/>
              </a:rPr>
              <a:t>		</a:t>
            </a:r>
            <a:r>
              <a:rPr lang="en-US" altLang="zh-CN">
                <a:latin typeface="Courier" pitchFamily="2" charset="0"/>
              </a:rPr>
              <a:t>/</a:t>
            </a:r>
            <a:r>
              <a:rPr lang="zh-CN" altLang="en-US">
                <a:latin typeface="Courier" pitchFamily="2" charset="0"/>
              </a:rPr>
              <a:t>* </a:t>
            </a:r>
            <a:r>
              <a:rPr lang="en-US" altLang="zh-CN">
                <a:latin typeface="Courier" pitchFamily="2" charset="0"/>
              </a:rPr>
              <a:t>Waiting */</a:t>
            </a:r>
            <a:r>
              <a:rPr lang="en-CN">
                <a:latin typeface="Courier" pitchFamily="2" charset="0"/>
              </a:rPr>
              <a:t>;</a:t>
            </a:r>
          </a:p>
          <a:p>
            <a:r>
              <a:rPr lang="en-CN">
                <a:latin typeface="Courier" pitchFamily="2" charset="0"/>
              </a:rPr>
              <a:t>	S --; </a:t>
            </a:r>
          </a:p>
          <a:p>
            <a:r>
              <a:rPr lang="en-CN">
                <a:latin typeface="Courier" pitchFamily="2" charset="0"/>
              </a:rPr>
              <a:t>} 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void signal(int S) {</a:t>
            </a:r>
          </a:p>
          <a:p>
            <a:r>
              <a:rPr lang="en-CN">
                <a:latin typeface="Courier" pitchFamily="2" charset="0"/>
              </a:rPr>
              <a:t>	S ++;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D71BC3-CAFF-7044-A7D2-6C4C686203FF}"/>
              </a:ext>
            </a:extLst>
          </p:cNvPr>
          <p:cNvSpPr/>
          <p:nvPr/>
        </p:nvSpPr>
        <p:spPr>
          <a:xfrm>
            <a:off x="755576" y="156900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语义上：</a:t>
            </a:r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00C3ED-9EDD-444F-8BED-ECA269DAAB71}"/>
              </a:ext>
            </a:extLst>
          </p:cNvPr>
          <p:cNvSpPr/>
          <p:nvPr/>
        </p:nvSpPr>
        <p:spPr>
          <a:xfrm>
            <a:off x="1871581" y="1046509"/>
            <a:ext cx="54008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Courier" pitchFamily="2" charset="0"/>
              </a:rPr>
              <a:t>通过计数器来协调（阻塞</a:t>
            </a:r>
            <a:r>
              <a:rPr lang="en-US" altLang="zh-CN" dirty="0">
                <a:latin typeface="Courier" pitchFamily="2" charset="0"/>
              </a:rPr>
              <a:t>/</a:t>
            </a:r>
            <a:r>
              <a:rPr lang="zh-CN" altLang="en-US" dirty="0">
                <a:latin typeface="Courier" pitchFamily="2" charset="0"/>
              </a:rPr>
              <a:t>放行）多个线程的执行。</a:t>
            </a:r>
            <a:endParaRPr lang="en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77C0EB-7998-8B44-B7BC-64EA55318C85}"/>
              </a:ext>
            </a:extLst>
          </p:cNvPr>
          <p:cNvSpPr/>
          <p:nvPr/>
        </p:nvSpPr>
        <p:spPr>
          <a:xfrm>
            <a:off x="5722938" y="1874908"/>
            <a:ext cx="784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>
                <a:latin typeface="Courier" pitchFamily="2" charset="0"/>
              </a:rPr>
              <a:t>P</a:t>
            </a:r>
            <a:r>
              <a:rPr lang="zh-CN" altLang="en-CN">
                <a:latin typeface="Courier" pitchFamily="2" charset="0"/>
              </a:rPr>
              <a:t>操作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D39909-240A-BA44-AAA2-4026B00ED8B2}"/>
              </a:ext>
            </a:extLst>
          </p:cNvPr>
          <p:cNvSpPr/>
          <p:nvPr/>
        </p:nvSpPr>
        <p:spPr>
          <a:xfrm>
            <a:off x="5711271" y="3503512"/>
            <a:ext cx="784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>
                <a:latin typeface="Courier" pitchFamily="2" charset="0"/>
              </a:rPr>
              <a:t>V</a:t>
            </a:r>
            <a:r>
              <a:rPr lang="zh-CN" altLang="en-CN">
                <a:latin typeface="Courier" pitchFamily="2" charset="0"/>
              </a:rPr>
              <a:t>操作</a:t>
            </a:r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F0B72-07EC-B449-AEBD-18A16E90E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D55C2-2C06-3F46-97EA-AC95EA41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1A0444-125C-5348-99DA-FBD7D8984D2A}"/>
              </a:ext>
            </a:extLst>
          </p:cNvPr>
          <p:cNvSpPr/>
          <p:nvPr/>
        </p:nvSpPr>
        <p:spPr>
          <a:xfrm>
            <a:off x="2748423" y="4762784"/>
            <a:ext cx="3647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 dirty="0">
                <a:solidFill>
                  <a:srgbClr val="FF0000"/>
                </a:solidFill>
                <a:latin typeface="Courier" pitchFamily="2" charset="0"/>
              </a:rPr>
              <a:t>这样</a:t>
            </a:r>
            <a:r>
              <a:rPr lang="zh-CN" altLang="en-US" dirty="0">
                <a:solidFill>
                  <a:srgbClr val="FF0000"/>
                </a:solidFill>
                <a:latin typeface="Courier" pitchFamily="2" charset="0"/>
              </a:rPr>
              <a:t>实现是否会有问题？为什么？</a:t>
            </a:r>
            <a:endParaRPr lang="en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3117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信号量实现：基本语义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93C58-8B04-134A-BC0C-09FE30F1344C}"/>
              </a:ext>
            </a:extLst>
          </p:cNvPr>
          <p:cNvSpPr/>
          <p:nvPr/>
        </p:nvSpPr>
        <p:spPr>
          <a:xfrm>
            <a:off x="2411760" y="1938337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N" dirty="0">
                <a:latin typeface="Courier" pitchFamily="2" charset="0"/>
              </a:rPr>
              <a:t>void wait(int S) {</a:t>
            </a:r>
          </a:p>
          <a:p>
            <a:r>
              <a:rPr lang="en-CN" dirty="0">
                <a:latin typeface="Courier" pitchFamily="2" charset="0"/>
              </a:rPr>
              <a:t>	while(S &lt;= 0)</a:t>
            </a:r>
          </a:p>
          <a:p>
            <a:r>
              <a:rPr lang="en-CN" dirty="0">
                <a:latin typeface="Courier" pitchFamily="2" charset="0"/>
              </a:rPr>
              <a:t>		</a:t>
            </a:r>
            <a:r>
              <a:rPr lang="en-US" altLang="zh-CN" dirty="0">
                <a:latin typeface="Courier" pitchFamily="2" charset="0"/>
              </a:rPr>
              <a:t>/</a:t>
            </a:r>
            <a:r>
              <a:rPr lang="zh-CN" altLang="en-US" dirty="0">
                <a:latin typeface="Courier" pitchFamily="2" charset="0"/>
              </a:rPr>
              <a:t>* </a:t>
            </a:r>
            <a:r>
              <a:rPr lang="en-US" altLang="zh-CN" dirty="0">
                <a:latin typeface="Courier" pitchFamily="2" charset="0"/>
              </a:rPr>
              <a:t>Waiting */</a:t>
            </a:r>
            <a:r>
              <a:rPr lang="en-CN" dirty="0">
                <a:latin typeface="Courier" pitchFamily="2" charset="0"/>
              </a:rPr>
              <a:t>;</a:t>
            </a:r>
          </a:p>
          <a:p>
            <a:r>
              <a:rPr lang="en-CN" dirty="0">
                <a:latin typeface="Courier" pitchFamily="2" charset="0"/>
              </a:rPr>
              <a:t>	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atomic_add(&amp;S, -1); </a:t>
            </a:r>
          </a:p>
          <a:p>
            <a:r>
              <a:rPr lang="en-CN" dirty="0">
                <a:latin typeface="Courier" pitchFamily="2" charset="0"/>
              </a:rPr>
              <a:t>} </a:t>
            </a:r>
          </a:p>
          <a:p>
            <a:endParaRPr lang="en-CN" dirty="0">
              <a:latin typeface="Courier" pitchFamily="2" charset="0"/>
            </a:endParaRPr>
          </a:p>
          <a:p>
            <a:r>
              <a:rPr lang="en-CN" dirty="0">
                <a:latin typeface="Courier" pitchFamily="2" charset="0"/>
              </a:rPr>
              <a:t>void signal(int S) {</a:t>
            </a:r>
          </a:p>
          <a:p>
            <a:r>
              <a:rPr lang="en-CN" dirty="0">
                <a:latin typeface="Courier" pitchFamily="2" charset="0"/>
              </a:rPr>
              <a:t>	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atomic_add(&amp;S, 1); </a:t>
            </a:r>
          </a:p>
          <a:p>
            <a:r>
              <a:rPr lang="en-CN" dirty="0">
                <a:latin typeface="Courier" pitchFamily="2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D71BC3-CAFF-7044-A7D2-6C4C686203FF}"/>
              </a:ext>
            </a:extLst>
          </p:cNvPr>
          <p:cNvSpPr/>
          <p:nvPr/>
        </p:nvSpPr>
        <p:spPr>
          <a:xfrm>
            <a:off x="755576" y="156900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语义上：</a:t>
            </a:r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00C3ED-9EDD-444F-8BED-ECA269DAAB71}"/>
              </a:ext>
            </a:extLst>
          </p:cNvPr>
          <p:cNvSpPr/>
          <p:nvPr/>
        </p:nvSpPr>
        <p:spPr>
          <a:xfrm>
            <a:off x="1871581" y="1046509"/>
            <a:ext cx="54008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Courier" pitchFamily="2" charset="0"/>
              </a:rPr>
              <a:t>通过计数器来协调（阻塞</a:t>
            </a:r>
            <a:r>
              <a:rPr lang="en-US" altLang="zh-CN" dirty="0">
                <a:latin typeface="Courier" pitchFamily="2" charset="0"/>
              </a:rPr>
              <a:t>/</a:t>
            </a:r>
            <a:r>
              <a:rPr lang="zh-CN" altLang="en-US" dirty="0">
                <a:latin typeface="Courier" pitchFamily="2" charset="0"/>
              </a:rPr>
              <a:t>放行）多个线程的执行。</a:t>
            </a:r>
            <a:endParaRPr lang="en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77C0EB-7998-8B44-B7BC-64EA55318C85}"/>
              </a:ext>
            </a:extLst>
          </p:cNvPr>
          <p:cNvSpPr/>
          <p:nvPr/>
        </p:nvSpPr>
        <p:spPr>
          <a:xfrm>
            <a:off x="5722938" y="1874908"/>
            <a:ext cx="784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>
                <a:latin typeface="Courier" pitchFamily="2" charset="0"/>
              </a:rPr>
              <a:t>P</a:t>
            </a:r>
            <a:r>
              <a:rPr lang="zh-CN" altLang="en-CN">
                <a:latin typeface="Courier" pitchFamily="2" charset="0"/>
              </a:rPr>
              <a:t>操作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D39909-240A-BA44-AAA2-4026B00ED8B2}"/>
              </a:ext>
            </a:extLst>
          </p:cNvPr>
          <p:cNvSpPr/>
          <p:nvPr/>
        </p:nvSpPr>
        <p:spPr>
          <a:xfrm>
            <a:off x="5711271" y="3503512"/>
            <a:ext cx="784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>
                <a:latin typeface="Courier" pitchFamily="2" charset="0"/>
              </a:rPr>
              <a:t>V</a:t>
            </a:r>
            <a:r>
              <a:rPr lang="zh-CN" altLang="en-CN">
                <a:latin typeface="Courier" pitchFamily="2" charset="0"/>
              </a:rPr>
              <a:t>操作</a:t>
            </a:r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F0B72-07EC-B449-AEBD-18A16E90E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D55C2-2C06-3F46-97EA-AC95EA41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1A0444-125C-5348-99DA-FBD7D8984D2A}"/>
              </a:ext>
            </a:extLst>
          </p:cNvPr>
          <p:cNvSpPr/>
          <p:nvPr/>
        </p:nvSpPr>
        <p:spPr>
          <a:xfrm>
            <a:off x="2748423" y="4762784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使用原子操作后呢</a:t>
            </a:r>
            <a:r>
              <a:rPr lang="zh-CN" altLang="en-US" dirty="0">
                <a:solidFill>
                  <a:srgbClr val="FF0000"/>
                </a:solidFill>
              </a:rPr>
              <a:t>？是否还有问题？</a:t>
            </a:r>
            <a:endParaRPr lang="en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9727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信号量的错误实现</a:t>
            </a:r>
            <a:endParaRPr lang="en-CN" b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610300" y="17473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93C58-8B04-134A-BC0C-09FE30F1344C}"/>
              </a:ext>
            </a:extLst>
          </p:cNvPr>
          <p:cNvSpPr/>
          <p:nvPr/>
        </p:nvSpPr>
        <p:spPr>
          <a:xfrm>
            <a:off x="4860032" y="228866"/>
            <a:ext cx="396239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200" dirty="0">
                <a:latin typeface="Courier" pitchFamily="2" charset="0"/>
              </a:rPr>
              <a:t>void wait(int S) {</a:t>
            </a:r>
          </a:p>
          <a:p>
            <a:r>
              <a:rPr lang="en-CN" sz="1200" dirty="0">
                <a:latin typeface="Courier" pitchFamily="2" charset="0"/>
              </a:rPr>
              <a:t>	while(S &lt;= 0)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/</a:t>
            </a:r>
            <a:r>
              <a:rPr lang="zh-CN" altLang="en-US" sz="1200" dirty="0">
                <a:latin typeface="Courier" pitchFamily="2" charset="0"/>
              </a:rPr>
              <a:t>* </a:t>
            </a:r>
            <a:r>
              <a:rPr lang="en-US" altLang="zh-CN" sz="1200" dirty="0">
                <a:latin typeface="Courier" pitchFamily="2" charset="0"/>
              </a:rPr>
              <a:t>Waiting */</a:t>
            </a:r>
            <a:r>
              <a:rPr lang="en-CN" sz="1200" dirty="0">
                <a:latin typeface="Courier" pitchFamily="2" charset="0"/>
              </a:rPr>
              <a:t>;</a:t>
            </a:r>
          </a:p>
          <a:p>
            <a:r>
              <a:rPr lang="en-CN" sz="1200" dirty="0">
                <a:latin typeface="Courier" pitchFamily="2" charset="0"/>
              </a:rPr>
              <a:t>	</a:t>
            </a:r>
            <a:r>
              <a:rPr lang="en-CN" sz="1200" dirty="0">
                <a:solidFill>
                  <a:srgbClr val="FF0000"/>
                </a:solidFill>
                <a:latin typeface="Courier" pitchFamily="2" charset="0"/>
              </a:rPr>
              <a:t>atomic_add(&amp;S, -1); </a:t>
            </a:r>
          </a:p>
          <a:p>
            <a:r>
              <a:rPr lang="en-CN" sz="1200" dirty="0">
                <a:latin typeface="Courier" pitchFamily="2" charset="0"/>
              </a:rPr>
              <a:t>}</a:t>
            </a:r>
          </a:p>
          <a:p>
            <a:r>
              <a:rPr lang="en-CN" sz="1200" dirty="0">
                <a:latin typeface="Courier" pitchFamily="2" charset="0"/>
              </a:rPr>
              <a:t>void signal(int S) {</a:t>
            </a:r>
          </a:p>
          <a:p>
            <a:r>
              <a:rPr lang="en-CN" sz="1200" dirty="0">
                <a:latin typeface="Courier" pitchFamily="2" charset="0"/>
              </a:rPr>
              <a:t>	</a:t>
            </a:r>
            <a:r>
              <a:rPr lang="en-CN" sz="1200" dirty="0">
                <a:solidFill>
                  <a:srgbClr val="FF0000"/>
                </a:solidFill>
                <a:latin typeface="Courier" pitchFamily="2" charset="0"/>
              </a:rPr>
              <a:t>atomic_add(&amp;S, 1); </a:t>
            </a:r>
          </a:p>
          <a:p>
            <a:r>
              <a:rPr lang="en-CN" sz="1200" dirty="0">
                <a:latin typeface="Courier" pitchFamily="2" charset="0"/>
              </a:rPr>
              <a:t>}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F0B72-07EC-B449-AEBD-18A16E90E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D55C2-2C06-3F46-97EA-AC95EA41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24402B-4E76-A243-B94D-545145196BB2}"/>
              </a:ext>
            </a:extLst>
          </p:cNvPr>
          <p:cNvSpPr/>
          <p:nvPr/>
        </p:nvSpPr>
        <p:spPr>
          <a:xfrm>
            <a:off x="1084053" y="1896335"/>
            <a:ext cx="784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Courier" pitchFamily="2" charset="0"/>
              </a:rPr>
              <a:t>线程</a:t>
            </a:r>
            <a:r>
              <a:rPr lang="en-US" altLang="zh-CN" dirty="0">
                <a:latin typeface="Courier" pitchFamily="2" charset="0"/>
              </a:rPr>
              <a:t>0</a:t>
            </a:r>
            <a:endParaRPr lang="en-C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8FC2E3-056D-204E-89D2-5788C5121489}"/>
              </a:ext>
            </a:extLst>
          </p:cNvPr>
          <p:cNvSpPr/>
          <p:nvPr/>
        </p:nvSpPr>
        <p:spPr>
          <a:xfrm>
            <a:off x="3795031" y="1884844"/>
            <a:ext cx="784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Courier" pitchFamily="2" charset="0"/>
              </a:rPr>
              <a:t>线程</a:t>
            </a:r>
            <a:r>
              <a:rPr lang="en-US" altLang="zh-CN" dirty="0">
                <a:latin typeface="Courier" pitchFamily="2" charset="0"/>
              </a:rPr>
              <a:t>1</a:t>
            </a:r>
            <a:endParaRPr lang="en-C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1F32B6-A901-0B43-A0FD-0EBC18368607}"/>
              </a:ext>
            </a:extLst>
          </p:cNvPr>
          <p:cNvSpPr/>
          <p:nvPr/>
        </p:nvSpPr>
        <p:spPr>
          <a:xfrm>
            <a:off x="6732240" y="1896335"/>
            <a:ext cx="784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Courier" pitchFamily="2" charset="0"/>
              </a:rPr>
              <a:t>线程</a:t>
            </a:r>
            <a:r>
              <a:rPr lang="en-US" altLang="zh-CN" dirty="0">
                <a:latin typeface="Courier" pitchFamily="2" charset="0"/>
              </a:rPr>
              <a:t>2</a:t>
            </a:r>
            <a:endParaRPr lang="en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2D1B24-8EF8-AE48-A71B-BD831EA29609}"/>
              </a:ext>
            </a:extLst>
          </p:cNvPr>
          <p:cNvSpPr/>
          <p:nvPr/>
        </p:nvSpPr>
        <p:spPr>
          <a:xfrm>
            <a:off x="3336570" y="2442814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latin typeface="Courier" pitchFamily="2" charset="0"/>
              </a:rPr>
              <a:t>wait(</a:t>
            </a:r>
            <a:r>
              <a:rPr lang="en-US" dirty="0" err="1">
                <a:latin typeface="Courier" pitchFamily="2" charset="0"/>
              </a:rPr>
              <a:t>sem</a:t>
            </a:r>
            <a:r>
              <a:rPr lang="en-CN" dirty="0">
                <a:latin typeface="Courier" pitchFamily="2" charset="0"/>
              </a:rPr>
              <a:t>); </a:t>
            </a:r>
            <a:endParaRPr lang="en-C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6110E7-01E7-664C-B9ED-42934A5A7D32}"/>
              </a:ext>
            </a:extLst>
          </p:cNvPr>
          <p:cNvSpPr/>
          <p:nvPr/>
        </p:nvSpPr>
        <p:spPr>
          <a:xfrm>
            <a:off x="6273780" y="2442814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latin typeface="Courier" pitchFamily="2" charset="0"/>
              </a:rPr>
              <a:t>wait(</a:t>
            </a:r>
            <a:r>
              <a:rPr lang="en-US" dirty="0" err="1">
                <a:latin typeface="Courier" pitchFamily="2" charset="0"/>
              </a:rPr>
              <a:t>sem</a:t>
            </a:r>
            <a:r>
              <a:rPr lang="en-CN" dirty="0">
                <a:latin typeface="Courier" pitchFamily="2" charset="0"/>
              </a:rPr>
              <a:t>); </a:t>
            </a:r>
            <a:endParaRPr lang="en-C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DD165C-8603-2940-BE70-00217182E155}"/>
              </a:ext>
            </a:extLst>
          </p:cNvPr>
          <p:cNvSpPr/>
          <p:nvPr/>
        </p:nvSpPr>
        <p:spPr>
          <a:xfrm>
            <a:off x="3219552" y="1514295"/>
            <a:ext cx="1935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urier" pitchFamily="2" charset="0"/>
              </a:rPr>
              <a:t>sem</a:t>
            </a:r>
            <a:r>
              <a:rPr lang="en-US" altLang="zh-CN" dirty="0">
                <a:latin typeface="Courier" pitchFamily="2" charset="0"/>
              </a:rPr>
              <a:t> </a:t>
            </a:r>
            <a:r>
              <a:rPr lang="zh-CN" altLang="en-US" dirty="0">
                <a:latin typeface="Courier" pitchFamily="2" charset="0"/>
              </a:rPr>
              <a:t>初始值为 </a:t>
            </a:r>
            <a:r>
              <a:rPr lang="en-US" altLang="zh-CN" dirty="0">
                <a:latin typeface="Courier" pitchFamily="2" charset="0"/>
              </a:rPr>
              <a:t>0</a:t>
            </a:r>
            <a:endParaRPr lang="en-C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9D28DF-D2E4-0B48-86FE-D3C24EF7014E}"/>
              </a:ext>
            </a:extLst>
          </p:cNvPr>
          <p:cNvSpPr/>
          <p:nvPr/>
        </p:nvSpPr>
        <p:spPr>
          <a:xfrm>
            <a:off x="625593" y="3080002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urier" pitchFamily="2" charset="0"/>
              </a:rPr>
              <a:t>signal(</a:t>
            </a:r>
            <a:r>
              <a:rPr lang="en-US" altLang="zh-CN" dirty="0" err="1">
                <a:latin typeface="Courier" pitchFamily="2" charset="0"/>
              </a:rPr>
              <a:t>sem</a:t>
            </a:r>
            <a:r>
              <a:rPr lang="en-US" altLang="zh-CN" dirty="0">
                <a:latin typeface="Courier" pitchFamily="2" charset="0"/>
              </a:rPr>
              <a:t>)</a:t>
            </a:r>
            <a:endParaRPr lang="en-C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B5C2FC-F603-504D-9E0A-DD1E549638A8}"/>
              </a:ext>
            </a:extLst>
          </p:cNvPr>
          <p:cNvSpPr/>
          <p:nvPr/>
        </p:nvSpPr>
        <p:spPr>
          <a:xfrm>
            <a:off x="3288479" y="3089327"/>
            <a:ext cx="17972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Courier" pitchFamily="2" charset="0"/>
              </a:rPr>
              <a:t>离开</a:t>
            </a:r>
            <a:r>
              <a:rPr lang="en-US" altLang="zh-CN" dirty="0">
                <a:latin typeface="Courier" pitchFamily="2" charset="0"/>
              </a:rPr>
              <a:t>while</a:t>
            </a:r>
            <a:r>
              <a:rPr lang="zh-CN" altLang="en-US" dirty="0">
                <a:latin typeface="Courier" pitchFamily="2" charset="0"/>
              </a:rPr>
              <a:t>循环</a:t>
            </a:r>
            <a:endParaRPr lang="en-C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D21E83-9723-F644-9405-FC7E01B7A883}"/>
              </a:ext>
            </a:extLst>
          </p:cNvPr>
          <p:cNvSpPr/>
          <p:nvPr/>
        </p:nvSpPr>
        <p:spPr>
          <a:xfrm>
            <a:off x="6225689" y="3113332"/>
            <a:ext cx="17972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Courier" pitchFamily="2" charset="0"/>
              </a:rPr>
              <a:t>离开</a:t>
            </a:r>
            <a:r>
              <a:rPr lang="en-US" altLang="zh-CN" dirty="0">
                <a:latin typeface="Courier" pitchFamily="2" charset="0"/>
              </a:rPr>
              <a:t>while</a:t>
            </a:r>
            <a:r>
              <a:rPr lang="zh-CN" altLang="en-US" dirty="0">
                <a:latin typeface="Courier" pitchFamily="2" charset="0"/>
              </a:rPr>
              <a:t>循环</a:t>
            </a:r>
            <a:endParaRPr lang="en-C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218DF1-3B20-BD42-B71F-312D2E1A4963}"/>
              </a:ext>
            </a:extLst>
          </p:cNvPr>
          <p:cNvSpPr/>
          <p:nvPr/>
        </p:nvSpPr>
        <p:spPr>
          <a:xfrm>
            <a:off x="2578348" y="3719726"/>
            <a:ext cx="3217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atomic_add(&amp;sem, -1); </a:t>
            </a:r>
            <a:endParaRPr lang="en-C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B4D8B9-75D2-D940-86B9-4AC50702C88A}"/>
              </a:ext>
            </a:extLst>
          </p:cNvPr>
          <p:cNvSpPr/>
          <p:nvPr/>
        </p:nvSpPr>
        <p:spPr>
          <a:xfrm>
            <a:off x="5515558" y="3719726"/>
            <a:ext cx="3217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atomic_add(&amp;sem, -1); </a:t>
            </a:r>
            <a:endParaRPr lang="en-C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5FB7E3-86B8-E447-AA3E-86678DEDA6CE}"/>
              </a:ext>
            </a:extLst>
          </p:cNvPr>
          <p:cNvSpPr/>
          <p:nvPr/>
        </p:nvSpPr>
        <p:spPr>
          <a:xfrm>
            <a:off x="1728459" y="4513684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s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em = -1</a:t>
            </a:r>
            <a:endParaRPr lang="en-C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BE3BFF8-5C35-7F4F-97BC-84E4E00645CC}"/>
              </a:ext>
            </a:extLst>
          </p:cNvPr>
          <p:cNvSpPr/>
          <p:nvPr/>
        </p:nvSpPr>
        <p:spPr>
          <a:xfrm>
            <a:off x="3310570" y="4540396"/>
            <a:ext cx="40607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Courier" pitchFamily="2" charset="0"/>
              </a:rPr>
              <a:t>线程</a:t>
            </a:r>
            <a:r>
              <a:rPr lang="en-US" altLang="zh-CN" dirty="0">
                <a:solidFill>
                  <a:srgbClr val="FF0000"/>
                </a:solidFill>
                <a:latin typeface="Courier" pitchFamily="2" charset="0"/>
              </a:rPr>
              <a:t>1,</a:t>
            </a:r>
            <a:r>
              <a:rPr lang="zh-CN" altLang="en-US" dirty="0">
                <a:solidFill>
                  <a:srgbClr val="FF0000"/>
                </a:solidFill>
                <a:latin typeface="Courier" pitchFamily="2" charset="0"/>
              </a:rPr>
              <a:t>线程</a:t>
            </a:r>
            <a:r>
              <a:rPr lang="en-US" altLang="zh-CN" dirty="0">
                <a:solidFill>
                  <a:srgbClr val="FF0000"/>
                </a:solidFill>
                <a:latin typeface="Courier" pitchFamily="2" charset="0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Courier" pitchFamily="2" charset="0"/>
              </a:rPr>
              <a:t>同时以为自己拿到了资源</a:t>
            </a:r>
            <a:endParaRPr lang="en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983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信号量的实现</a:t>
            </a:r>
            <a:r>
              <a:rPr lang="en-US" altLang="zh-CN" dirty="0"/>
              <a:t>-1</a:t>
            </a:r>
            <a:r>
              <a:rPr lang="zh-CN" altLang="en-US" dirty="0"/>
              <a:t>：忙等</a:t>
            </a:r>
            <a:endParaRPr lang="en-CN" b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F0B72-07EC-B449-AEBD-18A16E90E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D55C2-2C06-3F46-97EA-AC95EA41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B2BFD4-7544-3143-AE3A-1D70924D878C}"/>
              </a:ext>
            </a:extLst>
          </p:cNvPr>
          <p:cNvSpPr/>
          <p:nvPr/>
        </p:nvSpPr>
        <p:spPr>
          <a:xfrm>
            <a:off x="267817" y="1058455"/>
            <a:ext cx="4572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N">
                <a:latin typeface="Courier" pitchFamily="2" charset="0"/>
              </a:rPr>
              <a:t>void wait(sem_t *S) {</a:t>
            </a:r>
          </a:p>
          <a:p>
            <a:r>
              <a:rPr lang="en-CN">
                <a:latin typeface="Courier" pitchFamily="2" charset="0"/>
              </a:rPr>
              <a:t>	lock(S-&gt;lock);</a:t>
            </a:r>
          </a:p>
          <a:p>
            <a:r>
              <a:rPr lang="en-CN">
                <a:latin typeface="Courier" pitchFamily="2" charset="0"/>
              </a:rPr>
              <a:t>	while(S-&gt; value &lt;= 0) {</a:t>
            </a:r>
          </a:p>
          <a:p>
            <a:r>
              <a:rPr lang="en-CN">
                <a:latin typeface="Courier" pitchFamily="2" charset="0"/>
              </a:rPr>
              <a:t>		unlock(S-&gt;lock);</a:t>
            </a:r>
          </a:p>
          <a:p>
            <a:r>
              <a:rPr lang="en-CN">
                <a:latin typeface="Courier" pitchFamily="2" charset="0"/>
              </a:rPr>
              <a:t>		lock(S-&gt;lock); 	}</a:t>
            </a:r>
          </a:p>
          <a:p>
            <a:r>
              <a:rPr lang="en-CN">
                <a:latin typeface="Courier" pitchFamily="2" charset="0"/>
              </a:rPr>
              <a:t> 	S-&gt; value --; </a:t>
            </a:r>
          </a:p>
          <a:p>
            <a:r>
              <a:rPr lang="en-CN">
                <a:latin typeface="Courier" pitchFamily="2" charset="0"/>
              </a:rPr>
              <a:t>	unlock(S-&gt;lock);</a:t>
            </a:r>
          </a:p>
          <a:p>
            <a:r>
              <a:rPr lang="en-CN">
                <a:latin typeface="Courier" pitchFamily="2" charset="0"/>
              </a:rPr>
              <a:t>} 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void signal(sem_t *S) {</a:t>
            </a:r>
          </a:p>
          <a:p>
            <a:r>
              <a:rPr lang="en-CN">
                <a:latin typeface="Courier" pitchFamily="2" charset="0"/>
              </a:rPr>
              <a:t>	lock(S-&gt;lock);</a:t>
            </a:r>
          </a:p>
          <a:p>
            <a:r>
              <a:rPr lang="en-CN">
                <a:latin typeface="Courier" pitchFamily="2" charset="0"/>
              </a:rPr>
              <a:t>	S-&gt; value ++;</a:t>
            </a:r>
          </a:p>
          <a:p>
            <a:r>
              <a:rPr lang="en-CN">
                <a:latin typeface="Courier" pitchFamily="2" charset="0"/>
              </a:rPr>
              <a:t>	unlock(S-&gt;lock);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416A24-A9F1-6244-AE93-FEAC410C2CBA}"/>
              </a:ext>
            </a:extLst>
          </p:cNvPr>
          <p:cNvSpPr/>
          <p:nvPr/>
        </p:nvSpPr>
        <p:spPr>
          <a:xfrm>
            <a:off x="4941220" y="2281436"/>
            <a:ext cx="32239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urier" pitchFamily="2" charset="0"/>
              </a:rPr>
              <a:t>Busy</a:t>
            </a:r>
            <a:r>
              <a:rPr lang="zh-CN" altLang="en-US" dirty="0">
                <a:solidFill>
                  <a:srgbClr val="FF0000"/>
                </a:solidFill>
                <a:latin typeface="Courier" pitchFamily="2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ourier" pitchFamily="2" charset="0"/>
              </a:rPr>
              <a:t>looping</a:t>
            </a:r>
            <a:r>
              <a:rPr lang="zh-CN" altLang="en-US" dirty="0">
                <a:solidFill>
                  <a:srgbClr val="FF0000"/>
                </a:solidFill>
                <a:latin typeface="Courier" pitchFamily="2" charset="0"/>
              </a:rPr>
              <a:t>，无意义等待</a:t>
            </a:r>
            <a:endParaRPr lang="en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2157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信号量的实现</a:t>
            </a:r>
            <a:r>
              <a:rPr lang="en-US" altLang="zh-CN" dirty="0"/>
              <a:t>-2</a:t>
            </a:r>
            <a:r>
              <a:rPr lang="zh-CN" altLang="en-US" dirty="0"/>
              <a:t>：条件变量</a:t>
            </a:r>
            <a:endParaRPr lang="en-CN" b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F0B72-07EC-B449-AEBD-18A16E90E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D55C2-2C06-3F46-97EA-AC95EA41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B2BFD4-7544-3143-AE3A-1D70924D878C}"/>
              </a:ext>
            </a:extLst>
          </p:cNvPr>
          <p:cNvSpPr/>
          <p:nvPr/>
        </p:nvSpPr>
        <p:spPr>
          <a:xfrm>
            <a:off x="267817" y="1058455"/>
            <a:ext cx="531229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wait(sem_t *S) {</a:t>
            </a:r>
          </a:p>
          <a:p>
            <a:r>
              <a:rPr lang="en-CN">
                <a:latin typeface="Courier" pitchFamily="2" charset="0"/>
              </a:rPr>
              <a:t>	lock(S-&gt;sem_lock );</a:t>
            </a:r>
          </a:p>
          <a:p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rgbClr val="FF0000"/>
                </a:solidFill>
                <a:latin typeface="Courier" pitchFamily="2" charset="0"/>
              </a:rPr>
              <a:t>while(S-&gt; value == 0) </a:t>
            </a:r>
            <a:r>
              <a:rPr lang="en-CN">
                <a:latin typeface="Courier" pitchFamily="2" charset="0"/>
              </a:rPr>
              <a:t>{</a:t>
            </a:r>
          </a:p>
          <a:p>
            <a:r>
              <a:rPr lang="en-CN">
                <a:latin typeface="Courier" pitchFamily="2" charset="0"/>
              </a:rPr>
              <a:t>		cond_wait(S-&gt;sem_cond,</a:t>
            </a:r>
          </a:p>
          <a:p>
            <a:r>
              <a:rPr lang="en-CN">
                <a:latin typeface="Courier" pitchFamily="2" charset="0"/>
              </a:rPr>
              <a:t>			S-&gt;sem_lock);</a:t>
            </a:r>
          </a:p>
          <a:p>
            <a:r>
              <a:rPr lang="en-CN">
                <a:latin typeface="Courier" pitchFamily="2" charset="0"/>
              </a:rPr>
              <a:t>	}</a:t>
            </a:r>
          </a:p>
          <a:p>
            <a:r>
              <a:rPr lang="en-CN">
                <a:latin typeface="Courier" pitchFamily="2" charset="0"/>
              </a:rPr>
              <a:t> 	S-&gt; value --; </a:t>
            </a:r>
          </a:p>
          <a:p>
            <a:r>
              <a:rPr lang="en-CN">
                <a:latin typeface="Courier" pitchFamily="2" charset="0"/>
              </a:rPr>
              <a:t>	unlock(S-&gt;sem_lock);</a:t>
            </a:r>
          </a:p>
          <a:p>
            <a:r>
              <a:rPr lang="en-CN">
                <a:latin typeface="Courier" pitchFamily="2" charset="0"/>
              </a:rPr>
              <a:t>} 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void signal(sem_t *S) {</a:t>
            </a:r>
          </a:p>
          <a:p>
            <a:r>
              <a:rPr lang="en-CN">
                <a:latin typeface="Courier" pitchFamily="2" charset="0"/>
              </a:rPr>
              <a:t>	lock(S-&gt;sem_lock);</a:t>
            </a:r>
          </a:p>
          <a:p>
            <a:r>
              <a:rPr lang="en-CN">
                <a:latin typeface="Courier" pitchFamily="2" charset="0"/>
              </a:rPr>
              <a:t>	S-&gt; value ++;</a:t>
            </a:r>
          </a:p>
          <a:p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rgbClr val="FF0000"/>
                </a:solidFill>
                <a:latin typeface="Courier" pitchFamily="2" charset="0"/>
              </a:rPr>
              <a:t>cond_signal(s-&gt;sem_cond);</a:t>
            </a:r>
          </a:p>
          <a:p>
            <a:r>
              <a:rPr lang="en-CN">
                <a:latin typeface="Courier" pitchFamily="2" charset="0"/>
              </a:rPr>
              <a:t>	unlock(S-&gt;sem_lock);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3E8785-A90D-4741-A742-F62816956728}"/>
              </a:ext>
            </a:extLst>
          </p:cNvPr>
          <p:cNvSpPr/>
          <p:nvPr/>
        </p:nvSpPr>
        <p:spPr>
          <a:xfrm>
            <a:off x="5484390" y="1784721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 dirty="0">
                <a:solidFill>
                  <a:srgbClr val="FF0000"/>
                </a:solidFill>
                <a:latin typeface="Courier" pitchFamily="2" charset="0"/>
              </a:rPr>
              <a:t>使用</a:t>
            </a:r>
            <a:r>
              <a:rPr lang="zh-CN" altLang="en-US" dirty="0">
                <a:solidFill>
                  <a:srgbClr val="FF0000"/>
                </a:solidFill>
                <a:latin typeface="Courier" pitchFamily="2" charset="0"/>
              </a:rPr>
              <a:t>条件变量避免无意义等待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3CA5B1-82A7-EC4F-92C3-1C6F4EE0A0E6}"/>
              </a:ext>
            </a:extLst>
          </p:cNvPr>
          <p:cNvSpPr/>
          <p:nvPr/>
        </p:nvSpPr>
        <p:spPr>
          <a:xfrm>
            <a:off x="5220072" y="4281027"/>
            <a:ext cx="33201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但每次都要signal</a:t>
            </a:r>
            <a:r>
              <a:rPr lang="zh-CN" altLang="en-US" dirty="0">
                <a:solidFill>
                  <a:srgbClr val="FF0000"/>
                </a:solidFill>
                <a:latin typeface="Courier" pitchFamily="2" charset="0"/>
              </a:rPr>
              <a:t>，</a:t>
            </a:r>
            <a:r>
              <a:rPr lang="zh-CN" altLang="en-CN" dirty="0">
                <a:solidFill>
                  <a:srgbClr val="FF0000"/>
                </a:solidFill>
                <a:latin typeface="Courier" pitchFamily="2" charset="0"/>
              </a:rPr>
              <a:t>比较</a:t>
            </a:r>
            <a:r>
              <a:rPr lang="zh-CN" altLang="en-US" dirty="0">
                <a:solidFill>
                  <a:srgbClr val="FF0000"/>
                </a:solidFill>
                <a:latin typeface="Courier" pitchFamily="2" charset="0"/>
              </a:rPr>
              <a:t>耗时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7E7DD9-DB3C-1244-BB3B-95E7B5CA2E6C}"/>
              </a:ext>
            </a:extLst>
          </p:cNvPr>
          <p:cNvSpPr/>
          <p:nvPr/>
        </p:nvSpPr>
        <p:spPr>
          <a:xfrm>
            <a:off x="5796136" y="3074533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能否保证有限等待</a:t>
            </a:r>
            <a:r>
              <a:rPr lang="zh-CN" altLang="en-US" dirty="0">
                <a:solidFill>
                  <a:srgbClr val="FF0000"/>
                </a:solidFill>
              </a:rPr>
              <a:t>？</a:t>
            </a:r>
            <a:endParaRPr lang="en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2389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信号量的实现</a:t>
            </a:r>
            <a:r>
              <a:rPr lang="en-US" altLang="zh-CN" dirty="0"/>
              <a:t>-3</a:t>
            </a:r>
            <a:r>
              <a:rPr lang="zh-CN" altLang="en-US" dirty="0"/>
              <a:t>：减少</a:t>
            </a:r>
            <a:r>
              <a:rPr lang="en-US" altLang="zh-CN" dirty="0"/>
              <a:t>signal</a:t>
            </a:r>
            <a:r>
              <a:rPr lang="zh-CN" altLang="en-US" dirty="0"/>
              <a:t>次数</a:t>
            </a:r>
            <a:endParaRPr lang="en-CN" b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F0B72-07EC-B449-AEBD-18A16E90E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D55C2-2C06-3F46-97EA-AC95EA41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B2BFD4-7544-3143-AE3A-1D70924D878C}"/>
              </a:ext>
            </a:extLst>
          </p:cNvPr>
          <p:cNvSpPr/>
          <p:nvPr/>
        </p:nvSpPr>
        <p:spPr>
          <a:xfrm>
            <a:off x="251520" y="913686"/>
            <a:ext cx="7688559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wait(sem_t *S) {</a:t>
            </a:r>
          </a:p>
          <a:p>
            <a:r>
              <a:rPr lang="en-CN">
                <a:latin typeface="Courier" pitchFamily="2" charset="0"/>
              </a:rPr>
              <a:t>	lock(S-&gt;sem_lock );</a:t>
            </a:r>
          </a:p>
          <a:p>
            <a:r>
              <a:rPr lang="en-CN">
                <a:latin typeface="Courier" pitchFamily="2" charset="0"/>
              </a:rPr>
              <a:t> 	S-&gt;value --; </a:t>
            </a:r>
          </a:p>
          <a:p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rgbClr val="FF0000"/>
                </a:solidFill>
                <a:latin typeface="Courier" pitchFamily="2" charset="0"/>
              </a:rPr>
              <a:t>while(S-&gt;value &lt; 0) </a:t>
            </a:r>
            <a:r>
              <a:rPr lang="en-CN">
                <a:latin typeface="Courier" pitchFamily="2" charset="0"/>
              </a:rPr>
              <a:t>{</a:t>
            </a:r>
          </a:p>
          <a:p>
            <a:r>
              <a:rPr lang="en-CN">
                <a:latin typeface="Courier" pitchFamily="2" charset="0"/>
              </a:rPr>
              <a:t>		cond_wait(S-&gt;sem_cond,</a:t>
            </a:r>
          </a:p>
          <a:p>
            <a:r>
              <a:rPr lang="en-CN">
                <a:latin typeface="Courier" pitchFamily="2" charset="0"/>
              </a:rPr>
              <a:t>			S-&gt;sem_lock);</a:t>
            </a:r>
          </a:p>
          <a:p>
            <a:r>
              <a:rPr lang="en-CN">
                <a:latin typeface="Courier" pitchFamily="2" charset="0"/>
              </a:rPr>
              <a:t>	}</a:t>
            </a:r>
          </a:p>
          <a:p>
            <a:r>
              <a:rPr lang="en-CN">
                <a:latin typeface="Courier" pitchFamily="2" charset="0"/>
              </a:rPr>
              <a:t> 	unlock(S-&gt;sem_lock);</a:t>
            </a:r>
          </a:p>
          <a:p>
            <a:r>
              <a:rPr lang="en-CN">
                <a:latin typeface="Courier" pitchFamily="2" charset="0"/>
              </a:rPr>
              <a:t>} 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void signal(sem_t *S) {</a:t>
            </a:r>
          </a:p>
          <a:p>
            <a:r>
              <a:rPr lang="en-CN">
                <a:latin typeface="Courier" pitchFamily="2" charset="0"/>
              </a:rPr>
              <a:t>	lock(S-&gt;sem_lock);</a:t>
            </a:r>
          </a:p>
          <a:p>
            <a:r>
              <a:rPr lang="en-CN">
                <a:latin typeface="Courier" pitchFamily="2" charset="0"/>
              </a:rPr>
              <a:t>	S-&gt;value ++;</a:t>
            </a:r>
          </a:p>
          <a:p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rgbClr val="FF0000"/>
                </a:solidFill>
                <a:latin typeface="Courier" pitchFamily="2" charset="0"/>
              </a:rPr>
              <a:t>if (S-&gt;value &lt; 0)</a:t>
            </a:r>
          </a:p>
          <a:p>
            <a:r>
              <a:rPr lang="en-CN">
                <a:latin typeface="Courier" pitchFamily="2" charset="0"/>
              </a:rPr>
              <a:t>		cond_signal(s-&gt;sem_cond);</a:t>
            </a:r>
          </a:p>
          <a:p>
            <a:r>
              <a:rPr lang="en-CN">
                <a:latin typeface="Courier" pitchFamily="2" charset="0"/>
              </a:rPr>
              <a:t>	unlock(S-&gt;sem_lock);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62972F-69F0-B747-97A0-4D388B6FBFAA}"/>
              </a:ext>
            </a:extLst>
          </p:cNvPr>
          <p:cNvSpPr/>
          <p:nvPr/>
        </p:nvSpPr>
        <p:spPr>
          <a:xfrm>
            <a:off x="6128162" y="1665176"/>
            <a:ext cx="18901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会有什么问题</a:t>
            </a:r>
            <a:r>
              <a:rPr lang="zh-CN" altLang="en-US" dirty="0">
                <a:latin typeface="Courier" pitchFamily="2" charset="0"/>
              </a:rPr>
              <a:t>？</a:t>
            </a:r>
            <a:endParaRPr lang="en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CBCBB1-0EA5-504C-B974-3889AB74066A}"/>
              </a:ext>
            </a:extLst>
          </p:cNvPr>
          <p:cNvSpPr/>
          <p:nvPr/>
        </p:nvSpPr>
        <p:spPr>
          <a:xfrm>
            <a:off x="6156176" y="2183460"/>
            <a:ext cx="23762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dirty="0"/>
              <a:t>比如S-&gt;value = -3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440EF3-C01C-F94A-B656-13345FF09238}"/>
              </a:ext>
            </a:extLst>
          </p:cNvPr>
          <p:cNvSpPr/>
          <p:nvPr/>
        </p:nvSpPr>
        <p:spPr>
          <a:xfrm>
            <a:off x="5755580" y="2721896"/>
            <a:ext cx="26913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dirty="0"/>
              <a:t>signal 后S-&gt;value = -2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5D79F5-661E-5441-869E-EC748E175E8C}"/>
              </a:ext>
            </a:extLst>
          </p:cNvPr>
          <p:cNvSpPr/>
          <p:nvPr/>
        </p:nvSpPr>
        <p:spPr>
          <a:xfrm>
            <a:off x="5268508" y="3259055"/>
            <a:ext cx="34182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dirty="0"/>
              <a:t>还是不满足上面while的条件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49B224-FB96-BC4B-BF1D-B48DDFE1CC8B}"/>
              </a:ext>
            </a:extLst>
          </p:cNvPr>
          <p:cNvCxnSpPr>
            <a:cxnSpLocks/>
          </p:cNvCxnSpPr>
          <p:nvPr/>
        </p:nvCxnSpPr>
        <p:spPr>
          <a:xfrm flipH="1" flipV="1">
            <a:off x="4283968" y="1925603"/>
            <a:ext cx="1152128" cy="1219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BFAC16F-852C-2546-8ADE-2E090DF758AA}"/>
              </a:ext>
            </a:extLst>
          </p:cNvPr>
          <p:cNvSpPr/>
          <p:nvPr/>
        </p:nvSpPr>
        <p:spPr>
          <a:xfrm>
            <a:off x="5364088" y="3926292"/>
            <a:ext cx="34182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dirty="0"/>
              <a:t>需要额外的计数器用于单独记录有多少可以唤醒的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ED1481-08BF-1041-A0CF-FC579197F7C5}"/>
              </a:ext>
            </a:extLst>
          </p:cNvPr>
          <p:cNvSpPr/>
          <p:nvPr/>
        </p:nvSpPr>
        <p:spPr>
          <a:xfrm>
            <a:off x="4993300" y="5007339"/>
            <a:ext cx="3044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加入条件判断是否需要wake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33DEA4-1880-1C45-A338-EC532C820957}"/>
              </a:ext>
            </a:extLst>
          </p:cNvPr>
          <p:cNvSpPr/>
          <p:nvPr/>
        </p:nvSpPr>
        <p:spPr>
          <a:xfrm>
            <a:off x="4633964" y="873284"/>
            <a:ext cx="3044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value减到负数代表有人等待</a:t>
            </a:r>
          </a:p>
        </p:txBody>
      </p:sp>
    </p:spTree>
    <p:extLst>
      <p:ext uri="{BB962C8B-B14F-4D97-AF65-F5344CB8AC3E}">
        <p14:creationId xmlns:p14="http://schemas.microsoft.com/office/powerpoint/2010/main" val="158353765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信号量的实现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F32BB-D34D-3D46-99A0-6EA0A0669F3F}"/>
              </a:ext>
            </a:extLst>
          </p:cNvPr>
          <p:cNvSpPr/>
          <p:nvPr/>
        </p:nvSpPr>
        <p:spPr>
          <a:xfrm>
            <a:off x="770992" y="1108905"/>
            <a:ext cx="76020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介绍一种使用条件变量的实现：</a:t>
            </a:r>
            <a:r>
              <a:rPr lang="zh-CN" altLang="en-US" b="1" dirty="0">
                <a:latin typeface="Courier" pitchFamily="2" charset="0"/>
              </a:rPr>
              <a:t>条件变量 </a:t>
            </a:r>
            <a:r>
              <a:rPr lang="en-US" altLang="zh-CN" dirty="0">
                <a:latin typeface="Courier" pitchFamily="2" charset="0"/>
              </a:rPr>
              <a:t>+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zh-CN" altLang="en-US" b="1" dirty="0">
                <a:latin typeface="Courier" pitchFamily="2" charset="0"/>
              </a:rPr>
              <a:t>互斥锁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+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zh-CN" altLang="en-US" b="1" dirty="0">
                <a:latin typeface="Courier" pitchFamily="2" charset="0"/>
              </a:rPr>
              <a:t>计数器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=</a:t>
            </a:r>
            <a:r>
              <a:rPr lang="zh-CN" altLang="en-US" dirty="0">
                <a:latin typeface="Courier" pitchFamily="2" charset="0"/>
              </a:rPr>
              <a:t> 信号量</a:t>
            </a:r>
            <a:endParaRPr lang="en-C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AE30F7-20C8-4843-86A9-790264BE84A0}"/>
              </a:ext>
            </a:extLst>
          </p:cNvPr>
          <p:cNvSpPr/>
          <p:nvPr/>
        </p:nvSpPr>
        <p:spPr>
          <a:xfrm>
            <a:off x="457200" y="1478237"/>
            <a:ext cx="8167621" cy="8844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>
                <a:latin typeface="Courier" pitchFamily="2" charset="0"/>
              </a:rPr>
              <a:t>v</a:t>
            </a:r>
            <a:r>
              <a:rPr lang="en-CN">
                <a:latin typeface="Courier" pitchFamily="2" charset="0"/>
              </a:rPr>
              <a:t>alue</a:t>
            </a:r>
            <a:r>
              <a:rPr lang="zh-CN" altLang="en-US">
                <a:latin typeface="Courier" pitchFamily="2" charset="0"/>
              </a:rPr>
              <a:t>：</a:t>
            </a:r>
            <a:r>
              <a:rPr lang="zh-CN" altLang="en-CN">
                <a:latin typeface="Courier" pitchFamily="2" charset="0"/>
              </a:rPr>
              <a:t>正数</a:t>
            </a:r>
            <a:r>
              <a:rPr lang="zh-CN" altLang="en-US">
                <a:latin typeface="Courier" pitchFamily="2" charset="0"/>
              </a:rPr>
              <a:t>为信号量，负数为有人等待</a:t>
            </a:r>
            <a:r>
              <a:rPr lang="en-US" altLang="zh-CN">
                <a:latin typeface="Courier" pitchFamily="2" charset="0"/>
              </a:rPr>
              <a:t>	wakeup</a:t>
            </a:r>
            <a:r>
              <a:rPr lang="zh-CN" altLang="en-US">
                <a:latin typeface="Courier" pitchFamily="2" charset="0"/>
              </a:rPr>
              <a:t>：等待时可以唤醒的数量</a:t>
            </a:r>
            <a:endParaRPr lang="en-US" altLang="zh-CN">
              <a:latin typeface="Courier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>
                <a:latin typeface="Courier" pitchFamily="2" charset="0"/>
              </a:rPr>
              <a:t>某一时刻真实的信号量：</a:t>
            </a:r>
            <a:r>
              <a:rPr lang="en-US" altLang="zh-CN">
                <a:latin typeface="Courier" pitchFamily="2" charset="0"/>
              </a:rPr>
              <a:t> value &gt; 0 ? value + wakeup : wakeup</a:t>
            </a:r>
            <a:endParaRPr lang="en-CN">
              <a:latin typeface="Courier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5A78B5-3988-3B44-B666-2F272BC71941}"/>
              </a:ext>
            </a:extLst>
          </p:cNvPr>
          <p:cNvSpPr/>
          <p:nvPr/>
        </p:nvSpPr>
        <p:spPr>
          <a:xfrm>
            <a:off x="1085528" y="2711639"/>
            <a:ext cx="653447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signal(struct sem *S) {</a:t>
            </a:r>
          </a:p>
          <a:p>
            <a:r>
              <a:rPr lang="en-CN">
                <a:latin typeface="Courier" pitchFamily="2" charset="0"/>
              </a:rPr>
              <a:t>        </a:t>
            </a:r>
            <a:r>
              <a:rPr lang="en-CN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>
                <a:latin typeface="Courier" pitchFamily="2" charset="0"/>
              </a:rPr>
              <a:t>(S-&gt;sem_lock);</a:t>
            </a:r>
          </a:p>
          <a:p>
            <a:r>
              <a:rPr lang="en-CN">
                <a:latin typeface="Courier" pitchFamily="2" charset="0"/>
              </a:rPr>
              <a:t>        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S-&gt;value ++;</a:t>
            </a:r>
          </a:p>
          <a:p>
            <a:r>
              <a:rPr lang="en-CN">
                <a:latin typeface="Courier" pitchFamily="2" charset="0"/>
              </a:rPr>
              <a:t>        if (S-&gt;value &lt;= 0) {</a:t>
            </a:r>
          </a:p>
          <a:p>
            <a:r>
              <a:rPr lang="en-CN">
                <a:latin typeface="Courier" pitchFamily="2" charset="0"/>
              </a:rPr>
              <a:t>                </a:t>
            </a:r>
            <a:r>
              <a:rPr lang="en-CN">
                <a:solidFill>
                  <a:schemeClr val="accent3"/>
                </a:solidFill>
                <a:latin typeface="Courier" pitchFamily="2" charset="0"/>
              </a:rPr>
              <a:t>S-&gt;wakeup ++;</a:t>
            </a:r>
          </a:p>
          <a:p>
            <a:r>
              <a:rPr lang="en-CN">
                <a:latin typeface="Courier" pitchFamily="2" charset="0"/>
              </a:rPr>
              <a:t>                </a:t>
            </a:r>
            <a:r>
              <a:rPr lang="en-CN">
                <a:solidFill>
                  <a:srgbClr val="FF9300"/>
                </a:solidFill>
                <a:latin typeface="Courier" pitchFamily="2" charset="0"/>
              </a:rPr>
              <a:t>cond_signal</a:t>
            </a:r>
            <a:r>
              <a:rPr lang="en-CN">
                <a:latin typeface="Courier" pitchFamily="2" charset="0"/>
              </a:rPr>
              <a:t>(S-&gt;sem_cond);                </a:t>
            </a:r>
          </a:p>
          <a:p>
            <a:r>
              <a:rPr lang="en-CN">
                <a:latin typeface="Courier" pitchFamily="2" charset="0"/>
              </a:rPr>
              <a:t>        }</a:t>
            </a:r>
          </a:p>
          <a:p>
            <a:r>
              <a:rPr lang="en-CN">
                <a:latin typeface="Courier" pitchFamily="2" charset="0"/>
              </a:rPr>
              <a:t>        </a:t>
            </a:r>
            <a:r>
              <a:rPr lang="en-CN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>
                <a:latin typeface="Courier" pitchFamily="2" charset="0"/>
              </a:rPr>
              <a:t>(S-&gt;sem_lock);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7AF180-E36C-6B4F-806F-CDE689BD9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38C323-0682-5E49-BBD5-C164BCAC5B82}"/>
              </a:ext>
            </a:extLst>
          </p:cNvPr>
          <p:cNvSpPr/>
          <p:nvPr/>
        </p:nvSpPr>
        <p:spPr>
          <a:xfrm>
            <a:off x="1979712" y="3577580"/>
            <a:ext cx="4968552" cy="11456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A2C606-6730-5443-8517-E1867A764024}"/>
              </a:ext>
            </a:extLst>
          </p:cNvPr>
          <p:cNvSpPr/>
          <p:nvPr/>
        </p:nvSpPr>
        <p:spPr>
          <a:xfrm>
            <a:off x="7406188" y="381963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有人等待</a:t>
            </a:r>
            <a:endParaRPr lang="en-C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ED149B9-FF0E-6544-BB43-6E3671EC8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5313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信号量的实现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2653B2-51DE-4342-9B4C-4D542858C80C}"/>
              </a:ext>
            </a:extLst>
          </p:cNvPr>
          <p:cNvSpPr/>
          <p:nvPr/>
        </p:nvSpPr>
        <p:spPr>
          <a:xfrm>
            <a:off x="341784" y="2485549"/>
            <a:ext cx="846043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wait(sem_t *S) {</a:t>
            </a:r>
          </a:p>
          <a:p>
            <a:r>
              <a:rPr lang="en-CN">
                <a:latin typeface="Courier" pitchFamily="2" charset="0"/>
              </a:rPr>
              <a:t>        </a:t>
            </a:r>
            <a:r>
              <a:rPr lang="en-CN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>
                <a:latin typeface="Courier" pitchFamily="2" charset="0"/>
              </a:rPr>
              <a:t>(S-&gt;sem_lock);</a:t>
            </a:r>
          </a:p>
          <a:p>
            <a:r>
              <a:rPr lang="en-CN">
                <a:latin typeface="Courier" pitchFamily="2" charset="0"/>
              </a:rPr>
              <a:t>        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S-&gt;value --;</a:t>
            </a:r>
          </a:p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	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en-CN">
                <a:latin typeface="Courier" pitchFamily="2" charset="0"/>
              </a:rPr>
              <a:t>if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CN">
                <a:latin typeface="Courier" pitchFamily="2" charset="0"/>
              </a:rPr>
              <a:t>(S-&gt;value &lt; 0) {</a:t>
            </a:r>
          </a:p>
          <a:p>
            <a:r>
              <a:rPr lang="en-CN">
                <a:latin typeface="Courier" pitchFamily="2" charset="0"/>
              </a:rPr>
              <a:t>                do {</a:t>
            </a:r>
          </a:p>
          <a:p>
            <a:r>
              <a:rPr lang="en-CN">
                <a:latin typeface="Courier" pitchFamily="2" charset="0"/>
              </a:rPr>
              <a:t>                        </a:t>
            </a:r>
            <a:r>
              <a:rPr lang="en-CN">
                <a:solidFill>
                  <a:srgbClr val="FF9300"/>
                </a:solidFill>
                <a:latin typeface="Courier" pitchFamily="2" charset="0"/>
              </a:rPr>
              <a:t>cond_wait</a:t>
            </a:r>
            <a:r>
              <a:rPr lang="en-CN">
                <a:latin typeface="Courier" pitchFamily="2" charset="0"/>
              </a:rPr>
              <a:t>(S-&gt;sem_cond, S-&gt;sem_lock);</a:t>
            </a:r>
          </a:p>
          <a:p>
            <a:r>
              <a:rPr lang="en-CN">
                <a:latin typeface="Courier" pitchFamily="2" charset="0"/>
              </a:rPr>
              <a:t>                } while (S-&gt;wakeup == 0);</a:t>
            </a:r>
          </a:p>
          <a:p>
            <a:r>
              <a:rPr lang="en-CN">
                <a:latin typeface="Courier" pitchFamily="2" charset="0"/>
              </a:rPr>
              <a:t>               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 S-&gt;wakeup --;</a:t>
            </a:r>
          </a:p>
          <a:p>
            <a:r>
              <a:rPr lang="en-CN">
                <a:latin typeface="Courier" pitchFamily="2" charset="0"/>
              </a:rPr>
              <a:t>        }</a:t>
            </a:r>
          </a:p>
          <a:p>
            <a:r>
              <a:rPr lang="en-CN">
                <a:latin typeface="Courier" pitchFamily="2" charset="0"/>
              </a:rPr>
              <a:t>        </a:t>
            </a:r>
            <a:r>
              <a:rPr lang="en-CN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>
                <a:latin typeface="Courier" pitchFamily="2" charset="0"/>
              </a:rPr>
              <a:t>(S-&gt;sem_lock);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A10C11-ED43-724E-AEAB-70D37A4F37B8}"/>
              </a:ext>
            </a:extLst>
          </p:cNvPr>
          <p:cNvSpPr/>
          <p:nvPr/>
        </p:nvSpPr>
        <p:spPr>
          <a:xfrm>
            <a:off x="457200" y="1478237"/>
            <a:ext cx="8167621" cy="8844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>
                <a:latin typeface="Courier" pitchFamily="2" charset="0"/>
              </a:rPr>
              <a:t>v</a:t>
            </a:r>
            <a:r>
              <a:rPr lang="en-CN">
                <a:latin typeface="Courier" pitchFamily="2" charset="0"/>
              </a:rPr>
              <a:t>alue</a:t>
            </a:r>
            <a:r>
              <a:rPr lang="zh-CN" altLang="en-US">
                <a:latin typeface="Courier" pitchFamily="2" charset="0"/>
              </a:rPr>
              <a:t>：</a:t>
            </a:r>
            <a:r>
              <a:rPr lang="zh-CN" altLang="en-CN">
                <a:latin typeface="Courier" pitchFamily="2" charset="0"/>
              </a:rPr>
              <a:t>正数</a:t>
            </a:r>
            <a:r>
              <a:rPr lang="zh-CN" altLang="en-US">
                <a:latin typeface="Courier" pitchFamily="2" charset="0"/>
              </a:rPr>
              <a:t>为信号量，负数为有人等待</a:t>
            </a:r>
            <a:r>
              <a:rPr lang="en-US" altLang="zh-CN">
                <a:latin typeface="Courier" pitchFamily="2" charset="0"/>
              </a:rPr>
              <a:t>	wakeup</a:t>
            </a:r>
            <a:r>
              <a:rPr lang="zh-CN" altLang="en-US">
                <a:latin typeface="Courier" pitchFamily="2" charset="0"/>
              </a:rPr>
              <a:t>：等待时可以唤醒的数量</a:t>
            </a:r>
            <a:endParaRPr lang="en-US" altLang="zh-CN">
              <a:latin typeface="Courier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>
                <a:latin typeface="Courier" pitchFamily="2" charset="0"/>
              </a:rPr>
              <a:t>某一时刻真实的信号量：</a:t>
            </a:r>
            <a:r>
              <a:rPr lang="en-US" altLang="zh-CN">
                <a:latin typeface="Courier" pitchFamily="2" charset="0"/>
              </a:rPr>
              <a:t> value &gt; 0 ? value + wakeup : wakeup</a:t>
            </a:r>
            <a:endParaRPr lang="en-CN">
              <a:latin typeface="Courier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D09-9785-6840-B87D-18A24B22677F}"/>
              </a:ext>
            </a:extLst>
          </p:cNvPr>
          <p:cNvSpPr/>
          <p:nvPr/>
        </p:nvSpPr>
        <p:spPr>
          <a:xfrm>
            <a:off x="2411760" y="3649588"/>
            <a:ext cx="6390456" cy="7920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0ED014-964F-1C44-82FE-94D4B385EC77}"/>
              </a:ext>
            </a:extLst>
          </p:cNvPr>
          <p:cNvSpPr/>
          <p:nvPr/>
        </p:nvSpPr>
        <p:spPr>
          <a:xfrm>
            <a:off x="4581650" y="4866211"/>
            <a:ext cx="35283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>
                <a:solidFill>
                  <a:schemeClr val="accent1"/>
                </a:solidFill>
                <a:latin typeface="Courier" pitchFamily="2" charset="0"/>
              </a:rPr>
              <a:t>思考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：为何要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do while?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4D351-70F5-1546-B80F-37362E9BA7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F97FD-DDCC-7F43-8A23-CCA264000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356999-2D3A-A04F-B658-2EBCE07CC4EB}"/>
              </a:ext>
            </a:extLst>
          </p:cNvPr>
          <p:cNvSpPr/>
          <p:nvPr/>
        </p:nvSpPr>
        <p:spPr>
          <a:xfrm>
            <a:off x="770992" y="1108905"/>
            <a:ext cx="76020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介绍一种使用条件变量的实现：</a:t>
            </a:r>
            <a:r>
              <a:rPr lang="zh-CN" altLang="en-US" b="1" dirty="0">
                <a:latin typeface="Courier" pitchFamily="2" charset="0"/>
              </a:rPr>
              <a:t>条件变量 </a:t>
            </a:r>
            <a:r>
              <a:rPr lang="en-US" altLang="zh-CN" dirty="0">
                <a:latin typeface="Courier" pitchFamily="2" charset="0"/>
              </a:rPr>
              <a:t>+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zh-CN" altLang="en-US" b="1" dirty="0">
                <a:latin typeface="Courier" pitchFamily="2" charset="0"/>
              </a:rPr>
              <a:t>互斥锁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+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zh-CN" altLang="en-US" b="1" dirty="0">
                <a:latin typeface="Courier" pitchFamily="2" charset="0"/>
              </a:rPr>
              <a:t>计数器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=</a:t>
            </a:r>
            <a:r>
              <a:rPr lang="zh-CN" altLang="en-US" dirty="0">
                <a:latin typeface="Courier" pitchFamily="2" charset="0"/>
              </a:rPr>
              <a:t> 信号量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7627415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信号量的实现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2653B2-51DE-4342-9B4C-4D542858C80C}"/>
              </a:ext>
            </a:extLst>
          </p:cNvPr>
          <p:cNvSpPr/>
          <p:nvPr/>
        </p:nvSpPr>
        <p:spPr>
          <a:xfrm>
            <a:off x="341784" y="2485549"/>
            <a:ext cx="5166320" cy="1869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050">
                <a:latin typeface="Courier" pitchFamily="2" charset="0"/>
              </a:rPr>
              <a:t>void wait(sem_t *S) {</a:t>
            </a:r>
          </a:p>
          <a:p>
            <a:r>
              <a:rPr lang="en-CN" sz="1050">
                <a:latin typeface="Courier" pitchFamily="2" charset="0"/>
              </a:rPr>
              <a:t>        </a:t>
            </a:r>
            <a:r>
              <a:rPr lang="en-CN" sz="105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050">
                <a:latin typeface="Courier" pitchFamily="2" charset="0"/>
              </a:rPr>
              <a:t>(S-&gt;sem_lock);</a:t>
            </a:r>
          </a:p>
          <a:p>
            <a:r>
              <a:rPr lang="en-CN" sz="1050">
                <a:latin typeface="Courier" pitchFamily="2" charset="0"/>
              </a:rPr>
              <a:t>        </a:t>
            </a:r>
            <a:r>
              <a:rPr lang="en-CN" sz="1050">
                <a:solidFill>
                  <a:schemeClr val="accent1"/>
                </a:solidFill>
                <a:latin typeface="Courier" pitchFamily="2" charset="0"/>
              </a:rPr>
              <a:t>S-&gt;value --;</a:t>
            </a:r>
          </a:p>
          <a:p>
            <a:r>
              <a:rPr lang="en-CN" sz="1050">
                <a:solidFill>
                  <a:schemeClr val="accent1"/>
                </a:solidFill>
                <a:latin typeface="Courier" pitchFamily="2" charset="0"/>
              </a:rPr>
              <a:t>	</a:t>
            </a:r>
            <a:r>
              <a:rPr lang="zh-CN" altLang="en-US" sz="1050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en-CN" sz="1050">
                <a:latin typeface="Courier" pitchFamily="2" charset="0"/>
              </a:rPr>
              <a:t>if</a:t>
            </a:r>
            <a:r>
              <a:rPr lang="zh-CN" altLang="en-US" sz="1050">
                <a:latin typeface="Courier" pitchFamily="2" charset="0"/>
              </a:rPr>
              <a:t> </a:t>
            </a:r>
            <a:r>
              <a:rPr lang="en-CN" sz="1050">
                <a:latin typeface="Courier" pitchFamily="2" charset="0"/>
              </a:rPr>
              <a:t>(S-&gt;value &lt; 0) {</a:t>
            </a:r>
          </a:p>
          <a:p>
            <a:r>
              <a:rPr lang="en-CN" sz="1050">
                <a:latin typeface="Courier" pitchFamily="2" charset="0"/>
              </a:rPr>
              <a:t>                while (S-&gt;wakeup == 0){</a:t>
            </a:r>
          </a:p>
          <a:p>
            <a:r>
              <a:rPr lang="en-CN" sz="1050">
                <a:latin typeface="Courier" pitchFamily="2" charset="0"/>
              </a:rPr>
              <a:t>                        </a:t>
            </a:r>
            <a:r>
              <a:rPr lang="en-CN" sz="1050">
                <a:solidFill>
                  <a:srgbClr val="FF9300"/>
                </a:solidFill>
                <a:latin typeface="Courier" pitchFamily="2" charset="0"/>
              </a:rPr>
              <a:t>cond_wait</a:t>
            </a:r>
            <a:r>
              <a:rPr lang="en-CN" sz="1050">
                <a:latin typeface="Courier" pitchFamily="2" charset="0"/>
              </a:rPr>
              <a:t>(S-&gt;sem_cond, S-&gt;sem_lock);</a:t>
            </a:r>
          </a:p>
          <a:p>
            <a:r>
              <a:rPr lang="en-CN" sz="1050">
                <a:latin typeface="Courier" pitchFamily="2" charset="0"/>
              </a:rPr>
              <a:t>                }</a:t>
            </a:r>
          </a:p>
          <a:p>
            <a:r>
              <a:rPr lang="en-CN" sz="1050">
                <a:solidFill>
                  <a:schemeClr val="accent1"/>
                </a:solidFill>
                <a:latin typeface="Courier" pitchFamily="2" charset="0"/>
              </a:rPr>
              <a:t>		   S-&gt;wakeup --;</a:t>
            </a:r>
          </a:p>
          <a:p>
            <a:r>
              <a:rPr lang="en-CN" sz="1050">
                <a:latin typeface="Courier" pitchFamily="2" charset="0"/>
              </a:rPr>
              <a:t>        }</a:t>
            </a:r>
          </a:p>
          <a:p>
            <a:r>
              <a:rPr lang="en-CN" sz="1050">
                <a:latin typeface="Courier" pitchFamily="2" charset="0"/>
              </a:rPr>
              <a:t>        </a:t>
            </a:r>
            <a:r>
              <a:rPr lang="en-CN" sz="105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050">
                <a:latin typeface="Courier" pitchFamily="2" charset="0"/>
              </a:rPr>
              <a:t>(S-&gt;sem_lock);</a:t>
            </a:r>
          </a:p>
          <a:p>
            <a:r>
              <a:rPr lang="en-CN" sz="1050">
                <a:latin typeface="Courier" pitchFamily="2" charset="0"/>
              </a:rPr>
              <a:t>}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A10C11-ED43-724E-AEAB-70D37A4F37B8}"/>
              </a:ext>
            </a:extLst>
          </p:cNvPr>
          <p:cNvSpPr/>
          <p:nvPr/>
        </p:nvSpPr>
        <p:spPr>
          <a:xfrm>
            <a:off x="457200" y="1478237"/>
            <a:ext cx="8167621" cy="8844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>
                <a:latin typeface="Courier" pitchFamily="2" charset="0"/>
              </a:rPr>
              <a:t>v</a:t>
            </a:r>
            <a:r>
              <a:rPr lang="en-CN">
                <a:latin typeface="Courier" pitchFamily="2" charset="0"/>
              </a:rPr>
              <a:t>alue</a:t>
            </a:r>
            <a:r>
              <a:rPr lang="zh-CN" altLang="en-US">
                <a:latin typeface="Courier" pitchFamily="2" charset="0"/>
              </a:rPr>
              <a:t>：</a:t>
            </a:r>
            <a:r>
              <a:rPr lang="zh-CN" altLang="en-CN">
                <a:latin typeface="Courier" pitchFamily="2" charset="0"/>
              </a:rPr>
              <a:t>正数</a:t>
            </a:r>
            <a:r>
              <a:rPr lang="zh-CN" altLang="en-US">
                <a:latin typeface="Courier" pitchFamily="2" charset="0"/>
              </a:rPr>
              <a:t>为信号量，负数为有人等待</a:t>
            </a:r>
            <a:r>
              <a:rPr lang="en-US" altLang="zh-CN">
                <a:latin typeface="Courier" pitchFamily="2" charset="0"/>
              </a:rPr>
              <a:t>	wakeup</a:t>
            </a:r>
            <a:r>
              <a:rPr lang="zh-CN" altLang="en-US">
                <a:latin typeface="Courier" pitchFamily="2" charset="0"/>
              </a:rPr>
              <a:t>：等待时可以唤醒的数量</a:t>
            </a:r>
            <a:endParaRPr lang="en-US" altLang="zh-CN">
              <a:latin typeface="Courier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>
                <a:latin typeface="Courier" pitchFamily="2" charset="0"/>
              </a:rPr>
              <a:t>某一时刻真实的信号量：</a:t>
            </a:r>
            <a:r>
              <a:rPr lang="en-US" altLang="zh-CN">
                <a:latin typeface="Courier" pitchFamily="2" charset="0"/>
              </a:rPr>
              <a:t> value &gt; 0 ? value + wakeup : wakeup</a:t>
            </a:r>
            <a:endParaRPr lang="en-CN">
              <a:latin typeface="Courier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0ED014-964F-1C44-82FE-94D4B385EC77}"/>
              </a:ext>
            </a:extLst>
          </p:cNvPr>
          <p:cNvSpPr/>
          <p:nvPr/>
        </p:nvSpPr>
        <p:spPr>
          <a:xfrm>
            <a:off x="4535016" y="2513571"/>
            <a:ext cx="39623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>
                <a:solidFill>
                  <a:schemeClr val="accent1"/>
                </a:solidFill>
                <a:latin typeface="Courier" pitchFamily="2" charset="0"/>
              </a:rPr>
              <a:t>思考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：为何要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do while?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 有限等待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4D351-70F5-1546-B80F-37362E9BA7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F97FD-DDCC-7F43-8A23-CCA264000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356999-2D3A-A04F-B658-2EBCE07CC4EB}"/>
              </a:ext>
            </a:extLst>
          </p:cNvPr>
          <p:cNvSpPr/>
          <p:nvPr/>
        </p:nvSpPr>
        <p:spPr>
          <a:xfrm>
            <a:off x="770992" y="1108905"/>
            <a:ext cx="76020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介绍一种使用条件变量的实现：</a:t>
            </a:r>
            <a:r>
              <a:rPr lang="zh-CN" altLang="en-US" b="1" dirty="0">
                <a:latin typeface="Courier" pitchFamily="2" charset="0"/>
              </a:rPr>
              <a:t>条件变量 </a:t>
            </a:r>
            <a:r>
              <a:rPr lang="en-US" altLang="zh-CN" dirty="0">
                <a:latin typeface="Courier" pitchFamily="2" charset="0"/>
              </a:rPr>
              <a:t>+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zh-CN" altLang="en-US" b="1" dirty="0">
                <a:latin typeface="Courier" pitchFamily="2" charset="0"/>
              </a:rPr>
              <a:t>互斥锁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+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zh-CN" altLang="en-US" b="1" dirty="0">
                <a:latin typeface="Courier" pitchFamily="2" charset="0"/>
              </a:rPr>
              <a:t>计数器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=</a:t>
            </a:r>
            <a:r>
              <a:rPr lang="zh-CN" altLang="en-US" dirty="0">
                <a:latin typeface="Courier" pitchFamily="2" charset="0"/>
              </a:rPr>
              <a:t> 信号量</a:t>
            </a:r>
            <a:endParaRPr lang="en-CN" dirty="0"/>
          </a:p>
        </p:txBody>
      </p:sp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17D480F0-57FA-E14B-8915-9F84505ED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5390" y="3651768"/>
            <a:ext cx="4556720" cy="170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8434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9DF71A2D-EF8C-A549-8834-20C8CEBF9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读写锁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185283-5C2B-6548-BDE6-4C0663310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E4C8B7-1AFF-C141-A12F-937F8096DB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39177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F6247-E67C-8947-A16A-26B8BF37D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公告</a:t>
            </a:r>
            <a:r>
              <a:rPr lang="zh-CN" altLang="en-US"/>
              <a:t>栏问题</a:t>
            </a:r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6266B-3594-3C42-8715-72C054320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986329-40F4-F14D-8AE2-D6E6AC18D720}"/>
              </a:ext>
            </a:extLst>
          </p:cNvPr>
          <p:cNvSpPr/>
          <p:nvPr/>
        </p:nvSpPr>
        <p:spPr>
          <a:xfrm>
            <a:off x="2195735" y="1657372"/>
            <a:ext cx="2160240" cy="16561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6" name="组合 11">
            <a:extLst>
              <a:ext uri="{FF2B5EF4-FFF2-40B4-BE49-F238E27FC236}">
                <a16:creationId xmlns:a16="http://schemas.microsoft.com/office/drawing/2014/main" id="{4F3A1D51-B2C6-D841-9ED5-AFBC06B86F5A}"/>
              </a:ext>
            </a:extLst>
          </p:cNvPr>
          <p:cNvGrpSpPr/>
          <p:nvPr/>
        </p:nvGrpSpPr>
        <p:grpSpPr>
          <a:xfrm>
            <a:off x="2096617" y="3624436"/>
            <a:ext cx="914400" cy="914400"/>
            <a:chOff x="2942911" y="3835579"/>
            <a:chExt cx="914400" cy="914400"/>
          </a:xfrm>
        </p:grpSpPr>
        <p:pic>
          <p:nvPicPr>
            <p:cNvPr id="7" name="图形 12" descr="用户">
              <a:extLst>
                <a:ext uri="{FF2B5EF4-FFF2-40B4-BE49-F238E27FC236}">
                  <a16:creationId xmlns:a16="http://schemas.microsoft.com/office/drawing/2014/main" id="{A76F0A6C-AE18-7448-BF27-936272CE5D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8" name="文本框 13">
              <a:extLst>
                <a:ext uri="{FF2B5EF4-FFF2-40B4-BE49-F238E27FC236}">
                  <a16:creationId xmlns:a16="http://schemas.microsoft.com/office/drawing/2014/main" id="{3BA3E760-551C-594A-9FDA-079AD44976F3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grpSp>
        <p:nvGrpSpPr>
          <p:cNvPr id="9" name="组合 11">
            <a:extLst>
              <a:ext uri="{FF2B5EF4-FFF2-40B4-BE49-F238E27FC236}">
                <a16:creationId xmlns:a16="http://schemas.microsoft.com/office/drawing/2014/main" id="{53557B9C-E499-FE43-BA3A-799DCBBB2A3A}"/>
              </a:ext>
            </a:extLst>
          </p:cNvPr>
          <p:cNvGrpSpPr/>
          <p:nvPr/>
        </p:nvGrpSpPr>
        <p:grpSpPr>
          <a:xfrm>
            <a:off x="2771800" y="3898295"/>
            <a:ext cx="914400" cy="914400"/>
            <a:chOff x="2942911" y="3835579"/>
            <a:chExt cx="914400" cy="914400"/>
          </a:xfrm>
        </p:grpSpPr>
        <p:pic>
          <p:nvPicPr>
            <p:cNvPr id="10" name="图形 12" descr="用户">
              <a:extLst>
                <a:ext uri="{FF2B5EF4-FFF2-40B4-BE49-F238E27FC236}">
                  <a16:creationId xmlns:a16="http://schemas.microsoft.com/office/drawing/2014/main" id="{DF5F8B01-6DE4-7942-B368-8A0E266D8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11" name="文本框 13">
              <a:extLst>
                <a:ext uri="{FF2B5EF4-FFF2-40B4-BE49-F238E27FC236}">
                  <a16:creationId xmlns:a16="http://schemas.microsoft.com/office/drawing/2014/main" id="{15B4A4B5-FF06-D746-8386-CAADF897502A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6197C95-2E59-EB44-8C0C-DF5FAC9A7825}"/>
              </a:ext>
            </a:extLst>
          </p:cNvPr>
          <p:cNvGrpSpPr/>
          <p:nvPr/>
        </p:nvGrpSpPr>
        <p:grpSpPr>
          <a:xfrm>
            <a:off x="3275856" y="3469441"/>
            <a:ext cx="914400" cy="914400"/>
            <a:chOff x="2942911" y="3835579"/>
            <a:chExt cx="914400" cy="914400"/>
          </a:xfrm>
        </p:grpSpPr>
        <p:pic>
          <p:nvPicPr>
            <p:cNvPr id="13" name="图形 12" descr="用户">
              <a:extLst>
                <a:ext uri="{FF2B5EF4-FFF2-40B4-BE49-F238E27FC236}">
                  <a16:creationId xmlns:a16="http://schemas.microsoft.com/office/drawing/2014/main" id="{712344EF-0948-CF46-AB23-7C10634F4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2CEB6A6-1634-8249-B457-BB933F08743C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grpSp>
        <p:nvGrpSpPr>
          <p:cNvPr id="15" name="组合 11">
            <a:extLst>
              <a:ext uri="{FF2B5EF4-FFF2-40B4-BE49-F238E27FC236}">
                <a16:creationId xmlns:a16="http://schemas.microsoft.com/office/drawing/2014/main" id="{53395B6C-3465-054D-AD77-A850C7B92E9C}"/>
              </a:ext>
            </a:extLst>
          </p:cNvPr>
          <p:cNvGrpSpPr/>
          <p:nvPr/>
        </p:nvGrpSpPr>
        <p:grpSpPr>
          <a:xfrm>
            <a:off x="2566628" y="3289361"/>
            <a:ext cx="914400" cy="914400"/>
            <a:chOff x="2942911" y="3835579"/>
            <a:chExt cx="914400" cy="914400"/>
          </a:xfrm>
        </p:grpSpPr>
        <p:pic>
          <p:nvPicPr>
            <p:cNvPr id="16" name="图形 12" descr="用户">
              <a:extLst>
                <a:ext uri="{FF2B5EF4-FFF2-40B4-BE49-F238E27FC236}">
                  <a16:creationId xmlns:a16="http://schemas.microsoft.com/office/drawing/2014/main" id="{EB970B09-D0A8-5648-BC63-02810473E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17" name="文本框 13">
              <a:extLst>
                <a:ext uri="{FF2B5EF4-FFF2-40B4-BE49-F238E27FC236}">
                  <a16:creationId xmlns:a16="http://schemas.microsoft.com/office/drawing/2014/main" id="{371C3E83-48F6-B64F-8812-106B3C3E284C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4BCB007-B589-F441-8A72-0C187571A25B}"/>
              </a:ext>
            </a:extLst>
          </p:cNvPr>
          <p:cNvSpPr txBox="1"/>
          <p:nvPr/>
        </p:nvSpPr>
        <p:spPr>
          <a:xfrm>
            <a:off x="2837273" y="17560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/>
              <a:t>公告栏</a:t>
            </a:r>
            <a:endParaRPr lang="en-CN"/>
          </a:p>
        </p:txBody>
      </p:sp>
      <p:pic>
        <p:nvPicPr>
          <p:cNvPr id="20" name="Picture 19" descr="A picture containing drawing, table&#10;&#10;Description automatically generated">
            <a:extLst>
              <a:ext uri="{FF2B5EF4-FFF2-40B4-BE49-F238E27FC236}">
                <a16:creationId xmlns:a16="http://schemas.microsoft.com/office/drawing/2014/main" id="{FBB90C97-7E6C-174B-ADD5-1D7C5DF6E4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401023"/>
            <a:ext cx="847713" cy="1043055"/>
          </a:xfrm>
          <a:prstGeom prst="rect">
            <a:avLst/>
          </a:prstGeom>
        </p:spPr>
      </p:pic>
      <p:sp>
        <p:nvSpPr>
          <p:cNvPr id="21" name="Cloud 20">
            <a:extLst>
              <a:ext uri="{FF2B5EF4-FFF2-40B4-BE49-F238E27FC236}">
                <a16:creationId xmlns:a16="http://schemas.microsoft.com/office/drawing/2014/main" id="{83ACD2AD-8ABD-8940-8E85-146801BF55F3}"/>
              </a:ext>
            </a:extLst>
          </p:cNvPr>
          <p:cNvSpPr/>
          <p:nvPr/>
        </p:nvSpPr>
        <p:spPr>
          <a:xfrm>
            <a:off x="351946" y="1311883"/>
            <a:ext cx="1523020" cy="923251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+mn-ea"/>
              </a:rPr>
              <a:t>这个公告栏要撤走了</a:t>
            </a:r>
            <a:endParaRPr lang="en-US" altLang="zh-CN" sz="12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BD78E337-A03D-124C-8649-213F8533BF0D}"/>
              </a:ext>
            </a:extLst>
          </p:cNvPr>
          <p:cNvSpPr/>
          <p:nvPr/>
        </p:nvSpPr>
        <p:spPr>
          <a:xfrm>
            <a:off x="4137974" y="3469441"/>
            <a:ext cx="1523020" cy="923251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200">
                <a:solidFill>
                  <a:schemeClr val="tx1"/>
                </a:solidFill>
                <a:latin typeface="+mn-ea"/>
              </a:rPr>
              <a:t>别</a:t>
            </a:r>
            <a:r>
              <a:rPr lang="zh-CN" altLang="en-US" sz="1200">
                <a:solidFill>
                  <a:schemeClr val="tx1"/>
                </a:solidFill>
                <a:latin typeface="+mn-ea"/>
              </a:rPr>
              <a:t>挤，再挤就看不到了</a:t>
            </a:r>
            <a:endParaRPr lang="en-CN" sz="12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EA5574-FE9E-A84D-83D1-58B6C85B07BE}"/>
              </a:ext>
            </a:extLst>
          </p:cNvPr>
          <p:cNvSpPr/>
          <p:nvPr/>
        </p:nvSpPr>
        <p:spPr>
          <a:xfrm>
            <a:off x="4836023" y="2502925"/>
            <a:ext cx="3659832" cy="887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思考：如何避免读者看到一半就被写者撤走了，我们怎么办？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5FD460-0ABA-9949-941C-61FF251426F6}"/>
              </a:ext>
            </a:extLst>
          </p:cNvPr>
          <p:cNvSpPr/>
          <p:nvPr/>
        </p:nvSpPr>
        <p:spPr>
          <a:xfrm>
            <a:off x="2905834" y="477259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读者</a:t>
            </a:r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4B25B7-E146-E044-ADC1-8C783EAB799A}"/>
              </a:ext>
            </a:extLst>
          </p:cNvPr>
          <p:cNvSpPr/>
          <p:nvPr/>
        </p:nvSpPr>
        <p:spPr>
          <a:xfrm>
            <a:off x="496226" y="3425301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/>
              <a:t>写</a:t>
            </a:r>
            <a:r>
              <a:rPr lang="zh-CN" altLang="en-US"/>
              <a:t>者</a:t>
            </a:r>
            <a:endParaRPr lang="en-C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ABDB81-0BBB-A242-909F-453C43B15AD6}"/>
              </a:ext>
            </a:extLst>
          </p:cNvPr>
          <p:cNvSpPr/>
          <p:nvPr/>
        </p:nvSpPr>
        <p:spPr>
          <a:xfrm>
            <a:off x="4788027" y="1043538"/>
            <a:ext cx="3577870" cy="887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思考：多个读者如果希望读公告栏，他们互斥吗？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430F72-6E32-9848-BF88-BB2D91893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3591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F6247-E67C-8947-A16A-26B8BF37D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公告</a:t>
            </a:r>
            <a:r>
              <a:rPr lang="zh-CN" altLang="en-US"/>
              <a:t>栏问题</a:t>
            </a:r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6266B-3594-3C42-8715-72C054320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986329-40F4-F14D-8AE2-D6E6AC18D720}"/>
              </a:ext>
            </a:extLst>
          </p:cNvPr>
          <p:cNvSpPr/>
          <p:nvPr/>
        </p:nvSpPr>
        <p:spPr>
          <a:xfrm>
            <a:off x="2195735" y="1657372"/>
            <a:ext cx="2160240" cy="16561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6" name="组合 11">
            <a:extLst>
              <a:ext uri="{FF2B5EF4-FFF2-40B4-BE49-F238E27FC236}">
                <a16:creationId xmlns:a16="http://schemas.microsoft.com/office/drawing/2014/main" id="{4F3A1D51-B2C6-D841-9ED5-AFBC06B86F5A}"/>
              </a:ext>
            </a:extLst>
          </p:cNvPr>
          <p:cNvGrpSpPr/>
          <p:nvPr/>
        </p:nvGrpSpPr>
        <p:grpSpPr>
          <a:xfrm>
            <a:off x="2096617" y="3624436"/>
            <a:ext cx="914400" cy="914400"/>
            <a:chOff x="2942911" y="3835579"/>
            <a:chExt cx="914400" cy="914400"/>
          </a:xfrm>
        </p:grpSpPr>
        <p:pic>
          <p:nvPicPr>
            <p:cNvPr id="7" name="图形 12" descr="用户">
              <a:extLst>
                <a:ext uri="{FF2B5EF4-FFF2-40B4-BE49-F238E27FC236}">
                  <a16:creationId xmlns:a16="http://schemas.microsoft.com/office/drawing/2014/main" id="{A76F0A6C-AE18-7448-BF27-936272CE5D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8" name="文本框 13">
              <a:extLst>
                <a:ext uri="{FF2B5EF4-FFF2-40B4-BE49-F238E27FC236}">
                  <a16:creationId xmlns:a16="http://schemas.microsoft.com/office/drawing/2014/main" id="{3BA3E760-551C-594A-9FDA-079AD44976F3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grpSp>
        <p:nvGrpSpPr>
          <p:cNvPr id="9" name="组合 11">
            <a:extLst>
              <a:ext uri="{FF2B5EF4-FFF2-40B4-BE49-F238E27FC236}">
                <a16:creationId xmlns:a16="http://schemas.microsoft.com/office/drawing/2014/main" id="{53557B9C-E499-FE43-BA3A-799DCBBB2A3A}"/>
              </a:ext>
            </a:extLst>
          </p:cNvPr>
          <p:cNvGrpSpPr/>
          <p:nvPr/>
        </p:nvGrpSpPr>
        <p:grpSpPr>
          <a:xfrm>
            <a:off x="2771800" y="3898295"/>
            <a:ext cx="914400" cy="914400"/>
            <a:chOff x="2942911" y="3835579"/>
            <a:chExt cx="914400" cy="914400"/>
          </a:xfrm>
        </p:grpSpPr>
        <p:pic>
          <p:nvPicPr>
            <p:cNvPr id="10" name="图形 12" descr="用户">
              <a:extLst>
                <a:ext uri="{FF2B5EF4-FFF2-40B4-BE49-F238E27FC236}">
                  <a16:creationId xmlns:a16="http://schemas.microsoft.com/office/drawing/2014/main" id="{DF5F8B01-6DE4-7942-B368-8A0E266D8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11" name="文本框 13">
              <a:extLst>
                <a:ext uri="{FF2B5EF4-FFF2-40B4-BE49-F238E27FC236}">
                  <a16:creationId xmlns:a16="http://schemas.microsoft.com/office/drawing/2014/main" id="{15B4A4B5-FF06-D746-8386-CAADF897502A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6197C95-2E59-EB44-8C0C-DF5FAC9A7825}"/>
              </a:ext>
            </a:extLst>
          </p:cNvPr>
          <p:cNvGrpSpPr/>
          <p:nvPr/>
        </p:nvGrpSpPr>
        <p:grpSpPr>
          <a:xfrm>
            <a:off x="3275856" y="3469441"/>
            <a:ext cx="914400" cy="914400"/>
            <a:chOff x="2942911" y="3835579"/>
            <a:chExt cx="914400" cy="914400"/>
          </a:xfrm>
        </p:grpSpPr>
        <p:pic>
          <p:nvPicPr>
            <p:cNvPr id="13" name="图形 12" descr="用户">
              <a:extLst>
                <a:ext uri="{FF2B5EF4-FFF2-40B4-BE49-F238E27FC236}">
                  <a16:creationId xmlns:a16="http://schemas.microsoft.com/office/drawing/2014/main" id="{712344EF-0948-CF46-AB23-7C10634F4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2CEB6A6-1634-8249-B457-BB933F08743C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grpSp>
        <p:nvGrpSpPr>
          <p:cNvPr id="15" name="组合 11">
            <a:extLst>
              <a:ext uri="{FF2B5EF4-FFF2-40B4-BE49-F238E27FC236}">
                <a16:creationId xmlns:a16="http://schemas.microsoft.com/office/drawing/2014/main" id="{53395B6C-3465-054D-AD77-A850C7B92E9C}"/>
              </a:ext>
            </a:extLst>
          </p:cNvPr>
          <p:cNvGrpSpPr/>
          <p:nvPr/>
        </p:nvGrpSpPr>
        <p:grpSpPr>
          <a:xfrm>
            <a:off x="2566628" y="3289361"/>
            <a:ext cx="914400" cy="914400"/>
            <a:chOff x="2942911" y="3835579"/>
            <a:chExt cx="914400" cy="914400"/>
          </a:xfrm>
        </p:grpSpPr>
        <p:pic>
          <p:nvPicPr>
            <p:cNvPr id="16" name="图形 12" descr="用户">
              <a:extLst>
                <a:ext uri="{FF2B5EF4-FFF2-40B4-BE49-F238E27FC236}">
                  <a16:creationId xmlns:a16="http://schemas.microsoft.com/office/drawing/2014/main" id="{EB970B09-D0A8-5648-BC63-02810473E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17" name="文本框 13">
              <a:extLst>
                <a:ext uri="{FF2B5EF4-FFF2-40B4-BE49-F238E27FC236}">
                  <a16:creationId xmlns:a16="http://schemas.microsoft.com/office/drawing/2014/main" id="{371C3E83-48F6-B64F-8812-106B3C3E284C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4BCB007-B589-F441-8A72-0C187571A25B}"/>
              </a:ext>
            </a:extLst>
          </p:cNvPr>
          <p:cNvSpPr txBox="1"/>
          <p:nvPr/>
        </p:nvSpPr>
        <p:spPr>
          <a:xfrm>
            <a:off x="2837273" y="17560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/>
              <a:t>公告栏</a:t>
            </a:r>
            <a:endParaRPr lang="en-CN"/>
          </a:p>
        </p:txBody>
      </p:sp>
      <p:pic>
        <p:nvPicPr>
          <p:cNvPr id="20" name="Picture 19" descr="A picture containing drawing, table&#10;&#10;Description automatically generated">
            <a:extLst>
              <a:ext uri="{FF2B5EF4-FFF2-40B4-BE49-F238E27FC236}">
                <a16:creationId xmlns:a16="http://schemas.microsoft.com/office/drawing/2014/main" id="{FBB90C97-7E6C-174B-ADD5-1D7C5DF6E4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401023"/>
            <a:ext cx="847713" cy="1043055"/>
          </a:xfrm>
          <a:prstGeom prst="rect">
            <a:avLst/>
          </a:prstGeom>
        </p:spPr>
      </p:pic>
      <p:sp>
        <p:nvSpPr>
          <p:cNvPr id="21" name="Cloud 20">
            <a:extLst>
              <a:ext uri="{FF2B5EF4-FFF2-40B4-BE49-F238E27FC236}">
                <a16:creationId xmlns:a16="http://schemas.microsoft.com/office/drawing/2014/main" id="{83ACD2AD-8ABD-8940-8E85-146801BF55F3}"/>
              </a:ext>
            </a:extLst>
          </p:cNvPr>
          <p:cNvSpPr/>
          <p:nvPr/>
        </p:nvSpPr>
        <p:spPr>
          <a:xfrm>
            <a:off x="351946" y="1311883"/>
            <a:ext cx="1523020" cy="923251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+mn-ea"/>
              </a:rPr>
              <a:t>这个公告栏要撤走了</a:t>
            </a:r>
            <a:endParaRPr lang="en-US" altLang="zh-CN" sz="12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BD78E337-A03D-124C-8649-213F8533BF0D}"/>
              </a:ext>
            </a:extLst>
          </p:cNvPr>
          <p:cNvSpPr/>
          <p:nvPr/>
        </p:nvSpPr>
        <p:spPr>
          <a:xfrm>
            <a:off x="4137974" y="3469441"/>
            <a:ext cx="1523020" cy="923251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200">
                <a:solidFill>
                  <a:schemeClr val="tx1"/>
                </a:solidFill>
                <a:latin typeface="+mn-ea"/>
              </a:rPr>
              <a:t>别</a:t>
            </a:r>
            <a:r>
              <a:rPr lang="zh-CN" altLang="en-US" sz="1200">
                <a:solidFill>
                  <a:schemeClr val="tx1"/>
                </a:solidFill>
                <a:latin typeface="+mn-ea"/>
              </a:rPr>
              <a:t>挤，再挤就看不到了</a:t>
            </a:r>
            <a:endParaRPr lang="en-CN" sz="12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EA5574-FE9E-A84D-83D1-58B6C85B07BE}"/>
              </a:ext>
            </a:extLst>
          </p:cNvPr>
          <p:cNvSpPr/>
          <p:nvPr/>
        </p:nvSpPr>
        <p:spPr>
          <a:xfrm>
            <a:off x="4836023" y="2502925"/>
            <a:ext cx="3659832" cy="887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思考：如何避免读者看到一半就被写者撤走了，我们怎么办？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5FD460-0ABA-9949-941C-61FF251426F6}"/>
              </a:ext>
            </a:extLst>
          </p:cNvPr>
          <p:cNvSpPr/>
          <p:nvPr/>
        </p:nvSpPr>
        <p:spPr>
          <a:xfrm>
            <a:off x="2905834" y="477259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读者</a:t>
            </a:r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4B25B7-E146-E044-ADC1-8C783EAB799A}"/>
              </a:ext>
            </a:extLst>
          </p:cNvPr>
          <p:cNvSpPr/>
          <p:nvPr/>
        </p:nvSpPr>
        <p:spPr>
          <a:xfrm>
            <a:off x="496226" y="3425301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/>
              <a:t>写</a:t>
            </a:r>
            <a:r>
              <a:rPr lang="zh-CN" altLang="en-US"/>
              <a:t>者</a:t>
            </a:r>
            <a:endParaRPr lang="en-C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ABDB81-0BBB-A242-909F-453C43B15AD6}"/>
              </a:ext>
            </a:extLst>
          </p:cNvPr>
          <p:cNvSpPr/>
          <p:nvPr/>
        </p:nvSpPr>
        <p:spPr>
          <a:xfrm>
            <a:off x="4788027" y="1043538"/>
            <a:ext cx="3577870" cy="887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思考：多个读者如果希望读公告栏，他们互斥吗？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4771F1-6B2A-314A-91CE-DF9B676AC3CD}"/>
              </a:ext>
            </a:extLst>
          </p:cNvPr>
          <p:cNvSpPr/>
          <p:nvPr/>
        </p:nvSpPr>
        <p:spPr>
          <a:xfrm>
            <a:off x="6227357" y="204238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不互斥</a:t>
            </a:r>
            <a:endParaRPr lang="en-C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B4B0F10-8DCB-FE48-94DA-00244C0B08BF}"/>
              </a:ext>
            </a:extLst>
          </p:cNvPr>
          <p:cNvSpPr/>
          <p:nvPr/>
        </p:nvSpPr>
        <p:spPr>
          <a:xfrm>
            <a:off x="5671279" y="3536348"/>
            <a:ext cx="22621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使用互斥锁</a:t>
            </a:r>
            <a:endParaRPr lang="en-US" altLang="zh-CN">
              <a:latin typeface="Courier" pitchFamily="2" charset="0"/>
            </a:endParaRPr>
          </a:p>
          <a:p>
            <a:pPr algn="ctr"/>
            <a:r>
              <a:rPr lang="zh-CN" altLang="en-CN"/>
              <a:t>且</a:t>
            </a:r>
            <a:r>
              <a:rPr lang="zh-CN" altLang="en-US"/>
              <a:t>读者也要用互斥锁</a:t>
            </a:r>
            <a:endParaRPr lang="en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9A7A31-328E-A944-BB17-720B4BBCF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68531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234825-6585-7744-AA89-DE8872B33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读写锁的使用示例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7FC8C1-FFFB-C740-93A4-4CAEB4447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7D218B-88D7-F942-97F8-72E005CBA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311B278-5AD3-FE4E-97B7-7A2389107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112" y="1435031"/>
            <a:ext cx="4941808" cy="351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741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读写锁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B9BF94-9EF9-7E4A-A247-A12D7E7B4B14}"/>
              </a:ext>
            </a:extLst>
          </p:cNvPr>
          <p:cNvSpPr/>
          <p:nvPr/>
        </p:nvSpPr>
        <p:spPr>
          <a:xfrm>
            <a:off x="1187624" y="1176438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互斥锁：所有的进程均互斥，同一时刻</a:t>
            </a:r>
            <a:r>
              <a:rPr lang="zh-CN" altLang="en-US" b="1">
                <a:latin typeface="Courier" pitchFamily="2" charset="0"/>
              </a:rPr>
              <a:t>只能有一个进程</a:t>
            </a:r>
            <a:r>
              <a:rPr lang="zh-CN" altLang="en-US">
                <a:latin typeface="Courier" pitchFamily="2" charset="0"/>
              </a:rPr>
              <a:t>进入临界区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71094A-696F-1B4D-ADC2-2F56364F8AC2}"/>
              </a:ext>
            </a:extLst>
          </p:cNvPr>
          <p:cNvSpPr/>
          <p:nvPr/>
        </p:nvSpPr>
        <p:spPr>
          <a:xfrm>
            <a:off x="1187624" y="1754678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对于部分只读取共享数据的进程过于严厉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1269C7-752C-6045-8591-71A71E7F5FDA}"/>
              </a:ext>
            </a:extLst>
          </p:cNvPr>
          <p:cNvSpPr/>
          <p:nvPr/>
        </p:nvSpPr>
        <p:spPr>
          <a:xfrm>
            <a:off x="1023020" y="2362496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读写锁：</a:t>
            </a:r>
            <a:r>
              <a:rPr lang="zh-CN" altLang="en-CN"/>
              <a:t>区分</a:t>
            </a:r>
            <a:r>
              <a:rPr lang="zh-CN" altLang="en-US"/>
              <a:t>读者与写者，允许读者之间并行，读者与写者之间互斥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C36BF1-6EC4-2F48-8DC3-C2280CA72D9A}"/>
              </a:ext>
            </a:extLst>
          </p:cNvPr>
          <p:cNvSpPr/>
          <p:nvPr/>
        </p:nvSpPr>
        <p:spPr>
          <a:xfrm>
            <a:off x="3563888" y="3361556"/>
            <a:ext cx="1800200" cy="19354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158776-73ED-AD40-8296-351A8D798487}"/>
              </a:ext>
            </a:extLst>
          </p:cNvPr>
          <p:cNvSpPr txBox="1"/>
          <p:nvPr/>
        </p:nvSpPr>
        <p:spPr>
          <a:xfrm>
            <a:off x="3898602" y="3433564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临界区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BE4E4F-F115-B748-822A-2D141E7FAD66}"/>
              </a:ext>
            </a:extLst>
          </p:cNvPr>
          <p:cNvSpPr/>
          <p:nvPr/>
        </p:nvSpPr>
        <p:spPr>
          <a:xfrm>
            <a:off x="3995936" y="3965016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5F1A88-3784-FE45-8BB1-CAA096752AC0}"/>
              </a:ext>
            </a:extLst>
          </p:cNvPr>
          <p:cNvSpPr/>
          <p:nvPr/>
        </p:nvSpPr>
        <p:spPr>
          <a:xfrm>
            <a:off x="1043608" y="3550868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5A155A3-A653-1F4D-846C-357178666394}"/>
              </a:ext>
            </a:extLst>
          </p:cNvPr>
          <p:cNvSpPr/>
          <p:nvPr/>
        </p:nvSpPr>
        <p:spPr>
          <a:xfrm>
            <a:off x="6948264" y="3408741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B9D1436-EDA4-6541-B305-B5E14374A925}"/>
              </a:ext>
            </a:extLst>
          </p:cNvPr>
          <p:cNvCxnSpPr>
            <a:stCxn id="16" idx="3"/>
            <a:endCxn id="13" idx="1"/>
          </p:cNvCxnSpPr>
          <p:nvPr/>
        </p:nvCxnSpPr>
        <p:spPr>
          <a:xfrm>
            <a:off x="1979712" y="3802896"/>
            <a:ext cx="1584176" cy="5263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D116E5B-1588-144B-A11D-D7C5511B6AC4}"/>
              </a:ext>
            </a:extLst>
          </p:cNvPr>
          <p:cNvSpPr/>
          <p:nvPr/>
        </p:nvSpPr>
        <p:spPr>
          <a:xfrm>
            <a:off x="1763688" y="4340783"/>
            <a:ext cx="15841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读者</a:t>
            </a:r>
            <a:r>
              <a:rPr lang="zh-CN" altLang="en-US" b="1">
                <a:latin typeface="Courier" pitchFamily="2" charset="0"/>
              </a:rPr>
              <a:t>可以</a:t>
            </a:r>
            <a:r>
              <a:rPr lang="zh-CN" altLang="en-US">
                <a:latin typeface="Courier" pitchFamily="2" charset="0"/>
              </a:rPr>
              <a:t>进入临界区</a:t>
            </a:r>
            <a:endParaRPr lang="en-C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9B0DD1-989B-D448-A58B-1B79AA89AB07}"/>
              </a:ext>
            </a:extLst>
          </p:cNvPr>
          <p:cNvSpPr/>
          <p:nvPr/>
        </p:nvSpPr>
        <p:spPr>
          <a:xfrm>
            <a:off x="5580112" y="4302260"/>
            <a:ext cx="15841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写者</a:t>
            </a:r>
            <a:r>
              <a:rPr lang="zh-CN" altLang="en-US" b="1">
                <a:latin typeface="Courier" pitchFamily="2" charset="0"/>
              </a:rPr>
              <a:t>不能</a:t>
            </a:r>
            <a:r>
              <a:rPr lang="zh-CN" altLang="en-US">
                <a:latin typeface="Courier" pitchFamily="2" charset="0"/>
              </a:rPr>
              <a:t>进入临界区</a:t>
            </a:r>
            <a:endParaRPr lang="en-CN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674BD82-E7FC-1F49-A61E-F41A9B0981D7}"/>
              </a:ext>
            </a:extLst>
          </p:cNvPr>
          <p:cNvCxnSpPr>
            <a:cxnSpLocks/>
            <a:stCxn id="18" idx="2"/>
            <a:endCxn id="13" idx="3"/>
          </p:cNvCxnSpPr>
          <p:nvPr/>
        </p:nvCxnSpPr>
        <p:spPr>
          <a:xfrm flipH="1">
            <a:off x="5364088" y="3869000"/>
            <a:ext cx="1584176" cy="4602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34ABB7B-BDF7-EF4D-B9DC-95A858932D93}"/>
              </a:ext>
            </a:extLst>
          </p:cNvPr>
          <p:cNvSpPr/>
          <p:nvPr/>
        </p:nvSpPr>
        <p:spPr>
          <a:xfrm>
            <a:off x="5508104" y="3773689"/>
            <a:ext cx="15841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>
                <a:solidFill>
                  <a:schemeClr val="accent1"/>
                </a:solidFill>
                <a:latin typeface="+mn-ea"/>
              </a:rPr>
              <a:t>X</a:t>
            </a:r>
            <a:endParaRPr lang="en-CN" sz="320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BF60BA2-E937-074E-BF47-013BEC1FCBD1}"/>
              </a:ext>
            </a:extLst>
          </p:cNvPr>
          <p:cNvSpPr/>
          <p:nvPr/>
        </p:nvSpPr>
        <p:spPr>
          <a:xfrm>
            <a:off x="5709359" y="4987114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*读</a:t>
            </a:r>
            <a:r>
              <a:rPr lang="en-US" altLang="zh-CN" sz="1400"/>
              <a:t>/</a:t>
            </a:r>
            <a:r>
              <a:rPr lang="zh-CN" altLang="en-US" sz="1400"/>
              <a:t>写临界区不同，这里指向一个为示意</a:t>
            </a:r>
            <a:endParaRPr lang="en-CN" sz="1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C7D4F6-BF2E-6844-BA77-7F3CA1931C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48187-2CE8-0F4E-9C0A-43005474D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64244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读写锁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B9BF94-9EF9-7E4A-A247-A12D7E7B4B14}"/>
              </a:ext>
            </a:extLst>
          </p:cNvPr>
          <p:cNvSpPr/>
          <p:nvPr/>
        </p:nvSpPr>
        <p:spPr>
          <a:xfrm>
            <a:off x="1187624" y="1176438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互斥锁：所有的进程均互斥，同一时刻只能有一个进程进入临界区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71094A-696F-1B4D-ADC2-2F56364F8AC2}"/>
              </a:ext>
            </a:extLst>
          </p:cNvPr>
          <p:cNvSpPr/>
          <p:nvPr/>
        </p:nvSpPr>
        <p:spPr>
          <a:xfrm>
            <a:off x="1187624" y="1754678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对于部分只读取共享数据的进程过于严厉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1269C7-752C-6045-8591-71A71E7F5FDA}"/>
              </a:ext>
            </a:extLst>
          </p:cNvPr>
          <p:cNvSpPr/>
          <p:nvPr/>
        </p:nvSpPr>
        <p:spPr>
          <a:xfrm>
            <a:off x="1023020" y="2362496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读写锁：</a:t>
            </a:r>
            <a:r>
              <a:rPr lang="zh-CN" altLang="en-CN"/>
              <a:t>区分</a:t>
            </a:r>
            <a:r>
              <a:rPr lang="zh-CN" altLang="en-US"/>
              <a:t>读者与写者，允许读者之间并行，读者与写者之间互斥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C36BF1-6EC4-2F48-8DC3-C2280CA72D9A}"/>
              </a:ext>
            </a:extLst>
          </p:cNvPr>
          <p:cNvSpPr/>
          <p:nvPr/>
        </p:nvSpPr>
        <p:spPr>
          <a:xfrm>
            <a:off x="3563888" y="3361556"/>
            <a:ext cx="1800200" cy="19354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158776-73ED-AD40-8296-351A8D798487}"/>
              </a:ext>
            </a:extLst>
          </p:cNvPr>
          <p:cNvSpPr txBox="1"/>
          <p:nvPr/>
        </p:nvSpPr>
        <p:spPr>
          <a:xfrm>
            <a:off x="3898602" y="3433564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临界区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5F1A88-3784-FE45-8BB1-CAA096752AC0}"/>
              </a:ext>
            </a:extLst>
          </p:cNvPr>
          <p:cNvSpPr/>
          <p:nvPr/>
        </p:nvSpPr>
        <p:spPr>
          <a:xfrm>
            <a:off x="1043608" y="3550868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5A155A3-A653-1F4D-846C-357178666394}"/>
              </a:ext>
            </a:extLst>
          </p:cNvPr>
          <p:cNvSpPr/>
          <p:nvPr/>
        </p:nvSpPr>
        <p:spPr>
          <a:xfrm>
            <a:off x="6948264" y="3408741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B9D1436-EDA4-6541-B305-B5E14374A925}"/>
              </a:ext>
            </a:extLst>
          </p:cNvPr>
          <p:cNvCxnSpPr>
            <a:stCxn id="16" idx="3"/>
            <a:endCxn id="13" idx="1"/>
          </p:cNvCxnSpPr>
          <p:nvPr/>
        </p:nvCxnSpPr>
        <p:spPr>
          <a:xfrm>
            <a:off x="1979712" y="3802896"/>
            <a:ext cx="1584176" cy="5263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D116E5B-1588-144B-A11D-D7C5511B6AC4}"/>
              </a:ext>
            </a:extLst>
          </p:cNvPr>
          <p:cNvSpPr/>
          <p:nvPr/>
        </p:nvSpPr>
        <p:spPr>
          <a:xfrm>
            <a:off x="1763688" y="4340783"/>
            <a:ext cx="15841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读者</a:t>
            </a:r>
            <a:r>
              <a:rPr lang="zh-CN" altLang="en-US" b="1">
                <a:latin typeface="Courier" pitchFamily="2" charset="0"/>
              </a:rPr>
              <a:t>不能</a:t>
            </a:r>
            <a:r>
              <a:rPr lang="zh-CN" altLang="en-US">
                <a:latin typeface="Courier" pitchFamily="2" charset="0"/>
              </a:rPr>
              <a:t>进入临界区</a:t>
            </a:r>
            <a:endParaRPr lang="en-C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9B0DD1-989B-D448-A58B-1B79AA89AB07}"/>
              </a:ext>
            </a:extLst>
          </p:cNvPr>
          <p:cNvSpPr/>
          <p:nvPr/>
        </p:nvSpPr>
        <p:spPr>
          <a:xfrm>
            <a:off x="5580112" y="4302260"/>
            <a:ext cx="15841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写者</a:t>
            </a:r>
            <a:r>
              <a:rPr lang="zh-CN" altLang="en-US" b="1">
                <a:latin typeface="Courier" pitchFamily="2" charset="0"/>
              </a:rPr>
              <a:t>不能</a:t>
            </a:r>
            <a:r>
              <a:rPr lang="zh-CN" altLang="en-US">
                <a:latin typeface="Courier" pitchFamily="2" charset="0"/>
              </a:rPr>
              <a:t>进入临界区</a:t>
            </a:r>
            <a:endParaRPr lang="en-CN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674BD82-E7FC-1F49-A61E-F41A9B0981D7}"/>
              </a:ext>
            </a:extLst>
          </p:cNvPr>
          <p:cNvCxnSpPr>
            <a:cxnSpLocks/>
            <a:stCxn id="18" idx="2"/>
            <a:endCxn id="13" idx="3"/>
          </p:cNvCxnSpPr>
          <p:nvPr/>
        </p:nvCxnSpPr>
        <p:spPr>
          <a:xfrm flipH="1">
            <a:off x="5364088" y="3869000"/>
            <a:ext cx="1584176" cy="4602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4D8896B1-F498-9945-9181-B2D20F7F3F03}"/>
              </a:ext>
            </a:extLst>
          </p:cNvPr>
          <p:cNvSpPr/>
          <p:nvPr/>
        </p:nvSpPr>
        <p:spPr>
          <a:xfrm>
            <a:off x="3983311" y="3934540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EEA0D4-B300-E549-87F6-D2A99F10B676}"/>
              </a:ext>
            </a:extLst>
          </p:cNvPr>
          <p:cNvSpPr/>
          <p:nvPr/>
        </p:nvSpPr>
        <p:spPr>
          <a:xfrm>
            <a:off x="5508104" y="3773689"/>
            <a:ext cx="15841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>
                <a:solidFill>
                  <a:schemeClr val="accent1"/>
                </a:solidFill>
                <a:latin typeface="+mn-ea"/>
              </a:rPr>
              <a:t>X</a:t>
            </a:r>
            <a:endParaRPr lang="en-CN" sz="320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B29205-ACB4-2549-9390-7BDA79E70AE4}"/>
              </a:ext>
            </a:extLst>
          </p:cNvPr>
          <p:cNvSpPr/>
          <p:nvPr/>
        </p:nvSpPr>
        <p:spPr>
          <a:xfrm>
            <a:off x="1791216" y="3714467"/>
            <a:ext cx="15841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>
                <a:solidFill>
                  <a:schemeClr val="accent1"/>
                </a:solidFill>
                <a:latin typeface="+mn-ea"/>
              </a:rPr>
              <a:t>X</a:t>
            </a:r>
            <a:endParaRPr lang="en-CN" sz="320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6AAE7C-2FB2-D34B-BC97-312B21BC390A}"/>
              </a:ext>
            </a:extLst>
          </p:cNvPr>
          <p:cNvSpPr/>
          <p:nvPr/>
        </p:nvSpPr>
        <p:spPr>
          <a:xfrm>
            <a:off x="5705172" y="4969424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*读</a:t>
            </a:r>
            <a:r>
              <a:rPr lang="en-US" altLang="zh-CN" sz="1400"/>
              <a:t>/</a:t>
            </a:r>
            <a:r>
              <a:rPr lang="zh-CN" altLang="en-US" sz="1400"/>
              <a:t>写临界区不同，这里指向一个为示意</a:t>
            </a:r>
            <a:endParaRPr lang="en-CN" sz="1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389980-0F90-D842-8835-F71E058F0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6DAD5-11DC-1C44-8538-40583B8CA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96463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88D7B6-0B22-C34C-BD3F-53E15F61A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读写锁的偏向性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6BBD7B-9815-5745-B6D9-30FEFDDC0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urier" pitchFamily="2" charset="0"/>
              </a:rPr>
              <a:t>考虑这种情况：</a:t>
            </a:r>
            <a:endParaRPr lang="en-US" altLang="zh-CN" dirty="0">
              <a:latin typeface="Courier" pitchFamily="2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Courier" pitchFamily="2" charset="0"/>
              </a:rPr>
              <a:t>t0</a:t>
            </a:r>
            <a:r>
              <a:rPr lang="zh-CN" altLang="en-US" dirty="0">
                <a:latin typeface="Courier" pitchFamily="2" charset="0"/>
              </a:rPr>
              <a:t>：有读者在临界区</a:t>
            </a:r>
            <a:endParaRPr lang="en-US" altLang="zh-CN" dirty="0">
              <a:latin typeface="Courier" pitchFamily="2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Courier" pitchFamily="2" charset="0"/>
              </a:rPr>
              <a:t>t1</a:t>
            </a:r>
            <a:r>
              <a:rPr lang="zh-CN" altLang="en-US" dirty="0">
                <a:latin typeface="Courier" pitchFamily="2" charset="0"/>
              </a:rPr>
              <a:t>：有新的写者在等待</a:t>
            </a:r>
            <a:endParaRPr lang="en-US" altLang="zh-CN" dirty="0">
              <a:latin typeface="Courier" pitchFamily="2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Courier" pitchFamily="2" charset="0"/>
              </a:rPr>
              <a:t>t2</a:t>
            </a:r>
            <a:r>
              <a:rPr lang="zh-CN" altLang="en-US" dirty="0">
                <a:latin typeface="Courier" pitchFamily="2" charset="0"/>
              </a:rPr>
              <a:t>：另一个读者能否进入临界区？</a:t>
            </a:r>
            <a:endParaRPr lang="en-US" altLang="zh-CN" dirty="0">
              <a:latin typeface="Courier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不能：</a:t>
            </a:r>
            <a:r>
              <a:rPr lang="zh-CN" altLang="en-CN" dirty="0"/>
              <a:t>偏向</a:t>
            </a:r>
            <a:r>
              <a:rPr lang="zh-CN" altLang="en-US" dirty="0"/>
              <a:t>写者的读写锁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后序读者必须等待写者进入后才进入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能：偏向读者的读写锁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后序读者可以直接进入临界区</a:t>
            </a:r>
            <a:endParaRPr lang="en-CN" altLang="zh-CN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4F939A-9DD3-444B-B33A-1BE742CA0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9F2FC3-9D7B-7440-94C5-D83007B7E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49F533-3044-E545-8AE3-C7C12898A9CE}"/>
              </a:ext>
            </a:extLst>
          </p:cNvPr>
          <p:cNvSpPr/>
          <p:nvPr/>
        </p:nvSpPr>
        <p:spPr>
          <a:xfrm>
            <a:off x="4932040" y="364958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更加公平</a:t>
            </a:r>
            <a:endParaRPr lang="en-CN" altLang="zh-CN" b="1">
              <a:solidFill>
                <a:schemeClr val="accent1"/>
              </a:solidFill>
            </a:endParaRPr>
          </a:p>
        </p:txBody>
      </p:sp>
      <p:sp>
        <p:nvSpPr>
          <p:cNvPr id="7" name="Rectangle 55">
            <a:extLst>
              <a:ext uri="{FF2B5EF4-FFF2-40B4-BE49-F238E27FC236}">
                <a16:creationId xmlns:a16="http://schemas.microsoft.com/office/drawing/2014/main" id="{445E4FBF-E351-9644-8BA8-29FC6437E41E}"/>
              </a:ext>
            </a:extLst>
          </p:cNvPr>
          <p:cNvSpPr/>
          <p:nvPr/>
        </p:nvSpPr>
        <p:spPr>
          <a:xfrm>
            <a:off x="4932040" y="464705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更好的并行性</a:t>
            </a:r>
            <a:endParaRPr lang="en-CN" b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56118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4D1909-FBA9-1E4E-A133-3AEDCF0C0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198056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偏向读者</a:t>
            </a:r>
            <a:br>
              <a:rPr kumimoji="1" lang="en-US" altLang="zh-CN" dirty="0"/>
            </a:br>
            <a:r>
              <a:rPr kumimoji="1" lang="zh-CN" altLang="en-US" dirty="0"/>
              <a:t>的读写锁</a:t>
            </a:r>
            <a:br>
              <a:rPr kumimoji="1" lang="en-US" altLang="zh-CN" dirty="0"/>
            </a:br>
            <a:r>
              <a:rPr kumimoji="1" lang="zh-CN" altLang="en-US" dirty="0"/>
              <a:t>实现示例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D908A4-7B82-DF49-895D-319B56529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3D04D1-BF96-CC4D-89BC-1498737D3B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A2120DC-D9F3-7E44-8CCD-24F1CA30F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301664"/>
            <a:ext cx="5985541" cy="502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07139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读写锁的实现：偏向读者为例</a:t>
            </a:r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5D443-90A1-874C-8124-A70F7CAC9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45332"/>
            <a:ext cx="504056" cy="58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64B28E-AE32-9C4C-AA4D-2D45A75A7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6" y="2289439"/>
            <a:ext cx="544190" cy="6567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C5C136-DD44-E447-9BBB-602E4E8D52F7}"/>
              </a:ext>
            </a:extLst>
          </p:cNvPr>
          <p:cNvSpPr txBox="1"/>
          <p:nvPr/>
        </p:nvSpPr>
        <p:spPr>
          <a:xfrm>
            <a:off x="1475656" y="1532327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/>
              <a:t>读者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447E0-7747-B64A-9EDB-FCF385D57407}"/>
              </a:ext>
            </a:extLst>
          </p:cNvPr>
          <p:cNvSpPr txBox="1"/>
          <p:nvPr/>
        </p:nvSpPr>
        <p:spPr>
          <a:xfrm>
            <a:off x="1473758" y="243316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写</a:t>
            </a:r>
            <a:r>
              <a:rPr lang="zh-CN" altLang="en-CN"/>
              <a:t>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FB9982-54E2-C14B-B7F1-9F4C223E59BF}"/>
              </a:ext>
            </a:extLst>
          </p:cNvPr>
          <p:cNvSpPr/>
          <p:nvPr/>
        </p:nvSpPr>
        <p:spPr>
          <a:xfrm>
            <a:off x="5868144" y="1532327"/>
            <a:ext cx="1800200" cy="19354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25DF7E-EAD5-D443-A730-011B7A4AD436}"/>
              </a:ext>
            </a:extLst>
          </p:cNvPr>
          <p:cNvSpPr txBox="1"/>
          <p:nvPr/>
        </p:nvSpPr>
        <p:spPr>
          <a:xfrm>
            <a:off x="6202858" y="1604335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临界区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963424-15F3-984A-9BEA-79EE1B55B795}"/>
              </a:ext>
            </a:extLst>
          </p:cNvPr>
          <p:cNvSpPr/>
          <p:nvPr/>
        </p:nvSpPr>
        <p:spPr>
          <a:xfrm>
            <a:off x="5307399" y="4902031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*读</a:t>
            </a:r>
            <a:r>
              <a:rPr lang="en-US" altLang="zh-CN" sz="1400"/>
              <a:t>/</a:t>
            </a:r>
            <a:r>
              <a:rPr lang="zh-CN" altLang="en-US" sz="1400"/>
              <a:t>写临界区不同，这里指向一个为示意</a:t>
            </a:r>
            <a:endParaRPr lang="en-CN" sz="1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C08396-3332-204B-A886-60107ECD4ACD}"/>
              </a:ext>
            </a:extLst>
          </p:cNvPr>
          <p:cNvSpPr/>
          <p:nvPr/>
        </p:nvSpPr>
        <p:spPr>
          <a:xfrm>
            <a:off x="3670951" y="1494182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886CE-DC92-6B45-913B-1C47CA58355C}"/>
              </a:ext>
            </a:extLst>
          </p:cNvPr>
          <p:cNvSpPr txBox="1"/>
          <p:nvPr/>
        </p:nvSpPr>
        <p:spPr>
          <a:xfrm>
            <a:off x="1476454" y="3467733"/>
            <a:ext cx="144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读者计数器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54DF46-B335-F640-9224-D04A3223FA46}"/>
              </a:ext>
            </a:extLst>
          </p:cNvPr>
          <p:cNvSpPr/>
          <p:nvPr/>
        </p:nvSpPr>
        <p:spPr>
          <a:xfrm>
            <a:off x="611560" y="3361556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  <a:endParaRPr lang="en-C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0DCB35-3E6A-F747-AFE7-8D4FEC5AE675}"/>
              </a:ext>
            </a:extLst>
          </p:cNvPr>
          <p:cNvSpPr txBox="1"/>
          <p:nvPr/>
        </p:nvSpPr>
        <p:spPr>
          <a:xfrm>
            <a:off x="323528" y="4256857"/>
            <a:ext cx="2884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在读临界区中的读者数量</a:t>
            </a:r>
            <a:endParaRPr lang="en-C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46BF37-4813-BB48-8DBF-90FC8159B379}"/>
              </a:ext>
            </a:extLst>
          </p:cNvPr>
          <p:cNvCxnSpPr>
            <a:stCxn id="16" idx="0"/>
            <a:endCxn id="14" idx="2"/>
          </p:cNvCxnSpPr>
          <p:nvPr/>
        </p:nvCxnSpPr>
        <p:spPr>
          <a:xfrm flipV="1">
            <a:off x="1766001" y="3837065"/>
            <a:ext cx="431482" cy="419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10BD254-79C1-8446-974C-5B1AC99AEA76}"/>
              </a:ext>
            </a:extLst>
          </p:cNvPr>
          <p:cNvSpPr txBox="1"/>
          <p:nvPr/>
        </p:nvSpPr>
        <p:spPr>
          <a:xfrm>
            <a:off x="2768004" y="2103983"/>
            <a:ext cx="2951714" cy="2118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/>
              <a:t>获取读者锁，更新读计数器</a:t>
            </a:r>
            <a:endParaRPr lang="en-US" altLang="zh-CN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CN"/>
              <a:t>如果</a:t>
            </a:r>
            <a:r>
              <a:rPr lang="zh-CN" altLang="en-US"/>
              <a:t>没有读者在，拿写锁避免写者进入</a:t>
            </a:r>
            <a:endParaRPr lang="en-US" altLang="zh-CN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/>
              <a:t>释放读者锁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35A76-21D4-0840-81EB-AA21F0A42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6E9BA-987E-414A-9B67-4F9614344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74</a:t>
            </a:fld>
            <a:endParaRPr lang="zh-CN" altLang="en-US"/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B3A95213-AA08-564A-9831-844283246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926" y="2624330"/>
            <a:ext cx="262300" cy="306757"/>
          </a:xfrm>
          <a:prstGeom prst="rect">
            <a:avLst/>
          </a:prstGeom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B7F2D777-6B95-B841-94E7-44E6E4517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866" y="3837065"/>
            <a:ext cx="262300" cy="306757"/>
          </a:xfrm>
          <a:prstGeom prst="rect">
            <a:avLst/>
          </a:prstGeom>
        </p:spPr>
      </p:pic>
      <p:pic>
        <p:nvPicPr>
          <p:cNvPr id="22" name="Picture 5">
            <a:extLst>
              <a:ext uri="{FF2B5EF4-FFF2-40B4-BE49-F238E27FC236}">
                <a16:creationId xmlns:a16="http://schemas.microsoft.com/office/drawing/2014/main" id="{F6F236BE-49E4-A941-B104-70EAA000C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150" y="3455299"/>
            <a:ext cx="262300" cy="31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99702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读写锁的实现：偏向读者为例</a:t>
            </a:r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5D443-90A1-874C-8124-A70F7CAC9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45332"/>
            <a:ext cx="504056" cy="58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64B28E-AE32-9C4C-AA4D-2D45A75A7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6" y="2289439"/>
            <a:ext cx="544190" cy="6567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C5C136-DD44-E447-9BBB-602E4E8D52F7}"/>
              </a:ext>
            </a:extLst>
          </p:cNvPr>
          <p:cNvSpPr txBox="1"/>
          <p:nvPr/>
        </p:nvSpPr>
        <p:spPr>
          <a:xfrm>
            <a:off x="1475656" y="1532327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/>
              <a:t>读者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447E0-7747-B64A-9EDB-FCF385D57407}"/>
              </a:ext>
            </a:extLst>
          </p:cNvPr>
          <p:cNvSpPr txBox="1"/>
          <p:nvPr/>
        </p:nvSpPr>
        <p:spPr>
          <a:xfrm>
            <a:off x="1473758" y="243316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写</a:t>
            </a:r>
            <a:r>
              <a:rPr lang="zh-CN" altLang="en-CN"/>
              <a:t>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FB9982-54E2-C14B-B7F1-9F4C223E59BF}"/>
              </a:ext>
            </a:extLst>
          </p:cNvPr>
          <p:cNvSpPr/>
          <p:nvPr/>
        </p:nvSpPr>
        <p:spPr>
          <a:xfrm>
            <a:off x="5868144" y="1532327"/>
            <a:ext cx="1800200" cy="19354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25DF7E-EAD5-D443-A730-011B7A4AD436}"/>
              </a:ext>
            </a:extLst>
          </p:cNvPr>
          <p:cNvSpPr txBox="1"/>
          <p:nvPr/>
        </p:nvSpPr>
        <p:spPr>
          <a:xfrm>
            <a:off x="6202858" y="1604335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临界区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C08396-3332-204B-A886-60107ECD4ACD}"/>
              </a:ext>
            </a:extLst>
          </p:cNvPr>
          <p:cNvSpPr/>
          <p:nvPr/>
        </p:nvSpPr>
        <p:spPr>
          <a:xfrm>
            <a:off x="6323533" y="2045675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886CE-DC92-6B45-913B-1C47CA58355C}"/>
              </a:ext>
            </a:extLst>
          </p:cNvPr>
          <p:cNvSpPr txBox="1"/>
          <p:nvPr/>
        </p:nvSpPr>
        <p:spPr>
          <a:xfrm>
            <a:off x="1476454" y="3467733"/>
            <a:ext cx="144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读者计数器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54DF46-B335-F640-9224-D04A3223FA46}"/>
              </a:ext>
            </a:extLst>
          </p:cNvPr>
          <p:cNvSpPr/>
          <p:nvPr/>
        </p:nvSpPr>
        <p:spPr>
          <a:xfrm>
            <a:off x="611560" y="3361556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en-C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0DCB35-3E6A-F747-AFE7-8D4FEC5AE675}"/>
              </a:ext>
            </a:extLst>
          </p:cNvPr>
          <p:cNvSpPr txBox="1"/>
          <p:nvPr/>
        </p:nvSpPr>
        <p:spPr>
          <a:xfrm>
            <a:off x="323528" y="4256857"/>
            <a:ext cx="2884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在读临界区中的读者数量</a:t>
            </a:r>
            <a:endParaRPr lang="en-C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46BF37-4813-BB48-8DBF-90FC8159B379}"/>
              </a:ext>
            </a:extLst>
          </p:cNvPr>
          <p:cNvCxnSpPr>
            <a:stCxn id="16" idx="0"/>
            <a:endCxn id="14" idx="2"/>
          </p:cNvCxnSpPr>
          <p:nvPr/>
        </p:nvCxnSpPr>
        <p:spPr>
          <a:xfrm flipV="1">
            <a:off x="1766001" y="3837065"/>
            <a:ext cx="431482" cy="419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D4D7C31E-075E-4049-9141-2F9030D49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12" y="2704775"/>
            <a:ext cx="544190" cy="656781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FEF6874F-36EE-F64B-B644-79FC084E4698}"/>
              </a:ext>
            </a:extLst>
          </p:cNvPr>
          <p:cNvSpPr/>
          <p:nvPr/>
        </p:nvSpPr>
        <p:spPr>
          <a:xfrm>
            <a:off x="3851920" y="1585416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E158CD-4856-E542-87BB-DDB1DB4FC158}"/>
              </a:ext>
            </a:extLst>
          </p:cNvPr>
          <p:cNvSpPr/>
          <p:nvPr/>
        </p:nvSpPr>
        <p:spPr>
          <a:xfrm>
            <a:off x="3238808" y="2617829"/>
            <a:ext cx="2403222" cy="4584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/>
              <a:t>尝试拿写锁，等待</a:t>
            </a:r>
            <a:endParaRPr lang="en-US" altLang="zh-C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17D034-4919-924E-A073-4727FEE779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FFFC85-01C5-D042-A957-BD4D27AF4985}"/>
              </a:ext>
            </a:extLst>
          </p:cNvPr>
          <p:cNvSpPr/>
          <p:nvPr/>
        </p:nvSpPr>
        <p:spPr>
          <a:xfrm>
            <a:off x="5307399" y="4902031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*读</a:t>
            </a:r>
            <a:r>
              <a:rPr lang="en-US" altLang="zh-CN" sz="1400"/>
              <a:t>/</a:t>
            </a:r>
            <a:r>
              <a:rPr lang="zh-CN" altLang="en-US" sz="1400"/>
              <a:t>写临界区不同，这里指向一个为示意</a:t>
            </a:r>
            <a:endParaRPr lang="en-CN" sz="1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777B8-A926-6B4B-BA5C-6C596FAF0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75</a:t>
            </a:fld>
            <a:endParaRPr lang="zh-CN" altLang="en-US"/>
          </a:p>
        </p:txBody>
      </p:sp>
      <p:pic>
        <p:nvPicPr>
          <p:cNvPr id="20" name="Picture 5">
            <a:extLst>
              <a:ext uri="{FF2B5EF4-FFF2-40B4-BE49-F238E27FC236}">
                <a16:creationId xmlns:a16="http://schemas.microsoft.com/office/drawing/2014/main" id="{011FA924-9DF7-8845-9BC7-9223E093C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2" y="2699100"/>
            <a:ext cx="262300" cy="31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04847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读写锁的实现：偏向读者为例</a:t>
            </a:r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5D443-90A1-874C-8124-A70F7CAC9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45332"/>
            <a:ext cx="504056" cy="58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64B28E-AE32-9C4C-AA4D-2D45A75A7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6" y="2289439"/>
            <a:ext cx="544190" cy="6567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C5C136-DD44-E447-9BBB-602E4E8D52F7}"/>
              </a:ext>
            </a:extLst>
          </p:cNvPr>
          <p:cNvSpPr txBox="1"/>
          <p:nvPr/>
        </p:nvSpPr>
        <p:spPr>
          <a:xfrm>
            <a:off x="1475656" y="1532327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/>
              <a:t>读者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447E0-7747-B64A-9EDB-FCF385D57407}"/>
              </a:ext>
            </a:extLst>
          </p:cNvPr>
          <p:cNvSpPr txBox="1"/>
          <p:nvPr/>
        </p:nvSpPr>
        <p:spPr>
          <a:xfrm>
            <a:off x="1473758" y="243316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写</a:t>
            </a:r>
            <a:r>
              <a:rPr lang="zh-CN" altLang="en-CN"/>
              <a:t>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FB9982-54E2-C14B-B7F1-9F4C223E59BF}"/>
              </a:ext>
            </a:extLst>
          </p:cNvPr>
          <p:cNvSpPr/>
          <p:nvPr/>
        </p:nvSpPr>
        <p:spPr>
          <a:xfrm>
            <a:off x="5868144" y="1532327"/>
            <a:ext cx="1800200" cy="19354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25DF7E-EAD5-D443-A730-011B7A4AD436}"/>
              </a:ext>
            </a:extLst>
          </p:cNvPr>
          <p:cNvSpPr txBox="1"/>
          <p:nvPr/>
        </p:nvSpPr>
        <p:spPr>
          <a:xfrm>
            <a:off x="6202858" y="1604335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临界区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C08396-3332-204B-A886-60107ECD4ACD}"/>
              </a:ext>
            </a:extLst>
          </p:cNvPr>
          <p:cNvSpPr/>
          <p:nvPr/>
        </p:nvSpPr>
        <p:spPr>
          <a:xfrm>
            <a:off x="6323533" y="2045675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886CE-DC92-6B45-913B-1C47CA58355C}"/>
              </a:ext>
            </a:extLst>
          </p:cNvPr>
          <p:cNvSpPr txBox="1"/>
          <p:nvPr/>
        </p:nvSpPr>
        <p:spPr>
          <a:xfrm>
            <a:off x="1476454" y="3467733"/>
            <a:ext cx="144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读者计数器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54DF46-B335-F640-9224-D04A3223FA46}"/>
              </a:ext>
            </a:extLst>
          </p:cNvPr>
          <p:cNvSpPr/>
          <p:nvPr/>
        </p:nvSpPr>
        <p:spPr>
          <a:xfrm>
            <a:off x="611560" y="3361556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en-C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0DCB35-3E6A-F747-AFE7-8D4FEC5AE675}"/>
              </a:ext>
            </a:extLst>
          </p:cNvPr>
          <p:cNvSpPr txBox="1"/>
          <p:nvPr/>
        </p:nvSpPr>
        <p:spPr>
          <a:xfrm>
            <a:off x="323528" y="4256857"/>
            <a:ext cx="2884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在读临界区中的读者数量</a:t>
            </a:r>
            <a:endParaRPr lang="en-C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46BF37-4813-BB48-8DBF-90FC8159B379}"/>
              </a:ext>
            </a:extLst>
          </p:cNvPr>
          <p:cNvCxnSpPr>
            <a:stCxn id="16" idx="0"/>
            <a:endCxn id="14" idx="2"/>
          </p:cNvCxnSpPr>
          <p:nvPr/>
        </p:nvCxnSpPr>
        <p:spPr>
          <a:xfrm flipV="1">
            <a:off x="1766001" y="3837065"/>
            <a:ext cx="431482" cy="419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D4D7C31E-075E-4049-9141-2F9030D49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12" y="2704775"/>
            <a:ext cx="544190" cy="656781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FEF6874F-36EE-F64B-B644-79FC084E4698}"/>
              </a:ext>
            </a:extLst>
          </p:cNvPr>
          <p:cNvSpPr/>
          <p:nvPr/>
        </p:nvSpPr>
        <p:spPr>
          <a:xfrm>
            <a:off x="3851920" y="1585416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579C08-90FF-8F4D-9B84-B739BA624BF4}"/>
              </a:ext>
            </a:extLst>
          </p:cNvPr>
          <p:cNvSpPr/>
          <p:nvPr/>
        </p:nvSpPr>
        <p:spPr>
          <a:xfrm>
            <a:off x="3844127" y="2709079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F4304E-7EEB-F24D-A735-FE33B1B3C6C5}"/>
              </a:ext>
            </a:extLst>
          </p:cNvPr>
          <p:cNvSpPr txBox="1"/>
          <p:nvPr/>
        </p:nvSpPr>
        <p:spPr>
          <a:xfrm>
            <a:off x="3279350" y="3546502"/>
            <a:ext cx="3884938" cy="128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/>
              <a:t>获取读者锁，更新读计数器</a:t>
            </a:r>
            <a:endParaRPr lang="en-US" altLang="zh-CN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/>
              <a:t>有读者在，无需再次获取写锁</a:t>
            </a:r>
            <a:endParaRPr lang="en-US" altLang="zh-CN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zh-CN" altLang="en-US"/>
              <a:t>释放读者锁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66ADA0-DCA1-254F-A2B1-6AE887C83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B4D442-84F4-9F46-B414-E560D55EAF76}"/>
              </a:ext>
            </a:extLst>
          </p:cNvPr>
          <p:cNvSpPr/>
          <p:nvPr/>
        </p:nvSpPr>
        <p:spPr>
          <a:xfrm>
            <a:off x="5307399" y="4902031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*读</a:t>
            </a:r>
            <a:r>
              <a:rPr lang="en-US" altLang="zh-CN" sz="1400"/>
              <a:t>/</a:t>
            </a:r>
            <a:r>
              <a:rPr lang="zh-CN" altLang="en-US" sz="1400"/>
              <a:t>写临界区不同，这里指向一个为示意</a:t>
            </a:r>
            <a:endParaRPr lang="en-CN" sz="1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929F5-FEF1-684C-969E-AE1208B8F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76</a:t>
            </a:fld>
            <a:endParaRPr lang="zh-CN" altLang="en-US"/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D79DB51A-2D7F-C642-99E0-FDB803B95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312" y="3613584"/>
            <a:ext cx="262300" cy="306757"/>
          </a:xfrm>
          <a:prstGeom prst="rect">
            <a:avLst/>
          </a:prstGeom>
        </p:spPr>
      </p:pic>
      <p:pic>
        <p:nvPicPr>
          <p:cNvPr id="25" name="Picture 4">
            <a:extLst>
              <a:ext uri="{FF2B5EF4-FFF2-40B4-BE49-F238E27FC236}">
                <a16:creationId xmlns:a16="http://schemas.microsoft.com/office/drawing/2014/main" id="{C3156794-1A36-CC49-8301-551ED9132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4441676"/>
            <a:ext cx="262300" cy="30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9865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读写锁的实现：偏向读者为例</a:t>
            </a:r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5D443-90A1-874C-8124-A70F7CAC9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45332"/>
            <a:ext cx="504056" cy="58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64B28E-AE32-9C4C-AA4D-2D45A75A7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6" y="2289439"/>
            <a:ext cx="544190" cy="6567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C5C136-DD44-E447-9BBB-602E4E8D52F7}"/>
              </a:ext>
            </a:extLst>
          </p:cNvPr>
          <p:cNvSpPr txBox="1"/>
          <p:nvPr/>
        </p:nvSpPr>
        <p:spPr>
          <a:xfrm>
            <a:off x="1475656" y="1532327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/>
              <a:t>读者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447E0-7747-B64A-9EDB-FCF385D57407}"/>
              </a:ext>
            </a:extLst>
          </p:cNvPr>
          <p:cNvSpPr txBox="1"/>
          <p:nvPr/>
        </p:nvSpPr>
        <p:spPr>
          <a:xfrm>
            <a:off x="1473758" y="243316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写</a:t>
            </a:r>
            <a:r>
              <a:rPr lang="zh-CN" altLang="en-CN"/>
              <a:t>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FB9982-54E2-C14B-B7F1-9F4C223E59BF}"/>
              </a:ext>
            </a:extLst>
          </p:cNvPr>
          <p:cNvSpPr/>
          <p:nvPr/>
        </p:nvSpPr>
        <p:spPr>
          <a:xfrm>
            <a:off x="5868144" y="1532327"/>
            <a:ext cx="1800200" cy="19354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25DF7E-EAD5-D443-A730-011B7A4AD436}"/>
              </a:ext>
            </a:extLst>
          </p:cNvPr>
          <p:cNvSpPr txBox="1"/>
          <p:nvPr/>
        </p:nvSpPr>
        <p:spPr>
          <a:xfrm>
            <a:off x="6202858" y="1604335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临界区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C08396-3332-204B-A886-60107ECD4ACD}"/>
              </a:ext>
            </a:extLst>
          </p:cNvPr>
          <p:cNvSpPr/>
          <p:nvPr/>
        </p:nvSpPr>
        <p:spPr>
          <a:xfrm>
            <a:off x="6323533" y="2045675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886CE-DC92-6B45-913B-1C47CA58355C}"/>
              </a:ext>
            </a:extLst>
          </p:cNvPr>
          <p:cNvSpPr txBox="1"/>
          <p:nvPr/>
        </p:nvSpPr>
        <p:spPr>
          <a:xfrm>
            <a:off x="1476454" y="3467733"/>
            <a:ext cx="144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读者计数器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54DF46-B335-F640-9224-D04A3223FA46}"/>
              </a:ext>
            </a:extLst>
          </p:cNvPr>
          <p:cNvSpPr/>
          <p:nvPr/>
        </p:nvSpPr>
        <p:spPr>
          <a:xfrm>
            <a:off x="611560" y="3361556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en-C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0DCB35-3E6A-F747-AFE7-8D4FEC5AE675}"/>
              </a:ext>
            </a:extLst>
          </p:cNvPr>
          <p:cNvSpPr txBox="1"/>
          <p:nvPr/>
        </p:nvSpPr>
        <p:spPr>
          <a:xfrm>
            <a:off x="323528" y="4256857"/>
            <a:ext cx="2884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在读临界区中的读者数量</a:t>
            </a:r>
            <a:endParaRPr lang="en-C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46BF37-4813-BB48-8DBF-90FC8159B379}"/>
              </a:ext>
            </a:extLst>
          </p:cNvPr>
          <p:cNvCxnSpPr>
            <a:stCxn id="16" idx="0"/>
            <a:endCxn id="14" idx="2"/>
          </p:cNvCxnSpPr>
          <p:nvPr/>
        </p:nvCxnSpPr>
        <p:spPr>
          <a:xfrm flipV="1">
            <a:off x="1766001" y="3837065"/>
            <a:ext cx="431482" cy="419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D4D7C31E-075E-4049-9141-2F9030D49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312" y="2704775"/>
            <a:ext cx="544190" cy="656781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FEF6874F-36EE-F64B-B644-79FC084E4698}"/>
              </a:ext>
            </a:extLst>
          </p:cNvPr>
          <p:cNvSpPr/>
          <p:nvPr/>
        </p:nvSpPr>
        <p:spPr>
          <a:xfrm>
            <a:off x="3851920" y="1585416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579C08-90FF-8F4D-9B84-B739BA624BF4}"/>
              </a:ext>
            </a:extLst>
          </p:cNvPr>
          <p:cNvSpPr/>
          <p:nvPr/>
        </p:nvSpPr>
        <p:spPr>
          <a:xfrm>
            <a:off x="6340466" y="2802495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66ADA0-DCA1-254F-A2B1-6AE887C83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B26E6F-F004-BE4B-A071-02399890FD1A}"/>
              </a:ext>
            </a:extLst>
          </p:cNvPr>
          <p:cNvSpPr/>
          <p:nvPr/>
        </p:nvSpPr>
        <p:spPr>
          <a:xfrm>
            <a:off x="5307399" y="4902031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/>
              <a:t>*读</a:t>
            </a:r>
            <a:r>
              <a:rPr lang="en-US" altLang="zh-CN" sz="1400" dirty="0"/>
              <a:t>/</a:t>
            </a:r>
            <a:r>
              <a:rPr lang="zh-CN" altLang="en-US" sz="1400" dirty="0"/>
              <a:t>写临界区不同，这里指向一个为示意</a:t>
            </a:r>
            <a:endParaRPr lang="en-CN" sz="1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A0140-E426-6A49-8B7C-F49F8D9B2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53345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读写锁的实现：偏向读者为例</a:t>
            </a:r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5D443-90A1-874C-8124-A70F7CAC9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45332"/>
            <a:ext cx="504056" cy="58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64B28E-AE32-9C4C-AA4D-2D45A75A7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6" y="2289439"/>
            <a:ext cx="544190" cy="6567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C5C136-DD44-E447-9BBB-602E4E8D52F7}"/>
              </a:ext>
            </a:extLst>
          </p:cNvPr>
          <p:cNvSpPr txBox="1"/>
          <p:nvPr/>
        </p:nvSpPr>
        <p:spPr>
          <a:xfrm>
            <a:off x="1475656" y="1532327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/>
              <a:t>读者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447E0-7747-B64A-9EDB-FCF385D57407}"/>
              </a:ext>
            </a:extLst>
          </p:cNvPr>
          <p:cNvSpPr txBox="1"/>
          <p:nvPr/>
        </p:nvSpPr>
        <p:spPr>
          <a:xfrm>
            <a:off x="1473758" y="243316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写</a:t>
            </a:r>
            <a:r>
              <a:rPr lang="zh-CN" altLang="en-CN"/>
              <a:t>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FB9982-54E2-C14B-B7F1-9F4C223E59BF}"/>
              </a:ext>
            </a:extLst>
          </p:cNvPr>
          <p:cNvSpPr/>
          <p:nvPr/>
        </p:nvSpPr>
        <p:spPr>
          <a:xfrm>
            <a:off x="5868144" y="1532327"/>
            <a:ext cx="1800200" cy="19354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25DF7E-EAD5-D443-A730-011B7A4AD436}"/>
              </a:ext>
            </a:extLst>
          </p:cNvPr>
          <p:cNvSpPr txBox="1"/>
          <p:nvPr/>
        </p:nvSpPr>
        <p:spPr>
          <a:xfrm>
            <a:off x="6202858" y="1604335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临界区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C08396-3332-204B-A886-60107ECD4ACD}"/>
              </a:ext>
            </a:extLst>
          </p:cNvPr>
          <p:cNvSpPr/>
          <p:nvPr/>
        </p:nvSpPr>
        <p:spPr>
          <a:xfrm>
            <a:off x="5203869" y="2457051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886CE-DC92-6B45-913B-1C47CA58355C}"/>
              </a:ext>
            </a:extLst>
          </p:cNvPr>
          <p:cNvSpPr txBox="1"/>
          <p:nvPr/>
        </p:nvSpPr>
        <p:spPr>
          <a:xfrm>
            <a:off x="1476454" y="3467733"/>
            <a:ext cx="144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读者计数器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54DF46-B335-F640-9224-D04A3223FA46}"/>
              </a:ext>
            </a:extLst>
          </p:cNvPr>
          <p:cNvSpPr/>
          <p:nvPr/>
        </p:nvSpPr>
        <p:spPr>
          <a:xfrm>
            <a:off x="611560" y="3361556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en-C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0DCB35-3E6A-F747-AFE7-8D4FEC5AE675}"/>
              </a:ext>
            </a:extLst>
          </p:cNvPr>
          <p:cNvSpPr txBox="1"/>
          <p:nvPr/>
        </p:nvSpPr>
        <p:spPr>
          <a:xfrm>
            <a:off x="323528" y="4256857"/>
            <a:ext cx="2884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在读临界区中的读者数量</a:t>
            </a:r>
            <a:endParaRPr lang="en-C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46BF37-4813-BB48-8DBF-90FC8159B379}"/>
              </a:ext>
            </a:extLst>
          </p:cNvPr>
          <p:cNvCxnSpPr>
            <a:stCxn id="16" idx="0"/>
            <a:endCxn id="14" idx="2"/>
          </p:cNvCxnSpPr>
          <p:nvPr/>
        </p:nvCxnSpPr>
        <p:spPr>
          <a:xfrm flipV="1">
            <a:off x="1766001" y="3837065"/>
            <a:ext cx="431482" cy="419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D4D7C31E-075E-4049-9141-2F9030D49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905" y="2726132"/>
            <a:ext cx="544190" cy="656781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FEF6874F-36EE-F64B-B644-79FC084E4698}"/>
              </a:ext>
            </a:extLst>
          </p:cNvPr>
          <p:cNvSpPr/>
          <p:nvPr/>
        </p:nvSpPr>
        <p:spPr>
          <a:xfrm>
            <a:off x="3851920" y="1585416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579C08-90FF-8F4D-9B84-B739BA624BF4}"/>
              </a:ext>
            </a:extLst>
          </p:cNvPr>
          <p:cNvSpPr/>
          <p:nvPr/>
        </p:nvSpPr>
        <p:spPr>
          <a:xfrm>
            <a:off x="6335803" y="2802495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490964-41FB-D748-B5C9-2FDFE8C99EAD}"/>
              </a:ext>
            </a:extLst>
          </p:cNvPr>
          <p:cNvSpPr txBox="1"/>
          <p:nvPr/>
        </p:nvSpPr>
        <p:spPr>
          <a:xfrm>
            <a:off x="3279350" y="3546502"/>
            <a:ext cx="3812930" cy="128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/>
              <a:t>获取读者锁，减少计数器</a:t>
            </a:r>
            <a:endParaRPr lang="en-US" altLang="zh-CN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/>
              <a:t>还有其他读者在，无需释放写锁</a:t>
            </a:r>
            <a:endParaRPr lang="en-US" altLang="zh-CN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/>
              <a:t>释放读者锁</a:t>
            </a: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235E12-D055-C946-8A15-316B66B983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596754-31D7-5741-9A2D-55C8A70DB7F8}"/>
              </a:ext>
            </a:extLst>
          </p:cNvPr>
          <p:cNvSpPr/>
          <p:nvPr/>
        </p:nvSpPr>
        <p:spPr>
          <a:xfrm>
            <a:off x="5307399" y="4902031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*读</a:t>
            </a:r>
            <a:r>
              <a:rPr lang="en-US" altLang="zh-CN" sz="1400"/>
              <a:t>/</a:t>
            </a:r>
            <a:r>
              <a:rPr lang="zh-CN" altLang="en-US" sz="1400"/>
              <a:t>写临界区不同，这里指向一个为示意</a:t>
            </a:r>
            <a:endParaRPr lang="en-CN" sz="1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8BF02-7E52-3945-B9DD-AC31C09D4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78</a:t>
            </a:fld>
            <a:endParaRPr lang="zh-CN" altLang="en-US"/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7A68EFDA-4AE4-EB45-A7A9-E0EAC6171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151" y="3632778"/>
            <a:ext cx="262300" cy="306757"/>
          </a:xfrm>
          <a:prstGeom prst="rect">
            <a:avLst/>
          </a:prstGeom>
        </p:spPr>
      </p:pic>
      <p:pic>
        <p:nvPicPr>
          <p:cNvPr id="25" name="Picture 4">
            <a:extLst>
              <a:ext uri="{FF2B5EF4-FFF2-40B4-BE49-F238E27FC236}">
                <a16:creationId xmlns:a16="http://schemas.microsoft.com/office/drawing/2014/main" id="{B6DCBAC5-94C0-5E40-89AA-B0E97D097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4441676"/>
            <a:ext cx="262300" cy="30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95308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读写锁的实现：偏向读者为例</a:t>
            </a:r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5D443-90A1-874C-8124-A70F7CAC9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45332"/>
            <a:ext cx="504056" cy="58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64B28E-AE32-9C4C-AA4D-2D45A75A7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6" y="2289439"/>
            <a:ext cx="544190" cy="6567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C5C136-DD44-E447-9BBB-602E4E8D52F7}"/>
              </a:ext>
            </a:extLst>
          </p:cNvPr>
          <p:cNvSpPr txBox="1"/>
          <p:nvPr/>
        </p:nvSpPr>
        <p:spPr>
          <a:xfrm>
            <a:off x="1475656" y="1532327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/>
              <a:t>读者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447E0-7747-B64A-9EDB-FCF385D57407}"/>
              </a:ext>
            </a:extLst>
          </p:cNvPr>
          <p:cNvSpPr txBox="1"/>
          <p:nvPr/>
        </p:nvSpPr>
        <p:spPr>
          <a:xfrm>
            <a:off x="1473758" y="243316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写</a:t>
            </a:r>
            <a:r>
              <a:rPr lang="zh-CN" altLang="en-CN"/>
              <a:t>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FB9982-54E2-C14B-B7F1-9F4C223E59BF}"/>
              </a:ext>
            </a:extLst>
          </p:cNvPr>
          <p:cNvSpPr/>
          <p:nvPr/>
        </p:nvSpPr>
        <p:spPr>
          <a:xfrm>
            <a:off x="5868144" y="1532327"/>
            <a:ext cx="1800200" cy="19354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25DF7E-EAD5-D443-A730-011B7A4AD436}"/>
              </a:ext>
            </a:extLst>
          </p:cNvPr>
          <p:cNvSpPr txBox="1"/>
          <p:nvPr/>
        </p:nvSpPr>
        <p:spPr>
          <a:xfrm>
            <a:off x="6202858" y="1604335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临界区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C08396-3332-204B-A886-60107ECD4ACD}"/>
              </a:ext>
            </a:extLst>
          </p:cNvPr>
          <p:cNvSpPr/>
          <p:nvPr/>
        </p:nvSpPr>
        <p:spPr>
          <a:xfrm>
            <a:off x="5203869" y="2457051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886CE-DC92-6B45-913B-1C47CA58355C}"/>
              </a:ext>
            </a:extLst>
          </p:cNvPr>
          <p:cNvSpPr txBox="1"/>
          <p:nvPr/>
        </p:nvSpPr>
        <p:spPr>
          <a:xfrm>
            <a:off x="1476454" y="3467733"/>
            <a:ext cx="144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读者计数器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54DF46-B335-F640-9224-D04A3223FA46}"/>
              </a:ext>
            </a:extLst>
          </p:cNvPr>
          <p:cNvSpPr/>
          <p:nvPr/>
        </p:nvSpPr>
        <p:spPr>
          <a:xfrm>
            <a:off x="611560" y="3361556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en-C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0DCB35-3E6A-F747-AFE7-8D4FEC5AE675}"/>
              </a:ext>
            </a:extLst>
          </p:cNvPr>
          <p:cNvSpPr txBox="1"/>
          <p:nvPr/>
        </p:nvSpPr>
        <p:spPr>
          <a:xfrm>
            <a:off x="323528" y="4256857"/>
            <a:ext cx="2884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在读临界区中的读者数量</a:t>
            </a:r>
            <a:endParaRPr lang="en-C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46BF37-4813-BB48-8DBF-90FC8159B379}"/>
              </a:ext>
            </a:extLst>
          </p:cNvPr>
          <p:cNvCxnSpPr>
            <a:stCxn id="16" idx="0"/>
            <a:endCxn id="14" idx="2"/>
          </p:cNvCxnSpPr>
          <p:nvPr/>
        </p:nvCxnSpPr>
        <p:spPr>
          <a:xfrm flipV="1">
            <a:off x="1766001" y="3837065"/>
            <a:ext cx="431482" cy="419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D4D7C31E-075E-4049-9141-2F9030D49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063" y="2658225"/>
            <a:ext cx="544190" cy="656781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FEF6874F-36EE-F64B-B644-79FC084E4698}"/>
              </a:ext>
            </a:extLst>
          </p:cNvPr>
          <p:cNvSpPr/>
          <p:nvPr/>
        </p:nvSpPr>
        <p:spPr>
          <a:xfrm>
            <a:off x="3851920" y="1585416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490964-41FB-D748-B5C9-2FDFE8C99EAD}"/>
              </a:ext>
            </a:extLst>
          </p:cNvPr>
          <p:cNvSpPr txBox="1"/>
          <p:nvPr/>
        </p:nvSpPr>
        <p:spPr>
          <a:xfrm>
            <a:off x="3279350" y="3546502"/>
            <a:ext cx="5541122" cy="128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/>
              <a:t>获取读者锁，减少计数器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/>
              <a:t>无其他读者在，释放写锁      ，写者进入临界区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/>
              <a:t>释放读者锁</a:t>
            </a:r>
            <a:endParaRPr lang="en-US" altLang="zh-C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BF747F-929F-084A-BAFD-5E58852E2718}"/>
              </a:ext>
            </a:extLst>
          </p:cNvPr>
          <p:cNvSpPr txBox="1"/>
          <p:nvPr/>
        </p:nvSpPr>
        <p:spPr>
          <a:xfrm>
            <a:off x="2866502" y="1078790"/>
            <a:ext cx="2884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此时写者可以进入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1C82F7-F3C6-D340-9F62-8253DAAF5B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852DC5-2C6B-384F-8AB0-1117B35FB66D}"/>
              </a:ext>
            </a:extLst>
          </p:cNvPr>
          <p:cNvSpPr/>
          <p:nvPr/>
        </p:nvSpPr>
        <p:spPr>
          <a:xfrm>
            <a:off x="5307399" y="4902031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*读</a:t>
            </a:r>
            <a:r>
              <a:rPr lang="en-US" altLang="zh-CN" sz="1400"/>
              <a:t>/</a:t>
            </a:r>
            <a:r>
              <a:rPr lang="zh-CN" altLang="en-US" sz="1400"/>
              <a:t>写临界区不同，这里指向一个为示意</a:t>
            </a:r>
            <a:endParaRPr lang="en-CN" sz="1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E60BB-76FD-C84B-AC35-AE21F55D2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79</a:t>
            </a:fld>
            <a:endParaRPr lang="zh-CN" altLang="en-US"/>
          </a:p>
        </p:txBody>
      </p:sp>
      <p:pic>
        <p:nvPicPr>
          <p:cNvPr id="25" name="Picture 4">
            <a:extLst>
              <a:ext uri="{FF2B5EF4-FFF2-40B4-BE49-F238E27FC236}">
                <a16:creationId xmlns:a16="http://schemas.microsoft.com/office/drawing/2014/main" id="{07A4E845-009B-A540-BDFA-5CEA8263A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947" y="3652399"/>
            <a:ext cx="262300" cy="306757"/>
          </a:xfrm>
          <a:prstGeom prst="rect">
            <a:avLst/>
          </a:prstGeom>
        </p:spPr>
      </p:pic>
      <p:pic>
        <p:nvPicPr>
          <p:cNvPr id="26" name="Picture 4">
            <a:extLst>
              <a:ext uri="{FF2B5EF4-FFF2-40B4-BE49-F238E27FC236}">
                <a16:creationId xmlns:a16="http://schemas.microsoft.com/office/drawing/2014/main" id="{A4068C51-E8B4-2D46-8F51-C935F09AB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4441676"/>
            <a:ext cx="262300" cy="306757"/>
          </a:xfrm>
          <a:prstGeom prst="rect">
            <a:avLst/>
          </a:prstGeom>
        </p:spPr>
      </p:pic>
      <p:pic>
        <p:nvPicPr>
          <p:cNvPr id="27" name="Picture 5">
            <a:extLst>
              <a:ext uri="{FF2B5EF4-FFF2-40B4-BE49-F238E27FC236}">
                <a16:creationId xmlns:a16="http://schemas.microsoft.com/office/drawing/2014/main" id="{8D491EDF-530E-734A-95F6-BFB35BEB1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900" y="4058756"/>
            <a:ext cx="262300" cy="31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08984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读写锁的实现：偏向读者为例</a:t>
            </a:r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5D443-90A1-874C-8124-A70F7CAC9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45332"/>
            <a:ext cx="504056" cy="58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64B28E-AE32-9C4C-AA4D-2D45A75A7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6" y="2289439"/>
            <a:ext cx="544190" cy="6567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C5C136-DD44-E447-9BBB-602E4E8D52F7}"/>
              </a:ext>
            </a:extLst>
          </p:cNvPr>
          <p:cNvSpPr txBox="1"/>
          <p:nvPr/>
        </p:nvSpPr>
        <p:spPr>
          <a:xfrm>
            <a:off x="1475656" y="1532327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/>
              <a:t>读者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447E0-7747-B64A-9EDB-FCF385D57407}"/>
              </a:ext>
            </a:extLst>
          </p:cNvPr>
          <p:cNvSpPr txBox="1"/>
          <p:nvPr/>
        </p:nvSpPr>
        <p:spPr>
          <a:xfrm>
            <a:off x="1473758" y="243316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写</a:t>
            </a:r>
            <a:r>
              <a:rPr lang="zh-CN" altLang="en-CN"/>
              <a:t>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FB9982-54E2-C14B-B7F1-9F4C223E59BF}"/>
              </a:ext>
            </a:extLst>
          </p:cNvPr>
          <p:cNvSpPr/>
          <p:nvPr/>
        </p:nvSpPr>
        <p:spPr>
          <a:xfrm>
            <a:off x="5868144" y="1532327"/>
            <a:ext cx="1800200" cy="19354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25DF7E-EAD5-D443-A730-011B7A4AD436}"/>
              </a:ext>
            </a:extLst>
          </p:cNvPr>
          <p:cNvSpPr txBox="1"/>
          <p:nvPr/>
        </p:nvSpPr>
        <p:spPr>
          <a:xfrm>
            <a:off x="6202858" y="1604335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临界区</a:t>
            </a:r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886CE-DC92-6B45-913B-1C47CA58355C}"/>
              </a:ext>
            </a:extLst>
          </p:cNvPr>
          <p:cNvSpPr txBox="1"/>
          <p:nvPr/>
        </p:nvSpPr>
        <p:spPr>
          <a:xfrm>
            <a:off x="1476454" y="3467733"/>
            <a:ext cx="144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读者计数器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54DF46-B335-F640-9224-D04A3223FA46}"/>
              </a:ext>
            </a:extLst>
          </p:cNvPr>
          <p:cNvSpPr/>
          <p:nvPr/>
        </p:nvSpPr>
        <p:spPr>
          <a:xfrm>
            <a:off x="611560" y="3361556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  <a:endParaRPr lang="en-C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0DCB35-3E6A-F747-AFE7-8D4FEC5AE675}"/>
              </a:ext>
            </a:extLst>
          </p:cNvPr>
          <p:cNvSpPr txBox="1"/>
          <p:nvPr/>
        </p:nvSpPr>
        <p:spPr>
          <a:xfrm>
            <a:off x="323528" y="4256857"/>
            <a:ext cx="2884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在读临界区中的读者数量</a:t>
            </a:r>
            <a:endParaRPr lang="en-C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46BF37-4813-BB48-8DBF-90FC8159B379}"/>
              </a:ext>
            </a:extLst>
          </p:cNvPr>
          <p:cNvCxnSpPr>
            <a:stCxn id="16" idx="0"/>
            <a:endCxn id="14" idx="2"/>
          </p:cNvCxnSpPr>
          <p:nvPr/>
        </p:nvCxnSpPr>
        <p:spPr>
          <a:xfrm flipV="1">
            <a:off x="1766001" y="3837065"/>
            <a:ext cx="431482" cy="419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D4D7C31E-075E-4049-9141-2F9030D49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079" y="2704775"/>
            <a:ext cx="544190" cy="656781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FEF6874F-36EE-F64B-B644-79FC084E4698}"/>
              </a:ext>
            </a:extLst>
          </p:cNvPr>
          <p:cNvSpPr/>
          <p:nvPr/>
        </p:nvSpPr>
        <p:spPr>
          <a:xfrm>
            <a:off x="6291700" y="2082931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B686EB-CCC0-044E-8775-C39C93F3464B}"/>
              </a:ext>
            </a:extLst>
          </p:cNvPr>
          <p:cNvSpPr/>
          <p:nvPr/>
        </p:nvSpPr>
        <p:spPr>
          <a:xfrm>
            <a:off x="3779912" y="1721639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C6F8A5-4120-E445-975B-F340D0C2D16B}"/>
              </a:ext>
            </a:extLst>
          </p:cNvPr>
          <p:cNvSpPr txBox="1"/>
          <p:nvPr/>
        </p:nvSpPr>
        <p:spPr>
          <a:xfrm>
            <a:off x="2924917" y="2392111"/>
            <a:ext cx="2951714" cy="2120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/>
              <a:t>获取读者锁，更新读计数器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CN" dirty="0"/>
              <a:t>如果</a:t>
            </a:r>
            <a:r>
              <a:rPr lang="zh-CN" altLang="en-US" dirty="0"/>
              <a:t>没有读者在，尝试拿写锁避免写者进入，等待。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53B687-06CF-AF4A-9A18-71BFC68A15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B293C5-418A-404C-8223-42EB1D2DE131}"/>
              </a:ext>
            </a:extLst>
          </p:cNvPr>
          <p:cNvSpPr/>
          <p:nvPr/>
        </p:nvSpPr>
        <p:spPr>
          <a:xfrm>
            <a:off x="5307399" y="4902031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*读</a:t>
            </a:r>
            <a:r>
              <a:rPr lang="en-US" altLang="zh-CN" sz="1400"/>
              <a:t>/</a:t>
            </a:r>
            <a:r>
              <a:rPr lang="zh-CN" altLang="en-US" sz="1400"/>
              <a:t>写临界区不同，这里指向一个为示意</a:t>
            </a:r>
            <a:endParaRPr lang="en-CN" sz="1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B04EB-041E-634C-AC13-4B9836E1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80</a:t>
            </a:fld>
            <a:endParaRPr lang="zh-CN" altLang="en-US"/>
          </a:p>
        </p:txBody>
      </p:sp>
      <p:pic>
        <p:nvPicPr>
          <p:cNvPr id="23" name="Picture 5">
            <a:extLst>
              <a:ext uri="{FF2B5EF4-FFF2-40B4-BE49-F238E27FC236}">
                <a16:creationId xmlns:a16="http://schemas.microsoft.com/office/drawing/2014/main" id="{765435BE-6EF7-0849-B295-BCB9D4CE6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179" y="4124954"/>
            <a:ext cx="262300" cy="316569"/>
          </a:xfrm>
          <a:prstGeom prst="rect">
            <a:avLst/>
          </a:prstGeom>
        </p:spPr>
      </p:pic>
      <p:pic>
        <p:nvPicPr>
          <p:cNvPr id="24" name="Picture 4">
            <a:extLst>
              <a:ext uri="{FF2B5EF4-FFF2-40B4-BE49-F238E27FC236}">
                <a16:creationId xmlns:a16="http://schemas.microsoft.com/office/drawing/2014/main" id="{A5A67862-4408-134B-8BA0-8E9C141A3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017" y="2879786"/>
            <a:ext cx="262300" cy="30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22524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读写锁的实现：偏向读者为例</a:t>
            </a:r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5D443-90A1-874C-8124-A70F7CAC9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45332"/>
            <a:ext cx="504056" cy="58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64B28E-AE32-9C4C-AA4D-2D45A75A7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6" y="2289439"/>
            <a:ext cx="544190" cy="6567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C5C136-DD44-E447-9BBB-602E4E8D52F7}"/>
              </a:ext>
            </a:extLst>
          </p:cNvPr>
          <p:cNvSpPr txBox="1"/>
          <p:nvPr/>
        </p:nvSpPr>
        <p:spPr>
          <a:xfrm>
            <a:off x="1475656" y="1532327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/>
              <a:t>读者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447E0-7747-B64A-9EDB-FCF385D57407}"/>
              </a:ext>
            </a:extLst>
          </p:cNvPr>
          <p:cNvSpPr txBox="1"/>
          <p:nvPr/>
        </p:nvSpPr>
        <p:spPr>
          <a:xfrm>
            <a:off x="1473758" y="243316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写</a:t>
            </a:r>
            <a:r>
              <a:rPr lang="zh-CN" altLang="en-CN"/>
              <a:t>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FB9982-54E2-C14B-B7F1-9F4C223E59BF}"/>
              </a:ext>
            </a:extLst>
          </p:cNvPr>
          <p:cNvSpPr/>
          <p:nvPr/>
        </p:nvSpPr>
        <p:spPr>
          <a:xfrm>
            <a:off x="5868144" y="1532327"/>
            <a:ext cx="1800200" cy="19354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25DF7E-EAD5-D443-A730-011B7A4AD436}"/>
              </a:ext>
            </a:extLst>
          </p:cNvPr>
          <p:cNvSpPr txBox="1"/>
          <p:nvPr/>
        </p:nvSpPr>
        <p:spPr>
          <a:xfrm>
            <a:off x="6202858" y="1604335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临界区</a:t>
            </a:r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886CE-DC92-6B45-913B-1C47CA58355C}"/>
              </a:ext>
            </a:extLst>
          </p:cNvPr>
          <p:cNvSpPr txBox="1"/>
          <p:nvPr/>
        </p:nvSpPr>
        <p:spPr>
          <a:xfrm>
            <a:off x="1476454" y="3467733"/>
            <a:ext cx="144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读者计数器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54DF46-B335-F640-9224-D04A3223FA46}"/>
              </a:ext>
            </a:extLst>
          </p:cNvPr>
          <p:cNvSpPr/>
          <p:nvPr/>
        </p:nvSpPr>
        <p:spPr>
          <a:xfrm>
            <a:off x="611560" y="3361556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en-C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0DCB35-3E6A-F747-AFE7-8D4FEC5AE675}"/>
              </a:ext>
            </a:extLst>
          </p:cNvPr>
          <p:cNvSpPr txBox="1"/>
          <p:nvPr/>
        </p:nvSpPr>
        <p:spPr>
          <a:xfrm>
            <a:off x="323528" y="4256857"/>
            <a:ext cx="2884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在读临界区中的读者数量</a:t>
            </a:r>
            <a:endParaRPr lang="en-C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46BF37-4813-BB48-8DBF-90FC8159B379}"/>
              </a:ext>
            </a:extLst>
          </p:cNvPr>
          <p:cNvCxnSpPr>
            <a:stCxn id="16" idx="0"/>
            <a:endCxn id="14" idx="2"/>
          </p:cNvCxnSpPr>
          <p:nvPr/>
        </p:nvCxnSpPr>
        <p:spPr>
          <a:xfrm flipV="1">
            <a:off x="1766001" y="3837065"/>
            <a:ext cx="431482" cy="419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D4D7C31E-075E-4049-9141-2F9030D49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079" y="2704775"/>
            <a:ext cx="544190" cy="656781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FEF6874F-36EE-F64B-B644-79FC084E4698}"/>
              </a:ext>
            </a:extLst>
          </p:cNvPr>
          <p:cNvSpPr/>
          <p:nvPr/>
        </p:nvSpPr>
        <p:spPr>
          <a:xfrm>
            <a:off x="6291700" y="2082931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B686EB-CCC0-044E-8775-C39C93F3464B}"/>
              </a:ext>
            </a:extLst>
          </p:cNvPr>
          <p:cNvSpPr/>
          <p:nvPr/>
        </p:nvSpPr>
        <p:spPr>
          <a:xfrm>
            <a:off x="3779912" y="1721639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C6F8A5-4120-E445-975B-F340D0C2D16B}"/>
              </a:ext>
            </a:extLst>
          </p:cNvPr>
          <p:cNvSpPr txBox="1"/>
          <p:nvPr/>
        </p:nvSpPr>
        <p:spPr>
          <a:xfrm>
            <a:off x="2916430" y="3055011"/>
            <a:ext cx="2951714" cy="87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/>
              <a:t>尝试拿读者锁，上面的读者还没释放，等待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82DA32-F555-CC4A-90F6-24992839836F}"/>
              </a:ext>
            </a:extLst>
          </p:cNvPr>
          <p:cNvSpPr/>
          <p:nvPr/>
        </p:nvSpPr>
        <p:spPr>
          <a:xfrm>
            <a:off x="3779912" y="2461207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8721DB-088D-514E-B64D-A430D3A20C5A}"/>
              </a:ext>
            </a:extLst>
          </p:cNvPr>
          <p:cNvSpPr txBox="1"/>
          <p:nvPr/>
        </p:nvSpPr>
        <p:spPr>
          <a:xfrm>
            <a:off x="5151146" y="3983400"/>
            <a:ext cx="3807932" cy="787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/>
              <a:t>注意：</a:t>
            </a:r>
            <a:r>
              <a:rPr lang="zh-CN" altLang="en-CN" sz="1600" dirty="0"/>
              <a:t>读者</a:t>
            </a:r>
            <a:r>
              <a:rPr lang="zh-CN" altLang="en-US" sz="1600" dirty="0"/>
              <a:t>锁还有阻塞其他读者的语义，</a:t>
            </a:r>
            <a:br>
              <a:rPr lang="en-US" altLang="zh-CN" sz="1600" dirty="0"/>
            </a:br>
            <a:r>
              <a:rPr lang="zh-CN" altLang="en-US" sz="1600" dirty="0"/>
              <a:t>因此不能用原子操作来替代</a:t>
            </a:r>
            <a:endParaRPr lang="en-CN" sz="16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D83A64-36C1-124C-ACD6-68CC1C2E3D34}"/>
              </a:ext>
            </a:extLst>
          </p:cNvPr>
          <p:cNvSpPr txBox="1"/>
          <p:nvPr/>
        </p:nvSpPr>
        <p:spPr>
          <a:xfrm>
            <a:off x="215823" y="4540738"/>
            <a:ext cx="4176464" cy="87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思考：既然读者也要一个读者锁，</a:t>
            </a:r>
            <a:endParaRPr lang="en-US" altLang="zh-CN" dirty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那怎么提高读者的效率？</a:t>
            </a:r>
            <a:endParaRPr lang="en-CN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DC6CB0-A0C3-5E4B-ACAB-2AE676548C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A473644-7C93-E34E-BCA9-3F3A36D9437B}"/>
              </a:ext>
            </a:extLst>
          </p:cNvPr>
          <p:cNvSpPr/>
          <p:nvPr/>
        </p:nvSpPr>
        <p:spPr>
          <a:xfrm>
            <a:off x="5307399" y="4902031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*读</a:t>
            </a:r>
            <a:r>
              <a:rPr lang="en-US" altLang="zh-CN" sz="1400"/>
              <a:t>/</a:t>
            </a:r>
            <a:r>
              <a:rPr lang="zh-CN" altLang="en-US" sz="1400"/>
              <a:t>写临界区不同，这里指向一个为示意</a:t>
            </a:r>
            <a:endParaRPr lang="en-CN" sz="1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9DF8B-C452-A840-A881-71A2D0B6C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81</a:t>
            </a:fld>
            <a:endParaRPr lang="zh-CN" altLang="en-US"/>
          </a:p>
        </p:txBody>
      </p:sp>
      <p:pic>
        <p:nvPicPr>
          <p:cNvPr id="27" name="Picture 4">
            <a:extLst>
              <a:ext uri="{FF2B5EF4-FFF2-40B4-BE49-F238E27FC236}">
                <a16:creationId xmlns:a16="http://schemas.microsoft.com/office/drawing/2014/main" id="{2B3237E5-84B0-2A4F-872F-C65B34221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3534985"/>
            <a:ext cx="262300" cy="30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19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44794</TotalTime>
  <Words>7494</Words>
  <Application>Microsoft Macintosh PowerPoint</Application>
  <PresentationFormat>全屏显示(16:10)</PresentationFormat>
  <Paragraphs>1219</Paragraphs>
  <Slides>81</Slides>
  <Notes>46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81</vt:i4>
      </vt:variant>
    </vt:vector>
  </HeadingPairs>
  <TitlesOfParts>
    <vt:vector size="91" baseType="lpstr">
      <vt:lpstr>DengXian</vt:lpstr>
      <vt:lpstr>微软雅黑</vt:lpstr>
      <vt:lpstr>Linux Libertine</vt:lpstr>
      <vt:lpstr>Arial</vt:lpstr>
      <vt:lpstr>Calibri</vt:lpstr>
      <vt:lpstr>Consolas</vt:lpstr>
      <vt:lpstr>Courier</vt:lpstr>
      <vt:lpstr>Menlo</vt:lpstr>
      <vt:lpstr>Wingdings</vt:lpstr>
      <vt:lpstr>Office 主题​​</vt:lpstr>
      <vt:lpstr>同步原语</vt:lpstr>
      <vt:lpstr>版权声明</vt:lpstr>
      <vt:lpstr>回顾：进程间通讯</vt:lpstr>
      <vt:lpstr>多处理器与多核</vt:lpstr>
      <vt:lpstr>多核不是免费的午餐</vt:lpstr>
      <vt:lpstr>操作系统在多处理器多核环境下面临的问题</vt:lpstr>
      <vt:lpstr>生产者消费者问题，竞争条件，临界区问题</vt:lpstr>
      <vt:lpstr>生产者消费者问题</vt:lpstr>
      <vt:lpstr>生产者放入有限缓冲区</vt:lpstr>
      <vt:lpstr>消费者从有限缓冲区拿取</vt:lpstr>
      <vt:lpstr>生产者消费者问题</vt:lpstr>
      <vt:lpstr>生产者消费者问题</vt:lpstr>
      <vt:lpstr>生产者消费者问题</vt:lpstr>
      <vt:lpstr>竞争条件 Race Condition</vt:lpstr>
      <vt:lpstr>临界区问题</vt:lpstr>
      <vt:lpstr>解决临界区问题的三个要求</vt:lpstr>
      <vt:lpstr>基本同步原语：软件实现与硬件实现</vt:lpstr>
      <vt:lpstr>回顾软件解决方案：皮特森算法</vt:lpstr>
      <vt:lpstr>有没有更简单的方法？比如关闭中断？</vt:lpstr>
      <vt:lpstr>有没有更简单的方法？比如关闭中断？</vt:lpstr>
      <vt:lpstr>有没有更简单的方法？</vt:lpstr>
      <vt:lpstr>生产者放入有限缓冲区-使用互斥锁</vt:lpstr>
      <vt:lpstr>Compare And Swap (CAS) 操作</vt:lpstr>
      <vt:lpstr>硬件原子操作</vt:lpstr>
      <vt:lpstr>硬件原子操作：Intel锁总线实现</vt:lpstr>
      <vt:lpstr>硬件原子操作：Intel锁总线实现</vt:lpstr>
      <vt:lpstr>硬件原子操作：Intel锁总线实现</vt:lpstr>
      <vt:lpstr>硬件原子操作：ARM使用LL/SC实现</vt:lpstr>
      <vt:lpstr>硬件原子操作：ARM使用LL/SC实现</vt:lpstr>
      <vt:lpstr>硬件原子操作：ARM使用LL/SC实现</vt:lpstr>
      <vt:lpstr>硬件原子操作：使用硬件辅助</vt:lpstr>
      <vt:lpstr>锁的实现</vt:lpstr>
      <vt:lpstr>自旋锁（Spinlock）</vt:lpstr>
      <vt:lpstr>自旋锁（Spinlock）</vt:lpstr>
      <vt:lpstr>排号锁（Ticket Lock）</vt:lpstr>
      <vt:lpstr>排号锁（Ticket Lock）</vt:lpstr>
      <vt:lpstr>排号锁（Ticket Lock）</vt:lpstr>
      <vt:lpstr>排号锁（Ticket Lock）</vt:lpstr>
      <vt:lpstr>排号锁（Ticket Lock）</vt:lpstr>
      <vt:lpstr>条件变量</vt:lpstr>
      <vt:lpstr>生产者消费者问题</vt:lpstr>
      <vt:lpstr>生产者消费者问题-生产者</vt:lpstr>
      <vt:lpstr>生产者消费者问题-消费者</vt:lpstr>
      <vt:lpstr>条件变量</vt:lpstr>
      <vt:lpstr>条件变量</vt:lpstr>
      <vt:lpstr>条件变量的接口</vt:lpstr>
      <vt:lpstr>条件变量的实现</vt:lpstr>
      <vt:lpstr>条件变量的接口</vt:lpstr>
      <vt:lpstr>条件变量的使用示例</vt:lpstr>
      <vt:lpstr>条件变量的使用示例</vt:lpstr>
      <vt:lpstr>信号量（Semaphore）</vt:lpstr>
      <vt:lpstr>信号量 （PV原语）</vt:lpstr>
      <vt:lpstr>信号量 （PV原语）</vt:lpstr>
      <vt:lpstr>信号量的使用</vt:lpstr>
      <vt:lpstr>信号量的使用</vt:lpstr>
      <vt:lpstr>二元信号量与计数信号量</vt:lpstr>
      <vt:lpstr>信号量实现：基本语义</vt:lpstr>
      <vt:lpstr>信号量实现：基本语义</vt:lpstr>
      <vt:lpstr>信号量的错误实现</vt:lpstr>
      <vt:lpstr>信号量的实现-1：忙等</vt:lpstr>
      <vt:lpstr>信号量的实现-2：条件变量</vt:lpstr>
      <vt:lpstr>信号量的实现-3：减少signal次数</vt:lpstr>
      <vt:lpstr>信号量的实现</vt:lpstr>
      <vt:lpstr>信号量的实现</vt:lpstr>
      <vt:lpstr>信号量的实现</vt:lpstr>
      <vt:lpstr>读写锁</vt:lpstr>
      <vt:lpstr>公告栏问题</vt:lpstr>
      <vt:lpstr>公告栏问题</vt:lpstr>
      <vt:lpstr>读写锁的使用示例</vt:lpstr>
      <vt:lpstr>读写锁</vt:lpstr>
      <vt:lpstr>读写锁</vt:lpstr>
      <vt:lpstr>读写锁的偏向性</vt:lpstr>
      <vt:lpstr>偏向读者 的读写锁 实现示例</vt:lpstr>
      <vt:lpstr>读写锁的实现：偏向读者为例</vt:lpstr>
      <vt:lpstr>读写锁的实现：偏向读者为例</vt:lpstr>
      <vt:lpstr>读写锁的实现：偏向读者为例</vt:lpstr>
      <vt:lpstr>读写锁的实现：偏向读者为例</vt:lpstr>
      <vt:lpstr>读写锁的实现：偏向读者为例</vt:lpstr>
      <vt:lpstr>读写锁的实现：偏向读者为例</vt:lpstr>
      <vt:lpstr>读写锁的实现：偏向读者为例</vt:lpstr>
      <vt:lpstr>读写锁的实现：偏向读者为例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Yubin Xia</cp:lastModifiedBy>
  <cp:revision>2985</cp:revision>
  <cp:lastPrinted>2016-06-13T07:55:34Z</cp:lastPrinted>
  <dcterms:created xsi:type="dcterms:W3CDTF">2017-11-24T09:35:45Z</dcterms:created>
  <dcterms:modified xsi:type="dcterms:W3CDTF">2022-03-17T06:02:20Z</dcterms:modified>
</cp:coreProperties>
</file>