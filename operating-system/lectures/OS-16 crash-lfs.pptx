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1"/>
  </p:notesMasterIdLst>
  <p:handoutMasterIdLst>
    <p:handoutMasterId r:id="rId82"/>
  </p:handoutMasterIdLst>
  <p:sldIdLst>
    <p:sldId id="1306" r:id="rId2"/>
    <p:sldId id="1359" r:id="rId3"/>
    <p:sldId id="1363" r:id="rId4"/>
    <p:sldId id="2620" r:id="rId5"/>
    <p:sldId id="445" r:id="rId6"/>
    <p:sldId id="2578" r:id="rId7"/>
    <p:sldId id="2502" r:id="rId8"/>
    <p:sldId id="2427" r:id="rId9"/>
    <p:sldId id="2438" r:id="rId10"/>
    <p:sldId id="2443" r:id="rId11"/>
    <p:sldId id="2450" r:id="rId12"/>
    <p:sldId id="2490" r:id="rId13"/>
    <p:sldId id="2444" r:id="rId14"/>
    <p:sldId id="2491" r:id="rId15"/>
    <p:sldId id="2448" r:id="rId16"/>
    <p:sldId id="2482" r:id="rId17"/>
    <p:sldId id="2462" r:id="rId18"/>
    <p:sldId id="2520" r:id="rId19"/>
    <p:sldId id="2521" r:id="rId20"/>
    <p:sldId id="2522" r:id="rId21"/>
    <p:sldId id="2523" r:id="rId22"/>
    <p:sldId id="2524" r:id="rId23"/>
    <p:sldId id="2503" r:id="rId24"/>
    <p:sldId id="2492" r:id="rId25"/>
    <p:sldId id="2552" r:id="rId26"/>
    <p:sldId id="2618" r:id="rId27"/>
    <p:sldId id="2500" r:id="rId28"/>
    <p:sldId id="2429" r:id="rId29"/>
    <p:sldId id="2430" r:id="rId30"/>
    <p:sldId id="2432" r:id="rId31"/>
    <p:sldId id="2435" r:id="rId32"/>
    <p:sldId id="2436" r:id="rId33"/>
    <p:sldId id="2433" r:id="rId34"/>
    <p:sldId id="2434" r:id="rId35"/>
    <p:sldId id="2551" r:id="rId36"/>
    <p:sldId id="2529" r:id="rId37"/>
    <p:sldId id="2575" r:id="rId38"/>
    <p:sldId id="2440" r:id="rId39"/>
    <p:sldId id="2619" r:id="rId40"/>
    <p:sldId id="996" r:id="rId41"/>
    <p:sldId id="2505" r:id="rId42"/>
    <p:sldId id="2506" r:id="rId43"/>
    <p:sldId id="2580" r:id="rId44"/>
    <p:sldId id="2581" r:id="rId45"/>
    <p:sldId id="2582" r:id="rId46"/>
    <p:sldId id="2583" r:id="rId47"/>
    <p:sldId id="2584" r:id="rId48"/>
    <p:sldId id="2585" r:id="rId49"/>
    <p:sldId id="2586" r:id="rId50"/>
    <p:sldId id="2587" r:id="rId51"/>
    <p:sldId id="2588" r:id="rId52"/>
    <p:sldId id="2604" r:id="rId53"/>
    <p:sldId id="2605" r:id="rId54"/>
    <p:sldId id="2606" r:id="rId55"/>
    <p:sldId id="2607" r:id="rId56"/>
    <p:sldId id="2608" r:id="rId57"/>
    <p:sldId id="2609" r:id="rId58"/>
    <p:sldId id="2610" r:id="rId59"/>
    <p:sldId id="2466" r:id="rId60"/>
    <p:sldId id="2467" r:id="rId61"/>
    <p:sldId id="2457" r:id="rId62"/>
    <p:sldId id="2468" r:id="rId63"/>
    <p:sldId id="2544" r:id="rId64"/>
    <p:sldId id="2534" r:id="rId65"/>
    <p:sldId id="2611" r:id="rId66"/>
    <p:sldId id="2538" r:id="rId67"/>
    <p:sldId id="2471" r:id="rId68"/>
    <p:sldId id="2533" r:id="rId69"/>
    <p:sldId id="2473" r:id="rId70"/>
    <p:sldId id="2540" r:id="rId71"/>
    <p:sldId id="2472" r:id="rId72"/>
    <p:sldId id="2612" r:id="rId73"/>
    <p:sldId id="2543" r:id="rId74"/>
    <p:sldId id="2613" r:id="rId75"/>
    <p:sldId id="2614" r:id="rId76"/>
    <p:sldId id="2615" r:id="rId77"/>
    <p:sldId id="2616" r:id="rId78"/>
    <p:sldId id="2617" r:id="rId79"/>
    <p:sldId id="2479" r:id="rId80"/>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5" userDrawn="1">
          <p15:clr>
            <a:srgbClr val="A4A3A4"/>
          </p15:clr>
        </p15:guide>
        <p15:guide id="2" pos="340"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941100"/>
    <a:srgbClr val="7F7F7F"/>
    <a:srgbClr val="FF9300"/>
    <a:srgbClr val="00FB92"/>
    <a:srgbClr val="212121"/>
    <a:srgbClr val="005493"/>
    <a:srgbClr val="FF2F92"/>
    <a:srgbClr val="9437FF"/>
    <a:srgbClr val="73FEFF"/>
    <a:srgbClr val="ED3C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23" autoAdjust="0"/>
    <p:restoredTop sz="93046" autoAdjust="0"/>
  </p:normalViewPr>
  <p:slideViewPr>
    <p:cSldViewPr>
      <p:cViewPr varScale="1">
        <p:scale>
          <a:sx n="173" d="100"/>
          <a:sy n="173" d="100"/>
        </p:scale>
        <p:origin x="584" y="176"/>
      </p:cViewPr>
      <p:guideLst>
        <p:guide orient="horz" pos="3025"/>
        <p:guide pos="340"/>
        <p:guide pos="2880"/>
      </p:guideLst>
    </p:cSldViewPr>
  </p:slideViewPr>
  <p:outlineViewPr>
    <p:cViewPr>
      <p:scale>
        <a:sx n="33" d="100"/>
        <a:sy n="33" d="100"/>
      </p:scale>
      <p:origin x="0" y="-572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6" d="100"/>
          <a:sy n="96" d="100"/>
        </p:scale>
        <p:origin x="3048"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2022/4/12</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2022/4/12</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9</a:t>
            </a:fld>
            <a:endParaRPr lang="zh-CN" altLang="en-US"/>
          </a:p>
        </p:txBody>
      </p:sp>
    </p:spTree>
    <p:extLst>
      <p:ext uri="{BB962C8B-B14F-4D97-AF65-F5344CB8AC3E}">
        <p14:creationId xmlns:p14="http://schemas.microsoft.com/office/powerpoint/2010/main" val="1403321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10</a:t>
            </a:fld>
            <a:endParaRPr lang="zh-CN" altLang="en-US"/>
          </a:p>
        </p:txBody>
      </p:sp>
    </p:spTree>
    <p:extLst>
      <p:ext uri="{BB962C8B-B14F-4D97-AF65-F5344CB8AC3E}">
        <p14:creationId xmlns:p14="http://schemas.microsoft.com/office/powerpoint/2010/main" val="4210606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11</a:t>
            </a:fld>
            <a:endParaRPr lang="zh-CN" altLang="en-US"/>
          </a:p>
        </p:txBody>
      </p:sp>
    </p:spTree>
    <p:extLst>
      <p:ext uri="{BB962C8B-B14F-4D97-AF65-F5344CB8AC3E}">
        <p14:creationId xmlns:p14="http://schemas.microsoft.com/office/powerpoint/2010/main" val="2627454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12</a:t>
            </a:fld>
            <a:endParaRPr lang="zh-CN" altLang="en-US"/>
          </a:p>
        </p:txBody>
      </p:sp>
    </p:spTree>
    <p:extLst>
      <p:ext uri="{BB962C8B-B14F-4D97-AF65-F5344CB8AC3E}">
        <p14:creationId xmlns:p14="http://schemas.microsoft.com/office/powerpoint/2010/main" val="3342124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13</a:t>
            </a:fld>
            <a:endParaRPr lang="zh-CN" altLang="en-US"/>
          </a:p>
        </p:txBody>
      </p:sp>
    </p:spTree>
    <p:extLst>
      <p:ext uri="{BB962C8B-B14F-4D97-AF65-F5344CB8AC3E}">
        <p14:creationId xmlns:p14="http://schemas.microsoft.com/office/powerpoint/2010/main" val="65469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14</a:t>
            </a:fld>
            <a:endParaRPr lang="zh-CN" altLang="en-US"/>
          </a:p>
        </p:txBody>
      </p:sp>
    </p:spTree>
    <p:extLst>
      <p:ext uri="{BB962C8B-B14F-4D97-AF65-F5344CB8AC3E}">
        <p14:creationId xmlns:p14="http://schemas.microsoft.com/office/powerpoint/2010/main" val="720552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a:r>
            <a:r>
              <a:rPr lang="en-CN" dirty="0"/>
              <a:t>riteback</a:t>
            </a:r>
            <a:r>
              <a:rPr lang="en-US" altLang="zh-CN" dirty="0"/>
              <a:t>:</a:t>
            </a:r>
            <a:r>
              <a:rPr lang="zh-CN" altLang="en-US" dirty="0"/>
              <a:t> 快，但是一致性差，有可能元数据指向了错误的数据</a:t>
            </a:r>
            <a:endParaRPr lang="en-US" altLang="zh-CN" dirty="0"/>
          </a:p>
          <a:p>
            <a:r>
              <a:rPr lang="en-US" altLang="zh-CN" dirty="0"/>
              <a:t>Journal:</a:t>
            </a:r>
            <a:r>
              <a:rPr lang="zh-CN" altLang="en-US" dirty="0"/>
              <a:t> 最保险，但是所有写入都需要写两遍，对大文件比较差</a:t>
            </a:r>
            <a:endParaRPr lang="en-US" altLang="zh-CN" dirty="0"/>
          </a:p>
          <a:p>
            <a:r>
              <a:rPr lang="en-US" altLang="zh-CN" dirty="0"/>
              <a:t>Ordered:</a:t>
            </a:r>
            <a:r>
              <a:rPr lang="zh-CN" altLang="en-US" dirty="0"/>
              <a:t> 一种平衡的模式。能保证元数据不会</a:t>
            </a:r>
            <a:r>
              <a:rPr lang="zh-CN" altLang="en-CN" dirty="0"/>
              <a:t>指错</a:t>
            </a:r>
            <a:r>
              <a:rPr lang="zh-CN" altLang="en-US" dirty="0"/>
              <a:t>，但是数据部分可能会出现不一致。（比如写了一个</a:t>
            </a:r>
            <a:r>
              <a:rPr lang="en-US" altLang="zh-CN" dirty="0"/>
              <a:t>write</a:t>
            </a:r>
            <a:r>
              <a:rPr lang="zh-CN" altLang="en-US" dirty="0"/>
              <a:t>操作只持久化了一半；一个操作的数据写完了，但是元数据没有修改。</a:t>
            </a:r>
            <a:endParaRPr lang="en-US" altLang="zh-CN" dirty="0"/>
          </a:p>
          <a:p>
            <a:r>
              <a:rPr lang="zh-CN" altLang="en-US" dirty="0"/>
              <a:t>（考虑将密码写入一个文件，却未来得及将文件权限进行相应修改）</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24</a:t>
            </a:fld>
            <a:endParaRPr lang="zh-CN" altLang="en-US"/>
          </a:p>
        </p:txBody>
      </p:sp>
    </p:spTree>
    <p:extLst>
      <p:ext uri="{BB962C8B-B14F-4D97-AF65-F5344CB8AC3E}">
        <p14:creationId xmlns:p14="http://schemas.microsoft.com/office/powerpoint/2010/main" val="2945111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a:r>
            <a:r>
              <a:rPr lang="en-CN" dirty="0"/>
              <a:t>riteback</a:t>
            </a:r>
            <a:r>
              <a:rPr lang="en-US" altLang="zh-CN" dirty="0"/>
              <a:t>:</a:t>
            </a:r>
            <a:r>
              <a:rPr lang="zh-CN" altLang="en-US" dirty="0"/>
              <a:t> 快，但是一致性差，有可能元数据指向了错误的数据</a:t>
            </a:r>
            <a:endParaRPr lang="en-US" altLang="zh-CN" dirty="0"/>
          </a:p>
          <a:p>
            <a:r>
              <a:rPr lang="en-US" altLang="zh-CN" dirty="0"/>
              <a:t>Journal:</a:t>
            </a:r>
            <a:r>
              <a:rPr lang="zh-CN" altLang="en-US" dirty="0"/>
              <a:t> 最保险，但是所有写入都需要写两遍，对大文件比较差</a:t>
            </a:r>
            <a:endParaRPr lang="en-US" altLang="zh-CN" dirty="0"/>
          </a:p>
          <a:p>
            <a:r>
              <a:rPr lang="en-US" altLang="zh-CN" dirty="0"/>
              <a:t>Ordered:</a:t>
            </a:r>
            <a:r>
              <a:rPr lang="zh-CN" altLang="en-US" dirty="0"/>
              <a:t> 一种平衡的模式。能保证元数据不会</a:t>
            </a:r>
            <a:r>
              <a:rPr lang="zh-CN" altLang="en-CN" dirty="0"/>
              <a:t>指错</a:t>
            </a:r>
            <a:r>
              <a:rPr lang="zh-CN" altLang="en-US" dirty="0"/>
              <a:t>，但是数据部分可能会出现不一致。（比如写了一个</a:t>
            </a:r>
            <a:r>
              <a:rPr lang="en-US" altLang="zh-CN" dirty="0"/>
              <a:t>write</a:t>
            </a:r>
            <a:r>
              <a:rPr lang="zh-CN" altLang="en-US" dirty="0"/>
              <a:t>操作只持久化了一半；一个操作的数据写完了，但是元数据没有修改。</a:t>
            </a:r>
            <a:endParaRPr lang="en-US" altLang="zh-CN" dirty="0"/>
          </a:p>
          <a:p>
            <a:r>
              <a:rPr lang="zh-CN" altLang="en-US" dirty="0"/>
              <a:t>（考虑将密码写入一个文件，却未来得及将文件权限进行相应修改）</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25</a:t>
            </a:fld>
            <a:endParaRPr lang="zh-CN" altLang="en-US"/>
          </a:p>
        </p:txBody>
      </p:sp>
    </p:spTree>
    <p:extLst>
      <p:ext uri="{BB962C8B-B14F-4D97-AF65-F5344CB8AC3E}">
        <p14:creationId xmlns:p14="http://schemas.microsoft.com/office/powerpoint/2010/main" val="1004119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32</a:t>
            </a:fld>
            <a:endParaRPr lang="zh-CN" altLang="en-US"/>
          </a:p>
        </p:txBody>
      </p:sp>
    </p:spTree>
    <p:extLst>
      <p:ext uri="{BB962C8B-B14F-4D97-AF65-F5344CB8AC3E}">
        <p14:creationId xmlns:p14="http://schemas.microsoft.com/office/powerpoint/2010/main" val="475647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CN" dirty="0"/>
              <a:t>不一定</a:t>
            </a:r>
            <a:r>
              <a:rPr lang="zh-CN" altLang="en-US" dirty="0"/>
              <a:t>，写时复制对于小修改很低效（至少需要</a:t>
            </a:r>
            <a:r>
              <a:rPr lang="en-US" altLang="zh-CN" dirty="0"/>
              <a:t>copy</a:t>
            </a:r>
            <a:r>
              <a:rPr lang="zh-CN" altLang="en-US" dirty="0"/>
              <a:t>一个页）</a:t>
            </a:r>
            <a:endParaRPr lang="en-US" altLang="zh-CN" dirty="0"/>
          </a:p>
          <a:p>
            <a:r>
              <a:rPr lang="en-US" altLang="zh-CN" dirty="0" err="1"/>
              <a:t>CoW</a:t>
            </a:r>
            <a:r>
              <a:rPr lang="zh-CN" altLang="en-US" dirty="0"/>
              <a:t>的小修改；日志要</a:t>
            </a:r>
            <a:r>
              <a:rPr lang="en-US" altLang="zh-CN" dirty="0"/>
              <a:t>redo</a:t>
            </a:r>
            <a:r>
              <a:rPr lang="zh-CN" altLang="en-US" dirty="0"/>
              <a:t>，要写两遍</a:t>
            </a:r>
            <a:endParaRPr lang="en-US" altLang="zh-CN"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35</a:t>
            </a:fld>
            <a:endParaRPr lang="zh-CN" altLang="en-US"/>
          </a:p>
        </p:txBody>
      </p:sp>
    </p:spTree>
    <p:extLst>
      <p:ext uri="{BB962C8B-B14F-4D97-AF65-F5344CB8AC3E}">
        <p14:creationId xmlns:p14="http://schemas.microsoft.com/office/powerpoint/2010/main" val="1110754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Chunk</a:t>
            </a:r>
            <a:r>
              <a:rPr lang="zh-CN" altLang="en-US" dirty="0"/>
              <a:t>树</a:t>
            </a:r>
            <a:r>
              <a:rPr lang="en-US" altLang="zh-CN" dirty="0"/>
              <a:t>:</a:t>
            </a:r>
            <a:r>
              <a:rPr lang="zh-CN" altLang="en-US" dirty="0"/>
              <a:t> </a:t>
            </a:r>
            <a:r>
              <a:rPr lang="zh-CN" altLang="en-US" sz="1200" b="0" i="0" u="none" strike="noStrike" kern="1200" dirty="0">
                <a:solidFill>
                  <a:schemeClr val="tx1"/>
                </a:solidFill>
                <a:effectLst/>
                <a:latin typeface="+mn-lt"/>
                <a:ea typeface="+mn-ea"/>
                <a:cs typeface="+mn-cs"/>
              </a:rPr>
              <a:t>维护了</a:t>
            </a:r>
            <a:r>
              <a:rPr lang="en-US" sz="1200" b="0" i="0" u="none" strike="noStrike" kern="1200" dirty="0">
                <a:solidFill>
                  <a:schemeClr val="tx1"/>
                </a:solidFill>
                <a:effectLst/>
                <a:latin typeface="+mn-lt"/>
                <a:ea typeface="+mn-ea"/>
                <a:cs typeface="+mn-cs"/>
              </a:rPr>
              <a:t>logical chunk</a:t>
            </a:r>
            <a:r>
              <a:rPr lang="zh-CN" altLang="en-US" sz="1200" b="0" i="0" u="none" strike="noStrike" kern="1200" dirty="0">
                <a:solidFill>
                  <a:schemeClr val="tx1"/>
                </a:solidFill>
                <a:effectLst/>
                <a:latin typeface="+mn-lt"/>
                <a:ea typeface="+mn-ea"/>
                <a:cs typeface="+mn-cs"/>
              </a:rPr>
              <a:t>到</a:t>
            </a:r>
            <a:r>
              <a:rPr lang="en-US" sz="1200" b="0" i="0" u="none" strike="noStrike" kern="1200" dirty="0">
                <a:solidFill>
                  <a:schemeClr val="tx1"/>
                </a:solidFill>
                <a:effectLst/>
                <a:latin typeface="+mn-lt"/>
                <a:ea typeface="+mn-ea"/>
                <a:cs typeface="+mn-cs"/>
              </a:rPr>
              <a:t>physical chunk</a:t>
            </a:r>
            <a:r>
              <a:rPr lang="zh-CN" altLang="en-US" sz="1200" b="0" i="0" u="none" strike="noStrike" kern="1200" dirty="0">
                <a:solidFill>
                  <a:schemeClr val="tx1"/>
                </a:solidFill>
                <a:effectLst/>
                <a:latin typeface="+mn-lt"/>
                <a:ea typeface="+mn-ea"/>
                <a:cs typeface="+mn-cs"/>
              </a:rPr>
              <a:t>的映射</a:t>
            </a:r>
            <a:endParaRPr lang="en-US" altLang="zh-CN" dirty="0"/>
          </a:p>
          <a:p>
            <a:r>
              <a:rPr lang="zh-CN" altLang="en-US" dirty="0"/>
              <a:t>区段树：管理磁盘空间分配（</a:t>
            </a:r>
            <a:r>
              <a:rPr lang="en-US" altLang="zh-CN" dirty="0"/>
              <a:t>extent</a:t>
            </a:r>
            <a:r>
              <a:rPr lang="zh-CN" altLang="en-US" dirty="0"/>
              <a:t>）</a:t>
            </a:r>
            <a:endParaRPr lang="en-US" altLang="zh-CN" dirty="0"/>
          </a:p>
          <a:p>
            <a:r>
              <a:rPr lang="zh-CN" altLang="en-US" dirty="0"/>
              <a:t>设备树：管理多设备</a:t>
            </a:r>
            <a:endParaRPr lang="en-US" altLang="zh-CN" dirty="0"/>
          </a:p>
          <a:p>
            <a:r>
              <a:rPr lang="en-US" altLang="zh-CN" dirty="0"/>
              <a:t>FS</a:t>
            </a:r>
            <a:r>
              <a:rPr lang="zh-CN" altLang="en-US" dirty="0"/>
              <a:t>：文件系统</a:t>
            </a:r>
            <a:endParaRPr lang="en-US" altLang="zh-CN" dirty="0"/>
          </a:p>
          <a:p>
            <a:r>
              <a:rPr lang="zh-CN" altLang="en-US" dirty="0"/>
              <a:t>校验码树：管理校验码</a:t>
            </a:r>
            <a:endParaRPr lang="en-US" altLang="zh-CN" dirty="0"/>
          </a:p>
          <a:p>
            <a:r>
              <a:rPr lang="zh-CN" altLang="en-CN" dirty="0"/>
              <a:t>数据</a:t>
            </a:r>
            <a:r>
              <a:rPr lang="zh-CN" altLang="en-US" dirty="0"/>
              <a:t>移动树：</a:t>
            </a:r>
            <a:r>
              <a:rPr lang="en-US" altLang="zh-CN" dirty="0"/>
              <a:t>data</a:t>
            </a:r>
            <a:r>
              <a:rPr lang="zh-CN" altLang="en-US" dirty="0"/>
              <a:t> </a:t>
            </a:r>
            <a:r>
              <a:rPr lang="en-US" altLang="zh-CN" dirty="0"/>
              <a:t>relocation</a:t>
            </a:r>
            <a:r>
              <a:rPr lang="zh-CN" altLang="en-US" dirty="0"/>
              <a:t> </a:t>
            </a:r>
            <a:r>
              <a:rPr lang="en-US" altLang="zh-CN" dirty="0"/>
              <a:t>tree</a:t>
            </a:r>
            <a:r>
              <a:rPr lang="zh-CN" altLang="en-US" dirty="0"/>
              <a:t>，记录</a:t>
            </a:r>
            <a:r>
              <a:rPr lang="en-US" altLang="zh-CN" dirty="0"/>
              <a:t>extent</a:t>
            </a:r>
            <a:r>
              <a:rPr lang="zh-CN" altLang="en-US" dirty="0"/>
              <a:t>的移动，</a:t>
            </a:r>
            <a:r>
              <a:rPr lang="zh-CN" altLang="en-US" sz="1200" b="0" i="0" u="none" strike="noStrike" kern="1200" dirty="0">
                <a:solidFill>
                  <a:schemeClr val="tx1"/>
                </a:solidFill>
                <a:effectLst/>
                <a:latin typeface="+mn-lt"/>
                <a:ea typeface="+mn-ea"/>
                <a:cs typeface="+mn-cs"/>
              </a:rPr>
              <a:t>支持</a:t>
            </a:r>
            <a:r>
              <a:rPr lang="en-US" sz="1200" b="0" i="0" u="none" strike="noStrike" kern="1200" dirty="0">
                <a:solidFill>
                  <a:schemeClr val="tx1"/>
                </a:solidFill>
                <a:effectLst/>
                <a:latin typeface="+mn-lt"/>
                <a:ea typeface="+mn-ea"/>
                <a:cs typeface="+mn-cs"/>
              </a:rPr>
              <a:t>online</a:t>
            </a:r>
            <a:r>
              <a:rPr lang="zh-CN" altLang="en-US" sz="1200" b="0" i="0" u="none" strike="noStrike" kern="1200" dirty="0">
                <a:solidFill>
                  <a:schemeClr val="tx1"/>
                </a:solidFill>
                <a:effectLst/>
                <a:latin typeface="+mn-lt"/>
                <a:ea typeface="+mn-ea"/>
                <a:cs typeface="+mn-cs"/>
              </a:rPr>
              <a:t>的磁盘碎片整理</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36</a:t>
            </a:fld>
            <a:endParaRPr lang="zh-CN" altLang="en-US"/>
          </a:p>
        </p:txBody>
      </p:sp>
    </p:spTree>
    <p:extLst>
      <p:ext uri="{BB962C8B-B14F-4D97-AF65-F5344CB8AC3E}">
        <p14:creationId xmlns:p14="http://schemas.microsoft.com/office/powerpoint/2010/main" val="811367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main idea of soft updates is </a:t>
            </a:r>
            <a:r>
              <a:rPr lang="en-US" u="sng" baseline="0" dirty="0"/>
              <a:t>to </a:t>
            </a:r>
            <a:r>
              <a:rPr lang="en-US" b="1" u="sng" baseline="0" dirty="0"/>
              <a:t>leverage the page cache </a:t>
            </a:r>
            <a:r>
              <a:rPr lang="en-US" baseline="0" dirty="0"/>
              <a:t>to store latest metadata in DRAM and keep the in-disk metadata consistent.</a:t>
            </a:r>
          </a:p>
          <a:p>
            <a:r>
              <a:rPr lang="en-US" dirty="0"/>
              <a:t>All the updates</a:t>
            </a:r>
            <a:r>
              <a:rPr lang="en-US" baseline="0" dirty="0"/>
              <a:t> are firstly done in DRAM with the dependencies tracked.</a:t>
            </a:r>
          </a:p>
          <a:p>
            <a:r>
              <a:rPr lang="en-US" baseline="0" dirty="0"/>
              <a:t>These updates in DRAM are persisted to disks by background threads, with respect to the dependencies tracked.</a:t>
            </a:r>
          </a:p>
          <a:p>
            <a:r>
              <a:rPr lang="en-US" b="1" u="sng" baseline="0" dirty="0"/>
              <a:t>As a result</a:t>
            </a:r>
            <a:r>
              <a:rPr lang="en-US" baseline="0" dirty="0"/>
              <a:t>, there are no synchronous disk writes and the metadata operations can be done with DRAM performance. And the metadata in disks are always consistent so that can be immediately used after crashes, without lengthy recoveries.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7384CE-5573-0340-B05C-B15137D0D3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277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文件系统首先分配并初始化了</a:t>
            </a:r>
            <a:r>
              <a:rPr kumimoji="1" lang="en-US" altLang="zh-CN" dirty="0"/>
              <a:t>6</a:t>
            </a:r>
            <a:r>
              <a:rPr kumimoji="1" lang="zh-CN" altLang="en-US" dirty="0"/>
              <a:t>号 </a:t>
            </a:r>
            <a:r>
              <a:rPr kumimoji="1" lang="en" altLang="zh-CN" dirty="0" err="1"/>
              <a:t>inode</a:t>
            </a:r>
            <a:r>
              <a:rPr kumimoji="1" lang="zh-CN" altLang="en" dirty="0"/>
              <a:t>，</a:t>
            </a:r>
            <a:r>
              <a:rPr kumimoji="1" lang="zh-CN" altLang="en-US" dirty="0"/>
              <a:t>使其对应文件</a:t>
            </a:r>
            <a:r>
              <a:rPr kumimoji="1" lang="en" altLang="zh-CN" dirty="0"/>
              <a:t>File B</a:t>
            </a:r>
            <a:r>
              <a:rPr kumimoji="1" lang="zh-CN" altLang="en" dirty="0"/>
              <a:t>，</a:t>
            </a:r>
            <a:r>
              <a:rPr kumimoji="1" lang="zh-CN" altLang="en-US" dirty="0"/>
              <a:t>然后 新增了目录项。在这些修改还未写入存储设备之时，文件系统还删除了</a:t>
            </a:r>
            <a:r>
              <a:rPr kumimoji="1" lang="en" altLang="zh-CN" dirty="0"/>
              <a:t>File D</a:t>
            </a:r>
            <a:r>
              <a:rPr kumimoji="1" lang="zh-CN" altLang="en" dirty="0"/>
              <a:t>，</a:t>
            </a:r>
            <a:r>
              <a:rPr kumimoji="1" lang="zh-CN" altLang="en-US" dirty="0"/>
              <a:t>对应的 </a:t>
            </a:r>
            <a:r>
              <a:rPr kumimoji="1" lang="en" altLang="zh-CN" dirty="0" err="1"/>
              <a:t>inode</a:t>
            </a:r>
            <a:r>
              <a:rPr kumimoji="1" lang="en" altLang="zh-CN" dirty="0"/>
              <a:t> </a:t>
            </a:r>
            <a:r>
              <a:rPr kumimoji="1" lang="zh-CN" altLang="en-US" dirty="0"/>
              <a:t>号为</a:t>
            </a:r>
            <a:r>
              <a:rPr kumimoji="1" lang="en-US" altLang="zh-CN" dirty="0"/>
              <a:t>7</a:t>
            </a:r>
            <a:r>
              <a:rPr kumimoji="1" lang="zh-CN" altLang="en-US" dirty="0"/>
              <a:t>。这两个操作的目录项刚好在同一个数据块（块 </a:t>
            </a:r>
            <a:r>
              <a:rPr kumimoji="1" lang="en" altLang="zh-CN" dirty="0"/>
              <a:t>B</a:t>
            </a:r>
            <a:r>
              <a:rPr kumimoji="1" lang="zh-CN" altLang="en" dirty="0"/>
              <a:t>）</a:t>
            </a:r>
            <a:r>
              <a:rPr kumimoji="1" lang="zh-CN" altLang="en-US" dirty="0"/>
              <a:t>中， 而涉及到的两个 </a:t>
            </a:r>
            <a:r>
              <a:rPr kumimoji="1" lang="en" altLang="zh-CN" dirty="0" err="1"/>
              <a:t>inode</a:t>
            </a:r>
            <a:r>
              <a:rPr kumimoji="1" lang="en" altLang="zh-CN" dirty="0"/>
              <a:t> </a:t>
            </a:r>
            <a:r>
              <a:rPr kumimoji="1" lang="zh-CN" altLang="en-US" dirty="0"/>
              <a:t>刚好也在同一个块（块 </a:t>
            </a:r>
            <a:r>
              <a:rPr kumimoji="1" lang="en" altLang="zh-CN" dirty="0"/>
              <a:t>A</a:t>
            </a:r>
            <a:r>
              <a:rPr kumimoji="1" lang="zh-CN" altLang="en" dirty="0"/>
              <a:t>）</a:t>
            </a:r>
            <a:r>
              <a:rPr kumimoji="1" lang="zh-CN" altLang="en-US" dirty="0"/>
              <a:t>中。这时，根据 </a:t>
            </a:r>
            <a:r>
              <a:rPr kumimoji="1" lang="en" altLang="zh-CN" dirty="0"/>
              <a:t>soft updates </a:t>
            </a:r>
            <a:r>
              <a:rPr kumimoji="1" lang="zh-CN" altLang="en-US" dirty="0"/>
              <a:t>的持久化规则，在创建文件时，</a:t>
            </a:r>
            <a:r>
              <a:rPr kumimoji="1" lang="en" altLang="zh-CN" dirty="0" err="1"/>
              <a:t>inode</a:t>
            </a:r>
            <a:r>
              <a:rPr kumimoji="1" lang="en" altLang="zh-CN" dirty="0"/>
              <a:t> </a:t>
            </a:r>
            <a:r>
              <a:rPr kumimoji="1" lang="zh-CN" altLang="en-US" dirty="0"/>
              <a:t>结构的初始化应在新增目录项之前写回， 因此从块 </a:t>
            </a:r>
            <a:r>
              <a:rPr kumimoji="1" lang="en" altLang="zh-CN" dirty="0"/>
              <a:t>A </a:t>
            </a:r>
            <a:r>
              <a:rPr kumimoji="1" lang="zh-CN" altLang="en-US" dirty="0"/>
              <a:t>应在块 </a:t>
            </a:r>
            <a:r>
              <a:rPr kumimoji="1" lang="en" altLang="zh-CN" dirty="0"/>
              <a:t>B </a:t>
            </a:r>
            <a:r>
              <a:rPr kumimoji="1" lang="zh-CN" altLang="en-US" dirty="0"/>
              <a:t>之前被写回到存储设备。同时，在删除文件时，目录项 的删除应在对 </a:t>
            </a:r>
            <a:r>
              <a:rPr kumimoji="1" lang="en" altLang="zh-CN" dirty="0" err="1"/>
              <a:t>inode</a:t>
            </a:r>
            <a:r>
              <a:rPr kumimoji="1" lang="en" altLang="zh-CN" dirty="0"/>
              <a:t> </a:t>
            </a:r>
            <a:r>
              <a:rPr kumimoji="1" lang="zh-CN" altLang="en-US" dirty="0"/>
              <a:t>结构进行清理之前写回，因此块 </a:t>
            </a:r>
            <a:r>
              <a:rPr kumimoji="1" lang="en" altLang="zh-CN" dirty="0"/>
              <a:t>B </a:t>
            </a:r>
            <a:r>
              <a:rPr kumimoji="1" lang="zh-CN" altLang="en-US" dirty="0"/>
              <a:t>应该在块 </a:t>
            </a:r>
            <a:r>
              <a:rPr kumimoji="1" lang="en" altLang="zh-CN" dirty="0"/>
              <a:t>A </a:t>
            </a:r>
            <a:r>
              <a:rPr kumimoji="1" lang="zh-CN" altLang="en-US" dirty="0"/>
              <a:t>之前写回。 一旦产生了这种循环依赖，文件系统无法决定写回顺序。</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47</a:t>
            </a:fld>
            <a:endParaRPr lang="zh-CN" altLang="en-US"/>
          </a:p>
        </p:txBody>
      </p:sp>
    </p:spTree>
    <p:extLst>
      <p:ext uri="{BB962C8B-B14F-4D97-AF65-F5344CB8AC3E}">
        <p14:creationId xmlns:p14="http://schemas.microsoft.com/office/powerpoint/2010/main" val="11906059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给出了使用撤销和重做方法打破循环依赖的示例。对于此前创 建</a:t>
            </a:r>
            <a:r>
              <a:rPr kumimoji="1" lang="en" altLang="zh-CN" dirty="0"/>
              <a:t>File B</a:t>
            </a:r>
            <a:r>
              <a:rPr kumimoji="1" lang="zh-CN" altLang="en-US" dirty="0"/>
              <a:t>和删除</a:t>
            </a:r>
            <a:r>
              <a:rPr kumimoji="1" lang="en" altLang="zh-CN" dirty="0"/>
              <a:t>File D</a:t>
            </a:r>
            <a:r>
              <a:rPr kumimoji="1" lang="zh-CN" altLang="en-US" dirty="0"/>
              <a:t>造成的环形依赖，</a:t>
            </a:r>
            <a:r>
              <a:rPr kumimoji="1" lang="en" altLang="zh-CN" dirty="0"/>
              <a:t>soft updates </a:t>
            </a:r>
            <a:r>
              <a:rPr kumimoji="1" lang="zh-CN" altLang="en-US" dirty="0"/>
              <a:t>首先撤销了删除</a:t>
            </a:r>
            <a:r>
              <a:rPr kumimoji="1" lang="en" altLang="zh-CN" dirty="0"/>
              <a:t>File D</a:t>
            </a:r>
            <a:r>
              <a:rPr kumimoji="1" lang="zh-CN" altLang="en-US" dirty="0"/>
              <a:t>的修改（ </a:t>
            </a:r>
            <a:r>
              <a:rPr kumimoji="1" lang="en-US" altLang="zh-CN" dirty="0"/>
              <a:t>1 </a:t>
            </a:r>
            <a:r>
              <a:rPr kumimoji="1" lang="zh-CN" altLang="en-US" dirty="0"/>
              <a:t>）。在删除完毕后，块 </a:t>
            </a:r>
            <a:r>
              <a:rPr kumimoji="1" lang="en" altLang="zh-CN" dirty="0"/>
              <a:t>A </a:t>
            </a:r>
            <a:r>
              <a:rPr kumimoji="1" lang="zh-CN" altLang="en-US" dirty="0"/>
              <a:t>和块 </a:t>
            </a:r>
            <a:r>
              <a:rPr kumimoji="1" lang="en" altLang="zh-CN" dirty="0"/>
              <a:t>B </a:t>
            </a:r>
            <a:r>
              <a:rPr kumimoji="1" lang="zh-CN" altLang="en-US" dirty="0"/>
              <a:t>之间只剩下一个依赖关系。只需要按照依赖关系，先将块 </a:t>
            </a:r>
            <a:r>
              <a:rPr kumimoji="1" lang="en" altLang="zh-CN" dirty="0"/>
              <a:t>A </a:t>
            </a:r>
            <a:r>
              <a:rPr kumimoji="1" lang="zh-CN" altLang="en-US" dirty="0"/>
              <a:t>进行写回，再将块 </a:t>
            </a:r>
            <a:r>
              <a:rPr kumimoji="1" lang="en" altLang="zh-CN" dirty="0"/>
              <a:t>B </a:t>
            </a:r>
            <a:r>
              <a:rPr kumimoji="1" lang="zh-CN" altLang="en-US" dirty="0"/>
              <a:t>进行写回即可（ </a:t>
            </a:r>
            <a:r>
              <a:rPr kumimoji="1" lang="en-US" altLang="zh-CN" dirty="0"/>
              <a:t>2 </a:t>
            </a:r>
            <a:r>
              <a:rPr kumimoji="1" lang="zh-CN" altLang="en-US" dirty="0"/>
              <a:t>）。在修改 持久化到存储设备之后，</a:t>
            </a:r>
            <a:r>
              <a:rPr kumimoji="1" lang="en" altLang="zh-CN" dirty="0"/>
              <a:t>soft updates </a:t>
            </a:r>
            <a:r>
              <a:rPr kumimoji="1" lang="zh-CN" altLang="en-US" dirty="0"/>
              <a:t>将刚刚撤销的删除操作进行重做（ </a:t>
            </a:r>
            <a:r>
              <a:rPr kumimoji="1" lang="en-US" altLang="zh-CN" dirty="0"/>
              <a:t>3 </a:t>
            </a:r>
            <a:r>
              <a:rPr kumimoji="1" lang="zh-CN" altLang="en-US" dirty="0"/>
              <a:t>）。 重做后块 </a:t>
            </a:r>
            <a:r>
              <a:rPr kumimoji="1" lang="en" altLang="zh-CN" dirty="0"/>
              <a:t>A </a:t>
            </a:r>
            <a:r>
              <a:rPr kumimoji="1" lang="zh-CN" altLang="en-US" dirty="0"/>
              <a:t>和块 </a:t>
            </a:r>
            <a:r>
              <a:rPr kumimoji="1" lang="en" altLang="zh-CN" dirty="0"/>
              <a:t>B </a:t>
            </a:r>
            <a:r>
              <a:rPr kumimoji="1" lang="zh-CN" altLang="en-US" dirty="0"/>
              <a:t>之间依然只有简单的依赖关系，此时继续按照顺序进行写 回即可。在撤销到重做期间，</a:t>
            </a:r>
            <a:r>
              <a:rPr kumimoji="1" lang="en" altLang="zh-CN" dirty="0"/>
              <a:t>soft updates </a:t>
            </a:r>
            <a:r>
              <a:rPr kumimoji="1" lang="zh-CN" altLang="en-US" dirty="0"/>
              <a:t>通过对结构上锁，避免应用程序错 误地看到撤销后的结构状态。</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49</a:t>
            </a:fld>
            <a:endParaRPr lang="zh-CN" altLang="en-US"/>
          </a:p>
        </p:txBody>
      </p:sp>
    </p:spTree>
    <p:extLst>
      <p:ext uri="{BB962C8B-B14F-4D97-AF65-F5344CB8AC3E}">
        <p14:creationId xmlns:p14="http://schemas.microsoft.com/office/powerpoint/2010/main" val="246741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源自</a:t>
            </a:r>
            <a:r>
              <a:rPr lang="en-US" altLang="zh-CN" dirty="0"/>
              <a:t>UC</a:t>
            </a:r>
            <a:r>
              <a:rPr lang="zh-CN" altLang="en-US" dirty="0"/>
              <a:t> </a:t>
            </a:r>
            <a:r>
              <a:rPr lang="en-US" altLang="zh-CN" dirty="0"/>
              <a:t>Berkeley</a:t>
            </a:r>
            <a:r>
              <a:rPr lang="zh-CN" altLang="en-US" dirty="0"/>
              <a:t>的</a:t>
            </a:r>
            <a:r>
              <a:rPr lang="en-US" altLang="zh-CN" dirty="0"/>
              <a:t>Sprite</a:t>
            </a:r>
            <a:r>
              <a:rPr lang="zh-CN" altLang="en-US" dirty="0"/>
              <a:t>项目：类</a:t>
            </a:r>
            <a:r>
              <a:rPr lang="en-US" altLang="zh-CN" dirty="0"/>
              <a:t>Unix</a:t>
            </a:r>
            <a:r>
              <a:rPr lang="zh-CN" altLang="en-US" dirty="0"/>
              <a:t>分布式操作系统</a:t>
            </a:r>
            <a:endParaRPr lang="en-US" altLang="zh-CN"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53</a:t>
            </a:fld>
            <a:endParaRPr lang="zh-CN" altLang="en-US"/>
          </a:p>
        </p:txBody>
      </p:sp>
    </p:spTree>
    <p:extLst>
      <p:ext uri="{BB962C8B-B14F-4D97-AF65-F5344CB8AC3E}">
        <p14:creationId xmlns:p14="http://schemas.microsoft.com/office/powerpoint/2010/main" val="7798378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CN" dirty="0"/>
              <a:t>标红</a:t>
            </a:r>
            <a:r>
              <a:rPr lang="zh-CN" altLang="en-US" dirty="0"/>
              <a:t>为新的结构</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55</a:t>
            </a:fld>
            <a:endParaRPr lang="zh-CN" altLang="en-US"/>
          </a:p>
        </p:txBody>
      </p:sp>
    </p:spTree>
    <p:extLst>
      <p:ext uri="{BB962C8B-B14F-4D97-AF65-F5344CB8AC3E}">
        <p14:creationId xmlns:p14="http://schemas.microsoft.com/office/powerpoint/2010/main" val="14422006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58</a:t>
            </a:fld>
            <a:endParaRPr lang="zh-CN" altLang="en-US"/>
          </a:p>
        </p:txBody>
      </p:sp>
    </p:spTree>
    <p:extLst>
      <p:ext uri="{BB962C8B-B14F-4D97-AF65-F5344CB8AC3E}">
        <p14:creationId xmlns:p14="http://schemas.microsoft.com/office/powerpoint/2010/main" val="4077007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1</a:t>
            </a:r>
            <a:r>
              <a:rPr lang="zh-CN" altLang="en-US" dirty="0"/>
              <a:t>、</a:t>
            </a:r>
            <a:r>
              <a:rPr lang="en-US" altLang="zh-CN" dirty="0"/>
              <a:t>3</a:t>
            </a:r>
            <a:r>
              <a:rPr lang="zh-CN" altLang="en-US" dirty="0"/>
              <a:t>、</a:t>
            </a:r>
            <a:r>
              <a:rPr lang="en-US" altLang="zh-CN" dirty="0"/>
              <a:t>4</a:t>
            </a:r>
            <a:r>
              <a:rPr lang="zh-CN" altLang="en-US" dirty="0"/>
              <a:t>都比较简单，</a:t>
            </a:r>
            <a:r>
              <a:rPr lang="en-US" altLang="zh-CN" dirty="0"/>
              <a:t>2</a:t>
            </a:r>
            <a:r>
              <a:rPr lang="zh-CN" altLang="en-US" dirty="0"/>
              <a:t>怎么做？</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68</a:t>
            </a:fld>
            <a:endParaRPr lang="zh-CN" altLang="en-US"/>
          </a:p>
        </p:txBody>
      </p:sp>
    </p:spTree>
    <p:extLst>
      <p:ext uri="{BB962C8B-B14F-4D97-AF65-F5344CB8AC3E}">
        <p14:creationId xmlns:p14="http://schemas.microsoft.com/office/powerpoint/2010/main" val="3165166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防止写入检查点时崩溃</a:t>
            </a:r>
            <a:endParaRPr lang="en-US" altLang="zh-CN"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73</a:t>
            </a:fld>
            <a:endParaRPr lang="zh-CN" altLang="en-US"/>
          </a:p>
        </p:txBody>
      </p:sp>
    </p:spTree>
    <p:extLst>
      <p:ext uri="{BB962C8B-B14F-4D97-AF65-F5344CB8AC3E}">
        <p14:creationId xmlns:p14="http://schemas.microsoft.com/office/powerpoint/2010/main" val="936214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endParaRPr lang="zh-CN" altLang="en-US" dirty="0"/>
          </a:p>
        </p:txBody>
      </p:sp>
    </p:spTree>
    <p:extLst>
      <p:ext uri="{BB962C8B-B14F-4D97-AF65-F5344CB8AC3E}">
        <p14:creationId xmlns:p14="http://schemas.microsoft.com/office/powerpoint/2010/main" val="61469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内页-有页码">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292199" y="1353072"/>
            <a:ext cx="8573990" cy="4152908"/>
          </a:xfrm>
        </p:spPr>
        <p:txBody>
          <a:bodyPr>
            <a:noAutofit/>
          </a:bodyPr>
          <a:lstStyle>
            <a:lvl1pPr marL="0" indent="0">
              <a:buClr>
                <a:schemeClr val="accent1"/>
              </a:buClr>
              <a:buNone/>
              <a:defRPr sz="2400"/>
            </a:lvl1pPr>
            <a:lvl2pPr>
              <a:buClr>
                <a:schemeClr val="accent1"/>
              </a:buClr>
              <a:defRPr sz="2100"/>
            </a:lvl2pPr>
            <a:lvl3pPr>
              <a:buClr>
                <a:schemeClr val="accent1"/>
              </a:buClr>
              <a:defRPr sz="1800"/>
            </a:lvl3pPr>
            <a:lvl4pPr>
              <a:buClr>
                <a:schemeClr val="accent1"/>
              </a:buClr>
              <a:defRPr sz="1500"/>
            </a:lvl4pPr>
            <a:lvl5pPr>
              <a:buClr>
                <a:schemeClr val="accent1"/>
              </a:buClr>
              <a:defRPr sz="15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hasCustomPrompt="1"/>
          </p:nvPr>
        </p:nvSpPr>
        <p:spPr>
          <a:xfrm>
            <a:off x="292199" y="681850"/>
            <a:ext cx="8542339" cy="480000"/>
          </a:xfrm>
          <a:prstGeom prst="rect">
            <a:avLst/>
          </a:prstGeom>
        </p:spPr>
        <p:txBody>
          <a:bodyPr>
            <a:noAutofit/>
          </a:bodyPr>
          <a:lstStyle>
            <a:lvl1pPr>
              <a:defRPr sz="2700" b="1" baseline="0">
                <a:solidFill>
                  <a:schemeClr val="accent1"/>
                </a:solidFill>
                <a:latin typeface="Candara" panose="020E0502030303020204" pitchFamily="34" charset="0"/>
              </a:defRPr>
            </a:lvl1pPr>
          </a:lstStyle>
          <a:p>
            <a:r>
              <a:rPr lang="en-US" altLang="zh-CN" dirty="0"/>
              <a:t>Click</a:t>
            </a:r>
            <a:r>
              <a:rPr lang="zh-CN" altLang="en-US" dirty="0"/>
              <a:t> </a:t>
            </a:r>
            <a:r>
              <a:rPr lang="en-US" altLang="zh-CN" dirty="0"/>
              <a:t>here</a:t>
            </a:r>
            <a:endParaRPr lang="zh-CN" altLang="en-US" dirty="0"/>
          </a:p>
        </p:txBody>
      </p:sp>
      <p:sp>
        <p:nvSpPr>
          <p:cNvPr id="10" name="灯片编号占位符 5"/>
          <p:cNvSpPr txBox="1">
            <a:spLocks/>
          </p:cNvSpPr>
          <p:nvPr/>
        </p:nvSpPr>
        <p:spPr>
          <a:xfrm>
            <a:off x="8697601" y="259796"/>
            <a:ext cx="315471" cy="230832"/>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900" smtClean="0"/>
              <a:pPr lvl="0"/>
              <a:t>‹#›</a:t>
            </a:fld>
            <a:endParaRPr lang="zh-CN" altLang="en-US" sz="900" dirty="0"/>
          </a:p>
        </p:txBody>
      </p:sp>
      <p:sp>
        <p:nvSpPr>
          <p:cNvPr id="9" name="文本框 8"/>
          <p:cNvSpPr txBox="1"/>
          <p:nvPr/>
        </p:nvSpPr>
        <p:spPr>
          <a:xfrm>
            <a:off x="8250027" y="259796"/>
            <a:ext cx="485069" cy="230832"/>
          </a:xfrm>
          <a:prstGeom prst="rect">
            <a:avLst/>
          </a:prstGeom>
          <a:noFill/>
        </p:spPr>
        <p:txBody>
          <a:bodyPr wrap="none" rtlCol="0">
            <a:spAutoFit/>
          </a:bodyPr>
          <a:lstStyle/>
          <a:p>
            <a:r>
              <a:rPr lang="en-US" altLang="zh-CN" sz="900" spc="-45" baseline="0" dirty="0">
                <a:solidFill>
                  <a:schemeClr val="bg1"/>
                </a:solidFill>
                <a:latin typeface="微软雅黑" panose="020B0503020204020204" pitchFamily="34" charset="-122"/>
                <a:ea typeface="微软雅黑" panose="020B0503020204020204" pitchFamily="34" charset="-122"/>
              </a:rPr>
              <a:t>Page .</a:t>
            </a:r>
            <a:endParaRPr lang="zh-CN" altLang="en-US" sz="900" spc="-45"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0884854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endParaRPr lang="zh-CN" altLang="en-US" dirty="0"/>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2.tiff"/><Relationship Id="rId4" Type="http://schemas.openxmlformats.org/officeDocument/2006/relationships/image" Target="../media/image11.tif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文件系统崩溃一致性</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zh-CN" altLang="en-US" sz="1800" dirty="0">
                <a:solidFill>
                  <a:schemeClr val="tx1">
                    <a:lumMod val="75000"/>
                    <a:lumOff val="25000"/>
                  </a:schemeClr>
                </a:solidFill>
              </a:rPr>
              <a:t>上海交通大学并行与分布式系统研究所</a:t>
            </a:r>
            <a:endParaRPr kumimoji="1" lang="en-US" altLang="zh-CN" sz="1800" dirty="0">
              <a:solidFill>
                <a:schemeClr val="tx1">
                  <a:lumMod val="75000"/>
                  <a:lumOff val="25000"/>
                </a:schemeClr>
              </a:solidFill>
            </a:endParaRPr>
          </a:p>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a:duotone>
              <a:schemeClr val="accent1">
                <a:shade val="45000"/>
                <a:satMod val="135000"/>
              </a:schemeClr>
              <a:prstClr val="white"/>
            </a:duotone>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Arial" panose="020B0604020202020204"/>
              </a:rPr>
              <a:t>SE3357-1</a:t>
            </a:r>
            <a:r>
              <a:rPr lang="zh-CN" altLang="en-US" sz="1400" dirty="0">
                <a:solidFill>
                  <a:srgbClr val="000000">
                    <a:lumMod val="75000"/>
                    <a:lumOff val="25000"/>
                  </a:srgbClr>
                </a:solidFill>
                <a:latin typeface="Arial" panose="020B0604020202020204"/>
              </a:rPr>
              <a:t> </a:t>
            </a:r>
            <a:r>
              <a:rPr lang="en-US" altLang="zh-CN" sz="1400" dirty="0">
                <a:solidFill>
                  <a:srgbClr val="000000">
                    <a:lumMod val="75000"/>
                    <a:lumOff val="25000"/>
                  </a:srgbClr>
                </a:solidFill>
                <a:latin typeface="Arial" panose="020B0604020202020204"/>
              </a:rPr>
              <a:t>·</a:t>
            </a:r>
            <a:r>
              <a:rPr lang="zh-CN" altLang="en-US" sz="1400" dirty="0">
                <a:solidFill>
                  <a:srgbClr val="000000">
                    <a:lumMod val="75000"/>
                    <a:lumOff val="25000"/>
                  </a:srgbClr>
                </a:solidFill>
                <a:latin typeface="Arial" panose="020B0604020202020204"/>
              </a:rPr>
              <a:t> 操作系统（</a:t>
            </a:r>
            <a:r>
              <a:rPr lang="en-US" altLang="zh-CN" sz="1400" dirty="0">
                <a:solidFill>
                  <a:srgbClr val="000000">
                    <a:lumMod val="75000"/>
                    <a:lumOff val="25000"/>
                  </a:srgbClr>
                </a:solidFill>
                <a:latin typeface="Arial" panose="020B0604020202020204"/>
              </a:rPr>
              <a:t>2022</a:t>
            </a:r>
            <a:r>
              <a:rPr lang="zh-CN" altLang="en-US" sz="1400" dirty="0">
                <a:solidFill>
                  <a:srgbClr val="000000">
                    <a:lumMod val="75000"/>
                    <a:lumOff val="25000"/>
                  </a:srgbClr>
                </a:solidFill>
                <a:latin typeface="Arial" panose="020B0604020202020204"/>
              </a:rPr>
              <a:t>春）</a:t>
            </a: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64288" y="282539"/>
            <a:ext cx="1642840" cy="43204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dirty="0">
                <a:latin typeface="+mn-lt"/>
              </a:rPr>
              <a:t>本内容版权归</a:t>
            </a:r>
            <a:r>
              <a:rPr lang="zh-CN" altLang="en-US" sz="2000" dirty="0">
                <a:latin typeface="+mn-lt"/>
              </a:rPr>
              <a:t>上海交通大学并行与分布式系统研究所</a:t>
            </a:r>
            <a:r>
              <a:rPr lang="zh-CN" altLang="en-US" sz="2000" b="0" dirty="0">
                <a:latin typeface="+mn-lt"/>
              </a:rPr>
              <a:t>所有</a:t>
            </a:r>
            <a:endParaRPr lang="en-US" altLang="zh-CN" sz="2000" b="0" dirty="0">
              <a:latin typeface="+mn-lt"/>
            </a:endParaRPr>
          </a:p>
          <a:p>
            <a:r>
              <a:rPr lang="zh-CN" altLang="en-US" sz="2000" b="0" dirty="0">
                <a:latin typeface="+mn-lt"/>
              </a:rPr>
              <a:t>使用者可以将全部或部分本内容免费用于非商业用途</a:t>
            </a:r>
            <a:endParaRPr lang="en-US" altLang="zh-CN" sz="2000" b="0" dirty="0">
              <a:latin typeface="+mn-lt"/>
            </a:endParaRPr>
          </a:p>
          <a:p>
            <a:r>
              <a:rPr lang="zh-CN" altLang="en-US" sz="2000" b="0" dirty="0">
                <a:latin typeface="+mn-lt"/>
              </a:rPr>
              <a:t>使用者在使用全部或部分本内容时请注明来源：</a:t>
            </a:r>
            <a:endParaRPr lang="en-US" altLang="zh-CN" sz="2000" b="0" dirty="0">
              <a:latin typeface="+mn-lt"/>
            </a:endParaRPr>
          </a:p>
          <a:p>
            <a:pPr lvl="1"/>
            <a:r>
              <a:rPr lang="zh-CN" altLang="en-US" sz="1600" dirty="0"/>
              <a:t>内容来自：上海交通大学并行与分布式系统研究所</a:t>
            </a:r>
            <a:r>
              <a:rPr lang="en-US" altLang="zh-CN" sz="1600" dirty="0"/>
              <a:t>+</a:t>
            </a:r>
            <a:r>
              <a:rPr lang="zh-CN" altLang="en-US" sz="1600" dirty="0"/>
              <a:t>材料名字</a:t>
            </a:r>
            <a:endParaRPr lang="en-US" altLang="zh-CN" sz="1600" dirty="0"/>
          </a:p>
          <a:p>
            <a:r>
              <a:rPr lang="zh-CN" altLang="en-US" sz="2000" b="0" dirty="0">
                <a:latin typeface="+mn-lt"/>
              </a:rPr>
              <a:t>对于不遵守此声明或者其他违法使用本内容者，将依法保留追究权</a:t>
            </a:r>
            <a:endParaRPr lang="en-US" altLang="zh-CN" sz="2000" b="0" dirty="0">
              <a:latin typeface="+mn-lt"/>
            </a:endParaRPr>
          </a:p>
          <a:p>
            <a:r>
              <a:rPr lang="zh-CN" altLang="en-US" sz="2000" b="0" dirty="0">
                <a:latin typeface="+mn-lt"/>
              </a:rPr>
              <a:t>本内容的发布采用 </a:t>
            </a:r>
            <a:r>
              <a:rPr lang="en-US" altLang="zh-CN" sz="2000" b="0" dirty="0">
                <a:latin typeface="+mn-lt"/>
              </a:rPr>
              <a:t>Creative Commons</a:t>
            </a:r>
            <a:r>
              <a:rPr lang="zh-CN" altLang="en-US" sz="2000" b="0" dirty="0">
                <a:latin typeface="+mn-lt"/>
              </a:rPr>
              <a:t> </a:t>
            </a:r>
            <a:r>
              <a:rPr lang="en-US" altLang="zh-CN" sz="2000" b="0" dirty="0">
                <a:latin typeface="+mn-lt"/>
              </a:rPr>
              <a:t>Attribution</a:t>
            </a:r>
            <a:r>
              <a:rPr lang="zh-CN" altLang="en-US" sz="2000" b="0" dirty="0">
                <a:latin typeface="+mn-lt"/>
              </a:rPr>
              <a:t> </a:t>
            </a:r>
            <a:r>
              <a:rPr lang="en-US" altLang="zh-CN" sz="2000" b="0" dirty="0">
                <a:latin typeface="+mn-lt"/>
              </a:rPr>
              <a:t>4.0</a:t>
            </a:r>
            <a:r>
              <a:rPr lang="zh-CN" altLang="en-US" sz="2000" b="0" dirty="0">
                <a:latin typeface="+mn-lt"/>
              </a:rPr>
              <a:t> </a:t>
            </a:r>
            <a:r>
              <a:rPr lang="en-US" altLang="zh-CN" sz="2000" b="0" dirty="0">
                <a:latin typeface="+mn-lt"/>
              </a:rPr>
              <a:t>License</a:t>
            </a:r>
            <a:endParaRPr lang="en-US" altLang="zh-CN" sz="2400" b="0" dirty="0">
              <a:latin typeface="+mn-lt"/>
            </a:endParaRPr>
          </a:p>
          <a:p>
            <a:pPr lvl="1"/>
            <a:r>
              <a:rPr lang="zh-CN" altLang="en-US" sz="1600" dirty="0">
                <a:latin typeface="+mn-lt"/>
              </a:rPr>
              <a:t>完整文本：</a:t>
            </a:r>
            <a:r>
              <a:rPr lang="en-US" altLang="zh-CN" sz="1600" dirty="0">
                <a:latin typeface="+mn-lt"/>
                <a:hlinkClick r:id="rId2"/>
              </a:rPr>
              <a:t>https://creativecommons.org/licenses/by/4.0/legalcode</a:t>
            </a:r>
            <a:endParaRPr lang="en-US" altLang="zh-CN" sz="1800" b="0" dirty="0">
              <a:latin typeface="+mn-lt"/>
            </a:endParaRPr>
          </a:p>
          <a:p>
            <a:endParaRPr kumimoji="1" lang="zh-CN" altLang="en-US" sz="2000" dirty="0">
              <a:latin typeface="+mn-lt"/>
            </a:endParaRPr>
          </a:p>
        </p:txBody>
      </p:sp>
      <p:sp>
        <p:nvSpPr>
          <p:cNvPr id="4" name="灯片编号占位符 3">
            <a:extLst>
              <a:ext uri="{FF2B5EF4-FFF2-40B4-BE49-F238E27FC236}">
                <a16:creationId xmlns:a16="http://schemas.microsoft.com/office/drawing/2014/main" id="{70D6275D-0E58-1C46-BA79-C46B2D55F355}"/>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7117-79D7-EC4D-84E9-B19DB85BAD46}"/>
              </a:ext>
            </a:extLst>
          </p:cNvPr>
          <p:cNvSpPr>
            <a:spLocks noGrp="1"/>
          </p:cNvSpPr>
          <p:nvPr>
            <p:ph type="title"/>
          </p:nvPr>
        </p:nvSpPr>
        <p:spPr/>
        <p:txBody>
          <a:bodyPr>
            <a:normAutofit/>
          </a:bodyPr>
          <a:lstStyle/>
          <a:p>
            <a:r>
              <a:rPr lang="en-US" altLang="zh-CN" dirty="0"/>
              <a:t>Review</a:t>
            </a:r>
            <a:r>
              <a:rPr lang="zh-CN" altLang="en-US" dirty="0"/>
              <a:t>：文件系统的崩溃一致性</a:t>
            </a:r>
            <a:endParaRPr lang="en-CN" dirty="0"/>
          </a:p>
        </p:txBody>
      </p:sp>
      <p:sp>
        <p:nvSpPr>
          <p:cNvPr id="3" name="Content Placeholder 2">
            <a:extLst>
              <a:ext uri="{FF2B5EF4-FFF2-40B4-BE49-F238E27FC236}">
                <a16:creationId xmlns:a16="http://schemas.microsoft.com/office/drawing/2014/main" id="{6B182231-B9BA-6E4F-8880-296FB8045A2C}"/>
              </a:ext>
            </a:extLst>
          </p:cNvPr>
          <p:cNvSpPr>
            <a:spLocks noGrp="1"/>
          </p:cNvSpPr>
          <p:nvPr>
            <p:ph idx="1"/>
          </p:nvPr>
        </p:nvSpPr>
        <p:spPr/>
        <p:txBody>
          <a:bodyPr/>
          <a:lstStyle/>
          <a:p>
            <a:r>
              <a:rPr lang="zh-CN" altLang="en-CN" sz="2000" b="0" dirty="0"/>
              <a:t>文件系统中</a:t>
            </a:r>
            <a:r>
              <a:rPr lang="zh-CN" altLang="en-US" sz="2000" b="0" dirty="0"/>
              <a:t>保存了多种数据结构</a:t>
            </a:r>
            <a:endParaRPr lang="en-US" altLang="zh-CN" sz="2000" b="0" dirty="0"/>
          </a:p>
          <a:p>
            <a:r>
              <a:rPr lang="zh-CN" altLang="en-US" sz="2000" b="0" dirty="0"/>
              <a:t>各种数据结构之间存在依赖关系与一致性要求</a:t>
            </a:r>
            <a:endParaRPr lang="en-US" altLang="zh-CN" sz="2000" b="0" dirty="0"/>
          </a:p>
          <a:p>
            <a:pPr lvl="1"/>
            <a:r>
              <a:rPr lang="en-US" altLang="zh-CN" sz="1800" dirty="0" err="1"/>
              <a:t>inode</a:t>
            </a:r>
            <a:r>
              <a:rPr lang="zh-CN" altLang="en-US" sz="1800" dirty="0"/>
              <a:t>中保存的文件大小，应该与其索引中保存的数据块个数相匹配</a:t>
            </a:r>
            <a:endParaRPr lang="en-US" altLang="zh-CN" sz="1800" dirty="0"/>
          </a:p>
          <a:p>
            <a:pPr lvl="1"/>
            <a:r>
              <a:rPr lang="en-US" altLang="zh-CN" sz="1800" dirty="0" err="1"/>
              <a:t>inode</a:t>
            </a:r>
            <a:r>
              <a:rPr lang="zh-CN" altLang="en-US" sz="1800" dirty="0"/>
              <a:t>中保存的链接数，应与指向其的目录项个数相同</a:t>
            </a:r>
            <a:endParaRPr lang="en-US" altLang="zh-CN" sz="1800" dirty="0"/>
          </a:p>
          <a:p>
            <a:pPr lvl="1"/>
            <a:r>
              <a:rPr lang="zh-CN" altLang="en-US" sz="1800" dirty="0"/>
              <a:t>超级块中保存的文件系统大小，应该与文件系统所管理的空间大小相同</a:t>
            </a:r>
            <a:endParaRPr lang="en-US" altLang="zh-CN" sz="1800" dirty="0"/>
          </a:p>
          <a:p>
            <a:pPr lvl="1"/>
            <a:r>
              <a:rPr lang="zh-CN" altLang="en-US" sz="1800" dirty="0"/>
              <a:t>所有</a:t>
            </a:r>
            <a:r>
              <a:rPr lang="en-US" altLang="zh-CN" sz="1800" dirty="0" err="1"/>
              <a:t>inode</a:t>
            </a:r>
            <a:r>
              <a:rPr lang="zh-CN" altLang="en-US" sz="1800" dirty="0"/>
              <a:t>分配表中标记为空闲的</a:t>
            </a:r>
            <a:r>
              <a:rPr lang="en-US" altLang="zh-CN" sz="1800" dirty="0" err="1"/>
              <a:t>inode</a:t>
            </a:r>
            <a:r>
              <a:rPr lang="zh-CN" altLang="en-US" sz="1800" dirty="0"/>
              <a:t>均未被使用；标记为已用的</a:t>
            </a:r>
            <a:r>
              <a:rPr lang="en-US" altLang="zh-CN" sz="1800" dirty="0" err="1"/>
              <a:t>inode</a:t>
            </a:r>
            <a:r>
              <a:rPr lang="zh-CN" altLang="en-US" sz="1800" dirty="0"/>
              <a:t>均可以通过文件系统操作访问</a:t>
            </a:r>
            <a:endParaRPr lang="en-US" altLang="zh-CN" sz="1800" dirty="0"/>
          </a:p>
          <a:p>
            <a:pPr lvl="1"/>
            <a:r>
              <a:rPr lang="en-US" altLang="zh-CN" sz="1800" dirty="0"/>
              <a:t>……</a:t>
            </a:r>
          </a:p>
          <a:p>
            <a:r>
              <a:rPr lang="zh-CN" altLang="en-US" sz="2000" b="0" dirty="0"/>
              <a:t>突发状况（崩溃）可能会造成这些一致性被打破！</a:t>
            </a:r>
            <a:endParaRPr lang="en-CN" sz="2000" b="0" dirty="0"/>
          </a:p>
        </p:txBody>
      </p:sp>
      <p:sp>
        <p:nvSpPr>
          <p:cNvPr id="4" name="Slide Number Placeholder 3">
            <a:extLst>
              <a:ext uri="{FF2B5EF4-FFF2-40B4-BE49-F238E27FC236}">
                <a16:creationId xmlns:a16="http://schemas.microsoft.com/office/drawing/2014/main" id="{7176DC56-0890-3547-A451-5636BFC66C14}"/>
              </a:ext>
            </a:extLst>
          </p:cNvPr>
          <p:cNvSpPr>
            <a:spLocks noGrp="1"/>
          </p:cNvSpPr>
          <p:nvPr>
            <p:ph type="sldNum" sz="quarter" idx="12"/>
          </p:nvPr>
        </p:nvSpPr>
        <p:spPr/>
        <p:txBody>
          <a:bodyPr/>
          <a:lstStyle/>
          <a:p>
            <a:fld id="{ADE361C3-C043-4A6E-BDCE-8DA1E7D90A3B}" type="slidenum">
              <a:rPr lang="zh-CN" altLang="en-US" sz="1100" smtClean="0"/>
              <a:t>3</a:t>
            </a:fld>
            <a:endParaRPr lang="zh-CN" altLang="en-US" sz="1100"/>
          </a:p>
        </p:txBody>
      </p:sp>
      <p:sp>
        <p:nvSpPr>
          <p:cNvPr id="5" name="Footer Placeholder 4">
            <a:extLst>
              <a:ext uri="{FF2B5EF4-FFF2-40B4-BE49-F238E27FC236}">
                <a16:creationId xmlns:a16="http://schemas.microsoft.com/office/drawing/2014/main" id="{DE4AA162-7CEB-5241-ACFD-E886B60CC488}"/>
              </a:ext>
            </a:extLst>
          </p:cNvPr>
          <p:cNvSpPr>
            <a:spLocks noGrp="1"/>
          </p:cNvSpPr>
          <p:nvPr>
            <p:ph type="ftr" sz="quarter" idx="3"/>
          </p:nvPr>
        </p:nvSpPr>
        <p:spPr/>
        <p:txBody>
          <a:bodyPr/>
          <a:lstStyle/>
          <a:p>
            <a:r>
              <a:rPr lang="zh-CN" altLang="en-US" sz="1050"/>
              <a:t>上海交通大学并行与分布式系统研究所（</a:t>
            </a:r>
            <a:r>
              <a:rPr lang="en-US" altLang="zh-CN" sz="1050"/>
              <a:t>IPADS@SJTU</a:t>
            </a:r>
            <a:r>
              <a:rPr lang="zh-CN" altLang="en-US" sz="1050"/>
              <a:t>）</a:t>
            </a:r>
            <a:endParaRPr lang="zh-CN" altLang="en-US" sz="1050" dirty="0"/>
          </a:p>
        </p:txBody>
      </p:sp>
    </p:spTree>
    <p:extLst>
      <p:ext uri="{BB962C8B-B14F-4D97-AF65-F5344CB8AC3E}">
        <p14:creationId xmlns:p14="http://schemas.microsoft.com/office/powerpoint/2010/main" val="1188595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A700D4-F543-6240-B6FE-D79613D3A935}"/>
              </a:ext>
            </a:extLst>
          </p:cNvPr>
          <p:cNvSpPr>
            <a:spLocks noGrp="1"/>
          </p:cNvSpPr>
          <p:nvPr>
            <p:ph type="title"/>
          </p:nvPr>
        </p:nvSpPr>
        <p:spPr/>
        <p:txBody>
          <a:bodyPr>
            <a:normAutofit/>
          </a:bodyPr>
          <a:lstStyle/>
          <a:p>
            <a:r>
              <a:rPr kumimoji="1" lang="en-US" altLang="zh-CN" dirty="0"/>
              <a:t>Review</a:t>
            </a:r>
            <a:r>
              <a:rPr kumimoji="1" lang="zh-CN" altLang="en-US" dirty="0"/>
              <a:t>：创建文件时崩溃的</a:t>
            </a:r>
            <a:r>
              <a:rPr kumimoji="1" lang="en-US" altLang="zh-CN" dirty="0"/>
              <a:t>6</a:t>
            </a:r>
            <a:r>
              <a:rPr kumimoji="1" lang="zh-CN" altLang="en-US" dirty="0"/>
              <a:t>种情况</a:t>
            </a:r>
          </a:p>
        </p:txBody>
      </p:sp>
      <p:sp>
        <p:nvSpPr>
          <p:cNvPr id="4" name="灯片编号占位符 3">
            <a:extLst>
              <a:ext uri="{FF2B5EF4-FFF2-40B4-BE49-F238E27FC236}">
                <a16:creationId xmlns:a16="http://schemas.microsoft.com/office/drawing/2014/main" id="{1B660E1E-8003-914C-90AF-C35DAE6B1751}"/>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5" name="页脚占位符 4">
            <a:extLst>
              <a:ext uri="{FF2B5EF4-FFF2-40B4-BE49-F238E27FC236}">
                <a16:creationId xmlns:a16="http://schemas.microsoft.com/office/drawing/2014/main" id="{723C110A-A2D2-5B47-A731-60A35AE9FB9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07125589-CC96-6E49-B779-BBEB32415971}"/>
              </a:ext>
            </a:extLst>
          </p:cNvPr>
          <p:cNvPicPr>
            <a:picLocks noChangeAspect="1"/>
          </p:cNvPicPr>
          <p:nvPr/>
        </p:nvPicPr>
        <p:blipFill>
          <a:blip r:embed="rId2"/>
          <a:stretch>
            <a:fillRect/>
          </a:stretch>
        </p:blipFill>
        <p:spPr>
          <a:xfrm>
            <a:off x="870090" y="1492882"/>
            <a:ext cx="7403821" cy="3499066"/>
          </a:xfrm>
          <a:prstGeom prst="rect">
            <a:avLst/>
          </a:prstGeom>
        </p:spPr>
      </p:pic>
    </p:spTree>
    <p:extLst>
      <p:ext uri="{BB962C8B-B14F-4D97-AF65-F5344CB8AC3E}">
        <p14:creationId xmlns:p14="http://schemas.microsoft.com/office/powerpoint/2010/main" val="2580878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Review</a:t>
            </a:r>
            <a:r>
              <a:rPr lang="zh-CN" altLang="en-US" dirty="0"/>
              <a:t>：文件系统操作要求的三个属性</a:t>
            </a:r>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err="1"/>
              <a:t>creat</a:t>
            </a:r>
            <a:r>
              <a:rPr lang="en-US" altLang="zh-CN" dirty="0"/>
              <a:t>(“a”); </a:t>
            </a:r>
            <a:r>
              <a:rPr lang="en-US" altLang="zh-CN" dirty="0" err="1"/>
              <a:t>fd</a:t>
            </a:r>
            <a:r>
              <a:rPr lang="en-US" altLang="zh-CN" dirty="0"/>
              <a:t> = </a:t>
            </a:r>
            <a:r>
              <a:rPr lang="en-US" altLang="zh-CN" dirty="0" err="1"/>
              <a:t>creat</a:t>
            </a:r>
            <a:r>
              <a:rPr lang="en-US" altLang="zh-CN" dirty="0"/>
              <a:t>(“b”); write(</a:t>
            </a:r>
            <a:r>
              <a:rPr lang="en-US" altLang="zh-CN" dirty="0" err="1"/>
              <a:t>fd</a:t>
            </a:r>
            <a:r>
              <a:rPr lang="en-US" altLang="zh-CN" dirty="0"/>
              <a:t>,…); </a:t>
            </a:r>
            <a:r>
              <a:rPr lang="en-US" altLang="zh-CN" dirty="0">
                <a:highlight>
                  <a:srgbClr val="FFFF00"/>
                </a:highlight>
              </a:rPr>
              <a:t>crash</a:t>
            </a:r>
          </a:p>
          <a:p>
            <a:pPr marL="380985" lvl="1" indent="0">
              <a:buNone/>
            </a:pPr>
            <a:endParaRPr lang="en-US" altLang="zh-CN" dirty="0"/>
          </a:p>
          <a:p>
            <a:pPr marL="0" indent="0">
              <a:buNone/>
            </a:pPr>
            <a:r>
              <a:rPr lang="zh-CN" altLang="en-US" dirty="0">
                <a:solidFill>
                  <a:schemeClr val="accent1"/>
                </a:solidFill>
              </a:rPr>
              <a:t>持久化</a:t>
            </a:r>
            <a:r>
              <a:rPr lang="en-US" altLang="zh-CN" dirty="0">
                <a:solidFill>
                  <a:schemeClr val="accent1"/>
                </a:solidFill>
              </a:rPr>
              <a:t>/Durable</a:t>
            </a:r>
            <a:r>
              <a:rPr lang="en-US" altLang="zh-CN" dirty="0"/>
              <a:t>: </a:t>
            </a:r>
            <a:r>
              <a:rPr lang="zh-CN" altLang="en-US" dirty="0"/>
              <a:t>哪些操作可见</a:t>
            </a:r>
            <a:endParaRPr lang="en-US" altLang="zh-CN" dirty="0"/>
          </a:p>
          <a:p>
            <a:pPr marL="380985" lvl="1" indent="0">
              <a:buNone/>
            </a:pPr>
            <a:r>
              <a:rPr lang="en-US" altLang="zh-CN" dirty="0"/>
              <a:t>a</a:t>
            </a:r>
            <a:r>
              <a:rPr lang="zh-CN" altLang="en-US" dirty="0"/>
              <a:t>和</a:t>
            </a:r>
            <a:r>
              <a:rPr lang="en-US" altLang="zh-CN" dirty="0"/>
              <a:t>b</a:t>
            </a:r>
            <a:r>
              <a:rPr lang="zh-CN" altLang="en-US" dirty="0"/>
              <a:t>都可以</a:t>
            </a:r>
            <a:endParaRPr lang="en-US" altLang="zh-CN" dirty="0"/>
          </a:p>
          <a:p>
            <a:pPr marL="380985" lvl="1" indent="0">
              <a:buNone/>
            </a:pPr>
            <a:endParaRPr lang="en-US" altLang="zh-CN" dirty="0"/>
          </a:p>
          <a:p>
            <a:pPr marL="0" indent="0">
              <a:buNone/>
            </a:pPr>
            <a:r>
              <a:rPr lang="zh-CN" altLang="en-US" dirty="0">
                <a:solidFill>
                  <a:schemeClr val="accent1"/>
                </a:solidFill>
              </a:rPr>
              <a:t>原子性</a:t>
            </a:r>
            <a:r>
              <a:rPr lang="en-US" altLang="zh-CN" dirty="0">
                <a:solidFill>
                  <a:schemeClr val="accent1"/>
                </a:solidFill>
              </a:rPr>
              <a:t>/Atomic</a:t>
            </a:r>
            <a:r>
              <a:rPr lang="en-US" altLang="zh-CN" dirty="0"/>
              <a:t>: </a:t>
            </a:r>
            <a:r>
              <a:rPr lang="zh-CN" altLang="en-US" dirty="0"/>
              <a:t>要不所有操作都可见，要不都不可见</a:t>
            </a:r>
            <a:endParaRPr lang="en-US" altLang="zh-CN" dirty="0"/>
          </a:p>
          <a:p>
            <a:pPr marL="380985" lvl="1" indent="0">
              <a:buNone/>
            </a:pPr>
            <a:r>
              <a:rPr lang="zh-CN" altLang="en-US" dirty="0"/>
              <a:t>要么</a:t>
            </a:r>
            <a:r>
              <a:rPr lang="en-US" altLang="zh-CN" dirty="0"/>
              <a:t>a</a:t>
            </a:r>
            <a:r>
              <a:rPr lang="zh-CN" altLang="en-US" dirty="0"/>
              <a:t>和</a:t>
            </a:r>
            <a:r>
              <a:rPr lang="en-US" altLang="zh-CN" dirty="0"/>
              <a:t>b</a:t>
            </a:r>
            <a:r>
              <a:rPr lang="zh-CN" altLang="en-US" dirty="0"/>
              <a:t>都可见，要么都不可见</a:t>
            </a:r>
            <a:endParaRPr lang="en-US" altLang="zh-CN" dirty="0"/>
          </a:p>
          <a:p>
            <a:pPr marL="380985" lvl="1" indent="0">
              <a:buNone/>
            </a:pPr>
            <a:endParaRPr lang="en-US" altLang="zh-CN" dirty="0"/>
          </a:p>
          <a:p>
            <a:pPr marL="0" indent="0">
              <a:buNone/>
            </a:pPr>
            <a:r>
              <a:rPr lang="zh-CN" altLang="en-US" dirty="0">
                <a:solidFill>
                  <a:schemeClr val="accent1"/>
                </a:solidFill>
              </a:rPr>
              <a:t>有序性</a:t>
            </a:r>
            <a:r>
              <a:rPr lang="en-US" altLang="zh-CN" dirty="0">
                <a:solidFill>
                  <a:schemeClr val="accent1"/>
                </a:solidFill>
              </a:rPr>
              <a:t>/Ordered</a:t>
            </a:r>
            <a:r>
              <a:rPr lang="en-US" altLang="zh-CN" dirty="0"/>
              <a:t>:  </a:t>
            </a:r>
            <a:r>
              <a:rPr lang="zh-CN" altLang="en-US" dirty="0"/>
              <a:t>按照前缀序</a:t>
            </a:r>
            <a:r>
              <a:rPr lang="en-US" altLang="zh-CN" dirty="0"/>
              <a:t>(Prefix)</a:t>
            </a:r>
            <a:r>
              <a:rPr lang="zh-CN" altLang="en-US" dirty="0"/>
              <a:t>的方式可见</a:t>
            </a:r>
            <a:endParaRPr lang="en-US" altLang="zh-CN" dirty="0"/>
          </a:p>
          <a:p>
            <a:pPr marL="380985" lvl="1" indent="0">
              <a:buNone/>
            </a:pPr>
            <a:r>
              <a:rPr lang="zh-CN" altLang="en-US" dirty="0"/>
              <a:t>如果</a:t>
            </a:r>
            <a:r>
              <a:rPr lang="en-US" altLang="zh-CN" dirty="0"/>
              <a:t>b</a:t>
            </a:r>
            <a:r>
              <a:rPr lang="zh-CN" altLang="en-US" dirty="0"/>
              <a:t>可见，那么</a:t>
            </a:r>
            <a:r>
              <a:rPr lang="en-US" altLang="zh-CN" dirty="0"/>
              <a:t>a</a:t>
            </a:r>
            <a:r>
              <a:rPr lang="zh-CN" altLang="en-US" dirty="0"/>
              <a:t>也应该可见</a:t>
            </a:r>
            <a:endParaRPr lang="en-US" altLang="zh-CN"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a:t>
            </a:fld>
            <a:endParaRPr lang="zh-CN" altLang="en-US" dirty="0"/>
          </a:p>
        </p:txBody>
      </p:sp>
      <p:sp>
        <p:nvSpPr>
          <p:cNvPr id="5" name="矩形 4">
            <a:extLst>
              <a:ext uri="{FF2B5EF4-FFF2-40B4-BE49-F238E27FC236}">
                <a16:creationId xmlns:a16="http://schemas.microsoft.com/office/drawing/2014/main" id="{70F56F92-9A3B-1147-B977-DA94C332ABCA}"/>
              </a:ext>
            </a:extLst>
          </p:cNvPr>
          <p:cNvSpPr/>
          <p:nvPr/>
        </p:nvSpPr>
        <p:spPr>
          <a:xfrm>
            <a:off x="457200" y="1333501"/>
            <a:ext cx="5626968" cy="44387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12838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8B88-D5F4-DA40-B6FD-717DC47245CC}"/>
              </a:ext>
            </a:extLst>
          </p:cNvPr>
          <p:cNvSpPr>
            <a:spLocks noGrp="1"/>
          </p:cNvSpPr>
          <p:nvPr>
            <p:ph type="title"/>
          </p:nvPr>
        </p:nvSpPr>
        <p:spPr/>
        <p:txBody>
          <a:bodyPr/>
          <a:lstStyle/>
          <a:p>
            <a:r>
              <a:rPr lang="en-US" altLang="zh-CN" dirty="0"/>
              <a:t>Review</a:t>
            </a:r>
            <a:r>
              <a:rPr lang="zh-CN" altLang="en-US" dirty="0"/>
              <a:t>：崩溃一致性保障方法</a:t>
            </a:r>
            <a:endParaRPr lang="en-CN" dirty="0"/>
          </a:p>
        </p:txBody>
      </p:sp>
      <p:sp>
        <p:nvSpPr>
          <p:cNvPr id="3" name="Content Placeholder 2">
            <a:extLst>
              <a:ext uri="{FF2B5EF4-FFF2-40B4-BE49-F238E27FC236}">
                <a16:creationId xmlns:a16="http://schemas.microsoft.com/office/drawing/2014/main" id="{E5A0DF85-DF86-AF46-873B-ACC1075A0B50}"/>
              </a:ext>
            </a:extLst>
          </p:cNvPr>
          <p:cNvSpPr>
            <a:spLocks noGrp="1"/>
          </p:cNvSpPr>
          <p:nvPr>
            <p:ph idx="1"/>
          </p:nvPr>
        </p:nvSpPr>
        <p:spPr/>
        <p:txBody>
          <a:bodyPr>
            <a:normAutofit/>
          </a:bodyPr>
          <a:lstStyle/>
          <a:p>
            <a:r>
              <a:rPr lang="zh-CN" altLang="en-US" dirty="0"/>
              <a:t>日志</a:t>
            </a:r>
            <a:endParaRPr lang="en-US" altLang="zh-CN" dirty="0"/>
          </a:p>
          <a:p>
            <a:r>
              <a:rPr lang="zh-CN" altLang="en-US" dirty="0"/>
              <a:t>写时复制</a:t>
            </a:r>
            <a:endParaRPr lang="en-US" altLang="zh-CN" dirty="0"/>
          </a:p>
          <a:p>
            <a:r>
              <a:rPr lang="en-US" altLang="zh-CN" dirty="0"/>
              <a:t>Soft</a:t>
            </a:r>
            <a:r>
              <a:rPr lang="zh-CN" altLang="en-US" dirty="0"/>
              <a:t> </a:t>
            </a:r>
            <a:r>
              <a:rPr lang="en-US" altLang="zh-CN" dirty="0"/>
              <a:t>updates</a:t>
            </a:r>
          </a:p>
          <a:p>
            <a:endParaRPr lang="en-CN" dirty="0"/>
          </a:p>
        </p:txBody>
      </p:sp>
      <p:sp>
        <p:nvSpPr>
          <p:cNvPr id="4" name="Slide Number Placeholder 3">
            <a:extLst>
              <a:ext uri="{FF2B5EF4-FFF2-40B4-BE49-F238E27FC236}">
                <a16:creationId xmlns:a16="http://schemas.microsoft.com/office/drawing/2014/main" id="{BC3B825D-F3D7-B64C-8793-2333388AA9A4}"/>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
        <p:nvSpPr>
          <p:cNvPr id="5" name="Footer Placeholder 4">
            <a:extLst>
              <a:ext uri="{FF2B5EF4-FFF2-40B4-BE49-F238E27FC236}">
                <a16:creationId xmlns:a16="http://schemas.microsoft.com/office/drawing/2014/main" id="{87B28832-8757-284D-BE12-68AC9A84D29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文本框 6">
            <a:extLst>
              <a:ext uri="{FF2B5EF4-FFF2-40B4-BE49-F238E27FC236}">
                <a16:creationId xmlns:a16="http://schemas.microsoft.com/office/drawing/2014/main" id="{670D3325-4218-A44F-829C-D8E30CD095C0}"/>
              </a:ext>
            </a:extLst>
          </p:cNvPr>
          <p:cNvSpPr txBox="1"/>
          <p:nvPr/>
        </p:nvSpPr>
        <p:spPr>
          <a:xfrm>
            <a:off x="3419872" y="1685337"/>
            <a:ext cx="4660710" cy="400110"/>
          </a:xfrm>
          <a:prstGeom prst="rect">
            <a:avLst/>
          </a:prstGeom>
          <a:noFill/>
        </p:spPr>
        <p:txBody>
          <a:bodyPr wrap="square">
            <a:spAutoFit/>
          </a:bodyPr>
          <a:lstStyle/>
          <a:p>
            <a:r>
              <a:rPr lang="zh-CN" altLang="en-US" sz="2000" b="1" dirty="0">
                <a:solidFill>
                  <a:schemeClr val="accent1"/>
                </a:solidFill>
              </a:rPr>
              <a:t>原子更新技术</a:t>
            </a:r>
            <a:endParaRPr lang="en-US" altLang="zh-CN" sz="2000" b="1" dirty="0">
              <a:solidFill>
                <a:schemeClr val="accent1"/>
              </a:solidFill>
            </a:endParaRPr>
          </a:p>
        </p:txBody>
      </p:sp>
      <p:sp>
        <p:nvSpPr>
          <p:cNvPr id="8" name="右大括号 7">
            <a:extLst>
              <a:ext uri="{FF2B5EF4-FFF2-40B4-BE49-F238E27FC236}">
                <a16:creationId xmlns:a16="http://schemas.microsoft.com/office/drawing/2014/main" id="{76FEE3C2-A1DE-D84F-823B-3E041558973E}"/>
              </a:ext>
            </a:extLst>
          </p:cNvPr>
          <p:cNvSpPr/>
          <p:nvPr/>
        </p:nvSpPr>
        <p:spPr>
          <a:xfrm>
            <a:off x="3131840" y="1489348"/>
            <a:ext cx="144016" cy="792088"/>
          </a:xfrm>
          <a:prstGeom prst="rightBrace">
            <a:avLst>
              <a:gd name="adj1" fmla="val 3323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183608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183AAA8-BC46-CF45-BB52-4DA5EC64E041}"/>
              </a:ext>
            </a:extLst>
          </p:cNvPr>
          <p:cNvSpPr>
            <a:spLocks noGrp="1"/>
          </p:cNvSpPr>
          <p:nvPr>
            <p:ph type="title"/>
          </p:nvPr>
        </p:nvSpPr>
        <p:spPr/>
        <p:txBody>
          <a:bodyPr/>
          <a:lstStyle/>
          <a:p>
            <a:r>
              <a:rPr lang="zh-CN" altLang="en-CN" dirty="0"/>
              <a:t>日志</a:t>
            </a:r>
            <a:endParaRPr lang="en-CN" dirty="0"/>
          </a:p>
        </p:txBody>
      </p:sp>
      <p:sp>
        <p:nvSpPr>
          <p:cNvPr id="7" name="Text Placeholder 6">
            <a:extLst>
              <a:ext uri="{FF2B5EF4-FFF2-40B4-BE49-F238E27FC236}">
                <a16:creationId xmlns:a16="http://schemas.microsoft.com/office/drawing/2014/main" id="{CD056C4F-69D3-B04C-B095-B32EFB7107A5}"/>
              </a:ext>
            </a:extLst>
          </p:cNvPr>
          <p:cNvSpPr>
            <a:spLocks noGrp="1"/>
          </p:cNvSpPr>
          <p:nvPr>
            <p:ph type="body" idx="1"/>
          </p:nvPr>
        </p:nvSpPr>
        <p:spPr/>
        <p:txBody>
          <a:bodyPr/>
          <a:lstStyle/>
          <a:p>
            <a:r>
              <a:rPr lang="zh-CN" altLang="en-CN" dirty="0"/>
              <a:t>原子更新</a:t>
            </a:r>
            <a:r>
              <a:rPr lang="zh-CN" altLang="en-US" dirty="0"/>
              <a:t>技术：</a:t>
            </a:r>
            <a:r>
              <a:rPr lang="en-US" altLang="zh-CN" dirty="0"/>
              <a:t>Journaling</a:t>
            </a:r>
            <a:endParaRPr lang="en-CN" dirty="0"/>
          </a:p>
        </p:txBody>
      </p:sp>
      <p:sp>
        <p:nvSpPr>
          <p:cNvPr id="4" name="Slide Number Placeholder 3">
            <a:extLst>
              <a:ext uri="{FF2B5EF4-FFF2-40B4-BE49-F238E27FC236}">
                <a16:creationId xmlns:a16="http://schemas.microsoft.com/office/drawing/2014/main" id="{F797A9C5-A587-684A-9FA4-746A7B00BA1D}"/>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5" name="Footer Placeholder 4">
            <a:extLst>
              <a:ext uri="{FF2B5EF4-FFF2-40B4-BE49-F238E27FC236}">
                <a16:creationId xmlns:a16="http://schemas.microsoft.com/office/drawing/2014/main" id="{5C718E5A-1046-4A46-A983-4CBF79BA7F9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715372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8BB51-4540-774A-BAF5-8E17C0E54E8A}"/>
              </a:ext>
            </a:extLst>
          </p:cNvPr>
          <p:cNvSpPr>
            <a:spLocks noGrp="1"/>
          </p:cNvSpPr>
          <p:nvPr>
            <p:ph type="title"/>
          </p:nvPr>
        </p:nvSpPr>
        <p:spPr/>
        <p:txBody>
          <a:bodyPr/>
          <a:lstStyle/>
          <a:p>
            <a:r>
              <a:rPr lang="zh-CN" altLang="en-CN" dirty="0"/>
              <a:t>日志</a:t>
            </a:r>
            <a:endParaRPr lang="en-CN" dirty="0"/>
          </a:p>
        </p:txBody>
      </p:sp>
      <p:sp>
        <p:nvSpPr>
          <p:cNvPr id="3" name="Content Placeholder 2">
            <a:extLst>
              <a:ext uri="{FF2B5EF4-FFF2-40B4-BE49-F238E27FC236}">
                <a16:creationId xmlns:a16="http://schemas.microsoft.com/office/drawing/2014/main" id="{BFA83509-F910-9847-A2B5-AF1A31646832}"/>
              </a:ext>
            </a:extLst>
          </p:cNvPr>
          <p:cNvSpPr>
            <a:spLocks noGrp="1"/>
          </p:cNvSpPr>
          <p:nvPr>
            <p:ph idx="1"/>
          </p:nvPr>
        </p:nvSpPr>
        <p:spPr/>
        <p:txBody>
          <a:bodyPr>
            <a:normAutofit/>
          </a:bodyPr>
          <a:lstStyle/>
          <a:p>
            <a:r>
              <a:rPr lang="zh-CN" altLang="en-CN" sz="2800" b="0" dirty="0"/>
              <a:t>在</a:t>
            </a:r>
            <a:r>
              <a:rPr lang="zh-CN" altLang="en-US" sz="2800" b="0" dirty="0"/>
              <a:t>进行修改之前，先将修改记录到日志中</a:t>
            </a:r>
            <a:endParaRPr lang="en-US" altLang="zh-CN" sz="2800" b="0" dirty="0"/>
          </a:p>
          <a:p>
            <a:r>
              <a:rPr lang="zh-CN" altLang="en-US" sz="2800" b="0" dirty="0"/>
              <a:t>所有要进行的修改都记录完毕后，提交日志</a:t>
            </a:r>
            <a:endParaRPr lang="en-US" altLang="zh-CN" sz="2800" b="0" dirty="0"/>
          </a:p>
          <a:p>
            <a:r>
              <a:rPr lang="zh-CN" altLang="en-CN" sz="2800" b="0" dirty="0"/>
              <a:t>此后</a:t>
            </a:r>
            <a:r>
              <a:rPr lang="zh-CN" altLang="en-US" sz="2800" b="0" dirty="0"/>
              <a:t>再进行修改</a:t>
            </a:r>
            <a:endParaRPr lang="en-US" altLang="zh-CN" sz="2800" b="0" dirty="0"/>
          </a:p>
          <a:p>
            <a:r>
              <a:rPr lang="zh-CN" altLang="en-CN" sz="2800" b="0" dirty="0"/>
              <a:t>修改</a:t>
            </a:r>
            <a:r>
              <a:rPr lang="zh-CN" altLang="en-US" sz="2800" b="0" dirty="0"/>
              <a:t>之后，删除日志</a:t>
            </a:r>
            <a:endParaRPr lang="en-CN" sz="2800" b="0" dirty="0"/>
          </a:p>
        </p:txBody>
      </p:sp>
      <p:sp>
        <p:nvSpPr>
          <p:cNvPr id="4" name="Slide Number Placeholder 3">
            <a:extLst>
              <a:ext uri="{FF2B5EF4-FFF2-40B4-BE49-F238E27FC236}">
                <a16:creationId xmlns:a16="http://schemas.microsoft.com/office/drawing/2014/main" id="{FDCAC039-1425-4D45-9CCC-DFFC77157996}"/>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sp>
        <p:nvSpPr>
          <p:cNvPr id="5" name="Footer Placeholder 4">
            <a:extLst>
              <a:ext uri="{FF2B5EF4-FFF2-40B4-BE49-F238E27FC236}">
                <a16:creationId xmlns:a16="http://schemas.microsoft.com/office/drawing/2014/main" id="{659C9E51-9970-F047-A98C-D8F5031E209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29213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日志</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4114801" cy="3771636"/>
          </a:xfrm>
        </p:spPr>
        <p:txBody>
          <a:bodyPr>
            <a:normAutofit/>
          </a:bodyPr>
          <a:lstStyle/>
          <a:p>
            <a:pPr marL="0" indent="0">
              <a:buNone/>
            </a:pPr>
            <a:r>
              <a:rPr lang="zh-CN" altLang="en-US" sz="2000" b="0" dirty="0"/>
              <a:t>创建</a:t>
            </a:r>
            <a:r>
              <a:rPr lang="en-US" altLang="zh-CN" sz="2000" b="0" dirty="0"/>
              <a:t>"/</a:t>
            </a:r>
            <a:r>
              <a:rPr lang="zh-CN" altLang="en-US" sz="2000" b="0" dirty="0"/>
              <a:t>新文件</a:t>
            </a:r>
            <a:r>
              <a:rPr lang="en-US" altLang="zh-CN" sz="2000" b="0" dirty="0"/>
              <a:t>"</a:t>
            </a:r>
            <a:r>
              <a:rPr lang="zh-CN" altLang="en-US" sz="2000" b="0" dirty="0"/>
              <a:t>的修改包括：</a:t>
            </a:r>
            <a:endParaRPr lang="en-US" altLang="zh-CN" sz="2000" b="0" dirty="0"/>
          </a:p>
          <a:p>
            <a:pPr marL="0" indent="0">
              <a:buNone/>
            </a:pPr>
            <a:r>
              <a:rPr lang="en-US" altLang="zh-CN" sz="2000" b="0" dirty="0"/>
              <a:t>1.</a:t>
            </a:r>
            <a:r>
              <a:rPr lang="zh-CN" altLang="en-US" sz="2000" b="0" dirty="0"/>
              <a:t> 标记</a:t>
            </a:r>
            <a:r>
              <a:rPr lang="en-US" altLang="zh-CN" sz="2000" b="0" dirty="0" err="1"/>
              <a:t>inode</a:t>
            </a:r>
            <a:r>
              <a:rPr lang="zh-CN" altLang="en-US" sz="2000" b="0" dirty="0"/>
              <a:t>为占用</a:t>
            </a:r>
            <a:br>
              <a:rPr lang="en-US" altLang="zh-CN" sz="2000" b="0" dirty="0"/>
            </a:br>
            <a:r>
              <a:rPr lang="en-US" altLang="zh-CN" sz="2000" b="0" dirty="0"/>
              <a:t>2.</a:t>
            </a:r>
            <a:r>
              <a:rPr lang="zh-CN" altLang="en-US" sz="2000" b="0" dirty="0"/>
              <a:t> 初始化</a:t>
            </a:r>
            <a:r>
              <a:rPr lang="en-US" altLang="zh-CN" sz="2000" b="0" dirty="0" err="1"/>
              <a:t>inode</a:t>
            </a:r>
            <a:br>
              <a:rPr lang="en-US" altLang="zh-CN" sz="2000" b="0" dirty="0"/>
            </a:br>
            <a:r>
              <a:rPr lang="en-US" altLang="zh-CN" sz="2000" b="0" dirty="0"/>
              <a:t>3.</a:t>
            </a:r>
            <a:r>
              <a:rPr lang="zh-CN" altLang="en-US" sz="2000" b="0" dirty="0"/>
              <a:t> 将目录项写入目录中</a:t>
            </a:r>
            <a:endParaRPr lang="en-US" altLang="zh-CN" sz="20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
        <p:nvSpPr>
          <p:cNvPr id="25" name="TextBox 24">
            <a:extLst>
              <a:ext uri="{FF2B5EF4-FFF2-40B4-BE49-F238E27FC236}">
                <a16:creationId xmlns:a16="http://schemas.microsoft.com/office/drawing/2014/main" id="{25BA285F-0F60-AC42-A617-678374121CB2}"/>
              </a:ext>
            </a:extLst>
          </p:cNvPr>
          <p:cNvSpPr txBox="1"/>
          <p:nvPr/>
        </p:nvSpPr>
        <p:spPr>
          <a:xfrm>
            <a:off x="5138111" y="1329943"/>
            <a:ext cx="3775393" cy="1166345"/>
          </a:xfrm>
          <a:prstGeom prst="rect">
            <a:avLst/>
          </a:prstGeom>
          <a:noFill/>
        </p:spPr>
        <p:txBody>
          <a:bodyPr wrap="none" rtlCol="0">
            <a:spAutoFit/>
          </a:bodyPr>
          <a:lstStyle/>
          <a:p>
            <a:pPr lvl="0">
              <a:lnSpc>
                <a:spcPct val="120000"/>
              </a:lnSpc>
              <a:spcBef>
                <a:spcPts val="1200"/>
              </a:spcBef>
            </a:pPr>
            <a:r>
              <a:rPr lang="zh-CN" altLang="en-CN" sz="2000" dirty="0">
                <a:solidFill>
                  <a:srgbClr val="000000">
                    <a:lumMod val="75000"/>
                    <a:lumOff val="25000"/>
                  </a:srgbClr>
                </a:solidFill>
                <a:ea typeface="微软雅黑" panose="020B0503020204020204" pitchFamily="34" charset="-122"/>
              </a:rPr>
              <a:t>在</a:t>
            </a:r>
            <a:r>
              <a:rPr lang="zh-CN" altLang="en-US" sz="2000" dirty="0">
                <a:solidFill>
                  <a:srgbClr val="000000">
                    <a:lumMod val="75000"/>
                    <a:lumOff val="25000"/>
                  </a:srgbClr>
                </a:solidFill>
                <a:ea typeface="微软雅黑" panose="020B0503020204020204" pitchFamily="34" charset="-122"/>
              </a:rPr>
              <a:t>内存中进行上述操作的同时，</a:t>
            </a:r>
            <a:br>
              <a:rPr lang="en-US" altLang="zh-CN" sz="2000" dirty="0">
                <a:solidFill>
                  <a:srgbClr val="000000">
                    <a:lumMod val="75000"/>
                    <a:lumOff val="25000"/>
                  </a:srgbClr>
                </a:solidFill>
                <a:ea typeface="微软雅黑" panose="020B0503020204020204" pitchFamily="34" charset="-122"/>
              </a:rPr>
            </a:br>
            <a:r>
              <a:rPr lang="zh-CN" altLang="en-US" sz="2000" dirty="0">
                <a:solidFill>
                  <a:srgbClr val="000000">
                    <a:lumMod val="75000"/>
                    <a:lumOff val="25000"/>
                  </a:srgbClr>
                </a:solidFill>
                <a:ea typeface="微软雅黑" panose="020B0503020204020204" pitchFamily="34" charset="-122"/>
              </a:rPr>
              <a:t>在磁盘上记录日志</a:t>
            </a:r>
            <a:br>
              <a:rPr lang="en-CN" altLang="zh-CN" sz="2000" dirty="0">
                <a:solidFill>
                  <a:srgbClr val="000000">
                    <a:lumMod val="75000"/>
                    <a:lumOff val="25000"/>
                  </a:srgbClr>
                </a:solidFill>
                <a:ea typeface="微软雅黑" panose="020B0503020204020204" pitchFamily="34" charset="-122"/>
              </a:rPr>
            </a:br>
            <a:endParaRPr lang="en-US" altLang="zh-CN" sz="2000" dirty="0">
              <a:solidFill>
                <a:srgbClr val="000000">
                  <a:lumMod val="75000"/>
                  <a:lumOff val="25000"/>
                </a:srgbClr>
              </a:solidFill>
              <a:ea typeface="微软雅黑" panose="020B0503020204020204" pitchFamily="34" charset="-122"/>
            </a:endParaRPr>
          </a:p>
        </p:txBody>
      </p:sp>
      <p:grpSp>
        <p:nvGrpSpPr>
          <p:cNvPr id="7" name="Group 6">
            <a:extLst>
              <a:ext uri="{FF2B5EF4-FFF2-40B4-BE49-F238E27FC236}">
                <a16:creationId xmlns:a16="http://schemas.microsoft.com/office/drawing/2014/main" id="{69B68BDB-70DE-4144-9630-58842A1DCE75}"/>
              </a:ext>
            </a:extLst>
          </p:cNvPr>
          <p:cNvGrpSpPr/>
          <p:nvPr/>
        </p:nvGrpSpPr>
        <p:grpSpPr>
          <a:xfrm>
            <a:off x="1160856" y="4224629"/>
            <a:ext cx="6145489" cy="505079"/>
            <a:chOff x="1160856" y="4224629"/>
            <a:chExt cx="6145489" cy="505079"/>
          </a:xfrm>
        </p:grpSpPr>
        <p:sp>
          <p:nvSpPr>
            <p:cNvPr id="8" name="Rectangle 7">
              <a:extLst>
                <a:ext uri="{FF2B5EF4-FFF2-40B4-BE49-F238E27FC236}">
                  <a16:creationId xmlns:a16="http://schemas.microsoft.com/office/drawing/2014/main" id="{AF17B6EE-9199-B441-BCD8-23607022BC86}"/>
                </a:ext>
              </a:extLst>
            </p:cNvPr>
            <p:cNvSpPr/>
            <p:nvPr/>
          </p:nvSpPr>
          <p:spPr>
            <a:xfrm>
              <a:off x="2741206" y="4225032"/>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9" name="Rectangle 8">
              <a:extLst>
                <a:ext uri="{FF2B5EF4-FFF2-40B4-BE49-F238E27FC236}">
                  <a16:creationId xmlns:a16="http://schemas.microsoft.com/office/drawing/2014/main" id="{F50834FF-82A3-ED45-9D07-58E1517527B4}"/>
                </a:ext>
              </a:extLst>
            </p:cNvPr>
            <p:cNvSpPr/>
            <p:nvPr/>
          </p:nvSpPr>
          <p:spPr>
            <a:xfrm>
              <a:off x="3745189" y="4224831"/>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cxnSp>
          <p:nvCxnSpPr>
            <p:cNvPr id="11" name="Straight Connector 10">
              <a:extLst>
                <a:ext uri="{FF2B5EF4-FFF2-40B4-BE49-F238E27FC236}">
                  <a16:creationId xmlns:a16="http://schemas.microsoft.com/office/drawing/2014/main" id="{1239CDEF-BD3C-1F4F-8FC5-3E699BFBD864}"/>
                </a:ext>
              </a:extLst>
            </p:cNvPr>
            <p:cNvCxnSpPr/>
            <p:nvPr/>
          </p:nvCxnSpPr>
          <p:spPr>
            <a:xfrm>
              <a:off x="2553817" y="4225032"/>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EA58414-EB70-F246-A81A-620440E94B07}"/>
                </a:ext>
              </a:extLst>
            </p:cNvPr>
            <p:cNvCxnSpPr/>
            <p:nvPr/>
          </p:nvCxnSpPr>
          <p:spPr>
            <a:xfrm>
              <a:off x="2553817" y="4729708"/>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A592295-AFDB-E443-B217-4A51245211CC}"/>
                </a:ext>
              </a:extLst>
            </p:cNvPr>
            <p:cNvSpPr/>
            <p:nvPr/>
          </p:nvSpPr>
          <p:spPr>
            <a:xfrm>
              <a:off x="2049761" y="4225032"/>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16" name="Rectangle 15">
              <a:extLst>
                <a:ext uri="{FF2B5EF4-FFF2-40B4-BE49-F238E27FC236}">
                  <a16:creationId xmlns:a16="http://schemas.microsoft.com/office/drawing/2014/main" id="{3868C864-94EB-9E48-998A-F77BFD1ECC6A}"/>
                </a:ext>
              </a:extLst>
            </p:cNvPr>
            <p:cNvSpPr/>
            <p:nvPr/>
          </p:nvSpPr>
          <p:spPr>
            <a:xfrm>
              <a:off x="5542684" y="422462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17" name="Rectangle 16">
              <a:extLst>
                <a:ext uri="{FF2B5EF4-FFF2-40B4-BE49-F238E27FC236}">
                  <a16:creationId xmlns:a16="http://schemas.microsoft.com/office/drawing/2014/main" id="{77314EC5-AD6A-D14F-9676-D9DF436B8186}"/>
                </a:ext>
              </a:extLst>
            </p:cNvPr>
            <p:cNvSpPr/>
            <p:nvPr/>
          </p:nvSpPr>
          <p:spPr>
            <a:xfrm>
              <a:off x="4750596" y="422462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sp>
          <p:nvSpPr>
            <p:cNvPr id="19" name="Rectangle 18">
              <a:extLst>
                <a:ext uri="{FF2B5EF4-FFF2-40B4-BE49-F238E27FC236}">
                  <a16:creationId xmlns:a16="http://schemas.microsoft.com/office/drawing/2014/main" id="{64ED7109-4200-7E4B-8230-1EBB402B16C8}"/>
                </a:ext>
              </a:extLst>
            </p:cNvPr>
            <p:cNvSpPr/>
            <p:nvPr/>
          </p:nvSpPr>
          <p:spPr>
            <a:xfrm>
              <a:off x="2553817" y="422543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0" name="Rectangle 19">
              <a:extLst>
                <a:ext uri="{FF2B5EF4-FFF2-40B4-BE49-F238E27FC236}">
                  <a16:creationId xmlns:a16="http://schemas.microsoft.com/office/drawing/2014/main" id="{E010EBEE-5C18-034C-840A-335AF034DF34}"/>
                </a:ext>
              </a:extLst>
            </p:cNvPr>
            <p:cNvSpPr/>
            <p:nvPr/>
          </p:nvSpPr>
          <p:spPr>
            <a:xfrm>
              <a:off x="3536228" y="422560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1" name="Rectangle 20">
              <a:extLst>
                <a:ext uri="{FF2B5EF4-FFF2-40B4-BE49-F238E27FC236}">
                  <a16:creationId xmlns:a16="http://schemas.microsoft.com/office/drawing/2014/main" id="{9E4E1FEC-81CC-4F46-9AF8-6062E7A5A45E}"/>
                </a:ext>
              </a:extLst>
            </p:cNvPr>
            <p:cNvSpPr/>
            <p:nvPr/>
          </p:nvSpPr>
          <p:spPr>
            <a:xfrm>
              <a:off x="4541532" y="422581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6" name="TextBox 5">
              <a:extLst>
                <a:ext uri="{FF2B5EF4-FFF2-40B4-BE49-F238E27FC236}">
                  <a16:creationId xmlns:a16="http://schemas.microsoft.com/office/drawing/2014/main" id="{7EC3571F-5394-E64F-A82C-C58600D91D3A}"/>
                </a:ext>
              </a:extLst>
            </p:cNvPr>
            <p:cNvSpPr txBox="1"/>
            <p:nvPr/>
          </p:nvSpPr>
          <p:spPr>
            <a:xfrm>
              <a:off x="1160856" y="4359973"/>
              <a:ext cx="646331" cy="369332"/>
            </a:xfrm>
            <a:prstGeom prst="rect">
              <a:avLst/>
            </a:prstGeom>
            <a:noFill/>
          </p:spPr>
          <p:txBody>
            <a:bodyPr wrap="none" rtlCol="0">
              <a:spAutoFit/>
            </a:bodyPr>
            <a:lstStyle/>
            <a:p>
              <a:r>
                <a:rPr lang="zh-CN" altLang="en-US" dirty="0"/>
                <a:t>磁盘</a:t>
              </a:r>
              <a:endParaRPr lang="en-CN" dirty="0"/>
            </a:p>
          </p:txBody>
        </p:sp>
      </p:grpSp>
      <p:cxnSp>
        <p:nvCxnSpPr>
          <p:cNvPr id="13" name="肘形连接符 12">
            <a:extLst>
              <a:ext uri="{FF2B5EF4-FFF2-40B4-BE49-F238E27FC236}">
                <a16:creationId xmlns:a16="http://schemas.microsoft.com/office/drawing/2014/main" id="{CD19F1E8-0C10-714C-BA70-0DE7EFE0A9CE}"/>
              </a:ext>
            </a:extLst>
          </p:cNvPr>
          <p:cNvCxnSpPr>
            <a:endCxn id="8" idx="0"/>
          </p:cNvCxnSpPr>
          <p:nvPr/>
        </p:nvCxnSpPr>
        <p:spPr>
          <a:xfrm rot="16200000" flipH="1">
            <a:off x="1859418" y="2947200"/>
            <a:ext cx="2159620" cy="396044"/>
          </a:xfrm>
          <a:prstGeom prst="bentConnector3">
            <a:avLst>
              <a:gd name="adj1" fmla="val 6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肘形连接符 21">
            <a:extLst>
              <a:ext uri="{FF2B5EF4-FFF2-40B4-BE49-F238E27FC236}">
                <a16:creationId xmlns:a16="http://schemas.microsoft.com/office/drawing/2014/main" id="{287AC29B-D197-C645-981D-E8D9C4A0B93A}"/>
              </a:ext>
            </a:extLst>
          </p:cNvPr>
          <p:cNvCxnSpPr>
            <a:cxnSpLocks/>
            <a:endCxn id="9" idx="0"/>
          </p:cNvCxnSpPr>
          <p:nvPr/>
        </p:nvCxnSpPr>
        <p:spPr>
          <a:xfrm>
            <a:off x="2321348" y="2496288"/>
            <a:ext cx="1819885" cy="172854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肘形连接符 25">
            <a:extLst>
              <a:ext uri="{FF2B5EF4-FFF2-40B4-BE49-F238E27FC236}">
                <a16:creationId xmlns:a16="http://schemas.microsoft.com/office/drawing/2014/main" id="{47D906AB-9918-0C4F-8AD4-BD0FB41AD7A7}"/>
              </a:ext>
            </a:extLst>
          </p:cNvPr>
          <p:cNvCxnSpPr>
            <a:cxnSpLocks/>
            <a:endCxn id="17" idx="0"/>
          </p:cNvCxnSpPr>
          <p:nvPr/>
        </p:nvCxnSpPr>
        <p:spPr>
          <a:xfrm>
            <a:off x="3315846" y="2857500"/>
            <a:ext cx="1830794" cy="136712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454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日志</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4114801" cy="3771636"/>
          </a:xfrm>
        </p:spPr>
        <p:txBody>
          <a:bodyPr>
            <a:normAutofit/>
          </a:bodyPr>
          <a:lstStyle/>
          <a:p>
            <a:pPr marL="0" indent="0">
              <a:buNone/>
            </a:pPr>
            <a:r>
              <a:rPr lang="zh-CN" altLang="en-US" sz="2000" b="0" dirty="0"/>
              <a:t>创建</a:t>
            </a:r>
            <a:r>
              <a:rPr lang="en-US" altLang="zh-CN" sz="2000" b="0" dirty="0"/>
              <a:t>"/</a:t>
            </a:r>
            <a:r>
              <a:rPr lang="zh-CN" altLang="en-US" sz="2000" b="0" dirty="0"/>
              <a:t>新文件</a:t>
            </a:r>
            <a:r>
              <a:rPr lang="en-US" altLang="zh-CN" sz="2000" b="0" dirty="0"/>
              <a:t>"</a:t>
            </a:r>
            <a:r>
              <a:rPr lang="zh-CN" altLang="en-US" sz="2000" b="0" dirty="0"/>
              <a:t>的修改包括：</a:t>
            </a:r>
            <a:endParaRPr lang="en-US" altLang="zh-CN" sz="2000" b="0" dirty="0"/>
          </a:p>
          <a:p>
            <a:pPr marL="0" indent="0">
              <a:buNone/>
            </a:pPr>
            <a:r>
              <a:rPr lang="en-US" altLang="zh-CN" sz="2000" b="0" dirty="0"/>
              <a:t>1.</a:t>
            </a:r>
            <a:r>
              <a:rPr lang="zh-CN" altLang="en-US" sz="2000" b="0" dirty="0"/>
              <a:t> 标记</a:t>
            </a:r>
            <a:r>
              <a:rPr lang="en-US" altLang="zh-CN" sz="2000" b="0" dirty="0" err="1"/>
              <a:t>inode</a:t>
            </a:r>
            <a:r>
              <a:rPr lang="zh-CN" altLang="en-US" sz="2000" b="0" dirty="0"/>
              <a:t>为占用</a:t>
            </a:r>
            <a:br>
              <a:rPr lang="en-US" altLang="zh-CN" sz="2000" b="0" dirty="0"/>
            </a:br>
            <a:r>
              <a:rPr lang="en-US" altLang="zh-CN" sz="2000" b="0" dirty="0"/>
              <a:t>2.</a:t>
            </a:r>
            <a:r>
              <a:rPr lang="zh-CN" altLang="en-US" sz="2000" b="0" dirty="0"/>
              <a:t> 初始化</a:t>
            </a:r>
            <a:r>
              <a:rPr lang="en-US" altLang="zh-CN" sz="2000" b="0" dirty="0" err="1"/>
              <a:t>inode</a:t>
            </a:r>
            <a:br>
              <a:rPr lang="en-US" altLang="zh-CN" sz="2000" b="0" dirty="0"/>
            </a:br>
            <a:r>
              <a:rPr lang="en-US" altLang="zh-CN" sz="2000" b="0" dirty="0"/>
              <a:t>3.</a:t>
            </a:r>
            <a:r>
              <a:rPr lang="zh-CN" altLang="en-US" sz="2000" b="0" dirty="0"/>
              <a:t> 将目录项写入目录中</a:t>
            </a:r>
            <a:endParaRPr lang="en-CN" sz="20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
        <p:nvSpPr>
          <p:cNvPr id="23" name="TextBox 22">
            <a:extLst>
              <a:ext uri="{FF2B5EF4-FFF2-40B4-BE49-F238E27FC236}">
                <a16:creationId xmlns:a16="http://schemas.microsoft.com/office/drawing/2014/main" id="{C8F2AE23-6532-B544-902B-B7FE586B1947}"/>
              </a:ext>
            </a:extLst>
          </p:cNvPr>
          <p:cNvSpPr txBox="1"/>
          <p:nvPr/>
        </p:nvSpPr>
        <p:spPr>
          <a:xfrm>
            <a:off x="4896269" y="1813648"/>
            <a:ext cx="2492990" cy="400110"/>
          </a:xfrm>
          <a:prstGeom prst="rect">
            <a:avLst/>
          </a:prstGeom>
          <a:noFill/>
        </p:spPr>
        <p:txBody>
          <a:bodyPr wrap="none" rtlCol="0">
            <a:spAutoFit/>
          </a:bodyPr>
          <a:lstStyle/>
          <a:p>
            <a:r>
              <a:rPr lang="zh-CN" altLang="en-CN" sz="2000" dirty="0"/>
              <a:t>崩溃</a:t>
            </a:r>
            <a:r>
              <a:rPr lang="zh-CN" altLang="en-US" sz="2000" dirty="0"/>
              <a:t>随时可能发生！</a:t>
            </a:r>
            <a:endParaRPr lang="en-CN" sz="2000" dirty="0"/>
          </a:p>
        </p:txBody>
      </p:sp>
      <p:sp>
        <p:nvSpPr>
          <p:cNvPr id="24" name="Lightning Bolt 23">
            <a:extLst>
              <a:ext uri="{FF2B5EF4-FFF2-40B4-BE49-F238E27FC236}">
                <a16:creationId xmlns:a16="http://schemas.microsoft.com/office/drawing/2014/main" id="{4BE5BFC7-A893-6748-B395-AD4E03D83F14}"/>
              </a:ext>
            </a:extLst>
          </p:cNvPr>
          <p:cNvSpPr/>
          <p:nvPr/>
        </p:nvSpPr>
        <p:spPr>
          <a:xfrm>
            <a:off x="4553741" y="1476372"/>
            <a:ext cx="469032" cy="792088"/>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TextBox 5">
            <a:extLst>
              <a:ext uri="{FF2B5EF4-FFF2-40B4-BE49-F238E27FC236}">
                <a16:creationId xmlns:a16="http://schemas.microsoft.com/office/drawing/2014/main" id="{D4F520FF-E949-4045-A8EB-B403455B196E}"/>
              </a:ext>
            </a:extLst>
          </p:cNvPr>
          <p:cNvSpPr txBox="1"/>
          <p:nvPr/>
        </p:nvSpPr>
        <p:spPr>
          <a:xfrm>
            <a:off x="3736093" y="2410135"/>
            <a:ext cx="5292080" cy="1438855"/>
          </a:xfrm>
          <a:prstGeom prst="rect">
            <a:avLst/>
          </a:prstGeom>
          <a:noFill/>
        </p:spPr>
        <p:txBody>
          <a:bodyPr wrap="square" rtlCol="0">
            <a:spAutoFit/>
          </a:bodyPr>
          <a:lstStyle/>
          <a:p>
            <a:pPr>
              <a:lnSpc>
                <a:spcPct val="150000"/>
              </a:lnSpc>
            </a:pPr>
            <a:r>
              <a:rPr lang="zh-CN" altLang="en-CN" sz="1600" dirty="0"/>
              <a:t>在</a:t>
            </a:r>
            <a:r>
              <a:rPr lang="en-US" altLang="zh-CN" sz="1600" dirty="0"/>
              <a:t>"</a:t>
            </a:r>
            <a:r>
              <a:rPr lang="zh-CN" altLang="en-US" sz="1600" dirty="0"/>
              <a:t>日志提交</a:t>
            </a:r>
            <a:r>
              <a:rPr lang="en-US" altLang="zh-CN" sz="1600" dirty="0"/>
              <a:t>"</a:t>
            </a:r>
            <a:r>
              <a:rPr lang="zh-CN" altLang="en-US" sz="1600" dirty="0"/>
              <a:t>写入存储设备之前崩溃</a:t>
            </a:r>
            <a:endParaRPr lang="en-US" altLang="zh-CN" sz="1600" dirty="0"/>
          </a:p>
          <a:p>
            <a:pPr marL="285750" indent="-285750">
              <a:lnSpc>
                <a:spcPct val="150000"/>
              </a:lnSpc>
              <a:buFont typeface="Wingdings" pitchFamily="2" charset="2"/>
              <a:buChar char="Ø"/>
            </a:pPr>
            <a:r>
              <a:rPr lang="zh-CN" altLang="en-CN" sz="1400" dirty="0"/>
              <a:t>恢复</a:t>
            </a:r>
            <a:r>
              <a:rPr lang="zh-CN" altLang="en-US" sz="1400" dirty="0"/>
              <a:t>时发现日志不完整，忽略日志，</a:t>
            </a:r>
            <a:r>
              <a:rPr lang="en-US" altLang="zh-CN" sz="1400" dirty="0"/>
              <a:t>"/</a:t>
            </a:r>
            <a:r>
              <a:rPr lang="zh-CN" altLang="en-US" sz="1400" dirty="0"/>
              <a:t>新文件</a:t>
            </a:r>
            <a:r>
              <a:rPr lang="en-US" altLang="zh-CN" sz="1400" dirty="0"/>
              <a:t>"</a:t>
            </a:r>
            <a:r>
              <a:rPr lang="zh-CN" altLang="en-US" sz="1400" dirty="0"/>
              <a:t>未被创建</a:t>
            </a:r>
            <a:endParaRPr lang="en-US" altLang="zh-CN" sz="1400" dirty="0"/>
          </a:p>
          <a:p>
            <a:pPr>
              <a:lnSpc>
                <a:spcPct val="150000"/>
              </a:lnSpc>
            </a:pPr>
            <a:r>
              <a:rPr lang="zh-CN" altLang="en-US" sz="1600" dirty="0"/>
              <a:t>在</a:t>
            </a:r>
            <a:r>
              <a:rPr lang="en-US" altLang="zh-CN" sz="1600" dirty="0"/>
              <a:t>"</a:t>
            </a:r>
            <a:r>
              <a:rPr lang="zh-CN" altLang="en-US" sz="1600" dirty="0"/>
              <a:t>日志提交</a:t>
            </a:r>
            <a:r>
              <a:rPr lang="en-US" altLang="zh-CN" sz="1600" dirty="0"/>
              <a:t>"</a:t>
            </a:r>
            <a:r>
              <a:rPr lang="zh-CN" altLang="en-US" sz="1600" dirty="0"/>
              <a:t>写入存储设备之后崩溃</a:t>
            </a:r>
            <a:endParaRPr lang="en-US" altLang="zh-CN" sz="1600" dirty="0"/>
          </a:p>
          <a:p>
            <a:pPr marL="285750" indent="-285750">
              <a:lnSpc>
                <a:spcPct val="150000"/>
              </a:lnSpc>
              <a:buFont typeface="Wingdings" pitchFamily="2" charset="2"/>
              <a:buChar char="Ø"/>
            </a:pPr>
            <a:r>
              <a:rPr lang="zh-CN" altLang="en-US" sz="1400" dirty="0"/>
              <a:t>将日志中的内容，拷贝到对应位置，</a:t>
            </a:r>
            <a:r>
              <a:rPr lang="en-US" altLang="zh-CN" sz="1400" dirty="0"/>
              <a:t>"/</a:t>
            </a:r>
            <a:r>
              <a:rPr lang="zh-CN" altLang="en-US" sz="1400" dirty="0"/>
              <a:t>新文件</a:t>
            </a:r>
            <a:r>
              <a:rPr lang="en-US" altLang="zh-CN" sz="1400" dirty="0"/>
              <a:t>"</a:t>
            </a:r>
            <a:r>
              <a:rPr lang="zh-CN" altLang="en-US" sz="1400" dirty="0"/>
              <a:t>被创建成功</a:t>
            </a:r>
            <a:endParaRPr lang="en-US" altLang="zh-CN" sz="1400" dirty="0"/>
          </a:p>
        </p:txBody>
      </p:sp>
      <p:grpSp>
        <p:nvGrpSpPr>
          <p:cNvPr id="25" name="Group 24">
            <a:extLst>
              <a:ext uri="{FF2B5EF4-FFF2-40B4-BE49-F238E27FC236}">
                <a16:creationId xmlns:a16="http://schemas.microsoft.com/office/drawing/2014/main" id="{C0F88BF1-29A6-F948-9744-E46ADCCA7489}"/>
              </a:ext>
            </a:extLst>
          </p:cNvPr>
          <p:cNvGrpSpPr/>
          <p:nvPr/>
        </p:nvGrpSpPr>
        <p:grpSpPr>
          <a:xfrm>
            <a:off x="1160856" y="4224629"/>
            <a:ext cx="6145489" cy="505079"/>
            <a:chOff x="1160856" y="4224629"/>
            <a:chExt cx="6145489" cy="505079"/>
          </a:xfrm>
        </p:grpSpPr>
        <p:sp>
          <p:nvSpPr>
            <p:cNvPr id="26" name="Rectangle 25">
              <a:extLst>
                <a:ext uri="{FF2B5EF4-FFF2-40B4-BE49-F238E27FC236}">
                  <a16:creationId xmlns:a16="http://schemas.microsoft.com/office/drawing/2014/main" id="{8C9AEC78-D863-5549-AD41-D0CCA4329704}"/>
                </a:ext>
              </a:extLst>
            </p:cNvPr>
            <p:cNvSpPr/>
            <p:nvPr/>
          </p:nvSpPr>
          <p:spPr>
            <a:xfrm>
              <a:off x="2741206" y="4225032"/>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27" name="Rectangle 26">
              <a:extLst>
                <a:ext uri="{FF2B5EF4-FFF2-40B4-BE49-F238E27FC236}">
                  <a16:creationId xmlns:a16="http://schemas.microsoft.com/office/drawing/2014/main" id="{795CB2EB-71E1-1E4D-856C-1F907FBC88A7}"/>
                </a:ext>
              </a:extLst>
            </p:cNvPr>
            <p:cNvSpPr/>
            <p:nvPr/>
          </p:nvSpPr>
          <p:spPr>
            <a:xfrm>
              <a:off x="3745189" y="4224831"/>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cxnSp>
          <p:nvCxnSpPr>
            <p:cNvPr id="28" name="Straight Connector 27">
              <a:extLst>
                <a:ext uri="{FF2B5EF4-FFF2-40B4-BE49-F238E27FC236}">
                  <a16:creationId xmlns:a16="http://schemas.microsoft.com/office/drawing/2014/main" id="{64733164-B16F-514E-96FB-F485C7D020AD}"/>
                </a:ext>
              </a:extLst>
            </p:cNvPr>
            <p:cNvCxnSpPr/>
            <p:nvPr/>
          </p:nvCxnSpPr>
          <p:spPr>
            <a:xfrm>
              <a:off x="2553817" y="4225032"/>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0D31725-6F12-2743-91A7-F4458A5A7100}"/>
                </a:ext>
              </a:extLst>
            </p:cNvPr>
            <p:cNvCxnSpPr/>
            <p:nvPr/>
          </p:nvCxnSpPr>
          <p:spPr>
            <a:xfrm>
              <a:off x="2553817" y="4729708"/>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188F6E78-B43D-4B45-93C3-5A0282227E8D}"/>
                </a:ext>
              </a:extLst>
            </p:cNvPr>
            <p:cNvSpPr/>
            <p:nvPr/>
          </p:nvSpPr>
          <p:spPr>
            <a:xfrm>
              <a:off x="2049761" y="4225032"/>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31" name="Rectangle 30">
              <a:extLst>
                <a:ext uri="{FF2B5EF4-FFF2-40B4-BE49-F238E27FC236}">
                  <a16:creationId xmlns:a16="http://schemas.microsoft.com/office/drawing/2014/main" id="{8B860245-9C78-294B-A979-D2C74F6A9F6C}"/>
                </a:ext>
              </a:extLst>
            </p:cNvPr>
            <p:cNvSpPr/>
            <p:nvPr/>
          </p:nvSpPr>
          <p:spPr>
            <a:xfrm>
              <a:off x="5542684" y="422462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32" name="Rectangle 31">
              <a:extLst>
                <a:ext uri="{FF2B5EF4-FFF2-40B4-BE49-F238E27FC236}">
                  <a16:creationId xmlns:a16="http://schemas.microsoft.com/office/drawing/2014/main" id="{9F22E75E-5062-A54F-BA6D-F4DBA7A9A0D7}"/>
                </a:ext>
              </a:extLst>
            </p:cNvPr>
            <p:cNvSpPr/>
            <p:nvPr/>
          </p:nvSpPr>
          <p:spPr>
            <a:xfrm>
              <a:off x="4750596" y="422462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sp>
          <p:nvSpPr>
            <p:cNvPr id="33" name="Rectangle 32">
              <a:extLst>
                <a:ext uri="{FF2B5EF4-FFF2-40B4-BE49-F238E27FC236}">
                  <a16:creationId xmlns:a16="http://schemas.microsoft.com/office/drawing/2014/main" id="{4EFBEDB8-383F-0248-A0D8-D7022B21ADC8}"/>
                </a:ext>
              </a:extLst>
            </p:cNvPr>
            <p:cNvSpPr/>
            <p:nvPr/>
          </p:nvSpPr>
          <p:spPr>
            <a:xfrm>
              <a:off x="2553817" y="422543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4" name="Rectangle 33">
              <a:extLst>
                <a:ext uri="{FF2B5EF4-FFF2-40B4-BE49-F238E27FC236}">
                  <a16:creationId xmlns:a16="http://schemas.microsoft.com/office/drawing/2014/main" id="{5875A119-AA8E-0C47-AF8D-82010F5D1409}"/>
                </a:ext>
              </a:extLst>
            </p:cNvPr>
            <p:cNvSpPr/>
            <p:nvPr/>
          </p:nvSpPr>
          <p:spPr>
            <a:xfrm>
              <a:off x="3536228" y="422560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5" name="Rectangle 34">
              <a:extLst>
                <a:ext uri="{FF2B5EF4-FFF2-40B4-BE49-F238E27FC236}">
                  <a16:creationId xmlns:a16="http://schemas.microsoft.com/office/drawing/2014/main" id="{F6B940A0-1CB6-C444-AA76-A9D3024E6B7F}"/>
                </a:ext>
              </a:extLst>
            </p:cNvPr>
            <p:cNvSpPr/>
            <p:nvPr/>
          </p:nvSpPr>
          <p:spPr>
            <a:xfrm>
              <a:off x="4541532" y="422581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6" name="TextBox 35">
              <a:extLst>
                <a:ext uri="{FF2B5EF4-FFF2-40B4-BE49-F238E27FC236}">
                  <a16:creationId xmlns:a16="http://schemas.microsoft.com/office/drawing/2014/main" id="{9F9D1A96-CEFF-0349-B390-4CB9E673D3D8}"/>
                </a:ext>
              </a:extLst>
            </p:cNvPr>
            <p:cNvSpPr txBox="1"/>
            <p:nvPr/>
          </p:nvSpPr>
          <p:spPr>
            <a:xfrm>
              <a:off x="1160856" y="4359973"/>
              <a:ext cx="646331" cy="369332"/>
            </a:xfrm>
            <a:prstGeom prst="rect">
              <a:avLst/>
            </a:prstGeom>
            <a:noFill/>
          </p:spPr>
          <p:txBody>
            <a:bodyPr wrap="none" rtlCol="0">
              <a:spAutoFit/>
            </a:bodyPr>
            <a:lstStyle/>
            <a:p>
              <a:r>
                <a:rPr lang="zh-CN" altLang="en-US" dirty="0"/>
                <a:t>磁盘</a:t>
              </a:r>
              <a:endParaRPr lang="en-CN" dirty="0"/>
            </a:p>
          </p:txBody>
        </p:sp>
      </p:grpSp>
    </p:spTree>
    <p:extLst>
      <p:ext uri="{BB962C8B-B14F-4D97-AF65-F5344CB8AC3E}">
        <p14:creationId xmlns:p14="http://schemas.microsoft.com/office/powerpoint/2010/main" val="1674198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问题</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5589541" cy="3771636"/>
          </a:xfrm>
        </p:spPr>
        <p:txBody>
          <a:bodyPr>
            <a:normAutofit/>
          </a:bodyPr>
          <a:lstStyle/>
          <a:p>
            <a:pPr marL="0" indent="0">
              <a:buNone/>
            </a:pPr>
            <a:r>
              <a:rPr lang="zh-CN" altLang="en-US" sz="2000" b="0" dirty="0"/>
              <a:t>此种方法有什么问题？</a:t>
            </a:r>
            <a:endParaRPr lang="en-US" altLang="zh-CN" sz="2000" b="0" dirty="0"/>
          </a:p>
          <a:p>
            <a:pPr marL="0" indent="0">
              <a:buNone/>
            </a:pPr>
            <a:r>
              <a:rPr lang="zh-CN" altLang="en-US" sz="1800" b="0" dirty="0"/>
              <a:t>问题</a:t>
            </a:r>
            <a:r>
              <a:rPr lang="en-US" altLang="zh-CN" sz="1800" b="0" dirty="0"/>
              <a:t>1.</a:t>
            </a:r>
            <a:r>
              <a:rPr lang="zh-CN" altLang="en-US" sz="1800" b="0" dirty="0"/>
              <a:t> 每个操作都</a:t>
            </a:r>
            <a:r>
              <a:rPr lang="zh-CN" altLang="en-CN" sz="1800" b="0" dirty="0"/>
              <a:t>写</a:t>
            </a:r>
            <a:r>
              <a:rPr lang="zh-CN" altLang="en-US" sz="1800" b="0" dirty="0"/>
              <a:t>磁盘，内存缓存优势被抵消</a:t>
            </a:r>
            <a:br>
              <a:rPr lang="en-US" altLang="zh-CN" sz="1800" b="0" dirty="0"/>
            </a:br>
            <a:r>
              <a:rPr lang="zh-CN" altLang="en-US" sz="1800" b="0" dirty="0"/>
              <a:t>问题</a:t>
            </a:r>
            <a:r>
              <a:rPr lang="en-US" altLang="zh-CN" sz="1800" b="0" dirty="0"/>
              <a:t>2.</a:t>
            </a:r>
            <a:r>
              <a:rPr lang="zh-CN" altLang="en-US" sz="1800" b="0" dirty="0"/>
              <a:t> 每个修改需要拷贝新数据到日志</a:t>
            </a:r>
            <a:br>
              <a:rPr lang="en-US" altLang="zh-CN" sz="1800" b="0" dirty="0"/>
            </a:br>
            <a:r>
              <a:rPr lang="zh-CN" altLang="en-US" sz="1800" b="0" dirty="0"/>
              <a:t>问题</a:t>
            </a:r>
            <a:r>
              <a:rPr lang="en-US" altLang="zh-CN" sz="1800" b="0" dirty="0"/>
              <a:t>3.</a:t>
            </a:r>
            <a:r>
              <a:rPr lang="zh-CN" altLang="en-US" sz="1800" b="0" dirty="0"/>
              <a:t> 相同块的多个修改被记录多次</a:t>
            </a:r>
            <a:endParaRPr lang="en-US" altLang="zh-CN" sz="1800" b="0" dirty="0"/>
          </a:p>
          <a:p>
            <a:pPr marL="0" indent="0">
              <a:buNone/>
            </a:pPr>
            <a:r>
              <a:rPr lang="en-US" altLang="zh-CN" sz="1800" b="0" dirty="0"/>
              <a:t>……</a:t>
            </a:r>
            <a:br>
              <a:rPr lang="en-CN" altLang="zh-CN" sz="1800" b="0" dirty="0"/>
            </a:br>
            <a:endParaRPr lang="en-US" altLang="zh-CN" sz="18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grpSp>
        <p:nvGrpSpPr>
          <p:cNvPr id="18" name="Group 17">
            <a:extLst>
              <a:ext uri="{FF2B5EF4-FFF2-40B4-BE49-F238E27FC236}">
                <a16:creationId xmlns:a16="http://schemas.microsoft.com/office/drawing/2014/main" id="{6AE3E450-DC56-CF46-AA78-B4A54E9FECD3}"/>
              </a:ext>
            </a:extLst>
          </p:cNvPr>
          <p:cNvGrpSpPr/>
          <p:nvPr/>
        </p:nvGrpSpPr>
        <p:grpSpPr>
          <a:xfrm>
            <a:off x="1160856" y="4224629"/>
            <a:ext cx="6145489" cy="505079"/>
            <a:chOff x="1160856" y="4224629"/>
            <a:chExt cx="6145489" cy="505079"/>
          </a:xfrm>
        </p:grpSpPr>
        <p:sp>
          <p:nvSpPr>
            <p:cNvPr id="23" name="Rectangle 22">
              <a:extLst>
                <a:ext uri="{FF2B5EF4-FFF2-40B4-BE49-F238E27FC236}">
                  <a16:creationId xmlns:a16="http://schemas.microsoft.com/office/drawing/2014/main" id="{D9CA7A33-AB32-2947-A59F-74C60F49809F}"/>
                </a:ext>
              </a:extLst>
            </p:cNvPr>
            <p:cNvSpPr/>
            <p:nvPr/>
          </p:nvSpPr>
          <p:spPr>
            <a:xfrm>
              <a:off x="2741206" y="4225032"/>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24" name="Rectangle 23">
              <a:extLst>
                <a:ext uri="{FF2B5EF4-FFF2-40B4-BE49-F238E27FC236}">
                  <a16:creationId xmlns:a16="http://schemas.microsoft.com/office/drawing/2014/main" id="{05258128-3F88-2342-A860-65BA8830C03C}"/>
                </a:ext>
              </a:extLst>
            </p:cNvPr>
            <p:cNvSpPr/>
            <p:nvPr/>
          </p:nvSpPr>
          <p:spPr>
            <a:xfrm>
              <a:off x="3745189" y="4224831"/>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cxnSp>
          <p:nvCxnSpPr>
            <p:cNvPr id="25" name="Straight Connector 24">
              <a:extLst>
                <a:ext uri="{FF2B5EF4-FFF2-40B4-BE49-F238E27FC236}">
                  <a16:creationId xmlns:a16="http://schemas.microsoft.com/office/drawing/2014/main" id="{4AEBF367-FACF-5F41-9C29-0977D5AEAC8C}"/>
                </a:ext>
              </a:extLst>
            </p:cNvPr>
            <p:cNvCxnSpPr/>
            <p:nvPr/>
          </p:nvCxnSpPr>
          <p:spPr>
            <a:xfrm>
              <a:off x="2553817" y="4225032"/>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E1BBE1A-9C6C-1C4B-BD1F-889D99CBE4FE}"/>
                </a:ext>
              </a:extLst>
            </p:cNvPr>
            <p:cNvCxnSpPr/>
            <p:nvPr/>
          </p:nvCxnSpPr>
          <p:spPr>
            <a:xfrm>
              <a:off x="2553817" y="4729708"/>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6B012E5-A246-244E-A9CF-DC1FC301A2FB}"/>
                </a:ext>
              </a:extLst>
            </p:cNvPr>
            <p:cNvSpPr/>
            <p:nvPr/>
          </p:nvSpPr>
          <p:spPr>
            <a:xfrm>
              <a:off x="2049761" y="4225032"/>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28" name="Rectangle 27">
              <a:extLst>
                <a:ext uri="{FF2B5EF4-FFF2-40B4-BE49-F238E27FC236}">
                  <a16:creationId xmlns:a16="http://schemas.microsoft.com/office/drawing/2014/main" id="{345A4313-5753-9443-B5CA-9C44C8158012}"/>
                </a:ext>
              </a:extLst>
            </p:cNvPr>
            <p:cNvSpPr/>
            <p:nvPr/>
          </p:nvSpPr>
          <p:spPr>
            <a:xfrm>
              <a:off x="5542684" y="422462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29" name="Rectangle 28">
              <a:extLst>
                <a:ext uri="{FF2B5EF4-FFF2-40B4-BE49-F238E27FC236}">
                  <a16:creationId xmlns:a16="http://schemas.microsoft.com/office/drawing/2014/main" id="{C43983D3-4EE5-D041-A483-EE1FA44D3FF7}"/>
                </a:ext>
              </a:extLst>
            </p:cNvPr>
            <p:cNvSpPr/>
            <p:nvPr/>
          </p:nvSpPr>
          <p:spPr>
            <a:xfrm>
              <a:off x="4750596" y="422462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sp>
          <p:nvSpPr>
            <p:cNvPr id="30" name="Rectangle 29">
              <a:extLst>
                <a:ext uri="{FF2B5EF4-FFF2-40B4-BE49-F238E27FC236}">
                  <a16:creationId xmlns:a16="http://schemas.microsoft.com/office/drawing/2014/main" id="{E7725350-AEF7-8F40-8001-CC25386C05A3}"/>
                </a:ext>
              </a:extLst>
            </p:cNvPr>
            <p:cNvSpPr/>
            <p:nvPr/>
          </p:nvSpPr>
          <p:spPr>
            <a:xfrm>
              <a:off x="2553817" y="422543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1" name="Rectangle 30">
              <a:extLst>
                <a:ext uri="{FF2B5EF4-FFF2-40B4-BE49-F238E27FC236}">
                  <a16:creationId xmlns:a16="http://schemas.microsoft.com/office/drawing/2014/main" id="{0F65C8FB-871F-B74A-BF47-946818028824}"/>
                </a:ext>
              </a:extLst>
            </p:cNvPr>
            <p:cNvSpPr/>
            <p:nvPr/>
          </p:nvSpPr>
          <p:spPr>
            <a:xfrm>
              <a:off x="3536228" y="422560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2" name="Rectangle 31">
              <a:extLst>
                <a:ext uri="{FF2B5EF4-FFF2-40B4-BE49-F238E27FC236}">
                  <a16:creationId xmlns:a16="http://schemas.microsoft.com/office/drawing/2014/main" id="{BF158E7F-0CC9-E24D-AC75-BD2A6353B9E2}"/>
                </a:ext>
              </a:extLst>
            </p:cNvPr>
            <p:cNvSpPr/>
            <p:nvPr/>
          </p:nvSpPr>
          <p:spPr>
            <a:xfrm>
              <a:off x="4541532" y="422581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3" name="TextBox 32">
              <a:extLst>
                <a:ext uri="{FF2B5EF4-FFF2-40B4-BE49-F238E27FC236}">
                  <a16:creationId xmlns:a16="http://schemas.microsoft.com/office/drawing/2014/main" id="{81D1A9AB-4A12-BD49-8D16-0D89FE0FC56F}"/>
                </a:ext>
              </a:extLst>
            </p:cNvPr>
            <p:cNvSpPr txBox="1"/>
            <p:nvPr/>
          </p:nvSpPr>
          <p:spPr>
            <a:xfrm>
              <a:off x="1160856" y="4359973"/>
              <a:ext cx="646331" cy="369332"/>
            </a:xfrm>
            <a:prstGeom prst="rect">
              <a:avLst/>
            </a:prstGeom>
            <a:noFill/>
          </p:spPr>
          <p:txBody>
            <a:bodyPr wrap="none" rtlCol="0">
              <a:spAutoFit/>
            </a:bodyPr>
            <a:lstStyle/>
            <a:p>
              <a:r>
                <a:rPr lang="zh-CN" altLang="en-US" dirty="0"/>
                <a:t>磁盘</a:t>
              </a:r>
              <a:endParaRPr lang="en-CN" dirty="0"/>
            </a:p>
          </p:txBody>
        </p:sp>
      </p:grpSp>
    </p:spTree>
    <p:extLst>
      <p:ext uri="{BB962C8B-B14F-4D97-AF65-F5344CB8AC3E}">
        <p14:creationId xmlns:p14="http://schemas.microsoft.com/office/powerpoint/2010/main" val="1181307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利用内存中的页缓存</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7211145" cy="3771636"/>
          </a:xfrm>
        </p:spPr>
        <p:txBody>
          <a:bodyPr>
            <a:normAutofit/>
          </a:bodyPr>
          <a:lstStyle/>
          <a:p>
            <a:pPr marL="0" indent="0">
              <a:buNone/>
            </a:pPr>
            <a:r>
              <a:rPr lang="zh-CN" altLang="en-CN" sz="1600" b="0" dirty="0"/>
              <a:t>在</a:t>
            </a:r>
            <a:r>
              <a:rPr lang="zh-CN" altLang="en-US" sz="1600" b="0" dirty="0"/>
              <a:t>内存中记录日志，异步写入到磁盘中</a:t>
            </a:r>
            <a:endParaRPr lang="en-US" altLang="zh-CN" sz="1600" b="0" dirty="0"/>
          </a:p>
          <a:p>
            <a:pPr marL="0" indent="0">
              <a:buNone/>
            </a:pPr>
            <a:r>
              <a:rPr lang="zh-CN" altLang="en-US" sz="1600" b="0" dirty="0"/>
              <a:t>仅需保证日志提交在磁盘数据修改之前</a:t>
            </a:r>
            <a:endParaRPr lang="en-US" altLang="zh-CN" sz="1600" b="0" dirty="0"/>
          </a:p>
          <a:p>
            <a:pPr marL="0" indent="0">
              <a:buNone/>
            </a:pPr>
            <a:r>
              <a:rPr lang="zh-CN" altLang="en-US" sz="1600" b="0" dirty="0"/>
              <a:t>利用内存中的页缓存</a:t>
            </a:r>
            <a:endParaRPr lang="en-US" altLang="zh-CN" sz="16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12</a:t>
            </a:fld>
            <a:endParaRPr lang="zh-CN" altLang="en-US"/>
          </a:p>
        </p:txBody>
      </p:sp>
      <p:sp>
        <p:nvSpPr>
          <p:cNvPr id="8" name="Rectangle 7">
            <a:extLst>
              <a:ext uri="{FF2B5EF4-FFF2-40B4-BE49-F238E27FC236}">
                <a16:creationId xmlns:a16="http://schemas.microsoft.com/office/drawing/2014/main" id="{AF17B6EE-9199-B441-BCD8-23607022BC86}"/>
              </a:ext>
            </a:extLst>
          </p:cNvPr>
          <p:cNvSpPr/>
          <p:nvPr/>
        </p:nvSpPr>
        <p:spPr>
          <a:xfrm>
            <a:off x="2741206" y="3432324"/>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9" name="Rectangle 8">
            <a:extLst>
              <a:ext uri="{FF2B5EF4-FFF2-40B4-BE49-F238E27FC236}">
                <a16:creationId xmlns:a16="http://schemas.microsoft.com/office/drawing/2014/main" id="{F50834FF-82A3-ED45-9D07-58E1517527B4}"/>
              </a:ext>
            </a:extLst>
          </p:cNvPr>
          <p:cNvSpPr/>
          <p:nvPr/>
        </p:nvSpPr>
        <p:spPr>
          <a:xfrm>
            <a:off x="3268793" y="3432324"/>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cxnSp>
        <p:nvCxnSpPr>
          <p:cNvPr id="11" name="Straight Connector 10">
            <a:extLst>
              <a:ext uri="{FF2B5EF4-FFF2-40B4-BE49-F238E27FC236}">
                <a16:creationId xmlns:a16="http://schemas.microsoft.com/office/drawing/2014/main" id="{1239CDEF-BD3C-1F4F-8FC5-3E699BFBD864}"/>
              </a:ext>
            </a:extLst>
          </p:cNvPr>
          <p:cNvCxnSpPr/>
          <p:nvPr/>
        </p:nvCxnSpPr>
        <p:spPr>
          <a:xfrm>
            <a:off x="2553817" y="3432324"/>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EA58414-EB70-F246-A81A-620440E94B07}"/>
              </a:ext>
            </a:extLst>
          </p:cNvPr>
          <p:cNvCxnSpPr/>
          <p:nvPr/>
        </p:nvCxnSpPr>
        <p:spPr>
          <a:xfrm>
            <a:off x="2553817" y="3937000"/>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A592295-AFDB-E443-B217-4A51245211CC}"/>
              </a:ext>
            </a:extLst>
          </p:cNvPr>
          <p:cNvSpPr/>
          <p:nvPr/>
        </p:nvSpPr>
        <p:spPr>
          <a:xfrm>
            <a:off x="2049761" y="3432324"/>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16" name="Rectangle 15">
            <a:extLst>
              <a:ext uri="{FF2B5EF4-FFF2-40B4-BE49-F238E27FC236}">
                <a16:creationId xmlns:a16="http://schemas.microsoft.com/office/drawing/2014/main" id="{3868C864-94EB-9E48-998A-F77BFD1ECC6A}"/>
              </a:ext>
            </a:extLst>
          </p:cNvPr>
          <p:cNvSpPr/>
          <p:nvPr/>
        </p:nvSpPr>
        <p:spPr>
          <a:xfrm>
            <a:off x="4137907" y="3432324"/>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17" name="Rectangle 16">
            <a:extLst>
              <a:ext uri="{FF2B5EF4-FFF2-40B4-BE49-F238E27FC236}">
                <a16:creationId xmlns:a16="http://schemas.microsoft.com/office/drawing/2014/main" id="{77314EC5-AD6A-D14F-9676-D9DF436B8186}"/>
              </a:ext>
            </a:extLst>
          </p:cNvPr>
          <p:cNvSpPr/>
          <p:nvPr/>
        </p:nvSpPr>
        <p:spPr>
          <a:xfrm>
            <a:off x="3811006" y="3431921"/>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19" name="Rectangle 18">
            <a:extLst>
              <a:ext uri="{FF2B5EF4-FFF2-40B4-BE49-F238E27FC236}">
                <a16:creationId xmlns:a16="http://schemas.microsoft.com/office/drawing/2014/main" id="{64ED7109-4200-7E4B-8230-1EBB402B16C8}"/>
              </a:ext>
            </a:extLst>
          </p:cNvPr>
          <p:cNvSpPr/>
          <p:nvPr/>
        </p:nvSpPr>
        <p:spPr>
          <a:xfrm>
            <a:off x="2553817" y="343272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0" name="Rectangle 19">
            <a:extLst>
              <a:ext uri="{FF2B5EF4-FFF2-40B4-BE49-F238E27FC236}">
                <a16:creationId xmlns:a16="http://schemas.microsoft.com/office/drawing/2014/main" id="{E010EBEE-5C18-034C-840A-335AF034DF34}"/>
              </a:ext>
            </a:extLst>
          </p:cNvPr>
          <p:cNvSpPr/>
          <p:nvPr/>
        </p:nvSpPr>
        <p:spPr>
          <a:xfrm>
            <a:off x="3059832" y="343310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1" name="Rectangle 20">
            <a:extLst>
              <a:ext uri="{FF2B5EF4-FFF2-40B4-BE49-F238E27FC236}">
                <a16:creationId xmlns:a16="http://schemas.microsoft.com/office/drawing/2014/main" id="{9E4E1FEC-81CC-4F46-9AF8-6062E7A5A45E}"/>
              </a:ext>
            </a:extLst>
          </p:cNvPr>
          <p:cNvSpPr/>
          <p:nvPr/>
        </p:nvSpPr>
        <p:spPr>
          <a:xfrm>
            <a:off x="3601942" y="3433102"/>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cxnSp>
        <p:nvCxnSpPr>
          <p:cNvPr id="27" name="Straight Connector 26">
            <a:extLst>
              <a:ext uri="{FF2B5EF4-FFF2-40B4-BE49-F238E27FC236}">
                <a16:creationId xmlns:a16="http://schemas.microsoft.com/office/drawing/2014/main" id="{6D2215FC-8F5F-C844-8F0E-E3040B950BEB}"/>
              </a:ext>
            </a:extLst>
          </p:cNvPr>
          <p:cNvCxnSpPr>
            <a:cxnSpLocks/>
          </p:cNvCxnSpPr>
          <p:nvPr/>
        </p:nvCxnSpPr>
        <p:spPr>
          <a:xfrm>
            <a:off x="2049761" y="4433547"/>
            <a:ext cx="52565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D8A1CD9-2EA8-BB47-9FBE-FB33B8576EDF}"/>
              </a:ext>
            </a:extLst>
          </p:cNvPr>
          <p:cNvCxnSpPr>
            <a:cxnSpLocks/>
          </p:cNvCxnSpPr>
          <p:nvPr/>
        </p:nvCxnSpPr>
        <p:spPr>
          <a:xfrm>
            <a:off x="2049761" y="4938223"/>
            <a:ext cx="5256584"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B6844A5-A106-5D41-9199-2D89EB9FDBDA}"/>
              </a:ext>
            </a:extLst>
          </p:cNvPr>
          <p:cNvSpPr txBox="1"/>
          <p:nvPr/>
        </p:nvSpPr>
        <p:spPr>
          <a:xfrm>
            <a:off x="881876" y="3499593"/>
            <a:ext cx="646331" cy="369332"/>
          </a:xfrm>
          <a:prstGeom prst="rect">
            <a:avLst/>
          </a:prstGeom>
          <a:noFill/>
        </p:spPr>
        <p:txBody>
          <a:bodyPr wrap="none" rtlCol="0">
            <a:spAutoFit/>
          </a:bodyPr>
          <a:lstStyle/>
          <a:p>
            <a:r>
              <a:rPr lang="zh-CN" altLang="en-CN" dirty="0"/>
              <a:t>内存</a:t>
            </a:r>
            <a:endParaRPr lang="en-CN" dirty="0"/>
          </a:p>
        </p:txBody>
      </p:sp>
      <p:sp>
        <p:nvSpPr>
          <p:cNvPr id="22" name="TextBox 21">
            <a:extLst>
              <a:ext uri="{FF2B5EF4-FFF2-40B4-BE49-F238E27FC236}">
                <a16:creationId xmlns:a16="http://schemas.microsoft.com/office/drawing/2014/main" id="{5F5FF836-E5EC-F14A-8DB4-578936E80879}"/>
              </a:ext>
            </a:extLst>
          </p:cNvPr>
          <p:cNvSpPr txBox="1"/>
          <p:nvPr/>
        </p:nvSpPr>
        <p:spPr>
          <a:xfrm>
            <a:off x="881876" y="4555159"/>
            <a:ext cx="646331" cy="369332"/>
          </a:xfrm>
          <a:prstGeom prst="rect">
            <a:avLst/>
          </a:prstGeom>
          <a:noFill/>
        </p:spPr>
        <p:txBody>
          <a:bodyPr wrap="none" rtlCol="0">
            <a:spAutoFit/>
          </a:bodyPr>
          <a:lstStyle/>
          <a:p>
            <a:r>
              <a:rPr lang="zh-CN" altLang="en-US" dirty="0"/>
              <a:t>磁盘</a:t>
            </a:r>
            <a:endParaRPr lang="en-CN" dirty="0"/>
          </a:p>
        </p:txBody>
      </p:sp>
      <p:sp>
        <p:nvSpPr>
          <p:cNvPr id="23" name="Rectangle 22">
            <a:extLst>
              <a:ext uri="{FF2B5EF4-FFF2-40B4-BE49-F238E27FC236}">
                <a16:creationId xmlns:a16="http://schemas.microsoft.com/office/drawing/2014/main" id="{A627E2CE-E5D8-A247-84DE-AD5493AD45CE}"/>
              </a:ext>
            </a:extLst>
          </p:cNvPr>
          <p:cNvSpPr/>
          <p:nvPr/>
        </p:nvSpPr>
        <p:spPr>
          <a:xfrm>
            <a:off x="5364089" y="1129308"/>
            <a:ext cx="2304256" cy="2043287"/>
          </a:xfrm>
          <a:prstGeom prst="rect">
            <a:avLst/>
          </a:prstGeom>
          <a:noFill/>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050" dirty="0"/>
          </a:p>
        </p:txBody>
      </p:sp>
      <p:sp>
        <p:nvSpPr>
          <p:cNvPr id="6" name="TextBox 5">
            <a:extLst>
              <a:ext uri="{FF2B5EF4-FFF2-40B4-BE49-F238E27FC236}">
                <a16:creationId xmlns:a16="http://schemas.microsoft.com/office/drawing/2014/main" id="{31E7C60C-31DA-FA4D-A7A9-A3A732CD4737}"/>
              </a:ext>
            </a:extLst>
          </p:cNvPr>
          <p:cNvSpPr txBox="1"/>
          <p:nvPr/>
        </p:nvSpPr>
        <p:spPr>
          <a:xfrm>
            <a:off x="5272843" y="808986"/>
            <a:ext cx="800219" cy="338554"/>
          </a:xfrm>
          <a:prstGeom prst="rect">
            <a:avLst/>
          </a:prstGeom>
          <a:noFill/>
        </p:spPr>
        <p:txBody>
          <a:bodyPr wrap="none" rtlCol="0">
            <a:spAutoFit/>
          </a:bodyPr>
          <a:lstStyle/>
          <a:p>
            <a:r>
              <a:rPr lang="zh-CN" altLang="en-CN" sz="1600" dirty="0"/>
              <a:t>页缓存</a:t>
            </a:r>
            <a:endParaRPr lang="en-CN" sz="1600" dirty="0"/>
          </a:p>
        </p:txBody>
      </p:sp>
      <p:sp>
        <p:nvSpPr>
          <p:cNvPr id="24" name="Rectangle 23">
            <a:extLst>
              <a:ext uri="{FF2B5EF4-FFF2-40B4-BE49-F238E27FC236}">
                <a16:creationId xmlns:a16="http://schemas.microsoft.com/office/drawing/2014/main" id="{CD06C7D9-B514-E446-A552-D08D31258730}"/>
              </a:ext>
            </a:extLst>
          </p:cNvPr>
          <p:cNvSpPr/>
          <p:nvPr/>
        </p:nvSpPr>
        <p:spPr>
          <a:xfrm>
            <a:off x="5508104" y="1355524"/>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25" name="Rectangle 24">
            <a:extLst>
              <a:ext uri="{FF2B5EF4-FFF2-40B4-BE49-F238E27FC236}">
                <a16:creationId xmlns:a16="http://schemas.microsoft.com/office/drawing/2014/main" id="{F6C73994-04C7-5844-85AB-484AC9D6D216}"/>
              </a:ext>
            </a:extLst>
          </p:cNvPr>
          <p:cNvSpPr/>
          <p:nvPr/>
        </p:nvSpPr>
        <p:spPr>
          <a:xfrm>
            <a:off x="6073062" y="2560075"/>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sp>
        <p:nvSpPr>
          <p:cNvPr id="26" name="Rectangle 25">
            <a:extLst>
              <a:ext uri="{FF2B5EF4-FFF2-40B4-BE49-F238E27FC236}">
                <a16:creationId xmlns:a16="http://schemas.microsoft.com/office/drawing/2014/main" id="{421B53B1-2F4B-5945-AC43-A1F05DD1E2A1}"/>
              </a:ext>
            </a:extLst>
          </p:cNvPr>
          <p:cNvSpPr/>
          <p:nvPr/>
        </p:nvSpPr>
        <p:spPr>
          <a:xfrm>
            <a:off x="6469106" y="196241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cxnSp>
        <p:nvCxnSpPr>
          <p:cNvPr id="13" name="Curved Connector 12">
            <a:extLst>
              <a:ext uri="{FF2B5EF4-FFF2-40B4-BE49-F238E27FC236}">
                <a16:creationId xmlns:a16="http://schemas.microsoft.com/office/drawing/2014/main" id="{1921B267-CAE2-0349-824A-3AA4D6AC0BB9}"/>
              </a:ext>
            </a:extLst>
          </p:cNvPr>
          <p:cNvCxnSpPr>
            <a:stCxn id="8" idx="0"/>
            <a:endCxn id="24" idx="1"/>
          </p:cNvCxnSpPr>
          <p:nvPr/>
        </p:nvCxnSpPr>
        <p:spPr>
          <a:xfrm rot="5400000" flipH="1" flipV="1">
            <a:off x="3293789" y="1218009"/>
            <a:ext cx="1824462" cy="260416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D8F6534-3FAA-D94A-BEDF-F205FFEABDA3}"/>
              </a:ext>
            </a:extLst>
          </p:cNvPr>
          <p:cNvCxnSpPr>
            <a:cxnSpLocks/>
            <a:stCxn id="9" idx="0"/>
            <a:endCxn id="26" idx="1"/>
          </p:cNvCxnSpPr>
          <p:nvPr/>
        </p:nvCxnSpPr>
        <p:spPr>
          <a:xfrm rot="5400000" flipH="1" flipV="1">
            <a:off x="4341531" y="1304750"/>
            <a:ext cx="1217567" cy="303758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7BAAEA6D-BB50-E14D-83AB-FD935E0301DB}"/>
              </a:ext>
            </a:extLst>
          </p:cNvPr>
          <p:cNvCxnSpPr>
            <a:cxnSpLocks/>
            <a:stCxn id="17" idx="0"/>
            <a:endCxn id="25" idx="1"/>
          </p:cNvCxnSpPr>
          <p:nvPr/>
        </p:nvCxnSpPr>
        <p:spPr>
          <a:xfrm rot="5400000" flipH="1" flipV="1">
            <a:off x="4713645" y="2072504"/>
            <a:ext cx="619508" cy="209932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CF2926FE-97CB-6842-BB41-98F195D4FF97}"/>
              </a:ext>
            </a:extLst>
          </p:cNvPr>
          <p:cNvSpPr/>
          <p:nvPr/>
        </p:nvSpPr>
        <p:spPr>
          <a:xfrm>
            <a:off x="5330507" y="343146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36" name="Rectangle 35">
            <a:extLst>
              <a:ext uri="{FF2B5EF4-FFF2-40B4-BE49-F238E27FC236}">
                <a16:creationId xmlns:a16="http://schemas.microsoft.com/office/drawing/2014/main" id="{FA2C40D1-F5BB-B047-A715-9307BDBC12BD}"/>
              </a:ext>
            </a:extLst>
          </p:cNvPr>
          <p:cNvSpPr/>
          <p:nvPr/>
        </p:nvSpPr>
        <p:spPr>
          <a:xfrm>
            <a:off x="5858094" y="343146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37" name="Rectangle 36">
            <a:extLst>
              <a:ext uri="{FF2B5EF4-FFF2-40B4-BE49-F238E27FC236}">
                <a16:creationId xmlns:a16="http://schemas.microsoft.com/office/drawing/2014/main" id="{D8F2A2AE-163A-9D45-BD63-52E4F4243B93}"/>
              </a:ext>
            </a:extLst>
          </p:cNvPr>
          <p:cNvSpPr/>
          <p:nvPr/>
        </p:nvSpPr>
        <p:spPr>
          <a:xfrm>
            <a:off x="4639062" y="343146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38" name="Rectangle 37">
            <a:extLst>
              <a:ext uri="{FF2B5EF4-FFF2-40B4-BE49-F238E27FC236}">
                <a16:creationId xmlns:a16="http://schemas.microsoft.com/office/drawing/2014/main" id="{25537AE6-D589-A347-86AF-FB41733CE606}"/>
              </a:ext>
            </a:extLst>
          </p:cNvPr>
          <p:cNvSpPr/>
          <p:nvPr/>
        </p:nvSpPr>
        <p:spPr>
          <a:xfrm>
            <a:off x="6185484" y="3431067"/>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40" name="Rectangle 39">
            <a:extLst>
              <a:ext uri="{FF2B5EF4-FFF2-40B4-BE49-F238E27FC236}">
                <a16:creationId xmlns:a16="http://schemas.microsoft.com/office/drawing/2014/main" id="{F19B93AD-B16C-2F4F-B473-D20FE76D2295}"/>
              </a:ext>
            </a:extLst>
          </p:cNvPr>
          <p:cNvSpPr/>
          <p:nvPr/>
        </p:nvSpPr>
        <p:spPr>
          <a:xfrm>
            <a:off x="5143118" y="3431872"/>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41" name="Rectangle 40">
            <a:extLst>
              <a:ext uri="{FF2B5EF4-FFF2-40B4-BE49-F238E27FC236}">
                <a16:creationId xmlns:a16="http://schemas.microsoft.com/office/drawing/2014/main" id="{208D4C7B-4F25-204A-A558-D13DA1CC47A9}"/>
              </a:ext>
            </a:extLst>
          </p:cNvPr>
          <p:cNvSpPr/>
          <p:nvPr/>
        </p:nvSpPr>
        <p:spPr>
          <a:xfrm>
            <a:off x="5649133" y="343224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3" name="TextBox 32">
            <a:extLst>
              <a:ext uri="{FF2B5EF4-FFF2-40B4-BE49-F238E27FC236}">
                <a16:creationId xmlns:a16="http://schemas.microsoft.com/office/drawing/2014/main" id="{94CAB842-54B6-524A-B551-D29CE3FF9471}"/>
              </a:ext>
            </a:extLst>
          </p:cNvPr>
          <p:cNvSpPr txBox="1"/>
          <p:nvPr/>
        </p:nvSpPr>
        <p:spPr>
          <a:xfrm>
            <a:off x="6748880" y="3449625"/>
            <a:ext cx="646331" cy="369332"/>
          </a:xfrm>
          <a:prstGeom prst="rect">
            <a:avLst/>
          </a:prstGeom>
          <a:noFill/>
        </p:spPr>
        <p:txBody>
          <a:bodyPr wrap="none" rtlCol="0">
            <a:spAutoFit/>
          </a:bodyPr>
          <a:lstStyle/>
          <a:p>
            <a:r>
              <a:rPr lang="en-US" altLang="zh-CN" dirty="0"/>
              <a:t>……</a:t>
            </a:r>
            <a:endParaRPr lang="en-CN" dirty="0"/>
          </a:p>
        </p:txBody>
      </p:sp>
    </p:spTree>
    <p:extLst>
      <p:ext uri="{BB962C8B-B14F-4D97-AF65-F5344CB8AC3E}">
        <p14:creationId xmlns:p14="http://schemas.microsoft.com/office/powerpoint/2010/main" val="2039104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利用内存中的页缓存</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7211145" cy="3771636"/>
          </a:xfrm>
        </p:spPr>
        <p:txBody>
          <a:bodyPr>
            <a:normAutofit/>
          </a:bodyPr>
          <a:lstStyle/>
          <a:p>
            <a:pPr marL="0" indent="0">
              <a:buNone/>
            </a:pPr>
            <a:r>
              <a:rPr lang="zh-CN" altLang="en-CN" sz="1600" b="0" dirty="0"/>
              <a:t>在</a:t>
            </a:r>
            <a:r>
              <a:rPr lang="zh-CN" altLang="en-US" sz="1600" b="0" dirty="0"/>
              <a:t>内存中记录日志，异步写入到磁盘中</a:t>
            </a:r>
            <a:endParaRPr lang="en-US" altLang="zh-CN" sz="1600" b="0" dirty="0"/>
          </a:p>
          <a:p>
            <a:pPr marL="0" indent="0">
              <a:buNone/>
            </a:pPr>
            <a:r>
              <a:rPr lang="zh-CN" altLang="en-US" sz="1600" b="0" dirty="0"/>
              <a:t>仅需保证日志提交在磁盘数据修改之前</a:t>
            </a:r>
            <a:endParaRPr lang="en-US" altLang="zh-CN" sz="1600" b="0" dirty="0"/>
          </a:p>
          <a:p>
            <a:pPr marL="0" indent="0">
              <a:buNone/>
            </a:pPr>
            <a:r>
              <a:rPr lang="zh-CN" altLang="en-US" sz="1600" b="0" dirty="0"/>
              <a:t>利用内存中的页缓存</a:t>
            </a:r>
            <a:endParaRPr lang="en-US" altLang="zh-CN" sz="16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sp>
        <p:nvSpPr>
          <p:cNvPr id="8" name="Rectangle 7">
            <a:extLst>
              <a:ext uri="{FF2B5EF4-FFF2-40B4-BE49-F238E27FC236}">
                <a16:creationId xmlns:a16="http://schemas.microsoft.com/office/drawing/2014/main" id="{AF17B6EE-9199-B441-BCD8-23607022BC86}"/>
              </a:ext>
            </a:extLst>
          </p:cNvPr>
          <p:cNvSpPr/>
          <p:nvPr/>
        </p:nvSpPr>
        <p:spPr>
          <a:xfrm>
            <a:off x="2741206" y="3432324"/>
            <a:ext cx="325460" cy="504676"/>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9" name="Rectangle 8">
            <a:extLst>
              <a:ext uri="{FF2B5EF4-FFF2-40B4-BE49-F238E27FC236}">
                <a16:creationId xmlns:a16="http://schemas.microsoft.com/office/drawing/2014/main" id="{F50834FF-82A3-ED45-9D07-58E1517527B4}"/>
              </a:ext>
            </a:extLst>
          </p:cNvPr>
          <p:cNvSpPr/>
          <p:nvPr/>
        </p:nvSpPr>
        <p:spPr>
          <a:xfrm>
            <a:off x="3268793" y="3432324"/>
            <a:ext cx="325460" cy="504676"/>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cxnSp>
        <p:nvCxnSpPr>
          <p:cNvPr id="11" name="Straight Connector 10">
            <a:extLst>
              <a:ext uri="{FF2B5EF4-FFF2-40B4-BE49-F238E27FC236}">
                <a16:creationId xmlns:a16="http://schemas.microsoft.com/office/drawing/2014/main" id="{1239CDEF-BD3C-1F4F-8FC5-3E699BFBD864}"/>
              </a:ext>
            </a:extLst>
          </p:cNvPr>
          <p:cNvCxnSpPr/>
          <p:nvPr/>
        </p:nvCxnSpPr>
        <p:spPr>
          <a:xfrm>
            <a:off x="2553817" y="3432324"/>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EA58414-EB70-F246-A81A-620440E94B07}"/>
              </a:ext>
            </a:extLst>
          </p:cNvPr>
          <p:cNvCxnSpPr/>
          <p:nvPr/>
        </p:nvCxnSpPr>
        <p:spPr>
          <a:xfrm>
            <a:off x="2553817" y="3937000"/>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A592295-AFDB-E443-B217-4A51245211CC}"/>
              </a:ext>
            </a:extLst>
          </p:cNvPr>
          <p:cNvSpPr/>
          <p:nvPr/>
        </p:nvSpPr>
        <p:spPr>
          <a:xfrm>
            <a:off x="2049761" y="3432324"/>
            <a:ext cx="504056" cy="504676"/>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16" name="Rectangle 15">
            <a:extLst>
              <a:ext uri="{FF2B5EF4-FFF2-40B4-BE49-F238E27FC236}">
                <a16:creationId xmlns:a16="http://schemas.microsoft.com/office/drawing/2014/main" id="{3868C864-94EB-9E48-998A-F77BFD1ECC6A}"/>
              </a:ext>
            </a:extLst>
          </p:cNvPr>
          <p:cNvSpPr/>
          <p:nvPr/>
        </p:nvSpPr>
        <p:spPr>
          <a:xfrm>
            <a:off x="4137907" y="3432324"/>
            <a:ext cx="504056" cy="504676"/>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17" name="Rectangle 16">
            <a:extLst>
              <a:ext uri="{FF2B5EF4-FFF2-40B4-BE49-F238E27FC236}">
                <a16:creationId xmlns:a16="http://schemas.microsoft.com/office/drawing/2014/main" id="{77314EC5-AD6A-D14F-9676-D9DF436B8186}"/>
              </a:ext>
            </a:extLst>
          </p:cNvPr>
          <p:cNvSpPr/>
          <p:nvPr/>
        </p:nvSpPr>
        <p:spPr>
          <a:xfrm>
            <a:off x="3811006" y="3431921"/>
            <a:ext cx="325460" cy="504676"/>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19" name="Rectangle 18">
            <a:extLst>
              <a:ext uri="{FF2B5EF4-FFF2-40B4-BE49-F238E27FC236}">
                <a16:creationId xmlns:a16="http://schemas.microsoft.com/office/drawing/2014/main" id="{64ED7109-4200-7E4B-8230-1EBB402B16C8}"/>
              </a:ext>
            </a:extLst>
          </p:cNvPr>
          <p:cNvSpPr/>
          <p:nvPr/>
        </p:nvSpPr>
        <p:spPr>
          <a:xfrm>
            <a:off x="2553817" y="3432727"/>
            <a:ext cx="207640" cy="50387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0" name="Rectangle 19">
            <a:extLst>
              <a:ext uri="{FF2B5EF4-FFF2-40B4-BE49-F238E27FC236}">
                <a16:creationId xmlns:a16="http://schemas.microsoft.com/office/drawing/2014/main" id="{E010EBEE-5C18-034C-840A-335AF034DF34}"/>
              </a:ext>
            </a:extLst>
          </p:cNvPr>
          <p:cNvSpPr/>
          <p:nvPr/>
        </p:nvSpPr>
        <p:spPr>
          <a:xfrm>
            <a:off x="3059832" y="3433100"/>
            <a:ext cx="207640" cy="50387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1" name="Rectangle 20">
            <a:extLst>
              <a:ext uri="{FF2B5EF4-FFF2-40B4-BE49-F238E27FC236}">
                <a16:creationId xmlns:a16="http://schemas.microsoft.com/office/drawing/2014/main" id="{9E4E1FEC-81CC-4F46-9AF8-6062E7A5A45E}"/>
              </a:ext>
            </a:extLst>
          </p:cNvPr>
          <p:cNvSpPr/>
          <p:nvPr/>
        </p:nvSpPr>
        <p:spPr>
          <a:xfrm>
            <a:off x="3601942" y="3433102"/>
            <a:ext cx="207640" cy="50387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cxnSp>
        <p:nvCxnSpPr>
          <p:cNvPr id="27" name="Straight Connector 26">
            <a:extLst>
              <a:ext uri="{FF2B5EF4-FFF2-40B4-BE49-F238E27FC236}">
                <a16:creationId xmlns:a16="http://schemas.microsoft.com/office/drawing/2014/main" id="{6D2215FC-8F5F-C844-8F0E-E3040B950BEB}"/>
              </a:ext>
            </a:extLst>
          </p:cNvPr>
          <p:cNvCxnSpPr>
            <a:cxnSpLocks/>
          </p:cNvCxnSpPr>
          <p:nvPr/>
        </p:nvCxnSpPr>
        <p:spPr>
          <a:xfrm>
            <a:off x="2049761" y="4433547"/>
            <a:ext cx="52565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D8A1CD9-2EA8-BB47-9FBE-FB33B8576EDF}"/>
              </a:ext>
            </a:extLst>
          </p:cNvPr>
          <p:cNvCxnSpPr>
            <a:cxnSpLocks/>
          </p:cNvCxnSpPr>
          <p:nvPr/>
        </p:nvCxnSpPr>
        <p:spPr>
          <a:xfrm>
            <a:off x="2049761" y="4938223"/>
            <a:ext cx="5256584"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B6844A5-A106-5D41-9199-2D89EB9FDBDA}"/>
              </a:ext>
            </a:extLst>
          </p:cNvPr>
          <p:cNvSpPr txBox="1"/>
          <p:nvPr/>
        </p:nvSpPr>
        <p:spPr>
          <a:xfrm>
            <a:off x="881876" y="3499593"/>
            <a:ext cx="646331" cy="369332"/>
          </a:xfrm>
          <a:prstGeom prst="rect">
            <a:avLst/>
          </a:prstGeom>
          <a:noFill/>
        </p:spPr>
        <p:txBody>
          <a:bodyPr wrap="none" rtlCol="0">
            <a:spAutoFit/>
          </a:bodyPr>
          <a:lstStyle/>
          <a:p>
            <a:r>
              <a:rPr lang="zh-CN" altLang="en-CN" dirty="0"/>
              <a:t>内存</a:t>
            </a:r>
            <a:endParaRPr lang="en-CN" dirty="0"/>
          </a:p>
        </p:txBody>
      </p:sp>
      <p:sp>
        <p:nvSpPr>
          <p:cNvPr id="22" name="TextBox 21">
            <a:extLst>
              <a:ext uri="{FF2B5EF4-FFF2-40B4-BE49-F238E27FC236}">
                <a16:creationId xmlns:a16="http://schemas.microsoft.com/office/drawing/2014/main" id="{5F5FF836-E5EC-F14A-8DB4-578936E80879}"/>
              </a:ext>
            </a:extLst>
          </p:cNvPr>
          <p:cNvSpPr txBox="1"/>
          <p:nvPr/>
        </p:nvSpPr>
        <p:spPr>
          <a:xfrm>
            <a:off x="881876" y="4555159"/>
            <a:ext cx="646331" cy="369332"/>
          </a:xfrm>
          <a:prstGeom prst="rect">
            <a:avLst/>
          </a:prstGeom>
          <a:noFill/>
        </p:spPr>
        <p:txBody>
          <a:bodyPr wrap="none" rtlCol="0">
            <a:spAutoFit/>
          </a:bodyPr>
          <a:lstStyle/>
          <a:p>
            <a:r>
              <a:rPr lang="zh-CN" altLang="en-US" dirty="0"/>
              <a:t>磁盘</a:t>
            </a:r>
            <a:endParaRPr lang="en-CN" dirty="0"/>
          </a:p>
        </p:txBody>
      </p:sp>
      <p:sp>
        <p:nvSpPr>
          <p:cNvPr id="23" name="Rectangle 22">
            <a:extLst>
              <a:ext uri="{FF2B5EF4-FFF2-40B4-BE49-F238E27FC236}">
                <a16:creationId xmlns:a16="http://schemas.microsoft.com/office/drawing/2014/main" id="{A627E2CE-E5D8-A247-84DE-AD5493AD45CE}"/>
              </a:ext>
            </a:extLst>
          </p:cNvPr>
          <p:cNvSpPr/>
          <p:nvPr/>
        </p:nvSpPr>
        <p:spPr>
          <a:xfrm>
            <a:off x="5364089" y="1129308"/>
            <a:ext cx="2304256" cy="2043287"/>
          </a:xfrm>
          <a:prstGeom prst="rect">
            <a:avLst/>
          </a:prstGeom>
          <a:noFill/>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050" dirty="0"/>
          </a:p>
        </p:txBody>
      </p:sp>
      <p:sp>
        <p:nvSpPr>
          <p:cNvPr id="6" name="TextBox 5">
            <a:extLst>
              <a:ext uri="{FF2B5EF4-FFF2-40B4-BE49-F238E27FC236}">
                <a16:creationId xmlns:a16="http://schemas.microsoft.com/office/drawing/2014/main" id="{31E7C60C-31DA-FA4D-A7A9-A3A732CD4737}"/>
              </a:ext>
            </a:extLst>
          </p:cNvPr>
          <p:cNvSpPr txBox="1"/>
          <p:nvPr/>
        </p:nvSpPr>
        <p:spPr>
          <a:xfrm>
            <a:off x="5272843" y="808986"/>
            <a:ext cx="800219" cy="338554"/>
          </a:xfrm>
          <a:prstGeom prst="rect">
            <a:avLst/>
          </a:prstGeom>
          <a:noFill/>
        </p:spPr>
        <p:txBody>
          <a:bodyPr wrap="none" rtlCol="0">
            <a:spAutoFit/>
          </a:bodyPr>
          <a:lstStyle/>
          <a:p>
            <a:r>
              <a:rPr lang="zh-CN" altLang="en-CN" sz="1600" dirty="0"/>
              <a:t>页缓存</a:t>
            </a:r>
            <a:endParaRPr lang="en-CN" sz="1600" dirty="0"/>
          </a:p>
        </p:txBody>
      </p:sp>
      <p:sp>
        <p:nvSpPr>
          <p:cNvPr id="24" name="Rectangle 23">
            <a:extLst>
              <a:ext uri="{FF2B5EF4-FFF2-40B4-BE49-F238E27FC236}">
                <a16:creationId xmlns:a16="http://schemas.microsoft.com/office/drawing/2014/main" id="{CD06C7D9-B514-E446-A552-D08D31258730}"/>
              </a:ext>
            </a:extLst>
          </p:cNvPr>
          <p:cNvSpPr/>
          <p:nvPr/>
        </p:nvSpPr>
        <p:spPr>
          <a:xfrm>
            <a:off x="5508104" y="1355524"/>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25" name="Rectangle 24">
            <a:extLst>
              <a:ext uri="{FF2B5EF4-FFF2-40B4-BE49-F238E27FC236}">
                <a16:creationId xmlns:a16="http://schemas.microsoft.com/office/drawing/2014/main" id="{F6C73994-04C7-5844-85AB-484AC9D6D216}"/>
              </a:ext>
            </a:extLst>
          </p:cNvPr>
          <p:cNvSpPr/>
          <p:nvPr/>
        </p:nvSpPr>
        <p:spPr>
          <a:xfrm>
            <a:off x="6073062" y="2560075"/>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sp>
        <p:nvSpPr>
          <p:cNvPr id="26" name="Rectangle 25">
            <a:extLst>
              <a:ext uri="{FF2B5EF4-FFF2-40B4-BE49-F238E27FC236}">
                <a16:creationId xmlns:a16="http://schemas.microsoft.com/office/drawing/2014/main" id="{421B53B1-2F4B-5945-AC43-A1F05DD1E2A1}"/>
              </a:ext>
            </a:extLst>
          </p:cNvPr>
          <p:cNvSpPr/>
          <p:nvPr/>
        </p:nvSpPr>
        <p:spPr>
          <a:xfrm>
            <a:off x="6469106" y="196241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cxnSp>
        <p:nvCxnSpPr>
          <p:cNvPr id="13" name="Curved Connector 12">
            <a:extLst>
              <a:ext uri="{FF2B5EF4-FFF2-40B4-BE49-F238E27FC236}">
                <a16:creationId xmlns:a16="http://schemas.microsoft.com/office/drawing/2014/main" id="{1921B267-CAE2-0349-824A-3AA4D6AC0BB9}"/>
              </a:ext>
            </a:extLst>
          </p:cNvPr>
          <p:cNvCxnSpPr>
            <a:stCxn id="8" idx="0"/>
            <a:endCxn id="24" idx="1"/>
          </p:cNvCxnSpPr>
          <p:nvPr/>
        </p:nvCxnSpPr>
        <p:spPr>
          <a:xfrm rot="5400000" flipH="1" flipV="1">
            <a:off x="3293789" y="1218009"/>
            <a:ext cx="1824462" cy="260416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D8F6534-3FAA-D94A-BEDF-F205FFEABDA3}"/>
              </a:ext>
            </a:extLst>
          </p:cNvPr>
          <p:cNvCxnSpPr>
            <a:cxnSpLocks/>
            <a:stCxn id="9" idx="0"/>
            <a:endCxn id="26" idx="1"/>
          </p:cNvCxnSpPr>
          <p:nvPr/>
        </p:nvCxnSpPr>
        <p:spPr>
          <a:xfrm rot="5400000" flipH="1" flipV="1">
            <a:off x="4341531" y="1304750"/>
            <a:ext cx="1217567" cy="303758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7BAAEA6D-BB50-E14D-83AB-FD935E0301DB}"/>
              </a:ext>
            </a:extLst>
          </p:cNvPr>
          <p:cNvCxnSpPr>
            <a:cxnSpLocks/>
            <a:stCxn id="17" idx="0"/>
            <a:endCxn id="25" idx="1"/>
          </p:cNvCxnSpPr>
          <p:nvPr/>
        </p:nvCxnSpPr>
        <p:spPr>
          <a:xfrm rot="5400000" flipH="1" flipV="1">
            <a:off x="4713645" y="2072504"/>
            <a:ext cx="619508" cy="209932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CF2926FE-97CB-6842-BB41-98F195D4FF97}"/>
              </a:ext>
            </a:extLst>
          </p:cNvPr>
          <p:cNvSpPr/>
          <p:nvPr/>
        </p:nvSpPr>
        <p:spPr>
          <a:xfrm>
            <a:off x="5330507" y="343146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36" name="Rectangle 35">
            <a:extLst>
              <a:ext uri="{FF2B5EF4-FFF2-40B4-BE49-F238E27FC236}">
                <a16:creationId xmlns:a16="http://schemas.microsoft.com/office/drawing/2014/main" id="{FA2C40D1-F5BB-B047-A715-9307BDBC12BD}"/>
              </a:ext>
            </a:extLst>
          </p:cNvPr>
          <p:cNvSpPr/>
          <p:nvPr/>
        </p:nvSpPr>
        <p:spPr>
          <a:xfrm>
            <a:off x="5858094" y="343146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37" name="Rectangle 36">
            <a:extLst>
              <a:ext uri="{FF2B5EF4-FFF2-40B4-BE49-F238E27FC236}">
                <a16:creationId xmlns:a16="http://schemas.microsoft.com/office/drawing/2014/main" id="{D8F2A2AE-163A-9D45-BD63-52E4F4243B93}"/>
              </a:ext>
            </a:extLst>
          </p:cNvPr>
          <p:cNvSpPr/>
          <p:nvPr/>
        </p:nvSpPr>
        <p:spPr>
          <a:xfrm>
            <a:off x="4639062" y="343146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38" name="Rectangle 37">
            <a:extLst>
              <a:ext uri="{FF2B5EF4-FFF2-40B4-BE49-F238E27FC236}">
                <a16:creationId xmlns:a16="http://schemas.microsoft.com/office/drawing/2014/main" id="{25537AE6-D589-A347-86AF-FB41733CE606}"/>
              </a:ext>
            </a:extLst>
          </p:cNvPr>
          <p:cNvSpPr/>
          <p:nvPr/>
        </p:nvSpPr>
        <p:spPr>
          <a:xfrm>
            <a:off x="6185484" y="3431067"/>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40" name="Rectangle 39">
            <a:extLst>
              <a:ext uri="{FF2B5EF4-FFF2-40B4-BE49-F238E27FC236}">
                <a16:creationId xmlns:a16="http://schemas.microsoft.com/office/drawing/2014/main" id="{F19B93AD-B16C-2F4F-B473-D20FE76D2295}"/>
              </a:ext>
            </a:extLst>
          </p:cNvPr>
          <p:cNvSpPr/>
          <p:nvPr/>
        </p:nvSpPr>
        <p:spPr>
          <a:xfrm>
            <a:off x="5143118" y="3431872"/>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41" name="Rectangle 40">
            <a:extLst>
              <a:ext uri="{FF2B5EF4-FFF2-40B4-BE49-F238E27FC236}">
                <a16:creationId xmlns:a16="http://schemas.microsoft.com/office/drawing/2014/main" id="{208D4C7B-4F25-204A-A558-D13DA1CC47A9}"/>
              </a:ext>
            </a:extLst>
          </p:cNvPr>
          <p:cNvSpPr/>
          <p:nvPr/>
        </p:nvSpPr>
        <p:spPr>
          <a:xfrm>
            <a:off x="5649133" y="343224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3" name="TextBox 32">
            <a:extLst>
              <a:ext uri="{FF2B5EF4-FFF2-40B4-BE49-F238E27FC236}">
                <a16:creationId xmlns:a16="http://schemas.microsoft.com/office/drawing/2014/main" id="{94CAB842-54B6-524A-B551-D29CE3FF9471}"/>
              </a:ext>
            </a:extLst>
          </p:cNvPr>
          <p:cNvSpPr txBox="1"/>
          <p:nvPr/>
        </p:nvSpPr>
        <p:spPr>
          <a:xfrm>
            <a:off x="6748880" y="3449625"/>
            <a:ext cx="646331" cy="369332"/>
          </a:xfrm>
          <a:prstGeom prst="rect">
            <a:avLst/>
          </a:prstGeom>
          <a:noFill/>
        </p:spPr>
        <p:txBody>
          <a:bodyPr wrap="none" rtlCol="0">
            <a:spAutoFit/>
          </a:bodyPr>
          <a:lstStyle/>
          <a:p>
            <a:r>
              <a:rPr lang="en-US" altLang="zh-CN" dirty="0"/>
              <a:t>……</a:t>
            </a:r>
            <a:endParaRPr lang="en-CN" dirty="0"/>
          </a:p>
        </p:txBody>
      </p:sp>
      <p:sp>
        <p:nvSpPr>
          <p:cNvPr id="43" name="Rectangle 42">
            <a:extLst>
              <a:ext uri="{FF2B5EF4-FFF2-40B4-BE49-F238E27FC236}">
                <a16:creationId xmlns:a16="http://schemas.microsoft.com/office/drawing/2014/main" id="{CFA86953-1D1B-754A-83D5-0AAED81C20E6}"/>
              </a:ext>
            </a:extLst>
          </p:cNvPr>
          <p:cNvSpPr/>
          <p:nvPr/>
        </p:nvSpPr>
        <p:spPr>
          <a:xfrm>
            <a:off x="2741206" y="4433547"/>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44" name="Rectangle 43">
            <a:extLst>
              <a:ext uri="{FF2B5EF4-FFF2-40B4-BE49-F238E27FC236}">
                <a16:creationId xmlns:a16="http://schemas.microsoft.com/office/drawing/2014/main" id="{D871B2DC-C5A1-8149-A6FA-BF0D62EA4F6B}"/>
              </a:ext>
            </a:extLst>
          </p:cNvPr>
          <p:cNvSpPr/>
          <p:nvPr/>
        </p:nvSpPr>
        <p:spPr>
          <a:xfrm>
            <a:off x="3745189" y="4433346"/>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sp>
        <p:nvSpPr>
          <p:cNvPr id="45" name="Rectangle 44">
            <a:extLst>
              <a:ext uri="{FF2B5EF4-FFF2-40B4-BE49-F238E27FC236}">
                <a16:creationId xmlns:a16="http://schemas.microsoft.com/office/drawing/2014/main" id="{35444E5C-6297-6340-AD4D-36E33D9565EC}"/>
              </a:ext>
            </a:extLst>
          </p:cNvPr>
          <p:cNvSpPr/>
          <p:nvPr/>
        </p:nvSpPr>
        <p:spPr>
          <a:xfrm>
            <a:off x="2049761" y="4433547"/>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46" name="Rectangle 45">
            <a:extLst>
              <a:ext uri="{FF2B5EF4-FFF2-40B4-BE49-F238E27FC236}">
                <a16:creationId xmlns:a16="http://schemas.microsoft.com/office/drawing/2014/main" id="{C81D3D70-4808-0E4E-8165-7CFCEF10E5BE}"/>
              </a:ext>
            </a:extLst>
          </p:cNvPr>
          <p:cNvSpPr/>
          <p:nvPr/>
        </p:nvSpPr>
        <p:spPr>
          <a:xfrm>
            <a:off x="5542684" y="4433144"/>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47" name="Rectangle 46">
            <a:extLst>
              <a:ext uri="{FF2B5EF4-FFF2-40B4-BE49-F238E27FC236}">
                <a16:creationId xmlns:a16="http://schemas.microsoft.com/office/drawing/2014/main" id="{427CC4DF-3BD8-9744-AD9F-A09AEB453AF2}"/>
              </a:ext>
            </a:extLst>
          </p:cNvPr>
          <p:cNvSpPr/>
          <p:nvPr/>
        </p:nvSpPr>
        <p:spPr>
          <a:xfrm>
            <a:off x="4750596" y="4433144"/>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sp>
        <p:nvSpPr>
          <p:cNvPr id="48" name="Rectangle 47">
            <a:extLst>
              <a:ext uri="{FF2B5EF4-FFF2-40B4-BE49-F238E27FC236}">
                <a16:creationId xmlns:a16="http://schemas.microsoft.com/office/drawing/2014/main" id="{FEB638CB-7ECF-3846-91F1-629E89C4F297}"/>
              </a:ext>
            </a:extLst>
          </p:cNvPr>
          <p:cNvSpPr/>
          <p:nvPr/>
        </p:nvSpPr>
        <p:spPr>
          <a:xfrm>
            <a:off x="2553817" y="443395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49" name="Rectangle 48">
            <a:extLst>
              <a:ext uri="{FF2B5EF4-FFF2-40B4-BE49-F238E27FC236}">
                <a16:creationId xmlns:a16="http://schemas.microsoft.com/office/drawing/2014/main" id="{5F693B5E-D973-324D-A9A8-27C0E07A119A}"/>
              </a:ext>
            </a:extLst>
          </p:cNvPr>
          <p:cNvSpPr/>
          <p:nvPr/>
        </p:nvSpPr>
        <p:spPr>
          <a:xfrm>
            <a:off x="3536228" y="4434122"/>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50" name="Rectangle 49">
            <a:extLst>
              <a:ext uri="{FF2B5EF4-FFF2-40B4-BE49-F238E27FC236}">
                <a16:creationId xmlns:a16="http://schemas.microsoft.com/office/drawing/2014/main" id="{6FB77459-4D72-D445-8E70-F57F07A14F10}"/>
              </a:ext>
            </a:extLst>
          </p:cNvPr>
          <p:cNvSpPr/>
          <p:nvPr/>
        </p:nvSpPr>
        <p:spPr>
          <a:xfrm>
            <a:off x="4541532" y="443432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cxnSp>
        <p:nvCxnSpPr>
          <p:cNvPr id="51" name="Straight Arrow Connector 50">
            <a:extLst>
              <a:ext uri="{FF2B5EF4-FFF2-40B4-BE49-F238E27FC236}">
                <a16:creationId xmlns:a16="http://schemas.microsoft.com/office/drawing/2014/main" id="{8A3387D7-1A33-FA4C-8921-678E621E3B57}"/>
              </a:ext>
            </a:extLst>
          </p:cNvPr>
          <p:cNvCxnSpPr>
            <a:cxnSpLocks/>
          </p:cNvCxnSpPr>
          <p:nvPr/>
        </p:nvCxnSpPr>
        <p:spPr>
          <a:xfrm>
            <a:off x="2301789" y="3937000"/>
            <a:ext cx="0" cy="496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036A31A-CEE6-804D-BA8C-5E9F4139C0DD}"/>
              </a:ext>
            </a:extLst>
          </p:cNvPr>
          <p:cNvCxnSpPr>
            <a:cxnSpLocks/>
          </p:cNvCxnSpPr>
          <p:nvPr/>
        </p:nvCxnSpPr>
        <p:spPr>
          <a:xfrm>
            <a:off x="2657637" y="3936597"/>
            <a:ext cx="0" cy="497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58D5774-B2B8-454D-9F1A-065C66EFEDDC}"/>
              </a:ext>
            </a:extLst>
          </p:cNvPr>
          <p:cNvCxnSpPr>
            <a:cxnSpLocks/>
            <a:stCxn id="8" idx="2"/>
          </p:cNvCxnSpPr>
          <p:nvPr/>
        </p:nvCxnSpPr>
        <p:spPr>
          <a:xfrm>
            <a:off x="2903936" y="3937000"/>
            <a:ext cx="233314" cy="496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9E77DE9-9DF3-AA4F-A1D2-7F904F55D5D3}"/>
              </a:ext>
            </a:extLst>
          </p:cNvPr>
          <p:cNvCxnSpPr>
            <a:cxnSpLocks/>
            <a:stCxn id="20" idx="2"/>
          </p:cNvCxnSpPr>
          <p:nvPr/>
        </p:nvCxnSpPr>
        <p:spPr>
          <a:xfrm>
            <a:off x="3163652" y="3936970"/>
            <a:ext cx="476396" cy="4971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53A3EE4-FD60-1545-B09B-2376BFC73584}"/>
              </a:ext>
            </a:extLst>
          </p:cNvPr>
          <p:cNvCxnSpPr>
            <a:cxnSpLocks/>
            <a:stCxn id="16" idx="2"/>
          </p:cNvCxnSpPr>
          <p:nvPr/>
        </p:nvCxnSpPr>
        <p:spPr>
          <a:xfrm>
            <a:off x="4389935" y="3937000"/>
            <a:ext cx="1404777" cy="496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8CD8244B-A03B-5D4E-947A-97F31278D098}"/>
              </a:ext>
            </a:extLst>
          </p:cNvPr>
          <p:cNvCxnSpPr>
            <a:cxnSpLocks/>
            <a:stCxn id="9" idx="2"/>
          </p:cNvCxnSpPr>
          <p:nvPr/>
        </p:nvCxnSpPr>
        <p:spPr>
          <a:xfrm>
            <a:off x="3431523" y="3937000"/>
            <a:ext cx="709710" cy="496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F206D46-B7CE-7B4A-BF08-E09E2041A335}"/>
              </a:ext>
            </a:extLst>
          </p:cNvPr>
          <p:cNvCxnSpPr>
            <a:cxnSpLocks/>
            <a:stCxn id="17" idx="2"/>
          </p:cNvCxnSpPr>
          <p:nvPr/>
        </p:nvCxnSpPr>
        <p:spPr>
          <a:xfrm>
            <a:off x="3973736" y="3936597"/>
            <a:ext cx="1172904" cy="496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AD26FD28-5FD3-794F-90BD-C866B06399D7}"/>
              </a:ext>
            </a:extLst>
          </p:cNvPr>
          <p:cNvCxnSpPr>
            <a:cxnSpLocks/>
            <a:stCxn id="21" idx="2"/>
          </p:cNvCxnSpPr>
          <p:nvPr/>
        </p:nvCxnSpPr>
        <p:spPr>
          <a:xfrm>
            <a:off x="3705762" y="3936972"/>
            <a:ext cx="939590" cy="497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41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批量处理日志以减少磁盘写</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7211145" cy="3771636"/>
          </a:xfrm>
        </p:spPr>
        <p:txBody>
          <a:bodyPr>
            <a:normAutofit/>
          </a:bodyPr>
          <a:lstStyle/>
          <a:p>
            <a:pPr marL="0" indent="0">
              <a:buNone/>
            </a:pPr>
            <a:r>
              <a:rPr lang="zh-CN" altLang="en-US" sz="1800" b="0" dirty="0"/>
              <a:t>多个文件操作的日志合并在一起</a:t>
            </a:r>
            <a:endParaRPr lang="en-US" altLang="zh-CN" sz="1800" b="0" dirty="0"/>
          </a:p>
          <a:p>
            <a:pPr marL="0" indent="0">
              <a:buNone/>
            </a:pPr>
            <a:r>
              <a:rPr lang="zh-CN" altLang="en-US" sz="1800" b="0" dirty="0"/>
              <a:t>每个修改过的块只需记录一次</a:t>
            </a:r>
            <a:endParaRPr lang="en-US" altLang="zh-CN" sz="18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14</a:t>
            </a:fld>
            <a:endParaRPr lang="zh-CN" altLang="en-US"/>
          </a:p>
        </p:txBody>
      </p:sp>
      <p:grpSp>
        <p:nvGrpSpPr>
          <p:cNvPr id="101" name="Group 100">
            <a:extLst>
              <a:ext uri="{FF2B5EF4-FFF2-40B4-BE49-F238E27FC236}">
                <a16:creationId xmlns:a16="http://schemas.microsoft.com/office/drawing/2014/main" id="{6BF133A5-B25A-8B4E-966E-02F71CCF0323}"/>
              </a:ext>
            </a:extLst>
          </p:cNvPr>
          <p:cNvGrpSpPr/>
          <p:nvPr/>
        </p:nvGrpSpPr>
        <p:grpSpPr>
          <a:xfrm>
            <a:off x="1046121" y="1921396"/>
            <a:ext cx="7615915" cy="3031285"/>
            <a:chOff x="542323" y="1878430"/>
            <a:chExt cx="7615915" cy="3031285"/>
          </a:xfrm>
        </p:grpSpPr>
        <p:sp>
          <p:nvSpPr>
            <p:cNvPr id="8" name="Rectangle 7">
              <a:extLst>
                <a:ext uri="{FF2B5EF4-FFF2-40B4-BE49-F238E27FC236}">
                  <a16:creationId xmlns:a16="http://schemas.microsoft.com/office/drawing/2014/main" id="{AF17B6EE-9199-B441-BCD8-23607022BC86}"/>
                </a:ext>
              </a:extLst>
            </p:cNvPr>
            <p:cNvSpPr/>
            <p:nvPr/>
          </p:nvSpPr>
          <p:spPr>
            <a:xfrm>
              <a:off x="2401653" y="440503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9" name="Rectangle 8">
              <a:extLst>
                <a:ext uri="{FF2B5EF4-FFF2-40B4-BE49-F238E27FC236}">
                  <a16:creationId xmlns:a16="http://schemas.microsoft.com/office/drawing/2014/main" id="{F50834FF-82A3-ED45-9D07-58E1517527B4}"/>
                </a:ext>
              </a:extLst>
            </p:cNvPr>
            <p:cNvSpPr/>
            <p:nvPr/>
          </p:nvSpPr>
          <p:spPr>
            <a:xfrm>
              <a:off x="2929240" y="4405039"/>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cxnSp>
          <p:nvCxnSpPr>
            <p:cNvPr id="11" name="Straight Connector 10">
              <a:extLst>
                <a:ext uri="{FF2B5EF4-FFF2-40B4-BE49-F238E27FC236}">
                  <a16:creationId xmlns:a16="http://schemas.microsoft.com/office/drawing/2014/main" id="{1239CDEF-BD3C-1F4F-8FC5-3E699BFBD864}"/>
                </a:ext>
              </a:extLst>
            </p:cNvPr>
            <p:cNvCxnSpPr/>
            <p:nvPr/>
          </p:nvCxnSpPr>
          <p:spPr>
            <a:xfrm>
              <a:off x="2214264" y="4405039"/>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EA58414-EB70-F246-A81A-620440E94B07}"/>
                </a:ext>
              </a:extLst>
            </p:cNvPr>
            <p:cNvCxnSpPr/>
            <p:nvPr/>
          </p:nvCxnSpPr>
          <p:spPr>
            <a:xfrm>
              <a:off x="2214264" y="4909715"/>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A592295-AFDB-E443-B217-4A51245211CC}"/>
                </a:ext>
              </a:extLst>
            </p:cNvPr>
            <p:cNvSpPr/>
            <p:nvPr/>
          </p:nvSpPr>
          <p:spPr>
            <a:xfrm>
              <a:off x="1710208" y="440503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17" name="Rectangle 16">
              <a:extLst>
                <a:ext uri="{FF2B5EF4-FFF2-40B4-BE49-F238E27FC236}">
                  <a16:creationId xmlns:a16="http://schemas.microsoft.com/office/drawing/2014/main" id="{77314EC5-AD6A-D14F-9676-D9DF436B8186}"/>
                </a:ext>
              </a:extLst>
            </p:cNvPr>
            <p:cNvSpPr/>
            <p:nvPr/>
          </p:nvSpPr>
          <p:spPr>
            <a:xfrm>
              <a:off x="3471453" y="4404636"/>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19" name="Rectangle 18">
              <a:extLst>
                <a:ext uri="{FF2B5EF4-FFF2-40B4-BE49-F238E27FC236}">
                  <a16:creationId xmlns:a16="http://schemas.microsoft.com/office/drawing/2014/main" id="{64ED7109-4200-7E4B-8230-1EBB402B16C8}"/>
                </a:ext>
              </a:extLst>
            </p:cNvPr>
            <p:cNvSpPr/>
            <p:nvPr/>
          </p:nvSpPr>
          <p:spPr>
            <a:xfrm>
              <a:off x="2214264" y="4405442"/>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0" name="Rectangle 19">
              <a:extLst>
                <a:ext uri="{FF2B5EF4-FFF2-40B4-BE49-F238E27FC236}">
                  <a16:creationId xmlns:a16="http://schemas.microsoft.com/office/drawing/2014/main" id="{E010EBEE-5C18-034C-840A-335AF034DF34}"/>
                </a:ext>
              </a:extLst>
            </p:cNvPr>
            <p:cNvSpPr/>
            <p:nvPr/>
          </p:nvSpPr>
          <p:spPr>
            <a:xfrm>
              <a:off x="2720279" y="440581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1" name="Rectangle 20">
              <a:extLst>
                <a:ext uri="{FF2B5EF4-FFF2-40B4-BE49-F238E27FC236}">
                  <a16:creationId xmlns:a16="http://schemas.microsoft.com/office/drawing/2014/main" id="{9E4E1FEC-81CC-4F46-9AF8-6062E7A5A45E}"/>
                </a:ext>
              </a:extLst>
            </p:cNvPr>
            <p:cNvSpPr/>
            <p:nvPr/>
          </p:nvSpPr>
          <p:spPr>
            <a:xfrm>
              <a:off x="3262389" y="440581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7" name="TextBox 6">
              <a:extLst>
                <a:ext uri="{FF2B5EF4-FFF2-40B4-BE49-F238E27FC236}">
                  <a16:creationId xmlns:a16="http://schemas.microsoft.com/office/drawing/2014/main" id="{8B6844A5-A106-5D41-9199-2D89EB9FDBDA}"/>
                </a:ext>
              </a:extLst>
            </p:cNvPr>
            <p:cNvSpPr txBox="1"/>
            <p:nvPr/>
          </p:nvSpPr>
          <p:spPr>
            <a:xfrm>
              <a:off x="542323" y="4472308"/>
              <a:ext cx="646331" cy="369332"/>
            </a:xfrm>
            <a:prstGeom prst="rect">
              <a:avLst/>
            </a:prstGeom>
            <a:noFill/>
          </p:spPr>
          <p:txBody>
            <a:bodyPr wrap="none" rtlCol="0">
              <a:spAutoFit/>
            </a:bodyPr>
            <a:lstStyle/>
            <a:p>
              <a:r>
                <a:rPr lang="zh-CN" altLang="en-CN" dirty="0"/>
                <a:t>内存</a:t>
              </a:r>
              <a:endParaRPr lang="en-CN" dirty="0"/>
            </a:p>
          </p:txBody>
        </p:sp>
        <p:sp>
          <p:nvSpPr>
            <p:cNvPr id="23" name="Rectangle 22">
              <a:extLst>
                <a:ext uri="{FF2B5EF4-FFF2-40B4-BE49-F238E27FC236}">
                  <a16:creationId xmlns:a16="http://schemas.microsoft.com/office/drawing/2014/main" id="{A627E2CE-E5D8-A247-84DE-AD5493AD45CE}"/>
                </a:ext>
              </a:extLst>
            </p:cNvPr>
            <p:cNvSpPr/>
            <p:nvPr/>
          </p:nvSpPr>
          <p:spPr>
            <a:xfrm>
              <a:off x="1763689" y="2344964"/>
              <a:ext cx="6357190" cy="1800346"/>
            </a:xfrm>
            <a:prstGeom prst="rect">
              <a:avLst/>
            </a:prstGeom>
            <a:noFill/>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050" dirty="0"/>
            </a:p>
          </p:txBody>
        </p:sp>
        <p:sp>
          <p:nvSpPr>
            <p:cNvPr id="6" name="TextBox 5">
              <a:extLst>
                <a:ext uri="{FF2B5EF4-FFF2-40B4-BE49-F238E27FC236}">
                  <a16:creationId xmlns:a16="http://schemas.microsoft.com/office/drawing/2014/main" id="{31E7C60C-31DA-FA4D-A7A9-A3A732CD4737}"/>
                </a:ext>
              </a:extLst>
            </p:cNvPr>
            <p:cNvSpPr txBox="1"/>
            <p:nvPr/>
          </p:nvSpPr>
          <p:spPr>
            <a:xfrm>
              <a:off x="1749601" y="3777912"/>
              <a:ext cx="800219" cy="338554"/>
            </a:xfrm>
            <a:prstGeom prst="rect">
              <a:avLst/>
            </a:prstGeom>
            <a:noFill/>
          </p:spPr>
          <p:txBody>
            <a:bodyPr wrap="none" rtlCol="0">
              <a:spAutoFit/>
            </a:bodyPr>
            <a:lstStyle/>
            <a:p>
              <a:r>
                <a:rPr lang="zh-CN" altLang="en-CN" sz="1600" dirty="0"/>
                <a:t>页缓存</a:t>
              </a:r>
              <a:endParaRPr lang="en-CN" sz="1600" dirty="0"/>
            </a:p>
          </p:txBody>
        </p:sp>
        <p:sp>
          <p:nvSpPr>
            <p:cNvPr id="24" name="Rectangle 23">
              <a:extLst>
                <a:ext uri="{FF2B5EF4-FFF2-40B4-BE49-F238E27FC236}">
                  <a16:creationId xmlns:a16="http://schemas.microsoft.com/office/drawing/2014/main" id="{CD06C7D9-B514-E446-A552-D08D31258730}"/>
                </a:ext>
              </a:extLst>
            </p:cNvPr>
            <p:cNvSpPr/>
            <p:nvPr/>
          </p:nvSpPr>
          <p:spPr>
            <a:xfrm>
              <a:off x="2262522" y="2650163"/>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25" name="Rectangle 24">
              <a:extLst>
                <a:ext uri="{FF2B5EF4-FFF2-40B4-BE49-F238E27FC236}">
                  <a16:creationId xmlns:a16="http://schemas.microsoft.com/office/drawing/2014/main" id="{F6C73994-04C7-5844-85AB-484AC9D6D216}"/>
                </a:ext>
              </a:extLst>
            </p:cNvPr>
            <p:cNvSpPr/>
            <p:nvPr/>
          </p:nvSpPr>
          <p:spPr>
            <a:xfrm>
              <a:off x="4535016" y="2646511"/>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sp>
          <p:nvSpPr>
            <p:cNvPr id="26" name="Rectangle 25">
              <a:extLst>
                <a:ext uri="{FF2B5EF4-FFF2-40B4-BE49-F238E27FC236}">
                  <a16:creationId xmlns:a16="http://schemas.microsoft.com/office/drawing/2014/main" id="{421B53B1-2F4B-5945-AC43-A1F05DD1E2A1}"/>
                </a:ext>
              </a:extLst>
            </p:cNvPr>
            <p:cNvSpPr/>
            <p:nvPr/>
          </p:nvSpPr>
          <p:spPr>
            <a:xfrm>
              <a:off x="3400869" y="2650163"/>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cxnSp>
          <p:nvCxnSpPr>
            <p:cNvPr id="13" name="Curved Connector 12">
              <a:extLst>
                <a:ext uri="{FF2B5EF4-FFF2-40B4-BE49-F238E27FC236}">
                  <a16:creationId xmlns:a16="http://schemas.microsoft.com/office/drawing/2014/main" id="{1921B267-CAE2-0349-824A-3AA4D6AC0BB9}"/>
                </a:ext>
              </a:extLst>
            </p:cNvPr>
            <p:cNvCxnSpPr>
              <a:cxnSpLocks/>
              <a:stCxn id="8" idx="0"/>
              <a:endCxn id="24" idx="2"/>
            </p:cNvCxnSpPr>
            <p:nvPr/>
          </p:nvCxnSpPr>
          <p:spPr>
            <a:xfrm rot="5400000" flipH="1" flipV="1">
              <a:off x="1986374" y="3732848"/>
              <a:ext cx="1250200" cy="94183"/>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D8F6534-3FAA-D94A-BEDF-F205FFEABDA3}"/>
                </a:ext>
              </a:extLst>
            </p:cNvPr>
            <p:cNvCxnSpPr>
              <a:cxnSpLocks/>
              <a:stCxn id="9" idx="0"/>
              <a:endCxn id="26" idx="2"/>
            </p:cNvCxnSpPr>
            <p:nvPr/>
          </p:nvCxnSpPr>
          <p:spPr>
            <a:xfrm rot="5400000" flipH="1" flipV="1">
              <a:off x="2819341" y="3427468"/>
              <a:ext cx="1250200" cy="704943"/>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7BAAEA6D-BB50-E14D-83AB-FD935E0301DB}"/>
                </a:ext>
              </a:extLst>
            </p:cNvPr>
            <p:cNvCxnSpPr>
              <a:cxnSpLocks/>
              <a:stCxn id="17" idx="0"/>
              <a:endCxn id="25" idx="2"/>
            </p:cNvCxnSpPr>
            <p:nvPr/>
          </p:nvCxnSpPr>
          <p:spPr>
            <a:xfrm rot="5400000" flipH="1" flipV="1">
              <a:off x="3655897" y="3129474"/>
              <a:ext cx="1253449" cy="1296877"/>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CF2926FE-97CB-6842-BB41-98F195D4FF97}"/>
                </a:ext>
              </a:extLst>
            </p:cNvPr>
            <p:cNvSpPr/>
            <p:nvPr/>
          </p:nvSpPr>
          <p:spPr>
            <a:xfrm>
              <a:off x="3987788" y="4404263"/>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块</a:t>
              </a:r>
              <a:r>
                <a:rPr lang="zh-CN" altLang="en-US" sz="1050" dirty="0"/>
                <a:t>指针</a:t>
              </a:r>
              <a:endParaRPr lang="en-CN" sz="1050" dirty="0"/>
            </a:p>
          </p:txBody>
        </p:sp>
        <p:sp>
          <p:nvSpPr>
            <p:cNvPr id="36" name="Rectangle 35">
              <a:extLst>
                <a:ext uri="{FF2B5EF4-FFF2-40B4-BE49-F238E27FC236}">
                  <a16:creationId xmlns:a16="http://schemas.microsoft.com/office/drawing/2014/main" id="{FA2C40D1-F5BB-B047-A715-9307BDBC12BD}"/>
                </a:ext>
              </a:extLst>
            </p:cNvPr>
            <p:cNvSpPr/>
            <p:nvPr/>
          </p:nvSpPr>
          <p:spPr>
            <a:xfrm>
              <a:off x="4515375" y="4404263"/>
              <a:ext cx="325460"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块指针</a:t>
              </a:r>
              <a:endParaRPr lang="en-CN" sz="1050" dirty="0">
                <a:solidFill>
                  <a:srgbClr val="000000"/>
                </a:solidFill>
              </a:endParaRPr>
            </a:p>
          </p:txBody>
        </p:sp>
        <p:sp>
          <p:nvSpPr>
            <p:cNvPr id="38" name="Rectangle 37">
              <a:extLst>
                <a:ext uri="{FF2B5EF4-FFF2-40B4-BE49-F238E27FC236}">
                  <a16:creationId xmlns:a16="http://schemas.microsoft.com/office/drawing/2014/main" id="{25537AE6-D589-A347-86AF-FB41733CE606}"/>
                </a:ext>
              </a:extLst>
            </p:cNvPr>
            <p:cNvSpPr/>
            <p:nvPr/>
          </p:nvSpPr>
          <p:spPr>
            <a:xfrm>
              <a:off x="4842765" y="4403861"/>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40" name="Rectangle 39">
              <a:extLst>
                <a:ext uri="{FF2B5EF4-FFF2-40B4-BE49-F238E27FC236}">
                  <a16:creationId xmlns:a16="http://schemas.microsoft.com/office/drawing/2014/main" id="{F19B93AD-B16C-2F4F-B473-D20FE76D2295}"/>
                </a:ext>
              </a:extLst>
            </p:cNvPr>
            <p:cNvSpPr/>
            <p:nvPr/>
          </p:nvSpPr>
          <p:spPr>
            <a:xfrm>
              <a:off x="3800399" y="4404666"/>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41" name="Rectangle 40">
              <a:extLst>
                <a:ext uri="{FF2B5EF4-FFF2-40B4-BE49-F238E27FC236}">
                  <a16:creationId xmlns:a16="http://schemas.microsoft.com/office/drawing/2014/main" id="{208D4C7B-4F25-204A-A558-D13DA1CC47A9}"/>
                </a:ext>
              </a:extLst>
            </p:cNvPr>
            <p:cNvSpPr/>
            <p:nvPr/>
          </p:nvSpPr>
          <p:spPr>
            <a:xfrm>
              <a:off x="4306414" y="4405039"/>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33" name="TextBox 32">
              <a:extLst>
                <a:ext uri="{FF2B5EF4-FFF2-40B4-BE49-F238E27FC236}">
                  <a16:creationId xmlns:a16="http://schemas.microsoft.com/office/drawing/2014/main" id="{94CAB842-54B6-524A-B551-D29CE3FF9471}"/>
                </a:ext>
              </a:extLst>
            </p:cNvPr>
            <p:cNvSpPr txBox="1"/>
            <p:nvPr/>
          </p:nvSpPr>
          <p:spPr>
            <a:xfrm>
              <a:off x="5543033" y="4420605"/>
              <a:ext cx="646331" cy="369332"/>
            </a:xfrm>
            <a:prstGeom prst="rect">
              <a:avLst/>
            </a:prstGeom>
            <a:noFill/>
          </p:spPr>
          <p:txBody>
            <a:bodyPr wrap="none" rtlCol="0">
              <a:spAutoFit/>
            </a:bodyPr>
            <a:lstStyle/>
            <a:p>
              <a:r>
                <a:rPr lang="en-US" altLang="zh-CN" dirty="0"/>
                <a:t>……</a:t>
              </a:r>
              <a:endParaRPr lang="en-CN" dirty="0"/>
            </a:p>
          </p:txBody>
        </p:sp>
        <p:sp>
          <p:nvSpPr>
            <p:cNvPr id="61" name="Rectangle 60">
              <a:extLst>
                <a:ext uri="{FF2B5EF4-FFF2-40B4-BE49-F238E27FC236}">
                  <a16:creationId xmlns:a16="http://schemas.microsoft.com/office/drawing/2014/main" id="{4D7C0220-555C-B445-B0E3-27D65AC5B24C}"/>
                </a:ext>
              </a:extLst>
            </p:cNvPr>
            <p:cNvSpPr/>
            <p:nvPr/>
          </p:nvSpPr>
          <p:spPr>
            <a:xfrm>
              <a:off x="6764981" y="3098740"/>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中的第一个数据块</a:t>
              </a:r>
              <a:endParaRPr lang="en-CN" sz="1050" dirty="0">
                <a:solidFill>
                  <a:srgbClr val="000000"/>
                </a:solidFill>
              </a:endParaRPr>
            </a:p>
          </p:txBody>
        </p:sp>
        <p:sp>
          <p:nvSpPr>
            <p:cNvPr id="42" name="TextBox 41">
              <a:extLst>
                <a:ext uri="{FF2B5EF4-FFF2-40B4-BE49-F238E27FC236}">
                  <a16:creationId xmlns:a16="http://schemas.microsoft.com/office/drawing/2014/main" id="{A046EF0F-113A-D540-8BBB-EBCFF6024949}"/>
                </a:ext>
              </a:extLst>
            </p:cNvPr>
            <p:cNvSpPr txBox="1"/>
            <p:nvPr/>
          </p:nvSpPr>
          <p:spPr>
            <a:xfrm>
              <a:off x="3470029" y="1887834"/>
              <a:ext cx="1107996" cy="369332"/>
            </a:xfrm>
            <a:prstGeom prst="rect">
              <a:avLst/>
            </a:prstGeom>
            <a:noFill/>
          </p:spPr>
          <p:txBody>
            <a:bodyPr wrap="none" rtlCol="0">
              <a:spAutoFit/>
            </a:bodyPr>
            <a:lstStyle/>
            <a:p>
              <a:r>
                <a:rPr lang="zh-CN" altLang="en-CN" dirty="0"/>
                <a:t>创建</a:t>
              </a:r>
              <a:r>
                <a:rPr lang="zh-CN" altLang="en-US" dirty="0"/>
                <a:t>文件</a:t>
              </a:r>
              <a:endParaRPr lang="en-CN" dirty="0"/>
            </a:p>
          </p:txBody>
        </p:sp>
        <p:sp>
          <p:nvSpPr>
            <p:cNvPr id="62" name="TextBox 61">
              <a:extLst>
                <a:ext uri="{FF2B5EF4-FFF2-40B4-BE49-F238E27FC236}">
                  <a16:creationId xmlns:a16="http://schemas.microsoft.com/office/drawing/2014/main" id="{899F0EF8-6C8F-674A-BA74-E3D73DDCCA1E}"/>
                </a:ext>
              </a:extLst>
            </p:cNvPr>
            <p:cNvSpPr txBox="1"/>
            <p:nvPr/>
          </p:nvSpPr>
          <p:spPr>
            <a:xfrm>
              <a:off x="5623305" y="2004129"/>
              <a:ext cx="1569660" cy="369332"/>
            </a:xfrm>
            <a:prstGeom prst="rect">
              <a:avLst/>
            </a:prstGeom>
            <a:noFill/>
          </p:spPr>
          <p:txBody>
            <a:bodyPr wrap="none" rtlCol="0">
              <a:spAutoFit/>
            </a:bodyPr>
            <a:lstStyle/>
            <a:p>
              <a:r>
                <a:rPr lang="zh-CN" altLang="en-US" dirty="0"/>
                <a:t>文件写入数据</a:t>
              </a:r>
              <a:endParaRPr lang="en-CN" dirty="0"/>
            </a:p>
          </p:txBody>
        </p:sp>
        <p:sp>
          <p:nvSpPr>
            <p:cNvPr id="63" name="Rectangle 62">
              <a:extLst>
                <a:ext uri="{FF2B5EF4-FFF2-40B4-BE49-F238E27FC236}">
                  <a16:creationId xmlns:a16="http://schemas.microsoft.com/office/drawing/2014/main" id="{C1011C30-B7A5-5A47-8C7B-60AACE49A985}"/>
                </a:ext>
              </a:extLst>
            </p:cNvPr>
            <p:cNvSpPr/>
            <p:nvPr/>
          </p:nvSpPr>
          <p:spPr>
            <a:xfrm>
              <a:off x="5680618" y="3012882"/>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修改后的块分配表页</a:t>
              </a:r>
              <a:endParaRPr lang="en-CN" sz="1050" dirty="0">
                <a:solidFill>
                  <a:srgbClr val="000000"/>
                </a:solidFill>
              </a:endParaRPr>
            </a:p>
          </p:txBody>
        </p:sp>
        <p:cxnSp>
          <p:nvCxnSpPr>
            <p:cNvPr id="64" name="Curved Connector 63">
              <a:extLst>
                <a:ext uri="{FF2B5EF4-FFF2-40B4-BE49-F238E27FC236}">
                  <a16:creationId xmlns:a16="http://schemas.microsoft.com/office/drawing/2014/main" id="{54185654-541A-DC45-9416-B5E6853BA99F}"/>
                </a:ext>
              </a:extLst>
            </p:cNvPr>
            <p:cNvCxnSpPr>
              <a:cxnSpLocks/>
              <a:stCxn id="34" idx="0"/>
              <a:endCxn id="63" idx="2"/>
            </p:cNvCxnSpPr>
            <p:nvPr/>
          </p:nvCxnSpPr>
          <p:spPr>
            <a:xfrm rot="5400000" flipH="1" flipV="1">
              <a:off x="4670238" y="2997839"/>
              <a:ext cx="886705" cy="1926144"/>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urved Connector 66">
              <a:extLst>
                <a:ext uri="{FF2B5EF4-FFF2-40B4-BE49-F238E27FC236}">
                  <a16:creationId xmlns:a16="http://schemas.microsoft.com/office/drawing/2014/main" id="{D825D6C7-1843-5444-8B69-7A3AFCDDB2D3}"/>
                </a:ext>
              </a:extLst>
            </p:cNvPr>
            <p:cNvCxnSpPr>
              <a:cxnSpLocks/>
              <a:stCxn id="36" idx="0"/>
              <a:endCxn id="61" idx="2"/>
            </p:cNvCxnSpPr>
            <p:nvPr/>
          </p:nvCxnSpPr>
          <p:spPr>
            <a:xfrm rot="5400000" flipH="1" flipV="1">
              <a:off x="5519142" y="2762380"/>
              <a:ext cx="800847" cy="248292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Oval 98">
              <a:extLst>
                <a:ext uri="{FF2B5EF4-FFF2-40B4-BE49-F238E27FC236}">
                  <a16:creationId xmlns:a16="http://schemas.microsoft.com/office/drawing/2014/main" id="{1F93DE10-DB54-5042-9FE8-986B6B68D295}"/>
                </a:ext>
              </a:extLst>
            </p:cNvPr>
            <p:cNvSpPr/>
            <p:nvPr/>
          </p:nvSpPr>
          <p:spPr>
            <a:xfrm>
              <a:off x="2011826" y="1878430"/>
              <a:ext cx="3626512" cy="1709422"/>
            </a:xfrm>
            <a:prstGeom prst="ellipse">
              <a:avLst/>
            </a:prstGeom>
            <a:noFill/>
            <a:ln w="1270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100" name="Oval 99">
              <a:extLst>
                <a:ext uri="{FF2B5EF4-FFF2-40B4-BE49-F238E27FC236}">
                  <a16:creationId xmlns:a16="http://schemas.microsoft.com/office/drawing/2014/main" id="{DD512CE5-BCF4-2A43-8DCF-F9C6845E06F1}"/>
                </a:ext>
              </a:extLst>
            </p:cNvPr>
            <p:cNvSpPr/>
            <p:nvPr/>
          </p:nvSpPr>
          <p:spPr>
            <a:xfrm>
              <a:off x="4367264" y="1887834"/>
              <a:ext cx="3790974" cy="1958569"/>
            </a:xfrm>
            <a:prstGeom prst="ellipse">
              <a:avLst/>
            </a:prstGeom>
            <a:noFill/>
            <a:ln w="1270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grpSp>
    </p:spTree>
    <p:extLst>
      <p:ext uri="{BB962C8B-B14F-4D97-AF65-F5344CB8AC3E}">
        <p14:creationId xmlns:p14="http://schemas.microsoft.com/office/powerpoint/2010/main" val="2671276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501CB-ED67-3F4B-B757-65560700392D}"/>
              </a:ext>
            </a:extLst>
          </p:cNvPr>
          <p:cNvSpPr>
            <a:spLocks noGrp="1"/>
          </p:cNvSpPr>
          <p:nvPr>
            <p:ph type="title"/>
          </p:nvPr>
        </p:nvSpPr>
        <p:spPr/>
        <p:txBody>
          <a:bodyPr/>
          <a:lstStyle/>
          <a:p>
            <a:r>
              <a:rPr lang="zh-CN" altLang="en-CN" dirty="0"/>
              <a:t>日志</a:t>
            </a:r>
            <a:r>
              <a:rPr lang="zh-CN" altLang="en-US" dirty="0"/>
              <a:t>提交的触发条件</a:t>
            </a:r>
            <a:endParaRPr lang="en-CN" dirty="0"/>
          </a:p>
        </p:txBody>
      </p:sp>
      <p:sp>
        <p:nvSpPr>
          <p:cNvPr id="3" name="Content Placeholder 2">
            <a:extLst>
              <a:ext uri="{FF2B5EF4-FFF2-40B4-BE49-F238E27FC236}">
                <a16:creationId xmlns:a16="http://schemas.microsoft.com/office/drawing/2014/main" id="{A1A5DD86-A946-DE4E-8809-E2EC7F415661}"/>
              </a:ext>
            </a:extLst>
          </p:cNvPr>
          <p:cNvSpPr>
            <a:spLocks noGrp="1"/>
          </p:cNvSpPr>
          <p:nvPr>
            <p:ph idx="1"/>
          </p:nvPr>
        </p:nvSpPr>
        <p:spPr/>
        <p:txBody>
          <a:bodyPr/>
          <a:lstStyle/>
          <a:p>
            <a:r>
              <a:rPr lang="zh-CN" altLang="en-US" b="0" dirty="0"/>
              <a:t>定期触发</a:t>
            </a:r>
            <a:endParaRPr lang="en-US" altLang="zh-CN" b="0" dirty="0"/>
          </a:p>
          <a:p>
            <a:pPr lvl="1"/>
            <a:r>
              <a:rPr lang="zh-CN" altLang="en-CN" dirty="0"/>
              <a:t>每</a:t>
            </a:r>
            <a:r>
              <a:rPr lang="zh-CN" altLang="en-US" dirty="0"/>
              <a:t>一段时间（如</a:t>
            </a:r>
            <a:r>
              <a:rPr lang="en-US" altLang="zh-CN" dirty="0"/>
              <a:t>5s</a:t>
            </a:r>
            <a:r>
              <a:rPr lang="zh-CN" altLang="en-US" dirty="0"/>
              <a:t>）触发一次</a:t>
            </a:r>
            <a:endParaRPr lang="en-US" altLang="zh-CN" dirty="0"/>
          </a:p>
          <a:p>
            <a:pPr lvl="1"/>
            <a:r>
              <a:rPr lang="zh-CN" altLang="en-US" dirty="0"/>
              <a:t>日志达到一定量（如</a:t>
            </a:r>
            <a:r>
              <a:rPr lang="en-US" altLang="zh-CN" dirty="0"/>
              <a:t>500MB</a:t>
            </a:r>
            <a:r>
              <a:rPr lang="zh-CN" altLang="en-US" dirty="0"/>
              <a:t>）时触发一次</a:t>
            </a:r>
            <a:endParaRPr lang="en-US" altLang="zh-CN" dirty="0"/>
          </a:p>
          <a:p>
            <a:endParaRPr lang="en-US" altLang="zh-CN" b="0" dirty="0"/>
          </a:p>
          <a:p>
            <a:r>
              <a:rPr lang="zh-CN" altLang="en-US" b="0" dirty="0"/>
              <a:t>用户触发</a:t>
            </a:r>
            <a:endParaRPr lang="en-US" altLang="zh-CN" b="0" dirty="0"/>
          </a:p>
          <a:p>
            <a:pPr lvl="1"/>
            <a:r>
              <a:rPr lang="zh-CN" altLang="en-US" dirty="0"/>
              <a:t>例如：应用调用</a:t>
            </a:r>
            <a:r>
              <a:rPr lang="en-US" altLang="zh-CN" dirty="0" err="1"/>
              <a:t>fsync</a:t>
            </a:r>
            <a:r>
              <a:rPr lang="en-US" altLang="zh-CN" dirty="0"/>
              <a:t>()</a:t>
            </a:r>
            <a:r>
              <a:rPr lang="zh-CN" altLang="en-US" dirty="0"/>
              <a:t>时触发</a:t>
            </a:r>
            <a:endParaRPr lang="en-US" altLang="zh-CN" dirty="0"/>
          </a:p>
          <a:p>
            <a:pPr lvl="1"/>
            <a:endParaRPr lang="en-CN" altLang="zh-CN" dirty="0"/>
          </a:p>
        </p:txBody>
      </p:sp>
      <p:sp>
        <p:nvSpPr>
          <p:cNvPr id="4" name="Slide Number Placeholder 3">
            <a:extLst>
              <a:ext uri="{FF2B5EF4-FFF2-40B4-BE49-F238E27FC236}">
                <a16:creationId xmlns:a16="http://schemas.microsoft.com/office/drawing/2014/main" id="{50BA3D10-42C1-A04A-95C7-E313A53A08CC}"/>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
        <p:nvSpPr>
          <p:cNvPr id="5" name="Footer Placeholder 4">
            <a:extLst>
              <a:ext uri="{FF2B5EF4-FFF2-40B4-BE49-F238E27FC236}">
                <a16:creationId xmlns:a16="http://schemas.microsoft.com/office/drawing/2014/main" id="{71B087F4-E6D6-5742-9081-C22401FD869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80030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7FFF7-8411-FB46-8D00-7209D4048CA3}"/>
              </a:ext>
            </a:extLst>
          </p:cNvPr>
          <p:cNvSpPr>
            <a:spLocks noGrp="1"/>
          </p:cNvSpPr>
          <p:nvPr>
            <p:ph type="title"/>
          </p:nvPr>
        </p:nvSpPr>
        <p:spPr/>
        <p:txBody>
          <a:bodyPr/>
          <a:lstStyle/>
          <a:p>
            <a:r>
              <a:rPr lang="en-US" altLang="zh-CN" dirty="0"/>
              <a:t>Case</a:t>
            </a:r>
            <a:r>
              <a:rPr lang="zh-CN" altLang="en-US" dirty="0"/>
              <a:t>：</a:t>
            </a:r>
            <a:r>
              <a:rPr lang="en-CN"/>
              <a:t>Linux</a:t>
            </a:r>
            <a:r>
              <a:rPr lang="zh-CN" altLang="en-CN" dirty="0"/>
              <a:t>中</a:t>
            </a:r>
            <a:r>
              <a:rPr lang="zh-CN" altLang="en-US" dirty="0"/>
              <a:t>的日志系统</a:t>
            </a:r>
            <a:r>
              <a:rPr lang="en-US" altLang="zh-CN" dirty="0"/>
              <a:t>JBD2</a:t>
            </a:r>
            <a:endParaRPr lang="en-CN" dirty="0"/>
          </a:p>
        </p:txBody>
      </p:sp>
      <p:sp>
        <p:nvSpPr>
          <p:cNvPr id="3" name="Content Placeholder 2">
            <a:extLst>
              <a:ext uri="{FF2B5EF4-FFF2-40B4-BE49-F238E27FC236}">
                <a16:creationId xmlns:a16="http://schemas.microsoft.com/office/drawing/2014/main" id="{187B9F37-4E89-FD4D-9A95-154704D68EDE}"/>
              </a:ext>
            </a:extLst>
          </p:cNvPr>
          <p:cNvSpPr>
            <a:spLocks noGrp="1"/>
          </p:cNvSpPr>
          <p:nvPr>
            <p:ph idx="1"/>
          </p:nvPr>
        </p:nvSpPr>
        <p:spPr/>
        <p:txBody>
          <a:bodyPr>
            <a:normAutofit/>
          </a:bodyPr>
          <a:lstStyle/>
          <a:p>
            <a:r>
              <a:rPr lang="en-CN" sz="2000" b="0" dirty="0"/>
              <a:t>Journal</a:t>
            </a:r>
            <a:r>
              <a:rPr lang="zh-CN" altLang="en-US" sz="2000" b="0" dirty="0"/>
              <a:t> </a:t>
            </a:r>
            <a:r>
              <a:rPr lang="en-US" altLang="zh-CN" sz="2000" b="0" dirty="0"/>
              <a:t>Block</a:t>
            </a:r>
            <a:r>
              <a:rPr lang="zh-CN" altLang="en-US" sz="2000" b="0" dirty="0"/>
              <a:t> </a:t>
            </a:r>
            <a:r>
              <a:rPr lang="en-US" altLang="zh-CN" sz="2000" b="0" dirty="0"/>
              <a:t>Device</a:t>
            </a:r>
            <a:r>
              <a:rPr lang="zh-CN" altLang="en-US" sz="2000" b="0" dirty="0"/>
              <a:t> </a:t>
            </a:r>
            <a:r>
              <a:rPr lang="en-US" altLang="zh-CN" sz="2000" b="0" dirty="0"/>
              <a:t>2</a:t>
            </a:r>
          </a:p>
          <a:p>
            <a:r>
              <a:rPr lang="zh-CN" altLang="en-US" sz="2000" b="0" dirty="0"/>
              <a:t>通用的日志记录模块</a:t>
            </a:r>
            <a:endParaRPr lang="en-US" altLang="zh-CN" sz="2000" b="0" dirty="0"/>
          </a:p>
          <a:p>
            <a:pPr lvl="1"/>
            <a:r>
              <a:rPr lang="zh-CN" altLang="en-US" sz="1800" dirty="0"/>
              <a:t>日志可以以文件形式保存</a:t>
            </a:r>
            <a:endParaRPr lang="en-US" altLang="zh-CN" sz="1800" dirty="0"/>
          </a:p>
          <a:p>
            <a:pPr lvl="1"/>
            <a:r>
              <a:rPr lang="zh-CN" altLang="en-US" sz="1800" dirty="0"/>
              <a:t>日志也可以直接写入存储设备块</a:t>
            </a:r>
            <a:endParaRPr lang="en-US" altLang="zh-CN" sz="1800" dirty="0"/>
          </a:p>
          <a:p>
            <a:r>
              <a:rPr lang="zh-CN" altLang="en-US" sz="2000" b="0" dirty="0"/>
              <a:t>概念</a:t>
            </a:r>
            <a:endParaRPr lang="en-US" altLang="zh-CN" sz="2000" b="0" dirty="0"/>
          </a:p>
          <a:p>
            <a:pPr lvl="1"/>
            <a:r>
              <a:rPr lang="en-US" altLang="zh-CN" sz="1600" b="0" dirty="0"/>
              <a:t>Journal</a:t>
            </a:r>
            <a:r>
              <a:rPr lang="zh-CN" altLang="en-US" sz="1600" b="0" dirty="0"/>
              <a:t>：日志，由文件或设备中某区域组成</a:t>
            </a:r>
            <a:endParaRPr lang="en-US" altLang="zh-CN" sz="1600" b="0" dirty="0"/>
          </a:p>
          <a:p>
            <a:pPr lvl="1"/>
            <a:r>
              <a:rPr lang="en-US" altLang="zh-CN" sz="1600" b="0" dirty="0"/>
              <a:t>Handle</a:t>
            </a:r>
            <a:r>
              <a:rPr lang="zh-CN" altLang="en-US" sz="1600" b="0" dirty="0"/>
              <a:t>：原子操作，由需要原子完成的多个修改组成</a:t>
            </a:r>
            <a:endParaRPr lang="en-US" altLang="zh-CN" sz="1600" b="0" dirty="0"/>
          </a:p>
          <a:p>
            <a:pPr lvl="1"/>
            <a:r>
              <a:rPr lang="en-US" altLang="zh-CN" sz="1600" b="0" dirty="0"/>
              <a:t>Transaction</a:t>
            </a:r>
            <a:r>
              <a:rPr lang="zh-CN" altLang="en-US" sz="1600" b="0" dirty="0"/>
              <a:t>：事务，多个批量在一起的原子操作</a:t>
            </a:r>
            <a:endParaRPr lang="en-CN" sz="1600" b="0" dirty="0"/>
          </a:p>
        </p:txBody>
      </p:sp>
      <p:sp>
        <p:nvSpPr>
          <p:cNvPr id="4" name="Slide Number Placeholder 3">
            <a:extLst>
              <a:ext uri="{FF2B5EF4-FFF2-40B4-BE49-F238E27FC236}">
                <a16:creationId xmlns:a16="http://schemas.microsoft.com/office/drawing/2014/main" id="{88B9E749-A6FC-D842-A5C6-FBB655A05BAF}"/>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
        <p:nvSpPr>
          <p:cNvPr id="5" name="Footer Placeholder 4">
            <a:extLst>
              <a:ext uri="{FF2B5EF4-FFF2-40B4-BE49-F238E27FC236}">
                <a16:creationId xmlns:a16="http://schemas.microsoft.com/office/drawing/2014/main" id="{C7966490-0133-3146-B888-B707CF6C251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896224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BF6E7-3861-0D45-992F-22AB39CEBD60}"/>
              </a:ext>
            </a:extLst>
          </p:cNvPr>
          <p:cNvSpPr>
            <a:spLocks noGrp="1"/>
          </p:cNvSpPr>
          <p:nvPr>
            <p:ph type="title"/>
          </p:nvPr>
        </p:nvSpPr>
        <p:spPr/>
        <p:txBody>
          <a:bodyPr/>
          <a:lstStyle/>
          <a:p>
            <a:r>
              <a:rPr lang="en-US" altLang="zh-CN" dirty="0"/>
              <a:t>JBD2</a:t>
            </a:r>
            <a:r>
              <a:rPr lang="zh-CN" altLang="en-US" dirty="0"/>
              <a:t>事务的状态</a:t>
            </a:r>
            <a:endParaRPr lang="en-CN" dirty="0"/>
          </a:p>
        </p:txBody>
      </p:sp>
      <p:sp>
        <p:nvSpPr>
          <p:cNvPr id="4" name="Slide Number Placeholder 3">
            <a:extLst>
              <a:ext uri="{FF2B5EF4-FFF2-40B4-BE49-F238E27FC236}">
                <a16:creationId xmlns:a16="http://schemas.microsoft.com/office/drawing/2014/main" id="{D570BE7F-CC02-AB4D-BFBA-1D7A334C1E8F}"/>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Footer Placeholder 4">
            <a:extLst>
              <a:ext uri="{FF2B5EF4-FFF2-40B4-BE49-F238E27FC236}">
                <a16:creationId xmlns:a16="http://schemas.microsoft.com/office/drawing/2014/main" id="{B873B7F5-D2CC-8548-BFE3-F04C4D8662D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7D77C2E2-115C-5344-9910-050F96530458}"/>
              </a:ext>
            </a:extLst>
          </p:cNvPr>
          <p:cNvSpPr/>
          <p:nvPr/>
        </p:nvSpPr>
        <p:spPr>
          <a:xfrm>
            <a:off x="1115616" y="1375697"/>
            <a:ext cx="1007914" cy="389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dirty="0"/>
              <a:t>运行</a:t>
            </a:r>
            <a:endParaRPr lang="en-CN" dirty="0"/>
          </a:p>
        </p:txBody>
      </p:sp>
      <p:sp>
        <p:nvSpPr>
          <p:cNvPr id="7" name="Rectangle 6">
            <a:extLst>
              <a:ext uri="{FF2B5EF4-FFF2-40B4-BE49-F238E27FC236}">
                <a16:creationId xmlns:a16="http://schemas.microsoft.com/office/drawing/2014/main" id="{A0DD2AF3-329C-D143-A678-8DE285C1A938}"/>
              </a:ext>
            </a:extLst>
          </p:cNvPr>
          <p:cNvSpPr/>
          <p:nvPr/>
        </p:nvSpPr>
        <p:spPr>
          <a:xfrm>
            <a:off x="1115616" y="2164505"/>
            <a:ext cx="1007914" cy="389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锁定</a:t>
            </a:r>
            <a:endParaRPr lang="en-CN" dirty="0"/>
          </a:p>
        </p:txBody>
      </p:sp>
      <p:sp>
        <p:nvSpPr>
          <p:cNvPr id="8" name="Rectangle 7">
            <a:extLst>
              <a:ext uri="{FF2B5EF4-FFF2-40B4-BE49-F238E27FC236}">
                <a16:creationId xmlns:a16="http://schemas.microsoft.com/office/drawing/2014/main" id="{03D4F355-6A53-1B48-9113-874CC4C49725}"/>
              </a:ext>
            </a:extLst>
          </p:cNvPr>
          <p:cNvSpPr/>
          <p:nvPr/>
        </p:nvSpPr>
        <p:spPr>
          <a:xfrm>
            <a:off x="1115616" y="2953313"/>
            <a:ext cx="1007914" cy="389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写入</a:t>
            </a:r>
            <a:endParaRPr lang="en-CN" dirty="0"/>
          </a:p>
        </p:txBody>
      </p:sp>
      <p:sp>
        <p:nvSpPr>
          <p:cNvPr id="9" name="Rectangle 8">
            <a:extLst>
              <a:ext uri="{FF2B5EF4-FFF2-40B4-BE49-F238E27FC236}">
                <a16:creationId xmlns:a16="http://schemas.microsoft.com/office/drawing/2014/main" id="{772428A7-C16E-1445-9F41-EB5DBB0BC997}"/>
              </a:ext>
            </a:extLst>
          </p:cNvPr>
          <p:cNvSpPr/>
          <p:nvPr/>
        </p:nvSpPr>
        <p:spPr>
          <a:xfrm>
            <a:off x="1115616" y="3742121"/>
            <a:ext cx="1007914" cy="389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dirty="0"/>
              <a:t>提交</a:t>
            </a:r>
            <a:endParaRPr lang="en-CN" dirty="0"/>
          </a:p>
        </p:txBody>
      </p:sp>
      <p:sp>
        <p:nvSpPr>
          <p:cNvPr id="10" name="Rectangle 9">
            <a:extLst>
              <a:ext uri="{FF2B5EF4-FFF2-40B4-BE49-F238E27FC236}">
                <a16:creationId xmlns:a16="http://schemas.microsoft.com/office/drawing/2014/main" id="{1C3FA234-0208-9648-816F-2F4972F6F35F}"/>
              </a:ext>
            </a:extLst>
          </p:cNvPr>
          <p:cNvSpPr/>
          <p:nvPr/>
        </p:nvSpPr>
        <p:spPr>
          <a:xfrm>
            <a:off x="1115616" y="4530929"/>
            <a:ext cx="1007914" cy="389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完成</a:t>
            </a:r>
            <a:endParaRPr lang="en-CN" dirty="0"/>
          </a:p>
        </p:txBody>
      </p:sp>
      <p:cxnSp>
        <p:nvCxnSpPr>
          <p:cNvPr id="12" name="Straight Arrow Connector 11">
            <a:extLst>
              <a:ext uri="{FF2B5EF4-FFF2-40B4-BE49-F238E27FC236}">
                <a16:creationId xmlns:a16="http://schemas.microsoft.com/office/drawing/2014/main" id="{C1951699-B482-F049-B269-116E5A115DA7}"/>
              </a:ext>
            </a:extLst>
          </p:cNvPr>
          <p:cNvCxnSpPr>
            <a:stCxn id="6" idx="2"/>
            <a:endCxn id="7" idx="0"/>
          </p:cNvCxnSpPr>
          <p:nvPr/>
        </p:nvCxnSpPr>
        <p:spPr>
          <a:xfrm>
            <a:off x="1619573" y="1765454"/>
            <a:ext cx="0" cy="3990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AEF70AA-5D8E-1F40-B6FF-6EB39D3AF5F5}"/>
              </a:ext>
            </a:extLst>
          </p:cNvPr>
          <p:cNvCxnSpPr>
            <a:cxnSpLocks/>
            <a:stCxn id="8" idx="2"/>
            <a:endCxn id="9" idx="0"/>
          </p:cNvCxnSpPr>
          <p:nvPr/>
        </p:nvCxnSpPr>
        <p:spPr>
          <a:xfrm>
            <a:off x="1619573" y="3343070"/>
            <a:ext cx="0" cy="3990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DFF56C8-915C-B941-98E4-537AB0762D83}"/>
              </a:ext>
            </a:extLst>
          </p:cNvPr>
          <p:cNvCxnSpPr>
            <a:cxnSpLocks/>
            <a:stCxn id="7" idx="2"/>
            <a:endCxn id="8" idx="0"/>
          </p:cNvCxnSpPr>
          <p:nvPr/>
        </p:nvCxnSpPr>
        <p:spPr>
          <a:xfrm>
            <a:off x="1619573" y="2554262"/>
            <a:ext cx="0" cy="3990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B6ED44C-73CA-F646-9CB8-2DC2E64E7E85}"/>
              </a:ext>
            </a:extLst>
          </p:cNvPr>
          <p:cNvCxnSpPr>
            <a:cxnSpLocks/>
            <a:stCxn id="9" idx="2"/>
            <a:endCxn id="10" idx="0"/>
          </p:cNvCxnSpPr>
          <p:nvPr/>
        </p:nvCxnSpPr>
        <p:spPr>
          <a:xfrm>
            <a:off x="1619573" y="4131878"/>
            <a:ext cx="0" cy="3990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2BAEE09-640F-4746-9F75-FCCBC969675C}"/>
              </a:ext>
            </a:extLst>
          </p:cNvPr>
          <p:cNvSpPr txBox="1"/>
          <p:nvPr/>
        </p:nvSpPr>
        <p:spPr>
          <a:xfrm>
            <a:off x="2450486" y="1385909"/>
            <a:ext cx="3416320" cy="369332"/>
          </a:xfrm>
          <a:prstGeom prst="rect">
            <a:avLst/>
          </a:prstGeom>
          <a:noFill/>
        </p:spPr>
        <p:txBody>
          <a:bodyPr wrap="none" rtlCol="0">
            <a:spAutoFit/>
          </a:bodyPr>
          <a:lstStyle/>
          <a:p>
            <a:r>
              <a:rPr lang="zh-CN" altLang="en-US" dirty="0"/>
              <a:t>新的</a:t>
            </a:r>
            <a:r>
              <a:rPr lang="zh-CN" altLang="en-CN" dirty="0"/>
              <a:t>原子操作</a:t>
            </a:r>
            <a:r>
              <a:rPr lang="zh-CN" altLang="en-US" dirty="0"/>
              <a:t>可以加入到事务中</a:t>
            </a:r>
            <a:endParaRPr lang="en-US" altLang="zh-CN" dirty="0"/>
          </a:p>
        </p:txBody>
      </p:sp>
      <p:sp>
        <p:nvSpPr>
          <p:cNvPr id="24" name="TextBox 23">
            <a:extLst>
              <a:ext uri="{FF2B5EF4-FFF2-40B4-BE49-F238E27FC236}">
                <a16:creationId xmlns:a16="http://schemas.microsoft.com/office/drawing/2014/main" id="{FD4D80C0-F199-B244-A88C-FBA935253160}"/>
              </a:ext>
            </a:extLst>
          </p:cNvPr>
          <p:cNvSpPr txBox="1"/>
          <p:nvPr/>
        </p:nvSpPr>
        <p:spPr>
          <a:xfrm>
            <a:off x="2450486" y="2174717"/>
            <a:ext cx="6417141" cy="369332"/>
          </a:xfrm>
          <a:prstGeom prst="rect">
            <a:avLst/>
          </a:prstGeom>
          <a:noFill/>
        </p:spPr>
        <p:txBody>
          <a:bodyPr wrap="none" rtlCol="0">
            <a:spAutoFit/>
          </a:bodyPr>
          <a:lstStyle/>
          <a:p>
            <a:r>
              <a:rPr lang="zh-CN" altLang="en-US" dirty="0"/>
              <a:t>事务不再接收新的原子操作；已接收原子操作不一定全部完成</a:t>
            </a:r>
            <a:endParaRPr lang="en-US" altLang="zh-CN" dirty="0"/>
          </a:p>
        </p:txBody>
      </p:sp>
      <p:sp>
        <p:nvSpPr>
          <p:cNvPr id="25" name="TextBox 24">
            <a:extLst>
              <a:ext uri="{FF2B5EF4-FFF2-40B4-BE49-F238E27FC236}">
                <a16:creationId xmlns:a16="http://schemas.microsoft.com/office/drawing/2014/main" id="{2C5B8A5B-9284-8948-B902-7D254120FD71}"/>
              </a:ext>
            </a:extLst>
          </p:cNvPr>
          <p:cNvSpPr txBox="1"/>
          <p:nvPr/>
        </p:nvSpPr>
        <p:spPr>
          <a:xfrm>
            <a:off x="2450486" y="2963525"/>
            <a:ext cx="3877985" cy="369332"/>
          </a:xfrm>
          <a:prstGeom prst="rect">
            <a:avLst/>
          </a:prstGeom>
          <a:noFill/>
        </p:spPr>
        <p:txBody>
          <a:bodyPr wrap="none" rtlCol="0">
            <a:spAutoFit/>
          </a:bodyPr>
          <a:lstStyle/>
          <a:p>
            <a:r>
              <a:rPr lang="zh-CN" altLang="en-US" dirty="0"/>
              <a:t>事务正在被写入存储设备（如磁盘）</a:t>
            </a:r>
            <a:endParaRPr lang="en-CN" dirty="0"/>
          </a:p>
        </p:txBody>
      </p:sp>
      <p:sp>
        <p:nvSpPr>
          <p:cNvPr id="26" name="TextBox 25">
            <a:extLst>
              <a:ext uri="{FF2B5EF4-FFF2-40B4-BE49-F238E27FC236}">
                <a16:creationId xmlns:a16="http://schemas.microsoft.com/office/drawing/2014/main" id="{18EE8ED1-D106-0B4E-87E0-6ABFC16528E6}"/>
              </a:ext>
            </a:extLst>
          </p:cNvPr>
          <p:cNvSpPr txBox="1"/>
          <p:nvPr/>
        </p:nvSpPr>
        <p:spPr>
          <a:xfrm>
            <a:off x="2450486" y="3752333"/>
            <a:ext cx="6058069" cy="369332"/>
          </a:xfrm>
          <a:prstGeom prst="rect">
            <a:avLst/>
          </a:prstGeom>
          <a:noFill/>
        </p:spPr>
        <p:txBody>
          <a:bodyPr wrap="none" rtlCol="0">
            <a:spAutoFit/>
          </a:bodyPr>
          <a:lstStyle/>
          <a:p>
            <a:r>
              <a:rPr lang="zh-CN" altLang="en-US" dirty="0"/>
              <a:t>事务内容已经写入存储设备，正在写入提交块（</a:t>
            </a:r>
            <a:r>
              <a:rPr lang="en-US" altLang="zh-CN" dirty="0"/>
              <a:t>Commit</a:t>
            </a:r>
            <a:r>
              <a:rPr lang="zh-CN" altLang="en-US" dirty="0"/>
              <a:t>）</a:t>
            </a:r>
            <a:endParaRPr lang="en-US" altLang="zh-CN" dirty="0"/>
          </a:p>
        </p:txBody>
      </p:sp>
      <p:sp>
        <p:nvSpPr>
          <p:cNvPr id="27" name="TextBox 26">
            <a:extLst>
              <a:ext uri="{FF2B5EF4-FFF2-40B4-BE49-F238E27FC236}">
                <a16:creationId xmlns:a16="http://schemas.microsoft.com/office/drawing/2014/main" id="{2552E213-D232-2545-BD36-F005C1DDAF2C}"/>
              </a:ext>
            </a:extLst>
          </p:cNvPr>
          <p:cNvSpPr txBox="1"/>
          <p:nvPr/>
        </p:nvSpPr>
        <p:spPr>
          <a:xfrm>
            <a:off x="2450486" y="4541141"/>
            <a:ext cx="1569660" cy="369332"/>
          </a:xfrm>
          <a:prstGeom prst="rect">
            <a:avLst/>
          </a:prstGeom>
          <a:noFill/>
        </p:spPr>
        <p:txBody>
          <a:bodyPr wrap="none" rtlCol="0">
            <a:spAutoFit/>
          </a:bodyPr>
          <a:lstStyle/>
          <a:p>
            <a:r>
              <a:rPr lang="zh-CN" altLang="en-US" dirty="0"/>
              <a:t>事务写入完毕</a:t>
            </a:r>
            <a:endParaRPr lang="en-CN" dirty="0"/>
          </a:p>
        </p:txBody>
      </p:sp>
    </p:spTree>
    <p:extLst>
      <p:ext uri="{BB962C8B-B14F-4D97-AF65-F5344CB8AC3E}">
        <p14:creationId xmlns:p14="http://schemas.microsoft.com/office/powerpoint/2010/main" val="1465787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DB1E-62D0-5948-96F9-0B385AF4E959}"/>
              </a:ext>
            </a:extLst>
          </p:cNvPr>
          <p:cNvSpPr>
            <a:spLocks noGrp="1"/>
          </p:cNvSpPr>
          <p:nvPr>
            <p:ph type="title"/>
          </p:nvPr>
        </p:nvSpPr>
        <p:spPr/>
        <p:txBody>
          <a:bodyPr/>
          <a:lstStyle/>
          <a:p>
            <a:r>
              <a:rPr lang="en-CN" dirty="0"/>
              <a:t>JBD</a:t>
            </a:r>
            <a:r>
              <a:rPr lang="en-US" altLang="zh-CN" dirty="0"/>
              <a:t>2</a:t>
            </a:r>
            <a:r>
              <a:rPr lang="zh-CN" altLang="en-US" dirty="0"/>
              <a:t>部分接口和使用方法</a:t>
            </a:r>
            <a:endParaRPr lang="en-CN" dirty="0"/>
          </a:p>
        </p:txBody>
      </p:sp>
      <p:sp>
        <p:nvSpPr>
          <p:cNvPr id="4" name="Slide Number Placeholder 3">
            <a:extLst>
              <a:ext uri="{FF2B5EF4-FFF2-40B4-BE49-F238E27FC236}">
                <a16:creationId xmlns:a16="http://schemas.microsoft.com/office/drawing/2014/main" id="{C8862C3D-542B-B04C-9283-74A97569AB75}"/>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Footer Placeholder 4">
            <a:extLst>
              <a:ext uri="{FF2B5EF4-FFF2-40B4-BE49-F238E27FC236}">
                <a16:creationId xmlns:a16="http://schemas.microsoft.com/office/drawing/2014/main" id="{AE140DC6-8932-E94A-AF5D-8D69694DE66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5FC4A2EA-0C87-AF42-A642-9CDF7995C512}"/>
              </a:ext>
            </a:extLst>
          </p:cNvPr>
          <p:cNvSpPr txBox="1"/>
          <p:nvPr/>
        </p:nvSpPr>
        <p:spPr>
          <a:xfrm>
            <a:off x="539300" y="3177485"/>
            <a:ext cx="3744417" cy="76944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while</a:t>
            </a:r>
            <a:r>
              <a:rPr lang="zh-CN" altLang="en-US" sz="1100" dirty="0">
                <a:latin typeface="Courier" pitchFamily="2" charset="0"/>
              </a:rPr>
              <a:t> </a:t>
            </a:r>
            <a:r>
              <a:rPr lang="en-US" altLang="zh-CN" sz="1100" dirty="0">
                <a:latin typeface="Courier" pitchFamily="2" charset="0"/>
              </a:rPr>
              <a:t>(sleep_5s())</a:t>
            </a:r>
            <a:r>
              <a:rPr lang="zh-CN" altLang="en-US" sz="1100" dirty="0">
                <a:latin typeface="Courier" pitchFamily="2" charset="0"/>
              </a:rPr>
              <a:t> </a:t>
            </a:r>
            <a:r>
              <a:rPr lang="en-US" altLang="zh-CN" sz="1100" dirty="0">
                <a:latin typeface="Courier" pitchFamily="2" charset="0"/>
              </a:rPr>
              <a:t>{</a:t>
            </a:r>
          </a:p>
          <a:p>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提交事务和回收日志空间（并开始新的事务）</a:t>
            </a:r>
            <a:endParaRPr lang="en-US" altLang="zh-CN" sz="1100" dirty="0">
              <a:latin typeface="Courier" pitchFamily="2" charset="0"/>
            </a:endParaRPr>
          </a:p>
          <a:p>
            <a:r>
              <a:rPr lang="zh-CN" altLang="en-US" sz="1100" dirty="0">
                <a:latin typeface="Courier" pitchFamily="2" charset="0"/>
              </a:rPr>
              <a:t>  </a:t>
            </a:r>
            <a:r>
              <a:rPr lang="en-US" sz="1100" dirty="0">
                <a:latin typeface="Courier" pitchFamily="2" charset="0"/>
              </a:rPr>
              <a:t>jbd2_journal_commit_transaction(</a:t>
            </a:r>
            <a:r>
              <a:rPr lang="en-US" altLang="zh-CN" sz="1100" dirty="0">
                <a:latin typeface="Courier" pitchFamily="2" charset="0"/>
              </a:rPr>
              <a:t>journal</a:t>
            </a:r>
            <a:r>
              <a:rPr lang="en-US" sz="1100" dirty="0">
                <a:latin typeface="Courier" pitchFamily="2" charset="0"/>
              </a:rPr>
              <a:t>)</a:t>
            </a:r>
          </a:p>
          <a:p>
            <a:r>
              <a:rPr lang="en-US" altLang="zh-CN" sz="1100" dirty="0">
                <a:latin typeface="Courier" pitchFamily="2" charset="0"/>
              </a:rPr>
              <a:t>}</a:t>
            </a:r>
            <a:endParaRPr lang="en-US" sz="1100" dirty="0">
              <a:latin typeface="Courier" pitchFamily="2" charset="0"/>
            </a:endParaRPr>
          </a:p>
        </p:txBody>
      </p:sp>
      <p:sp>
        <p:nvSpPr>
          <p:cNvPr id="13" name="TextBox 12">
            <a:extLst>
              <a:ext uri="{FF2B5EF4-FFF2-40B4-BE49-F238E27FC236}">
                <a16:creationId xmlns:a16="http://schemas.microsoft.com/office/drawing/2014/main" id="{E446FFFF-8CB0-7641-A70C-1F3FF0F8DCFD}"/>
              </a:ext>
            </a:extLst>
          </p:cNvPr>
          <p:cNvSpPr txBox="1"/>
          <p:nvPr/>
        </p:nvSpPr>
        <p:spPr>
          <a:xfrm>
            <a:off x="4596664" y="1174402"/>
            <a:ext cx="4175636" cy="4154984"/>
          </a:xfrm>
          <a:prstGeom prst="rect">
            <a:avLst/>
          </a:prstGeom>
          <a:solidFill>
            <a:schemeClr val="accent6">
              <a:lumMod val="20000"/>
              <a:lumOff val="80000"/>
            </a:schemeClr>
          </a:solidFill>
          <a:ln>
            <a:solidFill>
              <a:schemeClr val="bg2"/>
            </a:solidFill>
          </a:ln>
        </p:spPr>
        <p:txBody>
          <a:bodyPr wrap="square" rtlCol="0">
            <a:spAutoFit/>
          </a:bodyPr>
          <a:lstStyle/>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不使用日志时的创建文件</a:t>
            </a:r>
            <a:endParaRPr lang="en-CN" altLang="zh-CN" sz="1100" dirty="0">
              <a:latin typeface="Courier" pitchFamily="2" charset="0"/>
            </a:endParaRPr>
          </a:p>
          <a:p>
            <a:endParaRPr lang="en-CN" altLang="zh-CN"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1.</a:t>
            </a:r>
            <a:r>
              <a:rPr lang="zh-CN" altLang="en-US" sz="1100" dirty="0">
                <a:latin typeface="Courier" pitchFamily="2" charset="0"/>
              </a:rPr>
              <a:t> 标记</a:t>
            </a:r>
            <a:r>
              <a:rPr lang="en-US" altLang="zh-CN" sz="1100" dirty="0" err="1">
                <a:latin typeface="Courier" pitchFamily="2" charset="0"/>
              </a:rPr>
              <a:t>inode</a:t>
            </a:r>
            <a:r>
              <a:rPr lang="zh-CN" altLang="en-US" sz="1100" dirty="0">
                <a:latin typeface="Courier" pitchFamily="2" charset="0"/>
              </a:rPr>
              <a:t>为占用</a:t>
            </a:r>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bh</a:t>
            </a:r>
            <a:r>
              <a:rPr lang="en-US" altLang="zh-CN" sz="1100" dirty="0">
                <a:latin typeface="Courier" pitchFamily="2" charset="0"/>
              </a:rPr>
              <a:t>: </a:t>
            </a:r>
            <a:r>
              <a:rPr lang="en-US" altLang="zh-CN" sz="1100" dirty="0" err="1">
                <a:latin typeface="Courier" pitchFamily="2" charset="0"/>
              </a:rPr>
              <a:t>buffer_head</a:t>
            </a:r>
            <a:r>
              <a:rPr lang="zh-CN" altLang="en-US" sz="1100" dirty="0">
                <a:latin typeface="Courier" pitchFamily="2" charset="0"/>
              </a:rPr>
              <a:t> 对应存储设备中的最小访问单元</a:t>
            </a:r>
            <a:endParaRPr lang="en-US" altLang="zh-CN" sz="1100" dirty="0">
              <a:latin typeface="Courier" pitchFamily="2" charset="0"/>
            </a:endParaRPr>
          </a:p>
          <a:p>
            <a:r>
              <a:rPr lang="en-US" altLang="zh-CN" sz="1100" dirty="0" err="1">
                <a:latin typeface="Courier" pitchFamily="2" charset="0"/>
              </a:rPr>
              <a:t>bitmap_bh</a:t>
            </a:r>
            <a:r>
              <a:rPr lang="en-US" altLang="zh-CN" sz="1100" dirty="0">
                <a:latin typeface="Courier" pitchFamily="2" charset="0"/>
              </a:rPr>
              <a:t> = </a:t>
            </a:r>
            <a:r>
              <a:rPr lang="en-US" altLang="zh-CN" sz="1100" dirty="0" err="1">
                <a:latin typeface="Courier" pitchFamily="2" charset="0"/>
              </a:rPr>
              <a:t>read_inode_bitmap</a:t>
            </a:r>
            <a:r>
              <a:rPr lang="en-US" altLang="zh-CN" sz="1100" dirty="0">
                <a:latin typeface="Courier" pitchFamily="2" charset="0"/>
              </a:rPr>
              <a:t>(sb, group)</a:t>
            </a:r>
          </a:p>
          <a:p>
            <a:endParaRPr lang="en-US" sz="1100" b="1" dirty="0">
              <a:solidFill>
                <a:srgbClr val="C00000"/>
              </a:solidFill>
              <a:latin typeface="Courier" pitchFamily="2" charset="0"/>
            </a:endParaRPr>
          </a:p>
          <a:p>
            <a:r>
              <a:rPr lang="en-US" altLang="zh-CN" sz="1100" dirty="0" err="1">
                <a:latin typeface="Courier" pitchFamily="2" charset="0"/>
              </a:rPr>
              <a:t>set_bit</a:t>
            </a:r>
            <a:r>
              <a:rPr lang="en-US" altLang="zh-CN" sz="1100" dirty="0">
                <a:latin typeface="Courier" pitchFamily="2" charset="0"/>
              </a:rPr>
              <a:t>(</a:t>
            </a:r>
            <a:r>
              <a:rPr lang="en-US" altLang="zh-CN" sz="1100" dirty="0" err="1">
                <a:latin typeface="Courier" pitchFamily="2" charset="0"/>
              </a:rPr>
              <a:t>ino</a:t>
            </a:r>
            <a:r>
              <a:rPr lang="en-US" altLang="zh-CN" sz="1100" dirty="0">
                <a:latin typeface="Courier" pitchFamily="2" charset="0"/>
              </a:rPr>
              <a:t>, </a:t>
            </a:r>
            <a:r>
              <a:rPr lang="en-US" altLang="zh-CN" sz="1100" dirty="0" err="1">
                <a:latin typeface="Courier" pitchFamily="2" charset="0"/>
              </a:rPr>
              <a:t>bitmap_bh</a:t>
            </a:r>
            <a:r>
              <a:rPr lang="en-US" altLang="zh-CN" sz="1100" dirty="0">
                <a:latin typeface="Courier" pitchFamily="2" charset="0"/>
              </a:rPr>
              <a:t>-&gt;</a:t>
            </a:r>
            <a:r>
              <a:rPr lang="en-US" altLang="zh-CN" sz="1100" dirty="0" err="1">
                <a:latin typeface="Courier" pitchFamily="2" charset="0"/>
              </a:rPr>
              <a:t>b_data</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2.</a:t>
            </a:r>
            <a:r>
              <a:rPr lang="zh-CN" altLang="en-US" sz="1100" dirty="0">
                <a:latin typeface="Courier" pitchFamily="2" charset="0"/>
              </a:rPr>
              <a:t> 初始化</a:t>
            </a:r>
            <a:r>
              <a:rPr lang="en-US" altLang="zh-CN" sz="1100" dirty="0" err="1">
                <a:latin typeface="Courier" pitchFamily="2" charset="0"/>
              </a:rPr>
              <a:t>inode</a:t>
            </a:r>
            <a:endParaRPr lang="en-US" altLang="zh-CN" sz="1100" dirty="0">
              <a:latin typeface="Courier" pitchFamily="2" charset="0"/>
            </a:endParaRPr>
          </a:p>
          <a:p>
            <a:r>
              <a:rPr lang="en-US" altLang="zh-CN" sz="1100" dirty="0" err="1">
                <a:latin typeface="Courier" pitchFamily="2" charset="0"/>
              </a:rPr>
              <a:t>inode_bh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get_inode_bh</a:t>
            </a:r>
            <a:r>
              <a:rPr lang="en-US" altLang="zh-CN" sz="1100" dirty="0">
                <a:latin typeface="Courier" pitchFamily="2" charset="0"/>
              </a:rPr>
              <a:t>(sb,</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init_inode</a:t>
            </a:r>
            <a:r>
              <a:rPr lang="en-US" altLang="zh-CN" sz="1100" dirty="0">
                <a:latin typeface="Courier" pitchFamily="2" charset="0"/>
              </a:rPr>
              <a:t>(</a:t>
            </a:r>
            <a:r>
              <a:rPr lang="en-US" altLang="zh-CN" sz="1100" dirty="0" err="1">
                <a:latin typeface="Courier" pitchFamily="2" charset="0"/>
              </a:rPr>
              <a:t>inode_bh</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3.</a:t>
            </a:r>
            <a:r>
              <a:rPr lang="zh-CN" altLang="en-US" sz="1100" dirty="0">
                <a:latin typeface="Courier" pitchFamily="2" charset="0"/>
              </a:rPr>
              <a:t> 将目录项写入目录中</a:t>
            </a:r>
            <a:endParaRPr lang="en-US" altLang="zh-CN" sz="1100" dirty="0">
              <a:latin typeface="Courier" pitchFamily="2" charset="0"/>
            </a:endParaRPr>
          </a:p>
          <a:p>
            <a:r>
              <a:rPr lang="en-US" altLang="zh-CN" sz="1100" dirty="0" err="1">
                <a:latin typeface="Courier" pitchFamily="2" charset="0"/>
              </a:rPr>
              <a:t>data_bh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get_data_page</a:t>
            </a:r>
            <a:r>
              <a:rPr lang="en-US" altLang="zh-CN" sz="1100" dirty="0">
                <a:latin typeface="Courier" pitchFamily="2" charset="0"/>
              </a:rPr>
              <a:t>(</a:t>
            </a:r>
            <a:r>
              <a:rPr lang="en-US" altLang="zh-CN" sz="1100" dirty="0" err="1">
                <a:latin typeface="Courier" pitchFamily="2" charset="0"/>
              </a:rPr>
              <a:t>dir_inode</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add_dentry_to_data</a:t>
            </a:r>
            <a:r>
              <a:rPr lang="en-US" altLang="zh-CN" sz="1100" dirty="0">
                <a:latin typeface="Courier" pitchFamily="2" charset="0"/>
              </a:rPr>
              <a:t>(page,</a:t>
            </a:r>
            <a:r>
              <a:rPr lang="zh-CN" altLang="en-US" sz="1100" dirty="0">
                <a:latin typeface="Courier" pitchFamily="2" charset="0"/>
              </a:rPr>
              <a:t> </a:t>
            </a:r>
            <a:r>
              <a:rPr lang="en-US" altLang="zh-CN" sz="1100" dirty="0">
                <a:latin typeface="Courier" pitchFamily="2" charset="0"/>
              </a:rPr>
              <a:t>filename,</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endParaRPr lang="en-US" sz="1100" dirty="0">
              <a:latin typeface="Courier" pitchFamily="2" charset="0"/>
            </a:endParaRPr>
          </a:p>
        </p:txBody>
      </p:sp>
      <p:sp>
        <p:nvSpPr>
          <p:cNvPr id="14" name="TextBox 13">
            <a:extLst>
              <a:ext uri="{FF2B5EF4-FFF2-40B4-BE49-F238E27FC236}">
                <a16:creationId xmlns:a16="http://schemas.microsoft.com/office/drawing/2014/main" id="{716C1643-BCD6-DA47-BEE6-C8B000920FAA}"/>
              </a:ext>
            </a:extLst>
          </p:cNvPr>
          <p:cNvSpPr txBox="1"/>
          <p:nvPr/>
        </p:nvSpPr>
        <p:spPr>
          <a:xfrm>
            <a:off x="539299" y="1477757"/>
            <a:ext cx="3744417" cy="1277273"/>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journal_t</a:t>
            </a:r>
            <a:r>
              <a:rPr lang="zh-CN" altLang="en-US" sz="1100" dirty="0">
                <a:latin typeface="Courier" pitchFamily="2" charset="0"/>
              </a:rPr>
              <a:t> </a:t>
            </a:r>
            <a:r>
              <a:rPr lang="en-US" altLang="zh-CN" sz="1100" dirty="0">
                <a:latin typeface="Courier" pitchFamily="2" charset="0"/>
              </a:rPr>
              <a:t>journal;</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初始化日志系统（日志存在文件中）</a:t>
            </a:r>
            <a:endParaRPr lang="en-US" altLang="zh-CN" sz="1100" dirty="0">
              <a:latin typeface="Courier" pitchFamily="2" charset="0"/>
            </a:endParaRPr>
          </a:p>
          <a:p>
            <a:r>
              <a:rPr lang="en-US" altLang="zh-CN" sz="1100" dirty="0">
                <a:latin typeface="Courier" pitchFamily="2" charset="0"/>
              </a:rPr>
              <a:t>journal</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sz="1100" dirty="0">
                <a:latin typeface="Courier" pitchFamily="2" charset="0"/>
              </a:rPr>
              <a:t>jbd2_journal_init_inode</a:t>
            </a:r>
            <a:r>
              <a:rPr lang="en-US" altLang="zh-CN" sz="1100" dirty="0">
                <a:latin typeface="Courier" pitchFamily="2" charset="0"/>
              </a:rPr>
              <a:t>(</a:t>
            </a:r>
            <a:r>
              <a:rPr lang="en-US" altLang="zh-CN" sz="1100" dirty="0" err="1">
                <a:latin typeface="Courier" pitchFamily="2" charset="0"/>
              </a:rPr>
              <a:t>inode</a:t>
            </a:r>
            <a:r>
              <a:rPr lang="en-US" altLang="zh-CN" sz="1100" dirty="0">
                <a:latin typeface="Courier" pitchFamily="2" charset="0"/>
              </a:rPr>
              <a:t>)</a:t>
            </a:r>
          </a:p>
          <a:p>
            <a:r>
              <a:rPr lang="en-US" altLang="zh-CN" sz="1100" dirty="0">
                <a:latin typeface="Courier" pitchFamily="2" charset="0"/>
              </a:rPr>
              <a:t>//</a:t>
            </a:r>
            <a:r>
              <a:rPr lang="zh-CN" altLang="en-US" sz="1100" dirty="0">
                <a:latin typeface="Courier" pitchFamily="2" charset="0"/>
              </a:rPr>
              <a:t> 读取并恢复已有日志（如果存在）</a:t>
            </a:r>
            <a:endParaRPr lang="en-US" altLang="zh-CN" sz="1100" dirty="0">
              <a:latin typeface="Courier" pitchFamily="2" charset="0"/>
            </a:endParaRPr>
          </a:p>
          <a:p>
            <a:r>
              <a:rPr lang="en-US" sz="1100" dirty="0">
                <a:latin typeface="Courier" pitchFamily="2" charset="0"/>
              </a:rPr>
              <a:t>jbd2_journal_load(journal)</a:t>
            </a:r>
          </a:p>
          <a:p>
            <a:endParaRPr lang="en-US" sz="1100" dirty="0">
              <a:latin typeface="Courier" pitchFamily="2" charset="0"/>
            </a:endParaRPr>
          </a:p>
        </p:txBody>
      </p:sp>
      <p:sp>
        <p:nvSpPr>
          <p:cNvPr id="15" name="TextBox 14">
            <a:extLst>
              <a:ext uri="{FF2B5EF4-FFF2-40B4-BE49-F238E27FC236}">
                <a16:creationId xmlns:a16="http://schemas.microsoft.com/office/drawing/2014/main" id="{C5C1A360-D9EA-C44E-B195-17B05E27F064}"/>
              </a:ext>
            </a:extLst>
          </p:cNvPr>
          <p:cNvSpPr txBox="1"/>
          <p:nvPr/>
        </p:nvSpPr>
        <p:spPr>
          <a:xfrm>
            <a:off x="539750" y="4318614"/>
            <a:ext cx="3744417" cy="60016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a:t>
            </a:r>
            <a:r>
              <a:rPr lang="zh-CN" altLang="en-US" sz="1100" dirty="0">
                <a:latin typeface="Courier" pitchFamily="2" charset="0"/>
              </a:rPr>
              <a:t> 释放日志系统</a:t>
            </a:r>
            <a:endParaRPr lang="en-US" sz="1100" dirty="0">
              <a:latin typeface="Courier" pitchFamily="2" charset="0"/>
            </a:endParaRPr>
          </a:p>
          <a:p>
            <a:r>
              <a:rPr lang="en-US" sz="1100" dirty="0">
                <a:latin typeface="Courier" pitchFamily="2" charset="0"/>
              </a:rPr>
              <a:t>jbd2_journal_destroy(journal)</a:t>
            </a:r>
            <a:endParaRPr lang="en-US" altLang="zh-CN" sz="1100" dirty="0">
              <a:latin typeface="Courier" pitchFamily="2" charset="0"/>
            </a:endParaRPr>
          </a:p>
          <a:p>
            <a:endParaRPr lang="en-US" sz="1100" dirty="0">
              <a:latin typeface="Courier" pitchFamily="2" charset="0"/>
            </a:endParaRPr>
          </a:p>
        </p:txBody>
      </p:sp>
      <p:sp>
        <p:nvSpPr>
          <p:cNvPr id="10" name="TextBox 9">
            <a:extLst>
              <a:ext uri="{FF2B5EF4-FFF2-40B4-BE49-F238E27FC236}">
                <a16:creationId xmlns:a16="http://schemas.microsoft.com/office/drawing/2014/main" id="{2ECD993D-533C-0641-8B28-2C8D3D54BCCC}"/>
              </a:ext>
            </a:extLst>
          </p:cNvPr>
          <p:cNvSpPr txBox="1"/>
          <p:nvPr/>
        </p:nvSpPr>
        <p:spPr>
          <a:xfrm>
            <a:off x="515915" y="1174402"/>
            <a:ext cx="1620957" cy="307777"/>
          </a:xfrm>
          <a:prstGeom prst="rect">
            <a:avLst/>
          </a:prstGeom>
          <a:noFill/>
        </p:spPr>
        <p:txBody>
          <a:bodyPr wrap="none" rtlCol="0">
            <a:spAutoFit/>
          </a:bodyPr>
          <a:lstStyle/>
          <a:p>
            <a:r>
              <a:rPr lang="zh-CN" altLang="en-CN" sz="1400" dirty="0"/>
              <a:t>文件系统</a:t>
            </a:r>
            <a:r>
              <a:rPr lang="zh-CN" altLang="en-US" sz="1400" dirty="0"/>
              <a:t>挂载时：</a:t>
            </a:r>
            <a:endParaRPr lang="en-CN" sz="1400" dirty="0"/>
          </a:p>
        </p:txBody>
      </p:sp>
      <p:sp>
        <p:nvSpPr>
          <p:cNvPr id="16" name="TextBox 15">
            <a:extLst>
              <a:ext uri="{FF2B5EF4-FFF2-40B4-BE49-F238E27FC236}">
                <a16:creationId xmlns:a16="http://schemas.microsoft.com/office/drawing/2014/main" id="{63B2D966-A96B-5549-8BBD-E5CB41FED46F}"/>
              </a:ext>
            </a:extLst>
          </p:cNvPr>
          <p:cNvSpPr txBox="1"/>
          <p:nvPr/>
        </p:nvSpPr>
        <p:spPr>
          <a:xfrm>
            <a:off x="515915" y="2881042"/>
            <a:ext cx="1082348" cy="307777"/>
          </a:xfrm>
          <a:prstGeom prst="rect">
            <a:avLst/>
          </a:prstGeom>
          <a:noFill/>
        </p:spPr>
        <p:txBody>
          <a:bodyPr wrap="none" rtlCol="0">
            <a:spAutoFit/>
          </a:bodyPr>
          <a:lstStyle/>
          <a:p>
            <a:r>
              <a:rPr lang="zh-CN" altLang="en-US" sz="1400" dirty="0"/>
              <a:t>后台进程：</a:t>
            </a:r>
            <a:endParaRPr lang="en-CN" sz="1400" dirty="0"/>
          </a:p>
        </p:txBody>
      </p:sp>
      <p:sp>
        <p:nvSpPr>
          <p:cNvPr id="20" name="TextBox 19">
            <a:extLst>
              <a:ext uri="{FF2B5EF4-FFF2-40B4-BE49-F238E27FC236}">
                <a16:creationId xmlns:a16="http://schemas.microsoft.com/office/drawing/2014/main" id="{637532AB-4D38-F74B-A671-8F791A82C869}"/>
              </a:ext>
            </a:extLst>
          </p:cNvPr>
          <p:cNvSpPr txBox="1"/>
          <p:nvPr/>
        </p:nvSpPr>
        <p:spPr>
          <a:xfrm>
            <a:off x="4535016" y="902555"/>
            <a:ext cx="1441420" cy="307777"/>
          </a:xfrm>
          <a:prstGeom prst="rect">
            <a:avLst/>
          </a:prstGeom>
          <a:noFill/>
        </p:spPr>
        <p:txBody>
          <a:bodyPr wrap="none" rtlCol="0">
            <a:spAutoFit/>
          </a:bodyPr>
          <a:lstStyle>
            <a:defPPr>
              <a:defRPr lang="zh-CN"/>
            </a:defPPr>
            <a:lvl1pPr>
              <a:defRPr sz="1400"/>
            </a:lvl1pPr>
          </a:lstStyle>
          <a:p>
            <a:r>
              <a:rPr lang="zh-CN" altLang="en-US" dirty="0"/>
              <a:t>系统调用处理：</a:t>
            </a:r>
            <a:endParaRPr lang="en-US" altLang="zh-CN" dirty="0"/>
          </a:p>
        </p:txBody>
      </p:sp>
      <p:sp>
        <p:nvSpPr>
          <p:cNvPr id="18" name="TextBox 17">
            <a:extLst>
              <a:ext uri="{FF2B5EF4-FFF2-40B4-BE49-F238E27FC236}">
                <a16:creationId xmlns:a16="http://schemas.microsoft.com/office/drawing/2014/main" id="{E0664195-38EA-D247-B4E8-1CB4AB2C1DA7}"/>
              </a:ext>
            </a:extLst>
          </p:cNvPr>
          <p:cNvSpPr txBox="1"/>
          <p:nvPr/>
        </p:nvSpPr>
        <p:spPr>
          <a:xfrm>
            <a:off x="515915" y="4061604"/>
            <a:ext cx="1620957" cy="307777"/>
          </a:xfrm>
          <a:prstGeom prst="rect">
            <a:avLst/>
          </a:prstGeom>
          <a:noFill/>
        </p:spPr>
        <p:txBody>
          <a:bodyPr wrap="none" rtlCol="0">
            <a:spAutoFit/>
          </a:bodyPr>
          <a:lstStyle/>
          <a:p>
            <a:r>
              <a:rPr lang="zh-CN" altLang="en-US" sz="1400" dirty="0"/>
              <a:t>文件系统卸载时：</a:t>
            </a:r>
            <a:endParaRPr lang="en-CN" sz="1400" dirty="0"/>
          </a:p>
        </p:txBody>
      </p:sp>
    </p:spTree>
    <p:extLst>
      <p:ext uri="{BB962C8B-B14F-4D97-AF65-F5344CB8AC3E}">
        <p14:creationId xmlns:p14="http://schemas.microsoft.com/office/powerpoint/2010/main" val="1121082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DB1E-62D0-5948-96F9-0B385AF4E959}"/>
              </a:ext>
            </a:extLst>
          </p:cNvPr>
          <p:cNvSpPr>
            <a:spLocks noGrp="1"/>
          </p:cNvSpPr>
          <p:nvPr>
            <p:ph type="title"/>
          </p:nvPr>
        </p:nvSpPr>
        <p:spPr/>
        <p:txBody>
          <a:bodyPr/>
          <a:lstStyle/>
          <a:p>
            <a:r>
              <a:rPr lang="en-CN" dirty="0"/>
              <a:t>JBD</a:t>
            </a:r>
            <a:r>
              <a:rPr lang="en-US" altLang="zh-CN" dirty="0"/>
              <a:t>2</a:t>
            </a:r>
            <a:r>
              <a:rPr lang="zh-CN" altLang="en-US" dirty="0"/>
              <a:t>部分接口和使用方法</a:t>
            </a:r>
            <a:endParaRPr lang="en-CN" dirty="0"/>
          </a:p>
        </p:txBody>
      </p:sp>
      <p:sp>
        <p:nvSpPr>
          <p:cNvPr id="4" name="Slide Number Placeholder 3">
            <a:extLst>
              <a:ext uri="{FF2B5EF4-FFF2-40B4-BE49-F238E27FC236}">
                <a16:creationId xmlns:a16="http://schemas.microsoft.com/office/drawing/2014/main" id="{C8862C3D-542B-B04C-9283-74A97569AB75}"/>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
        <p:nvSpPr>
          <p:cNvPr id="5" name="Footer Placeholder 4">
            <a:extLst>
              <a:ext uri="{FF2B5EF4-FFF2-40B4-BE49-F238E27FC236}">
                <a16:creationId xmlns:a16="http://schemas.microsoft.com/office/drawing/2014/main" id="{AE140DC6-8932-E94A-AF5D-8D69694DE66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5FC4A2EA-0C87-AF42-A642-9CDF7995C512}"/>
              </a:ext>
            </a:extLst>
          </p:cNvPr>
          <p:cNvSpPr txBox="1"/>
          <p:nvPr/>
        </p:nvSpPr>
        <p:spPr>
          <a:xfrm>
            <a:off x="539300" y="3177485"/>
            <a:ext cx="3744417" cy="76944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while</a:t>
            </a:r>
            <a:r>
              <a:rPr lang="zh-CN" altLang="en-US" sz="1100" dirty="0">
                <a:latin typeface="Courier" pitchFamily="2" charset="0"/>
              </a:rPr>
              <a:t> </a:t>
            </a:r>
            <a:r>
              <a:rPr lang="en-US" altLang="zh-CN" sz="1100" dirty="0">
                <a:latin typeface="Courier" pitchFamily="2" charset="0"/>
              </a:rPr>
              <a:t>(sleep_5s())</a:t>
            </a:r>
            <a:r>
              <a:rPr lang="zh-CN" altLang="en-US" sz="1100" dirty="0">
                <a:latin typeface="Courier" pitchFamily="2" charset="0"/>
              </a:rPr>
              <a:t> </a:t>
            </a:r>
            <a:r>
              <a:rPr lang="en-US" altLang="zh-CN" sz="1100" dirty="0">
                <a:latin typeface="Courier" pitchFamily="2" charset="0"/>
              </a:rPr>
              <a:t>{</a:t>
            </a:r>
          </a:p>
          <a:p>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提交事务和回收日志空间（并开始新的事务）</a:t>
            </a:r>
            <a:endParaRPr lang="en-US" altLang="zh-CN" sz="1100" dirty="0">
              <a:latin typeface="Courier" pitchFamily="2" charset="0"/>
            </a:endParaRPr>
          </a:p>
          <a:p>
            <a:r>
              <a:rPr lang="zh-CN" altLang="en-US" sz="1100" dirty="0">
                <a:latin typeface="Courier" pitchFamily="2" charset="0"/>
              </a:rPr>
              <a:t>  </a:t>
            </a:r>
            <a:r>
              <a:rPr lang="en-US" sz="1100" dirty="0">
                <a:latin typeface="Courier" pitchFamily="2" charset="0"/>
              </a:rPr>
              <a:t>jbd2_journal_commit_transaction(</a:t>
            </a:r>
            <a:r>
              <a:rPr lang="en-US" altLang="zh-CN" sz="1100" dirty="0">
                <a:latin typeface="Courier" pitchFamily="2" charset="0"/>
              </a:rPr>
              <a:t>journal</a:t>
            </a:r>
            <a:r>
              <a:rPr lang="en-US" sz="1100" dirty="0">
                <a:latin typeface="Courier" pitchFamily="2" charset="0"/>
              </a:rPr>
              <a:t>)</a:t>
            </a:r>
          </a:p>
          <a:p>
            <a:r>
              <a:rPr lang="en-US" altLang="zh-CN" sz="1100" dirty="0">
                <a:latin typeface="Courier" pitchFamily="2" charset="0"/>
              </a:rPr>
              <a:t>}</a:t>
            </a:r>
            <a:endParaRPr lang="en-US" sz="1100" dirty="0">
              <a:latin typeface="Courier" pitchFamily="2" charset="0"/>
            </a:endParaRPr>
          </a:p>
        </p:txBody>
      </p:sp>
      <p:sp>
        <p:nvSpPr>
          <p:cNvPr id="13" name="TextBox 12">
            <a:extLst>
              <a:ext uri="{FF2B5EF4-FFF2-40B4-BE49-F238E27FC236}">
                <a16:creationId xmlns:a16="http://schemas.microsoft.com/office/drawing/2014/main" id="{E446FFFF-8CB0-7641-A70C-1F3FF0F8DCFD}"/>
              </a:ext>
            </a:extLst>
          </p:cNvPr>
          <p:cNvSpPr txBox="1"/>
          <p:nvPr/>
        </p:nvSpPr>
        <p:spPr>
          <a:xfrm>
            <a:off x="4596664" y="1174402"/>
            <a:ext cx="4175636" cy="415498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handle_t</a:t>
            </a:r>
            <a:r>
              <a:rPr lang="zh-CN" altLang="en-US" sz="1100" dirty="0">
                <a:latin typeface="Courier" pitchFamily="2" charset="0"/>
              </a:rPr>
              <a:t> </a:t>
            </a:r>
            <a:r>
              <a:rPr lang="en-US" altLang="zh-CN" sz="1100" dirty="0">
                <a:latin typeface="Courier" pitchFamily="2" charset="0"/>
              </a:rPr>
              <a:t>handle;</a:t>
            </a:r>
          </a:p>
          <a:p>
            <a:r>
              <a:rPr lang="en-US" altLang="zh-CN" sz="1100" dirty="0">
                <a:latin typeface="Courier" pitchFamily="2" charset="0"/>
              </a:rPr>
              <a:t>//</a:t>
            </a:r>
            <a:r>
              <a:rPr lang="zh-CN" altLang="en-US" sz="1100" dirty="0">
                <a:latin typeface="Courier" pitchFamily="2" charset="0"/>
              </a:rPr>
              <a:t> 原子操作：创建新文件</a:t>
            </a:r>
            <a:endParaRPr lang="en-US" altLang="zh-CN" sz="1100" dirty="0">
              <a:latin typeface="Courier" pitchFamily="2" charset="0"/>
            </a:endParaRPr>
          </a:p>
          <a:p>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a:solidFill>
                  <a:srgbClr val="C00000"/>
                </a:solidFill>
                <a:latin typeface="Courier" pitchFamily="2" charset="0"/>
              </a:rPr>
              <a:t>=</a:t>
            </a:r>
            <a:r>
              <a:rPr lang="zh-CN" altLang="en-US" sz="1100" b="1" dirty="0">
                <a:solidFill>
                  <a:srgbClr val="C00000"/>
                </a:solidFill>
                <a:latin typeface="Courier" pitchFamily="2" charset="0"/>
              </a:rPr>
              <a:t> </a:t>
            </a:r>
            <a:r>
              <a:rPr lang="en-US" sz="1100" b="1" dirty="0">
                <a:solidFill>
                  <a:srgbClr val="C00000"/>
                </a:solidFill>
                <a:latin typeface="Courier" pitchFamily="2" charset="0"/>
              </a:rPr>
              <a:t>jbd2_journal_start(journal, </a:t>
            </a:r>
            <a:r>
              <a:rPr lang="en-US" sz="1100" b="1" dirty="0" err="1">
                <a:solidFill>
                  <a:srgbClr val="C00000"/>
                </a:solidFill>
                <a:latin typeface="Courier" pitchFamily="2" charset="0"/>
              </a:rPr>
              <a:t>nblocks</a:t>
            </a:r>
            <a:r>
              <a:rPr lang="en-US" altLang="zh-CN" sz="1100" b="1" dirty="0">
                <a:solidFill>
                  <a:srgbClr val="C00000"/>
                </a:solidFill>
                <a:latin typeface="Courier" pitchFamily="2" charset="0"/>
              </a:rPr>
              <a:t>=8)</a:t>
            </a:r>
            <a:endParaRPr lang="en-CN" altLang="zh-CN"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1.</a:t>
            </a:r>
            <a:r>
              <a:rPr lang="zh-CN" altLang="en-US" sz="1100" dirty="0">
                <a:latin typeface="Courier" pitchFamily="2" charset="0"/>
              </a:rPr>
              <a:t> 标记</a:t>
            </a:r>
            <a:r>
              <a:rPr lang="en-US" altLang="zh-CN" sz="1100" dirty="0" err="1">
                <a:latin typeface="Courier" pitchFamily="2" charset="0"/>
              </a:rPr>
              <a:t>inode</a:t>
            </a:r>
            <a:r>
              <a:rPr lang="zh-CN" altLang="en-US" sz="1100" dirty="0">
                <a:latin typeface="Courier" pitchFamily="2" charset="0"/>
              </a:rPr>
              <a:t>为占用</a:t>
            </a:r>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bh</a:t>
            </a:r>
            <a:r>
              <a:rPr lang="en-US" altLang="zh-CN" sz="1100" dirty="0">
                <a:latin typeface="Courier" pitchFamily="2" charset="0"/>
              </a:rPr>
              <a:t>: </a:t>
            </a:r>
            <a:r>
              <a:rPr lang="en-US" altLang="zh-CN" sz="1100" dirty="0" err="1">
                <a:latin typeface="Courier" pitchFamily="2" charset="0"/>
              </a:rPr>
              <a:t>buffer_head</a:t>
            </a:r>
            <a:r>
              <a:rPr lang="zh-CN" altLang="en-US" sz="1100" dirty="0">
                <a:latin typeface="Courier" pitchFamily="2" charset="0"/>
              </a:rPr>
              <a:t> 对应存储设备中的最小访问单元</a:t>
            </a:r>
            <a:endParaRPr lang="en-US" altLang="zh-CN" sz="1100" dirty="0">
              <a:latin typeface="Courier" pitchFamily="2" charset="0"/>
            </a:endParaRPr>
          </a:p>
          <a:p>
            <a:r>
              <a:rPr lang="en-US" altLang="zh-CN" sz="1100" dirty="0" err="1">
                <a:latin typeface="Courier" pitchFamily="2" charset="0"/>
              </a:rPr>
              <a:t>bitmap_bh</a:t>
            </a:r>
            <a:r>
              <a:rPr lang="en-US" altLang="zh-CN" sz="1100" dirty="0">
                <a:latin typeface="Courier" pitchFamily="2" charset="0"/>
              </a:rPr>
              <a:t> = </a:t>
            </a:r>
            <a:r>
              <a:rPr lang="en-US" altLang="zh-CN" sz="1100" dirty="0" err="1">
                <a:latin typeface="Courier" pitchFamily="2" charset="0"/>
              </a:rPr>
              <a:t>read_inode_bitmap</a:t>
            </a:r>
            <a:r>
              <a:rPr lang="en-US" altLang="zh-CN" sz="1100" dirty="0">
                <a:latin typeface="Courier" pitchFamily="2" charset="0"/>
              </a:rPr>
              <a:t>(sb, group)</a:t>
            </a:r>
          </a:p>
          <a:p>
            <a:endParaRPr lang="en-US" sz="1100" b="1" dirty="0">
              <a:solidFill>
                <a:srgbClr val="C00000"/>
              </a:solidFill>
              <a:latin typeface="Courier" pitchFamily="2" charset="0"/>
            </a:endParaRPr>
          </a:p>
          <a:p>
            <a:r>
              <a:rPr lang="en-US" altLang="zh-CN" sz="1100" dirty="0" err="1">
                <a:latin typeface="Courier" pitchFamily="2" charset="0"/>
              </a:rPr>
              <a:t>set_bit</a:t>
            </a:r>
            <a:r>
              <a:rPr lang="en-US" altLang="zh-CN" sz="1100" dirty="0">
                <a:latin typeface="Courier" pitchFamily="2" charset="0"/>
              </a:rPr>
              <a:t>(</a:t>
            </a:r>
            <a:r>
              <a:rPr lang="en-US" altLang="zh-CN" sz="1100" dirty="0" err="1">
                <a:latin typeface="Courier" pitchFamily="2" charset="0"/>
              </a:rPr>
              <a:t>ino</a:t>
            </a:r>
            <a:r>
              <a:rPr lang="en-US" altLang="zh-CN" sz="1100" dirty="0">
                <a:latin typeface="Courier" pitchFamily="2" charset="0"/>
              </a:rPr>
              <a:t>, </a:t>
            </a:r>
            <a:r>
              <a:rPr lang="en-US" altLang="zh-CN" sz="1100" dirty="0" err="1">
                <a:latin typeface="Courier" pitchFamily="2" charset="0"/>
              </a:rPr>
              <a:t>bitmap_bh</a:t>
            </a:r>
            <a:r>
              <a:rPr lang="en-US" altLang="zh-CN" sz="1100" dirty="0">
                <a:latin typeface="Courier" pitchFamily="2" charset="0"/>
              </a:rPr>
              <a:t>-&gt;</a:t>
            </a:r>
            <a:r>
              <a:rPr lang="en-US" altLang="zh-CN" sz="1100" dirty="0" err="1">
                <a:latin typeface="Courier" pitchFamily="2" charset="0"/>
              </a:rPr>
              <a:t>b_data</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2.</a:t>
            </a:r>
            <a:r>
              <a:rPr lang="zh-CN" altLang="en-US" sz="1100" dirty="0">
                <a:latin typeface="Courier" pitchFamily="2" charset="0"/>
              </a:rPr>
              <a:t> 初始化</a:t>
            </a:r>
            <a:r>
              <a:rPr lang="en-US" altLang="zh-CN" sz="1100" dirty="0" err="1">
                <a:latin typeface="Courier" pitchFamily="2" charset="0"/>
              </a:rPr>
              <a:t>inode</a:t>
            </a:r>
            <a:endParaRPr lang="en-US" altLang="zh-CN" sz="1100" dirty="0">
              <a:latin typeface="Courier" pitchFamily="2" charset="0"/>
            </a:endParaRPr>
          </a:p>
          <a:p>
            <a:r>
              <a:rPr lang="en-US" altLang="zh-CN" sz="1100" dirty="0" err="1">
                <a:latin typeface="Courier" pitchFamily="2" charset="0"/>
              </a:rPr>
              <a:t>inode_bh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get_inode_bh</a:t>
            </a:r>
            <a:r>
              <a:rPr lang="en-US" altLang="zh-CN" sz="1100" dirty="0">
                <a:latin typeface="Courier" pitchFamily="2" charset="0"/>
              </a:rPr>
              <a:t>(sb,</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init_inode</a:t>
            </a:r>
            <a:r>
              <a:rPr lang="en-US" altLang="zh-CN" sz="1100" dirty="0">
                <a:latin typeface="Courier" pitchFamily="2" charset="0"/>
              </a:rPr>
              <a:t>(</a:t>
            </a:r>
            <a:r>
              <a:rPr lang="en-US" altLang="zh-CN" sz="1100" dirty="0" err="1">
                <a:latin typeface="Courier" pitchFamily="2" charset="0"/>
              </a:rPr>
              <a:t>inode_bh</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3.</a:t>
            </a:r>
            <a:r>
              <a:rPr lang="zh-CN" altLang="en-US" sz="1100" dirty="0">
                <a:latin typeface="Courier" pitchFamily="2" charset="0"/>
              </a:rPr>
              <a:t> 将目录项写入目录中</a:t>
            </a:r>
            <a:endParaRPr lang="en-US" altLang="zh-CN" sz="1100" dirty="0">
              <a:latin typeface="Courier" pitchFamily="2" charset="0"/>
            </a:endParaRPr>
          </a:p>
          <a:p>
            <a:r>
              <a:rPr lang="en-US" altLang="zh-CN" sz="1100" dirty="0" err="1">
                <a:latin typeface="Courier" pitchFamily="2" charset="0"/>
              </a:rPr>
              <a:t>data_bh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get_data_page</a:t>
            </a:r>
            <a:r>
              <a:rPr lang="en-US" altLang="zh-CN" sz="1100" dirty="0">
                <a:latin typeface="Courier" pitchFamily="2" charset="0"/>
              </a:rPr>
              <a:t>(</a:t>
            </a:r>
            <a:r>
              <a:rPr lang="en-US" altLang="zh-CN" sz="1100" dirty="0" err="1">
                <a:latin typeface="Courier" pitchFamily="2" charset="0"/>
              </a:rPr>
              <a:t>dir_inode</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add_dentry_to_data</a:t>
            </a:r>
            <a:r>
              <a:rPr lang="en-US" altLang="zh-CN" sz="1100" dirty="0">
                <a:latin typeface="Courier" pitchFamily="2" charset="0"/>
              </a:rPr>
              <a:t>(page,</a:t>
            </a:r>
            <a:r>
              <a:rPr lang="zh-CN" altLang="en-US" sz="1100" dirty="0">
                <a:latin typeface="Courier" pitchFamily="2" charset="0"/>
              </a:rPr>
              <a:t> </a:t>
            </a:r>
            <a:r>
              <a:rPr lang="en-US" altLang="zh-CN" sz="1100" dirty="0">
                <a:latin typeface="Courier" pitchFamily="2" charset="0"/>
              </a:rPr>
              <a:t>filename,</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endParaRPr lang="en-US" sz="1100" dirty="0">
              <a:latin typeface="Courier" pitchFamily="2" charset="0"/>
            </a:endParaRPr>
          </a:p>
        </p:txBody>
      </p:sp>
      <p:sp>
        <p:nvSpPr>
          <p:cNvPr id="14" name="TextBox 13">
            <a:extLst>
              <a:ext uri="{FF2B5EF4-FFF2-40B4-BE49-F238E27FC236}">
                <a16:creationId xmlns:a16="http://schemas.microsoft.com/office/drawing/2014/main" id="{716C1643-BCD6-DA47-BEE6-C8B000920FAA}"/>
              </a:ext>
            </a:extLst>
          </p:cNvPr>
          <p:cNvSpPr txBox="1"/>
          <p:nvPr/>
        </p:nvSpPr>
        <p:spPr>
          <a:xfrm>
            <a:off x="539299" y="1477757"/>
            <a:ext cx="3744417" cy="1277273"/>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journal_t</a:t>
            </a:r>
            <a:r>
              <a:rPr lang="zh-CN" altLang="en-US" sz="1100" dirty="0">
                <a:latin typeface="Courier" pitchFamily="2" charset="0"/>
              </a:rPr>
              <a:t> </a:t>
            </a:r>
            <a:r>
              <a:rPr lang="en-US" altLang="zh-CN" sz="1100" dirty="0">
                <a:latin typeface="Courier" pitchFamily="2" charset="0"/>
              </a:rPr>
              <a:t>journal;</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初始化日志系统（日志存在文件中）</a:t>
            </a:r>
            <a:endParaRPr lang="en-US" altLang="zh-CN" sz="1100" dirty="0">
              <a:latin typeface="Courier" pitchFamily="2" charset="0"/>
            </a:endParaRPr>
          </a:p>
          <a:p>
            <a:r>
              <a:rPr lang="en-US" altLang="zh-CN" sz="1100" dirty="0">
                <a:latin typeface="Courier" pitchFamily="2" charset="0"/>
              </a:rPr>
              <a:t>journal</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sz="1100" dirty="0">
                <a:latin typeface="Courier" pitchFamily="2" charset="0"/>
              </a:rPr>
              <a:t>jbd2_journal_init_inode</a:t>
            </a:r>
            <a:r>
              <a:rPr lang="en-US" altLang="zh-CN" sz="1100" dirty="0">
                <a:latin typeface="Courier" pitchFamily="2" charset="0"/>
              </a:rPr>
              <a:t>(</a:t>
            </a:r>
            <a:r>
              <a:rPr lang="en-US" altLang="zh-CN" sz="1100" dirty="0" err="1">
                <a:latin typeface="Courier" pitchFamily="2" charset="0"/>
              </a:rPr>
              <a:t>inode</a:t>
            </a:r>
            <a:r>
              <a:rPr lang="en-US" altLang="zh-CN" sz="1100" dirty="0">
                <a:latin typeface="Courier" pitchFamily="2" charset="0"/>
              </a:rPr>
              <a:t>)</a:t>
            </a:r>
          </a:p>
          <a:p>
            <a:r>
              <a:rPr lang="en-US" altLang="zh-CN" sz="1100" dirty="0">
                <a:latin typeface="Courier" pitchFamily="2" charset="0"/>
              </a:rPr>
              <a:t>//</a:t>
            </a:r>
            <a:r>
              <a:rPr lang="zh-CN" altLang="en-US" sz="1100" dirty="0">
                <a:latin typeface="Courier" pitchFamily="2" charset="0"/>
              </a:rPr>
              <a:t> 读取并恢复已有日志（如果存在）</a:t>
            </a:r>
            <a:endParaRPr lang="en-US" altLang="zh-CN" sz="1100" dirty="0">
              <a:latin typeface="Courier" pitchFamily="2" charset="0"/>
            </a:endParaRPr>
          </a:p>
          <a:p>
            <a:r>
              <a:rPr lang="en-US" sz="1100" dirty="0">
                <a:latin typeface="Courier" pitchFamily="2" charset="0"/>
              </a:rPr>
              <a:t>jbd2_journal_load(journal)</a:t>
            </a:r>
          </a:p>
          <a:p>
            <a:endParaRPr lang="en-US" sz="1100" dirty="0">
              <a:latin typeface="Courier" pitchFamily="2" charset="0"/>
            </a:endParaRPr>
          </a:p>
        </p:txBody>
      </p:sp>
      <p:sp>
        <p:nvSpPr>
          <p:cNvPr id="15" name="TextBox 14">
            <a:extLst>
              <a:ext uri="{FF2B5EF4-FFF2-40B4-BE49-F238E27FC236}">
                <a16:creationId xmlns:a16="http://schemas.microsoft.com/office/drawing/2014/main" id="{C5C1A360-D9EA-C44E-B195-17B05E27F064}"/>
              </a:ext>
            </a:extLst>
          </p:cNvPr>
          <p:cNvSpPr txBox="1"/>
          <p:nvPr/>
        </p:nvSpPr>
        <p:spPr>
          <a:xfrm>
            <a:off x="539750" y="4318614"/>
            <a:ext cx="3744417" cy="60016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a:t>
            </a:r>
            <a:r>
              <a:rPr lang="zh-CN" altLang="en-US" sz="1100" dirty="0">
                <a:latin typeface="Courier" pitchFamily="2" charset="0"/>
              </a:rPr>
              <a:t> 释放日志系统</a:t>
            </a:r>
            <a:endParaRPr lang="en-US" sz="1100" dirty="0">
              <a:latin typeface="Courier" pitchFamily="2" charset="0"/>
            </a:endParaRPr>
          </a:p>
          <a:p>
            <a:r>
              <a:rPr lang="en-US" sz="1100" dirty="0">
                <a:latin typeface="Courier" pitchFamily="2" charset="0"/>
              </a:rPr>
              <a:t>jbd2_journal_destroy(journal)</a:t>
            </a:r>
            <a:endParaRPr lang="en-US" altLang="zh-CN" sz="1100" dirty="0">
              <a:latin typeface="Courier" pitchFamily="2" charset="0"/>
            </a:endParaRPr>
          </a:p>
          <a:p>
            <a:endParaRPr lang="en-US" sz="1100" dirty="0">
              <a:latin typeface="Courier" pitchFamily="2" charset="0"/>
            </a:endParaRPr>
          </a:p>
        </p:txBody>
      </p:sp>
      <p:sp>
        <p:nvSpPr>
          <p:cNvPr id="10" name="TextBox 9">
            <a:extLst>
              <a:ext uri="{FF2B5EF4-FFF2-40B4-BE49-F238E27FC236}">
                <a16:creationId xmlns:a16="http://schemas.microsoft.com/office/drawing/2014/main" id="{2ECD993D-533C-0641-8B28-2C8D3D54BCCC}"/>
              </a:ext>
            </a:extLst>
          </p:cNvPr>
          <p:cNvSpPr txBox="1"/>
          <p:nvPr/>
        </p:nvSpPr>
        <p:spPr>
          <a:xfrm>
            <a:off x="515915" y="1174402"/>
            <a:ext cx="1620957" cy="307777"/>
          </a:xfrm>
          <a:prstGeom prst="rect">
            <a:avLst/>
          </a:prstGeom>
          <a:noFill/>
        </p:spPr>
        <p:txBody>
          <a:bodyPr wrap="none" rtlCol="0">
            <a:spAutoFit/>
          </a:bodyPr>
          <a:lstStyle/>
          <a:p>
            <a:r>
              <a:rPr lang="zh-CN" altLang="en-CN" sz="1400" dirty="0"/>
              <a:t>文件系统</a:t>
            </a:r>
            <a:r>
              <a:rPr lang="zh-CN" altLang="en-US" sz="1400" dirty="0"/>
              <a:t>挂载时：</a:t>
            </a:r>
            <a:endParaRPr lang="en-CN" sz="1400" dirty="0"/>
          </a:p>
        </p:txBody>
      </p:sp>
      <p:sp>
        <p:nvSpPr>
          <p:cNvPr id="16" name="TextBox 15">
            <a:extLst>
              <a:ext uri="{FF2B5EF4-FFF2-40B4-BE49-F238E27FC236}">
                <a16:creationId xmlns:a16="http://schemas.microsoft.com/office/drawing/2014/main" id="{63B2D966-A96B-5549-8BBD-E5CB41FED46F}"/>
              </a:ext>
            </a:extLst>
          </p:cNvPr>
          <p:cNvSpPr txBox="1"/>
          <p:nvPr/>
        </p:nvSpPr>
        <p:spPr>
          <a:xfrm>
            <a:off x="515915" y="2881042"/>
            <a:ext cx="1082348" cy="307777"/>
          </a:xfrm>
          <a:prstGeom prst="rect">
            <a:avLst/>
          </a:prstGeom>
          <a:noFill/>
        </p:spPr>
        <p:txBody>
          <a:bodyPr wrap="none" rtlCol="0">
            <a:spAutoFit/>
          </a:bodyPr>
          <a:lstStyle/>
          <a:p>
            <a:r>
              <a:rPr lang="zh-CN" altLang="en-US" sz="1400" dirty="0"/>
              <a:t>后台进程：</a:t>
            </a:r>
            <a:endParaRPr lang="en-CN" sz="1400" dirty="0"/>
          </a:p>
        </p:txBody>
      </p:sp>
      <p:sp>
        <p:nvSpPr>
          <p:cNvPr id="20" name="TextBox 19">
            <a:extLst>
              <a:ext uri="{FF2B5EF4-FFF2-40B4-BE49-F238E27FC236}">
                <a16:creationId xmlns:a16="http://schemas.microsoft.com/office/drawing/2014/main" id="{637532AB-4D38-F74B-A671-8F791A82C869}"/>
              </a:ext>
            </a:extLst>
          </p:cNvPr>
          <p:cNvSpPr txBox="1"/>
          <p:nvPr/>
        </p:nvSpPr>
        <p:spPr>
          <a:xfrm>
            <a:off x="4535016" y="902555"/>
            <a:ext cx="1441420" cy="307777"/>
          </a:xfrm>
          <a:prstGeom prst="rect">
            <a:avLst/>
          </a:prstGeom>
          <a:noFill/>
        </p:spPr>
        <p:txBody>
          <a:bodyPr wrap="none" rtlCol="0">
            <a:spAutoFit/>
          </a:bodyPr>
          <a:lstStyle>
            <a:defPPr>
              <a:defRPr lang="zh-CN"/>
            </a:defPPr>
            <a:lvl1pPr>
              <a:defRPr sz="1400"/>
            </a:lvl1pPr>
          </a:lstStyle>
          <a:p>
            <a:r>
              <a:rPr lang="zh-CN" altLang="en-US" dirty="0"/>
              <a:t>系统调用处理：</a:t>
            </a:r>
            <a:endParaRPr lang="en-US" altLang="zh-CN" dirty="0"/>
          </a:p>
        </p:txBody>
      </p:sp>
      <p:sp>
        <p:nvSpPr>
          <p:cNvPr id="18" name="TextBox 17">
            <a:extLst>
              <a:ext uri="{FF2B5EF4-FFF2-40B4-BE49-F238E27FC236}">
                <a16:creationId xmlns:a16="http://schemas.microsoft.com/office/drawing/2014/main" id="{C3EA13C6-1F57-144E-8992-D59124A2EA6A}"/>
              </a:ext>
            </a:extLst>
          </p:cNvPr>
          <p:cNvSpPr txBox="1"/>
          <p:nvPr/>
        </p:nvSpPr>
        <p:spPr>
          <a:xfrm>
            <a:off x="6804248" y="559916"/>
            <a:ext cx="2031325" cy="369332"/>
          </a:xfrm>
          <a:prstGeom prst="rect">
            <a:avLst/>
          </a:prstGeom>
          <a:noFill/>
        </p:spPr>
        <p:txBody>
          <a:bodyPr wrap="none" rtlCol="0">
            <a:spAutoFit/>
          </a:bodyPr>
          <a:lstStyle/>
          <a:p>
            <a:r>
              <a:rPr lang="zh-CN" altLang="en-US" dirty="0">
                <a:solidFill>
                  <a:srgbClr val="C00000"/>
                </a:solidFill>
                <a:latin typeface="Courier" pitchFamily="2" charset="0"/>
              </a:rPr>
              <a:t>开始新的原子操作</a:t>
            </a:r>
            <a:endParaRPr lang="en-US" altLang="zh-CN" dirty="0">
              <a:solidFill>
                <a:srgbClr val="C00000"/>
              </a:solidFill>
              <a:latin typeface="Courier" pitchFamily="2" charset="0"/>
            </a:endParaRPr>
          </a:p>
        </p:txBody>
      </p:sp>
      <p:cxnSp>
        <p:nvCxnSpPr>
          <p:cNvPr id="19" name="Straight Arrow Connector 18">
            <a:extLst>
              <a:ext uri="{FF2B5EF4-FFF2-40B4-BE49-F238E27FC236}">
                <a16:creationId xmlns:a16="http://schemas.microsoft.com/office/drawing/2014/main" id="{C19C0111-8AE2-8A49-AB4C-9CB637EFB902}"/>
              </a:ext>
            </a:extLst>
          </p:cNvPr>
          <p:cNvCxnSpPr>
            <a:cxnSpLocks/>
            <a:stCxn id="18" idx="2"/>
          </p:cNvCxnSpPr>
          <p:nvPr/>
        </p:nvCxnSpPr>
        <p:spPr>
          <a:xfrm flipH="1">
            <a:off x="6660232" y="929248"/>
            <a:ext cx="1159679" cy="6321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22E4F1E-B35B-6140-953C-97E3FE44DB02}"/>
              </a:ext>
            </a:extLst>
          </p:cNvPr>
          <p:cNvSpPr txBox="1"/>
          <p:nvPr/>
        </p:nvSpPr>
        <p:spPr>
          <a:xfrm>
            <a:off x="515915" y="4061604"/>
            <a:ext cx="1620957" cy="307777"/>
          </a:xfrm>
          <a:prstGeom prst="rect">
            <a:avLst/>
          </a:prstGeom>
          <a:noFill/>
        </p:spPr>
        <p:txBody>
          <a:bodyPr wrap="none" rtlCol="0">
            <a:spAutoFit/>
          </a:bodyPr>
          <a:lstStyle/>
          <a:p>
            <a:r>
              <a:rPr lang="zh-CN" altLang="en-US" sz="1400" dirty="0"/>
              <a:t>文件系统卸载时：</a:t>
            </a:r>
            <a:endParaRPr lang="en-CN" sz="1400" dirty="0"/>
          </a:p>
        </p:txBody>
      </p:sp>
    </p:spTree>
    <p:extLst>
      <p:ext uri="{BB962C8B-B14F-4D97-AF65-F5344CB8AC3E}">
        <p14:creationId xmlns:p14="http://schemas.microsoft.com/office/powerpoint/2010/main" val="2212491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DB1E-62D0-5948-96F9-0B385AF4E959}"/>
              </a:ext>
            </a:extLst>
          </p:cNvPr>
          <p:cNvSpPr>
            <a:spLocks noGrp="1"/>
          </p:cNvSpPr>
          <p:nvPr>
            <p:ph type="title"/>
          </p:nvPr>
        </p:nvSpPr>
        <p:spPr/>
        <p:txBody>
          <a:bodyPr/>
          <a:lstStyle/>
          <a:p>
            <a:r>
              <a:rPr lang="en-CN" dirty="0"/>
              <a:t>JBD</a:t>
            </a:r>
            <a:r>
              <a:rPr lang="en-US" altLang="zh-CN" dirty="0"/>
              <a:t>2</a:t>
            </a:r>
            <a:r>
              <a:rPr lang="zh-CN" altLang="en-US" dirty="0"/>
              <a:t>部分接口和使用方法</a:t>
            </a:r>
            <a:endParaRPr lang="en-CN" dirty="0"/>
          </a:p>
        </p:txBody>
      </p:sp>
      <p:sp>
        <p:nvSpPr>
          <p:cNvPr id="4" name="Slide Number Placeholder 3">
            <a:extLst>
              <a:ext uri="{FF2B5EF4-FFF2-40B4-BE49-F238E27FC236}">
                <a16:creationId xmlns:a16="http://schemas.microsoft.com/office/drawing/2014/main" id="{C8862C3D-542B-B04C-9283-74A97569AB75}"/>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5" name="Footer Placeholder 4">
            <a:extLst>
              <a:ext uri="{FF2B5EF4-FFF2-40B4-BE49-F238E27FC236}">
                <a16:creationId xmlns:a16="http://schemas.microsoft.com/office/drawing/2014/main" id="{AE140DC6-8932-E94A-AF5D-8D69694DE66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5FC4A2EA-0C87-AF42-A642-9CDF7995C512}"/>
              </a:ext>
            </a:extLst>
          </p:cNvPr>
          <p:cNvSpPr txBox="1"/>
          <p:nvPr/>
        </p:nvSpPr>
        <p:spPr>
          <a:xfrm>
            <a:off x="539300" y="3177485"/>
            <a:ext cx="3744417" cy="76944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while</a:t>
            </a:r>
            <a:r>
              <a:rPr lang="zh-CN" altLang="en-US" sz="1100" dirty="0">
                <a:latin typeface="Courier" pitchFamily="2" charset="0"/>
              </a:rPr>
              <a:t> </a:t>
            </a:r>
            <a:r>
              <a:rPr lang="en-US" altLang="zh-CN" sz="1100" dirty="0">
                <a:latin typeface="Courier" pitchFamily="2" charset="0"/>
              </a:rPr>
              <a:t>(sleep_5s())</a:t>
            </a:r>
            <a:r>
              <a:rPr lang="zh-CN" altLang="en-US" sz="1100" dirty="0">
                <a:latin typeface="Courier" pitchFamily="2" charset="0"/>
              </a:rPr>
              <a:t> </a:t>
            </a:r>
            <a:r>
              <a:rPr lang="en-US" altLang="zh-CN" sz="1100" dirty="0">
                <a:latin typeface="Courier" pitchFamily="2" charset="0"/>
              </a:rPr>
              <a:t>{</a:t>
            </a:r>
          </a:p>
          <a:p>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提交事务和回收日志空间（并开始新的事务）</a:t>
            </a:r>
            <a:endParaRPr lang="en-US" altLang="zh-CN" sz="1100" dirty="0">
              <a:latin typeface="Courier" pitchFamily="2" charset="0"/>
            </a:endParaRPr>
          </a:p>
          <a:p>
            <a:r>
              <a:rPr lang="zh-CN" altLang="en-US" sz="1100" dirty="0">
                <a:latin typeface="Courier" pitchFamily="2" charset="0"/>
              </a:rPr>
              <a:t>  </a:t>
            </a:r>
            <a:r>
              <a:rPr lang="en-US" sz="1100" dirty="0">
                <a:latin typeface="Courier" pitchFamily="2" charset="0"/>
              </a:rPr>
              <a:t>jbd2_journal_commit_transaction(</a:t>
            </a:r>
            <a:r>
              <a:rPr lang="en-US" altLang="zh-CN" sz="1100" dirty="0">
                <a:latin typeface="Courier" pitchFamily="2" charset="0"/>
              </a:rPr>
              <a:t>journal</a:t>
            </a:r>
            <a:r>
              <a:rPr lang="en-US" sz="1100" dirty="0">
                <a:latin typeface="Courier" pitchFamily="2" charset="0"/>
              </a:rPr>
              <a:t>)</a:t>
            </a:r>
          </a:p>
          <a:p>
            <a:r>
              <a:rPr lang="en-US" altLang="zh-CN" sz="1100" dirty="0">
                <a:latin typeface="Courier" pitchFamily="2" charset="0"/>
              </a:rPr>
              <a:t>}</a:t>
            </a:r>
            <a:endParaRPr lang="en-US" sz="1100" dirty="0">
              <a:latin typeface="Courier" pitchFamily="2" charset="0"/>
            </a:endParaRPr>
          </a:p>
        </p:txBody>
      </p:sp>
      <p:sp>
        <p:nvSpPr>
          <p:cNvPr id="13" name="TextBox 12">
            <a:extLst>
              <a:ext uri="{FF2B5EF4-FFF2-40B4-BE49-F238E27FC236}">
                <a16:creationId xmlns:a16="http://schemas.microsoft.com/office/drawing/2014/main" id="{E446FFFF-8CB0-7641-A70C-1F3FF0F8DCFD}"/>
              </a:ext>
            </a:extLst>
          </p:cNvPr>
          <p:cNvSpPr txBox="1"/>
          <p:nvPr/>
        </p:nvSpPr>
        <p:spPr>
          <a:xfrm>
            <a:off x="4596664" y="1174402"/>
            <a:ext cx="4175636" cy="415498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handle_t</a:t>
            </a:r>
            <a:r>
              <a:rPr lang="zh-CN" altLang="en-US" sz="1100" dirty="0">
                <a:latin typeface="Courier" pitchFamily="2" charset="0"/>
              </a:rPr>
              <a:t> </a:t>
            </a:r>
            <a:r>
              <a:rPr lang="en-US" altLang="zh-CN" sz="1100" dirty="0">
                <a:latin typeface="Courier" pitchFamily="2" charset="0"/>
              </a:rPr>
              <a:t>handle;</a:t>
            </a:r>
          </a:p>
          <a:p>
            <a:r>
              <a:rPr lang="en-US" altLang="zh-CN" sz="1100" dirty="0">
                <a:latin typeface="Courier" pitchFamily="2" charset="0"/>
              </a:rPr>
              <a:t>//</a:t>
            </a:r>
            <a:r>
              <a:rPr lang="zh-CN" altLang="en-US" sz="1100" dirty="0">
                <a:latin typeface="Courier" pitchFamily="2" charset="0"/>
              </a:rPr>
              <a:t> 原子操作：创建新文件</a:t>
            </a:r>
            <a:endParaRPr lang="en-US" altLang="zh-CN" sz="1100" dirty="0">
              <a:latin typeface="Courier" pitchFamily="2" charset="0"/>
            </a:endParaRPr>
          </a:p>
          <a:p>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a:solidFill>
                  <a:srgbClr val="C00000"/>
                </a:solidFill>
                <a:latin typeface="Courier" pitchFamily="2" charset="0"/>
              </a:rPr>
              <a:t>=</a:t>
            </a:r>
            <a:r>
              <a:rPr lang="zh-CN" altLang="en-US" sz="1100" b="1" dirty="0">
                <a:solidFill>
                  <a:srgbClr val="C00000"/>
                </a:solidFill>
                <a:latin typeface="Courier" pitchFamily="2" charset="0"/>
              </a:rPr>
              <a:t> </a:t>
            </a:r>
            <a:r>
              <a:rPr lang="en-US" sz="1100" b="1" dirty="0">
                <a:solidFill>
                  <a:srgbClr val="C00000"/>
                </a:solidFill>
                <a:latin typeface="Courier" pitchFamily="2" charset="0"/>
              </a:rPr>
              <a:t>jbd2_journal_start(journal, </a:t>
            </a:r>
            <a:r>
              <a:rPr lang="en-US" sz="1100" b="1" dirty="0" err="1">
                <a:solidFill>
                  <a:srgbClr val="C00000"/>
                </a:solidFill>
                <a:latin typeface="Courier" pitchFamily="2" charset="0"/>
              </a:rPr>
              <a:t>nblocks</a:t>
            </a:r>
            <a:r>
              <a:rPr lang="en-US" altLang="zh-CN" sz="1100" b="1" dirty="0">
                <a:solidFill>
                  <a:srgbClr val="C00000"/>
                </a:solidFill>
                <a:latin typeface="Courier" pitchFamily="2" charset="0"/>
              </a:rPr>
              <a:t>=8)</a:t>
            </a:r>
            <a:endParaRPr lang="en-CN" altLang="zh-CN"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1.</a:t>
            </a:r>
            <a:r>
              <a:rPr lang="zh-CN" altLang="en-US" sz="1100" dirty="0">
                <a:latin typeface="Courier" pitchFamily="2" charset="0"/>
              </a:rPr>
              <a:t> 标记</a:t>
            </a:r>
            <a:r>
              <a:rPr lang="en-US" altLang="zh-CN" sz="1100" dirty="0" err="1">
                <a:latin typeface="Courier" pitchFamily="2" charset="0"/>
              </a:rPr>
              <a:t>inode</a:t>
            </a:r>
            <a:r>
              <a:rPr lang="zh-CN" altLang="en-US" sz="1100" dirty="0">
                <a:latin typeface="Courier" pitchFamily="2" charset="0"/>
              </a:rPr>
              <a:t>为占用</a:t>
            </a:r>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bh</a:t>
            </a:r>
            <a:r>
              <a:rPr lang="en-US" altLang="zh-CN" sz="1100" dirty="0">
                <a:latin typeface="Courier" pitchFamily="2" charset="0"/>
              </a:rPr>
              <a:t>: </a:t>
            </a:r>
            <a:r>
              <a:rPr lang="en-US" altLang="zh-CN" sz="1100" dirty="0" err="1">
                <a:latin typeface="Courier" pitchFamily="2" charset="0"/>
              </a:rPr>
              <a:t>buffer_head</a:t>
            </a:r>
            <a:r>
              <a:rPr lang="zh-CN" altLang="en-US" sz="1100" dirty="0">
                <a:latin typeface="Courier" pitchFamily="2" charset="0"/>
              </a:rPr>
              <a:t> 对应存储设备中的最小访问单元</a:t>
            </a:r>
            <a:endParaRPr lang="en-US" altLang="zh-CN" sz="1100" dirty="0">
              <a:latin typeface="Courier" pitchFamily="2" charset="0"/>
            </a:endParaRPr>
          </a:p>
          <a:p>
            <a:r>
              <a:rPr lang="en-US" altLang="zh-CN" sz="1100" dirty="0" err="1">
                <a:latin typeface="Courier" pitchFamily="2" charset="0"/>
              </a:rPr>
              <a:t>bitmap_bh</a:t>
            </a:r>
            <a:r>
              <a:rPr lang="en-US" altLang="zh-CN" sz="1100" dirty="0">
                <a:latin typeface="Courier" pitchFamily="2" charset="0"/>
              </a:rPr>
              <a:t> = </a:t>
            </a:r>
            <a:r>
              <a:rPr lang="en-US" altLang="zh-CN" sz="1100" dirty="0" err="1">
                <a:latin typeface="Courier" pitchFamily="2" charset="0"/>
              </a:rPr>
              <a:t>read_inode_bitmap</a:t>
            </a:r>
            <a:r>
              <a:rPr lang="en-US" altLang="zh-CN" sz="1100" dirty="0">
                <a:latin typeface="Courier" pitchFamily="2" charset="0"/>
              </a:rPr>
              <a:t>(sb, group)</a:t>
            </a:r>
          </a:p>
          <a:p>
            <a:r>
              <a:rPr lang="en-US" sz="1100" b="1" dirty="0">
                <a:solidFill>
                  <a:srgbClr val="C00000"/>
                </a:solidFill>
                <a:latin typeface="Courier" pitchFamily="2" charset="0"/>
              </a:rPr>
              <a:t>jbd2_journal_get_write_access(</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bitmap_bh</a:t>
            </a:r>
            <a:r>
              <a:rPr lang="en-US" altLang="zh-CN" sz="1100" b="1" dirty="0">
                <a:solidFill>
                  <a:srgbClr val="C00000"/>
                </a:solidFill>
                <a:latin typeface="Courier" pitchFamily="2" charset="0"/>
              </a:rPr>
              <a:t>)</a:t>
            </a:r>
            <a:endParaRPr lang="en-US" sz="1100" b="1" dirty="0">
              <a:solidFill>
                <a:srgbClr val="C00000"/>
              </a:solidFill>
              <a:latin typeface="Courier" pitchFamily="2" charset="0"/>
            </a:endParaRPr>
          </a:p>
          <a:p>
            <a:r>
              <a:rPr lang="en-US" altLang="zh-CN" sz="1100" dirty="0" err="1">
                <a:latin typeface="Courier" pitchFamily="2" charset="0"/>
              </a:rPr>
              <a:t>set_bit</a:t>
            </a:r>
            <a:r>
              <a:rPr lang="en-US" altLang="zh-CN" sz="1100" dirty="0">
                <a:latin typeface="Courier" pitchFamily="2" charset="0"/>
              </a:rPr>
              <a:t>(</a:t>
            </a:r>
            <a:r>
              <a:rPr lang="en-US" altLang="zh-CN" sz="1100" dirty="0" err="1">
                <a:latin typeface="Courier" pitchFamily="2" charset="0"/>
              </a:rPr>
              <a:t>ino</a:t>
            </a:r>
            <a:r>
              <a:rPr lang="en-US" altLang="zh-CN" sz="1100" dirty="0">
                <a:latin typeface="Courier" pitchFamily="2" charset="0"/>
              </a:rPr>
              <a:t>, </a:t>
            </a:r>
            <a:r>
              <a:rPr lang="en-US" altLang="zh-CN" sz="1100" dirty="0" err="1">
                <a:latin typeface="Courier" pitchFamily="2" charset="0"/>
              </a:rPr>
              <a:t>bitmap_bh</a:t>
            </a:r>
            <a:r>
              <a:rPr lang="en-US" altLang="zh-CN" sz="1100" dirty="0">
                <a:latin typeface="Courier" pitchFamily="2" charset="0"/>
              </a:rPr>
              <a:t>-&gt;</a:t>
            </a:r>
            <a:r>
              <a:rPr lang="en-US" altLang="zh-CN" sz="1100" dirty="0" err="1">
                <a:latin typeface="Courier" pitchFamily="2" charset="0"/>
              </a:rPr>
              <a:t>b_data</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2.</a:t>
            </a:r>
            <a:r>
              <a:rPr lang="zh-CN" altLang="en-US" sz="1100" dirty="0">
                <a:latin typeface="Courier" pitchFamily="2" charset="0"/>
              </a:rPr>
              <a:t> 初始化</a:t>
            </a:r>
            <a:r>
              <a:rPr lang="en-US" altLang="zh-CN" sz="1100" dirty="0" err="1">
                <a:latin typeface="Courier" pitchFamily="2" charset="0"/>
              </a:rPr>
              <a:t>inode</a:t>
            </a:r>
            <a:endParaRPr lang="en-US" altLang="zh-CN" sz="1100" dirty="0">
              <a:latin typeface="Courier" pitchFamily="2" charset="0"/>
            </a:endParaRPr>
          </a:p>
          <a:p>
            <a:r>
              <a:rPr lang="en-US" altLang="zh-CN" sz="1100" dirty="0" err="1">
                <a:latin typeface="Courier" pitchFamily="2" charset="0"/>
              </a:rPr>
              <a:t>inode_bh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get_inode_bh</a:t>
            </a:r>
            <a:r>
              <a:rPr lang="en-US" altLang="zh-CN" sz="1100" dirty="0">
                <a:latin typeface="Courier" pitchFamily="2" charset="0"/>
              </a:rPr>
              <a:t>(sb,</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init_inode</a:t>
            </a:r>
            <a:r>
              <a:rPr lang="en-US" altLang="zh-CN" sz="1100" dirty="0">
                <a:latin typeface="Courier" pitchFamily="2" charset="0"/>
              </a:rPr>
              <a:t>(</a:t>
            </a:r>
            <a:r>
              <a:rPr lang="en-US" altLang="zh-CN" sz="1100" dirty="0" err="1">
                <a:latin typeface="Courier" pitchFamily="2" charset="0"/>
              </a:rPr>
              <a:t>inode_bh</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3.</a:t>
            </a:r>
            <a:r>
              <a:rPr lang="zh-CN" altLang="en-US" sz="1100" dirty="0">
                <a:latin typeface="Courier" pitchFamily="2" charset="0"/>
              </a:rPr>
              <a:t> 将目录项写入目录中</a:t>
            </a:r>
            <a:endParaRPr lang="en-US" altLang="zh-CN" sz="1100" dirty="0">
              <a:latin typeface="Courier" pitchFamily="2" charset="0"/>
            </a:endParaRPr>
          </a:p>
          <a:p>
            <a:r>
              <a:rPr lang="en-US" altLang="zh-CN" sz="1100" dirty="0" err="1">
                <a:latin typeface="Courier" pitchFamily="2" charset="0"/>
              </a:rPr>
              <a:t>data_bh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get_data_page</a:t>
            </a:r>
            <a:r>
              <a:rPr lang="en-US" altLang="zh-CN" sz="1100" dirty="0">
                <a:latin typeface="Courier" pitchFamily="2" charset="0"/>
              </a:rPr>
              <a:t>(</a:t>
            </a:r>
            <a:r>
              <a:rPr lang="en-US" altLang="zh-CN" sz="1100" dirty="0" err="1">
                <a:latin typeface="Courier" pitchFamily="2" charset="0"/>
              </a:rPr>
              <a:t>dir_inode</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add_dentry_to_data</a:t>
            </a:r>
            <a:r>
              <a:rPr lang="en-US" altLang="zh-CN" sz="1100" dirty="0">
                <a:latin typeface="Courier" pitchFamily="2" charset="0"/>
              </a:rPr>
              <a:t>(page,</a:t>
            </a:r>
            <a:r>
              <a:rPr lang="zh-CN" altLang="en-US" sz="1100" dirty="0">
                <a:latin typeface="Courier" pitchFamily="2" charset="0"/>
              </a:rPr>
              <a:t> </a:t>
            </a:r>
            <a:r>
              <a:rPr lang="en-US" altLang="zh-CN" sz="1100" dirty="0">
                <a:latin typeface="Courier" pitchFamily="2" charset="0"/>
              </a:rPr>
              <a:t>filename,</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endParaRPr lang="en-US" sz="1100" dirty="0">
              <a:latin typeface="Courier" pitchFamily="2" charset="0"/>
            </a:endParaRPr>
          </a:p>
        </p:txBody>
      </p:sp>
      <p:sp>
        <p:nvSpPr>
          <p:cNvPr id="14" name="TextBox 13">
            <a:extLst>
              <a:ext uri="{FF2B5EF4-FFF2-40B4-BE49-F238E27FC236}">
                <a16:creationId xmlns:a16="http://schemas.microsoft.com/office/drawing/2014/main" id="{716C1643-BCD6-DA47-BEE6-C8B000920FAA}"/>
              </a:ext>
            </a:extLst>
          </p:cNvPr>
          <p:cNvSpPr txBox="1"/>
          <p:nvPr/>
        </p:nvSpPr>
        <p:spPr>
          <a:xfrm>
            <a:off x="539299" y="1477757"/>
            <a:ext cx="3744417" cy="1277273"/>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journal_t</a:t>
            </a:r>
            <a:r>
              <a:rPr lang="zh-CN" altLang="en-US" sz="1100" dirty="0">
                <a:latin typeface="Courier" pitchFamily="2" charset="0"/>
              </a:rPr>
              <a:t> </a:t>
            </a:r>
            <a:r>
              <a:rPr lang="en-US" altLang="zh-CN" sz="1100" dirty="0">
                <a:latin typeface="Courier" pitchFamily="2" charset="0"/>
              </a:rPr>
              <a:t>journal;</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初始化日志系统（日志存在文件中）</a:t>
            </a:r>
            <a:endParaRPr lang="en-US" altLang="zh-CN" sz="1100" dirty="0">
              <a:latin typeface="Courier" pitchFamily="2" charset="0"/>
            </a:endParaRPr>
          </a:p>
          <a:p>
            <a:r>
              <a:rPr lang="en-US" altLang="zh-CN" sz="1100" dirty="0">
                <a:latin typeface="Courier" pitchFamily="2" charset="0"/>
              </a:rPr>
              <a:t>journal</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sz="1100" dirty="0">
                <a:latin typeface="Courier" pitchFamily="2" charset="0"/>
              </a:rPr>
              <a:t>jbd2_journal_init_inode</a:t>
            </a:r>
            <a:r>
              <a:rPr lang="en-US" altLang="zh-CN" sz="1100" dirty="0">
                <a:latin typeface="Courier" pitchFamily="2" charset="0"/>
              </a:rPr>
              <a:t>(</a:t>
            </a:r>
            <a:r>
              <a:rPr lang="en-US" altLang="zh-CN" sz="1100" dirty="0" err="1">
                <a:latin typeface="Courier" pitchFamily="2" charset="0"/>
              </a:rPr>
              <a:t>inode</a:t>
            </a:r>
            <a:r>
              <a:rPr lang="en-US" altLang="zh-CN" sz="1100" dirty="0">
                <a:latin typeface="Courier" pitchFamily="2" charset="0"/>
              </a:rPr>
              <a:t>)</a:t>
            </a:r>
          </a:p>
          <a:p>
            <a:r>
              <a:rPr lang="en-US" altLang="zh-CN" sz="1100" dirty="0">
                <a:latin typeface="Courier" pitchFamily="2" charset="0"/>
              </a:rPr>
              <a:t>//</a:t>
            </a:r>
            <a:r>
              <a:rPr lang="zh-CN" altLang="en-US" sz="1100" dirty="0">
                <a:latin typeface="Courier" pitchFamily="2" charset="0"/>
              </a:rPr>
              <a:t> 读取并恢复已有日志（如果存在）</a:t>
            </a:r>
            <a:endParaRPr lang="en-US" altLang="zh-CN" sz="1100" dirty="0">
              <a:latin typeface="Courier" pitchFamily="2" charset="0"/>
            </a:endParaRPr>
          </a:p>
          <a:p>
            <a:r>
              <a:rPr lang="en-US" sz="1100" dirty="0">
                <a:latin typeface="Courier" pitchFamily="2" charset="0"/>
              </a:rPr>
              <a:t>jbd2_journal_load(journal)</a:t>
            </a:r>
          </a:p>
          <a:p>
            <a:endParaRPr lang="en-US" sz="1100" dirty="0">
              <a:latin typeface="Courier" pitchFamily="2" charset="0"/>
            </a:endParaRPr>
          </a:p>
        </p:txBody>
      </p:sp>
      <p:sp>
        <p:nvSpPr>
          <p:cNvPr id="15" name="TextBox 14">
            <a:extLst>
              <a:ext uri="{FF2B5EF4-FFF2-40B4-BE49-F238E27FC236}">
                <a16:creationId xmlns:a16="http://schemas.microsoft.com/office/drawing/2014/main" id="{C5C1A360-D9EA-C44E-B195-17B05E27F064}"/>
              </a:ext>
            </a:extLst>
          </p:cNvPr>
          <p:cNvSpPr txBox="1"/>
          <p:nvPr/>
        </p:nvSpPr>
        <p:spPr>
          <a:xfrm>
            <a:off x="539750" y="4318614"/>
            <a:ext cx="3744417" cy="60016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a:t>
            </a:r>
            <a:r>
              <a:rPr lang="zh-CN" altLang="en-US" sz="1100" dirty="0">
                <a:latin typeface="Courier" pitchFamily="2" charset="0"/>
              </a:rPr>
              <a:t> 释放日志系统</a:t>
            </a:r>
            <a:endParaRPr lang="en-US" sz="1100" dirty="0">
              <a:latin typeface="Courier" pitchFamily="2" charset="0"/>
            </a:endParaRPr>
          </a:p>
          <a:p>
            <a:r>
              <a:rPr lang="en-US" sz="1100" dirty="0">
                <a:latin typeface="Courier" pitchFamily="2" charset="0"/>
              </a:rPr>
              <a:t>jbd2_journal_destroy(journal)</a:t>
            </a:r>
            <a:endParaRPr lang="en-US" altLang="zh-CN" sz="1100" dirty="0">
              <a:latin typeface="Courier" pitchFamily="2" charset="0"/>
            </a:endParaRPr>
          </a:p>
          <a:p>
            <a:endParaRPr lang="en-US" sz="1100" dirty="0">
              <a:latin typeface="Courier" pitchFamily="2" charset="0"/>
            </a:endParaRPr>
          </a:p>
        </p:txBody>
      </p:sp>
      <p:sp>
        <p:nvSpPr>
          <p:cNvPr id="10" name="TextBox 9">
            <a:extLst>
              <a:ext uri="{FF2B5EF4-FFF2-40B4-BE49-F238E27FC236}">
                <a16:creationId xmlns:a16="http://schemas.microsoft.com/office/drawing/2014/main" id="{2ECD993D-533C-0641-8B28-2C8D3D54BCCC}"/>
              </a:ext>
            </a:extLst>
          </p:cNvPr>
          <p:cNvSpPr txBox="1"/>
          <p:nvPr/>
        </p:nvSpPr>
        <p:spPr>
          <a:xfrm>
            <a:off x="515915" y="1174402"/>
            <a:ext cx="1620957" cy="307777"/>
          </a:xfrm>
          <a:prstGeom prst="rect">
            <a:avLst/>
          </a:prstGeom>
          <a:noFill/>
        </p:spPr>
        <p:txBody>
          <a:bodyPr wrap="none" rtlCol="0">
            <a:spAutoFit/>
          </a:bodyPr>
          <a:lstStyle/>
          <a:p>
            <a:r>
              <a:rPr lang="zh-CN" altLang="en-CN" sz="1400" dirty="0"/>
              <a:t>文件系统</a:t>
            </a:r>
            <a:r>
              <a:rPr lang="zh-CN" altLang="en-US" sz="1400" dirty="0"/>
              <a:t>挂载时：</a:t>
            </a:r>
            <a:endParaRPr lang="en-CN" sz="1400" dirty="0"/>
          </a:p>
        </p:txBody>
      </p:sp>
      <p:sp>
        <p:nvSpPr>
          <p:cNvPr id="16" name="TextBox 15">
            <a:extLst>
              <a:ext uri="{FF2B5EF4-FFF2-40B4-BE49-F238E27FC236}">
                <a16:creationId xmlns:a16="http://schemas.microsoft.com/office/drawing/2014/main" id="{63B2D966-A96B-5549-8BBD-E5CB41FED46F}"/>
              </a:ext>
            </a:extLst>
          </p:cNvPr>
          <p:cNvSpPr txBox="1"/>
          <p:nvPr/>
        </p:nvSpPr>
        <p:spPr>
          <a:xfrm>
            <a:off x="515915" y="2881042"/>
            <a:ext cx="1082348" cy="307777"/>
          </a:xfrm>
          <a:prstGeom prst="rect">
            <a:avLst/>
          </a:prstGeom>
          <a:noFill/>
        </p:spPr>
        <p:txBody>
          <a:bodyPr wrap="none" rtlCol="0">
            <a:spAutoFit/>
          </a:bodyPr>
          <a:lstStyle/>
          <a:p>
            <a:r>
              <a:rPr lang="zh-CN" altLang="en-US" sz="1400" dirty="0"/>
              <a:t>后台进程：</a:t>
            </a:r>
            <a:endParaRPr lang="en-CN" sz="1400" dirty="0"/>
          </a:p>
        </p:txBody>
      </p:sp>
      <p:sp>
        <p:nvSpPr>
          <p:cNvPr id="20" name="TextBox 19">
            <a:extLst>
              <a:ext uri="{FF2B5EF4-FFF2-40B4-BE49-F238E27FC236}">
                <a16:creationId xmlns:a16="http://schemas.microsoft.com/office/drawing/2014/main" id="{637532AB-4D38-F74B-A671-8F791A82C869}"/>
              </a:ext>
            </a:extLst>
          </p:cNvPr>
          <p:cNvSpPr txBox="1"/>
          <p:nvPr/>
        </p:nvSpPr>
        <p:spPr>
          <a:xfrm>
            <a:off x="4535016" y="902555"/>
            <a:ext cx="1441420" cy="307777"/>
          </a:xfrm>
          <a:prstGeom prst="rect">
            <a:avLst/>
          </a:prstGeom>
          <a:noFill/>
        </p:spPr>
        <p:txBody>
          <a:bodyPr wrap="none" rtlCol="0">
            <a:spAutoFit/>
          </a:bodyPr>
          <a:lstStyle>
            <a:defPPr>
              <a:defRPr lang="zh-CN"/>
            </a:defPPr>
            <a:lvl1pPr>
              <a:defRPr sz="1400"/>
            </a:lvl1pPr>
          </a:lstStyle>
          <a:p>
            <a:r>
              <a:rPr lang="zh-CN" altLang="en-US" dirty="0"/>
              <a:t>系统调用处理：</a:t>
            </a:r>
            <a:endParaRPr lang="en-US" altLang="zh-CN" dirty="0"/>
          </a:p>
        </p:txBody>
      </p:sp>
      <p:sp>
        <p:nvSpPr>
          <p:cNvPr id="21" name="TextBox 20">
            <a:extLst>
              <a:ext uri="{FF2B5EF4-FFF2-40B4-BE49-F238E27FC236}">
                <a16:creationId xmlns:a16="http://schemas.microsoft.com/office/drawing/2014/main" id="{3F3E25A1-7EB5-0B4D-9A17-83B8CE42EA77}"/>
              </a:ext>
            </a:extLst>
          </p:cNvPr>
          <p:cNvSpPr txBox="1"/>
          <p:nvPr/>
        </p:nvSpPr>
        <p:spPr>
          <a:xfrm>
            <a:off x="5823860" y="671683"/>
            <a:ext cx="3320140" cy="369332"/>
          </a:xfrm>
          <a:prstGeom prst="rect">
            <a:avLst/>
          </a:prstGeom>
          <a:noFill/>
        </p:spPr>
        <p:txBody>
          <a:bodyPr wrap="none" rtlCol="0">
            <a:spAutoFit/>
          </a:bodyPr>
          <a:lstStyle/>
          <a:p>
            <a:r>
              <a:rPr lang="zh-CN" altLang="en-US" dirty="0">
                <a:solidFill>
                  <a:srgbClr val="C00000"/>
                </a:solidFill>
                <a:latin typeface="Courier" pitchFamily="2" charset="0"/>
              </a:rPr>
              <a:t>通知</a:t>
            </a:r>
            <a:r>
              <a:rPr lang="en-US" altLang="zh-CN" dirty="0">
                <a:solidFill>
                  <a:srgbClr val="C00000"/>
                </a:solidFill>
                <a:latin typeface="Courier" pitchFamily="2" charset="0"/>
              </a:rPr>
              <a:t>jbd2</a:t>
            </a:r>
            <a:r>
              <a:rPr lang="zh-CN" altLang="en-US" dirty="0">
                <a:solidFill>
                  <a:srgbClr val="C00000"/>
                </a:solidFill>
                <a:latin typeface="Courier" pitchFamily="2" charset="0"/>
              </a:rPr>
              <a:t>即将修改</a:t>
            </a:r>
            <a:r>
              <a:rPr lang="en-US" altLang="zh-CN" dirty="0" err="1">
                <a:solidFill>
                  <a:srgbClr val="C00000"/>
                </a:solidFill>
                <a:latin typeface="Courier" pitchFamily="2" charset="0"/>
              </a:rPr>
              <a:t>bh</a:t>
            </a:r>
            <a:r>
              <a:rPr lang="zh-CN" altLang="en-US" dirty="0">
                <a:solidFill>
                  <a:srgbClr val="C00000"/>
                </a:solidFill>
                <a:latin typeface="Courier" pitchFamily="2" charset="0"/>
              </a:rPr>
              <a:t>中的数据</a:t>
            </a:r>
          </a:p>
        </p:txBody>
      </p:sp>
      <p:cxnSp>
        <p:nvCxnSpPr>
          <p:cNvPr id="22" name="Straight Arrow Connector 21">
            <a:extLst>
              <a:ext uri="{FF2B5EF4-FFF2-40B4-BE49-F238E27FC236}">
                <a16:creationId xmlns:a16="http://schemas.microsoft.com/office/drawing/2014/main" id="{E48CC3BA-834A-4B48-9708-D0E593478029}"/>
              </a:ext>
            </a:extLst>
          </p:cNvPr>
          <p:cNvCxnSpPr>
            <a:cxnSpLocks/>
            <a:stCxn id="21" idx="2"/>
          </p:cNvCxnSpPr>
          <p:nvPr/>
        </p:nvCxnSpPr>
        <p:spPr>
          <a:xfrm flipH="1">
            <a:off x="6516216" y="1041015"/>
            <a:ext cx="967714" cy="13844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36F3DCB-7C0C-2A40-B924-442F474339F0}"/>
              </a:ext>
            </a:extLst>
          </p:cNvPr>
          <p:cNvSpPr txBox="1"/>
          <p:nvPr/>
        </p:nvSpPr>
        <p:spPr>
          <a:xfrm>
            <a:off x="515915" y="4061604"/>
            <a:ext cx="1620957" cy="307777"/>
          </a:xfrm>
          <a:prstGeom prst="rect">
            <a:avLst/>
          </a:prstGeom>
          <a:noFill/>
        </p:spPr>
        <p:txBody>
          <a:bodyPr wrap="none" rtlCol="0">
            <a:spAutoFit/>
          </a:bodyPr>
          <a:lstStyle/>
          <a:p>
            <a:r>
              <a:rPr lang="zh-CN" altLang="en-US" sz="1400" dirty="0"/>
              <a:t>文件系统卸载时：</a:t>
            </a:r>
            <a:endParaRPr lang="en-CN" sz="1400" dirty="0"/>
          </a:p>
        </p:txBody>
      </p:sp>
    </p:spTree>
    <p:extLst>
      <p:ext uri="{BB962C8B-B14F-4D97-AF65-F5344CB8AC3E}">
        <p14:creationId xmlns:p14="http://schemas.microsoft.com/office/powerpoint/2010/main" val="3694870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DB1E-62D0-5948-96F9-0B385AF4E959}"/>
              </a:ext>
            </a:extLst>
          </p:cNvPr>
          <p:cNvSpPr>
            <a:spLocks noGrp="1"/>
          </p:cNvSpPr>
          <p:nvPr>
            <p:ph type="title"/>
          </p:nvPr>
        </p:nvSpPr>
        <p:spPr/>
        <p:txBody>
          <a:bodyPr/>
          <a:lstStyle/>
          <a:p>
            <a:r>
              <a:rPr lang="en-CN" dirty="0"/>
              <a:t>JBD</a:t>
            </a:r>
            <a:r>
              <a:rPr lang="en-US" altLang="zh-CN" dirty="0"/>
              <a:t>2</a:t>
            </a:r>
            <a:r>
              <a:rPr lang="zh-CN" altLang="en-US" dirty="0"/>
              <a:t>部分接口和使用方法</a:t>
            </a:r>
            <a:endParaRPr lang="en-CN" dirty="0"/>
          </a:p>
        </p:txBody>
      </p:sp>
      <p:sp>
        <p:nvSpPr>
          <p:cNvPr id="4" name="Slide Number Placeholder 3">
            <a:extLst>
              <a:ext uri="{FF2B5EF4-FFF2-40B4-BE49-F238E27FC236}">
                <a16:creationId xmlns:a16="http://schemas.microsoft.com/office/drawing/2014/main" id="{C8862C3D-542B-B04C-9283-74A97569AB75}"/>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5" name="Footer Placeholder 4">
            <a:extLst>
              <a:ext uri="{FF2B5EF4-FFF2-40B4-BE49-F238E27FC236}">
                <a16:creationId xmlns:a16="http://schemas.microsoft.com/office/drawing/2014/main" id="{AE140DC6-8932-E94A-AF5D-8D69694DE66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5FC4A2EA-0C87-AF42-A642-9CDF7995C512}"/>
              </a:ext>
            </a:extLst>
          </p:cNvPr>
          <p:cNvSpPr txBox="1"/>
          <p:nvPr/>
        </p:nvSpPr>
        <p:spPr>
          <a:xfrm>
            <a:off x="539300" y="3177485"/>
            <a:ext cx="3744417" cy="76944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while</a:t>
            </a:r>
            <a:r>
              <a:rPr lang="zh-CN" altLang="en-US" sz="1100" dirty="0">
                <a:latin typeface="Courier" pitchFamily="2" charset="0"/>
              </a:rPr>
              <a:t> </a:t>
            </a:r>
            <a:r>
              <a:rPr lang="en-US" altLang="zh-CN" sz="1100" dirty="0">
                <a:latin typeface="Courier" pitchFamily="2" charset="0"/>
              </a:rPr>
              <a:t>(sleep_5s())</a:t>
            </a:r>
            <a:r>
              <a:rPr lang="zh-CN" altLang="en-US" sz="1100" dirty="0">
                <a:latin typeface="Courier" pitchFamily="2" charset="0"/>
              </a:rPr>
              <a:t> </a:t>
            </a:r>
            <a:r>
              <a:rPr lang="en-US" altLang="zh-CN" sz="1100" dirty="0">
                <a:latin typeface="Courier" pitchFamily="2" charset="0"/>
              </a:rPr>
              <a:t>{</a:t>
            </a:r>
          </a:p>
          <a:p>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提交事务和回收日志空间（并开始新的事务）</a:t>
            </a:r>
            <a:endParaRPr lang="en-US" altLang="zh-CN" sz="1100" dirty="0">
              <a:latin typeface="Courier" pitchFamily="2" charset="0"/>
            </a:endParaRPr>
          </a:p>
          <a:p>
            <a:r>
              <a:rPr lang="zh-CN" altLang="en-US" sz="1100" dirty="0">
                <a:latin typeface="Courier" pitchFamily="2" charset="0"/>
              </a:rPr>
              <a:t>  </a:t>
            </a:r>
            <a:r>
              <a:rPr lang="en-US" sz="1100" dirty="0">
                <a:latin typeface="Courier" pitchFamily="2" charset="0"/>
              </a:rPr>
              <a:t>jbd2_journal_commit_transaction(</a:t>
            </a:r>
            <a:r>
              <a:rPr lang="en-US" altLang="zh-CN" sz="1100" dirty="0">
                <a:latin typeface="Courier" pitchFamily="2" charset="0"/>
              </a:rPr>
              <a:t>journal</a:t>
            </a:r>
            <a:r>
              <a:rPr lang="en-US" sz="1100" dirty="0">
                <a:latin typeface="Courier" pitchFamily="2" charset="0"/>
              </a:rPr>
              <a:t>)</a:t>
            </a:r>
          </a:p>
          <a:p>
            <a:r>
              <a:rPr lang="en-US" altLang="zh-CN" sz="1100" dirty="0">
                <a:latin typeface="Courier" pitchFamily="2" charset="0"/>
              </a:rPr>
              <a:t>}</a:t>
            </a:r>
            <a:endParaRPr lang="en-US" sz="1100" dirty="0">
              <a:latin typeface="Courier" pitchFamily="2" charset="0"/>
            </a:endParaRPr>
          </a:p>
        </p:txBody>
      </p:sp>
      <p:sp>
        <p:nvSpPr>
          <p:cNvPr id="13" name="TextBox 12">
            <a:extLst>
              <a:ext uri="{FF2B5EF4-FFF2-40B4-BE49-F238E27FC236}">
                <a16:creationId xmlns:a16="http://schemas.microsoft.com/office/drawing/2014/main" id="{E446FFFF-8CB0-7641-A70C-1F3FF0F8DCFD}"/>
              </a:ext>
            </a:extLst>
          </p:cNvPr>
          <p:cNvSpPr txBox="1"/>
          <p:nvPr/>
        </p:nvSpPr>
        <p:spPr>
          <a:xfrm>
            <a:off x="4596664" y="1174402"/>
            <a:ext cx="4175636" cy="415498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handle_t</a:t>
            </a:r>
            <a:r>
              <a:rPr lang="zh-CN" altLang="en-US" sz="1100" dirty="0">
                <a:latin typeface="Courier" pitchFamily="2" charset="0"/>
              </a:rPr>
              <a:t> </a:t>
            </a:r>
            <a:r>
              <a:rPr lang="en-US" altLang="zh-CN" sz="1100" dirty="0">
                <a:latin typeface="Courier" pitchFamily="2" charset="0"/>
              </a:rPr>
              <a:t>handle;</a:t>
            </a:r>
          </a:p>
          <a:p>
            <a:r>
              <a:rPr lang="en-US" altLang="zh-CN" sz="1100" dirty="0">
                <a:latin typeface="Courier" pitchFamily="2" charset="0"/>
              </a:rPr>
              <a:t>//</a:t>
            </a:r>
            <a:r>
              <a:rPr lang="zh-CN" altLang="en-US" sz="1100" dirty="0">
                <a:latin typeface="Courier" pitchFamily="2" charset="0"/>
              </a:rPr>
              <a:t> 原子操作：创建新文件</a:t>
            </a:r>
            <a:endParaRPr lang="en-US" altLang="zh-CN" sz="1100" dirty="0">
              <a:latin typeface="Courier" pitchFamily="2" charset="0"/>
            </a:endParaRPr>
          </a:p>
          <a:p>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a:solidFill>
                  <a:srgbClr val="C00000"/>
                </a:solidFill>
                <a:latin typeface="Courier" pitchFamily="2" charset="0"/>
              </a:rPr>
              <a:t>=</a:t>
            </a:r>
            <a:r>
              <a:rPr lang="zh-CN" altLang="en-US" sz="1100" b="1" dirty="0">
                <a:solidFill>
                  <a:srgbClr val="C00000"/>
                </a:solidFill>
                <a:latin typeface="Courier" pitchFamily="2" charset="0"/>
              </a:rPr>
              <a:t> </a:t>
            </a:r>
            <a:r>
              <a:rPr lang="en-US" sz="1100" b="1" dirty="0">
                <a:solidFill>
                  <a:srgbClr val="C00000"/>
                </a:solidFill>
                <a:latin typeface="Courier" pitchFamily="2" charset="0"/>
              </a:rPr>
              <a:t>jbd2_journal_start(journal, </a:t>
            </a:r>
            <a:r>
              <a:rPr lang="en-US" sz="1100" b="1" dirty="0" err="1">
                <a:solidFill>
                  <a:srgbClr val="C00000"/>
                </a:solidFill>
                <a:latin typeface="Courier" pitchFamily="2" charset="0"/>
              </a:rPr>
              <a:t>nblocks</a:t>
            </a:r>
            <a:r>
              <a:rPr lang="en-US" altLang="zh-CN" sz="1100" b="1" dirty="0">
                <a:solidFill>
                  <a:srgbClr val="C00000"/>
                </a:solidFill>
                <a:latin typeface="Courier" pitchFamily="2" charset="0"/>
              </a:rPr>
              <a:t>=8)</a:t>
            </a:r>
            <a:endParaRPr lang="en-CN" altLang="zh-CN"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1.</a:t>
            </a:r>
            <a:r>
              <a:rPr lang="zh-CN" altLang="en-US" sz="1100" dirty="0">
                <a:latin typeface="Courier" pitchFamily="2" charset="0"/>
              </a:rPr>
              <a:t> 标记</a:t>
            </a:r>
            <a:r>
              <a:rPr lang="en-US" altLang="zh-CN" sz="1100" dirty="0" err="1">
                <a:latin typeface="Courier" pitchFamily="2" charset="0"/>
              </a:rPr>
              <a:t>inode</a:t>
            </a:r>
            <a:r>
              <a:rPr lang="zh-CN" altLang="en-US" sz="1100" dirty="0">
                <a:latin typeface="Courier" pitchFamily="2" charset="0"/>
              </a:rPr>
              <a:t>为占用</a:t>
            </a:r>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bh</a:t>
            </a:r>
            <a:r>
              <a:rPr lang="en-US" altLang="zh-CN" sz="1100" dirty="0">
                <a:latin typeface="Courier" pitchFamily="2" charset="0"/>
              </a:rPr>
              <a:t>: </a:t>
            </a:r>
            <a:r>
              <a:rPr lang="en-US" altLang="zh-CN" sz="1100" dirty="0" err="1">
                <a:latin typeface="Courier" pitchFamily="2" charset="0"/>
              </a:rPr>
              <a:t>buffer_head</a:t>
            </a:r>
            <a:r>
              <a:rPr lang="zh-CN" altLang="en-US" sz="1100" dirty="0">
                <a:latin typeface="Courier" pitchFamily="2" charset="0"/>
              </a:rPr>
              <a:t> 对应存储设备中的最小访问单元</a:t>
            </a:r>
            <a:endParaRPr lang="en-US" altLang="zh-CN" sz="1100" dirty="0">
              <a:latin typeface="Courier" pitchFamily="2" charset="0"/>
            </a:endParaRPr>
          </a:p>
          <a:p>
            <a:r>
              <a:rPr lang="en-US" altLang="zh-CN" sz="1100" dirty="0" err="1">
                <a:latin typeface="Courier" pitchFamily="2" charset="0"/>
              </a:rPr>
              <a:t>bitmap_bh</a:t>
            </a:r>
            <a:r>
              <a:rPr lang="en-US" altLang="zh-CN" sz="1100" dirty="0">
                <a:latin typeface="Courier" pitchFamily="2" charset="0"/>
              </a:rPr>
              <a:t> = </a:t>
            </a:r>
            <a:r>
              <a:rPr lang="en-US" altLang="zh-CN" sz="1100" dirty="0" err="1">
                <a:latin typeface="Courier" pitchFamily="2" charset="0"/>
              </a:rPr>
              <a:t>read_inode_bitmap</a:t>
            </a:r>
            <a:r>
              <a:rPr lang="en-US" altLang="zh-CN" sz="1100" dirty="0">
                <a:latin typeface="Courier" pitchFamily="2" charset="0"/>
              </a:rPr>
              <a:t>(sb, group)</a:t>
            </a:r>
          </a:p>
          <a:p>
            <a:r>
              <a:rPr lang="en-US" sz="1100" b="1" dirty="0">
                <a:solidFill>
                  <a:srgbClr val="C00000"/>
                </a:solidFill>
                <a:latin typeface="Courier" pitchFamily="2" charset="0"/>
              </a:rPr>
              <a:t>jbd2_journal_get_write_access(</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bitmap_bh</a:t>
            </a:r>
            <a:r>
              <a:rPr lang="en-US" altLang="zh-CN" sz="1100" b="1" dirty="0">
                <a:solidFill>
                  <a:srgbClr val="C00000"/>
                </a:solidFill>
                <a:latin typeface="Courier" pitchFamily="2" charset="0"/>
              </a:rPr>
              <a:t>)</a:t>
            </a:r>
            <a:endParaRPr lang="en-US" sz="1100" b="1" dirty="0">
              <a:solidFill>
                <a:srgbClr val="C00000"/>
              </a:solidFill>
              <a:latin typeface="Courier" pitchFamily="2" charset="0"/>
            </a:endParaRPr>
          </a:p>
          <a:p>
            <a:r>
              <a:rPr lang="en-US" altLang="zh-CN" sz="1100" dirty="0" err="1">
                <a:latin typeface="Courier" pitchFamily="2" charset="0"/>
              </a:rPr>
              <a:t>set_bit</a:t>
            </a:r>
            <a:r>
              <a:rPr lang="en-US" altLang="zh-CN" sz="1100" dirty="0">
                <a:latin typeface="Courier" pitchFamily="2" charset="0"/>
              </a:rPr>
              <a:t>(</a:t>
            </a:r>
            <a:r>
              <a:rPr lang="en-US" altLang="zh-CN" sz="1100" dirty="0" err="1">
                <a:latin typeface="Courier" pitchFamily="2" charset="0"/>
              </a:rPr>
              <a:t>ino</a:t>
            </a:r>
            <a:r>
              <a:rPr lang="en-US" altLang="zh-CN" sz="1100" dirty="0">
                <a:latin typeface="Courier" pitchFamily="2" charset="0"/>
              </a:rPr>
              <a:t>, </a:t>
            </a:r>
            <a:r>
              <a:rPr lang="en-US" altLang="zh-CN" sz="1100" dirty="0" err="1">
                <a:latin typeface="Courier" pitchFamily="2" charset="0"/>
              </a:rPr>
              <a:t>bitmap_bh</a:t>
            </a:r>
            <a:r>
              <a:rPr lang="en-US" altLang="zh-CN" sz="1100" dirty="0">
                <a:latin typeface="Courier" pitchFamily="2" charset="0"/>
              </a:rPr>
              <a:t>-&gt;</a:t>
            </a:r>
            <a:r>
              <a:rPr lang="en-US" altLang="zh-CN" sz="1100" dirty="0" err="1">
                <a:latin typeface="Courier" pitchFamily="2" charset="0"/>
              </a:rPr>
              <a:t>b_data</a:t>
            </a:r>
            <a:r>
              <a:rPr lang="en-US" altLang="zh-CN" sz="1100" dirty="0">
                <a:latin typeface="Courier" pitchFamily="2" charset="0"/>
              </a:rPr>
              <a:t>)</a:t>
            </a:r>
          </a:p>
          <a:p>
            <a:r>
              <a:rPr lang="en-US" sz="1100" b="1" dirty="0">
                <a:solidFill>
                  <a:srgbClr val="C00000"/>
                </a:solidFill>
                <a:latin typeface="Courier" pitchFamily="2" charset="0"/>
              </a:rPr>
              <a:t>jbd2_journal_dirty_metadata(</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bitmap_bh</a:t>
            </a:r>
            <a:r>
              <a:rPr lang="en-US" sz="1100" b="1" dirty="0">
                <a:solidFill>
                  <a:srgbClr val="C00000"/>
                </a:solidFill>
                <a:latin typeface="Courier" pitchFamily="2" charset="0"/>
              </a:rPr>
              <a:t>)</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2.</a:t>
            </a:r>
            <a:r>
              <a:rPr lang="zh-CN" altLang="en-US" sz="1100" dirty="0">
                <a:latin typeface="Courier" pitchFamily="2" charset="0"/>
              </a:rPr>
              <a:t> 初始化</a:t>
            </a:r>
            <a:r>
              <a:rPr lang="en-US" altLang="zh-CN" sz="1100" dirty="0" err="1">
                <a:latin typeface="Courier" pitchFamily="2" charset="0"/>
              </a:rPr>
              <a:t>inode</a:t>
            </a:r>
            <a:endParaRPr lang="en-US" altLang="zh-CN" sz="1100" dirty="0">
              <a:latin typeface="Courier" pitchFamily="2" charset="0"/>
            </a:endParaRPr>
          </a:p>
          <a:p>
            <a:r>
              <a:rPr lang="en-US" altLang="zh-CN" sz="1100" dirty="0" err="1">
                <a:latin typeface="Courier" pitchFamily="2" charset="0"/>
              </a:rPr>
              <a:t>inode_bh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get_inode_bh</a:t>
            </a:r>
            <a:r>
              <a:rPr lang="en-US" altLang="zh-CN" sz="1100" dirty="0">
                <a:latin typeface="Courier" pitchFamily="2" charset="0"/>
              </a:rPr>
              <a:t>(sb,</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init_inode</a:t>
            </a:r>
            <a:r>
              <a:rPr lang="en-US" altLang="zh-CN" sz="1100" dirty="0">
                <a:latin typeface="Courier" pitchFamily="2" charset="0"/>
              </a:rPr>
              <a:t>(</a:t>
            </a:r>
            <a:r>
              <a:rPr lang="en-US" altLang="zh-CN" sz="1100" dirty="0" err="1">
                <a:latin typeface="Courier" pitchFamily="2" charset="0"/>
              </a:rPr>
              <a:t>inode_bh</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3.</a:t>
            </a:r>
            <a:r>
              <a:rPr lang="zh-CN" altLang="en-US" sz="1100" dirty="0">
                <a:latin typeface="Courier" pitchFamily="2" charset="0"/>
              </a:rPr>
              <a:t> 将目录项写入目录中</a:t>
            </a:r>
            <a:endParaRPr lang="en-US" altLang="zh-CN" sz="1100" dirty="0">
              <a:latin typeface="Courier" pitchFamily="2" charset="0"/>
            </a:endParaRPr>
          </a:p>
          <a:p>
            <a:r>
              <a:rPr lang="en-US" altLang="zh-CN" sz="1100" dirty="0" err="1">
                <a:latin typeface="Courier" pitchFamily="2" charset="0"/>
              </a:rPr>
              <a:t>data_bh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get_data_page</a:t>
            </a:r>
            <a:r>
              <a:rPr lang="en-US" altLang="zh-CN" sz="1100" dirty="0">
                <a:latin typeface="Courier" pitchFamily="2" charset="0"/>
              </a:rPr>
              <a:t>(</a:t>
            </a:r>
            <a:r>
              <a:rPr lang="en-US" altLang="zh-CN" sz="1100" dirty="0" err="1">
                <a:latin typeface="Courier" pitchFamily="2" charset="0"/>
              </a:rPr>
              <a:t>dir_inode</a:t>
            </a:r>
            <a:r>
              <a:rPr lang="en-US" altLang="zh-CN" sz="1100" dirty="0">
                <a:latin typeface="Courier" pitchFamily="2" charset="0"/>
              </a:rPr>
              <a:t>)</a:t>
            </a:r>
          </a:p>
          <a:p>
            <a:endParaRPr lang="en-US" sz="1100" dirty="0">
              <a:latin typeface="Courier" pitchFamily="2" charset="0"/>
            </a:endParaRPr>
          </a:p>
          <a:p>
            <a:r>
              <a:rPr lang="en-US" altLang="zh-CN" sz="1100" dirty="0" err="1">
                <a:latin typeface="Courier" pitchFamily="2" charset="0"/>
              </a:rPr>
              <a:t>add_dentry_to_data</a:t>
            </a:r>
            <a:r>
              <a:rPr lang="en-US" altLang="zh-CN" sz="1100" dirty="0">
                <a:latin typeface="Courier" pitchFamily="2" charset="0"/>
              </a:rPr>
              <a:t>(page,</a:t>
            </a:r>
            <a:r>
              <a:rPr lang="zh-CN" altLang="en-US" sz="1100" dirty="0">
                <a:latin typeface="Courier" pitchFamily="2" charset="0"/>
              </a:rPr>
              <a:t> </a:t>
            </a:r>
            <a:r>
              <a:rPr lang="en-US" altLang="zh-CN" sz="1100" dirty="0">
                <a:latin typeface="Courier" pitchFamily="2" charset="0"/>
              </a:rPr>
              <a:t>filename,</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endParaRPr lang="en-US" sz="1100" dirty="0">
              <a:latin typeface="Courier" pitchFamily="2" charset="0"/>
            </a:endParaRPr>
          </a:p>
          <a:p>
            <a:endParaRPr lang="en-US" altLang="zh-CN" sz="1100" dirty="0">
              <a:latin typeface="Courier" pitchFamily="2" charset="0"/>
            </a:endParaRPr>
          </a:p>
          <a:p>
            <a:endParaRPr lang="en-US" sz="1100" dirty="0">
              <a:latin typeface="Courier" pitchFamily="2" charset="0"/>
            </a:endParaRPr>
          </a:p>
        </p:txBody>
      </p:sp>
      <p:sp>
        <p:nvSpPr>
          <p:cNvPr id="14" name="TextBox 13">
            <a:extLst>
              <a:ext uri="{FF2B5EF4-FFF2-40B4-BE49-F238E27FC236}">
                <a16:creationId xmlns:a16="http://schemas.microsoft.com/office/drawing/2014/main" id="{716C1643-BCD6-DA47-BEE6-C8B000920FAA}"/>
              </a:ext>
            </a:extLst>
          </p:cNvPr>
          <p:cNvSpPr txBox="1"/>
          <p:nvPr/>
        </p:nvSpPr>
        <p:spPr>
          <a:xfrm>
            <a:off x="539299" y="1477757"/>
            <a:ext cx="3744417" cy="1277273"/>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journal_t</a:t>
            </a:r>
            <a:r>
              <a:rPr lang="zh-CN" altLang="en-US" sz="1100" dirty="0">
                <a:latin typeface="Courier" pitchFamily="2" charset="0"/>
              </a:rPr>
              <a:t> </a:t>
            </a:r>
            <a:r>
              <a:rPr lang="en-US" altLang="zh-CN" sz="1100" dirty="0">
                <a:latin typeface="Courier" pitchFamily="2" charset="0"/>
              </a:rPr>
              <a:t>journal;</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初始化日志系统（日志存在文件中）</a:t>
            </a:r>
            <a:endParaRPr lang="en-US" altLang="zh-CN" sz="1100" dirty="0">
              <a:latin typeface="Courier" pitchFamily="2" charset="0"/>
            </a:endParaRPr>
          </a:p>
          <a:p>
            <a:r>
              <a:rPr lang="en-US" altLang="zh-CN" sz="1100" dirty="0">
                <a:latin typeface="Courier" pitchFamily="2" charset="0"/>
              </a:rPr>
              <a:t>journal</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sz="1100" dirty="0">
                <a:latin typeface="Courier" pitchFamily="2" charset="0"/>
              </a:rPr>
              <a:t>jbd2_journal_init_inode</a:t>
            </a:r>
            <a:r>
              <a:rPr lang="en-US" altLang="zh-CN" sz="1100" dirty="0">
                <a:latin typeface="Courier" pitchFamily="2" charset="0"/>
              </a:rPr>
              <a:t>(</a:t>
            </a:r>
            <a:r>
              <a:rPr lang="en-US" altLang="zh-CN" sz="1100" dirty="0" err="1">
                <a:latin typeface="Courier" pitchFamily="2" charset="0"/>
              </a:rPr>
              <a:t>inode</a:t>
            </a:r>
            <a:r>
              <a:rPr lang="en-US" altLang="zh-CN" sz="1100" dirty="0">
                <a:latin typeface="Courier" pitchFamily="2" charset="0"/>
              </a:rPr>
              <a:t>)</a:t>
            </a:r>
          </a:p>
          <a:p>
            <a:r>
              <a:rPr lang="en-US" altLang="zh-CN" sz="1100" dirty="0">
                <a:latin typeface="Courier" pitchFamily="2" charset="0"/>
              </a:rPr>
              <a:t>//</a:t>
            </a:r>
            <a:r>
              <a:rPr lang="zh-CN" altLang="en-US" sz="1100" dirty="0">
                <a:latin typeface="Courier" pitchFamily="2" charset="0"/>
              </a:rPr>
              <a:t> 读取并恢复已有日志（如果存在）</a:t>
            </a:r>
            <a:endParaRPr lang="en-US" altLang="zh-CN" sz="1100" dirty="0">
              <a:latin typeface="Courier" pitchFamily="2" charset="0"/>
            </a:endParaRPr>
          </a:p>
          <a:p>
            <a:r>
              <a:rPr lang="en-US" sz="1100" dirty="0">
                <a:latin typeface="Courier" pitchFamily="2" charset="0"/>
              </a:rPr>
              <a:t>jbd2_journal_load(journal)</a:t>
            </a:r>
          </a:p>
          <a:p>
            <a:endParaRPr lang="en-US" sz="1100" dirty="0">
              <a:latin typeface="Courier" pitchFamily="2" charset="0"/>
            </a:endParaRPr>
          </a:p>
        </p:txBody>
      </p:sp>
      <p:sp>
        <p:nvSpPr>
          <p:cNvPr id="15" name="TextBox 14">
            <a:extLst>
              <a:ext uri="{FF2B5EF4-FFF2-40B4-BE49-F238E27FC236}">
                <a16:creationId xmlns:a16="http://schemas.microsoft.com/office/drawing/2014/main" id="{C5C1A360-D9EA-C44E-B195-17B05E27F064}"/>
              </a:ext>
            </a:extLst>
          </p:cNvPr>
          <p:cNvSpPr txBox="1"/>
          <p:nvPr/>
        </p:nvSpPr>
        <p:spPr>
          <a:xfrm>
            <a:off x="539750" y="4318614"/>
            <a:ext cx="3744417" cy="60016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a:t>
            </a:r>
            <a:r>
              <a:rPr lang="zh-CN" altLang="en-US" sz="1100" dirty="0">
                <a:latin typeface="Courier" pitchFamily="2" charset="0"/>
              </a:rPr>
              <a:t> 释放日志系统</a:t>
            </a:r>
            <a:endParaRPr lang="en-US" sz="1100" dirty="0">
              <a:latin typeface="Courier" pitchFamily="2" charset="0"/>
            </a:endParaRPr>
          </a:p>
          <a:p>
            <a:r>
              <a:rPr lang="en-US" sz="1100" dirty="0">
                <a:latin typeface="Courier" pitchFamily="2" charset="0"/>
              </a:rPr>
              <a:t>jbd2_journal_destroy(journal)</a:t>
            </a:r>
            <a:endParaRPr lang="en-US" altLang="zh-CN" sz="1100" dirty="0">
              <a:latin typeface="Courier" pitchFamily="2" charset="0"/>
            </a:endParaRPr>
          </a:p>
          <a:p>
            <a:endParaRPr lang="en-US" sz="1100" dirty="0">
              <a:latin typeface="Courier" pitchFamily="2" charset="0"/>
            </a:endParaRPr>
          </a:p>
        </p:txBody>
      </p:sp>
      <p:sp>
        <p:nvSpPr>
          <p:cNvPr id="10" name="TextBox 9">
            <a:extLst>
              <a:ext uri="{FF2B5EF4-FFF2-40B4-BE49-F238E27FC236}">
                <a16:creationId xmlns:a16="http://schemas.microsoft.com/office/drawing/2014/main" id="{2ECD993D-533C-0641-8B28-2C8D3D54BCCC}"/>
              </a:ext>
            </a:extLst>
          </p:cNvPr>
          <p:cNvSpPr txBox="1"/>
          <p:nvPr/>
        </p:nvSpPr>
        <p:spPr>
          <a:xfrm>
            <a:off x="515915" y="1174402"/>
            <a:ext cx="1620957" cy="307777"/>
          </a:xfrm>
          <a:prstGeom prst="rect">
            <a:avLst/>
          </a:prstGeom>
          <a:noFill/>
        </p:spPr>
        <p:txBody>
          <a:bodyPr wrap="none" rtlCol="0">
            <a:spAutoFit/>
          </a:bodyPr>
          <a:lstStyle/>
          <a:p>
            <a:r>
              <a:rPr lang="zh-CN" altLang="en-CN" sz="1400" dirty="0"/>
              <a:t>文件系统</a:t>
            </a:r>
            <a:r>
              <a:rPr lang="zh-CN" altLang="en-US" sz="1400" dirty="0"/>
              <a:t>挂载时：</a:t>
            </a:r>
            <a:endParaRPr lang="en-CN" sz="1400" dirty="0"/>
          </a:p>
        </p:txBody>
      </p:sp>
      <p:sp>
        <p:nvSpPr>
          <p:cNvPr id="16" name="TextBox 15">
            <a:extLst>
              <a:ext uri="{FF2B5EF4-FFF2-40B4-BE49-F238E27FC236}">
                <a16:creationId xmlns:a16="http://schemas.microsoft.com/office/drawing/2014/main" id="{63B2D966-A96B-5549-8BBD-E5CB41FED46F}"/>
              </a:ext>
            </a:extLst>
          </p:cNvPr>
          <p:cNvSpPr txBox="1"/>
          <p:nvPr/>
        </p:nvSpPr>
        <p:spPr>
          <a:xfrm>
            <a:off x="515915" y="2881042"/>
            <a:ext cx="1082348" cy="307777"/>
          </a:xfrm>
          <a:prstGeom prst="rect">
            <a:avLst/>
          </a:prstGeom>
          <a:noFill/>
        </p:spPr>
        <p:txBody>
          <a:bodyPr wrap="none" rtlCol="0">
            <a:spAutoFit/>
          </a:bodyPr>
          <a:lstStyle/>
          <a:p>
            <a:r>
              <a:rPr lang="zh-CN" altLang="en-US" sz="1400" dirty="0"/>
              <a:t>后台进程：</a:t>
            </a:r>
            <a:endParaRPr lang="en-CN" sz="1400" dirty="0"/>
          </a:p>
        </p:txBody>
      </p:sp>
      <p:sp>
        <p:nvSpPr>
          <p:cNvPr id="20" name="TextBox 19">
            <a:extLst>
              <a:ext uri="{FF2B5EF4-FFF2-40B4-BE49-F238E27FC236}">
                <a16:creationId xmlns:a16="http://schemas.microsoft.com/office/drawing/2014/main" id="{637532AB-4D38-F74B-A671-8F791A82C869}"/>
              </a:ext>
            </a:extLst>
          </p:cNvPr>
          <p:cNvSpPr txBox="1"/>
          <p:nvPr/>
        </p:nvSpPr>
        <p:spPr>
          <a:xfrm>
            <a:off x="4535016" y="902555"/>
            <a:ext cx="1441420" cy="307777"/>
          </a:xfrm>
          <a:prstGeom prst="rect">
            <a:avLst/>
          </a:prstGeom>
          <a:noFill/>
        </p:spPr>
        <p:txBody>
          <a:bodyPr wrap="none" rtlCol="0">
            <a:spAutoFit/>
          </a:bodyPr>
          <a:lstStyle>
            <a:defPPr>
              <a:defRPr lang="zh-CN"/>
            </a:defPPr>
            <a:lvl1pPr>
              <a:defRPr sz="1400"/>
            </a:lvl1pPr>
          </a:lstStyle>
          <a:p>
            <a:r>
              <a:rPr lang="zh-CN" altLang="en-US" dirty="0"/>
              <a:t>系统调用处理：</a:t>
            </a:r>
            <a:endParaRPr lang="en-US" altLang="zh-CN" dirty="0"/>
          </a:p>
        </p:txBody>
      </p:sp>
      <p:sp>
        <p:nvSpPr>
          <p:cNvPr id="18" name="TextBox 17">
            <a:extLst>
              <a:ext uri="{FF2B5EF4-FFF2-40B4-BE49-F238E27FC236}">
                <a16:creationId xmlns:a16="http://schemas.microsoft.com/office/drawing/2014/main" id="{09896F25-1D72-8843-B934-BDA33186182D}"/>
              </a:ext>
            </a:extLst>
          </p:cNvPr>
          <p:cNvSpPr txBox="1"/>
          <p:nvPr/>
        </p:nvSpPr>
        <p:spPr>
          <a:xfrm>
            <a:off x="6059158" y="651947"/>
            <a:ext cx="2627642" cy="369332"/>
          </a:xfrm>
          <a:prstGeom prst="rect">
            <a:avLst/>
          </a:prstGeom>
          <a:noFill/>
        </p:spPr>
        <p:txBody>
          <a:bodyPr wrap="none" rtlCol="0">
            <a:spAutoFit/>
          </a:bodyPr>
          <a:lstStyle/>
          <a:p>
            <a:r>
              <a:rPr lang="zh-CN" altLang="en-US" dirty="0">
                <a:solidFill>
                  <a:srgbClr val="C00000"/>
                </a:solidFill>
                <a:latin typeface="Courier" pitchFamily="2" charset="0"/>
              </a:rPr>
              <a:t>通知</a:t>
            </a:r>
            <a:r>
              <a:rPr lang="en-US" altLang="zh-CN" dirty="0">
                <a:solidFill>
                  <a:srgbClr val="C00000"/>
                </a:solidFill>
                <a:latin typeface="Courier" pitchFamily="2" charset="0"/>
              </a:rPr>
              <a:t>jbd2</a:t>
            </a:r>
            <a:r>
              <a:rPr lang="zh-CN" altLang="en-US" dirty="0">
                <a:solidFill>
                  <a:srgbClr val="C00000"/>
                </a:solidFill>
                <a:latin typeface="Courier" pitchFamily="2" charset="0"/>
              </a:rPr>
              <a:t>，修改</a:t>
            </a:r>
            <a:r>
              <a:rPr lang="en-US" altLang="zh-CN" dirty="0" err="1">
                <a:solidFill>
                  <a:srgbClr val="C00000"/>
                </a:solidFill>
                <a:latin typeface="Courier" pitchFamily="2" charset="0"/>
              </a:rPr>
              <a:t>bh</a:t>
            </a:r>
            <a:r>
              <a:rPr lang="zh-CN" altLang="en-US" dirty="0">
                <a:solidFill>
                  <a:srgbClr val="C00000"/>
                </a:solidFill>
                <a:latin typeface="Courier" pitchFamily="2" charset="0"/>
              </a:rPr>
              <a:t>完毕</a:t>
            </a:r>
          </a:p>
        </p:txBody>
      </p:sp>
      <p:cxnSp>
        <p:nvCxnSpPr>
          <p:cNvPr id="19" name="Straight Arrow Connector 18">
            <a:extLst>
              <a:ext uri="{FF2B5EF4-FFF2-40B4-BE49-F238E27FC236}">
                <a16:creationId xmlns:a16="http://schemas.microsoft.com/office/drawing/2014/main" id="{98906E1D-E6DB-BB49-952F-6A90578146CB}"/>
              </a:ext>
            </a:extLst>
          </p:cNvPr>
          <p:cNvCxnSpPr>
            <a:cxnSpLocks/>
            <a:stCxn id="18" idx="2"/>
          </p:cNvCxnSpPr>
          <p:nvPr/>
        </p:nvCxnSpPr>
        <p:spPr>
          <a:xfrm flipH="1">
            <a:off x="6300192" y="1021279"/>
            <a:ext cx="1072787" cy="17337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8C912DF-9C88-BC41-8F2B-D720CDA66B5A}"/>
              </a:ext>
            </a:extLst>
          </p:cNvPr>
          <p:cNvSpPr txBox="1"/>
          <p:nvPr/>
        </p:nvSpPr>
        <p:spPr>
          <a:xfrm>
            <a:off x="515915" y="4061604"/>
            <a:ext cx="1620957" cy="307777"/>
          </a:xfrm>
          <a:prstGeom prst="rect">
            <a:avLst/>
          </a:prstGeom>
          <a:noFill/>
        </p:spPr>
        <p:txBody>
          <a:bodyPr wrap="none" rtlCol="0">
            <a:spAutoFit/>
          </a:bodyPr>
          <a:lstStyle/>
          <a:p>
            <a:r>
              <a:rPr lang="zh-CN" altLang="en-US" sz="1400" dirty="0"/>
              <a:t>文件系统卸载时：</a:t>
            </a:r>
            <a:endParaRPr lang="en-CN" sz="1400" dirty="0"/>
          </a:p>
        </p:txBody>
      </p:sp>
    </p:spTree>
    <p:extLst>
      <p:ext uri="{BB962C8B-B14F-4D97-AF65-F5344CB8AC3E}">
        <p14:creationId xmlns:p14="http://schemas.microsoft.com/office/powerpoint/2010/main" val="260253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BDB1E-62D0-5948-96F9-0B385AF4E959}"/>
              </a:ext>
            </a:extLst>
          </p:cNvPr>
          <p:cNvSpPr>
            <a:spLocks noGrp="1"/>
          </p:cNvSpPr>
          <p:nvPr>
            <p:ph type="title"/>
          </p:nvPr>
        </p:nvSpPr>
        <p:spPr/>
        <p:txBody>
          <a:bodyPr/>
          <a:lstStyle/>
          <a:p>
            <a:r>
              <a:rPr lang="en-CN" dirty="0"/>
              <a:t>JBD</a:t>
            </a:r>
            <a:r>
              <a:rPr lang="en-US" altLang="zh-CN" dirty="0"/>
              <a:t>2</a:t>
            </a:r>
            <a:r>
              <a:rPr lang="zh-CN" altLang="en-US" dirty="0"/>
              <a:t>部分接口和使用方法</a:t>
            </a:r>
            <a:endParaRPr lang="en-CN" dirty="0"/>
          </a:p>
        </p:txBody>
      </p:sp>
      <p:sp>
        <p:nvSpPr>
          <p:cNvPr id="4" name="Slide Number Placeholder 3">
            <a:extLst>
              <a:ext uri="{FF2B5EF4-FFF2-40B4-BE49-F238E27FC236}">
                <a16:creationId xmlns:a16="http://schemas.microsoft.com/office/drawing/2014/main" id="{C8862C3D-542B-B04C-9283-74A97569AB75}"/>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Footer Placeholder 4">
            <a:extLst>
              <a:ext uri="{FF2B5EF4-FFF2-40B4-BE49-F238E27FC236}">
                <a16:creationId xmlns:a16="http://schemas.microsoft.com/office/drawing/2014/main" id="{AE140DC6-8932-E94A-AF5D-8D69694DE66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5FC4A2EA-0C87-AF42-A642-9CDF7995C512}"/>
              </a:ext>
            </a:extLst>
          </p:cNvPr>
          <p:cNvSpPr txBox="1"/>
          <p:nvPr/>
        </p:nvSpPr>
        <p:spPr>
          <a:xfrm>
            <a:off x="539300" y="3177485"/>
            <a:ext cx="3744417" cy="76944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while</a:t>
            </a:r>
            <a:r>
              <a:rPr lang="zh-CN" altLang="en-US" sz="1100" dirty="0">
                <a:latin typeface="Courier" pitchFamily="2" charset="0"/>
              </a:rPr>
              <a:t> </a:t>
            </a:r>
            <a:r>
              <a:rPr lang="en-US" altLang="zh-CN" sz="1100" dirty="0">
                <a:latin typeface="Courier" pitchFamily="2" charset="0"/>
              </a:rPr>
              <a:t>(sleep_5s())</a:t>
            </a:r>
            <a:r>
              <a:rPr lang="zh-CN" altLang="en-US" sz="1100" dirty="0">
                <a:latin typeface="Courier" pitchFamily="2" charset="0"/>
              </a:rPr>
              <a:t> </a:t>
            </a:r>
            <a:r>
              <a:rPr lang="en-US" altLang="zh-CN" sz="1100" dirty="0">
                <a:latin typeface="Courier" pitchFamily="2" charset="0"/>
              </a:rPr>
              <a:t>{</a:t>
            </a:r>
          </a:p>
          <a:p>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提交事务和回收日志空间（并开始新的事务）</a:t>
            </a:r>
            <a:endParaRPr lang="en-US" altLang="zh-CN" sz="1100" dirty="0">
              <a:latin typeface="Courier" pitchFamily="2" charset="0"/>
            </a:endParaRPr>
          </a:p>
          <a:p>
            <a:r>
              <a:rPr lang="zh-CN" altLang="en-US" sz="1100" dirty="0">
                <a:latin typeface="Courier" pitchFamily="2" charset="0"/>
              </a:rPr>
              <a:t>  </a:t>
            </a:r>
            <a:r>
              <a:rPr lang="en-US" sz="1100" dirty="0">
                <a:latin typeface="Courier" pitchFamily="2" charset="0"/>
              </a:rPr>
              <a:t>jbd2_journal_commit_transaction(</a:t>
            </a:r>
            <a:r>
              <a:rPr lang="en-US" altLang="zh-CN" sz="1100" dirty="0">
                <a:latin typeface="Courier" pitchFamily="2" charset="0"/>
              </a:rPr>
              <a:t>journal</a:t>
            </a:r>
            <a:r>
              <a:rPr lang="en-US" sz="1100" dirty="0">
                <a:latin typeface="Courier" pitchFamily="2" charset="0"/>
              </a:rPr>
              <a:t>)</a:t>
            </a:r>
          </a:p>
          <a:p>
            <a:r>
              <a:rPr lang="en-US" altLang="zh-CN" sz="1100" dirty="0">
                <a:latin typeface="Courier" pitchFamily="2" charset="0"/>
              </a:rPr>
              <a:t>}</a:t>
            </a:r>
            <a:endParaRPr lang="en-US" sz="1100" dirty="0">
              <a:latin typeface="Courier" pitchFamily="2" charset="0"/>
            </a:endParaRPr>
          </a:p>
        </p:txBody>
      </p:sp>
      <p:sp>
        <p:nvSpPr>
          <p:cNvPr id="13" name="TextBox 12">
            <a:extLst>
              <a:ext uri="{FF2B5EF4-FFF2-40B4-BE49-F238E27FC236}">
                <a16:creationId xmlns:a16="http://schemas.microsoft.com/office/drawing/2014/main" id="{E446FFFF-8CB0-7641-A70C-1F3FF0F8DCFD}"/>
              </a:ext>
            </a:extLst>
          </p:cNvPr>
          <p:cNvSpPr txBox="1"/>
          <p:nvPr/>
        </p:nvSpPr>
        <p:spPr>
          <a:xfrm>
            <a:off x="4596664" y="1174402"/>
            <a:ext cx="4175636" cy="415498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handle_t</a:t>
            </a:r>
            <a:r>
              <a:rPr lang="zh-CN" altLang="en-US" sz="1100" dirty="0">
                <a:latin typeface="Courier" pitchFamily="2" charset="0"/>
              </a:rPr>
              <a:t> </a:t>
            </a:r>
            <a:r>
              <a:rPr lang="en-US" altLang="zh-CN" sz="1100" dirty="0">
                <a:latin typeface="Courier" pitchFamily="2" charset="0"/>
              </a:rPr>
              <a:t>handle;</a:t>
            </a:r>
          </a:p>
          <a:p>
            <a:r>
              <a:rPr lang="en-US" altLang="zh-CN" sz="1100" dirty="0">
                <a:latin typeface="Courier" pitchFamily="2" charset="0"/>
              </a:rPr>
              <a:t>//</a:t>
            </a:r>
            <a:r>
              <a:rPr lang="zh-CN" altLang="en-US" sz="1100" dirty="0">
                <a:latin typeface="Courier" pitchFamily="2" charset="0"/>
              </a:rPr>
              <a:t> 原子操作：创建新文件</a:t>
            </a:r>
            <a:endParaRPr lang="en-US" altLang="zh-CN" sz="1100" dirty="0">
              <a:latin typeface="Courier" pitchFamily="2" charset="0"/>
            </a:endParaRPr>
          </a:p>
          <a:p>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a:solidFill>
                  <a:srgbClr val="C00000"/>
                </a:solidFill>
                <a:latin typeface="Courier" pitchFamily="2" charset="0"/>
              </a:rPr>
              <a:t>=</a:t>
            </a:r>
            <a:r>
              <a:rPr lang="zh-CN" altLang="en-US" sz="1100" b="1" dirty="0">
                <a:solidFill>
                  <a:srgbClr val="C00000"/>
                </a:solidFill>
                <a:latin typeface="Courier" pitchFamily="2" charset="0"/>
              </a:rPr>
              <a:t> </a:t>
            </a:r>
            <a:r>
              <a:rPr lang="en-US" sz="1100" b="1" dirty="0">
                <a:solidFill>
                  <a:srgbClr val="C00000"/>
                </a:solidFill>
                <a:latin typeface="Courier" pitchFamily="2" charset="0"/>
              </a:rPr>
              <a:t>jbd2_journal_start(journal, </a:t>
            </a:r>
            <a:r>
              <a:rPr lang="en-US" sz="1100" b="1" dirty="0" err="1">
                <a:solidFill>
                  <a:srgbClr val="C00000"/>
                </a:solidFill>
                <a:latin typeface="Courier" pitchFamily="2" charset="0"/>
              </a:rPr>
              <a:t>nblocks</a:t>
            </a:r>
            <a:r>
              <a:rPr lang="en-US" altLang="zh-CN" sz="1100" b="1" dirty="0">
                <a:solidFill>
                  <a:srgbClr val="C00000"/>
                </a:solidFill>
                <a:latin typeface="Courier" pitchFamily="2" charset="0"/>
              </a:rPr>
              <a:t>=8)</a:t>
            </a:r>
            <a:endParaRPr lang="en-CN" altLang="zh-CN" sz="1100" dirty="0">
              <a:latin typeface="Courier" pitchFamily="2" charset="0"/>
            </a:endParaRP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1.</a:t>
            </a:r>
            <a:r>
              <a:rPr lang="zh-CN" altLang="en-US" sz="1100" dirty="0">
                <a:latin typeface="Courier" pitchFamily="2" charset="0"/>
              </a:rPr>
              <a:t> 标记</a:t>
            </a:r>
            <a:r>
              <a:rPr lang="en-US" altLang="zh-CN" sz="1100" dirty="0" err="1">
                <a:latin typeface="Courier" pitchFamily="2" charset="0"/>
              </a:rPr>
              <a:t>inode</a:t>
            </a:r>
            <a:r>
              <a:rPr lang="zh-CN" altLang="en-US" sz="1100" dirty="0">
                <a:latin typeface="Courier" pitchFamily="2" charset="0"/>
              </a:rPr>
              <a:t>为占用</a:t>
            </a:r>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bh</a:t>
            </a:r>
            <a:r>
              <a:rPr lang="en-US" altLang="zh-CN" sz="1100" dirty="0">
                <a:latin typeface="Courier" pitchFamily="2" charset="0"/>
              </a:rPr>
              <a:t>: </a:t>
            </a:r>
            <a:r>
              <a:rPr lang="en-US" altLang="zh-CN" sz="1100" dirty="0" err="1">
                <a:latin typeface="Courier" pitchFamily="2" charset="0"/>
              </a:rPr>
              <a:t>buffer_head</a:t>
            </a:r>
            <a:r>
              <a:rPr lang="zh-CN" altLang="en-US" sz="1100" dirty="0">
                <a:latin typeface="Courier" pitchFamily="2" charset="0"/>
              </a:rPr>
              <a:t> 对应存储设备中的最小访问单元</a:t>
            </a:r>
            <a:endParaRPr lang="en-US" altLang="zh-CN" sz="1100" dirty="0">
              <a:latin typeface="Courier" pitchFamily="2" charset="0"/>
            </a:endParaRPr>
          </a:p>
          <a:p>
            <a:r>
              <a:rPr lang="en-US" altLang="zh-CN" sz="1100" dirty="0" err="1">
                <a:latin typeface="Courier" pitchFamily="2" charset="0"/>
              </a:rPr>
              <a:t>bitmap_bh</a:t>
            </a:r>
            <a:r>
              <a:rPr lang="en-US" altLang="zh-CN" sz="1100" dirty="0">
                <a:latin typeface="Courier" pitchFamily="2" charset="0"/>
              </a:rPr>
              <a:t> = </a:t>
            </a:r>
            <a:r>
              <a:rPr lang="en-US" altLang="zh-CN" sz="1100" dirty="0" err="1">
                <a:latin typeface="Courier" pitchFamily="2" charset="0"/>
              </a:rPr>
              <a:t>read_inode_bitmap</a:t>
            </a:r>
            <a:r>
              <a:rPr lang="en-US" altLang="zh-CN" sz="1100" dirty="0">
                <a:latin typeface="Courier" pitchFamily="2" charset="0"/>
              </a:rPr>
              <a:t>(sb, group)</a:t>
            </a:r>
          </a:p>
          <a:p>
            <a:r>
              <a:rPr lang="en-US" sz="1100" b="1" dirty="0">
                <a:solidFill>
                  <a:srgbClr val="C00000"/>
                </a:solidFill>
                <a:latin typeface="Courier" pitchFamily="2" charset="0"/>
              </a:rPr>
              <a:t>jbd2_journal_get_write_access(</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bitmap_bh</a:t>
            </a:r>
            <a:r>
              <a:rPr lang="en-US" altLang="zh-CN" sz="1100" b="1" dirty="0">
                <a:solidFill>
                  <a:srgbClr val="C00000"/>
                </a:solidFill>
                <a:latin typeface="Courier" pitchFamily="2" charset="0"/>
              </a:rPr>
              <a:t>)</a:t>
            </a:r>
            <a:endParaRPr lang="en-US" sz="1100" b="1" dirty="0">
              <a:solidFill>
                <a:srgbClr val="C00000"/>
              </a:solidFill>
              <a:latin typeface="Courier" pitchFamily="2" charset="0"/>
            </a:endParaRPr>
          </a:p>
          <a:p>
            <a:r>
              <a:rPr lang="en-US" altLang="zh-CN" sz="1100" dirty="0" err="1">
                <a:latin typeface="Courier" pitchFamily="2" charset="0"/>
              </a:rPr>
              <a:t>set_bit</a:t>
            </a:r>
            <a:r>
              <a:rPr lang="en-US" altLang="zh-CN" sz="1100" dirty="0">
                <a:latin typeface="Courier" pitchFamily="2" charset="0"/>
              </a:rPr>
              <a:t>(</a:t>
            </a:r>
            <a:r>
              <a:rPr lang="en-US" altLang="zh-CN" sz="1100" dirty="0" err="1">
                <a:latin typeface="Courier" pitchFamily="2" charset="0"/>
              </a:rPr>
              <a:t>ino</a:t>
            </a:r>
            <a:r>
              <a:rPr lang="en-US" altLang="zh-CN" sz="1100" dirty="0">
                <a:latin typeface="Courier" pitchFamily="2" charset="0"/>
              </a:rPr>
              <a:t>, </a:t>
            </a:r>
            <a:r>
              <a:rPr lang="en-US" altLang="zh-CN" sz="1100" dirty="0" err="1">
                <a:latin typeface="Courier" pitchFamily="2" charset="0"/>
              </a:rPr>
              <a:t>bitmap_bh</a:t>
            </a:r>
            <a:r>
              <a:rPr lang="en-US" altLang="zh-CN" sz="1100" dirty="0">
                <a:latin typeface="Courier" pitchFamily="2" charset="0"/>
              </a:rPr>
              <a:t>-&gt;</a:t>
            </a:r>
            <a:r>
              <a:rPr lang="en-US" altLang="zh-CN" sz="1100" dirty="0" err="1">
                <a:latin typeface="Courier" pitchFamily="2" charset="0"/>
              </a:rPr>
              <a:t>b_data</a:t>
            </a:r>
            <a:r>
              <a:rPr lang="en-US" altLang="zh-CN" sz="1100" dirty="0">
                <a:latin typeface="Courier" pitchFamily="2" charset="0"/>
              </a:rPr>
              <a:t>)</a:t>
            </a:r>
          </a:p>
          <a:p>
            <a:r>
              <a:rPr lang="en-US" sz="1100" b="1" dirty="0">
                <a:solidFill>
                  <a:srgbClr val="C00000"/>
                </a:solidFill>
                <a:latin typeface="Courier" pitchFamily="2" charset="0"/>
              </a:rPr>
              <a:t>jbd2_journal_dirty_metadata(</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bitmap_bh</a:t>
            </a:r>
            <a:r>
              <a:rPr lang="en-US" sz="1100" b="1" dirty="0">
                <a:solidFill>
                  <a:srgbClr val="C00000"/>
                </a:solidFill>
                <a:latin typeface="Courier" pitchFamily="2" charset="0"/>
              </a:rPr>
              <a:t>)</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2.</a:t>
            </a:r>
            <a:r>
              <a:rPr lang="zh-CN" altLang="en-US" sz="1100" dirty="0">
                <a:latin typeface="Courier" pitchFamily="2" charset="0"/>
              </a:rPr>
              <a:t> 初始化</a:t>
            </a:r>
            <a:r>
              <a:rPr lang="en-US" altLang="zh-CN" sz="1100" dirty="0" err="1">
                <a:latin typeface="Courier" pitchFamily="2" charset="0"/>
              </a:rPr>
              <a:t>inode</a:t>
            </a:r>
            <a:endParaRPr lang="en-US" altLang="zh-CN" sz="1100" dirty="0">
              <a:latin typeface="Courier" pitchFamily="2" charset="0"/>
            </a:endParaRPr>
          </a:p>
          <a:p>
            <a:r>
              <a:rPr lang="en-US" altLang="zh-CN" sz="1100" dirty="0" err="1">
                <a:latin typeface="Courier" pitchFamily="2" charset="0"/>
              </a:rPr>
              <a:t>inode_bh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get_inode_bh</a:t>
            </a:r>
            <a:r>
              <a:rPr lang="en-US" altLang="zh-CN" sz="1100" dirty="0">
                <a:latin typeface="Courier" pitchFamily="2" charset="0"/>
              </a:rPr>
              <a:t>(sb,</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r>
              <a:rPr lang="en-US" sz="1100" b="1" dirty="0">
                <a:solidFill>
                  <a:srgbClr val="C00000"/>
                </a:solidFill>
                <a:latin typeface="Courier" pitchFamily="2" charset="0"/>
              </a:rPr>
              <a:t>jbd2_journal_get_write_access(</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inode_bh</a:t>
            </a:r>
            <a:r>
              <a:rPr lang="en-US" altLang="zh-CN" sz="1100" b="1" dirty="0">
                <a:solidFill>
                  <a:srgbClr val="C00000"/>
                </a:solidFill>
                <a:latin typeface="Courier" pitchFamily="2" charset="0"/>
              </a:rPr>
              <a:t>)</a:t>
            </a:r>
          </a:p>
          <a:p>
            <a:r>
              <a:rPr lang="en-US" altLang="zh-CN" sz="1100" dirty="0" err="1">
                <a:latin typeface="Courier" pitchFamily="2" charset="0"/>
              </a:rPr>
              <a:t>init_inode</a:t>
            </a:r>
            <a:r>
              <a:rPr lang="en-US" altLang="zh-CN" sz="1100" dirty="0">
                <a:latin typeface="Courier" pitchFamily="2" charset="0"/>
              </a:rPr>
              <a:t>(</a:t>
            </a:r>
            <a:r>
              <a:rPr lang="en-US" altLang="zh-CN" sz="1100" dirty="0" err="1">
                <a:latin typeface="Courier" pitchFamily="2" charset="0"/>
              </a:rPr>
              <a:t>inode_bh</a:t>
            </a:r>
            <a:r>
              <a:rPr lang="en-US" altLang="zh-CN" sz="1100" dirty="0">
                <a:latin typeface="Courier" pitchFamily="2" charset="0"/>
              </a:rPr>
              <a:t>)</a:t>
            </a:r>
          </a:p>
          <a:p>
            <a:r>
              <a:rPr lang="en-US" sz="1100" b="1" dirty="0">
                <a:solidFill>
                  <a:srgbClr val="C00000"/>
                </a:solidFill>
                <a:latin typeface="Courier" pitchFamily="2" charset="0"/>
              </a:rPr>
              <a:t>jbd2_journal_dirty_metadata(</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inode_bh</a:t>
            </a:r>
            <a:r>
              <a:rPr lang="en-US" sz="1100" b="1" dirty="0">
                <a:solidFill>
                  <a:srgbClr val="C00000"/>
                </a:solidFill>
                <a:latin typeface="Courier" pitchFamily="2" charset="0"/>
              </a:rPr>
              <a:t>)</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a:t>
            </a:r>
            <a:r>
              <a:rPr lang="en-US" altLang="zh-CN" sz="1100" dirty="0">
                <a:latin typeface="Courier" pitchFamily="2" charset="0"/>
              </a:rPr>
              <a:t>3.</a:t>
            </a:r>
            <a:r>
              <a:rPr lang="zh-CN" altLang="en-US" sz="1100" dirty="0">
                <a:latin typeface="Courier" pitchFamily="2" charset="0"/>
              </a:rPr>
              <a:t> 将目录项写入目录中</a:t>
            </a:r>
            <a:endParaRPr lang="en-US" altLang="zh-CN" sz="1100" dirty="0">
              <a:latin typeface="Courier" pitchFamily="2" charset="0"/>
            </a:endParaRPr>
          </a:p>
          <a:p>
            <a:r>
              <a:rPr lang="en-US" altLang="zh-CN" sz="1100" dirty="0" err="1">
                <a:latin typeface="Courier" pitchFamily="2" charset="0"/>
              </a:rPr>
              <a:t>data_bh</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altLang="zh-CN" sz="1100" dirty="0" err="1">
                <a:latin typeface="Courier" pitchFamily="2" charset="0"/>
              </a:rPr>
              <a:t>get_data_page</a:t>
            </a:r>
            <a:r>
              <a:rPr lang="en-US" altLang="zh-CN" sz="1100" dirty="0">
                <a:latin typeface="Courier" pitchFamily="2" charset="0"/>
              </a:rPr>
              <a:t>(</a:t>
            </a:r>
            <a:r>
              <a:rPr lang="en-US" altLang="zh-CN" sz="1100" dirty="0" err="1">
                <a:latin typeface="Courier" pitchFamily="2" charset="0"/>
              </a:rPr>
              <a:t>dir_inode</a:t>
            </a:r>
            <a:r>
              <a:rPr lang="en-US" altLang="zh-CN" sz="1100" dirty="0">
                <a:latin typeface="Courier" pitchFamily="2" charset="0"/>
              </a:rPr>
              <a:t>)</a:t>
            </a:r>
          </a:p>
          <a:p>
            <a:r>
              <a:rPr lang="en-US" sz="1100" b="1" dirty="0">
                <a:solidFill>
                  <a:srgbClr val="C00000"/>
                </a:solidFill>
                <a:latin typeface="Courier" pitchFamily="2" charset="0"/>
              </a:rPr>
              <a:t>jbd2_journal_ge</a:t>
            </a:r>
            <a:r>
              <a:rPr lang="en-US" altLang="zh-CN" sz="1100" b="1" dirty="0">
                <a:solidFill>
                  <a:srgbClr val="C00000"/>
                </a:solidFill>
                <a:latin typeface="Courier" pitchFamily="2" charset="0"/>
              </a:rPr>
              <a:t>t</a:t>
            </a:r>
            <a:r>
              <a:rPr lang="en-US" sz="1100" b="1" dirty="0">
                <a:solidFill>
                  <a:srgbClr val="C00000"/>
                </a:solidFill>
                <a:latin typeface="Courier" pitchFamily="2" charset="0"/>
              </a:rPr>
              <a:t>_write_access(</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data_bh</a:t>
            </a:r>
            <a:r>
              <a:rPr lang="en-US" altLang="zh-CN" sz="1100" b="1" dirty="0">
                <a:solidFill>
                  <a:srgbClr val="C00000"/>
                </a:solidFill>
                <a:latin typeface="Courier" pitchFamily="2" charset="0"/>
              </a:rPr>
              <a:t>)</a:t>
            </a:r>
          </a:p>
          <a:p>
            <a:r>
              <a:rPr lang="en-US" altLang="zh-CN" sz="1100" dirty="0" err="1">
                <a:latin typeface="Courier" pitchFamily="2" charset="0"/>
              </a:rPr>
              <a:t>add_dentry_to_data</a:t>
            </a:r>
            <a:r>
              <a:rPr lang="en-US" altLang="zh-CN" sz="1100" dirty="0">
                <a:latin typeface="Courier" pitchFamily="2" charset="0"/>
              </a:rPr>
              <a:t>(page,</a:t>
            </a:r>
            <a:r>
              <a:rPr lang="zh-CN" altLang="en-US" sz="1100" dirty="0">
                <a:latin typeface="Courier" pitchFamily="2" charset="0"/>
              </a:rPr>
              <a:t> </a:t>
            </a:r>
            <a:r>
              <a:rPr lang="en-US" altLang="zh-CN" sz="1100" dirty="0">
                <a:latin typeface="Courier" pitchFamily="2" charset="0"/>
              </a:rPr>
              <a:t>filename,</a:t>
            </a:r>
            <a:r>
              <a:rPr lang="zh-CN" altLang="en-US" sz="1100" dirty="0">
                <a:latin typeface="Courier" pitchFamily="2" charset="0"/>
              </a:rPr>
              <a:t> </a:t>
            </a:r>
            <a:r>
              <a:rPr lang="en-US" altLang="zh-CN" sz="1100" dirty="0" err="1">
                <a:latin typeface="Courier" pitchFamily="2" charset="0"/>
              </a:rPr>
              <a:t>ino</a:t>
            </a:r>
            <a:r>
              <a:rPr lang="en-US" altLang="zh-CN" sz="1100" dirty="0">
                <a:latin typeface="Courier" pitchFamily="2" charset="0"/>
              </a:rPr>
              <a:t>)</a:t>
            </a:r>
          </a:p>
          <a:p>
            <a:r>
              <a:rPr lang="en-US" sz="1100" b="1" dirty="0">
                <a:solidFill>
                  <a:srgbClr val="C00000"/>
                </a:solidFill>
                <a:latin typeface="Courier" pitchFamily="2" charset="0"/>
              </a:rPr>
              <a:t>jbd2_journal_dirty_metadata(</a:t>
            </a:r>
            <a:r>
              <a:rPr lang="en-US" altLang="zh-CN" sz="1100" b="1" dirty="0">
                <a:solidFill>
                  <a:srgbClr val="C00000"/>
                </a:solidFill>
                <a:latin typeface="Courier" pitchFamily="2" charset="0"/>
              </a:rPr>
              <a:t>handle,</a:t>
            </a:r>
            <a:r>
              <a:rPr lang="zh-CN" altLang="en-US" sz="1100" b="1" dirty="0">
                <a:solidFill>
                  <a:srgbClr val="C00000"/>
                </a:solidFill>
                <a:latin typeface="Courier" pitchFamily="2" charset="0"/>
              </a:rPr>
              <a:t> </a:t>
            </a:r>
            <a:r>
              <a:rPr lang="en-US" altLang="zh-CN" sz="1100" b="1" dirty="0" err="1">
                <a:solidFill>
                  <a:srgbClr val="C00000"/>
                </a:solidFill>
                <a:latin typeface="Courier" pitchFamily="2" charset="0"/>
              </a:rPr>
              <a:t>data_bh</a:t>
            </a:r>
            <a:r>
              <a:rPr lang="en-US" sz="1100" b="1" dirty="0">
                <a:solidFill>
                  <a:srgbClr val="C00000"/>
                </a:solidFill>
                <a:latin typeface="Courier" pitchFamily="2" charset="0"/>
              </a:rPr>
              <a:t>)</a:t>
            </a:r>
            <a:endParaRPr lang="en-US" altLang="zh-CN" sz="1100" b="1" dirty="0">
              <a:solidFill>
                <a:srgbClr val="C00000"/>
              </a:solidFill>
              <a:latin typeface="Courier" pitchFamily="2" charset="0"/>
            </a:endParaRPr>
          </a:p>
          <a:p>
            <a:endParaRPr lang="en-US" altLang="zh-CN" sz="1100" dirty="0">
              <a:latin typeface="Courier" pitchFamily="2" charset="0"/>
            </a:endParaRPr>
          </a:p>
          <a:p>
            <a:r>
              <a:rPr lang="en-US" sz="1100" b="1" dirty="0">
                <a:solidFill>
                  <a:srgbClr val="C00000"/>
                </a:solidFill>
                <a:latin typeface="Courier" pitchFamily="2" charset="0"/>
              </a:rPr>
              <a:t>jbd2_journal_stop(handle)</a:t>
            </a:r>
            <a:r>
              <a:rPr lang="zh-CN" altLang="en-US" sz="1100" b="1" dirty="0">
                <a:solidFill>
                  <a:srgbClr val="C00000"/>
                </a:solidFill>
                <a:latin typeface="Courier" pitchFamily="2" charset="0"/>
              </a:rPr>
              <a:t>  </a:t>
            </a:r>
            <a:r>
              <a:rPr lang="en-US" altLang="zh-CN" sz="1100" b="1" dirty="0">
                <a:solidFill>
                  <a:srgbClr val="C00000"/>
                </a:solidFill>
                <a:latin typeface="Courier" pitchFamily="2" charset="0"/>
              </a:rPr>
              <a:t>//</a:t>
            </a:r>
            <a:r>
              <a:rPr lang="zh-CN" altLang="en-US" sz="1100" b="1" dirty="0">
                <a:solidFill>
                  <a:srgbClr val="C00000"/>
                </a:solidFill>
                <a:latin typeface="Courier" pitchFamily="2" charset="0"/>
              </a:rPr>
              <a:t> 结束</a:t>
            </a:r>
            <a:r>
              <a:rPr lang="zh-CN" altLang="en-CN" sz="1100" b="1" dirty="0">
                <a:solidFill>
                  <a:srgbClr val="C00000"/>
                </a:solidFill>
                <a:latin typeface="Courier" pitchFamily="2" charset="0"/>
              </a:rPr>
              <a:t>原子</a:t>
            </a:r>
            <a:r>
              <a:rPr lang="zh-CN" altLang="en-US" sz="1100" b="1" dirty="0">
                <a:solidFill>
                  <a:srgbClr val="C00000"/>
                </a:solidFill>
                <a:latin typeface="Courier" pitchFamily="2" charset="0"/>
              </a:rPr>
              <a:t>操作</a:t>
            </a:r>
            <a:endParaRPr lang="en-US" altLang="zh-CN" sz="1100" b="1" dirty="0">
              <a:solidFill>
                <a:srgbClr val="C00000"/>
              </a:solidFill>
              <a:latin typeface="Courier" pitchFamily="2" charset="0"/>
            </a:endParaRPr>
          </a:p>
        </p:txBody>
      </p:sp>
      <p:sp>
        <p:nvSpPr>
          <p:cNvPr id="14" name="TextBox 13">
            <a:extLst>
              <a:ext uri="{FF2B5EF4-FFF2-40B4-BE49-F238E27FC236}">
                <a16:creationId xmlns:a16="http://schemas.microsoft.com/office/drawing/2014/main" id="{716C1643-BCD6-DA47-BEE6-C8B000920FAA}"/>
              </a:ext>
            </a:extLst>
          </p:cNvPr>
          <p:cNvSpPr txBox="1"/>
          <p:nvPr/>
        </p:nvSpPr>
        <p:spPr>
          <a:xfrm>
            <a:off x="539299" y="1477757"/>
            <a:ext cx="3744417" cy="1277273"/>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err="1">
                <a:latin typeface="Courier" pitchFamily="2" charset="0"/>
              </a:rPr>
              <a:t>journal_t</a:t>
            </a:r>
            <a:r>
              <a:rPr lang="zh-CN" altLang="en-US" sz="1100" dirty="0">
                <a:latin typeface="Courier" pitchFamily="2" charset="0"/>
              </a:rPr>
              <a:t> </a:t>
            </a:r>
            <a:r>
              <a:rPr lang="en-US" altLang="zh-CN" sz="1100" dirty="0">
                <a:latin typeface="Courier" pitchFamily="2" charset="0"/>
              </a:rPr>
              <a:t>journal;</a:t>
            </a:r>
          </a:p>
          <a:p>
            <a:endParaRPr lang="en-US" altLang="zh-CN" sz="1100" dirty="0">
              <a:latin typeface="Courier" pitchFamily="2" charset="0"/>
            </a:endParaRPr>
          </a:p>
          <a:p>
            <a:r>
              <a:rPr lang="en-US" altLang="zh-CN" sz="1100" dirty="0">
                <a:latin typeface="Courier" pitchFamily="2" charset="0"/>
              </a:rPr>
              <a:t>//</a:t>
            </a:r>
            <a:r>
              <a:rPr lang="zh-CN" altLang="en-US" sz="1100" dirty="0">
                <a:latin typeface="Courier" pitchFamily="2" charset="0"/>
              </a:rPr>
              <a:t> 初始化日志系统（日志存在文件中）</a:t>
            </a:r>
            <a:endParaRPr lang="en-US" altLang="zh-CN" sz="1100" dirty="0">
              <a:latin typeface="Courier" pitchFamily="2" charset="0"/>
            </a:endParaRPr>
          </a:p>
          <a:p>
            <a:r>
              <a:rPr lang="en-US" altLang="zh-CN" sz="1100" dirty="0">
                <a:latin typeface="Courier" pitchFamily="2" charset="0"/>
              </a:rPr>
              <a:t>journal</a:t>
            </a:r>
            <a:r>
              <a:rPr lang="zh-CN" altLang="en-US" sz="1100" dirty="0">
                <a:latin typeface="Courier" pitchFamily="2" charset="0"/>
              </a:rPr>
              <a:t> </a:t>
            </a:r>
            <a:r>
              <a:rPr lang="en-US" altLang="zh-CN" sz="1100" dirty="0">
                <a:latin typeface="Courier" pitchFamily="2" charset="0"/>
              </a:rPr>
              <a:t>=</a:t>
            </a:r>
            <a:r>
              <a:rPr lang="zh-CN" altLang="en-US" sz="1100" dirty="0">
                <a:latin typeface="Courier" pitchFamily="2" charset="0"/>
              </a:rPr>
              <a:t> </a:t>
            </a:r>
            <a:r>
              <a:rPr lang="en-US" sz="1100" dirty="0">
                <a:latin typeface="Courier" pitchFamily="2" charset="0"/>
              </a:rPr>
              <a:t>jbd2_journal_init_inode</a:t>
            </a:r>
            <a:r>
              <a:rPr lang="en-US" altLang="zh-CN" sz="1100" dirty="0">
                <a:latin typeface="Courier" pitchFamily="2" charset="0"/>
              </a:rPr>
              <a:t>(</a:t>
            </a:r>
            <a:r>
              <a:rPr lang="en-US" altLang="zh-CN" sz="1100" dirty="0" err="1">
                <a:latin typeface="Courier" pitchFamily="2" charset="0"/>
              </a:rPr>
              <a:t>inode</a:t>
            </a:r>
            <a:r>
              <a:rPr lang="en-US" altLang="zh-CN" sz="1100" dirty="0">
                <a:latin typeface="Courier" pitchFamily="2" charset="0"/>
              </a:rPr>
              <a:t>)</a:t>
            </a:r>
          </a:p>
          <a:p>
            <a:r>
              <a:rPr lang="en-US" altLang="zh-CN" sz="1100" dirty="0">
                <a:latin typeface="Courier" pitchFamily="2" charset="0"/>
              </a:rPr>
              <a:t>//</a:t>
            </a:r>
            <a:r>
              <a:rPr lang="zh-CN" altLang="en-US" sz="1100" dirty="0">
                <a:latin typeface="Courier" pitchFamily="2" charset="0"/>
              </a:rPr>
              <a:t> 读取并恢复已有日志（如果存在）</a:t>
            </a:r>
            <a:endParaRPr lang="en-US" altLang="zh-CN" sz="1100" dirty="0">
              <a:latin typeface="Courier" pitchFamily="2" charset="0"/>
            </a:endParaRPr>
          </a:p>
          <a:p>
            <a:r>
              <a:rPr lang="en-US" sz="1100" dirty="0">
                <a:latin typeface="Courier" pitchFamily="2" charset="0"/>
              </a:rPr>
              <a:t>jbd2_journal_load(journal)</a:t>
            </a:r>
          </a:p>
          <a:p>
            <a:endParaRPr lang="en-US" sz="1100" dirty="0">
              <a:latin typeface="Courier" pitchFamily="2" charset="0"/>
            </a:endParaRPr>
          </a:p>
        </p:txBody>
      </p:sp>
      <p:sp>
        <p:nvSpPr>
          <p:cNvPr id="15" name="TextBox 14">
            <a:extLst>
              <a:ext uri="{FF2B5EF4-FFF2-40B4-BE49-F238E27FC236}">
                <a16:creationId xmlns:a16="http://schemas.microsoft.com/office/drawing/2014/main" id="{C5C1A360-D9EA-C44E-B195-17B05E27F064}"/>
              </a:ext>
            </a:extLst>
          </p:cNvPr>
          <p:cNvSpPr txBox="1"/>
          <p:nvPr/>
        </p:nvSpPr>
        <p:spPr>
          <a:xfrm>
            <a:off x="539750" y="4318614"/>
            <a:ext cx="3744417" cy="600164"/>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100" dirty="0">
                <a:latin typeface="Courier" pitchFamily="2" charset="0"/>
              </a:rPr>
              <a:t>//</a:t>
            </a:r>
            <a:r>
              <a:rPr lang="zh-CN" altLang="en-US" sz="1100" dirty="0">
                <a:latin typeface="Courier" pitchFamily="2" charset="0"/>
              </a:rPr>
              <a:t> 释放日志系统</a:t>
            </a:r>
            <a:endParaRPr lang="en-US" sz="1100" dirty="0">
              <a:latin typeface="Courier" pitchFamily="2" charset="0"/>
            </a:endParaRPr>
          </a:p>
          <a:p>
            <a:r>
              <a:rPr lang="en-US" sz="1100" dirty="0">
                <a:latin typeface="Courier" pitchFamily="2" charset="0"/>
              </a:rPr>
              <a:t>jbd2_journal_destroy(journal)</a:t>
            </a:r>
            <a:endParaRPr lang="en-US" altLang="zh-CN" sz="1100" dirty="0">
              <a:latin typeface="Courier" pitchFamily="2" charset="0"/>
            </a:endParaRPr>
          </a:p>
          <a:p>
            <a:endParaRPr lang="en-US" sz="1100" dirty="0">
              <a:latin typeface="Courier" pitchFamily="2" charset="0"/>
            </a:endParaRPr>
          </a:p>
        </p:txBody>
      </p:sp>
      <p:sp>
        <p:nvSpPr>
          <p:cNvPr id="10" name="TextBox 9">
            <a:extLst>
              <a:ext uri="{FF2B5EF4-FFF2-40B4-BE49-F238E27FC236}">
                <a16:creationId xmlns:a16="http://schemas.microsoft.com/office/drawing/2014/main" id="{2ECD993D-533C-0641-8B28-2C8D3D54BCCC}"/>
              </a:ext>
            </a:extLst>
          </p:cNvPr>
          <p:cNvSpPr txBox="1"/>
          <p:nvPr/>
        </p:nvSpPr>
        <p:spPr>
          <a:xfrm>
            <a:off x="515915" y="1174402"/>
            <a:ext cx="1620957" cy="307777"/>
          </a:xfrm>
          <a:prstGeom prst="rect">
            <a:avLst/>
          </a:prstGeom>
          <a:noFill/>
        </p:spPr>
        <p:txBody>
          <a:bodyPr wrap="none" rtlCol="0">
            <a:spAutoFit/>
          </a:bodyPr>
          <a:lstStyle/>
          <a:p>
            <a:r>
              <a:rPr lang="zh-CN" altLang="en-CN" sz="1400" dirty="0"/>
              <a:t>文件系统</a:t>
            </a:r>
            <a:r>
              <a:rPr lang="zh-CN" altLang="en-US" sz="1400" dirty="0"/>
              <a:t>挂载时：</a:t>
            </a:r>
            <a:endParaRPr lang="en-CN" sz="1400" dirty="0"/>
          </a:p>
        </p:txBody>
      </p:sp>
      <p:sp>
        <p:nvSpPr>
          <p:cNvPr id="16" name="TextBox 15">
            <a:extLst>
              <a:ext uri="{FF2B5EF4-FFF2-40B4-BE49-F238E27FC236}">
                <a16:creationId xmlns:a16="http://schemas.microsoft.com/office/drawing/2014/main" id="{63B2D966-A96B-5549-8BBD-E5CB41FED46F}"/>
              </a:ext>
            </a:extLst>
          </p:cNvPr>
          <p:cNvSpPr txBox="1"/>
          <p:nvPr/>
        </p:nvSpPr>
        <p:spPr>
          <a:xfrm>
            <a:off x="515915" y="2881042"/>
            <a:ext cx="1082348" cy="307777"/>
          </a:xfrm>
          <a:prstGeom prst="rect">
            <a:avLst/>
          </a:prstGeom>
          <a:noFill/>
        </p:spPr>
        <p:txBody>
          <a:bodyPr wrap="none" rtlCol="0">
            <a:spAutoFit/>
          </a:bodyPr>
          <a:lstStyle/>
          <a:p>
            <a:r>
              <a:rPr lang="zh-CN" altLang="en-US" sz="1400" dirty="0"/>
              <a:t>后台进程：</a:t>
            </a:r>
            <a:endParaRPr lang="en-CN" sz="1400" dirty="0"/>
          </a:p>
        </p:txBody>
      </p:sp>
      <p:sp>
        <p:nvSpPr>
          <p:cNvPr id="17" name="TextBox 16">
            <a:extLst>
              <a:ext uri="{FF2B5EF4-FFF2-40B4-BE49-F238E27FC236}">
                <a16:creationId xmlns:a16="http://schemas.microsoft.com/office/drawing/2014/main" id="{A2D42631-BE51-B548-9CDD-4BEA588DDBEA}"/>
              </a:ext>
            </a:extLst>
          </p:cNvPr>
          <p:cNvSpPr txBox="1"/>
          <p:nvPr/>
        </p:nvSpPr>
        <p:spPr>
          <a:xfrm>
            <a:off x="515915" y="4061604"/>
            <a:ext cx="1620957" cy="307777"/>
          </a:xfrm>
          <a:prstGeom prst="rect">
            <a:avLst/>
          </a:prstGeom>
          <a:noFill/>
        </p:spPr>
        <p:txBody>
          <a:bodyPr wrap="none" rtlCol="0">
            <a:spAutoFit/>
          </a:bodyPr>
          <a:lstStyle/>
          <a:p>
            <a:r>
              <a:rPr lang="zh-CN" altLang="en-US" sz="1400" dirty="0"/>
              <a:t>文件系统卸载时：</a:t>
            </a:r>
            <a:endParaRPr lang="en-CN" sz="1400" dirty="0"/>
          </a:p>
        </p:txBody>
      </p:sp>
      <p:sp>
        <p:nvSpPr>
          <p:cNvPr id="20" name="TextBox 19">
            <a:extLst>
              <a:ext uri="{FF2B5EF4-FFF2-40B4-BE49-F238E27FC236}">
                <a16:creationId xmlns:a16="http://schemas.microsoft.com/office/drawing/2014/main" id="{637532AB-4D38-F74B-A671-8F791A82C869}"/>
              </a:ext>
            </a:extLst>
          </p:cNvPr>
          <p:cNvSpPr txBox="1"/>
          <p:nvPr/>
        </p:nvSpPr>
        <p:spPr>
          <a:xfrm>
            <a:off x="4535016" y="902555"/>
            <a:ext cx="1441420" cy="307777"/>
          </a:xfrm>
          <a:prstGeom prst="rect">
            <a:avLst/>
          </a:prstGeom>
          <a:noFill/>
        </p:spPr>
        <p:txBody>
          <a:bodyPr wrap="none" rtlCol="0">
            <a:spAutoFit/>
          </a:bodyPr>
          <a:lstStyle>
            <a:defPPr>
              <a:defRPr lang="zh-CN"/>
            </a:defPPr>
            <a:lvl1pPr>
              <a:defRPr sz="1400"/>
            </a:lvl1pPr>
          </a:lstStyle>
          <a:p>
            <a:r>
              <a:rPr lang="zh-CN" altLang="en-US" dirty="0"/>
              <a:t>系统调用处理：</a:t>
            </a:r>
            <a:endParaRPr lang="en-US" altLang="zh-CN" dirty="0"/>
          </a:p>
        </p:txBody>
      </p:sp>
    </p:spTree>
    <p:extLst>
      <p:ext uri="{BB962C8B-B14F-4D97-AF65-F5344CB8AC3E}">
        <p14:creationId xmlns:p14="http://schemas.microsoft.com/office/powerpoint/2010/main" val="3665609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7F7417A-92EC-FE49-AECF-23D91EAE2BB5}"/>
              </a:ext>
            </a:extLst>
          </p:cNvPr>
          <p:cNvSpPr txBox="1"/>
          <p:nvPr/>
        </p:nvSpPr>
        <p:spPr>
          <a:xfrm>
            <a:off x="539750" y="2429102"/>
            <a:ext cx="3312170" cy="3000821"/>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900" dirty="0">
                <a:latin typeface="Courier" pitchFamily="2" charset="0"/>
              </a:rPr>
              <a:t>typedef struct </a:t>
            </a:r>
            <a:r>
              <a:rPr lang="en-US" altLang="zh-CN" sz="900" dirty="0" err="1">
                <a:latin typeface="Courier" pitchFamily="2" charset="0"/>
              </a:rPr>
              <a:t>journal_header_s</a:t>
            </a:r>
            <a:endParaRPr lang="en-US" altLang="zh-CN" sz="900" dirty="0">
              <a:latin typeface="Courier" pitchFamily="2" charset="0"/>
            </a:endParaRPr>
          </a:p>
          <a:p>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h_magic</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a:t>
            </a:r>
            <a:r>
              <a:rPr lang="zh-CN" altLang="en-US" sz="900" dirty="0">
                <a:latin typeface="Courier" pitchFamily="2" charset="0"/>
              </a:rPr>
              <a:t>* 魔法数字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h_blocktype</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a:t>
            </a:r>
            <a:r>
              <a:rPr lang="zh-CN" altLang="en-US" sz="900" dirty="0">
                <a:latin typeface="Courier" pitchFamily="2" charset="0"/>
              </a:rPr>
              <a:t>* 块的类型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h_sequence</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a:t>
            </a:r>
            <a:r>
              <a:rPr lang="zh-CN" altLang="en-US" sz="900" dirty="0">
                <a:latin typeface="Courier" pitchFamily="2" charset="0"/>
              </a:rPr>
              <a:t>* 块序号 *</a:t>
            </a:r>
            <a:r>
              <a:rPr lang="en-US" altLang="zh-CN" sz="900" dirty="0">
                <a:latin typeface="Courier" pitchFamily="2" charset="0"/>
              </a:rPr>
              <a:t>/</a:t>
            </a:r>
          </a:p>
          <a:p>
            <a:r>
              <a:rPr lang="en-US" altLang="zh-CN" sz="900" dirty="0">
                <a:latin typeface="Courier" pitchFamily="2" charset="0"/>
              </a:rPr>
              <a:t>} </a:t>
            </a:r>
            <a:r>
              <a:rPr lang="en-US" altLang="zh-CN" sz="900" dirty="0" err="1">
                <a:latin typeface="Courier" pitchFamily="2" charset="0"/>
              </a:rPr>
              <a:t>journal_header_t</a:t>
            </a:r>
            <a:r>
              <a:rPr lang="en-US" altLang="zh-CN" sz="900" dirty="0">
                <a:latin typeface="Courier" pitchFamily="2" charset="0"/>
              </a:rPr>
              <a:t>;</a:t>
            </a:r>
          </a:p>
          <a:p>
            <a:endParaRPr lang="en-US" altLang="zh-CN" sz="900" dirty="0">
              <a:latin typeface="Courier" pitchFamily="2" charset="0"/>
            </a:endParaRPr>
          </a:p>
          <a:p>
            <a:r>
              <a:rPr lang="en-US" altLang="zh-CN" sz="900" dirty="0">
                <a:latin typeface="Courier" pitchFamily="2" charset="0"/>
              </a:rPr>
              <a:t>typedef struct </a:t>
            </a:r>
            <a:r>
              <a:rPr lang="en-US" altLang="zh-CN" sz="900" dirty="0" err="1">
                <a:latin typeface="Courier" pitchFamily="2" charset="0"/>
              </a:rPr>
              <a:t>journal_superblock_s</a:t>
            </a:r>
            <a:endParaRPr lang="en-US" altLang="zh-CN" sz="900" dirty="0">
              <a:latin typeface="Courier" pitchFamily="2" charset="0"/>
            </a:endParaRPr>
          </a:p>
          <a:p>
            <a:r>
              <a:rPr lang="en-US" altLang="zh-CN" sz="900" dirty="0">
                <a:latin typeface="Courier" pitchFamily="2" charset="0"/>
              </a:rPr>
              <a:t>{</a:t>
            </a:r>
          </a:p>
          <a:p>
            <a:r>
              <a:rPr lang="zh-CN" altLang="en-US" sz="900" dirty="0">
                <a:latin typeface="Courier" pitchFamily="2" charset="0"/>
              </a:rPr>
              <a:t>  </a:t>
            </a:r>
            <a:r>
              <a:rPr lang="en-US" altLang="zh-CN" sz="900" dirty="0" err="1">
                <a:latin typeface="Courier" pitchFamily="2" charset="0"/>
              </a:rPr>
              <a:t>journal_header_t</a:t>
            </a:r>
            <a:r>
              <a:rPr lang="en-US" altLang="zh-CN" sz="900" dirty="0">
                <a:latin typeface="Courier" pitchFamily="2" charset="0"/>
              </a:rPr>
              <a:t> </a:t>
            </a:r>
            <a:r>
              <a:rPr lang="en-US" altLang="zh-CN" sz="900" dirty="0" err="1">
                <a:latin typeface="Courier" pitchFamily="2" charset="0"/>
              </a:rPr>
              <a:t>s_header</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s_blocksize</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块大小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s_maxlen</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日志文件的块总数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s_first</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日志信息的第一个块号</a:t>
            </a:r>
            <a:r>
              <a:rPr lang="en-US" altLang="zh-CN" sz="900" dirty="0">
                <a:latin typeface="Courier" pitchFamily="2" charset="0"/>
              </a:rPr>
              <a:t> */</a:t>
            </a:r>
          </a:p>
          <a:p>
            <a:r>
              <a:rPr lang="zh-CN" altLang="en-US" sz="900" dirty="0">
                <a:latin typeface="Courier" pitchFamily="2" charset="0"/>
              </a:rPr>
              <a:t>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s_sequence</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first commit ID expected in log */</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s_start</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日志的开始块号</a:t>
            </a:r>
            <a:r>
              <a:rPr lang="en-US" altLang="zh-CN" sz="900" dirty="0">
                <a:latin typeface="Courier" pitchFamily="2" charset="0"/>
              </a:rPr>
              <a:t> */</a:t>
            </a:r>
          </a:p>
          <a:p>
            <a:r>
              <a:rPr lang="zh-CN" altLang="en-US" sz="900" dirty="0">
                <a:latin typeface="Courier" pitchFamily="2" charset="0"/>
              </a:rPr>
              <a:t>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s_checksum</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校验码</a:t>
            </a:r>
            <a:r>
              <a:rPr lang="en-US" altLang="zh-CN" sz="900" dirty="0">
                <a:latin typeface="Courier" pitchFamily="2" charset="0"/>
              </a:rPr>
              <a:t> */</a:t>
            </a:r>
          </a:p>
          <a:p>
            <a:r>
              <a:rPr lang="zh-CN" altLang="en-US" sz="900" dirty="0">
                <a:latin typeface="Courier" pitchFamily="2" charset="0"/>
              </a:rPr>
              <a:t> </a:t>
            </a:r>
            <a:r>
              <a:rPr lang="en-US" altLang="zh-CN" sz="900" dirty="0">
                <a:latin typeface="Courier" pitchFamily="2" charset="0"/>
              </a:rPr>
              <a:t>...</a:t>
            </a:r>
          </a:p>
          <a:p>
            <a:r>
              <a:rPr lang="en-US" altLang="zh-CN" sz="900" dirty="0">
                <a:latin typeface="Courier" pitchFamily="2" charset="0"/>
              </a:rPr>
              <a:t>} </a:t>
            </a:r>
            <a:r>
              <a:rPr lang="en-US" altLang="zh-CN" sz="900" dirty="0" err="1">
                <a:latin typeface="Courier" pitchFamily="2" charset="0"/>
              </a:rPr>
              <a:t>journal_superblock_t</a:t>
            </a:r>
            <a:r>
              <a:rPr lang="en-US" altLang="zh-CN" sz="900" dirty="0">
                <a:latin typeface="Courier" pitchFamily="2" charset="0"/>
              </a:rPr>
              <a:t>;</a:t>
            </a:r>
          </a:p>
        </p:txBody>
      </p:sp>
      <p:sp>
        <p:nvSpPr>
          <p:cNvPr id="2" name="Title 1">
            <a:extLst>
              <a:ext uri="{FF2B5EF4-FFF2-40B4-BE49-F238E27FC236}">
                <a16:creationId xmlns:a16="http://schemas.microsoft.com/office/drawing/2014/main" id="{328C2E02-7D08-3840-8829-774F01F34DE7}"/>
              </a:ext>
            </a:extLst>
          </p:cNvPr>
          <p:cNvSpPr>
            <a:spLocks noGrp="1"/>
          </p:cNvSpPr>
          <p:nvPr>
            <p:ph type="title"/>
          </p:nvPr>
        </p:nvSpPr>
        <p:spPr/>
        <p:txBody>
          <a:bodyPr/>
          <a:lstStyle/>
          <a:p>
            <a:r>
              <a:rPr lang="en-US" altLang="zh-CN" dirty="0"/>
              <a:t>JBD2</a:t>
            </a:r>
            <a:r>
              <a:rPr lang="zh-CN" altLang="en-CN" dirty="0"/>
              <a:t>日志</a:t>
            </a:r>
            <a:r>
              <a:rPr lang="zh-CN" altLang="en-US" dirty="0"/>
              <a:t>的磁盘结构</a:t>
            </a:r>
            <a:endParaRPr lang="en-CN" dirty="0"/>
          </a:p>
        </p:txBody>
      </p:sp>
      <p:sp>
        <p:nvSpPr>
          <p:cNvPr id="4" name="Slide Number Placeholder 3">
            <a:extLst>
              <a:ext uri="{FF2B5EF4-FFF2-40B4-BE49-F238E27FC236}">
                <a16:creationId xmlns:a16="http://schemas.microsoft.com/office/drawing/2014/main" id="{C34BCBB2-9ABD-244C-B991-24A5818351C8}"/>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5" name="Footer Placeholder 4">
            <a:extLst>
              <a:ext uri="{FF2B5EF4-FFF2-40B4-BE49-F238E27FC236}">
                <a16:creationId xmlns:a16="http://schemas.microsoft.com/office/drawing/2014/main" id="{7A110C36-F9E8-6C43-AC88-0AF705988AE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087C0540-DC35-8441-8A4D-0B0A663D5883}"/>
              </a:ext>
            </a:extLst>
          </p:cNvPr>
          <p:cNvSpPr/>
          <p:nvPr/>
        </p:nvSpPr>
        <p:spPr>
          <a:xfrm>
            <a:off x="1996075" y="1489348"/>
            <a:ext cx="988919" cy="510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日志</a:t>
            </a:r>
            <a:br>
              <a:rPr lang="en-US" altLang="zh-CN" sz="1400" dirty="0"/>
            </a:br>
            <a:r>
              <a:rPr lang="zh-CN" altLang="en-US" sz="1400" dirty="0"/>
              <a:t>超级块</a:t>
            </a:r>
            <a:endParaRPr lang="en-CN" sz="1400" dirty="0"/>
          </a:p>
        </p:txBody>
      </p:sp>
      <p:sp>
        <p:nvSpPr>
          <p:cNvPr id="7" name="Rectangle 6">
            <a:extLst>
              <a:ext uri="{FF2B5EF4-FFF2-40B4-BE49-F238E27FC236}">
                <a16:creationId xmlns:a16="http://schemas.microsoft.com/office/drawing/2014/main" id="{12F6A948-8B30-5F40-B207-BA61D56D631B}"/>
              </a:ext>
            </a:extLst>
          </p:cNvPr>
          <p:cNvSpPr/>
          <p:nvPr/>
        </p:nvSpPr>
        <p:spPr>
          <a:xfrm>
            <a:off x="2980147" y="1489348"/>
            <a:ext cx="988919" cy="510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描述块</a:t>
            </a:r>
            <a:endParaRPr lang="en-CN" sz="1400" dirty="0"/>
          </a:p>
        </p:txBody>
      </p:sp>
      <p:sp>
        <p:nvSpPr>
          <p:cNvPr id="8" name="Rectangle 7">
            <a:extLst>
              <a:ext uri="{FF2B5EF4-FFF2-40B4-BE49-F238E27FC236}">
                <a16:creationId xmlns:a16="http://schemas.microsoft.com/office/drawing/2014/main" id="{1B7B605E-F531-074D-A4D8-54A0BC3B693F}"/>
              </a:ext>
            </a:extLst>
          </p:cNvPr>
          <p:cNvSpPr/>
          <p:nvPr/>
        </p:nvSpPr>
        <p:spPr>
          <a:xfrm>
            <a:off x="3960547" y="1489348"/>
            <a:ext cx="988919" cy="510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日志块</a:t>
            </a:r>
            <a:endParaRPr lang="en-CN" sz="1400" dirty="0"/>
          </a:p>
        </p:txBody>
      </p:sp>
      <p:sp>
        <p:nvSpPr>
          <p:cNvPr id="9" name="Rectangle 8">
            <a:extLst>
              <a:ext uri="{FF2B5EF4-FFF2-40B4-BE49-F238E27FC236}">
                <a16:creationId xmlns:a16="http://schemas.microsoft.com/office/drawing/2014/main" id="{B1C91C57-686C-DB46-9994-A68EDF8DFCE3}"/>
              </a:ext>
            </a:extLst>
          </p:cNvPr>
          <p:cNvSpPr/>
          <p:nvPr/>
        </p:nvSpPr>
        <p:spPr>
          <a:xfrm>
            <a:off x="4950861" y="1489348"/>
            <a:ext cx="988919" cy="510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日志块</a:t>
            </a:r>
            <a:endParaRPr lang="en-CN" sz="1400" dirty="0"/>
          </a:p>
        </p:txBody>
      </p:sp>
      <p:sp>
        <p:nvSpPr>
          <p:cNvPr id="12" name="Rectangle 11">
            <a:extLst>
              <a:ext uri="{FF2B5EF4-FFF2-40B4-BE49-F238E27FC236}">
                <a16:creationId xmlns:a16="http://schemas.microsoft.com/office/drawing/2014/main" id="{BB357F90-17C0-354C-98A7-7F3D001C98F2}"/>
              </a:ext>
            </a:extLst>
          </p:cNvPr>
          <p:cNvSpPr/>
          <p:nvPr/>
        </p:nvSpPr>
        <p:spPr>
          <a:xfrm>
            <a:off x="6696927" y="1490775"/>
            <a:ext cx="988919" cy="510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400" dirty="0"/>
              <a:t>提交</a:t>
            </a:r>
            <a:r>
              <a:rPr lang="zh-CN" altLang="en-US" sz="1400" dirty="0"/>
              <a:t>块</a:t>
            </a:r>
            <a:endParaRPr lang="en-CN" sz="1400" dirty="0"/>
          </a:p>
        </p:txBody>
      </p:sp>
      <p:sp>
        <p:nvSpPr>
          <p:cNvPr id="13" name="TextBox 12">
            <a:extLst>
              <a:ext uri="{FF2B5EF4-FFF2-40B4-BE49-F238E27FC236}">
                <a16:creationId xmlns:a16="http://schemas.microsoft.com/office/drawing/2014/main" id="{5B2C21F6-9451-3A4A-9E9D-9C92F422224E}"/>
              </a:ext>
            </a:extLst>
          </p:cNvPr>
          <p:cNvSpPr txBox="1"/>
          <p:nvPr/>
        </p:nvSpPr>
        <p:spPr>
          <a:xfrm>
            <a:off x="3995936" y="3149296"/>
            <a:ext cx="3195451" cy="1061829"/>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900" dirty="0">
                <a:latin typeface="Courier" pitchFamily="2" charset="0"/>
              </a:rPr>
              <a:t>typedef struct </a:t>
            </a:r>
            <a:r>
              <a:rPr lang="en-US" altLang="zh-CN" sz="900" dirty="0" err="1">
                <a:latin typeface="Courier" pitchFamily="2" charset="0"/>
              </a:rPr>
              <a:t>journal_block_tag_s</a:t>
            </a:r>
            <a:endParaRPr lang="en-US" altLang="zh-CN" sz="900" dirty="0">
              <a:latin typeface="Courier" pitchFamily="2" charset="0"/>
            </a:endParaRPr>
          </a:p>
          <a:p>
            <a:r>
              <a:rPr lang="en-US" altLang="zh-CN" sz="900" dirty="0">
                <a:latin typeface="Courier" pitchFamily="2" charset="0"/>
              </a:rPr>
              <a:t>{</a:t>
            </a:r>
          </a:p>
          <a:p>
            <a:r>
              <a:rPr lang="zh-CN" altLang="en-US" sz="900" b="1" dirty="0">
                <a:solidFill>
                  <a:srgbClr val="C00000"/>
                </a:solidFill>
                <a:latin typeface="Courier" pitchFamily="2" charset="0"/>
              </a:rPr>
              <a:t>  </a:t>
            </a:r>
            <a:r>
              <a:rPr lang="en-US" altLang="zh-CN" sz="900" b="1" dirty="0">
                <a:solidFill>
                  <a:srgbClr val="C00000"/>
                </a:solidFill>
                <a:latin typeface="Courier" pitchFamily="2" charset="0"/>
              </a:rPr>
              <a:t>__be32</a:t>
            </a:r>
            <a:r>
              <a:rPr lang="zh-CN" altLang="en-US" sz="900" b="1" dirty="0">
                <a:solidFill>
                  <a:srgbClr val="C00000"/>
                </a:solidFill>
                <a:latin typeface="Courier" pitchFamily="2" charset="0"/>
              </a:rPr>
              <a:t>  </a:t>
            </a:r>
            <a:r>
              <a:rPr lang="en-US" altLang="zh-CN" sz="900" b="1" dirty="0" err="1">
                <a:solidFill>
                  <a:srgbClr val="C00000"/>
                </a:solidFill>
                <a:latin typeface="Courier" pitchFamily="2" charset="0"/>
              </a:rPr>
              <a:t>t_blocknr</a:t>
            </a:r>
            <a:r>
              <a:rPr lang="en-US" altLang="zh-CN" sz="900" b="1" dirty="0">
                <a:solidFill>
                  <a:srgbClr val="C00000"/>
                </a:solidFill>
                <a:latin typeface="Courier" pitchFamily="2" charset="0"/>
              </a:rPr>
              <a:t>;</a:t>
            </a:r>
            <a:r>
              <a:rPr lang="zh-CN" altLang="en-US" sz="900" b="1" dirty="0">
                <a:solidFill>
                  <a:srgbClr val="C00000"/>
                </a:solidFill>
                <a:latin typeface="Courier" pitchFamily="2" charset="0"/>
              </a:rPr>
              <a:t>  </a:t>
            </a:r>
            <a:r>
              <a:rPr lang="en-US" altLang="zh-CN" sz="900" b="1" dirty="0">
                <a:solidFill>
                  <a:srgbClr val="C00000"/>
                </a:solidFill>
                <a:latin typeface="Courier" pitchFamily="2" charset="0"/>
              </a:rPr>
              <a:t>/* </a:t>
            </a:r>
            <a:r>
              <a:rPr lang="zh-CN" altLang="en-US" sz="900" b="1" dirty="0">
                <a:solidFill>
                  <a:srgbClr val="C00000"/>
                </a:solidFill>
                <a:latin typeface="Courier" pitchFamily="2" charset="0"/>
              </a:rPr>
              <a:t>磁盘上的块号</a:t>
            </a:r>
            <a:r>
              <a:rPr lang="en-US" altLang="zh-CN" sz="900" b="1" dirty="0">
                <a:solidFill>
                  <a:srgbClr val="C00000"/>
                </a:solidFill>
                <a:latin typeface="Courier" pitchFamily="2" charset="0"/>
              </a:rPr>
              <a:t> */</a:t>
            </a:r>
          </a:p>
          <a:p>
            <a:r>
              <a:rPr lang="zh-CN" altLang="en-US" sz="900" dirty="0">
                <a:latin typeface="Courier" pitchFamily="2" charset="0"/>
              </a:rPr>
              <a:t>  </a:t>
            </a:r>
            <a:r>
              <a:rPr lang="en-US" altLang="zh-CN" sz="900" dirty="0">
                <a:latin typeface="Courier" pitchFamily="2" charset="0"/>
              </a:rPr>
              <a:t>__be16</a:t>
            </a:r>
            <a:r>
              <a:rPr lang="zh-CN" altLang="en-US" sz="900" dirty="0">
                <a:latin typeface="Courier" pitchFamily="2" charset="0"/>
              </a:rPr>
              <a:t>  </a:t>
            </a:r>
            <a:r>
              <a:rPr lang="en-US" altLang="zh-CN" sz="900" dirty="0" err="1">
                <a:latin typeface="Courier" pitchFamily="2" charset="0"/>
              </a:rPr>
              <a:t>t_checksum</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校验码</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__be16</a:t>
            </a:r>
            <a:r>
              <a:rPr lang="zh-CN" altLang="en-US" sz="900" dirty="0">
                <a:latin typeface="Courier" pitchFamily="2" charset="0"/>
              </a:rPr>
              <a:t>  </a:t>
            </a:r>
            <a:r>
              <a:rPr lang="en-US" altLang="zh-CN" sz="900" dirty="0" err="1">
                <a:latin typeface="Courier" pitchFamily="2" charset="0"/>
              </a:rPr>
              <a:t>t_flags</a:t>
            </a:r>
            <a:r>
              <a:rPr lang="en-US" altLang="zh-CN" sz="900" dirty="0">
                <a:latin typeface="Courier" pitchFamily="2" charset="0"/>
              </a:rPr>
              <a:t>;</a:t>
            </a:r>
            <a:r>
              <a:rPr lang="zh-CN" altLang="en-US" sz="900" dirty="0">
                <a:latin typeface="Courier" pitchFamily="2" charset="0"/>
              </a:rPr>
              <a:t>    </a:t>
            </a:r>
            <a:r>
              <a:rPr lang="en-US" altLang="zh-CN" sz="900" dirty="0">
                <a:latin typeface="Courier" pitchFamily="2" charset="0"/>
              </a:rPr>
              <a:t>/* </a:t>
            </a:r>
            <a:r>
              <a:rPr lang="zh-CN" altLang="en-US" sz="900" dirty="0">
                <a:latin typeface="Courier" pitchFamily="2" charset="0"/>
              </a:rPr>
              <a:t>一些标志位 </a:t>
            </a:r>
            <a:r>
              <a:rPr lang="en-US" altLang="zh-CN" sz="900" dirty="0">
                <a:latin typeface="Courier" pitchFamily="2" charset="0"/>
              </a:rPr>
              <a:t>*/</a:t>
            </a:r>
          </a:p>
          <a:p>
            <a:r>
              <a:rPr lang="zh-CN" altLang="en-US" sz="900" dirty="0">
                <a:latin typeface="Courier" pitchFamily="2" charset="0"/>
              </a:rPr>
              <a:t>  </a:t>
            </a:r>
            <a:r>
              <a:rPr lang="en-US" altLang="zh-CN" sz="900" dirty="0">
                <a:latin typeface="Courier" pitchFamily="2" charset="0"/>
              </a:rPr>
              <a:t>__be32</a:t>
            </a:r>
            <a:r>
              <a:rPr lang="zh-CN" altLang="en-US" sz="900" dirty="0">
                <a:latin typeface="Courier" pitchFamily="2" charset="0"/>
              </a:rPr>
              <a:t>  </a:t>
            </a:r>
            <a:r>
              <a:rPr lang="en-US" altLang="zh-CN" sz="900" dirty="0" err="1">
                <a:latin typeface="Courier" pitchFamily="2" charset="0"/>
              </a:rPr>
              <a:t>t_blocknr_high</a:t>
            </a:r>
            <a:r>
              <a:rPr lang="en-US" altLang="zh-CN" sz="900" dirty="0">
                <a:latin typeface="Courier" pitchFamily="2" charset="0"/>
              </a:rPr>
              <a:t>; /* </a:t>
            </a:r>
            <a:r>
              <a:rPr lang="zh-CN" altLang="en-US" sz="900" dirty="0">
                <a:latin typeface="Courier" pitchFamily="2" charset="0"/>
              </a:rPr>
              <a:t>高</a:t>
            </a:r>
            <a:r>
              <a:rPr lang="en-US" altLang="zh-CN" sz="900" dirty="0">
                <a:latin typeface="Courier" pitchFamily="2" charset="0"/>
              </a:rPr>
              <a:t>32</a:t>
            </a:r>
            <a:r>
              <a:rPr lang="zh-CN" altLang="en-US" sz="900" dirty="0">
                <a:latin typeface="Courier" pitchFamily="2" charset="0"/>
              </a:rPr>
              <a:t>位</a:t>
            </a:r>
            <a:r>
              <a:rPr lang="en-US" altLang="zh-CN" sz="900" dirty="0">
                <a:latin typeface="Courier" pitchFamily="2" charset="0"/>
              </a:rPr>
              <a:t> */</a:t>
            </a:r>
          </a:p>
          <a:p>
            <a:r>
              <a:rPr lang="en-US" altLang="zh-CN" sz="900" dirty="0">
                <a:latin typeface="Courier" pitchFamily="2" charset="0"/>
              </a:rPr>
              <a:t>} </a:t>
            </a:r>
            <a:r>
              <a:rPr lang="en-US" altLang="zh-CN" sz="900" dirty="0" err="1">
                <a:latin typeface="Courier" pitchFamily="2" charset="0"/>
              </a:rPr>
              <a:t>journal_block_tag_t</a:t>
            </a:r>
            <a:r>
              <a:rPr lang="en-US" altLang="zh-CN" sz="900" dirty="0">
                <a:latin typeface="Courier" pitchFamily="2" charset="0"/>
              </a:rPr>
              <a:t>;</a:t>
            </a:r>
          </a:p>
        </p:txBody>
      </p:sp>
      <p:sp>
        <p:nvSpPr>
          <p:cNvPr id="14" name="TextBox 13">
            <a:extLst>
              <a:ext uri="{FF2B5EF4-FFF2-40B4-BE49-F238E27FC236}">
                <a16:creationId xmlns:a16="http://schemas.microsoft.com/office/drawing/2014/main" id="{15F147B2-62FC-3546-8186-9AAD635CA5D7}"/>
              </a:ext>
            </a:extLst>
          </p:cNvPr>
          <p:cNvSpPr txBox="1"/>
          <p:nvPr/>
        </p:nvSpPr>
        <p:spPr>
          <a:xfrm>
            <a:off x="5995188" y="1516839"/>
            <a:ext cx="646331" cy="369332"/>
          </a:xfrm>
          <a:prstGeom prst="rect">
            <a:avLst/>
          </a:prstGeom>
          <a:noFill/>
        </p:spPr>
        <p:txBody>
          <a:bodyPr wrap="none" rtlCol="0">
            <a:spAutoFit/>
          </a:bodyPr>
          <a:lstStyle/>
          <a:p>
            <a:r>
              <a:rPr lang="en-US" altLang="zh-CN" dirty="0"/>
              <a:t>……</a:t>
            </a:r>
            <a:endParaRPr lang="en-CN" dirty="0"/>
          </a:p>
        </p:txBody>
      </p:sp>
      <p:cxnSp>
        <p:nvCxnSpPr>
          <p:cNvPr id="16" name="Straight Arrow Connector 15">
            <a:extLst>
              <a:ext uri="{FF2B5EF4-FFF2-40B4-BE49-F238E27FC236}">
                <a16:creationId xmlns:a16="http://schemas.microsoft.com/office/drawing/2014/main" id="{ECA15E81-88A7-454C-8EDB-C8901E3B98E0}"/>
              </a:ext>
            </a:extLst>
          </p:cNvPr>
          <p:cNvCxnSpPr>
            <a:cxnSpLocks/>
            <a:stCxn id="6" idx="2"/>
            <a:endCxn id="10" idx="0"/>
          </p:cNvCxnSpPr>
          <p:nvPr/>
        </p:nvCxnSpPr>
        <p:spPr>
          <a:xfrm flipH="1">
            <a:off x="2195835" y="1999577"/>
            <a:ext cx="294700" cy="42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E94163B-FF25-3E46-BF3B-C0B3478016F5}"/>
              </a:ext>
            </a:extLst>
          </p:cNvPr>
          <p:cNvCxnSpPr>
            <a:cxnSpLocks/>
            <a:stCxn id="7" idx="2"/>
            <a:endCxn id="13" idx="0"/>
          </p:cNvCxnSpPr>
          <p:nvPr/>
        </p:nvCxnSpPr>
        <p:spPr>
          <a:xfrm>
            <a:off x="3474607" y="1999577"/>
            <a:ext cx="2119055" cy="1149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5C5F08-9844-AC45-AF52-2E5FB8C7E35D}"/>
              </a:ext>
            </a:extLst>
          </p:cNvPr>
          <p:cNvSpPr txBox="1"/>
          <p:nvPr/>
        </p:nvSpPr>
        <p:spPr>
          <a:xfrm>
            <a:off x="4681001" y="2410529"/>
            <a:ext cx="3374642" cy="307777"/>
          </a:xfrm>
          <a:prstGeom prst="rect">
            <a:avLst/>
          </a:prstGeom>
          <a:noFill/>
        </p:spPr>
        <p:txBody>
          <a:bodyPr wrap="none" rtlCol="0">
            <a:spAutoFit/>
          </a:bodyPr>
          <a:lstStyle/>
          <a:p>
            <a:r>
              <a:rPr lang="en-US" altLang="zh-CN" sz="1400" dirty="0"/>
              <a:t>tag</a:t>
            </a:r>
            <a:r>
              <a:rPr lang="zh-CN" altLang="en-US" sz="1400" dirty="0"/>
              <a:t>数组，每个</a:t>
            </a:r>
            <a:r>
              <a:rPr lang="en-US" altLang="zh-CN" sz="1400" dirty="0"/>
              <a:t>tag</a:t>
            </a:r>
            <a:r>
              <a:rPr lang="zh-CN" altLang="en-US" sz="1400" dirty="0"/>
              <a:t>对应后面日志块的信息</a:t>
            </a:r>
            <a:endParaRPr lang="en-CN" sz="1400" dirty="0"/>
          </a:p>
        </p:txBody>
      </p:sp>
      <p:sp>
        <p:nvSpPr>
          <p:cNvPr id="21" name="Right Brace 20">
            <a:extLst>
              <a:ext uri="{FF2B5EF4-FFF2-40B4-BE49-F238E27FC236}">
                <a16:creationId xmlns:a16="http://schemas.microsoft.com/office/drawing/2014/main" id="{D7704F61-666B-9B4E-97D3-4376553A549B}"/>
              </a:ext>
            </a:extLst>
          </p:cNvPr>
          <p:cNvSpPr/>
          <p:nvPr/>
        </p:nvSpPr>
        <p:spPr>
          <a:xfrm rot="16200000">
            <a:off x="5197056" y="-1013572"/>
            <a:ext cx="271882" cy="4705700"/>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2" name="TextBox 21">
            <a:extLst>
              <a:ext uri="{FF2B5EF4-FFF2-40B4-BE49-F238E27FC236}">
                <a16:creationId xmlns:a16="http://schemas.microsoft.com/office/drawing/2014/main" id="{CE54D3FF-FDA1-3D44-8BA9-D272483FB754}"/>
              </a:ext>
            </a:extLst>
          </p:cNvPr>
          <p:cNvSpPr txBox="1"/>
          <p:nvPr/>
        </p:nvSpPr>
        <p:spPr>
          <a:xfrm>
            <a:off x="8040469" y="1516839"/>
            <a:ext cx="646331" cy="369332"/>
          </a:xfrm>
          <a:prstGeom prst="rect">
            <a:avLst/>
          </a:prstGeom>
          <a:noFill/>
        </p:spPr>
        <p:txBody>
          <a:bodyPr wrap="none" rtlCol="0">
            <a:spAutoFit/>
          </a:bodyPr>
          <a:lstStyle/>
          <a:p>
            <a:r>
              <a:rPr lang="en-US" altLang="zh-CN" dirty="0"/>
              <a:t>……</a:t>
            </a:r>
            <a:endParaRPr lang="en-CN" dirty="0"/>
          </a:p>
        </p:txBody>
      </p:sp>
      <p:sp>
        <p:nvSpPr>
          <p:cNvPr id="23" name="TextBox 22">
            <a:extLst>
              <a:ext uri="{FF2B5EF4-FFF2-40B4-BE49-F238E27FC236}">
                <a16:creationId xmlns:a16="http://schemas.microsoft.com/office/drawing/2014/main" id="{1D6A0097-6757-3F47-8D2F-FAC7F6097097}"/>
              </a:ext>
            </a:extLst>
          </p:cNvPr>
          <p:cNvSpPr txBox="1"/>
          <p:nvPr/>
        </p:nvSpPr>
        <p:spPr>
          <a:xfrm>
            <a:off x="4898313" y="861408"/>
            <a:ext cx="902811" cy="307777"/>
          </a:xfrm>
          <a:prstGeom prst="rect">
            <a:avLst/>
          </a:prstGeom>
          <a:noFill/>
        </p:spPr>
        <p:txBody>
          <a:bodyPr wrap="none" rtlCol="0">
            <a:spAutoFit/>
          </a:bodyPr>
          <a:lstStyle/>
          <a:p>
            <a:r>
              <a:rPr lang="zh-CN" altLang="en-CN" sz="1400" dirty="0"/>
              <a:t>一个</a:t>
            </a:r>
            <a:r>
              <a:rPr lang="zh-CN" altLang="en-US" sz="1400" dirty="0"/>
              <a:t>事务</a:t>
            </a:r>
            <a:endParaRPr lang="en-CN" sz="1400" dirty="0"/>
          </a:p>
        </p:txBody>
      </p:sp>
      <p:sp>
        <p:nvSpPr>
          <p:cNvPr id="24" name="TextBox 23">
            <a:extLst>
              <a:ext uri="{FF2B5EF4-FFF2-40B4-BE49-F238E27FC236}">
                <a16:creationId xmlns:a16="http://schemas.microsoft.com/office/drawing/2014/main" id="{2CBE31A7-64FF-1941-B3F9-AAA22CEAE201}"/>
              </a:ext>
            </a:extLst>
          </p:cNvPr>
          <p:cNvSpPr txBox="1"/>
          <p:nvPr/>
        </p:nvSpPr>
        <p:spPr>
          <a:xfrm>
            <a:off x="7912228" y="1213482"/>
            <a:ext cx="902811" cy="307777"/>
          </a:xfrm>
          <a:prstGeom prst="rect">
            <a:avLst/>
          </a:prstGeom>
          <a:noFill/>
        </p:spPr>
        <p:txBody>
          <a:bodyPr wrap="none" rtlCol="0">
            <a:spAutoFit/>
          </a:bodyPr>
          <a:lstStyle/>
          <a:p>
            <a:r>
              <a:rPr lang="zh-CN" altLang="en-US" sz="1400" dirty="0"/>
              <a:t>其他事务</a:t>
            </a:r>
            <a:endParaRPr lang="en-CN" sz="1400" dirty="0"/>
          </a:p>
        </p:txBody>
      </p:sp>
      <p:sp>
        <p:nvSpPr>
          <p:cNvPr id="3" name="TextBox 2">
            <a:extLst>
              <a:ext uri="{FF2B5EF4-FFF2-40B4-BE49-F238E27FC236}">
                <a16:creationId xmlns:a16="http://schemas.microsoft.com/office/drawing/2014/main" id="{70F27230-B167-8545-A0D8-B9DFFDA1E6D6}"/>
              </a:ext>
            </a:extLst>
          </p:cNvPr>
          <p:cNvSpPr txBox="1"/>
          <p:nvPr/>
        </p:nvSpPr>
        <p:spPr>
          <a:xfrm>
            <a:off x="5199326" y="4472129"/>
            <a:ext cx="3600433" cy="523220"/>
          </a:xfrm>
          <a:prstGeom prst="rect">
            <a:avLst/>
          </a:prstGeom>
          <a:noFill/>
        </p:spPr>
        <p:txBody>
          <a:bodyPr wrap="square" rtlCol="0">
            <a:spAutoFit/>
          </a:bodyPr>
          <a:lstStyle/>
          <a:p>
            <a:r>
              <a:rPr lang="zh-CN" altLang="en-CN" sz="1400" dirty="0"/>
              <a:t>恢复</a:t>
            </a:r>
            <a:r>
              <a:rPr lang="zh-CN" altLang="en-US" sz="1400" dirty="0"/>
              <a:t>时，根据描述块中记录的</a:t>
            </a:r>
            <a:r>
              <a:rPr lang="en-US" altLang="zh-CN" sz="1400" dirty="0"/>
              <a:t>tag</a:t>
            </a:r>
            <a:r>
              <a:rPr lang="zh-CN" altLang="en-US" sz="1400" dirty="0"/>
              <a:t>信息，将后面日志块中的数据写入到对应的磁盘块中</a:t>
            </a:r>
            <a:endParaRPr lang="en-CN" sz="1400" dirty="0"/>
          </a:p>
        </p:txBody>
      </p:sp>
    </p:spTree>
    <p:extLst>
      <p:ext uri="{BB962C8B-B14F-4D97-AF65-F5344CB8AC3E}">
        <p14:creationId xmlns:p14="http://schemas.microsoft.com/office/powerpoint/2010/main" val="3803059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1AE1A-ECA7-4240-9418-E65A408D66A4}"/>
              </a:ext>
            </a:extLst>
          </p:cNvPr>
          <p:cNvSpPr>
            <a:spLocks noGrp="1"/>
          </p:cNvSpPr>
          <p:nvPr>
            <p:ph type="title"/>
          </p:nvPr>
        </p:nvSpPr>
        <p:spPr/>
        <p:txBody>
          <a:bodyPr/>
          <a:lstStyle/>
          <a:p>
            <a:r>
              <a:rPr lang="en-CN" dirty="0"/>
              <a:t>Ext4</a:t>
            </a:r>
            <a:r>
              <a:rPr lang="zh-CN" altLang="en-US" dirty="0"/>
              <a:t>用</a:t>
            </a:r>
            <a:r>
              <a:rPr lang="en-US" altLang="zh-CN" dirty="0"/>
              <a:t>JBD2</a:t>
            </a:r>
            <a:r>
              <a:rPr lang="zh-CN" altLang="en-US" dirty="0"/>
              <a:t>实现的三种日志模式</a:t>
            </a:r>
            <a:endParaRPr lang="en-CN" dirty="0"/>
          </a:p>
        </p:txBody>
      </p:sp>
      <p:sp>
        <p:nvSpPr>
          <p:cNvPr id="4" name="Slide Number Placeholder 3">
            <a:extLst>
              <a:ext uri="{FF2B5EF4-FFF2-40B4-BE49-F238E27FC236}">
                <a16:creationId xmlns:a16="http://schemas.microsoft.com/office/drawing/2014/main" id="{F1B9628A-DB46-BF41-BA74-154AFCDC1114}"/>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5" name="Footer Placeholder 4">
            <a:extLst>
              <a:ext uri="{FF2B5EF4-FFF2-40B4-BE49-F238E27FC236}">
                <a16:creationId xmlns:a16="http://schemas.microsoft.com/office/drawing/2014/main" id="{409F728C-9F83-1343-87D2-E7BA8C0F316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37" name="Group 36">
            <a:extLst>
              <a:ext uri="{FF2B5EF4-FFF2-40B4-BE49-F238E27FC236}">
                <a16:creationId xmlns:a16="http://schemas.microsoft.com/office/drawing/2014/main" id="{A27E2ABF-6847-4547-B7C8-CB5FFF8B804F}"/>
              </a:ext>
            </a:extLst>
          </p:cNvPr>
          <p:cNvGrpSpPr/>
          <p:nvPr/>
        </p:nvGrpSpPr>
        <p:grpSpPr>
          <a:xfrm>
            <a:off x="683568" y="3018279"/>
            <a:ext cx="5832648" cy="461766"/>
            <a:chOff x="899592" y="3189432"/>
            <a:chExt cx="5832648" cy="461766"/>
          </a:xfrm>
        </p:grpSpPr>
        <p:cxnSp>
          <p:nvCxnSpPr>
            <p:cNvPr id="16" name="Straight Arrow Connector 15">
              <a:extLst>
                <a:ext uri="{FF2B5EF4-FFF2-40B4-BE49-F238E27FC236}">
                  <a16:creationId xmlns:a16="http://schemas.microsoft.com/office/drawing/2014/main" id="{D5DEC172-8D40-0648-8C86-FEF325C7505C}"/>
                </a:ext>
              </a:extLst>
            </p:cNvPr>
            <p:cNvCxnSpPr>
              <a:cxnSpLocks/>
            </p:cNvCxnSpPr>
            <p:nvPr/>
          </p:nvCxnSpPr>
          <p:spPr>
            <a:xfrm>
              <a:off x="899592" y="3433564"/>
              <a:ext cx="583264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9B2CD721-D63C-2444-95C1-FFC8EF080CCE}"/>
                </a:ext>
              </a:extLst>
            </p:cNvPr>
            <p:cNvSpPr/>
            <p:nvPr/>
          </p:nvSpPr>
          <p:spPr>
            <a:xfrm>
              <a:off x="1280785" y="3189433"/>
              <a:ext cx="1021824" cy="461765"/>
            </a:xfrm>
            <a:prstGeom prst="rect">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600" dirty="0"/>
                <a:t>Data</a:t>
              </a:r>
              <a:endParaRPr lang="en-CN" sz="1600" dirty="0"/>
            </a:p>
          </p:txBody>
        </p:sp>
        <p:sp>
          <p:nvSpPr>
            <p:cNvPr id="8" name="Rectangle 7">
              <a:extLst>
                <a:ext uri="{FF2B5EF4-FFF2-40B4-BE49-F238E27FC236}">
                  <a16:creationId xmlns:a16="http://schemas.microsoft.com/office/drawing/2014/main" id="{BD5F2C6E-9D82-2146-B475-64F56AE3DA4B}"/>
                </a:ext>
              </a:extLst>
            </p:cNvPr>
            <p:cNvSpPr/>
            <p:nvPr/>
          </p:nvSpPr>
          <p:spPr>
            <a:xfrm>
              <a:off x="2560058" y="3189432"/>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9" name="Rectangle 8">
              <a:extLst>
                <a:ext uri="{FF2B5EF4-FFF2-40B4-BE49-F238E27FC236}">
                  <a16:creationId xmlns:a16="http://schemas.microsoft.com/office/drawing/2014/main" id="{D202FF60-6D46-2C47-836B-0DC037C5515D}"/>
                </a:ext>
              </a:extLst>
            </p:cNvPr>
            <p:cNvSpPr/>
            <p:nvPr/>
          </p:nvSpPr>
          <p:spPr>
            <a:xfrm>
              <a:off x="3863212" y="3189432"/>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10" name="Rectangle 9">
              <a:extLst>
                <a:ext uri="{FF2B5EF4-FFF2-40B4-BE49-F238E27FC236}">
                  <a16:creationId xmlns:a16="http://schemas.microsoft.com/office/drawing/2014/main" id="{3CB0A68A-EB74-CC47-B7CD-FCCE4E2521F0}"/>
                </a:ext>
              </a:extLst>
            </p:cNvPr>
            <p:cNvSpPr/>
            <p:nvPr/>
          </p:nvSpPr>
          <p:spPr>
            <a:xfrm>
              <a:off x="5167587" y="3189432"/>
              <a:ext cx="1021824" cy="461765"/>
            </a:xfrm>
            <a:prstGeom prst="rect">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600" dirty="0"/>
                <a:t>Metadata</a:t>
              </a:r>
              <a:endParaRPr lang="en-CN" sz="1600" baseline="-25000" dirty="0"/>
            </a:p>
          </p:txBody>
        </p:sp>
      </p:grpSp>
      <p:grpSp>
        <p:nvGrpSpPr>
          <p:cNvPr id="38" name="Group 37">
            <a:extLst>
              <a:ext uri="{FF2B5EF4-FFF2-40B4-BE49-F238E27FC236}">
                <a16:creationId xmlns:a16="http://schemas.microsoft.com/office/drawing/2014/main" id="{EF6FEA65-369C-064B-8178-A88B4FF3F201}"/>
              </a:ext>
            </a:extLst>
          </p:cNvPr>
          <p:cNvGrpSpPr/>
          <p:nvPr/>
        </p:nvGrpSpPr>
        <p:grpSpPr>
          <a:xfrm>
            <a:off x="683568" y="1759303"/>
            <a:ext cx="8064896" cy="471077"/>
            <a:chOff x="899592" y="1930456"/>
            <a:chExt cx="8064896" cy="471077"/>
          </a:xfrm>
        </p:grpSpPr>
        <p:cxnSp>
          <p:nvCxnSpPr>
            <p:cNvPr id="20" name="Straight Arrow Connector 19">
              <a:extLst>
                <a:ext uri="{FF2B5EF4-FFF2-40B4-BE49-F238E27FC236}">
                  <a16:creationId xmlns:a16="http://schemas.microsoft.com/office/drawing/2014/main" id="{18211928-567A-D64D-9FA0-3CC0358B4721}"/>
                </a:ext>
              </a:extLst>
            </p:cNvPr>
            <p:cNvCxnSpPr>
              <a:cxnSpLocks/>
            </p:cNvCxnSpPr>
            <p:nvPr/>
          </p:nvCxnSpPr>
          <p:spPr>
            <a:xfrm>
              <a:off x="899592" y="2172339"/>
              <a:ext cx="806489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B3313BE0-658B-7540-8033-B57B3CC5BB91}"/>
                </a:ext>
              </a:extLst>
            </p:cNvPr>
            <p:cNvSpPr/>
            <p:nvPr/>
          </p:nvSpPr>
          <p:spPr>
            <a:xfrm>
              <a:off x="1260445" y="1930456"/>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sp>
          <p:nvSpPr>
            <p:cNvPr id="13" name="Rectangle 12">
              <a:extLst>
                <a:ext uri="{FF2B5EF4-FFF2-40B4-BE49-F238E27FC236}">
                  <a16:creationId xmlns:a16="http://schemas.microsoft.com/office/drawing/2014/main" id="{215D67BA-3088-6648-BD93-11EB0CAC1DD7}"/>
                </a:ext>
              </a:extLst>
            </p:cNvPr>
            <p:cNvSpPr/>
            <p:nvPr/>
          </p:nvSpPr>
          <p:spPr>
            <a:xfrm>
              <a:off x="2560058" y="1939768"/>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14" name="Rectangle 13">
              <a:extLst>
                <a:ext uri="{FF2B5EF4-FFF2-40B4-BE49-F238E27FC236}">
                  <a16:creationId xmlns:a16="http://schemas.microsoft.com/office/drawing/2014/main" id="{2E6BDD53-51D3-A442-BC44-253BD778C71B}"/>
                </a:ext>
              </a:extLst>
            </p:cNvPr>
            <p:cNvSpPr/>
            <p:nvPr/>
          </p:nvSpPr>
          <p:spPr>
            <a:xfrm>
              <a:off x="3856971" y="1939767"/>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15" name="Rectangle 14">
              <a:extLst>
                <a:ext uri="{FF2B5EF4-FFF2-40B4-BE49-F238E27FC236}">
                  <a16:creationId xmlns:a16="http://schemas.microsoft.com/office/drawing/2014/main" id="{713CEE3A-93EC-FC4E-A566-24F3B81AD7EE}"/>
                </a:ext>
              </a:extLst>
            </p:cNvPr>
            <p:cNvSpPr/>
            <p:nvPr/>
          </p:nvSpPr>
          <p:spPr>
            <a:xfrm>
              <a:off x="6450797" y="1936233"/>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Metadata</a:t>
              </a:r>
              <a:endParaRPr lang="en-CN" sz="1600" dirty="0"/>
            </a:p>
          </p:txBody>
        </p:sp>
        <p:sp>
          <p:nvSpPr>
            <p:cNvPr id="18" name="Rectangle 17">
              <a:extLst>
                <a:ext uri="{FF2B5EF4-FFF2-40B4-BE49-F238E27FC236}">
                  <a16:creationId xmlns:a16="http://schemas.microsoft.com/office/drawing/2014/main" id="{141CA90D-C400-1A44-A5CD-04FFD4F79A14}"/>
                </a:ext>
              </a:extLst>
            </p:cNvPr>
            <p:cNvSpPr/>
            <p:nvPr/>
          </p:nvSpPr>
          <p:spPr>
            <a:xfrm>
              <a:off x="5153884" y="1939766"/>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sp>
          <p:nvSpPr>
            <p:cNvPr id="19" name="Rectangle 18">
              <a:extLst>
                <a:ext uri="{FF2B5EF4-FFF2-40B4-BE49-F238E27FC236}">
                  <a16:creationId xmlns:a16="http://schemas.microsoft.com/office/drawing/2014/main" id="{C32AC8E5-D376-314C-B990-5BC8ADB2F6D6}"/>
                </a:ext>
              </a:extLst>
            </p:cNvPr>
            <p:cNvSpPr/>
            <p:nvPr/>
          </p:nvSpPr>
          <p:spPr>
            <a:xfrm>
              <a:off x="7747710" y="1932993"/>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grpSp>
      <p:grpSp>
        <p:nvGrpSpPr>
          <p:cNvPr id="36" name="Group 35">
            <a:extLst>
              <a:ext uri="{FF2B5EF4-FFF2-40B4-BE49-F238E27FC236}">
                <a16:creationId xmlns:a16="http://schemas.microsoft.com/office/drawing/2014/main" id="{9F20BACE-A23C-BC4F-95BF-04C4F6481571}"/>
              </a:ext>
            </a:extLst>
          </p:cNvPr>
          <p:cNvGrpSpPr/>
          <p:nvPr/>
        </p:nvGrpSpPr>
        <p:grpSpPr>
          <a:xfrm>
            <a:off x="683568" y="4258631"/>
            <a:ext cx="7200800" cy="471077"/>
            <a:chOff x="899592" y="4429784"/>
            <a:chExt cx="7200800" cy="471077"/>
          </a:xfrm>
        </p:grpSpPr>
        <p:cxnSp>
          <p:nvCxnSpPr>
            <p:cNvPr id="22" name="Straight Arrow Connector 21">
              <a:extLst>
                <a:ext uri="{FF2B5EF4-FFF2-40B4-BE49-F238E27FC236}">
                  <a16:creationId xmlns:a16="http://schemas.microsoft.com/office/drawing/2014/main" id="{AFEB0DE4-1603-DF48-B4DC-5D59E8E1260C}"/>
                </a:ext>
              </a:extLst>
            </p:cNvPr>
            <p:cNvCxnSpPr>
              <a:cxnSpLocks/>
            </p:cNvCxnSpPr>
            <p:nvPr/>
          </p:nvCxnSpPr>
          <p:spPr>
            <a:xfrm>
              <a:off x="899592" y="4671667"/>
              <a:ext cx="72008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84624A15-A515-BC4B-A894-DB2C79D112C2}"/>
                </a:ext>
              </a:extLst>
            </p:cNvPr>
            <p:cNvSpPr/>
            <p:nvPr/>
          </p:nvSpPr>
          <p:spPr>
            <a:xfrm>
              <a:off x="1260445" y="4429784"/>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err="1">
                  <a:solidFill>
                    <a:schemeClr val="lt1"/>
                  </a:solidFill>
                </a:rPr>
                <a:t>J</a:t>
              </a:r>
              <a:r>
                <a:rPr lang="en-US" altLang="zh-CN" sz="1600" baseline="-25000" dirty="0" err="1">
                  <a:solidFill>
                    <a:schemeClr val="lt1"/>
                  </a:solidFill>
                </a:rPr>
                <a:t>data</a:t>
              </a:r>
              <a:endParaRPr lang="en-CN" sz="1600" baseline="-25000" dirty="0">
                <a:solidFill>
                  <a:schemeClr val="lt1"/>
                </a:solidFill>
              </a:endParaRPr>
            </a:p>
          </p:txBody>
        </p:sp>
        <p:sp>
          <p:nvSpPr>
            <p:cNvPr id="24" name="Rectangle 23">
              <a:extLst>
                <a:ext uri="{FF2B5EF4-FFF2-40B4-BE49-F238E27FC236}">
                  <a16:creationId xmlns:a16="http://schemas.microsoft.com/office/drawing/2014/main" id="{BB805EA7-91D3-1D4D-8710-9E25622F791E}"/>
                </a:ext>
              </a:extLst>
            </p:cNvPr>
            <p:cNvSpPr/>
            <p:nvPr/>
          </p:nvSpPr>
          <p:spPr>
            <a:xfrm>
              <a:off x="2560058" y="4439096"/>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25" name="Rectangle 24">
              <a:extLst>
                <a:ext uri="{FF2B5EF4-FFF2-40B4-BE49-F238E27FC236}">
                  <a16:creationId xmlns:a16="http://schemas.microsoft.com/office/drawing/2014/main" id="{A4DAFF4A-92DF-904A-B789-71DF58365289}"/>
                </a:ext>
              </a:extLst>
            </p:cNvPr>
            <p:cNvSpPr/>
            <p:nvPr/>
          </p:nvSpPr>
          <p:spPr>
            <a:xfrm>
              <a:off x="3856971" y="4439095"/>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26" name="Rectangle 25">
              <a:extLst>
                <a:ext uri="{FF2B5EF4-FFF2-40B4-BE49-F238E27FC236}">
                  <a16:creationId xmlns:a16="http://schemas.microsoft.com/office/drawing/2014/main" id="{61DBCA01-77BF-F64C-BD01-C7F83BB55B39}"/>
                </a:ext>
              </a:extLst>
            </p:cNvPr>
            <p:cNvSpPr/>
            <p:nvPr/>
          </p:nvSpPr>
          <p:spPr>
            <a:xfrm>
              <a:off x="6450797" y="4435561"/>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Metadata</a:t>
              </a:r>
              <a:endParaRPr lang="en-CN" sz="1600" dirty="0"/>
            </a:p>
          </p:txBody>
        </p:sp>
        <p:sp>
          <p:nvSpPr>
            <p:cNvPr id="27" name="Rectangle 26">
              <a:extLst>
                <a:ext uri="{FF2B5EF4-FFF2-40B4-BE49-F238E27FC236}">
                  <a16:creationId xmlns:a16="http://schemas.microsoft.com/office/drawing/2014/main" id="{1F5EC54F-A154-7F4F-92C5-F2F77DD1F05C}"/>
                </a:ext>
              </a:extLst>
            </p:cNvPr>
            <p:cNvSpPr/>
            <p:nvPr/>
          </p:nvSpPr>
          <p:spPr>
            <a:xfrm>
              <a:off x="5153884" y="4439094"/>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Data</a:t>
              </a:r>
              <a:endParaRPr lang="en-CN" sz="1600" dirty="0"/>
            </a:p>
          </p:txBody>
        </p:sp>
      </p:grpSp>
      <p:sp>
        <p:nvSpPr>
          <p:cNvPr id="31" name="TextBox 30">
            <a:extLst>
              <a:ext uri="{FF2B5EF4-FFF2-40B4-BE49-F238E27FC236}">
                <a16:creationId xmlns:a16="http://schemas.microsoft.com/office/drawing/2014/main" id="{AB8CA5C4-6522-D549-A49D-674B52A1C091}"/>
              </a:ext>
            </a:extLst>
          </p:cNvPr>
          <p:cNvSpPr txBox="1"/>
          <p:nvPr/>
        </p:nvSpPr>
        <p:spPr>
          <a:xfrm>
            <a:off x="539552" y="3759284"/>
            <a:ext cx="6211957" cy="369332"/>
          </a:xfrm>
          <a:prstGeom prst="rect">
            <a:avLst/>
          </a:prstGeom>
          <a:noFill/>
        </p:spPr>
        <p:txBody>
          <a:bodyPr wrap="none" rtlCol="0">
            <a:spAutoFit/>
          </a:bodyPr>
          <a:lstStyle/>
          <a:p>
            <a:r>
              <a:rPr lang="en-CN" b="1">
                <a:solidFill>
                  <a:schemeClr val="accent1"/>
                </a:solidFill>
              </a:rPr>
              <a:t>Journal</a:t>
            </a:r>
            <a:r>
              <a:rPr lang="zh-CN" altLang="en-US" b="1" dirty="0">
                <a:solidFill>
                  <a:schemeClr val="accent1"/>
                </a:solidFill>
              </a:rPr>
              <a:t> </a:t>
            </a:r>
            <a:r>
              <a:rPr lang="en-US" altLang="zh-CN" b="1" dirty="0">
                <a:solidFill>
                  <a:schemeClr val="accent1"/>
                </a:solidFill>
              </a:rPr>
              <a:t>Mode</a:t>
            </a:r>
            <a:r>
              <a:rPr lang="zh-CN" altLang="en-US" b="1" dirty="0">
                <a:solidFill>
                  <a:schemeClr val="accent1"/>
                </a:solidFill>
              </a:rPr>
              <a:t> </a:t>
            </a:r>
            <a:r>
              <a:rPr lang="en-US" altLang="zh-CN" b="1" dirty="0">
                <a:solidFill>
                  <a:schemeClr val="accent1"/>
                </a:solidFill>
              </a:rPr>
              <a:t>(Full</a:t>
            </a:r>
            <a:r>
              <a:rPr lang="zh-CN" altLang="en-US" b="1" dirty="0">
                <a:solidFill>
                  <a:schemeClr val="accent1"/>
                </a:solidFill>
              </a:rPr>
              <a:t> </a:t>
            </a:r>
            <a:r>
              <a:rPr lang="en-US" altLang="zh-CN" b="1" dirty="0">
                <a:solidFill>
                  <a:schemeClr val="accent1"/>
                </a:solidFill>
              </a:rPr>
              <a:t>Mode)</a:t>
            </a:r>
            <a:r>
              <a:rPr lang="zh-CN" altLang="en-US" dirty="0"/>
              <a:t>：元数据和数据均使用日志记录</a:t>
            </a:r>
            <a:endParaRPr lang="en-US" altLang="zh-CN" dirty="0"/>
          </a:p>
        </p:txBody>
      </p:sp>
      <p:sp>
        <p:nvSpPr>
          <p:cNvPr id="32" name="TextBox 31">
            <a:extLst>
              <a:ext uri="{FF2B5EF4-FFF2-40B4-BE49-F238E27FC236}">
                <a16:creationId xmlns:a16="http://schemas.microsoft.com/office/drawing/2014/main" id="{6754DF04-E47B-684A-B979-AE4A3FA89292}"/>
              </a:ext>
            </a:extLst>
          </p:cNvPr>
          <p:cNvSpPr txBox="1"/>
          <p:nvPr/>
        </p:nvSpPr>
        <p:spPr>
          <a:xfrm>
            <a:off x="539552" y="2468728"/>
            <a:ext cx="7192995" cy="369332"/>
          </a:xfrm>
          <a:prstGeom prst="rect">
            <a:avLst/>
          </a:prstGeom>
          <a:noFill/>
        </p:spPr>
        <p:txBody>
          <a:bodyPr wrap="none" rtlCol="0">
            <a:spAutoFit/>
          </a:bodyPr>
          <a:lstStyle/>
          <a:p>
            <a:r>
              <a:rPr lang="en-US" altLang="zh-CN" b="1" dirty="0">
                <a:solidFill>
                  <a:schemeClr val="accent1"/>
                </a:solidFill>
              </a:rPr>
              <a:t>Or</a:t>
            </a:r>
            <a:r>
              <a:rPr lang="en-CN" b="1">
                <a:solidFill>
                  <a:schemeClr val="accent1"/>
                </a:solidFill>
              </a:rPr>
              <a:t>dered</a:t>
            </a:r>
            <a:r>
              <a:rPr lang="zh-CN" altLang="en-US" b="1" dirty="0">
                <a:solidFill>
                  <a:schemeClr val="accent1"/>
                </a:solidFill>
              </a:rPr>
              <a:t> </a:t>
            </a:r>
            <a:r>
              <a:rPr lang="en-US" altLang="zh-CN" b="1" dirty="0">
                <a:solidFill>
                  <a:schemeClr val="accent1"/>
                </a:solidFill>
              </a:rPr>
              <a:t>Mode</a:t>
            </a:r>
            <a:r>
              <a:rPr lang="zh-CN" altLang="en-US" dirty="0"/>
              <a:t>：日志只记录元数据</a:t>
            </a:r>
            <a:r>
              <a:rPr lang="en-US" altLang="zh-CN" dirty="0"/>
              <a:t>+</a:t>
            </a:r>
            <a:r>
              <a:rPr lang="zh-CN" altLang="en-US" dirty="0"/>
              <a:t>数据块在元数据日志前写入磁盘</a:t>
            </a:r>
            <a:endParaRPr lang="en-US" altLang="zh-CN" dirty="0"/>
          </a:p>
        </p:txBody>
      </p:sp>
      <p:sp>
        <p:nvSpPr>
          <p:cNvPr id="33" name="TextBox 32">
            <a:extLst>
              <a:ext uri="{FF2B5EF4-FFF2-40B4-BE49-F238E27FC236}">
                <a16:creationId xmlns:a16="http://schemas.microsoft.com/office/drawing/2014/main" id="{156360C7-7B6A-F541-8DFA-3EF23856774F}"/>
              </a:ext>
            </a:extLst>
          </p:cNvPr>
          <p:cNvSpPr txBox="1"/>
          <p:nvPr/>
        </p:nvSpPr>
        <p:spPr>
          <a:xfrm>
            <a:off x="539552" y="1237905"/>
            <a:ext cx="4027706" cy="369332"/>
          </a:xfrm>
          <a:prstGeom prst="rect">
            <a:avLst/>
          </a:prstGeom>
          <a:noFill/>
        </p:spPr>
        <p:txBody>
          <a:bodyPr wrap="none" rtlCol="0">
            <a:spAutoFit/>
          </a:bodyPr>
          <a:lstStyle/>
          <a:p>
            <a:r>
              <a:rPr lang="en-CN" b="1">
                <a:solidFill>
                  <a:schemeClr val="accent1"/>
                </a:solidFill>
              </a:rPr>
              <a:t>Writeback</a:t>
            </a:r>
            <a:r>
              <a:rPr lang="zh-CN" altLang="en-US" b="1" dirty="0">
                <a:solidFill>
                  <a:schemeClr val="accent1"/>
                </a:solidFill>
              </a:rPr>
              <a:t> </a:t>
            </a:r>
            <a:r>
              <a:rPr lang="en-US" altLang="zh-CN" b="1" dirty="0">
                <a:solidFill>
                  <a:schemeClr val="accent1"/>
                </a:solidFill>
              </a:rPr>
              <a:t>Mode</a:t>
            </a:r>
            <a:r>
              <a:rPr lang="zh-CN" altLang="en-US" dirty="0"/>
              <a:t>：日志只记录元数据</a:t>
            </a:r>
            <a:endParaRPr lang="en-US" altLang="zh-CN" dirty="0"/>
          </a:p>
        </p:txBody>
      </p:sp>
      <p:sp>
        <p:nvSpPr>
          <p:cNvPr id="34" name="TextBox 33">
            <a:extLst>
              <a:ext uri="{FF2B5EF4-FFF2-40B4-BE49-F238E27FC236}">
                <a16:creationId xmlns:a16="http://schemas.microsoft.com/office/drawing/2014/main" id="{F36C12B5-A4A2-5E43-84D8-3A9562F4051F}"/>
              </a:ext>
            </a:extLst>
          </p:cNvPr>
          <p:cNvSpPr txBox="1"/>
          <p:nvPr/>
        </p:nvSpPr>
        <p:spPr>
          <a:xfrm>
            <a:off x="2267744" y="4873724"/>
            <a:ext cx="4963346" cy="400110"/>
          </a:xfrm>
          <a:prstGeom prst="rect">
            <a:avLst/>
          </a:prstGeom>
          <a:noFill/>
        </p:spPr>
        <p:txBody>
          <a:bodyPr wrap="square" rtlCol="0">
            <a:spAutoFit/>
          </a:bodyPr>
          <a:lstStyle/>
          <a:p>
            <a:r>
              <a:rPr lang="zh-CN" altLang="en-US" sz="2000" dirty="0">
                <a:solidFill>
                  <a:srgbClr val="C00000"/>
                </a:solidFill>
              </a:rPr>
              <a:t>思考一下：三种模式各自有何问题和优势？</a:t>
            </a:r>
            <a:endParaRPr lang="en-US" altLang="zh-CN" sz="2000" dirty="0">
              <a:solidFill>
                <a:srgbClr val="C00000"/>
              </a:solidFill>
            </a:endParaRPr>
          </a:p>
        </p:txBody>
      </p:sp>
    </p:spTree>
    <p:extLst>
      <p:ext uri="{BB962C8B-B14F-4D97-AF65-F5344CB8AC3E}">
        <p14:creationId xmlns:p14="http://schemas.microsoft.com/office/powerpoint/2010/main" val="1586185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1AE1A-ECA7-4240-9418-E65A408D66A4}"/>
              </a:ext>
            </a:extLst>
          </p:cNvPr>
          <p:cNvSpPr>
            <a:spLocks noGrp="1"/>
          </p:cNvSpPr>
          <p:nvPr>
            <p:ph type="title"/>
          </p:nvPr>
        </p:nvSpPr>
        <p:spPr/>
        <p:txBody>
          <a:bodyPr/>
          <a:lstStyle/>
          <a:p>
            <a:r>
              <a:rPr lang="en-CN" dirty="0"/>
              <a:t>Ext4</a:t>
            </a:r>
            <a:r>
              <a:rPr lang="zh-CN" altLang="en-US" dirty="0"/>
              <a:t>用</a:t>
            </a:r>
            <a:r>
              <a:rPr lang="en-US" altLang="zh-CN" dirty="0"/>
              <a:t>JBD2</a:t>
            </a:r>
            <a:r>
              <a:rPr lang="zh-CN" altLang="en-US" dirty="0"/>
              <a:t>实现的三种日志模式</a:t>
            </a:r>
            <a:endParaRPr lang="en-CN" dirty="0"/>
          </a:p>
        </p:txBody>
      </p:sp>
      <p:sp>
        <p:nvSpPr>
          <p:cNvPr id="4" name="Slide Number Placeholder 3">
            <a:extLst>
              <a:ext uri="{FF2B5EF4-FFF2-40B4-BE49-F238E27FC236}">
                <a16:creationId xmlns:a16="http://schemas.microsoft.com/office/drawing/2014/main" id="{F1B9628A-DB46-BF41-BA74-154AFCDC1114}"/>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5" name="Footer Placeholder 4">
            <a:extLst>
              <a:ext uri="{FF2B5EF4-FFF2-40B4-BE49-F238E27FC236}">
                <a16:creationId xmlns:a16="http://schemas.microsoft.com/office/drawing/2014/main" id="{409F728C-9F83-1343-87D2-E7BA8C0F316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37" name="Group 36">
            <a:extLst>
              <a:ext uri="{FF2B5EF4-FFF2-40B4-BE49-F238E27FC236}">
                <a16:creationId xmlns:a16="http://schemas.microsoft.com/office/drawing/2014/main" id="{A27E2ABF-6847-4547-B7C8-CB5FFF8B804F}"/>
              </a:ext>
            </a:extLst>
          </p:cNvPr>
          <p:cNvGrpSpPr/>
          <p:nvPr/>
        </p:nvGrpSpPr>
        <p:grpSpPr>
          <a:xfrm>
            <a:off x="683568" y="3018279"/>
            <a:ext cx="5832648" cy="461766"/>
            <a:chOff x="899592" y="3189432"/>
            <a:chExt cx="5832648" cy="461766"/>
          </a:xfrm>
        </p:grpSpPr>
        <p:cxnSp>
          <p:nvCxnSpPr>
            <p:cNvPr id="16" name="Straight Arrow Connector 15">
              <a:extLst>
                <a:ext uri="{FF2B5EF4-FFF2-40B4-BE49-F238E27FC236}">
                  <a16:creationId xmlns:a16="http://schemas.microsoft.com/office/drawing/2014/main" id="{D5DEC172-8D40-0648-8C86-FEF325C7505C}"/>
                </a:ext>
              </a:extLst>
            </p:cNvPr>
            <p:cNvCxnSpPr>
              <a:cxnSpLocks/>
            </p:cNvCxnSpPr>
            <p:nvPr/>
          </p:nvCxnSpPr>
          <p:spPr>
            <a:xfrm>
              <a:off x="899592" y="3433564"/>
              <a:ext cx="583264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9B2CD721-D63C-2444-95C1-FFC8EF080CCE}"/>
                </a:ext>
              </a:extLst>
            </p:cNvPr>
            <p:cNvSpPr/>
            <p:nvPr/>
          </p:nvSpPr>
          <p:spPr>
            <a:xfrm>
              <a:off x="1280785" y="3189433"/>
              <a:ext cx="1021824" cy="461765"/>
            </a:xfrm>
            <a:prstGeom prst="rect">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600" dirty="0"/>
                <a:t>Data</a:t>
              </a:r>
              <a:endParaRPr lang="en-CN" sz="1600" dirty="0"/>
            </a:p>
          </p:txBody>
        </p:sp>
        <p:sp>
          <p:nvSpPr>
            <p:cNvPr id="8" name="Rectangle 7">
              <a:extLst>
                <a:ext uri="{FF2B5EF4-FFF2-40B4-BE49-F238E27FC236}">
                  <a16:creationId xmlns:a16="http://schemas.microsoft.com/office/drawing/2014/main" id="{BD5F2C6E-9D82-2146-B475-64F56AE3DA4B}"/>
                </a:ext>
              </a:extLst>
            </p:cNvPr>
            <p:cNvSpPr/>
            <p:nvPr/>
          </p:nvSpPr>
          <p:spPr>
            <a:xfrm>
              <a:off x="2560058" y="3189432"/>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9" name="Rectangle 8">
              <a:extLst>
                <a:ext uri="{FF2B5EF4-FFF2-40B4-BE49-F238E27FC236}">
                  <a16:creationId xmlns:a16="http://schemas.microsoft.com/office/drawing/2014/main" id="{D202FF60-6D46-2C47-836B-0DC037C5515D}"/>
                </a:ext>
              </a:extLst>
            </p:cNvPr>
            <p:cNvSpPr/>
            <p:nvPr/>
          </p:nvSpPr>
          <p:spPr>
            <a:xfrm>
              <a:off x="3863212" y="3189432"/>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10" name="Rectangle 9">
              <a:extLst>
                <a:ext uri="{FF2B5EF4-FFF2-40B4-BE49-F238E27FC236}">
                  <a16:creationId xmlns:a16="http://schemas.microsoft.com/office/drawing/2014/main" id="{3CB0A68A-EB74-CC47-B7CD-FCCE4E2521F0}"/>
                </a:ext>
              </a:extLst>
            </p:cNvPr>
            <p:cNvSpPr/>
            <p:nvPr/>
          </p:nvSpPr>
          <p:spPr>
            <a:xfrm>
              <a:off x="5167587" y="3189432"/>
              <a:ext cx="1021824" cy="461765"/>
            </a:xfrm>
            <a:prstGeom prst="rect">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600" dirty="0"/>
                <a:t>Metadata</a:t>
              </a:r>
              <a:endParaRPr lang="en-CN" sz="1600" baseline="-25000" dirty="0"/>
            </a:p>
          </p:txBody>
        </p:sp>
      </p:grpSp>
      <p:grpSp>
        <p:nvGrpSpPr>
          <p:cNvPr id="38" name="Group 37">
            <a:extLst>
              <a:ext uri="{FF2B5EF4-FFF2-40B4-BE49-F238E27FC236}">
                <a16:creationId xmlns:a16="http://schemas.microsoft.com/office/drawing/2014/main" id="{EF6FEA65-369C-064B-8178-A88B4FF3F201}"/>
              </a:ext>
            </a:extLst>
          </p:cNvPr>
          <p:cNvGrpSpPr/>
          <p:nvPr/>
        </p:nvGrpSpPr>
        <p:grpSpPr>
          <a:xfrm>
            <a:off x="683568" y="1759303"/>
            <a:ext cx="8064896" cy="471077"/>
            <a:chOff x="899592" y="1930456"/>
            <a:chExt cx="8064896" cy="471077"/>
          </a:xfrm>
        </p:grpSpPr>
        <p:cxnSp>
          <p:nvCxnSpPr>
            <p:cNvPr id="20" name="Straight Arrow Connector 19">
              <a:extLst>
                <a:ext uri="{FF2B5EF4-FFF2-40B4-BE49-F238E27FC236}">
                  <a16:creationId xmlns:a16="http://schemas.microsoft.com/office/drawing/2014/main" id="{18211928-567A-D64D-9FA0-3CC0358B4721}"/>
                </a:ext>
              </a:extLst>
            </p:cNvPr>
            <p:cNvCxnSpPr>
              <a:cxnSpLocks/>
            </p:cNvCxnSpPr>
            <p:nvPr/>
          </p:nvCxnSpPr>
          <p:spPr>
            <a:xfrm>
              <a:off x="899592" y="2172339"/>
              <a:ext cx="806489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B3313BE0-658B-7540-8033-B57B3CC5BB91}"/>
                </a:ext>
              </a:extLst>
            </p:cNvPr>
            <p:cNvSpPr/>
            <p:nvPr/>
          </p:nvSpPr>
          <p:spPr>
            <a:xfrm>
              <a:off x="1260445" y="1930456"/>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sp>
          <p:nvSpPr>
            <p:cNvPr id="13" name="Rectangle 12">
              <a:extLst>
                <a:ext uri="{FF2B5EF4-FFF2-40B4-BE49-F238E27FC236}">
                  <a16:creationId xmlns:a16="http://schemas.microsoft.com/office/drawing/2014/main" id="{215D67BA-3088-6648-BD93-11EB0CAC1DD7}"/>
                </a:ext>
              </a:extLst>
            </p:cNvPr>
            <p:cNvSpPr/>
            <p:nvPr/>
          </p:nvSpPr>
          <p:spPr>
            <a:xfrm>
              <a:off x="2560058" y="1939768"/>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14" name="Rectangle 13">
              <a:extLst>
                <a:ext uri="{FF2B5EF4-FFF2-40B4-BE49-F238E27FC236}">
                  <a16:creationId xmlns:a16="http://schemas.microsoft.com/office/drawing/2014/main" id="{2E6BDD53-51D3-A442-BC44-253BD778C71B}"/>
                </a:ext>
              </a:extLst>
            </p:cNvPr>
            <p:cNvSpPr/>
            <p:nvPr/>
          </p:nvSpPr>
          <p:spPr>
            <a:xfrm>
              <a:off x="3856971" y="1939767"/>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15" name="Rectangle 14">
              <a:extLst>
                <a:ext uri="{FF2B5EF4-FFF2-40B4-BE49-F238E27FC236}">
                  <a16:creationId xmlns:a16="http://schemas.microsoft.com/office/drawing/2014/main" id="{713CEE3A-93EC-FC4E-A566-24F3B81AD7EE}"/>
                </a:ext>
              </a:extLst>
            </p:cNvPr>
            <p:cNvSpPr/>
            <p:nvPr/>
          </p:nvSpPr>
          <p:spPr>
            <a:xfrm>
              <a:off x="6450797" y="1936233"/>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Metadata</a:t>
              </a:r>
              <a:endParaRPr lang="en-CN" sz="1600" dirty="0"/>
            </a:p>
          </p:txBody>
        </p:sp>
        <p:sp>
          <p:nvSpPr>
            <p:cNvPr id="18" name="Rectangle 17">
              <a:extLst>
                <a:ext uri="{FF2B5EF4-FFF2-40B4-BE49-F238E27FC236}">
                  <a16:creationId xmlns:a16="http://schemas.microsoft.com/office/drawing/2014/main" id="{141CA90D-C400-1A44-A5CD-04FFD4F79A14}"/>
                </a:ext>
              </a:extLst>
            </p:cNvPr>
            <p:cNvSpPr/>
            <p:nvPr/>
          </p:nvSpPr>
          <p:spPr>
            <a:xfrm>
              <a:off x="5153884" y="1939766"/>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sp>
          <p:nvSpPr>
            <p:cNvPr id="19" name="Rectangle 18">
              <a:extLst>
                <a:ext uri="{FF2B5EF4-FFF2-40B4-BE49-F238E27FC236}">
                  <a16:creationId xmlns:a16="http://schemas.microsoft.com/office/drawing/2014/main" id="{C32AC8E5-D376-314C-B990-5BC8ADB2F6D6}"/>
                </a:ext>
              </a:extLst>
            </p:cNvPr>
            <p:cNvSpPr/>
            <p:nvPr/>
          </p:nvSpPr>
          <p:spPr>
            <a:xfrm>
              <a:off x="7747710" y="1932993"/>
              <a:ext cx="1021824" cy="461765"/>
            </a:xfrm>
            <a:prstGeom prst="rect">
              <a:avLst/>
            </a:prstGeom>
            <a:ln>
              <a:prstDash val="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dk1"/>
                  </a:solidFill>
                </a:rPr>
                <a:t>Data</a:t>
              </a:r>
              <a:endParaRPr lang="en-CN" sz="1600" dirty="0">
                <a:solidFill>
                  <a:schemeClr val="dk1"/>
                </a:solidFill>
              </a:endParaRPr>
            </a:p>
          </p:txBody>
        </p:sp>
      </p:grpSp>
      <p:grpSp>
        <p:nvGrpSpPr>
          <p:cNvPr id="36" name="Group 35">
            <a:extLst>
              <a:ext uri="{FF2B5EF4-FFF2-40B4-BE49-F238E27FC236}">
                <a16:creationId xmlns:a16="http://schemas.microsoft.com/office/drawing/2014/main" id="{9F20BACE-A23C-BC4F-95BF-04C4F6481571}"/>
              </a:ext>
            </a:extLst>
          </p:cNvPr>
          <p:cNvGrpSpPr/>
          <p:nvPr/>
        </p:nvGrpSpPr>
        <p:grpSpPr>
          <a:xfrm>
            <a:off x="683568" y="4258631"/>
            <a:ext cx="7200800" cy="471077"/>
            <a:chOff x="899592" y="4429784"/>
            <a:chExt cx="7200800" cy="471077"/>
          </a:xfrm>
        </p:grpSpPr>
        <p:cxnSp>
          <p:nvCxnSpPr>
            <p:cNvPr id="22" name="Straight Arrow Connector 21">
              <a:extLst>
                <a:ext uri="{FF2B5EF4-FFF2-40B4-BE49-F238E27FC236}">
                  <a16:creationId xmlns:a16="http://schemas.microsoft.com/office/drawing/2014/main" id="{AFEB0DE4-1603-DF48-B4DC-5D59E8E1260C}"/>
                </a:ext>
              </a:extLst>
            </p:cNvPr>
            <p:cNvCxnSpPr>
              <a:cxnSpLocks/>
            </p:cNvCxnSpPr>
            <p:nvPr/>
          </p:nvCxnSpPr>
          <p:spPr>
            <a:xfrm>
              <a:off x="899592" y="4671667"/>
              <a:ext cx="72008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84624A15-A515-BC4B-A894-DB2C79D112C2}"/>
                </a:ext>
              </a:extLst>
            </p:cNvPr>
            <p:cNvSpPr/>
            <p:nvPr/>
          </p:nvSpPr>
          <p:spPr>
            <a:xfrm>
              <a:off x="1260445" y="4429784"/>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err="1">
                  <a:solidFill>
                    <a:schemeClr val="lt1"/>
                  </a:solidFill>
                </a:rPr>
                <a:t>J</a:t>
              </a:r>
              <a:r>
                <a:rPr lang="en-US" altLang="zh-CN" sz="1600" baseline="-25000" dirty="0" err="1">
                  <a:solidFill>
                    <a:schemeClr val="lt1"/>
                  </a:solidFill>
                </a:rPr>
                <a:t>data</a:t>
              </a:r>
              <a:endParaRPr lang="en-CN" sz="1600" baseline="-25000" dirty="0">
                <a:solidFill>
                  <a:schemeClr val="lt1"/>
                </a:solidFill>
              </a:endParaRPr>
            </a:p>
          </p:txBody>
        </p:sp>
        <p:sp>
          <p:nvSpPr>
            <p:cNvPr id="24" name="Rectangle 23">
              <a:extLst>
                <a:ext uri="{FF2B5EF4-FFF2-40B4-BE49-F238E27FC236}">
                  <a16:creationId xmlns:a16="http://schemas.microsoft.com/office/drawing/2014/main" id="{BB805EA7-91D3-1D4D-8710-9E25622F791E}"/>
                </a:ext>
              </a:extLst>
            </p:cNvPr>
            <p:cNvSpPr/>
            <p:nvPr/>
          </p:nvSpPr>
          <p:spPr>
            <a:xfrm>
              <a:off x="2560058" y="4439096"/>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metadata</a:t>
              </a:r>
              <a:endParaRPr lang="en-CN" sz="1600" baseline="-25000" dirty="0"/>
            </a:p>
          </p:txBody>
        </p:sp>
        <p:sp>
          <p:nvSpPr>
            <p:cNvPr id="25" name="Rectangle 24">
              <a:extLst>
                <a:ext uri="{FF2B5EF4-FFF2-40B4-BE49-F238E27FC236}">
                  <a16:creationId xmlns:a16="http://schemas.microsoft.com/office/drawing/2014/main" id="{A4DAFF4A-92DF-904A-B789-71DF58365289}"/>
                </a:ext>
              </a:extLst>
            </p:cNvPr>
            <p:cNvSpPr/>
            <p:nvPr/>
          </p:nvSpPr>
          <p:spPr>
            <a:xfrm>
              <a:off x="3856971" y="4439095"/>
              <a:ext cx="1021824" cy="46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CN" sz="1600" dirty="0"/>
                <a:t>J</a:t>
              </a:r>
              <a:r>
                <a:rPr lang="en-US" altLang="zh-CN" sz="1600" baseline="-25000" dirty="0"/>
                <a:t>commit</a:t>
              </a:r>
              <a:endParaRPr lang="en-CN" sz="1600" baseline="-25000" dirty="0"/>
            </a:p>
          </p:txBody>
        </p:sp>
        <p:sp>
          <p:nvSpPr>
            <p:cNvPr id="26" name="Rectangle 25">
              <a:extLst>
                <a:ext uri="{FF2B5EF4-FFF2-40B4-BE49-F238E27FC236}">
                  <a16:creationId xmlns:a16="http://schemas.microsoft.com/office/drawing/2014/main" id="{61DBCA01-77BF-F64C-BD01-C7F83BB55B39}"/>
                </a:ext>
              </a:extLst>
            </p:cNvPr>
            <p:cNvSpPr/>
            <p:nvPr/>
          </p:nvSpPr>
          <p:spPr>
            <a:xfrm>
              <a:off x="6450797" y="4435561"/>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Metadata</a:t>
              </a:r>
              <a:endParaRPr lang="en-CN" sz="1600" dirty="0"/>
            </a:p>
          </p:txBody>
        </p:sp>
        <p:sp>
          <p:nvSpPr>
            <p:cNvPr id="27" name="Rectangle 26">
              <a:extLst>
                <a:ext uri="{FF2B5EF4-FFF2-40B4-BE49-F238E27FC236}">
                  <a16:creationId xmlns:a16="http://schemas.microsoft.com/office/drawing/2014/main" id="{1F5EC54F-A154-7F4F-92C5-F2F77DD1F05C}"/>
                </a:ext>
              </a:extLst>
            </p:cNvPr>
            <p:cNvSpPr/>
            <p:nvPr/>
          </p:nvSpPr>
          <p:spPr>
            <a:xfrm>
              <a:off x="5153884" y="4439094"/>
              <a:ext cx="1021824" cy="461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600" dirty="0"/>
                <a:t>Data</a:t>
              </a:r>
              <a:endParaRPr lang="en-CN" sz="1600" dirty="0"/>
            </a:p>
          </p:txBody>
        </p:sp>
      </p:grpSp>
      <p:sp>
        <p:nvSpPr>
          <p:cNvPr id="31" name="TextBox 30">
            <a:extLst>
              <a:ext uri="{FF2B5EF4-FFF2-40B4-BE49-F238E27FC236}">
                <a16:creationId xmlns:a16="http://schemas.microsoft.com/office/drawing/2014/main" id="{AB8CA5C4-6522-D549-A49D-674B52A1C091}"/>
              </a:ext>
            </a:extLst>
          </p:cNvPr>
          <p:cNvSpPr txBox="1"/>
          <p:nvPr/>
        </p:nvSpPr>
        <p:spPr>
          <a:xfrm>
            <a:off x="539552" y="3759284"/>
            <a:ext cx="4916731" cy="369332"/>
          </a:xfrm>
          <a:prstGeom prst="rect">
            <a:avLst/>
          </a:prstGeom>
          <a:noFill/>
        </p:spPr>
        <p:txBody>
          <a:bodyPr wrap="none" rtlCol="0">
            <a:spAutoFit/>
          </a:bodyPr>
          <a:lstStyle/>
          <a:p>
            <a:r>
              <a:rPr lang="en-CN" b="1">
                <a:solidFill>
                  <a:schemeClr val="accent1"/>
                </a:solidFill>
              </a:rPr>
              <a:t>Journal</a:t>
            </a:r>
            <a:r>
              <a:rPr lang="zh-CN" altLang="en-US" b="1" dirty="0">
                <a:solidFill>
                  <a:schemeClr val="accent1"/>
                </a:solidFill>
              </a:rPr>
              <a:t> </a:t>
            </a:r>
            <a:r>
              <a:rPr lang="en-US" altLang="zh-CN" b="1" dirty="0">
                <a:solidFill>
                  <a:schemeClr val="accent1"/>
                </a:solidFill>
              </a:rPr>
              <a:t>Mode</a:t>
            </a:r>
            <a:r>
              <a:rPr lang="zh-CN" altLang="en-US" dirty="0"/>
              <a:t>：元数据和数据均使用日志记录</a:t>
            </a:r>
            <a:endParaRPr lang="en-US" altLang="zh-CN" dirty="0"/>
          </a:p>
        </p:txBody>
      </p:sp>
      <p:sp>
        <p:nvSpPr>
          <p:cNvPr id="32" name="TextBox 31">
            <a:extLst>
              <a:ext uri="{FF2B5EF4-FFF2-40B4-BE49-F238E27FC236}">
                <a16:creationId xmlns:a16="http://schemas.microsoft.com/office/drawing/2014/main" id="{6754DF04-E47B-684A-B979-AE4A3FA89292}"/>
              </a:ext>
            </a:extLst>
          </p:cNvPr>
          <p:cNvSpPr txBox="1"/>
          <p:nvPr/>
        </p:nvSpPr>
        <p:spPr>
          <a:xfrm>
            <a:off x="539552" y="2468728"/>
            <a:ext cx="7192995" cy="369332"/>
          </a:xfrm>
          <a:prstGeom prst="rect">
            <a:avLst/>
          </a:prstGeom>
          <a:noFill/>
        </p:spPr>
        <p:txBody>
          <a:bodyPr wrap="none" rtlCol="0">
            <a:spAutoFit/>
          </a:bodyPr>
          <a:lstStyle/>
          <a:p>
            <a:r>
              <a:rPr lang="en-US" altLang="zh-CN" b="1" dirty="0">
                <a:solidFill>
                  <a:schemeClr val="accent1"/>
                </a:solidFill>
              </a:rPr>
              <a:t>Or</a:t>
            </a:r>
            <a:r>
              <a:rPr lang="en-CN" b="1">
                <a:solidFill>
                  <a:schemeClr val="accent1"/>
                </a:solidFill>
              </a:rPr>
              <a:t>dered</a:t>
            </a:r>
            <a:r>
              <a:rPr lang="zh-CN" altLang="en-US" b="1" dirty="0">
                <a:solidFill>
                  <a:schemeClr val="accent1"/>
                </a:solidFill>
              </a:rPr>
              <a:t> </a:t>
            </a:r>
            <a:r>
              <a:rPr lang="en-US" altLang="zh-CN" b="1" dirty="0">
                <a:solidFill>
                  <a:schemeClr val="accent1"/>
                </a:solidFill>
              </a:rPr>
              <a:t>Mode</a:t>
            </a:r>
            <a:r>
              <a:rPr lang="zh-CN" altLang="en-US" dirty="0"/>
              <a:t>：日志只记录元数据</a:t>
            </a:r>
            <a:r>
              <a:rPr lang="en-US" altLang="zh-CN" dirty="0"/>
              <a:t>+</a:t>
            </a:r>
            <a:r>
              <a:rPr lang="zh-CN" altLang="en-US" dirty="0"/>
              <a:t>数据块在元数据日志前写入磁盘</a:t>
            </a:r>
            <a:endParaRPr lang="en-US" altLang="zh-CN" dirty="0"/>
          </a:p>
        </p:txBody>
      </p:sp>
      <p:sp>
        <p:nvSpPr>
          <p:cNvPr id="33" name="TextBox 32">
            <a:extLst>
              <a:ext uri="{FF2B5EF4-FFF2-40B4-BE49-F238E27FC236}">
                <a16:creationId xmlns:a16="http://schemas.microsoft.com/office/drawing/2014/main" id="{156360C7-7B6A-F541-8DFA-3EF23856774F}"/>
              </a:ext>
            </a:extLst>
          </p:cNvPr>
          <p:cNvSpPr txBox="1"/>
          <p:nvPr/>
        </p:nvSpPr>
        <p:spPr>
          <a:xfrm>
            <a:off x="539552" y="1237905"/>
            <a:ext cx="4027706" cy="369332"/>
          </a:xfrm>
          <a:prstGeom prst="rect">
            <a:avLst/>
          </a:prstGeom>
          <a:noFill/>
        </p:spPr>
        <p:txBody>
          <a:bodyPr wrap="none" rtlCol="0">
            <a:spAutoFit/>
          </a:bodyPr>
          <a:lstStyle/>
          <a:p>
            <a:r>
              <a:rPr lang="en-CN" b="1">
                <a:solidFill>
                  <a:schemeClr val="accent1"/>
                </a:solidFill>
              </a:rPr>
              <a:t>Writeback</a:t>
            </a:r>
            <a:r>
              <a:rPr lang="zh-CN" altLang="en-US" b="1" dirty="0">
                <a:solidFill>
                  <a:schemeClr val="accent1"/>
                </a:solidFill>
              </a:rPr>
              <a:t> </a:t>
            </a:r>
            <a:r>
              <a:rPr lang="en-US" altLang="zh-CN" b="1" dirty="0">
                <a:solidFill>
                  <a:schemeClr val="accent1"/>
                </a:solidFill>
              </a:rPr>
              <a:t>Mode</a:t>
            </a:r>
            <a:r>
              <a:rPr lang="zh-CN" altLang="en-US" dirty="0"/>
              <a:t>：日志只记录元数据</a:t>
            </a:r>
            <a:endParaRPr lang="en-US" altLang="zh-CN" dirty="0"/>
          </a:p>
        </p:txBody>
      </p:sp>
      <p:sp>
        <p:nvSpPr>
          <p:cNvPr id="34" name="TextBox 33">
            <a:extLst>
              <a:ext uri="{FF2B5EF4-FFF2-40B4-BE49-F238E27FC236}">
                <a16:creationId xmlns:a16="http://schemas.microsoft.com/office/drawing/2014/main" id="{F36C12B5-A4A2-5E43-84D8-3A9562F4051F}"/>
              </a:ext>
            </a:extLst>
          </p:cNvPr>
          <p:cNvSpPr txBox="1"/>
          <p:nvPr/>
        </p:nvSpPr>
        <p:spPr>
          <a:xfrm>
            <a:off x="2267744" y="4873724"/>
            <a:ext cx="4963346" cy="400110"/>
          </a:xfrm>
          <a:prstGeom prst="rect">
            <a:avLst/>
          </a:prstGeom>
          <a:noFill/>
        </p:spPr>
        <p:txBody>
          <a:bodyPr wrap="square" rtlCol="0">
            <a:spAutoFit/>
          </a:bodyPr>
          <a:lstStyle/>
          <a:p>
            <a:r>
              <a:rPr lang="zh-CN" altLang="en-US" sz="2000" dirty="0">
                <a:solidFill>
                  <a:srgbClr val="C00000"/>
                </a:solidFill>
              </a:rPr>
              <a:t>思考一下：三种模式各自有何问题和优势？</a:t>
            </a:r>
            <a:endParaRPr lang="en-US" altLang="zh-CN" sz="2000" dirty="0">
              <a:solidFill>
                <a:srgbClr val="C00000"/>
              </a:solidFill>
            </a:endParaRPr>
          </a:p>
        </p:txBody>
      </p:sp>
      <p:sp>
        <p:nvSpPr>
          <p:cNvPr id="30" name="TextBox 38">
            <a:extLst>
              <a:ext uri="{FF2B5EF4-FFF2-40B4-BE49-F238E27FC236}">
                <a16:creationId xmlns:a16="http://schemas.microsoft.com/office/drawing/2014/main" id="{0EE960F3-B398-6E48-9422-8E7B89FEEEA2}"/>
              </a:ext>
            </a:extLst>
          </p:cNvPr>
          <p:cNvSpPr txBox="1"/>
          <p:nvPr/>
        </p:nvSpPr>
        <p:spPr>
          <a:xfrm>
            <a:off x="5476160" y="3734502"/>
            <a:ext cx="3416320"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highlight>
                  <a:srgbClr val="FFFF00"/>
                </a:highlight>
              </a:rPr>
              <a:t>一致性最好，但数据写入两次！</a:t>
            </a:r>
            <a:endParaRPr lang="en-CN" dirty="0">
              <a:highlight>
                <a:srgbClr val="FFFF00"/>
              </a:highlight>
            </a:endParaRPr>
          </a:p>
        </p:txBody>
      </p:sp>
      <p:sp>
        <p:nvSpPr>
          <p:cNvPr id="35" name="TextBox 39">
            <a:extLst>
              <a:ext uri="{FF2B5EF4-FFF2-40B4-BE49-F238E27FC236}">
                <a16:creationId xmlns:a16="http://schemas.microsoft.com/office/drawing/2014/main" id="{EA7EF5E3-B8C6-D244-8D33-CF7F045121D3}"/>
              </a:ext>
            </a:extLst>
          </p:cNvPr>
          <p:cNvSpPr txBox="1"/>
          <p:nvPr/>
        </p:nvSpPr>
        <p:spPr>
          <a:xfrm>
            <a:off x="7784484" y="2465812"/>
            <a:ext cx="1107996"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CN" dirty="0">
                <a:highlight>
                  <a:srgbClr val="FFFF00"/>
                </a:highlight>
              </a:rPr>
              <a:t>默认</a:t>
            </a:r>
            <a:r>
              <a:rPr lang="zh-CN" altLang="en-US" dirty="0">
                <a:highlight>
                  <a:srgbClr val="FFFF00"/>
                </a:highlight>
              </a:rPr>
              <a:t>模式</a:t>
            </a:r>
            <a:endParaRPr lang="en-CN" dirty="0">
              <a:highlight>
                <a:srgbClr val="FFFF00"/>
              </a:highlight>
            </a:endParaRPr>
          </a:p>
        </p:txBody>
      </p:sp>
      <p:sp>
        <p:nvSpPr>
          <p:cNvPr id="39" name="TextBox 40">
            <a:extLst>
              <a:ext uri="{FF2B5EF4-FFF2-40B4-BE49-F238E27FC236}">
                <a16:creationId xmlns:a16="http://schemas.microsoft.com/office/drawing/2014/main" id="{53A6FACA-AAB7-5447-ACCD-CD74510B45D2}"/>
              </a:ext>
            </a:extLst>
          </p:cNvPr>
          <p:cNvSpPr txBox="1"/>
          <p:nvPr/>
        </p:nvSpPr>
        <p:spPr>
          <a:xfrm>
            <a:off x="6168657" y="1201316"/>
            <a:ext cx="2723823"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highlight>
                  <a:srgbClr val="FFFF00"/>
                </a:highlight>
              </a:rPr>
              <a:t>最快，但是一致性最差！</a:t>
            </a:r>
            <a:endParaRPr lang="en-CN" dirty="0">
              <a:highlight>
                <a:srgbClr val="FFFF00"/>
              </a:highlight>
            </a:endParaRPr>
          </a:p>
        </p:txBody>
      </p:sp>
    </p:spTree>
    <p:extLst>
      <p:ext uri="{BB962C8B-B14F-4D97-AF65-F5344CB8AC3E}">
        <p14:creationId xmlns:p14="http://schemas.microsoft.com/office/powerpoint/2010/main" val="1910985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411EF9-0EAC-1E43-B421-E48C6146823B}"/>
              </a:ext>
            </a:extLst>
          </p:cNvPr>
          <p:cNvSpPr>
            <a:spLocks noGrp="1"/>
          </p:cNvSpPr>
          <p:nvPr>
            <p:ph type="title"/>
          </p:nvPr>
        </p:nvSpPr>
        <p:spPr/>
        <p:txBody>
          <a:bodyPr/>
          <a:lstStyle/>
          <a:p>
            <a:r>
              <a:rPr kumimoji="1" lang="en-US" altLang="zh-CN" dirty="0"/>
              <a:t>Ordered</a:t>
            </a:r>
            <a:r>
              <a:rPr kumimoji="1" lang="zh-CN" altLang="en-US" dirty="0"/>
              <a:t> </a:t>
            </a:r>
            <a:r>
              <a:rPr kumimoji="1" lang="en-US" altLang="zh-CN" dirty="0"/>
              <a:t>Mode</a:t>
            </a:r>
            <a:endParaRPr kumimoji="1" lang="zh-CN" altLang="en-US" dirty="0"/>
          </a:p>
        </p:txBody>
      </p:sp>
      <p:sp>
        <p:nvSpPr>
          <p:cNvPr id="3" name="内容占位符 2">
            <a:extLst>
              <a:ext uri="{FF2B5EF4-FFF2-40B4-BE49-F238E27FC236}">
                <a16:creationId xmlns:a16="http://schemas.microsoft.com/office/drawing/2014/main" id="{DC835125-86BE-0A4E-A8E4-D0EF902EBDAA}"/>
              </a:ext>
            </a:extLst>
          </p:cNvPr>
          <p:cNvSpPr>
            <a:spLocks noGrp="1"/>
          </p:cNvSpPr>
          <p:nvPr>
            <p:ph idx="1"/>
          </p:nvPr>
        </p:nvSpPr>
        <p:spPr/>
        <p:txBody>
          <a:bodyPr/>
          <a:lstStyle/>
          <a:p>
            <a:r>
              <a:rPr kumimoji="1" lang="zh-CN" altLang="en-US" dirty="0"/>
              <a:t>权衡一致性和性能</a:t>
            </a:r>
            <a:endParaRPr kumimoji="1" lang="en-US" altLang="zh-CN" dirty="0"/>
          </a:p>
          <a:p>
            <a:pPr lvl="1"/>
            <a:r>
              <a:rPr kumimoji="1" lang="zh-CN" altLang="en-US" dirty="0"/>
              <a:t>数据的数量大，只需要写入一次</a:t>
            </a:r>
            <a:endParaRPr kumimoji="1" lang="en-US" altLang="zh-CN" dirty="0"/>
          </a:p>
          <a:p>
            <a:pPr lvl="1"/>
            <a:r>
              <a:rPr kumimoji="1" lang="zh-CN" altLang="en-US" dirty="0"/>
              <a:t>元数据的数量少，写入两次相对可接受</a:t>
            </a:r>
            <a:endParaRPr kumimoji="1" lang="en-US" altLang="zh-CN" dirty="0"/>
          </a:p>
          <a:p>
            <a:r>
              <a:rPr kumimoji="1" lang="zh-CN" altLang="en-US" dirty="0"/>
              <a:t>可能出现的问题</a:t>
            </a:r>
            <a:endParaRPr kumimoji="1" lang="en-US" altLang="zh-CN" dirty="0"/>
          </a:p>
          <a:p>
            <a:pPr lvl="1"/>
            <a:r>
              <a:rPr kumimoji="1" lang="zh-CN" altLang="en-US" dirty="0"/>
              <a:t>数据只有一份，若出现问题无法回退（</a:t>
            </a:r>
            <a:r>
              <a:rPr kumimoji="1" lang="en-US" altLang="zh-CN" dirty="0"/>
              <a:t>all-or-nothing</a:t>
            </a:r>
            <a:r>
              <a:rPr kumimoji="1" lang="zh-CN" altLang="en-US" dirty="0"/>
              <a:t>）</a:t>
            </a:r>
            <a:endParaRPr kumimoji="1" lang="en-US" altLang="zh-CN" dirty="0"/>
          </a:p>
          <a:p>
            <a:pPr lvl="1"/>
            <a:r>
              <a:rPr kumimoji="1" lang="zh-CN" altLang="en-US" dirty="0"/>
              <a:t>部分情况下，一致性还是可以保证的（如新增数据时）</a:t>
            </a:r>
            <a:endParaRPr kumimoji="1" lang="en-US" altLang="zh-CN" dirty="0"/>
          </a:p>
          <a:p>
            <a:pPr lvl="1"/>
            <a:r>
              <a:rPr kumimoji="1" lang="zh-CN" altLang="en-US" dirty="0"/>
              <a:t>部分情况下，数据会丢失，但元数据依然可以保证一致性</a:t>
            </a:r>
            <a:endParaRPr kumimoji="1" lang="en-US" altLang="zh-CN" dirty="0"/>
          </a:p>
        </p:txBody>
      </p:sp>
      <p:sp>
        <p:nvSpPr>
          <p:cNvPr id="4" name="灯片编号占位符 3">
            <a:extLst>
              <a:ext uri="{FF2B5EF4-FFF2-40B4-BE49-F238E27FC236}">
                <a16:creationId xmlns:a16="http://schemas.microsoft.com/office/drawing/2014/main" id="{DB0D0B66-2D33-594D-93F2-C6BF26DBD2B0}"/>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页脚占位符 4">
            <a:extLst>
              <a:ext uri="{FF2B5EF4-FFF2-40B4-BE49-F238E27FC236}">
                <a16:creationId xmlns:a16="http://schemas.microsoft.com/office/drawing/2014/main" id="{B774D2DB-9AA7-164C-9811-7F19C0C6A96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13504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4903B02-6CCD-3E4C-A639-ED21C46DFFB4}"/>
              </a:ext>
            </a:extLst>
          </p:cNvPr>
          <p:cNvSpPr>
            <a:spLocks noGrp="1"/>
          </p:cNvSpPr>
          <p:nvPr>
            <p:ph type="title"/>
          </p:nvPr>
        </p:nvSpPr>
        <p:spPr/>
        <p:txBody>
          <a:bodyPr/>
          <a:lstStyle/>
          <a:p>
            <a:r>
              <a:rPr lang="zh-CN" altLang="en-US" dirty="0"/>
              <a:t>写时复制</a:t>
            </a:r>
            <a:endParaRPr lang="en-CN" dirty="0"/>
          </a:p>
        </p:txBody>
      </p:sp>
      <p:sp>
        <p:nvSpPr>
          <p:cNvPr id="7" name="Text Placeholder 6">
            <a:extLst>
              <a:ext uri="{FF2B5EF4-FFF2-40B4-BE49-F238E27FC236}">
                <a16:creationId xmlns:a16="http://schemas.microsoft.com/office/drawing/2014/main" id="{89A731E1-E425-464E-A31C-FF1F3A37BD9C}"/>
              </a:ext>
            </a:extLst>
          </p:cNvPr>
          <p:cNvSpPr>
            <a:spLocks noGrp="1"/>
          </p:cNvSpPr>
          <p:nvPr>
            <p:ph type="body" idx="1"/>
          </p:nvPr>
        </p:nvSpPr>
        <p:spPr/>
        <p:txBody>
          <a:bodyPr/>
          <a:lstStyle/>
          <a:p>
            <a:r>
              <a:rPr lang="zh-CN" altLang="en-US" dirty="0"/>
              <a:t>原子更新技术：</a:t>
            </a:r>
            <a:r>
              <a:rPr lang="en-US" altLang="zh-CN" dirty="0"/>
              <a:t>Copy-on-Write</a:t>
            </a:r>
            <a:endParaRPr lang="en-CN" dirty="0"/>
          </a:p>
        </p:txBody>
      </p:sp>
      <p:sp>
        <p:nvSpPr>
          <p:cNvPr id="4" name="Slide Number Placeholder 3">
            <a:extLst>
              <a:ext uri="{FF2B5EF4-FFF2-40B4-BE49-F238E27FC236}">
                <a16:creationId xmlns:a16="http://schemas.microsoft.com/office/drawing/2014/main" id="{29A1D26C-AC99-CB47-8E04-4263D6DE49CF}"/>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Footer Placeholder 4">
            <a:extLst>
              <a:ext uri="{FF2B5EF4-FFF2-40B4-BE49-F238E27FC236}">
                <a16:creationId xmlns:a16="http://schemas.microsoft.com/office/drawing/2014/main" id="{F46A734B-CDA0-5144-B3F7-87F5910CE08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880447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BDB96-09E1-A84B-8C99-7D80BD616E24}"/>
              </a:ext>
            </a:extLst>
          </p:cNvPr>
          <p:cNvSpPr>
            <a:spLocks noGrp="1"/>
          </p:cNvSpPr>
          <p:nvPr>
            <p:ph type="title"/>
          </p:nvPr>
        </p:nvSpPr>
        <p:spPr/>
        <p:txBody>
          <a:bodyPr/>
          <a:lstStyle/>
          <a:p>
            <a:r>
              <a:rPr lang="zh-CN" altLang="en-CN" dirty="0"/>
              <a:t>写时复制</a:t>
            </a:r>
            <a:r>
              <a:rPr lang="zh-CN" altLang="en-US" dirty="0"/>
              <a:t>（</a:t>
            </a:r>
            <a:r>
              <a:rPr lang="en-US" altLang="zh-CN" dirty="0"/>
              <a:t>Copy-on-Write</a:t>
            </a:r>
            <a:r>
              <a:rPr lang="zh-CN" altLang="en-US" dirty="0"/>
              <a:t>）</a:t>
            </a:r>
            <a:endParaRPr lang="en-CN" dirty="0"/>
          </a:p>
        </p:txBody>
      </p:sp>
      <p:sp>
        <p:nvSpPr>
          <p:cNvPr id="3" name="Content Placeholder 2">
            <a:extLst>
              <a:ext uri="{FF2B5EF4-FFF2-40B4-BE49-F238E27FC236}">
                <a16:creationId xmlns:a16="http://schemas.microsoft.com/office/drawing/2014/main" id="{9000C73B-B248-0A4C-90E5-5158788277C4}"/>
              </a:ext>
            </a:extLst>
          </p:cNvPr>
          <p:cNvSpPr>
            <a:spLocks noGrp="1"/>
          </p:cNvSpPr>
          <p:nvPr>
            <p:ph idx="1"/>
          </p:nvPr>
        </p:nvSpPr>
        <p:spPr/>
        <p:txBody>
          <a:bodyPr/>
          <a:lstStyle/>
          <a:p>
            <a:r>
              <a:rPr lang="zh-CN" altLang="en-US" sz="2000" b="0" dirty="0"/>
              <a:t>在修改多个数据时，不直接修改数据，而是将数据复制一份，在复制上进行修改，并通过递归的方法将修改变成原子操作</a:t>
            </a:r>
            <a:endParaRPr lang="en-US" altLang="zh-CN" sz="2000" b="0" dirty="0"/>
          </a:p>
          <a:p>
            <a:r>
              <a:rPr lang="zh-CN" altLang="en-US" sz="2000" b="0" dirty="0"/>
              <a:t>常用于树状结构</a:t>
            </a:r>
            <a:endParaRPr lang="en-US" altLang="zh-CN" sz="2000" b="0" dirty="0"/>
          </a:p>
          <a:p>
            <a:endParaRPr lang="en-CN" dirty="0"/>
          </a:p>
        </p:txBody>
      </p:sp>
      <p:sp>
        <p:nvSpPr>
          <p:cNvPr id="4" name="Slide Number Placeholder 3">
            <a:extLst>
              <a:ext uri="{FF2B5EF4-FFF2-40B4-BE49-F238E27FC236}">
                <a16:creationId xmlns:a16="http://schemas.microsoft.com/office/drawing/2014/main" id="{7D954BB9-3B5C-014E-9198-7AFC9734C416}"/>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Footer Placeholder 4">
            <a:extLst>
              <a:ext uri="{FF2B5EF4-FFF2-40B4-BE49-F238E27FC236}">
                <a16:creationId xmlns:a16="http://schemas.microsoft.com/office/drawing/2014/main" id="{FC9EC982-13FD-F740-B1F1-2BB961FE0C7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11983416-A93A-BD4C-836C-DC0C82044113}"/>
              </a:ext>
            </a:extLst>
          </p:cNvPr>
          <p:cNvSpPr/>
          <p:nvPr/>
        </p:nvSpPr>
        <p:spPr>
          <a:xfrm>
            <a:off x="1675895" y="3060967"/>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A</a:t>
            </a:r>
          </a:p>
        </p:txBody>
      </p:sp>
      <p:sp>
        <p:nvSpPr>
          <p:cNvPr id="7" name="Rectangle 6">
            <a:extLst>
              <a:ext uri="{FF2B5EF4-FFF2-40B4-BE49-F238E27FC236}">
                <a16:creationId xmlns:a16="http://schemas.microsoft.com/office/drawing/2014/main" id="{19D8E826-425C-F048-B19B-867BC4F60670}"/>
              </a:ext>
            </a:extLst>
          </p:cNvPr>
          <p:cNvSpPr/>
          <p:nvPr/>
        </p:nvSpPr>
        <p:spPr>
          <a:xfrm>
            <a:off x="1112709" y="373261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8" name="Rectangle 7">
            <a:extLst>
              <a:ext uri="{FF2B5EF4-FFF2-40B4-BE49-F238E27FC236}">
                <a16:creationId xmlns:a16="http://schemas.microsoft.com/office/drawing/2014/main" id="{A1703A12-2468-9B4B-9055-883A8B495B4E}"/>
              </a:ext>
            </a:extLst>
          </p:cNvPr>
          <p:cNvSpPr/>
          <p:nvPr/>
        </p:nvSpPr>
        <p:spPr>
          <a:xfrm>
            <a:off x="2337916" y="373261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9" name="Rectangle 8">
            <a:extLst>
              <a:ext uri="{FF2B5EF4-FFF2-40B4-BE49-F238E27FC236}">
                <a16:creationId xmlns:a16="http://schemas.microsoft.com/office/drawing/2014/main" id="{B5361CEF-2BE6-9644-9DB2-9F70B5DAA663}"/>
              </a:ext>
            </a:extLst>
          </p:cNvPr>
          <p:cNvSpPr/>
          <p:nvPr/>
        </p:nvSpPr>
        <p:spPr>
          <a:xfrm>
            <a:off x="548985" y="444615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D</a:t>
            </a:r>
          </a:p>
        </p:txBody>
      </p:sp>
      <p:sp>
        <p:nvSpPr>
          <p:cNvPr id="10" name="Rectangle 9">
            <a:extLst>
              <a:ext uri="{FF2B5EF4-FFF2-40B4-BE49-F238E27FC236}">
                <a16:creationId xmlns:a16="http://schemas.microsoft.com/office/drawing/2014/main" id="{DD3B22C0-405B-8D4D-8A55-47FFCE2421A2}"/>
              </a:ext>
            </a:extLst>
          </p:cNvPr>
          <p:cNvSpPr/>
          <p:nvPr/>
        </p:nvSpPr>
        <p:spPr>
          <a:xfrm>
            <a:off x="1390627" y="444615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11" name="Rectangle 10">
            <a:extLst>
              <a:ext uri="{FF2B5EF4-FFF2-40B4-BE49-F238E27FC236}">
                <a16:creationId xmlns:a16="http://schemas.microsoft.com/office/drawing/2014/main" id="{EB551A6D-B589-E442-93D7-4261BE58B102}"/>
              </a:ext>
            </a:extLst>
          </p:cNvPr>
          <p:cNvSpPr/>
          <p:nvPr/>
        </p:nvSpPr>
        <p:spPr>
          <a:xfrm>
            <a:off x="2179418" y="4447009"/>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F</a:t>
            </a:r>
            <a:endParaRPr lang="en-CN" dirty="0"/>
          </a:p>
        </p:txBody>
      </p:sp>
      <p:sp>
        <p:nvSpPr>
          <p:cNvPr id="12" name="Rectangle 11">
            <a:extLst>
              <a:ext uri="{FF2B5EF4-FFF2-40B4-BE49-F238E27FC236}">
                <a16:creationId xmlns:a16="http://schemas.microsoft.com/office/drawing/2014/main" id="{D1D452C7-BD7F-704D-88A8-B36BD4672843}"/>
              </a:ext>
            </a:extLst>
          </p:cNvPr>
          <p:cNvSpPr/>
          <p:nvPr/>
        </p:nvSpPr>
        <p:spPr>
          <a:xfrm>
            <a:off x="2932985" y="444615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cxnSp>
        <p:nvCxnSpPr>
          <p:cNvPr id="14" name="Straight Arrow Connector 13">
            <a:extLst>
              <a:ext uri="{FF2B5EF4-FFF2-40B4-BE49-F238E27FC236}">
                <a16:creationId xmlns:a16="http://schemas.microsoft.com/office/drawing/2014/main" id="{6FFED590-CEBD-A746-8B24-5BF3FA5CAFE7}"/>
              </a:ext>
            </a:extLst>
          </p:cNvPr>
          <p:cNvCxnSpPr>
            <a:stCxn id="6" idx="2"/>
            <a:endCxn id="7" idx="0"/>
          </p:cNvCxnSpPr>
          <p:nvPr/>
        </p:nvCxnSpPr>
        <p:spPr>
          <a:xfrm flipH="1">
            <a:off x="1394572" y="3426991"/>
            <a:ext cx="563186"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C65CABB-1417-6F44-8C61-F9B9AF9F5D8A}"/>
              </a:ext>
            </a:extLst>
          </p:cNvPr>
          <p:cNvCxnSpPr>
            <a:cxnSpLocks/>
            <a:stCxn id="6" idx="2"/>
            <a:endCxn id="8" idx="0"/>
          </p:cNvCxnSpPr>
          <p:nvPr/>
        </p:nvCxnSpPr>
        <p:spPr>
          <a:xfrm>
            <a:off x="1957758" y="3426991"/>
            <a:ext cx="662020"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A53E997-BBB2-F245-9A40-BD64777FC7D2}"/>
              </a:ext>
            </a:extLst>
          </p:cNvPr>
          <p:cNvCxnSpPr>
            <a:cxnSpLocks/>
            <a:stCxn id="7" idx="2"/>
            <a:endCxn id="9" idx="0"/>
          </p:cNvCxnSpPr>
          <p:nvPr/>
        </p:nvCxnSpPr>
        <p:spPr>
          <a:xfrm flipH="1">
            <a:off x="830848" y="4098636"/>
            <a:ext cx="563724"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B0AEFDA-8F55-2341-A444-759A8B97D804}"/>
              </a:ext>
            </a:extLst>
          </p:cNvPr>
          <p:cNvCxnSpPr>
            <a:cxnSpLocks/>
            <a:stCxn id="7" idx="2"/>
            <a:endCxn id="10" idx="0"/>
          </p:cNvCxnSpPr>
          <p:nvPr/>
        </p:nvCxnSpPr>
        <p:spPr>
          <a:xfrm>
            <a:off x="1394572" y="4098636"/>
            <a:ext cx="277917"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5CD328A-6C90-8A42-AFE2-C09AA52ED37E}"/>
              </a:ext>
            </a:extLst>
          </p:cNvPr>
          <p:cNvCxnSpPr>
            <a:cxnSpLocks/>
            <a:stCxn id="8" idx="2"/>
            <a:endCxn id="11" idx="0"/>
          </p:cNvCxnSpPr>
          <p:nvPr/>
        </p:nvCxnSpPr>
        <p:spPr>
          <a:xfrm flipH="1">
            <a:off x="2461281" y="4098636"/>
            <a:ext cx="158498"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E6C4452-BCB8-5C41-9022-3F51709E35EC}"/>
              </a:ext>
            </a:extLst>
          </p:cNvPr>
          <p:cNvCxnSpPr>
            <a:cxnSpLocks/>
            <a:stCxn id="8" idx="2"/>
            <a:endCxn id="12" idx="0"/>
          </p:cNvCxnSpPr>
          <p:nvPr/>
        </p:nvCxnSpPr>
        <p:spPr>
          <a:xfrm>
            <a:off x="2619778" y="4098636"/>
            <a:ext cx="595069"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E30B8829-FC7C-6A43-B7E9-19B789AB61B1}"/>
              </a:ext>
            </a:extLst>
          </p:cNvPr>
          <p:cNvSpPr/>
          <p:nvPr/>
        </p:nvSpPr>
        <p:spPr>
          <a:xfrm>
            <a:off x="5709521" y="3060966"/>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A</a:t>
            </a:r>
          </a:p>
        </p:txBody>
      </p:sp>
      <p:sp>
        <p:nvSpPr>
          <p:cNvPr id="32" name="Rectangle 31">
            <a:extLst>
              <a:ext uri="{FF2B5EF4-FFF2-40B4-BE49-F238E27FC236}">
                <a16:creationId xmlns:a16="http://schemas.microsoft.com/office/drawing/2014/main" id="{8645D632-890A-CF4C-B47C-CC49F11E36D5}"/>
              </a:ext>
            </a:extLst>
          </p:cNvPr>
          <p:cNvSpPr/>
          <p:nvPr/>
        </p:nvSpPr>
        <p:spPr>
          <a:xfrm>
            <a:off x="4699992" y="3732610"/>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33" name="Rectangle 32">
            <a:extLst>
              <a:ext uri="{FF2B5EF4-FFF2-40B4-BE49-F238E27FC236}">
                <a16:creationId xmlns:a16="http://schemas.microsoft.com/office/drawing/2014/main" id="{9BCEE15E-6011-5C4C-BE38-D4659A38D439}"/>
              </a:ext>
            </a:extLst>
          </p:cNvPr>
          <p:cNvSpPr/>
          <p:nvPr/>
        </p:nvSpPr>
        <p:spPr>
          <a:xfrm>
            <a:off x="6791066" y="373261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34" name="Rectangle 33">
            <a:extLst>
              <a:ext uri="{FF2B5EF4-FFF2-40B4-BE49-F238E27FC236}">
                <a16:creationId xmlns:a16="http://schemas.microsoft.com/office/drawing/2014/main" id="{F0CA3471-84A2-0F43-B558-7C6D2182927A}"/>
              </a:ext>
            </a:extLst>
          </p:cNvPr>
          <p:cNvSpPr/>
          <p:nvPr/>
        </p:nvSpPr>
        <p:spPr>
          <a:xfrm>
            <a:off x="4136268" y="4446149"/>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D</a:t>
            </a:r>
          </a:p>
        </p:txBody>
      </p:sp>
      <p:sp>
        <p:nvSpPr>
          <p:cNvPr id="35" name="Rectangle 34">
            <a:extLst>
              <a:ext uri="{FF2B5EF4-FFF2-40B4-BE49-F238E27FC236}">
                <a16:creationId xmlns:a16="http://schemas.microsoft.com/office/drawing/2014/main" id="{4FC81A47-A184-BD4B-BF43-51708EFCEAB6}"/>
              </a:ext>
            </a:extLst>
          </p:cNvPr>
          <p:cNvSpPr/>
          <p:nvPr/>
        </p:nvSpPr>
        <p:spPr>
          <a:xfrm>
            <a:off x="4897350" y="446377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36" name="Rectangle 35">
            <a:extLst>
              <a:ext uri="{FF2B5EF4-FFF2-40B4-BE49-F238E27FC236}">
                <a16:creationId xmlns:a16="http://schemas.microsoft.com/office/drawing/2014/main" id="{9760C5B9-72DB-AE47-BE6E-2F6B1FE10BD5}"/>
              </a:ext>
            </a:extLst>
          </p:cNvPr>
          <p:cNvSpPr/>
          <p:nvPr/>
        </p:nvSpPr>
        <p:spPr>
          <a:xfrm>
            <a:off x="6632568" y="4447008"/>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F</a:t>
            </a:r>
            <a:endParaRPr lang="en-CN" dirty="0"/>
          </a:p>
        </p:txBody>
      </p:sp>
      <p:sp>
        <p:nvSpPr>
          <p:cNvPr id="37" name="Rectangle 36">
            <a:extLst>
              <a:ext uri="{FF2B5EF4-FFF2-40B4-BE49-F238E27FC236}">
                <a16:creationId xmlns:a16="http://schemas.microsoft.com/office/drawing/2014/main" id="{541BA529-D6F9-504F-97C8-C662298E92DC}"/>
              </a:ext>
            </a:extLst>
          </p:cNvPr>
          <p:cNvSpPr/>
          <p:nvPr/>
        </p:nvSpPr>
        <p:spPr>
          <a:xfrm>
            <a:off x="7386135" y="4446150"/>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cxnSp>
        <p:nvCxnSpPr>
          <p:cNvPr id="38" name="Straight Arrow Connector 37">
            <a:extLst>
              <a:ext uri="{FF2B5EF4-FFF2-40B4-BE49-F238E27FC236}">
                <a16:creationId xmlns:a16="http://schemas.microsoft.com/office/drawing/2014/main" id="{704E2907-8F5E-F647-8D47-D3CC0B0D5371}"/>
              </a:ext>
            </a:extLst>
          </p:cNvPr>
          <p:cNvCxnSpPr>
            <a:stCxn id="31" idx="2"/>
            <a:endCxn id="32" idx="0"/>
          </p:cNvCxnSpPr>
          <p:nvPr/>
        </p:nvCxnSpPr>
        <p:spPr>
          <a:xfrm flipH="1">
            <a:off x="4981854" y="3426990"/>
            <a:ext cx="1009529" cy="3056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FC967E2-6E2C-2A42-8F8D-D749D855D2A6}"/>
              </a:ext>
            </a:extLst>
          </p:cNvPr>
          <p:cNvCxnSpPr>
            <a:cxnSpLocks/>
            <a:stCxn id="31" idx="2"/>
            <a:endCxn id="33" idx="0"/>
          </p:cNvCxnSpPr>
          <p:nvPr/>
        </p:nvCxnSpPr>
        <p:spPr>
          <a:xfrm>
            <a:off x="5991383" y="3426990"/>
            <a:ext cx="1081545"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7BE51F2-7415-A042-A886-F65DC01C1E84}"/>
              </a:ext>
            </a:extLst>
          </p:cNvPr>
          <p:cNvCxnSpPr>
            <a:cxnSpLocks/>
            <a:stCxn id="32" idx="2"/>
            <a:endCxn id="34" idx="0"/>
          </p:cNvCxnSpPr>
          <p:nvPr/>
        </p:nvCxnSpPr>
        <p:spPr>
          <a:xfrm flipH="1">
            <a:off x="4418131" y="4098634"/>
            <a:ext cx="563724"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3A8535E-FB55-9840-A929-114BC797B87F}"/>
              </a:ext>
            </a:extLst>
          </p:cNvPr>
          <p:cNvCxnSpPr>
            <a:cxnSpLocks/>
            <a:stCxn id="32" idx="2"/>
            <a:endCxn id="35" idx="0"/>
          </p:cNvCxnSpPr>
          <p:nvPr/>
        </p:nvCxnSpPr>
        <p:spPr>
          <a:xfrm>
            <a:off x="4981854" y="4098634"/>
            <a:ext cx="197358" cy="3651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69AD8FB-809D-3546-A384-0D577886A3A9}"/>
              </a:ext>
            </a:extLst>
          </p:cNvPr>
          <p:cNvCxnSpPr>
            <a:cxnSpLocks/>
            <a:stCxn id="33" idx="2"/>
            <a:endCxn id="36" idx="0"/>
          </p:cNvCxnSpPr>
          <p:nvPr/>
        </p:nvCxnSpPr>
        <p:spPr>
          <a:xfrm flipH="1">
            <a:off x="6914431" y="4098635"/>
            <a:ext cx="158498"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3F9777F-0854-2942-A11E-3265880A6C13}"/>
              </a:ext>
            </a:extLst>
          </p:cNvPr>
          <p:cNvCxnSpPr>
            <a:cxnSpLocks/>
            <a:stCxn id="33" idx="2"/>
            <a:endCxn id="37" idx="0"/>
          </p:cNvCxnSpPr>
          <p:nvPr/>
        </p:nvCxnSpPr>
        <p:spPr>
          <a:xfrm>
            <a:off x="7072928" y="4098635"/>
            <a:ext cx="595069"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F151C1AE-E4DC-7446-B1DE-EB0528255396}"/>
              </a:ext>
            </a:extLst>
          </p:cNvPr>
          <p:cNvSpPr/>
          <p:nvPr/>
        </p:nvSpPr>
        <p:spPr>
          <a:xfrm>
            <a:off x="5558318" y="4463772"/>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52" name="Rectangle 51">
            <a:extLst>
              <a:ext uri="{FF2B5EF4-FFF2-40B4-BE49-F238E27FC236}">
                <a16:creationId xmlns:a16="http://schemas.microsoft.com/office/drawing/2014/main" id="{9542AF1F-4E8F-B440-905B-F1360719D7E9}"/>
              </a:ext>
            </a:extLst>
          </p:cNvPr>
          <p:cNvSpPr/>
          <p:nvPr/>
        </p:nvSpPr>
        <p:spPr>
          <a:xfrm>
            <a:off x="8132729" y="4446149"/>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sp>
        <p:nvSpPr>
          <p:cNvPr id="53" name="Rectangle 52">
            <a:extLst>
              <a:ext uri="{FF2B5EF4-FFF2-40B4-BE49-F238E27FC236}">
                <a16:creationId xmlns:a16="http://schemas.microsoft.com/office/drawing/2014/main" id="{F0C8708F-493F-C84D-9BD7-C16C22744F55}"/>
              </a:ext>
            </a:extLst>
          </p:cNvPr>
          <p:cNvSpPr/>
          <p:nvPr/>
        </p:nvSpPr>
        <p:spPr>
          <a:xfrm>
            <a:off x="5408112" y="3731724"/>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54" name="Rectangle 53">
            <a:extLst>
              <a:ext uri="{FF2B5EF4-FFF2-40B4-BE49-F238E27FC236}">
                <a16:creationId xmlns:a16="http://schemas.microsoft.com/office/drawing/2014/main" id="{6C74F6B1-A322-6445-989E-3026964B2516}"/>
              </a:ext>
            </a:extLst>
          </p:cNvPr>
          <p:cNvSpPr/>
          <p:nvPr/>
        </p:nvSpPr>
        <p:spPr>
          <a:xfrm>
            <a:off x="7704013" y="3735377"/>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55" name="Rectangle 54">
            <a:extLst>
              <a:ext uri="{FF2B5EF4-FFF2-40B4-BE49-F238E27FC236}">
                <a16:creationId xmlns:a16="http://schemas.microsoft.com/office/drawing/2014/main" id="{6E9B1F3B-775A-DD4C-A984-3857AED3DD1F}"/>
              </a:ext>
            </a:extLst>
          </p:cNvPr>
          <p:cNvSpPr/>
          <p:nvPr/>
        </p:nvSpPr>
        <p:spPr>
          <a:xfrm>
            <a:off x="6711818" y="3036307"/>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A’</a:t>
            </a:r>
            <a:endParaRPr lang="en-CN" dirty="0"/>
          </a:p>
        </p:txBody>
      </p:sp>
      <p:cxnSp>
        <p:nvCxnSpPr>
          <p:cNvPr id="56" name="Straight Arrow Connector 55">
            <a:extLst>
              <a:ext uri="{FF2B5EF4-FFF2-40B4-BE49-F238E27FC236}">
                <a16:creationId xmlns:a16="http://schemas.microsoft.com/office/drawing/2014/main" id="{5C156D9D-D534-484C-BA98-0FBA087721D8}"/>
              </a:ext>
            </a:extLst>
          </p:cNvPr>
          <p:cNvCxnSpPr>
            <a:cxnSpLocks/>
            <a:endCxn id="6" idx="0"/>
          </p:cNvCxnSpPr>
          <p:nvPr/>
        </p:nvCxnSpPr>
        <p:spPr>
          <a:xfrm flipH="1">
            <a:off x="1957757" y="2857500"/>
            <a:ext cx="419030" cy="2034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BEAF299-8B79-1C40-AADD-A8636D2AC7CD}"/>
              </a:ext>
            </a:extLst>
          </p:cNvPr>
          <p:cNvCxnSpPr>
            <a:cxnSpLocks/>
            <a:endCxn id="31" idx="0"/>
          </p:cNvCxnSpPr>
          <p:nvPr/>
        </p:nvCxnSpPr>
        <p:spPr>
          <a:xfrm flipH="1">
            <a:off x="5991383" y="2712593"/>
            <a:ext cx="540772"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4B19B04-7368-7C44-A710-33BE3DA5B7FA}"/>
              </a:ext>
            </a:extLst>
          </p:cNvPr>
          <p:cNvCxnSpPr>
            <a:cxnSpLocks/>
            <a:stCxn id="53" idx="2"/>
            <a:endCxn id="49" idx="0"/>
          </p:cNvCxnSpPr>
          <p:nvPr/>
        </p:nvCxnSpPr>
        <p:spPr>
          <a:xfrm>
            <a:off x="5689974" y="4097748"/>
            <a:ext cx="150206" cy="36602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6FC89A6-6C41-4648-98C8-344CF22DE46D}"/>
              </a:ext>
            </a:extLst>
          </p:cNvPr>
          <p:cNvCxnSpPr>
            <a:cxnSpLocks/>
            <a:stCxn id="55" idx="2"/>
            <a:endCxn id="54" idx="0"/>
          </p:cNvCxnSpPr>
          <p:nvPr/>
        </p:nvCxnSpPr>
        <p:spPr>
          <a:xfrm>
            <a:off x="6993680" y="3402331"/>
            <a:ext cx="992195" cy="3330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485ECF0-F677-254D-8CAD-543376F4A441}"/>
              </a:ext>
            </a:extLst>
          </p:cNvPr>
          <p:cNvCxnSpPr>
            <a:cxnSpLocks/>
            <a:stCxn id="55" idx="2"/>
            <a:endCxn id="53" idx="0"/>
          </p:cNvCxnSpPr>
          <p:nvPr/>
        </p:nvCxnSpPr>
        <p:spPr>
          <a:xfrm flipH="1">
            <a:off x="5689974" y="3402331"/>
            <a:ext cx="1303706" cy="32939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FB2AEFB-63B6-0C45-9957-8932510CD2E2}"/>
              </a:ext>
            </a:extLst>
          </p:cNvPr>
          <p:cNvCxnSpPr>
            <a:cxnSpLocks/>
            <a:stCxn id="54" idx="2"/>
            <a:endCxn id="52" idx="0"/>
          </p:cNvCxnSpPr>
          <p:nvPr/>
        </p:nvCxnSpPr>
        <p:spPr>
          <a:xfrm>
            <a:off x="7985875" y="4101401"/>
            <a:ext cx="428716" cy="3447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1E2446A-E3A6-E148-BBFA-B0CCD15D4D0B}"/>
              </a:ext>
            </a:extLst>
          </p:cNvPr>
          <p:cNvCxnSpPr>
            <a:cxnSpLocks/>
            <a:stCxn id="54" idx="2"/>
            <a:endCxn id="36" idx="0"/>
          </p:cNvCxnSpPr>
          <p:nvPr/>
        </p:nvCxnSpPr>
        <p:spPr>
          <a:xfrm flipH="1">
            <a:off x="6914430" y="4101401"/>
            <a:ext cx="1071445" cy="34560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1EAD60B9-CFDC-1240-B98C-30F18CD1130B}"/>
              </a:ext>
            </a:extLst>
          </p:cNvPr>
          <p:cNvCxnSpPr>
            <a:cxnSpLocks/>
            <a:stCxn id="53" idx="2"/>
            <a:endCxn id="34" idx="0"/>
          </p:cNvCxnSpPr>
          <p:nvPr/>
        </p:nvCxnSpPr>
        <p:spPr>
          <a:xfrm flipH="1">
            <a:off x="4418130" y="4097748"/>
            <a:ext cx="1271844" cy="34840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A068DD6F-FE14-C14C-951E-416695FEEB14}"/>
              </a:ext>
            </a:extLst>
          </p:cNvPr>
          <p:cNvCxnSpPr>
            <a:cxnSpLocks/>
            <a:endCxn id="55" idx="0"/>
          </p:cNvCxnSpPr>
          <p:nvPr/>
        </p:nvCxnSpPr>
        <p:spPr>
          <a:xfrm>
            <a:off x="6711818" y="2695829"/>
            <a:ext cx="281862" cy="34047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409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endParaRPr lang="en-CN" dirty="0"/>
          </a:p>
        </p:txBody>
      </p:sp>
      <p:sp>
        <p:nvSpPr>
          <p:cNvPr id="49" name="Rectangle 48">
            <a:extLst>
              <a:ext uri="{FF2B5EF4-FFF2-40B4-BE49-F238E27FC236}">
                <a16:creationId xmlns:a16="http://schemas.microsoft.com/office/drawing/2014/main" id="{7DBD406C-5515-DF4C-AE36-A060B17B23EC}"/>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50" name="Rectangle 49">
            <a:extLst>
              <a:ext uri="{FF2B5EF4-FFF2-40B4-BE49-F238E27FC236}">
                <a16:creationId xmlns:a16="http://schemas.microsoft.com/office/drawing/2014/main" id="{053D3242-A1E8-1E43-9A8E-5C3350B64FC7}"/>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51" name="Rectangle 50">
            <a:extLst>
              <a:ext uri="{FF2B5EF4-FFF2-40B4-BE49-F238E27FC236}">
                <a16:creationId xmlns:a16="http://schemas.microsoft.com/office/drawing/2014/main" id="{92AB0E50-E466-5D4A-999F-E054EAA66804}"/>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52" name="Rectangle 51">
            <a:extLst>
              <a:ext uri="{FF2B5EF4-FFF2-40B4-BE49-F238E27FC236}">
                <a16:creationId xmlns:a16="http://schemas.microsoft.com/office/drawing/2014/main" id="{4C286649-2637-DE46-A164-6B98C7E3504A}"/>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12</a:t>
            </a:r>
            <a:r>
              <a:rPr lang="zh-CN" altLang="en-US" sz="1100" dirty="0"/>
              <a:t>块</a:t>
            </a:r>
            <a:endParaRPr lang="en-CN" sz="1100" dirty="0"/>
          </a:p>
        </p:txBody>
      </p:sp>
      <p:sp>
        <p:nvSpPr>
          <p:cNvPr id="53" name="Rectangle 52">
            <a:extLst>
              <a:ext uri="{FF2B5EF4-FFF2-40B4-BE49-F238E27FC236}">
                <a16:creationId xmlns:a16="http://schemas.microsoft.com/office/drawing/2014/main" id="{45C7FB21-F923-CE40-BEF9-A0E06FFCF149}"/>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13</a:t>
            </a:r>
            <a:r>
              <a:rPr lang="zh-CN" altLang="en-US" sz="1100" dirty="0"/>
              <a:t>块</a:t>
            </a:r>
            <a:endParaRPr lang="en-CN" sz="1100" dirty="0"/>
          </a:p>
        </p:txBody>
      </p:sp>
      <p:sp>
        <p:nvSpPr>
          <p:cNvPr id="54" name="Rectangle 53">
            <a:extLst>
              <a:ext uri="{FF2B5EF4-FFF2-40B4-BE49-F238E27FC236}">
                <a16:creationId xmlns:a16="http://schemas.microsoft.com/office/drawing/2014/main" id="{BEE56985-EDD9-B449-8F61-B394991BDE45}"/>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55" name="Rectangle 54">
            <a:extLst>
              <a:ext uri="{FF2B5EF4-FFF2-40B4-BE49-F238E27FC236}">
                <a16:creationId xmlns:a16="http://schemas.microsoft.com/office/drawing/2014/main" id="{A7162398-3A1A-644C-8540-857BB8BB6537}"/>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56" name="Rectangle 55">
            <a:extLst>
              <a:ext uri="{FF2B5EF4-FFF2-40B4-BE49-F238E27FC236}">
                <a16:creationId xmlns:a16="http://schemas.microsoft.com/office/drawing/2014/main" id="{1506D126-B7BA-5C45-A2AF-B8D23F7E85B8}"/>
              </a:ext>
            </a:extLst>
          </p:cNvPr>
          <p:cNvSpPr/>
          <p:nvPr/>
        </p:nvSpPr>
        <p:spPr>
          <a:xfrm>
            <a:off x="6229140" y="201237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57" name="Curved Connector 56">
            <a:extLst>
              <a:ext uri="{FF2B5EF4-FFF2-40B4-BE49-F238E27FC236}">
                <a16:creationId xmlns:a16="http://schemas.microsoft.com/office/drawing/2014/main" id="{89CA7881-B974-1A49-A94C-A77D65857CB9}"/>
              </a:ext>
            </a:extLst>
          </p:cNvPr>
          <p:cNvCxnSpPr>
            <a:stCxn id="50" idx="3"/>
            <a:endCxn id="54"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urved Connector 57">
            <a:extLst>
              <a:ext uri="{FF2B5EF4-FFF2-40B4-BE49-F238E27FC236}">
                <a16:creationId xmlns:a16="http://schemas.microsoft.com/office/drawing/2014/main" id="{41B63C10-8A9F-E245-A30F-08E5EC770541}"/>
              </a:ext>
            </a:extLst>
          </p:cNvPr>
          <p:cNvCxnSpPr>
            <a:cxnSpLocks/>
            <a:stCxn id="51" idx="3"/>
            <a:endCxn id="55"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urved Connector 58">
            <a:extLst>
              <a:ext uri="{FF2B5EF4-FFF2-40B4-BE49-F238E27FC236}">
                <a16:creationId xmlns:a16="http://schemas.microsoft.com/office/drawing/2014/main" id="{36BC4B0F-93CC-C74B-83BA-0D0A1223157C}"/>
              </a:ext>
            </a:extLst>
          </p:cNvPr>
          <p:cNvCxnSpPr>
            <a:cxnSpLocks/>
            <a:stCxn id="52" idx="3"/>
            <a:endCxn id="56" idx="1"/>
          </p:cNvCxnSpPr>
          <p:nvPr/>
        </p:nvCxnSpPr>
        <p:spPr>
          <a:xfrm>
            <a:off x="5627315" y="1640233"/>
            <a:ext cx="601826" cy="62308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urved Connector 59">
            <a:extLst>
              <a:ext uri="{FF2B5EF4-FFF2-40B4-BE49-F238E27FC236}">
                <a16:creationId xmlns:a16="http://schemas.microsoft.com/office/drawing/2014/main" id="{A5D63395-BAAE-0C44-B4C6-DAF194E436D3}"/>
              </a:ext>
            </a:extLst>
          </p:cNvPr>
          <p:cNvCxnSpPr>
            <a:cxnSpLocks/>
            <a:stCxn id="53" idx="3"/>
            <a:endCxn id="65" idx="1"/>
          </p:cNvCxnSpPr>
          <p:nvPr/>
        </p:nvCxnSpPr>
        <p:spPr>
          <a:xfrm>
            <a:off x="5627315" y="1819001"/>
            <a:ext cx="601825" cy="937376"/>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BA1CF0BF-2FF6-5A4A-B97A-3D61E58617D8}"/>
              </a:ext>
            </a:extLst>
          </p:cNvPr>
          <p:cNvSpPr/>
          <p:nvPr/>
        </p:nvSpPr>
        <p:spPr>
          <a:xfrm>
            <a:off x="7426242" y="227258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62" name="Rectangle 61">
            <a:extLst>
              <a:ext uri="{FF2B5EF4-FFF2-40B4-BE49-F238E27FC236}">
                <a16:creationId xmlns:a16="http://schemas.microsoft.com/office/drawing/2014/main" id="{5550C60D-A3B0-F64C-ABE7-18E5EA91318B}"/>
              </a:ext>
            </a:extLst>
          </p:cNvPr>
          <p:cNvSpPr/>
          <p:nvPr/>
        </p:nvSpPr>
        <p:spPr>
          <a:xfrm>
            <a:off x="7426242" y="2881504"/>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63" name="Rectangle 62">
            <a:extLst>
              <a:ext uri="{FF2B5EF4-FFF2-40B4-BE49-F238E27FC236}">
                <a16:creationId xmlns:a16="http://schemas.microsoft.com/office/drawing/2014/main" id="{305F850C-ADB7-C242-817D-36903F075992}"/>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64" name="TextBox 63">
            <a:extLst>
              <a:ext uri="{FF2B5EF4-FFF2-40B4-BE49-F238E27FC236}">
                <a16:creationId xmlns:a16="http://schemas.microsoft.com/office/drawing/2014/main" id="{1BD19F84-07B0-9941-BAA6-B07E13BB4B6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65" name="Rectangle 64">
            <a:extLst>
              <a:ext uri="{FF2B5EF4-FFF2-40B4-BE49-F238E27FC236}">
                <a16:creationId xmlns:a16="http://schemas.microsoft.com/office/drawing/2014/main" id="{F50EAFF9-37CA-F342-A365-019F20DCE589}"/>
              </a:ext>
            </a:extLst>
          </p:cNvPr>
          <p:cNvSpPr/>
          <p:nvPr/>
        </p:nvSpPr>
        <p:spPr>
          <a:xfrm>
            <a:off x="6229140" y="2667591"/>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9</a:t>
            </a:r>
            <a:r>
              <a:rPr lang="zh-CN" altLang="en-US" sz="1100" dirty="0"/>
              <a:t>块</a:t>
            </a:r>
            <a:endParaRPr lang="en-CN" sz="1100" dirty="0"/>
          </a:p>
        </p:txBody>
      </p:sp>
      <p:sp>
        <p:nvSpPr>
          <p:cNvPr id="66" name="Rectangle 65">
            <a:extLst>
              <a:ext uri="{FF2B5EF4-FFF2-40B4-BE49-F238E27FC236}">
                <a16:creationId xmlns:a16="http://schemas.microsoft.com/office/drawing/2014/main" id="{1DBC0457-02A3-DA44-814E-27324AA3A626}"/>
              </a:ext>
            </a:extLst>
          </p:cNvPr>
          <p:cNvSpPr/>
          <p:nvPr/>
        </p:nvSpPr>
        <p:spPr>
          <a:xfrm>
            <a:off x="6229140" y="2845162"/>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28</a:t>
            </a:r>
            <a:r>
              <a:rPr lang="zh-CN" altLang="en-US" sz="1100" dirty="0"/>
              <a:t>块</a:t>
            </a:r>
            <a:endParaRPr lang="en-CN" sz="1100" dirty="0"/>
          </a:p>
        </p:txBody>
      </p:sp>
      <p:sp>
        <p:nvSpPr>
          <p:cNvPr id="67" name="Rectangle 66">
            <a:extLst>
              <a:ext uri="{FF2B5EF4-FFF2-40B4-BE49-F238E27FC236}">
                <a16:creationId xmlns:a16="http://schemas.microsoft.com/office/drawing/2014/main" id="{59B3556E-18B6-604E-9B8F-874D711273C1}"/>
              </a:ext>
            </a:extLst>
          </p:cNvPr>
          <p:cNvSpPr/>
          <p:nvPr/>
        </p:nvSpPr>
        <p:spPr>
          <a:xfrm>
            <a:off x="6229140" y="3024450"/>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68" name="Curved Connector 67">
            <a:extLst>
              <a:ext uri="{FF2B5EF4-FFF2-40B4-BE49-F238E27FC236}">
                <a16:creationId xmlns:a16="http://schemas.microsoft.com/office/drawing/2014/main" id="{75F24703-7927-504A-A1E2-AD2770AD73B1}"/>
              </a:ext>
            </a:extLst>
          </p:cNvPr>
          <p:cNvCxnSpPr>
            <a:cxnSpLocks/>
            <a:stCxn id="65" idx="3"/>
            <a:endCxn id="61" idx="1"/>
          </p:cNvCxnSpPr>
          <p:nvPr/>
        </p:nvCxnSpPr>
        <p:spPr>
          <a:xfrm flipV="1">
            <a:off x="6877260" y="2523526"/>
            <a:ext cx="548982" cy="23285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urved Connector 68">
            <a:extLst>
              <a:ext uri="{FF2B5EF4-FFF2-40B4-BE49-F238E27FC236}">
                <a16:creationId xmlns:a16="http://schemas.microsoft.com/office/drawing/2014/main" id="{42B87203-D0E4-8C4A-8C68-376F7DD703E8}"/>
              </a:ext>
            </a:extLst>
          </p:cNvPr>
          <p:cNvCxnSpPr>
            <a:cxnSpLocks/>
            <a:stCxn id="66" idx="3"/>
            <a:endCxn id="62" idx="1"/>
          </p:cNvCxnSpPr>
          <p:nvPr/>
        </p:nvCxnSpPr>
        <p:spPr>
          <a:xfrm>
            <a:off x="6877260" y="2933947"/>
            <a:ext cx="548982" cy="198497"/>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urved Connector 69">
            <a:extLst>
              <a:ext uri="{FF2B5EF4-FFF2-40B4-BE49-F238E27FC236}">
                <a16:creationId xmlns:a16="http://schemas.microsoft.com/office/drawing/2014/main" id="{ECB0356F-2D95-334F-AFA4-93231B3D05E9}"/>
              </a:ext>
            </a:extLst>
          </p:cNvPr>
          <p:cNvCxnSpPr>
            <a:cxnSpLocks/>
            <a:stCxn id="67" idx="3"/>
            <a:endCxn id="63" idx="1"/>
          </p:cNvCxnSpPr>
          <p:nvPr/>
        </p:nvCxnSpPr>
        <p:spPr>
          <a:xfrm>
            <a:off x="6877260" y="3113236"/>
            <a:ext cx="548982" cy="632041"/>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B803E805-CC4D-674D-AFD4-C1B75CB20AE3}"/>
              </a:ext>
            </a:extLst>
          </p:cNvPr>
          <p:cNvSpPr/>
          <p:nvPr/>
        </p:nvSpPr>
        <p:spPr>
          <a:xfrm>
            <a:off x="6229140" y="2263312"/>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2" name="Rectangle 71">
            <a:extLst>
              <a:ext uri="{FF2B5EF4-FFF2-40B4-BE49-F238E27FC236}">
                <a16:creationId xmlns:a16="http://schemas.microsoft.com/office/drawing/2014/main" id="{1E667475-61A5-F74B-89AF-4ACE1643CB84}"/>
              </a:ext>
            </a:extLst>
          </p:cNvPr>
          <p:cNvSpPr/>
          <p:nvPr/>
        </p:nvSpPr>
        <p:spPr>
          <a:xfrm>
            <a:off x="7426242" y="2272927"/>
            <a:ext cx="648120" cy="512957"/>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3" name="Rectangle 72">
            <a:extLst>
              <a:ext uri="{FF2B5EF4-FFF2-40B4-BE49-F238E27FC236}">
                <a16:creationId xmlns:a16="http://schemas.microsoft.com/office/drawing/2014/main" id="{B9AED1A5-078B-0547-ACE0-2D647A89FE7D}"/>
              </a:ext>
            </a:extLst>
          </p:cNvPr>
          <p:cNvSpPr/>
          <p:nvPr/>
        </p:nvSpPr>
        <p:spPr>
          <a:xfrm>
            <a:off x="7426242" y="287750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4" name="TextBox 73">
            <a:extLst>
              <a:ext uri="{FF2B5EF4-FFF2-40B4-BE49-F238E27FC236}">
                <a16:creationId xmlns:a16="http://schemas.microsoft.com/office/drawing/2014/main" id="{82F1D155-C95B-C347-BBF3-3255D9E49D77}"/>
              </a:ext>
            </a:extLst>
          </p:cNvPr>
          <p:cNvSpPr txBox="1"/>
          <p:nvPr/>
        </p:nvSpPr>
        <p:spPr>
          <a:xfrm>
            <a:off x="7479085" y="1246648"/>
            <a:ext cx="1569660" cy="369332"/>
          </a:xfrm>
          <a:prstGeom prst="rect">
            <a:avLst/>
          </a:prstGeom>
          <a:noFill/>
        </p:spPr>
        <p:txBody>
          <a:bodyPr wrap="none" rtlCol="0">
            <a:spAutoFit/>
          </a:bodyPr>
          <a:lstStyle/>
          <a:p>
            <a:r>
              <a:rPr lang="zh-CN" altLang="en-CN" dirty="0"/>
              <a:t>需</a:t>
            </a:r>
            <a:r>
              <a:rPr lang="zh-CN" altLang="en-US" dirty="0"/>
              <a:t>修</a:t>
            </a:r>
            <a:r>
              <a:rPr lang="zh-CN" altLang="en-CN" dirty="0"/>
              <a:t>改</a:t>
            </a:r>
            <a:r>
              <a:rPr lang="zh-CN" altLang="en-US" dirty="0"/>
              <a:t>的区域</a:t>
            </a:r>
            <a:endParaRPr lang="en-CN" dirty="0"/>
          </a:p>
        </p:txBody>
      </p:sp>
      <p:cxnSp>
        <p:nvCxnSpPr>
          <p:cNvPr id="75" name="Straight Arrow Connector 74">
            <a:extLst>
              <a:ext uri="{FF2B5EF4-FFF2-40B4-BE49-F238E27FC236}">
                <a16:creationId xmlns:a16="http://schemas.microsoft.com/office/drawing/2014/main" id="{2AF162B4-9E04-5445-BFF6-314815E827C4}"/>
              </a:ext>
            </a:extLst>
          </p:cNvPr>
          <p:cNvCxnSpPr>
            <a:stCxn id="74" idx="2"/>
            <a:endCxn id="71" idx="3"/>
          </p:cNvCxnSpPr>
          <p:nvPr/>
        </p:nvCxnSpPr>
        <p:spPr>
          <a:xfrm flipH="1">
            <a:off x="6877260" y="1615980"/>
            <a:ext cx="1386655" cy="772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DFF1A72-4FAF-A54D-8349-D71A976FC526}"/>
              </a:ext>
            </a:extLst>
          </p:cNvPr>
          <p:cNvCxnSpPr>
            <a:cxnSpLocks/>
            <a:stCxn id="74" idx="2"/>
            <a:endCxn id="72" idx="0"/>
          </p:cNvCxnSpPr>
          <p:nvPr/>
        </p:nvCxnSpPr>
        <p:spPr>
          <a:xfrm flipH="1">
            <a:off x="7750302" y="1615980"/>
            <a:ext cx="513613" cy="656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3C840C38-9242-5A41-B6F5-E13EECCB69DA}"/>
              </a:ext>
            </a:extLst>
          </p:cNvPr>
          <p:cNvCxnSpPr>
            <a:cxnSpLocks/>
            <a:stCxn id="74" idx="2"/>
            <a:endCxn id="73" idx="3"/>
          </p:cNvCxnSpPr>
          <p:nvPr/>
        </p:nvCxnSpPr>
        <p:spPr>
          <a:xfrm flipH="1">
            <a:off x="8074362" y="1615980"/>
            <a:ext cx="189553" cy="1386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42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9EE2CBF6-E6BC-6141-B00F-8DED24049A09}"/>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 name="Rectangle 6">
            <a:extLst>
              <a:ext uri="{FF2B5EF4-FFF2-40B4-BE49-F238E27FC236}">
                <a16:creationId xmlns:a16="http://schemas.microsoft.com/office/drawing/2014/main" id="{5C3C2BBB-4392-F541-9FDA-AC9EE4F39AD2}"/>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8" name="Rectangle 7">
            <a:extLst>
              <a:ext uri="{FF2B5EF4-FFF2-40B4-BE49-F238E27FC236}">
                <a16:creationId xmlns:a16="http://schemas.microsoft.com/office/drawing/2014/main" id="{3CD74C78-A76E-7243-AFDE-C942653C0D3E}"/>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9" name="Rectangle 8">
            <a:extLst>
              <a:ext uri="{FF2B5EF4-FFF2-40B4-BE49-F238E27FC236}">
                <a16:creationId xmlns:a16="http://schemas.microsoft.com/office/drawing/2014/main" id="{81782BBF-E469-DE43-92D3-FACAF99B4DBF}"/>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12</a:t>
            </a:r>
            <a:r>
              <a:rPr lang="zh-CN" altLang="en-US" sz="1100" dirty="0"/>
              <a:t>块</a:t>
            </a:r>
            <a:endParaRPr lang="en-CN" sz="1100" dirty="0"/>
          </a:p>
        </p:txBody>
      </p:sp>
      <p:sp>
        <p:nvSpPr>
          <p:cNvPr id="10" name="Rectangle 9">
            <a:extLst>
              <a:ext uri="{FF2B5EF4-FFF2-40B4-BE49-F238E27FC236}">
                <a16:creationId xmlns:a16="http://schemas.microsoft.com/office/drawing/2014/main" id="{1FF9E79E-2937-2C42-86EE-7D279F7DE257}"/>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13</a:t>
            </a:r>
            <a:r>
              <a:rPr lang="zh-CN" altLang="en-US" sz="1100" dirty="0"/>
              <a:t>块</a:t>
            </a:r>
            <a:endParaRPr lang="en-CN" sz="1100" dirty="0"/>
          </a:p>
        </p:txBody>
      </p:sp>
      <p:sp>
        <p:nvSpPr>
          <p:cNvPr id="11" name="Rectangle 10">
            <a:extLst>
              <a:ext uri="{FF2B5EF4-FFF2-40B4-BE49-F238E27FC236}">
                <a16:creationId xmlns:a16="http://schemas.microsoft.com/office/drawing/2014/main" id="{DCAF1580-EEC6-9F40-9840-0A0E2DFFA55C}"/>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2" name="Rectangle 11">
            <a:extLst>
              <a:ext uri="{FF2B5EF4-FFF2-40B4-BE49-F238E27FC236}">
                <a16:creationId xmlns:a16="http://schemas.microsoft.com/office/drawing/2014/main" id="{FBD79DF4-3E3D-2743-B6AF-1C2FEA3A8C4B}"/>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3" name="Rectangle 12">
            <a:extLst>
              <a:ext uri="{FF2B5EF4-FFF2-40B4-BE49-F238E27FC236}">
                <a16:creationId xmlns:a16="http://schemas.microsoft.com/office/drawing/2014/main" id="{C44D5F94-6ABD-484D-9E93-86D3D14D22B3}"/>
              </a:ext>
            </a:extLst>
          </p:cNvPr>
          <p:cNvSpPr/>
          <p:nvPr/>
        </p:nvSpPr>
        <p:spPr>
          <a:xfrm>
            <a:off x="6229140" y="201237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4" name="Curved Connector 13">
            <a:extLst>
              <a:ext uri="{FF2B5EF4-FFF2-40B4-BE49-F238E27FC236}">
                <a16:creationId xmlns:a16="http://schemas.microsoft.com/office/drawing/2014/main" id="{A00023A1-220D-864B-852B-91BDEA43416D}"/>
              </a:ext>
            </a:extLst>
          </p:cNvPr>
          <p:cNvCxnSpPr>
            <a:stCxn id="7" idx="3"/>
            <a:endCxn id="11"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6696525D-557F-AA40-8EF2-8E68BD5775FF}"/>
              </a:ext>
            </a:extLst>
          </p:cNvPr>
          <p:cNvCxnSpPr>
            <a:cxnSpLocks/>
            <a:stCxn id="8" idx="3"/>
            <a:endCxn id="12"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3D7B721C-A3E0-F148-82CC-884BD27CE524}"/>
              </a:ext>
            </a:extLst>
          </p:cNvPr>
          <p:cNvCxnSpPr>
            <a:cxnSpLocks/>
            <a:stCxn id="9" idx="3"/>
            <a:endCxn id="13" idx="1"/>
          </p:cNvCxnSpPr>
          <p:nvPr/>
        </p:nvCxnSpPr>
        <p:spPr>
          <a:xfrm>
            <a:off x="5627315" y="1640233"/>
            <a:ext cx="601826" cy="62308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urved Connector 16">
            <a:extLst>
              <a:ext uri="{FF2B5EF4-FFF2-40B4-BE49-F238E27FC236}">
                <a16:creationId xmlns:a16="http://schemas.microsoft.com/office/drawing/2014/main" id="{ACE84BB3-29F5-254E-8F36-1B6564EFABD7}"/>
              </a:ext>
            </a:extLst>
          </p:cNvPr>
          <p:cNvCxnSpPr>
            <a:cxnSpLocks/>
            <a:stCxn id="10" idx="3"/>
            <a:endCxn id="23" idx="1"/>
          </p:cNvCxnSpPr>
          <p:nvPr/>
        </p:nvCxnSpPr>
        <p:spPr>
          <a:xfrm>
            <a:off x="5627315" y="1819001"/>
            <a:ext cx="601825" cy="937376"/>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74E9424-785D-6B48-B94A-33E3F9CA2610}"/>
              </a:ext>
            </a:extLst>
          </p:cNvPr>
          <p:cNvSpPr/>
          <p:nvPr/>
        </p:nvSpPr>
        <p:spPr>
          <a:xfrm>
            <a:off x="7426242" y="227258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9" name="Rectangle 18">
            <a:extLst>
              <a:ext uri="{FF2B5EF4-FFF2-40B4-BE49-F238E27FC236}">
                <a16:creationId xmlns:a16="http://schemas.microsoft.com/office/drawing/2014/main" id="{39AE8486-011C-CC41-BD3E-D09EFC197589}"/>
              </a:ext>
            </a:extLst>
          </p:cNvPr>
          <p:cNvSpPr/>
          <p:nvPr/>
        </p:nvSpPr>
        <p:spPr>
          <a:xfrm>
            <a:off x="7426242" y="2881504"/>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0" name="Rectangle 19">
            <a:extLst>
              <a:ext uri="{FF2B5EF4-FFF2-40B4-BE49-F238E27FC236}">
                <a16:creationId xmlns:a16="http://schemas.microsoft.com/office/drawing/2014/main" id="{331750E5-B429-0146-B481-5A095F896EB7}"/>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2" name="TextBox 21">
            <a:extLst>
              <a:ext uri="{FF2B5EF4-FFF2-40B4-BE49-F238E27FC236}">
                <a16:creationId xmlns:a16="http://schemas.microsoft.com/office/drawing/2014/main" id="{BC3AC2BE-8313-BE41-8D6B-3E76EF6EA2D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23" name="Rectangle 22">
            <a:extLst>
              <a:ext uri="{FF2B5EF4-FFF2-40B4-BE49-F238E27FC236}">
                <a16:creationId xmlns:a16="http://schemas.microsoft.com/office/drawing/2014/main" id="{7B57721B-087A-644D-B5EF-719038503526}"/>
              </a:ext>
            </a:extLst>
          </p:cNvPr>
          <p:cNvSpPr/>
          <p:nvPr/>
        </p:nvSpPr>
        <p:spPr>
          <a:xfrm>
            <a:off x="6229140" y="2667591"/>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9</a:t>
            </a:r>
            <a:r>
              <a:rPr lang="zh-CN" altLang="en-US" sz="1100" dirty="0"/>
              <a:t>块</a:t>
            </a:r>
            <a:endParaRPr lang="en-CN" sz="1100" dirty="0"/>
          </a:p>
        </p:txBody>
      </p:sp>
      <p:sp>
        <p:nvSpPr>
          <p:cNvPr id="24" name="Rectangle 23">
            <a:extLst>
              <a:ext uri="{FF2B5EF4-FFF2-40B4-BE49-F238E27FC236}">
                <a16:creationId xmlns:a16="http://schemas.microsoft.com/office/drawing/2014/main" id="{9671EC83-2C19-8143-9D45-1FB99E4A8C25}"/>
              </a:ext>
            </a:extLst>
          </p:cNvPr>
          <p:cNvSpPr/>
          <p:nvPr/>
        </p:nvSpPr>
        <p:spPr>
          <a:xfrm>
            <a:off x="6229140" y="2845162"/>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28</a:t>
            </a:r>
            <a:r>
              <a:rPr lang="zh-CN" altLang="en-US" sz="1100" dirty="0"/>
              <a:t>块</a:t>
            </a:r>
            <a:endParaRPr lang="en-CN" sz="1100" dirty="0"/>
          </a:p>
        </p:txBody>
      </p:sp>
      <p:sp>
        <p:nvSpPr>
          <p:cNvPr id="26" name="Rectangle 25">
            <a:extLst>
              <a:ext uri="{FF2B5EF4-FFF2-40B4-BE49-F238E27FC236}">
                <a16:creationId xmlns:a16="http://schemas.microsoft.com/office/drawing/2014/main" id="{8409BDD2-D641-8D4A-9535-2852481BF1CF}"/>
              </a:ext>
            </a:extLst>
          </p:cNvPr>
          <p:cNvSpPr/>
          <p:nvPr/>
        </p:nvSpPr>
        <p:spPr>
          <a:xfrm>
            <a:off x="6229140" y="3024450"/>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27" name="Curved Connector 26">
            <a:extLst>
              <a:ext uri="{FF2B5EF4-FFF2-40B4-BE49-F238E27FC236}">
                <a16:creationId xmlns:a16="http://schemas.microsoft.com/office/drawing/2014/main" id="{1211CB64-5E1B-AB4D-80FC-988FAF6C4EEB}"/>
              </a:ext>
            </a:extLst>
          </p:cNvPr>
          <p:cNvCxnSpPr>
            <a:cxnSpLocks/>
            <a:stCxn id="23" idx="3"/>
            <a:endCxn id="18" idx="1"/>
          </p:cNvCxnSpPr>
          <p:nvPr/>
        </p:nvCxnSpPr>
        <p:spPr>
          <a:xfrm flipV="1">
            <a:off x="6877260" y="2523526"/>
            <a:ext cx="548982" cy="23285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41530331-C3D2-BE41-85FD-746B3E4B3263}"/>
              </a:ext>
            </a:extLst>
          </p:cNvPr>
          <p:cNvCxnSpPr>
            <a:cxnSpLocks/>
            <a:stCxn id="24" idx="3"/>
            <a:endCxn id="19" idx="1"/>
          </p:cNvCxnSpPr>
          <p:nvPr/>
        </p:nvCxnSpPr>
        <p:spPr>
          <a:xfrm>
            <a:off x="6877260" y="2933947"/>
            <a:ext cx="548982" cy="198497"/>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790281B-FE23-F340-9E7E-AD3053EB76EA}"/>
              </a:ext>
            </a:extLst>
          </p:cNvPr>
          <p:cNvCxnSpPr>
            <a:cxnSpLocks/>
            <a:stCxn id="26" idx="3"/>
            <a:endCxn id="20" idx="1"/>
          </p:cNvCxnSpPr>
          <p:nvPr/>
        </p:nvCxnSpPr>
        <p:spPr>
          <a:xfrm>
            <a:off x="6877260" y="3113236"/>
            <a:ext cx="548982" cy="632041"/>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pPr lvl="1"/>
            <a:r>
              <a:rPr lang="zh-CN" altLang="en-US" sz="1600" dirty="0"/>
              <a:t>将要修改的数据块进行复制（分配新的块）</a:t>
            </a:r>
            <a:endParaRPr lang="en-US" altLang="zh-CN" sz="1600" b="0" dirty="0"/>
          </a:p>
          <a:p>
            <a:endParaRPr lang="en-CN" dirty="0"/>
          </a:p>
        </p:txBody>
      </p:sp>
      <p:sp>
        <p:nvSpPr>
          <p:cNvPr id="34" name="Rectangle 33">
            <a:extLst>
              <a:ext uri="{FF2B5EF4-FFF2-40B4-BE49-F238E27FC236}">
                <a16:creationId xmlns:a16="http://schemas.microsoft.com/office/drawing/2014/main" id="{282CD7BB-7B31-B942-A7AC-049F12913B94}"/>
              </a:ext>
            </a:extLst>
          </p:cNvPr>
          <p:cNvSpPr/>
          <p:nvPr/>
        </p:nvSpPr>
        <p:spPr>
          <a:xfrm>
            <a:off x="6229140" y="2263312"/>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ectangle 34">
            <a:extLst>
              <a:ext uri="{FF2B5EF4-FFF2-40B4-BE49-F238E27FC236}">
                <a16:creationId xmlns:a16="http://schemas.microsoft.com/office/drawing/2014/main" id="{9C42BC9F-E995-D54F-BA5A-8F7F10232DEF}"/>
              </a:ext>
            </a:extLst>
          </p:cNvPr>
          <p:cNvSpPr/>
          <p:nvPr/>
        </p:nvSpPr>
        <p:spPr>
          <a:xfrm>
            <a:off x="7426242" y="2272927"/>
            <a:ext cx="648120" cy="512957"/>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Rectangle 35">
            <a:extLst>
              <a:ext uri="{FF2B5EF4-FFF2-40B4-BE49-F238E27FC236}">
                <a16:creationId xmlns:a16="http://schemas.microsoft.com/office/drawing/2014/main" id="{CB69E52B-5169-B541-96BD-47D917282E26}"/>
              </a:ext>
            </a:extLst>
          </p:cNvPr>
          <p:cNvSpPr/>
          <p:nvPr/>
        </p:nvSpPr>
        <p:spPr>
          <a:xfrm>
            <a:off x="7426242" y="287750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1" name="Rectangle 50">
            <a:extLst>
              <a:ext uri="{FF2B5EF4-FFF2-40B4-BE49-F238E27FC236}">
                <a16:creationId xmlns:a16="http://schemas.microsoft.com/office/drawing/2014/main" id="{2A3407F0-CC20-7F40-A758-F5C099FF25D8}"/>
              </a:ext>
            </a:extLst>
          </p:cNvPr>
          <p:cNvSpPr/>
          <p:nvPr/>
        </p:nvSpPr>
        <p:spPr>
          <a:xfrm>
            <a:off x="7426242" y="485325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a:t>
            </a:r>
            <a:r>
              <a:rPr lang="zh-CN" altLang="en-CN" sz="1100" dirty="0"/>
              <a:t>数据</a:t>
            </a:r>
            <a:endParaRPr lang="en-CN" sz="1100" dirty="0"/>
          </a:p>
        </p:txBody>
      </p:sp>
      <p:sp>
        <p:nvSpPr>
          <p:cNvPr id="52" name="Rectangle 51">
            <a:extLst>
              <a:ext uri="{FF2B5EF4-FFF2-40B4-BE49-F238E27FC236}">
                <a16:creationId xmlns:a16="http://schemas.microsoft.com/office/drawing/2014/main" id="{EC8949C4-81FD-524C-932A-192B95E5B412}"/>
              </a:ext>
            </a:extLst>
          </p:cNvPr>
          <p:cNvSpPr/>
          <p:nvPr/>
        </p:nvSpPr>
        <p:spPr>
          <a:xfrm>
            <a:off x="7426242" y="4211873"/>
            <a:ext cx="648120" cy="512957"/>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rPr>
              <a:t>旧</a:t>
            </a:r>
            <a:r>
              <a:rPr lang="zh-CN" altLang="en-CN" sz="1100" dirty="0">
                <a:solidFill>
                  <a:schemeClr val="tx1"/>
                </a:solidFill>
              </a:rPr>
              <a:t>数据</a:t>
            </a:r>
            <a:endParaRPr lang="en-CN" sz="1100" dirty="0">
              <a:solidFill>
                <a:schemeClr val="tx1"/>
              </a:solidFill>
            </a:endParaRPr>
          </a:p>
        </p:txBody>
      </p:sp>
      <p:sp>
        <p:nvSpPr>
          <p:cNvPr id="53" name="Rectangle 52">
            <a:extLst>
              <a:ext uri="{FF2B5EF4-FFF2-40B4-BE49-F238E27FC236}">
                <a16:creationId xmlns:a16="http://schemas.microsoft.com/office/drawing/2014/main" id="{730D9857-E395-C342-8BEB-163F5C114441}"/>
              </a:ext>
            </a:extLst>
          </p:cNvPr>
          <p:cNvSpPr/>
          <p:nvPr/>
        </p:nvSpPr>
        <p:spPr>
          <a:xfrm>
            <a:off x="7426242" y="4849260"/>
            <a:ext cx="648120" cy="250941"/>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100" dirty="0">
              <a:solidFill>
                <a:srgbClr val="C00000"/>
              </a:solidFill>
            </a:endParaRPr>
          </a:p>
        </p:txBody>
      </p:sp>
      <p:sp>
        <p:nvSpPr>
          <p:cNvPr id="54" name="Rectangle 53">
            <a:extLst>
              <a:ext uri="{FF2B5EF4-FFF2-40B4-BE49-F238E27FC236}">
                <a16:creationId xmlns:a16="http://schemas.microsoft.com/office/drawing/2014/main" id="{C76D7ADA-9981-ED46-95D1-D4EC57848164}"/>
              </a:ext>
            </a:extLst>
          </p:cNvPr>
          <p:cNvSpPr/>
          <p:nvPr/>
        </p:nvSpPr>
        <p:spPr>
          <a:xfrm>
            <a:off x="7105412" y="170754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旧数据</a:t>
            </a:r>
            <a:endParaRPr lang="en-CN" sz="1100" dirty="0"/>
          </a:p>
        </p:txBody>
      </p:sp>
      <p:sp>
        <p:nvSpPr>
          <p:cNvPr id="44" name="Rectangle 43">
            <a:extLst>
              <a:ext uri="{FF2B5EF4-FFF2-40B4-BE49-F238E27FC236}">
                <a16:creationId xmlns:a16="http://schemas.microsoft.com/office/drawing/2014/main" id="{5D8A2867-5E2D-2B4B-897B-754638081306}"/>
              </a:ext>
            </a:extLst>
          </p:cNvPr>
          <p:cNvSpPr/>
          <p:nvPr/>
        </p:nvSpPr>
        <p:spPr>
          <a:xfrm>
            <a:off x="7105411" y="195848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0" name="Curved Connector 49">
            <a:extLst>
              <a:ext uri="{FF2B5EF4-FFF2-40B4-BE49-F238E27FC236}">
                <a16:creationId xmlns:a16="http://schemas.microsoft.com/office/drawing/2014/main" id="{F9475C22-0F15-6047-8455-90819FFE29F0}"/>
              </a:ext>
            </a:extLst>
          </p:cNvPr>
          <p:cNvCxnSpPr>
            <a:cxnSpLocks/>
            <a:stCxn id="35" idx="3"/>
            <a:endCxn id="52" idx="3"/>
          </p:cNvCxnSpPr>
          <p:nvPr/>
        </p:nvCxnSpPr>
        <p:spPr>
          <a:xfrm>
            <a:off x="8074362" y="2529406"/>
            <a:ext cx="12700" cy="1938946"/>
          </a:xfrm>
          <a:prstGeom prst="curvedConnector3">
            <a:avLst>
              <a:gd name="adj1" fmla="val 1800000"/>
            </a:avLst>
          </a:prstGeom>
          <a:ln w="190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7" name="Curved Connector 56">
            <a:extLst>
              <a:ext uri="{FF2B5EF4-FFF2-40B4-BE49-F238E27FC236}">
                <a16:creationId xmlns:a16="http://schemas.microsoft.com/office/drawing/2014/main" id="{D67101E5-6104-EE4A-880E-FAA8A8779718}"/>
              </a:ext>
            </a:extLst>
          </p:cNvPr>
          <p:cNvCxnSpPr>
            <a:cxnSpLocks/>
            <a:stCxn id="19" idx="3"/>
            <a:endCxn id="51" idx="3"/>
          </p:cNvCxnSpPr>
          <p:nvPr/>
        </p:nvCxnSpPr>
        <p:spPr>
          <a:xfrm>
            <a:off x="8074362" y="3132445"/>
            <a:ext cx="12700" cy="1971753"/>
          </a:xfrm>
          <a:prstGeom prst="curvedConnector3">
            <a:avLst>
              <a:gd name="adj1" fmla="val 1800000"/>
            </a:avLst>
          </a:prstGeom>
          <a:ln w="190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8" name="Curved Connector 57">
            <a:extLst>
              <a:ext uri="{FF2B5EF4-FFF2-40B4-BE49-F238E27FC236}">
                <a16:creationId xmlns:a16="http://schemas.microsoft.com/office/drawing/2014/main" id="{CAC8C4A8-722E-E34F-8480-1DD27773B20E}"/>
              </a:ext>
            </a:extLst>
          </p:cNvPr>
          <p:cNvCxnSpPr>
            <a:cxnSpLocks/>
            <a:stCxn id="13" idx="3"/>
            <a:endCxn id="54" idx="1"/>
          </p:cNvCxnSpPr>
          <p:nvPr/>
        </p:nvCxnSpPr>
        <p:spPr>
          <a:xfrm flipV="1">
            <a:off x="6877260" y="1958488"/>
            <a:ext cx="228152" cy="304825"/>
          </a:xfrm>
          <a:prstGeom prst="curvedConnector3">
            <a:avLst>
              <a:gd name="adj1" fmla="val 50000"/>
            </a:avLst>
          </a:prstGeom>
          <a:ln w="190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702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9EE2CBF6-E6BC-6141-B00F-8DED24049A09}"/>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 name="Rectangle 6">
            <a:extLst>
              <a:ext uri="{FF2B5EF4-FFF2-40B4-BE49-F238E27FC236}">
                <a16:creationId xmlns:a16="http://schemas.microsoft.com/office/drawing/2014/main" id="{5C3C2BBB-4392-F541-9FDA-AC9EE4F39AD2}"/>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8" name="Rectangle 7">
            <a:extLst>
              <a:ext uri="{FF2B5EF4-FFF2-40B4-BE49-F238E27FC236}">
                <a16:creationId xmlns:a16="http://schemas.microsoft.com/office/drawing/2014/main" id="{3CD74C78-A76E-7243-AFDE-C942653C0D3E}"/>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9" name="Rectangle 8">
            <a:extLst>
              <a:ext uri="{FF2B5EF4-FFF2-40B4-BE49-F238E27FC236}">
                <a16:creationId xmlns:a16="http://schemas.microsoft.com/office/drawing/2014/main" id="{81782BBF-E469-DE43-92D3-FACAF99B4DBF}"/>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12</a:t>
            </a:r>
            <a:r>
              <a:rPr lang="zh-CN" altLang="en-US" sz="1100" dirty="0"/>
              <a:t>块</a:t>
            </a:r>
            <a:endParaRPr lang="en-CN" sz="1100" dirty="0"/>
          </a:p>
        </p:txBody>
      </p:sp>
      <p:sp>
        <p:nvSpPr>
          <p:cNvPr id="10" name="Rectangle 9">
            <a:extLst>
              <a:ext uri="{FF2B5EF4-FFF2-40B4-BE49-F238E27FC236}">
                <a16:creationId xmlns:a16="http://schemas.microsoft.com/office/drawing/2014/main" id="{1FF9E79E-2937-2C42-86EE-7D279F7DE257}"/>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13</a:t>
            </a:r>
            <a:r>
              <a:rPr lang="zh-CN" altLang="en-US" sz="1100" dirty="0"/>
              <a:t>块</a:t>
            </a:r>
            <a:endParaRPr lang="en-CN" sz="1100" dirty="0"/>
          </a:p>
        </p:txBody>
      </p:sp>
      <p:sp>
        <p:nvSpPr>
          <p:cNvPr id="11" name="Rectangle 10">
            <a:extLst>
              <a:ext uri="{FF2B5EF4-FFF2-40B4-BE49-F238E27FC236}">
                <a16:creationId xmlns:a16="http://schemas.microsoft.com/office/drawing/2014/main" id="{DCAF1580-EEC6-9F40-9840-0A0E2DFFA55C}"/>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2" name="Rectangle 11">
            <a:extLst>
              <a:ext uri="{FF2B5EF4-FFF2-40B4-BE49-F238E27FC236}">
                <a16:creationId xmlns:a16="http://schemas.microsoft.com/office/drawing/2014/main" id="{FBD79DF4-3E3D-2743-B6AF-1C2FEA3A8C4B}"/>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3" name="Rectangle 12">
            <a:extLst>
              <a:ext uri="{FF2B5EF4-FFF2-40B4-BE49-F238E27FC236}">
                <a16:creationId xmlns:a16="http://schemas.microsoft.com/office/drawing/2014/main" id="{C44D5F94-6ABD-484D-9E93-86D3D14D22B3}"/>
              </a:ext>
            </a:extLst>
          </p:cNvPr>
          <p:cNvSpPr/>
          <p:nvPr/>
        </p:nvSpPr>
        <p:spPr>
          <a:xfrm>
            <a:off x="6229140" y="201237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4" name="Curved Connector 13">
            <a:extLst>
              <a:ext uri="{FF2B5EF4-FFF2-40B4-BE49-F238E27FC236}">
                <a16:creationId xmlns:a16="http://schemas.microsoft.com/office/drawing/2014/main" id="{A00023A1-220D-864B-852B-91BDEA43416D}"/>
              </a:ext>
            </a:extLst>
          </p:cNvPr>
          <p:cNvCxnSpPr>
            <a:stCxn id="7" idx="3"/>
            <a:endCxn id="11"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6696525D-557F-AA40-8EF2-8E68BD5775FF}"/>
              </a:ext>
            </a:extLst>
          </p:cNvPr>
          <p:cNvCxnSpPr>
            <a:cxnSpLocks/>
            <a:stCxn id="8" idx="3"/>
            <a:endCxn id="12"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3D7B721C-A3E0-F148-82CC-884BD27CE524}"/>
              </a:ext>
            </a:extLst>
          </p:cNvPr>
          <p:cNvCxnSpPr>
            <a:cxnSpLocks/>
            <a:stCxn id="9" idx="3"/>
            <a:endCxn id="13" idx="1"/>
          </p:cNvCxnSpPr>
          <p:nvPr/>
        </p:nvCxnSpPr>
        <p:spPr>
          <a:xfrm>
            <a:off x="5627315" y="1640233"/>
            <a:ext cx="601826" cy="62308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urved Connector 16">
            <a:extLst>
              <a:ext uri="{FF2B5EF4-FFF2-40B4-BE49-F238E27FC236}">
                <a16:creationId xmlns:a16="http://schemas.microsoft.com/office/drawing/2014/main" id="{ACE84BB3-29F5-254E-8F36-1B6564EFABD7}"/>
              </a:ext>
            </a:extLst>
          </p:cNvPr>
          <p:cNvCxnSpPr>
            <a:cxnSpLocks/>
            <a:stCxn id="10" idx="3"/>
            <a:endCxn id="23" idx="1"/>
          </p:cNvCxnSpPr>
          <p:nvPr/>
        </p:nvCxnSpPr>
        <p:spPr>
          <a:xfrm>
            <a:off x="5627315" y="1819001"/>
            <a:ext cx="601825" cy="937376"/>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74E9424-785D-6B48-B94A-33E3F9CA2610}"/>
              </a:ext>
            </a:extLst>
          </p:cNvPr>
          <p:cNvSpPr/>
          <p:nvPr/>
        </p:nvSpPr>
        <p:spPr>
          <a:xfrm>
            <a:off x="7426242" y="227258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9" name="Rectangle 18">
            <a:extLst>
              <a:ext uri="{FF2B5EF4-FFF2-40B4-BE49-F238E27FC236}">
                <a16:creationId xmlns:a16="http://schemas.microsoft.com/office/drawing/2014/main" id="{39AE8486-011C-CC41-BD3E-D09EFC197589}"/>
              </a:ext>
            </a:extLst>
          </p:cNvPr>
          <p:cNvSpPr/>
          <p:nvPr/>
        </p:nvSpPr>
        <p:spPr>
          <a:xfrm>
            <a:off x="7426242" y="2881504"/>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0" name="Rectangle 19">
            <a:extLst>
              <a:ext uri="{FF2B5EF4-FFF2-40B4-BE49-F238E27FC236}">
                <a16:creationId xmlns:a16="http://schemas.microsoft.com/office/drawing/2014/main" id="{331750E5-B429-0146-B481-5A095F896EB7}"/>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2" name="TextBox 21">
            <a:extLst>
              <a:ext uri="{FF2B5EF4-FFF2-40B4-BE49-F238E27FC236}">
                <a16:creationId xmlns:a16="http://schemas.microsoft.com/office/drawing/2014/main" id="{BC3AC2BE-8313-BE41-8D6B-3E76EF6EA2D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23" name="Rectangle 22">
            <a:extLst>
              <a:ext uri="{FF2B5EF4-FFF2-40B4-BE49-F238E27FC236}">
                <a16:creationId xmlns:a16="http://schemas.microsoft.com/office/drawing/2014/main" id="{7B57721B-087A-644D-B5EF-719038503526}"/>
              </a:ext>
            </a:extLst>
          </p:cNvPr>
          <p:cNvSpPr/>
          <p:nvPr/>
        </p:nvSpPr>
        <p:spPr>
          <a:xfrm>
            <a:off x="6229140" y="2667591"/>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9</a:t>
            </a:r>
            <a:r>
              <a:rPr lang="zh-CN" altLang="en-US" sz="1100" dirty="0"/>
              <a:t>块</a:t>
            </a:r>
            <a:endParaRPr lang="en-CN" sz="1100" dirty="0"/>
          </a:p>
        </p:txBody>
      </p:sp>
      <p:sp>
        <p:nvSpPr>
          <p:cNvPr id="24" name="Rectangle 23">
            <a:extLst>
              <a:ext uri="{FF2B5EF4-FFF2-40B4-BE49-F238E27FC236}">
                <a16:creationId xmlns:a16="http://schemas.microsoft.com/office/drawing/2014/main" id="{9671EC83-2C19-8143-9D45-1FB99E4A8C25}"/>
              </a:ext>
            </a:extLst>
          </p:cNvPr>
          <p:cNvSpPr/>
          <p:nvPr/>
        </p:nvSpPr>
        <p:spPr>
          <a:xfrm>
            <a:off x="6229140" y="2845162"/>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28</a:t>
            </a:r>
            <a:r>
              <a:rPr lang="zh-CN" altLang="en-US" sz="1100" dirty="0"/>
              <a:t>块</a:t>
            </a:r>
            <a:endParaRPr lang="en-CN" sz="1100" dirty="0"/>
          </a:p>
        </p:txBody>
      </p:sp>
      <p:sp>
        <p:nvSpPr>
          <p:cNvPr id="26" name="Rectangle 25">
            <a:extLst>
              <a:ext uri="{FF2B5EF4-FFF2-40B4-BE49-F238E27FC236}">
                <a16:creationId xmlns:a16="http://schemas.microsoft.com/office/drawing/2014/main" id="{8409BDD2-D641-8D4A-9535-2852481BF1CF}"/>
              </a:ext>
            </a:extLst>
          </p:cNvPr>
          <p:cNvSpPr/>
          <p:nvPr/>
        </p:nvSpPr>
        <p:spPr>
          <a:xfrm>
            <a:off x="6229140" y="3024450"/>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27" name="Curved Connector 26">
            <a:extLst>
              <a:ext uri="{FF2B5EF4-FFF2-40B4-BE49-F238E27FC236}">
                <a16:creationId xmlns:a16="http://schemas.microsoft.com/office/drawing/2014/main" id="{1211CB64-5E1B-AB4D-80FC-988FAF6C4EEB}"/>
              </a:ext>
            </a:extLst>
          </p:cNvPr>
          <p:cNvCxnSpPr>
            <a:cxnSpLocks/>
            <a:stCxn id="23" idx="3"/>
            <a:endCxn id="18" idx="1"/>
          </p:cNvCxnSpPr>
          <p:nvPr/>
        </p:nvCxnSpPr>
        <p:spPr>
          <a:xfrm flipV="1">
            <a:off x="6877260" y="2523526"/>
            <a:ext cx="548982" cy="23285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41530331-C3D2-BE41-85FD-746B3E4B3263}"/>
              </a:ext>
            </a:extLst>
          </p:cNvPr>
          <p:cNvCxnSpPr>
            <a:cxnSpLocks/>
            <a:stCxn id="24" idx="3"/>
            <a:endCxn id="19" idx="1"/>
          </p:cNvCxnSpPr>
          <p:nvPr/>
        </p:nvCxnSpPr>
        <p:spPr>
          <a:xfrm>
            <a:off x="6877260" y="2933947"/>
            <a:ext cx="548982" cy="198497"/>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790281B-FE23-F340-9E7E-AD3053EB76EA}"/>
              </a:ext>
            </a:extLst>
          </p:cNvPr>
          <p:cNvCxnSpPr>
            <a:cxnSpLocks/>
            <a:stCxn id="26" idx="3"/>
            <a:endCxn id="20" idx="1"/>
          </p:cNvCxnSpPr>
          <p:nvPr/>
        </p:nvCxnSpPr>
        <p:spPr>
          <a:xfrm>
            <a:off x="6877260" y="3113236"/>
            <a:ext cx="548982" cy="632041"/>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pPr lvl="1"/>
            <a:r>
              <a:rPr lang="zh-CN" altLang="en-US" sz="1600" dirty="0"/>
              <a:t>将要修改的数据块进行复制（分配新的块）</a:t>
            </a:r>
            <a:endParaRPr lang="en-US" altLang="zh-CN" sz="1600" b="0" dirty="0"/>
          </a:p>
          <a:p>
            <a:pPr lvl="1"/>
            <a:r>
              <a:rPr lang="zh-CN" altLang="en-US" sz="1600" b="0" dirty="0"/>
              <a:t>在新的数据块上修改数据</a:t>
            </a:r>
            <a:endParaRPr lang="en-US" altLang="zh-CN" sz="1600" b="0" dirty="0"/>
          </a:p>
          <a:p>
            <a:endParaRPr lang="en-CN" dirty="0"/>
          </a:p>
        </p:txBody>
      </p:sp>
      <p:sp>
        <p:nvSpPr>
          <p:cNvPr id="34" name="Rectangle 33">
            <a:extLst>
              <a:ext uri="{FF2B5EF4-FFF2-40B4-BE49-F238E27FC236}">
                <a16:creationId xmlns:a16="http://schemas.microsoft.com/office/drawing/2014/main" id="{282CD7BB-7B31-B942-A7AC-049F12913B94}"/>
              </a:ext>
            </a:extLst>
          </p:cNvPr>
          <p:cNvSpPr/>
          <p:nvPr/>
        </p:nvSpPr>
        <p:spPr>
          <a:xfrm>
            <a:off x="6229140" y="2263312"/>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ectangle 34">
            <a:extLst>
              <a:ext uri="{FF2B5EF4-FFF2-40B4-BE49-F238E27FC236}">
                <a16:creationId xmlns:a16="http://schemas.microsoft.com/office/drawing/2014/main" id="{9C42BC9F-E995-D54F-BA5A-8F7F10232DEF}"/>
              </a:ext>
            </a:extLst>
          </p:cNvPr>
          <p:cNvSpPr/>
          <p:nvPr/>
        </p:nvSpPr>
        <p:spPr>
          <a:xfrm>
            <a:off x="7426242" y="2272927"/>
            <a:ext cx="648120" cy="512957"/>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Rectangle 35">
            <a:extLst>
              <a:ext uri="{FF2B5EF4-FFF2-40B4-BE49-F238E27FC236}">
                <a16:creationId xmlns:a16="http://schemas.microsoft.com/office/drawing/2014/main" id="{CB69E52B-5169-B541-96BD-47D917282E26}"/>
              </a:ext>
            </a:extLst>
          </p:cNvPr>
          <p:cNvSpPr/>
          <p:nvPr/>
        </p:nvSpPr>
        <p:spPr>
          <a:xfrm>
            <a:off x="7426242" y="287750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1" name="Rectangle 50">
            <a:extLst>
              <a:ext uri="{FF2B5EF4-FFF2-40B4-BE49-F238E27FC236}">
                <a16:creationId xmlns:a16="http://schemas.microsoft.com/office/drawing/2014/main" id="{2A3407F0-CC20-7F40-A758-F5C099FF25D8}"/>
              </a:ext>
            </a:extLst>
          </p:cNvPr>
          <p:cNvSpPr/>
          <p:nvPr/>
        </p:nvSpPr>
        <p:spPr>
          <a:xfrm>
            <a:off x="7426242" y="485325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CN" sz="1100" dirty="0"/>
          </a:p>
          <a:p>
            <a:pPr algn="ctr"/>
            <a:r>
              <a:rPr lang="zh-CN" altLang="en-US" sz="1100" dirty="0"/>
              <a:t>旧</a:t>
            </a:r>
            <a:r>
              <a:rPr lang="zh-CN" altLang="en-CN" sz="1100" dirty="0"/>
              <a:t>数据</a:t>
            </a:r>
            <a:endParaRPr lang="en-CN" sz="1100" dirty="0"/>
          </a:p>
        </p:txBody>
      </p:sp>
      <p:sp>
        <p:nvSpPr>
          <p:cNvPr id="52" name="Rectangle 51">
            <a:extLst>
              <a:ext uri="{FF2B5EF4-FFF2-40B4-BE49-F238E27FC236}">
                <a16:creationId xmlns:a16="http://schemas.microsoft.com/office/drawing/2014/main" id="{EC8949C4-81FD-524C-932A-192B95E5B412}"/>
              </a:ext>
            </a:extLst>
          </p:cNvPr>
          <p:cNvSpPr/>
          <p:nvPr/>
        </p:nvSpPr>
        <p:spPr>
          <a:xfrm>
            <a:off x="7426242" y="4211873"/>
            <a:ext cx="648120" cy="512957"/>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3" name="Rectangle 52">
            <a:extLst>
              <a:ext uri="{FF2B5EF4-FFF2-40B4-BE49-F238E27FC236}">
                <a16:creationId xmlns:a16="http://schemas.microsoft.com/office/drawing/2014/main" id="{730D9857-E395-C342-8BEB-163F5C114441}"/>
              </a:ext>
            </a:extLst>
          </p:cNvPr>
          <p:cNvSpPr/>
          <p:nvPr/>
        </p:nvSpPr>
        <p:spPr>
          <a:xfrm>
            <a:off x="7426242" y="4849260"/>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4" name="Rectangle 53">
            <a:extLst>
              <a:ext uri="{FF2B5EF4-FFF2-40B4-BE49-F238E27FC236}">
                <a16:creationId xmlns:a16="http://schemas.microsoft.com/office/drawing/2014/main" id="{C76D7ADA-9981-ED46-95D1-D4EC57848164}"/>
              </a:ext>
            </a:extLst>
          </p:cNvPr>
          <p:cNvSpPr/>
          <p:nvPr/>
        </p:nvSpPr>
        <p:spPr>
          <a:xfrm>
            <a:off x="7105412" y="1707547"/>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旧数据</a:t>
            </a:r>
            <a:br>
              <a:rPr lang="en-US" altLang="zh-CN" sz="1100" dirty="0"/>
            </a:br>
            <a:r>
              <a:rPr lang="zh-CN" altLang="en-US" sz="1100" dirty="0"/>
              <a:t> </a:t>
            </a:r>
            <a:endParaRPr lang="en-CN" sz="1100" dirty="0"/>
          </a:p>
        </p:txBody>
      </p:sp>
      <p:sp>
        <p:nvSpPr>
          <p:cNvPr id="55" name="Rectangle 54">
            <a:extLst>
              <a:ext uri="{FF2B5EF4-FFF2-40B4-BE49-F238E27FC236}">
                <a16:creationId xmlns:a16="http://schemas.microsoft.com/office/drawing/2014/main" id="{E7C72BC8-806D-5245-8507-56DE1C84E700}"/>
              </a:ext>
            </a:extLst>
          </p:cNvPr>
          <p:cNvSpPr/>
          <p:nvPr/>
        </p:nvSpPr>
        <p:spPr>
          <a:xfrm>
            <a:off x="7105412" y="195848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Tree>
    <p:extLst>
      <p:ext uri="{BB962C8B-B14F-4D97-AF65-F5344CB8AC3E}">
        <p14:creationId xmlns:p14="http://schemas.microsoft.com/office/powerpoint/2010/main" val="879114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9EE2CBF6-E6BC-6141-B00F-8DED24049A09}"/>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 name="Rectangle 6">
            <a:extLst>
              <a:ext uri="{FF2B5EF4-FFF2-40B4-BE49-F238E27FC236}">
                <a16:creationId xmlns:a16="http://schemas.microsoft.com/office/drawing/2014/main" id="{5C3C2BBB-4392-F541-9FDA-AC9EE4F39AD2}"/>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8" name="Rectangle 7">
            <a:extLst>
              <a:ext uri="{FF2B5EF4-FFF2-40B4-BE49-F238E27FC236}">
                <a16:creationId xmlns:a16="http://schemas.microsoft.com/office/drawing/2014/main" id="{3CD74C78-A76E-7243-AFDE-C942653C0D3E}"/>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9" name="Rectangle 8">
            <a:extLst>
              <a:ext uri="{FF2B5EF4-FFF2-40B4-BE49-F238E27FC236}">
                <a16:creationId xmlns:a16="http://schemas.microsoft.com/office/drawing/2014/main" id="{81782BBF-E469-DE43-92D3-FACAF99B4DBF}"/>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12</a:t>
            </a:r>
            <a:r>
              <a:rPr lang="zh-CN" altLang="en-US" sz="1100" dirty="0"/>
              <a:t>块</a:t>
            </a:r>
            <a:endParaRPr lang="en-CN" sz="1100" dirty="0"/>
          </a:p>
        </p:txBody>
      </p:sp>
      <p:sp>
        <p:nvSpPr>
          <p:cNvPr id="10" name="Rectangle 9">
            <a:extLst>
              <a:ext uri="{FF2B5EF4-FFF2-40B4-BE49-F238E27FC236}">
                <a16:creationId xmlns:a16="http://schemas.microsoft.com/office/drawing/2014/main" id="{1FF9E79E-2937-2C42-86EE-7D279F7DE257}"/>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13</a:t>
            </a:r>
            <a:r>
              <a:rPr lang="zh-CN" altLang="en-US" sz="1100" dirty="0"/>
              <a:t>块</a:t>
            </a:r>
            <a:endParaRPr lang="en-CN" sz="1100" dirty="0"/>
          </a:p>
        </p:txBody>
      </p:sp>
      <p:sp>
        <p:nvSpPr>
          <p:cNvPr id="11" name="Rectangle 10">
            <a:extLst>
              <a:ext uri="{FF2B5EF4-FFF2-40B4-BE49-F238E27FC236}">
                <a16:creationId xmlns:a16="http://schemas.microsoft.com/office/drawing/2014/main" id="{DCAF1580-EEC6-9F40-9840-0A0E2DFFA55C}"/>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2" name="Rectangle 11">
            <a:extLst>
              <a:ext uri="{FF2B5EF4-FFF2-40B4-BE49-F238E27FC236}">
                <a16:creationId xmlns:a16="http://schemas.microsoft.com/office/drawing/2014/main" id="{FBD79DF4-3E3D-2743-B6AF-1C2FEA3A8C4B}"/>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3" name="Rectangle 12">
            <a:extLst>
              <a:ext uri="{FF2B5EF4-FFF2-40B4-BE49-F238E27FC236}">
                <a16:creationId xmlns:a16="http://schemas.microsoft.com/office/drawing/2014/main" id="{C44D5F94-6ABD-484D-9E93-86D3D14D22B3}"/>
              </a:ext>
            </a:extLst>
          </p:cNvPr>
          <p:cNvSpPr/>
          <p:nvPr/>
        </p:nvSpPr>
        <p:spPr>
          <a:xfrm>
            <a:off x="6229140" y="201237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4" name="Curved Connector 13">
            <a:extLst>
              <a:ext uri="{FF2B5EF4-FFF2-40B4-BE49-F238E27FC236}">
                <a16:creationId xmlns:a16="http://schemas.microsoft.com/office/drawing/2014/main" id="{A00023A1-220D-864B-852B-91BDEA43416D}"/>
              </a:ext>
            </a:extLst>
          </p:cNvPr>
          <p:cNvCxnSpPr>
            <a:stCxn id="7" idx="3"/>
            <a:endCxn id="11"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6696525D-557F-AA40-8EF2-8E68BD5775FF}"/>
              </a:ext>
            </a:extLst>
          </p:cNvPr>
          <p:cNvCxnSpPr>
            <a:cxnSpLocks/>
            <a:stCxn id="8" idx="3"/>
            <a:endCxn id="12"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3D7B721C-A3E0-F148-82CC-884BD27CE524}"/>
              </a:ext>
            </a:extLst>
          </p:cNvPr>
          <p:cNvCxnSpPr>
            <a:cxnSpLocks/>
            <a:stCxn id="9" idx="3"/>
            <a:endCxn id="13" idx="1"/>
          </p:cNvCxnSpPr>
          <p:nvPr/>
        </p:nvCxnSpPr>
        <p:spPr>
          <a:xfrm>
            <a:off x="5627315" y="1640233"/>
            <a:ext cx="601826" cy="62308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urved Connector 16">
            <a:extLst>
              <a:ext uri="{FF2B5EF4-FFF2-40B4-BE49-F238E27FC236}">
                <a16:creationId xmlns:a16="http://schemas.microsoft.com/office/drawing/2014/main" id="{ACE84BB3-29F5-254E-8F36-1B6564EFABD7}"/>
              </a:ext>
            </a:extLst>
          </p:cNvPr>
          <p:cNvCxnSpPr>
            <a:cxnSpLocks/>
            <a:stCxn id="10" idx="3"/>
            <a:endCxn id="23" idx="1"/>
          </p:cNvCxnSpPr>
          <p:nvPr/>
        </p:nvCxnSpPr>
        <p:spPr>
          <a:xfrm>
            <a:off x="5627315" y="1819001"/>
            <a:ext cx="601825" cy="937376"/>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74E9424-785D-6B48-B94A-33E3F9CA2610}"/>
              </a:ext>
            </a:extLst>
          </p:cNvPr>
          <p:cNvSpPr/>
          <p:nvPr/>
        </p:nvSpPr>
        <p:spPr>
          <a:xfrm>
            <a:off x="7426242" y="227258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9" name="Rectangle 18">
            <a:extLst>
              <a:ext uri="{FF2B5EF4-FFF2-40B4-BE49-F238E27FC236}">
                <a16:creationId xmlns:a16="http://schemas.microsoft.com/office/drawing/2014/main" id="{39AE8486-011C-CC41-BD3E-D09EFC197589}"/>
              </a:ext>
            </a:extLst>
          </p:cNvPr>
          <p:cNvSpPr/>
          <p:nvPr/>
        </p:nvSpPr>
        <p:spPr>
          <a:xfrm>
            <a:off x="7426242" y="2881504"/>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0" name="Rectangle 19">
            <a:extLst>
              <a:ext uri="{FF2B5EF4-FFF2-40B4-BE49-F238E27FC236}">
                <a16:creationId xmlns:a16="http://schemas.microsoft.com/office/drawing/2014/main" id="{331750E5-B429-0146-B481-5A095F896EB7}"/>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2" name="TextBox 21">
            <a:extLst>
              <a:ext uri="{FF2B5EF4-FFF2-40B4-BE49-F238E27FC236}">
                <a16:creationId xmlns:a16="http://schemas.microsoft.com/office/drawing/2014/main" id="{BC3AC2BE-8313-BE41-8D6B-3E76EF6EA2D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23" name="Rectangle 22">
            <a:extLst>
              <a:ext uri="{FF2B5EF4-FFF2-40B4-BE49-F238E27FC236}">
                <a16:creationId xmlns:a16="http://schemas.microsoft.com/office/drawing/2014/main" id="{7B57721B-087A-644D-B5EF-719038503526}"/>
              </a:ext>
            </a:extLst>
          </p:cNvPr>
          <p:cNvSpPr/>
          <p:nvPr/>
        </p:nvSpPr>
        <p:spPr>
          <a:xfrm>
            <a:off x="6229140" y="2667591"/>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9</a:t>
            </a:r>
            <a:r>
              <a:rPr lang="zh-CN" altLang="en-US" sz="1100" dirty="0"/>
              <a:t>块</a:t>
            </a:r>
            <a:endParaRPr lang="en-CN" sz="1100" dirty="0"/>
          </a:p>
        </p:txBody>
      </p:sp>
      <p:sp>
        <p:nvSpPr>
          <p:cNvPr id="24" name="Rectangle 23">
            <a:extLst>
              <a:ext uri="{FF2B5EF4-FFF2-40B4-BE49-F238E27FC236}">
                <a16:creationId xmlns:a16="http://schemas.microsoft.com/office/drawing/2014/main" id="{9671EC83-2C19-8143-9D45-1FB99E4A8C25}"/>
              </a:ext>
            </a:extLst>
          </p:cNvPr>
          <p:cNvSpPr/>
          <p:nvPr/>
        </p:nvSpPr>
        <p:spPr>
          <a:xfrm>
            <a:off x="6229140" y="2845162"/>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28</a:t>
            </a:r>
            <a:r>
              <a:rPr lang="zh-CN" altLang="en-US" sz="1100" dirty="0"/>
              <a:t>块</a:t>
            </a:r>
            <a:endParaRPr lang="en-CN" sz="1100" dirty="0"/>
          </a:p>
        </p:txBody>
      </p:sp>
      <p:sp>
        <p:nvSpPr>
          <p:cNvPr id="26" name="Rectangle 25">
            <a:extLst>
              <a:ext uri="{FF2B5EF4-FFF2-40B4-BE49-F238E27FC236}">
                <a16:creationId xmlns:a16="http://schemas.microsoft.com/office/drawing/2014/main" id="{8409BDD2-D641-8D4A-9535-2852481BF1CF}"/>
              </a:ext>
            </a:extLst>
          </p:cNvPr>
          <p:cNvSpPr/>
          <p:nvPr/>
        </p:nvSpPr>
        <p:spPr>
          <a:xfrm>
            <a:off x="6229140" y="3024450"/>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27" name="Curved Connector 26">
            <a:extLst>
              <a:ext uri="{FF2B5EF4-FFF2-40B4-BE49-F238E27FC236}">
                <a16:creationId xmlns:a16="http://schemas.microsoft.com/office/drawing/2014/main" id="{1211CB64-5E1B-AB4D-80FC-988FAF6C4EEB}"/>
              </a:ext>
            </a:extLst>
          </p:cNvPr>
          <p:cNvCxnSpPr>
            <a:cxnSpLocks/>
            <a:stCxn id="23" idx="3"/>
            <a:endCxn id="18" idx="1"/>
          </p:cNvCxnSpPr>
          <p:nvPr/>
        </p:nvCxnSpPr>
        <p:spPr>
          <a:xfrm flipV="1">
            <a:off x="6877260" y="2523526"/>
            <a:ext cx="548982" cy="23285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41530331-C3D2-BE41-85FD-746B3E4B3263}"/>
              </a:ext>
            </a:extLst>
          </p:cNvPr>
          <p:cNvCxnSpPr>
            <a:cxnSpLocks/>
            <a:stCxn id="24" idx="3"/>
            <a:endCxn id="19" idx="1"/>
          </p:cNvCxnSpPr>
          <p:nvPr/>
        </p:nvCxnSpPr>
        <p:spPr>
          <a:xfrm>
            <a:off x="6877260" y="2933947"/>
            <a:ext cx="548982" cy="198497"/>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790281B-FE23-F340-9E7E-AD3053EB76EA}"/>
              </a:ext>
            </a:extLst>
          </p:cNvPr>
          <p:cNvCxnSpPr>
            <a:cxnSpLocks/>
            <a:stCxn id="26" idx="3"/>
            <a:endCxn id="20" idx="1"/>
          </p:cNvCxnSpPr>
          <p:nvPr/>
        </p:nvCxnSpPr>
        <p:spPr>
          <a:xfrm>
            <a:off x="6877260" y="3113236"/>
            <a:ext cx="548982" cy="632041"/>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pPr lvl="1"/>
            <a:r>
              <a:rPr lang="zh-CN" altLang="en-US" sz="1600" dirty="0"/>
              <a:t>将要修改的数据块进行复制（分配新的块）</a:t>
            </a:r>
            <a:endParaRPr lang="en-US" altLang="zh-CN" sz="1600" b="0" dirty="0"/>
          </a:p>
          <a:p>
            <a:pPr lvl="1"/>
            <a:r>
              <a:rPr lang="zh-CN" altLang="en-US" sz="1600" b="0" dirty="0"/>
              <a:t>在新的数据块上修改数据</a:t>
            </a:r>
            <a:endParaRPr lang="en-US" altLang="zh-CN" sz="1600" b="0" dirty="0"/>
          </a:p>
          <a:p>
            <a:pPr lvl="1"/>
            <a:r>
              <a:rPr lang="zh-CN" altLang="en-US" sz="1600" dirty="0"/>
              <a:t>向上递归复制和修改，直到所有修改能原子完成</a:t>
            </a:r>
            <a:endParaRPr lang="en-US" altLang="zh-CN" sz="1600" b="0" dirty="0"/>
          </a:p>
          <a:p>
            <a:endParaRPr lang="en-CN" dirty="0"/>
          </a:p>
        </p:txBody>
      </p:sp>
      <p:sp>
        <p:nvSpPr>
          <p:cNvPr id="34" name="Rectangle 33">
            <a:extLst>
              <a:ext uri="{FF2B5EF4-FFF2-40B4-BE49-F238E27FC236}">
                <a16:creationId xmlns:a16="http://schemas.microsoft.com/office/drawing/2014/main" id="{282CD7BB-7B31-B942-A7AC-049F12913B94}"/>
              </a:ext>
            </a:extLst>
          </p:cNvPr>
          <p:cNvSpPr/>
          <p:nvPr/>
        </p:nvSpPr>
        <p:spPr>
          <a:xfrm>
            <a:off x="6229140" y="2263312"/>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ectangle 34">
            <a:extLst>
              <a:ext uri="{FF2B5EF4-FFF2-40B4-BE49-F238E27FC236}">
                <a16:creationId xmlns:a16="http://schemas.microsoft.com/office/drawing/2014/main" id="{9C42BC9F-E995-D54F-BA5A-8F7F10232DEF}"/>
              </a:ext>
            </a:extLst>
          </p:cNvPr>
          <p:cNvSpPr/>
          <p:nvPr/>
        </p:nvSpPr>
        <p:spPr>
          <a:xfrm>
            <a:off x="7426242" y="2272927"/>
            <a:ext cx="648120" cy="512957"/>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Rectangle 35">
            <a:extLst>
              <a:ext uri="{FF2B5EF4-FFF2-40B4-BE49-F238E27FC236}">
                <a16:creationId xmlns:a16="http://schemas.microsoft.com/office/drawing/2014/main" id="{CB69E52B-5169-B541-96BD-47D917282E26}"/>
              </a:ext>
            </a:extLst>
          </p:cNvPr>
          <p:cNvSpPr/>
          <p:nvPr/>
        </p:nvSpPr>
        <p:spPr>
          <a:xfrm>
            <a:off x="7426242" y="287750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5" name="Rectangle 44">
            <a:extLst>
              <a:ext uri="{FF2B5EF4-FFF2-40B4-BE49-F238E27FC236}">
                <a16:creationId xmlns:a16="http://schemas.microsoft.com/office/drawing/2014/main" id="{484C37ED-0B4A-1C44-A3E0-8A5CC07A1452}"/>
              </a:ext>
            </a:extLst>
          </p:cNvPr>
          <p:cNvSpPr/>
          <p:nvPr/>
        </p:nvSpPr>
        <p:spPr>
          <a:xfrm>
            <a:off x="6229140" y="3724777"/>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34</a:t>
            </a:r>
            <a:r>
              <a:rPr lang="zh-CN" altLang="en-US" sz="1100" dirty="0"/>
              <a:t>块</a:t>
            </a:r>
            <a:endParaRPr lang="en-CN" sz="1100" dirty="0"/>
          </a:p>
        </p:txBody>
      </p:sp>
      <p:sp>
        <p:nvSpPr>
          <p:cNvPr id="46" name="Rectangle 45">
            <a:extLst>
              <a:ext uri="{FF2B5EF4-FFF2-40B4-BE49-F238E27FC236}">
                <a16:creationId xmlns:a16="http://schemas.microsoft.com/office/drawing/2014/main" id="{0EBF7FBF-856F-F443-97A8-CB0ABC7B4D5E}"/>
              </a:ext>
            </a:extLst>
          </p:cNvPr>
          <p:cNvSpPr/>
          <p:nvPr/>
        </p:nvSpPr>
        <p:spPr>
          <a:xfrm>
            <a:off x="6229140" y="3902348"/>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35</a:t>
            </a:r>
            <a:r>
              <a:rPr lang="zh-CN" altLang="en-US" sz="1100" dirty="0"/>
              <a:t>块</a:t>
            </a:r>
            <a:endParaRPr lang="en-CN" sz="1100" dirty="0"/>
          </a:p>
        </p:txBody>
      </p:sp>
      <p:sp>
        <p:nvSpPr>
          <p:cNvPr id="47" name="Rectangle 46">
            <a:extLst>
              <a:ext uri="{FF2B5EF4-FFF2-40B4-BE49-F238E27FC236}">
                <a16:creationId xmlns:a16="http://schemas.microsoft.com/office/drawing/2014/main" id="{5F786334-524A-B741-A049-92DE88AAF388}"/>
              </a:ext>
            </a:extLst>
          </p:cNvPr>
          <p:cNvSpPr/>
          <p:nvPr/>
        </p:nvSpPr>
        <p:spPr>
          <a:xfrm>
            <a:off x="6229140" y="4081636"/>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48" name="Curved Connector 47">
            <a:extLst>
              <a:ext uri="{FF2B5EF4-FFF2-40B4-BE49-F238E27FC236}">
                <a16:creationId xmlns:a16="http://schemas.microsoft.com/office/drawing/2014/main" id="{42F959E5-7ADA-C449-A347-634AAB13F200}"/>
              </a:ext>
            </a:extLst>
          </p:cNvPr>
          <p:cNvCxnSpPr>
            <a:cxnSpLocks/>
            <a:stCxn id="47" idx="3"/>
            <a:endCxn id="20" idx="1"/>
          </p:cNvCxnSpPr>
          <p:nvPr/>
        </p:nvCxnSpPr>
        <p:spPr>
          <a:xfrm flipV="1">
            <a:off x="6877260" y="3745277"/>
            <a:ext cx="548982" cy="425145"/>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a:extLst>
              <a:ext uri="{FF2B5EF4-FFF2-40B4-BE49-F238E27FC236}">
                <a16:creationId xmlns:a16="http://schemas.microsoft.com/office/drawing/2014/main" id="{2E23D2FB-5182-AC48-9477-49A9926CB5A6}"/>
              </a:ext>
            </a:extLst>
          </p:cNvPr>
          <p:cNvCxnSpPr>
            <a:cxnSpLocks/>
            <a:stCxn id="46" idx="3"/>
            <a:endCxn id="51" idx="1"/>
          </p:cNvCxnSpPr>
          <p:nvPr/>
        </p:nvCxnSpPr>
        <p:spPr>
          <a:xfrm>
            <a:off x="6877260" y="3991134"/>
            <a:ext cx="548982" cy="1113064"/>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A3407F0-CC20-7F40-A758-F5C099FF25D8}"/>
              </a:ext>
            </a:extLst>
          </p:cNvPr>
          <p:cNvSpPr/>
          <p:nvPr/>
        </p:nvSpPr>
        <p:spPr>
          <a:xfrm>
            <a:off x="7426242" y="485325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CN" sz="1100" dirty="0"/>
          </a:p>
          <a:p>
            <a:pPr algn="ctr"/>
            <a:r>
              <a:rPr lang="zh-CN" altLang="en-US" sz="1100" dirty="0"/>
              <a:t>旧</a:t>
            </a:r>
            <a:r>
              <a:rPr lang="zh-CN" altLang="en-CN" sz="1100" dirty="0"/>
              <a:t>数据</a:t>
            </a:r>
            <a:endParaRPr lang="en-CN" sz="1100" dirty="0"/>
          </a:p>
        </p:txBody>
      </p:sp>
      <p:sp>
        <p:nvSpPr>
          <p:cNvPr id="52" name="Rectangle 51">
            <a:extLst>
              <a:ext uri="{FF2B5EF4-FFF2-40B4-BE49-F238E27FC236}">
                <a16:creationId xmlns:a16="http://schemas.microsoft.com/office/drawing/2014/main" id="{EC8949C4-81FD-524C-932A-192B95E5B412}"/>
              </a:ext>
            </a:extLst>
          </p:cNvPr>
          <p:cNvSpPr/>
          <p:nvPr/>
        </p:nvSpPr>
        <p:spPr>
          <a:xfrm>
            <a:off x="7426242" y="4211873"/>
            <a:ext cx="648120" cy="512957"/>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3" name="Rectangle 52">
            <a:extLst>
              <a:ext uri="{FF2B5EF4-FFF2-40B4-BE49-F238E27FC236}">
                <a16:creationId xmlns:a16="http://schemas.microsoft.com/office/drawing/2014/main" id="{730D9857-E395-C342-8BEB-163F5C114441}"/>
              </a:ext>
            </a:extLst>
          </p:cNvPr>
          <p:cNvSpPr/>
          <p:nvPr/>
        </p:nvSpPr>
        <p:spPr>
          <a:xfrm>
            <a:off x="7426242" y="4849260"/>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4" name="Rectangle 53">
            <a:extLst>
              <a:ext uri="{FF2B5EF4-FFF2-40B4-BE49-F238E27FC236}">
                <a16:creationId xmlns:a16="http://schemas.microsoft.com/office/drawing/2014/main" id="{C76D7ADA-9981-ED46-95D1-D4EC57848164}"/>
              </a:ext>
            </a:extLst>
          </p:cNvPr>
          <p:cNvSpPr/>
          <p:nvPr/>
        </p:nvSpPr>
        <p:spPr>
          <a:xfrm>
            <a:off x="7105412" y="1707547"/>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旧数据</a:t>
            </a:r>
            <a:br>
              <a:rPr lang="en-US" altLang="zh-CN" sz="1100" dirty="0"/>
            </a:br>
            <a:r>
              <a:rPr lang="zh-CN" altLang="en-US" sz="1100" dirty="0"/>
              <a:t> </a:t>
            </a:r>
            <a:endParaRPr lang="en-CN" sz="1100" dirty="0"/>
          </a:p>
        </p:txBody>
      </p:sp>
      <p:sp>
        <p:nvSpPr>
          <p:cNvPr id="55" name="Rectangle 54">
            <a:extLst>
              <a:ext uri="{FF2B5EF4-FFF2-40B4-BE49-F238E27FC236}">
                <a16:creationId xmlns:a16="http://schemas.microsoft.com/office/drawing/2014/main" id="{E7C72BC8-806D-5245-8507-56DE1C84E700}"/>
              </a:ext>
            </a:extLst>
          </p:cNvPr>
          <p:cNvSpPr/>
          <p:nvPr/>
        </p:nvSpPr>
        <p:spPr>
          <a:xfrm>
            <a:off x="7105412" y="195848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cxnSp>
        <p:nvCxnSpPr>
          <p:cNvPr id="56" name="Curved Connector 55">
            <a:extLst>
              <a:ext uri="{FF2B5EF4-FFF2-40B4-BE49-F238E27FC236}">
                <a16:creationId xmlns:a16="http://schemas.microsoft.com/office/drawing/2014/main" id="{D1F570E6-6575-4640-9B23-E8829A27D8F8}"/>
              </a:ext>
            </a:extLst>
          </p:cNvPr>
          <p:cNvCxnSpPr>
            <a:cxnSpLocks/>
            <a:stCxn id="45" idx="3"/>
            <a:endCxn id="52" idx="1"/>
          </p:cNvCxnSpPr>
          <p:nvPr/>
        </p:nvCxnSpPr>
        <p:spPr>
          <a:xfrm>
            <a:off x="6877260" y="3813563"/>
            <a:ext cx="548982" cy="654789"/>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77141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pPr lvl="1"/>
            <a:r>
              <a:rPr lang="zh-CN" altLang="en-US" sz="1600" dirty="0"/>
              <a:t>将要修改的数据块进行复制（分配新的块）</a:t>
            </a:r>
            <a:endParaRPr lang="en-US" altLang="zh-CN" sz="1600" b="0" dirty="0"/>
          </a:p>
          <a:p>
            <a:pPr lvl="1"/>
            <a:r>
              <a:rPr lang="zh-CN" altLang="en-US" sz="1600" b="0" dirty="0"/>
              <a:t>在新的数据块上修改数据</a:t>
            </a:r>
            <a:endParaRPr lang="en-US" altLang="zh-CN" sz="1600" b="0" dirty="0"/>
          </a:p>
          <a:p>
            <a:pPr lvl="1"/>
            <a:r>
              <a:rPr lang="zh-CN" altLang="en-US" sz="1600" dirty="0"/>
              <a:t>向上递归复制和修改，直到所有修改能原子完成</a:t>
            </a:r>
            <a:endParaRPr lang="en-US" altLang="zh-CN" sz="1600" dirty="0"/>
          </a:p>
          <a:p>
            <a:pPr lvl="1"/>
            <a:r>
              <a:rPr lang="zh-CN" altLang="en-US" sz="1600" b="0" dirty="0"/>
              <a:t>进行原子修改</a:t>
            </a:r>
            <a:endParaRPr lang="en-US" altLang="zh-CN" sz="1600" b="0" dirty="0"/>
          </a:p>
          <a:p>
            <a:endParaRPr lang="en-CN" dirty="0"/>
          </a:p>
        </p:txBody>
      </p:sp>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9EE2CBF6-E6BC-6141-B00F-8DED24049A09}"/>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 name="Rectangle 6">
            <a:extLst>
              <a:ext uri="{FF2B5EF4-FFF2-40B4-BE49-F238E27FC236}">
                <a16:creationId xmlns:a16="http://schemas.microsoft.com/office/drawing/2014/main" id="{5C3C2BBB-4392-F541-9FDA-AC9EE4F39AD2}"/>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8" name="Rectangle 7">
            <a:extLst>
              <a:ext uri="{FF2B5EF4-FFF2-40B4-BE49-F238E27FC236}">
                <a16:creationId xmlns:a16="http://schemas.microsoft.com/office/drawing/2014/main" id="{3CD74C78-A76E-7243-AFDE-C942653C0D3E}"/>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9" name="Rectangle 8">
            <a:extLst>
              <a:ext uri="{FF2B5EF4-FFF2-40B4-BE49-F238E27FC236}">
                <a16:creationId xmlns:a16="http://schemas.microsoft.com/office/drawing/2014/main" id="{81782BBF-E469-DE43-92D3-FACAF99B4DBF}"/>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solidFill>
                  <a:srgbClr val="C00000"/>
                </a:solidFill>
              </a:rPr>
              <a:t>第</a:t>
            </a:r>
            <a:r>
              <a:rPr lang="en-US" altLang="zh-CN" sz="1100" dirty="0">
                <a:solidFill>
                  <a:srgbClr val="C00000"/>
                </a:solidFill>
              </a:rPr>
              <a:t>33</a:t>
            </a:r>
            <a:r>
              <a:rPr lang="zh-CN" altLang="en-US" sz="1100" dirty="0">
                <a:solidFill>
                  <a:srgbClr val="C00000"/>
                </a:solidFill>
              </a:rPr>
              <a:t>块</a:t>
            </a:r>
            <a:endParaRPr lang="en-CN" sz="1100" dirty="0">
              <a:solidFill>
                <a:srgbClr val="C00000"/>
              </a:solidFill>
            </a:endParaRPr>
          </a:p>
        </p:txBody>
      </p:sp>
      <p:sp>
        <p:nvSpPr>
          <p:cNvPr id="10" name="Rectangle 9">
            <a:extLst>
              <a:ext uri="{FF2B5EF4-FFF2-40B4-BE49-F238E27FC236}">
                <a16:creationId xmlns:a16="http://schemas.microsoft.com/office/drawing/2014/main" id="{1FF9E79E-2937-2C42-86EE-7D279F7DE257}"/>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solidFill>
                  <a:srgbClr val="C00000"/>
                </a:solidFill>
              </a:rPr>
              <a:t>第</a:t>
            </a:r>
            <a:r>
              <a:rPr lang="en-US" altLang="zh-CN" sz="1100" dirty="0">
                <a:solidFill>
                  <a:srgbClr val="C00000"/>
                </a:solidFill>
              </a:rPr>
              <a:t>37</a:t>
            </a:r>
            <a:r>
              <a:rPr lang="zh-CN" altLang="en-US" sz="1100" dirty="0">
                <a:solidFill>
                  <a:srgbClr val="C00000"/>
                </a:solidFill>
              </a:rPr>
              <a:t>块</a:t>
            </a:r>
            <a:endParaRPr lang="en-CN" sz="1100" dirty="0">
              <a:solidFill>
                <a:srgbClr val="C00000"/>
              </a:solidFill>
            </a:endParaRPr>
          </a:p>
        </p:txBody>
      </p:sp>
      <p:sp>
        <p:nvSpPr>
          <p:cNvPr id="11" name="Rectangle 10">
            <a:extLst>
              <a:ext uri="{FF2B5EF4-FFF2-40B4-BE49-F238E27FC236}">
                <a16:creationId xmlns:a16="http://schemas.microsoft.com/office/drawing/2014/main" id="{DCAF1580-EEC6-9F40-9840-0A0E2DFFA55C}"/>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2" name="Rectangle 11">
            <a:extLst>
              <a:ext uri="{FF2B5EF4-FFF2-40B4-BE49-F238E27FC236}">
                <a16:creationId xmlns:a16="http://schemas.microsoft.com/office/drawing/2014/main" id="{FBD79DF4-3E3D-2743-B6AF-1C2FEA3A8C4B}"/>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3" name="Rectangle 12">
            <a:extLst>
              <a:ext uri="{FF2B5EF4-FFF2-40B4-BE49-F238E27FC236}">
                <a16:creationId xmlns:a16="http://schemas.microsoft.com/office/drawing/2014/main" id="{C44D5F94-6ABD-484D-9E93-86D3D14D22B3}"/>
              </a:ext>
            </a:extLst>
          </p:cNvPr>
          <p:cNvSpPr/>
          <p:nvPr/>
        </p:nvSpPr>
        <p:spPr>
          <a:xfrm>
            <a:off x="6229140" y="201237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4" name="Curved Connector 13">
            <a:extLst>
              <a:ext uri="{FF2B5EF4-FFF2-40B4-BE49-F238E27FC236}">
                <a16:creationId xmlns:a16="http://schemas.microsoft.com/office/drawing/2014/main" id="{A00023A1-220D-864B-852B-91BDEA43416D}"/>
              </a:ext>
            </a:extLst>
          </p:cNvPr>
          <p:cNvCxnSpPr>
            <a:stCxn id="7" idx="3"/>
            <a:endCxn id="11"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6696525D-557F-AA40-8EF2-8E68BD5775FF}"/>
              </a:ext>
            </a:extLst>
          </p:cNvPr>
          <p:cNvCxnSpPr>
            <a:cxnSpLocks/>
            <a:stCxn id="8" idx="3"/>
            <a:endCxn id="12"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74E9424-785D-6B48-B94A-33E3F9CA2610}"/>
              </a:ext>
            </a:extLst>
          </p:cNvPr>
          <p:cNvSpPr/>
          <p:nvPr/>
        </p:nvSpPr>
        <p:spPr>
          <a:xfrm>
            <a:off x="7426242" y="227258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9" name="Rectangle 18">
            <a:extLst>
              <a:ext uri="{FF2B5EF4-FFF2-40B4-BE49-F238E27FC236}">
                <a16:creationId xmlns:a16="http://schemas.microsoft.com/office/drawing/2014/main" id="{39AE8486-011C-CC41-BD3E-D09EFC197589}"/>
              </a:ext>
            </a:extLst>
          </p:cNvPr>
          <p:cNvSpPr/>
          <p:nvPr/>
        </p:nvSpPr>
        <p:spPr>
          <a:xfrm>
            <a:off x="7426242" y="2881504"/>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0" name="Rectangle 19">
            <a:extLst>
              <a:ext uri="{FF2B5EF4-FFF2-40B4-BE49-F238E27FC236}">
                <a16:creationId xmlns:a16="http://schemas.microsoft.com/office/drawing/2014/main" id="{331750E5-B429-0146-B481-5A095F896EB7}"/>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22" name="TextBox 21">
            <a:extLst>
              <a:ext uri="{FF2B5EF4-FFF2-40B4-BE49-F238E27FC236}">
                <a16:creationId xmlns:a16="http://schemas.microsoft.com/office/drawing/2014/main" id="{BC3AC2BE-8313-BE41-8D6B-3E76EF6EA2D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23" name="Rectangle 22">
            <a:extLst>
              <a:ext uri="{FF2B5EF4-FFF2-40B4-BE49-F238E27FC236}">
                <a16:creationId xmlns:a16="http://schemas.microsoft.com/office/drawing/2014/main" id="{7B57721B-087A-644D-B5EF-719038503526}"/>
              </a:ext>
            </a:extLst>
          </p:cNvPr>
          <p:cNvSpPr/>
          <p:nvPr/>
        </p:nvSpPr>
        <p:spPr>
          <a:xfrm>
            <a:off x="6229140" y="2667591"/>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9</a:t>
            </a:r>
            <a:r>
              <a:rPr lang="zh-CN" altLang="en-US" sz="1100" dirty="0"/>
              <a:t>块</a:t>
            </a:r>
            <a:endParaRPr lang="en-CN" sz="1100" dirty="0"/>
          </a:p>
        </p:txBody>
      </p:sp>
      <p:sp>
        <p:nvSpPr>
          <p:cNvPr id="24" name="Rectangle 23">
            <a:extLst>
              <a:ext uri="{FF2B5EF4-FFF2-40B4-BE49-F238E27FC236}">
                <a16:creationId xmlns:a16="http://schemas.microsoft.com/office/drawing/2014/main" id="{9671EC83-2C19-8143-9D45-1FB99E4A8C25}"/>
              </a:ext>
            </a:extLst>
          </p:cNvPr>
          <p:cNvSpPr/>
          <p:nvPr/>
        </p:nvSpPr>
        <p:spPr>
          <a:xfrm>
            <a:off x="6229140" y="2845162"/>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28</a:t>
            </a:r>
            <a:r>
              <a:rPr lang="zh-CN" altLang="en-US" sz="1100" dirty="0"/>
              <a:t>块</a:t>
            </a:r>
            <a:endParaRPr lang="en-CN" sz="1100" dirty="0"/>
          </a:p>
        </p:txBody>
      </p:sp>
      <p:sp>
        <p:nvSpPr>
          <p:cNvPr id="26" name="Rectangle 25">
            <a:extLst>
              <a:ext uri="{FF2B5EF4-FFF2-40B4-BE49-F238E27FC236}">
                <a16:creationId xmlns:a16="http://schemas.microsoft.com/office/drawing/2014/main" id="{8409BDD2-D641-8D4A-9535-2852481BF1CF}"/>
              </a:ext>
            </a:extLst>
          </p:cNvPr>
          <p:cNvSpPr/>
          <p:nvPr/>
        </p:nvSpPr>
        <p:spPr>
          <a:xfrm>
            <a:off x="6229140" y="3024450"/>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27" name="Curved Connector 26">
            <a:extLst>
              <a:ext uri="{FF2B5EF4-FFF2-40B4-BE49-F238E27FC236}">
                <a16:creationId xmlns:a16="http://schemas.microsoft.com/office/drawing/2014/main" id="{1211CB64-5E1B-AB4D-80FC-988FAF6C4EEB}"/>
              </a:ext>
            </a:extLst>
          </p:cNvPr>
          <p:cNvCxnSpPr>
            <a:cxnSpLocks/>
            <a:stCxn id="23" idx="3"/>
            <a:endCxn id="18" idx="1"/>
          </p:cNvCxnSpPr>
          <p:nvPr/>
        </p:nvCxnSpPr>
        <p:spPr>
          <a:xfrm flipV="1">
            <a:off x="6877260" y="2523526"/>
            <a:ext cx="548982" cy="23285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41530331-C3D2-BE41-85FD-746B3E4B3263}"/>
              </a:ext>
            </a:extLst>
          </p:cNvPr>
          <p:cNvCxnSpPr>
            <a:cxnSpLocks/>
            <a:stCxn id="24" idx="3"/>
            <a:endCxn id="19" idx="1"/>
          </p:cNvCxnSpPr>
          <p:nvPr/>
        </p:nvCxnSpPr>
        <p:spPr>
          <a:xfrm>
            <a:off x="6877260" y="2933947"/>
            <a:ext cx="548982" cy="198497"/>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E790281B-FE23-F340-9E7E-AD3053EB76EA}"/>
              </a:ext>
            </a:extLst>
          </p:cNvPr>
          <p:cNvCxnSpPr>
            <a:cxnSpLocks/>
            <a:stCxn id="26" idx="3"/>
            <a:endCxn id="20" idx="1"/>
          </p:cNvCxnSpPr>
          <p:nvPr/>
        </p:nvCxnSpPr>
        <p:spPr>
          <a:xfrm>
            <a:off x="6877260" y="3113236"/>
            <a:ext cx="548982" cy="632041"/>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282CD7BB-7B31-B942-A7AC-049F12913B94}"/>
              </a:ext>
            </a:extLst>
          </p:cNvPr>
          <p:cNvSpPr/>
          <p:nvPr/>
        </p:nvSpPr>
        <p:spPr>
          <a:xfrm>
            <a:off x="6229140" y="2263312"/>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ectangle 34">
            <a:extLst>
              <a:ext uri="{FF2B5EF4-FFF2-40B4-BE49-F238E27FC236}">
                <a16:creationId xmlns:a16="http://schemas.microsoft.com/office/drawing/2014/main" id="{9C42BC9F-E995-D54F-BA5A-8F7F10232DEF}"/>
              </a:ext>
            </a:extLst>
          </p:cNvPr>
          <p:cNvSpPr/>
          <p:nvPr/>
        </p:nvSpPr>
        <p:spPr>
          <a:xfrm>
            <a:off x="7426242" y="2272927"/>
            <a:ext cx="648120" cy="512957"/>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Rectangle 35">
            <a:extLst>
              <a:ext uri="{FF2B5EF4-FFF2-40B4-BE49-F238E27FC236}">
                <a16:creationId xmlns:a16="http://schemas.microsoft.com/office/drawing/2014/main" id="{CB69E52B-5169-B541-96BD-47D917282E26}"/>
              </a:ext>
            </a:extLst>
          </p:cNvPr>
          <p:cNvSpPr/>
          <p:nvPr/>
        </p:nvSpPr>
        <p:spPr>
          <a:xfrm>
            <a:off x="7426242" y="287750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5" name="Rectangle 44">
            <a:extLst>
              <a:ext uri="{FF2B5EF4-FFF2-40B4-BE49-F238E27FC236}">
                <a16:creationId xmlns:a16="http://schemas.microsoft.com/office/drawing/2014/main" id="{484C37ED-0B4A-1C44-A3E0-8A5CC07A1452}"/>
              </a:ext>
            </a:extLst>
          </p:cNvPr>
          <p:cNvSpPr/>
          <p:nvPr/>
        </p:nvSpPr>
        <p:spPr>
          <a:xfrm>
            <a:off x="6229140" y="3724777"/>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34</a:t>
            </a:r>
            <a:r>
              <a:rPr lang="zh-CN" altLang="en-US" sz="1100" dirty="0"/>
              <a:t>块</a:t>
            </a:r>
            <a:endParaRPr lang="en-CN" sz="1100" dirty="0"/>
          </a:p>
        </p:txBody>
      </p:sp>
      <p:sp>
        <p:nvSpPr>
          <p:cNvPr id="46" name="Rectangle 45">
            <a:extLst>
              <a:ext uri="{FF2B5EF4-FFF2-40B4-BE49-F238E27FC236}">
                <a16:creationId xmlns:a16="http://schemas.microsoft.com/office/drawing/2014/main" id="{0EBF7FBF-856F-F443-97A8-CB0ABC7B4D5E}"/>
              </a:ext>
            </a:extLst>
          </p:cNvPr>
          <p:cNvSpPr/>
          <p:nvPr/>
        </p:nvSpPr>
        <p:spPr>
          <a:xfrm>
            <a:off x="6229140" y="3902348"/>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35</a:t>
            </a:r>
            <a:r>
              <a:rPr lang="zh-CN" altLang="en-US" sz="1100" dirty="0"/>
              <a:t>块</a:t>
            </a:r>
            <a:endParaRPr lang="en-CN" sz="1100" dirty="0"/>
          </a:p>
        </p:txBody>
      </p:sp>
      <p:sp>
        <p:nvSpPr>
          <p:cNvPr id="47" name="Rectangle 46">
            <a:extLst>
              <a:ext uri="{FF2B5EF4-FFF2-40B4-BE49-F238E27FC236}">
                <a16:creationId xmlns:a16="http://schemas.microsoft.com/office/drawing/2014/main" id="{5F786334-524A-B741-A049-92DE88AAF388}"/>
              </a:ext>
            </a:extLst>
          </p:cNvPr>
          <p:cNvSpPr/>
          <p:nvPr/>
        </p:nvSpPr>
        <p:spPr>
          <a:xfrm>
            <a:off x="6229140" y="4081636"/>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48" name="Curved Connector 47">
            <a:extLst>
              <a:ext uri="{FF2B5EF4-FFF2-40B4-BE49-F238E27FC236}">
                <a16:creationId xmlns:a16="http://schemas.microsoft.com/office/drawing/2014/main" id="{42F959E5-7ADA-C449-A347-634AAB13F200}"/>
              </a:ext>
            </a:extLst>
          </p:cNvPr>
          <p:cNvCxnSpPr>
            <a:cxnSpLocks/>
            <a:stCxn id="47" idx="3"/>
            <a:endCxn id="20" idx="1"/>
          </p:cNvCxnSpPr>
          <p:nvPr/>
        </p:nvCxnSpPr>
        <p:spPr>
          <a:xfrm flipV="1">
            <a:off x="6877260" y="3745277"/>
            <a:ext cx="548982" cy="425145"/>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a:extLst>
              <a:ext uri="{FF2B5EF4-FFF2-40B4-BE49-F238E27FC236}">
                <a16:creationId xmlns:a16="http://schemas.microsoft.com/office/drawing/2014/main" id="{2E23D2FB-5182-AC48-9477-49A9926CB5A6}"/>
              </a:ext>
            </a:extLst>
          </p:cNvPr>
          <p:cNvCxnSpPr>
            <a:cxnSpLocks/>
            <a:stCxn id="46" idx="3"/>
            <a:endCxn id="51" idx="1"/>
          </p:cNvCxnSpPr>
          <p:nvPr/>
        </p:nvCxnSpPr>
        <p:spPr>
          <a:xfrm>
            <a:off x="6877260" y="3991134"/>
            <a:ext cx="548982" cy="1113064"/>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A3407F0-CC20-7F40-A758-F5C099FF25D8}"/>
              </a:ext>
            </a:extLst>
          </p:cNvPr>
          <p:cNvSpPr/>
          <p:nvPr/>
        </p:nvSpPr>
        <p:spPr>
          <a:xfrm>
            <a:off x="7426242" y="485325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CN" sz="1100" dirty="0"/>
          </a:p>
          <a:p>
            <a:pPr algn="ctr"/>
            <a:r>
              <a:rPr lang="zh-CN" altLang="en-US" sz="1100" dirty="0"/>
              <a:t>旧</a:t>
            </a:r>
            <a:r>
              <a:rPr lang="zh-CN" altLang="en-CN" sz="1100" dirty="0"/>
              <a:t>数据</a:t>
            </a:r>
            <a:endParaRPr lang="en-CN" sz="1100" dirty="0"/>
          </a:p>
        </p:txBody>
      </p:sp>
      <p:sp>
        <p:nvSpPr>
          <p:cNvPr id="52" name="Rectangle 51">
            <a:extLst>
              <a:ext uri="{FF2B5EF4-FFF2-40B4-BE49-F238E27FC236}">
                <a16:creationId xmlns:a16="http://schemas.microsoft.com/office/drawing/2014/main" id="{EC8949C4-81FD-524C-932A-192B95E5B412}"/>
              </a:ext>
            </a:extLst>
          </p:cNvPr>
          <p:cNvSpPr/>
          <p:nvPr/>
        </p:nvSpPr>
        <p:spPr>
          <a:xfrm>
            <a:off x="7426242" y="4211873"/>
            <a:ext cx="648120" cy="512957"/>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3" name="Rectangle 52">
            <a:extLst>
              <a:ext uri="{FF2B5EF4-FFF2-40B4-BE49-F238E27FC236}">
                <a16:creationId xmlns:a16="http://schemas.microsoft.com/office/drawing/2014/main" id="{730D9857-E395-C342-8BEB-163F5C114441}"/>
              </a:ext>
            </a:extLst>
          </p:cNvPr>
          <p:cNvSpPr/>
          <p:nvPr/>
        </p:nvSpPr>
        <p:spPr>
          <a:xfrm>
            <a:off x="7426242" y="4849260"/>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4" name="Rectangle 53">
            <a:extLst>
              <a:ext uri="{FF2B5EF4-FFF2-40B4-BE49-F238E27FC236}">
                <a16:creationId xmlns:a16="http://schemas.microsoft.com/office/drawing/2014/main" id="{C76D7ADA-9981-ED46-95D1-D4EC57848164}"/>
              </a:ext>
            </a:extLst>
          </p:cNvPr>
          <p:cNvSpPr/>
          <p:nvPr/>
        </p:nvSpPr>
        <p:spPr>
          <a:xfrm>
            <a:off x="7105412" y="1707547"/>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旧数据</a:t>
            </a:r>
            <a:br>
              <a:rPr lang="en-US" altLang="zh-CN" sz="1100" dirty="0"/>
            </a:br>
            <a:r>
              <a:rPr lang="zh-CN" altLang="en-US" sz="1100" dirty="0"/>
              <a:t> </a:t>
            </a:r>
            <a:endParaRPr lang="en-CN" sz="1100" dirty="0"/>
          </a:p>
        </p:txBody>
      </p:sp>
      <p:sp>
        <p:nvSpPr>
          <p:cNvPr id="55" name="Rectangle 54">
            <a:extLst>
              <a:ext uri="{FF2B5EF4-FFF2-40B4-BE49-F238E27FC236}">
                <a16:creationId xmlns:a16="http://schemas.microsoft.com/office/drawing/2014/main" id="{E7C72BC8-806D-5245-8507-56DE1C84E700}"/>
              </a:ext>
            </a:extLst>
          </p:cNvPr>
          <p:cNvSpPr/>
          <p:nvPr/>
        </p:nvSpPr>
        <p:spPr>
          <a:xfrm>
            <a:off x="7105412" y="195848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cxnSp>
        <p:nvCxnSpPr>
          <p:cNvPr id="56" name="Curved Connector 55">
            <a:extLst>
              <a:ext uri="{FF2B5EF4-FFF2-40B4-BE49-F238E27FC236}">
                <a16:creationId xmlns:a16="http://schemas.microsoft.com/office/drawing/2014/main" id="{D1F570E6-6575-4640-9B23-E8829A27D8F8}"/>
              </a:ext>
            </a:extLst>
          </p:cNvPr>
          <p:cNvCxnSpPr>
            <a:cxnSpLocks/>
            <a:stCxn id="45" idx="3"/>
            <a:endCxn id="52" idx="1"/>
          </p:cNvCxnSpPr>
          <p:nvPr/>
        </p:nvCxnSpPr>
        <p:spPr>
          <a:xfrm>
            <a:off x="6877260" y="3813563"/>
            <a:ext cx="548982" cy="654789"/>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urved Connector 58">
            <a:extLst>
              <a:ext uri="{FF2B5EF4-FFF2-40B4-BE49-F238E27FC236}">
                <a16:creationId xmlns:a16="http://schemas.microsoft.com/office/drawing/2014/main" id="{06EB2E4B-488B-544C-A72D-6985076DA8C0}"/>
              </a:ext>
            </a:extLst>
          </p:cNvPr>
          <p:cNvCxnSpPr>
            <a:cxnSpLocks/>
            <a:stCxn id="10" idx="3"/>
            <a:endCxn id="45" idx="1"/>
          </p:cNvCxnSpPr>
          <p:nvPr/>
        </p:nvCxnSpPr>
        <p:spPr>
          <a:xfrm>
            <a:off x="5627315" y="1819001"/>
            <a:ext cx="601825" cy="1994562"/>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urved Connector 61">
            <a:extLst>
              <a:ext uri="{FF2B5EF4-FFF2-40B4-BE49-F238E27FC236}">
                <a16:creationId xmlns:a16="http://schemas.microsoft.com/office/drawing/2014/main" id="{0164AEC2-23DE-704A-8FF7-9797C9A448CA}"/>
              </a:ext>
            </a:extLst>
          </p:cNvPr>
          <p:cNvCxnSpPr>
            <a:cxnSpLocks/>
            <a:stCxn id="9" idx="3"/>
            <a:endCxn id="54" idx="1"/>
          </p:cNvCxnSpPr>
          <p:nvPr/>
        </p:nvCxnSpPr>
        <p:spPr>
          <a:xfrm>
            <a:off x="5627315" y="1640233"/>
            <a:ext cx="1478097" cy="318255"/>
          </a:xfrm>
          <a:prstGeom prst="curvedConnector3">
            <a:avLst>
              <a:gd name="adj1" fmla="val 21177"/>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612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ontent Placeholder 2">
            <a:extLst>
              <a:ext uri="{FF2B5EF4-FFF2-40B4-BE49-F238E27FC236}">
                <a16:creationId xmlns:a16="http://schemas.microsoft.com/office/drawing/2014/main" id="{A1023471-3D10-6541-A554-04865CC9FF50}"/>
              </a:ext>
            </a:extLst>
          </p:cNvPr>
          <p:cNvSpPr>
            <a:spLocks noGrp="1"/>
          </p:cNvSpPr>
          <p:nvPr>
            <p:ph idx="1"/>
          </p:nvPr>
        </p:nvSpPr>
        <p:spPr>
          <a:xfrm>
            <a:off x="457200" y="1333501"/>
            <a:ext cx="8229600" cy="3771636"/>
          </a:xfrm>
        </p:spPr>
        <p:txBody>
          <a:bodyPr/>
          <a:lstStyle/>
          <a:p>
            <a:r>
              <a:rPr lang="zh-CN" altLang="en-US" sz="2000" b="0" dirty="0"/>
              <a:t>文件数据散落在多个数据块内</a:t>
            </a:r>
            <a:endParaRPr lang="en-US" altLang="zh-CN" sz="2000" b="0" dirty="0"/>
          </a:p>
          <a:p>
            <a:r>
              <a:rPr lang="zh-CN" altLang="en-US" sz="2000" b="0" dirty="0"/>
              <a:t>使用日志：数据需要写两遍</a:t>
            </a:r>
            <a:endParaRPr lang="en-US" altLang="zh-CN" sz="2000" b="0" dirty="0"/>
          </a:p>
          <a:p>
            <a:r>
              <a:rPr lang="zh-CN" altLang="en-US" sz="2000" b="0" dirty="0"/>
              <a:t>写时复制保证多个数据块原子更新</a:t>
            </a:r>
            <a:endParaRPr lang="en-US" altLang="zh-CN" sz="2000" b="0" dirty="0"/>
          </a:p>
          <a:p>
            <a:pPr lvl="1"/>
            <a:r>
              <a:rPr lang="zh-CN" altLang="en-US" sz="1600" dirty="0"/>
              <a:t>将要修改的数据块进行复制（分配新的块）</a:t>
            </a:r>
            <a:endParaRPr lang="en-US" altLang="zh-CN" sz="1600" b="0" dirty="0"/>
          </a:p>
          <a:p>
            <a:pPr lvl="1"/>
            <a:r>
              <a:rPr lang="zh-CN" altLang="en-US" sz="1600" b="0" dirty="0"/>
              <a:t>在新的数据块上修改数据</a:t>
            </a:r>
            <a:endParaRPr lang="en-US" altLang="zh-CN" sz="1600" b="0" dirty="0"/>
          </a:p>
          <a:p>
            <a:pPr lvl="1"/>
            <a:r>
              <a:rPr lang="zh-CN" altLang="en-US" sz="1600" dirty="0"/>
              <a:t>向上递归复制和修改，直到所有修改能原子完成</a:t>
            </a:r>
            <a:endParaRPr lang="en-US" altLang="zh-CN" sz="1600" dirty="0"/>
          </a:p>
          <a:p>
            <a:pPr lvl="1"/>
            <a:r>
              <a:rPr lang="zh-CN" altLang="en-US" sz="1600" b="0" dirty="0"/>
              <a:t>进行原子修改</a:t>
            </a:r>
            <a:endParaRPr lang="en-US" altLang="zh-CN" sz="1600" b="0" dirty="0"/>
          </a:p>
          <a:p>
            <a:pPr lvl="1"/>
            <a:r>
              <a:rPr lang="zh-CN" altLang="en-US" sz="1600" dirty="0"/>
              <a:t>回收资源</a:t>
            </a:r>
            <a:endParaRPr lang="en-US" altLang="zh-CN" sz="1600" b="0" dirty="0"/>
          </a:p>
          <a:p>
            <a:endParaRPr lang="en-CN" dirty="0"/>
          </a:p>
        </p:txBody>
      </p:sp>
      <p:sp>
        <p:nvSpPr>
          <p:cNvPr id="2" name="Title 1">
            <a:extLst>
              <a:ext uri="{FF2B5EF4-FFF2-40B4-BE49-F238E27FC236}">
                <a16:creationId xmlns:a16="http://schemas.microsoft.com/office/drawing/2014/main" id="{9B4054E4-E7A4-904C-B002-86D528827D55}"/>
              </a:ext>
            </a:extLst>
          </p:cNvPr>
          <p:cNvSpPr>
            <a:spLocks noGrp="1"/>
          </p:cNvSpPr>
          <p:nvPr>
            <p:ph type="title"/>
          </p:nvPr>
        </p:nvSpPr>
        <p:spPr/>
        <p:txBody>
          <a:bodyPr/>
          <a:lstStyle/>
          <a:p>
            <a:r>
              <a:rPr lang="zh-CN" altLang="en-US" dirty="0"/>
              <a:t>文件中的写时复制</a:t>
            </a:r>
            <a:endParaRPr lang="en-CN" dirty="0"/>
          </a:p>
        </p:txBody>
      </p:sp>
      <p:sp>
        <p:nvSpPr>
          <p:cNvPr id="4" name="Slide Number Placeholder 3">
            <a:extLst>
              <a:ext uri="{FF2B5EF4-FFF2-40B4-BE49-F238E27FC236}">
                <a16:creationId xmlns:a16="http://schemas.microsoft.com/office/drawing/2014/main" id="{071EE6C2-0229-4149-9783-351571E23A23}"/>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Footer Placeholder 4">
            <a:extLst>
              <a:ext uri="{FF2B5EF4-FFF2-40B4-BE49-F238E27FC236}">
                <a16:creationId xmlns:a16="http://schemas.microsoft.com/office/drawing/2014/main" id="{FCF97BEF-A225-3244-9CFA-67E6C470D5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9EE2CBF6-E6BC-6141-B00F-8DED24049A09}"/>
              </a:ext>
            </a:extLst>
          </p:cNvPr>
          <p:cNvSpPr/>
          <p:nvPr/>
        </p:nvSpPr>
        <p:spPr>
          <a:xfrm>
            <a:off x="4979195" y="494285"/>
            <a:ext cx="648120" cy="702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 name="Rectangle 6">
            <a:extLst>
              <a:ext uri="{FF2B5EF4-FFF2-40B4-BE49-F238E27FC236}">
                <a16:creationId xmlns:a16="http://schemas.microsoft.com/office/drawing/2014/main" id="{5C3C2BBB-4392-F541-9FDA-AC9EE4F39AD2}"/>
              </a:ext>
            </a:extLst>
          </p:cNvPr>
          <p:cNvSpPr/>
          <p:nvPr/>
        </p:nvSpPr>
        <p:spPr>
          <a:xfrm>
            <a:off x="4979195" y="119630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7</a:t>
            </a:r>
            <a:r>
              <a:rPr lang="zh-CN" altLang="en-US" sz="1100" dirty="0"/>
              <a:t>块</a:t>
            </a:r>
            <a:endParaRPr lang="en-CN" sz="1100" dirty="0"/>
          </a:p>
        </p:txBody>
      </p:sp>
      <p:sp>
        <p:nvSpPr>
          <p:cNvPr id="8" name="Rectangle 7">
            <a:extLst>
              <a:ext uri="{FF2B5EF4-FFF2-40B4-BE49-F238E27FC236}">
                <a16:creationId xmlns:a16="http://schemas.microsoft.com/office/drawing/2014/main" id="{3CD74C78-A76E-7243-AFDE-C942653C0D3E}"/>
              </a:ext>
            </a:extLst>
          </p:cNvPr>
          <p:cNvSpPr/>
          <p:nvPr/>
        </p:nvSpPr>
        <p:spPr>
          <a:xfrm>
            <a:off x="4979195" y="1373876"/>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8</a:t>
            </a:r>
            <a:r>
              <a:rPr lang="zh-CN" altLang="en-US" sz="1100" dirty="0"/>
              <a:t>块</a:t>
            </a:r>
            <a:endParaRPr lang="en-CN" sz="1100" dirty="0"/>
          </a:p>
        </p:txBody>
      </p:sp>
      <p:sp>
        <p:nvSpPr>
          <p:cNvPr id="9" name="Rectangle 8">
            <a:extLst>
              <a:ext uri="{FF2B5EF4-FFF2-40B4-BE49-F238E27FC236}">
                <a16:creationId xmlns:a16="http://schemas.microsoft.com/office/drawing/2014/main" id="{81782BBF-E469-DE43-92D3-FACAF99B4DBF}"/>
              </a:ext>
            </a:extLst>
          </p:cNvPr>
          <p:cNvSpPr/>
          <p:nvPr/>
        </p:nvSpPr>
        <p:spPr>
          <a:xfrm>
            <a:off x="4979195" y="1551447"/>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solidFill>
                  <a:srgbClr val="C00000"/>
                </a:solidFill>
              </a:rPr>
              <a:t>第</a:t>
            </a:r>
            <a:r>
              <a:rPr lang="en-US" altLang="zh-CN" sz="1100" dirty="0">
                <a:solidFill>
                  <a:srgbClr val="C00000"/>
                </a:solidFill>
              </a:rPr>
              <a:t>33</a:t>
            </a:r>
            <a:r>
              <a:rPr lang="zh-CN" altLang="en-US" sz="1100" dirty="0">
                <a:solidFill>
                  <a:srgbClr val="C00000"/>
                </a:solidFill>
              </a:rPr>
              <a:t>块</a:t>
            </a:r>
            <a:endParaRPr lang="en-CN" sz="1100" dirty="0">
              <a:solidFill>
                <a:srgbClr val="C00000"/>
              </a:solidFill>
            </a:endParaRPr>
          </a:p>
        </p:txBody>
      </p:sp>
      <p:sp>
        <p:nvSpPr>
          <p:cNvPr id="10" name="Rectangle 9">
            <a:extLst>
              <a:ext uri="{FF2B5EF4-FFF2-40B4-BE49-F238E27FC236}">
                <a16:creationId xmlns:a16="http://schemas.microsoft.com/office/drawing/2014/main" id="{1FF9E79E-2937-2C42-86EE-7D279F7DE257}"/>
              </a:ext>
            </a:extLst>
          </p:cNvPr>
          <p:cNvSpPr/>
          <p:nvPr/>
        </p:nvSpPr>
        <p:spPr>
          <a:xfrm>
            <a:off x="4979195" y="1730215"/>
            <a:ext cx="648120" cy="177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solidFill>
                  <a:srgbClr val="C00000"/>
                </a:solidFill>
              </a:rPr>
              <a:t>第</a:t>
            </a:r>
            <a:r>
              <a:rPr lang="en-US" altLang="zh-CN" sz="1100" dirty="0">
                <a:solidFill>
                  <a:srgbClr val="C00000"/>
                </a:solidFill>
              </a:rPr>
              <a:t>37</a:t>
            </a:r>
            <a:r>
              <a:rPr lang="zh-CN" altLang="en-US" sz="1100" dirty="0">
                <a:solidFill>
                  <a:srgbClr val="C00000"/>
                </a:solidFill>
              </a:rPr>
              <a:t>块</a:t>
            </a:r>
            <a:endParaRPr lang="en-CN" sz="1100" dirty="0">
              <a:solidFill>
                <a:srgbClr val="C00000"/>
              </a:solidFill>
            </a:endParaRPr>
          </a:p>
        </p:txBody>
      </p:sp>
      <p:sp>
        <p:nvSpPr>
          <p:cNvPr id="11" name="Rectangle 10">
            <a:extLst>
              <a:ext uri="{FF2B5EF4-FFF2-40B4-BE49-F238E27FC236}">
                <a16:creationId xmlns:a16="http://schemas.microsoft.com/office/drawing/2014/main" id="{DCAF1580-EEC6-9F40-9840-0A0E2DFFA55C}"/>
              </a:ext>
            </a:extLst>
          </p:cNvPr>
          <p:cNvSpPr/>
          <p:nvPr/>
        </p:nvSpPr>
        <p:spPr>
          <a:xfrm>
            <a:off x="6229140" y="680362"/>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2" name="Rectangle 11">
            <a:extLst>
              <a:ext uri="{FF2B5EF4-FFF2-40B4-BE49-F238E27FC236}">
                <a16:creationId xmlns:a16="http://schemas.microsoft.com/office/drawing/2014/main" id="{FBD79DF4-3E3D-2743-B6AF-1C2FEA3A8C4B}"/>
              </a:ext>
            </a:extLst>
          </p:cNvPr>
          <p:cNvSpPr/>
          <p:nvPr/>
        </p:nvSpPr>
        <p:spPr>
          <a:xfrm>
            <a:off x="6229140" y="1363481"/>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4" name="Curved Connector 13">
            <a:extLst>
              <a:ext uri="{FF2B5EF4-FFF2-40B4-BE49-F238E27FC236}">
                <a16:creationId xmlns:a16="http://schemas.microsoft.com/office/drawing/2014/main" id="{A00023A1-220D-864B-852B-91BDEA43416D}"/>
              </a:ext>
            </a:extLst>
          </p:cNvPr>
          <p:cNvCxnSpPr>
            <a:stCxn id="7" idx="3"/>
            <a:endCxn id="11" idx="1"/>
          </p:cNvCxnSpPr>
          <p:nvPr/>
        </p:nvCxnSpPr>
        <p:spPr>
          <a:xfrm flipV="1">
            <a:off x="5627315" y="931302"/>
            <a:ext cx="601826" cy="353789"/>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6696525D-557F-AA40-8EF2-8E68BD5775FF}"/>
              </a:ext>
            </a:extLst>
          </p:cNvPr>
          <p:cNvCxnSpPr>
            <a:cxnSpLocks/>
            <a:stCxn id="8" idx="3"/>
            <a:endCxn id="12" idx="1"/>
          </p:cNvCxnSpPr>
          <p:nvPr/>
        </p:nvCxnSpPr>
        <p:spPr>
          <a:xfrm>
            <a:off x="5627315" y="1462662"/>
            <a:ext cx="601826" cy="15176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C3AC2BE-8313-BE41-8D6B-3E76EF6EA2D6}"/>
              </a:ext>
            </a:extLst>
          </p:cNvPr>
          <p:cNvSpPr txBox="1"/>
          <p:nvPr/>
        </p:nvSpPr>
        <p:spPr>
          <a:xfrm>
            <a:off x="6076146" y="3280507"/>
            <a:ext cx="954107" cy="276999"/>
          </a:xfrm>
          <a:prstGeom prst="rect">
            <a:avLst/>
          </a:prstGeom>
          <a:noFill/>
        </p:spPr>
        <p:txBody>
          <a:bodyPr wrap="none" rtlCol="0">
            <a:spAutoFit/>
          </a:bodyPr>
          <a:lstStyle/>
          <a:p>
            <a:r>
              <a:rPr lang="zh-CN" altLang="en-US" sz="1200" dirty="0"/>
              <a:t>间接索引块</a:t>
            </a:r>
            <a:endParaRPr lang="en-CN" sz="1200" dirty="0"/>
          </a:p>
        </p:txBody>
      </p:sp>
      <p:sp>
        <p:nvSpPr>
          <p:cNvPr id="45" name="Rectangle 44">
            <a:extLst>
              <a:ext uri="{FF2B5EF4-FFF2-40B4-BE49-F238E27FC236}">
                <a16:creationId xmlns:a16="http://schemas.microsoft.com/office/drawing/2014/main" id="{484C37ED-0B4A-1C44-A3E0-8A5CC07A1452}"/>
              </a:ext>
            </a:extLst>
          </p:cNvPr>
          <p:cNvSpPr/>
          <p:nvPr/>
        </p:nvSpPr>
        <p:spPr>
          <a:xfrm>
            <a:off x="6229140" y="3724777"/>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第</a:t>
            </a:r>
            <a:r>
              <a:rPr lang="en-US" altLang="zh-CN" sz="1100" dirty="0"/>
              <a:t>34</a:t>
            </a:r>
            <a:r>
              <a:rPr lang="zh-CN" altLang="en-US" sz="1100" dirty="0"/>
              <a:t>块</a:t>
            </a:r>
            <a:endParaRPr lang="en-CN" sz="1100" dirty="0"/>
          </a:p>
        </p:txBody>
      </p:sp>
      <p:sp>
        <p:nvSpPr>
          <p:cNvPr id="46" name="Rectangle 45">
            <a:extLst>
              <a:ext uri="{FF2B5EF4-FFF2-40B4-BE49-F238E27FC236}">
                <a16:creationId xmlns:a16="http://schemas.microsoft.com/office/drawing/2014/main" id="{0EBF7FBF-856F-F443-97A8-CB0ABC7B4D5E}"/>
              </a:ext>
            </a:extLst>
          </p:cNvPr>
          <p:cNvSpPr/>
          <p:nvPr/>
        </p:nvSpPr>
        <p:spPr>
          <a:xfrm>
            <a:off x="6229140" y="3902348"/>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35</a:t>
            </a:r>
            <a:r>
              <a:rPr lang="zh-CN" altLang="en-US" sz="1100" dirty="0"/>
              <a:t>块</a:t>
            </a:r>
            <a:endParaRPr lang="en-CN" sz="1100" dirty="0"/>
          </a:p>
        </p:txBody>
      </p:sp>
      <p:sp>
        <p:nvSpPr>
          <p:cNvPr id="47" name="Rectangle 46">
            <a:extLst>
              <a:ext uri="{FF2B5EF4-FFF2-40B4-BE49-F238E27FC236}">
                <a16:creationId xmlns:a16="http://schemas.microsoft.com/office/drawing/2014/main" id="{5F786334-524A-B741-A049-92DE88AAF388}"/>
              </a:ext>
            </a:extLst>
          </p:cNvPr>
          <p:cNvSpPr/>
          <p:nvPr/>
        </p:nvSpPr>
        <p:spPr>
          <a:xfrm>
            <a:off x="6229140" y="4081636"/>
            <a:ext cx="648120" cy="17757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第</a:t>
            </a:r>
            <a:r>
              <a:rPr lang="en-US" altLang="zh-CN" sz="1100" dirty="0"/>
              <a:t>32</a:t>
            </a:r>
            <a:r>
              <a:rPr lang="zh-CN" altLang="en-US" sz="1100" dirty="0"/>
              <a:t>块</a:t>
            </a:r>
            <a:endParaRPr lang="en-CN" sz="1100" dirty="0"/>
          </a:p>
        </p:txBody>
      </p:sp>
      <p:cxnSp>
        <p:nvCxnSpPr>
          <p:cNvPr id="48" name="Curved Connector 47">
            <a:extLst>
              <a:ext uri="{FF2B5EF4-FFF2-40B4-BE49-F238E27FC236}">
                <a16:creationId xmlns:a16="http://schemas.microsoft.com/office/drawing/2014/main" id="{42F959E5-7ADA-C449-A347-634AAB13F200}"/>
              </a:ext>
            </a:extLst>
          </p:cNvPr>
          <p:cNvCxnSpPr>
            <a:cxnSpLocks/>
            <a:stCxn id="47" idx="3"/>
          </p:cNvCxnSpPr>
          <p:nvPr/>
        </p:nvCxnSpPr>
        <p:spPr>
          <a:xfrm flipV="1">
            <a:off x="6877260" y="3745277"/>
            <a:ext cx="548982" cy="425145"/>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a:extLst>
              <a:ext uri="{FF2B5EF4-FFF2-40B4-BE49-F238E27FC236}">
                <a16:creationId xmlns:a16="http://schemas.microsoft.com/office/drawing/2014/main" id="{2E23D2FB-5182-AC48-9477-49A9926CB5A6}"/>
              </a:ext>
            </a:extLst>
          </p:cNvPr>
          <p:cNvCxnSpPr>
            <a:cxnSpLocks/>
            <a:stCxn id="46" idx="3"/>
            <a:endCxn id="51" idx="1"/>
          </p:cNvCxnSpPr>
          <p:nvPr/>
        </p:nvCxnSpPr>
        <p:spPr>
          <a:xfrm>
            <a:off x="6877260" y="3991134"/>
            <a:ext cx="548982" cy="1113064"/>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A3407F0-CC20-7F40-A758-F5C099FF25D8}"/>
              </a:ext>
            </a:extLst>
          </p:cNvPr>
          <p:cNvSpPr/>
          <p:nvPr/>
        </p:nvSpPr>
        <p:spPr>
          <a:xfrm>
            <a:off x="7426242" y="4853257"/>
            <a:ext cx="648120" cy="501881"/>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CN" sz="1100" dirty="0"/>
          </a:p>
          <a:p>
            <a:pPr algn="ctr"/>
            <a:r>
              <a:rPr lang="zh-CN" altLang="en-US" sz="1100" dirty="0"/>
              <a:t>旧</a:t>
            </a:r>
            <a:r>
              <a:rPr lang="zh-CN" altLang="en-CN" sz="1100" dirty="0"/>
              <a:t>数据</a:t>
            </a:r>
            <a:endParaRPr lang="en-CN" sz="1100" dirty="0"/>
          </a:p>
        </p:txBody>
      </p:sp>
      <p:sp>
        <p:nvSpPr>
          <p:cNvPr id="52" name="Rectangle 51">
            <a:extLst>
              <a:ext uri="{FF2B5EF4-FFF2-40B4-BE49-F238E27FC236}">
                <a16:creationId xmlns:a16="http://schemas.microsoft.com/office/drawing/2014/main" id="{EC8949C4-81FD-524C-932A-192B95E5B412}"/>
              </a:ext>
            </a:extLst>
          </p:cNvPr>
          <p:cNvSpPr/>
          <p:nvPr/>
        </p:nvSpPr>
        <p:spPr>
          <a:xfrm>
            <a:off x="7426242" y="4211873"/>
            <a:ext cx="648120" cy="512957"/>
          </a:xfrm>
          <a:prstGeom prst="rect">
            <a:avLst/>
          </a:prstGeom>
          <a:solidFill>
            <a:schemeClr val="accent1">
              <a:alpha val="32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3" name="Rectangle 52">
            <a:extLst>
              <a:ext uri="{FF2B5EF4-FFF2-40B4-BE49-F238E27FC236}">
                <a16:creationId xmlns:a16="http://schemas.microsoft.com/office/drawing/2014/main" id="{730D9857-E395-C342-8BEB-163F5C114441}"/>
              </a:ext>
            </a:extLst>
          </p:cNvPr>
          <p:cNvSpPr/>
          <p:nvPr/>
        </p:nvSpPr>
        <p:spPr>
          <a:xfrm>
            <a:off x="7426242" y="4849260"/>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sp>
        <p:nvSpPr>
          <p:cNvPr id="54" name="Rectangle 53">
            <a:extLst>
              <a:ext uri="{FF2B5EF4-FFF2-40B4-BE49-F238E27FC236}">
                <a16:creationId xmlns:a16="http://schemas.microsoft.com/office/drawing/2014/main" id="{C76D7ADA-9981-ED46-95D1-D4EC57848164}"/>
              </a:ext>
            </a:extLst>
          </p:cNvPr>
          <p:cNvSpPr/>
          <p:nvPr/>
        </p:nvSpPr>
        <p:spPr>
          <a:xfrm>
            <a:off x="7105412" y="1707547"/>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旧数据</a:t>
            </a:r>
            <a:br>
              <a:rPr lang="en-US" altLang="zh-CN" sz="1100" dirty="0"/>
            </a:br>
            <a:r>
              <a:rPr lang="zh-CN" altLang="en-US" sz="1100" dirty="0"/>
              <a:t> </a:t>
            </a:r>
            <a:endParaRPr lang="en-CN" sz="1100" dirty="0"/>
          </a:p>
        </p:txBody>
      </p:sp>
      <p:sp>
        <p:nvSpPr>
          <p:cNvPr id="55" name="Rectangle 54">
            <a:extLst>
              <a:ext uri="{FF2B5EF4-FFF2-40B4-BE49-F238E27FC236}">
                <a16:creationId xmlns:a16="http://schemas.microsoft.com/office/drawing/2014/main" id="{E7C72BC8-806D-5245-8507-56DE1C84E700}"/>
              </a:ext>
            </a:extLst>
          </p:cNvPr>
          <p:cNvSpPr/>
          <p:nvPr/>
        </p:nvSpPr>
        <p:spPr>
          <a:xfrm>
            <a:off x="7105412" y="1958487"/>
            <a:ext cx="648120" cy="250941"/>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100" dirty="0">
                <a:solidFill>
                  <a:srgbClr val="C00000"/>
                </a:solidFill>
              </a:rPr>
              <a:t>新数据</a:t>
            </a:r>
            <a:endParaRPr lang="en-CN" sz="1100" dirty="0">
              <a:solidFill>
                <a:srgbClr val="C00000"/>
              </a:solidFill>
            </a:endParaRPr>
          </a:p>
        </p:txBody>
      </p:sp>
      <p:cxnSp>
        <p:nvCxnSpPr>
          <p:cNvPr id="56" name="Curved Connector 55">
            <a:extLst>
              <a:ext uri="{FF2B5EF4-FFF2-40B4-BE49-F238E27FC236}">
                <a16:creationId xmlns:a16="http://schemas.microsoft.com/office/drawing/2014/main" id="{D1F570E6-6575-4640-9B23-E8829A27D8F8}"/>
              </a:ext>
            </a:extLst>
          </p:cNvPr>
          <p:cNvCxnSpPr>
            <a:cxnSpLocks/>
            <a:stCxn id="45" idx="3"/>
            <a:endCxn id="52" idx="1"/>
          </p:cNvCxnSpPr>
          <p:nvPr/>
        </p:nvCxnSpPr>
        <p:spPr>
          <a:xfrm>
            <a:off x="6877260" y="3813563"/>
            <a:ext cx="548982" cy="654789"/>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urved Connector 58">
            <a:extLst>
              <a:ext uri="{FF2B5EF4-FFF2-40B4-BE49-F238E27FC236}">
                <a16:creationId xmlns:a16="http://schemas.microsoft.com/office/drawing/2014/main" id="{06EB2E4B-488B-544C-A72D-6985076DA8C0}"/>
              </a:ext>
            </a:extLst>
          </p:cNvPr>
          <p:cNvCxnSpPr>
            <a:cxnSpLocks/>
            <a:stCxn id="10" idx="3"/>
            <a:endCxn id="45" idx="1"/>
          </p:cNvCxnSpPr>
          <p:nvPr/>
        </p:nvCxnSpPr>
        <p:spPr>
          <a:xfrm>
            <a:off x="5627315" y="1819001"/>
            <a:ext cx="601825" cy="1994562"/>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urved Connector 61">
            <a:extLst>
              <a:ext uri="{FF2B5EF4-FFF2-40B4-BE49-F238E27FC236}">
                <a16:creationId xmlns:a16="http://schemas.microsoft.com/office/drawing/2014/main" id="{0164AEC2-23DE-704A-8FF7-9797C9A448CA}"/>
              </a:ext>
            </a:extLst>
          </p:cNvPr>
          <p:cNvCxnSpPr>
            <a:cxnSpLocks/>
            <a:stCxn id="9" idx="3"/>
            <a:endCxn id="54" idx="1"/>
          </p:cNvCxnSpPr>
          <p:nvPr/>
        </p:nvCxnSpPr>
        <p:spPr>
          <a:xfrm>
            <a:off x="5627315" y="1640233"/>
            <a:ext cx="1478097" cy="318255"/>
          </a:xfrm>
          <a:prstGeom prst="curvedConnector3">
            <a:avLst>
              <a:gd name="adj1" fmla="val 21177"/>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F9313D75-96F2-2C4C-93C2-3CF48D71CA18}"/>
              </a:ext>
            </a:extLst>
          </p:cNvPr>
          <p:cNvSpPr/>
          <p:nvPr/>
        </p:nvSpPr>
        <p:spPr>
          <a:xfrm>
            <a:off x="7426242" y="3494336"/>
            <a:ext cx="648120" cy="5018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Tree>
    <p:extLst>
      <p:ext uri="{BB962C8B-B14F-4D97-AF65-F5344CB8AC3E}">
        <p14:creationId xmlns:p14="http://schemas.microsoft.com/office/powerpoint/2010/main" val="144075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F4CE4-2211-974C-853B-3D1A91E94262}"/>
              </a:ext>
            </a:extLst>
          </p:cNvPr>
          <p:cNvSpPr>
            <a:spLocks noGrp="1"/>
          </p:cNvSpPr>
          <p:nvPr>
            <p:ph type="title"/>
          </p:nvPr>
        </p:nvSpPr>
        <p:spPr/>
        <p:txBody>
          <a:bodyPr/>
          <a:lstStyle/>
          <a:p>
            <a:r>
              <a:rPr lang="zh-CN" altLang="en-CN" dirty="0"/>
              <a:t>思考时间</a:t>
            </a:r>
            <a:r>
              <a:rPr lang="en-US" altLang="zh-CN" dirty="0"/>
              <a:t>🤔</a:t>
            </a:r>
            <a:endParaRPr lang="en-CN" dirty="0"/>
          </a:p>
        </p:txBody>
      </p:sp>
      <p:sp>
        <p:nvSpPr>
          <p:cNvPr id="3" name="Content Placeholder 2">
            <a:extLst>
              <a:ext uri="{FF2B5EF4-FFF2-40B4-BE49-F238E27FC236}">
                <a16:creationId xmlns:a16="http://schemas.microsoft.com/office/drawing/2014/main" id="{6505C944-7BD7-5A4F-86E5-50BBFECE2827}"/>
              </a:ext>
            </a:extLst>
          </p:cNvPr>
          <p:cNvSpPr>
            <a:spLocks noGrp="1"/>
          </p:cNvSpPr>
          <p:nvPr>
            <p:ph idx="1"/>
          </p:nvPr>
        </p:nvSpPr>
        <p:spPr/>
        <p:txBody>
          <a:bodyPr/>
          <a:lstStyle/>
          <a:p>
            <a:r>
              <a:rPr lang="zh-CN" altLang="en-US" b="0" dirty="0"/>
              <a:t>对于文件的修改，写时复制一定比日志更高效吗？</a:t>
            </a:r>
            <a:endParaRPr lang="en-US" altLang="zh-CN" b="0" dirty="0"/>
          </a:p>
          <a:p>
            <a:r>
              <a:rPr lang="zh-CN" altLang="en-US" b="0" dirty="0"/>
              <a:t>写时复制和日志各自的优缺点有哪些？</a:t>
            </a:r>
            <a:endParaRPr lang="en-US" altLang="zh-CN" b="0" dirty="0"/>
          </a:p>
          <a:p>
            <a:r>
              <a:rPr lang="zh-CN" altLang="en-US" b="0" dirty="0"/>
              <a:t>能否只用写时复制来实现一个文件系统？</a:t>
            </a:r>
            <a:endParaRPr lang="en-CN" b="0" dirty="0"/>
          </a:p>
        </p:txBody>
      </p:sp>
      <p:sp>
        <p:nvSpPr>
          <p:cNvPr id="4" name="Slide Number Placeholder 3">
            <a:extLst>
              <a:ext uri="{FF2B5EF4-FFF2-40B4-BE49-F238E27FC236}">
                <a16:creationId xmlns:a16="http://schemas.microsoft.com/office/drawing/2014/main" id="{F3999295-927D-5C4E-8B99-981D70DEE16A}"/>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Footer Placeholder 4">
            <a:extLst>
              <a:ext uri="{FF2B5EF4-FFF2-40B4-BE49-F238E27FC236}">
                <a16:creationId xmlns:a16="http://schemas.microsoft.com/office/drawing/2014/main" id="{D7DE1C4B-2BB2-C54A-817D-EF49AE5C4FD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640745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67AF0-9DA5-4C4E-A30F-1C031BCC8A5D}"/>
              </a:ext>
            </a:extLst>
          </p:cNvPr>
          <p:cNvSpPr>
            <a:spLocks noGrp="1"/>
          </p:cNvSpPr>
          <p:nvPr>
            <p:ph type="title"/>
          </p:nvPr>
        </p:nvSpPr>
        <p:spPr/>
        <p:txBody>
          <a:bodyPr>
            <a:normAutofit/>
          </a:bodyPr>
          <a:lstStyle/>
          <a:p>
            <a:r>
              <a:rPr lang="en-US" altLang="zh-CN" dirty="0"/>
              <a:t>"</a:t>
            </a:r>
            <a:r>
              <a:rPr lang="zh-CN" altLang="en-CN" dirty="0"/>
              <a:t>写</a:t>
            </a:r>
            <a:r>
              <a:rPr lang="zh-CN" altLang="en-US" dirty="0"/>
              <a:t>时复制</a:t>
            </a:r>
            <a:r>
              <a:rPr lang="en-US" altLang="zh-CN" dirty="0"/>
              <a:t>"</a:t>
            </a:r>
            <a:r>
              <a:rPr lang="zh-CN" altLang="en-US" dirty="0"/>
              <a:t>文件系统</a:t>
            </a:r>
            <a:endParaRPr lang="en-CN" dirty="0"/>
          </a:p>
        </p:txBody>
      </p:sp>
      <p:sp>
        <p:nvSpPr>
          <p:cNvPr id="3" name="Content Placeholder 2">
            <a:extLst>
              <a:ext uri="{FF2B5EF4-FFF2-40B4-BE49-F238E27FC236}">
                <a16:creationId xmlns:a16="http://schemas.microsoft.com/office/drawing/2014/main" id="{4E0D77A0-A1E5-7D45-B2C5-C419BEB872DB}"/>
              </a:ext>
            </a:extLst>
          </p:cNvPr>
          <p:cNvSpPr>
            <a:spLocks noGrp="1"/>
          </p:cNvSpPr>
          <p:nvPr>
            <p:ph idx="1"/>
          </p:nvPr>
        </p:nvSpPr>
        <p:spPr/>
        <p:txBody>
          <a:bodyPr/>
          <a:lstStyle/>
          <a:p>
            <a:r>
              <a:rPr lang="zh-CN" altLang="en-CN" b="0" dirty="0"/>
              <a:t>写</a:t>
            </a:r>
            <a:r>
              <a:rPr lang="zh-CN" altLang="en-US" b="0" dirty="0"/>
              <a:t>时复制也可用于整个文件系统</a:t>
            </a:r>
            <a:endParaRPr lang="en-US" altLang="zh-CN" b="0" dirty="0"/>
          </a:p>
          <a:p>
            <a:r>
              <a:rPr lang="en-US" altLang="zh-CN" b="0" dirty="0" err="1"/>
              <a:t>Btrfs</a:t>
            </a:r>
            <a:r>
              <a:rPr lang="zh-CN" altLang="en-US" b="0" dirty="0"/>
              <a:t> </a:t>
            </a:r>
            <a:r>
              <a:rPr lang="en-US" altLang="zh-CN" b="0" dirty="0"/>
              <a:t>(B-tree</a:t>
            </a:r>
            <a:r>
              <a:rPr lang="zh-CN" altLang="en-US" b="0" dirty="0"/>
              <a:t> </a:t>
            </a:r>
            <a:r>
              <a:rPr lang="en-US" altLang="zh-CN" b="0" dirty="0"/>
              <a:t>FS)</a:t>
            </a:r>
            <a:endParaRPr lang="en-CN" b="0" dirty="0"/>
          </a:p>
        </p:txBody>
      </p:sp>
      <p:sp>
        <p:nvSpPr>
          <p:cNvPr id="4" name="Slide Number Placeholder 3">
            <a:extLst>
              <a:ext uri="{FF2B5EF4-FFF2-40B4-BE49-F238E27FC236}">
                <a16:creationId xmlns:a16="http://schemas.microsoft.com/office/drawing/2014/main" id="{892EDF27-C93E-124A-AA3D-571F5A3102CB}"/>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5" name="Footer Placeholder 4">
            <a:extLst>
              <a:ext uri="{FF2B5EF4-FFF2-40B4-BE49-F238E27FC236}">
                <a16:creationId xmlns:a16="http://schemas.microsoft.com/office/drawing/2014/main" id="{F3AD70DD-81CA-DF4F-BACC-C37438A4925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58" name="Group 57">
            <a:extLst>
              <a:ext uri="{FF2B5EF4-FFF2-40B4-BE49-F238E27FC236}">
                <a16:creationId xmlns:a16="http://schemas.microsoft.com/office/drawing/2014/main" id="{0B2A2746-B934-2C40-842B-862B3534B3BD}"/>
              </a:ext>
            </a:extLst>
          </p:cNvPr>
          <p:cNvGrpSpPr/>
          <p:nvPr/>
        </p:nvGrpSpPr>
        <p:grpSpPr>
          <a:xfrm>
            <a:off x="971600" y="1622643"/>
            <a:ext cx="7564071" cy="3482494"/>
            <a:chOff x="608330" y="1022486"/>
            <a:chExt cx="8447266" cy="3889116"/>
          </a:xfrm>
        </p:grpSpPr>
        <p:sp>
          <p:nvSpPr>
            <p:cNvPr id="6" name="Rounded Rectangle 5">
              <a:extLst>
                <a:ext uri="{FF2B5EF4-FFF2-40B4-BE49-F238E27FC236}">
                  <a16:creationId xmlns:a16="http://schemas.microsoft.com/office/drawing/2014/main" id="{60AB696D-DD19-CA46-9927-EAA5F57392BB}"/>
                </a:ext>
              </a:extLst>
            </p:cNvPr>
            <p:cNvSpPr/>
            <p:nvPr/>
          </p:nvSpPr>
          <p:spPr>
            <a:xfrm>
              <a:off x="5832140" y="1022486"/>
              <a:ext cx="1475184" cy="57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400" dirty="0"/>
                <a:t>超级块</a:t>
              </a:r>
              <a:endParaRPr lang="en-CN" sz="1400" dirty="0"/>
            </a:p>
          </p:txBody>
        </p:sp>
        <p:sp>
          <p:nvSpPr>
            <p:cNvPr id="7" name="Rounded Rectangle 6">
              <a:extLst>
                <a:ext uri="{FF2B5EF4-FFF2-40B4-BE49-F238E27FC236}">
                  <a16:creationId xmlns:a16="http://schemas.microsoft.com/office/drawing/2014/main" id="{0B79AAD5-DE1A-A446-B4CB-4369930F3F90}"/>
                </a:ext>
              </a:extLst>
            </p:cNvPr>
            <p:cNvSpPr/>
            <p:nvPr/>
          </p:nvSpPr>
          <p:spPr>
            <a:xfrm>
              <a:off x="3491880" y="2389448"/>
              <a:ext cx="2160240" cy="57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400" dirty="0"/>
                <a:t>根</a:t>
              </a:r>
              <a:r>
                <a:rPr lang="zh-CN" altLang="en-US" sz="1400" dirty="0"/>
                <a:t>树</a:t>
              </a:r>
              <a:endParaRPr lang="en-CN" sz="1400" dirty="0"/>
            </a:p>
          </p:txBody>
        </p:sp>
        <p:sp>
          <p:nvSpPr>
            <p:cNvPr id="9" name="Triangle 8">
              <a:extLst>
                <a:ext uri="{FF2B5EF4-FFF2-40B4-BE49-F238E27FC236}">
                  <a16:creationId xmlns:a16="http://schemas.microsoft.com/office/drawing/2014/main" id="{5176629F-6E04-EA4E-B814-F2EF3323EF52}"/>
                </a:ext>
              </a:extLst>
            </p:cNvPr>
            <p:cNvSpPr/>
            <p:nvPr/>
          </p:nvSpPr>
          <p:spPr>
            <a:xfrm>
              <a:off x="7580412" y="2574886"/>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400" dirty="0"/>
                <a:t>C</a:t>
              </a:r>
              <a:r>
                <a:rPr lang="en-CN" sz="1400" dirty="0"/>
                <a:t>hunk</a:t>
              </a:r>
              <a:r>
                <a:rPr lang="zh-CN" altLang="en-CN" sz="1400" dirty="0"/>
                <a:t>树</a:t>
              </a:r>
              <a:endParaRPr lang="en-CN" sz="1400" dirty="0"/>
            </a:p>
          </p:txBody>
        </p:sp>
        <p:sp>
          <p:nvSpPr>
            <p:cNvPr id="11" name="Triangle 10">
              <a:extLst>
                <a:ext uri="{FF2B5EF4-FFF2-40B4-BE49-F238E27FC236}">
                  <a16:creationId xmlns:a16="http://schemas.microsoft.com/office/drawing/2014/main" id="{1A05303E-30B4-264B-B8DE-00D0FFD6F4FB}"/>
                </a:ext>
              </a:extLst>
            </p:cNvPr>
            <p:cNvSpPr/>
            <p:nvPr/>
          </p:nvSpPr>
          <p:spPr>
            <a:xfrm>
              <a:off x="608330" y="3975498"/>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400" dirty="0"/>
                <a:t>区段</a:t>
              </a:r>
              <a:r>
                <a:rPr lang="zh-CN" altLang="en-CN" sz="1400" dirty="0"/>
                <a:t>树</a:t>
              </a:r>
              <a:endParaRPr lang="en-CN" sz="1400" dirty="0"/>
            </a:p>
          </p:txBody>
        </p:sp>
        <p:sp>
          <p:nvSpPr>
            <p:cNvPr id="12" name="Triangle 11">
              <a:extLst>
                <a:ext uri="{FF2B5EF4-FFF2-40B4-BE49-F238E27FC236}">
                  <a16:creationId xmlns:a16="http://schemas.microsoft.com/office/drawing/2014/main" id="{B6FABBAC-D373-C24E-8ED3-3C9DB69261AC}"/>
                </a:ext>
              </a:extLst>
            </p:cNvPr>
            <p:cNvSpPr/>
            <p:nvPr/>
          </p:nvSpPr>
          <p:spPr>
            <a:xfrm>
              <a:off x="2262721" y="3975498"/>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400" dirty="0"/>
                <a:t>设备</a:t>
              </a:r>
              <a:r>
                <a:rPr lang="zh-CN" altLang="en-CN" sz="1400" dirty="0"/>
                <a:t>树</a:t>
              </a:r>
              <a:endParaRPr lang="en-CN" sz="1400" dirty="0"/>
            </a:p>
          </p:txBody>
        </p:sp>
        <p:sp>
          <p:nvSpPr>
            <p:cNvPr id="13" name="Triangle 12">
              <a:extLst>
                <a:ext uri="{FF2B5EF4-FFF2-40B4-BE49-F238E27FC236}">
                  <a16:creationId xmlns:a16="http://schemas.microsoft.com/office/drawing/2014/main" id="{8935B417-D956-1A46-8A04-2C4C5A0D250A}"/>
                </a:ext>
              </a:extLst>
            </p:cNvPr>
            <p:cNvSpPr/>
            <p:nvPr/>
          </p:nvSpPr>
          <p:spPr>
            <a:xfrm>
              <a:off x="3930911" y="3975498"/>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dirty="0"/>
                <a:t>FS</a:t>
              </a:r>
              <a:r>
                <a:rPr lang="zh-CN" altLang="en-CN" sz="1400" dirty="0"/>
                <a:t>树</a:t>
              </a:r>
              <a:endParaRPr lang="en-CN" sz="1400" dirty="0"/>
            </a:p>
          </p:txBody>
        </p:sp>
        <p:sp>
          <p:nvSpPr>
            <p:cNvPr id="14" name="Triangle 13">
              <a:extLst>
                <a:ext uri="{FF2B5EF4-FFF2-40B4-BE49-F238E27FC236}">
                  <a16:creationId xmlns:a16="http://schemas.microsoft.com/office/drawing/2014/main" id="{033110CB-5C5E-ED44-9ABD-C015CFF41E50}"/>
                </a:ext>
              </a:extLst>
            </p:cNvPr>
            <p:cNvSpPr/>
            <p:nvPr/>
          </p:nvSpPr>
          <p:spPr>
            <a:xfrm>
              <a:off x="5502598" y="3975498"/>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400" dirty="0"/>
                <a:t>校验码</a:t>
              </a:r>
              <a:r>
                <a:rPr lang="zh-CN" altLang="en-CN" sz="1400" dirty="0"/>
                <a:t>树</a:t>
              </a:r>
              <a:endParaRPr lang="en-CN" sz="1400" dirty="0"/>
            </a:p>
          </p:txBody>
        </p:sp>
        <p:sp>
          <p:nvSpPr>
            <p:cNvPr id="15" name="Triangle 14">
              <a:extLst>
                <a:ext uri="{FF2B5EF4-FFF2-40B4-BE49-F238E27FC236}">
                  <a16:creationId xmlns:a16="http://schemas.microsoft.com/office/drawing/2014/main" id="{D1CEF10C-A130-5149-AFE2-2279D140E999}"/>
                </a:ext>
              </a:extLst>
            </p:cNvPr>
            <p:cNvSpPr/>
            <p:nvPr/>
          </p:nvSpPr>
          <p:spPr>
            <a:xfrm>
              <a:off x="7063768" y="3975498"/>
              <a:ext cx="1475184" cy="93610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CN" sz="1400" dirty="0"/>
                <a:t>数据</a:t>
              </a:r>
              <a:r>
                <a:rPr lang="zh-CN" altLang="en-US" sz="1400" dirty="0"/>
                <a:t>移动树</a:t>
              </a:r>
              <a:endParaRPr lang="en-CN" sz="1400" dirty="0"/>
            </a:p>
          </p:txBody>
        </p:sp>
      </p:grpSp>
      <p:cxnSp>
        <p:nvCxnSpPr>
          <p:cNvPr id="17" name="Straight Arrow Connector 16">
            <a:extLst>
              <a:ext uri="{FF2B5EF4-FFF2-40B4-BE49-F238E27FC236}">
                <a16:creationId xmlns:a16="http://schemas.microsoft.com/office/drawing/2014/main" id="{FD8439DF-290C-A943-A30D-3ABE9D3FB249}"/>
              </a:ext>
            </a:extLst>
          </p:cNvPr>
          <p:cNvCxnSpPr>
            <a:stCxn id="6" idx="2"/>
            <a:endCxn id="7" idx="0"/>
          </p:cNvCxnSpPr>
          <p:nvPr/>
        </p:nvCxnSpPr>
        <p:spPr>
          <a:xfrm flipH="1">
            <a:off x="4520852" y="2138477"/>
            <a:ext cx="1788862" cy="708207"/>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4380897-DF23-AC4F-836C-DDFA1B3E5629}"/>
              </a:ext>
            </a:extLst>
          </p:cNvPr>
          <p:cNvCxnSpPr>
            <a:cxnSpLocks/>
            <a:stCxn id="6" idx="2"/>
            <a:endCxn id="9" idx="0"/>
          </p:cNvCxnSpPr>
          <p:nvPr/>
        </p:nvCxnSpPr>
        <p:spPr>
          <a:xfrm>
            <a:off x="6309714" y="2138477"/>
            <a:ext cx="1565483" cy="874257"/>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4A2DA30-7256-4447-8CC4-A5DCDE3D9DDA}"/>
              </a:ext>
            </a:extLst>
          </p:cNvPr>
          <p:cNvCxnSpPr>
            <a:cxnSpLocks/>
            <a:stCxn id="7" idx="2"/>
            <a:endCxn id="15" idx="0"/>
          </p:cNvCxnSpPr>
          <p:nvPr/>
        </p:nvCxnSpPr>
        <p:spPr>
          <a:xfrm>
            <a:off x="4520852" y="3362518"/>
            <a:ext cx="2891718" cy="90438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AAC4E27-7BE0-084E-B817-A024C625C696}"/>
              </a:ext>
            </a:extLst>
          </p:cNvPr>
          <p:cNvCxnSpPr>
            <a:cxnSpLocks/>
            <a:stCxn id="7" idx="2"/>
            <a:endCxn id="14" idx="0"/>
          </p:cNvCxnSpPr>
          <p:nvPr/>
        </p:nvCxnSpPr>
        <p:spPr>
          <a:xfrm>
            <a:off x="4520852" y="3362518"/>
            <a:ext cx="1493775" cy="90438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A451E30-8F5A-4840-80CA-6ED8DD5E1231}"/>
              </a:ext>
            </a:extLst>
          </p:cNvPr>
          <p:cNvCxnSpPr>
            <a:cxnSpLocks/>
            <a:stCxn id="7" idx="2"/>
            <a:endCxn id="13" idx="0"/>
          </p:cNvCxnSpPr>
          <p:nvPr/>
        </p:nvCxnSpPr>
        <p:spPr>
          <a:xfrm>
            <a:off x="4520852" y="3362518"/>
            <a:ext cx="86414" cy="90438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8384BF4-F127-FA4B-963F-AAEEB979EF03}"/>
              </a:ext>
            </a:extLst>
          </p:cNvPr>
          <p:cNvCxnSpPr>
            <a:cxnSpLocks/>
            <a:stCxn id="7" idx="2"/>
            <a:endCxn id="12" idx="0"/>
          </p:cNvCxnSpPr>
          <p:nvPr/>
        </p:nvCxnSpPr>
        <p:spPr>
          <a:xfrm flipH="1">
            <a:off x="3113492" y="3362518"/>
            <a:ext cx="1407360" cy="90438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5E05676-4A36-A34C-B50B-A65B2B323DE4}"/>
              </a:ext>
            </a:extLst>
          </p:cNvPr>
          <p:cNvCxnSpPr>
            <a:cxnSpLocks/>
            <a:stCxn id="7" idx="2"/>
            <a:endCxn id="11" idx="0"/>
          </p:cNvCxnSpPr>
          <p:nvPr/>
        </p:nvCxnSpPr>
        <p:spPr>
          <a:xfrm flipH="1">
            <a:off x="1632074" y="3362518"/>
            <a:ext cx="2888778" cy="90438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73687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3AF090E-1E95-584A-82BD-B87F87DFC615}"/>
              </a:ext>
            </a:extLst>
          </p:cNvPr>
          <p:cNvSpPr>
            <a:spLocks noGrp="1"/>
          </p:cNvSpPr>
          <p:nvPr>
            <p:ph type="title"/>
          </p:nvPr>
        </p:nvSpPr>
        <p:spPr/>
        <p:txBody>
          <a:bodyPr/>
          <a:lstStyle/>
          <a:p>
            <a:r>
              <a:rPr lang="en-US" altLang="zh-CN" dirty="0"/>
              <a:t>Soft</a:t>
            </a:r>
            <a:r>
              <a:rPr lang="zh-CN" altLang="en-US" dirty="0"/>
              <a:t> </a:t>
            </a:r>
            <a:r>
              <a:rPr lang="en-US" altLang="zh-CN" dirty="0"/>
              <a:t>updates</a:t>
            </a:r>
            <a:endParaRPr lang="en-CN" dirty="0"/>
          </a:p>
        </p:txBody>
      </p:sp>
      <p:sp>
        <p:nvSpPr>
          <p:cNvPr id="7" name="Text Placeholder 6">
            <a:extLst>
              <a:ext uri="{FF2B5EF4-FFF2-40B4-BE49-F238E27FC236}">
                <a16:creationId xmlns:a16="http://schemas.microsoft.com/office/drawing/2014/main" id="{EBED6BA0-1B03-6449-AA99-CA8352954B1A}"/>
              </a:ext>
            </a:extLst>
          </p:cNvPr>
          <p:cNvSpPr>
            <a:spLocks noGrp="1"/>
          </p:cNvSpPr>
          <p:nvPr>
            <p:ph type="body" idx="1"/>
          </p:nvPr>
        </p:nvSpPr>
        <p:spPr/>
        <p:txBody>
          <a:bodyPr/>
          <a:lstStyle/>
          <a:p>
            <a:endParaRPr lang="en-CN"/>
          </a:p>
        </p:txBody>
      </p:sp>
      <p:sp>
        <p:nvSpPr>
          <p:cNvPr id="4" name="Slide Number Placeholder 3">
            <a:extLst>
              <a:ext uri="{FF2B5EF4-FFF2-40B4-BE49-F238E27FC236}">
                <a16:creationId xmlns:a16="http://schemas.microsoft.com/office/drawing/2014/main" id="{12681AB2-00A9-514B-A025-EB03B6EBA28F}"/>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Footer Placeholder 4">
            <a:extLst>
              <a:ext uri="{FF2B5EF4-FFF2-40B4-BE49-F238E27FC236}">
                <a16:creationId xmlns:a16="http://schemas.microsoft.com/office/drawing/2014/main" id="{35AB93F5-52A8-8441-87E4-28BE76E8A5D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135374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a:xfrm>
            <a:off x="457200" y="1129308"/>
            <a:ext cx="8229600" cy="3975829"/>
          </a:xfrm>
        </p:spPr>
        <p:txBody>
          <a:bodyPr>
            <a:normAutofit/>
          </a:bodyPr>
          <a:lstStyle/>
          <a:p>
            <a:r>
              <a:rPr lang="zh-CN" altLang="en-US" sz="2000" b="0" dirty="0"/>
              <a:t>一些不一致情况是</a:t>
            </a:r>
            <a:r>
              <a:rPr lang="zh-CN" altLang="en-US" sz="2000" b="0" dirty="0">
                <a:solidFill>
                  <a:schemeClr val="accent1"/>
                </a:solidFill>
              </a:rPr>
              <a:t>良性</a:t>
            </a:r>
            <a:r>
              <a:rPr lang="zh-CN" altLang="en-US" sz="2000" b="0" dirty="0"/>
              <a:t>的</a:t>
            </a:r>
            <a:endParaRPr lang="en-US" altLang="zh-CN" sz="2000" b="0" dirty="0"/>
          </a:p>
          <a:p>
            <a:pPr lvl="1"/>
            <a:r>
              <a:rPr lang="zh-CN" altLang="en-US" sz="1800" dirty="0"/>
              <a:t>某</a:t>
            </a:r>
            <a:r>
              <a:rPr lang="en-US" altLang="zh-CN" sz="1800" dirty="0" err="1"/>
              <a:t>inode</a:t>
            </a:r>
            <a:r>
              <a:rPr lang="zh-CN" altLang="en-US" sz="1800" dirty="0"/>
              <a:t>被标记为占用，却从文件系统中无法遍历到该</a:t>
            </a:r>
            <a:r>
              <a:rPr lang="en-US" altLang="zh-CN" sz="1800" dirty="0" err="1"/>
              <a:t>inode</a:t>
            </a:r>
            <a:endParaRPr lang="en-US" altLang="zh-CN" sz="1800" dirty="0"/>
          </a:p>
          <a:p>
            <a:pPr lvl="2"/>
            <a:r>
              <a:rPr lang="zh-CN" altLang="en-US" sz="1800" dirty="0"/>
              <a:t>如创建文件：</a:t>
            </a:r>
            <a:endParaRPr lang="en-US" altLang="zh-CN" sz="1800" dirty="0"/>
          </a:p>
          <a:p>
            <a:pPr marL="1314450" lvl="3" indent="0">
              <a:buNone/>
            </a:pPr>
            <a:r>
              <a:rPr lang="en-US" altLang="zh-CN" sz="1600" dirty="0"/>
              <a:t>1.</a:t>
            </a:r>
            <a:r>
              <a:rPr lang="zh-CN" altLang="en-US" sz="1600" dirty="0"/>
              <a:t> 标记</a:t>
            </a:r>
            <a:r>
              <a:rPr lang="en-US" altLang="zh-CN" sz="1600" dirty="0" err="1"/>
              <a:t>inode</a:t>
            </a:r>
            <a:r>
              <a:rPr lang="zh-CN" altLang="en-US" sz="1600" dirty="0"/>
              <a:t>为占用</a:t>
            </a:r>
            <a:br>
              <a:rPr lang="en-US" altLang="zh-CN" sz="1600" dirty="0"/>
            </a:br>
            <a:r>
              <a:rPr lang="en-US" altLang="zh-CN" sz="1600" dirty="0"/>
              <a:t>2.</a:t>
            </a:r>
            <a:r>
              <a:rPr lang="zh-CN" altLang="en-US" sz="1600" dirty="0"/>
              <a:t> 初始化</a:t>
            </a:r>
            <a:r>
              <a:rPr lang="en-US" altLang="zh-CN" sz="1600" dirty="0" err="1"/>
              <a:t>inode</a:t>
            </a:r>
            <a:br>
              <a:rPr lang="en-US" altLang="zh-CN" sz="1600" dirty="0"/>
            </a:br>
            <a:r>
              <a:rPr lang="en-US" altLang="zh-CN" sz="1600" dirty="0"/>
              <a:t>3.</a:t>
            </a:r>
            <a:r>
              <a:rPr lang="zh-CN" altLang="en-US" sz="1600" dirty="0"/>
              <a:t> 将目录项写入目录中</a:t>
            </a:r>
            <a:endParaRPr lang="en-US" altLang="zh-CN" sz="1600" b="0" dirty="0"/>
          </a:p>
          <a:p>
            <a:pPr lvl="1"/>
            <a:r>
              <a:rPr lang="zh-CN" altLang="en-US" sz="1800" b="0" dirty="0"/>
              <a:t>合理安排修改写入磁盘的</a:t>
            </a:r>
            <a:r>
              <a:rPr lang="zh-CN" altLang="en-US" sz="1800" b="0" dirty="0">
                <a:solidFill>
                  <a:schemeClr val="accent1"/>
                </a:solidFill>
              </a:rPr>
              <a:t>次序（</a:t>
            </a:r>
            <a:r>
              <a:rPr lang="en-US" altLang="zh-CN" sz="1800" b="0" dirty="0">
                <a:solidFill>
                  <a:schemeClr val="accent1"/>
                </a:solidFill>
              </a:rPr>
              <a:t>order</a:t>
            </a:r>
            <a:r>
              <a:rPr lang="zh-CN" altLang="en-US" sz="1800" b="0" dirty="0">
                <a:solidFill>
                  <a:schemeClr val="accent1"/>
                </a:solidFill>
              </a:rPr>
              <a:t>）</a:t>
            </a:r>
            <a:r>
              <a:rPr lang="zh-CN" altLang="en-US" sz="1800" b="0" dirty="0"/>
              <a:t>，可</a:t>
            </a:r>
            <a:r>
              <a:rPr lang="zh-CN" altLang="en-US" sz="1800" b="0" dirty="0">
                <a:solidFill>
                  <a:schemeClr val="accent1"/>
                </a:solidFill>
              </a:rPr>
              <a:t>避免恶性不一致</a:t>
            </a:r>
            <a:r>
              <a:rPr lang="zh-CN" altLang="en-US" sz="1800" b="0" dirty="0"/>
              <a:t>情况的发生</a:t>
            </a:r>
            <a:endParaRPr lang="en-US" altLang="zh-CN" sz="1800" b="0" dirty="0"/>
          </a:p>
          <a:p>
            <a:r>
              <a:rPr lang="zh-CN" altLang="en-US" sz="2000" b="0" dirty="0"/>
              <a:t>相对其它方法的优势</a:t>
            </a:r>
            <a:endParaRPr lang="en-US" altLang="zh-CN" sz="2000" b="0" dirty="0"/>
          </a:p>
          <a:p>
            <a:pPr lvl="1"/>
            <a:r>
              <a:rPr lang="zh-CN" altLang="en-US" sz="1800" b="0" dirty="0"/>
              <a:t>无需恢复便可挂载使用</a:t>
            </a:r>
            <a:endParaRPr lang="en-US" altLang="zh-CN" sz="1800" b="0" dirty="0"/>
          </a:p>
          <a:p>
            <a:pPr lvl="1"/>
            <a:r>
              <a:rPr lang="zh-CN" altLang="en-US" sz="1800" b="0" dirty="0"/>
              <a:t>无需在磁盘上记录额外信息</a:t>
            </a:r>
            <a:endParaRPr lang="en-US" altLang="zh-CN" sz="1800" b="0"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Lightning Bolt 23">
            <a:extLst>
              <a:ext uri="{FF2B5EF4-FFF2-40B4-BE49-F238E27FC236}">
                <a16:creationId xmlns:a16="http://schemas.microsoft.com/office/drawing/2014/main" id="{776C7D23-9300-1D46-8652-7303FD0499D8}"/>
              </a:ext>
            </a:extLst>
          </p:cNvPr>
          <p:cNvSpPr/>
          <p:nvPr/>
        </p:nvSpPr>
        <p:spPr>
          <a:xfrm>
            <a:off x="3821537" y="2779004"/>
            <a:ext cx="174399" cy="294520"/>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69937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123005-3A71-BE49-A548-38856BCFADBB}"/>
              </a:ext>
            </a:extLst>
          </p:cNvPr>
          <p:cNvSpPr>
            <a:spLocks noGrp="1"/>
          </p:cNvSpPr>
          <p:nvPr>
            <p:ph type="title"/>
          </p:nvPr>
        </p:nvSpPr>
        <p:spPr/>
        <p:txBody>
          <a:bodyPr>
            <a:normAutofit/>
          </a:bodyPr>
          <a:lstStyle/>
          <a:p>
            <a:r>
              <a:rPr kumimoji="1" lang="zh-CN" altLang="en-US" dirty="0"/>
              <a:t>回顾：创建文件时崩溃的六种情况</a:t>
            </a:r>
          </a:p>
        </p:txBody>
      </p:sp>
      <p:sp>
        <p:nvSpPr>
          <p:cNvPr id="4" name="灯片编号占位符 3">
            <a:extLst>
              <a:ext uri="{FF2B5EF4-FFF2-40B4-BE49-F238E27FC236}">
                <a16:creationId xmlns:a16="http://schemas.microsoft.com/office/drawing/2014/main" id="{331307F6-7A03-CF45-A8A8-10E92F0AC91A}"/>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
        <p:nvSpPr>
          <p:cNvPr id="5" name="页脚占位符 4">
            <a:extLst>
              <a:ext uri="{FF2B5EF4-FFF2-40B4-BE49-F238E27FC236}">
                <a16:creationId xmlns:a16="http://schemas.microsoft.com/office/drawing/2014/main" id="{BAA08414-1A88-C841-A93F-D65442DF337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91298FDE-05BD-A349-9D0A-F4A13ACC2744}"/>
              </a:ext>
            </a:extLst>
          </p:cNvPr>
          <p:cNvPicPr>
            <a:picLocks noChangeAspect="1"/>
          </p:cNvPicPr>
          <p:nvPr/>
        </p:nvPicPr>
        <p:blipFill>
          <a:blip r:embed="rId2"/>
          <a:stretch>
            <a:fillRect/>
          </a:stretch>
        </p:blipFill>
        <p:spPr>
          <a:xfrm>
            <a:off x="870090" y="1492882"/>
            <a:ext cx="7403821" cy="3499066"/>
          </a:xfrm>
          <a:prstGeom prst="rect">
            <a:avLst/>
          </a:prstGeom>
        </p:spPr>
      </p:pic>
      <p:sp>
        <p:nvSpPr>
          <p:cNvPr id="7" name="椭圆 6">
            <a:extLst>
              <a:ext uri="{FF2B5EF4-FFF2-40B4-BE49-F238E27FC236}">
                <a16:creationId xmlns:a16="http://schemas.microsoft.com/office/drawing/2014/main" id="{74749208-48F6-0645-A4E8-941A8B078C52}"/>
              </a:ext>
            </a:extLst>
          </p:cNvPr>
          <p:cNvSpPr/>
          <p:nvPr/>
        </p:nvSpPr>
        <p:spPr>
          <a:xfrm>
            <a:off x="5868144" y="2569468"/>
            <a:ext cx="576064" cy="79208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a:extLst>
              <a:ext uri="{FF2B5EF4-FFF2-40B4-BE49-F238E27FC236}">
                <a16:creationId xmlns:a16="http://schemas.microsoft.com/office/drawing/2014/main" id="{05FE5061-AF56-9E4C-94D7-54DE3F5BC2B8}"/>
              </a:ext>
            </a:extLst>
          </p:cNvPr>
          <p:cNvSpPr/>
          <p:nvPr/>
        </p:nvSpPr>
        <p:spPr>
          <a:xfrm>
            <a:off x="5868144" y="4352367"/>
            <a:ext cx="576064" cy="3773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a:extLst>
              <a:ext uri="{FF2B5EF4-FFF2-40B4-BE49-F238E27FC236}">
                <a16:creationId xmlns:a16="http://schemas.microsoft.com/office/drawing/2014/main" id="{79C786FA-4C14-3F40-A413-92CB1FC9C971}"/>
              </a:ext>
            </a:extLst>
          </p:cNvPr>
          <p:cNvSpPr/>
          <p:nvPr/>
        </p:nvSpPr>
        <p:spPr>
          <a:xfrm>
            <a:off x="7236296" y="2984215"/>
            <a:ext cx="576064" cy="3773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68000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5978648" y="2725448"/>
            <a:ext cx="2777490" cy="1554879"/>
          </a:xfrm>
          <a:prstGeom prst="roundRect">
            <a:avLst>
              <a:gd name="adj" fmla="val 8791"/>
            </a:avLst>
          </a:prstGeom>
          <a:ln w="38100">
            <a:solidFill>
              <a:schemeClr val="tx1"/>
            </a:solidFill>
          </a:ln>
        </p:spPr>
        <p:style>
          <a:lnRef idx="2">
            <a:schemeClr val="accent2"/>
          </a:lnRef>
          <a:fillRef idx="1">
            <a:schemeClr val="lt1"/>
          </a:fillRef>
          <a:effectRef idx="0">
            <a:schemeClr val="accent2"/>
          </a:effectRef>
          <a:fontRef idx="minor">
            <a:schemeClr val="dk1"/>
          </a:fontRef>
        </p:style>
        <p:txBody>
          <a:bodyPr rtlCol="0" anchor="t" anchorCtr="0"/>
          <a:lstStyle/>
          <a:p>
            <a:pPr defTabSz="685800">
              <a:defRPr/>
            </a:pPr>
            <a:r>
              <a:rPr lang="en-US" altLang="zh-CN" b="1" dirty="0">
                <a:solidFill>
                  <a:srgbClr val="0165C0"/>
                </a:solidFill>
                <a:latin typeface="Calibri" panose="020F0502020204030204"/>
                <a:ea typeface="DengXian" panose="02010600030101010101" pitchFamily="2" charset="-122"/>
              </a:rPr>
              <a:t>DISK</a:t>
            </a:r>
            <a:endParaRPr lang="en-US" b="1" dirty="0">
              <a:solidFill>
                <a:srgbClr val="0165C0"/>
              </a:solidFill>
              <a:latin typeface="Calibri" panose="020F0502020204030204"/>
            </a:endParaRPr>
          </a:p>
        </p:txBody>
      </p:sp>
      <p:sp>
        <p:nvSpPr>
          <p:cNvPr id="2" name="Title 1"/>
          <p:cNvSpPr>
            <a:spLocks noGrp="1"/>
          </p:cNvSpPr>
          <p:nvPr>
            <p:ph type="title"/>
          </p:nvPr>
        </p:nvSpPr>
        <p:spPr/>
        <p:txBody>
          <a:bodyPr>
            <a:normAutofit/>
          </a:bodyPr>
          <a:lstStyle/>
          <a:p>
            <a:r>
              <a:rPr lang="en-US" dirty="0"/>
              <a:t>Soft Updates</a:t>
            </a:r>
            <a:r>
              <a:rPr lang="zh-CN" altLang="en-US" dirty="0"/>
              <a:t>的总体思想</a:t>
            </a:r>
            <a:endParaRPr lang="en-US" dirty="0"/>
          </a:p>
        </p:txBody>
      </p:sp>
      <p:sp>
        <p:nvSpPr>
          <p:cNvPr id="3" name="Content Placeholder 2"/>
          <p:cNvSpPr>
            <a:spLocks noGrp="1"/>
          </p:cNvSpPr>
          <p:nvPr>
            <p:ph idx="1"/>
          </p:nvPr>
        </p:nvSpPr>
        <p:spPr>
          <a:xfrm>
            <a:off x="37532" y="1290156"/>
            <a:ext cx="8229600" cy="3771636"/>
          </a:xfrm>
        </p:spPr>
        <p:txBody>
          <a:bodyPr>
            <a:normAutofit/>
          </a:bodyPr>
          <a:lstStyle/>
          <a:p>
            <a:r>
              <a:rPr lang="en-US" dirty="0" err="1"/>
              <a:t>最新的元数据在内存中</a:t>
            </a:r>
            <a:endParaRPr lang="en-US" dirty="0"/>
          </a:p>
          <a:p>
            <a:pPr lvl="1" indent="-342900">
              <a:buFont typeface="Wingdings" charset="2"/>
              <a:buChar char="§"/>
            </a:pPr>
            <a:r>
              <a:rPr lang="en-US" dirty="0" err="1"/>
              <a:t>在DRAM中更新</a:t>
            </a:r>
            <a:r>
              <a:rPr lang="zh-CN" altLang="en-US" dirty="0"/>
              <a:t>，跟踪</a:t>
            </a:r>
            <a:r>
              <a:rPr lang="en-US" dirty="0"/>
              <a:t>dependency</a:t>
            </a:r>
          </a:p>
          <a:p>
            <a:pPr lvl="1" indent="-342900">
              <a:buFont typeface="Wingdings" charset="2"/>
              <a:buChar char="ü"/>
            </a:pPr>
            <a:r>
              <a:rPr lang="en-US" dirty="0"/>
              <a:t>DRAM </a:t>
            </a:r>
            <a:r>
              <a:rPr lang="en-US" dirty="0" err="1"/>
              <a:t>性能更好</a:t>
            </a:r>
            <a:endParaRPr lang="en-US" dirty="0"/>
          </a:p>
          <a:p>
            <a:pPr lvl="1" indent="-342900">
              <a:buFont typeface="Wingdings" charset="2"/>
              <a:buChar char="ü"/>
            </a:pPr>
            <a:r>
              <a:rPr lang="en-US" dirty="0" err="1"/>
              <a:t>无需同步的磁盘写</a:t>
            </a:r>
            <a:endParaRPr lang="en-US" dirty="0"/>
          </a:p>
          <a:p>
            <a:r>
              <a:rPr lang="en-US" dirty="0" err="1"/>
              <a:t>磁盘中的元数据总是一致的</a:t>
            </a:r>
            <a:endParaRPr lang="en-US" dirty="0"/>
          </a:p>
          <a:p>
            <a:pPr lvl="1" indent="-342900">
              <a:buFont typeface="Wingdings" charset="2"/>
              <a:buChar char="§"/>
            </a:pPr>
            <a:r>
              <a:rPr lang="zh-CN" altLang="en-US" dirty="0"/>
              <a:t>在遵循</a:t>
            </a:r>
            <a:r>
              <a:rPr lang="en-US" altLang="zh-CN" dirty="0"/>
              <a:t>dependency</a:t>
            </a:r>
            <a:r>
              <a:rPr lang="zh-CN" altLang="en-US" dirty="0"/>
              <a:t>的前提下</a:t>
            </a:r>
            <a:r>
              <a:rPr lang="en-US" dirty="0" err="1"/>
              <a:t>写入磁盘</a:t>
            </a:r>
            <a:endParaRPr lang="en-US" dirty="0"/>
          </a:p>
          <a:p>
            <a:pPr lvl="1" indent="-342900">
              <a:buFont typeface="Wingdings" charset="2"/>
              <a:buChar char="ü"/>
            </a:pPr>
            <a:r>
              <a:rPr lang="en-US" dirty="0" err="1"/>
              <a:t>一直能保证一致性</a:t>
            </a:r>
            <a:endParaRPr lang="en-US" dirty="0"/>
          </a:p>
          <a:p>
            <a:pPr lvl="1" indent="-342900">
              <a:buFont typeface="Wingdings" charset="2"/>
              <a:buChar char="ü"/>
            </a:pPr>
            <a:r>
              <a:rPr lang="en-US" dirty="0" err="1">
                <a:solidFill>
                  <a:schemeClr val="accent1"/>
                </a:solidFill>
              </a:rPr>
              <a:t>发生崩溃后</a:t>
            </a:r>
            <a:r>
              <a:rPr lang="zh-CN" altLang="en-US" dirty="0">
                <a:solidFill>
                  <a:schemeClr val="accent1"/>
                </a:solidFill>
              </a:rPr>
              <a:t>，重启立即</a:t>
            </a:r>
            <a:r>
              <a:rPr lang="en-US" dirty="0" err="1">
                <a:solidFill>
                  <a:schemeClr val="accent1"/>
                </a:solidFill>
              </a:rPr>
              <a:t>可用</a:t>
            </a:r>
            <a:endParaRPr lang="en-US" dirty="0">
              <a:solidFill>
                <a:schemeClr val="accent1"/>
              </a:solidFill>
            </a:endParaRPr>
          </a:p>
        </p:txBody>
      </p:sp>
      <p:sp>
        <p:nvSpPr>
          <p:cNvPr id="7" name="Rounded Rectangle 6"/>
          <p:cNvSpPr/>
          <p:nvPr/>
        </p:nvSpPr>
        <p:spPr>
          <a:xfrm>
            <a:off x="5964107" y="1159433"/>
            <a:ext cx="2777490" cy="1569425"/>
          </a:xfrm>
          <a:prstGeom prst="roundRect">
            <a:avLst>
              <a:gd name="adj" fmla="val 8084"/>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t" anchorCtr="0"/>
          <a:lstStyle/>
          <a:p>
            <a:pPr defTabSz="685800">
              <a:defRPr/>
            </a:pPr>
            <a:r>
              <a:rPr lang="en-US" altLang="zh-CN" b="1" dirty="0">
                <a:solidFill>
                  <a:srgbClr val="C00000"/>
                </a:solidFill>
                <a:latin typeface="Calibri" panose="020F0502020204030204"/>
                <a:ea typeface="DengXian" panose="02010600030101010101" pitchFamily="2" charset="-122"/>
              </a:rPr>
              <a:t>DRAM (Page cache)</a:t>
            </a:r>
            <a:endParaRPr lang="en-US" b="1" dirty="0">
              <a:solidFill>
                <a:srgbClr val="C00000"/>
              </a:solidFill>
              <a:latin typeface="Calibri" panose="020F0502020204030204"/>
            </a:endParaRPr>
          </a:p>
        </p:txBody>
      </p:sp>
      <p:sp>
        <p:nvSpPr>
          <p:cNvPr id="8" name="Rectangle 7"/>
          <p:cNvSpPr/>
          <p:nvPr/>
        </p:nvSpPr>
        <p:spPr>
          <a:xfrm>
            <a:off x="6122247" y="1607437"/>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sp>
        <p:nvSpPr>
          <p:cNvPr id="9" name="Rectangle 8"/>
          <p:cNvSpPr/>
          <p:nvPr/>
        </p:nvSpPr>
        <p:spPr>
          <a:xfrm>
            <a:off x="6723940" y="190828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cxnSp>
        <p:nvCxnSpPr>
          <p:cNvPr id="10" name="Straight Arrow Connector 9"/>
          <p:cNvCxnSpPr>
            <a:stCxn id="9" idx="3"/>
            <a:endCxn id="10" idx="1"/>
          </p:cNvCxnSpPr>
          <p:nvPr/>
        </p:nvCxnSpPr>
        <p:spPr>
          <a:xfrm>
            <a:off x="6523376" y="1808002"/>
            <a:ext cx="200564" cy="3008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325462" y="4395993"/>
            <a:ext cx="2143728" cy="369332"/>
          </a:xfrm>
          <a:prstGeom prst="rect">
            <a:avLst/>
          </a:prstGeom>
          <a:noFill/>
        </p:spPr>
        <p:txBody>
          <a:bodyPr wrap="none" rtlCol="0">
            <a:spAutoFit/>
          </a:bodyPr>
          <a:lstStyle/>
          <a:p>
            <a:pPr defTabSz="685800">
              <a:defRPr/>
            </a:pPr>
            <a:r>
              <a:rPr lang="en-US" dirty="0" err="1">
                <a:solidFill>
                  <a:prstClr val="black"/>
                </a:solidFill>
                <a:latin typeface="Calibri" panose="020F0502020204030204"/>
              </a:rPr>
              <a:t>传统的</a:t>
            </a:r>
            <a:r>
              <a:rPr lang="en-US" dirty="0">
                <a:solidFill>
                  <a:prstClr val="black"/>
                </a:solidFill>
                <a:latin typeface="Calibri" panose="020F0502020204030204"/>
              </a:rPr>
              <a:t> Soft Updates</a:t>
            </a:r>
          </a:p>
        </p:txBody>
      </p:sp>
      <p:sp>
        <p:nvSpPr>
          <p:cNvPr id="12" name="Rectangle 11"/>
          <p:cNvSpPr/>
          <p:nvPr/>
        </p:nvSpPr>
        <p:spPr>
          <a:xfrm>
            <a:off x="7370583" y="1707719"/>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a:solidFill>
                <a:prstClr val="black"/>
              </a:solidFill>
              <a:latin typeface="Calibri" panose="020F0502020204030204"/>
            </a:endParaRPr>
          </a:p>
        </p:txBody>
      </p:sp>
      <p:cxnSp>
        <p:nvCxnSpPr>
          <p:cNvPr id="13" name="Straight Arrow Connector 12"/>
          <p:cNvCxnSpPr/>
          <p:nvPr/>
        </p:nvCxnSpPr>
        <p:spPr>
          <a:xfrm flipV="1">
            <a:off x="7125069" y="1908284"/>
            <a:ext cx="245515" cy="2005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8017226" y="197749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dirty="0">
              <a:solidFill>
                <a:prstClr val="black"/>
              </a:solidFill>
              <a:latin typeface="Calibri" panose="020F0502020204030204"/>
            </a:endParaRPr>
          </a:p>
        </p:txBody>
      </p:sp>
      <p:cxnSp>
        <p:nvCxnSpPr>
          <p:cNvPr id="15" name="Straight Arrow Connector 14"/>
          <p:cNvCxnSpPr>
            <a:stCxn id="21" idx="3"/>
          </p:cNvCxnSpPr>
          <p:nvPr/>
        </p:nvCxnSpPr>
        <p:spPr>
          <a:xfrm>
            <a:off x="7771712" y="1908284"/>
            <a:ext cx="245515" cy="2697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22247" y="3113574"/>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sp>
        <p:nvSpPr>
          <p:cNvPr id="17" name="Rectangle 16"/>
          <p:cNvSpPr/>
          <p:nvPr/>
        </p:nvSpPr>
        <p:spPr>
          <a:xfrm>
            <a:off x="6723940" y="3414420"/>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cxnSp>
        <p:nvCxnSpPr>
          <p:cNvPr id="19" name="Straight Arrow Connector 18"/>
          <p:cNvCxnSpPr/>
          <p:nvPr/>
        </p:nvCxnSpPr>
        <p:spPr>
          <a:xfrm>
            <a:off x="6523376" y="3314138"/>
            <a:ext cx="200564" cy="3008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21" idx="3"/>
          </p:cNvCxnSpPr>
          <p:nvPr/>
        </p:nvCxnSpPr>
        <p:spPr>
          <a:xfrm>
            <a:off x="7771712" y="3414420"/>
            <a:ext cx="245515" cy="1821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370583" y="3213856"/>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a:solidFill>
                <a:prstClr val="black"/>
              </a:solidFill>
              <a:latin typeface="Calibri" panose="020F0502020204030204"/>
            </a:endParaRPr>
          </a:p>
        </p:txBody>
      </p:sp>
      <p:cxnSp>
        <p:nvCxnSpPr>
          <p:cNvPr id="22" name="Straight Arrow Connector 21"/>
          <p:cNvCxnSpPr/>
          <p:nvPr/>
        </p:nvCxnSpPr>
        <p:spPr>
          <a:xfrm flipV="1">
            <a:off x="7125069" y="3414421"/>
            <a:ext cx="245515" cy="2005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8017256" y="197749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dirty="0">
              <a:solidFill>
                <a:prstClr val="black"/>
              </a:solidFill>
              <a:latin typeface="Calibri" panose="020F0502020204030204"/>
            </a:endParaRPr>
          </a:p>
        </p:txBody>
      </p:sp>
      <p:grpSp>
        <p:nvGrpSpPr>
          <p:cNvPr id="50" name="Group 49"/>
          <p:cNvGrpSpPr/>
          <p:nvPr/>
        </p:nvGrpSpPr>
        <p:grpSpPr>
          <a:xfrm>
            <a:off x="8017227" y="1250390"/>
            <a:ext cx="668800" cy="562890"/>
            <a:chOff x="10689635" y="1286186"/>
            <a:chExt cx="891733" cy="750520"/>
          </a:xfrm>
        </p:grpSpPr>
        <p:sp>
          <p:nvSpPr>
            <p:cNvPr id="24" name="Rectangle 23"/>
            <p:cNvSpPr/>
            <p:nvPr/>
          </p:nvSpPr>
          <p:spPr>
            <a:xfrm>
              <a:off x="10689635" y="1399220"/>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6" name="Rectangle 25"/>
            <p:cNvSpPr/>
            <p:nvPr/>
          </p:nvSpPr>
          <p:spPr>
            <a:xfrm>
              <a:off x="10689635" y="1800559"/>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7" name="Rectangle 26"/>
            <p:cNvSpPr/>
            <p:nvPr/>
          </p:nvSpPr>
          <p:spPr>
            <a:xfrm>
              <a:off x="11238468" y="1286186"/>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8" name="Oval 27"/>
            <p:cNvSpPr/>
            <p:nvPr/>
          </p:nvSpPr>
          <p:spPr>
            <a:xfrm>
              <a:off x="11211701" y="1723501"/>
              <a:ext cx="304800" cy="3048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cxnSp>
          <p:nvCxnSpPr>
            <p:cNvPr id="32" name="Straight Arrow Connector 31"/>
            <p:cNvCxnSpPr>
              <a:stCxn id="24" idx="3"/>
              <a:endCxn id="27" idx="1"/>
            </p:cNvCxnSpPr>
            <p:nvPr/>
          </p:nvCxnSpPr>
          <p:spPr>
            <a:xfrm flipV="1">
              <a:off x="11032535" y="1404260"/>
              <a:ext cx="205933" cy="11303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2"/>
              <a:endCxn id="28" idx="0"/>
            </p:cNvCxnSpPr>
            <p:nvPr/>
          </p:nvCxnSpPr>
          <p:spPr>
            <a:xfrm flipH="1">
              <a:off x="11364101" y="1522333"/>
              <a:ext cx="45817" cy="2011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8" idx="2"/>
              <a:endCxn id="26" idx="3"/>
            </p:cNvCxnSpPr>
            <p:nvPr/>
          </p:nvCxnSpPr>
          <p:spPr>
            <a:xfrm flipH="1">
              <a:off x="11032535" y="1875901"/>
              <a:ext cx="179166" cy="427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1221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2"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par>
                                <p:cTn id="17" presetID="10" presetClass="entr" presetSubtype="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58" presetClass="path" presetSubtype="0" accel="50000" decel="50000" fill="hold" nodeType="withEffect">
                                  <p:stCondLst>
                                    <p:cond delay="0"/>
                                  </p:stCondLst>
                                  <p:childTnLst>
                                    <p:animMotion origin="layout" path="M -1.25E-6 3.7037E-7 L 0.03998 0.06181 C 0.04896 0.075 0.05404 0.09444 0.05404 0.11481 C 0.05404 0.13796 0.04896 0.15625 0.03998 0.16944 L -1.25E-6 0.23148 " pathEditMode="relative" rAng="0" ptsTypes="AAAAA">
                                      <p:cBhvr>
                                        <p:cTn id="26" dur="2000" fill="hold"/>
                                        <p:tgtEl>
                                          <p:spTgt spid="50"/>
                                        </p:tgtEl>
                                        <p:attrNameLst>
                                          <p:attrName>ppt_x</p:attrName>
                                          <p:attrName>ppt_y</p:attrName>
                                        </p:attrNameLst>
                                      </p:cBhvr>
                                      <p:rCtr x="2695" y="11574"/>
                                    </p:animMotion>
                                  </p:childTnLst>
                                </p:cTn>
                              </p:par>
                              <p:par>
                                <p:cTn id="27" presetID="42" presetClass="path" presetSubtype="0" accel="50000" decel="50000" fill="hold" grpId="0" nodeType="withEffect">
                                  <p:stCondLst>
                                    <p:cond delay="0"/>
                                  </p:stCondLst>
                                  <p:childTnLst>
                                    <p:animMotion origin="layout" path="M 2.08333E-6 -4.07407E-6 L 2.08333E-6 0.0882 " pathEditMode="relative" rAng="0" ptsTypes="AA">
                                      <p:cBhvr>
                                        <p:cTn id="28" dur="2000" fill="hold"/>
                                        <p:tgtEl>
                                          <p:spTgt spid="51"/>
                                        </p:tgtEl>
                                        <p:attrNameLst>
                                          <p:attrName>ppt_x</p:attrName>
                                          <p:attrName>ppt_y</p:attrName>
                                        </p:attrNameLst>
                                      </p:cBhvr>
                                      <p:rCtr x="0" y="4398"/>
                                    </p:animMotion>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2000"/>
                                        <p:tgtEl>
                                          <p:spTgt spid="50"/>
                                        </p:tgtEl>
                                      </p:cBhvr>
                                    </p:animEffect>
                                    <p:set>
                                      <p:cBhvr>
                                        <p:cTn id="32" dur="1" fill="hold">
                                          <p:stCondLst>
                                            <p:cond delay="1999"/>
                                          </p:stCondLst>
                                        </p:cTn>
                                        <p:tgtEl>
                                          <p:spTgt spid="50"/>
                                        </p:tgtEl>
                                        <p:attrNameLst>
                                          <p:attrName>style.visibility</p:attrName>
                                        </p:attrNameLst>
                                      </p:cBhvr>
                                      <p:to>
                                        <p:strVal val="hidden"/>
                                      </p:to>
                                    </p:set>
                                  </p:childTnLst>
                                </p:cTn>
                              </p:par>
                              <p:par>
                                <p:cTn id="33" presetID="42" presetClass="path" presetSubtype="0" accel="50000" decel="50000" fill="hold" grpId="1" nodeType="withEffect">
                                  <p:stCondLst>
                                    <p:cond delay="0"/>
                                  </p:stCondLst>
                                  <p:childTnLst>
                                    <p:animMotion origin="layout" path="M 2.08333E-6 0.10024 L 2.08333E-6 0.27593 " pathEditMode="relative" rAng="0" ptsTypes="AA">
                                      <p:cBhvr>
                                        <p:cTn id="34" dur="1000" fill="hold"/>
                                        <p:tgtEl>
                                          <p:spTgt spid="51"/>
                                        </p:tgtEl>
                                        <p:attrNameLst>
                                          <p:attrName>ppt_x</p:attrName>
                                          <p:attrName>ppt_y</p:attrName>
                                        </p:attrNameLst>
                                      </p:cBhvr>
                                      <p:rCtr x="0" y="8773"/>
                                    </p:animMotion>
                                  </p:childTnLst>
                                </p:cTn>
                              </p:par>
                              <p:par>
                                <p:cTn id="35" presetID="1" presetClass="emph" presetSubtype="2" fill="hold" nodeType="withEffect">
                                  <p:stCondLst>
                                    <p:cond delay="0"/>
                                  </p:stCondLst>
                                  <p:childTnLst>
                                    <p:animClr clrSpc="rgb" dir="cw">
                                      <p:cBhvr>
                                        <p:cTn id="36" dur="1000" fill="hold"/>
                                        <p:tgtEl>
                                          <p:spTgt spid="51"/>
                                        </p:tgtEl>
                                        <p:attrNameLst>
                                          <p:attrName>fillcolor</p:attrName>
                                        </p:attrNameLst>
                                      </p:cBhvr>
                                      <p:to>
                                        <a:srgbClr val="DEEBF7"/>
                                      </p:to>
                                    </p:animClr>
                                    <p:set>
                                      <p:cBhvr>
                                        <p:cTn id="37" dur="1000" fill="hold"/>
                                        <p:tgtEl>
                                          <p:spTgt spid="51"/>
                                        </p:tgtEl>
                                        <p:attrNameLst>
                                          <p:attrName>fill.type</p:attrName>
                                        </p:attrNameLst>
                                      </p:cBhvr>
                                      <p:to>
                                        <p:strVal val="solid"/>
                                      </p:to>
                                    </p:set>
                                    <p:set>
                                      <p:cBhvr>
                                        <p:cTn id="38" dur="1000" fill="hold"/>
                                        <p:tgtEl>
                                          <p:spTgt spid="51"/>
                                        </p:tgtEl>
                                        <p:attrNameLst>
                                          <p:attrName>fill.on</p:attrName>
                                        </p:attrNameLst>
                                      </p:cBhvr>
                                      <p:to>
                                        <p:strVal val="true"/>
                                      </p:to>
                                    </p:set>
                                  </p:childTnLst>
                                </p:cTn>
                              </p:par>
                            </p:childTnLst>
                          </p:cTn>
                        </p:par>
                        <p:par>
                          <p:cTn id="39" fill="hold">
                            <p:stCondLst>
                              <p:cond delay="4000"/>
                            </p:stCondLst>
                            <p:childTnLst>
                              <p:par>
                                <p:cTn id="40" presetID="22" presetClass="entr" presetSubtype="8" fill="hold"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500"/>
                                        <p:tgtEl>
                                          <p:spTgt spid="3">
                                            <p:txEl>
                                              <p:pRg st="2" end="2"/>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animEffect transition="in" filter="fade">
                                      <p:cBhvr>
                                        <p:cTn id="50" dur="50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500"/>
                                        <p:tgtEl>
                                          <p:spTgt spid="3">
                                            <p:txEl>
                                              <p:pRg st="6" end="6"/>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fade">
                                      <p:cBhvr>
                                        <p:cTn id="5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1" grpId="0" animBg="1"/>
      <p:bldP spid="51" grpId="1" animBg="1"/>
      <p:bldP spid="51" grpId="2"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r>
              <a:rPr lang="zh-CN" altLang="en-US" dirty="0"/>
              <a:t>的三个次序规则</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a:xfrm>
            <a:off x="457200" y="1129308"/>
            <a:ext cx="8229600" cy="3975829"/>
          </a:xfrm>
        </p:spPr>
        <p:txBody>
          <a:bodyPr>
            <a:normAutofit fontScale="92500"/>
          </a:bodyPr>
          <a:lstStyle/>
          <a:p>
            <a:pPr marL="0" indent="0">
              <a:buNone/>
            </a:pPr>
            <a:r>
              <a:rPr lang="en-US" altLang="zh-CN" dirty="0"/>
              <a:t>1.</a:t>
            </a:r>
            <a:r>
              <a:rPr lang="zh-CN" altLang="en-US" dirty="0"/>
              <a:t> 不要指向一个未初始化的结构</a:t>
            </a:r>
            <a:endParaRPr lang="en-US" altLang="zh-CN" dirty="0"/>
          </a:p>
          <a:p>
            <a:pPr lvl="1"/>
            <a:r>
              <a:rPr lang="zh-CN" altLang="en-US" dirty="0"/>
              <a:t>如：目录项指向一个</a:t>
            </a:r>
            <a:r>
              <a:rPr lang="en-US" altLang="zh-CN" dirty="0" err="1"/>
              <a:t>inode</a:t>
            </a:r>
            <a:r>
              <a:rPr lang="zh-CN" altLang="en-US" dirty="0"/>
              <a:t>之前，改</a:t>
            </a:r>
            <a:r>
              <a:rPr lang="en-US" altLang="zh-CN" dirty="0" err="1"/>
              <a:t>inode</a:t>
            </a:r>
            <a:r>
              <a:rPr lang="zh-CN" altLang="en-US" dirty="0"/>
              <a:t>结构应该先被初始化</a:t>
            </a:r>
            <a:endParaRPr lang="en-US" altLang="zh-CN" dirty="0"/>
          </a:p>
          <a:p>
            <a:pPr marL="400050" lvl="1" indent="0">
              <a:buNone/>
            </a:pPr>
            <a:endParaRPr lang="en-US" altLang="zh-CN" sz="1800" b="0" dirty="0"/>
          </a:p>
          <a:p>
            <a:pPr marL="0" indent="0">
              <a:buNone/>
            </a:pPr>
            <a:r>
              <a:rPr lang="en-US" altLang="zh-CN" dirty="0"/>
              <a:t>2.</a:t>
            </a:r>
            <a:r>
              <a:rPr lang="zh-CN" altLang="en-US" dirty="0"/>
              <a:t> 一个结构被指针指向时，不要重用该结构</a:t>
            </a:r>
            <a:endParaRPr lang="en-US" altLang="zh-CN" dirty="0"/>
          </a:p>
          <a:p>
            <a:pPr lvl="1"/>
            <a:r>
              <a:rPr lang="zh-CN" altLang="en-US" dirty="0"/>
              <a:t>如：当一个</a:t>
            </a:r>
            <a:r>
              <a:rPr lang="en-US" altLang="zh-CN" dirty="0" err="1"/>
              <a:t>inode</a:t>
            </a:r>
            <a:r>
              <a:rPr lang="zh-CN" altLang="en-US" dirty="0"/>
              <a:t>指向了一个数据块时，这个数据块不应该被重新分配给其他结构</a:t>
            </a:r>
            <a:endParaRPr lang="en-US" dirty="0"/>
          </a:p>
          <a:p>
            <a:pPr marL="400050" lvl="1" indent="0">
              <a:buNone/>
            </a:pPr>
            <a:endParaRPr lang="en-US" altLang="zh-CN" sz="1800" b="0" dirty="0"/>
          </a:p>
          <a:p>
            <a:pPr marL="0" indent="0">
              <a:buNone/>
            </a:pPr>
            <a:r>
              <a:rPr lang="en-US" altLang="zh-CN" dirty="0"/>
              <a:t>3.</a:t>
            </a:r>
            <a:r>
              <a:rPr lang="zh-CN" altLang="en-US" dirty="0"/>
              <a:t> 不要修改最后一个指向有用结构的指针</a:t>
            </a:r>
            <a:endParaRPr lang="en-US" dirty="0"/>
          </a:p>
          <a:p>
            <a:pPr lvl="1"/>
            <a:r>
              <a:rPr lang="zh-CN" altLang="en-US" dirty="0"/>
              <a:t>如：</a:t>
            </a:r>
            <a:r>
              <a:rPr lang="en-US" dirty="0"/>
              <a:t>Rename</a:t>
            </a:r>
            <a:r>
              <a:rPr lang="zh-CN" altLang="en-US" dirty="0"/>
              <a:t>文件时，在写入新的目录项前，不应删除旧的目录项</a:t>
            </a:r>
            <a:endParaRPr lang="en-US"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7438849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p:txBody>
          <a:bodyPr>
            <a:normAutofit/>
          </a:bodyPr>
          <a:lstStyle/>
          <a:p>
            <a:r>
              <a:rPr lang="zh-CN" altLang="en-US" dirty="0"/>
              <a:t>对于每个文件系统请求，将其拆解成对多个结构的操作</a:t>
            </a:r>
            <a:endParaRPr lang="en-US" altLang="zh-CN" dirty="0"/>
          </a:p>
          <a:p>
            <a:pPr lvl="1"/>
            <a:r>
              <a:rPr lang="zh-CN" altLang="en-US" b="0" dirty="0"/>
              <a:t>记录对每个结构的修改内容（旧值、新值）</a:t>
            </a:r>
            <a:endParaRPr lang="en-US" altLang="zh-CN" b="0" dirty="0"/>
          </a:p>
          <a:p>
            <a:pPr lvl="1"/>
            <a:r>
              <a:rPr lang="zh-CN" altLang="en-US" dirty="0"/>
              <a:t>记录这个修改依赖于那些修改（应在哪些修改之后持久化）</a:t>
            </a:r>
            <a:endParaRPr lang="en-US" altLang="zh-CN" dirty="0"/>
          </a:p>
          <a:p>
            <a:pPr lvl="1"/>
            <a:r>
              <a:rPr lang="zh-CN" altLang="en-US" dirty="0"/>
              <a:t>如创建文件：</a:t>
            </a:r>
            <a:endParaRPr lang="en-US" altLang="zh-CN" dirty="0"/>
          </a:p>
          <a:p>
            <a:pPr marL="857250" lvl="2" indent="0">
              <a:buNone/>
            </a:pPr>
            <a:r>
              <a:rPr lang="en-US" altLang="zh-CN" dirty="0"/>
              <a:t>1.</a:t>
            </a:r>
            <a:r>
              <a:rPr lang="zh-CN" altLang="en-US" dirty="0"/>
              <a:t> 标记</a:t>
            </a:r>
            <a:r>
              <a:rPr lang="en-US" altLang="zh-CN" dirty="0" err="1"/>
              <a:t>inode</a:t>
            </a:r>
            <a:r>
              <a:rPr lang="zh-CN" altLang="en-US" dirty="0"/>
              <a:t>为占用（对</a:t>
            </a:r>
            <a:r>
              <a:rPr lang="en-US" altLang="zh-CN" dirty="0"/>
              <a:t>bitmap</a:t>
            </a:r>
            <a:r>
              <a:rPr lang="zh-CN" altLang="en-US" dirty="0"/>
              <a:t>的修改）</a:t>
            </a:r>
            <a:br>
              <a:rPr lang="en-US" altLang="zh-CN" dirty="0"/>
            </a:br>
            <a:r>
              <a:rPr lang="en-US" altLang="zh-CN" dirty="0"/>
              <a:t>2.</a:t>
            </a:r>
            <a:r>
              <a:rPr lang="zh-CN" altLang="en-US" dirty="0"/>
              <a:t> 初始化</a:t>
            </a:r>
            <a:r>
              <a:rPr lang="en-US" altLang="zh-CN" dirty="0" err="1"/>
              <a:t>inode</a:t>
            </a:r>
            <a:r>
              <a:rPr lang="zh-CN" altLang="en-US" dirty="0"/>
              <a:t>（对</a:t>
            </a:r>
            <a:r>
              <a:rPr lang="en-US" altLang="zh-CN" dirty="0" err="1"/>
              <a:t>inode</a:t>
            </a:r>
            <a:r>
              <a:rPr lang="zh-CN" altLang="en-US" dirty="0"/>
              <a:t>的修改，依赖于</a:t>
            </a:r>
            <a:r>
              <a:rPr lang="en-US" altLang="zh-CN" dirty="0"/>
              <a:t>1</a:t>
            </a:r>
            <a:r>
              <a:rPr lang="zh-CN" altLang="en-US" dirty="0"/>
              <a:t>）</a:t>
            </a:r>
            <a:br>
              <a:rPr lang="en-US" altLang="zh-CN" dirty="0"/>
            </a:br>
            <a:r>
              <a:rPr lang="en-US" altLang="zh-CN" dirty="0"/>
              <a:t>3.</a:t>
            </a:r>
            <a:r>
              <a:rPr lang="zh-CN" altLang="en-US" dirty="0"/>
              <a:t> 将目录项写入目录中（对目录文件的内容修改，依赖于</a:t>
            </a:r>
            <a:r>
              <a:rPr lang="en-US" altLang="zh-CN" dirty="0"/>
              <a:t>1</a:t>
            </a:r>
            <a:r>
              <a:rPr lang="zh-CN" altLang="en-US" dirty="0"/>
              <a:t>和</a:t>
            </a:r>
            <a:r>
              <a:rPr lang="en-US" altLang="zh-CN" dirty="0"/>
              <a:t>2</a:t>
            </a:r>
            <a:r>
              <a:rPr lang="zh-CN" altLang="en-US" dirty="0"/>
              <a:t>）</a:t>
            </a:r>
            <a:endParaRPr lang="en-US" altLang="zh-CN"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6974497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E53A464-4EB1-4D4B-B540-4CDAE40FBFC5}"/>
              </a:ext>
            </a:extLst>
          </p:cNvPr>
          <p:cNvPicPr>
            <a:picLocks noChangeAspect="1"/>
          </p:cNvPicPr>
          <p:nvPr/>
        </p:nvPicPr>
        <p:blipFill>
          <a:blip r:embed="rId2"/>
          <a:stretch>
            <a:fillRect/>
          </a:stretch>
        </p:blipFill>
        <p:spPr>
          <a:xfrm>
            <a:off x="5331043" y="0"/>
            <a:ext cx="3921477" cy="2137420"/>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创建文件</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1</a:t>
            </a:r>
            <a:r>
              <a:rPr kumimoji="1" lang="zh-CN" altLang="en-US" sz="1600" dirty="0"/>
              <a:t>，</a:t>
            </a:r>
            <a:r>
              <a:rPr kumimoji="1" lang="en" altLang="zh-CN" sz="1600" dirty="0" err="1"/>
              <a:t>inode</a:t>
            </a:r>
            <a:r>
              <a:rPr kumimoji="1" lang="en" altLang="zh-CN" sz="1600" dirty="0"/>
              <a:t> </a:t>
            </a:r>
            <a:r>
              <a:rPr kumimoji="1" lang="zh-CN" altLang="en-US" sz="1600" dirty="0"/>
              <a:t>初始化的持久化应早于增加目录项操作的持久化</a:t>
            </a:r>
            <a:endParaRPr kumimoji="1" lang="en-US" altLang="zh-CN" sz="1600" dirty="0"/>
          </a:p>
          <a:p>
            <a:pPr lvl="1"/>
            <a:r>
              <a:rPr kumimoji="1" lang="zh-CN" altLang="en-US" sz="1600" dirty="0"/>
              <a:t>根据规则</a:t>
            </a:r>
            <a:r>
              <a:rPr kumimoji="1" lang="en-US" altLang="zh-CN" sz="1600" dirty="0"/>
              <a:t>2</a:t>
            </a:r>
            <a:r>
              <a:rPr kumimoji="1" lang="zh-CN" altLang="en-US" sz="1600" dirty="0"/>
              <a:t>，</a:t>
            </a:r>
            <a:r>
              <a:rPr kumimoji="1" lang="en" altLang="zh-CN" sz="1600" dirty="0" err="1"/>
              <a:t>inode</a:t>
            </a:r>
            <a:r>
              <a:rPr kumimoji="1" lang="en" altLang="zh-CN" sz="1600" dirty="0"/>
              <a:t> </a:t>
            </a:r>
            <a:r>
              <a:rPr kumimoji="1" lang="zh-CN" altLang="en-US" sz="1600" dirty="0"/>
              <a:t>分配同样应该在增加目录项之前持久化</a:t>
            </a:r>
            <a:endParaRPr kumimoji="1" lang="en-US" altLang="zh-CN" sz="1600" dirty="0"/>
          </a:p>
          <a:p>
            <a:pPr lvl="1"/>
            <a:r>
              <a:rPr kumimoji="1" lang="zh-CN" altLang="en-US" sz="1600" dirty="0"/>
              <a:t>需同时创建“</a:t>
            </a:r>
            <a:r>
              <a:rPr kumimoji="1" lang="en-US" altLang="zh-CN" sz="1600" dirty="0"/>
              <a:t>.</a:t>
            </a:r>
            <a:r>
              <a:rPr kumimoji="1" lang="zh-CN" altLang="en-US" sz="1600" dirty="0"/>
              <a:t>”和“</a:t>
            </a:r>
            <a:r>
              <a:rPr kumimoji="1" lang="en-US" altLang="zh-CN" sz="1600" dirty="0"/>
              <a:t>..</a:t>
            </a:r>
            <a:r>
              <a:rPr kumimoji="1" lang="zh-CN" altLang="en-US" sz="1600" dirty="0"/>
              <a:t>”两个目录项，需要分配并初始化一个新的数据块</a:t>
            </a:r>
            <a:endParaRPr kumimoji="1" lang="en-US" altLang="zh-CN" sz="1600" dirty="0"/>
          </a:p>
          <a:p>
            <a:pPr lvl="1"/>
            <a:r>
              <a:rPr kumimoji="1" lang="zh-CN" altLang="en-US" sz="1600" dirty="0"/>
              <a:t>根据规则</a:t>
            </a:r>
            <a:r>
              <a:rPr kumimoji="1" lang="en-US" altLang="zh-CN" sz="1600" dirty="0"/>
              <a:t>1</a:t>
            </a:r>
            <a:r>
              <a:rPr kumimoji="1" lang="zh-CN" altLang="en-US" sz="1600" dirty="0"/>
              <a:t>，数据块的初始化操作应该先 于 </a:t>
            </a:r>
            <a:r>
              <a:rPr kumimoji="1" lang="en" altLang="zh-CN" sz="1600" dirty="0" err="1"/>
              <a:t>inode</a:t>
            </a:r>
            <a:r>
              <a:rPr kumimoji="1" lang="en" altLang="zh-CN" sz="1600" dirty="0"/>
              <a:t> </a:t>
            </a:r>
            <a:r>
              <a:rPr kumimoji="1" lang="zh-CN" altLang="en-US" sz="1600" dirty="0"/>
              <a:t>中索引的修改持久化</a:t>
            </a:r>
            <a:endParaRPr kumimoji="1" lang="en-US" altLang="zh-CN" sz="1600" dirty="0"/>
          </a:p>
          <a:p>
            <a:pPr lvl="1"/>
            <a:r>
              <a:rPr kumimoji="1" lang="zh-CN" altLang="en-US" sz="1600" dirty="0"/>
              <a:t>根据规则</a:t>
            </a:r>
            <a:r>
              <a:rPr kumimoji="1" lang="en-US" altLang="zh-CN" sz="1600" dirty="0"/>
              <a:t>2</a:t>
            </a:r>
            <a:r>
              <a:rPr kumimoji="1" lang="zh-CN" altLang="en-US" sz="1600" dirty="0"/>
              <a:t>，数据块分配信息（如 </a:t>
            </a:r>
            <a:r>
              <a:rPr kumimoji="1" lang="en" altLang="zh-CN" sz="1600" dirty="0"/>
              <a:t>bitmap</a:t>
            </a:r>
            <a:r>
              <a:rPr kumimoji="1" lang="zh-CN" altLang="en" sz="1600" dirty="0"/>
              <a:t>）</a:t>
            </a:r>
            <a:r>
              <a:rPr kumimoji="1" lang="zh-CN" altLang="en-US" sz="1600" dirty="0"/>
              <a:t>的持久化同样应该在 </a:t>
            </a:r>
            <a:r>
              <a:rPr kumimoji="1" lang="en" altLang="zh-CN" sz="1600" dirty="0" err="1"/>
              <a:t>inode</a:t>
            </a:r>
            <a:r>
              <a:rPr kumimoji="1" lang="zh-CN" altLang="en-US" sz="1600" dirty="0"/>
              <a:t>初始化之前</a:t>
            </a:r>
            <a:endParaRPr kumimoji="1" lang="en-US" altLang="zh-CN" sz="1600" dirty="0"/>
          </a:p>
          <a:p>
            <a:r>
              <a:rPr kumimoji="1" lang="zh-CN" altLang="en-US" sz="2000" dirty="0"/>
              <a:t>异常情况</a:t>
            </a:r>
            <a:endParaRPr kumimoji="1" lang="en-US" altLang="zh-CN" sz="2000" dirty="0"/>
          </a:p>
          <a:p>
            <a:pPr lvl="1"/>
            <a:r>
              <a:rPr kumimoji="1" lang="zh-CN" altLang="en-US" sz="1600" dirty="0"/>
              <a:t>依然可能会发生空间泄漏，即 </a:t>
            </a:r>
            <a:r>
              <a:rPr kumimoji="1" lang="en" altLang="zh-CN" sz="1600" dirty="0" err="1"/>
              <a:t>inode</a:t>
            </a:r>
            <a:r>
              <a:rPr kumimoji="1" lang="en" altLang="zh-CN" sz="1600" dirty="0"/>
              <a:t> </a:t>
            </a:r>
            <a:r>
              <a:rPr kumimoji="1" lang="zh-CN" altLang="en-US" sz="1600" dirty="0"/>
              <a:t>分配信息被持久化但却未被文件系统使用</a:t>
            </a:r>
            <a:endParaRPr kumimoji="1" lang="en-US" altLang="zh-CN" sz="1600" dirty="0"/>
          </a:p>
          <a:p>
            <a:pPr lvl="1"/>
            <a:r>
              <a:rPr kumimoji="1" lang="zh-CN" altLang="en-US" sz="1600" dirty="0"/>
              <a:t>对文件系统结构没有影响；可通过定期扫描找到未使用的 </a:t>
            </a:r>
            <a:r>
              <a:rPr kumimoji="1" lang="en" altLang="zh-CN" sz="1600" dirty="0" err="1"/>
              <a:t>inode</a:t>
            </a:r>
            <a:r>
              <a:rPr kumimoji="1" lang="en" altLang="zh-CN" sz="1600" dirty="0"/>
              <a:t> </a:t>
            </a:r>
            <a:r>
              <a:rPr kumimoji="1" lang="zh-CN" altLang="en-US" sz="1600" dirty="0"/>
              <a:t>节点并修复</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04E96C9C-09C7-E249-8A4E-34EBAABFF191}"/>
              </a:ext>
            </a:extLst>
          </p:cNvPr>
          <p:cNvSpPr txBox="1"/>
          <p:nvPr/>
        </p:nvSpPr>
        <p:spPr>
          <a:xfrm>
            <a:off x="3563888" y="94853"/>
            <a:ext cx="1800200" cy="1068882"/>
          </a:xfrm>
          <a:prstGeom prst="rect">
            <a:avLst/>
          </a:prstGeom>
          <a:noFill/>
        </p:spPr>
        <p:txBody>
          <a:bodyPr wrap="square">
            <a:spAutoFit/>
          </a:bodyPr>
          <a:lstStyle/>
          <a:p>
            <a:pPr>
              <a:lnSpc>
                <a:spcPct val="130000"/>
              </a:lnSpc>
            </a:pPr>
            <a:r>
              <a:rPr kumimoji="1" lang="zh-CN" altLang="en-US" sz="1400" dirty="0"/>
              <a:t>包括</a:t>
            </a:r>
            <a:r>
              <a:rPr kumimoji="1" lang="en-US" altLang="zh-CN" sz="1400" dirty="0"/>
              <a:t>3</a:t>
            </a:r>
            <a:r>
              <a:rPr kumimoji="1" lang="zh-CN" altLang="en-US" sz="1400" dirty="0"/>
              <a:t>个主要步骤：</a:t>
            </a:r>
            <a:endParaRPr kumimoji="1" lang="en-US" altLang="zh-CN" sz="1400" dirty="0"/>
          </a:p>
          <a:p>
            <a:pPr lvl="1">
              <a:lnSpc>
                <a:spcPct val="130000"/>
              </a:lnSpc>
            </a:pPr>
            <a:r>
              <a:rPr kumimoji="1" lang="zh-CN" altLang="en-US" sz="1200" dirty="0"/>
              <a:t>分配 </a:t>
            </a:r>
            <a:r>
              <a:rPr kumimoji="1" lang="en" altLang="zh-CN" sz="1200" dirty="0" err="1"/>
              <a:t>inode</a:t>
            </a:r>
            <a:endParaRPr kumimoji="1" lang="en-US" altLang="zh-CN" sz="1200" dirty="0"/>
          </a:p>
          <a:p>
            <a:pPr lvl="1">
              <a:lnSpc>
                <a:spcPct val="130000"/>
              </a:lnSpc>
            </a:pPr>
            <a:r>
              <a:rPr kumimoji="1" lang="zh-CN" altLang="en-US" sz="1200" dirty="0"/>
              <a:t>初始化 </a:t>
            </a:r>
            <a:r>
              <a:rPr kumimoji="1" lang="en" altLang="zh-CN" sz="1200" dirty="0" err="1"/>
              <a:t>inode</a:t>
            </a:r>
            <a:endParaRPr kumimoji="1" lang="en-US" altLang="zh-CN" sz="1200" dirty="0"/>
          </a:p>
          <a:p>
            <a:pPr lvl="1">
              <a:lnSpc>
                <a:spcPct val="130000"/>
              </a:lnSpc>
            </a:pPr>
            <a:r>
              <a:rPr kumimoji="1" lang="zh-CN" altLang="en-US" sz="1200" dirty="0"/>
              <a:t>增加目录项</a:t>
            </a:r>
            <a:endParaRPr lang="zh-CN" altLang="en-US" sz="1400" dirty="0"/>
          </a:p>
        </p:txBody>
      </p:sp>
    </p:spTree>
    <p:extLst>
      <p:ext uri="{BB962C8B-B14F-4D97-AF65-F5344CB8AC3E}">
        <p14:creationId xmlns:p14="http://schemas.microsoft.com/office/powerpoint/2010/main" val="19483397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98A501D-A8F8-4349-BCE2-E601D34F268C}"/>
              </a:ext>
            </a:extLst>
          </p:cNvPr>
          <p:cNvPicPr>
            <a:picLocks noChangeAspect="1"/>
          </p:cNvPicPr>
          <p:nvPr/>
        </p:nvPicPr>
        <p:blipFill>
          <a:blip r:embed="rId2"/>
          <a:stretch>
            <a:fillRect/>
          </a:stretch>
        </p:blipFill>
        <p:spPr>
          <a:xfrm>
            <a:off x="5526162" y="-14962"/>
            <a:ext cx="3617838" cy="2268262"/>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删除文件</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2</a:t>
            </a:r>
            <a:r>
              <a:rPr kumimoji="1" lang="zh-CN" altLang="en-US" sz="1600" dirty="0"/>
              <a:t>，文件系统需要将目标文件先从整个文件系统树中</a:t>
            </a:r>
            <a:br>
              <a:rPr kumimoji="1" lang="en-US" altLang="zh-CN" sz="1600" dirty="0"/>
            </a:br>
            <a:r>
              <a:rPr kumimoji="1" lang="zh-CN" altLang="en-US" sz="1600" dirty="0"/>
              <a:t>去掉，再进行资源回收等操作前</a:t>
            </a:r>
            <a:endParaRPr kumimoji="1" lang="en-US" altLang="zh-CN" sz="1600" dirty="0"/>
          </a:p>
          <a:p>
            <a:r>
              <a:rPr kumimoji="1" lang="zh-CN" altLang="en-US" sz="2000" dirty="0"/>
              <a:t>异常情况</a:t>
            </a:r>
            <a:endParaRPr kumimoji="1" lang="en-US" altLang="zh-CN" sz="2000" dirty="0"/>
          </a:p>
          <a:p>
            <a:pPr lvl="1"/>
            <a:r>
              <a:rPr kumimoji="1" lang="zh-CN" altLang="en-US" sz="1600" dirty="0"/>
              <a:t>删除目录项为删除操作的原子更新点，系统崩溃只可能发生在此操作之前或之后</a:t>
            </a:r>
            <a:endParaRPr kumimoji="1" lang="en-US" altLang="zh-CN" sz="1600" dirty="0"/>
          </a:p>
          <a:p>
            <a:pPr lvl="1"/>
            <a:r>
              <a:rPr kumimoji="1" lang="zh-CN" altLang="en-US" sz="1600" dirty="0"/>
              <a:t>若崩溃发生在此之前，则没有删除操作被执行，因此不会产生不一致的情况</a:t>
            </a:r>
            <a:endParaRPr kumimoji="1" lang="en-US" altLang="zh-CN" sz="1600" dirty="0"/>
          </a:p>
          <a:p>
            <a:pPr lvl="1"/>
            <a:r>
              <a:rPr kumimoji="1" lang="zh-CN" altLang="en-US" sz="1600" dirty="0"/>
              <a:t>若崩溃发生在此之后，并不会造成文件系统中其他文件和数据的不一致性</a:t>
            </a:r>
            <a:endParaRPr kumimoji="1" lang="en-US" altLang="zh-CN" sz="1600" dirty="0"/>
          </a:p>
          <a:p>
            <a:pPr lvl="2"/>
            <a:r>
              <a:rPr kumimoji="1" lang="zh-CN" altLang="en-US" sz="1600" dirty="0"/>
              <a:t>此过程中造成的空间泄漏，也 可以通过定期检查的方法进行修复</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04E96C9C-09C7-E249-8A4E-34EBAABFF191}"/>
              </a:ext>
            </a:extLst>
          </p:cNvPr>
          <p:cNvSpPr txBox="1"/>
          <p:nvPr/>
        </p:nvSpPr>
        <p:spPr>
          <a:xfrm>
            <a:off x="3563888" y="94853"/>
            <a:ext cx="1800200" cy="828817"/>
          </a:xfrm>
          <a:prstGeom prst="rect">
            <a:avLst/>
          </a:prstGeom>
          <a:noFill/>
        </p:spPr>
        <p:txBody>
          <a:bodyPr wrap="square">
            <a:spAutoFit/>
          </a:bodyPr>
          <a:lstStyle/>
          <a:p>
            <a:pPr>
              <a:lnSpc>
                <a:spcPct val="130000"/>
              </a:lnSpc>
            </a:pPr>
            <a:r>
              <a:rPr kumimoji="1" lang="zh-CN" altLang="en-US" sz="1400" dirty="0"/>
              <a:t>包括</a:t>
            </a:r>
            <a:r>
              <a:rPr kumimoji="1" lang="en-US" altLang="zh-CN" sz="1400" dirty="0"/>
              <a:t>2</a:t>
            </a:r>
            <a:r>
              <a:rPr kumimoji="1" lang="zh-CN" altLang="en-US" sz="1400" dirty="0"/>
              <a:t>个主要步骤：</a:t>
            </a:r>
            <a:endParaRPr kumimoji="1" lang="en-US" altLang="zh-CN" sz="1400" dirty="0"/>
          </a:p>
          <a:p>
            <a:pPr lvl="1">
              <a:lnSpc>
                <a:spcPct val="130000"/>
              </a:lnSpc>
            </a:pPr>
            <a:r>
              <a:rPr kumimoji="1" lang="zh-CN" altLang="en-US" sz="1200" dirty="0"/>
              <a:t>从文件树移除</a:t>
            </a:r>
            <a:endParaRPr kumimoji="1" lang="en-US" altLang="zh-CN" sz="1200" dirty="0"/>
          </a:p>
          <a:p>
            <a:pPr lvl="1">
              <a:lnSpc>
                <a:spcPct val="130000"/>
              </a:lnSpc>
            </a:pPr>
            <a:r>
              <a:rPr kumimoji="1" lang="zh-CN" altLang="en-US" sz="1200" dirty="0"/>
              <a:t>资源回收和重用</a:t>
            </a:r>
            <a:endParaRPr lang="zh-CN" altLang="en-US" sz="1400" dirty="0"/>
          </a:p>
        </p:txBody>
      </p:sp>
    </p:spTree>
    <p:extLst>
      <p:ext uri="{BB962C8B-B14F-4D97-AF65-F5344CB8AC3E}">
        <p14:creationId xmlns:p14="http://schemas.microsoft.com/office/powerpoint/2010/main" val="5962215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637C9852-84C6-C644-A5D5-657E1A4D052E}"/>
              </a:ext>
            </a:extLst>
          </p:cNvPr>
          <p:cNvPicPr>
            <a:picLocks noChangeAspect="1"/>
          </p:cNvPicPr>
          <p:nvPr/>
        </p:nvPicPr>
        <p:blipFill>
          <a:blip r:embed="rId2"/>
          <a:stretch>
            <a:fillRect/>
          </a:stretch>
        </p:blipFill>
        <p:spPr>
          <a:xfrm>
            <a:off x="5490675" y="0"/>
            <a:ext cx="3624725" cy="2658132"/>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文件重命名</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3</a:t>
            </a:r>
            <a:r>
              <a:rPr kumimoji="1" lang="zh-CN" altLang="en-US" sz="1600" dirty="0"/>
              <a:t>，在进行文件移动时，需要先保证目标目录中的</a:t>
            </a:r>
            <a:br>
              <a:rPr kumimoji="1" lang="en-US" altLang="zh-CN" sz="1600" dirty="0"/>
            </a:br>
            <a:r>
              <a:rPr kumimoji="1" lang="zh-CN" altLang="en-US" sz="1600" dirty="0"/>
              <a:t>目录项 被写入完毕，之后才能删除源目录中的目录项</a:t>
            </a:r>
            <a:endParaRPr kumimoji="1" lang="en-US" altLang="zh-CN" sz="1600" dirty="0"/>
          </a:p>
          <a:p>
            <a:r>
              <a:rPr kumimoji="1" lang="zh-CN" altLang="en-US" sz="2000" dirty="0"/>
              <a:t>异常情况</a:t>
            </a:r>
            <a:endParaRPr kumimoji="1" lang="en-US" altLang="zh-CN" sz="2000" dirty="0"/>
          </a:p>
          <a:p>
            <a:pPr lvl="1"/>
            <a:r>
              <a:rPr kumimoji="1" lang="zh-CN" altLang="en-US" sz="1600" dirty="0"/>
              <a:t>目标目录中的目录项写入完毕后发生崩溃</a:t>
            </a:r>
            <a:endParaRPr kumimoji="1" lang="en-US" altLang="zh-CN" sz="1600" dirty="0"/>
          </a:p>
          <a:p>
            <a:pPr lvl="1"/>
            <a:r>
              <a:rPr kumimoji="1" lang="zh-CN" altLang="en-US" sz="1600" dirty="0"/>
              <a:t>重启后会发现两个目录中的目录项均指向该 </a:t>
            </a:r>
            <a:r>
              <a:rPr kumimoji="1" lang="en" altLang="zh-CN" sz="1600" dirty="0" err="1"/>
              <a:t>inode</a:t>
            </a:r>
            <a:r>
              <a:rPr kumimoji="1" lang="en" altLang="zh-CN" sz="1600" dirty="0"/>
              <a:t> </a:t>
            </a:r>
            <a:r>
              <a:rPr kumimoji="1" lang="zh-CN" altLang="en-US" sz="1600" dirty="0"/>
              <a:t>结构</a:t>
            </a:r>
            <a:endParaRPr kumimoji="1" lang="en-US" altLang="zh-CN" sz="1600" dirty="0"/>
          </a:p>
          <a:p>
            <a:pPr lvl="1"/>
            <a:r>
              <a:rPr kumimoji="1" lang="zh-CN" altLang="en-US" sz="1600" dirty="0"/>
              <a:t>并未造成被移动文件的数据丢失， 也不影响文件系统中其他文件的一致性</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687845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FC19B-A6EA-8243-B153-61182F377840}"/>
              </a:ext>
            </a:extLst>
          </p:cNvPr>
          <p:cNvSpPr>
            <a:spLocks noGrp="1"/>
          </p:cNvSpPr>
          <p:nvPr>
            <p:ph type="title"/>
          </p:nvPr>
        </p:nvSpPr>
        <p:spPr/>
        <p:txBody>
          <a:bodyPr/>
          <a:lstStyle/>
          <a:p>
            <a:r>
              <a:rPr kumimoji="1" lang="zh-CN" altLang="en-US" dirty="0"/>
              <a:t>依赖追踪</a:t>
            </a:r>
          </a:p>
        </p:txBody>
      </p:sp>
      <p:sp>
        <p:nvSpPr>
          <p:cNvPr id="3" name="内容占位符 2">
            <a:extLst>
              <a:ext uri="{FF2B5EF4-FFF2-40B4-BE49-F238E27FC236}">
                <a16:creationId xmlns:a16="http://schemas.microsoft.com/office/drawing/2014/main" id="{D0432BAF-BBE2-0B41-8D8D-3020872CC2CC}"/>
              </a:ext>
            </a:extLst>
          </p:cNvPr>
          <p:cNvSpPr>
            <a:spLocks noGrp="1"/>
          </p:cNvSpPr>
          <p:nvPr>
            <p:ph idx="1"/>
          </p:nvPr>
        </p:nvSpPr>
        <p:spPr/>
        <p:txBody>
          <a:bodyPr>
            <a:normAutofit/>
          </a:bodyPr>
          <a:lstStyle/>
          <a:p>
            <a:r>
              <a:rPr kumimoji="1" lang="en-US" altLang="zh-CN" sz="2000" dirty="0"/>
              <a:t>Soft</a:t>
            </a:r>
            <a:r>
              <a:rPr kumimoji="1" lang="zh-CN" altLang="en-US" sz="2000" dirty="0"/>
              <a:t> </a:t>
            </a:r>
            <a:r>
              <a:rPr kumimoji="1" lang="en-US" altLang="zh-CN" sz="2000" dirty="0"/>
              <a:t>Update</a:t>
            </a:r>
            <a:r>
              <a:rPr kumimoji="1" lang="zh-CN" altLang="en-US" sz="2000" dirty="0"/>
              <a:t>原理</a:t>
            </a:r>
            <a:endParaRPr kumimoji="1" lang="en-US" altLang="zh-CN" sz="2000" dirty="0"/>
          </a:p>
          <a:p>
            <a:pPr lvl="1"/>
            <a:r>
              <a:rPr kumimoji="1" lang="zh-CN" altLang="en-US" sz="1800" dirty="0"/>
              <a:t>使用内存结构表示还未写回到存储设备的修改</a:t>
            </a:r>
            <a:endParaRPr kumimoji="1" lang="en-US" altLang="zh-CN" sz="1800" dirty="0"/>
          </a:p>
          <a:p>
            <a:pPr lvl="1"/>
            <a:r>
              <a:rPr kumimoji="1" lang="zh-CN" altLang="en-US" sz="1800" dirty="0"/>
              <a:t>并异步地将这些修改持久化到 存储设备中</a:t>
            </a:r>
            <a:endParaRPr kumimoji="1" lang="en-US" altLang="zh-CN" sz="1800" dirty="0"/>
          </a:p>
          <a:p>
            <a:pPr lvl="1"/>
            <a:r>
              <a:rPr kumimoji="1" lang="zh-CN" altLang="en-US" sz="1800" dirty="0"/>
              <a:t>问题：如何保证这些修改的持久化顺序呢？</a:t>
            </a:r>
            <a:endParaRPr kumimoji="1" lang="en-US" altLang="zh-CN" sz="1800" dirty="0"/>
          </a:p>
          <a:p>
            <a:r>
              <a:rPr kumimoji="1" lang="zh-CN" altLang="en-US" sz="2000" dirty="0"/>
              <a:t>依赖追踪</a:t>
            </a:r>
            <a:endParaRPr kumimoji="1" lang="en-US" altLang="zh-CN" sz="2000" dirty="0"/>
          </a:p>
          <a:p>
            <a:pPr lvl="1"/>
            <a:r>
              <a:rPr kumimoji="1" lang="zh-CN" altLang="en-US" sz="1800" dirty="0"/>
              <a:t>根据</a:t>
            </a:r>
            <a:r>
              <a:rPr kumimoji="1" lang="en-US" altLang="zh-CN" sz="1800" dirty="0"/>
              <a:t>3</a:t>
            </a:r>
            <a:r>
              <a:rPr kumimoji="1" lang="zh-CN" altLang="en-US" sz="1800" dirty="0"/>
              <a:t>条规则，对修改之间需要遵守的顺序进行记录</a:t>
            </a:r>
            <a:endParaRPr kumimoji="1" lang="en-US" altLang="zh-CN" sz="1800" dirty="0"/>
          </a:p>
          <a:p>
            <a:pPr lvl="2"/>
            <a:r>
              <a:rPr kumimoji="1" lang="zh-CN" altLang="en-US" sz="1800" dirty="0"/>
              <a:t>如果修改 </a:t>
            </a:r>
            <a:r>
              <a:rPr kumimoji="1" lang="en" altLang="zh-CN" sz="1800" dirty="0"/>
              <a:t>A</a:t>
            </a:r>
            <a:r>
              <a:rPr kumimoji="1" lang="zh-CN" altLang="en-US" sz="1800" dirty="0"/>
              <a:t>需要在修改</a:t>
            </a:r>
            <a:r>
              <a:rPr kumimoji="1" lang="en" altLang="zh-CN" sz="1800" dirty="0"/>
              <a:t>B</a:t>
            </a:r>
            <a:r>
              <a:rPr kumimoji="1" lang="zh-CN" altLang="en-US" sz="1800" dirty="0"/>
              <a:t>之前写入到存储，则称</a:t>
            </a:r>
            <a:r>
              <a:rPr kumimoji="1" lang="en" altLang="zh-CN" sz="1800" dirty="0"/>
              <a:t>B</a:t>
            </a:r>
            <a:r>
              <a:rPr kumimoji="1" lang="zh-CN" altLang="en-US" sz="1800" dirty="0"/>
              <a:t>依赖于</a:t>
            </a:r>
            <a:r>
              <a:rPr kumimoji="1" lang="en" altLang="zh-CN" sz="1800" dirty="0"/>
              <a:t>A</a:t>
            </a:r>
            <a:endParaRPr kumimoji="1" lang="en-US" altLang="zh-CN" sz="1800" dirty="0"/>
          </a:p>
          <a:p>
            <a:pPr lvl="1"/>
            <a:r>
              <a:rPr kumimoji="1" lang="en-US" altLang="zh-CN" sz="1800" dirty="0"/>
              <a:t>Soft</a:t>
            </a:r>
            <a:r>
              <a:rPr kumimoji="1" lang="zh-CN" altLang="en-US" sz="1800" dirty="0"/>
              <a:t> </a:t>
            </a:r>
            <a:r>
              <a:rPr kumimoji="1" lang="en-US" altLang="zh-CN" sz="1800" dirty="0"/>
              <a:t>update</a:t>
            </a:r>
            <a:r>
              <a:rPr kumimoji="1" lang="zh-CN" altLang="en-US" sz="1800" dirty="0"/>
              <a:t>会将这些修改之间的依赖关系记录下来</a:t>
            </a:r>
          </a:p>
        </p:txBody>
      </p:sp>
      <p:sp>
        <p:nvSpPr>
          <p:cNvPr id="4" name="灯片编号占位符 3">
            <a:extLst>
              <a:ext uri="{FF2B5EF4-FFF2-40B4-BE49-F238E27FC236}">
                <a16:creationId xmlns:a16="http://schemas.microsoft.com/office/drawing/2014/main" id="{CD7AE679-A3C6-D041-AF2B-B14C4F9B7BD5}"/>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
        <p:nvSpPr>
          <p:cNvPr id="5" name="页脚占位符 4">
            <a:extLst>
              <a:ext uri="{FF2B5EF4-FFF2-40B4-BE49-F238E27FC236}">
                <a16:creationId xmlns:a16="http://schemas.microsoft.com/office/drawing/2014/main" id="{51C0D6CF-F50F-D54E-B06D-42F05413A35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450D8F88-75CF-844C-B106-330558FC147E}"/>
              </a:ext>
            </a:extLst>
          </p:cNvPr>
          <p:cNvPicPr>
            <a:picLocks noChangeAspect="1"/>
          </p:cNvPicPr>
          <p:nvPr/>
        </p:nvPicPr>
        <p:blipFill>
          <a:blip r:embed="rId2"/>
          <a:stretch>
            <a:fillRect/>
          </a:stretch>
        </p:blipFill>
        <p:spPr>
          <a:xfrm>
            <a:off x="5940152" y="102026"/>
            <a:ext cx="2995841" cy="2980556"/>
          </a:xfrm>
          <a:prstGeom prst="rect">
            <a:avLst/>
          </a:prstGeom>
        </p:spPr>
      </p:pic>
      <p:sp>
        <p:nvSpPr>
          <p:cNvPr id="8" name="文本框 7">
            <a:extLst>
              <a:ext uri="{FF2B5EF4-FFF2-40B4-BE49-F238E27FC236}">
                <a16:creationId xmlns:a16="http://schemas.microsoft.com/office/drawing/2014/main" id="{D10E41F4-DE6C-F44B-9660-74D6C73B7BBB}"/>
              </a:ext>
            </a:extLst>
          </p:cNvPr>
          <p:cNvSpPr txBox="1"/>
          <p:nvPr/>
        </p:nvSpPr>
        <p:spPr>
          <a:xfrm>
            <a:off x="6355682" y="3008358"/>
            <a:ext cx="2331118" cy="307777"/>
          </a:xfrm>
          <a:prstGeom prst="rect">
            <a:avLst/>
          </a:prstGeom>
          <a:noFill/>
        </p:spPr>
        <p:txBody>
          <a:bodyPr wrap="square">
            <a:spAutoFit/>
          </a:bodyPr>
          <a:lstStyle/>
          <a:p>
            <a:pPr algn="ctr"/>
            <a:r>
              <a:rPr lang="zh-CN" altLang="en-US" sz="1400" b="1" dirty="0">
                <a:solidFill>
                  <a:schemeClr val="accent3"/>
                </a:solidFill>
              </a:rPr>
              <a:t>基于块的 DAG 依赖关系图</a:t>
            </a:r>
          </a:p>
        </p:txBody>
      </p:sp>
    </p:spTree>
    <p:extLst>
      <p:ext uri="{BB962C8B-B14F-4D97-AF65-F5344CB8AC3E}">
        <p14:creationId xmlns:p14="http://schemas.microsoft.com/office/powerpoint/2010/main" val="15556661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44A0B9-937B-3B49-BAFD-13AC7C8D8399}"/>
              </a:ext>
            </a:extLst>
          </p:cNvPr>
          <p:cNvSpPr>
            <a:spLocks noGrp="1"/>
          </p:cNvSpPr>
          <p:nvPr>
            <p:ph type="title"/>
          </p:nvPr>
        </p:nvSpPr>
        <p:spPr/>
        <p:txBody>
          <a:bodyPr/>
          <a:lstStyle/>
          <a:p>
            <a:r>
              <a:rPr kumimoji="1" lang="zh-CN" altLang="en-US" dirty="0"/>
              <a:t>依赖追踪的两个问题</a:t>
            </a:r>
          </a:p>
        </p:txBody>
      </p:sp>
      <p:sp>
        <p:nvSpPr>
          <p:cNvPr id="3" name="内容占位符 2">
            <a:extLst>
              <a:ext uri="{FF2B5EF4-FFF2-40B4-BE49-F238E27FC236}">
                <a16:creationId xmlns:a16="http://schemas.microsoft.com/office/drawing/2014/main" id="{AD6911D1-F79F-2E4F-A4E5-9E63F214D57A}"/>
              </a:ext>
            </a:extLst>
          </p:cNvPr>
          <p:cNvSpPr>
            <a:spLocks noGrp="1"/>
          </p:cNvSpPr>
          <p:nvPr>
            <p:ph idx="1"/>
          </p:nvPr>
        </p:nvSpPr>
        <p:spPr/>
        <p:txBody>
          <a:bodyPr/>
          <a:lstStyle/>
          <a:p>
            <a:r>
              <a:rPr kumimoji="1" lang="zh-CN" altLang="en-US" dirty="0"/>
              <a:t>问题</a:t>
            </a:r>
            <a:r>
              <a:rPr kumimoji="1" lang="en-US" altLang="zh-CN" dirty="0"/>
              <a:t>1</a:t>
            </a:r>
            <a:r>
              <a:rPr kumimoji="1" lang="zh-CN" altLang="en-US" dirty="0"/>
              <a:t>：环形依赖</a:t>
            </a:r>
            <a:endParaRPr kumimoji="1" lang="en-US" altLang="zh-CN" dirty="0"/>
          </a:p>
          <a:p>
            <a:pPr lvl="1"/>
            <a:r>
              <a:rPr kumimoji="1" lang="zh-CN" altLang="en-US" dirty="0"/>
              <a:t>一个块通常包含多个文件系统结构</a:t>
            </a:r>
            <a:endParaRPr kumimoji="1" lang="en-US" altLang="zh-CN" dirty="0"/>
          </a:p>
          <a:p>
            <a:pPr lvl="1"/>
            <a:r>
              <a:rPr kumimoji="1" lang="zh-CN" altLang="en-US" dirty="0"/>
              <a:t>环形依赖：块 </a:t>
            </a:r>
            <a:r>
              <a:rPr kumimoji="1" lang="en-US" altLang="zh-CN" dirty="0"/>
              <a:t>A </a:t>
            </a:r>
            <a:r>
              <a:rPr kumimoji="1" lang="zh-CN" altLang="en-US" dirty="0"/>
              <a:t>需要在块 </a:t>
            </a:r>
            <a:r>
              <a:rPr kumimoji="1" lang="en-US" altLang="zh-CN" dirty="0"/>
              <a:t>B </a:t>
            </a:r>
            <a:r>
              <a:rPr kumimoji="1" lang="zh-CN" altLang="en-US" dirty="0"/>
              <a:t>前写回，同时块 </a:t>
            </a:r>
            <a:r>
              <a:rPr kumimoji="1" lang="en-US" altLang="zh-CN" dirty="0"/>
              <a:t>B </a:t>
            </a:r>
            <a:r>
              <a:rPr kumimoji="1" lang="zh-CN" altLang="en-US" dirty="0"/>
              <a:t>需要在块 </a:t>
            </a:r>
            <a:r>
              <a:rPr kumimoji="1" lang="en-US" altLang="zh-CN" dirty="0"/>
              <a:t>A </a:t>
            </a:r>
            <a:r>
              <a:rPr kumimoji="1" lang="zh-CN" altLang="en-US" dirty="0"/>
              <a:t>前写回</a:t>
            </a:r>
            <a:endParaRPr kumimoji="1" lang="en-US" altLang="zh-CN" dirty="0"/>
          </a:p>
          <a:p>
            <a:pPr lvl="1"/>
            <a:endParaRPr kumimoji="1" lang="en-US" altLang="zh-CN" dirty="0"/>
          </a:p>
          <a:p>
            <a:pPr lvl="0"/>
            <a:r>
              <a:rPr kumimoji="1" lang="zh-CN" altLang="en-US" dirty="0">
                <a:solidFill>
                  <a:srgbClr val="000000">
                    <a:lumMod val="75000"/>
                    <a:lumOff val="25000"/>
                  </a:srgbClr>
                </a:solidFill>
              </a:rPr>
              <a:t>问题</a:t>
            </a:r>
            <a:r>
              <a:rPr kumimoji="1" lang="en-US" altLang="zh-CN" dirty="0">
                <a:solidFill>
                  <a:srgbClr val="000000">
                    <a:lumMod val="75000"/>
                    <a:lumOff val="25000"/>
                  </a:srgbClr>
                </a:solidFill>
              </a:rPr>
              <a:t>2</a:t>
            </a:r>
            <a:r>
              <a:rPr kumimoji="1" lang="zh-CN" altLang="en-US" dirty="0">
                <a:solidFill>
                  <a:srgbClr val="000000">
                    <a:lumMod val="75000"/>
                    <a:lumOff val="25000"/>
                  </a:srgbClr>
                </a:solidFill>
              </a:rPr>
              <a:t>：写回迟滞</a:t>
            </a:r>
            <a:endParaRPr kumimoji="1" lang="en-US" altLang="zh-CN" dirty="0">
              <a:solidFill>
                <a:srgbClr val="000000">
                  <a:lumMod val="75000"/>
                  <a:lumOff val="25000"/>
                </a:srgbClr>
              </a:solidFill>
            </a:endParaRPr>
          </a:p>
          <a:p>
            <a:pPr lvl="1"/>
            <a:r>
              <a:rPr kumimoji="1" lang="zh-CN" altLang="en-US" dirty="0"/>
              <a:t>当一个结构中的数据被频繁修改时，该结构很可能由于一直产生新的依赖导致长时间无法被写回到存储设备之中</a:t>
            </a:r>
            <a:endParaRPr kumimoji="1" lang="en-US" altLang="zh-CN" dirty="0"/>
          </a:p>
        </p:txBody>
      </p:sp>
      <p:sp>
        <p:nvSpPr>
          <p:cNvPr id="4" name="灯片编号占位符 3">
            <a:extLst>
              <a:ext uri="{FF2B5EF4-FFF2-40B4-BE49-F238E27FC236}">
                <a16:creationId xmlns:a16="http://schemas.microsoft.com/office/drawing/2014/main" id="{6C37997D-92C9-AE41-BF67-A782CF096134}"/>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页脚占位符 4">
            <a:extLst>
              <a:ext uri="{FF2B5EF4-FFF2-40B4-BE49-F238E27FC236}">
                <a16:creationId xmlns:a16="http://schemas.microsoft.com/office/drawing/2014/main" id="{60591A2F-E683-304F-92D3-7B508B9B9B8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BFD36BDA-25BE-F844-9DBE-80AC4D01FA70}"/>
              </a:ext>
            </a:extLst>
          </p:cNvPr>
          <p:cNvPicPr>
            <a:picLocks noChangeAspect="1"/>
          </p:cNvPicPr>
          <p:nvPr/>
        </p:nvPicPr>
        <p:blipFill>
          <a:blip r:embed="rId3"/>
          <a:stretch>
            <a:fillRect/>
          </a:stretch>
        </p:blipFill>
        <p:spPr>
          <a:xfrm>
            <a:off x="5300818" y="17350"/>
            <a:ext cx="3843182" cy="2058151"/>
          </a:xfrm>
          <a:prstGeom prst="rect">
            <a:avLst/>
          </a:prstGeom>
        </p:spPr>
      </p:pic>
    </p:spTree>
    <p:extLst>
      <p:ext uri="{BB962C8B-B14F-4D97-AF65-F5344CB8AC3E}">
        <p14:creationId xmlns:p14="http://schemas.microsoft.com/office/powerpoint/2010/main" val="4044643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C401B-6906-D04E-982E-65FA9B2C9485}"/>
              </a:ext>
            </a:extLst>
          </p:cNvPr>
          <p:cNvSpPr>
            <a:spLocks noGrp="1"/>
          </p:cNvSpPr>
          <p:nvPr>
            <p:ph type="title"/>
          </p:nvPr>
        </p:nvSpPr>
        <p:spPr/>
        <p:txBody>
          <a:bodyPr/>
          <a:lstStyle/>
          <a:p>
            <a:r>
              <a:rPr kumimoji="1" lang="zh-CN" altLang="en-US" dirty="0"/>
              <a:t>撤销和重做</a:t>
            </a:r>
          </a:p>
        </p:txBody>
      </p:sp>
      <p:sp>
        <p:nvSpPr>
          <p:cNvPr id="3" name="内容占位符 2">
            <a:extLst>
              <a:ext uri="{FF2B5EF4-FFF2-40B4-BE49-F238E27FC236}">
                <a16:creationId xmlns:a16="http://schemas.microsoft.com/office/drawing/2014/main" id="{924100E1-4C1C-A347-96E1-0C8BA5803A62}"/>
              </a:ext>
            </a:extLst>
          </p:cNvPr>
          <p:cNvSpPr>
            <a:spLocks noGrp="1"/>
          </p:cNvSpPr>
          <p:nvPr>
            <p:ph idx="1"/>
          </p:nvPr>
        </p:nvSpPr>
        <p:spPr/>
        <p:txBody>
          <a:bodyPr>
            <a:noAutofit/>
          </a:bodyPr>
          <a:lstStyle/>
          <a:p>
            <a:r>
              <a:rPr kumimoji="1" lang="zh-CN" altLang="en-US" sz="2000" dirty="0"/>
              <a:t>解决环形依赖</a:t>
            </a:r>
            <a:endParaRPr kumimoji="1" lang="en-US" altLang="zh-CN" sz="2000" dirty="0"/>
          </a:p>
          <a:p>
            <a:pPr lvl="1"/>
            <a:r>
              <a:rPr kumimoji="1" lang="zh-CN" altLang="en-US" sz="1800" dirty="0"/>
              <a:t>将依赖追踪从块粒度细化为结构粒度，使用撤销和重做打破循环依赖</a:t>
            </a:r>
            <a:endParaRPr kumimoji="1" lang="en-US" altLang="zh-CN" sz="1800" dirty="0"/>
          </a:p>
          <a:p>
            <a:r>
              <a:rPr kumimoji="1" lang="zh-CN" altLang="en-US" sz="2000" dirty="0"/>
              <a:t>记录每个结构上的修改记录</a:t>
            </a:r>
            <a:endParaRPr kumimoji="1" lang="en-US" altLang="zh-CN" sz="2000" dirty="0"/>
          </a:p>
          <a:p>
            <a:pPr lvl="1"/>
            <a:r>
              <a:rPr kumimoji="1" lang="zh-CN" altLang="en-US" sz="1800" dirty="0"/>
              <a:t>当需要将某个结构写回到存储设备时，检测是否有环形依赖</a:t>
            </a:r>
            <a:endParaRPr kumimoji="1" lang="en-US" altLang="zh-CN" sz="1800" dirty="0"/>
          </a:p>
          <a:p>
            <a:pPr lvl="1"/>
            <a:r>
              <a:rPr kumimoji="1" lang="zh-CN" altLang="en-US" sz="1800" dirty="0"/>
              <a:t>当出现环形依赖时，其先将部分操作撤销</a:t>
            </a:r>
            <a:endParaRPr kumimoji="1" lang="en-US" altLang="zh-CN" sz="1800" dirty="0"/>
          </a:p>
          <a:p>
            <a:pPr lvl="2"/>
            <a:r>
              <a:rPr kumimoji="1" lang="zh-CN" altLang="en-US" sz="1800" dirty="0"/>
              <a:t>即将内存中的结构还原到此操作执行前的状态</a:t>
            </a:r>
            <a:endParaRPr kumimoji="1" lang="en-US" altLang="zh-CN" sz="1800" dirty="0"/>
          </a:p>
          <a:p>
            <a:pPr lvl="1"/>
            <a:r>
              <a:rPr kumimoji="1" lang="zh-CN" altLang="en-US" sz="1800" dirty="0"/>
              <a:t>撤销之后环形依赖被打破，根据打破后的依赖将修改按照顺序持久化</a:t>
            </a:r>
            <a:endParaRPr kumimoji="1" lang="en-US" altLang="zh-CN" sz="1800" dirty="0"/>
          </a:p>
          <a:p>
            <a:pPr lvl="1"/>
            <a:r>
              <a:rPr kumimoji="1" lang="zh-CN" altLang="en-US" sz="1800" dirty="0"/>
              <a:t>持久化完毕之后，将此前被撤销的操作恢复，即重做。</a:t>
            </a:r>
            <a:endParaRPr kumimoji="1" lang="en-US" altLang="zh-CN" sz="1800" dirty="0"/>
          </a:p>
          <a:p>
            <a:pPr lvl="1"/>
            <a:r>
              <a:rPr kumimoji="1" lang="zh-CN" altLang="en-US" sz="1800" dirty="0"/>
              <a:t>在重做完成后，将最新的内存中的结构按照新的依赖关系再次持久化</a:t>
            </a:r>
          </a:p>
        </p:txBody>
      </p:sp>
      <p:sp>
        <p:nvSpPr>
          <p:cNvPr id="4" name="灯片编号占位符 3">
            <a:extLst>
              <a:ext uri="{FF2B5EF4-FFF2-40B4-BE49-F238E27FC236}">
                <a16:creationId xmlns:a16="http://schemas.microsoft.com/office/drawing/2014/main" id="{E024F3A6-3453-0842-858F-0F05AAFE6711}"/>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
        <p:nvSpPr>
          <p:cNvPr id="5" name="页脚占位符 4">
            <a:extLst>
              <a:ext uri="{FF2B5EF4-FFF2-40B4-BE49-F238E27FC236}">
                <a16:creationId xmlns:a16="http://schemas.microsoft.com/office/drawing/2014/main" id="{8E71B95C-1299-4D46-8252-3D3208F73D0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2486011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B2E613-B31A-4B43-BB33-853B4A45971D}"/>
              </a:ext>
            </a:extLst>
          </p:cNvPr>
          <p:cNvSpPr>
            <a:spLocks noGrp="1"/>
          </p:cNvSpPr>
          <p:nvPr>
            <p:ph type="title"/>
          </p:nvPr>
        </p:nvSpPr>
        <p:spPr/>
        <p:txBody>
          <a:bodyPr/>
          <a:lstStyle/>
          <a:p>
            <a:r>
              <a:rPr kumimoji="1" lang="zh-CN" altLang="en-US" dirty="0"/>
              <a:t>撤销和重做</a:t>
            </a:r>
          </a:p>
        </p:txBody>
      </p:sp>
      <p:sp>
        <p:nvSpPr>
          <p:cNvPr id="4" name="灯片编号占位符 3">
            <a:extLst>
              <a:ext uri="{FF2B5EF4-FFF2-40B4-BE49-F238E27FC236}">
                <a16:creationId xmlns:a16="http://schemas.microsoft.com/office/drawing/2014/main" id="{3C621FF4-127A-6045-82C3-BF0245217F8F}"/>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页脚占位符 4">
            <a:extLst>
              <a:ext uri="{FF2B5EF4-FFF2-40B4-BE49-F238E27FC236}">
                <a16:creationId xmlns:a16="http://schemas.microsoft.com/office/drawing/2014/main" id="{68B1FA00-4C0C-A848-B520-AD827ABA1E6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1A6F53BE-5453-644D-A657-EB4CDB704A67}"/>
              </a:ext>
            </a:extLst>
          </p:cNvPr>
          <p:cNvPicPr>
            <a:picLocks noChangeAspect="1"/>
          </p:cNvPicPr>
          <p:nvPr/>
        </p:nvPicPr>
        <p:blipFill>
          <a:blip r:embed="rId3"/>
          <a:stretch>
            <a:fillRect/>
          </a:stretch>
        </p:blipFill>
        <p:spPr>
          <a:xfrm>
            <a:off x="1518657" y="1230577"/>
            <a:ext cx="6106686" cy="3931179"/>
          </a:xfrm>
          <a:prstGeom prst="rect">
            <a:avLst/>
          </a:prstGeom>
        </p:spPr>
      </p:pic>
    </p:spTree>
    <p:extLst>
      <p:ext uri="{BB962C8B-B14F-4D97-AF65-F5344CB8AC3E}">
        <p14:creationId xmlns:p14="http://schemas.microsoft.com/office/powerpoint/2010/main" val="40819599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451C6-13FC-2C4A-9CF4-14E0E75B19A5}"/>
              </a:ext>
            </a:extLst>
          </p:cNvPr>
          <p:cNvSpPr>
            <a:spLocks noGrp="1"/>
          </p:cNvSpPr>
          <p:nvPr>
            <p:ph type="title"/>
          </p:nvPr>
        </p:nvSpPr>
        <p:spPr/>
        <p:txBody>
          <a:bodyPr/>
          <a:lstStyle/>
          <a:p>
            <a:r>
              <a:rPr kumimoji="1" lang="zh-CN" altLang="en-US" dirty="0"/>
              <a:t>撤销和重做</a:t>
            </a:r>
          </a:p>
        </p:txBody>
      </p:sp>
      <p:sp>
        <p:nvSpPr>
          <p:cNvPr id="3" name="内容占位符 2">
            <a:extLst>
              <a:ext uri="{FF2B5EF4-FFF2-40B4-BE49-F238E27FC236}">
                <a16:creationId xmlns:a16="http://schemas.microsoft.com/office/drawing/2014/main" id="{C59B19FA-F1DB-6C43-95DA-94070C88A6BF}"/>
              </a:ext>
            </a:extLst>
          </p:cNvPr>
          <p:cNvSpPr>
            <a:spLocks noGrp="1"/>
          </p:cNvSpPr>
          <p:nvPr>
            <p:ph idx="1"/>
          </p:nvPr>
        </p:nvSpPr>
        <p:spPr/>
        <p:txBody>
          <a:bodyPr/>
          <a:lstStyle/>
          <a:p>
            <a:r>
              <a:rPr kumimoji="1" lang="zh-CN" altLang="en-US" dirty="0"/>
              <a:t>不仅能够打破环形依赖，还能解决写回迟滞的问题</a:t>
            </a:r>
            <a:endParaRPr kumimoji="1" lang="en-US" altLang="zh-CN" dirty="0"/>
          </a:p>
          <a:p>
            <a:pPr lvl="1"/>
            <a:r>
              <a:rPr kumimoji="1" lang="zh-CN" altLang="en-US" dirty="0"/>
              <a:t>若某个结构被频繁修改，导致不断有新的依赖产生时，可将部分新的修改撤销，在快速完成持久化后将修改重做</a:t>
            </a:r>
            <a:endParaRPr kumimoji="1" lang="en-US" altLang="zh-CN" dirty="0"/>
          </a:p>
          <a:p>
            <a:pPr lvl="1"/>
            <a:r>
              <a:rPr kumimoji="1" lang="zh-CN" altLang="en-US" dirty="0"/>
              <a:t>避免新依赖不断推迟该结构上修改的持久化</a:t>
            </a:r>
          </a:p>
        </p:txBody>
      </p:sp>
      <p:sp>
        <p:nvSpPr>
          <p:cNvPr id="4" name="灯片编号占位符 3">
            <a:extLst>
              <a:ext uri="{FF2B5EF4-FFF2-40B4-BE49-F238E27FC236}">
                <a16:creationId xmlns:a16="http://schemas.microsoft.com/office/drawing/2014/main" id="{85110839-E680-FB47-92E0-8FA62C0EAAED}"/>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
        <p:nvSpPr>
          <p:cNvPr id="5" name="页脚占位符 4">
            <a:extLst>
              <a:ext uri="{FF2B5EF4-FFF2-40B4-BE49-F238E27FC236}">
                <a16:creationId xmlns:a16="http://schemas.microsoft.com/office/drawing/2014/main" id="{A6E904F6-6420-4845-913B-AC47886E6A1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2285901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8B88-D5F4-DA40-B6FD-717DC47245CC}"/>
              </a:ext>
            </a:extLst>
          </p:cNvPr>
          <p:cNvSpPr>
            <a:spLocks noGrp="1"/>
          </p:cNvSpPr>
          <p:nvPr>
            <p:ph type="title"/>
          </p:nvPr>
        </p:nvSpPr>
        <p:spPr/>
        <p:txBody>
          <a:bodyPr/>
          <a:lstStyle/>
          <a:p>
            <a:r>
              <a:rPr lang="en-US" altLang="zh-CN" dirty="0"/>
              <a:t>Review</a:t>
            </a:r>
            <a:r>
              <a:rPr lang="zh-CN" altLang="en-US" dirty="0"/>
              <a:t>：崩溃一致性保障方法</a:t>
            </a:r>
            <a:endParaRPr lang="en-CN" dirty="0"/>
          </a:p>
        </p:txBody>
      </p:sp>
      <p:sp>
        <p:nvSpPr>
          <p:cNvPr id="3" name="Content Placeholder 2">
            <a:extLst>
              <a:ext uri="{FF2B5EF4-FFF2-40B4-BE49-F238E27FC236}">
                <a16:creationId xmlns:a16="http://schemas.microsoft.com/office/drawing/2014/main" id="{E5A0DF85-DF86-AF46-873B-ACC1075A0B50}"/>
              </a:ext>
            </a:extLst>
          </p:cNvPr>
          <p:cNvSpPr>
            <a:spLocks noGrp="1"/>
          </p:cNvSpPr>
          <p:nvPr>
            <p:ph idx="1"/>
          </p:nvPr>
        </p:nvSpPr>
        <p:spPr/>
        <p:txBody>
          <a:bodyPr>
            <a:normAutofit/>
          </a:bodyPr>
          <a:lstStyle/>
          <a:p>
            <a:r>
              <a:rPr lang="zh-CN" altLang="en-US" dirty="0"/>
              <a:t>日志</a:t>
            </a:r>
            <a:endParaRPr lang="en-US" altLang="zh-CN" dirty="0"/>
          </a:p>
          <a:p>
            <a:r>
              <a:rPr lang="zh-CN" altLang="en-US" dirty="0"/>
              <a:t>写时复制</a:t>
            </a:r>
            <a:endParaRPr lang="en-US" altLang="zh-CN" dirty="0"/>
          </a:p>
          <a:p>
            <a:r>
              <a:rPr lang="en-US" altLang="zh-CN" dirty="0"/>
              <a:t>Soft</a:t>
            </a:r>
            <a:r>
              <a:rPr lang="zh-CN" altLang="en-US" dirty="0"/>
              <a:t> </a:t>
            </a:r>
            <a:r>
              <a:rPr lang="en-US" altLang="zh-CN" dirty="0"/>
              <a:t>updates</a:t>
            </a:r>
          </a:p>
          <a:p>
            <a:endParaRPr lang="en-CN" dirty="0"/>
          </a:p>
        </p:txBody>
      </p:sp>
      <p:sp>
        <p:nvSpPr>
          <p:cNvPr id="4" name="Slide Number Placeholder 3">
            <a:extLst>
              <a:ext uri="{FF2B5EF4-FFF2-40B4-BE49-F238E27FC236}">
                <a16:creationId xmlns:a16="http://schemas.microsoft.com/office/drawing/2014/main" id="{BC3B825D-F3D7-B64C-8793-2333388AA9A4}"/>
              </a:ext>
            </a:extLst>
          </p:cNvPr>
          <p:cNvSpPr>
            <a:spLocks noGrp="1"/>
          </p:cNvSpPr>
          <p:nvPr>
            <p:ph type="sldNum" sz="quarter" idx="12"/>
          </p:nvPr>
        </p:nvSpPr>
        <p:spPr/>
        <p:txBody>
          <a:bodyPr/>
          <a:lstStyle/>
          <a:p>
            <a:fld id="{ADE361C3-C043-4A6E-BDCE-8DA1E7D90A3B}" type="slidenum">
              <a:rPr lang="zh-CN" altLang="en-US" smtClean="0"/>
              <a:t>51</a:t>
            </a:fld>
            <a:endParaRPr lang="zh-CN" altLang="en-US"/>
          </a:p>
        </p:txBody>
      </p:sp>
      <p:sp>
        <p:nvSpPr>
          <p:cNvPr id="5" name="Footer Placeholder 4">
            <a:extLst>
              <a:ext uri="{FF2B5EF4-FFF2-40B4-BE49-F238E27FC236}">
                <a16:creationId xmlns:a16="http://schemas.microsoft.com/office/drawing/2014/main" id="{87B28832-8757-284D-BE12-68AC9A84D29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文本框 6">
            <a:extLst>
              <a:ext uri="{FF2B5EF4-FFF2-40B4-BE49-F238E27FC236}">
                <a16:creationId xmlns:a16="http://schemas.microsoft.com/office/drawing/2014/main" id="{670D3325-4218-A44F-829C-D8E30CD095C0}"/>
              </a:ext>
            </a:extLst>
          </p:cNvPr>
          <p:cNvSpPr txBox="1"/>
          <p:nvPr/>
        </p:nvSpPr>
        <p:spPr>
          <a:xfrm>
            <a:off x="3419872" y="1685337"/>
            <a:ext cx="4660710" cy="400110"/>
          </a:xfrm>
          <a:prstGeom prst="rect">
            <a:avLst/>
          </a:prstGeom>
          <a:noFill/>
        </p:spPr>
        <p:txBody>
          <a:bodyPr wrap="square">
            <a:spAutoFit/>
          </a:bodyPr>
          <a:lstStyle/>
          <a:p>
            <a:r>
              <a:rPr lang="zh-CN" altLang="en-US" sz="2000" b="1" dirty="0">
                <a:solidFill>
                  <a:schemeClr val="accent1"/>
                </a:solidFill>
              </a:rPr>
              <a:t>原子更新技术</a:t>
            </a:r>
            <a:endParaRPr lang="en-US" altLang="zh-CN" sz="2000" b="1" dirty="0">
              <a:solidFill>
                <a:schemeClr val="accent1"/>
              </a:solidFill>
            </a:endParaRPr>
          </a:p>
        </p:txBody>
      </p:sp>
      <p:sp>
        <p:nvSpPr>
          <p:cNvPr id="8" name="右大括号 7">
            <a:extLst>
              <a:ext uri="{FF2B5EF4-FFF2-40B4-BE49-F238E27FC236}">
                <a16:creationId xmlns:a16="http://schemas.microsoft.com/office/drawing/2014/main" id="{76FEE3C2-A1DE-D84F-823B-3E041558973E}"/>
              </a:ext>
            </a:extLst>
          </p:cNvPr>
          <p:cNvSpPr/>
          <p:nvPr/>
        </p:nvSpPr>
        <p:spPr>
          <a:xfrm>
            <a:off x="3131840" y="1489348"/>
            <a:ext cx="144016" cy="792088"/>
          </a:xfrm>
          <a:prstGeom prst="rightBrace">
            <a:avLst>
              <a:gd name="adj1" fmla="val 3323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22115407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6437CE6-834A-674D-B58D-1A9B06C46796}"/>
              </a:ext>
            </a:extLst>
          </p:cNvPr>
          <p:cNvSpPr>
            <a:spLocks noGrp="1"/>
          </p:cNvSpPr>
          <p:nvPr>
            <p:ph type="title"/>
          </p:nvPr>
        </p:nvSpPr>
        <p:spPr/>
        <p:txBody>
          <a:bodyPr/>
          <a:lstStyle/>
          <a:p>
            <a:r>
              <a:rPr lang="zh-CN" altLang="en-CN" dirty="0"/>
              <a:t>日志文件系统</a:t>
            </a:r>
            <a:endParaRPr lang="en-CN" dirty="0"/>
          </a:p>
        </p:txBody>
      </p:sp>
      <p:sp>
        <p:nvSpPr>
          <p:cNvPr id="7" name="Text Placeholder 6">
            <a:extLst>
              <a:ext uri="{FF2B5EF4-FFF2-40B4-BE49-F238E27FC236}">
                <a16:creationId xmlns:a16="http://schemas.microsoft.com/office/drawing/2014/main" id="{3CFDBFE3-9FEB-7541-A8AC-6C1CFA5B2648}"/>
              </a:ext>
            </a:extLst>
          </p:cNvPr>
          <p:cNvSpPr>
            <a:spLocks noGrp="1"/>
          </p:cNvSpPr>
          <p:nvPr>
            <p:ph type="body" idx="1"/>
          </p:nvPr>
        </p:nvSpPr>
        <p:spPr/>
        <p:txBody>
          <a:bodyPr/>
          <a:lstStyle/>
          <a:p>
            <a:r>
              <a:rPr lang="en-US" altLang="zh-CN" dirty="0"/>
              <a:t>John K. </a:t>
            </a:r>
            <a:r>
              <a:rPr lang="en-US" altLang="zh-CN" dirty="0" err="1"/>
              <a:t>Ousterhout</a:t>
            </a:r>
            <a:r>
              <a:rPr lang="en-US" altLang="zh-CN" dirty="0"/>
              <a:t>, Mendel Rosenblum. (1991), </a:t>
            </a:r>
            <a:r>
              <a:rPr lang="en-US" altLang="zh-CN" i="1" dirty="0"/>
              <a:t>The Design and Implementation of a Log-Structured File System</a:t>
            </a:r>
          </a:p>
        </p:txBody>
      </p:sp>
      <p:sp>
        <p:nvSpPr>
          <p:cNvPr id="4" name="Slide Number Placeholder 3">
            <a:extLst>
              <a:ext uri="{FF2B5EF4-FFF2-40B4-BE49-F238E27FC236}">
                <a16:creationId xmlns:a16="http://schemas.microsoft.com/office/drawing/2014/main" id="{4F137BB9-10B3-1344-872B-D2110A485FCF}"/>
              </a:ext>
            </a:extLst>
          </p:cNvPr>
          <p:cNvSpPr>
            <a:spLocks noGrp="1"/>
          </p:cNvSpPr>
          <p:nvPr>
            <p:ph type="sldNum" sz="quarter" idx="12"/>
          </p:nvPr>
        </p:nvSpPr>
        <p:spPr/>
        <p:txBody>
          <a:bodyPr/>
          <a:lstStyle/>
          <a:p>
            <a:fld id="{ADE361C3-C043-4A6E-BDCE-8DA1E7D90A3B}" type="slidenum">
              <a:rPr lang="zh-CN" altLang="en-US" smtClean="0"/>
              <a:t>52</a:t>
            </a:fld>
            <a:endParaRPr lang="zh-CN" altLang="en-US"/>
          </a:p>
        </p:txBody>
      </p:sp>
      <p:sp>
        <p:nvSpPr>
          <p:cNvPr id="5" name="Footer Placeholder 4">
            <a:extLst>
              <a:ext uri="{FF2B5EF4-FFF2-40B4-BE49-F238E27FC236}">
                <a16:creationId xmlns:a16="http://schemas.microsoft.com/office/drawing/2014/main" id="{1F99D6D3-5D0C-6845-98C5-8C86CD64B84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7288156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804F-C4F8-344E-999D-C43AF010BB11}"/>
              </a:ext>
            </a:extLst>
          </p:cNvPr>
          <p:cNvSpPr>
            <a:spLocks noGrp="1"/>
          </p:cNvSpPr>
          <p:nvPr>
            <p:ph type="title"/>
          </p:nvPr>
        </p:nvSpPr>
        <p:spPr/>
        <p:txBody>
          <a:bodyPr/>
          <a:lstStyle/>
          <a:p>
            <a:r>
              <a:rPr lang="zh-CN" altLang="en-CN" dirty="0"/>
              <a:t>日志</a:t>
            </a:r>
            <a:r>
              <a:rPr lang="zh-CN" altLang="en-US" dirty="0"/>
              <a:t>文件系统（</a:t>
            </a:r>
            <a:r>
              <a:rPr lang="en-US" altLang="zh-CN" dirty="0"/>
              <a:t>Log-structured</a:t>
            </a:r>
            <a:r>
              <a:rPr lang="zh-CN" altLang="en-US" dirty="0"/>
              <a:t> </a:t>
            </a:r>
            <a:r>
              <a:rPr lang="en-US" altLang="zh-CN" dirty="0"/>
              <a:t>FS</a:t>
            </a:r>
            <a:r>
              <a:rPr lang="zh-CN" altLang="en-US" dirty="0"/>
              <a:t>）</a:t>
            </a:r>
            <a:endParaRPr lang="en-CN" dirty="0"/>
          </a:p>
        </p:txBody>
      </p:sp>
      <p:sp>
        <p:nvSpPr>
          <p:cNvPr id="4" name="Slide Number Placeholder 3">
            <a:extLst>
              <a:ext uri="{FF2B5EF4-FFF2-40B4-BE49-F238E27FC236}">
                <a16:creationId xmlns:a16="http://schemas.microsoft.com/office/drawing/2014/main" id="{EE49CC71-AE1E-F448-B6C5-6B7ECB892ADD}"/>
              </a:ext>
            </a:extLst>
          </p:cNvPr>
          <p:cNvSpPr>
            <a:spLocks noGrp="1"/>
          </p:cNvSpPr>
          <p:nvPr>
            <p:ph type="sldNum" sz="quarter" idx="12"/>
          </p:nvPr>
        </p:nvSpPr>
        <p:spPr/>
        <p:txBody>
          <a:bodyPr/>
          <a:lstStyle/>
          <a:p>
            <a:fld id="{ADE361C3-C043-4A6E-BDCE-8DA1E7D90A3B}" type="slidenum">
              <a:rPr lang="zh-CN" altLang="en-US" smtClean="0"/>
              <a:t>53</a:t>
            </a:fld>
            <a:endParaRPr lang="zh-CN" altLang="en-US"/>
          </a:p>
        </p:txBody>
      </p:sp>
      <p:sp>
        <p:nvSpPr>
          <p:cNvPr id="5" name="Footer Placeholder 4">
            <a:extLst>
              <a:ext uri="{FF2B5EF4-FFF2-40B4-BE49-F238E27FC236}">
                <a16:creationId xmlns:a16="http://schemas.microsoft.com/office/drawing/2014/main" id="{3447F7E2-5EFE-7744-832F-189C593AEF1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Picture 5">
            <a:extLst>
              <a:ext uri="{FF2B5EF4-FFF2-40B4-BE49-F238E27FC236}">
                <a16:creationId xmlns:a16="http://schemas.microsoft.com/office/drawing/2014/main" id="{B4791A29-9F7C-4F47-9889-C6EA810D5EC5}"/>
              </a:ext>
            </a:extLst>
          </p:cNvPr>
          <p:cNvPicPr>
            <a:picLocks noChangeAspect="1"/>
          </p:cNvPicPr>
          <p:nvPr/>
        </p:nvPicPr>
        <p:blipFill rotWithShape="1">
          <a:blip r:embed="rId3"/>
          <a:srcRect t="6300" b="20373"/>
          <a:stretch/>
        </p:blipFill>
        <p:spPr>
          <a:xfrm>
            <a:off x="7864" y="1324820"/>
            <a:ext cx="6031390" cy="3379697"/>
          </a:xfrm>
          <a:prstGeom prst="rect">
            <a:avLst/>
          </a:prstGeom>
        </p:spPr>
      </p:pic>
      <p:pic>
        <p:nvPicPr>
          <p:cNvPr id="7" name="Picture 6">
            <a:extLst>
              <a:ext uri="{FF2B5EF4-FFF2-40B4-BE49-F238E27FC236}">
                <a16:creationId xmlns:a16="http://schemas.microsoft.com/office/drawing/2014/main" id="{58E63ACB-11F1-6C41-AE27-42EED582BBED}"/>
              </a:ext>
            </a:extLst>
          </p:cNvPr>
          <p:cNvPicPr>
            <a:picLocks noChangeAspect="1"/>
          </p:cNvPicPr>
          <p:nvPr/>
        </p:nvPicPr>
        <p:blipFill>
          <a:blip r:embed="rId4"/>
          <a:stretch>
            <a:fillRect/>
          </a:stretch>
        </p:blipFill>
        <p:spPr>
          <a:xfrm>
            <a:off x="5748249" y="1364822"/>
            <a:ext cx="1270000" cy="1587500"/>
          </a:xfrm>
          <a:prstGeom prst="rect">
            <a:avLst/>
          </a:prstGeom>
        </p:spPr>
      </p:pic>
      <p:pic>
        <p:nvPicPr>
          <p:cNvPr id="8" name="Picture 7">
            <a:extLst>
              <a:ext uri="{FF2B5EF4-FFF2-40B4-BE49-F238E27FC236}">
                <a16:creationId xmlns:a16="http://schemas.microsoft.com/office/drawing/2014/main" id="{DA5B6DEC-E12D-8B4F-B734-9918F36B9841}"/>
              </a:ext>
            </a:extLst>
          </p:cNvPr>
          <p:cNvPicPr>
            <a:picLocks noChangeAspect="1"/>
          </p:cNvPicPr>
          <p:nvPr/>
        </p:nvPicPr>
        <p:blipFill rotWithShape="1">
          <a:blip r:embed="rId5"/>
          <a:srcRect b="17187"/>
          <a:stretch/>
        </p:blipFill>
        <p:spPr>
          <a:xfrm>
            <a:off x="5760567" y="3409042"/>
            <a:ext cx="1270000" cy="1587500"/>
          </a:xfrm>
          <a:prstGeom prst="rect">
            <a:avLst/>
          </a:prstGeom>
        </p:spPr>
      </p:pic>
      <p:sp>
        <p:nvSpPr>
          <p:cNvPr id="9" name="TextBox 8">
            <a:extLst>
              <a:ext uri="{FF2B5EF4-FFF2-40B4-BE49-F238E27FC236}">
                <a16:creationId xmlns:a16="http://schemas.microsoft.com/office/drawing/2014/main" id="{413603E9-868C-F848-B0BD-6B343A9E190A}"/>
              </a:ext>
            </a:extLst>
          </p:cNvPr>
          <p:cNvSpPr txBox="1"/>
          <p:nvPr/>
        </p:nvSpPr>
        <p:spPr>
          <a:xfrm>
            <a:off x="7043216" y="4042434"/>
            <a:ext cx="2117887" cy="954107"/>
          </a:xfrm>
          <a:prstGeom prst="rect">
            <a:avLst/>
          </a:prstGeom>
          <a:noFill/>
        </p:spPr>
        <p:txBody>
          <a:bodyPr wrap="none" rtlCol="0">
            <a:spAutoFit/>
          </a:bodyPr>
          <a:lstStyle/>
          <a:p>
            <a:r>
              <a:rPr lang="en-US" altLang="zh-CN" sz="1400" b="1" dirty="0"/>
              <a:t>Mendel Rosenblum </a:t>
            </a:r>
          </a:p>
          <a:p>
            <a:endParaRPr lang="en-US" altLang="zh-CN" sz="1400" dirty="0"/>
          </a:p>
          <a:p>
            <a:r>
              <a:rPr lang="en-US" altLang="zh-CN" sz="1400" dirty="0"/>
              <a:t>VMware</a:t>
            </a:r>
            <a:r>
              <a:rPr lang="zh-CN" altLang="en-US" sz="1400" dirty="0"/>
              <a:t> 联合创始人</a:t>
            </a:r>
            <a:endParaRPr lang="en-US" altLang="zh-CN" sz="1400" dirty="0"/>
          </a:p>
          <a:p>
            <a:r>
              <a:rPr lang="zh-CN" altLang="en-US" sz="1400" dirty="0"/>
              <a:t>目前是</a:t>
            </a:r>
            <a:r>
              <a:rPr lang="en-US" altLang="zh-CN" sz="1400" dirty="0"/>
              <a:t>Stanford</a:t>
            </a:r>
            <a:r>
              <a:rPr lang="zh-CN" altLang="en-US" sz="1400" dirty="0"/>
              <a:t>大学教授</a:t>
            </a:r>
            <a:endParaRPr lang="en-US" altLang="zh-CN" sz="1400" dirty="0"/>
          </a:p>
        </p:txBody>
      </p:sp>
      <p:sp>
        <p:nvSpPr>
          <p:cNvPr id="10" name="TextBox 9">
            <a:extLst>
              <a:ext uri="{FF2B5EF4-FFF2-40B4-BE49-F238E27FC236}">
                <a16:creationId xmlns:a16="http://schemas.microsoft.com/office/drawing/2014/main" id="{12169780-7EAA-2E4D-BEE1-248513ED70CB}"/>
              </a:ext>
            </a:extLst>
          </p:cNvPr>
          <p:cNvSpPr txBox="1"/>
          <p:nvPr/>
        </p:nvSpPr>
        <p:spPr>
          <a:xfrm>
            <a:off x="7018249" y="1297151"/>
            <a:ext cx="2117887" cy="1815882"/>
          </a:xfrm>
          <a:prstGeom prst="rect">
            <a:avLst/>
          </a:prstGeom>
          <a:noFill/>
        </p:spPr>
        <p:txBody>
          <a:bodyPr wrap="none" rtlCol="0">
            <a:spAutoFit/>
          </a:bodyPr>
          <a:lstStyle/>
          <a:p>
            <a:r>
              <a:rPr lang="en-US" altLang="zh-CN" sz="1400" b="1" dirty="0"/>
              <a:t>John K.</a:t>
            </a:r>
            <a:r>
              <a:rPr lang="zh-CN" altLang="en-US" sz="1400" b="1" dirty="0"/>
              <a:t> </a:t>
            </a:r>
            <a:r>
              <a:rPr lang="en-US" altLang="zh-CN" sz="1400" b="1" dirty="0" err="1"/>
              <a:t>Ousterhout</a:t>
            </a:r>
            <a:endParaRPr lang="en-US" altLang="zh-CN" sz="1400" b="1" dirty="0"/>
          </a:p>
          <a:p>
            <a:endParaRPr lang="en-US" altLang="zh-CN" sz="1400" dirty="0"/>
          </a:p>
          <a:p>
            <a:r>
              <a:rPr lang="en-US" altLang="zh-CN" sz="1400" dirty="0"/>
              <a:t>Sprite</a:t>
            </a:r>
            <a:r>
              <a:rPr lang="zh-CN" altLang="en-US" sz="1400" dirty="0"/>
              <a:t> 负责人</a:t>
            </a:r>
            <a:endParaRPr lang="en-US" altLang="zh-CN" sz="1400" dirty="0"/>
          </a:p>
          <a:p>
            <a:r>
              <a:rPr lang="en-US" altLang="zh-CN" sz="1400" dirty="0"/>
              <a:t>TCL/TK</a:t>
            </a:r>
            <a:r>
              <a:rPr lang="zh-CN" altLang="en-US" sz="1400" dirty="0"/>
              <a:t> 作者</a:t>
            </a:r>
            <a:endParaRPr lang="en-US" altLang="zh-CN" sz="1400" dirty="0"/>
          </a:p>
          <a:p>
            <a:r>
              <a:rPr lang="en-US" sz="1400" dirty="0"/>
              <a:t>Magic VLSI CAD</a:t>
            </a:r>
            <a:r>
              <a:rPr lang="zh-CN" altLang="en-US" sz="1400" dirty="0"/>
              <a:t> 作者</a:t>
            </a:r>
            <a:endParaRPr lang="en-US" altLang="zh-CN" sz="1400" dirty="0"/>
          </a:p>
          <a:p>
            <a:r>
              <a:rPr lang="en-US" altLang="zh-CN" sz="1400" dirty="0"/>
              <a:t>Co-scheduling</a:t>
            </a:r>
            <a:r>
              <a:rPr lang="zh-CN" altLang="en-US" sz="1400" dirty="0"/>
              <a:t> 提出者</a:t>
            </a:r>
            <a:endParaRPr lang="en-US" altLang="zh-CN" sz="1400" dirty="0"/>
          </a:p>
          <a:p>
            <a:r>
              <a:rPr lang="en-US" altLang="zh-CN" sz="1400" dirty="0"/>
              <a:t>Raft</a:t>
            </a:r>
            <a:r>
              <a:rPr lang="zh-CN" altLang="en-US" sz="1400" dirty="0"/>
              <a:t> 一致性协议</a:t>
            </a:r>
            <a:endParaRPr lang="en-US" altLang="zh-CN" sz="1400" dirty="0"/>
          </a:p>
          <a:p>
            <a:r>
              <a:rPr lang="zh-CN" altLang="en-CN" sz="1400" dirty="0"/>
              <a:t>目前</a:t>
            </a:r>
            <a:r>
              <a:rPr lang="zh-CN" altLang="en-US" sz="1400" dirty="0"/>
              <a:t>是</a:t>
            </a:r>
            <a:r>
              <a:rPr lang="en-US" altLang="zh-CN" sz="1400" dirty="0"/>
              <a:t>Stanford</a:t>
            </a:r>
            <a:r>
              <a:rPr lang="zh-CN" altLang="en-US" sz="1400" dirty="0"/>
              <a:t>大学教授</a:t>
            </a:r>
            <a:endParaRPr lang="en-US" altLang="zh-CN" sz="1400" dirty="0"/>
          </a:p>
        </p:txBody>
      </p:sp>
      <p:sp>
        <p:nvSpPr>
          <p:cNvPr id="11" name="TextBox 10">
            <a:extLst>
              <a:ext uri="{FF2B5EF4-FFF2-40B4-BE49-F238E27FC236}">
                <a16:creationId xmlns:a16="http://schemas.microsoft.com/office/drawing/2014/main" id="{D49A7E28-5F3F-F640-906D-E742D6D0892D}"/>
              </a:ext>
            </a:extLst>
          </p:cNvPr>
          <p:cNvSpPr txBox="1"/>
          <p:nvPr/>
        </p:nvSpPr>
        <p:spPr>
          <a:xfrm>
            <a:off x="445971" y="4811875"/>
            <a:ext cx="4989379" cy="369332"/>
          </a:xfrm>
          <a:prstGeom prst="rect">
            <a:avLst/>
          </a:prstGeom>
          <a:noFill/>
        </p:spPr>
        <p:txBody>
          <a:bodyPr wrap="none" rtlCol="0">
            <a:spAutoFit/>
          </a:bodyPr>
          <a:lstStyle/>
          <a:p>
            <a:r>
              <a:rPr lang="en-US" altLang="zh-CN" dirty="0"/>
              <a:t>1992</a:t>
            </a:r>
            <a:r>
              <a:rPr lang="zh-CN" altLang="en-US" dirty="0"/>
              <a:t> </a:t>
            </a:r>
            <a:r>
              <a:rPr lang="en-US" altLang="zh-CN" i="1" dirty="0"/>
              <a:t>ACM Transactions on Computer Systems</a:t>
            </a:r>
          </a:p>
        </p:txBody>
      </p:sp>
    </p:spTree>
    <p:extLst>
      <p:ext uri="{BB962C8B-B14F-4D97-AF65-F5344CB8AC3E}">
        <p14:creationId xmlns:p14="http://schemas.microsoft.com/office/powerpoint/2010/main" val="10743797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804F-C4F8-344E-999D-C43AF010BB11}"/>
              </a:ext>
            </a:extLst>
          </p:cNvPr>
          <p:cNvSpPr>
            <a:spLocks noGrp="1"/>
          </p:cNvSpPr>
          <p:nvPr>
            <p:ph type="title"/>
          </p:nvPr>
        </p:nvSpPr>
        <p:spPr/>
        <p:txBody>
          <a:bodyPr/>
          <a:lstStyle/>
          <a:p>
            <a:r>
              <a:rPr lang="zh-CN" altLang="en-CN" dirty="0"/>
              <a:t>日志</a:t>
            </a:r>
            <a:r>
              <a:rPr lang="zh-CN" altLang="en-US" dirty="0"/>
              <a:t>文件系统（</a:t>
            </a:r>
            <a:r>
              <a:rPr lang="en-US" altLang="zh-CN" dirty="0"/>
              <a:t>Log-structured</a:t>
            </a:r>
            <a:r>
              <a:rPr lang="zh-CN" altLang="en-US" dirty="0"/>
              <a:t> </a:t>
            </a:r>
            <a:r>
              <a:rPr lang="en-US" altLang="zh-CN" dirty="0"/>
              <a:t>FS</a:t>
            </a:r>
            <a:r>
              <a:rPr lang="zh-CN" altLang="en-US" dirty="0"/>
              <a:t>）</a:t>
            </a:r>
            <a:endParaRPr lang="en-CN" dirty="0"/>
          </a:p>
        </p:txBody>
      </p:sp>
      <p:sp>
        <p:nvSpPr>
          <p:cNvPr id="3" name="Content Placeholder 2">
            <a:extLst>
              <a:ext uri="{FF2B5EF4-FFF2-40B4-BE49-F238E27FC236}">
                <a16:creationId xmlns:a16="http://schemas.microsoft.com/office/drawing/2014/main" id="{9BDB2836-B807-9147-93C9-12F3BC381099}"/>
              </a:ext>
            </a:extLst>
          </p:cNvPr>
          <p:cNvSpPr>
            <a:spLocks noGrp="1"/>
          </p:cNvSpPr>
          <p:nvPr>
            <p:ph idx="1"/>
          </p:nvPr>
        </p:nvSpPr>
        <p:spPr/>
        <p:txBody>
          <a:bodyPr>
            <a:normAutofit/>
          </a:bodyPr>
          <a:lstStyle/>
          <a:p>
            <a:r>
              <a:rPr lang="zh-CN" altLang="en-US" sz="2000" b="0" dirty="0"/>
              <a:t>假设：文件被缓存在内存中，文件读请求可以被很好的处理</a:t>
            </a:r>
            <a:endParaRPr lang="en-US" altLang="zh-CN" sz="2000" b="0" dirty="0"/>
          </a:p>
          <a:p>
            <a:pPr lvl="1"/>
            <a:r>
              <a:rPr lang="zh-CN" altLang="en-US" sz="1600" b="0" dirty="0"/>
              <a:t>于是，文件写成为瓶颈</a:t>
            </a:r>
            <a:endParaRPr lang="en-US" altLang="zh-CN" sz="1600" b="0" dirty="0"/>
          </a:p>
          <a:p>
            <a:r>
              <a:rPr lang="zh-CN" altLang="en-US" sz="2000" b="0" dirty="0"/>
              <a:t>块存储设备的顺序写比随机写速度很块</a:t>
            </a:r>
            <a:endParaRPr lang="en-US" altLang="zh-CN" sz="2000" b="0" dirty="0"/>
          </a:p>
          <a:p>
            <a:pPr lvl="1"/>
            <a:r>
              <a:rPr lang="zh-CN" altLang="en-US" sz="1600" dirty="0"/>
              <a:t>磁盘</a:t>
            </a:r>
            <a:r>
              <a:rPr lang="zh-CN" altLang="en-CN" sz="1600" dirty="0"/>
              <a:t>寻道</a:t>
            </a:r>
            <a:r>
              <a:rPr lang="zh-CN" altLang="en-US" sz="1600" dirty="0"/>
              <a:t>时间</a:t>
            </a:r>
            <a:endParaRPr lang="en-US" altLang="zh-CN" sz="2000" b="0" dirty="0"/>
          </a:p>
          <a:p>
            <a:r>
              <a:rPr lang="zh-CN" altLang="en-US" sz="2000" b="0" dirty="0"/>
              <a:t>将文件系统的修改以日志的方式</a:t>
            </a:r>
            <a:r>
              <a:rPr lang="zh-CN" altLang="en-US" sz="2000" dirty="0"/>
              <a:t>顺序写入</a:t>
            </a:r>
            <a:r>
              <a:rPr lang="zh-CN" altLang="en-US" sz="2000" b="0" dirty="0"/>
              <a:t>存储设备</a:t>
            </a:r>
            <a:endParaRPr lang="en-US" altLang="zh-CN" sz="2000" b="0" dirty="0"/>
          </a:p>
        </p:txBody>
      </p:sp>
      <p:sp>
        <p:nvSpPr>
          <p:cNvPr id="4" name="Slide Number Placeholder 3">
            <a:extLst>
              <a:ext uri="{FF2B5EF4-FFF2-40B4-BE49-F238E27FC236}">
                <a16:creationId xmlns:a16="http://schemas.microsoft.com/office/drawing/2014/main" id="{EE49CC71-AE1E-F448-B6C5-6B7ECB892ADD}"/>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sp>
        <p:nvSpPr>
          <p:cNvPr id="5" name="Footer Placeholder 4">
            <a:extLst>
              <a:ext uri="{FF2B5EF4-FFF2-40B4-BE49-F238E27FC236}">
                <a16:creationId xmlns:a16="http://schemas.microsoft.com/office/drawing/2014/main" id="{3447F7E2-5EFE-7744-832F-189C593AEF1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51" name="Group 50">
            <a:extLst>
              <a:ext uri="{FF2B5EF4-FFF2-40B4-BE49-F238E27FC236}">
                <a16:creationId xmlns:a16="http://schemas.microsoft.com/office/drawing/2014/main" id="{B8C6AA2D-7B64-924A-9107-712ADF0D43A8}"/>
              </a:ext>
            </a:extLst>
          </p:cNvPr>
          <p:cNvGrpSpPr/>
          <p:nvPr/>
        </p:nvGrpSpPr>
        <p:grpSpPr>
          <a:xfrm>
            <a:off x="1264763" y="3955063"/>
            <a:ext cx="6614474" cy="1525728"/>
            <a:chOff x="1297770" y="3429007"/>
            <a:chExt cx="6614474" cy="1525728"/>
          </a:xfrm>
        </p:grpSpPr>
        <p:cxnSp>
          <p:nvCxnSpPr>
            <p:cNvPr id="52" name="Straight Connector 51">
              <a:extLst>
                <a:ext uri="{FF2B5EF4-FFF2-40B4-BE49-F238E27FC236}">
                  <a16:creationId xmlns:a16="http://schemas.microsoft.com/office/drawing/2014/main" id="{E5B72236-E756-BD40-967C-10DB2EC71557}"/>
                </a:ext>
              </a:extLst>
            </p:cNvPr>
            <p:cNvCxnSpPr>
              <a:cxnSpLocks/>
            </p:cNvCxnSpPr>
            <p:nvPr/>
          </p:nvCxnSpPr>
          <p:spPr>
            <a:xfrm>
              <a:off x="1297770" y="3937000"/>
              <a:ext cx="63222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5F2B1C6-E36F-6740-823E-B1B845CAAD60}"/>
                </a:ext>
              </a:extLst>
            </p:cNvPr>
            <p:cNvCxnSpPr>
              <a:cxnSpLocks/>
            </p:cNvCxnSpPr>
            <p:nvPr/>
          </p:nvCxnSpPr>
          <p:spPr>
            <a:xfrm>
              <a:off x="1297770" y="4457939"/>
              <a:ext cx="6322230"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76B417DE-D91C-7242-B4C0-7719C07EFFE1}"/>
                </a:ext>
              </a:extLst>
            </p:cNvPr>
            <p:cNvSpPr/>
            <p:nvPr/>
          </p:nvSpPr>
          <p:spPr>
            <a:xfrm>
              <a:off x="1297770"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55" name="Rectangle 54">
              <a:extLst>
                <a:ext uri="{FF2B5EF4-FFF2-40B4-BE49-F238E27FC236}">
                  <a16:creationId xmlns:a16="http://schemas.microsoft.com/office/drawing/2014/main" id="{E025A39D-8A55-AE43-9137-BA9F9181350E}"/>
                </a:ext>
              </a:extLst>
            </p:cNvPr>
            <p:cNvSpPr/>
            <p:nvPr/>
          </p:nvSpPr>
          <p:spPr>
            <a:xfrm>
              <a:off x="1763688"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56" name="TextBox 55">
              <a:extLst>
                <a:ext uri="{FF2B5EF4-FFF2-40B4-BE49-F238E27FC236}">
                  <a16:creationId xmlns:a16="http://schemas.microsoft.com/office/drawing/2014/main" id="{D6B3403F-8579-1D4C-B10A-4A8486143702}"/>
                </a:ext>
              </a:extLst>
            </p:cNvPr>
            <p:cNvSpPr txBox="1"/>
            <p:nvPr/>
          </p:nvSpPr>
          <p:spPr>
            <a:xfrm>
              <a:off x="6804248" y="4585403"/>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57" name="Rectangle 56">
              <a:extLst>
                <a:ext uri="{FF2B5EF4-FFF2-40B4-BE49-F238E27FC236}">
                  <a16:creationId xmlns:a16="http://schemas.microsoft.com/office/drawing/2014/main" id="{2F4ECFA5-BC40-274F-AAE5-676F9702095B}"/>
                </a:ext>
              </a:extLst>
            </p:cNvPr>
            <p:cNvSpPr/>
            <p:nvPr/>
          </p:nvSpPr>
          <p:spPr>
            <a:xfrm>
              <a:off x="2227191"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58" name="Rectangle 57">
              <a:extLst>
                <a:ext uri="{FF2B5EF4-FFF2-40B4-BE49-F238E27FC236}">
                  <a16:creationId xmlns:a16="http://schemas.microsoft.com/office/drawing/2014/main" id="{AE82607A-598B-CC4E-8028-636868B212B2}"/>
                </a:ext>
              </a:extLst>
            </p:cNvPr>
            <p:cNvSpPr/>
            <p:nvPr/>
          </p:nvSpPr>
          <p:spPr>
            <a:xfrm>
              <a:off x="2694625"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59" name="Rectangle 58">
              <a:extLst>
                <a:ext uri="{FF2B5EF4-FFF2-40B4-BE49-F238E27FC236}">
                  <a16:creationId xmlns:a16="http://schemas.microsoft.com/office/drawing/2014/main" id="{65EF4B20-C460-0F4A-8015-02D1FB898CF6}"/>
                </a:ext>
              </a:extLst>
            </p:cNvPr>
            <p:cNvSpPr/>
            <p:nvPr/>
          </p:nvSpPr>
          <p:spPr>
            <a:xfrm>
              <a:off x="3158128"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60" name="Rectangle 59">
              <a:extLst>
                <a:ext uri="{FF2B5EF4-FFF2-40B4-BE49-F238E27FC236}">
                  <a16:creationId xmlns:a16="http://schemas.microsoft.com/office/drawing/2014/main" id="{5917F2CF-39F2-1D41-BA75-4E8B9C53C76E}"/>
                </a:ext>
              </a:extLst>
            </p:cNvPr>
            <p:cNvSpPr/>
            <p:nvPr/>
          </p:nvSpPr>
          <p:spPr>
            <a:xfrm>
              <a:off x="3621631" y="3952055"/>
              <a:ext cx="465918" cy="50387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61" name="Rectangle 60">
              <a:extLst>
                <a:ext uri="{FF2B5EF4-FFF2-40B4-BE49-F238E27FC236}">
                  <a16:creationId xmlns:a16="http://schemas.microsoft.com/office/drawing/2014/main" id="{E01BC11C-77E4-3E45-8EF1-823C4A4D9756}"/>
                </a:ext>
              </a:extLst>
            </p:cNvPr>
            <p:cNvSpPr/>
            <p:nvPr/>
          </p:nvSpPr>
          <p:spPr>
            <a:xfrm>
              <a:off x="4085134"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62" name="Rectangle 61">
              <a:extLst>
                <a:ext uri="{FF2B5EF4-FFF2-40B4-BE49-F238E27FC236}">
                  <a16:creationId xmlns:a16="http://schemas.microsoft.com/office/drawing/2014/main" id="{AC9D105F-2A5B-0946-8D33-1E1F4D986D5A}"/>
                </a:ext>
              </a:extLst>
            </p:cNvPr>
            <p:cNvSpPr/>
            <p:nvPr/>
          </p:nvSpPr>
          <p:spPr>
            <a:xfrm>
              <a:off x="4548637"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63" name="Rectangle 62">
              <a:extLst>
                <a:ext uri="{FF2B5EF4-FFF2-40B4-BE49-F238E27FC236}">
                  <a16:creationId xmlns:a16="http://schemas.microsoft.com/office/drawing/2014/main" id="{3EC0724F-AFE0-BC46-BBF4-4B393AC83451}"/>
                </a:ext>
              </a:extLst>
            </p:cNvPr>
            <p:cNvSpPr/>
            <p:nvPr/>
          </p:nvSpPr>
          <p:spPr>
            <a:xfrm>
              <a:off x="5940242" y="3952055"/>
              <a:ext cx="465918" cy="503870"/>
            </a:xfrm>
            <a:prstGeom prst="rect">
              <a:avLst/>
            </a:prstGeom>
            <a:solidFill>
              <a:schemeClr val="accent4">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64" name="Rectangle 63">
              <a:extLst>
                <a:ext uri="{FF2B5EF4-FFF2-40B4-BE49-F238E27FC236}">
                  <a16:creationId xmlns:a16="http://schemas.microsoft.com/office/drawing/2014/main" id="{5632AC2C-1E16-CF4C-A367-9F7DA29F2687}"/>
                </a:ext>
              </a:extLst>
            </p:cNvPr>
            <p:cNvSpPr/>
            <p:nvPr/>
          </p:nvSpPr>
          <p:spPr>
            <a:xfrm>
              <a:off x="5012140"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65" name="Rectangle 64">
              <a:extLst>
                <a:ext uri="{FF2B5EF4-FFF2-40B4-BE49-F238E27FC236}">
                  <a16:creationId xmlns:a16="http://schemas.microsoft.com/office/drawing/2014/main" id="{F38A0692-153C-664C-B616-34BF306B04D5}"/>
                </a:ext>
              </a:extLst>
            </p:cNvPr>
            <p:cNvSpPr/>
            <p:nvPr/>
          </p:nvSpPr>
          <p:spPr>
            <a:xfrm>
              <a:off x="5475643"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66" name="Elbow Connector 65">
              <a:extLst>
                <a:ext uri="{FF2B5EF4-FFF2-40B4-BE49-F238E27FC236}">
                  <a16:creationId xmlns:a16="http://schemas.microsoft.com/office/drawing/2014/main" id="{EE91A711-5AA9-CA47-9CFD-4067A54F2977}"/>
                </a:ext>
              </a:extLst>
            </p:cNvPr>
            <p:cNvCxnSpPr>
              <a:stCxn id="63" idx="2"/>
              <a:endCxn id="65" idx="2"/>
            </p:cNvCxnSpPr>
            <p:nvPr/>
          </p:nvCxnSpPr>
          <p:spPr>
            <a:xfrm rot="5400000">
              <a:off x="5940902" y="4223626"/>
              <a:ext cx="12700" cy="46459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66">
              <a:extLst>
                <a:ext uri="{FF2B5EF4-FFF2-40B4-BE49-F238E27FC236}">
                  <a16:creationId xmlns:a16="http://schemas.microsoft.com/office/drawing/2014/main" id="{748304C0-79ED-5847-9E46-2AEA6A15E2B5}"/>
                </a:ext>
              </a:extLst>
            </p:cNvPr>
            <p:cNvCxnSpPr>
              <a:cxnSpLocks/>
              <a:stCxn id="63" idx="2"/>
              <a:endCxn id="58" idx="2"/>
            </p:cNvCxnSpPr>
            <p:nvPr/>
          </p:nvCxnSpPr>
          <p:spPr>
            <a:xfrm rot="5400000">
              <a:off x="4550393" y="2833117"/>
              <a:ext cx="12700" cy="3245617"/>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Elbow Connector 67">
              <a:extLst>
                <a:ext uri="{FF2B5EF4-FFF2-40B4-BE49-F238E27FC236}">
                  <a16:creationId xmlns:a16="http://schemas.microsoft.com/office/drawing/2014/main" id="{66FA7FC6-AEF8-CE4D-9B47-D353FAFEDF3C}"/>
                </a:ext>
              </a:extLst>
            </p:cNvPr>
            <p:cNvCxnSpPr>
              <a:cxnSpLocks/>
              <a:stCxn id="63" idx="2"/>
              <a:endCxn id="55" idx="2"/>
            </p:cNvCxnSpPr>
            <p:nvPr/>
          </p:nvCxnSpPr>
          <p:spPr>
            <a:xfrm rot="5400000">
              <a:off x="4084924" y="2367648"/>
              <a:ext cx="12700" cy="4176554"/>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Elbow Connector 68">
              <a:extLst>
                <a:ext uri="{FF2B5EF4-FFF2-40B4-BE49-F238E27FC236}">
                  <a16:creationId xmlns:a16="http://schemas.microsoft.com/office/drawing/2014/main" id="{32E8A80D-ABB0-184C-89D5-C2AE6D9E0B66}"/>
                </a:ext>
              </a:extLst>
            </p:cNvPr>
            <p:cNvCxnSpPr>
              <a:cxnSpLocks/>
              <a:stCxn id="63" idx="2"/>
              <a:endCxn id="62" idx="2"/>
            </p:cNvCxnSpPr>
            <p:nvPr/>
          </p:nvCxnSpPr>
          <p:spPr>
            <a:xfrm rot="5400000">
              <a:off x="5477399" y="3760123"/>
              <a:ext cx="12700" cy="1391605"/>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9362F744-F778-814A-BD6C-2F3C8B6807C3}"/>
                </a:ext>
              </a:extLst>
            </p:cNvPr>
            <p:cNvCxnSpPr>
              <a:cxnSpLocks/>
              <a:stCxn id="55" idx="0"/>
              <a:endCxn id="54" idx="0"/>
            </p:cNvCxnSpPr>
            <p:nvPr/>
          </p:nvCxnSpPr>
          <p:spPr>
            <a:xfrm rot="16200000" flipV="1">
              <a:off x="1763688" y="3719096"/>
              <a:ext cx="12700" cy="465918"/>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a:extLst>
                <a:ext uri="{FF2B5EF4-FFF2-40B4-BE49-F238E27FC236}">
                  <a16:creationId xmlns:a16="http://schemas.microsoft.com/office/drawing/2014/main" id="{08033CEF-9723-254C-AF5E-4E063134D01C}"/>
                </a:ext>
              </a:extLst>
            </p:cNvPr>
            <p:cNvCxnSpPr>
              <a:cxnSpLocks/>
              <a:stCxn id="62" idx="0"/>
              <a:endCxn id="61" idx="0"/>
            </p:cNvCxnSpPr>
            <p:nvPr/>
          </p:nvCxnSpPr>
          <p:spPr>
            <a:xfrm rot="16200000" flipV="1">
              <a:off x="4549845" y="3720303"/>
              <a:ext cx="12700" cy="463503"/>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Elbow Connector 71">
              <a:extLst>
                <a:ext uri="{FF2B5EF4-FFF2-40B4-BE49-F238E27FC236}">
                  <a16:creationId xmlns:a16="http://schemas.microsoft.com/office/drawing/2014/main" id="{C5C54391-6829-A444-8ACF-1727A9590170}"/>
                </a:ext>
              </a:extLst>
            </p:cNvPr>
            <p:cNvCxnSpPr>
              <a:cxnSpLocks/>
              <a:stCxn id="65" idx="0"/>
              <a:endCxn id="64" idx="0"/>
            </p:cNvCxnSpPr>
            <p:nvPr/>
          </p:nvCxnSpPr>
          <p:spPr>
            <a:xfrm rot="16200000" flipV="1">
              <a:off x="5476851" y="3720303"/>
              <a:ext cx="12700" cy="463503"/>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a:extLst>
                <a:ext uri="{FF2B5EF4-FFF2-40B4-BE49-F238E27FC236}">
                  <a16:creationId xmlns:a16="http://schemas.microsoft.com/office/drawing/2014/main" id="{3075E454-9053-C64B-BDBB-39F508ADA1F1}"/>
                </a:ext>
              </a:extLst>
            </p:cNvPr>
            <p:cNvCxnSpPr>
              <a:cxnSpLocks/>
              <a:stCxn id="58" idx="0"/>
              <a:endCxn id="57" idx="0"/>
            </p:cNvCxnSpPr>
            <p:nvPr/>
          </p:nvCxnSpPr>
          <p:spPr>
            <a:xfrm rot="16200000" flipV="1">
              <a:off x="2693867" y="3718338"/>
              <a:ext cx="12700" cy="467434"/>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a:extLst>
                <a:ext uri="{FF2B5EF4-FFF2-40B4-BE49-F238E27FC236}">
                  <a16:creationId xmlns:a16="http://schemas.microsoft.com/office/drawing/2014/main" id="{41AF0C39-16B7-9B4E-8717-B37EFA147296}"/>
                </a:ext>
              </a:extLst>
            </p:cNvPr>
            <p:cNvCxnSpPr>
              <a:cxnSpLocks/>
              <a:stCxn id="62" idx="0"/>
              <a:endCxn id="59" idx="0"/>
            </p:cNvCxnSpPr>
            <p:nvPr/>
          </p:nvCxnSpPr>
          <p:spPr>
            <a:xfrm rot="16200000" flipV="1">
              <a:off x="4086342" y="3256800"/>
              <a:ext cx="12700" cy="139050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72EF8850-0CA8-EF4F-AA13-C96DBBB7AEDB}"/>
                </a:ext>
              </a:extLst>
            </p:cNvPr>
            <p:cNvCxnSpPr>
              <a:cxnSpLocks/>
              <a:stCxn id="62" idx="0"/>
              <a:endCxn id="60" idx="0"/>
            </p:cNvCxnSpPr>
            <p:nvPr/>
          </p:nvCxnSpPr>
          <p:spPr>
            <a:xfrm rot="16200000" flipV="1">
              <a:off x="4318093" y="3488552"/>
              <a:ext cx="12700" cy="927006"/>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DB84788-D01A-D64D-B933-94B478AF8DA3}"/>
                </a:ext>
              </a:extLst>
            </p:cNvPr>
            <p:cNvSpPr txBox="1"/>
            <p:nvPr/>
          </p:nvSpPr>
          <p:spPr>
            <a:xfrm>
              <a:off x="5245099" y="3429007"/>
              <a:ext cx="482824" cy="307777"/>
            </a:xfrm>
            <a:prstGeom prst="rect">
              <a:avLst/>
            </a:prstGeom>
            <a:noFill/>
          </p:spPr>
          <p:txBody>
            <a:bodyPr wrap="none" rtlCol="0">
              <a:spAutoFit/>
            </a:bodyPr>
            <a:lstStyle/>
            <a:p>
              <a:r>
                <a:rPr lang="en-US" altLang="zh-CN" sz="1400" dirty="0"/>
                <a:t>dir1</a:t>
              </a:r>
              <a:endParaRPr lang="en-CN" sz="1400" dirty="0"/>
            </a:p>
          </p:txBody>
        </p:sp>
        <p:sp>
          <p:nvSpPr>
            <p:cNvPr id="77" name="TextBox 76">
              <a:extLst>
                <a:ext uri="{FF2B5EF4-FFF2-40B4-BE49-F238E27FC236}">
                  <a16:creationId xmlns:a16="http://schemas.microsoft.com/office/drawing/2014/main" id="{41865B66-ABEC-704C-8343-3D2CCEC14CAE}"/>
                </a:ext>
              </a:extLst>
            </p:cNvPr>
            <p:cNvSpPr txBox="1"/>
            <p:nvPr/>
          </p:nvSpPr>
          <p:spPr>
            <a:xfrm>
              <a:off x="1537079" y="3429007"/>
              <a:ext cx="513282" cy="307777"/>
            </a:xfrm>
            <a:prstGeom prst="rect">
              <a:avLst/>
            </a:prstGeom>
            <a:noFill/>
          </p:spPr>
          <p:txBody>
            <a:bodyPr wrap="none" rtlCol="0">
              <a:spAutoFit/>
            </a:bodyPr>
            <a:lstStyle/>
            <a:p>
              <a:r>
                <a:rPr lang="en-US" altLang="zh-CN" sz="1400" dirty="0"/>
                <a:t>file1</a:t>
              </a:r>
              <a:endParaRPr lang="en-CN" sz="1400" dirty="0"/>
            </a:p>
          </p:txBody>
        </p:sp>
        <p:sp>
          <p:nvSpPr>
            <p:cNvPr id="78" name="TextBox 77">
              <a:extLst>
                <a:ext uri="{FF2B5EF4-FFF2-40B4-BE49-F238E27FC236}">
                  <a16:creationId xmlns:a16="http://schemas.microsoft.com/office/drawing/2014/main" id="{E323DBF6-4327-9A4A-9393-BDC1B6670604}"/>
                </a:ext>
              </a:extLst>
            </p:cNvPr>
            <p:cNvSpPr txBox="1"/>
            <p:nvPr/>
          </p:nvSpPr>
          <p:spPr>
            <a:xfrm>
              <a:off x="2477032" y="3429007"/>
              <a:ext cx="482824" cy="307777"/>
            </a:xfrm>
            <a:prstGeom prst="rect">
              <a:avLst/>
            </a:prstGeom>
            <a:noFill/>
          </p:spPr>
          <p:txBody>
            <a:bodyPr wrap="none" rtlCol="0">
              <a:spAutoFit/>
            </a:bodyPr>
            <a:lstStyle/>
            <a:p>
              <a:r>
                <a:rPr lang="en-US" altLang="zh-CN" sz="1400" dirty="0"/>
                <a:t>dir2</a:t>
              </a:r>
              <a:endParaRPr lang="en-CN" sz="1400" dirty="0"/>
            </a:p>
          </p:txBody>
        </p:sp>
        <p:sp>
          <p:nvSpPr>
            <p:cNvPr id="79" name="TextBox 78">
              <a:extLst>
                <a:ext uri="{FF2B5EF4-FFF2-40B4-BE49-F238E27FC236}">
                  <a16:creationId xmlns:a16="http://schemas.microsoft.com/office/drawing/2014/main" id="{4258D9B9-0257-8748-81B3-C3723786034B}"/>
                </a:ext>
              </a:extLst>
            </p:cNvPr>
            <p:cNvSpPr txBox="1"/>
            <p:nvPr/>
          </p:nvSpPr>
          <p:spPr>
            <a:xfrm>
              <a:off x="4420517" y="3429007"/>
              <a:ext cx="513282" cy="307777"/>
            </a:xfrm>
            <a:prstGeom prst="rect">
              <a:avLst/>
            </a:prstGeom>
            <a:noFill/>
          </p:spPr>
          <p:txBody>
            <a:bodyPr wrap="none" rtlCol="0">
              <a:spAutoFit/>
            </a:bodyPr>
            <a:lstStyle/>
            <a:p>
              <a:r>
                <a:rPr lang="en-US" altLang="zh-CN" sz="1400" dirty="0"/>
                <a:t>file2</a:t>
              </a:r>
              <a:endParaRPr lang="en-CN" sz="1400" dirty="0"/>
            </a:p>
          </p:txBody>
        </p:sp>
      </p:grpSp>
    </p:spTree>
    <p:extLst>
      <p:ext uri="{BB962C8B-B14F-4D97-AF65-F5344CB8AC3E}">
        <p14:creationId xmlns:p14="http://schemas.microsoft.com/office/powerpoint/2010/main" val="7491969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C68EF-659D-0244-9B36-87BEEFF84717}"/>
              </a:ext>
            </a:extLst>
          </p:cNvPr>
          <p:cNvSpPr>
            <a:spLocks noGrp="1"/>
          </p:cNvSpPr>
          <p:nvPr>
            <p:ph type="title"/>
          </p:nvPr>
        </p:nvSpPr>
        <p:spPr/>
        <p:txBody>
          <a:bodyPr/>
          <a:lstStyle/>
          <a:p>
            <a:r>
              <a:rPr lang="en-US" altLang="zh-CN" dirty="0"/>
              <a:t>Sprite</a:t>
            </a:r>
            <a:r>
              <a:rPr lang="zh-CN" altLang="en-US" dirty="0"/>
              <a:t> </a:t>
            </a:r>
            <a:r>
              <a:rPr lang="en-US" altLang="zh-CN" dirty="0"/>
              <a:t>LFS</a:t>
            </a:r>
            <a:r>
              <a:rPr lang="zh-CN" altLang="en-US" dirty="0"/>
              <a:t>的</a:t>
            </a:r>
            <a:r>
              <a:rPr lang="zh-CN" altLang="en-CN" dirty="0"/>
              <a:t>数据</a:t>
            </a:r>
            <a:r>
              <a:rPr lang="zh-CN" altLang="en-US" dirty="0"/>
              <a:t>结构</a:t>
            </a:r>
            <a:endParaRPr lang="en-CN" dirty="0"/>
          </a:p>
        </p:txBody>
      </p:sp>
      <p:sp>
        <p:nvSpPr>
          <p:cNvPr id="3" name="Content Placeholder 2">
            <a:extLst>
              <a:ext uri="{FF2B5EF4-FFF2-40B4-BE49-F238E27FC236}">
                <a16:creationId xmlns:a16="http://schemas.microsoft.com/office/drawing/2014/main" id="{284D5139-347E-5E49-81F8-7306B036BFC1}"/>
              </a:ext>
            </a:extLst>
          </p:cNvPr>
          <p:cNvSpPr>
            <a:spLocks noGrp="1"/>
          </p:cNvSpPr>
          <p:nvPr>
            <p:ph idx="1"/>
          </p:nvPr>
        </p:nvSpPr>
        <p:spPr/>
        <p:txBody>
          <a:bodyPr>
            <a:normAutofit/>
          </a:bodyPr>
          <a:lstStyle/>
          <a:p>
            <a:r>
              <a:rPr lang="zh-CN" altLang="en-US" sz="2000" b="0" dirty="0"/>
              <a:t>固定位置的结构</a:t>
            </a:r>
            <a:endParaRPr lang="en-US" altLang="zh-CN" sz="2000" b="0" dirty="0"/>
          </a:p>
          <a:p>
            <a:pPr lvl="1"/>
            <a:r>
              <a:rPr lang="zh-CN" altLang="en-US" sz="1800" b="0" dirty="0"/>
              <a:t>超级块、</a:t>
            </a:r>
            <a:r>
              <a:rPr lang="zh-CN" altLang="en-US" sz="1800" b="0" dirty="0">
                <a:solidFill>
                  <a:srgbClr val="C00000"/>
                </a:solidFill>
              </a:rPr>
              <a:t>检查点（</a:t>
            </a:r>
            <a:r>
              <a:rPr lang="en-US" altLang="zh-CN" sz="1800" b="0" dirty="0">
                <a:solidFill>
                  <a:srgbClr val="C00000"/>
                </a:solidFill>
              </a:rPr>
              <a:t>checkpoint</a:t>
            </a:r>
            <a:r>
              <a:rPr lang="zh-CN" altLang="en-US" sz="1800" b="0" dirty="0">
                <a:solidFill>
                  <a:srgbClr val="C00000"/>
                </a:solidFill>
              </a:rPr>
              <a:t>）区域</a:t>
            </a:r>
            <a:endParaRPr lang="en-US" altLang="zh-CN" sz="1800" b="0" dirty="0">
              <a:solidFill>
                <a:srgbClr val="C00000"/>
              </a:solidFill>
            </a:endParaRPr>
          </a:p>
          <a:p>
            <a:r>
              <a:rPr lang="zh-CN" altLang="en-US" sz="2000" b="0" dirty="0"/>
              <a:t>以</a:t>
            </a:r>
            <a:r>
              <a:rPr lang="en-US" altLang="zh-CN" sz="2000" b="0" dirty="0"/>
              <a:t>Log</a:t>
            </a:r>
            <a:r>
              <a:rPr lang="zh-CN" altLang="en-US" sz="2000" b="0" dirty="0"/>
              <a:t>形式保存的结构</a:t>
            </a:r>
            <a:endParaRPr lang="en-US" altLang="zh-CN" sz="2000" b="0" dirty="0"/>
          </a:p>
          <a:p>
            <a:pPr lvl="1"/>
            <a:r>
              <a:rPr lang="en-US" altLang="zh-CN" sz="1800" dirty="0"/>
              <a:t>i</a:t>
            </a:r>
            <a:r>
              <a:rPr lang="en-CN" sz="1800" b="0"/>
              <a:t>node</a:t>
            </a:r>
            <a:r>
              <a:rPr lang="zh-CN" altLang="en-US" sz="1800" b="0" dirty="0"/>
              <a:t>、</a:t>
            </a:r>
            <a:r>
              <a:rPr lang="zh-CN" altLang="en-CN" sz="1800" b="0" dirty="0"/>
              <a:t>间接</a:t>
            </a:r>
            <a:r>
              <a:rPr lang="zh-CN" altLang="en-US" sz="1800" b="0" dirty="0"/>
              <a:t>块（索引块）、数据块</a:t>
            </a:r>
            <a:endParaRPr lang="en-US" altLang="zh-CN" sz="1800" b="0" dirty="0"/>
          </a:p>
          <a:p>
            <a:pPr lvl="1"/>
            <a:r>
              <a:rPr lang="en-US" altLang="zh-CN" sz="1800" dirty="0">
                <a:solidFill>
                  <a:srgbClr val="C00000"/>
                </a:solidFill>
              </a:rPr>
              <a:t>i</a:t>
            </a:r>
            <a:r>
              <a:rPr lang="en-CN" sz="1800">
                <a:solidFill>
                  <a:srgbClr val="C00000"/>
                </a:solidFill>
              </a:rPr>
              <a:t>node</a:t>
            </a:r>
            <a:r>
              <a:rPr lang="zh-CN" altLang="en-US" sz="1800" dirty="0">
                <a:solidFill>
                  <a:srgbClr val="C00000"/>
                </a:solidFill>
              </a:rPr>
              <a:t> </a:t>
            </a:r>
            <a:r>
              <a:rPr lang="en-US" altLang="zh-CN" sz="1800" dirty="0">
                <a:solidFill>
                  <a:srgbClr val="C00000"/>
                </a:solidFill>
              </a:rPr>
              <a:t>map</a:t>
            </a:r>
            <a:r>
              <a:rPr lang="zh-CN" altLang="en-US" sz="1800" dirty="0">
                <a:solidFill>
                  <a:srgbClr val="C00000"/>
                </a:solidFill>
              </a:rPr>
              <a:t>：记录每个</a:t>
            </a:r>
            <a:r>
              <a:rPr lang="en-US" altLang="zh-CN" sz="1800" dirty="0" err="1">
                <a:solidFill>
                  <a:srgbClr val="C00000"/>
                </a:solidFill>
              </a:rPr>
              <a:t>inode</a:t>
            </a:r>
            <a:r>
              <a:rPr lang="zh-CN" altLang="en-US" sz="1800" dirty="0">
                <a:solidFill>
                  <a:srgbClr val="C00000"/>
                </a:solidFill>
              </a:rPr>
              <a:t>的当前位置</a:t>
            </a:r>
            <a:endParaRPr lang="en-US" altLang="zh-CN" sz="1800" b="0" dirty="0">
              <a:solidFill>
                <a:srgbClr val="C00000"/>
              </a:solidFill>
            </a:endParaRPr>
          </a:p>
          <a:p>
            <a:pPr lvl="1"/>
            <a:r>
              <a:rPr lang="zh-CN" altLang="en-US" sz="1800" b="0" dirty="0">
                <a:solidFill>
                  <a:srgbClr val="C00000"/>
                </a:solidFill>
              </a:rPr>
              <a:t>段概要</a:t>
            </a:r>
            <a:r>
              <a:rPr lang="zh-CN" altLang="en-US" sz="1800" dirty="0">
                <a:solidFill>
                  <a:srgbClr val="C00000"/>
                </a:solidFill>
              </a:rPr>
              <a:t>：记录段中有效块</a:t>
            </a:r>
            <a:endParaRPr lang="en-US" altLang="zh-CN" sz="1800" b="0" dirty="0">
              <a:solidFill>
                <a:srgbClr val="C00000"/>
              </a:solidFill>
            </a:endParaRPr>
          </a:p>
          <a:p>
            <a:pPr lvl="1"/>
            <a:r>
              <a:rPr lang="zh-CN" altLang="en-US" sz="1800" b="0" dirty="0">
                <a:solidFill>
                  <a:srgbClr val="C00000"/>
                </a:solidFill>
              </a:rPr>
              <a:t>段使用表：段中有效字节数、段的最后修改时间</a:t>
            </a:r>
            <a:endParaRPr lang="en-US" altLang="zh-CN" sz="1800" b="0" dirty="0">
              <a:solidFill>
                <a:srgbClr val="C00000"/>
              </a:solidFill>
            </a:endParaRPr>
          </a:p>
          <a:p>
            <a:pPr lvl="1"/>
            <a:r>
              <a:rPr lang="zh-CN" altLang="en-US" sz="1800" b="0" dirty="0">
                <a:solidFill>
                  <a:srgbClr val="C00000"/>
                </a:solidFill>
              </a:rPr>
              <a:t>目录修改日志</a:t>
            </a:r>
            <a:endParaRPr lang="en-US" altLang="zh-CN" sz="1800" b="0" dirty="0">
              <a:solidFill>
                <a:srgbClr val="C00000"/>
              </a:solidFill>
            </a:endParaRPr>
          </a:p>
          <a:p>
            <a:endParaRPr lang="en-CN" sz="2000" b="0" dirty="0"/>
          </a:p>
        </p:txBody>
      </p:sp>
      <p:sp>
        <p:nvSpPr>
          <p:cNvPr id="4" name="Slide Number Placeholder 3">
            <a:extLst>
              <a:ext uri="{FF2B5EF4-FFF2-40B4-BE49-F238E27FC236}">
                <a16:creationId xmlns:a16="http://schemas.microsoft.com/office/drawing/2014/main" id="{EC88E714-8EB1-C040-8D1D-1B0620B0D56C}"/>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sp>
        <p:nvSpPr>
          <p:cNvPr id="5" name="Footer Placeholder 4">
            <a:extLst>
              <a:ext uri="{FF2B5EF4-FFF2-40B4-BE49-F238E27FC236}">
                <a16:creationId xmlns:a16="http://schemas.microsoft.com/office/drawing/2014/main" id="{5D14874A-4F02-AE47-AE76-B0172C71EC2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138168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8192-BB25-1E46-98BE-755D58932C5D}"/>
              </a:ext>
            </a:extLst>
          </p:cNvPr>
          <p:cNvSpPr>
            <a:spLocks noGrp="1"/>
          </p:cNvSpPr>
          <p:nvPr>
            <p:ph type="title"/>
          </p:nvPr>
        </p:nvSpPr>
        <p:spPr/>
        <p:txBody>
          <a:bodyPr/>
          <a:lstStyle/>
          <a:p>
            <a:r>
              <a:rPr lang="zh-CN" altLang="en-CN" dirty="0"/>
              <a:t>举例</a:t>
            </a:r>
            <a:endParaRPr lang="en-CN" dirty="0"/>
          </a:p>
        </p:txBody>
      </p:sp>
      <p:sp>
        <p:nvSpPr>
          <p:cNvPr id="3" name="Content Placeholder 2">
            <a:extLst>
              <a:ext uri="{FF2B5EF4-FFF2-40B4-BE49-F238E27FC236}">
                <a16:creationId xmlns:a16="http://schemas.microsoft.com/office/drawing/2014/main" id="{DFBB1BF2-A5F5-AD4A-BF63-200B0A0ABCD6}"/>
              </a:ext>
            </a:extLst>
          </p:cNvPr>
          <p:cNvSpPr>
            <a:spLocks noGrp="1"/>
          </p:cNvSpPr>
          <p:nvPr>
            <p:ph idx="1"/>
          </p:nvPr>
        </p:nvSpPr>
        <p:spPr/>
        <p:txBody>
          <a:bodyPr/>
          <a:lstStyle/>
          <a:p>
            <a:r>
              <a:rPr lang="zh-CN" altLang="en-CN" b="0" dirty="0"/>
              <a:t>一个</a:t>
            </a:r>
            <a:r>
              <a:rPr lang="zh-CN" altLang="en-US" b="0" dirty="0"/>
              <a:t>日志文件系统</a:t>
            </a:r>
            <a:endParaRPr lang="en-CN" altLang="zh-CN" b="0" dirty="0"/>
          </a:p>
          <a:p>
            <a:pPr lvl="1"/>
            <a:r>
              <a:rPr lang="zh-CN" altLang="en-US" b="0" dirty="0"/>
              <a:t>有</a:t>
            </a:r>
            <a:r>
              <a:rPr lang="en-US" altLang="zh-CN" b="0" dirty="0"/>
              <a:t>4</a:t>
            </a:r>
            <a:r>
              <a:rPr lang="zh-CN" altLang="en-US" b="0" dirty="0"/>
              <a:t>个</a:t>
            </a:r>
            <a:r>
              <a:rPr lang="en-US" altLang="zh-CN" b="0" dirty="0" err="1"/>
              <a:t>inode</a:t>
            </a:r>
            <a:r>
              <a:rPr lang="zh-CN" altLang="en-US" b="0" dirty="0"/>
              <a:t>，位置记录在</a:t>
            </a:r>
            <a:r>
              <a:rPr lang="en-US" altLang="zh-CN" b="0" dirty="0" err="1"/>
              <a:t>inode</a:t>
            </a:r>
            <a:r>
              <a:rPr lang="zh-CN" altLang="en-US" b="0" dirty="0"/>
              <a:t> </a:t>
            </a:r>
            <a:r>
              <a:rPr lang="en-US" altLang="zh-CN" b="0" dirty="0"/>
              <a:t>map</a:t>
            </a:r>
            <a:r>
              <a:rPr lang="zh-CN" altLang="en-US" b="0" dirty="0"/>
              <a:t>中</a:t>
            </a:r>
            <a:endParaRPr lang="en-US" altLang="zh-CN" b="0" dirty="0"/>
          </a:p>
          <a:p>
            <a:pPr lvl="1"/>
            <a:r>
              <a:rPr lang="zh-CN" altLang="en-US" dirty="0"/>
              <a:t>对应</a:t>
            </a:r>
            <a:r>
              <a:rPr lang="en-US" altLang="zh-CN" dirty="0"/>
              <a:t>4</a:t>
            </a:r>
            <a:r>
              <a:rPr lang="zh-CN" altLang="en-US" dirty="0"/>
              <a:t>个文件分别为：</a:t>
            </a:r>
            <a:r>
              <a:rPr lang="en-US" altLang="zh-CN" dirty="0"/>
              <a:t>/</a:t>
            </a:r>
            <a:r>
              <a:rPr lang="zh-CN" altLang="en-US" dirty="0"/>
              <a:t>，</a:t>
            </a:r>
            <a:r>
              <a:rPr lang="en-US" altLang="zh-CN" dirty="0"/>
              <a:t>/dir2</a:t>
            </a:r>
            <a:r>
              <a:rPr lang="zh-CN" altLang="en-US" dirty="0"/>
              <a:t>，</a:t>
            </a:r>
            <a:r>
              <a:rPr lang="en-US" altLang="zh-CN" dirty="0"/>
              <a:t>/file2</a:t>
            </a:r>
            <a:r>
              <a:rPr lang="zh-CN" altLang="en-US" dirty="0"/>
              <a:t>，</a:t>
            </a:r>
            <a:r>
              <a:rPr lang="en-US" altLang="zh-CN" dirty="0"/>
              <a:t>/dir2/file1</a:t>
            </a:r>
          </a:p>
          <a:p>
            <a:pPr marL="0" indent="0">
              <a:buNone/>
            </a:pPr>
            <a:endParaRPr lang="en-US" altLang="zh-CN" dirty="0"/>
          </a:p>
        </p:txBody>
      </p:sp>
      <p:sp>
        <p:nvSpPr>
          <p:cNvPr id="4" name="Slide Number Placeholder 3">
            <a:extLst>
              <a:ext uri="{FF2B5EF4-FFF2-40B4-BE49-F238E27FC236}">
                <a16:creationId xmlns:a16="http://schemas.microsoft.com/office/drawing/2014/main" id="{B67ACB61-3112-A946-A055-69ABA9100CF8}"/>
              </a:ext>
            </a:extLst>
          </p:cNvPr>
          <p:cNvSpPr>
            <a:spLocks noGrp="1"/>
          </p:cNvSpPr>
          <p:nvPr>
            <p:ph type="sldNum" sz="quarter" idx="12"/>
          </p:nvPr>
        </p:nvSpPr>
        <p:spPr/>
        <p:txBody>
          <a:bodyPr/>
          <a:lstStyle/>
          <a:p>
            <a:fld id="{ADE361C3-C043-4A6E-BDCE-8DA1E7D90A3B}" type="slidenum">
              <a:rPr lang="zh-CN" altLang="en-US" smtClean="0"/>
              <a:t>56</a:t>
            </a:fld>
            <a:endParaRPr lang="zh-CN" altLang="en-US"/>
          </a:p>
        </p:txBody>
      </p:sp>
      <p:sp>
        <p:nvSpPr>
          <p:cNvPr id="5" name="Footer Placeholder 4">
            <a:extLst>
              <a:ext uri="{FF2B5EF4-FFF2-40B4-BE49-F238E27FC236}">
                <a16:creationId xmlns:a16="http://schemas.microsoft.com/office/drawing/2014/main" id="{0544ABDF-4DA5-0542-B8CC-AD03DF333BA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9" name="Straight Connector 18">
            <a:extLst>
              <a:ext uri="{FF2B5EF4-FFF2-40B4-BE49-F238E27FC236}">
                <a16:creationId xmlns:a16="http://schemas.microsoft.com/office/drawing/2014/main" id="{37B91466-6B39-124F-A675-E974C15AB74E}"/>
              </a:ext>
            </a:extLst>
          </p:cNvPr>
          <p:cNvCxnSpPr>
            <a:cxnSpLocks/>
          </p:cNvCxnSpPr>
          <p:nvPr/>
        </p:nvCxnSpPr>
        <p:spPr>
          <a:xfrm>
            <a:off x="539750" y="3941557"/>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FC321F-63BA-E04B-92F1-3D95B40CA671}"/>
              </a:ext>
            </a:extLst>
          </p:cNvPr>
          <p:cNvCxnSpPr>
            <a:cxnSpLocks/>
          </p:cNvCxnSpPr>
          <p:nvPr/>
        </p:nvCxnSpPr>
        <p:spPr>
          <a:xfrm>
            <a:off x="539750" y="4462496"/>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014A18-EDCD-A540-86D7-F5E313F3A157}"/>
              </a:ext>
            </a:extLst>
          </p:cNvPr>
          <p:cNvSpPr/>
          <p:nvPr/>
        </p:nvSpPr>
        <p:spPr>
          <a:xfrm>
            <a:off x="53975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22" name="Rectangle 21">
            <a:extLst>
              <a:ext uri="{FF2B5EF4-FFF2-40B4-BE49-F238E27FC236}">
                <a16:creationId xmlns:a16="http://schemas.microsoft.com/office/drawing/2014/main" id="{F475035B-5076-CE4A-9F19-68BF993F590E}"/>
              </a:ext>
            </a:extLst>
          </p:cNvPr>
          <p:cNvSpPr/>
          <p:nvPr/>
        </p:nvSpPr>
        <p:spPr>
          <a:xfrm>
            <a:off x="1005668"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3" name="TextBox 22">
            <a:extLst>
              <a:ext uri="{FF2B5EF4-FFF2-40B4-BE49-F238E27FC236}">
                <a16:creationId xmlns:a16="http://schemas.microsoft.com/office/drawing/2014/main" id="{BCC28A91-2C3C-9D46-8AAB-5A828CBD34C3}"/>
              </a:ext>
            </a:extLst>
          </p:cNvPr>
          <p:cNvSpPr txBox="1"/>
          <p:nvPr/>
        </p:nvSpPr>
        <p:spPr>
          <a:xfrm>
            <a:off x="6046228" y="4589960"/>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24" name="Rectangle 23">
            <a:extLst>
              <a:ext uri="{FF2B5EF4-FFF2-40B4-BE49-F238E27FC236}">
                <a16:creationId xmlns:a16="http://schemas.microsoft.com/office/drawing/2014/main" id="{54880B7D-A1C2-5E43-B3D8-770C84D0C60B}"/>
              </a:ext>
            </a:extLst>
          </p:cNvPr>
          <p:cNvSpPr/>
          <p:nvPr/>
        </p:nvSpPr>
        <p:spPr>
          <a:xfrm>
            <a:off x="1469171"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25" name="Rectangle 24">
            <a:extLst>
              <a:ext uri="{FF2B5EF4-FFF2-40B4-BE49-F238E27FC236}">
                <a16:creationId xmlns:a16="http://schemas.microsoft.com/office/drawing/2014/main" id="{56FD4F20-2CF3-ED4F-A239-C265197886F3}"/>
              </a:ext>
            </a:extLst>
          </p:cNvPr>
          <p:cNvSpPr/>
          <p:nvPr/>
        </p:nvSpPr>
        <p:spPr>
          <a:xfrm>
            <a:off x="1936605"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6" name="Rectangle 25">
            <a:extLst>
              <a:ext uri="{FF2B5EF4-FFF2-40B4-BE49-F238E27FC236}">
                <a16:creationId xmlns:a16="http://schemas.microsoft.com/office/drawing/2014/main" id="{FEC5068C-6F7D-7747-9A47-86FC6C1060C8}"/>
              </a:ext>
            </a:extLst>
          </p:cNvPr>
          <p:cNvSpPr/>
          <p:nvPr/>
        </p:nvSpPr>
        <p:spPr>
          <a:xfrm>
            <a:off x="2400108"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7" name="Rectangle 26">
            <a:extLst>
              <a:ext uri="{FF2B5EF4-FFF2-40B4-BE49-F238E27FC236}">
                <a16:creationId xmlns:a16="http://schemas.microsoft.com/office/drawing/2014/main" id="{D1DD3697-5DE0-E84D-A30E-F5D2B4839970}"/>
              </a:ext>
            </a:extLst>
          </p:cNvPr>
          <p:cNvSpPr/>
          <p:nvPr/>
        </p:nvSpPr>
        <p:spPr>
          <a:xfrm>
            <a:off x="2863611" y="3956612"/>
            <a:ext cx="465918" cy="503870"/>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8" name="Rectangle 27">
            <a:extLst>
              <a:ext uri="{FF2B5EF4-FFF2-40B4-BE49-F238E27FC236}">
                <a16:creationId xmlns:a16="http://schemas.microsoft.com/office/drawing/2014/main" id="{31BBAEF5-AD48-774E-97AF-55C3C68FA464}"/>
              </a:ext>
            </a:extLst>
          </p:cNvPr>
          <p:cNvSpPr/>
          <p:nvPr/>
        </p:nvSpPr>
        <p:spPr>
          <a:xfrm>
            <a:off x="3327114"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9" name="Rectangle 28">
            <a:extLst>
              <a:ext uri="{FF2B5EF4-FFF2-40B4-BE49-F238E27FC236}">
                <a16:creationId xmlns:a16="http://schemas.microsoft.com/office/drawing/2014/main" id="{C95FA7CB-251F-6042-93CB-7125D455C92D}"/>
              </a:ext>
            </a:extLst>
          </p:cNvPr>
          <p:cNvSpPr/>
          <p:nvPr/>
        </p:nvSpPr>
        <p:spPr>
          <a:xfrm>
            <a:off x="3790617"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30" name="Rectangle 29">
            <a:extLst>
              <a:ext uri="{FF2B5EF4-FFF2-40B4-BE49-F238E27FC236}">
                <a16:creationId xmlns:a16="http://schemas.microsoft.com/office/drawing/2014/main" id="{8422C66C-7CE3-4F4E-94EF-4E0433E73DFC}"/>
              </a:ext>
            </a:extLst>
          </p:cNvPr>
          <p:cNvSpPr/>
          <p:nvPr/>
        </p:nvSpPr>
        <p:spPr>
          <a:xfrm>
            <a:off x="5182222" y="3956612"/>
            <a:ext cx="465918" cy="50387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31" name="Rectangle 30">
            <a:extLst>
              <a:ext uri="{FF2B5EF4-FFF2-40B4-BE49-F238E27FC236}">
                <a16:creationId xmlns:a16="http://schemas.microsoft.com/office/drawing/2014/main" id="{D32890B8-F554-1044-9B9C-8078F48923DA}"/>
              </a:ext>
            </a:extLst>
          </p:cNvPr>
          <p:cNvSpPr/>
          <p:nvPr/>
        </p:nvSpPr>
        <p:spPr>
          <a:xfrm>
            <a:off x="425412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32" name="Rectangle 31">
            <a:extLst>
              <a:ext uri="{FF2B5EF4-FFF2-40B4-BE49-F238E27FC236}">
                <a16:creationId xmlns:a16="http://schemas.microsoft.com/office/drawing/2014/main" id="{D81388C1-DEAD-DC44-870E-F03CC25E48BB}"/>
              </a:ext>
            </a:extLst>
          </p:cNvPr>
          <p:cNvSpPr/>
          <p:nvPr/>
        </p:nvSpPr>
        <p:spPr>
          <a:xfrm>
            <a:off x="4717623"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33" name="Elbow Connector 32">
            <a:extLst>
              <a:ext uri="{FF2B5EF4-FFF2-40B4-BE49-F238E27FC236}">
                <a16:creationId xmlns:a16="http://schemas.microsoft.com/office/drawing/2014/main" id="{D7CFDDBF-8D58-2048-8CDA-F777EEDC17E7}"/>
              </a:ext>
            </a:extLst>
          </p:cNvPr>
          <p:cNvCxnSpPr>
            <a:stCxn id="30" idx="2"/>
            <a:endCxn id="32" idx="2"/>
          </p:cNvCxnSpPr>
          <p:nvPr/>
        </p:nvCxnSpPr>
        <p:spPr>
          <a:xfrm rot="5400000">
            <a:off x="5182882" y="4228183"/>
            <a:ext cx="12700" cy="46459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14EBC160-D85A-F14A-A006-17BC1B58B8AF}"/>
              </a:ext>
            </a:extLst>
          </p:cNvPr>
          <p:cNvCxnSpPr>
            <a:cxnSpLocks/>
            <a:stCxn id="30" idx="2"/>
            <a:endCxn id="25" idx="2"/>
          </p:cNvCxnSpPr>
          <p:nvPr/>
        </p:nvCxnSpPr>
        <p:spPr>
          <a:xfrm rot="5400000">
            <a:off x="3792373" y="2837674"/>
            <a:ext cx="12700" cy="3245617"/>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44A67CEE-068A-CD41-BB9E-6E9009617119}"/>
              </a:ext>
            </a:extLst>
          </p:cNvPr>
          <p:cNvCxnSpPr>
            <a:cxnSpLocks/>
            <a:stCxn id="30" idx="2"/>
            <a:endCxn id="22" idx="2"/>
          </p:cNvCxnSpPr>
          <p:nvPr/>
        </p:nvCxnSpPr>
        <p:spPr>
          <a:xfrm rot="5400000">
            <a:off x="3326904" y="2372205"/>
            <a:ext cx="12700" cy="417655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367A0C57-811A-CF46-97F3-0A6DCAC9FA09}"/>
              </a:ext>
            </a:extLst>
          </p:cNvPr>
          <p:cNvCxnSpPr>
            <a:cxnSpLocks/>
            <a:stCxn id="30" idx="2"/>
            <a:endCxn id="29" idx="2"/>
          </p:cNvCxnSpPr>
          <p:nvPr/>
        </p:nvCxnSpPr>
        <p:spPr>
          <a:xfrm rot="5400000">
            <a:off x="4719379" y="3764680"/>
            <a:ext cx="12700" cy="1391605"/>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7F5AD048-EDEF-3248-A517-6C3E5E98ACC4}"/>
              </a:ext>
            </a:extLst>
          </p:cNvPr>
          <p:cNvCxnSpPr>
            <a:cxnSpLocks/>
            <a:stCxn id="22" idx="0"/>
            <a:endCxn id="21" idx="0"/>
          </p:cNvCxnSpPr>
          <p:nvPr/>
        </p:nvCxnSpPr>
        <p:spPr>
          <a:xfrm rot="16200000" flipV="1">
            <a:off x="1005668" y="3723653"/>
            <a:ext cx="12700" cy="465918"/>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7B855569-8308-804E-A549-BAC579FC8484}"/>
              </a:ext>
            </a:extLst>
          </p:cNvPr>
          <p:cNvCxnSpPr>
            <a:cxnSpLocks/>
            <a:stCxn id="29" idx="0"/>
            <a:endCxn id="28" idx="0"/>
          </p:cNvCxnSpPr>
          <p:nvPr/>
        </p:nvCxnSpPr>
        <p:spPr>
          <a:xfrm rot="16200000" flipV="1">
            <a:off x="3791825"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BFC10FE9-229D-CC4E-9258-1FEAF9BEC742}"/>
              </a:ext>
            </a:extLst>
          </p:cNvPr>
          <p:cNvCxnSpPr>
            <a:cxnSpLocks/>
            <a:stCxn id="32" idx="0"/>
            <a:endCxn id="31" idx="0"/>
          </p:cNvCxnSpPr>
          <p:nvPr/>
        </p:nvCxnSpPr>
        <p:spPr>
          <a:xfrm rot="16200000" flipV="1">
            <a:off x="4718831"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B13484D2-3009-4D43-9ECC-1EBC92726C36}"/>
              </a:ext>
            </a:extLst>
          </p:cNvPr>
          <p:cNvCxnSpPr>
            <a:cxnSpLocks/>
            <a:stCxn id="25" idx="0"/>
            <a:endCxn id="24" idx="0"/>
          </p:cNvCxnSpPr>
          <p:nvPr/>
        </p:nvCxnSpPr>
        <p:spPr>
          <a:xfrm rot="16200000" flipV="1">
            <a:off x="1935847" y="3722895"/>
            <a:ext cx="12700" cy="46743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F4CD6395-353F-4A48-879F-8FB18DB4E472}"/>
              </a:ext>
            </a:extLst>
          </p:cNvPr>
          <p:cNvCxnSpPr>
            <a:cxnSpLocks/>
            <a:stCxn id="29" idx="0"/>
            <a:endCxn id="26" idx="0"/>
          </p:cNvCxnSpPr>
          <p:nvPr/>
        </p:nvCxnSpPr>
        <p:spPr>
          <a:xfrm rot="16200000" flipV="1">
            <a:off x="3328322" y="3261357"/>
            <a:ext cx="12700" cy="139050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6FC1300-1692-A243-925B-A48B7A58D44D}"/>
              </a:ext>
            </a:extLst>
          </p:cNvPr>
          <p:cNvCxnSpPr>
            <a:cxnSpLocks/>
            <a:stCxn id="29" idx="0"/>
            <a:endCxn id="27" idx="0"/>
          </p:cNvCxnSpPr>
          <p:nvPr/>
        </p:nvCxnSpPr>
        <p:spPr>
          <a:xfrm rot="16200000" flipV="1">
            <a:off x="3560073" y="3493109"/>
            <a:ext cx="12700" cy="927006"/>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A7BC5DA-75BA-B845-AB90-B04F34B44B3B}"/>
              </a:ext>
            </a:extLst>
          </p:cNvPr>
          <p:cNvSpPr txBox="1"/>
          <p:nvPr/>
        </p:nvSpPr>
        <p:spPr>
          <a:xfrm>
            <a:off x="4487079" y="3433564"/>
            <a:ext cx="234360" cy="307777"/>
          </a:xfrm>
          <a:prstGeom prst="rect">
            <a:avLst/>
          </a:prstGeom>
          <a:noFill/>
        </p:spPr>
        <p:txBody>
          <a:bodyPr wrap="none" rtlCol="0">
            <a:spAutoFit/>
          </a:bodyPr>
          <a:lstStyle/>
          <a:p>
            <a:r>
              <a:rPr lang="en-US" altLang="zh-CN" sz="1400" dirty="0"/>
              <a:t>/</a:t>
            </a:r>
            <a:endParaRPr lang="en-CN" sz="1400" dirty="0"/>
          </a:p>
        </p:txBody>
      </p:sp>
      <p:sp>
        <p:nvSpPr>
          <p:cNvPr id="44" name="TextBox 43">
            <a:extLst>
              <a:ext uri="{FF2B5EF4-FFF2-40B4-BE49-F238E27FC236}">
                <a16:creationId xmlns:a16="http://schemas.microsoft.com/office/drawing/2014/main" id="{5C991FD8-56A6-DA4B-9E97-A3DB1FBF22FC}"/>
              </a:ext>
            </a:extLst>
          </p:cNvPr>
          <p:cNvSpPr txBox="1"/>
          <p:nvPr/>
        </p:nvSpPr>
        <p:spPr>
          <a:xfrm>
            <a:off x="779059" y="3433564"/>
            <a:ext cx="513282" cy="307777"/>
          </a:xfrm>
          <a:prstGeom prst="rect">
            <a:avLst/>
          </a:prstGeom>
          <a:noFill/>
        </p:spPr>
        <p:txBody>
          <a:bodyPr wrap="none" rtlCol="0">
            <a:spAutoFit/>
          </a:bodyPr>
          <a:lstStyle/>
          <a:p>
            <a:r>
              <a:rPr lang="en-US" altLang="zh-CN" sz="1400" dirty="0"/>
              <a:t>file1</a:t>
            </a:r>
            <a:endParaRPr lang="en-CN" sz="1400" dirty="0"/>
          </a:p>
        </p:txBody>
      </p:sp>
      <p:sp>
        <p:nvSpPr>
          <p:cNvPr id="45" name="TextBox 44">
            <a:extLst>
              <a:ext uri="{FF2B5EF4-FFF2-40B4-BE49-F238E27FC236}">
                <a16:creationId xmlns:a16="http://schemas.microsoft.com/office/drawing/2014/main" id="{BF49F221-97CD-7A41-8488-A71D532A273A}"/>
              </a:ext>
            </a:extLst>
          </p:cNvPr>
          <p:cNvSpPr txBox="1"/>
          <p:nvPr/>
        </p:nvSpPr>
        <p:spPr>
          <a:xfrm>
            <a:off x="1719012" y="3433564"/>
            <a:ext cx="482824" cy="307777"/>
          </a:xfrm>
          <a:prstGeom prst="rect">
            <a:avLst/>
          </a:prstGeom>
          <a:noFill/>
        </p:spPr>
        <p:txBody>
          <a:bodyPr wrap="none" rtlCol="0">
            <a:spAutoFit/>
          </a:bodyPr>
          <a:lstStyle/>
          <a:p>
            <a:r>
              <a:rPr lang="en-US" altLang="zh-CN" sz="1400" dirty="0"/>
              <a:t>dir2</a:t>
            </a:r>
            <a:endParaRPr lang="en-CN" sz="1400" dirty="0"/>
          </a:p>
        </p:txBody>
      </p:sp>
      <p:sp>
        <p:nvSpPr>
          <p:cNvPr id="46" name="TextBox 45">
            <a:extLst>
              <a:ext uri="{FF2B5EF4-FFF2-40B4-BE49-F238E27FC236}">
                <a16:creationId xmlns:a16="http://schemas.microsoft.com/office/drawing/2014/main" id="{E19B107C-BA4D-A241-9A53-07A70749C1AA}"/>
              </a:ext>
            </a:extLst>
          </p:cNvPr>
          <p:cNvSpPr txBox="1"/>
          <p:nvPr/>
        </p:nvSpPr>
        <p:spPr>
          <a:xfrm>
            <a:off x="3662497" y="3433564"/>
            <a:ext cx="513282" cy="307777"/>
          </a:xfrm>
          <a:prstGeom prst="rect">
            <a:avLst/>
          </a:prstGeom>
          <a:noFill/>
        </p:spPr>
        <p:txBody>
          <a:bodyPr wrap="none" rtlCol="0">
            <a:spAutoFit/>
          </a:bodyPr>
          <a:lstStyle/>
          <a:p>
            <a:r>
              <a:rPr lang="en-US" altLang="zh-CN" sz="1400" dirty="0"/>
              <a:t>file2</a:t>
            </a:r>
            <a:endParaRPr lang="en-CN" sz="1400" dirty="0"/>
          </a:p>
        </p:txBody>
      </p:sp>
    </p:spTree>
    <p:extLst>
      <p:ext uri="{BB962C8B-B14F-4D97-AF65-F5344CB8AC3E}">
        <p14:creationId xmlns:p14="http://schemas.microsoft.com/office/powerpoint/2010/main" val="39234966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8192-BB25-1E46-98BE-755D58932C5D}"/>
              </a:ext>
            </a:extLst>
          </p:cNvPr>
          <p:cNvSpPr>
            <a:spLocks noGrp="1"/>
          </p:cNvSpPr>
          <p:nvPr>
            <p:ph type="title"/>
          </p:nvPr>
        </p:nvSpPr>
        <p:spPr/>
        <p:txBody>
          <a:bodyPr/>
          <a:lstStyle/>
          <a:p>
            <a:r>
              <a:rPr lang="zh-CN" altLang="en-US" dirty="0"/>
              <a:t>创建文件举例</a:t>
            </a:r>
            <a:endParaRPr lang="en-CN" dirty="0"/>
          </a:p>
        </p:txBody>
      </p:sp>
      <p:sp>
        <p:nvSpPr>
          <p:cNvPr id="3" name="Content Placeholder 2">
            <a:extLst>
              <a:ext uri="{FF2B5EF4-FFF2-40B4-BE49-F238E27FC236}">
                <a16:creationId xmlns:a16="http://schemas.microsoft.com/office/drawing/2014/main" id="{DFBB1BF2-A5F5-AD4A-BF63-200B0A0ABCD6}"/>
              </a:ext>
            </a:extLst>
          </p:cNvPr>
          <p:cNvSpPr>
            <a:spLocks noGrp="1"/>
          </p:cNvSpPr>
          <p:nvPr>
            <p:ph idx="1"/>
          </p:nvPr>
        </p:nvSpPr>
        <p:spPr/>
        <p:txBody>
          <a:bodyPr/>
          <a:lstStyle/>
          <a:p>
            <a:r>
              <a:rPr lang="en-US" altLang="zh-CN" b="0" dirty="0"/>
              <a:t>echo</a:t>
            </a:r>
            <a:r>
              <a:rPr lang="zh-CN" altLang="en-US" b="0" dirty="0"/>
              <a:t> </a:t>
            </a:r>
            <a:r>
              <a:rPr lang="en-US" altLang="zh-CN" b="0" dirty="0"/>
              <a:t>hello</a:t>
            </a:r>
            <a:r>
              <a:rPr lang="zh-CN" altLang="en-US" b="0" dirty="0"/>
              <a:t> </a:t>
            </a:r>
            <a:r>
              <a:rPr lang="en-US" altLang="zh-CN" b="0" dirty="0"/>
              <a:t>&gt;</a:t>
            </a:r>
            <a:r>
              <a:rPr lang="zh-CN" altLang="en-US" b="0" dirty="0"/>
              <a:t> </a:t>
            </a:r>
            <a:r>
              <a:rPr lang="en-US" altLang="zh-CN" b="0" dirty="0"/>
              <a:t>/file3</a:t>
            </a:r>
          </a:p>
          <a:p>
            <a:pPr lvl="1"/>
            <a:r>
              <a:rPr lang="zh-CN" altLang="en-US" b="0" dirty="0"/>
              <a:t>创建文件</a:t>
            </a:r>
            <a:endParaRPr lang="en-US" altLang="zh-CN" b="0" dirty="0"/>
          </a:p>
          <a:p>
            <a:pPr lvl="1"/>
            <a:r>
              <a:rPr lang="zh-CN" altLang="en-US" dirty="0"/>
              <a:t>修改文件数据</a:t>
            </a:r>
            <a:endParaRPr lang="en-US" altLang="zh-CN" b="0" dirty="0"/>
          </a:p>
          <a:p>
            <a:pPr marL="457200" lvl="1" indent="0">
              <a:buNone/>
            </a:pPr>
            <a:endParaRPr lang="en-CN" b="0" dirty="0"/>
          </a:p>
        </p:txBody>
      </p:sp>
      <p:sp>
        <p:nvSpPr>
          <p:cNvPr id="4" name="Slide Number Placeholder 3">
            <a:extLst>
              <a:ext uri="{FF2B5EF4-FFF2-40B4-BE49-F238E27FC236}">
                <a16:creationId xmlns:a16="http://schemas.microsoft.com/office/drawing/2014/main" id="{B67ACB61-3112-A946-A055-69ABA9100CF8}"/>
              </a:ext>
            </a:extLst>
          </p:cNvPr>
          <p:cNvSpPr>
            <a:spLocks noGrp="1"/>
          </p:cNvSpPr>
          <p:nvPr>
            <p:ph type="sldNum" sz="quarter" idx="12"/>
          </p:nvPr>
        </p:nvSpPr>
        <p:spPr/>
        <p:txBody>
          <a:bodyPr/>
          <a:lstStyle/>
          <a:p>
            <a:fld id="{ADE361C3-C043-4A6E-BDCE-8DA1E7D90A3B}" type="slidenum">
              <a:rPr lang="zh-CN" altLang="en-US" smtClean="0"/>
              <a:t>57</a:t>
            </a:fld>
            <a:endParaRPr lang="zh-CN" altLang="en-US"/>
          </a:p>
        </p:txBody>
      </p:sp>
      <p:sp>
        <p:nvSpPr>
          <p:cNvPr id="5" name="Footer Placeholder 4">
            <a:extLst>
              <a:ext uri="{FF2B5EF4-FFF2-40B4-BE49-F238E27FC236}">
                <a16:creationId xmlns:a16="http://schemas.microsoft.com/office/drawing/2014/main" id="{0544ABDF-4DA5-0542-B8CC-AD03DF333BA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9" name="Straight Connector 18">
            <a:extLst>
              <a:ext uri="{FF2B5EF4-FFF2-40B4-BE49-F238E27FC236}">
                <a16:creationId xmlns:a16="http://schemas.microsoft.com/office/drawing/2014/main" id="{37B91466-6B39-124F-A675-E974C15AB74E}"/>
              </a:ext>
            </a:extLst>
          </p:cNvPr>
          <p:cNvCxnSpPr>
            <a:cxnSpLocks/>
          </p:cNvCxnSpPr>
          <p:nvPr/>
        </p:nvCxnSpPr>
        <p:spPr>
          <a:xfrm>
            <a:off x="539750" y="3941557"/>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FC321F-63BA-E04B-92F1-3D95B40CA671}"/>
              </a:ext>
            </a:extLst>
          </p:cNvPr>
          <p:cNvCxnSpPr>
            <a:cxnSpLocks/>
          </p:cNvCxnSpPr>
          <p:nvPr/>
        </p:nvCxnSpPr>
        <p:spPr>
          <a:xfrm>
            <a:off x="539750" y="4462496"/>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014A18-EDCD-A540-86D7-F5E313F3A157}"/>
              </a:ext>
            </a:extLst>
          </p:cNvPr>
          <p:cNvSpPr/>
          <p:nvPr/>
        </p:nvSpPr>
        <p:spPr>
          <a:xfrm>
            <a:off x="53975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22" name="Rectangle 21">
            <a:extLst>
              <a:ext uri="{FF2B5EF4-FFF2-40B4-BE49-F238E27FC236}">
                <a16:creationId xmlns:a16="http://schemas.microsoft.com/office/drawing/2014/main" id="{F475035B-5076-CE4A-9F19-68BF993F590E}"/>
              </a:ext>
            </a:extLst>
          </p:cNvPr>
          <p:cNvSpPr/>
          <p:nvPr/>
        </p:nvSpPr>
        <p:spPr>
          <a:xfrm>
            <a:off x="1005668"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3" name="TextBox 22">
            <a:extLst>
              <a:ext uri="{FF2B5EF4-FFF2-40B4-BE49-F238E27FC236}">
                <a16:creationId xmlns:a16="http://schemas.microsoft.com/office/drawing/2014/main" id="{BCC28A91-2C3C-9D46-8AAB-5A828CBD34C3}"/>
              </a:ext>
            </a:extLst>
          </p:cNvPr>
          <p:cNvSpPr txBox="1"/>
          <p:nvPr/>
        </p:nvSpPr>
        <p:spPr>
          <a:xfrm>
            <a:off x="6046228" y="4589960"/>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24" name="Rectangle 23">
            <a:extLst>
              <a:ext uri="{FF2B5EF4-FFF2-40B4-BE49-F238E27FC236}">
                <a16:creationId xmlns:a16="http://schemas.microsoft.com/office/drawing/2014/main" id="{54880B7D-A1C2-5E43-B3D8-770C84D0C60B}"/>
              </a:ext>
            </a:extLst>
          </p:cNvPr>
          <p:cNvSpPr/>
          <p:nvPr/>
        </p:nvSpPr>
        <p:spPr>
          <a:xfrm>
            <a:off x="1469171"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25" name="Rectangle 24">
            <a:extLst>
              <a:ext uri="{FF2B5EF4-FFF2-40B4-BE49-F238E27FC236}">
                <a16:creationId xmlns:a16="http://schemas.microsoft.com/office/drawing/2014/main" id="{56FD4F20-2CF3-ED4F-A239-C265197886F3}"/>
              </a:ext>
            </a:extLst>
          </p:cNvPr>
          <p:cNvSpPr/>
          <p:nvPr/>
        </p:nvSpPr>
        <p:spPr>
          <a:xfrm>
            <a:off x="1936605"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6" name="Rectangle 25">
            <a:extLst>
              <a:ext uri="{FF2B5EF4-FFF2-40B4-BE49-F238E27FC236}">
                <a16:creationId xmlns:a16="http://schemas.microsoft.com/office/drawing/2014/main" id="{FEC5068C-6F7D-7747-9A47-86FC6C1060C8}"/>
              </a:ext>
            </a:extLst>
          </p:cNvPr>
          <p:cNvSpPr/>
          <p:nvPr/>
        </p:nvSpPr>
        <p:spPr>
          <a:xfrm>
            <a:off x="2400108"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7" name="Rectangle 26">
            <a:extLst>
              <a:ext uri="{FF2B5EF4-FFF2-40B4-BE49-F238E27FC236}">
                <a16:creationId xmlns:a16="http://schemas.microsoft.com/office/drawing/2014/main" id="{D1DD3697-5DE0-E84D-A30E-F5D2B4839970}"/>
              </a:ext>
            </a:extLst>
          </p:cNvPr>
          <p:cNvSpPr/>
          <p:nvPr/>
        </p:nvSpPr>
        <p:spPr>
          <a:xfrm>
            <a:off x="2863611" y="3956612"/>
            <a:ext cx="465918" cy="503870"/>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8" name="Rectangle 27">
            <a:extLst>
              <a:ext uri="{FF2B5EF4-FFF2-40B4-BE49-F238E27FC236}">
                <a16:creationId xmlns:a16="http://schemas.microsoft.com/office/drawing/2014/main" id="{31BBAEF5-AD48-774E-97AF-55C3C68FA464}"/>
              </a:ext>
            </a:extLst>
          </p:cNvPr>
          <p:cNvSpPr/>
          <p:nvPr/>
        </p:nvSpPr>
        <p:spPr>
          <a:xfrm>
            <a:off x="3327114"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9" name="Rectangle 28">
            <a:extLst>
              <a:ext uri="{FF2B5EF4-FFF2-40B4-BE49-F238E27FC236}">
                <a16:creationId xmlns:a16="http://schemas.microsoft.com/office/drawing/2014/main" id="{C95FA7CB-251F-6042-93CB-7125D455C92D}"/>
              </a:ext>
            </a:extLst>
          </p:cNvPr>
          <p:cNvSpPr/>
          <p:nvPr/>
        </p:nvSpPr>
        <p:spPr>
          <a:xfrm>
            <a:off x="3790617"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30" name="Rectangle 29">
            <a:extLst>
              <a:ext uri="{FF2B5EF4-FFF2-40B4-BE49-F238E27FC236}">
                <a16:creationId xmlns:a16="http://schemas.microsoft.com/office/drawing/2014/main" id="{8422C66C-7CE3-4F4E-94EF-4E0433E73DFC}"/>
              </a:ext>
            </a:extLst>
          </p:cNvPr>
          <p:cNvSpPr/>
          <p:nvPr/>
        </p:nvSpPr>
        <p:spPr>
          <a:xfrm>
            <a:off x="5182222" y="3956612"/>
            <a:ext cx="465918" cy="50387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31" name="Rectangle 30">
            <a:extLst>
              <a:ext uri="{FF2B5EF4-FFF2-40B4-BE49-F238E27FC236}">
                <a16:creationId xmlns:a16="http://schemas.microsoft.com/office/drawing/2014/main" id="{D32890B8-F554-1044-9B9C-8078F48923DA}"/>
              </a:ext>
            </a:extLst>
          </p:cNvPr>
          <p:cNvSpPr/>
          <p:nvPr/>
        </p:nvSpPr>
        <p:spPr>
          <a:xfrm>
            <a:off x="425412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32" name="Rectangle 31">
            <a:extLst>
              <a:ext uri="{FF2B5EF4-FFF2-40B4-BE49-F238E27FC236}">
                <a16:creationId xmlns:a16="http://schemas.microsoft.com/office/drawing/2014/main" id="{D81388C1-DEAD-DC44-870E-F03CC25E48BB}"/>
              </a:ext>
            </a:extLst>
          </p:cNvPr>
          <p:cNvSpPr/>
          <p:nvPr/>
        </p:nvSpPr>
        <p:spPr>
          <a:xfrm>
            <a:off x="4717623"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33" name="Elbow Connector 32">
            <a:extLst>
              <a:ext uri="{FF2B5EF4-FFF2-40B4-BE49-F238E27FC236}">
                <a16:creationId xmlns:a16="http://schemas.microsoft.com/office/drawing/2014/main" id="{D7CFDDBF-8D58-2048-8CDA-F777EEDC17E7}"/>
              </a:ext>
            </a:extLst>
          </p:cNvPr>
          <p:cNvCxnSpPr>
            <a:stCxn id="30" idx="2"/>
            <a:endCxn id="32" idx="2"/>
          </p:cNvCxnSpPr>
          <p:nvPr/>
        </p:nvCxnSpPr>
        <p:spPr>
          <a:xfrm rot="5400000">
            <a:off x="5182882" y="4228183"/>
            <a:ext cx="12700" cy="46459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14EBC160-D85A-F14A-A006-17BC1B58B8AF}"/>
              </a:ext>
            </a:extLst>
          </p:cNvPr>
          <p:cNvCxnSpPr>
            <a:cxnSpLocks/>
            <a:stCxn id="30" idx="2"/>
            <a:endCxn id="25" idx="2"/>
          </p:cNvCxnSpPr>
          <p:nvPr/>
        </p:nvCxnSpPr>
        <p:spPr>
          <a:xfrm rot="5400000">
            <a:off x="3792373" y="2837674"/>
            <a:ext cx="12700" cy="3245617"/>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44A67CEE-068A-CD41-BB9E-6E9009617119}"/>
              </a:ext>
            </a:extLst>
          </p:cNvPr>
          <p:cNvCxnSpPr>
            <a:cxnSpLocks/>
            <a:stCxn id="30" idx="2"/>
            <a:endCxn id="22" idx="2"/>
          </p:cNvCxnSpPr>
          <p:nvPr/>
        </p:nvCxnSpPr>
        <p:spPr>
          <a:xfrm rot="5400000">
            <a:off x="3326904" y="2372205"/>
            <a:ext cx="12700" cy="417655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367A0C57-811A-CF46-97F3-0A6DCAC9FA09}"/>
              </a:ext>
            </a:extLst>
          </p:cNvPr>
          <p:cNvCxnSpPr>
            <a:cxnSpLocks/>
            <a:stCxn id="30" idx="2"/>
            <a:endCxn id="29" idx="2"/>
          </p:cNvCxnSpPr>
          <p:nvPr/>
        </p:nvCxnSpPr>
        <p:spPr>
          <a:xfrm rot="5400000">
            <a:off x="4719379" y="3764680"/>
            <a:ext cx="12700" cy="1391605"/>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7F5AD048-EDEF-3248-A517-6C3E5E98ACC4}"/>
              </a:ext>
            </a:extLst>
          </p:cNvPr>
          <p:cNvCxnSpPr>
            <a:cxnSpLocks/>
            <a:stCxn id="22" idx="0"/>
            <a:endCxn id="21" idx="0"/>
          </p:cNvCxnSpPr>
          <p:nvPr/>
        </p:nvCxnSpPr>
        <p:spPr>
          <a:xfrm rot="16200000" flipV="1">
            <a:off x="1005668" y="3723653"/>
            <a:ext cx="12700" cy="465918"/>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7B855569-8308-804E-A549-BAC579FC8484}"/>
              </a:ext>
            </a:extLst>
          </p:cNvPr>
          <p:cNvCxnSpPr>
            <a:cxnSpLocks/>
            <a:stCxn id="29" idx="0"/>
            <a:endCxn id="28" idx="0"/>
          </p:cNvCxnSpPr>
          <p:nvPr/>
        </p:nvCxnSpPr>
        <p:spPr>
          <a:xfrm rot="16200000" flipV="1">
            <a:off x="3791825"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BFC10FE9-229D-CC4E-9258-1FEAF9BEC742}"/>
              </a:ext>
            </a:extLst>
          </p:cNvPr>
          <p:cNvCxnSpPr>
            <a:cxnSpLocks/>
            <a:stCxn id="32" idx="0"/>
            <a:endCxn id="31" idx="0"/>
          </p:cNvCxnSpPr>
          <p:nvPr/>
        </p:nvCxnSpPr>
        <p:spPr>
          <a:xfrm rot="16200000" flipV="1">
            <a:off x="4718831"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B13484D2-3009-4D43-9ECC-1EBC92726C36}"/>
              </a:ext>
            </a:extLst>
          </p:cNvPr>
          <p:cNvCxnSpPr>
            <a:cxnSpLocks/>
            <a:stCxn id="25" idx="0"/>
            <a:endCxn id="24" idx="0"/>
          </p:cNvCxnSpPr>
          <p:nvPr/>
        </p:nvCxnSpPr>
        <p:spPr>
          <a:xfrm rot="16200000" flipV="1">
            <a:off x="1935847" y="3722895"/>
            <a:ext cx="12700" cy="46743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F4CD6395-353F-4A48-879F-8FB18DB4E472}"/>
              </a:ext>
            </a:extLst>
          </p:cNvPr>
          <p:cNvCxnSpPr>
            <a:cxnSpLocks/>
            <a:stCxn id="29" idx="0"/>
            <a:endCxn id="26" idx="0"/>
          </p:cNvCxnSpPr>
          <p:nvPr/>
        </p:nvCxnSpPr>
        <p:spPr>
          <a:xfrm rot="16200000" flipV="1">
            <a:off x="3328322" y="3261357"/>
            <a:ext cx="12700" cy="139050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6FC1300-1692-A243-925B-A48B7A58D44D}"/>
              </a:ext>
            </a:extLst>
          </p:cNvPr>
          <p:cNvCxnSpPr>
            <a:cxnSpLocks/>
            <a:stCxn id="29" idx="0"/>
            <a:endCxn id="27" idx="0"/>
          </p:cNvCxnSpPr>
          <p:nvPr/>
        </p:nvCxnSpPr>
        <p:spPr>
          <a:xfrm rot="16200000" flipV="1">
            <a:off x="3560073" y="3493109"/>
            <a:ext cx="12700" cy="927006"/>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A7BC5DA-75BA-B845-AB90-B04F34B44B3B}"/>
              </a:ext>
            </a:extLst>
          </p:cNvPr>
          <p:cNvSpPr txBox="1"/>
          <p:nvPr/>
        </p:nvSpPr>
        <p:spPr>
          <a:xfrm>
            <a:off x="4487079" y="3433564"/>
            <a:ext cx="234360" cy="307777"/>
          </a:xfrm>
          <a:prstGeom prst="rect">
            <a:avLst/>
          </a:prstGeom>
          <a:noFill/>
        </p:spPr>
        <p:txBody>
          <a:bodyPr wrap="none" rtlCol="0">
            <a:spAutoFit/>
          </a:bodyPr>
          <a:lstStyle/>
          <a:p>
            <a:r>
              <a:rPr lang="en-US" altLang="zh-CN" sz="1400" dirty="0"/>
              <a:t>/</a:t>
            </a:r>
            <a:endParaRPr lang="en-CN" sz="1400" dirty="0"/>
          </a:p>
        </p:txBody>
      </p:sp>
      <p:sp>
        <p:nvSpPr>
          <p:cNvPr id="44" name="TextBox 43">
            <a:extLst>
              <a:ext uri="{FF2B5EF4-FFF2-40B4-BE49-F238E27FC236}">
                <a16:creationId xmlns:a16="http://schemas.microsoft.com/office/drawing/2014/main" id="{5C991FD8-56A6-DA4B-9E97-A3DB1FBF22FC}"/>
              </a:ext>
            </a:extLst>
          </p:cNvPr>
          <p:cNvSpPr txBox="1"/>
          <p:nvPr/>
        </p:nvSpPr>
        <p:spPr>
          <a:xfrm>
            <a:off x="779059" y="3433564"/>
            <a:ext cx="513282" cy="307777"/>
          </a:xfrm>
          <a:prstGeom prst="rect">
            <a:avLst/>
          </a:prstGeom>
          <a:noFill/>
        </p:spPr>
        <p:txBody>
          <a:bodyPr wrap="none" rtlCol="0">
            <a:spAutoFit/>
          </a:bodyPr>
          <a:lstStyle/>
          <a:p>
            <a:r>
              <a:rPr lang="en-US" altLang="zh-CN" sz="1400" dirty="0"/>
              <a:t>file1</a:t>
            </a:r>
            <a:endParaRPr lang="en-CN" sz="1400" dirty="0"/>
          </a:p>
        </p:txBody>
      </p:sp>
      <p:sp>
        <p:nvSpPr>
          <p:cNvPr id="45" name="TextBox 44">
            <a:extLst>
              <a:ext uri="{FF2B5EF4-FFF2-40B4-BE49-F238E27FC236}">
                <a16:creationId xmlns:a16="http://schemas.microsoft.com/office/drawing/2014/main" id="{BF49F221-97CD-7A41-8488-A71D532A273A}"/>
              </a:ext>
            </a:extLst>
          </p:cNvPr>
          <p:cNvSpPr txBox="1"/>
          <p:nvPr/>
        </p:nvSpPr>
        <p:spPr>
          <a:xfrm>
            <a:off x="1719012" y="3433564"/>
            <a:ext cx="482824" cy="307777"/>
          </a:xfrm>
          <a:prstGeom prst="rect">
            <a:avLst/>
          </a:prstGeom>
          <a:noFill/>
        </p:spPr>
        <p:txBody>
          <a:bodyPr wrap="none" rtlCol="0">
            <a:spAutoFit/>
          </a:bodyPr>
          <a:lstStyle/>
          <a:p>
            <a:r>
              <a:rPr lang="en-US" altLang="zh-CN" sz="1400" dirty="0"/>
              <a:t>dir2</a:t>
            </a:r>
            <a:endParaRPr lang="en-CN" sz="1400" dirty="0"/>
          </a:p>
        </p:txBody>
      </p:sp>
      <p:sp>
        <p:nvSpPr>
          <p:cNvPr id="46" name="TextBox 45">
            <a:extLst>
              <a:ext uri="{FF2B5EF4-FFF2-40B4-BE49-F238E27FC236}">
                <a16:creationId xmlns:a16="http://schemas.microsoft.com/office/drawing/2014/main" id="{E19B107C-BA4D-A241-9A53-07A70749C1AA}"/>
              </a:ext>
            </a:extLst>
          </p:cNvPr>
          <p:cNvSpPr txBox="1"/>
          <p:nvPr/>
        </p:nvSpPr>
        <p:spPr>
          <a:xfrm>
            <a:off x="3662497" y="3433564"/>
            <a:ext cx="513282" cy="307777"/>
          </a:xfrm>
          <a:prstGeom prst="rect">
            <a:avLst/>
          </a:prstGeom>
          <a:noFill/>
        </p:spPr>
        <p:txBody>
          <a:bodyPr wrap="none" rtlCol="0">
            <a:spAutoFit/>
          </a:bodyPr>
          <a:lstStyle/>
          <a:p>
            <a:r>
              <a:rPr lang="en-US" altLang="zh-CN" sz="1400" dirty="0"/>
              <a:t>file2</a:t>
            </a:r>
            <a:endParaRPr lang="en-CN" sz="1400" dirty="0"/>
          </a:p>
        </p:txBody>
      </p:sp>
    </p:spTree>
    <p:extLst>
      <p:ext uri="{BB962C8B-B14F-4D97-AF65-F5344CB8AC3E}">
        <p14:creationId xmlns:p14="http://schemas.microsoft.com/office/powerpoint/2010/main" val="34943430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8192-BB25-1E46-98BE-755D58932C5D}"/>
              </a:ext>
            </a:extLst>
          </p:cNvPr>
          <p:cNvSpPr>
            <a:spLocks noGrp="1"/>
          </p:cNvSpPr>
          <p:nvPr>
            <p:ph type="title"/>
          </p:nvPr>
        </p:nvSpPr>
        <p:spPr/>
        <p:txBody>
          <a:bodyPr/>
          <a:lstStyle/>
          <a:p>
            <a:r>
              <a:rPr lang="zh-CN" altLang="en-US" dirty="0"/>
              <a:t>创建文件举例</a:t>
            </a:r>
            <a:endParaRPr lang="en-CN" dirty="0"/>
          </a:p>
        </p:txBody>
      </p:sp>
      <p:sp>
        <p:nvSpPr>
          <p:cNvPr id="3" name="Content Placeholder 2">
            <a:extLst>
              <a:ext uri="{FF2B5EF4-FFF2-40B4-BE49-F238E27FC236}">
                <a16:creationId xmlns:a16="http://schemas.microsoft.com/office/drawing/2014/main" id="{DFBB1BF2-A5F5-AD4A-BF63-200B0A0ABCD6}"/>
              </a:ext>
            </a:extLst>
          </p:cNvPr>
          <p:cNvSpPr>
            <a:spLocks noGrp="1"/>
          </p:cNvSpPr>
          <p:nvPr>
            <p:ph idx="1"/>
          </p:nvPr>
        </p:nvSpPr>
        <p:spPr/>
        <p:txBody>
          <a:bodyPr/>
          <a:lstStyle/>
          <a:p>
            <a:r>
              <a:rPr lang="en-US" altLang="zh-CN" b="0" dirty="0"/>
              <a:t>echo</a:t>
            </a:r>
            <a:r>
              <a:rPr lang="zh-CN" altLang="en-US" b="0" dirty="0"/>
              <a:t> </a:t>
            </a:r>
            <a:r>
              <a:rPr lang="en-US" altLang="zh-CN" b="0" dirty="0"/>
              <a:t>hello</a:t>
            </a:r>
            <a:r>
              <a:rPr lang="zh-CN" altLang="en-US" b="0" dirty="0"/>
              <a:t> </a:t>
            </a:r>
            <a:r>
              <a:rPr lang="en-US" altLang="zh-CN" b="0" dirty="0"/>
              <a:t>&gt;</a:t>
            </a:r>
            <a:r>
              <a:rPr lang="zh-CN" altLang="en-US" b="0" dirty="0"/>
              <a:t> </a:t>
            </a:r>
            <a:r>
              <a:rPr lang="en-US" altLang="zh-CN" b="0" dirty="0"/>
              <a:t>/file3</a:t>
            </a:r>
          </a:p>
          <a:p>
            <a:pPr lvl="1"/>
            <a:r>
              <a:rPr lang="zh-CN" altLang="en-US" dirty="0"/>
              <a:t>创建文件</a:t>
            </a:r>
            <a:endParaRPr lang="en-US" altLang="zh-CN" dirty="0"/>
          </a:p>
          <a:p>
            <a:pPr lvl="1"/>
            <a:r>
              <a:rPr lang="zh-CN" altLang="en-US" dirty="0"/>
              <a:t>修改文件数据</a:t>
            </a:r>
            <a:endParaRPr lang="en-US" altLang="zh-CN" b="0" dirty="0"/>
          </a:p>
          <a:p>
            <a:pPr marL="457200" lvl="1" indent="0">
              <a:buNone/>
            </a:pPr>
            <a:endParaRPr lang="en-CN" b="0" dirty="0"/>
          </a:p>
        </p:txBody>
      </p:sp>
      <p:sp>
        <p:nvSpPr>
          <p:cNvPr id="4" name="Slide Number Placeholder 3">
            <a:extLst>
              <a:ext uri="{FF2B5EF4-FFF2-40B4-BE49-F238E27FC236}">
                <a16:creationId xmlns:a16="http://schemas.microsoft.com/office/drawing/2014/main" id="{B67ACB61-3112-A946-A055-69ABA9100CF8}"/>
              </a:ext>
            </a:extLst>
          </p:cNvPr>
          <p:cNvSpPr>
            <a:spLocks noGrp="1"/>
          </p:cNvSpPr>
          <p:nvPr>
            <p:ph type="sldNum" sz="quarter" idx="12"/>
          </p:nvPr>
        </p:nvSpPr>
        <p:spPr/>
        <p:txBody>
          <a:bodyPr/>
          <a:lstStyle/>
          <a:p>
            <a:fld id="{ADE361C3-C043-4A6E-BDCE-8DA1E7D90A3B}" type="slidenum">
              <a:rPr lang="zh-CN" altLang="en-US" smtClean="0"/>
              <a:t>58</a:t>
            </a:fld>
            <a:endParaRPr lang="zh-CN" altLang="en-US" dirty="0"/>
          </a:p>
        </p:txBody>
      </p:sp>
      <p:sp>
        <p:nvSpPr>
          <p:cNvPr id="5" name="Footer Placeholder 4">
            <a:extLst>
              <a:ext uri="{FF2B5EF4-FFF2-40B4-BE49-F238E27FC236}">
                <a16:creationId xmlns:a16="http://schemas.microsoft.com/office/drawing/2014/main" id="{0544ABDF-4DA5-0542-B8CC-AD03DF333BA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9" name="Straight Connector 18">
            <a:extLst>
              <a:ext uri="{FF2B5EF4-FFF2-40B4-BE49-F238E27FC236}">
                <a16:creationId xmlns:a16="http://schemas.microsoft.com/office/drawing/2014/main" id="{37B91466-6B39-124F-A675-E974C15AB74E}"/>
              </a:ext>
            </a:extLst>
          </p:cNvPr>
          <p:cNvCxnSpPr>
            <a:cxnSpLocks/>
          </p:cNvCxnSpPr>
          <p:nvPr/>
        </p:nvCxnSpPr>
        <p:spPr>
          <a:xfrm>
            <a:off x="539750" y="3941557"/>
            <a:ext cx="80646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FC321F-63BA-E04B-92F1-3D95B40CA671}"/>
              </a:ext>
            </a:extLst>
          </p:cNvPr>
          <p:cNvCxnSpPr>
            <a:cxnSpLocks/>
          </p:cNvCxnSpPr>
          <p:nvPr/>
        </p:nvCxnSpPr>
        <p:spPr>
          <a:xfrm>
            <a:off x="539750" y="4462496"/>
            <a:ext cx="8064698"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014A18-EDCD-A540-86D7-F5E313F3A157}"/>
              </a:ext>
            </a:extLst>
          </p:cNvPr>
          <p:cNvSpPr/>
          <p:nvPr/>
        </p:nvSpPr>
        <p:spPr>
          <a:xfrm>
            <a:off x="53975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22" name="Rectangle 21">
            <a:extLst>
              <a:ext uri="{FF2B5EF4-FFF2-40B4-BE49-F238E27FC236}">
                <a16:creationId xmlns:a16="http://schemas.microsoft.com/office/drawing/2014/main" id="{F475035B-5076-CE4A-9F19-68BF993F590E}"/>
              </a:ext>
            </a:extLst>
          </p:cNvPr>
          <p:cNvSpPr/>
          <p:nvPr/>
        </p:nvSpPr>
        <p:spPr>
          <a:xfrm>
            <a:off x="1005668"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3" name="TextBox 22">
            <a:extLst>
              <a:ext uri="{FF2B5EF4-FFF2-40B4-BE49-F238E27FC236}">
                <a16:creationId xmlns:a16="http://schemas.microsoft.com/office/drawing/2014/main" id="{BCC28A91-2C3C-9D46-8AAB-5A828CBD34C3}"/>
              </a:ext>
            </a:extLst>
          </p:cNvPr>
          <p:cNvSpPr txBox="1"/>
          <p:nvPr/>
        </p:nvSpPr>
        <p:spPr>
          <a:xfrm>
            <a:off x="6786609" y="4807417"/>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24" name="Rectangle 23">
            <a:extLst>
              <a:ext uri="{FF2B5EF4-FFF2-40B4-BE49-F238E27FC236}">
                <a16:creationId xmlns:a16="http://schemas.microsoft.com/office/drawing/2014/main" id="{54880B7D-A1C2-5E43-B3D8-770C84D0C60B}"/>
              </a:ext>
            </a:extLst>
          </p:cNvPr>
          <p:cNvSpPr/>
          <p:nvPr/>
        </p:nvSpPr>
        <p:spPr>
          <a:xfrm>
            <a:off x="1469171"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25" name="Rectangle 24">
            <a:extLst>
              <a:ext uri="{FF2B5EF4-FFF2-40B4-BE49-F238E27FC236}">
                <a16:creationId xmlns:a16="http://schemas.microsoft.com/office/drawing/2014/main" id="{56FD4F20-2CF3-ED4F-A239-C265197886F3}"/>
              </a:ext>
            </a:extLst>
          </p:cNvPr>
          <p:cNvSpPr/>
          <p:nvPr/>
        </p:nvSpPr>
        <p:spPr>
          <a:xfrm>
            <a:off x="1936605"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6" name="Rectangle 25">
            <a:extLst>
              <a:ext uri="{FF2B5EF4-FFF2-40B4-BE49-F238E27FC236}">
                <a16:creationId xmlns:a16="http://schemas.microsoft.com/office/drawing/2014/main" id="{FEC5068C-6F7D-7747-9A47-86FC6C1060C8}"/>
              </a:ext>
            </a:extLst>
          </p:cNvPr>
          <p:cNvSpPr/>
          <p:nvPr/>
        </p:nvSpPr>
        <p:spPr>
          <a:xfrm>
            <a:off x="2400108"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7" name="Rectangle 26">
            <a:extLst>
              <a:ext uri="{FF2B5EF4-FFF2-40B4-BE49-F238E27FC236}">
                <a16:creationId xmlns:a16="http://schemas.microsoft.com/office/drawing/2014/main" id="{D1DD3697-5DE0-E84D-A30E-F5D2B4839970}"/>
              </a:ext>
            </a:extLst>
          </p:cNvPr>
          <p:cNvSpPr/>
          <p:nvPr/>
        </p:nvSpPr>
        <p:spPr>
          <a:xfrm>
            <a:off x="2863611" y="3956612"/>
            <a:ext cx="465918" cy="503870"/>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8" name="Rectangle 27">
            <a:extLst>
              <a:ext uri="{FF2B5EF4-FFF2-40B4-BE49-F238E27FC236}">
                <a16:creationId xmlns:a16="http://schemas.microsoft.com/office/drawing/2014/main" id="{31BBAEF5-AD48-774E-97AF-55C3C68FA464}"/>
              </a:ext>
            </a:extLst>
          </p:cNvPr>
          <p:cNvSpPr/>
          <p:nvPr/>
        </p:nvSpPr>
        <p:spPr>
          <a:xfrm>
            <a:off x="3327114"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9" name="Rectangle 28">
            <a:extLst>
              <a:ext uri="{FF2B5EF4-FFF2-40B4-BE49-F238E27FC236}">
                <a16:creationId xmlns:a16="http://schemas.microsoft.com/office/drawing/2014/main" id="{C95FA7CB-251F-6042-93CB-7125D455C92D}"/>
              </a:ext>
            </a:extLst>
          </p:cNvPr>
          <p:cNvSpPr/>
          <p:nvPr/>
        </p:nvSpPr>
        <p:spPr>
          <a:xfrm>
            <a:off x="3790617"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30" name="Rectangle 29">
            <a:extLst>
              <a:ext uri="{FF2B5EF4-FFF2-40B4-BE49-F238E27FC236}">
                <a16:creationId xmlns:a16="http://schemas.microsoft.com/office/drawing/2014/main" id="{8422C66C-7CE3-4F4E-94EF-4E0433E73DFC}"/>
              </a:ext>
            </a:extLst>
          </p:cNvPr>
          <p:cNvSpPr/>
          <p:nvPr/>
        </p:nvSpPr>
        <p:spPr>
          <a:xfrm>
            <a:off x="5182222" y="3956612"/>
            <a:ext cx="465918" cy="503870"/>
          </a:xfrm>
          <a:prstGeom prst="rect">
            <a:avLst/>
          </a:prstGeom>
          <a:pattFill prst="wdUpDiag">
            <a:fgClr>
              <a:schemeClr val="bg2">
                <a:lumMod val="75000"/>
              </a:schemeClr>
            </a:fgClr>
            <a:bgClr>
              <a:schemeClr val="accent4">
                <a:lumMod val="20000"/>
                <a:lumOff val="80000"/>
              </a:schemeClr>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31" name="Rectangle 30">
            <a:extLst>
              <a:ext uri="{FF2B5EF4-FFF2-40B4-BE49-F238E27FC236}">
                <a16:creationId xmlns:a16="http://schemas.microsoft.com/office/drawing/2014/main" id="{D32890B8-F554-1044-9B9C-8078F48923DA}"/>
              </a:ext>
            </a:extLst>
          </p:cNvPr>
          <p:cNvSpPr/>
          <p:nvPr/>
        </p:nvSpPr>
        <p:spPr>
          <a:xfrm>
            <a:off x="4254120" y="3956612"/>
            <a:ext cx="465918" cy="504676"/>
          </a:xfrm>
          <a:prstGeom prst="rect">
            <a:avLst/>
          </a:prstGeom>
          <a:pattFill prst="wdUpDiag">
            <a:fgClr>
              <a:schemeClr val="bg2">
                <a:lumMod val="75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32" name="Rectangle 31">
            <a:extLst>
              <a:ext uri="{FF2B5EF4-FFF2-40B4-BE49-F238E27FC236}">
                <a16:creationId xmlns:a16="http://schemas.microsoft.com/office/drawing/2014/main" id="{D81388C1-DEAD-DC44-870E-F03CC25E48BB}"/>
              </a:ext>
            </a:extLst>
          </p:cNvPr>
          <p:cNvSpPr/>
          <p:nvPr/>
        </p:nvSpPr>
        <p:spPr>
          <a:xfrm>
            <a:off x="4717623" y="3956612"/>
            <a:ext cx="465918" cy="503870"/>
          </a:xfrm>
          <a:prstGeom prst="rect">
            <a:avLst/>
          </a:prstGeom>
          <a:pattFill prst="wdUpDiag">
            <a:fgClr>
              <a:schemeClr val="bg2">
                <a:lumMod val="75000"/>
              </a:schemeClr>
            </a:fgClr>
            <a:bgClr>
              <a:schemeClr val="accent1">
                <a:lumMod val="20000"/>
                <a:lumOff val="80000"/>
              </a:schemeClr>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33" name="Elbow Connector 32">
            <a:extLst>
              <a:ext uri="{FF2B5EF4-FFF2-40B4-BE49-F238E27FC236}">
                <a16:creationId xmlns:a16="http://schemas.microsoft.com/office/drawing/2014/main" id="{D7CFDDBF-8D58-2048-8CDA-F777EEDC17E7}"/>
              </a:ext>
            </a:extLst>
          </p:cNvPr>
          <p:cNvCxnSpPr>
            <a:stCxn id="30" idx="2"/>
            <a:endCxn id="32" idx="2"/>
          </p:cNvCxnSpPr>
          <p:nvPr/>
        </p:nvCxnSpPr>
        <p:spPr>
          <a:xfrm rot="5400000">
            <a:off x="5182882" y="4228183"/>
            <a:ext cx="12700" cy="46459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14EBC160-D85A-F14A-A006-17BC1B58B8AF}"/>
              </a:ext>
            </a:extLst>
          </p:cNvPr>
          <p:cNvCxnSpPr>
            <a:cxnSpLocks/>
            <a:stCxn id="30" idx="2"/>
            <a:endCxn id="25" idx="2"/>
          </p:cNvCxnSpPr>
          <p:nvPr/>
        </p:nvCxnSpPr>
        <p:spPr>
          <a:xfrm rot="5400000">
            <a:off x="3792373" y="2837674"/>
            <a:ext cx="12700" cy="3245617"/>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44A67CEE-068A-CD41-BB9E-6E9009617119}"/>
              </a:ext>
            </a:extLst>
          </p:cNvPr>
          <p:cNvCxnSpPr>
            <a:cxnSpLocks/>
            <a:stCxn id="30" idx="2"/>
            <a:endCxn id="22" idx="2"/>
          </p:cNvCxnSpPr>
          <p:nvPr/>
        </p:nvCxnSpPr>
        <p:spPr>
          <a:xfrm rot="5400000">
            <a:off x="3326904" y="2372205"/>
            <a:ext cx="12700" cy="417655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367A0C57-811A-CF46-97F3-0A6DCAC9FA09}"/>
              </a:ext>
            </a:extLst>
          </p:cNvPr>
          <p:cNvCxnSpPr>
            <a:cxnSpLocks/>
            <a:stCxn id="30" idx="2"/>
            <a:endCxn id="29" idx="2"/>
          </p:cNvCxnSpPr>
          <p:nvPr/>
        </p:nvCxnSpPr>
        <p:spPr>
          <a:xfrm rot="5400000">
            <a:off x="4719379" y="3764680"/>
            <a:ext cx="12700" cy="1391605"/>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7F5AD048-EDEF-3248-A517-6C3E5E98ACC4}"/>
              </a:ext>
            </a:extLst>
          </p:cNvPr>
          <p:cNvCxnSpPr>
            <a:cxnSpLocks/>
            <a:stCxn id="22" idx="0"/>
            <a:endCxn id="21" idx="0"/>
          </p:cNvCxnSpPr>
          <p:nvPr/>
        </p:nvCxnSpPr>
        <p:spPr>
          <a:xfrm rot="16200000" flipV="1">
            <a:off x="1005668" y="3723653"/>
            <a:ext cx="12700" cy="465918"/>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7B855569-8308-804E-A549-BAC579FC8484}"/>
              </a:ext>
            </a:extLst>
          </p:cNvPr>
          <p:cNvCxnSpPr>
            <a:cxnSpLocks/>
            <a:stCxn id="29" idx="0"/>
            <a:endCxn id="28" idx="0"/>
          </p:cNvCxnSpPr>
          <p:nvPr/>
        </p:nvCxnSpPr>
        <p:spPr>
          <a:xfrm rot="16200000" flipV="1">
            <a:off x="3791825"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BFC10FE9-229D-CC4E-9258-1FEAF9BEC742}"/>
              </a:ext>
            </a:extLst>
          </p:cNvPr>
          <p:cNvCxnSpPr>
            <a:cxnSpLocks/>
            <a:stCxn id="32" idx="0"/>
            <a:endCxn id="31" idx="0"/>
          </p:cNvCxnSpPr>
          <p:nvPr/>
        </p:nvCxnSpPr>
        <p:spPr>
          <a:xfrm rot="16200000" flipV="1">
            <a:off x="4718831"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B13484D2-3009-4D43-9ECC-1EBC92726C36}"/>
              </a:ext>
            </a:extLst>
          </p:cNvPr>
          <p:cNvCxnSpPr>
            <a:cxnSpLocks/>
            <a:stCxn id="25" idx="0"/>
            <a:endCxn id="24" idx="0"/>
          </p:cNvCxnSpPr>
          <p:nvPr/>
        </p:nvCxnSpPr>
        <p:spPr>
          <a:xfrm rot="16200000" flipV="1">
            <a:off x="1935847" y="3722895"/>
            <a:ext cx="12700" cy="46743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F4CD6395-353F-4A48-879F-8FB18DB4E472}"/>
              </a:ext>
            </a:extLst>
          </p:cNvPr>
          <p:cNvCxnSpPr>
            <a:cxnSpLocks/>
            <a:stCxn id="29" idx="0"/>
            <a:endCxn id="26" idx="0"/>
          </p:cNvCxnSpPr>
          <p:nvPr/>
        </p:nvCxnSpPr>
        <p:spPr>
          <a:xfrm rot="16200000" flipV="1">
            <a:off x="3328322" y="3261357"/>
            <a:ext cx="12700" cy="139050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6FC1300-1692-A243-925B-A48B7A58D44D}"/>
              </a:ext>
            </a:extLst>
          </p:cNvPr>
          <p:cNvCxnSpPr>
            <a:cxnSpLocks/>
            <a:stCxn id="29" idx="0"/>
            <a:endCxn id="27" idx="0"/>
          </p:cNvCxnSpPr>
          <p:nvPr/>
        </p:nvCxnSpPr>
        <p:spPr>
          <a:xfrm rot="16200000" flipV="1">
            <a:off x="3560073" y="3493109"/>
            <a:ext cx="12700" cy="927006"/>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A7BC5DA-75BA-B845-AB90-B04F34B44B3B}"/>
              </a:ext>
            </a:extLst>
          </p:cNvPr>
          <p:cNvSpPr txBox="1"/>
          <p:nvPr/>
        </p:nvSpPr>
        <p:spPr>
          <a:xfrm>
            <a:off x="4487079" y="3433564"/>
            <a:ext cx="234360" cy="307777"/>
          </a:xfrm>
          <a:prstGeom prst="rect">
            <a:avLst/>
          </a:prstGeom>
          <a:noFill/>
        </p:spPr>
        <p:txBody>
          <a:bodyPr wrap="none" rtlCol="0">
            <a:spAutoFit/>
          </a:bodyPr>
          <a:lstStyle/>
          <a:p>
            <a:r>
              <a:rPr lang="en-US" altLang="zh-CN" sz="1400" dirty="0"/>
              <a:t>/</a:t>
            </a:r>
            <a:endParaRPr lang="en-CN" sz="1400" dirty="0"/>
          </a:p>
        </p:txBody>
      </p:sp>
      <p:sp>
        <p:nvSpPr>
          <p:cNvPr id="44" name="TextBox 43">
            <a:extLst>
              <a:ext uri="{FF2B5EF4-FFF2-40B4-BE49-F238E27FC236}">
                <a16:creationId xmlns:a16="http://schemas.microsoft.com/office/drawing/2014/main" id="{5C991FD8-56A6-DA4B-9E97-A3DB1FBF22FC}"/>
              </a:ext>
            </a:extLst>
          </p:cNvPr>
          <p:cNvSpPr txBox="1"/>
          <p:nvPr/>
        </p:nvSpPr>
        <p:spPr>
          <a:xfrm>
            <a:off x="779059" y="3433564"/>
            <a:ext cx="513282" cy="307777"/>
          </a:xfrm>
          <a:prstGeom prst="rect">
            <a:avLst/>
          </a:prstGeom>
          <a:noFill/>
        </p:spPr>
        <p:txBody>
          <a:bodyPr wrap="square" rtlCol="0">
            <a:spAutoFit/>
          </a:bodyPr>
          <a:lstStyle/>
          <a:p>
            <a:r>
              <a:rPr lang="en-US" altLang="zh-CN" sz="1400" dirty="0"/>
              <a:t>file1</a:t>
            </a:r>
            <a:endParaRPr lang="en-CN" sz="1400" dirty="0"/>
          </a:p>
        </p:txBody>
      </p:sp>
      <p:sp>
        <p:nvSpPr>
          <p:cNvPr id="45" name="TextBox 44">
            <a:extLst>
              <a:ext uri="{FF2B5EF4-FFF2-40B4-BE49-F238E27FC236}">
                <a16:creationId xmlns:a16="http://schemas.microsoft.com/office/drawing/2014/main" id="{BF49F221-97CD-7A41-8488-A71D532A273A}"/>
              </a:ext>
            </a:extLst>
          </p:cNvPr>
          <p:cNvSpPr txBox="1"/>
          <p:nvPr/>
        </p:nvSpPr>
        <p:spPr>
          <a:xfrm>
            <a:off x="1719012" y="3433564"/>
            <a:ext cx="482824" cy="307777"/>
          </a:xfrm>
          <a:prstGeom prst="rect">
            <a:avLst/>
          </a:prstGeom>
          <a:noFill/>
        </p:spPr>
        <p:txBody>
          <a:bodyPr wrap="square" rtlCol="0">
            <a:spAutoFit/>
          </a:bodyPr>
          <a:lstStyle/>
          <a:p>
            <a:r>
              <a:rPr lang="en-US" altLang="zh-CN" sz="1400" dirty="0"/>
              <a:t>dir2</a:t>
            </a:r>
            <a:endParaRPr lang="en-CN" sz="1400" dirty="0"/>
          </a:p>
        </p:txBody>
      </p:sp>
      <p:sp>
        <p:nvSpPr>
          <p:cNvPr id="46" name="TextBox 45">
            <a:extLst>
              <a:ext uri="{FF2B5EF4-FFF2-40B4-BE49-F238E27FC236}">
                <a16:creationId xmlns:a16="http://schemas.microsoft.com/office/drawing/2014/main" id="{E19B107C-BA4D-A241-9A53-07A70749C1AA}"/>
              </a:ext>
            </a:extLst>
          </p:cNvPr>
          <p:cNvSpPr txBox="1"/>
          <p:nvPr/>
        </p:nvSpPr>
        <p:spPr>
          <a:xfrm>
            <a:off x="3662497" y="3433564"/>
            <a:ext cx="513282" cy="307777"/>
          </a:xfrm>
          <a:prstGeom prst="rect">
            <a:avLst/>
          </a:prstGeom>
          <a:noFill/>
        </p:spPr>
        <p:txBody>
          <a:bodyPr wrap="square" rtlCol="0">
            <a:spAutoFit/>
          </a:bodyPr>
          <a:lstStyle/>
          <a:p>
            <a:r>
              <a:rPr lang="en-US" altLang="zh-CN" sz="1400" dirty="0"/>
              <a:t>file2</a:t>
            </a:r>
            <a:endParaRPr lang="en-CN" sz="1400" dirty="0"/>
          </a:p>
        </p:txBody>
      </p:sp>
      <p:sp>
        <p:nvSpPr>
          <p:cNvPr id="47" name="Rectangle 46">
            <a:extLst>
              <a:ext uri="{FF2B5EF4-FFF2-40B4-BE49-F238E27FC236}">
                <a16:creationId xmlns:a16="http://schemas.microsoft.com/office/drawing/2014/main" id="{11721B8E-8237-7E45-A317-C5ACAC6D99BA}"/>
              </a:ext>
            </a:extLst>
          </p:cNvPr>
          <p:cNvSpPr/>
          <p:nvPr/>
        </p:nvSpPr>
        <p:spPr>
          <a:xfrm>
            <a:off x="5649773" y="3957216"/>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en-US" altLang="zh-CN" sz="700" dirty="0"/>
              <a:t>hello</a:t>
            </a:r>
          </a:p>
          <a:p>
            <a:pPr algn="ctr"/>
            <a:endParaRPr lang="en-CN" sz="700" dirty="0"/>
          </a:p>
        </p:txBody>
      </p:sp>
      <p:sp>
        <p:nvSpPr>
          <p:cNvPr id="48" name="Rectangle 47">
            <a:extLst>
              <a:ext uri="{FF2B5EF4-FFF2-40B4-BE49-F238E27FC236}">
                <a16:creationId xmlns:a16="http://schemas.microsoft.com/office/drawing/2014/main" id="{E60B4630-3C65-C44D-898A-E8CC2335ED0C}"/>
              </a:ext>
            </a:extLst>
          </p:cNvPr>
          <p:cNvSpPr/>
          <p:nvPr/>
        </p:nvSpPr>
        <p:spPr>
          <a:xfrm>
            <a:off x="6115578" y="3957216"/>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50" name="Rectangle 49">
            <a:extLst>
              <a:ext uri="{FF2B5EF4-FFF2-40B4-BE49-F238E27FC236}">
                <a16:creationId xmlns:a16="http://schemas.microsoft.com/office/drawing/2014/main" id="{4B69127E-C25F-2D4A-A675-ABDC58C4057E}"/>
              </a:ext>
            </a:extLst>
          </p:cNvPr>
          <p:cNvSpPr/>
          <p:nvPr/>
        </p:nvSpPr>
        <p:spPr>
          <a:xfrm>
            <a:off x="6581810" y="3957216"/>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a:p>
            <a:pPr algn="ctr"/>
            <a:r>
              <a:rPr lang="en-US" altLang="zh-CN" sz="700" dirty="0"/>
              <a:t>file3:</a:t>
            </a:r>
            <a:r>
              <a:rPr lang="zh-CN" altLang="en-US" sz="700" dirty="0"/>
              <a:t> </a:t>
            </a:r>
            <a:r>
              <a:rPr lang="en-US" altLang="zh-CN" sz="700" dirty="0"/>
              <a:t>6</a:t>
            </a:r>
          </a:p>
        </p:txBody>
      </p:sp>
      <p:sp>
        <p:nvSpPr>
          <p:cNvPr id="53" name="Rectangle 52">
            <a:extLst>
              <a:ext uri="{FF2B5EF4-FFF2-40B4-BE49-F238E27FC236}">
                <a16:creationId xmlns:a16="http://schemas.microsoft.com/office/drawing/2014/main" id="{54CD5F70-91B1-4043-AA36-E2E91FE279AE}"/>
              </a:ext>
            </a:extLst>
          </p:cNvPr>
          <p:cNvSpPr/>
          <p:nvPr/>
        </p:nvSpPr>
        <p:spPr>
          <a:xfrm>
            <a:off x="7510529" y="3957216"/>
            <a:ext cx="465918" cy="503870"/>
          </a:xfrm>
          <a:prstGeom prst="rect">
            <a:avLst/>
          </a:prstGeom>
          <a:solidFill>
            <a:schemeClr val="accent4">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54" name="Rectangle 53">
            <a:extLst>
              <a:ext uri="{FF2B5EF4-FFF2-40B4-BE49-F238E27FC236}">
                <a16:creationId xmlns:a16="http://schemas.microsoft.com/office/drawing/2014/main" id="{A766DF1F-6A67-CD45-88ED-6639FE588E6C}"/>
              </a:ext>
            </a:extLst>
          </p:cNvPr>
          <p:cNvSpPr/>
          <p:nvPr/>
        </p:nvSpPr>
        <p:spPr>
          <a:xfrm>
            <a:off x="7045930" y="3957216"/>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55" name="Elbow Connector 54">
            <a:extLst>
              <a:ext uri="{FF2B5EF4-FFF2-40B4-BE49-F238E27FC236}">
                <a16:creationId xmlns:a16="http://schemas.microsoft.com/office/drawing/2014/main" id="{F0886F6F-BF65-0140-B040-32C87DC29C7C}"/>
              </a:ext>
            </a:extLst>
          </p:cNvPr>
          <p:cNvCxnSpPr>
            <a:cxnSpLocks/>
            <a:stCxn id="54" idx="0"/>
            <a:endCxn id="50" idx="0"/>
          </p:cNvCxnSpPr>
          <p:nvPr/>
        </p:nvCxnSpPr>
        <p:spPr>
          <a:xfrm rot="16200000" flipV="1">
            <a:off x="7046829" y="3725156"/>
            <a:ext cx="12700" cy="464120"/>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69F4B4AE-F5AD-4349-975E-FB4C2F51A652}"/>
              </a:ext>
            </a:extLst>
          </p:cNvPr>
          <p:cNvCxnSpPr>
            <a:cxnSpLocks/>
            <a:stCxn id="48" idx="0"/>
            <a:endCxn id="47" idx="0"/>
          </p:cNvCxnSpPr>
          <p:nvPr/>
        </p:nvCxnSpPr>
        <p:spPr>
          <a:xfrm rot="16200000" flipV="1">
            <a:off x="6115635" y="3724313"/>
            <a:ext cx="12700" cy="465805"/>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A2F246F6-CD33-E24F-A067-12AAA3F2B844}"/>
              </a:ext>
            </a:extLst>
          </p:cNvPr>
          <p:cNvSpPr txBox="1"/>
          <p:nvPr/>
        </p:nvSpPr>
        <p:spPr>
          <a:xfrm>
            <a:off x="5940152" y="3443231"/>
            <a:ext cx="513282" cy="307777"/>
          </a:xfrm>
          <a:prstGeom prst="rect">
            <a:avLst/>
          </a:prstGeom>
          <a:noFill/>
        </p:spPr>
        <p:txBody>
          <a:bodyPr wrap="none" rtlCol="0">
            <a:spAutoFit/>
          </a:bodyPr>
          <a:lstStyle/>
          <a:p>
            <a:r>
              <a:rPr lang="en-US" altLang="zh-CN" sz="1400" dirty="0"/>
              <a:t>file3</a:t>
            </a:r>
            <a:endParaRPr lang="en-CN" sz="1400" dirty="0"/>
          </a:p>
        </p:txBody>
      </p:sp>
      <p:sp>
        <p:nvSpPr>
          <p:cNvPr id="58" name="TextBox 57">
            <a:extLst>
              <a:ext uri="{FF2B5EF4-FFF2-40B4-BE49-F238E27FC236}">
                <a16:creationId xmlns:a16="http://schemas.microsoft.com/office/drawing/2014/main" id="{7C7382ED-0EB4-484A-9ADA-6E7A8F691247}"/>
              </a:ext>
            </a:extLst>
          </p:cNvPr>
          <p:cNvSpPr txBox="1"/>
          <p:nvPr/>
        </p:nvSpPr>
        <p:spPr>
          <a:xfrm>
            <a:off x="6811767" y="3443231"/>
            <a:ext cx="234360" cy="307777"/>
          </a:xfrm>
          <a:prstGeom prst="rect">
            <a:avLst/>
          </a:prstGeom>
          <a:noFill/>
        </p:spPr>
        <p:txBody>
          <a:bodyPr wrap="none" rtlCol="0">
            <a:spAutoFit/>
          </a:bodyPr>
          <a:lstStyle/>
          <a:p>
            <a:r>
              <a:rPr lang="en-US" altLang="zh-CN" sz="1400" dirty="0"/>
              <a:t>/</a:t>
            </a:r>
            <a:endParaRPr lang="en-CN" sz="1400" dirty="0"/>
          </a:p>
        </p:txBody>
      </p:sp>
      <p:cxnSp>
        <p:nvCxnSpPr>
          <p:cNvPr id="59" name="Elbow Connector 58">
            <a:extLst>
              <a:ext uri="{FF2B5EF4-FFF2-40B4-BE49-F238E27FC236}">
                <a16:creationId xmlns:a16="http://schemas.microsoft.com/office/drawing/2014/main" id="{D0922F0C-0C9F-5049-96E5-E6077E8BADF4}"/>
              </a:ext>
            </a:extLst>
          </p:cNvPr>
          <p:cNvCxnSpPr>
            <a:cxnSpLocks/>
            <a:stCxn id="53" idx="2"/>
            <a:endCxn id="54" idx="2"/>
          </p:cNvCxnSpPr>
          <p:nvPr/>
        </p:nvCxnSpPr>
        <p:spPr>
          <a:xfrm rot="5400000">
            <a:off x="7511189" y="4228787"/>
            <a:ext cx="12700" cy="46459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a:extLst>
              <a:ext uri="{FF2B5EF4-FFF2-40B4-BE49-F238E27FC236}">
                <a16:creationId xmlns:a16="http://schemas.microsoft.com/office/drawing/2014/main" id="{9AEE73FA-7E7F-A54E-870A-6F1C664A3E7C}"/>
              </a:ext>
            </a:extLst>
          </p:cNvPr>
          <p:cNvCxnSpPr>
            <a:cxnSpLocks/>
            <a:stCxn id="53" idx="2"/>
            <a:endCxn id="48" idx="2"/>
          </p:cNvCxnSpPr>
          <p:nvPr/>
        </p:nvCxnSpPr>
        <p:spPr>
          <a:xfrm rot="5400000">
            <a:off x="7046013" y="3763611"/>
            <a:ext cx="12700" cy="1394951"/>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59B9EF02-626C-564B-AC78-73DA85F11D16}"/>
              </a:ext>
            </a:extLst>
          </p:cNvPr>
          <p:cNvCxnSpPr>
            <a:cxnSpLocks/>
            <a:stCxn id="53" idx="2"/>
            <a:endCxn id="29" idx="2"/>
          </p:cNvCxnSpPr>
          <p:nvPr/>
        </p:nvCxnSpPr>
        <p:spPr>
          <a:xfrm rot="5400000" flipH="1">
            <a:off x="5883230" y="2600828"/>
            <a:ext cx="604" cy="3719912"/>
          </a:xfrm>
          <a:prstGeom prst="bentConnector3">
            <a:avLst>
              <a:gd name="adj1" fmla="val -5725678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a:extLst>
              <a:ext uri="{FF2B5EF4-FFF2-40B4-BE49-F238E27FC236}">
                <a16:creationId xmlns:a16="http://schemas.microsoft.com/office/drawing/2014/main" id="{521F4BCB-0C2A-B342-892E-72984ACD9890}"/>
              </a:ext>
            </a:extLst>
          </p:cNvPr>
          <p:cNvCxnSpPr>
            <a:cxnSpLocks/>
            <a:stCxn id="53" idx="2"/>
            <a:endCxn id="25" idx="2"/>
          </p:cNvCxnSpPr>
          <p:nvPr/>
        </p:nvCxnSpPr>
        <p:spPr>
          <a:xfrm rot="5400000" flipH="1">
            <a:off x="4956224" y="1673822"/>
            <a:ext cx="604" cy="5573924"/>
          </a:xfrm>
          <a:prstGeom prst="bentConnector3">
            <a:avLst>
              <a:gd name="adj1" fmla="val -5767251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Elbow Connector 68">
            <a:extLst>
              <a:ext uri="{FF2B5EF4-FFF2-40B4-BE49-F238E27FC236}">
                <a16:creationId xmlns:a16="http://schemas.microsoft.com/office/drawing/2014/main" id="{85C7AE15-5DE5-7343-A68C-196B2C856048}"/>
              </a:ext>
            </a:extLst>
          </p:cNvPr>
          <p:cNvCxnSpPr>
            <a:cxnSpLocks/>
            <a:stCxn id="53" idx="2"/>
            <a:endCxn id="22" idx="2"/>
          </p:cNvCxnSpPr>
          <p:nvPr/>
        </p:nvCxnSpPr>
        <p:spPr>
          <a:xfrm rot="5400000" flipH="1">
            <a:off x="4490756" y="1208354"/>
            <a:ext cx="604" cy="6504861"/>
          </a:xfrm>
          <a:prstGeom prst="bentConnector3">
            <a:avLst>
              <a:gd name="adj1" fmla="val -5767268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23979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804F-C4F8-344E-999D-C43AF010BB11}"/>
              </a:ext>
            </a:extLst>
          </p:cNvPr>
          <p:cNvSpPr>
            <a:spLocks noGrp="1"/>
          </p:cNvSpPr>
          <p:nvPr>
            <p:ph type="title"/>
          </p:nvPr>
        </p:nvSpPr>
        <p:spPr/>
        <p:txBody>
          <a:bodyPr/>
          <a:lstStyle/>
          <a:p>
            <a:r>
              <a:rPr lang="zh-CN" altLang="en-CN" dirty="0"/>
              <a:t>空间</a:t>
            </a:r>
            <a:r>
              <a:rPr lang="zh-CN" altLang="en-US" dirty="0"/>
              <a:t>回收利用</a:t>
            </a:r>
            <a:endParaRPr lang="en-CN" dirty="0"/>
          </a:p>
        </p:txBody>
      </p:sp>
      <p:sp>
        <p:nvSpPr>
          <p:cNvPr id="3" name="Content Placeholder 2">
            <a:extLst>
              <a:ext uri="{FF2B5EF4-FFF2-40B4-BE49-F238E27FC236}">
                <a16:creationId xmlns:a16="http://schemas.microsoft.com/office/drawing/2014/main" id="{9BDB2836-B807-9147-93C9-12F3BC381099}"/>
              </a:ext>
            </a:extLst>
          </p:cNvPr>
          <p:cNvSpPr>
            <a:spLocks noGrp="1"/>
          </p:cNvSpPr>
          <p:nvPr>
            <p:ph idx="1"/>
          </p:nvPr>
        </p:nvSpPr>
        <p:spPr/>
        <p:txBody>
          <a:bodyPr>
            <a:normAutofit/>
          </a:bodyPr>
          <a:lstStyle/>
          <a:p>
            <a:r>
              <a:rPr lang="zh-CN" altLang="en-CN" sz="2000" b="0" dirty="0"/>
              <a:t>存储</a:t>
            </a:r>
            <a:r>
              <a:rPr lang="zh-CN" altLang="en-US" sz="2000" b="0" dirty="0"/>
              <a:t>设备最开始是一个连续的空闲空间</a:t>
            </a:r>
            <a:endParaRPr lang="en-US" altLang="zh-CN" sz="2000" b="0" dirty="0"/>
          </a:p>
          <a:p>
            <a:r>
              <a:rPr lang="zh-CN" altLang="en-US" sz="2000" b="0" dirty="0"/>
              <a:t>随文件系统的使用，日志写入位置会接近存储设备末端</a:t>
            </a:r>
            <a:endParaRPr lang="en-US" altLang="zh-CN" sz="2000" b="0" dirty="0"/>
          </a:p>
          <a:p>
            <a:r>
              <a:rPr lang="zh-CN" altLang="en-US" sz="2000" b="0" dirty="0"/>
              <a:t>需重新利用前面的设备空间</a:t>
            </a:r>
            <a:endParaRPr lang="en-US" altLang="zh-CN" sz="2000" b="0" dirty="0"/>
          </a:p>
          <a:p>
            <a:pPr lvl="1"/>
            <a:r>
              <a:rPr lang="zh-CN" altLang="en-US" sz="1600" dirty="0"/>
              <a:t>文件系统数据被修改后，此前的块被无效化</a:t>
            </a:r>
            <a:endParaRPr lang="en-US" altLang="zh-CN" sz="1600" dirty="0"/>
          </a:p>
          <a:p>
            <a:pPr lvl="1"/>
            <a:r>
              <a:rPr lang="zh-CN" altLang="en-US" sz="1600" dirty="0"/>
              <a:t>如何组织前面无效空间，以重新利用它们？</a:t>
            </a:r>
            <a:endParaRPr lang="en-US" altLang="zh-CN" sz="1600" b="0" dirty="0"/>
          </a:p>
          <a:p>
            <a:pPr lvl="1"/>
            <a:endParaRPr lang="en-CN" altLang="zh-CN" sz="1600" b="0" dirty="0"/>
          </a:p>
        </p:txBody>
      </p:sp>
      <p:sp>
        <p:nvSpPr>
          <p:cNvPr id="4" name="Slide Number Placeholder 3">
            <a:extLst>
              <a:ext uri="{FF2B5EF4-FFF2-40B4-BE49-F238E27FC236}">
                <a16:creationId xmlns:a16="http://schemas.microsoft.com/office/drawing/2014/main" id="{EE49CC71-AE1E-F448-B6C5-6B7ECB892ADD}"/>
              </a:ext>
            </a:extLst>
          </p:cNvPr>
          <p:cNvSpPr>
            <a:spLocks noGrp="1"/>
          </p:cNvSpPr>
          <p:nvPr>
            <p:ph type="sldNum" sz="quarter" idx="12"/>
          </p:nvPr>
        </p:nvSpPr>
        <p:spPr/>
        <p:txBody>
          <a:bodyPr/>
          <a:lstStyle/>
          <a:p>
            <a:fld id="{ADE361C3-C043-4A6E-BDCE-8DA1E7D90A3B}" type="slidenum">
              <a:rPr lang="zh-CN" altLang="en-US" smtClean="0"/>
              <a:t>59</a:t>
            </a:fld>
            <a:endParaRPr lang="zh-CN" altLang="en-US"/>
          </a:p>
        </p:txBody>
      </p:sp>
      <p:sp>
        <p:nvSpPr>
          <p:cNvPr id="5" name="Footer Placeholder 4">
            <a:extLst>
              <a:ext uri="{FF2B5EF4-FFF2-40B4-BE49-F238E27FC236}">
                <a16:creationId xmlns:a16="http://schemas.microsoft.com/office/drawing/2014/main" id="{3447F7E2-5EFE-7744-832F-189C593AEF1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927959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9C51C-D2FE-5747-9C66-24780801AB59}"/>
              </a:ext>
            </a:extLst>
          </p:cNvPr>
          <p:cNvSpPr>
            <a:spLocks noGrp="1"/>
          </p:cNvSpPr>
          <p:nvPr>
            <p:ph type="title"/>
          </p:nvPr>
        </p:nvSpPr>
        <p:spPr/>
        <p:txBody>
          <a:bodyPr/>
          <a:lstStyle/>
          <a:p>
            <a:r>
              <a:rPr lang="zh-CN" altLang="en-CN" dirty="0"/>
              <a:t>空间</a:t>
            </a:r>
            <a:r>
              <a:rPr lang="zh-CN" altLang="en-US" dirty="0"/>
              <a:t>回收管理方法</a:t>
            </a:r>
            <a:endParaRPr lang="en-CN" dirty="0"/>
          </a:p>
        </p:txBody>
      </p:sp>
      <p:sp>
        <p:nvSpPr>
          <p:cNvPr id="3" name="Content Placeholder 2">
            <a:extLst>
              <a:ext uri="{FF2B5EF4-FFF2-40B4-BE49-F238E27FC236}">
                <a16:creationId xmlns:a16="http://schemas.microsoft.com/office/drawing/2014/main" id="{DA87D6DD-F0E5-C946-9F8A-1F741C01B594}"/>
              </a:ext>
            </a:extLst>
          </p:cNvPr>
          <p:cNvSpPr>
            <a:spLocks noGrp="1"/>
          </p:cNvSpPr>
          <p:nvPr>
            <p:ph idx="1"/>
          </p:nvPr>
        </p:nvSpPr>
        <p:spPr/>
        <p:txBody>
          <a:bodyPr>
            <a:normAutofit/>
          </a:bodyPr>
          <a:lstStyle/>
          <a:p>
            <a:r>
              <a:rPr lang="zh-CN" altLang="en-US" sz="2000" b="0" dirty="0"/>
              <a:t>串联：将所有空闲空间用链表串起来</a:t>
            </a:r>
            <a:endParaRPr lang="en-US" altLang="zh-CN" sz="2000" b="0" dirty="0"/>
          </a:p>
          <a:p>
            <a:pPr lvl="1"/>
            <a:r>
              <a:rPr lang="zh-CN" altLang="en-US" sz="1800" dirty="0"/>
              <a:t>磁盘空间会越来越碎，影响到</a:t>
            </a:r>
            <a:r>
              <a:rPr lang="en-US" altLang="zh-CN" sz="1800" dirty="0"/>
              <a:t>LFS</a:t>
            </a:r>
            <a:r>
              <a:rPr lang="zh-CN" altLang="en-US" sz="1800" dirty="0"/>
              <a:t>的大块顺序写的性能</a:t>
            </a:r>
            <a:endParaRPr lang="en-US" altLang="zh-CN" sz="1800" dirty="0"/>
          </a:p>
          <a:p>
            <a:pPr marL="0" indent="0">
              <a:buNone/>
            </a:pPr>
            <a:endParaRPr lang="en-US" altLang="zh-CN" sz="2000" b="0" dirty="0"/>
          </a:p>
          <a:p>
            <a:r>
              <a:rPr lang="zh-CN" altLang="en-US" sz="2000" b="0" dirty="0"/>
              <a:t>拷贝：将所有的有效空间整理拷贝到新的存储设备</a:t>
            </a:r>
            <a:endParaRPr lang="en-US" altLang="zh-CN" sz="2000" b="0" dirty="0"/>
          </a:p>
          <a:p>
            <a:pPr lvl="1"/>
            <a:r>
              <a:rPr lang="zh-CN" altLang="en-US" sz="1800" dirty="0"/>
              <a:t>数据需要拷贝</a:t>
            </a:r>
            <a:endParaRPr lang="en-US" altLang="zh-CN" sz="1800" dirty="0"/>
          </a:p>
        </p:txBody>
      </p:sp>
      <p:sp>
        <p:nvSpPr>
          <p:cNvPr id="4" name="Slide Number Placeholder 3">
            <a:extLst>
              <a:ext uri="{FF2B5EF4-FFF2-40B4-BE49-F238E27FC236}">
                <a16:creationId xmlns:a16="http://schemas.microsoft.com/office/drawing/2014/main" id="{6DE92746-4D0A-6C41-AFE6-0D304AD73C69}"/>
              </a:ext>
            </a:extLst>
          </p:cNvPr>
          <p:cNvSpPr>
            <a:spLocks noGrp="1"/>
          </p:cNvSpPr>
          <p:nvPr>
            <p:ph type="sldNum" sz="quarter" idx="12"/>
          </p:nvPr>
        </p:nvSpPr>
        <p:spPr/>
        <p:txBody>
          <a:bodyPr/>
          <a:lstStyle/>
          <a:p>
            <a:fld id="{ADE361C3-C043-4A6E-BDCE-8DA1E7D90A3B}" type="slidenum">
              <a:rPr lang="zh-CN" altLang="en-US" smtClean="0"/>
              <a:t>60</a:t>
            </a:fld>
            <a:endParaRPr lang="zh-CN" altLang="en-US"/>
          </a:p>
        </p:txBody>
      </p:sp>
      <p:sp>
        <p:nvSpPr>
          <p:cNvPr id="5" name="Footer Placeholder 4">
            <a:extLst>
              <a:ext uri="{FF2B5EF4-FFF2-40B4-BE49-F238E27FC236}">
                <a16:creationId xmlns:a16="http://schemas.microsoft.com/office/drawing/2014/main" id="{C5146071-679B-D14F-A004-CE0024CCF16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15" name="Group 14">
            <a:extLst>
              <a:ext uri="{FF2B5EF4-FFF2-40B4-BE49-F238E27FC236}">
                <a16:creationId xmlns:a16="http://schemas.microsoft.com/office/drawing/2014/main" id="{896DF6BA-8B58-774D-98FB-8F0E0647C737}"/>
              </a:ext>
            </a:extLst>
          </p:cNvPr>
          <p:cNvGrpSpPr/>
          <p:nvPr/>
        </p:nvGrpSpPr>
        <p:grpSpPr>
          <a:xfrm>
            <a:off x="2465099" y="2425452"/>
            <a:ext cx="4917557" cy="317649"/>
            <a:chOff x="539750" y="3941557"/>
            <a:chExt cx="8064698" cy="520939"/>
          </a:xfrm>
        </p:grpSpPr>
        <p:cxnSp>
          <p:nvCxnSpPr>
            <p:cNvPr id="16" name="Straight Connector 15">
              <a:extLst>
                <a:ext uri="{FF2B5EF4-FFF2-40B4-BE49-F238E27FC236}">
                  <a16:creationId xmlns:a16="http://schemas.microsoft.com/office/drawing/2014/main" id="{5AF3B300-11E5-C149-A58C-C5C186ECFBD2}"/>
                </a:ext>
              </a:extLst>
            </p:cNvPr>
            <p:cNvCxnSpPr>
              <a:cxnSpLocks/>
            </p:cNvCxnSpPr>
            <p:nvPr/>
          </p:nvCxnSpPr>
          <p:spPr>
            <a:xfrm>
              <a:off x="539750" y="3941557"/>
              <a:ext cx="80646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17F7924-3326-A64E-8DE0-65F8A6B59BE4}"/>
                </a:ext>
              </a:extLst>
            </p:cNvPr>
            <p:cNvCxnSpPr>
              <a:cxnSpLocks/>
            </p:cNvCxnSpPr>
            <p:nvPr/>
          </p:nvCxnSpPr>
          <p:spPr>
            <a:xfrm>
              <a:off x="539750" y="4462496"/>
              <a:ext cx="8064698"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2810AD8-DBFF-9B4A-A14A-3546C0546B01}"/>
                </a:ext>
              </a:extLst>
            </p:cNvPr>
            <p:cNvSpPr/>
            <p:nvPr/>
          </p:nvSpPr>
          <p:spPr>
            <a:xfrm>
              <a:off x="539750" y="3956612"/>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9" name="Rectangle 18">
              <a:extLst>
                <a:ext uri="{FF2B5EF4-FFF2-40B4-BE49-F238E27FC236}">
                  <a16:creationId xmlns:a16="http://schemas.microsoft.com/office/drawing/2014/main" id="{F8FE974B-254E-884F-947D-7EC8715DE10B}"/>
                </a:ext>
              </a:extLst>
            </p:cNvPr>
            <p:cNvSpPr/>
            <p:nvPr/>
          </p:nvSpPr>
          <p:spPr>
            <a:xfrm>
              <a:off x="1005668" y="3956612"/>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0" name="Rectangle 19">
              <a:extLst>
                <a:ext uri="{FF2B5EF4-FFF2-40B4-BE49-F238E27FC236}">
                  <a16:creationId xmlns:a16="http://schemas.microsoft.com/office/drawing/2014/main" id="{EA766BF1-D72C-5348-85E8-E96189E3F2BC}"/>
                </a:ext>
              </a:extLst>
            </p:cNvPr>
            <p:cNvSpPr/>
            <p:nvPr/>
          </p:nvSpPr>
          <p:spPr>
            <a:xfrm>
              <a:off x="1469171" y="3956612"/>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700" dirty="0"/>
            </a:p>
          </p:txBody>
        </p:sp>
        <p:sp>
          <p:nvSpPr>
            <p:cNvPr id="21" name="Rectangle 20">
              <a:extLst>
                <a:ext uri="{FF2B5EF4-FFF2-40B4-BE49-F238E27FC236}">
                  <a16:creationId xmlns:a16="http://schemas.microsoft.com/office/drawing/2014/main" id="{55530C40-4FA3-AB43-AC9C-689F36A6563E}"/>
                </a:ext>
              </a:extLst>
            </p:cNvPr>
            <p:cNvSpPr/>
            <p:nvPr/>
          </p:nvSpPr>
          <p:spPr>
            <a:xfrm>
              <a:off x="1936605" y="3956612"/>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2" name="Rectangle 21">
              <a:extLst>
                <a:ext uri="{FF2B5EF4-FFF2-40B4-BE49-F238E27FC236}">
                  <a16:creationId xmlns:a16="http://schemas.microsoft.com/office/drawing/2014/main" id="{00553001-0DB3-8640-9A9D-A167B6E84086}"/>
                </a:ext>
              </a:extLst>
            </p:cNvPr>
            <p:cNvSpPr/>
            <p:nvPr/>
          </p:nvSpPr>
          <p:spPr>
            <a:xfrm>
              <a:off x="2400108" y="3956612"/>
              <a:ext cx="465918" cy="504676"/>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3" name="Rectangle 22">
              <a:extLst>
                <a:ext uri="{FF2B5EF4-FFF2-40B4-BE49-F238E27FC236}">
                  <a16:creationId xmlns:a16="http://schemas.microsoft.com/office/drawing/2014/main" id="{0E9872E1-9B71-B446-BE52-4CCB4B5A9ED5}"/>
                </a:ext>
              </a:extLst>
            </p:cNvPr>
            <p:cNvSpPr/>
            <p:nvPr/>
          </p:nvSpPr>
          <p:spPr>
            <a:xfrm>
              <a:off x="2863611" y="3956612"/>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4" name="Rectangle 23">
              <a:extLst>
                <a:ext uri="{FF2B5EF4-FFF2-40B4-BE49-F238E27FC236}">
                  <a16:creationId xmlns:a16="http://schemas.microsoft.com/office/drawing/2014/main" id="{6794B126-24E6-BE4A-BE4F-3AEE46F79824}"/>
                </a:ext>
              </a:extLst>
            </p:cNvPr>
            <p:cNvSpPr/>
            <p:nvPr/>
          </p:nvSpPr>
          <p:spPr>
            <a:xfrm>
              <a:off x="3327114" y="3956612"/>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5" name="Rectangle 24">
              <a:extLst>
                <a:ext uri="{FF2B5EF4-FFF2-40B4-BE49-F238E27FC236}">
                  <a16:creationId xmlns:a16="http://schemas.microsoft.com/office/drawing/2014/main" id="{F7DFC77E-0727-A443-9FB0-DEC407D70A01}"/>
                </a:ext>
              </a:extLst>
            </p:cNvPr>
            <p:cNvSpPr/>
            <p:nvPr/>
          </p:nvSpPr>
          <p:spPr>
            <a:xfrm>
              <a:off x="3790617" y="3956612"/>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6" name="Rectangle 25">
              <a:extLst>
                <a:ext uri="{FF2B5EF4-FFF2-40B4-BE49-F238E27FC236}">
                  <a16:creationId xmlns:a16="http://schemas.microsoft.com/office/drawing/2014/main" id="{85DD96F8-71E5-1949-9D02-78D64E62ABCF}"/>
                </a:ext>
              </a:extLst>
            </p:cNvPr>
            <p:cNvSpPr/>
            <p:nvPr/>
          </p:nvSpPr>
          <p:spPr>
            <a:xfrm>
              <a:off x="5182222" y="3956612"/>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7" name="Rectangle 26">
              <a:extLst>
                <a:ext uri="{FF2B5EF4-FFF2-40B4-BE49-F238E27FC236}">
                  <a16:creationId xmlns:a16="http://schemas.microsoft.com/office/drawing/2014/main" id="{AC95A182-179C-824C-BA82-46747B579129}"/>
                </a:ext>
              </a:extLst>
            </p:cNvPr>
            <p:cNvSpPr/>
            <p:nvPr/>
          </p:nvSpPr>
          <p:spPr>
            <a:xfrm>
              <a:off x="4254120" y="3956612"/>
              <a:ext cx="465918" cy="504676"/>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8" name="Rectangle 27">
              <a:extLst>
                <a:ext uri="{FF2B5EF4-FFF2-40B4-BE49-F238E27FC236}">
                  <a16:creationId xmlns:a16="http://schemas.microsoft.com/office/drawing/2014/main" id="{A6E832DD-F080-964B-82F0-D67CA46E1752}"/>
                </a:ext>
              </a:extLst>
            </p:cNvPr>
            <p:cNvSpPr/>
            <p:nvPr/>
          </p:nvSpPr>
          <p:spPr>
            <a:xfrm>
              <a:off x="4717623" y="3956612"/>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9" name="Rectangle 28">
              <a:extLst>
                <a:ext uri="{FF2B5EF4-FFF2-40B4-BE49-F238E27FC236}">
                  <a16:creationId xmlns:a16="http://schemas.microsoft.com/office/drawing/2014/main" id="{D47722DF-559C-6149-92F0-A5D6A67EC352}"/>
                </a:ext>
              </a:extLst>
            </p:cNvPr>
            <p:cNvSpPr/>
            <p:nvPr/>
          </p:nvSpPr>
          <p:spPr>
            <a:xfrm>
              <a:off x="5649773" y="3957216"/>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0" name="Rectangle 29">
              <a:extLst>
                <a:ext uri="{FF2B5EF4-FFF2-40B4-BE49-F238E27FC236}">
                  <a16:creationId xmlns:a16="http://schemas.microsoft.com/office/drawing/2014/main" id="{2A75189E-B435-C946-AA06-7FCF874DDEE6}"/>
                </a:ext>
              </a:extLst>
            </p:cNvPr>
            <p:cNvSpPr/>
            <p:nvPr/>
          </p:nvSpPr>
          <p:spPr>
            <a:xfrm>
              <a:off x="6115578" y="3957216"/>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31" name="Rectangle 30">
              <a:extLst>
                <a:ext uri="{FF2B5EF4-FFF2-40B4-BE49-F238E27FC236}">
                  <a16:creationId xmlns:a16="http://schemas.microsoft.com/office/drawing/2014/main" id="{2AFFB31D-36DE-4F43-9F6A-C9CCF685C43E}"/>
                </a:ext>
              </a:extLst>
            </p:cNvPr>
            <p:cNvSpPr/>
            <p:nvPr/>
          </p:nvSpPr>
          <p:spPr>
            <a:xfrm>
              <a:off x="6581810" y="3957216"/>
              <a:ext cx="465918" cy="504676"/>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32" name="Rectangle 31">
              <a:extLst>
                <a:ext uri="{FF2B5EF4-FFF2-40B4-BE49-F238E27FC236}">
                  <a16:creationId xmlns:a16="http://schemas.microsoft.com/office/drawing/2014/main" id="{B9DA68A8-7EA5-7440-85DD-5CBDEEEC1FFF}"/>
                </a:ext>
              </a:extLst>
            </p:cNvPr>
            <p:cNvSpPr/>
            <p:nvPr/>
          </p:nvSpPr>
          <p:spPr>
            <a:xfrm>
              <a:off x="7510529" y="3957216"/>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33" name="Rectangle 32">
              <a:extLst>
                <a:ext uri="{FF2B5EF4-FFF2-40B4-BE49-F238E27FC236}">
                  <a16:creationId xmlns:a16="http://schemas.microsoft.com/office/drawing/2014/main" id="{EF3EBA70-4197-D943-9651-F426B0F6614F}"/>
                </a:ext>
              </a:extLst>
            </p:cNvPr>
            <p:cNvSpPr/>
            <p:nvPr/>
          </p:nvSpPr>
          <p:spPr>
            <a:xfrm>
              <a:off x="7045930" y="3957216"/>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cxnSp>
          <p:nvCxnSpPr>
            <p:cNvPr id="34" name="Curved Connector 33">
              <a:extLst>
                <a:ext uri="{FF2B5EF4-FFF2-40B4-BE49-F238E27FC236}">
                  <a16:creationId xmlns:a16="http://schemas.microsoft.com/office/drawing/2014/main" id="{67C6DACB-9341-9C4B-9E7B-0EF0A12A9360}"/>
                </a:ext>
              </a:extLst>
            </p:cNvPr>
            <p:cNvCxnSpPr>
              <a:stCxn id="22" idx="0"/>
              <a:endCxn id="27" idx="0"/>
            </p:cNvCxnSpPr>
            <p:nvPr/>
          </p:nvCxnSpPr>
          <p:spPr>
            <a:xfrm rot="5400000" flipH="1" flipV="1">
              <a:off x="3560073" y="3029606"/>
              <a:ext cx="12700" cy="1854012"/>
            </a:xfrm>
            <a:prstGeom prst="curvedConnector3">
              <a:avLst>
                <a:gd name="adj1" fmla="val 180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urved Connector 34">
              <a:extLst>
                <a:ext uri="{FF2B5EF4-FFF2-40B4-BE49-F238E27FC236}">
                  <a16:creationId xmlns:a16="http://schemas.microsoft.com/office/drawing/2014/main" id="{91CBBE68-FBA6-7F4C-8CE2-672AFA384EE9}"/>
                </a:ext>
              </a:extLst>
            </p:cNvPr>
            <p:cNvCxnSpPr>
              <a:cxnSpLocks/>
              <a:stCxn id="26" idx="0"/>
              <a:endCxn id="30" idx="0"/>
            </p:cNvCxnSpPr>
            <p:nvPr/>
          </p:nvCxnSpPr>
          <p:spPr>
            <a:xfrm rot="16200000" flipH="1">
              <a:off x="5881557" y="3490236"/>
              <a:ext cx="604" cy="933356"/>
            </a:xfrm>
            <a:prstGeom prst="curvedConnector3">
              <a:avLst>
                <a:gd name="adj1" fmla="val -37847682"/>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1523BB3B-79E0-1B40-B388-B20E2EE14BFC}"/>
              </a:ext>
            </a:extLst>
          </p:cNvPr>
          <p:cNvGrpSpPr/>
          <p:nvPr/>
        </p:nvGrpSpPr>
        <p:grpSpPr>
          <a:xfrm>
            <a:off x="2462754" y="3793604"/>
            <a:ext cx="4917557" cy="1086335"/>
            <a:chOff x="2462754" y="3969751"/>
            <a:chExt cx="4917557" cy="1086335"/>
          </a:xfrm>
        </p:grpSpPr>
        <p:cxnSp>
          <p:nvCxnSpPr>
            <p:cNvPr id="39" name="Straight Connector 38">
              <a:extLst>
                <a:ext uri="{FF2B5EF4-FFF2-40B4-BE49-F238E27FC236}">
                  <a16:creationId xmlns:a16="http://schemas.microsoft.com/office/drawing/2014/main" id="{84A1AD6D-DA54-4D40-B2A2-61C58486554B}"/>
                </a:ext>
              </a:extLst>
            </p:cNvPr>
            <p:cNvCxnSpPr>
              <a:cxnSpLocks/>
            </p:cNvCxnSpPr>
            <p:nvPr/>
          </p:nvCxnSpPr>
          <p:spPr>
            <a:xfrm>
              <a:off x="2462754" y="3969751"/>
              <a:ext cx="49175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A7E6221-9341-0A45-8550-E276BE9EBFF9}"/>
                </a:ext>
              </a:extLst>
            </p:cNvPr>
            <p:cNvCxnSpPr>
              <a:cxnSpLocks/>
            </p:cNvCxnSpPr>
            <p:nvPr/>
          </p:nvCxnSpPr>
          <p:spPr>
            <a:xfrm>
              <a:off x="2462754" y="4287400"/>
              <a:ext cx="4917557"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14153314-1D46-8E42-8BF0-271EF40935BF}"/>
                </a:ext>
              </a:extLst>
            </p:cNvPr>
            <p:cNvSpPr/>
            <p:nvPr/>
          </p:nvSpPr>
          <p:spPr>
            <a:xfrm>
              <a:off x="2462754" y="3978931"/>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42" name="Rectangle 41">
              <a:extLst>
                <a:ext uri="{FF2B5EF4-FFF2-40B4-BE49-F238E27FC236}">
                  <a16:creationId xmlns:a16="http://schemas.microsoft.com/office/drawing/2014/main" id="{A3380D22-D091-9044-A6F8-61E8657EC8D8}"/>
                </a:ext>
              </a:extLst>
            </p:cNvPr>
            <p:cNvSpPr/>
            <p:nvPr/>
          </p:nvSpPr>
          <p:spPr>
            <a:xfrm>
              <a:off x="2746854" y="3978931"/>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43" name="Rectangle 42">
              <a:extLst>
                <a:ext uri="{FF2B5EF4-FFF2-40B4-BE49-F238E27FC236}">
                  <a16:creationId xmlns:a16="http://schemas.microsoft.com/office/drawing/2014/main" id="{D7E1F3A9-033D-4E42-AF66-50D92D678694}"/>
                </a:ext>
              </a:extLst>
            </p:cNvPr>
            <p:cNvSpPr/>
            <p:nvPr/>
          </p:nvSpPr>
          <p:spPr>
            <a:xfrm>
              <a:off x="3029481" y="3978931"/>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700" dirty="0"/>
            </a:p>
          </p:txBody>
        </p:sp>
        <p:sp>
          <p:nvSpPr>
            <p:cNvPr id="44" name="Rectangle 43">
              <a:extLst>
                <a:ext uri="{FF2B5EF4-FFF2-40B4-BE49-F238E27FC236}">
                  <a16:creationId xmlns:a16="http://schemas.microsoft.com/office/drawing/2014/main" id="{E758AA7C-7A45-FD47-B0FB-538B870406FD}"/>
                </a:ext>
              </a:extLst>
            </p:cNvPr>
            <p:cNvSpPr/>
            <p:nvPr/>
          </p:nvSpPr>
          <p:spPr>
            <a:xfrm>
              <a:off x="3314505" y="3978931"/>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45" name="Rectangle 44">
              <a:extLst>
                <a:ext uri="{FF2B5EF4-FFF2-40B4-BE49-F238E27FC236}">
                  <a16:creationId xmlns:a16="http://schemas.microsoft.com/office/drawing/2014/main" id="{BC94190E-522E-904C-9D66-5A9FEF088730}"/>
                </a:ext>
              </a:extLst>
            </p:cNvPr>
            <p:cNvSpPr/>
            <p:nvPr/>
          </p:nvSpPr>
          <p:spPr>
            <a:xfrm>
              <a:off x="3597132" y="3978931"/>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46" name="Rectangle 45">
              <a:extLst>
                <a:ext uri="{FF2B5EF4-FFF2-40B4-BE49-F238E27FC236}">
                  <a16:creationId xmlns:a16="http://schemas.microsoft.com/office/drawing/2014/main" id="{C16CF477-AE96-E847-A142-216FCC0F2CF5}"/>
                </a:ext>
              </a:extLst>
            </p:cNvPr>
            <p:cNvSpPr/>
            <p:nvPr/>
          </p:nvSpPr>
          <p:spPr>
            <a:xfrm>
              <a:off x="3879759" y="3978931"/>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47" name="Rectangle 46">
              <a:extLst>
                <a:ext uri="{FF2B5EF4-FFF2-40B4-BE49-F238E27FC236}">
                  <a16:creationId xmlns:a16="http://schemas.microsoft.com/office/drawing/2014/main" id="{6382D12E-A180-904D-9DF1-0A1DDB3B2B4A}"/>
                </a:ext>
              </a:extLst>
            </p:cNvPr>
            <p:cNvSpPr/>
            <p:nvPr/>
          </p:nvSpPr>
          <p:spPr>
            <a:xfrm>
              <a:off x="4162386" y="3978931"/>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48" name="Rectangle 47">
              <a:extLst>
                <a:ext uri="{FF2B5EF4-FFF2-40B4-BE49-F238E27FC236}">
                  <a16:creationId xmlns:a16="http://schemas.microsoft.com/office/drawing/2014/main" id="{0154B043-D307-D24A-87DD-94EE0BB35754}"/>
                </a:ext>
              </a:extLst>
            </p:cNvPr>
            <p:cNvSpPr/>
            <p:nvPr/>
          </p:nvSpPr>
          <p:spPr>
            <a:xfrm>
              <a:off x="4445013" y="3978931"/>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49" name="Rectangle 48">
              <a:extLst>
                <a:ext uri="{FF2B5EF4-FFF2-40B4-BE49-F238E27FC236}">
                  <a16:creationId xmlns:a16="http://schemas.microsoft.com/office/drawing/2014/main" id="{BA7D6CB2-0BD7-8546-AE42-5C4FBE72816E}"/>
                </a:ext>
              </a:extLst>
            </p:cNvPr>
            <p:cNvSpPr/>
            <p:nvPr/>
          </p:nvSpPr>
          <p:spPr>
            <a:xfrm>
              <a:off x="5293563" y="3978931"/>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0" name="Rectangle 49">
              <a:extLst>
                <a:ext uri="{FF2B5EF4-FFF2-40B4-BE49-F238E27FC236}">
                  <a16:creationId xmlns:a16="http://schemas.microsoft.com/office/drawing/2014/main" id="{391DCB0B-42EE-1741-8CA2-0FE5075EDCFD}"/>
                </a:ext>
              </a:extLst>
            </p:cNvPr>
            <p:cNvSpPr/>
            <p:nvPr/>
          </p:nvSpPr>
          <p:spPr>
            <a:xfrm>
              <a:off x="4727641" y="3978931"/>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51" name="Rectangle 50">
              <a:extLst>
                <a:ext uri="{FF2B5EF4-FFF2-40B4-BE49-F238E27FC236}">
                  <a16:creationId xmlns:a16="http://schemas.microsoft.com/office/drawing/2014/main" id="{8BDB2270-FA6E-5542-A14C-C026FD72991A}"/>
                </a:ext>
              </a:extLst>
            </p:cNvPr>
            <p:cNvSpPr/>
            <p:nvPr/>
          </p:nvSpPr>
          <p:spPr>
            <a:xfrm>
              <a:off x="5010268" y="3978931"/>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2" name="Rectangle 51">
              <a:extLst>
                <a:ext uri="{FF2B5EF4-FFF2-40B4-BE49-F238E27FC236}">
                  <a16:creationId xmlns:a16="http://schemas.microsoft.com/office/drawing/2014/main" id="{C8E3E804-4088-BB41-B3F9-C4BF349A61A6}"/>
                </a:ext>
              </a:extLst>
            </p:cNvPr>
            <p:cNvSpPr/>
            <p:nvPr/>
          </p:nvSpPr>
          <p:spPr>
            <a:xfrm>
              <a:off x="5578659" y="3979299"/>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3" name="Rectangle 52">
              <a:extLst>
                <a:ext uri="{FF2B5EF4-FFF2-40B4-BE49-F238E27FC236}">
                  <a16:creationId xmlns:a16="http://schemas.microsoft.com/office/drawing/2014/main" id="{1C4B3AEB-9B96-A54B-82A8-1AB9C3605B22}"/>
                </a:ext>
              </a:extLst>
            </p:cNvPr>
            <p:cNvSpPr/>
            <p:nvPr/>
          </p:nvSpPr>
          <p:spPr>
            <a:xfrm>
              <a:off x="5862689" y="3979299"/>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4" name="Rectangle 53">
              <a:extLst>
                <a:ext uri="{FF2B5EF4-FFF2-40B4-BE49-F238E27FC236}">
                  <a16:creationId xmlns:a16="http://schemas.microsoft.com/office/drawing/2014/main" id="{C0055054-BF1D-3A4D-B506-716F5B25160B}"/>
                </a:ext>
              </a:extLst>
            </p:cNvPr>
            <p:cNvSpPr/>
            <p:nvPr/>
          </p:nvSpPr>
          <p:spPr>
            <a:xfrm>
              <a:off x="6146981" y="3979299"/>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55" name="Rectangle 54">
              <a:extLst>
                <a:ext uri="{FF2B5EF4-FFF2-40B4-BE49-F238E27FC236}">
                  <a16:creationId xmlns:a16="http://schemas.microsoft.com/office/drawing/2014/main" id="{E86408C1-4219-A94A-B0BD-E8C9A8DE6F7D}"/>
                </a:ext>
              </a:extLst>
            </p:cNvPr>
            <p:cNvSpPr/>
            <p:nvPr/>
          </p:nvSpPr>
          <p:spPr>
            <a:xfrm>
              <a:off x="6713279" y="3979299"/>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6" name="Rectangle 55">
              <a:extLst>
                <a:ext uri="{FF2B5EF4-FFF2-40B4-BE49-F238E27FC236}">
                  <a16:creationId xmlns:a16="http://schemas.microsoft.com/office/drawing/2014/main" id="{828991D9-DCE6-4A46-AF73-F67C33D53C0E}"/>
                </a:ext>
              </a:extLst>
            </p:cNvPr>
            <p:cNvSpPr/>
            <p:nvPr/>
          </p:nvSpPr>
          <p:spPr>
            <a:xfrm>
              <a:off x="6429984" y="3979299"/>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cxnSp>
          <p:nvCxnSpPr>
            <p:cNvPr id="57" name="Straight Connector 56">
              <a:extLst>
                <a:ext uri="{FF2B5EF4-FFF2-40B4-BE49-F238E27FC236}">
                  <a16:creationId xmlns:a16="http://schemas.microsoft.com/office/drawing/2014/main" id="{DDDF2FB8-1157-CC41-BCDF-E4523471BEAB}"/>
                </a:ext>
              </a:extLst>
            </p:cNvPr>
            <p:cNvCxnSpPr>
              <a:cxnSpLocks/>
            </p:cNvCxnSpPr>
            <p:nvPr/>
          </p:nvCxnSpPr>
          <p:spPr>
            <a:xfrm>
              <a:off x="2462754" y="4738437"/>
              <a:ext cx="49175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5E6F4D4-D7AA-DF45-B0BE-035F4E8FB7D1}"/>
                </a:ext>
              </a:extLst>
            </p:cNvPr>
            <p:cNvCxnSpPr>
              <a:cxnSpLocks/>
            </p:cNvCxnSpPr>
            <p:nvPr/>
          </p:nvCxnSpPr>
          <p:spPr>
            <a:xfrm>
              <a:off x="2462754" y="5056086"/>
              <a:ext cx="4917557"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4475AA13-9D6C-F04A-B373-A7E15FB16D28}"/>
                </a:ext>
              </a:extLst>
            </p:cNvPr>
            <p:cNvSpPr/>
            <p:nvPr/>
          </p:nvSpPr>
          <p:spPr>
            <a:xfrm>
              <a:off x="2462754"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0" name="Rectangle 59">
              <a:extLst>
                <a:ext uri="{FF2B5EF4-FFF2-40B4-BE49-F238E27FC236}">
                  <a16:creationId xmlns:a16="http://schemas.microsoft.com/office/drawing/2014/main" id="{9058BE0B-639A-7E43-8450-70C75DA67338}"/>
                </a:ext>
              </a:extLst>
            </p:cNvPr>
            <p:cNvSpPr/>
            <p:nvPr/>
          </p:nvSpPr>
          <p:spPr>
            <a:xfrm>
              <a:off x="2746854"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61" name="Rectangle 60">
              <a:extLst>
                <a:ext uri="{FF2B5EF4-FFF2-40B4-BE49-F238E27FC236}">
                  <a16:creationId xmlns:a16="http://schemas.microsoft.com/office/drawing/2014/main" id="{45AFE1CB-B923-BE4B-B97C-EE80138C2F6C}"/>
                </a:ext>
              </a:extLst>
            </p:cNvPr>
            <p:cNvSpPr/>
            <p:nvPr/>
          </p:nvSpPr>
          <p:spPr>
            <a:xfrm>
              <a:off x="3029481"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700" dirty="0"/>
            </a:p>
          </p:txBody>
        </p:sp>
        <p:sp>
          <p:nvSpPr>
            <p:cNvPr id="62" name="Rectangle 61">
              <a:extLst>
                <a:ext uri="{FF2B5EF4-FFF2-40B4-BE49-F238E27FC236}">
                  <a16:creationId xmlns:a16="http://schemas.microsoft.com/office/drawing/2014/main" id="{29A850A9-5E20-464B-9939-3BA1EA2D80CF}"/>
                </a:ext>
              </a:extLst>
            </p:cNvPr>
            <p:cNvSpPr/>
            <p:nvPr/>
          </p:nvSpPr>
          <p:spPr>
            <a:xfrm>
              <a:off x="3314505"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927818BE-F65B-6D47-A102-F51ED64075A2}"/>
                </a:ext>
              </a:extLst>
            </p:cNvPr>
            <p:cNvSpPr/>
            <p:nvPr/>
          </p:nvSpPr>
          <p:spPr>
            <a:xfrm>
              <a:off x="3597132"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4" name="Rectangle 63">
              <a:extLst>
                <a:ext uri="{FF2B5EF4-FFF2-40B4-BE49-F238E27FC236}">
                  <a16:creationId xmlns:a16="http://schemas.microsoft.com/office/drawing/2014/main" id="{AF7D4508-EE2B-234F-BAF2-E4F81C41F8EC}"/>
                </a:ext>
              </a:extLst>
            </p:cNvPr>
            <p:cNvSpPr/>
            <p:nvPr/>
          </p:nvSpPr>
          <p:spPr>
            <a:xfrm>
              <a:off x="3879759"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5" name="Rectangle 64">
              <a:extLst>
                <a:ext uri="{FF2B5EF4-FFF2-40B4-BE49-F238E27FC236}">
                  <a16:creationId xmlns:a16="http://schemas.microsoft.com/office/drawing/2014/main" id="{1E62C2B6-929C-D745-9DC0-E1408A9CDA1F}"/>
                </a:ext>
              </a:extLst>
            </p:cNvPr>
            <p:cNvSpPr/>
            <p:nvPr/>
          </p:nvSpPr>
          <p:spPr>
            <a:xfrm>
              <a:off x="4162386"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6" name="Rectangle 65">
              <a:extLst>
                <a:ext uri="{FF2B5EF4-FFF2-40B4-BE49-F238E27FC236}">
                  <a16:creationId xmlns:a16="http://schemas.microsoft.com/office/drawing/2014/main" id="{620D4A58-317A-4446-9AB3-93A8D3E22D53}"/>
                </a:ext>
              </a:extLst>
            </p:cNvPr>
            <p:cNvSpPr/>
            <p:nvPr/>
          </p:nvSpPr>
          <p:spPr>
            <a:xfrm>
              <a:off x="4445013"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866E7756-4C41-1148-AF68-B5ED47F02076}"/>
                </a:ext>
              </a:extLst>
            </p:cNvPr>
            <p:cNvSpPr/>
            <p:nvPr/>
          </p:nvSpPr>
          <p:spPr>
            <a:xfrm>
              <a:off x="5293563" y="4747617"/>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68" name="Rectangle 67">
              <a:extLst>
                <a:ext uri="{FF2B5EF4-FFF2-40B4-BE49-F238E27FC236}">
                  <a16:creationId xmlns:a16="http://schemas.microsoft.com/office/drawing/2014/main" id="{A4955D1B-3471-0E40-BF7A-418CEA12D8ED}"/>
                </a:ext>
              </a:extLst>
            </p:cNvPr>
            <p:cNvSpPr/>
            <p:nvPr/>
          </p:nvSpPr>
          <p:spPr>
            <a:xfrm>
              <a:off x="4727641"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9" name="Rectangle 68">
              <a:extLst>
                <a:ext uri="{FF2B5EF4-FFF2-40B4-BE49-F238E27FC236}">
                  <a16:creationId xmlns:a16="http://schemas.microsoft.com/office/drawing/2014/main" id="{2F127B62-F8B4-C842-B36C-99CAD3144FA6}"/>
                </a:ext>
              </a:extLst>
            </p:cNvPr>
            <p:cNvSpPr/>
            <p:nvPr/>
          </p:nvSpPr>
          <p:spPr>
            <a:xfrm>
              <a:off x="5010268" y="4747617"/>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0" name="Rectangle 69">
              <a:extLst>
                <a:ext uri="{FF2B5EF4-FFF2-40B4-BE49-F238E27FC236}">
                  <a16:creationId xmlns:a16="http://schemas.microsoft.com/office/drawing/2014/main" id="{0403DCA4-DF56-844D-9C29-49D0991819CF}"/>
                </a:ext>
              </a:extLst>
            </p:cNvPr>
            <p:cNvSpPr/>
            <p:nvPr/>
          </p:nvSpPr>
          <p:spPr>
            <a:xfrm>
              <a:off x="5578659" y="4747985"/>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1" name="Rectangle 70">
              <a:extLst>
                <a:ext uri="{FF2B5EF4-FFF2-40B4-BE49-F238E27FC236}">
                  <a16:creationId xmlns:a16="http://schemas.microsoft.com/office/drawing/2014/main" id="{DB6738FE-7170-4848-9F18-51593794FF9F}"/>
                </a:ext>
              </a:extLst>
            </p:cNvPr>
            <p:cNvSpPr/>
            <p:nvPr/>
          </p:nvSpPr>
          <p:spPr>
            <a:xfrm>
              <a:off x="5862689" y="474798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2" name="Rectangle 71">
              <a:extLst>
                <a:ext uri="{FF2B5EF4-FFF2-40B4-BE49-F238E27FC236}">
                  <a16:creationId xmlns:a16="http://schemas.microsoft.com/office/drawing/2014/main" id="{9A70391D-F305-984C-BB29-DBBD60942EF6}"/>
                </a:ext>
              </a:extLst>
            </p:cNvPr>
            <p:cNvSpPr/>
            <p:nvPr/>
          </p:nvSpPr>
          <p:spPr>
            <a:xfrm>
              <a:off x="6146981" y="4747985"/>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73" name="Rectangle 72">
              <a:extLst>
                <a:ext uri="{FF2B5EF4-FFF2-40B4-BE49-F238E27FC236}">
                  <a16:creationId xmlns:a16="http://schemas.microsoft.com/office/drawing/2014/main" id="{F16BD652-7531-9A42-A454-E5E1CF3FF0CF}"/>
                </a:ext>
              </a:extLst>
            </p:cNvPr>
            <p:cNvSpPr/>
            <p:nvPr/>
          </p:nvSpPr>
          <p:spPr>
            <a:xfrm>
              <a:off x="6713279" y="474798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4" name="Rectangle 73">
              <a:extLst>
                <a:ext uri="{FF2B5EF4-FFF2-40B4-BE49-F238E27FC236}">
                  <a16:creationId xmlns:a16="http://schemas.microsoft.com/office/drawing/2014/main" id="{EE98EE9D-6A9A-CD43-B659-F2E6A56EAF0E}"/>
                </a:ext>
              </a:extLst>
            </p:cNvPr>
            <p:cNvSpPr/>
            <p:nvPr/>
          </p:nvSpPr>
          <p:spPr>
            <a:xfrm>
              <a:off x="6429984" y="474798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cxnSp>
          <p:nvCxnSpPr>
            <p:cNvPr id="75" name="Straight Arrow Connector 74">
              <a:extLst>
                <a:ext uri="{FF2B5EF4-FFF2-40B4-BE49-F238E27FC236}">
                  <a16:creationId xmlns:a16="http://schemas.microsoft.com/office/drawing/2014/main" id="{27B27DE8-3C05-EE41-8BE6-188CF33D6769}"/>
                </a:ext>
              </a:extLst>
            </p:cNvPr>
            <p:cNvCxnSpPr>
              <a:stCxn id="46" idx="2"/>
              <a:endCxn id="62" idx="0"/>
            </p:cNvCxnSpPr>
            <p:nvPr/>
          </p:nvCxnSpPr>
          <p:spPr>
            <a:xfrm flipH="1">
              <a:off x="3456555" y="4286172"/>
              <a:ext cx="565254" cy="46144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8548BA03-B249-6547-A4EA-7F381D3B1871}"/>
                </a:ext>
              </a:extLst>
            </p:cNvPr>
            <p:cNvCxnSpPr>
              <a:cxnSpLocks/>
              <a:stCxn id="47" idx="2"/>
              <a:endCxn id="63" idx="0"/>
            </p:cNvCxnSpPr>
            <p:nvPr/>
          </p:nvCxnSpPr>
          <p:spPr>
            <a:xfrm flipH="1">
              <a:off x="3739182" y="4286663"/>
              <a:ext cx="565254" cy="4609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B5C06A67-A774-F84A-8C78-2C0081E1ECF2}"/>
                </a:ext>
              </a:extLst>
            </p:cNvPr>
            <p:cNvCxnSpPr>
              <a:cxnSpLocks/>
              <a:stCxn id="48" idx="2"/>
              <a:endCxn id="64" idx="0"/>
            </p:cNvCxnSpPr>
            <p:nvPr/>
          </p:nvCxnSpPr>
          <p:spPr>
            <a:xfrm flipH="1">
              <a:off x="4021809" y="4286172"/>
              <a:ext cx="565254" cy="46144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6FFAE45-83AD-984D-997B-18345F73137D}"/>
                </a:ext>
              </a:extLst>
            </p:cNvPr>
            <p:cNvCxnSpPr>
              <a:cxnSpLocks/>
              <a:stCxn id="52" idx="2"/>
              <a:endCxn id="65" idx="0"/>
            </p:cNvCxnSpPr>
            <p:nvPr/>
          </p:nvCxnSpPr>
          <p:spPr>
            <a:xfrm flipH="1">
              <a:off x="4304436" y="4287031"/>
              <a:ext cx="1416273" cy="46058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ED7FC2B2-C403-084F-A08B-F53C5B216D60}"/>
                </a:ext>
              </a:extLst>
            </p:cNvPr>
            <p:cNvCxnSpPr>
              <a:cxnSpLocks/>
              <a:stCxn id="56" idx="2"/>
              <a:endCxn id="66" idx="0"/>
            </p:cNvCxnSpPr>
            <p:nvPr/>
          </p:nvCxnSpPr>
          <p:spPr>
            <a:xfrm flipH="1">
              <a:off x="4587063" y="4286540"/>
              <a:ext cx="1984971" cy="4610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E5CAE0EC-46D8-8945-AB64-400B07387E36}"/>
                </a:ext>
              </a:extLst>
            </p:cNvPr>
            <p:cNvCxnSpPr>
              <a:cxnSpLocks/>
              <a:stCxn id="55" idx="2"/>
              <a:endCxn id="68" idx="0"/>
            </p:cNvCxnSpPr>
            <p:nvPr/>
          </p:nvCxnSpPr>
          <p:spPr>
            <a:xfrm flipH="1">
              <a:off x="4869691" y="4286540"/>
              <a:ext cx="1985638" cy="4610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277D02E-0932-1D49-A34A-D7FFC7E7B1DC}"/>
                </a:ext>
              </a:extLst>
            </p:cNvPr>
            <p:cNvCxnSpPr>
              <a:cxnSpLocks/>
              <a:stCxn id="41" idx="2"/>
              <a:endCxn id="59" idx="0"/>
            </p:cNvCxnSpPr>
            <p:nvPr/>
          </p:nvCxnSpPr>
          <p:spPr>
            <a:xfrm>
              <a:off x="2604804" y="4286663"/>
              <a:ext cx="0" cy="4609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1B4A395-620C-6E49-B048-45B8D2B7252B}"/>
                </a:ext>
              </a:extLst>
            </p:cNvPr>
            <p:cNvCxnSpPr>
              <a:cxnSpLocks/>
              <a:stCxn id="42" idx="2"/>
              <a:endCxn id="60" idx="0"/>
            </p:cNvCxnSpPr>
            <p:nvPr/>
          </p:nvCxnSpPr>
          <p:spPr>
            <a:xfrm>
              <a:off x="2888904" y="4286172"/>
              <a:ext cx="0" cy="46144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84DCA495-2A56-BA45-9976-AB1FA95C9C64}"/>
                </a:ext>
              </a:extLst>
            </p:cNvPr>
            <p:cNvCxnSpPr>
              <a:cxnSpLocks/>
              <a:stCxn id="43" idx="2"/>
              <a:endCxn id="61" idx="0"/>
            </p:cNvCxnSpPr>
            <p:nvPr/>
          </p:nvCxnSpPr>
          <p:spPr>
            <a:xfrm>
              <a:off x="3171531" y="4286663"/>
              <a:ext cx="0" cy="4609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84" name="TextBox 83">
            <a:extLst>
              <a:ext uri="{FF2B5EF4-FFF2-40B4-BE49-F238E27FC236}">
                <a16:creationId xmlns:a16="http://schemas.microsoft.com/office/drawing/2014/main" id="{5A6F7AD1-1CA9-0242-8E2A-230BFAE2F5BB}"/>
              </a:ext>
            </a:extLst>
          </p:cNvPr>
          <p:cNvSpPr txBox="1"/>
          <p:nvPr/>
        </p:nvSpPr>
        <p:spPr>
          <a:xfrm>
            <a:off x="1417089" y="4539354"/>
            <a:ext cx="877163" cy="369332"/>
          </a:xfrm>
          <a:prstGeom prst="rect">
            <a:avLst/>
          </a:prstGeom>
          <a:noFill/>
        </p:spPr>
        <p:txBody>
          <a:bodyPr wrap="none" rtlCol="0">
            <a:spAutoFit/>
          </a:bodyPr>
          <a:lstStyle/>
          <a:p>
            <a:r>
              <a:rPr lang="zh-CN" altLang="en-CN" dirty="0"/>
              <a:t>新设备</a:t>
            </a:r>
            <a:endParaRPr lang="en-CN" dirty="0"/>
          </a:p>
        </p:txBody>
      </p:sp>
    </p:spTree>
    <p:extLst>
      <p:ext uri="{BB962C8B-B14F-4D97-AF65-F5344CB8AC3E}">
        <p14:creationId xmlns:p14="http://schemas.microsoft.com/office/powerpoint/2010/main" val="5449257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FD53-7F8F-FF44-BD4D-945BD89FC6DC}"/>
              </a:ext>
            </a:extLst>
          </p:cNvPr>
          <p:cNvSpPr>
            <a:spLocks noGrp="1"/>
          </p:cNvSpPr>
          <p:nvPr>
            <p:ph type="title"/>
          </p:nvPr>
        </p:nvSpPr>
        <p:spPr/>
        <p:txBody>
          <a:bodyPr/>
          <a:lstStyle/>
          <a:p>
            <a:r>
              <a:rPr lang="zh-CN" altLang="en-CN" dirty="0"/>
              <a:t>空间</a:t>
            </a:r>
            <a:r>
              <a:rPr lang="zh-CN" altLang="en-US" dirty="0"/>
              <a:t>回收管理方法：</a:t>
            </a:r>
            <a:r>
              <a:rPr lang="zh-CN" altLang="en-CN" dirty="0"/>
              <a:t>段</a:t>
            </a:r>
            <a:r>
              <a:rPr lang="zh-CN" altLang="en-US" dirty="0"/>
              <a:t>（</a:t>
            </a:r>
            <a:r>
              <a:rPr lang="en-US" altLang="zh-CN" dirty="0"/>
              <a:t>Segment</a:t>
            </a:r>
            <a:r>
              <a:rPr lang="zh-CN" altLang="en-US" dirty="0"/>
              <a:t>）</a:t>
            </a:r>
            <a:endParaRPr lang="en-CN" dirty="0"/>
          </a:p>
        </p:txBody>
      </p:sp>
      <p:sp>
        <p:nvSpPr>
          <p:cNvPr id="4" name="Slide Number Placeholder 3">
            <a:extLst>
              <a:ext uri="{FF2B5EF4-FFF2-40B4-BE49-F238E27FC236}">
                <a16:creationId xmlns:a16="http://schemas.microsoft.com/office/drawing/2014/main" id="{010737B2-58A9-1047-B80D-89A0B29AB072}"/>
              </a:ext>
            </a:extLst>
          </p:cNvPr>
          <p:cNvSpPr>
            <a:spLocks noGrp="1"/>
          </p:cNvSpPr>
          <p:nvPr>
            <p:ph type="sldNum" sz="quarter" idx="12"/>
          </p:nvPr>
        </p:nvSpPr>
        <p:spPr/>
        <p:txBody>
          <a:bodyPr/>
          <a:lstStyle/>
          <a:p>
            <a:fld id="{ADE361C3-C043-4A6E-BDCE-8DA1E7D90A3B}" type="slidenum">
              <a:rPr lang="zh-CN" altLang="en-US" smtClean="0"/>
              <a:t>61</a:t>
            </a:fld>
            <a:endParaRPr lang="zh-CN" altLang="en-US"/>
          </a:p>
        </p:txBody>
      </p:sp>
      <p:sp>
        <p:nvSpPr>
          <p:cNvPr id="5" name="Footer Placeholder 4">
            <a:extLst>
              <a:ext uri="{FF2B5EF4-FFF2-40B4-BE49-F238E27FC236}">
                <a16:creationId xmlns:a16="http://schemas.microsoft.com/office/drawing/2014/main" id="{675A6F6D-8C53-6A4C-9ACA-C2FC08FB1B9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6" name="Content Placeholder 2">
            <a:extLst>
              <a:ext uri="{FF2B5EF4-FFF2-40B4-BE49-F238E27FC236}">
                <a16:creationId xmlns:a16="http://schemas.microsoft.com/office/drawing/2014/main" id="{3708E36F-7CAF-AD4C-B56D-38B9FF8ECDEA}"/>
              </a:ext>
            </a:extLst>
          </p:cNvPr>
          <p:cNvSpPr>
            <a:spLocks noGrp="1"/>
          </p:cNvSpPr>
          <p:nvPr>
            <p:ph idx="1"/>
          </p:nvPr>
        </p:nvSpPr>
        <p:spPr>
          <a:xfrm>
            <a:off x="457200" y="1333501"/>
            <a:ext cx="8229600" cy="3771636"/>
          </a:xfrm>
        </p:spPr>
        <p:txBody>
          <a:bodyPr>
            <a:normAutofit/>
          </a:bodyPr>
          <a:lstStyle/>
          <a:p>
            <a:r>
              <a:rPr lang="zh-CN" altLang="en-US" sz="2000" b="0" dirty="0"/>
              <a:t>串联</a:t>
            </a:r>
            <a:endParaRPr lang="en-US" altLang="zh-CN" sz="2000" b="0" dirty="0"/>
          </a:p>
          <a:p>
            <a:pPr lvl="1"/>
            <a:r>
              <a:rPr lang="zh-CN" altLang="en-US" sz="1800" dirty="0"/>
              <a:t>磁盘空间会越来越碎，影响到</a:t>
            </a:r>
            <a:r>
              <a:rPr lang="en-US" altLang="zh-CN" sz="1800" dirty="0"/>
              <a:t>LFS</a:t>
            </a:r>
            <a:r>
              <a:rPr lang="zh-CN" altLang="en-US" sz="1800" dirty="0"/>
              <a:t>的大块顺序写的性能</a:t>
            </a:r>
            <a:endParaRPr lang="en-US" altLang="zh-CN" sz="1800" dirty="0"/>
          </a:p>
          <a:p>
            <a:r>
              <a:rPr lang="zh-CN" altLang="en-US" sz="2000" b="0" dirty="0"/>
              <a:t>拷贝</a:t>
            </a:r>
            <a:endParaRPr lang="en-US" altLang="zh-CN" sz="2000" b="0" dirty="0"/>
          </a:p>
          <a:p>
            <a:pPr lvl="1"/>
            <a:r>
              <a:rPr lang="zh-CN" altLang="en-US" sz="1800" dirty="0"/>
              <a:t>数据需要拷贝</a:t>
            </a:r>
            <a:endParaRPr lang="en-US" altLang="zh-CN" sz="1800" dirty="0"/>
          </a:p>
          <a:p>
            <a:r>
              <a:rPr lang="zh-CN" altLang="en-US" sz="2000" b="0" dirty="0"/>
              <a:t>串联和拷贝两种方法的结合：段</a:t>
            </a:r>
            <a:endParaRPr lang="en-US" altLang="zh-CN" sz="2000" b="0" dirty="0"/>
          </a:p>
        </p:txBody>
      </p:sp>
      <p:grpSp>
        <p:nvGrpSpPr>
          <p:cNvPr id="15" name="Group 14">
            <a:extLst>
              <a:ext uri="{FF2B5EF4-FFF2-40B4-BE49-F238E27FC236}">
                <a16:creationId xmlns:a16="http://schemas.microsoft.com/office/drawing/2014/main" id="{34FD157C-904A-5A4D-B613-F4D719565B23}"/>
              </a:ext>
            </a:extLst>
          </p:cNvPr>
          <p:cNvGrpSpPr/>
          <p:nvPr/>
        </p:nvGrpSpPr>
        <p:grpSpPr>
          <a:xfrm>
            <a:off x="896971" y="4101321"/>
            <a:ext cx="7402906" cy="828262"/>
            <a:chOff x="896971" y="4101321"/>
            <a:chExt cx="7402906" cy="828262"/>
          </a:xfrm>
        </p:grpSpPr>
        <p:sp>
          <p:nvSpPr>
            <p:cNvPr id="16" name="Rectangle 15">
              <a:extLst>
                <a:ext uri="{FF2B5EF4-FFF2-40B4-BE49-F238E27FC236}">
                  <a16:creationId xmlns:a16="http://schemas.microsoft.com/office/drawing/2014/main" id="{A3372987-FBC5-C547-88C3-D800DA8BE650}"/>
                </a:ext>
              </a:extLst>
            </p:cNvPr>
            <p:cNvSpPr/>
            <p:nvPr/>
          </p:nvSpPr>
          <p:spPr>
            <a:xfrm>
              <a:off x="896972"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Rectangle 16">
              <a:extLst>
                <a:ext uri="{FF2B5EF4-FFF2-40B4-BE49-F238E27FC236}">
                  <a16:creationId xmlns:a16="http://schemas.microsoft.com/office/drawing/2014/main" id="{D7F52919-4C84-1448-9CF2-D89C775ACD07}"/>
                </a:ext>
              </a:extLst>
            </p:cNvPr>
            <p:cNvSpPr/>
            <p:nvPr/>
          </p:nvSpPr>
          <p:spPr>
            <a:xfrm>
              <a:off x="2572578"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8" name="Rectangle 17">
              <a:extLst>
                <a:ext uri="{FF2B5EF4-FFF2-40B4-BE49-F238E27FC236}">
                  <a16:creationId xmlns:a16="http://schemas.microsoft.com/office/drawing/2014/main" id="{5DE46F4D-1718-9F4D-B5CD-02808F859AB0}"/>
                </a:ext>
              </a:extLst>
            </p:cNvPr>
            <p:cNvSpPr/>
            <p:nvPr/>
          </p:nvSpPr>
          <p:spPr>
            <a:xfrm>
              <a:off x="4248184"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19" name="Rectangle 18">
              <a:extLst>
                <a:ext uri="{FF2B5EF4-FFF2-40B4-BE49-F238E27FC236}">
                  <a16:creationId xmlns:a16="http://schemas.microsoft.com/office/drawing/2014/main" id="{44D6EF3D-7202-D743-8186-362B98A912AF}"/>
                </a:ext>
              </a:extLst>
            </p:cNvPr>
            <p:cNvSpPr/>
            <p:nvPr/>
          </p:nvSpPr>
          <p:spPr>
            <a:xfrm>
              <a:off x="5923790" y="4186819"/>
              <a:ext cx="700481" cy="389360"/>
            </a:xfrm>
            <a:prstGeom prst="rect">
              <a:avLst/>
            </a:prstGeom>
            <a:solidFill>
              <a:schemeClr val="bg1"/>
            </a:solidFill>
            <a:ln w="1270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2400" dirty="0"/>
            </a:p>
          </p:txBody>
        </p:sp>
        <p:sp>
          <p:nvSpPr>
            <p:cNvPr id="20" name="Rectangle 19">
              <a:extLst>
                <a:ext uri="{FF2B5EF4-FFF2-40B4-BE49-F238E27FC236}">
                  <a16:creationId xmlns:a16="http://schemas.microsoft.com/office/drawing/2014/main" id="{A6DEE70E-DF8A-3344-B712-1787DDD47B06}"/>
                </a:ext>
              </a:extLst>
            </p:cNvPr>
            <p:cNvSpPr/>
            <p:nvPr/>
          </p:nvSpPr>
          <p:spPr>
            <a:xfrm>
              <a:off x="6624271"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21" name="TextBox 20">
              <a:extLst>
                <a:ext uri="{FF2B5EF4-FFF2-40B4-BE49-F238E27FC236}">
                  <a16:creationId xmlns:a16="http://schemas.microsoft.com/office/drawing/2014/main" id="{9D12EAF8-5A12-534B-828A-66E9C7D1645C}"/>
                </a:ext>
              </a:extLst>
            </p:cNvPr>
            <p:cNvSpPr txBox="1"/>
            <p:nvPr/>
          </p:nvSpPr>
          <p:spPr>
            <a:xfrm>
              <a:off x="6027808" y="4101321"/>
              <a:ext cx="492443" cy="461665"/>
            </a:xfrm>
            <a:prstGeom prst="rect">
              <a:avLst/>
            </a:prstGeom>
            <a:noFill/>
          </p:spPr>
          <p:txBody>
            <a:bodyPr wrap="none" rtlCol="0">
              <a:spAutoFit/>
            </a:bodyPr>
            <a:lstStyle/>
            <a:p>
              <a:r>
                <a:rPr lang="en-US" altLang="zh-CN" sz="2400" b="1" dirty="0"/>
                <a:t>…</a:t>
              </a:r>
              <a:endParaRPr lang="en-CN" sz="2400" b="1" dirty="0"/>
            </a:p>
          </p:txBody>
        </p:sp>
        <p:sp>
          <p:nvSpPr>
            <p:cNvPr id="22" name="Right Brace 21">
              <a:extLst>
                <a:ext uri="{FF2B5EF4-FFF2-40B4-BE49-F238E27FC236}">
                  <a16:creationId xmlns:a16="http://schemas.microsoft.com/office/drawing/2014/main" id="{B4F1E94E-CDA8-F64C-834E-9B6BB5A7B259}"/>
                </a:ext>
              </a:extLst>
            </p:cNvPr>
            <p:cNvSpPr/>
            <p:nvPr/>
          </p:nvSpPr>
          <p:spPr>
            <a:xfrm rot="5400000">
              <a:off x="1589453" y="3965219"/>
              <a:ext cx="271882" cy="165684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grpSp>
      <p:sp>
        <p:nvSpPr>
          <p:cNvPr id="23" name="TextBox 22">
            <a:extLst>
              <a:ext uri="{FF2B5EF4-FFF2-40B4-BE49-F238E27FC236}">
                <a16:creationId xmlns:a16="http://schemas.microsoft.com/office/drawing/2014/main" id="{7FF594DA-2B89-4C47-B13E-9DA71339086B}"/>
              </a:ext>
            </a:extLst>
          </p:cNvPr>
          <p:cNvSpPr txBox="1"/>
          <p:nvPr/>
        </p:nvSpPr>
        <p:spPr>
          <a:xfrm>
            <a:off x="1517645" y="4922162"/>
            <a:ext cx="415498" cy="369332"/>
          </a:xfrm>
          <a:prstGeom prst="rect">
            <a:avLst/>
          </a:prstGeom>
          <a:noFill/>
        </p:spPr>
        <p:txBody>
          <a:bodyPr wrap="none" rtlCol="0">
            <a:spAutoFit/>
          </a:bodyPr>
          <a:lstStyle/>
          <a:p>
            <a:r>
              <a:rPr lang="zh-CN" altLang="en-CN" dirty="0"/>
              <a:t>段</a:t>
            </a:r>
            <a:endParaRPr lang="en-CN" dirty="0"/>
          </a:p>
        </p:txBody>
      </p:sp>
    </p:spTree>
    <p:extLst>
      <p:ext uri="{BB962C8B-B14F-4D97-AF65-F5344CB8AC3E}">
        <p14:creationId xmlns:p14="http://schemas.microsoft.com/office/powerpoint/2010/main" val="6721845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FD53-7F8F-FF44-BD4D-945BD89FC6DC}"/>
              </a:ext>
            </a:extLst>
          </p:cNvPr>
          <p:cNvSpPr>
            <a:spLocks noGrp="1"/>
          </p:cNvSpPr>
          <p:nvPr>
            <p:ph type="title"/>
          </p:nvPr>
        </p:nvSpPr>
        <p:spPr/>
        <p:txBody>
          <a:bodyPr/>
          <a:lstStyle/>
          <a:p>
            <a:r>
              <a:rPr lang="zh-CN" altLang="en-CN" dirty="0"/>
              <a:t>空间</a:t>
            </a:r>
            <a:r>
              <a:rPr lang="zh-CN" altLang="en-US" dirty="0"/>
              <a:t>回收管理方法：</a:t>
            </a:r>
            <a:r>
              <a:rPr lang="zh-CN" altLang="en-CN" dirty="0"/>
              <a:t>段</a:t>
            </a:r>
            <a:r>
              <a:rPr lang="zh-CN" altLang="en-US" dirty="0"/>
              <a:t>（</a:t>
            </a:r>
            <a:r>
              <a:rPr lang="en-US" altLang="zh-CN" dirty="0"/>
              <a:t>Segment</a:t>
            </a:r>
            <a:r>
              <a:rPr lang="zh-CN" altLang="en-US" dirty="0"/>
              <a:t>）</a:t>
            </a:r>
            <a:endParaRPr lang="en-CN" dirty="0"/>
          </a:p>
        </p:txBody>
      </p:sp>
      <p:sp>
        <p:nvSpPr>
          <p:cNvPr id="4" name="Slide Number Placeholder 3">
            <a:extLst>
              <a:ext uri="{FF2B5EF4-FFF2-40B4-BE49-F238E27FC236}">
                <a16:creationId xmlns:a16="http://schemas.microsoft.com/office/drawing/2014/main" id="{010737B2-58A9-1047-B80D-89A0B29AB072}"/>
              </a:ext>
            </a:extLst>
          </p:cNvPr>
          <p:cNvSpPr>
            <a:spLocks noGrp="1"/>
          </p:cNvSpPr>
          <p:nvPr>
            <p:ph type="sldNum" sz="quarter" idx="12"/>
          </p:nvPr>
        </p:nvSpPr>
        <p:spPr/>
        <p:txBody>
          <a:bodyPr/>
          <a:lstStyle/>
          <a:p>
            <a:fld id="{ADE361C3-C043-4A6E-BDCE-8DA1E7D90A3B}" type="slidenum">
              <a:rPr lang="zh-CN" altLang="en-US" smtClean="0"/>
              <a:t>62</a:t>
            </a:fld>
            <a:endParaRPr lang="zh-CN" altLang="en-US"/>
          </a:p>
        </p:txBody>
      </p:sp>
      <p:sp>
        <p:nvSpPr>
          <p:cNvPr id="5" name="Footer Placeholder 4">
            <a:extLst>
              <a:ext uri="{FF2B5EF4-FFF2-40B4-BE49-F238E27FC236}">
                <a16:creationId xmlns:a16="http://schemas.microsoft.com/office/drawing/2014/main" id="{675A6F6D-8C53-6A4C-9ACA-C2FC08FB1B9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6" name="Content Placeholder 2">
            <a:extLst>
              <a:ext uri="{FF2B5EF4-FFF2-40B4-BE49-F238E27FC236}">
                <a16:creationId xmlns:a16="http://schemas.microsoft.com/office/drawing/2014/main" id="{3708E36F-7CAF-AD4C-B56D-38B9FF8ECDEA}"/>
              </a:ext>
            </a:extLst>
          </p:cNvPr>
          <p:cNvSpPr>
            <a:spLocks noGrp="1"/>
          </p:cNvSpPr>
          <p:nvPr>
            <p:ph idx="1"/>
          </p:nvPr>
        </p:nvSpPr>
        <p:spPr>
          <a:xfrm>
            <a:off x="457200" y="1333501"/>
            <a:ext cx="8229600" cy="3771636"/>
          </a:xfrm>
        </p:spPr>
        <p:txBody>
          <a:bodyPr>
            <a:normAutofit/>
          </a:bodyPr>
          <a:lstStyle/>
          <a:p>
            <a:r>
              <a:rPr lang="zh-CN" altLang="en-US" sz="2000" b="0" dirty="0"/>
              <a:t>一个设备被拆分为定长的区域，称为段</a:t>
            </a:r>
            <a:endParaRPr lang="en-US" altLang="zh-CN" sz="2000" b="0" dirty="0"/>
          </a:p>
          <a:p>
            <a:pPr lvl="1"/>
            <a:r>
              <a:rPr lang="zh-CN" altLang="en-US" sz="1800" dirty="0"/>
              <a:t>段大小需要足以发挥出顺序写的优势，</a:t>
            </a:r>
            <a:r>
              <a:rPr lang="en-US" altLang="zh-CN" sz="1800" dirty="0"/>
              <a:t>512KB</a:t>
            </a:r>
            <a:r>
              <a:rPr lang="zh-CN" altLang="en-US" sz="1800" dirty="0"/>
              <a:t>、</a:t>
            </a:r>
            <a:r>
              <a:rPr lang="en-US" altLang="zh-CN" sz="1800" dirty="0"/>
              <a:t>1MB</a:t>
            </a:r>
            <a:r>
              <a:rPr lang="zh-CN" altLang="en-US" sz="1800" dirty="0"/>
              <a:t>等</a:t>
            </a:r>
            <a:endParaRPr lang="en-US" altLang="zh-CN" sz="1800" dirty="0"/>
          </a:p>
          <a:p>
            <a:r>
              <a:rPr lang="zh-CN" altLang="en-US" sz="2000" b="0" dirty="0"/>
              <a:t>每段内只能顺序写入</a:t>
            </a:r>
            <a:endParaRPr lang="en-US" altLang="zh-CN" sz="2000" b="0" dirty="0"/>
          </a:p>
          <a:p>
            <a:pPr lvl="1"/>
            <a:r>
              <a:rPr lang="zh-CN" altLang="en-US" sz="1800" dirty="0"/>
              <a:t>只有当段内全都是无效数据之后，才能被重新使用</a:t>
            </a:r>
            <a:endParaRPr lang="en-US" altLang="zh-CN" sz="1800" dirty="0"/>
          </a:p>
          <a:p>
            <a:r>
              <a:rPr lang="zh-CN" altLang="en-US" sz="2000" b="0" dirty="0"/>
              <a:t>干净段用链表维护（对应串联方法）</a:t>
            </a:r>
            <a:endParaRPr lang="en-US" altLang="zh-CN" sz="2000" b="0" dirty="0"/>
          </a:p>
        </p:txBody>
      </p:sp>
      <p:grpSp>
        <p:nvGrpSpPr>
          <p:cNvPr id="15" name="Group 14">
            <a:extLst>
              <a:ext uri="{FF2B5EF4-FFF2-40B4-BE49-F238E27FC236}">
                <a16:creationId xmlns:a16="http://schemas.microsoft.com/office/drawing/2014/main" id="{862DEBF9-40F3-5D4D-895B-48EC572C394A}"/>
              </a:ext>
            </a:extLst>
          </p:cNvPr>
          <p:cNvGrpSpPr/>
          <p:nvPr/>
        </p:nvGrpSpPr>
        <p:grpSpPr>
          <a:xfrm>
            <a:off x="896971" y="4101321"/>
            <a:ext cx="7402906" cy="828262"/>
            <a:chOff x="896971" y="4101321"/>
            <a:chExt cx="7402906" cy="828262"/>
          </a:xfrm>
        </p:grpSpPr>
        <p:sp>
          <p:nvSpPr>
            <p:cNvPr id="16" name="Rectangle 15">
              <a:extLst>
                <a:ext uri="{FF2B5EF4-FFF2-40B4-BE49-F238E27FC236}">
                  <a16:creationId xmlns:a16="http://schemas.microsoft.com/office/drawing/2014/main" id="{3F11FF6C-676B-474D-BB3D-7F7AFCBFDBCB}"/>
                </a:ext>
              </a:extLst>
            </p:cNvPr>
            <p:cNvSpPr/>
            <p:nvPr/>
          </p:nvSpPr>
          <p:spPr>
            <a:xfrm>
              <a:off x="896972"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Rectangle 16">
              <a:extLst>
                <a:ext uri="{FF2B5EF4-FFF2-40B4-BE49-F238E27FC236}">
                  <a16:creationId xmlns:a16="http://schemas.microsoft.com/office/drawing/2014/main" id="{19C95FBF-6C50-D44C-88EF-55021740E82A}"/>
                </a:ext>
              </a:extLst>
            </p:cNvPr>
            <p:cNvSpPr/>
            <p:nvPr/>
          </p:nvSpPr>
          <p:spPr>
            <a:xfrm>
              <a:off x="2572578"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8" name="Rectangle 17">
              <a:extLst>
                <a:ext uri="{FF2B5EF4-FFF2-40B4-BE49-F238E27FC236}">
                  <a16:creationId xmlns:a16="http://schemas.microsoft.com/office/drawing/2014/main" id="{B389DC30-1AB5-BA4F-8F90-280F11BE6191}"/>
                </a:ext>
              </a:extLst>
            </p:cNvPr>
            <p:cNvSpPr/>
            <p:nvPr/>
          </p:nvSpPr>
          <p:spPr>
            <a:xfrm>
              <a:off x="4248184"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19" name="Rectangle 18">
              <a:extLst>
                <a:ext uri="{FF2B5EF4-FFF2-40B4-BE49-F238E27FC236}">
                  <a16:creationId xmlns:a16="http://schemas.microsoft.com/office/drawing/2014/main" id="{1F0ABD19-B61F-364C-8299-74407340C26B}"/>
                </a:ext>
              </a:extLst>
            </p:cNvPr>
            <p:cNvSpPr/>
            <p:nvPr/>
          </p:nvSpPr>
          <p:spPr>
            <a:xfrm>
              <a:off x="5923790" y="4186819"/>
              <a:ext cx="700481" cy="389360"/>
            </a:xfrm>
            <a:prstGeom prst="rect">
              <a:avLst/>
            </a:prstGeom>
            <a:solidFill>
              <a:schemeClr val="bg1"/>
            </a:solidFill>
            <a:ln w="1270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2400" dirty="0"/>
            </a:p>
          </p:txBody>
        </p:sp>
        <p:sp>
          <p:nvSpPr>
            <p:cNvPr id="20" name="Rectangle 19">
              <a:extLst>
                <a:ext uri="{FF2B5EF4-FFF2-40B4-BE49-F238E27FC236}">
                  <a16:creationId xmlns:a16="http://schemas.microsoft.com/office/drawing/2014/main" id="{7CDD69D3-74D6-3247-9337-20D2457C988D}"/>
                </a:ext>
              </a:extLst>
            </p:cNvPr>
            <p:cNvSpPr/>
            <p:nvPr/>
          </p:nvSpPr>
          <p:spPr>
            <a:xfrm>
              <a:off x="6624271"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21" name="TextBox 20">
              <a:extLst>
                <a:ext uri="{FF2B5EF4-FFF2-40B4-BE49-F238E27FC236}">
                  <a16:creationId xmlns:a16="http://schemas.microsoft.com/office/drawing/2014/main" id="{ACD124FB-75FC-FC40-A62E-63C37194A995}"/>
                </a:ext>
              </a:extLst>
            </p:cNvPr>
            <p:cNvSpPr txBox="1"/>
            <p:nvPr/>
          </p:nvSpPr>
          <p:spPr>
            <a:xfrm>
              <a:off x="6027808" y="4101321"/>
              <a:ext cx="492443" cy="461665"/>
            </a:xfrm>
            <a:prstGeom prst="rect">
              <a:avLst/>
            </a:prstGeom>
            <a:noFill/>
          </p:spPr>
          <p:txBody>
            <a:bodyPr wrap="none" rtlCol="0">
              <a:spAutoFit/>
            </a:bodyPr>
            <a:lstStyle/>
            <a:p>
              <a:r>
                <a:rPr lang="en-US" altLang="zh-CN" sz="2400" b="1" dirty="0"/>
                <a:t>…</a:t>
              </a:r>
              <a:endParaRPr lang="en-CN" sz="2400" b="1" dirty="0"/>
            </a:p>
          </p:txBody>
        </p:sp>
        <p:sp>
          <p:nvSpPr>
            <p:cNvPr id="22" name="Right Brace 21">
              <a:extLst>
                <a:ext uri="{FF2B5EF4-FFF2-40B4-BE49-F238E27FC236}">
                  <a16:creationId xmlns:a16="http://schemas.microsoft.com/office/drawing/2014/main" id="{750CA192-1E21-EF43-AA5C-4E27B76AA374}"/>
                </a:ext>
              </a:extLst>
            </p:cNvPr>
            <p:cNvSpPr/>
            <p:nvPr/>
          </p:nvSpPr>
          <p:spPr>
            <a:xfrm rot="5400000">
              <a:off x="1589453" y="3965219"/>
              <a:ext cx="271882" cy="165684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grpSp>
      <p:sp>
        <p:nvSpPr>
          <p:cNvPr id="26" name="TextBox 25">
            <a:extLst>
              <a:ext uri="{FF2B5EF4-FFF2-40B4-BE49-F238E27FC236}">
                <a16:creationId xmlns:a16="http://schemas.microsoft.com/office/drawing/2014/main" id="{7C4AEB8B-9F97-FE45-853C-3E240F979325}"/>
              </a:ext>
            </a:extLst>
          </p:cNvPr>
          <p:cNvSpPr txBox="1"/>
          <p:nvPr/>
        </p:nvSpPr>
        <p:spPr>
          <a:xfrm>
            <a:off x="1517645" y="4922162"/>
            <a:ext cx="415498" cy="369332"/>
          </a:xfrm>
          <a:prstGeom prst="rect">
            <a:avLst/>
          </a:prstGeom>
          <a:noFill/>
        </p:spPr>
        <p:txBody>
          <a:bodyPr wrap="none" rtlCol="0">
            <a:spAutoFit/>
          </a:bodyPr>
          <a:lstStyle/>
          <a:p>
            <a:r>
              <a:rPr lang="zh-CN" altLang="en-CN" dirty="0"/>
              <a:t>段</a:t>
            </a:r>
            <a:endParaRPr lang="en-CN" dirty="0"/>
          </a:p>
        </p:txBody>
      </p:sp>
    </p:spTree>
    <p:extLst>
      <p:ext uri="{BB962C8B-B14F-4D97-AF65-F5344CB8AC3E}">
        <p14:creationId xmlns:p14="http://schemas.microsoft.com/office/powerpoint/2010/main" val="3201826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FD53-7F8F-FF44-BD4D-945BD89FC6DC}"/>
              </a:ext>
            </a:extLst>
          </p:cNvPr>
          <p:cNvSpPr>
            <a:spLocks noGrp="1"/>
          </p:cNvSpPr>
          <p:nvPr>
            <p:ph type="title"/>
          </p:nvPr>
        </p:nvSpPr>
        <p:spPr/>
        <p:txBody>
          <a:bodyPr/>
          <a:lstStyle/>
          <a:p>
            <a:r>
              <a:rPr lang="zh-CN" altLang="en-CN" dirty="0"/>
              <a:t>段</a:t>
            </a:r>
            <a:r>
              <a:rPr lang="zh-CN" altLang="en-US" dirty="0"/>
              <a:t>使用表</a:t>
            </a:r>
            <a:endParaRPr lang="en-CN" dirty="0"/>
          </a:p>
        </p:txBody>
      </p:sp>
      <p:sp>
        <p:nvSpPr>
          <p:cNvPr id="4" name="Slide Number Placeholder 3">
            <a:extLst>
              <a:ext uri="{FF2B5EF4-FFF2-40B4-BE49-F238E27FC236}">
                <a16:creationId xmlns:a16="http://schemas.microsoft.com/office/drawing/2014/main" id="{010737B2-58A9-1047-B80D-89A0B29AB072}"/>
              </a:ext>
            </a:extLst>
          </p:cNvPr>
          <p:cNvSpPr>
            <a:spLocks noGrp="1"/>
          </p:cNvSpPr>
          <p:nvPr>
            <p:ph type="sldNum" sz="quarter" idx="12"/>
          </p:nvPr>
        </p:nvSpPr>
        <p:spPr/>
        <p:txBody>
          <a:bodyPr/>
          <a:lstStyle/>
          <a:p>
            <a:fld id="{ADE361C3-C043-4A6E-BDCE-8DA1E7D90A3B}" type="slidenum">
              <a:rPr lang="zh-CN" altLang="en-US" smtClean="0"/>
              <a:t>63</a:t>
            </a:fld>
            <a:endParaRPr lang="zh-CN" altLang="en-US"/>
          </a:p>
        </p:txBody>
      </p:sp>
      <p:sp>
        <p:nvSpPr>
          <p:cNvPr id="5" name="Footer Placeholder 4">
            <a:extLst>
              <a:ext uri="{FF2B5EF4-FFF2-40B4-BE49-F238E27FC236}">
                <a16:creationId xmlns:a16="http://schemas.microsoft.com/office/drawing/2014/main" id="{675A6F6D-8C53-6A4C-9ACA-C2FC08FB1B9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6" name="Content Placeholder 2">
            <a:extLst>
              <a:ext uri="{FF2B5EF4-FFF2-40B4-BE49-F238E27FC236}">
                <a16:creationId xmlns:a16="http://schemas.microsoft.com/office/drawing/2014/main" id="{3708E36F-7CAF-AD4C-B56D-38B9FF8ECDEA}"/>
              </a:ext>
            </a:extLst>
          </p:cNvPr>
          <p:cNvSpPr>
            <a:spLocks noGrp="1"/>
          </p:cNvSpPr>
          <p:nvPr>
            <p:ph idx="1"/>
          </p:nvPr>
        </p:nvSpPr>
        <p:spPr>
          <a:xfrm>
            <a:off x="457200" y="1333501"/>
            <a:ext cx="8229600" cy="3771636"/>
          </a:xfrm>
        </p:spPr>
        <p:txBody>
          <a:bodyPr>
            <a:normAutofit/>
          </a:bodyPr>
          <a:lstStyle/>
          <a:p>
            <a:r>
              <a:rPr lang="zh-CN" altLang="en-US" sz="2000" b="0" dirty="0"/>
              <a:t>段使用表</a:t>
            </a:r>
            <a:endParaRPr lang="en-US" altLang="zh-CN" sz="2000" b="0" dirty="0"/>
          </a:p>
          <a:p>
            <a:pPr lvl="1"/>
            <a:r>
              <a:rPr lang="zh-CN" altLang="en-CN" sz="1800" dirty="0"/>
              <a:t>记录</a:t>
            </a:r>
            <a:r>
              <a:rPr lang="zh-CN" altLang="en-US" sz="1800" dirty="0"/>
              <a:t>每个段中有效字节数</a:t>
            </a:r>
            <a:endParaRPr lang="en-US" altLang="zh-CN" sz="1800" dirty="0"/>
          </a:p>
          <a:p>
            <a:pPr lvl="2"/>
            <a:r>
              <a:rPr lang="zh-CN" altLang="en-CN" sz="1800" dirty="0"/>
              <a:t>归零</a:t>
            </a:r>
            <a:r>
              <a:rPr lang="zh-CN" altLang="en-US" sz="1800" dirty="0"/>
              <a:t>时变为干净段</a:t>
            </a:r>
            <a:endParaRPr lang="en-US" altLang="zh-CN" sz="1800" dirty="0"/>
          </a:p>
          <a:p>
            <a:pPr lvl="1"/>
            <a:r>
              <a:rPr lang="zh-CN" altLang="en-US" sz="1800" dirty="0"/>
              <a:t>记录了每个段最近写入时间</a:t>
            </a:r>
            <a:endParaRPr lang="en-US" altLang="zh-CN" sz="1800" dirty="0"/>
          </a:p>
          <a:p>
            <a:pPr lvl="2"/>
            <a:r>
              <a:rPr lang="zh-CN" altLang="en-US" sz="1800" dirty="0"/>
              <a:t>将非干净段按时间顺序连在一起，</a:t>
            </a:r>
            <a:r>
              <a:rPr lang="zh-CN" altLang="en-US" sz="1800" dirty="0">
                <a:solidFill>
                  <a:schemeClr val="accent1"/>
                </a:solidFill>
              </a:rPr>
              <a:t>形成逻辑上的连续空间</a:t>
            </a:r>
            <a:endParaRPr lang="en-US" altLang="zh-CN" sz="1800" dirty="0">
              <a:solidFill>
                <a:schemeClr val="accent1"/>
              </a:solidFill>
            </a:endParaRPr>
          </a:p>
        </p:txBody>
      </p:sp>
      <p:sp>
        <p:nvSpPr>
          <p:cNvPr id="22" name="TextBox 21">
            <a:extLst>
              <a:ext uri="{FF2B5EF4-FFF2-40B4-BE49-F238E27FC236}">
                <a16:creationId xmlns:a16="http://schemas.microsoft.com/office/drawing/2014/main" id="{1B143F06-E072-B74C-96FB-611EDF4F02DC}"/>
              </a:ext>
            </a:extLst>
          </p:cNvPr>
          <p:cNvSpPr txBox="1"/>
          <p:nvPr/>
        </p:nvSpPr>
        <p:spPr>
          <a:xfrm>
            <a:off x="1517645" y="4922162"/>
            <a:ext cx="415498" cy="369332"/>
          </a:xfrm>
          <a:prstGeom prst="rect">
            <a:avLst/>
          </a:prstGeom>
          <a:noFill/>
        </p:spPr>
        <p:txBody>
          <a:bodyPr wrap="none" rtlCol="0">
            <a:spAutoFit/>
          </a:bodyPr>
          <a:lstStyle/>
          <a:p>
            <a:r>
              <a:rPr lang="zh-CN" altLang="en-CN" dirty="0"/>
              <a:t>段</a:t>
            </a:r>
            <a:endParaRPr lang="en-CN" dirty="0"/>
          </a:p>
        </p:txBody>
      </p:sp>
      <p:grpSp>
        <p:nvGrpSpPr>
          <p:cNvPr id="11" name="Group 10">
            <a:extLst>
              <a:ext uri="{FF2B5EF4-FFF2-40B4-BE49-F238E27FC236}">
                <a16:creationId xmlns:a16="http://schemas.microsoft.com/office/drawing/2014/main" id="{F1FD7279-8CED-A044-9B22-4ABFCC33A114}"/>
              </a:ext>
            </a:extLst>
          </p:cNvPr>
          <p:cNvGrpSpPr/>
          <p:nvPr/>
        </p:nvGrpSpPr>
        <p:grpSpPr>
          <a:xfrm>
            <a:off x="896971" y="4101321"/>
            <a:ext cx="7402906" cy="828262"/>
            <a:chOff x="896971" y="4101321"/>
            <a:chExt cx="7402906" cy="828262"/>
          </a:xfrm>
        </p:grpSpPr>
        <p:sp>
          <p:nvSpPr>
            <p:cNvPr id="15" name="Rectangle 14">
              <a:extLst>
                <a:ext uri="{FF2B5EF4-FFF2-40B4-BE49-F238E27FC236}">
                  <a16:creationId xmlns:a16="http://schemas.microsoft.com/office/drawing/2014/main" id="{D8642FDD-1F65-D747-BC1F-3E5BD1DB9D14}"/>
                </a:ext>
              </a:extLst>
            </p:cNvPr>
            <p:cNvSpPr/>
            <p:nvPr/>
          </p:nvSpPr>
          <p:spPr>
            <a:xfrm>
              <a:off x="896972"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6" name="Rectangle 15">
              <a:extLst>
                <a:ext uri="{FF2B5EF4-FFF2-40B4-BE49-F238E27FC236}">
                  <a16:creationId xmlns:a16="http://schemas.microsoft.com/office/drawing/2014/main" id="{38AEAD64-E9B0-5E44-9AF1-8C1EC1F4105F}"/>
                </a:ext>
              </a:extLst>
            </p:cNvPr>
            <p:cNvSpPr/>
            <p:nvPr/>
          </p:nvSpPr>
          <p:spPr>
            <a:xfrm>
              <a:off x="2572578"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Rectangle 16">
              <a:extLst>
                <a:ext uri="{FF2B5EF4-FFF2-40B4-BE49-F238E27FC236}">
                  <a16:creationId xmlns:a16="http://schemas.microsoft.com/office/drawing/2014/main" id="{7D5A91DD-3A0A-D04E-BC6A-3CA8BC48FC09}"/>
                </a:ext>
              </a:extLst>
            </p:cNvPr>
            <p:cNvSpPr/>
            <p:nvPr/>
          </p:nvSpPr>
          <p:spPr>
            <a:xfrm>
              <a:off x="4248184"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1050" dirty="0"/>
                <a:t>日志</a:t>
              </a:r>
              <a:r>
                <a:rPr lang="zh-CN" altLang="en-US" sz="1050" dirty="0"/>
                <a:t>末尾所在段</a:t>
              </a:r>
              <a:endParaRPr lang="en-CN" sz="1050" dirty="0"/>
            </a:p>
          </p:txBody>
        </p:sp>
        <p:sp>
          <p:nvSpPr>
            <p:cNvPr id="18" name="Rectangle 17">
              <a:extLst>
                <a:ext uri="{FF2B5EF4-FFF2-40B4-BE49-F238E27FC236}">
                  <a16:creationId xmlns:a16="http://schemas.microsoft.com/office/drawing/2014/main" id="{72822E33-B0EC-3A44-820D-ADF52613B298}"/>
                </a:ext>
              </a:extLst>
            </p:cNvPr>
            <p:cNvSpPr/>
            <p:nvPr/>
          </p:nvSpPr>
          <p:spPr>
            <a:xfrm>
              <a:off x="5923790" y="4186819"/>
              <a:ext cx="700481" cy="389360"/>
            </a:xfrm>
            <a:prstGeom prst="rect">
              <a:avLst/>
            </a:prstGeom>
            <a:solidFill>
              <a:schemeClr val="bg1"/>
            </a:solidFill>
            <a:ln w="1270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2400" dirty="0"/>
            </a:p>
          </p:txBody>
        </p:sp>
        <p:sp>
          <p:nvSpPr>
            <p:cNvPr id="19" name="Rectangle 18">
              <a:extLst>
                <a:ext uri="{FF2B5EF4-FFF2-40B4-BE49-F238E27FC236}">
                  <a16:creationId xmlns:a16="http://schemas.microsoft.com/office/drawing/2014/main" id="{78ED6EA9-A9FA-0841-A8A7-8D11BB46E971}"/>
                </a:ext>
              </a:extLst>
            </p:cNvPr>
            <p:cNvSpPr/>
            <p:nvPr/>
          </p:nvSpPr>
          <p:spPr>
            <a:xfrm>
              <a:off x="6624271"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20" name="TextBox 19">
              <a:extLst>
                <a:ext uri="{FF2B5EF4-FFF2-40B4-BE49-F238E27FC236}">
                  <a16:creationId xmlns:a16="http://schemas.microsoft.com/office/drawing/2014/main" id="{B0126262-5CE8-BF47-A756-615628A6F3D8}"/>
                </a:ext>
              </a:extLst>
            </p:cNvPr>
            <p:cNvSpPr txBox="1"/>
            <p:nvPr/>
          </p:nvSpPr>
          <p:spPr>
            <a:xfrm>
              <a:off x="6027808" y="4101321"/>
              <a:ext cx="492443" cy="461665"/>
            </a:xfrm>
            <a:prstGeom prst="rect">
              <a:avLst/>
            </a:prstGeom>
            <a:noFill/>
          </p:spPr>
          <p:txBody>
            <a:bodyPr wrap="none" rtlCol="0">
              <a:spAutoFit/>
            </a:bodyPr>
            <a:lstStyle/>
            <a:p>
              <a:r>
                <a:rPr lang="en-US" altLang="zh-CN" sz="2400" b="1" dirty="0"/>
                <a:t>…</a:t>
              </a:r>
              <a:endParaRPr lang="en-CN" sz="2400" b="1" dirty="0"/>
            </a:p>
          </p:txBody>
        </p:sp>
        <p:sp>
          <p:nvSpPr>
            <p:cNvPr id="21" name="Right Brace 20">
              <a:extLst>
                <a:ext uri="{FF2B5EF4-FFF2-40B4-BE49-F238E27FC236}">
                  <a16:creationId xmlns:a16="http://schemas.microsoft.com/office/drawing/2014/main" id="{177FD8AC-E1C6-6043-9398-D2C0D27ED906}"/>
                </a:ext>
              </a:extLst>
            </p:cNvPr>
            <p:cNvSpPr/>
            <p:nvPr/>
          </p:nvSpPr>
          <p:spPr>
            <a:xfrm rot="5400000">
              <a:off x="1589453" y="3965219"/>
              <a:ext cx="271882" cy="165684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cxnSp>
          <p:nvCxnSpPr>
            <p:cNvPr id="6" name="Curved Connector 5">
              <a:extLst>
                <a:ext uri="{FF2B5EF4-FFF2-40B4-BE49-F238E27FC236}">
                  <a16:creationId xmlns:a16="http://schemas.microsoft.com/office/drawing/2014/main" id="{15C7BBE6-C0B1-4549-84AE-9451F05DE64A}"/>
                </a:ext>
              </a:extLst>
            </p:cNvPr>
            <p:cNvCxnSpPr>
              <a:stCxn id="15" idx="0"/>
              <a:endCxn id="16" idx="0"/>
            </p:cNvCxnSpPr>
            <p:nvPr/>
          </p:nvCxnSpPr>
          <p:spPr>
            <a:xfrm rot="5400000" flipH="1" flipV="1">
              <a:off x="2572578" y="3349016"/>
              <a:ext cx="12700" cy="1675606"/>
            </a:xfrm>
            <a:prstGeom prst="curvedConnector3">
              <a:avLst>
                <a:gd name="adj1" fmla="val 1800000"/>
              </a:avLst>
            </a:prstGeom>
            <a:ln w="12700">
              <a:prstDash val="dash"/>
              <a:tailEnd type="triangle"/>
            </a:ln>
          </p:spPr>
          <p:style>
            <a:lnRef idx="1">
              <a:schemeClr val="dk1"/>
            </a:lnRef>
            <a:fillRef idx="0">
              <a:schemeClr val="dk1"/>
            </a:fillRef>
            <a:effectRef idx="0">
              <a:schemeClr val="dk1"/>
            </a:effectRef>
            <a:fontRef idx="minor">
              <a:schemeClr val="tx1"/>
            </a:fontRef>
          </p:style>
        </p:cxnSp>
        <p:cxnSp>
          <p:nvCxnSpPr>
            <p:cNvPr id="25" name="Curved Connector 24">
              <a:extLst>
                <a:ext uri="{FF2B5EF4-FFF2-40B4-BE49-F238E27FC236}">
                  <a16:creationId xmlns:a16="http://schemas.microsoft.com/office/drawing/2014/main" id="{55F5B9A5-7C0E-1748-AA8D-B5604797B6DE}"/>
                </a:ext>
              </a:extLst>
            </p:cNvPr>
            <p:cNvCxnSpPr>
              <a:cxnSpLocks/>
              <a:stCxn id="16" idx="2"/>
              <a:endCxn id="19" idx="2"/>
            </p:cNvCxnSpPr>
            <p:nvPr/>
          </p:nvCxnSpPr>
          <p:spPr>
            <a:xfrm rot="16200000" flipH="1">
              <a:off x="5436227" y="2550332"/>
              <a:ext cx="12700" cy="4051693"/>
            </a:xfrm>
            <a:prstGeom prst="curvedConnector3">
              <a:avLst>
                <a:gd name="adj1" fmla="val 1800000"/>
              </a:avLst>
            </a:prstGeom>
            <a:ln w="12700">
              <a:prstDash val="dash"/>
              <a:tailEnd type="triangle"/>
            </a:ln>
          </p:spPr>
          <p:style>
            <a:lnRef idx="1">
              <a:schemeClr val="dk1"/>
            </a:lnRef>
            <a:fillRef idx="0">
              <a:schemeClr val="dk1"/>
            </a:fillRef>
            <a:effectRef idx="0">
              <a:schemeClr val="dk1"/>
            </a:effectRef>
            <a:fontRef idx="minor">
              <a:schemeClr val="tx1"/>
            </a:fontRef>
          </p:style>
        </p:cxnSp>
        <p:cxnSp>
          <p:nvCxnSpPr>
            <p:cNvPr id="28" name="Curved Connector 27">
              <a:extLst>
                <a:ext uri="{FF2B5EF4-FFF2-40B4-BE49-F238E27FC236}">
                  <a16:creationId xmlns:a16="http://schemas.microsoft.com/office/drawing/2014/main" id="{A09E695A-23DA-9044-ACBF-7408B90884D5}"/>
                </a:ext>
              </a:extLst>
            </p:cNvPr>
            <p:cNvCxnSpPr>
              <a:cxnSpLocks/>
              <a:stCxn id="19" idx="0"/>
              <a:endCxn id="17" idx="0"/>
            </p:cNvCxnSpPr>
            <p:nvPr/>
          </p:nvCxnSpPr>
          <p:spPr>
            <a:xfrm rot="16200000" flipV="1">
              <a:off x="6274031" y="2998775"/>
              <a:ext cx="12700" cy="2376087"/>
            </a:xfrm>
            <a:prstGeom prst="curvedConnector3">
              <a:avLst>
                <a:gd name="adj1" fmla="val 1800000"/>
              </a:avLst>
            </a:prstGeom>
            <a:ln w="12700">
              <a:prstDash val="dash"/>
              <a:tailEnd type="triangle"/>
            </a:ln>
          </p:spPr>
          <p:style>
            <a:lnRef idx="1">
              <a:schemeClr val="dk1"/>
            </a:lnRef>
            <a:fillRef idx="0">
              <a:schemeClr val="dk1"/>
            </a:fillRef>
            <a:effectRef idx="0">
              <a:schemeClr val="dk1"/>
            </a:effectRef>
            <a:fontRef idx="minor">
              <a:schemeClr val="tx1"/>
            </a:fontRef>
          </p:style>
        </p:cxnSp>
      </p:grpSp>
      <p:sp>
        <p:nvSpPr>
          <p:cNvPr id="12" name="TextBox 11">
            <a:extLst>
              <a:ext uri="{FF2B5EF4-FFF2-40B4-BE49-F238E27FC236}">
                <a16:creationId xmlns:a16="http://schemas.microsoft.com/office/drawing/2014/main" id="{95DDCF24-EFFA-C54F-AF68-1B45A8488711}"/>
              </a:ext>
            </a:extLst>
          </p:cNvPr>
          <p:cNvSpPr txBox="1"/>
          <p:nvPr/>
        </p:nvSpPr>
        <p:spPr>
          <a:xfrm>
            <a:off x="1950222" y="3711964"/>
            <a:ext cx="1468672" cy="276999"/>
          </a:xfrm>
          <a:prstGeom prst="rect">
            <a:avLst/>
          </a:prstGeom>
          <a:noFill/>
        </p:spPr>
        <p:txBody>
          <a:bodyPr wrap="none" rtlCol="0">
            <a:spAutoFit/>
          </a:bodyPr>
          <a:lstStyle/>
          <a:p>
            <a:r>
              <a:rPr lang="zh-CN" altLang="en-US" sz="1200" dirty="0"/>
              <a:t>最后写入</a:t>
            </a:r>
            <a:r>
              <a:rPr lang="zh-CN" altLang="en-CN" sz="1200" dirty="0"/>
              <a:t>时间</a:t>
            </a:r>
            <a:r>
              <a:rPr lang="zh-CN" altLang="en-US" sz="1200" dirty="0"/>
              <a:t>顺序</a:t>
            </a:r>
            <a:endParaRPr lang="en-CN" sz="1200" dirty="0"/>
          </a:p>
        </p:txBody>
      </p:sp>
    </p:spTree>
    <p:extLst>
      <p:ext uri="{BB962C8B-B14F-4D97-AF65-F5344CB8AC3E}">
        <p14:creationId xmlns:p14="http://schemas.microsoft.com/office/powerpoint/2010/main" val="2840074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64</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1" name="Rectangle 60">
            <a:extLst>
              <a:ext uri="{FF2B5EF4-FFF2-40B4-BE49-F238E27FC236}">
                <a16:creationId xmlns:a16="http://schemas.microsoft.com/office/drawing/2014/main" id="{3604724D-560C-2F4C-B592-9DE35C6F2ADF}"/>
              </a:ext>
            </a:extLst>
          </p:cNvPr>
          <p:cNvSpPr/>
          <p:nvPr/>
        </p:nvSpPr>
        <p:spPr>
          <a:xfrm>
            <a:off x="1237848" y="340424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3D74F643-85A9-FF46-9092-15C9D4D14A0A}"/>
              </a:ext>
            </a:extLst>
          </p:cNvPr>
          <p:cNvSpPr/>
          <p:nvPr/>
        </p:nvSpPr>
        <p:spPr>
          <a:xfrm>
            <a:off x="1913518"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4" name="Rectangle 63">
            <a:extLst>
              <a:ext uri="{FF2B5EF4-FFF2-40B4-BE49-F238E27FC236}">
                <a16:creationId xmlns:a16="http://schemas.microsoft.com/office/drawing/2014/main" id="{3E349DA4-8D22-8549-B247-D6CF3C51FD00}"/>
              </a:ext>
            </a:extLst>
          </p:cNvPr>
          <p:cNvSpPr/>
          <p:nvPr/>
        </p:nvSpPr>
        <p:spPr>
          <a:xfrm>
            <a:off x="3847791"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5" name="Rectangle 64">
            <a:extLst>
              <a:ext uri="{FF2B5EF4-FFF2-40B4-BE49-F238E27FC236}">
                <a16:creationId xmlns:a16="http://schemas.microsoft.com/office/drawing/2014/main" id="{0FC00B58-6CF8-524B-BDA4-9C40B3008E1C}"/>
              </a:ext>
            </a:extLst>
          </p:cNvPr>
          <p:cNvSpPr/>
          <p:nvPr/>
        </p:nvSpPr>
        <p:spPr>
          <a:xfrm>
            <a:off x="45484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6" name="Rectangle 65">
            <a:extLst>
              <a:ext uri="{FF2B5EF4-FFF2-40B4-BE49-F238E27FC236}">
                <a16:creationId xmlns:a16="http://schemas.microsoft.com/office/drawing/2014/main" id="{A94981B0-EF59-0A4D-9908-7D853AD7EF2F}"/>
              </a:ext>
            </a:extLst>
          </p:cNvPr>
          <p:cNvSpPr/>
          <p:nvPr/>
        </p:nvSpPr>
        <p:spPr>
          <a:xfrm>
            <a:off x="495077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595A33E2-ED20-3040-8EC9-79A562BB0DC1}"/>
              </a:ext>
            </a:extLst>
          </p:cNvPr>
          <p:cNvSpPr/>
          <p:nvPr/>
        </p:nvSpPr>
        <p:spPr>
          <a:xfrm>
            <a:off x="5646830"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8" name="Rectangle 67">
            <a:extLst>
              <a:ext uri="{FF2B5EF4-FFF2-40B4-BE49-F238E27FC236}">
                <a16:creationId xmlns:a16="http://schemas.microsoft.com/office/drawing/2014/main" id="{DCE95D57-ED27-1745-BCCB-7E5E2CB6F06B}"/>
              </a:ext>
            </a:extLst>
          </p:cNvPr>
          <p:cNvSpPr/>
          <p:nvPr/>
        </p:nvSpPr>
        <p:spPr>
          <a:xfrm>
            <a:off x="66292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9" name="Rectangle 68">
            <a:extLst>
              <a:ext uri="{FF2B5EF4-FFF2-40B4-BE49-F238E27FC236}">
                <a16:creationId xmlns:a16="http://schemas.microsoft.com/office/drawing/2014/main" id="{80A4B5A5-AB4E-1A4B-9323-0BAE7FC64EDE}"/>
              </a:ext>
            </a:extLst>
          </p:cNvPr>
          <p:cNvSpPr/>
          <p:nvPr/>
        </p:nvSpPr>
        <p:spPr>
          <a:xfrm>
            <a:off x="6199526"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0" name="Rectangle 69">
            <a:extLst>
              <a:ext uri="{FF2B5EF4-FFF2-40B4-BE49-F238E27FC236}">
                <a16:creationId xmlns:a16="http://schemas.microsoft.com/office/drawing/2014/main" id="{CD83DEFF-342D-B043-AE8A-59A802779196}"/>
              </a:ext>
            </a:extLst>
          </p:cNvPr>
          <p:cNvSpPr/>
          <p:nvPr/>
        </p:nvSpPr>
        <p:spPr>
          <a:xfrm>
            <a:off x="7123347"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8" name="Rectangle 37">
            <a:extLst>
              <a:ext uri="{FF2B5EF4-FFF2-40B4-BE49-F238E27FC236}">
                <a16:creationId xmlns:a16="http://schemas.microsoft.com/office/drawing/2014/main" id="{8290AD89-7DFA-074E-89D5-1AF26181DAF3}"/>
              </a:ext>
            </a:extLst>
          </p:cNvPr>
          <p:cNvSpPr/>
          <p:nvPr/>
        </p:nvSpPr>
        <p:spPr>
          <a:xfrm>
            <a:off x="1118226" y="3404242"/>
            <a:ext cx="1675606" cy="389360"/>
          </a:xfrm>
          <a:prstGeom prst="rect">
            <a:avLst/>
          </a:prstGeom>
          <a:solidFill>
            <a:schemeClr val="bg1">
              <a:lumMod val="85000"/>
              <a:alpha val="93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9" name="Rectangle 38">
            <a:extLst>
              <a:ext uri="{FF2B5EF4-FFF2-40B4-BE49-F238E27FC236}">
                <a16:creationId xmlns:a16="http://schemas.microsoft.com/office/drawing/2014/main" id="{E4F17CE2-917C-374B-804A-7D8C3F5D64C4}"/>
              </a:ext>
            </a:extLst>
          </p:cNvPr>
          <p:cNvSpPr/>
          <p:nvPr/>
        </p:nvSpPr>
        <p:spPr>
          <a:xfrm>
            <a:off x="3635739" y="3404242"/>
            <a:ext cx="1675606" cy="389360"/>
          </a:xfrm>
          <a:prstGeom prst="rect">
            <a:avLst/>
          </a:prstGeom>
          <a:solidFill>
            <a:schemeClr val="bg1">
              <a:lumMod val="85000"/>
              <a:alpha val="93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40" name="Rectangle 39">
            <a:extLst>
              <a:ext uri="{FF2B5EF4-FFF2-40B4-BE49-F238E27FC236}">
                <a16:creationId xmlns:a16="http://schemas.microsoft.com/office/drawing/2014/main" id="{EBD1B1AA-DD89-5E4D-92D2-9B6F6CD7D329}"/>
              </a:ext>
            </a:extLst>
          </p:cNvPr>
          <p:cNvSpPr/>
          <p:nvPr/>
        </p:nvSpPr>
        <p:spPr>
          <a:xfrm>
            <a:off x="5645823" y="3404241"/>
            <a:ext cx="1675606" cy="389360"/>
          </a:xfrm>
          <a:prstGeom prst="rect">
            <a:avLst/>
          </a:prstGeom>
          <a:solidFill>
            <a:schemeClr val="bg1">
              <a:lumMod val="85000"/>
              <a:alpha val="93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Tree>
    <p:extLst>
      <p:ext uri="{BB962C8B-B14F-4D97-AF65-F5344CB8AC3E}">
        <p14:creationId xmlns:p14="http://schemas.microsoft.com/office/powerpoint/2010/main" val="41956342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0" indent="0">
              <a:buNone/>
            </a:pP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65</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1" name="Rectangle 60">
            <a:extLst>
              <a:ext uri="{FF2B5EF4-FFF2-40B4-BE49-F238E27FC236}">
                <a16:creationId xmlns:a16="http://schemas.microsoft.com/office/drawing/2014/main" id="{3604724D-560C-2F4C-B592-9DE35C6F2ADF}"/>
              </a:ext>
            </a:extLst>
          </p:cNvPr>
          <p:cNvSpPr/>
          <p:nvPr/>
        </p:nvSpPr>
        <p:spPr>
          <a:xfrm>
            <a:off x="1237848" y="340424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3D74F643-85A9-FF46-9092-15C9D4D14A0A}"/>
              </a:ext>
            </a:extLst>
          </p:cNvPr>
          <p:cNvSpPr/>
          <p:nvPr/>
        </p:nvSpPr>
        <p:spPr>
          <a:xfrm>
            <a:off x="1913518"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4" name="Rectangle 63">
            <a:extLst>
              <a:ext uri="{FF2B5EF4-FFF2-40B4-BE49-F238E27FC236}">
                <a16:creationId xmlns:a16="http://schemas.microsoft.com/office/drawing/2014/main" id="{3E349DA4-8D22-8549-B247-D6CF3C51FD00}"/>
              </a:ext>
            </a:extLst>
          </p:cNvPr>
          <p:cNvSpPr/>
          <p:nvPr/>
        </p:nvSpPr>
        <p:spPr>
          <a:xfrm>
            <a:off x="3847791"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5" name="Rectangle 64">
            <a:extLst>
              <a:ext uri="{FF2B5EF4-FFF2-40B4-BE49-F238E27FC236}">
                <a16:creationId xmlns:a16="http://schemas.microsoft.com/office/drawing/2014/main" id="{0FC00B58-6CF8-524B-BDA4-9C40B3008E1C}"/>
              </a:ext>
            </a:extLst>
          </p:cNvPr>
          <p:cNvSpPr/>
          <p:nvPr/>
        </p:nvSpPr>
        <p:spPr>
          <a:xfrm>
            <a:off x="45484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6" name="Rectangle 65">
            <a:extLst>
              <a:ext uri="{FF2B5EF4-FFF2-40B4-BE49-F238E27FC236}">
                <a16:creationId xmlns:a16="http://schemas.microsoft.com/office/drawing/2014/main" id="{A94981B0-EF59-0A4D-9908-7D853AD7EF2F}"/>
              </a:ext>
            </a:extLst>
          </p:cNvPr>
          <p:cNvSpPr/>
          <p:nvPr/>
        </p:nvSpPr>
        <p:spPr>
          <a:xfrm>
            <a:off x="495077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595A33E2-ED20-3040-8EC9-79A562BB0DC1}"/>
              </a:ext>
            </a:extLst>
          </p:cNvPr>
          <p:cNvSpPr/>
          <p:nvPr/>
        </p:nvSpPr>
        <p:spPr>
          <a:xfrm>
            <a:off x="5646830"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8" name="Rectangle 67">
            <a:extLst>
              <a:ext uri="{FF2B5EF4-FFF2-40B4-BE49-F238E27FC236}">
                <a16:creationId xmlns:a16="http://schemas.microsoft.com/office/drawing/2014/main" id="{DCE95D57-ED27-1745-BCCB-7E5E2CB6F06B}"/>
              </a:ext>
            </a:extLst>
          </p:cNvPr>
          <p:cNvSpPr/>
          <p:nvPr/>
        </p:nvSpPr>
        <p:spPr>
          <a:xfrm>
            <a:off x="66292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9" name="Rectangle 68">
            <a:extLst>
              <a:ext uri="{FF2B5EF4-FFF2-40B4-BE49-F238E27FC236}">
                <a16:creationId xmlns:a16="http://schemas.microsoft.com/office/drawing/2014/main" id="{80A4B5A5-AB4E-1A4B-9323-0BAE7FC64EDE}"/>
              </a:ext>
            </a:extLst>
          </p:cNvPr>
          <p:cNvSpPr/>
          <p:nvPr/>
        </p:nvSpPr>
        <p:spPr>
          <a:xfrm>
            <a:off x="6199526"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0" name="Rectangle 69">
            <a:extLst>
              <a:ext uri="{FF2B5EF4-FFF2-40B4-BE49-F238E27FC236}">
                <a16:creationId xmlns:a16="http://schemas.microsoft.com/office/drawing/2014/main" id="{CD83DEFF-342D-B043-AE8A-59A802779196}"/>
              </a:ext>
            </a:extLst>
          </p:cNvPr>
          <p:cNvSpPr/>
          <p:nvPr/>
        </p:nvSpPr>
        <p:spPr>
          <a:xfrm>
            <a:off x="7123347"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 name="TextBox 5">
            <a:extLst>
              <a:ext uri="{FF2B5EF4-FFF2-40B4-BE49-F238E27FC236}">
                <a16:creationId xmlns:a16="http://schemas.microsoft.com/office/drawing/2014/main" id="{ED340EF6-2C0F-5B4E-A578-9F091D06C3A0}"/>
              </a:ext>
            </a:extLst>
          </p:cNvPr>
          <p:cNvSpPr txBox="1"/>
          <p:nvPr/>
        </p:nvSpPr>
        <p:spPr>
          <a:xfrm>
            <a:off x="6800528" y="2476513"/>
            <a:ext cx="902811" cy="307777"/>
          </a:xfrm>
          <a:prstGeom prst="rect">
            <a:avLst/>
          </a:prstGeom>
          <a:noFill/>
        </p:spPr>
        <p:txBody>
          <a:bodyPr wrap="none" rtlCol="0">
            <a:spAutoFit/>
          </a:bodyPr>
          <a:lstStyle/>
          <a:p>
            <a:r>
              <a:rPr lang="zh-CN" altLang="en-CN" sz="1400" dirty="0"/>
              <a:t>有效数据</a:t>
            </a:r>
            <a:endParaRPr lang="en-CN" sz="1400" dirty="0"/>
          </a:p>
        </p:txBody>
      </p:sp>
      <p:cxnSp>
        <p:nvCxnSpPr>
          <p:cNvPr id="8" name="Straight Arrow Connector 7">
            <a:extLst>
              <a:ext uri="{FF2B5EF4-FFF2-40B4-BE49-F238E27FC236}">
                <a16:creationId xmlns:a16="http://schemas.microsoft.com/office/drawing/2014/main" id="{0761A1B4-31ED-2E40-936A-A53CE6764952}"/>
              </a:ext>
            </a:extLst>
          </p:cNvPr>
          <p:cNvCxnSpPr>
            <a:stCxn id="6" idx="2"/>
            <a:endCxn id="68" idx="0"/>
          </p:cNvCxnSpPr>
          <p:nvPr/>
        </p:nvCxnSpPr>
        <p:spPr>
          <a:xfrm flipH="1">
            <a:off x="6771303" y="2784290"/>
            <a:ext cx="480631" cy="619953"/>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7402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457200" indent="-457200">
              <a:buFont typeface="+mj-lt"/>
              <a:buAutoNum type="arabicPeriod"/>
            </a:pPr>
            <a:r>
              <a:rPr lang="zh-CN" altLang="en-US" sz="1800" b="0" dirty="0"/>
              <a:t>将有效数据整理后写入到干净段中（对应拷贝方法）</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66</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1" name="Rectangle 60">
            <a:extLst>
              <a:ext uri="{FF2B5EF4-FFF2-40B4-BE49-F238E27FC236}">
                <a16:creationId xmlns:a16="http://schemas.microsoft.com/office/drawing/2014/main" id="{3604724D-560C-2F4C-B592-9DE35C6F2ADF}"/>
              </a:ext>
            </a:extLst>
          </p:cNvPr>
          <p:cNvSpPr/>
          <p:nvPr/>
        </p:nvSpPr>
        <p:spPr>
          <a:xfrm>
            <a:off x="1237848" y="340424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3D74F643-85A9-FF46-9092-15C9D4D14A0A}"/>
              </a:ext>
            </a:extLst>
          </p:cNvPr>
          <p:cNvSpPr/>
          <p:nvPr/>
        </p:nvSpPr>
        <p:spPr>
          <a:xfrm>
            <a:off x="1913518"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4" name="Rectangle 63">
            <a:extLst>
              <a:ext uri="{FF2B5EF4-FFF2-40B4-BE49-F238E27FC236}">
                <a16:creationId xmlns:a16="http://schemas.microsoft.com/office/drawing/2014/main" id="{3E349DA4-8D22-8549-B247-D6CF3C51FD00}"/>
              </a:ext>
            </a:extLst>
          </p:cNvPr>
          <p:cNvSpPr/>
          <p:nvPr/>
        </p:nvSpPr>
        <p:spPr>
          <a:xfrm>
            <a:off x="3847791"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5" name="Rectangle 64">
            <a:extLst>
              <a:ext uri="{FF2B5EF4-FFF2-40B4-BE49-F238E27FC236}">
                <a16:creationId xmlns:a16="http://schemas.microsoft.com/office/drawing/2014/main" id="{0FC00B58-6CF8-524B-BDA4-9C40B3008E1C}"/>
              </a:ext>
            </a:extLst>
          </p:cNvPr>
          <p:cNvSpPr/>
          <p:nvPr/>
        </p:nvSpPr>
        <p:spPr>
          <a:xfrm>
            <a:off x="45484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6" name="Rectangle 65">
            <a:extLst>
              <a:ext uri="{FF2B5EF4-FFF2-40B4-BE49-F238E27FC236}">
                <a16:creationId xmlns:a16="http://schemas.microsoft.com/office/drawing/2014/main" id="{A94981B0-EF59-0A4D-9908-7D853AD7EF2F}"/>
              </a:ext>
            </a:extLst>
          </p:cNvPr>
          <p:cNvSpPr/>
          <p:nvPr/>
        </p:nvSpPr>
        <p:spPr>
          <a:xfrm>
            <a:off x="495077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595A33E2-ED20-3040-8EC9-79A562BB0DC1}"/>
              </a:ext>
            </a:extLst>
          </p:cNvPr>
          <p:cNvSpPr/>
          <p:nvPr/>
        </p:nvSpPr>
        <p:spPr>
          <a:xfrm>
            <a:off x="5646830"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8" name="Rectangle 67">
            <a:extLst>
              <a:ext uri="{FF2B5EF4-FFF2-40B4-BE49-F238E27FC236}">
                <a16:creationId xmlns:a16="http://schemas.microsoft.com/office/drawing/2014/main" id="{DCE95D57-ED27-1745-BCCB-7E5E2CB6F06B}"/>
              </a:ext>
            </a:extLst>
          </p:cNvPr>
          <p:cNvSpPr/>
          <p:nvPr/>
        </p:nvSpPr>
        <p:spPr>
          <a:xfrm>
            <a:off x="66292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9" name="Rectangle 68">
            <a:extLst>
              <a:ext uri="{FF2B5EF4-FFF2-40B4-BE49-F238E27FC236}">
                <a16:creationId xmlns:a16="http://schemas.microsoft.com/office/drawing/2014/main" id="{80A4B5A5-AB4E-1A4B-9323-0BAE7FC64EDE}"/>
              </a:ext>
            </a:extLst>
          </p:cNvPr>
          <p:cNvSpPr/>
          <p:nvPr/>
        </p:nvSpPr>
        <p:spPr>
          <a:xfrm>
            <a:off x="6199526"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0" name="Rectangle 69">
            <a:extLst>
              <a:ext uri="{FF2B5EF4-FFF2-40B4-BE49-F238E27FC236}">
                <a16:creationId xmlns:a16="http://schemas.microsoft.com/office/drawing/2014/main" id="{CD83DEFF-342D-B043-AE8A-59A802779196}"/>
              </a:ext>
            </a:extLst>
          </p:cNvPr>
          <p:cNvSpPr/>
          <p:nvPr/>
        </p:nvSpPr>
        <p:spPr>
          <a:xfrm>
            <a:off x="7123347"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cxnSp>
        <p:nvCxnSpPr>
          <p:cNvPr id="71" name="Straight Arrow Connector 70">
            <a:extLst>
              <a:ext uri="{FF2B5EF4-FFF2-40B4-BE49-F238E27FC236}">
                <a16:creationId xmlns:a16="http://schemas.microsoft.com/office/drawing/2014/main" id="{8FC9030B-377E-9645-B203-6958246DFC71}"/>
              </a:ext>
            </a:extLst>
          </p:cNvPr>
          <p:cNvCxnSpPr>
            <a:cxnSpLocks/>
            <a:stCxn id="61" idx="2"/>
            <a:endCxn id="73" idx="0"/>
          </p:cNvCxnSpPr>
          <p:nvPr/>
        </p:nvCxnSpPr>
        <p:spPr>
          <a:xfrm>
            <a:off x="1379898" y="3793602"/>
            <a:ext cx="1086177" cy="8581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1E43EDD1-A9A7-614F-9EFE-B1160D3CC18E}"/>
              </a:ext>
            </a:extLst>
          </p:cNvPr>
          <p:cNvSpPr/>
          <p:nvPr/>
        </p:nvSpPr>
        <p:spPr>
          <a:xfrm>
            <a:off x="2321921" y="4651755"/>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3" name="Rectangle 72">
            <a:extLst>
              <a:ext uri="{FF2B5EF4-FFF2-40B4-BE49-F238E27FC236}">
                <a16:creationId xmlns:a16="http://schemas.microsoft.com/office/drawing/2014/main" id="{9D291F20-0E1B-4B40-84B5-93F9857B9016}"/>
              </a:ext>
            </a:extLst>
          </p:cNvPr>
          <p:cNvSpPr/>
          <p:nvPr/>
        </p:nvSpPr>
        <p:spPr>
          <a:xfrm>
            <a:off x="2324025" y="465175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4" name="Rectangle 73">
            <a:extLst>
              <a:ext uri="{FF2B5EF4-FFF2-40B4-BE49-F238E27FC236}">
                <a16:creationId xmlns:a16="http://schemas.microsoft.com/office/drawing/2014/main" id="{4D02FC83-4F5B-D74C-8967-139BA075090F}"/>
              </a:ext>
            </a:extLst>
          </p:cNvPr>
          <p:cNvSpPr/>
          <p:nvPr/>
        </p:nvSpPr>
        <p:spPr>
          <a:xfrm>
            <a:off x="2607166"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5" name="Rectangle 74">
            <a:extLst>
              <a:ext uri="{FF2B5EF4-FFF2-40B4-BE49-F238E27FC236}">
                <a16:creationId xmlns:a16="http://schemas.microsoft.com/office/drawing/2014/main" id="{6C795482-7547-9444-BD82-F6A543B53AA5}"/>
              </a:ext>
            </a:extLst>
          </p:cNvPr>
          <p:cNvSpPr/>
          <p:nvPr/>
        </p:nvSpPr>
        <p:spPr>
          <a:xfrm>
            <a:off x="3156567"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6" name="Rectangle 75">
            <a:extLst>
              <a:ext uri="{FF2B5EF4-FFF2-40B4-BE49-F238E27FC236}">
                <a16:creationId xmlns:a16="http://schemas.microsoft.com/office/drawing/2014/main" id="{71288A48-D39C-C94A-8023-F29E6CF9A2E1}"/>
              </a:ext>
            </a:extLst>
          </p:cNvPr>
          <p:cNvSpPr/>
          <p:nvPr/>
        </p:nvSpPr>
        <p:spPr>
          <a:xfrm>
            <a:off x="4264546" y="4650526"/>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7" name="Rectangle 76">
            <a:extLst>
              <a:ext uri="{FF2B5EF4-FFF2-40B4-BE49-F238E27FC236}">
                <a16:creationId xmlns:a16="http://schemas.microsoft.com/office/drawing/2014/main" id="{CA810592-36FE-4A49-981E-36DE066E88EB}"/>
              </a:ext>
            </a:extLst>
          </p:cNvPr>
          <p:cNvSpPr/>
          <p:nvPr/>
        </p:nvSpPr>
        <p:spPr>
          <a:xfrm>
            <a:off x="3705032" y="465052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8" name="Rectangle 77">
            <a:extLst>
              <a:ext uri="{FF2B5EF4-FFF2-40B4-BE49-F238E27FC236}">
                <a16:creationId xmlns:a16="http://schemas.microsoft.com/office/drawing/2014/main" id="{D052D2B2-A630-3E4F-B3D6-1AD6BE78222A}"/>
              </a:ext>
            </a:extLst>
          </p:cNvPr>
          <p:cNvSpPr/>
          <p:nvPr/>
        </p:nvSpPr>
        <p:spPr>
          <a:xfrm>
            <a:off x="4263772" y="4649298"/>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9" name="Rectangle 78">
            <a:extLst>
              <a:ext uri="{FF2B5EF4-FFF2-40B4-BE49-F238E27FC236}">
                <a16:creationId xmlns:a16="http://schemas.microsoft.com/office/drawing/2014/main" id="{EED8C14F-3831-3B4F-A06E-0C87D8966E1F}"/>
              </a:ext>
            </a:extLst>
          </p:cNvPr>
          <p:cNvSpPr/>
          <p:nvPr/>
        </p:nvSpPr>
        <p:spPr>
          <a:xfrm>
            <a:off x="4547307" y="464929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0" name="Rectangle 79">
            <a:extLst>
              <a:ext uri="{FF2B5EF4-FFF2-40B4-BE49-F238E27FC236}">
                <a16:creationId xmlns:a16="http://schemas.microsoft.com/office/drawing/2014/main" id="{498D9899-F014-DC48-AFD3-6F7873F6D0CB}"/>
              </a:ext>
            </a:extLst>
          </p:cNvPr>
          <p:cNvSpPr/>
          <p:nvPr/>
        </p:nvSpPr>
        <p:spPr>
          <a:xfrm>
            <a:off x="4830634" y="4649296"/>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1" name="Rectangle 80">
            <a:extLst>
              <a:ext uri="{FF2B5EF4-FFF2-40B4-BE49-F238E27FC236}">
                <a16:creationId xmlns:a16="http://schemas.microsoft.com/office/drawing/2014/main" id="{B5E76540-479D-2B4C-AB6A-EBB2112EC564}"/>
              </a:ext>
            </a:extLst>
          </p:cNvPr>
          <p:cNvSpPr/>
          <p:nvPr/>
        </p:nvSpPr>
        <p:spPr>
          <a:xfrm>
            <a:off x="4971910" y="4649295"/>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2" name="Rectangle 81">
            <a:extLst>
              <a:ext uri="{FF2B5EF4-FFF2-40B4-BE49-F238E27FC236}">
                <a16:creationId xmlns:a16="http://schemas.microsoft.com/office/drawing/2014/main" id="{2F89ADF0-03AB-4247-8D9D-C3F356316B2F}"/>
              </a:ext>
            </a:extLst>
          </p:cNvPr>
          <p:cNvSpPr/>
          <p:nvPr/>
        </p:nvSpPr>
        <p:spPr>
          <a:xfrm>
            <a:off x="5254157" y="464806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cxnSp>
        <p:nvCxnSpPr>
          <p:cNvPr id="83" name="Straight Arrow Connector 82">
            <a:extLst>
              <a:ext uri="{FF2B5EF4-FFF2-40B4-BE49-F238E27FC236}">
                <a16:creationId xmlns:a16="http://schemas.microsoft.com/office/drawing/2014/main" id="{CCAB2C31-6F1E-2F4A-BD7C-0E2F71B803DB}"/>
              </a:ext>
            </a:extLst>
          </p:cNvPr>
          <p:cNvCxnSpPr>
            <a:cxnSpLocks/>
            <a:stCxn id="69" idx="2"/>
            <a:endCxn id="80" idx="0"/>
          </p:cNvCxnSpPr>
          <p:nvPr/>
        </p:nvCxnSpPr>
        <p:spPr>
          <a:xfrm flipH="1">
            <a:off x="4901812" y="3793602"/>
            <a:ext cx="1368892" cy="85569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C6A87D88-E4FE-CE4D-A2E8-846405544032}"/>
              </a:ext>
            </a:extLst>
          </p:cNvPr>
          <p:cNvCxnSpPr>
            <a:cxnSpLocks/>
            <a:stCxn id="68" idx="2"/>
            <a:endCxn id="81" idx="0"/>
          </p:cNvCxnSpPr>
          <p:nvPr/>
        </p:nvCxnSpPr>
        <p:spPr>
          <a:xfrm flipH="1">
            <a:off x="5113961" y="3793602"/>
            <a:ext cx="1657342" cy="8556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AC043AC4-3FCC-524B-9674-98725FF7F45C}"/>
              </a:ext>
            </a:extLst>
          </p:cNvPr>
          <p:cNvCxnSpPr>
            <a:cxnSpLocks/>
            <a:stCxn id="70" idx="2"/>
            <a:endCxn id="82" idx="0"/>
          </p:cNvCxnSpPr>
          <p:nvPr/>
        </p:nvCxnSpPr>
        <p:spPr>
          <a:xfrm flipH="1">
            <a:off x="5325335" y="3793602"/>
            <a:ext cx="1869190" cy="85446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CAE1A37E-93A3-194B-9215-533E3AA8E37D}"/>
              </a:ext>
            </a:extLst>
          </p:cNvPr>
          <p:cNvCxnSpPr>
            <a:cxnSpLocks/>
            <a:stCxn id="63" idx="2"/>
            <a:endCxn id="74" idx="0"/>
          </p:cNvCxnSpPr>
          <p:nvPr/>
        </p:nvCxnSpPr>
        <p:spPr>
          <a:xfrm>
            <a:off x="2187751" y="3793602"/>
            <a:ext cx="693648" cy="856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5125AFD-B7E5-E245-8E49-46C8C01F1CA4}"/>
              </a:ext>
            </a:extLst>
          </p:cNvPr>
          <p:cNvCxnSpPr>
            <a:cxnSpLocks/>
            <a:stCxn id="64" idx="2"/>
            <a:endCxn id="75" idx="0"/>
          </p:cNvCxnSpPr>
          <p:nvPr/>
        </p:nvCxnSpPr>
        <p:spPr>
          <a:xfrm flipH="1">
            <a:off x="3430800" y="3793602"/>
            <a:ext cx="691224" cy="856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6121DAF1-26C3-DA43-89B7-54237546B5E9}"/>
              </a:ext>
            </a:extLst>
          </p:cNvPr>
          <p:cNvCxnSpPr>
            <a:cxnSpLocks/>
            <a:stCxn id="65" idx="2"/>
            <a:endCxn id="77" idx="0"/>
          </p:cNvCxnSpPr>
          <p:nvPr/>
        </p:nvCxnSpPr>
        <p:spPr>
          <a:xfrm flipH="1">
            <a:off x="3847083" y="3793602"/>
            <a:ext cx="843420" cy="856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48B80591-F9F8-BF45-8050-E5114958E524}"/>
              </a:ext>
            </a:extLst>
          </p:cNvPr>
          <p:cNvCxnSpPr>
            <a:cxnSpLocks/>
            <a:stCxn id="66" idx="2"/>
            <a:endCxn id="78" idx="0"/>
          </p:cNvCxnSpPr>
          <p:nvPr/>
        </p:nvCxnSpPr>
        <p:spPr>
          <a:xfrm flipH="1">
            <a:off x="4405823" y="3793602"/>
            <a:ext cx="687000" cy="85569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03AB8B1A-5A04-EB43-A8C7-5136CD86F005}"/>
              </a:ext>
            </a:extLst>
          </p:cNvPr>
          <p:cNvCxnSpPr>
            <a:cxnSpLocks/>
            <a:stCxn id="67" idx="2"/>
            <a:endCxn id="79" idx="0"/>
          </p:cNvCxnSpPr>
          <p:nvPr/>
        </p:nvCxnSpPr>
        <p:spPr>
          <a:xfrm flipH="1">
            <a:off x="4689358" y="3793602"/>
            <a:ext cx="1099523" cy="8556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8824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457200" indent="-457200">
              <a:buFont typeface="+mj-lt"/>
              <a:buAutoNum type="arabicPeriod"/>
            </a:pPr>
            <a:r>
              <a:rPr lang="zh-CN" altLang="en-US" sz="1800" b="0" dirty="0"/>
              <a:t>将有效数据整理后写入到干净段中（对应拷贝方法）</a:t>
            </a:r>
            <a:endParaRPr lang="en-US" altLang="zh-CN" sz="1800" b="0" dirty="0"/>
          </a:p>
          <a:p>
            <a:pPr marL="457200" indent="-457200">
              <a:buFont typeface="+mj-lt"/>
              <a:buAutoNum type="arabicPeriod"/>
            </a:pPr>
            <a:r>
              <a:rPr lang="zh-CN" altLang="en-US" sz="1800" b="0" dirty="0"/>
              <a:t>标记被清理的段为干净</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67</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2" name="Rectangle 71">
            <a:extLst>
              <a:ext uri="{FF2B5EF4-FFF2-40B4-BE49-F238E27FC236}">
                <a16:creationId xmlns:a16="http://schemas.microsoft.com/office/drawing/2014/main" id="{1E43EDD1-A9A7-614F-9EFE-B1160D3CC18E}"/>
              </a:ext>
            </a:extLst>
          </p:cNvPr>
          <p:cNvSpPr/>
          <p:nvPr/>
        </p:nvSpPr>
        <p:spPr>
          <a:xfrm>
            <a:off x="2321921" y="4651755"/>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3" name="Rectangle 72">
            <a:extLst>
              <a:ext uri="{FF2B5EF4-FFF2-40B4-BE49-F238E27FC236}">
                <a16:creationId xmlns:a16="http://schemas.microsoft.com/office/drawing/2014/main" id="{9D291F20-0E1B-4B40-84B5-93F9857B9016}"/>
              </a:ext>
            </a:extLst>
          </p:cNvPr>
          <p:cNvSpPr/>
          <p:nvPr/>
        </p:nvSpPr>
        <p:spPr>
          <a:xfrm>
            <a:off x="2324025" y="465175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4" name="Rectangle 73">
            <a:extLst>
              <a:ext uri="{FF2B5EF4-FFF2-40B4-BE49-F238E27FC236}">
                <a16:creationId xmlns:a16="http://schemas.microsoft.com/office/drawing/2014/main" id="{4D02FC83-4F5B-D74C-8967-139BA075090F}"/>
              </a:ext>
            </a:extLst>
          </p:cNvPr>
          <p:cNvSpPr/>
          <p:nvPr/>
        </p:nvSpPr>
        <p:spPr>
          <a:xfrm>
            <a:off x="2607166"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5" name="Rectangle 74">
            <a:extLst>
              <a:ext uri="{FF2B5EF4-FFF2-40B4-BE49-F238E27FC236}">
                <a16:creationId xmlns:a16="http://schemas.microsoft.com/office/drawing/2014/main" id="{6C795482-7547-9444-BD82-F6A543B53AA5}"/>
              </a:ext>
            </a:extLst>
          </p:cNvPr>
          <p:cNvSpPr/>
          <p:nvPr/>
        </p:nvSpPr>
        <p:spPr>
          <a:xfrm>
            <a:off x="3156567"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6" name="Rectangle 75">
            <a:extLst>
              <a:ext uri="{FF2B5EF4-FFF2-40B4-BE49-F238E27FC236}">
                <a16:creationId xmlns:a16="http://schemas.microsoft.com/office/drawing/2014/main" id="{71288A48-D39C-C94A-8023-F29E6CF9A2E1}"/>
              </a:ext>
            </a:extLst>
          </p:cNvPr>
          <p:cNvSpPr/>
          <p:nvPr/>
        </p:nvSpPr>
        <p:spPr>
          <a:xfrm>
            <a:off x="4264546" y="4650526"/>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7" name="Rectangle 76">
            <a:extLst>
              <a:ext uri="{FF2B5EF4-FFF2-40B4-BE49-F238E27FC236}">
                <a16:creationId xmlns:a16="http://schemas.microsoft.com/office/drawing/2014/main" id="{CA810592-36FE-4A49-981E-36DE066E88EB}"/>
              </a:ext>
            </a:extLst>
          </p:cNvPr>
          <p:cNvSpPr/>
          <p:nvPr/>
        </p:nvSpPr>
        <p:spPr>
          <a:xfrm>
            <a:off x="3705032" y="465052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8" name="Rectangle 77">
            <a:extLst>
              <a:ext uri="{FF2B5EF4-FFF2-40B4-BE49-F238E27FC236}">
                <a16:creationId xmlns:a16="http://schemas.microsoft.com/office/drawing/2014/main" id="{D052D2B2-A630-3E4F-B3D6-1AD6BE78222A}"/>
              </a:ext>
            </a:extLst>
          </p:cNvPr>
          <p:cNvSpPr/>
          <p:nvPr/>
        </p:nvSpPr>
        <p:spPr>
          <a:xfrm>
            <a:off x="4263772" y="4649298"/>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9" name="Rectangle 78">
            <a:extLst>
              <a:ext uri="{FF2B5EF4-FFF2-40B4-BE49-F238E27FC236}">
                <a16:creationId xmlns:a16="http://schemas.microsoft.com/office/drawing/2014/main" id="{EED8C14F-3831-3B4F-A06E-0C87D8966E1F}"/>
              </a:ext>
            </a:extLst>
          </p:cNvPr>
          <p:cNvSpPr/>
          <p:nvPr/>
        </p:nvSpPr>
        <p:spPr>
          <a:xfrm>
            <a:off x="4547307" y="464929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0" name="Rectangle 79">
            <a:extLst>
              <a:ext uri="{FF2B5EF4-FFF2-40B4-BE49-F238E27FC236}">
                <a16:creationId xmlns:a16="http://schemas.microsoft.com/office/drawing/2014/main" id="{498D9899-F014-DC48-AFD3-6F7873F6D0CB}"/>
              </a:ext>
            </a:extLst>
          </p:cNvPr>
          <p:cNvSpPr/>
          <p:nvPr/>
        </p:nvSpPr>
        <p:spPr>
          <a:xfrm>
            <a:off x="4830634" y="4649296"/>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1" name="Rectangle 80">
            <a:extLst>
              <a:ext uri="{FF2B5EF4-FFF2-40B4-BE49-F238E27FC236}">
                <a16:creationId xmlns:a16="http://schemas.microsoft.com/office/drawing/2014/main" id="{B5E76540-479D-2B4C-AB6A-EBB2112EC564}"/>
              </a:ext>
            </a:extLst>
          </p:cNvPr>
          <p:cNvSpPr/>
          <p:nvPr/>
        </p:nvSpPr>
        <p:spPr>
          <a:xfrm>
            <a:off x="4971910" y="4649295"/>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2" name="Rectangle 81">
            <a:extLst>
              <a:ext uri="{FF2B5EF4-FFF2-40B4-BE49-F238E27FC236}">
                <a16:creationId xmlns:a16="http://schemas.microsoft.com/office/drawing/2014/main" id="{2F89ADF0-03AB-4247-8D9D-C3F356316B2F}"/>
              </a:ext>
            </a:extLst>
          </p:cNvPr>
          <p:cNvSpPr/>
          <p:nvPr/>
        </p:nvSpPr>
        <p:spPr>
          <a:xfrm>
            <a:off x="5254157" y="464806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8" name="TextBox 37">
            <a:extLst>
              <a:ext uri="{FF2B5EF4-FFF2-40B4-BE49-F238E27FC236}">
                <a16:creationId xmlns:a16="http://schemas.microsoft.com/office/drawing/2014/main" id="{03674DA5-EDE5-5240-B548-609CF3BEEB88}"/>
              </a:ext>
            </a:extLst>
          </p:cNvPr>
          <p:cNvSpPr txBox="1"/>
          <p:nvPr/>
        </p:nvSpPr>
        <p:spPr>
          <a:xfrm>
            <a:off x="281919" y="4196833"/>
            <a:ext cx="1338828" cy="369332"/>
          </a:xfrm>
          <a:prstGeom prst="rect">
            <a:avLst/>
          </a:prstGeom>
          <a:noFill/>
        </p:spPr>
        <p:txBody>
          <a:bodyPr wrap="none" rtlCol="0">
            <a:spAutoFit/>
          </a:bodyPr>
          <a:lstStyle/>
          <a:p>
            <a:r>
              <a:rPr lang="zh-CN" altLang="en-US" dirty="0"/>
              <a:t>干净段链表</a:t>
            </a:r>
            <a:endParaRPr lang="en-CN" dirty="0"/>
          </a:p>
        </p:txBody>
      </p:sp>
      <p:cxnSp>
        <p:nvCxnSpPr>
          <p:cNvPr id="39" name="Curved Connector 38">
            <a:extLst>
              <a:ext uri="{FF2B5EF4-FFF2-40B4-BE49-F238E27FC236}">
                <a16:creationId xmlns:a16="http://schemas.microsoft.com/office/drawing/2014/main" id="{F801FD85-C1C0-5349-9C2E-FCCA734628DE}"/>
              </a:ext>
            </a:extLst>
          </p:cNvPr>
          <p:cNvCxnSpPr>
            <a:cxnSpLocks/>
            <a:stCxn id="38" idx="3"/>
            <a:endCxn id="55" idx="1"/>
          </p:cNvCxnSpPr>
          <p:nvPr/>
        </p:nvCxnSpPr>
        <p:spPr>
          <a:xfrm flipH="1" flipV="1">
            <a:off x="1115616" y="3598924"/>
            <a:ext cx="505131" cy="782575"/>
          </a:xfrm>
          <a:prstGeom prst="curvedConnector5">
            <a:avLst>
              <a:gd name="adj1" fmla="val -45256"/>
              <a:gd name="adj2" fmla="val 49360"/>
              <a:gd name="adj3" fmla="val 145256"/>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40">
            <a:extLst>
              <a:ext uri="{FF2B5EF4-FFF2-40B4-BE49-F238E27FC236}">
                <a16:creationId xmlns:a16="http://schemas.microsoft.com/office/drawing/2014/main" id="{31572525-A194-E54A-A443-DA5DBD6646EC}"/>
              </a:ext>
            </a:extLst>
          </p:cNvPr>
          <p:cNvCxnSpPr>
            <a:cxnSpLocks/>
            <a:stCxn id="55" idx="3"/>
            <a:endCxn id="56" idx="1"/>
          </p:cNvCxnSpPr>
          <p:nvPr/>
        </p:nvCxnSpPr>
        <p:spPr>
          <a:xfrm flipV="1">
            <a:off x="2791222" y="3598923"/>
            <a:ext cx="833697"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41">
            <a:extLst>
              <a:ext uri="{FF2B5EF4-FFF2-40B4-BE49-F238E27FC236}">
                <a16:creationId xmlns:a16="http://schemas.microsoft.com/office/drawing/2014/main" id="{4AEEDB45-9F65-B64A-8E50-03B993C630D7}"/>
              </a:ext>
            </a:extLst>
          </p:cNvPr>
          <p:cNvCxnSpPr>
            <a:cxnSpLocks/>
            <a:stCxn id="56" idx="3"/>
            <a:endCxn id="57" idx="1"/>
          </p:cNvCxnSpPr>
          <p:nvPr/>
        </p:nvCxnSpPr>
        <p:spPr>
          <a:xfrm>
            <a:off x="5300525" y="3598923"/>
            <a:ext cx="345298"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98287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457200" indent="-457200">
              <a:buFont typeface="+mj-lt"/>
              <a:buAutoNum type="arabicPeriod"/>
            </a:pPr>
            <a:r>
              <a:rPr lang="zh-CN" altLang="en-US" sz="1800" b="0" dirty="0"/>
              <a:t>将有效数据整理后写入到干净段中（对应拷贝方法）</a:t>
            </a:r>
            <a:endParaRPr lang="en-US" altLang="zh-CN" sz="1800" b="0" dirty="0"/>
          </a:p>
          <a:p>
            <a:pPr marL="457200" indent="-457200">
              <a:buFont typeface="+mj-lt"/>
              <a:buAutoNum type="arabicPeriod"/>
            </a:pPr>
            <a:r>
              <a:rPr lang="zh-CN" altLang="en-US" sz="1800" b="0" dirty="0"/>
              <a:t>标记被清理的段为干净</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68</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2" name="Rectangle 71">
            <a:extLst>
              <a:ext uri="{FF2B5EF4-FFF2-40B4-BE49-F238E27FC236}">
                <a16:creationId xmlns:a16="http://schemas.microsoft.com/office/drawing/2014/main" id="{1E43EDD1-A9A7-614F-9EFE-B1160D3CC18E}"/>
              </a:ext>
            </a:extLst>
          </p:cNvPr>
          <p:cNvSpPr/>
          <p:nvPr/>
        </p:nvSpPr>
        <p:spPr>
          <a:xfrm>
            <a:off x="2321921" y="4651755"/>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3" name="Rectangle 72">
            <a:extLst>
              <a:ext uri="{FF2B5EF4-FFF2-40B4-BE49-F238E27FC236}">
                <a16:creationId xmlns:a16="http://schemas.microsoft.com/office/drawing/2014/main" id="{9D291F20-0E1B-4B40-84B5-93F9857B9016}"/>
              </a:ext>
            </a:extLst>
          </p:cNvPr>
          <p:cNvSpPr/>
          <p:nvPr/>
        </p:nvSpPr>
        <p:spPr>
          <a:xfrm>
            <a:off x="2324025" y="465175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4" name="Rectangle 73">
            <a:extLst>
              <a:ext uri="{FF2B5EF4-FFF2-40B4-BE49-F238E27FC236}">
                <a16:creationId xmlns:a16="http://schemas.microsoft.com/office/drawing/2014/main" id="{4D02FC83-4F5B-D74C-8967-139BA075090F}"/>
              </a:ext>
            </a:extLst>
          </p:cNvPr>
          <p:cNvSpPr/>
          <p:nvPr/>
        </p:nvSpPr>
        <p:spPr>
          <a:xfrm>
            <a:off x="2607166"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5" name="Rectangle 74">
            <a:extLst>
              <a:ext uri="{FF2B5EF4-FFF2-40B4-BE49-F238E27FC236}">
                <a16:creationId xmlns:a16="http://schemas.microsoft.com/office/drawing/2014/main" id="{6C795482-7547-9444-BD82-F6A543B53AA5}"/>
              </a:ext>
            </a:extLst>
          </p:cNvPr>
          <p:cNvSpPr/>
          <p:nvPr/>
        </p:nvSpPr>
        <p:spPr>
          <a:xfrm>
            <a:off x="3156567"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6" name="Rectangle 75">
            <a:extLst>
              <a:ext uri="{FF2B5EF4-FFF2-40B4-BE49-F238E27FC236}">
                <a16:creationId xmlns:a16="http://schemas.microsoft.com/office/drawing/2014/main" id="{71288A48-D39C-C94A-8023-F29E6CF9A2E1}"/>
              </a:ext>
            </a:extLst>
          </p:cNvPr>
          <p:cNvSpPr/>
          <p:nvPr/>
        </p:nvSpPr>
        <p:spPr>
          <a:xfrm>
            <a:off x="4264546" y="4650526"/>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7" name="Rectangle 76">
            <a:extLst>
              <a:ext uri="{FF2B5EF4-FFF2-40B4-BE49-F238E27FC236}">
                <a16:creationId xmlns:a16="http://schemas.microsoft.com/office/drawing/2014/main" id="{CA810592-36FE-4A49-981E-36DE066E88EB}"/>
              </a:ext>
            </a:extLst>
          </p:cNvPr>
          <p:cNvSpPr/>
          <p:nvPr/>
        </p:nvSpPr>
        <p:spPr>
          <a:xfrm>
            <a:off x="3705032" y="465052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8" name="Rectangle 77">
            <a:extLst>
              <a:ext uri="{FF2B5EF4-FFF2-40B4-BE49-F238E27FC236}">
                <a16:creationId xmlns:a16="http://schemas.microsoft.com/office/drawing/2014/main" id="{D052D2B2-A630-3E4F-B3D6-1AD6BE78222A}"/>
              </a:ext>
            </a:extLst>
          </p:cNvPr>
          <p:cNvSpPr/>
          <p:nvPr/>
        </p:nvSpPr>
        <p:spPr>
          <a:xfrm>
            <a:off x="4263772" y="4649298"/>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9" name="Rectangle 78">
            <a:extLst>
              <a:ext uri="{FF2B5EF4-FFF2-40B4-BE49-F238E27FC236}">
                <a16:creationId xmlns:a16="http://schemas.microsoft.com/office/drawing/2014/main" id="{EED8C14F-3831-3B4F-A06E-0C87D8966E1F}"/>
              </a:ext>
            </a:extLst>
          </p:cNvPr>
          <p:cNvSpPr/>
          <p:nvPr/>
        </p:nvSpPr>
        <p:spPr>
          <a:xfrm>
            <a:off x="4547307" y="464929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0" name="Rectangle 79">
            <a:extLst>
              <a:ext uri="{FF2B5EF4-FFF2-40B4-BE49-F238E27FC236}">
                <a16:creationId xmlns:a16="http://schemas.microsoft.com/office/drawing/2014/main" id="{498D9899-F014-DC48-AFD3-6F7873F6D0CB}"/>
              </a:ext>
            </a:extLst>
          </p:cNvPr>
          <p:cNvSpPr/>
          <p:nvPr/>
        </p:nvSpPr>
        <p:spPr>
          <a:xfrm>
            <a:off x="4830634" y="4649296"/>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1" name="Rectangle 80">
            <a:extLst>
              <a:ext uri="{FF2B5EF4-FFF2-40B4-BE49-F238E27FC236}">
                <a16:creationId xmlns:a16="http://schemas.microsoft.com/office/drawing/2014/main" id="{B5E76540-479D-2B4C-AB6A-EBB2112EC564}"/>
              </a:ext>
            </a:extLst>
          </p:cNvPr>
          <p:cNvSpPr/>
          <p:nvPr/>
        </p:nvSpPr>
        <p:spPr>
          <a:xfrm>
            <a:off x="4971910" y="4649295"/>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2" name="Rectangle 81">
            <a:extLst>
              <a:ext uri="{FF2B5EF4-FFF2-40B4-BE49-F238E27FC236}">
                <a16:creationId xmlns:a16="http://schemas.microsoft.com/office/drawing/2014/main" id="{2F89ADF0-03AB-4247-8D9D-C3F356316B2F}"/>
              </a:ext>
            </a:extLst>
          </p:cNvPr>
          <p:cNvSpPr/>
          <p:nvPr/>
        </p:nvSpPr>
        <p:spPr>
          <a:xfrm>
            <a:off x="5254157" y="464806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8" name="TextBox 37">
            <a:extLst>
              <a:ext uri="{FF2B5EF4-FFF2-40B4-BE49-F238E27FC236}">
                <a16:creationId xmlns:a16="http://schemas.microsoft.com/office/drawing/2014/main" id="{03674DA5-EDE5-5240-B548-609CF3BEEB88}"/>
              </a:ext>
            </a:extLst>
          </p:cNvPr>
          <p:cNvSpPr txBox="1"/>
          <p:nvPr/>
        </p:nvSpPr>
        <p:spPr>
          <a:xfrm>
            <a:off x="281919" y="4196833"/>
            <a:ext cx="1338828" cy="369332"/>
          </a:xfrm>
          <a:prstGeom prst="rect">
            <a:avLst/>
          </a:prstGeom>
          <a:noFill/>
        </p:spPr>
        <p:txBody>
          <a:bodyPr wrap="none" rtlCol="0">
            <a:spAutoFit/>
          </a:bodyPr>
          <a:lstStyle/>
          <a:p>
            <a:r>
              <a:rPr lang="zh-CN" altLang="en-US" dirty="0"/>
              <a:t>干净段链表</a:t>
            </a:r>
            <a:endParaRPr lang="en-CN" dirty="0"/>
          </a:p>
        </p:txBody>
      </p:sp>
      <p:cxnSp>
        <p:nvCxnSpPr>
          <p:cNvPr id="39" name="Curved Connector 38">
            <a:extLst>
              <a:ext uri="{FF2B5EF4-FFF2-40B4-BE49-F238E27FC236}">
                <a16:creationId xmlns:a16="http://schemas.microsoft.com/office/drawing/2014/main" id="{F801FD85-C1C0-5349-9C2E-FCCA734628DE}"/>
              </a:ext>
            </a:extLst>
          </p:cNvPr>
          <p:cNvCxnSpPr>
            <a:cxnSpLocks/>
            <a:stCxn id="38" idx="3"/>
            <a:endCxn id="55" idx="1"/>
          </p:cNvCxnSpPr>
          <p:nvPr/>
        </p:nvCxnSpPr>
        <p:spPr>
          <a:xfrm flipH="1" flipV="1">
            <a:off x="1115616" y="3598924"/>
            <a:ext cx="505131" cy="782575"/>
          </a:xfrm>
          <a:prstGeom prst="curvedConnector5">
            <a:avLst>
              <a:gd name="adj1" fmla="val -45256"/>
              <a:gd name="adj2" fmla="val 49360"/>
              <a:gd name="adj3" fmla="val 145256"/>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40">
            <a:extLst>
              <a:ext uri="{FF2B5EF4-FFF2-40B4-BE49-F238E27FC236}">
                <a16:creationId xmlns:a16="http://schemas.microsoft.com/office/drawing/2014/main" id="{31572525-A194-E54A-A443-DA5DBD6646EC}"/>
              </a:ext>
            </a:extLst>
          </p:cNvPr>
          <p:cNvCxnSpPr>
            <a:cxnSpLocks/>
            <a:stCxn id="55" idx="3"/>
            <a:endCxn id="56" idx="1"/>
          </p:cNvCxnSpPr>
          <p:nvPr/>
        </p:nvCxnSpPr>
        <p:spPr>
          <a:xfrm flipV="1">
            <a:off x="2791222" y="3598923"/>
            <a:ext cx="833697"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41">
            <a:extLst>
              <a:ext uri="{FF2B5EF4-FFF2-40B4-BE49-F238E27FC236}">
                <a16:creationId xmlns:a16="http://schemas.microsoft.com/office/drawing/2014/main" id="{4AEEDB45-9F65-B64A-8E50-03B993C630D7}"/>
              </a:ext>
            </a:extLst>
          </p:cNvPr>
          <p:cNvCxnSpPr>
            <a:cxnSpLocks/>
            <a:stCxn id="56" idx="3"/>
            <a:endCxn id="57" idx="1"/>
          </p:cNvCxnSpPr>
          <p:nvPr/>
        </p:nvCxnSpPr>
        <p:spPr>
          <a:xfrm>
            <a:off x="5300525" y="3598923"/>
            <a:ext cx="345298"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descr="Checkmark">
            <a:extLst>
              <a:ext uri="{FF2B5EF4-FFF2-40B4-BE49-F238E27FC236}">
                <a16:creationId xmlns:a16="http://schemas.microsoft.com/office/drawing/2014/main" id="{05E360D2-9FB3-7349-905C-A6B92ABD28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62232" y="2743414"/>
            <a:ext cx="522839" cy="522839"/>
          </a:xfrm>
          <a:prstGeom prst="rect">
            <a:avLst/>
          </a:prstGeom>
        </p:spPr>
      </p:pic>
      <p:pic>
        <p:nvPicPr>
          <p:cNvPr id="9" name="Graphic 8" descr="Checkmark">
            <a:extLst>
              <a:ext uri="{FF2B5EF4-FFF2-40B4-BE49-F238E27FC236}">
                <a16:creationId xmlns:a16="http://schemas.microsoft.com/office/drawing/2014/main" id="{25BC2754-0C48-CB4E-BA94-24AF845A540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2206" y="2197672"/>
            <a:ext cx="522839" cy="522839"/>
          </a:xfrm>
          <a:prstGeom prst="rect">
            <a:avLst/>
          </a:prstGeom>
        </p:spPr>
      </p:pic>
      <p:pic>
        <p:nvPicPr>
          <p:cNvPr id="11" name="Graphic 10" descr="Checkmark">
            <a:extLst>
              <a:ext uri="{FF2B5EF4-FFF2-40B4-BE49-F238E27FC236}">
                <a16:creationId xmlns:a16="http://schemas.microsoft.com/office/drawing/2014/main" id="{3BD6311A-AF29-5340-9BBC-576C50832B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9161" y="1262235"/>
            <a:ext cx="522839" cy="522839"/>
          </a:xfrm>
          <a:prstGeom prst="rect">
            <a:avLst/>
          </a:prstGeom>
        </p:spPr>
      </p:pic>
      <p:pic>
        <p:nvPicPr>
          <p:cNvPr id="13" name="Graphic 12" descr="Question mark">
            <a:extLst>
              <a:ext uri="{FF2B5EF4-FFF2-40B4-BE49-F238E27FC236}">
                <a16:creationId xmlns:a16="http://schemas.microsoft.com/office/drawing/2014/main" id="{D1E7A97A-1BB9-F44B-A752-59485B49745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535150">
            <a:off x="2553336" y="1700654"/>
            <a:ext cx="522839" cy="522839"/>
          </a:xfrm>
          <a:prstGeom prst="rect">
            <a:avLst/>
          </a:prstGeom>
        </p:spPr>
      </p:pic>
    </p:spTree>
    <p:extLst>
      <p:ext uri="{BB962C8B-B14F-4D97-AF65-F5344CB8AC3E}">
        <p14:creationId xmlns:p14="http://schemas.microsoft.com/office/powerpoint/2010/main" val="1116996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32511-7344-4248-B37B-5E596DB70B3C}"/>
              </a:ext>
            </a:extLst>
          </p:cNvPr>
          <p:cNvSpPr>
            <a:spLocks noGrp="1"/>
          </p:cNvSpPr>
          <p:nvPr>
            <p:ph type="title"/>
          </p:nvPr>
        </p:nvSpPr>
        <p:spPr/>
        <p:txBody>
          <a:bodyPr/>
          <a:lstStyle/>
          <a:p>
            <a:r>
              <a:rPr lang="zh-CN" altLang="en-US" dirty="0"/>
              <a:t>识别有效数据</a:t>
            </a:r>
            <a:endParaRPr lang="en-CN" dirty="0"/>
          </a:p>
        </p:txBody>
      </p:sp>
      <p:sp>
        <p:nvSpPr>
          <p:cNvPr id="3" name="Content Placeholder 2">
            <a:extLst>
              <a:ext uri="{FF2B5EF4-FFF2-40B4-BE49-F238E27FC236}">
                <a16:creationId xmlns:a16="http://schemas.microsoft.com/office/drawing/2014/main" id="{CF9BA255-B107-1342-8CFA-ABA8E96162A6}"/>
              </a:ext>
            </a:extLst>
          </p:cNvPr>
          <p:cNvSpPr>
            <a:spLocks noGrp="1"/>
          </p:cNvSpPr>
          <p:nvPr>
            <p:ph idx="1"/>
          </p:nvPr>
        </p:nvSpPr>
        <p:spPr/>
        <p:txBody>
          <a:bodyPr>
            <a:normAutofit/>
          </a:bodyPr>
          <a:lstStyle/>
          <a:p>
            <a:r>
              <a:rPr lang="zh-CN" altLang="en-US" sz="2000" b="0" dirty="0"/>
              <a:t>每个段中保存有</a:t>
            </a:r>
            <a:r>
              <a:rPr lang="zh-CN" altLang="en-US" sz="2000" dirty="0"/>
              <a:t>段概要</a:t>
            </a:r>
            <a:endParaRPr lang="en-US" altLang="zh-CN" sz="1800" dirty="0"/>
          </a:p>
          <a:p>
            <a:pPr lvl="1"/>
            <a:r>
              <a:rPr lang="zh-CN" altLang="en-US" sz="1800" b="0" dirty="0"/>
              <a:t>每个块被哪个文件的哪个位置所使用</a:t>
            </a:r>
            <a:endParaRPr lang="en-US" altLang="zh-CN" sz="1800" b="0" dirty="0"/>
          </a:p>
          <a:p>
            <a:pPr lvl="2"/>
            <a:r>
              <a:rPr lang="zh-CN" altLang="en-US" sz="1800" dirty="0"/>
              <a:t>如：数据块可使用</a:t>
            </a:r>
            <a:r>
              <a:rPr lang="en-US" altLang="zh-CN" sz="1800" dirty="0" err="1"/>
              <a:t>inode</a:t>
            </a:r>
            <a:r>
              <a:rPr lang="zh-CN" altLang="en-US" sz="1800" dirty="0"/>
              <a:t>号和第几个数据块来表示位置</a:t>
            </a:r>
            <a:endParaRPr lang="en-US" altLang="zh-CN" sz="1800" dirty="0"/>
          </a:p>
          <a:p>
            <a:pPr lvl="1"/>
            <a:endParaRPr lang="en-US" altLang="zh-CN" sz="1800" b="0" dirty="0"/>
          </a:p>
        </p:txBody>
      </p:sp>
      <p:sp>
        <p:nvSpPr>
          <p:cNvPr id="4" name="Slide Number Placeholder 3">
            <a:extLst>
              <a:ext uri="{FF2B5EF4-FFF2-40B4-BE49-F238E27FC236}">
                <a16:creationId xmlns:a16="http://schemas.microsoft.com/office/drawing/2014/main" id="{09A3C7B6-4642-A84F-B673-14D31F89D4AE}"/>
              </a:ext>
            </a:extLst>
          </p:cNvPr>
          <p:cNvSpPr>
            <a:spLocks noGrp="1"/>
          </p:cNvSpPr>
          <p:nvPr>
            <p:ph type="sldNum" sz="quarter" idx="12"/>
          </p:nvPr>
        </p:nvSpPr>
        <p:spPr/>
        <p:txBody>
          <a:bodyPr/>
          <a:lstStyle/>
          <a:p>
            <a:fld id="{ADE361C3-C043-4A6E-BDCE-8DA1E7D90A3B}" type="slidenum">
              <a:rPr lang="zh-CN" altLang="en-US" smtClean="0"/>
              <a:t>69</a:t>
            </a:fld>
            <a:endParaRPr lang="zh-CN" altLang="en-US"/>
          </a:p>
        </p:txBody>
      </p:sp>
      <p:sp>
        <p:nvSpPr>
          <p:cNvPr id="5" name="Footer Placeholder 4">
            <a:extLst>
              <a:ext uri="{FF2B5EF4-FFF2-40B4-BE49-F238E27FC236}">
                <a16:creationId xmlns:a16="http://schemas.microsoft.com/office/drawing/2014/main" id="{89BE3F76-C577-7A4C-9634-835544648BF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2F980744-152E-F54E-9CCB-C7AE955BDD53}"/>
              </a:ext>
            </a:extLst>
          </p:cNvPr>
          <p:cNvSpPr/>
          <p:nvPr/>
        </p:nvSpPr>
        <p:spPr>
          <a:xfrm>
            <a:off x="3257162" y="422027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49300EA3-C046-C748-8426-5999A19A5588}"/>
              </a:ext>
            </a:extLst>
          </p:cNvPr>
          <p:cNvSpPr/>
          <p:nvPr/>
        </p:nvSpPr>
        <p:spPr>
          <a:xfrm>
            <a:off x="3379394" y="4220272"/>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 name="Rectangle 7">
            <a:extLst>
              <a:ext uri="{FF2B5EF4-FFF2-40B4-BE49-F238E27FC236}">
                <a16:creationId xmlns:a16="http://schemas.microsoft.com/office/drawing/2014/main" id="{777246F7-FB13-6242-AB81-B50C79CBF79B}"/>
              </a:ext>
            </a:extLst>
          </p:cNvPr>
          <p:cNvSpPr/>
          <p:nvPr/>
        </p:nvSpPr>
        <p:spPr>
          <a:xfrm>
            <a:off x="4055064" y="4220272"/>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9" name="Rectangle 8">
            <a:extLst>
              <a:ext uri="{FF2B5EF4-FFF2-40B4-BE49-F238E27FC236}">
                <a16:creationId xmlns:a16="http://schemas.microsoft.com/office/drawing/2014/main" id="{BDDACA88-E4C0-6349-ABF1-62C1292F9D33}"/>
              </a:ext>
            </a:extLst>
          </p:cNvPr>
          <p:cNvSpPr/>
          <p:nvPr/>
        </p:nvSpPr>
        <p:spPr>
          <a:xfrm>
            <a:off x="2987824" y="4220272"/>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0" name="Right Brace 9">
            <a:extLst>
              <a:ext uri="{FF2B5EF4-FFF2-40B4-BE49-F238E27FC236}">
                <a16:creationId xmlns:a16="http://schemas.microsoft.com/office/drawing/2014/main" id="{2C5510AC-4BFF-2A42-B3E0-6E3030556680}"/>
              </a:ext>
            </a:extLst>
          </p:cNvPr>
          <p:cNvSpPr/>
          <p:nvPr/>
        </p:nvSpPr>
        <p:spPr>
          <a:xfrm rot="5400000">
            <a:off x="3824355" y="3837794"/>
            <a:ext cx="271882" cy="1944944"/>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11" name="TextBox 10">
            <a:extLst>
              <a:ext uri="{FF2B5EF4-FFF2-40B4-BE49-F238E27FC236}">
                <a16:creationId xmlns:a16="http://schemas.microsoft.com/office/drawing/2014/main" id="{62374EBF-E1E1-CB44-A061-1B705DB4E724}"/>
              </a:ext>
            </a:extLst>
          </p:cNvPr>
          <p:cNvSpPr txBox="1"/>
          <p:nvPr/>
        </p:nvSpPr>
        <p:spPr>
          <a:xfrm>
            <a:off x="3752547" y="4956511"/>
            <a:ext cx="415498" cy="369332"/>
          </a:xfrm>
          <a:prstGeom prst="rect">
            <a:avLst/>
          </a:prstGeom>
          <a:noFill/>
        </p:spPr>
        <p:txBody>
          <a:bodyPr wrap="none" rtlCol="0">
            <a:spAutoFit/>
          </a:bodyPr>
          <a:lstStyle/>
          <a:p>
            <a:r>
              <a:rPr lang="zh-CN" altLang="en-CN" dirty="0"/>
              <a:t>段</a:t>
            </a:r>
            <a:endParaRPr lang="en-CN" dirty="0"/>
          </a:p>
        </p:txBody>
      </p:sp>
      <p:sp>
        <p:nvSpPr>
          <p:cNvPr id="12" name="TextBox 11">
            <a:extLst>
              <a:ext uri="{FF2B5EF4-FFF2-40B4-BE49-F238E27FC236}">
                <a16:creationId xmlns:a16="http://schemas.microsoft.com/office/drawing/2014/main" id="{697313AA-4802-0F4B-84F2-68F7A40CF3A7}"/>
              </a:ext>
            </a:extLst>
          </p:cNvPr>
          <p:cNvSpPr txBox="1"/>
          <p:nvPr/>
        </p:nvSpPr>
        <p:spPr>
          <a:xfrm>
            <a:off x="1667331" y="3126440"/>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4" name="TextBox 13">
            <a:extLst>
              <a:ext uri="{FF2B5EF4-FFF2-40B4-BE49-F238E27FC236}">
                <a16:creationId xmlns:a16="http://schemas.microsoft.com/office/drawing/2014/main" id="{81444471-97D3-5345-995D-CEC5B8D19828}"/>
              </a:ext>
            </a:extLst>
          </p:cNvPr>
          <p:cNvSpPr txBox="1"/>
          <p:nvPr/>
        </p:nvSpPr>
        <p:spPr>
          <a:xfrm>
            <a:off x="2678111"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5" name="TextBox 14">
            <a:extLst>
              <a:ext uri="{FF2B5EF4-FFF2-40B4-BE49-F238E27FC236}">
                <a16:creationId xmlns:a16="http://schemas.microsoft.com/office/drawing/2014/main" id="{9B852F90-B94C-E447-B27A-F071B155CA32}"/>
              </a:ext>
            </a:extLst>
          </p:cNvPr>
          <p:cNvSpPr txBox="1"/>
          <p:nvPr/>
        </p:nvSpPr>
        <p:spPr>
          <a:xfrm>
            <a:off x="3691100"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3</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17" name="TextBox 16">
            <a:extLst>
              <a:ext uri="{FF2B5EF4-FFF2-40B4-BE49-F238E27FC236}">
                <a16:creationId xmlns:a16="http://schemas.microsoft.com/office/drawing/2014/main" id="{3CBD58C0-5022-EC41-A200-52885DE5F659}"/>
              </a:ext>
            </a:extLst>
          </p:cNvPr>
          <p:cNvSpPr txBox="1"/>
          <p:nvPr/>
        </p:nvSpPr>
        <p:spPr>
          <a:xfrm>
            <a:off x="4739717" y="3200228"/>
            <a:ext cx="415498" cy="369332"/>
          </a:xfrm>
          <a:prstGeom prst="rect">
            <a:avLst/>
          </a:prstGeom>
          <a:noFill/>
        </p:spPr>
        <p:txBody>
          <a:bodyPr wrap="none" rtlCol="0">
            <a:spAutoFit/>
          </a:bodyPr>
          <a:lstStyle/>
          <a:p>
            <a:r>
              <a:rPr lang="en-US" altLang="zh-CN" dirty="0"/>
              <a:t>…</a:t>
            </a:r>
            <a:endParaRPr lang="en-CN" dirty="0"/>
          </a:p>
        </p:txBody>
      </p:sp>
      <p:sp>
        <p:nvSpPr>
          <p:cNvPr id="18" name="TextBox 17">
            <a:extLst>
              <a:ext uri="{FF2B5EF4-FFF2-40B4-BE49-F238E27FC236}">
                <a16:creationId xmlns:a16="http://schemas.microsoft.com/office/drawing/2014/main" id="{BC86E700-A13F-674F-8CC6-5B864FD6CF0E}"/>
              </a:ext>
            </a:extLst>
          </p:cNvPr>
          <p:cNvSpPr txBox="1"/>
          <p:nvPr/>
        </p:nvSpPr>
        <p:spPr>
          <a:xfrm>
            <a:off x="5155215"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0" name="Straight Arrow Connector 19">
            <a:extLst>
              <a:ext uri="{FF2B5EF4-FFF2-40B4-BE49-F238E27FC236}">
                <a16:creationId xmlns:a16="http://schemas.microsoft.com/office/drawing/2014/main" id="{733A90E3-BA9A-BC4D-87C7-7E1F94B1A261}"/>
              </a:ext>
            </a:extLst>
          </p:cNvPr>
          <p:cNvCxnSpPr>
            <a:cxnSpLocks/>
          </p:cNvCxnSpPr>
          <p:nvPr/>
        </p:nvCxnSpPr>
        <p:spPr>
          <a:xfrm flipH="1" flipV="1">
            <a:off x="1655978" y="3706064"/>
            <a:ext cx="1331847" cy="514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4B140D8-E12A-E642-806F-F6382E8A794D}"/>
              </a:ext>
            </a:extLst>
          </p:cNvPr>
          <p:cNvCxnSpPr>
            <a:cxnSpLocks/>
          </p:cNvCxnSpPr>
          <p:nvPr/>
        </p:nvCxnSpPr>
        <p:spPr>
          <a:xfrm flipV="1">
            <a:off x="3257162" y="3706064"/>
            <a:ext cx="2911042" cy="503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E90317C-CA6D-F14B-8141-503FF8D97F77}"/>
              </a:ext>
            </a:extLst>
          </p:cNvPr>
          <p:cNvSpPr txBox="1"/>
          <p:nvPr/>
        </p:nvSpPr>
        <p:spPr>
          <a:xfrm>
            <a:off x="961549" y="3121206"/>
            <a:ext cx="748923" cy="261610"/>
          </a:xfrm>
          <a:prstGeom prst="rect">
            <a:avLst/>
          </a:prstGeom>
          <a:noFill/>
        </p:spPr>
        <p:txBody>
          <a:bodyPr wrap="none" rtlCol="0">
            <a:spAutoFit/>
          </a:bodyPr>
          <a:lstStyle/>
          <a:p>
            <a:r>
              <a:rPr lang="zh-CN" altLang="en-US" sz="1100" dirty="0"/>
              <a:t>段概要：</a:t>
            </a:r>
            <a:endParaRPr lang="en-CN" sz="1100" dirty="0"/>
          </a:p>
        </p:txBody>
      </p:sp>
    </p:spTree>
    <p:extLst>
      <p:ext uri="{BB962C8B-B14F-4D97-AF65-F5344CB8AC3E}">
        <p14:creationId xmlns:p14="http://schemas.microsoft.com/office/powerpoint/2010/main" val="33102432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32511-7344-4248-B37B-5E596DB70B3C}"/>
              </a:ext>
            </a:extLst>
          </p:cNvPr>
          <p:cNvSpPr>
            <a:spLocks noGrp="1"/>
          </p:cNvSpPr>
          <p:nvPr>
            <p:ph type="title"/>
          </p:nvPr>
        </p:nvSpPr>
        <p:spPr/>
        <p:txBody>
          <a:bodyPr/>
          <a:lstStyle/>
          <a:p>
            <a:r>
              <a:rPr lang="zh-CN" altLang="en-US" dirty="0"/>
              <a:t>识别有效数据</a:t>
            </a:r>
            <a:endParaRPr lang="en-CN" dirty="0"/>
          </a:p>
        </p:txBody>
      </p:sp>
      <p:sp>
        <p:nvSpPr>
          <p:cNvPr id="3" name="Content Placeholder 2">
            <a:extLst>
              <a:ext uri="{FF2B5EF4-FFF2-40B4-BE49-F238E27FC236}">
                <a16:creationId xmlns:a16="http://schemas.microsoft.com/office/drawing/2014/main" id="{CF9BA255-B107-1342-8CFA-ABA8E96162A6}"/>
              </a:ext>
            </a:extLst>
          </p:cNvPr>
          <p:cNvSpPr>
            <a:spLocks noGrp="1"/>
          </p:cNvSpPr>
          <p:nvPr>
            <p:ph idx="1"/>
          </p:nvPr>
        </p:nvSpPr>
        <p:spPr/>
        <p:txBody>
          <a:bodyPr>
            <a:normAutofit/>
          </a:bodyPr>
          <a:lstStyle/>
          <a:p>
            <a:r>
              <a:rPr lang="zh-CN" altLang="en-US" sz="2000" b="0" dirty="0"/>
              <a:t>每个段中保存有</a:t>
            </a:r>
            <a:r>
              <a:rPr lang="zh-CN" altLang="en-US" sz="2000" dirty="0"/>
              <a:t>段概要</a:t>
            </a:r>
            <a:endParaRPr lang="en-US" altLang="zh-CN" sz="1800" dirty="0"/>
          </a:p>
          <a:p>
            <a:pPr lvl="1"/>
            <a:r>
              <a:rPr lang="zh-CN" altLang="en-US" sz="1800" b="0" dirty="0"/>
              <a:t>每个块被哪个文件的哪个位置所使用</a:t>
            </a:r>
            <a:endParaRPr lang="en-US" altLang="zh-CN" sz="1800" b="0" dirty="0"/>
          </a:p>
          <a:p>
            <a:pPr lvl="2"/>
            <a:r>
              <a:rPr lang="zh-CN" altLang="en-US" sz="1800" dirty="0"/>
              <a:t>如：数据块可使用</a:t>
            </a:r>
            <a:r>
              <a:rPr lang="en-US" altLang="zh-CN" sz="1800" dirty="0" err="1"/>
              <a:t>inode</a:t>
            </a:r>
            <a:r>
              <a:rPr lang="zh-CN" altLang="en-US" sz="1800" dirty="0"/>
              <a:t>号和第几个数据块来表示位置</a:t>
            </a:r>
            <a:endParaRPr lang="en-US" altLang="zh-CN" sz="1800" dirty="0"/>
          </a:p>
          <a:p>
            <a:pPr lvl="1"/>
            <a:r>
              <a:rPr lang="zh-CN" altLang="en-US" sz="1800" dirty="0"/>
              <a:t>块有效性通过比对该位置上现有指针判断</a:t>
            </a:r>
            <a:endParaRPr lang="en-US" altLang="zh-CN" sz="1800" dirty="0"/>
          </a:p>
          <a:p>
            <a:pPr lvl="1"/>
            <a:endParaRPr lang="en-US" altLang="zh-CN" sz="1800" b="0" dirty="0"/>
          </a:p>
        </p:txBody>
      </p:sp>
      <p:sp>
        <p:nvSpPr>
          <p:cNvPr id="4" name="Slide Number Placeholder 3">
            <a:extLst>
              <a:ext uri="{FF2B5EF4-FFF2-40B4-BE49-F238E27FC236}">
                <a16:creationId xmlns:a16="http://schemas.microsoft.com/office/drawing/2014/main" id="{09A3C7B6-4642-A84F-B673-14D31F89D4AE}"/>
              </a:ext>
            </a:extLst>
          </p:cNvPr>
          <p:cNvSpPr>
            <a:spLocks noGrp="1"/>
          </p:cNvSpPr>
          <p:nvPr>
            <p:ph type="sldNum" sz="quarter" idx="12"/>
          </p:nvPr>
        </p:nvSpPr>
        <p:spPr/>
        <p:txBody>
          <a:bodyPr/>
          <a:lstStyle/>
          <a:p>
            <a:fld id="{ADE361C3-C043-4A6E-BDCE-8DA1E7D90A3B}" type="slidenum">
              <a:rPr lang="zh-CN" altLang="en-US" smtClean="0"/>
              <a:t>70</a:t>
            </a:fld>
            <a:endParaRPr lang="zh-CN" altLang="en-US"/>
          </a:p>
        </p:txBody>
      </p:sp>
      <p:sp>
        <p:nvSpPr>
          <p:cNvPr id="5" name="Footer Placeholder 4">
            <a:extLst>
              <a:ext uri="{FF2B5EF4-FFF2-40B4-BE49-F238E27FC236}">
                <a16:creationId xmlns:a16="http://schemas.microsoft.com/office/drawing/2014/main" id="{89BE3F76-C577-7A4C-9634-835544648BF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2F980744-152E-F54E-9CCB-C7AE955BDD53}"/>
              </a:ext>
            </a:extLst>
          </p:cNvPr>
          <p:cNvSpPr/>
          <p:nvPr/>
        </p:nvSpPr>
        <p:spPr>
          <a:xfrm>
            <a:off x="3257162" y="422027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49300EA3-C046-C748-8426-5999A19A5588}"/>
              </a:ext>
            </a:extLst>
          </p:cNvPr>
          <p:cNvSpPr/>
          <p:nvPr/>
        </p:nvSpPr>
        <p:spPr>
          <a:xfrm>
            <a:off x="3379394" y="4220272"/>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 name="Rectangle 7">
            <a:extLst>
              <a:ext uri="{FF2B5EF4-FFF2-40B4-BE49-F238E27FC236}">
                <a16:creationId xmlns:a16="http://schemas.microsoft.com/office/drawing/2014/main" id="{777246F7-FB13-6242-AB81-B50C79CBF79B}"/>
              </a:ext>
            </a:extLst>
          </p:cNvPr>
          <p:cNvSpPr/>
          <p:nvPr/>
        </p:nvSpPr>
        <p:spPr>
          <a:xfrm>
            <a:off x="4055064" y="4220272"/>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9" name="Rectangle 8">
            <a:extLst>
              <a:ext uri="{FF2B5EF4-FFF2-40B4-BE49-F238E27FC236}">
                <a16:creationId xmlns:a16="http://schemas.microsoft.com/office/drawing/2014/main" id="{BDDACA88-E4C0-6349-ABF1-62C1292F9D33}"/>
              </a:ext>
            </a:extLst>
          </p:cNvPr>
          <p:cNvSpPr/>
          <p:nvPr/>
        </p:nvSpPr>
        <p:spPr>
          <a:xfrm>
            <a:off x="2987824" y="4220272"/>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0" name="Right Brace 9">
            <a:extLst>
              <a:ext uri="{FF2B5EF4-FFF2-40B4-BE49-F238E27FC236}">
                <a16:creationId xmlns:a16="http://schemas.microsoft.com/office/drawing/2014/main" id="{2C5510AC-4BFF-2A42-B3E0-6E3030556680}"/>
              </a:ext>
            </a:extLst>
          </p:cNvPr>
          <p:cNvSpPr/>
          <p:nvPr/>
        </p:nvSpPr>
        <p:spPr>
          <a:xfrm rot="5400000">
            <a:off x="3824355" y="3837794"/>
            <a:ext cx="271882" cy="1944944"/>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11" name="TextBox 10">
            <a:extLst>
              <a:ext uri="{FF2B5EF4-FFF2-40B4-BE49-F238E27FC236}">
                <a16:creationId xmlns:a16="http://schemas.microsoft.com/office/drawing/2014/main" id="{62374EBF-E1E1-CB44-A061-1B705DB4E724}"/>
              </a:ext>
            </a:extLst>
          </p:cNvPr>
          <p:cNvSpPr txBox="1"/>
          <p:nvPr/>
        </p:nvSpPr>
        <p:spPr>
          <a:xfrm>
            <a:off x="3752547" y="4956511"/>
            <a:ext cx="415498" cy="369332"/>
          </a:xfrm>
          <a:prstGeom prst="rect">
            <a:avLst/>
          </a:prstGeom>
          <a:noFill/>
        </p:spPr>
        <p:txBody>
          <a:bodyPr wrap="none" rtlCol="0">
            <a:spAutoFit/>
          </a:bodyPr>
          <a:lstStyle/>
          <a:p>
            <a:r>
              <a:rPr lang="zh-CN" altLang="en-CN" dirty="0"/>
              <a:t>段</a:t>
            </a:r>
            <a:endParaRPr lang="en-CN" dirty="0"/>
          </a:p>
        </p:txBody>
      </p:sp>
      <p:sp>
        <p:nvSpPr>
          <p:cNvPr id="12" name="TextBox 11">
            <a:extLst>
              <a:ext uri="{FF2B5EF4-FFF2-40B4-BE49-F238E27FC236}">
                <a16:creationId xmlns:a16="http://schemas.microsoft.com/office/drawing/2014/main" id="{697313AA-4802-0F4B-84F2-68F7A40CF3A7}"/>
              </a:ext>
            </a:extLst>
          </p:cNvPr>
          <p:cNvSpPr txBox="1"/>
          <p:nvPr/>
        </p:nvSpPr>
        <p:spPr>
          <a:xfrm>
            <a:off x="1670047" y="3126440"/>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4" name="TextBox 13">
            <a:extLst>
              <a:ext uri="{FF2B5EF4-FFF2-40B4-BE49-F238E27FC236}">
                <a16:creationId xmlns:a16="http://schemas.microsoft.com/office/drawing/2014/main" id="{81444471-97D3-5345-995D-CEC5B8D19828}"/>
              </a:ext>
            </a:extLst>
          </p:cNvPr>
          <p:cNvSpPr txBox="1"/>
          <p:nvPr/>
        </p:nvSpPr>
        <p:spPr>
          <a:xfrm>
            <a:off x="2678111"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5" name="TextBox 14">
            <a:extLst>
              <a:ext uri="{FF2B5EF4-FFF2-40B4-BE49-F238E27FC236}">
                <a16:creationId xmlns:a16="http://schemas.microsoft.com/office/drawing/2014/main" id="{9B852F90-B94C-E447-B27A-F071B155CA32}"/>
              </a:ext>
            </a:extLst>
          </p:cNvPr>
          <p:cNvSpPr txBox="1"/>
          <p:nvPr/>
        </p:nvSpPr>
        <p:spPr>
          <a:xfrm>
            <a:off x="3691100"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3</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17" name="TextBox 16">
            <a:extLst>
              <a:ext uri="{FF2B5EF4-FFF2-40B4-BE49-F238E27FC236}">
                <a16:creationId xmlns:a16="http://schemas.microsoft.com/office/drawing/2014/main" id="{3CBD58C0-5022-EC41-A200-52885DE5F659}"/>
              </a:ext>
            </a:extLst>
          </p:cNvPr>
          <p:cNvSpPr txBox="1"/>
          <p:nvPr/>
        </p:nvSpPr>
        <p:spPr>
          <a:xfrm>
            <a:off x="4739717" y="3200228"/>
            <a:ext cx="415498" cy="369332"/>
          </a:xfrm>
          <a:prstGeom prst="rect">
            <a:avLst/>
          </a:prstGeom>
          <a:noFill/>
        </p:spPr>
        <p:txBody>
          <a:bodyPr wrap="none" rtlCol="0">
            <a:spAutoFit/>
          </a:bodyPr>
          <a:lstStyle/>
          <a:p>
            <a:r>
              <a:rPr lang="en-US" altLang="zh-CN" dirty="0"/>
              <a:t>…</a:t>
            </a:r>
            <a:endParaRPr lang="en-CN" dirty="0"/>
          </a:p>
        </p:txBody>
      </p:sp>
      <p:sp>
        <p:nvSpPr>
          <p:cNvPr id="18" name="TextBox 17">
            <a:extLst>
              <a:ext uri="{FF2B5EF4-FFF2-40B4-BE49-F238E27FC236}">
                <a16:creationId xmlns:a16="http://schemas.microsoft.com/office/drawing/2014/main" id="{BC86E700-A13F-674F-8CC6-5B864FD6CF0E}"/>
              </a:ext>
            </a:extLst>
          </p:cNvPr>
          <p:cNvSpPr txBox="1"/>
          <p:nvPr/>
        </p:nvSpPr>
        <p:spPr>
          <a:xfrm>
            <a:off x="5155215"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0" name="Straight Arrow Connector 19">
            <a:extLst>
              <a:ext uri="{FF2B5EF4-FFF2-40B4-BE49-F238E27FC236}">
                <a16:creationId xmlns:a16="http://schemas.microsoft.com/office/drawing/2014/main" id="{733A90E3-BA9A-BC4D-87C7-7E1F94B1A261}"/>
              </a:ext>
            </a:extLst>
          </p:cNvPr>
          <p:cNvCxnSpPr>
            <a:cxnSpLocks/>
          </p:cNvCxnSpPr>
          <p:nvPr/>
        </p:nvCxnSpPr>
        <p:spPr>
          <a:xfrm flipH="1" flipV="1">
            <a:off x="1655978" y="3706064"/>
            <a:ext cx="1331847" cy="514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4B140D8-E12A-E642-806F-F6382E8A794D}"/>
              </a:ext>
            </a:extLst>
          </p:cNvPr>
          <p:cNvCxnSpPr>
            <a:cxnSpLocks/>
          </p:cNvCxnSpPr>
          <p:nvPr/>
        </p:nvCxnSpPr>
        <p:spPr>
          <a:xfrm flipV="1">
            <a:off x="3257162" y="3706064"/>
            <a:ext cx="2911042" cy="503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E90317C-CA6D-F14B-8141-503FF8D97F77}"/>
              </a:ext>
            </a:extLst>
          </p:cNvPr>
          <p:cNvSpPr txBox="1"/>
          <p:nvPr/>
        </p:nvSpPr>
        <p:spPr>
          <a:xfrm>
            <a:off x="961549" y="3121206"/>
            <a:ext cx="748923" cy="261610"/>
          </a:xfrm>
          <a:prstGeom prst="rect">
            <a:avLst/>
          </a:prstGeom>
          <a:noFill/>
        </p:spPr>
        <p:txBody>
          <a:bodyPr wrap="none" rtlCol="0">
            <a:spAutoFit/>
          </a:bodyPr>
          <a:lstStyle/>
          <a:p>
            <a:r>
              <a:rPr lang="zh-CN" altLang="en-US" sz="1100" dirty="0"/>
              <a:t>段概要：</a:t>
            </a:r>
            <a:endParaRPr lang="en-CN" sz="1100" dirty="0"/>
          </a:p>
        </p:txBody>
      </p:sp>
      <p:sp>
        <p:nvSpPr>
          <p:cNvPr id="13" name="TextBox 12">
            <a:extLst>
              <a:ext uri="{FF2B5EF4-FFF2-40B4-BE49-F238E27FC236}">
                <a16:creationId xmlns:a16="http://schemas.microsoft.com/office/drawing/2014/main" id="{3F244560-6F69-A040-A7AF-A1B462CEF090}"/>
              </a:ext>
            </a:extLst>
          </p:cNvPr>
          <p:cNvSpPr txBox="1"/>
          <p:nvPr/>
        </p:nvSpPr>
        <p:spPr>
          <a:xfrm>
            <a:off x="6359078" y="2758028"/>
            <a:ext cx="2521844" cy="430887"/>
          </a:xfrm>
          <a:prstGeom prst="rect">
            <a:avLst/>
          </a:prstGeom>
          <a:noFill/>
        </p:spPr>
        <p:txBody>
          <a:bodyPr wrap="none" rtlCol="0">
            <a:spAutoFit/>
          </a:bodyPr>
          <a:lstStyle/>
          <a:p>
            <a:r>
              <a:rPr lang="en-US" altLang="zh-CN" sz="1100" dirty="0">
                <a:solidFill>
                  <a:srgbClr val="C00000"/>
                </a:solidFill>
              </a:rPr>
              <a:t>8</a:t>
            </a:r>
            <a:r>
              <a:rPr lang="zh-CN" altLang="en-US" sz="1100" dirty="0">
                <a:solidFill>
                  <a:srgbClr val="C00000"/>
                </a:solidFill>
              </a:rPr>
              <a:t>号</a:t>
            </a:r>
            <a:r>
              <a:rPr lang="en-US" altLang="zh-CN" sz="1100" dirty="0" err="1">
                <a:solidFill>
                  <a:srgbClr val="C00000"/>
                </a:solidFill>
              </a:rPr>
              <a:t>inode</a:t>
            </a:r>
            <a:r>
              <a:rPr lang="zh-CN" altLang="en-US" sz="1100" dirty="0">
                <a:solidFill>
                  <a:srgbClr val="C00000"/>
                </a:solidFill>
              </a:rPr>
              <a:t>中第</a:t>
            </a:r>
            <a:r>
              <a:rPr lang="en-US" altLang="zh-CN" sz="1100" dirty="0">
                <a:solidFill>
                  <a:srgbClr val="C00000"/>
                </a:solidFill>
              </a:rPr>
              <a:t>2</a:t>
            </a:r>
            <a:r>
              <a:rPr lang="zh-CN" altLang="en-US" sz="1100" dirty="0">
                <a:solidFill>
                  <a:srgbClr val="C00000"/>
                </a:solidFill>
              </a:rPr>
              <a:t>个数据块不指向此位置</a:t>
            </a:r>
            <a:endParaRPr lang="en-US" altLang="zh-CN" sz="1100" dirty="0">
              <a:solidFill>
                <a:srgbClr val="C00000"/>
              </a:solidFill>
            </a:endParaRPr>
          </a:p>
          <a:p>
            <a:r>
              <a:rPr lang="en-US" altLang="zh-CN" sz="1100" dirty="0">
                <a:solidFill>
                  <a:srgbClr val="C00000"/>
                </a:solidFill>
              </a:rPr>
              <a:t>=&gt;</a:t>
            </a:r>
            <a:r>
              <a:rPr lang="zh-CN" altLang="en-US" sz="1100" dirty="0">
                <a:solidFill>
                  <a:srgbClr val="C00000"/>
                </a:solidFill>
              </a:rPr>
              <a:t>无效块</a:t>
            </a:r>
            <a:endParaRPr lang="en-CN" sz="1100" dirty="0">
              <a:solidFill>
                <a:srgbClr val="C00000"/>
              </a:solidFill>
            </a:endParaRPr>
          </a:p>
        </p:txBody>
      </p:sp>
      <p:cxnSp>
        <p:nvCxnSpPr>
          <p:cNvPr id="19" name="Straight Arrow Connector 18">
            <a:extLst>
              <a:ext uri="{FF2B5EF4-FFF2-40B4-BE49-F238E27FC236}">
                <a16:creationId xmlns:a16="http://schemas.microsoft.com/office/drawing/2014/main" id="{7E18A975-6593-0449-BF24-945F73086D21}"/>
              </a:ext>
            </a:extLst>
          </p:cNvPr>
          <p:cNvCxnSpPr>
            <a:cxnSpLocks/>
            <a:stCxn id="13" idx="1"/>
          </p:cNvCxnSpPr>
          <p:nvPr/>
        </p:nvCxnSpPr>
        <p:spPr>
          <a:xfrm flipH="1">
            <a:off x="5940152" y="2973472"/>
            <a:ext cx="418926" cy="409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936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3AEF0-6DE9-6947-A19B-C761B5EADA0A}"/>
              </a:ext>
            </a:extLst>
          </p:cNvPr>
          <p:cNvSpPr>
            <a:spLocks noGrp="1"/>
          </p:cNvSpPr>
          <p:nvPr>
            <p:ph type="title"/>
          </p:nvPr>
        </p:nvSpPr>
        <p:spPr/>
        <p:txBody>
          <a:bodyPr/>
          <a:lstStyle/>
          <a:p>
            <a:r>
              <a:rPr lang="zh-CN" altLang="en-CN" dirty="0"/>
              <a:t>清理</a:t>
            </a:r>
            <a:r>
              <a:rPr lang="zh-CN" altLang="en-US" dirty="0"/>
              <a:t>的策略有多种维度</a:t>
            </a:r>
            <a:endParaRPr lang="en-CN" dirty="0"/>
          </a:p>
        </p:txBody>
      </p:sp>
      <p:sp>
        <p:nvSpPr>
          <p:cNvPr id="3" name="Content Placeholder 2">
            <a:extLst>
              <a:ext uri="{FF2B5EF4-FFF2-40B4-BE49-F238E27FC236}">
                <a16:creationId xmlns:a16="http://schemas.microsoft.com/office/drawing/2014/main" id="{DBC065E2-46A0-6C42-A0C4-B69276EF647D}"/>
              </a:ext>
            </a:extLst>
          </p:cNvPr>
          <p:cNvSpPr>
            <a:spLocks noGrp="1"/>
          </p:cNvSpPr>
          <p:nvPr>
            <p:ph idx="1"/>
          </p:nvPr>
        </p:nvSpPr>
        <p:spPr/>
        <p:txBody>
          <a:bodyPr>
            <a:normAutofit/>
          </a:bodyPr>
          <a:lstStyle/>
          <a:p>
            <a:r>
              <a:rPr lang="zh-CN" altLang="en-US" sz="2000" b="0" dirty="0"/>
              <a:t>清理策略</a:t>
            </a:r>
            <a:endParaRPr lang="en-US" altLang="zh-CN" sz="2000" b="0" dirty="0"/>
          </a:p>
          <a:p>
            <a:pPr lvl="1"/>
            <a:r>
              <a:rPr lang="zh-CN" altLang="en-US" sz="1600" b="0" dirty="0"/>
              <a:t>什么时候执行清理？</a:t>
            </a:r>
            <a:endParaRPr lang="en-US" altLang="zh-CN" sz="1600" b="0" dirty="0"/>
          </a:p>
          <a:p>
            <a:pPr lvl="2"/>
            <a:r>
              <a:rPr lang="zh-CN" altLang="en-US" sz="1600" dirty="0"/>
              <a:t>后台持续清理？晚上清理？磁盘要满的时候清理？</a:t>
            </a:r>
            <a:endParaRPr lang="en-US" altLang="zh-CN" sz="1600" b="0" dirty="0"/>
          </a:p>
          <a:p>
            <a:pPr lvl="1"/>
            <a:r>
              <a:rPr lang="zh-CN" altLang="en-US" sz="1600" b="0" dirty="0"/>
              <a:t>一次清理多少段？清理哪些段？</a:t>
            </a:r>
            <a:endParaRPr lang="en-US" altLang="zh-CN" sz="1600" b="0" dirty="0"/>
          </a:p>
          <a:p>
            <a:pPr lvl="1"/>
            <a:r>
              <a:rPr lang="zh-CN" altLang="en-US" sz="1600" b="0" dirty="0"/>
              <a:t>有效数据应该以什么顺序排序写入新的段？</a:t>
            </a:r>
            <a:endParaRPr lang="en-US" altLang="zh-CN" sz="1600" b="0" dirty="0"/>
          </a:p>
          <a:p>
            <a:pPr lvl="2"/>
            <a:r>
              <a:rPr lang="zh-CN" altLang="en-US" sz="1600" dirty="0"/>
              <a:t>维持</a:t>
            </a:r>
            <a:r>
              <a:rPr lang="zh-CN" altLang="en-US" sz="1600" b="0" dirty="0"/>
              <a:t>原顺序？相同目录放一起？相近修改时间放一起？</a:t>
            </a:r>
            <a:endParaRPr lang="en-US" altLang="zh-CN" sz="1600" b="0" dirty="0"/>
          </a:p>
          <a:p>
            <a:r>
              <a:rPr lang="zh-CN" altLang="en-US" sz="2000" b="0" dirty="0"/>
              <a:t>段使用表为策略提供辅助信息</a:t>
            </a:r>
            <a:endParaRPr lang="en-US" altLang="zh-CN" sz="2000" b="0" dirty="0"/>
          </a:p>
          <a:p>
            <a:pPr lvl="1"/>
            <a:r>
              <a:rPr lang="zh-CN" altLang="en-CN" sz="1600" dirty="0"/>
              <a:t>记录</a:t>
            </a:r>
            <a:r>
              <a:rPr lang="zh-CN" altLang="en-US" sz="1600" dirty="0"/>
              <a:t>每个段中有效字节数</a:t>
            </a:r>
            <a:endParaRPr lang="en-US" altLang="zh-CN" sz="1600" dirty="0"/>
          </a:p>
          <a:p>
            <a:pPr lvl="1"/>
            <a:r>
              <a:rPr lang="zh-CN" altLang="en-US" sz="1600" dirty="0"/>
              <a:t>记录每个段最近写入的时间</a:t>
            </a:r>
            <a:endParaRPr lang="en-US" altLang="zh-CN" sz="1600" dirty="0"/>
          </a:p>
          <a:p>
            <a:pPr lvl="1"/>
            <a:endParaRPr lang="en-US" altLang="zh-CN" sz="1600" dirty="0"/>
          </a:p>
          <a:p>
            <a:endParaRPr lang="en-US" altLang="zh-CN" sz="2200" b="0" dirty="0"/>
          </a:p>
          <a:p>
            <a:endParaRPr lang="en-CN" sz="2000" b="0" dirty="0"/>
          </a:p>
        </p:txBody>
      </p:sp>
      <p:sp>
        <p:nvSpPr>
          <p:cNvPr id="4" name="Slide Number Placeholder 3">
            <a:extLst>
              <a:ext uri="{FF2B5EF4-FFF2-40B4-BE49-F238E27FC236}">
                <a16:creationId xmlns:a16="http://schemas.microsoft.com/office/drawing/2014/main" id="{BDC71732-6BFC-5B44-8DA4-EA01B27D0EF6}"/>
              </a:ext>
            </a:extLst>
          </p:cNvPr>
          <p:cNvSpPr>
            <a:spLocks noGrp="1"/>
          </p:cNvSpPr>
          <p:nvPr>
            <p:ph type="sldNum" sz="quarter" idx="12"/>
          </p:nvPr>
        </p:nvSpPr>
        <p:spPr/>
        <p:txBody>
          <a:bodyPr/>
          <a:lstStyle/>
          <a:p>
            <a:fld id="{ADE361C3-C043-4A6E-BDCE-8DA1E7D90A3B}" type="slidenum">
              <a:rPr lang="zh-CN" altLang="en-US" smtClean="0"/>
              <a:t>71</a:t>
            </a:fld>
            <a:endParaRPr lang="zh-CN" altLang="en-US"/>
          </a:p>
        </p:txBody>
      </p:sp>
      <p:sp>
        <p:nvSpPr>
          <p:cNvPr id="5" name="Footer Placeholder 4">
            <a:extLst>
              <a:ext uri="{FF2B5EF4-FFF2-40B4-BE49-F238E27FC236}">
                <a16:creationId xmlns:a16="http://schemas.microsoft.com/office/drawing/2014/main" id="{3F98A37B-035B-7945-8B3C-443DACFAD6A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294878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D74AA-95BA-FC4A-95A9-F44C1244D361}"/>
              </a:ext>
            </a:extLst>
          </p:cNvPr>
          <p:cNvSpPr>
            <a:spLocks noGrp="1"/>
          </p:cNvSpPr>
          <p:nvPr>
            <p:ph type="title"/>
          </p:nvPr>
        </p:nvSpPr>
        <p:spPr/>
        <p:txBody>
          <a:bodyPr/>
          <a:lstStyle/>
          <a:p>
            <a:r>
              <a:rPr lang="zh-CN" altLang="en-CN" dirty="0"/>
              <a:t>挂载</a:t>
            </a:r>
            <a:r>
              <a:rPr lang="zh-CN" altLang="en-US" dirty="0"/>
              <a:t>和恢复</a:t>
            </a:r>
            <a:endParaRPr lang="en-CN" dirty="0"/>
          </a:p>
        </p:txBody>
      </p:sp>
      <p:sp>
        <p:nvSpPr>
          <p:cNvPr id="3" name="Content Placeholder 2">
            <a:extLst>
              <a:ext uri="{FF2B5EF4-FFF2-40B4-BE49-F238E27FC236}">
                <a16:creationId xmlns:a16="http://schemas.microsoft.com/office/drawing/2014/main" id="{33B3EE28-887C-EC49-BBC2-DB9BDA6294CC}"/>
              </a:ext>
            </a:extLst>
          </p:cNvPr>
          <p:cNvSpPr>
            <a:spLocks noGrp="1"/>
          </p:cNvSpPr>
          <p:nvPr>
            <p:ph idx="1"/>
          </p:nvPr>
        </p:nvSpPr>
        <p:spPr/>
        <p:txBody>
          <a:bodyPr>
            <a:normAutofit/>
          </a:bodyPr>
          <a:lstStyle/>
          <a:p>
            <a:r>
              <a:rPr lang="zh-CN" altLang="en-US" b="0" dirty="0"/>
              <a:t>扫描所有日志，重建出整个文件系统的内存结构</a:t>
            </a:r>
            <a:endParaRPr lang="en-US" altLang="zh-CN" b="0" dirty="0"/>
          </a:p>
          <a:p>
            <a:pPr lvl="1"/>
            <a:r>
              <a:rPr lang="zh-CN" altLang="en-US" dirty="0"/>
              <a:t>大量无效数据也被扫描</a:t>
            </a:r>
            <a:endParaRPr lang="en-US" altLang="zh-CN" dirty="0"/>
          </a:p>
          <a:p>
            <a:r>
              <a:rPr lang="zh-CN" altLang="en-US" b="0" dirty="0"/>
              <a:t>定期写入检查点（</a:t>
            </a:r>
            <a:r>
              <a:rPr lang="en-US" altLang="zh-CN" b="0" dirty="0"/>
              <a:t>checkpoint</a:t>
            </a:r>
            <a:r>
              <a:rPr lang="zh-CN" altLang="en-US" b="0" dirty="0"/>
              <a:t>）</a:t>
            </a:r>
            <a:endParaRPr lang="en-US" altLang="zh-CN" b="0" dirty="0"/>
          </a:p>
          <a:p>
            <a:pPr lvl="1"/>
            <a:r>
              <a:rPr lang="zh-CN" altLang="en-US" dirty="0"/>
              <a:t>写入前的有效数据，可以通过检查点找到</a:t>
            </a:r>
            <a:endParaRPr lang="en-US" altLang="zh-CN" dirty="0"/>
          </a:p>
          <a:p>
            <a:pPr lvl="1"/>
            <a:r>
              <a:rPr lang="zh-CN" altLang="en-US" dirty="0"/>
              <a:t>只需扫描检查点之后写入的日志</a:t>
            </a:r>
            <a:endParaRPr lang="en-US" altLang="zh-CN" dirty="0"/>
          </a:p>
          <a:p>
            <a:pPr lvl="1"/>
            <a:r>
              <a:rPr lang="zh-CN" altLang="en-US" dirty="0"/>
              <a:t>减少挂载</a:t>
            </a:r>
            <a:r>
              <a:rPr lang="en-US" altLang="zh-CN" dirty="0"/>
              <a:t>/</a:t>
            </a:r>
            <a:r>
              <a:rPr lang="zh-CN" altLang="en-US" dirty="0"/>
              <a:t>恢复时间</a:t>
            </a:r>
            <a:endParaRPr lang="en-US" altLang="zh-CN" b="0" dirty="0"/>
          </a:p>
          <a:p>
            <a:pPr marL="0" indent="0">
              <a:buNone/>
            </a:pPr>
            <a:endParaRPr lang="en-US" altLang="zh-CN" b="0" dirty="0"/>
          </a:p>
        </p:txBody>
      </p:sp>
      <p:sp>
        <p:nvSpPr>
          <p:cNvPr id="4" name="Slide Number Placeholder 3">
            <a:extLst>
              <a:ext uri="{FF2B5EF4-FFF2-40B4-BE49-F238E27FC236}">
                <a16:creationId xmlns:a16="http://schemas.microsoft.com/office/drawing/2014/main" id="{4F53E3FA-6F65-0745-8C76-D29A45EA7DDE}"/>
              </a:ext>
            </a:extLst>
          </p:cNvPr>
          <p:cNvSpPr>
            <a:spLocks noGrp="1"/>
          </p:cNvSpPr>
          <p:nvPr>
            <p:ph type="sldNum" sz="quarter" idx="12"/>
          </p:nvPr>
        </p:nvSpPr>
        <p:spPr/>
        <p:txBody>
          <a:bodyPr/>
          <a:lstStyle/>
          <a:p>
            <a:fld id="{ADE361C3-C043-4A6E-BDCE-8DA1E7D90A3B}" type="slidenum">
              <a:rPr lang="zh-CN" altLang="en-US" smtClean="0"/>
              <a:t>72</a:t>
            </a:fld>
            <a:endParaRPr lang="zh-CN" altLang="en-US"/>
          </a:p>
        </p:txBody>
      </p:sp>
      <p:sp>
        <p:nvSpPr>
          <p:cNvPr id="5" name="Footer Placeholder 4">
            <a:extLst>
              <a:ext uri="{FF2B5EF4-FFF2-40B4-BE49-F238E27FC236}">
                <a16:creationId xmlns:a16="http://schemas.microsoft.com/office/drawing/2014/main" id="{496EE527-0D45-464D-B059-97E56CDB600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980454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US" dirty="0"/>
              <a:t>检查点</a:t>
            </a:r>
            <a:endParaRPr lang="en-CN"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73</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C489D167-F129-2B47-97B6-59301E28315C}"/>
              </a:ext>
            </a:extLst>
          </p:cNvPr>
          <p:cNvSpPr/>
          <p:nvPr/>
        </p:nvSpPr>
        <p:spPr>
          <a:xfrm>
            <a:off x="3522304" y="4369668"/>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42AA27CA-B286-0F4D-8CFE-C2D9D7130ABF}"/>
              </a:ext>
            </a:extLst>
          </p:cNvPr>
          <p:cNvSpPr/>
          <p:nvPr/>
        </p:nvSpPr>
        <p:spPr>
          <a:xfrm>
            <a:off x="4756426" y="4369668"/>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 name="Rectangle 7">
            <a:extLst>
              <a:ext uri="{FF2B5EF4-FFF2-40B4-BE49-F238E27FC236}">
                <a16:creationId xmlns:a16="http://schemas.microsoft.com/office/drawing/2014/main" id="{7834BAD6-D2F0-F247-AE79-52F0E7C3C69B}"/>
              </a:ext>
            </a:extLst>
          </p:cNvPr>
          <p:cNvSpPr/>
          <p:nvPr/>
        </p:nvSpPr>
        <p:spPr>
          <a:xfrm>
            <a:off x="5990549" y="4371345"/>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0" name="Rectangle 9">
            <a:extLst>
              <a:ext uri="{FF2B5EF4-FFF2-40B4-BE49-F238E27FC236}">
                <a16:creationId xmlns:a16="http://schemas.microsoft.com/office/drawing/2014/main" id="{97F9663B-7B23-E041-9462-A13DC9E00432}"/>
              </a:ext>
            </a:extLst>
          </p:cNvPr>
          <p:cNvSpPr/>
          <p:nvPr/>
        </p:nvSpPr>
        <p:spPr>
          <a:xfrm>
            <a:off x="1043608" y="4369668"/>
            <a:ext cx="411436" cy="38936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2" name="Rectangle 11">
            <a:extLst>
              <a:ext uri="{FF2B5EF4-FFF2-40B4-BE49-F238E27FC236}">
                <a16:creationId xmlns:a16="http://schemas.microsoft.com/office/drawing/2014/main" id="{089F2574-6D34-3B4A-BC04-A25435A22C4F}"/>
              </a:ext>
            </a:extLst>
          </p:cNvPr>
          <p:cNvSpPr/>
          <p:nvPr/>
        </p:nvSpPr>
        <p:spPr>
          <a:xfrm>
            <a:off x="1455044" y="436966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3" name="Rectangle 12">
            <a:extLst>
              <a:ext uri="{FF2B5EF4-FFF2-40B4-BE49-F238E27FC236}">
                <a16:creationId xmlns:a16="http://schemas.microsoft.com/office/drawing/2014/main" id="{ECC4E9D2-BED9-5240-A6E6-E9855C160DBF}"/>
              </a:ext>
            </a:extLst>
          </p:cNvPr>
          <p:cNvSpPr/>
          <p:nvPr/>
        </p:nvSpPr>
        <p:spPr>
          <a:xfrm>
            <a:off x="1871613" y="436966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4" name="Rectangle 13">
            <a:extLst>
              <a:ext uri="{FF2B5EF4-FFF2-40B4-BE49-F238E27FC236}">
                <a16:creationId xmlns:a16="http://schemas.microsoft.com/office/drawing/2014/main" id="{1F767787-4A3D-A64D-B14B-6EF40CFA4E67}"/>
              </a:ext>
            </a:extLst>
          </p:cNvPr>
          <p:cNvSpPr/>
          <p:nvPr/>
        </p:nvSpPr>
        <p:spPr>
          <a:xfrm>
            <a:off x="2288182" y="4369668"/>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5" name="TextBox 14">
            <a:extLst>
              <a:ext uri="{FF2B5EF4-FFF2-40B4-BE49-F238E27FC236}">
                <a16:creationId xmlns:a16="http://schemas.microsoft.com/office/drawing/2014/main" id="{79BB28BE-DBD3-A44F-900C-C51AF765EDDD}"/>
              </a:ext>
            </a:extLst>
          </p:cNvPr>
          <p:cNvSpPr txBox="1"/>
          <p:nvPr/>
        </p:nvSpPr>
        <p:spPr>
          <a:xfrm>
            <a:off x="7272387" y="4167772"/>
            <a:ext cx="543739" cy="523220"/>
          </a:xfrm>
          <a:prstGeom prst="rect">
            <a:avLst/>
          </a:prstGeom>
          <a:noFill/>
        </p:spPr>
        <p:txBody>
          <a:bodyPr wrap="none" rtlCol="0">
            <a:spAutoFit/>
          </a:bodyPr>
          <a:lstStyle/>
          <a:p>
            <a:r>
              <a:rPr lang="en-US" sz="2800" dirty="0"/>
              <a:t>…</a:t>
            </a:r>
            <a:endParaRPr lang="en-CN" sz="2800" dirty="0"/>
          </a:p>
        </p:txBody>
      </p:sp>
      <p:sp>
        <p:nvSpPr>
          <p:cNvPr id="16" name="TextBox 15">
            <a:extLst>
              <a:ext uri="{FF2B5EF4-FFF2-40B4-BE49-F238E27FC236}">
                <a16:creationId xmlns:a16="http://schemas.microsoft.com/office/drawing/2014/main" id="{3296133C-095B-F246-933E-F884637E2ADB}"/>
              </a:ext>
            </a:extLst>
          </p:cNvPr>
          <p:cNvSpPr txBox="1"/>
          <p:nvPr/>
        </p:nvSpPr>
        <p:spPr>
          <a:xfrm>
            <a:off x="2697494" y="4759028"/>
            <a:ext cx="415498" cy="369332"/>
          </a:xfrm>
          <a:prstGeom prst="rect">
            <a:avLst/>
          </a:prstGeom>
          <a:noFill/>
        </p:spPr>
        <p:txBody>
          <a:bodyPr wrap="none" rtlCol="0">
            <a:spAutoFit/>
          </a:bodyPr>
          <a:lstStyle/>
          <a:p>
            <a:r>
              <a:rPr lang="zh-CN" altLang="en-CN" dirty="0"/>
              <a:t>段</a:t>
            </a:r>
            <a:endParaRPr lang="en-CN" dirty="0"/>
          </a:p>
        </p:txBody>
      </p:sp>
      <p:sp>
        <p:nvSpPr>
          <p:cNvPr id="17" name="TextBox 16">
            <a:extLst>
              <a:ext uri="{FF2B5EF4-FFF2-40B4-BE49-F238E27FC236}">
                <a16:creationId xmlns:a16="http://schemas.microsoft.com/office/drawing/2014/main" id="{A87893B6-FEFD-B44A-86EA-AB184DB29ECD}"/>
              </a:ext>
            </a:extLst>
          </p:cNvPr>
          <p:cNvSpPr txBox="1"/>
          <p:nvPr/>
        </p:nvSpPr>
        <p:spPr>
          <a:xfrm>
            <a:off x="349033" y="3644074"/>
            <a:ext cx="877163" cy="369332"/>
          </a:xfrm>
          <a:prstGeom prst="rect">
            <a:avLst/>
          </a:prstGeom>
          <a:noFill/>
        </p:spPr>
        <p:txBody>
          <a:bodyPr wrap="none" rtlCol="0">
            <a:spAutoFit/>
          </a:bodyPr>
          <a:lstStyle/>
          <a:p>
            <a:r>
              <a:rPr lang="zh-CN" altLang="en-US" dirty="0"/>
              <a:t>超级块</a:t>
            </a:r>
            <a:endParaRPr lang="en-CN" dirty="0"/>
          </a:p>
        </p:txBody>
      </p:sp>
      <p:sp>
        <p:nvSpPr>
          <p:cNvPr id="18" name="TextBox 17">
            <a:extLst>
              <a:ext uri="{FF2B5EF4-FFF2-40B4-BE49-F238E27FC236}">
                <a16:creationId xmlns:a16="http://schemas.microsoft.com/office/drawing/2014/main" id="{748761B5-FF4A-1E42-A339-9130A452FCA5}"/>
              </a:ext>
            </a:extLst>
          </p:cNvPr>
          <p:cNvSpPr txBox="1"/>
          <p:nvPr/>
        </p:nvSpPr>
        <p:spPr>
          <a:xfrm>
            <a:off x="1158060" y="3446085"/>
            <a:ext cx="1005403" cy="369332"/>
          </a:xfrm>
          <a:prstGeom prst="rect">
            <a:avLst/>
          </a:prstGeom>
          <a:noFill/>
        </p:spPr>
        <p:txBody>
          <a:bodyPr wrap="none" rtlCol="0">
            <a:spAutoFit/>
          </a:bodyPr>
          <a:lstStyle/>
          <a:p>
            <a:r>
              <a:rPr lang="zh-CN" altLang="en-US" dirty="0"/>
              <a:t>检查点</a:t>
            </a:r>
            <a:r>
              <a:rPr lang="en-US" altLang="zh-CN" dirty="0"/>
              <a:t>1</a:t>
            </a:r>
            <a:endParaRPr lang="en-CN" dirty="0"/>
          </a:p>
        </p:txBody>
      </p:sp>
      <p:sp>
        <p:nvSpPr>
          <p:cNvPr id="19" name="TextBox 18">
            <a:extLst>
              <a:ext uri="{FF2B5EF4-FFF2-40B4-BE49-F238E27FC236}">
                <a16:creationId xmlns:a16="http://schemas.microsoft.com/office/drawing/2014/main" id="{66889A49-9ADD-1E4F-B66C-63B18110E0F9}"/>
              </a:ext>
            </a:extLst>
          </p:cNvPr>
          <p:cNvSpPr txBox="1"/>
          <p:nvPr/>
        </p:nvSpPr>
        <p:spPr>
          <a:xfrm>
            <a:off x="2134920" y="3622181"/>
            <a:ext cx="1005403" cy="369332"/>
          </a:xfrm>
          <a:prstGeom prst="rect">
            <a:avLst/>
          </a:prstGeom>
          <a:noFill/>
        </p:spPr>
        <p:txBody>
          <a:bodyPr wrap="none" rtlCol="0">
            <a:spAutoFit/>
          </a:bodyPr>
          <a:lstStyle/>
          <a:p>
            <a:r>
              <a:rPr lang="zh-CN" altLang="en-US" dirty="0"/>
              <a:t>检查点</a:t>
            </a:r>
            <a:r>
              <a:rPr lang="en-US" altLang="zh-CN" dirty="0"/>
              <a:t>2</a:t>
            </a:r>
            <a:endParaRPr lang="en-CN" dirty="0"/>
          </a:p>
        </p:txBody>
      </p:sp>
      <p:cxnSp>
        <p:nvCxnSpPr>
          <p:cNvPr id="21" name="Straight Arrow Connector 20">
            <a:extLst>
              <a:ext uri="{FF2B5EF4-FFF2-40B4-BE49-F238E27FC236}">
                <a16:creationId xmlns:a16="http://schemas.microsoft.com/office/drawing/2014/main" id="{10094A6B-8337-1343-8C69-DCA30BC49FDF}"/>
              </a:ext>
            </a:extLst>
          </p:cNvPr>
          <p:cNvCxnSpPr>
            <a:stCxn id="17" idx="2"/>
            <a:endCxn id="10" idx="0"/>
          </p:cNvCxnSpPr>
          <p:nvPr/>
        </p:nvCxnSpPr>
        <p:spPr>
          <a:xfrm>
            <a:off x="787615" y="4013406"/>
            <a:ext cx="461711" cy="3562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40DCC87C-89CB-164D-9523-354CD0B2E9AE}"/>
              </a:ext>
            </a:extLst>
          </p:cNvPr>
          <p:cNvCxnSpPr>
            <a:cxnSpLocks/>
            <a:stCxn id="18" idx="2"/>
            <a:endCxn id="12" idx="0"/>
          </p:cNvCxnSpPr>
          <p:nvPr/>
        </p:nvCxnSpPr>
        <p:spPr>
          <a:xfrm>
            <a:off x="1660762" y="3815417"/>
            <a:ext cx="0" cy="5542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BC26F023-D0A2-3845-ACCD-29B4300A74D6}"/>
              </a:ext>
            </a:extLst>
          </p:cNvPr>
          <p:cNvCxnSpPr>
            <a:cxnSpLocks/>
            <a:stCxn id="19" idx="2"/>
            <a:endCxn id="13" idx="0"/>
          </p:cNvCxnSpPr>
          <p:nvPr/>
        </p:nvCxnSpPr>
        <p:spPr>
          <a:xfrm flipH="1">
            <a:off x="2077331" y="3991513"/>
            <a:ext cx="560291" cy="3781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Content Placeholder 2">
            <a:extLst>
              <a:ext uri="{FF2B5EF4-FFF2-40B4-BE49-F238E27FC236}">
                <a16:creationId xmlns:a16="http://schemas.microsoft.com/office/drawing/2014/main" id="{7176B5D6-2AAD-7541-801E-95172B03ABB4}"/>
              </a:ext>
            </a:extLst>
          </p:cNvPr>
          <p:cNvSpPr>
            <a:spLocks noGrp="1"/>
          </p:cNvSpPr>
          <p:nvPr>
            <p:ph idx="1"/>
          </p:nvPr>
        </p:nvSpPr>
        <p:spPr>
          <a:xfrm>
            <a:off x="457200" y="1333501"/>
            <a:ext cx="8229600" cy="3771636"/>
          </a:xfrm>
        </p:spPr>
        <p:txBody>
          <a:bodyPr>
            <a:normAutofit/>
          </a:bodyPr>
          <a:lstStyle/>
          <a:p>
            <a:r>
              <a:rPr lang="zh-CN" altLang="en-US" sz="2000" b="0" dirty="0"/>
              <a:t>检查点内容</a:t>
            </a:r>
            <a:endParaRPr lang="en-US" altLang="zh-CN" sz="2000" b="0" dirty="0"/>
          </a:p>
          <a:p>
            <a:pPr lvl="1"/>
            <a:r>
              <a:rPr lang="en-US" altLang="zh-CN" sz="1800" dirty="0" err="1"/>
              <a:t>inode</a:t>
            </a:r>
            <a:r>
              <a:rPr lang="zh-CN" altLang="en-US" sz="1800" dirty="0"/>
              <a:t> </a:t>
            </a:r>
            <a:r>
              <a:rPr lang="en-US" altLang="zh-CN" sz="1800" dirty="0"/>
              <a:t>map</a:t>
            </a:r>
            <a:r>
              <a:rPr lang="zh-CN" altLang="en-US" sz="1800" dirty="0"/>
              <a:t>的</a:t>
            </a:r>
            <a:r>
              <a:rPr lang="zh-CN" altLang="en-CN" sz="1800" dirty="0"/>
              <a:t>位置</a:t>
            </a:r>
            <a:r>
              <a:rPr lang="zh-CN" altLang="en-US" sz="1800" dirty="0"/>
              <a:t>（可找到所有文件的内容）</a:t>
            </a:r>
            <a:endParaRPr lang="en-US" altLang="zh-CN" sz="1800" dirty="0"/>
          </a:p>
          <a:p>
            <a:pPr lvl="1"/>
            <a:r>
              <a:rPr lang="zh-CN" altLang="en-US" sz="1800" dirty="0"/>
              <a:t>段使用表</a:t>
            </a:r>
            <a:endParaRPr lang="en-US" altLang="zh-CN" sz="1800" dirty="0"/>
          </a:p>
          <a:p>
            <a:pPr lvl="1"/>
            <a:r>
              <a:rPr lang="zh-CN" altLang="en-US" sz="1800" dirty="0"/>
              <a:t>当前时间</a:t>
            </a:r>
            <a:endParaRPr lang="en-US" altLang="zh-CN" sz="1800" dirty="0"/>
          </a:p>
          <a:p>
            <a:pPr lvl="1"/>
            <a:r>
              <a:rPr lang="zh-CN" altLang="en-US" sz="1800" dirty="0"/>
              <a:t>最后写入的段的指针</a:t>
            </a:r>
            <a:endParaRPr lang="en-US" altLang="zh-CN" sz="1800" dirty="0"/>
          </a:p>
        </p:txBody>
      </p:sp>
      <p:sp>
        <p:nvSpPr>
          <p:cNvPr id="35" name="TextBox 34">
            <a:extLst>
              <a:ext uri="{FF2B5EF4-FFF2-40B4-BE49-F238E27FC236}">
                <a16:creationId xmlns:a16="http://schemas.microsoft.com/office/drawing/2014/main" id="{4F9C353B-0ABF-FF4E-A66E-9557A49AB966}"/>
              </a:ext>
            </a:extLst>
          </p:cNvPr>
          <p:cNvSpPr txBox="1"/>
          <p:nvPr/>
        </p:nvSpPr>
        <p:spPr>
          <a:xfrm>
            <a:off x="4139365" y="3252849"/>
            <a:ext cx="4382931" cy="369332"/>
          </a:xfrm>
          <a:prstGeom prst="rect">
            <a:avLst/>
          </a:prstGeom>
          <a:noFill/>
        </p:spPr>
        <p:txBody>
          <a:bodyPr wrap="none" rtlCol="0">
            <a:spAutoFit/>
          </a:bodyPr>
          <a:lstStyle/>
          <a:p>
            <a:r>
              <a:rPr lang="zh-CN" altLang="en-US" dirty="0">
                <a:solidFill>
                  <a:srgbClr val="C00000"/>
                </a:solidFill>
              </a:rPr>
              <a:t>思考一下：为什么需要两个检查点区域？</a:t>
            </a:r>
            <a:endParaRPr lang="en-CN" dirty="0">
              <a:solidFill>
                <a:srgbClr val="C00000"/>
              </a:solidFill>
            </a:endParaRPr>
          </a:p>
        </p:txBody>
      </p:sp>
    </p:spTree>
    <p:extLst>
      <p:ext uri="{BB962C8B-B14F-4D97-AF65-F5344CB8AC3E}">
        <p14:creationId xmlns:p14="http://schemas.microsoft.com/office/powerpoint/2010/main" val="416552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：前滚（</a:t>
            </a:r>
            <a:r>
              <a:rPr lang="en-US" altLang="zh-CN" dirty="0"/>
              <a:t>roll-forward</a:t>
            </a:r>
            <a:r>
              <a:rPr lang="zh-CN" altLang="en-US" dirty="0"/>
              <a:t>）</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normAutofit/>
          </a:bodyPr>
          <a:lstStyle/>
          <a:p>
            <a:r>
              <a:rPr lang="zh-CN" altLang="en-US" sz="2000" b="0" dirty="0"/>
              <a:t>尽量恢复检查点后写入的数据</a:t>
            </a:r>
            <a:endParaRPr lang="en-US" altLang="zh-CN" sz="2000" b="0" dirty="0"/>
          </a:p>
          <a:p>
            <a:r>
              <a:rPr lang="zh-CN" altLang="en-US" sz="2000" b="0" dirty="0"/>
              <a:t>通过段概要里面的新</a:t>
            </a:r>
            <a:r>
              <a:rPr lang="en-US" altLang="zh-CN" sz="2000" b="0" dirty="0" err="1"/>
              <a:t>inode</a:t>
            </a:r>
            <a:r>
              <a:rPr lang="zh-CN" altLang="en-US" sz="2000" b="0" dirty="0"/>
              <a:t>，恢复新的</a:t>
            </a:r>
            <a:r>
              <a:rPr lang="en-US" altLang="zh-CN" sz="2000" b="0" dirty="0" err="1"/>
              <a:t>inode</a:t>
            </a:r>
            <a:endParaRPr lang="en-US" altLang="zh-CN" sz="2000" b="0" dirty="0"/>
          </a:p>
          <a:p>
            <a:pPr lvl="1"/>
            <a:r>
              <a:rPr lang="zh-CN" altLang="en-US" sz="1800" dirty="0"/>
              <a:t>其</a:t>
            </a:r>
            <a:r>
              <a:rPr lang="en-US" altLang="zh-CN" sz="1800" dirty="0" err="1"/>
              <a:t>inode</a:t>
            </a:r>
            <a:r>
              <a:rPr lang="zh-CN" altLang="en-US" sz="1800" dirty="0"/>
              <a:t>中的数据块会被自动恢复</a:t>
            </a:r>
            <a:endParaRPr lang="en-US" altLang="zh-CN" sz="1800" dirty="0"/>
          </a:p>
          <a:p>
            <a:r>
              <a:rPr lang="zh-CN" altLang="en-US" sz="2000" b="0" dirty="0"/>
              <a:t>未被</a:t>
            </a:r>
            <a:r>
              <a:rPr lang="en-US" altLang="zh-CN" sz="2000" b="0" dirty="0" err="1"/>
              <a:t>inode</a:t>
            </a:r>
            <a:r>
              <a:rPr lang="en-US" altLang="zh-CN" sz="2000" b="0" dirty="0"/>
              <a:t>"</a:t>
            </a:r>
            <a:r>
              <a:rPr lang="zh-CN" altLang="en-US" sz="2000" b="0" dirty="0"/>
              <a:t>认领</a:t>
            </a:r>
            <a:r>
              <a:rPr lang="en-US" altLang="zh-CN" sz="2000" b="0" dirty="0"/>
              <a:t>"</a:t>
            </a:r>
            <a:r>
              <a:rPr lang="zh-CN" altLang="en-US" sz="2000" b="0" dirty="0"/>
              <a:t>的数据块会被删除</a:t>
            </a:r>
            <a:endParaRPr lang="en-US" altLang="zh-CN" sz="2000" b="0" dirty="0"/>
          </a:p>
          <a:p>
            <a:endParaRPr lang="en-US" altLang="zh-CN" sz="2000"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74</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60FE354C-FC13-2A4E-87CB-139F31111D79}"/>
              </a:ext>
            </a:extLst>
          </p:cNvPr>
          <p:cNvSpPr/>
          <p:nvPr/>
        </p:nvSpPr>
        <p:spPr>
          <a:xfrm>
            <a:off x="3080270" y="4393938"/>
            <a:ext cx="4372050"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31A3E803-4A73-1B4E-A1B1-283D372D0415}"/>
              </a:ext>
            </a:extLst>
          </p:cNvPr>
          <p:cNvSpPr/>
          <p:nvPr/>
        </p:nvSpPr>
        <p:spPr>
          <a:xfrm>
            <a:off x="3923928" y="4393938"/>
            <a:ext cx="432048"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err="1"/>
              <a:t>i</a:t>
            </a:r>
            <a:r>
              <a:rPr lang="en-CN" sz="900" dirty="0"/>
              <a:t>node</a:t>
            </a:r>
            <a:br>
              <a:rPr lang="en-US" altLang="zh-CN" sz="900" dirty="0"/>
            </a:br>
            <a:r>
              <a:rPr lang="en-US" altLang="zh-CN" sz="900" dirty="0"/>
              <a:t>map</a:t>
            </a:r>
            <a:endParaRPr lang="en-CN" sz="900" dirty="0"/>
          </a:p>
        </p:txBody>
      </p:sp>
      <p:sp>
        <p:nvSpPr>
          <p:cNvPr id="8" name="Rectangle 7">
            <a:extLst>
              <a:ext uri="{FF2B5EF4-FFF2-40B4-BE49-F238E27FC236}">
                <a16:creationId xmlns:a16="http://schemas.microsoft.com/office/drawing/2014/main" id="{DFA76D72-89C7-E348-BD61-A57E6D375489}"/>
              </a:ext>
            </a:extLst>
          </p:cNvPr>
          <p:cNvSpPr/>
          <p:nvPr/>
        </p:nvSpPr>
        <p:spPr>
          <a:xfrm>
            <a:off x="1753343" y="439393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100" dirty="0"/>
              <a:t>CP</a:t>
            </a:r>
          </a:p>
        </p:txBody>
      </p:sp>
      <p:sp>
        <p:nvSpPr>
          <p:cNvPr id="9" name="Rectangle 8">
            <a:extLst>
              <a:ext uri="{FF2B5EF4-FFF2-40B4-BE49-F238E27FC236}">
                <a16:creationId xmlns:a16="http://schemas.microsoft.com/office/drawing/2014/main" id="{D43A8FF8-ABF1-C441-959F-03CBB7420D6A}"/>
              </a:ext>
            </a:extLst>
          </p:cNvPr>
          <p:cNvSpPr/>
          <p:nvPr/>
        </p:nvSpPr>
        <p:spPr>
          <a:xfrm>
            <a:off x="3077091" y="4393938"/>
            <a:ext cx="850014"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900" dirty="0"/>
              <a:t>之前</a:t>
            </a:r>
            <a:r>
              <a:rPr lang="zh-CN" altLang="en-US" sz="900" dirty="0"/>
              <a:t>的数据</a:t>
            </a:r>
            <a:endParaRPr lang="en-CN" sz="900" dirty="0"/>
          </a:p>
        </p:txBody>
      </p:sp>
      <p:cxnSp>
        <p:nvCxnSpPr>
          <p:cNvPr id="10" name="Straight Arrow Connector 9">
            <a:extLst>
              <a:ext uri="{FF2B5EF4-FFF2-40B4-BE49-F238E27FC236}">
                <a16:creationId xmlns:a16="http://schemas.microsoft.com/office/drawing/2014/main" id="{101F326E-CB58-E946-B2D8-270FB7154C41}"/>
              </a:ext>
            </a:extLst>
          </p:cNvPr>
          <p:cNvCxnSpPr>
            <a:cxnSpLocks/>
            <a:stCxn id="8" idx="2"/>
            <a:endCxn id="7" idx="2"/>
          </p:cNvCxnSpPr>
          <p:nvPr/>
        </p:nvCxnSpPr>
        <p:spPr>
          <a:xfrm rot="16200000" flipH="1">
            <a:off x="3049506" y="3692852"/>
            <a:ext cx="12700" cy="2180891"/>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B7EDD9E5-9639-3A43-97EF-9C48F9B54D75}"/>
              </a:ext>
            </a:extLst>
          </p:cNvPr>
          <p:cNvSpPr/>
          <p:nvPr/>
        </p:nvSpPr>
        <p:spPr>
          <a:xfrm>
            <a:off x="4355976" y="4393937"/>
            <a:ext cx="2142800"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900" dirty="0"/>
              <a:t>之后写入的数据</a:t>
            </a:r>
            <a:endParaRPr lang="en-CN" sz="900" dirty="0"/>
          </a:p>
        </p:txBody>
      </p:sp>
      <p:sp>
        <p:nvSpPr>
          <p:cNvPr id="16" name="Rectangle 15">
            <a:extLst>
              <a:ext uri="{FF2B5EF4-FFF2-40B4-BE49-F238E27FC236}">
                <a16:creationId xmlns:a16="http://schemas.microsoft.com/office/drawing/2014/main" id="{8A5D27FB-1860-2644-BC1C-8CAA71266B13}"/>
              </a:ext>
            </a:extLst>
          </p:cNvPr>
          <p:cNvSpPr/>
          <p:nvPr/>
        </p:nvSpPr>
        <p:spPr>
          <a:xfrm>
            <a:off x="2809674" y="4393937"/>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TextBox 16">
            <a:extLst>
              <a:ext uri="{FF2B5EF4-FFF2-40B4-BE49-F238E27FC236}">
                <a16:creationId xmlns:a16="http://schemas.microsoft.com/office/drawing/2014/main" id="{F9701829-3E43-414E-8676-20503D62C5BE}"/>
              </a:ext>
            </a:extLst>
          </p:cNvPr>
          <p:cNvSpPr txBox="1"/>
          <p:nvPr/>
        </p:nvSpPr>
        <p:spPr>
          <a:xfrm>
            <a:off x="1532738"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8" name="TextBox 17">
            <a:extLst>
              <a:ext uri="{FF2B5EF4-FFF2-40B4-BE49-F238E27FC236}">
                <a16:creationId xmlns:a16="http://schemas.microsoft.com/office/drawing/2014/main" id="{1FC7A63D-E0C0-C541-A334-BE81A7153452}"/>
              </a:ext>
            </a:extLst>
          </p:cNvPr>
          <p:cNvSpPr txBox="1"/>
          <p:nvPr/>
        </p:nvSpPr>
        <p:spPr>
          <a:xfrm>
            <a:off x="2540802"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9" name="TextBox 18">
            <a:extLst>
              <a:ext uri="{FF2B5EF4-FFF2-40B4-BE49-F238E27FC236}">
                <a16:creationId xmlns:a16="http://schemas.microsoft.com/office/drawing/2014/main" id="{AC3F6402-0AC3-754F-8441-ED14D133C1CE}"/>
              </a:ext>
            </a:extLst>
          </p:cNvPr>
          <p:cNvSpPr txBox="1"/>
          <p:nvPr/>
        </p:nvSpPr>
        <p:spPr>
          <a:xfrm>
            <a:off x="3969289"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X</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20" name="TextBox 19">
            <a:extLst>
              <a:ext uri="{FF2B5EF4-FFF2-40B4-BE49-F238E27FC236}">
                <a16:creationId xmlns:a16="http://schemas.microsoft.com/office/drawing/2014/main" id="{03EA6DAC-D1FE-9A44-97E7-28C562A14907}"/>
              </a:ext>
            </a:extLst>
          </p:cNvPr>
          <p:cNvSpPr txBox="1"/>
          <p:nvPr/>
        </p:nvSpPr>
        <p:spPr>
          <a:xfrm>
            <a:off x="4943713" y="3464424"/>
            <a:ext cx="415498" cy="369332"/>
          </a:xfrm>
          <a:prstGeom prst="rect">
            <a:avLst/>
          </a:prstGeom>
          <a:noFill/>
        </p:spPr>
        <p:txBody>
          <a:bodyPr wrap="none" rtlCol="0">
            <a:spAutoFit/>
          </a:bodyPr>
          <a:lstStyle/>
          <a:p>
            <a:r>
              <a:rPr lang="en-US" altLang="zh-CN" dirty="0"/>
              <a:t>…</a:t>
            </a:r>
            <a:endParaRPr lang="en-CN" dirty="0"/>
          </a:p>
        </p:txBody>
      </p:sp>
      <p:sp>
        <p:nvSpPr>
          <p:cNvPr id="21" name="TextBox 20">
            <a:extLst>
              <a:ext uri="{FF2B5EF4-FFF2-40B4-BE49-F238E27FC236}">
                <a16:creationId xmlns:a16="http://schemas.microsoft.com/office/drawing/2014/main" id="{C091C666-82CA-7E4F-98C2-75F3F10FF0B9}"/>
              </a:ext>
            </a:extLst>
          </p:cNvPr>
          <p:cNvSpPr txBox="1"/>
          <p:nvPr/>
        </p:nvSpPr>
        <p:spPr>
          <a:xfrm>
            <a:off x="5359211"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2" name="Straight Arrow Connector 21">
            <a:extLst>
              <a:ext uri="{FF2B5EF4-FFF2-40B4-BE49-F238E27FC236}">
                <a16:creationId xmlns:a16="http://schemas.microsoft.com/office/drawing/2014/main" id="{FE639557-A4E2-3F43-8138-169CC7097B5E}"/>
              </a:ext>
            </a:extLst>
          </p:cNvPr>
          <p:cNvCxnSpPr>
            <a:cxnSpLocks/>
          </p:cNvCxnSpPr>
          <p:nvPr/>
        </p:nvCxnSpPr>
        <p:spPr>
          <a:xfrm flipH="1" flipV="1">
            <a:off x="1518670" y="4018422"/>
            <a:ext cx="1291004" cy="375515"/>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7C0F3B-5D55-874E-8500-D7D0A9082B62}"/>
              </a:ext>
            </a:extLst>
          </p:cNvPr>
          <p:cNvCxnSpPr>
            <a:cxnSpLocks/>
          </p:cNvCxnSpPr>
          <p:nvPr/>
        </p:nvCxnSpPr>
        <p:spPr>
          <a:xfrm flipV="1">
            <a:off x="3077091" y="4018422"/>
            <a:ext cx="3295109" cy="375516"/>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F7EF000-58D2-B241-8F78-C28EA4D1FE03}"/>
              </a:ext>
            </a:extLst>
          </p:cNvPr>
          <p:cNvSpPr txBox="1"/>
          <p:nvPr/>
        </p:nvSpPr>
        <p:spPr>
          <a:xfrm>
            <a:off x="824240" y="3433564"/>
            <a:ext cx="748923" cy="261610"/>
          </a:xfrm>
          <a:prstGeom prst="rect">
            <a:avLst/>
          </a:prstGeom>
          <a:noFill/>
        </p:spPr>
        <p:txBody>
          <a:bodyPr wrap="none" rtlCol="0">
            <a:spAutoFit/>
          </a:bodyPr>
          <a:lstStyle/>
          <a:p>
            <a:r>
              <a:rPr lang="zh-CN" altLang="en-US" sz="1100" dirty="0"/>
              <a:t>段概要：</a:t>
            </a:r>
            <a:endParaRPr lang="en-CN" sz="1100" dirty="0"/>
          </a:p>
        </p:txBody>
      </p:sp>
      <p:sp>
        <p:nvSpPr>
          <p:cNvPr id="28" name="TextBox 27">
            <a:extLst>
              <a:ext uri="{FF2B5EF4-FFF2-40B4-BE49-F238E27FC236}">
                <a16:creationId xmlns:a16="http://schemas.microsoft.com/office/drawing/2014/main" id="{E088B183-3D49-904A-9AC7-6644F6194F2B}"/>
              </a:ext>
            </a:extLst>
          </p:cNvPr>
          <p:cNvSpPr txBox="1"/>
          <p:nvPr/>
        </p:nvSpPr>
        <p:spPr>
          <a:xfrm>
            <a:off x="3544170" y="3480446"/>
            <a:ext cx="415498" cy="369332"/>
          </a:xfrm>
          <a:prstGeom prst="rect">
            <a:avLst/>
          </a:prstGeom>
          <a:noFill/>
        </p:spPr>
        <p:txBody>
          <a:bodyPr wrap="none" rtlCol="0">
            <a:spAutoFit/>
          </a:bodyPr>
          <a:lstStyle/>
          <a:p>
            <a:r>
              <a:rPr lang="en-US" altLang="zh-CN" dirty="0"/>
              <a:t>…</a:t>
            </a:r>
            <a:endParaRPr lang="en-CN" dirty="0"/>
          </a:p>
        </p:txBody>
      </p:sp>
      <p:sp>
        <p:nvSpPr>
          <p:cNvPr id="29" name="Rectangle 28">
            <a:extLst>
              <a:ext uri="{FF2B5EF4-FFF2-40B4-BE49-F238E27FC236}">
                <a16:creationId xmlns:a16="http://schemas.microsoft.com/office/drawing/2014/main" id="{91365C3F-4A13-0543-84A0-4E7296C7E3EB}"/>
              </a:ext>
            </a:extLst>
          </p:cNvPr>
          <p:cNvSpPr/>
          <p:nvPr/>
        </p:nvSpPr>
        <p:spPr>
          <a:xfrm>
            <a:off x="4625743" y="4410687"/>
            <a:ext cx="317970" cy="350923"/>
          </a:xfrm>
          <a:prstGeom prst="rect">
            <a:avLst/>
          </a:prstGeom>
          <a:solidFill>
            <a:schemeClr val="accent3">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a:t>I</a:t>
            </a:r>
            <a:r>
              <a:rPr lang="en-CN" sz="900" dirty="0"/>
              <a:t>node</a:t>
            </a:r>
          </a:p>
        </p:txBody>
      </p:sp>
      <p:cxnSp>
        <p:nvCxnSpPr>
          <p:cNvPr id="30" name="Straight Arrow Connector 29">
            <a:extLst>
              <a:ext uri="{FF2B5EF4-FFF2-40B4-BE49-F238E27FC236}">
                <a16:creationId xmlns:a16="http://schemas.microsoft.com/office/drawing/2014/main" id="{F24CE5F6-05DD-1D4F-98DB-AA58086EB62A}"/>
              </a:ext>
            </a:extLst>
          </p:cNvPr>
          <p:cNvCxnSpPr>
            <a:cxnSpLocks/>
            <a:stCxn id="19" idx="2"/>
            <a:endCxn id="29" idx="0"/>
          </p:cNvCxnSpPr>
          <p:nvPr/>
        </p:nvCxnSpPr>
        <p:spPr>
          <a:xfrm>
            <a:off x="4475784" y="4023573"/>
            <a:ext cx="308944" cy="387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44812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：前滚（</a:t>
            </a:r>
            <a:r>
              <a:rPr lang="en-US" altLang="zh-CN" dirty="0"/>
              <a:t>roll-forward</a:t>
            </a:r>
            <a:r>
              <a:rPr lang="zh-CN" altLang="en-US" dirty="0"/>
              <a:t>）</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normAutofit/>
          </a:bodyPr>
          <a:lstStyle/>
          <a:p>
            <a:r>
              <a:rPr lang="zh-CN" altLang="en-CN" sz="2000" b="0" dirty="0"/>
              <a:t>段</a:t>
            </a:r>
            <a:r>
              <a:rPr lang="zh-CN" altLang="en-US" sz="2000" b="0" dirty="0"/>
              <a:t>概要无法保证</a:t>
            </a:r>
            <a:r>
              <a:rPr lang="en-US" altLang="zh-CN" sz="2000" b="0" dirty="0" err="1"/>
              <a:t>inode</a:t>
            </a:r>
            <a:r>
              <a:rPr lang="zh-CN" altLang="en-US" sz="2000" b="0" dirty="0"/>
              <a:t>的链接数一致性</a:t>
            </a:r>
            <a:endParaRPr lang="en-US" altLang="zh-CN" sz="2000" b="0" dirty="0"/>
          </a:p>
          <a:p>
            <a:pPr lvl="1"/>
            <a:r>
              <a:rPr lang="zh-CN" altLang="en-US" sz="1800" dirty="0"/>
              <a:t>如：</a:t>
            </a:r>
            <a:r>
              <a:rPr lang="en-US" altLang="zh-CN" sz="1800" dirty="0" err="1"/>
              <a:t>inode</a:t>
            </a:r>
            <a:r>
              <a:rPr lang="zh-CN" altLang="en-US" sz="1800" dirty="0"/>
              <a:t>被持久化，但是指向其的目录项未被持久化</a:t>
            </a:r>
            <a:endParaRPr lang="en-US" altLang="zh-CN" sz="1800" dirty="0"/>
          </a:p>
          <a:p>
            <a:endParaRPr lang="en-US" altLang="zh-CN" sz="2000"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75</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60FE354C-FC13-2A4E-87CB-139F31111D79}"/>
              </a:ext>
            </a:extLst>
          </p:cNvPr>
          <p:cNvSpPr/>
          <p:nvPr/>
        </p:nvSpPr>
        <p:spPr>
          <a:xfrm>
            <a:off x="3080270" y="4393938"/>
            <a:ext cx="4372050"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31A3E803-4A73-1B4E-A1B1-283D372D0415}"/>
              </a:ext>
            </a:extLst>
          </p:cNvPr>
          <p:cNvSpPr/>
          <p:nvPr/>
        </p:nvSpPr>
        <p:spPr>
          <a:xfrm>
            <a:off x="3923928" y="4393938"/>
            <a:ext cx="432048"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err="1"/>
              <a:t>i</a:t>
            </a:r>
            <a:r>
              <a:rPr lang="en-CN" sz="900" dirty="0"/>
              <a:t>node</a:t>
            </a:r>
            <a:br>
              <a:rPr lang="en-US" altLang="zh-CN" sz="900" dirty="0"/>
            </a:br>
            <a:r>
              <a:rPr lang="en-US" altLang="zh-CN" sz="900" dirty="0"/>
              <a:t>map</a:t>
            </a:r>
            <a:endParaRPr lang="en-CN" sz="900" dirty="0"/>
          </a:p>
        </p:txBody>
      </p:sp>
      <p:sp>
        <p:nvSpPr>
          <p:cNvPr id="8" name="Rectangle 7">
            <a:extLst>
              <a:ext uri="{FF2B5EF4-FFF2-40B4-BE49-F238E27FC236}">
                <a16:creationId xmlns:a16="http://schemas.microsoft.com/office/drawing/2014/main" id="{DFA76D72-89C7-E348-BD61-A57E6D375489}"/>
              </a:ext>
            </a:extLst>
          </p:cNvPr>
          <p:cNvSpPr/>
          <p:nvPr/>
        </p:nvSpPr>
        <p:spPr>
          <a:xfrm>
            <a:off x="1753343" y="439393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100" dirty="0"/>
              <a:t>CP</a:t>
            </a:r>
          </a:p>
        </p:txBody>
      </p:sp>
      <p:sp>
        <p:nvSpPr>
          <p:cNvPr id="9" name="Rectangle 8">
            <a:extLst>
              <a:ext uri="{FF2B5EF4-FFF2-40B4-BE49-F238E27FC236}">
                <a16:creationId xmlns:a16="http://schemas.microsoft.com/office/drawing/2014/main" id="{D43A8FF8-ABF1-C441-959F-03CBB7420D6A}"/>
              </a:ext>
            </a:extLst>
          </p:cNvPr>
          <p:cNvSpPr/>
          <p:nvPr/>
        </p:nvSpPr>
        <p:spPr>
          <a:xfrm>
            <a:off x="3077091" y="4393938"/>
            <a:ext cx="850014"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900" dirty="0"/>
              <a:t>之前</a:t>
            </a:r>
            <a:r>
              <a:rPr lang="zh-CN" altLang="en-US" sz="900" dirty="0"/>
              <a:t>的数据</a:t>
            </a:r>
            <a:endParaRPr lang="en-CN" sz="900" dirty="0"/>
          </a:p>
        </p:txBody>
      </p:sp>
      <p:cxnSp>
        <p:nvCxnSpPr>
          <p:cNvPr id="10" name="Straight Arrow Connector 9">
            <a:extLst>
              <a:ext uri="{FF2B5EF4-FFF2-40B4-BE49-F238E27FC236}">
                <a16:creationId xmlns:a16="http://schemas.microsoft.com/office/drawing/2014/main" id="{101F326E-CB58-E946-B2D8-270FB7154C41}"/>
              </a:ext>
            </a:extLst>
          </p:cNvPr>
          <p:cNvCxnSpPr>
            <a:cxnSpLocks/>
            <a:stCxn id="8" idx="2"/>
            <a:endCxn id="7" idx="2"/>
          </p:cNvCxnSpPr>
          <p:nvPr/>
        </p:nvCxnSpPr>
        <p:spPr>
          <a:xfrm rot="16200000" flipH="1">
            <a:off x="3049506" y="3692852"/>
            <a:ext cx="12700" cy="2180891"/>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B7EDD9E5-9639-3A43-97EF-9C48F9B54D75}"/>
              </a:ext>
            </a:extLst>
          </p:cNvPr>
          <p:cNvSpPr/>
          <p:nvPr/>
        </p:nvSpPr>
        <p:spPr>
          <a:xfrm>
            <a:off x="4355976" y="4393937"/>
            <a:ext cx="2142800"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900" dirty="0"/>
              <a:t>之后写入的数据</a:t>
            </a:r>
            <a:endParaRPr lang="en-CN" sz="900" dirty="0"/>
          </a:p>
        </p:txBody>
      </p:sp>
      <p:sp>
        <p:nvSpPr>
          <p:cNvPr id="16" name="Rectangle 15">
            <a:extLst>
              <a:ext uri="{FF2B5EF4-FFF2-40B4-BE49-F238E27FC236}">
                <a16:creationId xmlns:a16="http://schemas.microsoft.com/office/drawing/2014/main" id="{8A5D27FB-1860-2644-BC1C-8CAA71266B13}"/>
              </a:ext>
            </a:extLst>
          </p:cNvPr>
          <p:cNvSpPr/>
          <p:nvPr/>
        </p:nvSpPr>
        <p:spPr>
          <a:xfrm>
            <a:off x="2809674" y="4393937"/>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TextBox 16">
            <a:extLst>
              <a:ext uri="{FF2B5EF4-FFF2-40B4-BE49-F238E27FC236}">
                <a16:creationId xmlns:a16="http://schemas.microsoft.com/office/drawing/2014/main" id="{F9701829-3E43-414E-8676-20503D62C5BE}"/>
              </a:ext>
            </a:extLst>
          </p:cNvPr>
          <p:cNvSpPr txBox="1"/>
          <p:nvPr/>
        </p:nvSpPr>
        <p:spPr>
          <a:xfrm>
            <a:off x="1532738"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8" name="TextBox 17">
            <a:extLst>
              <a:ext uri="{FF2B5EF4-FFF2-40B4-BE49-F238E27FC236}">
                <a16:creationId xmlns:a16="http://schemas.microsoft.com/office/drawing/2014/main" id="{1FC7A63D-E0C0-C541-A334-BE81A7153452}"/>
              </a:ext>
            </a:extLst>
          </p:cNvPr>
          <p:cNvSpPr txBox="1"/>
          <p:nvPr/>
        </p:nvSpPr>
        <p:spPr>
          <a:xfrm>
            <a:off x="2540802"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9" name="TextBox 18">
            <a:extLst>
              <a:ext uri="{FF2B5EF4-FFF2-40B4-BE49-F238E27FC236}">
                <a16:creationId xmlns:a16="http://schemas.microsoft.com/office/drawing/2014/main" id="{AC3F6402-0AC3-754F-8441-ED14D133C1CE}"/>
              </a:ext>
            </a:extLst>
          </p:cNvPr>
          <p:cNvSpPr txBox="1"/>
          <p:nvPr/>
        </p:nvSpPr>
        <p:spPr>
          <a:xfrm>
            <a:off x="3969289"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X</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20" name="TextBox 19">
            <a:extLst>
              <a:ext uri="{FF2B5EF4-FFF2-40B4-BE49-F238E27FC236}">
                <a16:creationId xmlns:a16="http://schemas.microsoft.com/office/drawing/2014/main" id="{03EA6DAC-D1FE-9A44-97E7-28C562A14907}"/>
              </a:ext>
            </a:extLst>
          </p:cNvPr>
          <p:cNvSpPr txBox="1"/>
          <p:nvPr/>
        </p:nvSpPr>
        <p:spPr>
          <a:xfrm>
            <a:off x="4943713" y="3464424"/>
            <a:ext cx="415498" cy="369332"/>
          </a:xfrm>
          <a:prstGeom prst="rect">
            <a:avLst/>
          </a:prstGeom>
          <a:noFill/>
        </p:spPr>
        <p:txBody>
          <a:bodyPr wrap="none" rtlCol="0">
            <a:spAutoFit/>
          </a:bodyPr>
          <a:lstStyle/>
          <a:p>
            <a:r>
              <a:rPr lang="en-US" altLang="zh-CN" dirty="0"/>
              <a:t>…</a:t>
            </a:r>
            <a:endParaRPr lang="en-CN" dirty="0"/>
          </a:p>
        </p:txBody>
      </p:sp>
      <p:sp>
        <p:nvSpPr>
          <p:cNvPr id="21" name="TextBox 20">
            <a:extLst>
              <a:ext uri="{FF2B5EF4-FFF2-40B4-BE49-F238E27FC236}">
                <a16:creationId xmlns:a16="http://schemas.microsoft.com/office/drawing/2014/main" id="{C091C666-82CA-7E4F-98C2-75F3F10FF0B9}"/>
              </a:ext>
            </a:extLst>
          </p:cNvPr>
          <p:cNvSpPr txBox="1"/>
          <p:nvPr/>
        </p:nvSpPr>
        <p:spPr>
          <a:xfrm>
            <a:off x="5359211"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2" name="Straight Arrow Connector 21">
            <a:extLst>
              <a:ext uri="{FF2B5EF4-FFF2-40B4-BE49-F238E27FC236}">
                <a16:creationId xmlns:a16="http://schemas.microsoft.com/office/drawing/2014/main" id="{FE639557-A4E2-3F43-8138-169CC7097B5E}"/>
              </a:ext>
            </a:extLst>
          </p:cNvPr>
          <p:cNvCxnSpPr>
            <a:cxnSpLocks/>
          </p:cNvCxnSpPr>
          <p:nvPr/>
        </p:nvCxnSpPr>
        <p:spPr>
          <a:xfrm flipH="1" flipV="1">
            <a:off x="1518670" y="4018422"/>
            <a:ext cx="1291004" cy="375515"/>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7C0F3B-5D55-874E-8500-D7D0A9082B62}"/>
              </a:ext>
            </a:extLst>
          </p:cNvPr>
          <p:cNvCxnSpPr>
            <a:cxnSpLocks/>
          </p:cNvCxnSpPr>
          <p:nvPr/>
        </p:nvCxnSpPr>
        <p:spPr>
          <a:xfrm flipV="1">
            <a:off x="3077091" y="4018422"/>
            <a:ext cx="3295109" cy="375516"/>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F7EF000-58D2-B241-8F78-C28EA4D1FE03}"/>
              </a:ext>
            </a:extLst>
          </p:cNvPr>
          <p:cNvSpPr txBox="1"/>
          <p:nvPr/>
        </p:nvSpPr>
        <p:spPr>
          <a:xfrm>
            <a:off x="824240" y="3433564"/>
            <a:ext cx="748923" cy="261610"/>
          </a:xfrm>
          <a:prstGeom prst="rect">
            <a:avLst/>
          </a:prstGeom>
          <a:noFill/>
        </p:spPr>
        <p:txBody>
          <a:bodyPr wrap="none" rtlCol="0">
            <a:spAutoFit/>
          </a:bodyPr>
          <a:lstStyle/>
          <a:p>
            <a:r>
              <a:rPr lang="zh-CN" altLang="en-US" sz="1100" dirty="0"/>
              <a:t>段概要：</a:t>
            </a:r>
            <a:endParaRPr lang="en-CN" sz="1100" dirty="0"/>
          </a:p>
        </p:txBody>
      </p:sp>
      <p:sp>
        <p:nvSpPr>
          <p:cNvPr id="28" name="TextBox 27">
            <a:extLst>
              <a:ext uri="{FF2B5EF4-FFF2-40B4-BE49-F238E27FC236}">
                <a16:creationId xmlns:a16="http://schemas.microsoft.com/office/drawing/2014/main" id="{E088B183-3D49-904A-9AC7-6644F6194F2B}"/>
              </a:ext>
            </a:extLst>
          </p:cNvPr>
          <p:cNvSpPr txBox="1"/>
          <p:nvPr/>
        </p:nvSpPr>
        <p:spPr>
          <a:xfrm>
            <a:off x="3544170" y="3480446"/>
            <a:ext cx="415498" cy="369332"/>
          </a:xfrm>
          <a:prstGeom prst="rect">
            <a:avLst/>
          </a:prstGeom>
          <a:noFill/>
        </p:spPr>
        <p:txBody>
          <a:bodyPr wrap="none" rtlCol="0">
            <a:spAutoFit/>
          </a:bodyPr>
          <a:lstStyle/>
          <a:p>
            <a:r>
              <a:rPr lang="en-US" altLang="zh-CN" dirty="0"/>
              <a:t>…</a:t>
            </a:r>
            <a:endParaRPr lang="en-CN" dirty="0"/>
          </a:p>
        </p:txBody>
      </p:sp>
      <p:sp>
        <p:nvSpPr>
          <p:cNvPr id="29" name="Rectangle 28">
            <a:extLst>
              <a:ext uri="{FF2B5EF4-FFF2-40B4-BE49-F238E27FC236}">
                <a16:creationId xmlns:a16="http://schemas.microsoft.com/office/drawing/2014/main" id="{91365C3F-4A13-0543-84A0-4E7296C7E3EB}"/>
              </a:ext>
            </a:extLst>
          </p:cNvPr>
          <p:cNvSpPr/>
          <p:nvPr/>
        </p:nvSpPr>
        <p:spPr>
          <a:xfrm>
            <a:off x="4625743" y="4410687"/>
            <a:ext cx="317970" cy="350923"/>
          </a:xfrm>
          <a:prstGeom prst="rect">
            <a:avLst/>
          </a:prstGeom>
          <a:solidFill>
            <a:schemeClr val="accent3">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a:t>I</a:t>
            </a:r>
            <a:r>
              <a:rPr lang="en-CN" sz="900" dirty="0"/>
              <a:t>node</a:t>
            </a:r>
          </a:p>
        </p:txBody>
      </p:sp>
      <p:cxnSp>
        <p:nvCxnSpPr>
          <p:cNvPr id="30" name="Straight Arrow Connector 29">
            <a:extLst>
              <a:ext uri="{FF2B5EF4-FFF2-40B4-BE49-F238E27FC236}">
                <a16:creationId xmlns:a16="http://schemas.microsoft.com/office/drawing/2014/main" id="{F24CE5F6-05DD-1D4F-98DB-AA58086EB62A}"/>
              </a:ext>
            </a:extLst>
          </p:cNvPr>
          <p:cNvCxnSpPr>
            <a:cxnSpLocks/>
            <a:stCxn id="19" idx="2"/>
            <a:endCxn id="29" idx="0"/>
          </p:cNvCxnSpPr>
          <p:nvPr/>
        </p:nvCxnSpPr>
        <p:spPr>
          <a:xfrm>
            <a:off x="4475784" y="4023573"/>
            <a:ext cx="308944" cy="3871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1F33D41-A46F-064B-9A79-05C1C7DCF840}"/>
              </a:ext>
            </a:extLst>
          </p:cNvPr>
          <p:cNvSpPr/>
          <p:nvPr/>
        </p:nvSpPr>
        <p:spPr>
          <a:xfrm>
            <a:off x="6768240" y="4410686"/>
            <a:ext cx="396048" cy="350923"/>
          </a:xfrm>
          <a:prstGeom prst="rect">
            <a:avLst/>
          </a:prstGeom>
          <a:solidFill>
            <a:schemeClr val="accent6">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900" dirty="0"/>
              <a:t>d</a:t>
            </a:r>
            <a:r>
              <a:rPr lang="en-US" altLang="zh-CN" sz="900" dirty="0"/>
              <a:t>entry</a:t>
            </a:r>
            <a:endParaRPr lang="en-CN" sz="900" dirty="0"/>
          </a:p>
        </p:txBody>
      </p:sp>
      <p:sp>
        <p:nvSpPr>
          <p:cNvPr id="11" name="TextBox 10">
            <a:extLst>
              <a:ext uri="{FF2B5EF4-FFF2-40B4-BE49-F238E27FC236}">
                <a16:creationId xmlns:a16="http://schemas.microsoft.com/office/drawing/2014/main" id="{43791378-5F99-8349-B650-88E069D6446C}"/>
              </a:ext>
            </a:extLst>
          </p:cNvPr>
          <p:cNvSpPr txBox="1"/>
          <p:nvPr/>
        </p:nvSpPr>
        <p:spPr>
          <a:xfrm>
            <a:off x="6743177" y="3833756"/>
            <a:ext cx="1574470" cy="276999"/>
          </a:xfrm>
          <a:prstGeom prst="rect">
            <a:avLst/>
          </a:prstGeom>
          <a:noFill/>
        </p:spPr>
        <p:txBody>
          <a:bodyPr wrap="none" rtlCol="0">
            <a:spAutoFit/>
          </a:bodyPr>
          <a:lstStyle/>
          <a:p>
            <a:r>
              <a:rPr lang="zh-CN" altLang="en-US" sz="1200" dirty="0">
                <a:solidFill>
                  <a:srgbClr val="C00000"/>
                </a:solidFill>
              </a:rPr>
              <a:t>未被持久化的目录项</a:t>
            </a:r>
            <a:endParaRPr lang="en-CN" sz="1200" dirty="0">
              <a:solidFill>
                <a:srgbClr val="C00000"/>
              </a:solidFill>
            </a:endParaRPr>
          </a:p>
        </p:txBody>
      </p:sp>
      <p:cxnSp>
        <p:nvCxnSpPr>
          <p:cNvPr id="27" name="Straight Arrow Connector 26">
            <a:extLst>
              <a:ext uri="{FF2B5EF4-FFF2-40B4-BE49-F238E27FC236}">
                <a16:creationId xmlns:a16="http://schemas.microsoft.com/office/drawing/2014/main" id="{9DA16E18-9B35-2C4A-AE70-E53DE4F36FBC}"/>
              </a:ext>
            </a:extLst>
          </p:cNvPr>
          <p:cNvCxnSpPr>
            <a:cxnSpLocks/>
            <a:stCxn id="11" idx="2"/>
            <a:endCxn id="25" idx="0"/>
          </p:cNvCxnSpPr>
          <p:nvPr/>
        </p:nvCxnSpPr>
        <p:spPr>
          <a:xfrm flipH="1">
            <a:off x="6966264" y="4110755"/>
            <a:ext cx="564148" cy="299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98768E8-681F-C74B-B4A3-BB4BE196B169}"/>
              </a:ext>
            </a:extLst>
          </p:cNvPr>
          <p:cNvCxnSpPr>
            <a:cxnSpLocks/>
            <a:stCxn id="25" idx="2"/>
            <a:endCxn id="29" idx="2"/>
          </p:cNvCxnSpPr>
          <p:nvPr/>
        </p:nvCxnSpPr>
        <p:spPr>
          <a:xfrm rot="5400000">
            <a:off x="5875496" y="3670841"/>
            <a:ext cx="1" cy="2181536"/>
          </a:xfrm>
          <a:prstGeom prst="bentConnector3">
            <a:avLst>
              <a:gd name="adj1" fmla="val 228601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C934550-030B-064C-AAC0-029F5D1D11EC}"/>
              </a:ext>
            </a:extLst>
          </p:cNvPr>
          <p:cNvSpPr txBox="1"/>
          <p:nvPr/>
        </p:nvSpPr>
        <p:spPr>
          <a:xfrm>
            <a:off x="4390297" y="4996782"/>
            <a:ext cx="3174267" cy="276999"/>
          </a:xfrm>
          <a:prstGeom prst="rect">
            <a:avLst/>
          </a:prstGeom>
          <a:noFill/>
        </p:spPr>
        <p:txBody>
          <a:bodyPr wrap="none" rtlCol="0">
            <a:spAutoFit/>
          </a:bodyPr>
          <a:lstStyle/>
          <a:p>
            <a:r>
              <a:rPr lang="en-US" altLang="zh-CN" sz="1200" dirty="0" err="1">
                <a:solidFill>
                  <a:srgbClr val="C00000"/>
                </a:solidFill>
              </a:rPr>
              <a:t>i</a:t>
            </a:r>
            <a:r>
              <a:rPr lang="en-CN" sz="1200" dirty="0">
                <a:solidFill>
                  <a:srgbClr val="C00000"/>
                </a:solidFill>
              </a:rPr>
              <a:t>node</a:t>
            </a:r>
            <a:r>
              <a:rPr lang="zh-CN" altLang="en-CN" sz="1200" dirty="0">
                <a:solidFill>
                  <a:srgbClr val="C00000"/>
                </a:solidFill>
              </a:rPr>
              <a:t>写入时</a:t>
            </a:r>
            <a:r>
              <a:rPr lang="zh-CN" altLang="en-US" sz="1200" dirty="0">
                <a:solidFill>
                  <a:srgbClr val="C00000"/>
                </a:solidFill>
              </a:rPr>
              <a:t>的链接数，将此目录项计算在内</a:t>
            </a:r>
            <a:endParaRPr lang="en-CN" sz="1200" dirty="0">
              <a:solidFill>
                <a:srgbClr val="C00000"/>
              </a:solidFill>
            </a:endParaRPr>
          </a:p>
        </p:txBody>
      </p:sp>
    </p:spTree>
    <p:extLst>
      <p:ext uri="{BB962C8B-B14F-4D97-AF65-F5344CB8AC3E}">
        <p14:creationId xmlns:p14="http://schemas.microsoft.com/office/powerpoint/2010/main" val="23657975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：前滚（</a:t>
            </a:r>
            <a:r>
              <a:rPr lang="en-US" altLang="zh-CN" dirty="0"/>
              <a:t>roll-forward</a:t>
            </a:r>
            <a:r>
              <a:rPr lang="zh-CN" altLang="en-US" dirty="0"/>
              <a:t>）</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normAutofit/>
          </a:bodyPr>
          <a:lstStyle/>
          <a:p>
            <a:r>
              <a:rPr lang="zh-CN" altLang="en-CN" sz="2000" b="0" dirty="0"/>
              <a:t>段</a:t>
            </a:r>
            <a:r>
              <a:rPr lang="zh-CN" altLang="en-US" sz="2000" b="0" dirty="0"/>
              <a:t>概要无法保证</a:t>
            </a:r>
            <a:r>
              <a:rPr lang="en-US" altLang="zh-CN" sz="2000" b="0" dirty="0" err="1"/>
              <a:t>inode</a:t>
            </a:r>
            <a:r>
              <a:rPr lang="zh-CN" altLang="en-US" sz="2000" b="0" dirty="0"/>
              <a:t>的链接数一致性</a:t>
            </a:r>
            <a:endParaRPr lang="en-US" altLang="zh-CN" sz="2000" b="0" dirty="0"/>
          </a:p>
          <a:p>
            <a:pPr lvl="1"/>
            <a:r>
              <a:rPr lang="zh-CN" altLang="en-US" sz="1800" dirty="0"/>
              <a:t>如：</a:t>
            </a:r>
            <a:r>
              <a:rPr lang="en-US" altLang="zh-CN" sz="1800" dirty="0" err="1"/>
              <a:t>inode</a:t>
            </a:r>
            <a:r>
              <a:rPr lang="zh-CN" altLang="en-US" sz="1800" dirty="0"/>
              <a:t>被持久化，但是指向其的目录项未被持久化</a:t>
            </a:r>
            <a:endParaRPr lang="en-US" altLang="zh-CN" sz="1800" dirty="0"/>
          </a:p>
          <a:p>
            <a:r>
              <a:rPr lang="zh-CN" altLang="en-US" sz="2000" b="0" dirty="0"/>
              <a:t>解决方案：目录修改日志</a:t>
            </a:r>
            <a:endParaRPr lang="en-US" altLang="zh-CN" sz="2000"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76</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60FE354C-FC13-2A4E-87CB-139F31111D79}"/>
              </a:ext>
            </a:extLst>
          </p:cNvPr>
          <p:cNvSpPr/>
          <p:nvPr/>
        </p:nvSpPr>
        <p:spPr>
          <a:xfrm>
            <a:off x="3080270" y="4393938"/>
            <a:ext cx="4372050"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31A3E803-4A73-1B4E-A1B1-283D372D0415}"/>
              </a:ext>
            </a:extLst>
          </p:cNvPr>
          <p:cNvSpPr/>
          <p:nvPr/>
        </p:nvSpPr>
        <p:spPr>
          <a:xfrm>
            <a:off x="3923928" y="4393938"/>
            <a:ext cx="432048"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err="1"/>
              <a:t>i</a:t>
            </a:r>
            <a:r>
              <a:rPr lang="en-CN" sz="900" dirty="0"/>
              <a:t>node</a:t>
            </a:r>
            <a:br>
              <a:rPr lang="en-US" altLang="zh-CN" sz="900" dirty="0"/>
            </a:br>
            <a:r>
              <a:rPr lang="en-US" altLang="zh-CN" sz="900" dirty="0"/>
              <a:t>map</a:t>
            </a:r>
            <a:endParaRPr lang="en-CN" sz="900" dirty="0"/>
          </a:p>
        </p:txBody>
      </p:sp>
      <p:sp>
        <p:nvSpPr>
          <p:cNvPr id="8" name="Rectangle 7">
            <a:extLst>
              <a:ext uri="{FF2B5EF4-FFF2-40B4-BE49-F238E27FC236}">
                <a16:creationId xmlns:a16="http://schemas.microsoft.com/office/drawing/2014/main" id="{DFA76D72-89C7-E348-BD61-A57E6D375489}"/>
              </a:ext>
            </a:extLst>
          </p:cNvPr>
          <p:cNvSpPr/>
          <p:nvPr/>
        </p:nvSpPr>
        <p:spPr>
          <a:xfrm>
            <a:off x="1753343" y="439393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100" dirty="0"/>
              <a:t>CP</a:t>
            </a:r>
          </a:p>
        </p:txBody>
      </p:sp>
      <p:sp>
        <p:nvSpPr>
          <p:cNvPr id="9" name="Rectangle 8">
            <a:extLst>
              <a:ext uri="{FF2B5EF4-FFF2-40B4-BE49-F238E27FC236}">
                <a16:creationId xmlns:a16="http://schemas.microsoft.com/office/drawing/2014/main" id="{D43A8FF8-ABF1-C441-959F-03CBB7420D6A}"/>
              </a:ext>
            </a:extLst>
          </p:cNvPr>
          <p:cNvSpPr/>
          <p:nvPr/>
        </p:nvSpPr>
        <p:spPr>
          <a:xfrm>
            <a:off x="3077091" y="4393938"/>
            <a:ext cx="850014"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900" dirty="0"/>
              <a:t>之前</a:t>
            </a:r>
            <a:r>
              <a:rPr lang="zh-CN" altLang="en-US" sz="900" dirty="0"/>
              <a:t>的数据</a:t>
            </a:r>
            <a:endParaRPr lang="en-CN" sz="900" dirty="0"/>
          </a:p>
        </p:txBody>
      </p:sp>
      <p:cxnSp>
        <p:nvCxnSpPr>
          <p:cNvPr id="10" name="Straight Arrow Connector 9">
            <a:extLst>
              <a:ext uri="{FF2B5EF4-FFF2-40B4-BE49-F238E27FC236}">
                <a16:creationId xmlns:a16="http://schemas.microsoft.com/office/drawing/2014/main" id="{101F326E-CB58-E946-B2D8-270FB7154C41}"/>
              </a:ext>
            </a:extLst>
          </p:cNvPr>
          <p:cNvCxnSpPr>
            <a:cxnSpLocks/>
            <a:stCxn id="8" idx="2"/>
            <a:endCxn id="7" idx="2"/>
          </p:cNvCxnSpPr>
          <p:nvPr/>
        </p:nvCxnSpPr>
        <p:spPr>
          <a:xfrm rot="16200000" flipH="1">
            <a:off x="3049506" y="3692852"/>
            <a:ext cx="12700" cy="2180891"/>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B7EDD9E5-9639-3A43-97EF-9C48F9B54D75}"/>
              </a:ext>
            </a:extLst>
          </p:cNvPr>
          <p:cNvSpPr/>
          <p:nvPr/>
        </p:nvSpPr>
        <p:spPr>
          <a:xfrm>
            <a:off x="4355976" y="4393937"/>
            <a:ext cx="2142800"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900" dirty="0"/>
              <a:t>之后写入的数据</a:t>
            </a:r>
            <a:endParaRPr lang="en-CN" sz="900" dirty="0"/>
          </a:p>
        </p:txBody>
      </p:sp>
      <p:sp>
        <p:nvSpPr>
          <p:cNvPr id="16" name="Rectangle 15">
            <a:extLst>
              <a:ext uri="{FF2B5EF4-FFF2-40B4-BE49-F238E27FC236}">
                <a16:creationId xmlns:a16="http://schemas.microsoft.com/office/drawing/2014/main" id="{8A5D27FB-1860-2644-BC1C-8CAA71266B13}"/>
              </a:ext>
            </a:extLst>
          </p:cNvPr>
          <p:cNvSpPr/>
          <p:nvPr/>
        </p:nvSpPr>
        <p:spPr>
          <a:xfrm>
            <a:off x="2809674" y="4393937"/>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TextBox 16">
            <a:extLst>
              <a:ext uri="{FF2B5EF4-FFF2-40B4-BE49-F238E27FC236}">
                <a16:creationId xmlns:a16="http://schemas.microsoft.com/office/drawing/2014/main" id="{F9701829-3E43-414E-8676-20503D62C5BE}"/>
              </a:ext>
            </a:extLst>
          </p:cNvPr>
          <p:cNvSpPr txBox="1"/>
          <p:nvPr/>
        </p:nvSpPr>
        <p:spPr>
          <a:xfrm>
            <a:off x="1532738"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8" name="TextBox 17">
            <a:extLst>
              <a:ext uri="{FF2B5EF4-FFF2-40B4-BE49-F238E27FC236}">
                <a16:creationId xmlns:a16="http://schemas.microsoft.com/office/drawing/2014/main" id="{1FC7A63D-E0C0-C541-A334-BE81A7153452}"/>
              </a:ext>
            </a:extLst>
          </p:cNvPr>
          <p:cNvSpPr txBox="1"/>
          <p:nvPr/>
        </p:nvSpPr>
        <p:spPr>
          <a:xfrm>
            <a:off x="2540802"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9" name="TextBox 18">
            <a:extLst>
              <a:ext uri="{FF2B5EF4-FFF2-40B4-BE49-F238E27FC236}">
                <a16:creationId xmlns:a16="http://schemas.microsoft.com/office/drawing/2014/main" id="{AC3F6402-0AC3-754F-8441-ED14D133C1CE}"/>
              </a:ext>
            </a:extLst>
          </p:cNvPr>
          <p:cNvSpPr txBox="1"/>
          <p:nvPr/>
        </p:nvSpPr>
        <p:spPr>
          <a:xfrm>
            <a:off x="3969289"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X</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20" name="TextBox 19">
            <a:extLst>
              <a:ext uri="{FF2B5EF4-FFF2-40B4-BE49-F238E27FC236}">
                <a16:creationId xmlns:a16="http://schemas.microsoft.com/office/drawing/2014/main" id="{03EA6DAC-D1FE-9A44-97E7-28C562A14907}"/>
              </a:ext>
            </a:extLst>
          </p:cNvPr>
          <p:cNvSpPr txBox="1"/>
          <p:nvPr/>
        </p:nvSpPr>
        <p:spPr>
          <a:xfrm>
            <a:off x="4943713" y="3464424"/>
            <a:ext cx="415498" cy="369332"/>
          </a:xfrm>
          <a:prstGeom prst="rect">
            <a:avLst/>
          </a:prstGeom>
          <a:noFill/>
        </p:spPr>
        <p:txBody>
          <a:bodyPr wrap="none" rtlCol="0">
            <a:spAutoFit/>
          </a:bodyPr>
          <a:lstStyle/>
          <a:p>
            <a:r>
              <a:rPr lang="en-US" altLang="zh-CN" dirty="0"/>
              <a:t>…</a:t>
            </a:r>
            <a:endParaRPr lang="en-CN" dirty="0"/>
          </a:p>
        </p:txBody>
      </p:sp>
      <p:sp>
        <p:nvSpPr>
          <p:cNvPr id="21" name="TextBox 20">
            <a:extLst>
              <a:ext uri="{FF2B5EF4-FFF2-40B4-BE49-F238E27FC236}">
                <a16:creationId xmlns:a16="http://schemas.microsoft.com/office/drawing/2014/main" id="{C091C666-82CA-7E4F-98C2-75F3F10FF0B9}"/>
              </a:ext>
            </a:extLst>
          </p:cNvPr>
          <p:cNvSpPr txBox="1"/>
          <p:nvPr/>
        </p:nvSpPr>
        <p:spPr>
          <a:xfrm>
            <a:off x="5359211"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2" name="Straight Arrow Connector 21">
            <a:extLst>
              <a:ext uri="{FF2B5EF4-FFF2-40B4-BE49-F238E27FC236}">
                <a16:creationId xmlns:a16="http://schemas.microsoft.com/office/drawing/2014/main" id="{FE639557-A4E2-3F43-8138-169CC7097B5E}"/>
              </a:ext>
            </a:extLst>
          </p:cNvPr>
          <p:cNvCxnSpPr>
            <a:cxnSpLocks/>
          </p:cNvCxnSpPr>
          <p:nvPr/>
        </p:nvCxnSpPr>
        <p:spPr>
          <a:xfrm flipH="1" flipV="1">
            <a:off x="1518670" y="4018422"/>
            <a:ext cx="1291004" cy="375515"/>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7C0F3B-5D55-874E-8500-D7D0A9082B62}"/>
              </a:ext>
            </a:extLst>
          </p:cNvPr>
          <p:cNvCxnSpPr>
            <a:cxnSpLocks/>
          </p:cNvCxnSpPr>
          <p:nvPr/>
        </p:nvCxnSpPr>
        <p:spPr>
          <a:xfrm flipV="1">
            <a:off x="3077091" y="4018422"/>
            <a:ext cx="3295109" cy="375516"/>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F7EF000-58D2-B241-8F78-C28EA4D1FE03}"/>
              </a:ext>
            </a:extLst>
          </p:cNvPr>
          <p:cNvSpPr txBox="1"/>
          <p:nvPr/>
        </p:nvSpPr>
        <p:spPr>
          <a:xfrm>
            <a:off x="824240" y="3433564"/>
            <a:ext cx="748923" cy="261610"/>
          </a:xfrm>
          <a:prstGeom prst="rect">
            <a:avLst/>
          </a:prstGeom>
          <a:noFill/>
        </p:spPr>
        <p:txBody>
          <a:bodyPr wrap="none" rtlCol="0">
            <a:spAutoFit/>
          </a:bodyPr>
          <a:lstStyle/>
          <a:p>
            <a:r>
              <a:rPr lang="zh-CN" altLang="en-US" sz="1100" dirty="0"/>
              <a:t>段概要：</a:t>
            </a:r>
            <a:endParaRPr lang="en-CN" sz="1100" dirty="0"/>
          </a:p>
        </p:txBody>
      </p:sp>
      <p:sp>
        <p:nvSpPr>
          <p:cNvPr id="28" name="TextBox 27">
            <a:extLst>
              <a:ext uri="{FF2B5EF4-FFF2-40B4-BE49-F238E27FC236}">
                <a16:creationId xmlns:a16="http://schemas.microsoft.com/office/drawing/2014/main" id="{E088B183-3D49-904A-9AC7-6644F6194F2B}"/>
              </a:ext>
            </a:extLst>
          </p:cNvPr>
          <p:cNvSpPr txBox="1"/>
          <p:nvPr/>
        </p:nvSpPr>
        <p:spPr>
          <a:xfrm>
            <a:off x="3544170" y="3480446"/>
            <a:ext cx="415498" cy="369332"/>
          </a:xfrm>
          <a:prstGeom prst="rect">
            <a:avLst/>
          </a:prstGeom>
          <a:noFill/>
        </p:spPr>
        <p:txBody>
          <a:bodyPr wrap="none" rtlCol="0">
            <a:spAutoFit/>
          </a:bodyPr>
          <a:lstStyle/>
          <a:p>
            <a:r>
              <a:rPr lang="en-US" altLang="zh-CN" dirty="0"/>
              <a:t>…</a:t>
            </a:r>
            <a:endParaRPr lang="en-CN" dirty="0"/>
          </a:p>
        </p:txBody>
      </p:sp>
      <p:sp>
        <p:nvSpPr>
          <p:cNvPr id="29" name="Rectangle 28">
            <a:extLst>
              <a:ext uri="{FF2B5EF4-FFF2-40B4-BE49-F238E27FC236}">
                <a16:creationId xmlns:a16="http://schemas.microsoft.com/office/drawing/2014/main" id="{91365C3F-4A13-0543-84A0-4E7296C7E3EB}"/>
              </a:ext>
            </a:extLst>
          </p:cNvPr>
          <p:cNvSpPr/>
          <p:nvPr/>
        </p:nvSpPr>
        <p:spPr>
          <a:xfrm>
            <a:off x="4625743" y="4410687"/>
            <a:ext cx="317970" cy="350923"/>
          </a:xfrm>
          <a:prstGeom prst="rect">
            <a:avLst/>
          </a:prstGeom>
          <a:solidFill>
            <a:schemeClr val="accent3">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a:t>I</a:t>
            </a:r>
            <a:r>
              <a:rPr lang="en-CN" sz="900" dirty="0"/>
              <a:t>node</a:t>
            </a:r>
          </a:p>
        </p:txBody>
      </p:sp>
      <p:cxnSp>
        <p:nvCxnSpPr>
          <p:cNvPr id="30" name="Straight Arrow Connector 29">
            <a:extLst>
              <a:ext uri="{FF2B5EF4-FFF2-40B4-BE49-F238E27FC236}">
                <a16:creationId xmlns:a16="http://schemas.microsoft.com/office/drawing/2014/main" id="{F24CE5F6-05DD-1D4F-98DB-AA58086EB62A}"/>
              </a:ext>
            </a:extLst>
          </p:cNvPr>
          <p:cNvCxnSpPr>
            <a:cxnSpLocks/>
            <a:stCxn id="19" idx="2"/>
            <a:endCxn id="29" idx="0"/>
          </p:cNvCxnSpPr>
          <p:nvPr/>
        </p:nvCxnSpPr>
        <p:spPr>
          <a:xfrm>
            <a:off x="4475784" y="4023573"/>
            <a:ext cx="308944" cy="3871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1F33D41-A46F-064B-9A79-05C1C7DCF840}"/>
              </a:ext>
            </a:extLst>
          </p:cNvPr>
          <p:cNvSpPr/>
          <p:nvPr/>
        </p:nvSpPr>
        <p:spPr>
          <a:xfrm>
            <a:off x="6768240" y="4410686"/>
            <a:ext cx="396048" cy="350923"/>
          </a:xfrm>
          <a:prstGeom prst="rect">
            <a:avLst/>
          </a:prstGeom>
          <a:solidFill>
            <a:schemeClr val="accent6">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900" dirty="0"/>
              <a:t>d</a:t>
            </a:r>
            <a:r>
              <a:rPr lang="en-US" altLang="zh-CN" sz="900" dirty="0"/>
              <a:t>entry</a:t>
            </a:r>
            <a:endParaRPr lang="en-CN" sz="900" dirty="0"/>
          </a:p>
        </p:txBody>
      </p:sp>
      <p:sp>
        <p:nvSpPr>
          <p:cNvPr id="11" name="TextBox 10">
            <a:extLst>
              <a:ext uri="{FF2B5EF4-FFF2-40B4-BE49-F238E27FC236}">
                <a16:creationId xmlns:a16="http://schemas.microsoft.com/office/drawing/2014/main" id="{43791378-5F99-8349-B650-88E069D6446C}"/>
              </a:ext>
            </a:extLst>
          </p:cNvPr>
          <p:cNvSpPr txBox="1"/>
          <p:nvPr/>
        </p:nvSpPr>
        <p:spPr>
          <a:xfrm>
            <a:off x="6743177" y="3833756"/>
            <a:ext cx="1574470" cy="276999"/>
          </a:xfrm>
          <a:prstGeom prst="rect">
            <a:avLst/>
          </a:prstGeom>
          <a:noFill/>
        </p:spPr>
        <p:txBody>
          <a:bodyPr wrap="none" rtlCol="0">
            <a:spAutoFit/>
          </a:bodyPr>
          <a:lstStyle/>
          <a:p>
            <a:r>
              <a:rPr lang="zh-CN" altLang="en-US" sz="1200" dirty="0">
                <a:solidFill>
                  <a:srgbClr val="C00000"/>
                </a:solidFill>
              </a:rPr>
              <a:t>未被持久化的目录项</a:t>
            </a:r>
            <a:endParaRPr lang="en-CN" sz="1200" dirty="0">
              <a:solidFill>
                <a:srgbClr val="C00000"/>
              </a:solidFill>
            </a:endParaRPr>
          </a:p>
        </p:txBody>
      </p:sp>
      <p:cxnSp>
        <p:nvCxnSpPr>
          <p:cNvPr id="27" name="Straight Arrow Connector 26">
            <a:extLst>
              <a:ext uri="{FF2B5EF4-FFF2-40B4-BE49-F238E27FC236}">
                <a16:creationId xmlns:a16="http://schemas.microsoft.com/office/drawing/2014/main" id="{9DA16E18-9B35-2C4A-AE70-E53DE4F36FBC}"/>
              </a:ext>
            </a:extLst>
          </p:cNvPr>
          <p:cNvCxnSpPr>
            <a:cxnSpLocks/>
            <a:stCxn id="11" idx="2"/>
            <a:endCxn id="25" idx="0"/>
          </p:cNvCxnSpPr>
          <p:nvPr/>
        </p:nvCxnSpPr>
        <p:spPr>
          <a:xfrm flipH="1">
            <a:off x="6966264" y="4110755"/>
            <a:ext cx="564148" cy="299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98768E8-681F-C74B-B4A3-BB4BE196B169}"/>
              </a:ext>
            </a:extLst>
          </p:cNvPr>
          <p:cNvCxnSpPr>
            <a:cxnSpLocks/>
            <a:stCxn id="25" idx="2"/>
            <a:endCxn id="29" idx="2"/>
          </p:cNvCxnSpPr>
          <p:nvPr/>
        </p:nvCxnSpPr>
        <p:spPr>
          <a:xfrm rot="5400000">
            <a:off x="5875496" y="3670841"/>
            <a:ext cx="1" cy="2181536"/>
          </a:xfrm>
          <a:prstGeom prst="bentConnector3">
            <a:avLst>
              <a:gd name="adj1" fmla="val 228601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C934550-030B-064C-AAC0-029F5D1D11EC}"/>
              </a:ext>
            </a:extLst>
          </p:cNvPr>
          <p:cNvSpPr txBox="1"/>
          <p:nvPr/>
        </p:nvSpPr>
        <p:spPr>
          <a:xfrm>
            <a:off x="4390297" y="4996782"/>
            <a:ext cx="3174267" cy="276999"/>
          </a:xfrm>
          <a:prstGeom prst="rect">
            <a:avLst/>
          </a:prstGeom>
          <a:noFill/>
        </p:spPr>
        <p:txBody>
          <a:bodyPr wrap="none" rtlCol="0">
            <a:spAutoFit/>
          </a:bodyPr>
          <a:lstStyle/>
          <a:p>
            <a:r>
              <a:rPr lang="en-US" altLang="zh-CN" sz="1200" dirty="0" err="1">
                <a:solidFill>
                  <a:srgbClr val="C00000"/>
                </a:solidFill>
              </a:rPr>
              <a:t>i</a:t>
            </a:r>
            <a:r>
              <a:rPr lang="en-CN" sz="1200" dirty="0">
                <a:solidFill>
                  <a:srgbClr val="C00000"/>
                </a:solidFill>
              </a:rPr>
              <a:t>node</a:t>
            </a:r>
            <a:r>
              <a:rPr lang="zh-CN" altLang="en-CN" sz="1200" dirty="0">
                <a:solidFill>
                  <a:srgbClr val="C00000"/>
                </a:solidFill>
              </a:rPr>
              <a:t>写入时</a:t>
            </a:r>
            <a:r>
              <a:rPr lang="zh-CN" altLang="en-US" sz="1200" dirty="0">
                <a:solidFill>
                  <a:srgbClr val="C00000"/>
                </a:solidFill>
              </a:rPr>
              <a:t>的链接数，将此目录项计算在内</a:t>
            </a:r>
            <a:endParaRPr lang="en-CN" sz="1200" dirty="0">
              <a:solidFill>
                <a:srgbClr val="C00000"/>
              </a:solidFill>
            </a:endParaRPr>
          </a:p>
        </p:txBody>
      </p:sp>
    </p:spTree>
    <p:extLst>
      <p:ext uri="{BB962C8B-B14F-4D97-AF65-F5344CB8AC3E}">
        <p14:creationId xmlns:p14="http://schemas.microsoft.com/office/powerpoint/2010/main" val="34241791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a:t>
            </a:r>
            <a:r>
              <a:rPr lang="zh-CN" altLang="en-CN" dirty="0"/>
              <a:t>目录</a:t>
            </a:r>
            <a:r>
              <a:rPr lang="zh-CN" altLang="en-US" dirty="0"/>
              <a:t>修改日志</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lstStyle/>
          <a:p>
            <a:r>
              <a:rPr lang="zh-CN" altLang="en-US" b="0" dirty="0"/>
              <a:t>目录修改日志</a:t>
            </a:r>
            <a:endParaRPr lang="en-US" altLang="zh-CN" b="0" dirty="0"/>
          </a:p>
          <a:p>
            <a:pPr lvl="1"/>
            <a:r>
              <a:rPr lang="zh-CN" altLang="en-US" dirty="0"/>
              <a:t>记录了每个目录操作的信息</a:t>
            </a:r>
            <a:endParaRPr lang="en-US" altLang="zh-CN" dirty="0"/>
          </a:p>
          <a:p>
            <a:pPr lvl="2"/>
            <a:r>
              <a:rPr lang="en-US" altLang="zh-CN" dirty="0"/>
              <a:t>create</a:t>
            </a:r>
            <a:r>
              <a:rPr lang="zh-CN" altLang="en-US" dirty="0"/>
              <a:t>、</a:t>
            </a:r>
            <a:r>
              <a:rPr lang="en-US" altLang="zh-CN" dirty="0"/>
              <a:t>link</a:t>
            </a:r>
            <a:r>
              <a:rPr lang="zh-CN" altLang="en-US" dirty="0"/>
              <a:t>、</a:t>
            </a:r>
            <a:r>
              <a:rPr lang="en-US" altLang="zh-CN" dirty="0"/>
              <a:t>rename</a:t>
            </a:r>
            <a:r>
              <a:rPr lang="zh-CN" altLang="en-US" dirty="0"/>
              <a:t>、</a:t>
            </a:r>
            <a:r>
              <a:rPr lang="en-US" altLang="zh-CN" dirty="0"/>
              <a:t>unlink</a:t>
            </a:r>
          </a:p>
          <a:p>
            <a:pPr lvl="1"/>
            <a:r>
              <a:rPr lang="zh-CN" altLang="en-US" dirty="0"/>
              <a:t>以及操作的具体信息</a:t>
            </a:r>
            <a:endParaRPr lang="en-US" altLang="zh-CN" dirty="0"/>
          </a:p>
          <a:p>
            <a:pPr lvl="2"/>
            <a:r>
              <a:rPr lang="zh-CN" altLang="en-US" dirty="0"/>
              <a:t>目录项位置、内容、</a:t>
            </a:r>
            <a:r>
              <a:rPr lang="en-US" altLang="zh-CN" dirty="0" err="1"/>
              <a:t>inode</a:t>
            </a:r>
            <a:r>
              <a:rPr lang="zh-CN" altLang="en-US" dirty="0"/>
              <a:t>的链接数</a:t>
            </a:r>
            <a:endParaRPr lang="en-US" altLang="zh-CN" dirty="0"/>
          </a:p>
          <a:p>
            <a:r>
              <a:rPr lang="zh-CN" altLang="en-US" b="0" dirty="0"/>
              <a:t>目录修改日志的持久化在目录修改之前</a:t>
            </a:r>
            <a:endParaRPr lang="en-US" altLang="zh-CN" b="0" dirty="0"/>
          </a:p>
          <a:p>
            <a:pPr lvl="1"/>
            <a:r>
              <a:rPr lang="zh-CN" altLang="en-US" b="0" dirty="0"/>
              <a:t>恢复时根据目录修改日志保证</a:t>
            </a:r>
            <a:r>
              <a:rPr lang="en-US" altLang="zh-CN" b="0" dirty="0" err="1"/>
              <a:t>inode</a:t>
            </a:r>
            <a:r>
              <a:rPr lang="zh-CN" altLang="en-US" b="0" dirty="0"/>
              <a:t>的链接数是一致的</a:t>
            </a:r>
            <a:endParaRPr lang="en-US" altLang="zh-CN"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77</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903726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0B2AB-B876-B64C-8513-4C75E10B1B4D}"/>
              </a:ext>
            </a:extLst>
          </p:cNvPr>
          <p:cNvSpPr>
            <a:spLocks noGrp="1"/>
          </p:cNvSpPr>
          <p:nvPr>
            <p:ph type="title"/>
          </p:nvPr>
        </p:nvSpPr>
        <p:spPr/>
        <p:txBody>
          <a:bodyPr/>
          <a:lstStyle/>
          <a:p>
            <a:r>
              <a:rPr lang="zh-CN" altLang="en-US" dirty="0"/>
              <a:t>关于</a:t>
            </a:r>
            <a:r>
              <a:rPr lang="en-US" altLang="zh-CN" dirty="0"/>
              <a:t>LFS</a:t>
            </a:r>
            <a:r>
              <a:rPr lang="zh-CN" altLang="en-US" dirty="0"/>
              <a:t>的讨论</a:t>
            </a:r>
            <a:endParaRPr lang="en-CN" dirty="0"/>
          </a:p>
        </p:txBody>
      </p:sp>
      <p:sp>
        <p:nvSpPr>
          <p:cNvPr id="3" name="Content Placeholder 2">
            <a:extLst>
              <a:ext uri="{FF2B5EF4-FFF2-40B4-BE49-F238E27FC236}">
                <a16:creationId xmlns:a16="http://schemas.microsoft.com/office/drawing/2014/main" id="{B300A592-E37F-964D-BB26-957F1A1BAFA1}"/>
              </a:ext>
            </a:extLst>
          </p:cNvPr>
          <p:cNvSpPr>
            <a:spLocks noGrp="1"/>
          </p:cNvSpPr>
          <p:nvPr>
            <p:ph idx="1"/>
          </p:nvPr>
        </p:nvSpPr>
        <p:spPr/>
        <p:txBody>
          <a:bodyPr/>
          <a:lstStyle/>
          <a:p>
            <a:r>
              <a:rPr lang="zh-CN" altLang="en-CN" b="0" dirty="0"/>
              <a:t>假设</a:t>
            </a:r>
            <a:r>
              <a:rPr lang="zh-CN" altLang="en-US" b="0" dirty="0"/>
              <a:t>：大多数读请求可以通过内存缓存处理</a:t>
            </a:r>
            <a:endParaRPr lang="en-US" altLang="zh-CN" b="0" dirty="0"/>
          </a:p>
          <a:p>
            <a:pPr lvl="1"/>
            <a:r>
              <a:rPr lang="zh-CN" altLang="en-US" b="0" dirty="0"/>
              <a:t>但是真的去磁盘上读，会比较慢。因为文件会非常分散。</a:t>
            </a:r>
            <a:endParaRPr lang="en-US" altLang="zh-CN" b="0" dirty="0"/>
          </a:p>
          <a:p>
            <a:r>
              <a:rPr lang="en-US" altLang="zh-CN" b="0" dirty="0"/>
              <a:t>LFS</a:t>
            </a:r>
            <a:r>
              <a:rPr lang="zh-CN" altLang="en-US" b="0" dirty="0"/>
              <a:t>的</a:t>
            </a:r>
            <a:r>
              <a:rPr lang="en-US" altLang="zh-CN" b="0" dirty="0"/>
              <a:t>segment</a:t>
            </a:r>
            <a:r>
              <a:rPr lang="zh-CN" altLang="en-US" b="0" dirty="0"/>
              <a:t>和</a:t>
            </a:r>
            <a:r>
              <a:rPr lang="en-US" altLang="zh-CN" b="0" dirty="0"/>
              <a:t>Flash</a:t>
            </a:r>
            <a:r>
              <a:rPr lang="zh-CN" altLang="en-US" b="0" dirty="0"/>
              <a:t>的性质很像？</a:t>
            </a:r>
            <a:endParaRPr lang="en-CN" b="0" dirty="0"/>
          </a:p>
          <a:p>
            <a:endParaRPr lang="en-CN" b="0" dirty="0"/>
          </a:p>
        </p:txBody>
      </p:sp>
      <p:sp>
        <p:nvSpPr>
          <p:cNvPr id="4" name="Slide Number Placeholder 3">
            <a:extLst>
              <a:ext uri="{FF2B5EF4-FFF2-40B4-BE49-F238E27FC236}">
                <a16:creationId xmlns:a16="http://schemas.microsoft.com/office/drawing/2014/main" id="{2A63365F-58EC-694A-AF66-97A4E249AA2C}"/>
              </a:ext>
            </a:extLst>
          </p:cNvPr>
          <p:cNvSpPr>
            <a:spLocks noGrp="1"/>
          </p:cNvSpPr>
          <p:nvPr>
            <p:ph type="sldNum" sz="quarter" idx="12"/>
          </p:nvPr>
        </p:nvSpPr>
        <p:spPr/>
        <p:txBody>
          <a:bodyPr/>
          <a:lstStyle/>
          <a:p>
            <a:fld id="{ADE361C3-C043-4A6E-BDCE-8DA1E7D90A3B}" type="slidenum">
              <a:rPr lang="zh-CN" altLang="en-US" smtClean="0"/>
              <a:t>78</a:t>
            </a:fld>
            <a:endParaRPr lang="zh-CN" altLang="en-US"/>
          </a:p>
        </p:txBody>
      </p:sp>
      <p:sp>
        <p:nvSpPr>
          <p:cNvPr id="5" name="Footer Placeholder 4">
            <a:extLst>
              <a:ext uri="{FF2B5EF4-FFF2-40B4-BE49-F238E27FC236}">
                <a16:creationId xmlns:a16="http://schemas.microsoft.com/office/drawing/2014/main" id="{82319557-5444-1543-A990-C8A0069771A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5857771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0B2AB-B876-B64C-8513-4C75E10B1B4D}"/>
              </a:ext>
            </a:extLst>
          </p:cNvPr>
          <p:cNvSpPr>
            <a:spLocks noGrp="1"/>
          </p:cNvSpPr>
          <p:nvPr>
            <p:ph type="title"/>
          </p:nvPr>
        </p:nvSpPr>
        <p:spPr/>
        <p:txBody>
          <a:bodyPr/>
          <a:lstStyle/>
          <a:p>
            <a:r>
              <a:rPr lang="zh-CN" altLang="en-US" dirty="0"/>
              <a:t>其他</a:t>
            </a:r>
            <a:r>
              <a:rPr lang="en-US" altLang="zh-CN" dirty="0"/>
              <a:t>LFS</a:t>
            </a:r>
            <a:r>
              <a:rPr lang="zh-CN" altLang="en-US" dirty="0"/>
              <a:t>的实现</a:t>
            </a:r>
            <a:endParaRPr lang="en-CN" dirty="0"/>
          </a:p>
        </p:txBody>
      </p:sp>
      <p:sp>
        <p:nvSpPr>
          <p:cNvPr id="3" name="Content Placeholder 2">
            <a:extLst>
              <a:ext uri="{FF2B5EF4-FFF2-40B4-BE49-F238E27FC236}">
                <a16:creationId xmlns:a16="http://schemas.microsoft.com/office/drawing/2014/main" id="{B300A592-E37F-964D-BB26-957F1A1BAFA1}"/>
              </a:ext>
            </a:extLst>
          </p:cNvPr>
          <p:cNvSpPr>
            <a:spLocks noGrp="1"/>
          </p:cNvSpPr>
          <p:nvPr>
            <p:ph idx="1"/>
          </p:nvPr>
        </p:nvSpPr>
        <p:spPr>
          <a:xfrm>
            <a:off x="457200" y="1333501"/>
            <a:ext cx="4114800" cy="3771636"/>
          </a:xfrm>
        </p:spPr>
        <p:txBody>
          <a:bodyPr>
            <a:normAutofit fontScale="85000" lnSpcReduction="20000"/>
          </a:bodyPr>
          <a:lstStyle/>
          <a:p>
            <a:r>
              <a:rPr lang="zh-CN" altLang="en-US" dirty="0"/>
              <a:t>光盘</a:t>
            </a:r>
            <a:endParaRPr lang="en-US" altLang="zh-CN" dirty="0"/>
          </a:p>
          <a:p>
            <a:pPr lvl="1"/>
            <a:r>
              <a:rPr lang="en-US" dirty="0"/>
              <a:t>UDF</a:t>
            </a:r>
          </a:p>
          <a:p>
            <a:r>
              <a:rPr lang="en-US" altLang="zh-CN" dirty="0"/>
              <a:t>Flash/SSD</a:t>
            </a:r>
          </a:p>
          <a:p>
            <a:pPr lvl="1"/>
            <a:r>
              <a:rPr lang="en-US" dirty="0"/>
              <a:t>JFFS</a:t>
            </a:r>
            <a:r>
              <a:rPr lang="en-US" altLang="zh-CN" dirty="0"/>
              <a:t>,</a:t>
            </a:r>
            <a:r>
              <a:rPr lang="en-US" dirty="0"/>
              <a:t> JFFS2</a:t>
            </a:r>
          </a:p>
          <a:p>
            <a:pPr lvl="1"/>
            <a:r>
              <a:rPr lang="en-US" dirty="0"/>
              <a:t>UBIFS</a:t>
            </a:r>
          </a:p>
          <a:p>
            <a:pPr lvl="1"/>
            <a:r>
              <a:rPr lang="en-US" dirty="0" err="1"/>
              <a:t>LogFS</a:t>
            </a:r>
            <a:endParaRPr lang="en-US" dirty="0"/>
          </a:p>
          <a:p>
            <a:pPr lvl="1"/>
            <a:r>
              <a:rPr lang="en-US" dirty="0"/>
              <a:t>YAFFS</a:t>
            </a:r>
            <a:r>
              <a:rPr lang="en-US" altLang="zh-CN" dirty="0"/>
              <a:t>,</a:t>
            </a:r>
            <a:r>
              <a:rPr lang="zh-CN" altLang="en-US" dirty="0"/>
              <a:t> </a:t>
            </a:r>
            <a:r>
              <a:rPr lang="en-US" altLang="zh-CN" dirty="0"/>
              <a:t>YAFFS2</a:t>
            </a:r>
            <a:endParaRPr lang="en-US" dirty="0"/>
          </a:p>
          <a:p>
            <a:pPr lvl="1"/>
            <a:r>
              <a:rPr lang="en-US" dirty="0"/>
              <a:t>F2FS</a:t>
            </a:r>
          </a:p>
          <a:p>
            <a:r>
              <a:rPr lang="zh-CN" altLang="en-US" dirty="0"/>
              <a:t>非易失性内存</a:t>
            </a:r>
            <a:endParaRPr lang="en-US" altLang="zh-CN" dirty="0"/>
          </a:p>
          <a:p>
            <a:pPr lvl="1"/>
            <a:r>
              <a:rPr lang="en-US" dirty="0"/>
              <a:t>NOVA</a:t>
            </a:r>
            <a:br>
              <a:rPr lang="en-US" dirty="0"/>
            </a:br>
            <a:endParaRPr lang="en-CN" dirty="0"/>
          </a:p>
        </p:txBody>
      </p:sp>
      <p:sp>
        <p:nvSpPr>
          <p:cNvPr id="4" name="Slide Number Placeholder 3">
            <a:extLst>
              <a:ext uri="{FF2B5EF4-FFF2-40B4-BE49-F238E27FC236}">
                <a16:creationId xmlns:a16="http://schemas.microsoft.com/office/drawing/2014/main" id="{2A63365F-58EC-694A-AF66-97A4E249AA2C}"/>
              </a:ext>
            </a:extLst>
          </p:cNvPr>
          <p:cNvSpPr>
            <a:spLocks noGrp="1"/>
          </p:cNvSpPr>
          <p:nvPr>
            <p:ph type="sldNum" sz="quarter" idx="12"/>
          </p:nvPr>
        </p:nvSpPr>
        <p:spPr/>
        <p:txBody>
          <a:bodyPr/>
          <a:lstStyle/>
          <a:p>
            <a:fld id="{ADE361C3-C043-4A6E-BDCE-8DA1E7D90A3B}" type="slidenum">
              <a:rPr lang="zh-CN" altLang="en-US" smtClean="0"/>
              <a:t>79</a:t>
            </a:fld>
            <a:endParaRPr lang="zh-CN" altLang="en-US"/>
          </a:p>
        </p:txBody>
      </p:sp>
      <p:sp>
        <p:nvSpPr>
          <p:cNvPr id="5" name="Footer Placeholder 4">
            <a:extLst>
              <a:ext uri="{FF2B5EF4-FFF2-40B4-BE49-F238E27FC236}">
                <a16:creationId xmlns:a16="http://schemas.microsoft.com/office/drawing/2014/main" id="{82319557-5444-1543-A990-C8A0069771A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94C5F0DF-46DF-BB4F-8837-F5C193C8F068}"/>
              </a:ext>
            </a:extLst>
          </p:cNvPr>
          <p:cNvSpPr txBox="1"/>
          <p:nvPr/>
        </p:nvSpPr>
        <p:spPr>
          <a:xfrm>
            <a:off x="0" y="5486134"/>
            <a:ext cx="3773790" cy="246221"/>
          </a:xfrm>
          <a:prstGeom prst="rect">
            <a:avLst/>
          </a:prstGeom>
          <a:noFill/>
        </p:spPr>
        <p:txBody>
          <a:bodyPr wrap="none" rtlCol="0">
            <a:spAutoFit/>
          </a:bodyPr>
          <a:lstStyle/>
          <a:p>
            <a:r>
              <a:rPr lang="en-US" sz="1000" dirty="0"/>
              <a:t>https://</a:t>
            </a:r>
            <a:r>
              <a:rPr lang="en-US" sz="1000" dirty="0" err="1"/>
              <a:t>en.wikipedia.org</a:t>
            </a:r>
            <a:r>
              <a:rPr lang="en-US" sz="1000" dirty="0"/>
              <a:t>/wiki/</a:t>
            </a:r>
            <a:r>
              <a:rPr lang="en-US" sz="1000" dirty="0" err="1"/>
              <a:t>List_of_log-structured_file_systems</a:t>
            </a:r>
            <a:endParaRPr lang="en-CN" sz="1000" dirty="0"/>
          </a:p>
        </p:txBody>
      </p:sp>
      <p:sp>
        <p:nvSpPr>
          <p:cNvPr id="7" name="Content Placeholder 2">
            <a:extLst>
              <a:ext uri="{FF2B5EF4-FFF2-40B4-BE49-F238E27FC236}">
                <a16:creationId xmlns:a16="http://schemas.microsoft.com/office/drawing/2014/main" id="{A7F0555E-5A06-F54A-996B-9A2E5C9C8337}"/>
              </a:ext>
            </a:extLst>
          </p:cNvPr>
          <p:cNvSpPr txBox="1">
            <a:spLocks/>
          </p:cNvSpPr>
          <p:nvPr/>
        </p:nvSpPr>
        <p:spPr>
          <a:xfrm>
            <a:off x="4572000" y="1322912"/>
            <a:ext cx="4114800" cy="3771636"/>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N" altLang="zh-CN" dirty="0"/>
              <a:t>RAID</a:t>
            </a:r>
          </a:p>
          <a:p>
            <a:pPr lvl="1"/>
            <a:r>
              <a:rPr lang="en-US" dirty="0"/>
              <a:t>WAFL</a:t>
            </a:r>
            <a:r>
              <a:rPr lang="zh-CN" altLang="en-US" dirty="0"/>
              <a:t> </a:t>
            </a:r>
            <a:r>
              <a:rPr lang="en-US" altLang="zh-CN" dirty="0"/>
              <a:t>(by</a:t>
            </a:r>
            <a:r>
              <a:rPr lang="zh-CN" altLang="en-US" dirty="0"/>
              <a:t> </a:t>
            </a:r>
            <a:r>
              <a:rPr lang="en-US" altLang="zh-CN" dirty="0"/>
              <a:t>NetApp)</a:t>
            </a:r>
            <a:endParaRPr lang="en-CN" altLang="zh-CN" dirty="0"/>
          </a:p>
          <a:p>
            <a:r>
              <a:rPr lang="en-US" altLang="zh-CN" dirty="0"/>
              <a:t>NVM</a:t>
            </a:r>
          </a:p>
          <a:p>
            <a:pPr lvl="1"/>
            <a:r>
              <a:rPr lang="en-US" altLang="zh-CN" dirty="0"/>
              <a:t>NOVA</a:t>
            </a:r>
            <a:endParaRPr lang="en-CN" altLang="zh-CN" dirty="0"/>
          </a:p>
          <a:p>
            <a:r>
              <a:rPr lang="en-CN" altLang="zh-CN" dirty="0"/>
              <a:t>Cloud</a:t>
            </a:r>
          </a:p>
          <a:p>
            <a:pPr lvl="1"/>
            <a:r>
              <a:rPr lang="en-US" altLang="zh-CN" dirty="0" err="1"/>
              <a:t>ObjectiveFS</a:t>
            </a:r>
            <a:r>
              <a:rPr lang="en-US" altLang="zh-CN" dirty="0"/>
              <a:t> via</a:t>
            </a:r>
            <a:r>
              <a:rPr lang="zh-CN" altLang="en-US" dirty="0"/>
              <a:t> </a:t>
            </a:r>
            <a:r>
              <a:rPr lang="en-US" altLang="zh-CN" dirty="0"/>
              <a:t>FUSE uses cloud object stores (e.g. Amazon S3, Google Cloud Storage and private cloud object store)</a:t>
            </a:r>
            <a:br>
              <a:rPr lang="en-US" dirty="0"/>
            </a:br>
            <a:endParaRPr lang="en-CN" dirty="0"/>
          </a:p>
        </p:txBody>
      </p:sp>
    </p:spTree>
    <p:extLst>
      <p:ext uri="{BB962C8B-B14F-4D97-AF65-F5344CB8AC3E}">
        <p14:creationId xmlns:p14="http://schemas.microsoft.com/office/powerpoint/2010/main" val="2645925012"/>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49560</TotalTime>
  <Words>8872</Words>
  <Application>Microsoft Macintosh PowerPoint</Application>
  <PresentationFormat>全屏显示(16:10)</PresentationFormat>
  <Paragraphs>1407</Paragraphs>
  <Slides>79</Slides>
  <Notes>20</Notes>
  <HiddenSlides>1</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79</vt:i4>
      </vt:variant>
    </vt:vector>
  </HeadingPairs>
  <TitlesOfParts>
    <vt:vector size="87" baseType="lpstr">
      <vt:lpstr>DengXian</vt:lpstr>
      <vt:lpstr>微软雅黑</vt:lpstr>
      <vt:lpstr>Arial</vt:lpstr>
      <vt:lpstr>Calibri</vt:lpstr>
      <vt:lpstr>Candara</vt:lpstr>
      <vt:lpstr>Courier</vt:lpstr>
      <vt:lpstr>Wingdings</vt:lpstr>
      <vt:lpstr>Office 主题​​</vt:lpstr>
      <vt:lpstr>文件系统崩溃一致性</vt:lpstr>
      <vt:lpstr>版权声明</vt:lpstr>
      <vt:lpstr>Review：文件系统的崩溃一致性</vt:lpstr>
      <vt:lpstr>Review：创建文件时崩溃的6种情况</vt:lpstr>
      <vt:lpstr>Review：文件系统操作要求的三个属性</vt:lpstr>
      <vt:lpstr>Review：崩溃一致性保障方法</vt:lpstr>
      <vt:lpstr>日志</vt:lpstr>
      <vt:lpstr>日志</vt:lpstr>
      <vt:lpstr>日志</vt:lpstr>
      <vt:lpstr>日志</vt:lpstr>
      <vt:lpstr>问题</vt:lpstr>
      <vt:lpstr>利用内存中的页缓存</vt:lpstr>
      <vt:lpstr>利用内存中的页缓存</vt:lpstr>
      <vt:lpstr>批量处理日志以减少磁盘写</vt:lpstr>
      <vt:lpstr>日志提交的触发条件</vt:lpstr>
      <vt:lpstr>Case：Linux中的日志系统JBD2</vt:lpstr>
      <vt:lpstr>JBD2事务的状态</vt:lpstr>
      <vt:lpstr>JBD2部分接口和使用方法</vt:lpstr>
      <vt:lpstr>JBD2部分接口和使用方法</vt:lpstr>
      <vt:lpstr>JBD2部分接口和使用方法</vt:lpstr>
      <vt:lpstr>JBD2部分接口和使用方法</vt:lpstr>
      <vt:lpstr>JBD2部分接口和使用方法</vt:lpstr>
      <vt:lpstr>JBD2日志的磁盘结构</vt:lpstr>
      <vt:lpstr>Ext4用JBD2实现的三种日志模式</vt:lpstr>
      <vt:lpstr>Ext4用JBD2实现的三种日志模式</vt:lpstr>
      <vt:lpstr>Ordered Mode</vt:lpstr>
      <vt:lpstr>写时复制</vt:lpstr>
      <vt:lpstr>写时复制（Copy-on-Write）</vt:lpstr>
      <vt:lpstr>文件中的写时复制</vt:lpstr>
      <vt:lpstr>文件中的写时复制</vt:lpstr>
      <vt:lpstr>文件中的写时复制</vt:lpstr>
      <vt:lpstr>文件中的写时复制</vt:lpstr>
      <vt:lpstr>文件中的写时复制</vt:lpstr>
      <vt:lpstr>文件中的写时复制</vt:lpstr>
      <vt:lpstr>思考时间🤔</vt:lpstr>
      <vt:lpstr>"写时复制"文件系统</vt:lpstr>
      <vt:lpstr>Soft updates</vt:lpstr>
      <vt:lpstr>Soft Updates</vt:lpstr>
      <vt:lpstr>回顾：创建文件时崩溃的六种情况</vt:lpstr>
      <vt:lpstr>Soft Updates的总体思想</vt:lpstr>
      <vt:lpstr>Soft Updates的三个次序规则</vt:lpstr>
      <vt:lpstr>Soft Updates</vt:lpstr>
      <vt:lpstr>创建文件</vt:lpstr>
      <vt:lpstr>删除文件</vt:lpstr>
      <vt:lpstr>文件重命名</vt:lpstr>
      <vt:lpstr>依赖追踪</vt:lpstr>
      <vt:lpstr>依赖追踪的两个问题</vt:lpstr>
      <vt:lpstr>撤销和重做</vt:lpstr>
      <vt:lpstr>撤销和重做</vt:lpstr>
      <vt:lpstr>撤销和重做</vt:lpstr>
      <vt:lpstr>Review：崩溃一致性保障方法</vt:lpstr>
      <vt:lpstr>日志文件系统</vt:lpstr>
      <vt:lpstr>日志文件系统（Log-structured FS）</vt:lpstr>
      <vt:lpstr>日志文件系统（Log-structured FS）</vt:lpstr>
      <vt:lpstr>Sprite LFS的数据结构</vt:lpstr>
      <vt:lpstr>举例</vt:lpstr>
      <vt:lpstr>创建文件举例</vt:lpstr>
      <vt:lpstr>创建文件举例</vt:lpstr>
      <vt:lpstr>空间回收利用</vt:lpstr>
      <vt:lpstr>空间回收管理方法</vt:lpstr>
      <vt:lpstr>空间回收管理方法：段（Segment）</vt:lpstr>
      <vt:lpstr>空间回收管理方法：段（Segment）</vt:lpstr>
      <vt:lpstr>段使用表</vt:lpstr>
      <vt:lpstr>段清理</vt:lpstr>
      <vt:lpstr>段清理</vt:lpstr>
      <vt:lpstr>段清理</vt:lpstr>
      <vt:lpstr>段清理</vt:lpstr>
      <vt:lpstr>段清理</vt:lpstr>
      <vt:lpstr>识别有效数据</vt:lpstr>
      <vt:lpstr>识别有效数据</vt:lpstr>
      <vt:lpstr>清理的策略有多种维度</vt:lpstr>
      <vt:lpstr>挂载和恢复</vt:lpstr>
      <vt:lpstr>检查点</vt:lpstr>
      <vt:lpstr>恢复：前滚（roll-forward）</vt:lpstr>
      <vt:lpstr>恢复：前滚（roll-forward）</vt:lpstr>
      <vt:lpstr>恢复：前滚（roll-forward）</vt:lpstr>
      <vt:lpstr>恢复：目录修改日志</vt:lpstr>
      <vt:lpstr>关于LFS的讨论</vt:lpstr>
      <vt:lpstr>其他LFS的实现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Yubin Xia</cp:lastModifiedBy>
  <cp:revision>4075</cp:revision>
  <cp:lastPrinted>2016-06-13T07:55:34Z</cp:lastPrinted>
  <dcterms:created xsi:type="dcterms:W3CDTF">2017-11-24T09:35:45Z</dcterms:created>
  <dcterms:modified xsi:type="dcterms:W3CDTF">2022-04-12T01:59:45Z</dcterms:modified>
</cp:coreProperties>
</file>