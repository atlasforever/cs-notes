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2324" r:id="rId2"/>
    <p:sldId id="1359" r:id="rId3"/>
    <p:sldId id="2270" r:id="rId4"/>
    <p:sldId id="2266" r:id="rId5"/>
    <p:sldId id="1414" r:id="rId6"/>
    <p:sldId id="1438" r:id="rId7"/>
    <p:sldId id="1439" r:id="rId8"/>
    <p:sldId id="2253" r:id="rId9"/>
    <p:sldId id="2254" r:id="rId10"/>
    <p:sldId id="2255" r:id="rId11"/>
    <p:sldId id="2256" r:id="rId12"/>
    <p:sldId id="2257" r:id="rId13"/>
    <p:sldId id="2258" r:id="rId14"/>
    <p:sldId id="1440" r:id="rId15"/>
    <p:sldId id="2267" r:id="rId16"/>
    <p:sldId id="2328" r:id="rId17"/>
    <p:sldId id="2329" r:id="rId18"/>
    <p:sldId id="2330" r:id="rId19"/>
    <p:sldId id="2252" r:id="rId20"/>
    <p:sldId id="2331" r:id="rId21"/>
    <p:sldId id="2332" r:id="rId22"/>
    <p:sldId id="2279" r:id="rId23"/>
    <p:sldId id="2250" r:id="rId24"/>
    <p:sldId id="2333" r:id="rId25"/>
    <p:sldId id="1464" r:id="rId26"/>
    <p:sldId id="1461" r:id="rId27"/>
    <p:sldId id="1460" r:id="rId28"/>
    <p:sldId id="1462" r:id="rId29"/>
    <p:sldId id="2327" r:id="rId30"/>
    <p:sldId id="1362" r:id="rId31"/>
    <p:sldId id="2248" r:id="rId32"/>
    <p:sldId id="1364" r:id="rId33"/>
    <p:sldId id="2326" r:id="rId34"/>
    <p:sldId id="1371" r:id="rId35"/>
    <p:sldId id="1409" r:id="rId36"/>
    <p:sldId id="1373" r:id="rId37"/>
    <p:sldId id="1374" r:id="rId38"/>
    <p:sldId id="1372" r:id="rId39"/>
    <p:sldId id="1406" r:id="rId40"/>
    <p:sldId id="1407" r:id="rId41"/>
    <p:sldId id="2241" r:id="rId42"/>
    <p:sldId id="1403" r:id="rId43"/>
    <p:sldId id="1404" r:id="rId44"/>
    <p:sldId id="1376" r:id="rId45"/>
    <p:sldId id="1377" r:id="rId46"/>
    <p:sldId id="1378" r:id="rId47"/>
    <p:sldId id="1385" r:id="rId48"/>
    <p:sldId id="1387" r:id="rId49"/>
    <p:sldId id="1386" r:id="rId50"/>
    <p:sldId id="1388" r:id="rId51"/>
    <p:sldId id="1389" r:id="rId52"/>
    <p:sldId id="1408" r:id="rId53"/>
    <p:sldId id="1390" r:id="rId54"/>
    <p:sldId id="1379" r:id="rId55"/>
    <p:sldId id="1391" r:id="rId56"/>
    <p:sldId id="2273" r:id="rId57"/>
    <p:sldId id="2281" r:id="rId58"/>
    <p:sldId id="2283" r:id="rId59"/>
    <p:sldId id="2284" r:id="rId60"/>
    <p:sldId id="2294" r:id="rId61"/>
    <p:sldId id="2275" r:id="rId62"/>
    <p:sldId id="2286" r:id="rId63"/>
    <p:sldId id="2296" r:id="rId64"/>
    <p:sldId id="2287" r:id="rId65"/>
    <p:sldId id="2288" r:id="rId66"/>
    <p:sldId id="2289" r:id="rId67"/>
    <p:sldId id="2290" r:id="rId68"/>
    <p:sldId id="2291" r:id="rId69"/>
    <p:sldId id="2292" r:id="rId70"/>
    <p:sldId id="2293" r:id="rId71"/>
    <p:sldId id="2297" r:id="rId72"/>
    <p:sldId id="2299" r:id="rId73"/>
    <p:sldId id="2298" r:id="rId74"/>
    <p:sldId id="2300" r:id="rId75"/>
    <p:sldId id="2301" r:id="rId76"/>
    <p:sldId id="2302" r:id="rId77"/>
    <p:sldId id="2303" r:id="rId78"/>
    <p:sldId id="2304" r:id="rId79"/>
    <p:sldId id="2305" r:id="rId80"/>
    <p:sldId id="2306" r:id="rId8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247"/>
    <a:srgbClr val="FF2F92"/>
    <a:srgbClr val="941100"/>
    <a:srgbClr val="212121"/>
    <a:srgbClr val="005493"/>
    <a:srgbClr val="9437FF"/>
    <a:srgbClr val="73FE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1" autoAdjust="0"/>
    <p:restoredTop sz="90565" autoAdjust="0"/>
  </p:normalViewPr>
  <p:slideViewPr>
    <p:cSldViewPr>
      <p:cViewPr varScale="1">
        <p:scale>
          <a:sx n="137" d="100"/>
          <a:sy n="137" d="100"/>
        </p:scale>
        <p:origin x="624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3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/>
              <a:t>SLUB</a:t>
            </a:r>
            <a:r>
              <a:rPr lang="en-US" altLang="zh-CN" dirty="0"/>
              <a:t> (the unqueued </a:t>
            </a:r>
            <a:r>
              <a:rPr lang="en-US" altLang="zh-CN" i="1" dirty="0"/>
              <a:t>slab</a:t>
            </a:r>
            <a:r>
              <a:rPr lang="en-US" altLang="zh-CN" dirty="0"/>
              <a:t> allocator) is a memory management mechanism intended for the efficient memory allocation of kernel objects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493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网格表示</a:t>
            </a:r>
            <a:r>
              <a:rPr kumimoji="1" lang="en-US" altLang="zh-CN" dirty="0"/>
              <a:t>allocated</a:t>
            </a:r>
            <a:r>
              <a:rPr kumimoji="1" lang="zh-CN" altLang="en-US" dirty="0"/>
              <a:t>。</a:t>
            </a:r>
            <a:r>
              <a:rPr kumimoji="1" lang="en-US" altLang="zh-CN" dirty="0"/>
              <a:t>Full</a:t>
            </a:r>
            <a:r>
              <a:rPr kumimoji="1" lang="zh-CN" altLang="en-US" dirty="0"/>
              <a:t>指针是可选的。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78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在选择被换出的页面时，优先选择未来不会再访问的页面，或者在最长时间内 不会再访问的页面。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449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+mn-ea"/>
              </a:rPr>
              <a:t>需要排序的内存页可能有非常多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303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进程控制块存储在内核态，因为它由内核管理，不应被用户态的程序访问</a:t>
            </a:r>
            <a:endParaRPr kumimoji="1" lang="en-US" altLang="zh-CN" dirty="0"/>
          </a:p>
          <a:p>
            <a:r>
              <a:rPr kumimoji="1" lang="zh-CN" altLang="en-US" dirty="0"/>
              <a:t>独立的虚拟地址空间是进程的标志性特征</a:t>
            </a:r>
            <a:endParaRPr kumimoji="1" lang="en-US" altLang="zh-CN" dirty="0"/>
          </a:p>
          <a:p>
            <a:r>
              <a:rPr kumimoji="1" lang="zh-CN" altLang="en-US" dirty="0"/>
              <a:t>独立的执行上下文表明进程具有独立的执行能力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47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大家都知道操作系统还有线程的概念，但为了简化，我们先假设每个进程都只包含一个线程。</a:t>
            </a:r>
            <a:endParaRPr kumimoji="1" lang="en-US" altLang="zh-CN" dirty="0"/>
          </a:p>
          <a:p>
            <a:r>
              <a:rPr kumimoji="1" lang="zh-CN" altLang="en-US" dirty="0"/>
              <a:t>早期的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操作系统没有线程的概念，可以认为每个进程只包含了一个线程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868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比如：发送</a:t>
            </a:r>
            <a:r>
              <a:rPr kumimoji="1" lang="zh-CN" altLang="en-US"/>
              <a:t>一个</a:t>
            </a:r>
            <a:r>
              <a:rPr kumimoji="1" lang="en-US" altLang="zh-CN"/>
              <a:t>SIGKILL</a:t>
            </a:r>
            <a:r>
              <a:rPr kumimoji="1" lang="zh-CN" altLang="en-US"/>
              <a:t>给</a:t>
            </a:r>
            <a:r>
              <a:rPr kumimoji="1" lang="en-US" altLang="zh-CN" dirty="0" err="1"/>
              <a:t>sudo</a:t>
            </a:r>
            <a:r>
              <a:rPr kumimoji="1" lang="zh-CN" altLang="en-US" dirty="0"/>
              <a:t>进程，那么</a:t>
            </a:r>
            <a:r>
              <a:rPr kumimoji="1" lang="en-US" altLang="zh-CN" dirty="0" err="1"/>
              <a:t>sudo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gdb</a:t>
            </a:r>
            <a:r>
              <a:rPr kumimoji="1" lang="zh-CN" altLang="en-US" dirty="0"/>
              <a:t>都会收到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004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一条映射大小可能仅有几个字节，却对应了至少</a:t>
            </a:r>
            <a:r>
              <a:rPr kumimoji="1" lang="en-US" altLang="zh-CN" dirty="0"/>
              <a:t>4K</a:t>
            </a:r>
            <a:r>
              <a:rPr kumimoji="1" lang="zh-CN" altLang="en-US" dirty="0"/>
              <a:t>的页面。</a:t>
            </a:r>
            <a:endParaRPr kumimoji="1" lang="en-US" altLang="zh-CN" dirty="0"/>
          </a:p>
          <a:p>
            <a:r>
              <a:rPr kumimoji="1" lang="zh-CN" altLang="en-US" dirty="0"/>
              <a:t>因此拷贝映射的开销远远小于拷贝内存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963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安全漏洞：比如</a:t>
            </a:r>
            <a:r>
              <a:rPr kumimoji="1" lang="en-US" altLang="zh-CN" dirty="0"/>
              <a:t>BROP</a:t>
            </a:r>
            <a:r>
              <a:rPr kumimoji="1" lang="zh-CN" altLang="en-US" dirty="0"/>
              <a:t>攻击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663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Vfork</a:t>
            </a:r>
            <a:r>
              <a:rPr kumimoji="1" lang="zh-CN" altLang="en-US" dirty="0"/>
              <a:t>由</a:t>
            </a:r>
            <a:r>
              <a:rPr kumimoji="1" lang="en-US" altLang="zh-CN" dirty="0"/>
              <a:t>BSD</a:t>
            </a:r>
            <a:r>
              <a:rPr kumimoji="1" lang="zh-CN" altLang="en-US" dirty="0"/>
              <a:t>于</a:t>
            </a:r>
            <a:r>
              <a:rPr kumimoji="1" lang="en-US" altLang="zh-CN" dirty="0"/>
              <a:t>1979</a:t>
            </a:r>
            <a:r>
              <a:rPr kumimoji="1" lang="zh-CN" altLang="en-US" dirty="0"/>
              <a:t>年提出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498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Posix_spawn</a:t>
            </a:r>
            <a:r>
              <a:rPr kumimoji="1" lang="zh-CN" altLang="en-US" dirty="0"/>
              <a:t>不能用在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873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05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每个线程都需要调用系统调用，因此它们希望</a:t>
            </a:r>
            <a:r>
              <a:rPr kumimoji="1" lang="en-US" altLang="zh-CN" dirty="0" err="1"/>
              <a:t>errno</a:t>
            </a:r>
            <a:r>
              <a:rPr kumimoji="1" lang="zh-CN" altLang="en-US" dirty="0"/>
              <a:t>是每个线程独有的，这样它们可以在访问同名变量的情况下获得不一样的结果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3829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X86</a:t>
            </a:r>
            <a:r>
              <a:rPr kumimoji="1" lang="zh-CN" altLang="en-US" sz="1600" dirty="0"/>
              <a:t>用</a:t>
            </a:r>
            <a:r>
              <a:rPr kumimoji="1" lang="en-US" altLang="zh-CN" sz="1600" dirty="0"/>
              <a:t>fs</a:t>
            </a:r>
            <a:r>
              <a:rPr kumimoji="1" lang="zh-CN" altLang="en-US" sz="1600" dirty="0"/>
              <a:t>保存当前线程的</a:t>
            </a:r>
            <a:r>
              <a:rPr kumimoji="1" lang="en-US" altLang="zh-CN" sz="1600" dirty="0"/>
              <a:t>TLS</a:t>
            </a:r>
            <a:r>
              <a:rPr kumimoji="1" lang="zh-CN" altLang="en-US" sz="1600" dirty="0"/>
              <a:t>基地址，</a:t>
            </a:r>
            <a:r>
              <a:rPr kumimoji="1" lang="en-US" altLang="zh-CN" sz="1600" dirty="0"/>
              <a:t>AArch64</a:t>
            </a:r>
            <a:r>
              <a:rPr kumimoji="1" lang="zh-CN" altLang="en-US" sz="1600" dirty="0"/>
              <a:t>则使用特殊寄存器</a:t>
            </a:r>
            <a:r>
              <a:rPr kumimoji="1" lang="en-US" altLang="zh-CN" sz="1600" dirty="0"/>
              <a:t>tpidr_el0</a:t>
            </a:r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40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通过出让资源给其它线程，避免计算资源被浪费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9397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因为内存的数据不会因为切换而消失，但寄存器只有一组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5639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273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两个栈指针：</a:t>
            </a:r>
            <a:r>
              <a:rPr kumimoji="1" lang="en-US" altLang="zh-CN" dirty="0"/>
              <a:t>SP_EL0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SP_EL1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889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少了一步的原因是因为内核态的</a:t>
            </a:r>
            <a:r>
              <a:rPr kumimoji="1" lang="en-US" altLang="zh-CN" dirty="0"/>
              <a:t>PC</a:t>
            </a:r>
            <a:r>
              <a:rPr kumimoji="1" lang="zh-CN" altLang="en-US" dirty="0"/>
              <a:t>不需要保存，因此</a:t>
            </a:r>
            <a:r>
              <a:rPr kumimoji="1" lang="en-US" altLang="zh-CN" dirty="0"/>
              <a:t>PC</a:t>
            </a:r>
            <a:r>
              <a:rPr kumimoji="1" lang="zh-CN" altLang="en-US" dirty="0"/>
              <a:t>只需要从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中恢复即可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8556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如果直接恢复，</a:t>
            </a:r>
            <a:r>
              <a:rPr kumimoji="1" lang="en-US" altLang="zh-CN" dirty="0"/>
              <a:t>p0</a:t>
            </a:r>
            <a:r>
              <a:rPr kumimoji="1" lang="zh-CN" altLang="en-US" dirty="0"/>
              <a:t> </a:t>
            </a:r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p1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PC</a:t>
            </a:r>
            <a:r>
              <a:rPr kumimoji="1" lang="zh-CN" altLang="en-US" dirty="0"/>
              <a:t>不匹配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3128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0828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4693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8042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7381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9537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原因：虚拟地址空间的切换导致</a:t>
            </a:r>
            <a:r>
              <a:rPr kumimoji="1" lang="en-US" altLang="zh-CN" dirty="0"/>
              <a:t>TLB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失效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lang="en-US" altLang="zh-CN" dirty="0"/>
              <a:t>TLBI </a:t>
            </a:r>
            <a:r>
              <a:rPr lang="en-US" altLang="zh-CN" i="1" dirty="0"/>
              <a:t>VMALLE1IS</a:t>
            </a:r>
            <a:r>
              <a:rPr lang="en-US" altLang="zh-CN" dirty="0"/>
              <a:t>, Invalidate all stage 1 translations used at EL1 with the current virtual machine identifier (VMID) in the Inner Shareable.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6939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617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物存、进程和线程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69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lt"/>
              </a:rPr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>
                <a:latin typeface="+mn-lt"/>
              </a:rPr>
              <a:t>本内容版权归</a:t>
            </a:r>
            <a:r>
              <a:rPr lang="zh-CN" altLang="en-US" sz="2000" dirty="0">
                <a:latin typeface="+mn-lt"/>
              </a:rPr>
              <a:t>上海交通大学并行与分布式系统研究所</a:t>
            </a:r>
            <a:r>
              <a:rPr lang="zh-CN" altLang="en-US" sz="2000" b="0" dirty="0">
                <a:latin typeface="+mn-lt"/>
              </a:rPr>
              <a:t>所有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使用者可以将全部或部分本内容免费用于非商业用途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使用者在使用全部或部分本内容时请注明来源：</a:t>
            </a:r>
            <a:endParaRPr lang="en-US" altLang="zh-CN" sz="2000" b="0" dirty="0">
              <a:latin typeface="+mn-lt"/>
            </a:endParaRPr>
          </a:p>
          <a:p>
            <a:pPr lvl="1"/>
            <a:r>
              <a:rPr lang="zh-CN" altLang="en-US" sz="1600" dirty="0"/>
              <a:t>内容来自：上海交通大学并行与分布式系统研究所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dirty="0"/>
          </a:p>
          <a:p>
            <a:r>
              <a:rPr lang="zh-CN" altLang="en-US" sz="2000" b="0" dirty="0">
                <a:latin typeface="+mn-lt"/>
              </a:rPr>
              <a:t>对于不遵守此声明或者其他违法使用本内容者，将依法保留追究权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本内容的发布采用 </a:t>
            </a:r>
            <a:r>
              <a:rPr lang="en-US" altLang="zh-CN" sz="2000" b="0" dirty="0">
                <a:latin typeface="+mn-lt"/>
              </a:rPr>
              <a:t>Creative Commons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Attribution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4.0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License</a:t>
            </a:r>
            <a:endParaRPr lang="en-US" altLang="zh-CN" sz="2400" b="0" dirty="0">
              <a:latin typeface="+mn-lt"/>
            </a:endParaRPr>
          </a:p>
          <a:p>
            <a:pPr lvl="1"/>
            <a:r>
              <a:rPr lang="zh-CN" altLang="en-US" sz="1600" dirty="0">
                <a:latin typeface="+mn-lt"/>
              </a:rPr>
              <a:t>完整文本：</a:t>
            </a:r>
            <a:r>
              <a:rPr lang="en-US" altLang="zh-CN" sz="1600" dirty="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 dirty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289A6-90AB-364E-996F-A8B2E201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3200" dirty="0"/>
              <a:t>SLAB/SLUB/SLOB</a:t>
            </a:r>
            <a:r>
              <a:rPr kumimoji="1" lang="zh-CN" altLang="en-US" sz="3200" dirty="0"/>
              <a:t>：细粒度内存管理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E23EB0-DE3C-5D4D-A0A5-86C537FB6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4E72FF-D54C-C948-85EB-0250204E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61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A7030-52EA-7A4E-883C-984F8BF3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Recap: </a:t>
            </a:r>
            <a:r>
              <a:rPr kumimoji="1" lang="zh-CN" altLang="en-US" dirty="0"/>
              <a:t>如何实现内核的</a:t>
            </a:r>
            <a:r>
              <a:rPr kumimoji="1" lang="en-US" altLang="zh-CN" dirty="0"/>
              <a:t>malloc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kmalloc</a:t>
            </a:r>
            <a:r>
              <a:rPr kumimoji="1" lang="zh-CN" altLang="en-US" dirty="0"/>
              <a:t>）？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FE469-95F8-E745-9572-8A71669D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435280" cy="415263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简单方法：直接使用伙伴系统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每次分配，将大小对齐到页粒度（如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）</a:t>
            </a:r>
          </a:p>
          <a:p>
            <a:r>
              <a:rPr kumimoji="1" lang="zh-CN" altLang="en-US" dirty="0"/>
              <a:t>优点：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分配得到的地址已映射物理内存，不会触发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</a:p>
          <a:p>
            <a:r>
              <a:rPr kumimoji="1" lang="zh-CN" altLang="en-US" dirty="0"/>
              <a:t>缺点：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大量数据结构都在几十</a:t>
            </a:r>
            <a:r>
              <a:rPr kumimoji="1" lang="en-US" altLang="zh-CN" dirty="0"/>
              <a:t>Byte</a:t>
            </a:r>
            <a:r>
              <a:rPr kumimoji="1" lang="zh-CN" altLang="en-US" dirty="0"/>
              <a:t>粒度，导致内存利用率极低</a:t>
            </a:r>
            <a:endParaRPr kumimoji="1" lang="en-US" altLang="zh-CN" dirty="0"/>
          </a:p>
          <a:p>
            <a:r>
              <a:rPr kumimoji="1" lang="zh-CN" altLang="en-US" dirty="0"/>
              <a:t>需在内存页的基础上，再加一层更细粒度的内存分配系统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D9BA8A-29B3-884B-B2AC-0977D3AA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68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目标：快速分配小内存对象</a:t>
            </a:r>
            <a:endParaRPr kumimoji="1" lang="en-US" altLang="zh-CN" sz="2400" dirty="0"/>
          </a:p>
          <a:p>
            <a:r>
              <a:rPr kumimoji="1" lang="en-US" altLang="zh-CN" sz="2400" dirty="0"/>
              <a:t>SLAB</a:t>
            </a:r>
            <a:r>
              <a:rPr kumimoji="1" lang="zh-CN" altLang="en-US" sz="2400" dirty="0"/>
              <a:t>分配器家族：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SLOB</a:t>
            </a:r>
          </a:p>
          <a:p>
            <a:pPr lvl="1"/>
            <a:r>
              <a:rPr kumimoji="1" lang="zh-CN" altLang="en-US" sz="2000" dirty="0"/>
              <a:t>上世纪 </a:t>
            </a:r>
            <a:r>
              <a:rPr kumimoji="1" lang="en-US" altLang="zh-CN" sz="2000" dirty="0"/>
              <a:t>90 </a:t>
            </a:r>
            <a:r>
              <a:rPr kumimoji="1" lang="zh-CN" altLang="en-US" sz="2000" dirty="0"/>
              <a:t>年代，</a:t>
            </a:r>
            <a:r>
              <a:rPr kumimoji="1" lang="en-US" altLang="zh-CN" sz="2000" dirty="0"/>
              <a:t>Jeff </a:t>
            </a:r>
            <a:r>
              <a:rPr kumimoji="1" lang="en-US" altLang="zh-CN" sz="2000" dirty="0" err="1"/>
              <a:t>Bonwick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Solaris 2.4</a:t>
            </a:r>
            <a:r>
              <a:rPr kumimoji="1" lang="zh-CN" altLang="en-US" sz="2000" dirty="0"/>
              <a:t>中首创</a:t>
            </a:r>
            <a:r>
              <a:rPr kumimoji="1" lang="en-US" altLang="zh-CN" sz="2000" dirty="0"/>
              <a:t>SLAB</a:t>
            </a:r>
          </a:p>
          <a:p>
            <a:pPr lvl="1"/>
            <a:r>
              <a:rPr lang="en-US" altLang="zh-CN" sz="2000" dirty="0"/>
              <a:t>2007</a:t>
            </a:r>
            <a:r>
              <a:rPr lang="zh-CN" altLang="en-US" sz="2000" dirty="0"/>
              <a:t>年左右，</a:t>
            </a:r>
            <a:r>
              <a:rPr lang="en-US" altLang="zh-CN" sz="2000" dirty="0"/>
              <a:t>Christoph </a:t>
            </a:r>
            <a:r>
              <a:rPr lang="en-US" altLang="zh-CN" sz="2000" dirty="0" err="1"/>
              <a:t>Lameter</a:t>
            </a:r>
            <a:r>
              <a:rPr lang="zh-CN" altLang="en-US" sz="2000" dirty="0"/>
              <a:t>在</a:t>
            </a:r>
            <a:r>
              <a:rPr lang="en-US" altLang="zh-CN" sz="2000" dirty="0"/>
              <a:t>Linux</a:t>
            </a:r>
            <a:r>
              <a:rPr lang="zh-CN" altLang="en-US" sz="2000" dirty="0"/>
              <a:t>中提出</a:t>
            </a:r>
            <a:r>
              <a:rPr lang="en-US" altLang="zh-CN" sz="2000" dirty="0"/>
              <a:t>SLUB</a:t>
            </a:r>
          </a:p>
          <a:p>
            <a:pPr lvl="2"/>
            <a:r>
              <a:rPr kumimoji="1" lang="en-US" altLang="zh-CN" sz="1800" dirty="0"/>
              <a:t>Linux-2.6.23</a:t>
            </a:r>
            <a:r>
              <a:rPr kumimoji="1" lang="zh-CN" altLang="en-US" sz="1800" dirty="0"/>
              <a:t>之后</a:t>
            </a:r>
            <a:r>
              <a:rPr kumimoji="1" lang="en-US" altLang="zh-CN" sz="1800" dirty="0"/>
              <a:t>SLUB</a:t>
            </a:r>
            <a:r>
              <a:rPr kumimoji="1" lang="zh-CN" altLang="en-US" sz="1800" dirty="0"/>
              <a:t>成为默认分配器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发展过程中，提出针对内存稀缺场景的</a:t>
            </a:r>
            <a:r>
              <a:rPr kumimoji="1" lang="en-US" altLang="zh-CN" sz="2000" dirty="0"/>
              <a:t>SLOB</a:t>
            </a:r>
          </a:p>
          <a:p>
            <a:r>
              <a:rPr kumimoji="1" lang="zh-CN" altLang="en-US" sz="2400" dirty="0"/>
              <a:t>后续以主流的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为例讲解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A5EE2D9-5816-664C-8A18-A62485CB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Recap: </a:t>
            </a:r>
            <a:r>
              <a:rPr lang="en-US" altLang="zh-CN" dirty="0"/>
              <a:t>SLAB-</a:t>
            </a:r>
            <a:r>
              <a:rPr lang="zh-CN" altLang="en-US" dirty="0"/>
              <a:t>建立在伙伴系统之上的分配器</a:t>
            </a:r>
          </a:p>
        </p:txBody>
      </p:sp>
    </p:spTree>
    <p:extLst>
      <p:ext uri="{BB962C8B-B14F-4D97-AF65-F5344CB8AC3E}">
        <p14:creationId xmlns:p14="http://schemas.microsoft.com/office/powerpoint/2010/main" val="15929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EE4C4-3EC4-F44C-B6EE-EF880C51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分配器的思路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CD2CB-3A7E-AA4A-BC26-A0DE1D742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观察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操作系统频繁分配的对象大小相对比较固定</a:t>
            </a:r>
            <a:endParaRPr kumimoji="1" lang="en-US" altLang="zh-CN" dirty="0"/>
          </a:p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从伙伴系统获得大块内存（名为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对每份大块内存进一步细分成固定大小的小块内存进行管理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块的大小通常是 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 </a:t>
            </a:r>
            <a:r>
              <a:rPr kumimoji="1" lang="zh-CN" altLang="en-US" dirty="0"/>
              <a:t>个字节（一般来说，</a:t>
            </a:r>
            <a:r>
              <a:rPr kumimoji="1" lang="en-US" altLang="zh-CN" dirty="0"/>
              <a:t>3 ⩽ n &lt; 12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也可为特定数据结构增加特殊大小的块，从而减小内部碎片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A68EB2-4ADC-4A49-95B7-6E84A7DE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961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BBC4B-0A06-CF41-8129-4C7C5647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79D37-8022-714B-8D3C-8010EC817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C00000"/>
                </a:solidFill>
              </a:rPr>
              <a:t>只分配固定大小块</a:t>
            </a:r>
            <a:endParaRPr kumimoji="1" lang="en-US" altLang="zh-CN" sz="2400" dirty="0"/>
          </a:p>
          <a:p>
            <a:r>
              <a:rPr kumimoji="1" lang="zh-CN" altLang="en-US" sz="2400" dirty="0"/>
              <a:t>对于每个固定块大小，</a:t>
            </a:r>
            <a:r>
              <a:rPr kumimoji="1" lang="en-US" altLang="zh-CN" sz="2400" dirty="0"/>
              <a:t>SLUB </a:t>
            </a:r>
            <a:r>
              <a:rPr kumimoji="1" lang="zh-CN" altLang="en-US" sz="2400" dirty="0"/>
              <a:t>分配器都会使用独立的内存资源池进行分配</a:t>
            </a:r>
            <a:endParaRPr kumimoji="1" lang="en-US" altLang="zh-CN" sz="2400" dirty="0"/>
          </a:p>
          <a:p>
            <a:r>
              <a:rPr kumimoji="1" lang="zh-CN" altLang="en-US" sz="2400" dirty="0"/>
              <a:t>采用</a:t>
            </a:r>
            <a:r>
              <a:rPr kumimoji="1" lang="en-US" altLang="zh-CN" sz="2400" dirty="0">
                <a:solidFill>
                  <a:srgbClr val="C00000"/>
                </a:solidFill>
              </a:rPr>
              <a:t>best</a:t>
            </a:r>
            <a:r>
              <a:rPr kumimoji="1" lang="zh-CN" altLang="en-US" sz="2400" dirty="0">
                <a:solidFill>
                  <a:srgbClr val="C00000"/>
                </a:solidFill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</a:rPr>
              <a:t>fit</a:t>
            </a:r>
            <a:r>
              <a:rPr kumimoji="1" lang="zh-CN" altLang="en-US" sz="2400" dirty="0"/>
              <a:t>定位资源池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473F-1668-5B48-964E-9142EA86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CDD9B70-80F6-954F-9BD8-961227E633AB}"/>
              </a:ext>
            </a:extLst>
          </p:cNvPr>
          <p:cNvGrpSpPr/>
          <p:nvPr/>
        </p:nvGrpSpPr>
        <p:grpSpPr>
          <a:xfrm>
            <a:off x="4582248" y="2929508"/>
            <a:ext cx="4005949" cy="2063226"/>
            <a:chOff x="3230347" y="2408067"/>
            <a:chExt cx="4005949" cy="206322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4B8AB6A-33B8-EE44-A5BE-EEDEBB1BD443}"/>
                </a:ext>
              </a:extLst>
            </p:cNvPr>
            <p:cNvSpPr/>
            <p:nvPr/>
          </p:nvSpPr>
          <p:spPr>
            <a:xfrm>
              <a:off x="4355976" y="2869732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690B026-0684-D34E-A09A-3CD60CD68B0B}"/>
                </a:ext>
              </a:extLst>
            </p:cNvPr>
            <p:cNvSpPr/>
            <p:nvPr/>
          </p:nvSpPr>
          <p:spPr>
            <a:xfrm>
              <a:off x="5206134" y="2408067"/>
              <a:ext cx="1107996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资源池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099F34F-D7E2-4748-A171-7F7507D2520F}"/>
                </a:ext>
              </a:extLst>
            </p:cNvPr>
            <p:cNvSpPr/>
            <p:nvPr/>
          </p:nvSpPr>
          <p:spPr>
            <a:xfrm>
              <a:off x="4355976" y="3433564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E6D062-4128-2C46-BB58-D07EB92336C0}"/>
                </a:ext>
              </a:extLst>
            </p:cNvPr>
            <p:cNvSpPr/>
            <p:nvPr/>
          </p:nvSpPr>
          <p:spPr>
            <a:xfrm>
              <a:off x="4355976" y="4009628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5F88D2F-7AF6-2D4B-94EC-68BFFEECDC55}"/>
                </a:ext>
              </a:extLst>
            </p:cNvPr>
            <p:cNvSpPr/>
            <p:nvPr/>
          </p:nvSpPr>
          <p:spPr>
            <a:xfrm>
              <a:off x="3301007" y="2869732"/>
              <a:ext cx="98296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32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3E740A-89F9-AF4A-AE08-CEE2EBEA0984}"/>
                </a:ext>
              </a:extLst>
            </p:cNvPr>
            <p:cNvSpPr/>
            <p:nvPr/>
          </p:nvSpPr>
          <p:spPr>
            <a:xfrm>
              <a:off x="3301007" y="3433564"/>
              <a:ext cx="98296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64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877FD72-7658-8D41-8A80-293B2EA41667}"/>
                </a:ext>
              </a:extLst>
            </p:cNvPr>
            <p:cNvSpPr/>
            <p:nvPr/>
          </p:nvSpPr>
          <p:spPr>
            <a:xfrm>
              <a:off x="3230347" y="4009628"/>
              <a:ext cx="1125629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128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20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A644DD-8B79-F245-8488-E5C448CA017C}"/>
              </a:ext>
            </a:extLst>
          </p:cNvPr>
          <p:cNvSpPr/>
          <p:nvPr/>
        </p:nvSpPr>
        <p:spPr>
          <a:xfrm>
            <a:off x="1115616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4K/8K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…</a:t>
            </a:r>
            <a:r>
              <a:rPr kumimoji="1" lang="zh-CN" altLang="en-US" dirty="0"/>
              <a:t> </a:t>
            </a:r>
            <a:r>
              <a:rPr kumimoji="1" lang="en-US" altLang="zh-CN" dirty="0"/>
              <a:t>1M/2M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892019" y="1329083"/>
            <a:ext cx="7992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把从伙伴系统得到的连续物理页</a:t>
            </a:r>
            <a:r>
              <a:rPr kumimoji="1" lang="zh-CN" altLang="en-US" sz="2400" b="1" dirty="0"/>
              <a:t>划分成若干等份</a:t>
            </a:r>
            <a:r>
              <a:rPr kumimoji="1" lang="zh-CN" altLang="en-US" sz="2400" dirty="0"/>
              <a:t>（</a:t>
            </a:r>
            <a:r>
              <a:rPr kumimoji="1" lang="en-US" altLang="zh-CN" sz="2400" dirty="0"/>
              <a:t>slot</a:t>
            </a:r>
            <a:r>
              <a:rPr kumimoji="1" lang="zh-CN" altLang="en-US" sz="2400" dirty="0"/>
              <a:t>）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496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2243351" y="1232815"/>
            <a:ext cx="4801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当分配时直接分配一个空闲</a:t>
            </a:r>
            <a:r>
              <a:rPr kumimoji="1" lang="en-US" altLang="zh-CN" sz="2400" dirty="0"/>
              <a:t>slot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r>
              <a:rPr kumimoji="1" lang="zh-CN" altLang="en-US" sz="2400" b="1" dirty="0">
                <a:solidFill>
                  <a:srgbClr val="C00000"/>
                </a:solidFill>
              </a:rPr>
              <a:t>如何区分是否空闲？</a:t>
            </a:r>
            <a:r>
              <a:rPr kumimoji="1" lang="zh-CN" altLang="en-US" sz="2400" dirty="0"/>
              <a:t>采用空闲链表</a:t>
            </a:r>
            <a:endParaRPr kumimoji="1" lang="en-US" altLang="zh-CN" sz="2400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3220E8-FAA1-1846-92F9-501F834AB7A3}"/>
              </a:ext>
            </a:extLst>
          </p:cNvPr>
          <p:cNvSpPr/>
          <p:nvPr/>
        </p:nvSpPr>
        <p:spPr>
          <a:xfrm>
            <a:off x="971601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98904E-03C3-754D-A5E8-94995AC92156}"/>
              </a:ext>
            </a:extLst>
          </p:cNvPr>
          <p:cNvSpPr/>
          <p:nvPr/>
        </p:nvSpPr>
        <p:spPr>
          <a:xfrm>
            <a:off x="971601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306797-DF09-2B40-B93A-F8F62B02D4E2}"/>
              </a:ext>
            </a:extLst>
          </p:cNvPr>
          <p:cNvSpPr/>
          <p:nvPr/>
        </p:nvSpPr>
        <p:spPr>
          <a:xfrm>
            <a:off x="971601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F37443-30CF-154D-9960-8403FE61CA43}"/>
              </a:ext>
            </a:extLst>
          </p:cNvPr>
          <p:cNvSpPr/>
          <p:nvPr/>
        </p:nvSpPr>
        <p:spPr>
          <a:xfrm>
            <a:off x="971601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95EA0B-FFDF-4D49-BAF9-2BA8385058A4}"/>
              </a:ext>
            </a:extLst>
          </p:cNvPr>
          <p:cNvSpPr/>
          <p:nvPr/>
        </p:nvSpPr>
        <p:spPr>
          <a:xfrm>
            <a:off x="971601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ED1B14-693D-B946-BA0E-74D67A9AB8B2}"/>
              </a:ext>
            </a:extLst>
          </p:cNvPr>
          <p:cNvSpPr/>
          <p:nvPr/>
        </p:nvSpPr>
        <p:spPr>
          <a:xfrm>
            <a:off x="971601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7992360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7992360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012316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012316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47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8292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字节时，首先找到大小最合适的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，</a:t>
            </a:r>
            <a:endParaRPr kumimoji="1" lang="en-US" altLang="zh-CN" sz="2400" dirty="0"/>
          </a:p>
          <a:p>
            <a:r>
              <a:rPr kumimoji="1" lang="zh-CN" altLang="en-US" sz="2400" dirty="0"/>
              <a:t>取走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指向的第一个；释放时直接放回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后</a:t>
            </a:r>
            <a:endParaRPr kumimoji="1" lang="en-US" altLang="zh-CN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6136300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6136300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6136300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6136300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6136300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6136300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8260516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8260516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280472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280472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338675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338675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338675" y="275067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338675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338675" y="4363372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338675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1" name="环形箭头 30">
            <a:extLst>
              <a:ext uri="{FF2B5EF4-FFF2-40B4-BE49-F238E27FC236}">
                <a16:creationId xmlns:a16="http://schemas.microsoft.com/office/drawing/2014/main" id="{4BB57DDB-5076-7745-9647-16AC1D3242AC}"/>
              </a:ext>
            </a:extLst>
          </p:cNvPr>
          <p:cNvSpPr/>
          <p:nvPr/>
        </p:nvSpPr>
        <p:spPr>
          <a:xfrm rot="5400000">
            <a:off x="2462891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2" name="环形箭头 31">
            <a:extLst>
              <a:ext uri="{FF2B5EF4-FFF2-40B4-BE49-F238E27FC236}">
                <a16:creationId xmlns:a16="http://schemas.microsoft.com/office/drawing/2014/main" id="{FC86EA2D-4778-A04D-9D0B-8116E8CA2F5E}"/>
              </a:ext>
            </a:extLst>
          </p:cNvPr>
          <p:cNvSpPr/>
          <p:nvPr/>
        </p:nvSpPr>
        <p:spPr>
          <a:xfrm rot="5400000">
            <a:off x="2462891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3" name="环形箭头 32">
            <a:extLst>
              <a:ext uri="{FF2B5EF4-FFF2-40B4-BE49-F238E27FC236}">
                <a16:creationId xmlns:a16="http://schemas.microsoft.com/office/drawing/2014/main" id="{8364C8BB-DEBE-164D-8398-B1B3097C0DAA}"/>
              </a:ext>
            </a:extLst>
          </p:cNvPr>
          <p:cNvSpPr/>
          <p:nvPr/>
        </p:nvSpPr>
        <p:spPr>
          <a:xfrm rot="5400000">
            <a:off x="2482847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4" name="环形箭头 33">
            <a:extLst>
              <a:ext uri="{FF2B5EF4-FFF2-40B4-BE49-F238E27FC236}">
                <a16:creationId xmlns:a16="http://schemas.microsoft.com/office/drawing/2014/main" id="{1BAC3350-8852-8640-B2D2-AACCF823AEAA}"/>
              </a:ext>
            </a:extLst>
          </p:cNvPr>
          <p:cNvSpPr/>
          <p:nvPr/>
        </p:nvSpPr>
        <p:spPr>
          <a:xfrm rot="5400000">
            <a:off x="2482847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C48FEA-FD65-1A43-9725-0871D23FB8C1}"/>
              </a:ext>
            </a:extLst>
          </p:cNvPr>
          <p:cNvSpPr/>
          <p:nvPr/>
        </p:nvSpPr>
        <p:spPr>
          <a:xfrm>
            <a:off x="3255980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05DF6D-448C-7E40-8336-9CD44A7008AA}"/>
              </a:ext>
            </a:extLst>
          </p:cNvPr>
          <p:cNvSpPr/>
          <p:nvPr/>
        </p:nvSpPr>
        <p:spPr>
          <a:xfrm>
            <a:off x="3255980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8F2806-C8C9-AC44-8B59-A7DA633EE307}"/>
              </a:ext>
            </a:extLst>
          </p:cNvPr>
          <p:cNvSpPr/>
          <p:nvPr/>
        </p:nvSpPr>
        <p:spPr>
          <a:xfrm>
            <a:off x="3255980" y="275067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DB814C-A1E9-FC40-B269-6AC130525FE4}"/>
              </a:ext>
            </a:extLst>
          </p:cNvPr>
          <p:cNvSpPr/>
          <p:nvPr/>
        </p:nvSpPr>
        <p:spPr>
          <a:xfrm>
            <a:off x="3255980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7B88D21-BDC2-8D47-912D-3B5433844F24}"/>
              </a:ext>
            </a:extLst>
          </p:cNvPr>
          <p:cNvSpPr/>
          <p:nvPr/>
        </p:nvSpPr>
        <p:spPr>
          <a:xfrm>
            <a:off x="3255980" y="4363372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36FADB-A624-3C4A-B06B-639AE08A9367}"/>
              </a:ext>
            </a:extLst>
          </p:cNvPr>
          <p:cNvSpPr/>
          <p:nvPr/>
        </p:nvSpPr>
        <p:spPr>
          <a:xfrm>
            <a:off x="3255980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1" name="环形箭头 40">
            <a:extLst>
              <a:ext uri="{FF2B5EF4-FFF2-40B4-BE49-F238E27FC236}">
                <a16:creationId xmlns:a16="http://schemas.microsoft.com/office/drawing/2014/main" id="{47523D2C-6F71-014A-9EA0-BB7E4E2816C6}"/>
              </a:ext>
            </a:extLst>
          </p:cNvPr>
          <p:cNvSpPr/>
          <p:nvPr/>
        </p:nvSpPr>
        <p:spPr>
          <a:xfrm rot="5400000">
            <a:off x="5380196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2" name="环形箭头 41">
            <a:extLst>
              <a:ext uri="{FF2B5EF4-FFF2-40B4-BE49-F238E27FC236}">
                <a16:creationId xmlns:a16="http://schemas.microsoft.com/office/drawing/2014/main" id="{CF6D2539-5472-0A40-BA3E-A613446F2B79}"/>
              </a:ext>
            </a:extLst>
          </p:cNvPr>
          <p:cNvSpPr/>
          <p:nvPr/>
        </p:nvSpPr>
        <p:spPr>
          <a:xfrm rot="5400000">
            <a:off x="5380196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环形箭头 42">
            <a:extLst>
              <a:ext uri="{FF2B5EF4-FFF2-40B4-BE49-F238E27FC236}">
                <a16:creationId xmlns:a16="http://schemas.microsoft.com/office/drawing/2014/main" id="{860D2543-C372-E743-9167-081847D71275}"/>
              </a:ext>
            </a:extLst>
          </p:cNvPr>
          <p:cNvSpPr/>
          <p:nvPr/>
        </p:nvSpPr>
        <p:spPr>
          <a:xfrm rot="5400000">
            <a:off x="5400152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4" name="环形箭头 43">
            <a:extLst>
              <a:ext uri="{FF2B5EF4-FFF2-40B4-BE49-F238E27FC236}">
                <a16:creationId xmlns:a16="http://schemas.microsoft.com/office/drawing/2014/main" id="{BDA23C22-409C-FA41-90A2-08A1637A12F5}"/>
              </a:ext>
            </a:extLst>
          </p:cNvPr>
          <p:cNvSpPr/>
          <p:nvPr/>
        </p:nvSpPr>
        <p:spPr>
          <a:xfrm rot="5400000">
            <a:off x="5400152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883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CAAAE-9654-0D4F-85A4-A4F6D031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F681AC-7474-9346-BE70-3F623E80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FD82F7-B76E-054B-914E-7B47DF5EE395}"/>
              </a:ext>
            </a:extLst>
          </p:cNvPr>
          <p:cNvSpPr/>
          <p:nvPr/>
        </p:nvSpPr>
        <p:spPr>
          <a:xfrm>
            <a:off x="5652120" y="2143825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D20207-35EC-C542-A02C-A09326040E88}"/>
              </a:ext>
            </a:extLst>
          </p:cNvPr>
          <p:cNvSpPr/>
          <p:nvPr/>
        </p:nvSpPr>
        <p:spPr>
          <a:xfrm>
            <a:off x="5652120" y="213742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0ACD0D-3827-6E47-8330-41C7BFF21A38}"/>
              </a:ext>
            </a:extLst>
          </p:cNvPr>
          <p:cNvSpPr/>
          <p:nvPr/>
        </p:nvSpPr>
        <p:spPr>
          <a:xfrm>
            <a:off x="5652120" y="2583597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E4CB25-57D4-A746-BE51-53C3A7066201}"/>
              </a:ext>
            </a:extLst>
          </p:cNvPr>
          <p:cNvSpPr/>
          <p:nvPr/>
        </p:nvSpPr>
        <p:spPr>
          <a:xfrm>
            <a:off x="5652120" y="30484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F0352D-D2E0-D94C-B488-0065A05C31F2}"/>
              </a:ext>
            </a:extLst>
          </p:cNvPr>
          <p:cNvSpPr/>
          <p:nvPr/>
        </p:nvSpPr>
        <p:spPr>
          <a:xfrm>
            <a:off x="5652120" y="420059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BD2945-6E1A-8841-81EA-ABC73964E1CC}"/>
              </a:ext>
            </a:extLst>
          </p:cNvPr>
          <p:cNvSpPr/>
          <p:nvPr/>
        </p:nvSpPr>
        <p:spPr>
          <a:xfrm>
            <a:off x="5652120" y="3504893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1" name="环形箭头 10">
            <a:extLst>
              <a:ext uri="{FF2B5EF4-FFF2-40B4-BE49-F238E27FC236}">
                <a16:creationId xmlns:a16="http://schemas.microsoft.com/office/drawing/2014/main" id="{7323FB36-C997-4141-B575-27704E9AE3EF}"/>
              </a:ext>
            </a:extLst>
          </p:cNvPr>
          <p:cNvSpPr/>
          <p:nvPr/>
        </p:nvSpPr>
        <p:spPr>
          <a:xfrm rot="5400000">
            <a:off x="7506115" y="2490614"/>
            <a:ext cx="900442" cy="720000"/>
          </a:xfrm>
          <a:prstGeom prst="circularArrow">
            <a:avLst>
              <a:gd name="adj1" fmla="val 8632"/>
              <a:gd name="adj2" fmla="val 1142319"/>
              <a:gd name="adj3" fmla="val 20680748"/>
              <a:gd name="adj4" fmla="val 10800000"/>
              <a:gd name="adj5" fmla="val 12500"/>
            </a:avLst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环形箭头 12">
            <a:extLst>
              <a:ext uri="{FF2B5EF4-FFF2-40B4-BE49-F238E27FC236}">
                <a16:creationId xmlns:a16="http://schemas.microsoft.com/office/drawing/2014/main" id="{4C3999DD-767E-C44B-B37D-10FFD8BA7183}"/>
              </a:ext>
            </a:extLst>
          </p:cNvPr>
          <p:cNvSpPr/>
          <p:nvPr/>
        </p:nvSpPr>
        <p:spPr>
          <a:xfrm rot="5400000">
            <a:off x="7796292" y="386324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" name="环形箭头 13">
            <a:extLst>
              <a:ext uri="{FF2B5EF4-FFF2-40B4-BE49-F238E27FC236}">
                <a16:creationId xmlns:a16="http://schemas.microsoft.com/office/drawing/2014/main" id="{BCB52FEB-547A-2149-8F99-145D2447849A}"/>
              </a:ext>
            </a:extLst>
          </p:cNvPr>
          <p:cNvSpPr/>
          <p:nvPr/>
        </p:nvSpPr>
        <p:spPr>
          <a:xfrm rot="5400000">
            <a:off x="7796292" y="317522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6D9B65-3835-E140-A793-2C88C441389A}"/>
              </a:ext>
            </a:extLst>
          </p:cNvPr>
          <p:cNvSpPr txBox="1"/>
          <p:nvPr/>
        </p:nvSpPr>
        <p:spPr>
          <a:xfrm>
            <a:off x="376900" y="1566156"/>
            <a:ext cx="531587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释放时如何找到</a:t>
            </a:r>
            <a:r>
              <a:rPr kumimoji="1" lang="en-US" altLang="zh-CN" sz="2400" b="1" dirty="0" err="1">
                <a:solidFill>
                  <a:srgbClr val="C00000"/>
                </a:solidFill>
              </a:rPr>
              <a:t>Next_Free</a:t>
            </a:r>
            <a:r>
              <a:rPr kumimoji="1" lang="en-US" altLang="zh-CN" sz="2400" b="1" dirty="0">
                <a:solidFill>
                  <a:srgbClr val="C00000"/>
                </a:solidFill>
              </a:rPr>
              <a:t>?</a:t>
            </a:r>
          </a:p>
          <a:p>
            <a:r>
              <a:rPr kumimoji="1" lang="en-US" altLang="zh-CN" sz="2400" dirty="0" err="1"/>
              <a:t>kfree</a:t>
            </a:r>
            <a:r>
              <a:rPr kumimoji="1" lang="zh-CN" altLang="en-US" sz="2400" dirty="0"/>
              <a:t>（</a:t>
            </a:r>
            <a:r>
              <a:rPr kumimoji="1" lang="en-US" altLang="zh-CN" sz="2400" dirty="0"/>
              <a:t>object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提示：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的大小是固定的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思路：根据</a:t>
            </a:r>
            <a:r>
              <a:rPr kumimoji="1" lang="en-US" altLang="zh-CN" sz="2400" dirty="0"/>
              <a:t>object</a:t>
            </a:r>
            <a:r>
              <a:rPr kumimoji="1" lang="zh-CN" altLang="en-US" sz="2400" dirty="0"/>
              <a:t>地址找到当前</a:t>
            </a:r>
            <a:r>
              <a:rPr kumimoji="1" lang="en-US" altLang="zh-CN" sz="2400" dirty="0"/>
              <a:t>SLAB</a:t>
            </a:r>
          </a:p>
          <a:p>
            <a:r>
              <a:rPr kumimoji="1" lang="en-US" altLang="zh-CN" sz="2400" dirty="0"/>
              <a:t>	</a:t>
            </a:r>
            <a:r>
              <a:rPr kumimoji="1" lang="zh-CN" altLang="en-US" sz="2400" dirty="0"/>
              <a:t>的起始地址即可（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FA9FFB-158F-D84A-90E6-A91957DC1147}"/>
              </a:ext>
            </a:extLst>
          </p:cNvPr>
          <p:cNvSpPr txBox="1"/>
          <p:nvPr/>
        </p:nvSpPr>
        <p:spPr>
          <a:xfrm>
            <a:off x="6318377" y="1573726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SLAB</a:t>
            </a:r>
            <a:endParaRPr kumimoji="1"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D9931E-641F-D448-8171-5AB2C8FAF967}"/>
              </a:ext>
            </a:extLst>
          </p:cNvPr>
          <p:cNvSpPr txBox="1"/>
          <p:nvPr/>
        </p:nvSpPr>
        <p:spPr>
          <a:xfrm>
            <a:off x="376900" y="4801716"/>
            <a:ext cx="466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ADDR &amp; ~(SLAB_SIZE-1)</a:t>
            </a:r>
          </a:p>
        </p:txBody>
      </p:sp>
    </p:spTree>
    <p:extLst>
      <p:ext uri="{BB962C8B-B14F-4D97-AF65-F5344CB8AC3E}">
        <p14:creationId xmlns:p14="http://schemas.microsoft.com/office/powerpoint/2010/main" val="35845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59137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当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已经分配完怎么办？</a:t>
            </a:r>
            <a:endParaRPr kumimoji="1" lang="en-US" altLang="zh-CN" sz="2400" b="1" dirty="0">
              <a:solidFill>
                <a:srgbClr val="BD374B"/>
              </a:solidFill>
            </a:endParaRPr>
          </a:p>
          <a:p>
            <a:r>
              <a:rPr kumimoji="1" lang="zh-CN" altLang="en-US" sz="2400" dirty="0"/>
              <a:t>再从伙伴系统分配一个</a:t>
            </a:r>
            <a:r>
              <a:rPr kumimoji="1" lang="en-US" altLang="zh-CN" sz="2400" dirty="0"/>
              <a:t>SLAB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1187624" y="230179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1187624" y="229538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NULL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1187624" y="2755584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1187624" y="3206434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1187624" y="4358562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1187624" y="3662862"/>
            <a:ext cx="2304256" cy="7119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43B9F8C-8B8E-9F4D-9F1E-54776C964BAC}"/>
              </a:ext>
            </a:extLst>
          </p:cNvPr>
          <p:cNvSpPr/>
          <p:nvPr/>
        </p:nvSpPr>
        <p:spPr>
          <a:xfrm>
            <a:off x="4788024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8783CF3-1F2F-5642-8FB4-29FA6AAB6F52}"/>
              </a:ext>
            </a:extLst>
          </p:cNvPr>
          <p:cNvSpPr/>
          <p:nvPr/>
        </p:nvSpPr>
        <p:spPr>
          <a:xfrm>
            <a:off x="4788024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433B12D-9264-8F42-B5A4-85C78EA815B5}"/>
              </a:ext>
            </a:extLst>
          </p:cNvPr>
          <p:cNvSpPr/>
          <p:nvPr/>
        </p:nvSpPr>
        <p:spPr>
          <a:xfrm>
            <a:off x="4788024" y="2756627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02D72B3-D790-BC4D-BDEF-E03830708FD6}"/>
              </a:ext>
            </a:extLst>
          </p:cNvPr>
          <p:cNvSpPr/>
          <p:nvPr/>
        </p:nvSpPr>
        <p:spPr>
          <a:xfrm>
            <a:off x="4788024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D077C88-1E91-9848-B3EB-8F12A6A15F99}"/>
              </a:ext>
            </a:extLst>
          </p:cNvPr>
          <p:cNvSpPr/>
          <p:nvPr/>
        </p:nvSpPr>
        <p:spPr>
          <a:xfrm>
            <a:off x="4788024" y="437242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A6FBEB6-B564-8541-8300-18FAE16D1BC2}"/>
              </a:ext>
            </a:extLst>
          </p:cNvPr>
          <p:cNvSpPr/>
          <p:nvPr/>
        </p:nvSpPr>
        <p:spPr>
          <a:xfrm>
            <a:off x="4788024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1" name="环形箭头 50">
            <a:extLst>
              <a:ext uri="{FF2B5EF4-FFF2-40B4-BE49-F238E27FC236}">
                <a16:creationId xmlns:a16="http://schemas.microsoft.com/office/drawing/2014/main" id="{9C86F8DD-B743-DE48-B942-7D69547DCD94}"/>
              </a:ext>
            </a:extLst>
          </p:cNvPr>
          <p:cNvSpPr/>
          <p:nvPr/>
        </p:nvSpPr>
        <p:spPr>
          <a:xfrm rot="5400000">
            <a:off x="6912240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2" name="环形箭头 51">
            <a:extLst>
              <a:ext uri="{FF2B5EF4-FFF2-40B4-BE49-F238E27FC236}">
                <a16:creationId xmlns:a16="http://schemas.microsoft.com/office/drawing/2014/main" id="{0447D5EF-2CA7-654A-ABBA-C8961F78CDF0}"/>
              </a:ext>
            </a:extLst>
          </p:cNvPr>
          <p:cNvSpPr/>
          <p:nvPr/>
        </p:nvSpPr>
        <p:spPr>
          <a:xfrm rot="5400000">
            <a:off x="6912240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环形箭头 52">
            <a:extLst>
              <a:ext uri="{FF2B5EF4-FFF2-40B4-BE49-F238E27FC236}">
                <a16:creationId xmlns:a16="http://schemas.microsoft.com/office/drawing/2014/main" id="{1179E3E5-3ABE-7943-A141-1FC4E54D1C4B}"/>
              </a:ext>
            </a:extLst>
          </p:cNvPr>
          <p:cNvSpPr/>
          <p:nvPr/>
        </p:nvSpPr>
        <p:spPr>
          <a:xfrm rot="5400000">
            <a:off x="6932196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4" name="环形箭头 53">
            <a:extLst>
              <a:ext uri="{FF2B5EF4-FFF2-40B4-BE49-F238E27FC236}">
                <a16:creationId xmlns:a16="http://schemas.microsoft.com/office/drawing/2014/main" id="{5E49A63F-B49C-9E49-A32F-1E7ABCEB080F}"/>
              </a:ext>
            </a:extLst>
          </p:cNvPr>
          <p:cNvSpPr/>
          <p:nvPr/>
        </p:nvSpPr>
        <p:spPr>
          <a:xfrm rot="5400000">
            <a:off x="6932196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99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0A0FB-5366-F148-889C-06D9F832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F788D-31E5-4949-977B-F9365A99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443DD-4CC7-734D-A298-73288C79E855}"/>
              </a:ext>
            </a:extLst>
          </p:cNvPr>
          <p:cNvSpPr txBox="1"/>
          <p:nvPr/>
        </p:nvSpPr>
        <p:spPr>
          <a:xfrm>
            <a:off x="579561" y="1243716"/>
            <a:ext cx="6837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如何组织多个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？</a:t>
            </a:r>
            <a:r>
              <a:rPr kumimoji="1" lang="zh-CN" altLang="en-US" sz="2400" dirty="0"/>
              <a:t>引入两个指针</a:t>
            </a:r>
            <a:endParaRPr kumimoji="1" lang="en-US" altLang="zh-CN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FF71339-3570-6F48-96D5-26DA79F21EF3}"/>
              </a:ext>
            </a:extLst>
          </p:cNvPr>
          <p:cNvGrpSpPr/>
          <p:nvPr/>
        </p:nvGrpSpPr>
        <p:grpSpPr>
          <a:xfrm>
            <a:off x="1475656" y="2281436"/>
            <a:ext cx="1584176" cy="2533886"/>
            <a:chOff x="1403648" y="2275031"/>
            <a:chExt cx="1584176" cy="253388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6CF6479-317D-A24C-BBE1-086A06158C20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14BC889-1687-F142-8871-952C82AF5CE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1DA01A5-DFB4-604D-8618-46D239F205CB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942A9CC-6C05-8E43-A453-050523D1A9D9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C5E0A9A-069C-F842-A569-7951A327E47F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635C13E-5EBD-B043-B034-EAA6F26A31D4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9DD6521-DA10-4348-A624-3A65563BC897}"/>
              </a:ext>
            </a:extLst>
          </p:cNvPr>
          <p:cNvSpPr txBox="1"/>
          <p:nvPr/>
        </p:nvSpPr>
        <p:spPr>
          <a:xfrm>
            <a:off x="107504" y="209677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Current</a:t>
            </a:r>
            <a:r>
              <a:rPr kumimoji="1" lang="zh-CN" altLang="en-US" dirty="0"/>
              <a:t>指针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21773021-9308-9448-929C-00C96A29D5B1}"/>
              </a:ext>
            </a:extLst>
          </p:cNvPr>
          <p:cNvCxnSpPr/>
          <p:nvPr/>
        </p:nvCxnSpPr>
        <p:spPr>
          <a:xfrm>
            <a:off x="59884" y="2491025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6635CEC-C462-3940-945E-BE0C49A28383}"/>
              </a:ext>
            </a:extLst>
          </p:cNvPr>
          <p:cNvGrpSpPr/>
          <p:nvPr/>
        </p:nvGrpSpPr>
        <p:grpSpPr>
          <a:xfrm>
            <a:off x="4763636" y="2281436"/>
            <a:ext cx="1584176" cy="2533886"/>
            <a:chOff x="1403648" y="2275031"/>
            <a:chExt cx="1584176" cy="253388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7845C22-FE76-514E-802B-957C11191A82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1B1AD6-86BF-BD4F-B347-FF3F4EC12CF6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F62E54-A21F-9E48-9A52-65BADEA485F8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E564427-948D-8147-A304-09B1A2404552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477CFE3-3EA2-A640-835A-60850EA72C1A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5D62326-7BC8-F44B-9811-96AE508EA0F6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66371463-86CC-4F4C-9C66-8959C7564CE6}"/>
              </a:ext>
            </a:extLst>
          </p:cNvPr>
          <p:cNvSpPr txBox="1"/>
          <p:nvPr/>
        </p:nvSpPr>
        <p:spPr>
          <a:xfrm>
            <a:off x="3487668" y="2128128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Partial</a:t>
            </a:r>
            <a:r>
              <a:rPr kumimoji="1" lang="zh-CN" altLang="en-US" dirty="0"/>
              <a:t>指针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247C651-42DD-3849-BE33-193F9C690E05}"/>
              </a:ext>
            </a:extLst>
          </p:cNvPr>
          <p:cNvCxnSpPr/>
          <p:nvPr/>
        </p:nvCxnSpPr>
        <p:spPr>
          <a:xfrm>
            <a:off x="6347812" y="2641476"/>
            <a:ext cx="684000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08385A-8B93-A84F-B8FB-B003314FDA45}"/>
              </a:ext>
            </a:extLst>
          </p:cNvPr>
          <p:cNvGrpSpPr/>
          <p:nvPr/>
        </p:nvGrpSpPr>
        <p:grpSpPr>
          <a:xfrm>
            <a:off x="7020272" y="2287841"/>
            <a:ext cx="1584176" cy="2533886"/>
            <a:chOff x="1403648" y="2275031"/>
            <a:chExt cx="1584176" cy="253388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25B6C9D-275D-1A4E-AFE9-89A809270456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0CD53C3-3BF5-BC41-BC02-32471470847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1D42164-36BC-5642-AF6A-804B5F335BBD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A99F9CB-AE3D-D84E-9B89-5513D835ADC8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AF44BA1-E334-1E4C-9ACC-0A6C07F21F47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91BC7A1-860B-5247-AD06-E3B08F2E261B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5DF26187-316D-5349-93EB-11C909BC32AA}"/>
              </a:ext>
            </a:extLst>
          </p:cNvPr>
          <p:cNvCxnSpPr/>
          <p:nvPr/>
        </p:nvCxnSpPr>
        <p:spPr>
          <a:xfrm>
            <a:off x="3347864" y="2486500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7310D69-99DB-DA49-8D6D-178D20FC645D}"/>
              </a:ext>
            </a:extLst>
          </p:cNvPr>
          <p:cNvSpPr txBox="1"/>
          <p:nvPr/>
        </p:nvSpPr>
        <p:spPr>
          <a:xfrm>
            <a:off x="210344" y="4942909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Current</a:t>
            </a:r>
            <a:r>
              <a:rPr kumimoji="1" lang="zh-CN" altLang="en-US" dirty="0"/>
              <a:t>指向一个</a:t>
            </a:r>
            <a:r>
              <a:rPr kumimoji="1" lang="en-US" altLang="zh-CN" dirty="0"/>
              <a:t>SLAB</a:t>
            </a:r>
            <a:r>
              <a:rPr kumimoji="1" lang="zh-CN" altLang="en-US" b="1" dirty="0">
                <a:solidFill>
                  <a:srgbClr val="C00000"/>
                </a:solidFill>
              </a:rPr>
              <a:t>并从其中分配；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en-US" altLang="zh-CN" dirty="0"/>
              <a:t>Current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Partial</a:t>
            </a:r>
            <a:r>
              <a:rPr kumimoji="1" lang="zh-CN" altLang="en-US" dirty="0"/>
              <a:t>之间的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移动</a:t>
            </a:r>
            <a:endParaRPr kumimoji="1" lang="en-US" altLang="zh-CN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1FFA4B4-B215-1F48-9C60-374A5282A223}"/>
              </a:ext>
            </a:extLst>
          </p:cNvPr>
          <p:cNvSpPr txBox="1"/>
          <p:nvPr/>
        </p:nvSpPr>
        <p:spPr>
          <a:xfrm>
            <a:off x="4427984" y="4959530"/>
            <a:ext cx="4067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释放</a:t>
            </a:r>
            <a:r>
              <a:rPr kumimoji="1" lang="zh-CN" altLang="en-US" dirty="0"/>
              <a:t>到对应的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r>
              <a:rPr kumimoji="1" lang="zh-CN" altLang="en-US" dirty="0"/>
              <a:t>若某个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全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则可还给伙伴系统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08141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A84B0FA-798F-5E43-867A-CAD7A37FC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513" y="-87459"/>
            <a:ext cx="6282503" cy="5715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681635C-BABC-494C-B19B-C38EC2D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总体来看</a:t>
            </a:r>
            <a:r>
              <a:rPr kumimoji="1" lang="en-US" altLang="zh-CN" dirty="0"/>
              <a:t>SLUB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AE8DD-841B-D243-A68C-3DB7090F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95B56-74AD-8A4D-8079-919EF0CBE219}"/>
              </a:ext>
            </a:extLst>
          </p:cNvPr>
          <p:cNvSpPr txBox="1"/>
          <p:nvPr/>
        </p:nvSpPr>
        <p:spPr>
          <a:xfrm>
            <a:off x="6244604" y="245304"/>
            <a:ext cx="2899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从伙伴系统获得的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物理内存块称为 </a:t>
            </a:r>
            <a:r>
              <a:rPr kumimoji="1" lang="en-US" altLang="zh-CN" dirty="0">
                <a:solidFill>
                  <a:srgbClr val="C00000"/>
                </a:solidFill>
              </a:rPr>
              <a:t>slab</a:t>
            </a:r>
          </a:p>
          <a:p>
            <a:pPr marL="285750" indent="-285750">
              <a:buFontTx/>
              <a:buChar char="-"/>
            </a:pP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Slab</a:t>
            </a:r>
            <a:r>
              <a:rPr kumimoji="1" lang="zh-CN" altLang="en-US" dirty="0">
                <a:solidFill>
                  <a:srgbClr val="C00000"/>
                </a:solidFill>
              </a:rPr>
              <a:t>内部组织为空闲链表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AEF8FF-EBCD-CE43-BA24-ED2D3B505FF0}"/>
              </a:ext>
            </a:extLst>
          </p:cNvPr>
          <p:cNvSpPr txBox="1"/>
          <p:nvPr/>
        </p:nvSpPr>
        <p:spPr>
          <a:xfrm>
            <a:off x="0" y="1449077"/>
            <a:ext cx="295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三个指针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current</a:t>
            </a:r>
            <a:r>
              <a:rPr kumimoji="1" lang="zh-CN" altLang="en-US" dirty="0"/>
              <a:t>仅指向一个 </a:t>
            </a:r>
            <a:r>
              <a:rPr kumimoji="1" lang="en-US" altLang="zh-CN" dirty="0"/>
              <a:t>slab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partial</a:t>
            </a:r>
            <a:r>
              <a:rPr kumimoji="1" lang="zh-CN" altLang="en-US" dirty="0"/>
              <a:t>指向未满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链表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full</a:t>
            </a:r>
            <a:r>
              <a:rPr kumimoji="1" lang="zh-CN" altLang="en-US" dirty="0"/>
              <a:t>指向全满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链表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43843-3818-FA4D-A99F-6FC778A33167}"/>
              </a:ext>
            </a:extLst>
          </p:cNvPr>
          <p:cNvSpPr txBox="1"/>
          <p:nvPr/>
        </p:nvSpPr>
        <p:spPr>
          <a:xfrm>
            <a:off x="251520" y="3873215"/>
            <a:ext cx="40679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分配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current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slab</a:t>
            </a:r>
          </a:p>
          <a:p>
            <a:pPr marL="742950" lvl="1" indent="-285750">
              <a:buFontTx/>
              <a:buChar char="-"/>
            </a:pPr>
            <a:r>
              <a:rPr kumimoji="1" lang="zh-CN" altLang="en-US" dirty="0"/>
              <a:t>若满发生两个移动</a:t>
            </a:r>
            <a:endParaRPr kumimoji="1" lang="en-US" altLang="zh-CN" dirty="0"/>
          </a:p>
          <a:p>
            <a:pPr marL="742950" lvl="1" indent="-285750">
              <a:buFontTx/>
              <a:buChar char="-"/>
            </a:pPr>
            <a:endParaRPr kumimoji="1" lang="en-US" altLang="zh-CN" dirty="0"/>
          </a:p>
          <a:p>
            <a:r>
              <a:rPr kumimoji="1" lang="zh-CN" altLang="en-US" b="1" dirty="0">
                <a:solidFill>
                  <a:srgbClr val="C00000"/>
                </a:solidFill>
              </a:rPr>
              <a:t>释放</a:t>
            </a:r>
            <a:r>
              <a:rPr kumimoji="1" lang="zh-CN" altLang="en-US" dirty="0"/>
              <a:t>到对应的</a:t>
            </a:r>
            <a:r>
              <a:rPr kumimoji="1" lang="en-US" altLang="zh-CN" dirty="0"/>
              <a:t>slab</a:t>
            </a:r>
          </a:p>
          <a:p>
            <a:pPr marL="742950" lvl="1" indent="-285750">
              <a:buFontTx/>
              <a:buChar char="-"/>
            </a:pPr>
            <a:r>
              <a:rPr kumimoji="1" lang="zh-CN" altLang="en-US" dirty="0"/>
              <a:t>移动 </a:t>
            </a:r>
            <a:r>
              <a:rPr kumimoji="1" lang="en-US" altLang="zh-CN" dirty="0"/>
              <a:t>full</a:t>
            </a:r>
            <a:r>
              <a:rPr kumimoji="1" lang="zh-CN" altLang="en-US" dirty="0"/>
              <a:t> 到 </a:t>
            </a:r>
            <a:r>
              <a:rPr kumimoji="1" lang="en-US" altLang="zh-CN" dirty="0"/>
              <a:t>partial</a:t>
            </a:r>
          </a:p>
          <a:p>
            <a:pPr marL="742950" lvl="1" indent="-285750">
              <a:buFontTx/>
              <a:buChar char="-"/>
            </a:pPr>
            <a:r>
              <a:rPr kumimoji="1" lang="zh-CN" altLang="en-US" dirty="0"/>
              <a:t>若</a:t>
            </a:r>
            <a:r>
              <a:rPr kumimoji="1" lang="en-US" altLang="zh-CN" dirty="0"/>
              <a:t>partial</a:t>
            </a:r>
            <a:r>
              <a:rPr kumimoji="1" lang="zh-CN" altLang="en-US" dirty="0"/>
              <a:t>全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则还给伙伴系统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7697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855ED-A6A0-5B48-A3CC-1A3D352F4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内存分配器小结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6115E9-8E78-EF4B-8FA5-DC0B7122D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伙伴系统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分配单个或连续的物理页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有效解决外部碎片问题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思考：分配效率？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SLUB</a:t>
            </a:r>
          </a:p>
          <a:p>
            <a:pPr lvl="1"/>
            <a:r>
              <a:rPr kumimoji="1" lang="zh-CN" altLang="en-US" dirty="0"/>
              <a:t>分配比页小的内存请求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有效解决内部碎片问题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思考：分配效率？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51CDA9-59DD-1445-B6F9-521AA972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306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E55ED-1522-BA41-B8CF-8460A8F3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换页策略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CC9E35-904A-0442-8514-F3947DA9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Swap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3F6133-4985-2546-92B4-EC8317DB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999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03C28-A504-0343-9DF6-3FE1C64E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理想的换页策略（</a:t>
            </a:r>
            <a:r>
              <a:rPr kumimoji="1" lang="en-US" altLang="zh-CN" dirty="0"/>
              <a:t>OPT</a:t>
            </a:r>
            <a:r>
              <a:rPr kumimoji="1" lang="zh-CN" altLang="en-US" dirty="0"/>
              <a:t>策略）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D819CB5-2F0D-5F41-99EF-028DA77FE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23" y="3044816"/>
            <a:ext cx="8817354" cy="210632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0AB3B-A95C-C440-932B-DF0557EB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0A2E6A-7A1C-2D46-ADC1-3317641510BE}"/>
              </a:ext>
            </a:extLst>
          </p:cNvPr>
          <p:cNvSpPr txBox="1"/>
          <p:nvPr/>
        </p:nvSpPr>
        <p:spPr>
          <a:xfrm>
            <a:off x="251520" y="1417340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+mn-ea"/>
              </a:rPr>
              <a:t>假设物理内存中可以存放三个物理页，初始为空，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某应用程序一共需要访问物理页面 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～</a:t>
            </a:r>
            <a:r>
              <a:rPr kumimoji="1" lang="en-US" altLang="zh-CN" sz="2000" dirty="0">
                <a:latin typeface="+mn-ea"/>
              </a:rPr>
              <a:t>5</a:t>
            </a:r>
            <a:endParaRPr kumimoji="1" lang="zh-CN" altLang="en-US" sz="2000" dirty="0">
              <a:latin typeface="+mn-ea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F40A5D7-A487-AC49-987A-D2F10F35E202}"/>
              </a:ext>
            </a:extLst>
          </p:cNvPr>
          <p:cNvCxnSpPr>
            <a:cxnSpLocks/>
          </p:cNvCxnSpPr>
          <p:nvPr/>
        </p:nvCxnSpPr>
        <p:spPr>
          <a:xfrm>
            <a:off x="323528" y="2929508"/>
            <a:ext cx="849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362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FIFO</a:t>
            </a:r>
            <a:r>
              <a:rPr kumimoji="1" lang="zh-CN" altLang="en-US" dirty="0"/>
              <a:t>策略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D0E10B5-FD62-7448-B0B9-D5D7424C8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7" y="2980703"/>
            <a:ext cx="8976485" cy="225306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2926482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6340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+mn-ea"/>
              </a:rPr>
              <a:t>操作系统维护一个队列用于记录换入内存的物理页号，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每换入一个物理页就把其页号加到队尾，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因此最先换进的物理页号总是处于队头位置</a:t>
            </a:r>
          </a:p>
        </p:txBody>
      </p:sp>
    </p:spTree>
    <p:extLst>
      <p:ext uri="{BB962C8B-B14F-4D97-AF65-F5344CB8AC3E}">
        <p14:creationId xmlns:p14="http://schemas.microsoft.com/office/powerpoint/2010/main" val="946702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29B1E-7915-A845-8D58-8000DB09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Belady’s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Anomaly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B951E-4CC2-334F-851C-007ACC990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访问顺序：</a:t>
            </a:r>
            <a:r>
              <a:rPr kumimoji="1" lang="en-US" altLang="zh-CN" dirty="0"/>
              <a:t>1, 2, 3, 4, 1, 2, 5, 1, 2, 3, 4, 5</a:t>
            </a:r>
          </a:p>
          <a:p>
            <a:pPr lvl="1"/>
            <a:r>
              <a:rPr kumimoji="1" lang="en" altLang="zh-CN" dirty="0"/>
              <a:t>3</a:t>
            </a:r>
            <a:r>
              <a:rPr kumimoji="1" lang="zh-CN" altLang="en" dirty="0"/>
              <a:t>个物理</a:t>
            </a:r>
            <a:r>
              <a:rPr kumimoji="1" lang="zh-CN" altLang="en-US" dirty="0"/>
              <a:t>页：</a:t>
            </a:r>
            <a:r>
              <a:rPr kumimoji="1" lang="en" altLang="zh-CN" dirty="0"/>
              <a:t>9</a:t>
            </a:r>
            <a:r>
              <a:rPr kumimoji="1" lang="zh-CN" altLang="en" dirty="0"/>
              <a:t>次</a:t>
            </a:r>
            <a:r>
              <a:rPr kumimoji="1" lang="en" altLang="zh-CN" dirty="0"/>
              <a:t>page faults</a:t>
            </a:r>
          </a:p>
          <a:p>
            <a:pPr lvl="1"/>
            <a:r>
              <a:rPr kumimoji="1" lang="en" altLang="zh-CN" dirty="0"/>
              <a:t>4</a:t>
            </a:r>
            <a:r>
              <a:rPr kumimoji="1" lang="zh-CN" altLang="en" dirty="0"/>
              <a:t>个物理页</a:t>
            </a:r>
            <a:r>
              <a:rPr kumimoji="1" lang="en" altLang="zh-CN" dirty="0"/>
              <a:t>: 10</a:t>
            </a:r>
            <a:r>
              <a:rPr kumimoji="1" lang="zh-CN" altLang="en" dirty="0"/>
              <a:t>次</a:t>
            </a:r>
            <a:r>
              <a:rPr kumimoji="1" lang="en" altLang="zh-CN" dirty="0"/>
              <a:t>page faults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DE149-5FEC-1F46-BA87-549C33DD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5CE9FC-CA46-8740-99C1-B60072684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060761"/>
            <a:ext cx="4023828" cy="264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46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Chance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79977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+mn-ea"/>
              </a:rPr>
              <a:t>FIFO </a:t>
            </a:r>
            <a:r>
              <a:rPr kumimoji="1" lang="zh-CN" altLang="en-US" sz="2000" dirty="0">
                <a:latin typeface="+mn-ea"/>
              </a:rPr>
              <a:t>策略的一种改进版本：为每一个物理页号维护一个访问标志位。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如果访问的页面号已经处在队列中，则置上其访问标志位。</a:t>
            </a:r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>
                <a:latin typeface="+mn-ea"/>
              </a:rPr>
              <a:t>换页时查看队头：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）无标志则换出；</a:t>
            </a:r>
            <a:br>
              <a:rPr kumimoji="1" lang="en-US" altLang="zh-CN" sz="2000" dirty="0">
                <a:latin typeface="+mn-ea"/>
              </a:rPr>
            </a:br>
            <a:r>
              <a:rPr kumimoji="1" lang="en-US" altLang="zh-CN" sz="2000" dirty="0">
                <a:latin typeface="+mn-ea"/>
              </a:rPr>
              <a:t>2</a:t>
            </a:r>
            <a:r>
              <a:rPr kumimoji="1" lang="zh-CN" altLang="en-US" sz="2000" dirty="0">
                <a:latin typeface="+mn-ea"/>
              </a:rPr>
              <a:t>）有标志则去除标志放入队尾，继续寻找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5E2AB98-B7F0-D64A-9EE5-0AFDC9F16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56916"/>
            <a:ext cx="8712968" cy="206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50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226284"/>
            <a:ext cx="8424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维护一个链表，在每次内存访问后，</a:t>
            </a: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把刚刚访问的内存页调整到链表尾端；每次都选择换出位于链表头部的页面</a:t>
            </a:r>
            <a:endParaRPr kumimoji="1" lang="en-US" altLang="zh-CN" sz="2000" dirty="0">
              <a:latin typeface="+mn-ea"/>
            </a:endParaRPr>
          </a:p>
          <a:p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-1</a:t>
            </a:r>
            <a:r>
              <a:rPr kumimoji="1" lang="zh-CN" altLang="en-US" sz="2000" dirty="0">
                <a:latin typeface="+mn-ea"/>
              </a:rPr>
              <a:t>：对于特定的序列，效果可能非常差，如循环访问内存</a:t>
            </a:r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-2</a:t>
            </a:r>
            <a:r>
              <a:rPr kumimoji="1" lang="zh-CN" altLang="en-US" sz="2000" dirty="0">
                <a:latin typeface="+mn-ea"/>
              </a:rPr>
              <a:t>：需要排序的内存页可能非常多，导致很高的额外负载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DCF50BA-A1D9-2F45-9268-E0D960ABA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" y="3215757"/>
            <a:ext cx="8509624" cy="194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03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BEAC-3AF4-0942-84FF-CE840C8C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如何实现呢？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761C9-8300-AB41-A74E-21D830EB7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精确排序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CPU</a:t>
            </a:r>
            <a:r>
              <a:rPr kumimoji="1" lang="zh-CN" altLang="en-US" sz="2000" dirty="0"/>
              <a:t>访问某个页时，在页表项上打时间戳（</a:t>
            </a:r>
            <a:r>
              <a:rPr kumimoji="1" lang="en-US" altLang="zh-CN" sz="2000" dirty="0"/>
              <a:t>cycle</a:t>
            </a:r>
            <a:r>
              <a:rPr kumimoji="1" lang="zh-CN" altLang="en-US" sz="2000" dirty="0"/>
              <a:t>数）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OS</a:t>
            </a:r>
            <a:r>
              <a:rPr kumimoji="1" lang="zh-CN" altLang="en-US" sz="2000" dirty="0"/>
              <a:t>遍历所有内存页的页表项，根据时间戳排序</a:t>
            </a:r>
            <a:endParaRPr kumimoji="1" lang="en-US" altLang="zh-CN" sz="2000" dirty="0"/>
          </a:p>
          <a:p>
            <a:r>
              <a:rPr kumimoji="1" lang="zh-CN" altLang="en-US" sz="2400" dirty="0"/>
              <a:t>缺点：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遍历所有页表项太费时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不同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的时间戳不一定全局排序，无法保证完全精确</a:t>
            </a:r>
            <a:endParaRPr kumimoji="1" lang="en-US" altLang="zh-CN" sz="2000" dirty="0"/>
          </a:p>
          <a:p>
            <a:r>
              <a:rPr kumimoji="1" lang="zh-CN" altLang="en-US" sz="2400" dirty="0"/>
              <a:t>思路：是否可用近似的方式？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525803-09BE-C14A-8061-D79127D9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489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08939-330F-9045-AB94-CA0BF9AF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时钟算法策略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5C21E-7F72-ED47-8A42-5CEF97F22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6531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物理页环形排列（类似时钟）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当物理页被访问时，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把对应页表项的“访问位”设成</a:t>
            </a:r>
            <a:r>
              <a:rPr kumimoji="1" lang="en-US" altLang="zh-CN" sz="2000" dirty="0"/>
              <a:t>T</a:t>
            </a:r>
          </a:p>
          <a:p>
            <a:pPr lvl="1"/>
            <a:r>
              <a:rPr kumimoji="1" lang="en-US" altLang="zh-CN" sz="2000" dirty="0"/>
              <a:t>OS</a:t>
            </a:r>
            <a:r>
              <a:rPr kumimoji="1" lang="zh-CN" altLang="en-US" sz="2000" dirty="0"/>
              <a:t>依次（如顺时针）查看每个页的“访问位”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T</a:t>
            </a:r>
            <a:r>
              <a:rPr kumimoji="1" lang="zh-CN" altLang="en-US" sz="1800" dirty="0"/>
              <a:t>，则置成</a:t>
            </a:r>
            <a:r>
              <a:rPr kumimoji="1" lang="en-US" altLang="zh-CN" sz="1800" dirty="0"/>
              <a:t>F</a:t>
            </a:r>
          </a:p>
          <a:p>
            <a:pPr lvl="2"/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F</a:t>
            </a:r>
            <a:r>
              <a:rPr kumimoji="1" lang="zh-CN" altLang="en-US" sz="1800" dirty="0"/>
              <a:t>，则驱逐该页</a:t>
            </a:r>
            <a:endParaRPr kumimoji="1" lang="en-US" altLang="zh-CN" sz="18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E430A-2169-C14A-973C-7E58F068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65FE93-388E-E741-AF2E-9D0D4BEC7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087" y="2857050"/>
            <a:ext cx="412844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569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A9D19-98A3-0240-A54F-663CF820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思考具体实现案例：时钟算法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0A140-7A2B-2A43-9FB2-5E85A197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每个物理页有一个“访问位”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实际上，硬件是在页表项里面为虚拟页打上“访问位”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Recap</a:t>
            </a:r>
            <a:r>
              <a:rPr kumimoji="1" lang="zh-CN" altLang="en-US" dirty="0"/>
              <a:t>：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Flag</a:t>
            </a:r>
          </a:p>
          <a:p>
            <a:r>
              <a:rPr kumimoji="1" lang="zh-CN" altLang="en-US" dirty="0"/>
              <a:t>如何实现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为每个物理页维护元数据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当物理页被填写到某张页表中时，把页表项的位置记录在元数据中（在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中称为“反向映射”：</a:t>
            </a:r>
            <a:r>
              <a:rPr kumimoji="1" lang="en-US" altLang="zh-CN" b="1" dirty="0">
                <a:solidFill>
                  <a:srgbClr val="C00000"/>
                </a:solidFill>
              </a:rPr>
              <a:t>reverse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根据物理页对应的页表项中的“访问位”判断是否驱逐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驱逐某页时应该清空所有对应的页表项（例如共享内存）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4A2E0-2463-0F47-9E60-DD56BA69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70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页替换策略小结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常见的替换策略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FIFO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LRU/MRU</a:t>
            </a:r>
            <a:r>
              <a:rPr kumimoji="1" lang="zh-CN" altLang="en-US" sz="2000" dirty="0"/>
              <a:t>、时钟算法、随机替换 </a:t>
            </a:r>
            <a:r>
              <a:rPr kumimoji="1" lang="en-US" altLang="zh-CN" sz="2000" dirty="0"/>
              <a:t>…</a:t>
            </a:r>
          </a:p>
          <a:p>
            <a:r>
              <a:rPr kumimoji="1" lang="zh-CN" altLang="en-US" sz="2400" dirty="0"/>
              <a:t>替换策略评价标准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缺页发生的概率 （参照理想但不能实现的</a:t>
            </a:r>
            <a:r>
              <a:rPr kumimoji="1" lang="en-US" altLang="zh-CN" sz="2000" b="1" dirty="0"/>
              <a:t>OPT</a:t>
            </a:r>
            <a:r>
              <a:rPr kumimoji="1" lang="zh-CN" altLang="en-US" sz="2000" b="1" dirty="0"/>
              <a:t>策略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策略本身的性能开销</a:t>
            </a:r>
            <a:endParaRPr kumimoji="1" lang="en-US" altLang="zh-CN" sz="2000" dirty="0"/>
          </a:p>
          <a:p>
            <a:pPr lvl="2"/>
            <a:r>
              <a:rPr kumimoji="1" lang="zh-CN" altLang="en-US" sz="1800" dirty="0">
                <a:solidFill>
                  <a:srgbClr val="C00000"/>
                </a:solidFill>
              </a:rPr>
              <a:t>如何高效地记录物理页的使用情况？</a:t>
            </a:r>
            <a:endParaRPr kumimoji="1" lang="en-US" altLang="zh-CN" sz="1800" dirty="0">
              <a:solidFill>
                <a:srgbClr val="C00000"/>
              </a:solidFill>
            </a:endParaRPr>
          </a:p>
          <a:p>
            <a:pPr lvl="3"/>
            <a:r>
              <a:rPr kumimoji="1" lang="zh-CN" altLang="en-US" dirty="0">
                <a:solidFill>
                  <a:srgbClr val="C00000"/>
                </a:solidFill>
              </a:rPr>
              <a:t>页表项中</a:t>
            </a:r>
            <a:r>
              <a:rPr kumimoji="1" lang="en-US" altLang="zh-CN" dirty="0">
                <a:solidFill>
                  <a:srgbClr val="C00000"/>
                </a:solidFill>
              </a:rPr>
              <a:t>Access/Dirty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Bits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sz="2400" u="sng" dirty="0"/>
              <a:t>Thrashing</a:t>
            </a:r>
            <a:r>
              <a:rPr kumimoji="1" lang="zh-CN" altLang="en-US" sz="2400" u="sng" dirty="0"/>
              <a:t> </a:t>
            </a:r>
            <a:r>
              <a:rPr kumimoji="1" lang="en-US" altLang="zh-CN" sz="2400" u="sng" dirty="0"/>
              <a:t>Problem</a:t>
            </a:r>
          </a:p>
          <a:p>
            <a:endParaRPr kumimoji="1" lang="en-US" altLang="zh-CN" sz="2400" dirty="0"/>
          </a:p>
          <a:p>
            <a:pPr lvl="1"/>
            <a:endParaRPr kumimoji="1" lang="zh-CN" altLang="en-US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726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Thrashing 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4363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直接原因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过于频繁的缺页异常（物理内存总需求过大）</a:t>
            </a:r>
            <a:endParaRPr kumimoji="1" lang="en-US" altLang="zh-CN" sz="2000" dirty="0"/>
          </a:p>
          <a:p>
            <a:r>
              <a:rPr kumimoji="1" lang="zh-CN" altLang="en-US" sz="2400" dirty="0"/>
              <a:t>大部分 </a:t>
            </a:r>
            <a:r>
              <a:rPr kumimoji="1" lang="en-US" altLang="zh-CN" sz="2400" dirty="0"/>
              <a:t>CPU </a:t>
            </a:r>
            <a:r>
              <a:rPr kumimoji="1" lang="zh-CN" altLang="en-US" sz="2400" dirty="0"/>
              <a:t>时间都被用来处理缺页异常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等待缓慢的磁盘 </a:t>
            </a:r>
            <a:r>
              <a:rPr kumimoji="1" lang="en-US" altLang="zh-CN" sz="2000" dirty="0"/>
              <a:t>I/O </a:t>
            </a:r>
            <a:r>
              <a:rPr kumimoji="1" lang="zh-CN" altLang="en-US" sz="2000" dirty="0"/>
              <a:t>操作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仅剩小部分的时间用于执行真正有意义的工作</a:t>
            </a:r>
            <a:endParaRPr kumimoji="1" lang="en-US" altLang="zh-CN" sz="2000" dirty="0"/>
          </a:p>
          <a:p>
            <a:r>
              <a:rPr kumimoji="1" lang="zh-CN" altLang="en-US" sz="2400" dirty="0"/>
              <a:t>调度器造成问题加剧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等待磁盘 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导致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利用率下降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调度器载入更多的进程以期提高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触发更多的缺页异常、进一步降低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利用率、导致连锁反应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095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B6E9F-2A13-0046-A197-6BA255CE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工作集模型（有效避免</a:t>
            </a:r>
            <a:r>
              <a:rPr kumimoji="1" lang="en-US" altLang="zh-CN" dirty="0"/>
              <a:t>Thrashing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E9348-6A3B-5443-89FA-38B1C2A8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一个进程在时间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的工作集</a:t>
            </a:r>
            <a:r>
              <a:rPr kumimoji="1" lang="en-US" altLang="zh-CN" sz="2400" dirty="0"/>
              <a:t>W(t, x)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其在时间段（</a:t>
            </a:r>
            <a:r>
              <a:rPr kumimoji="1" lang="en-US" altLang="zh-CN" sz="2000" dirty="0"/>
              <a:t>t - x, t)</a:t>
            </a:r>
            <a:r>
              <a:rPr kumimoji="1" lang="zh-CN" altLang="en-US" sz="2000" dirty="0"/>
              <a:t>内使用的内存页集合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也被视为其在未来（下一个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时间内）会访问的页集合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如果希望进程能够顺利进展，则需要将该集合保持在内存中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lang="zh-CN" altLang="en-US" sz="2400" dirty="0"/>
              <a:t>工作集模型：</a:t>
            </a:r>
            <a:r>
              <a:rPr lang="en-US" altLang="zh-CN" sz="2400" dirty="0"/>
              <a:t>All-or-nothing</a:t>
            </a:r>
          </a:p>
          <a:p>
            <a:pPr lvl="1"/>
            <a:r>
              <a:rPr lang="zh-CN" altLang="en-US" sz="2000" dirty="0"/>
              <a:t>进程工作集要么都在内存中，要么全都换出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</a:t>
            </a:r>
            <a:r>
              <a:rPr kumimoji="1" lang="en-US" altLang="zh-CN" sz="2000" dirty="0"/>
              <a:t>thrashing</a:t>
            </a:r>
            <a:r>
              <a:rPr kumimoji="1" lang="zh-CN" altLang="en-US" sz="2000" dirty="0"/>
              <a:t>，提高系统整体性能表现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93FE9-5A36-AF46-AED4-7EA15E6E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67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7C139-7F16-5449-8D6D-55B72D00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跟踪工作集</a:t>
            </a:r>
            <a:r>
              <a:rPr kumimoji="1" lang="en-US" altLang="zh-CN" dirty="0"/>
              <a:t>w(t, x)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12CB7-F7BB-F740-83F1-67CF83A6D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5331"/>
            <a:ext cx="8229600" cy="425590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工作集时钟中断固定间隔发生，处理函数扫描内存页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中被访问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记录上次使用时间为当前时间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中未访问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当前时间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上次使用时间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若</a:t>
            </a:r>
            <a:r>
              <a:rPr kumimoji="1" lang="en-US" altLang="zh-CN" dirty="0"/>
              <a:t>Age</a:t>
            </a:r>
            <a:r>
              <a:rPr kumimoji="1" lang="zh-CN" altLang="en-US" dirty="0"/>
              <a:t>大于设置的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，则不在工作集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最后，</a:t>
            </a:r>
            <a:r>
              <a:rPr kumimoji="1" lang="en-US" altLang="zh-CN" dirty="0"/>
              <a:t>OS</a:t>
            </a:r>
            <a:r>
              <a:rPr kumimoji="1" lang="zh-CN" altLang="en-US" dirty="0"/>
              <a:t>将所有访问位清</a:t>
            </a:r>
            <a:r>
              <a:rPr kumimoji="1" lang="en-US" altLang="zh-CN" dirty="0"/>
              <a:t>0</a:t>
            </a:r>
          </a:p>
          <a:p>
            <a:pPr lvl="2"/>
            <a:r>
              <a:rPr kumimoji="1" lang="zh-CN" altLang="en-US" dirty="0"/>
              <a:t>注意：访问位由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在访问时设为</a:t>
            </a:r>
            <a:r>
              <a:rPr kumimoji="1" lang="en-US" altLang="zh-CN" dirty="0"/>
              <a:t>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E4BB1F-2EB7-6D4F-B117-72127101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199678F-1329-5C4E-A5FE-EC6F1DB12180}"/>
              </a:ext>
            </a:extLst>
          </p:cNvPr>
          <p:cNvGrpSpPr/>
          <p:nvPr/>
        </p:nvGrpSpPr>
        <p:grpSpPr>
          <a:xfrm>
            <a:off x="6745307" y="2857499"/>
            <a:ext cx="1861740" cy="399095"/>
            <a:chOff x="6228184" y="1561356"/>
            <a:chExt cx="2584421" cy="51588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BE1D32-B754-9E4E-A430-2C461C8D231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2010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E2FD075-90E7-D94F-A2D6-CB7242F0BFE0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C522E9-29D1-A349-8055-96309D80640B}"/>
              </a:ext>
            </a:extLst>
          </p:cNvPr>
          <p:cNvGrpSpPr/>
          <p:nvPr/>
        </p:nvGrpSpPr>
        <p:grpSpPr>
          <a:xfrm>
            <a:off x="6745307" y="3373386"/>
            <a:ext cx="1861740" cy="399095"/>
            <a:chOff x="6228184" y="1561356"/>
            <a:chExt cx="2584421" cy="515887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B9DA0F4-693A-A44F-A209-0D6023E805A8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2000</a:t>
              </a:r>
              <a:endParaRPr kumimoji="1"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AF4F167-BA57-C34F-801A-F8EC3B4349EA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4C3B2F-E490-754D-A2AD-0282B9A2DA7C}"/>
              </a:ext>
            </a:extLst>
          </p:cNvPr>
          <p:cNvGrpSpPr/>
          <p:nvPr/>
        </p:nvGrpSpPr>
        <p:grpSpPr>
          <a:xfrm>
            <a:off x="6745307" y="3865611"/>
            <a:ext cx="1861740" cy="399095"/>
            <a:chOff x="6228184" y="1561356"/>
            <a:chExt cx="2584421" cy="51588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FC909E3-7E96-2B43-A1E7-A477C0B97A4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1970</a:t>
              </a:r>
              <a:endParaRPr kumimoji="1"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EDC1F74-BCE4-424D-9672-A1242C26C4C2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A93198F-A072-7D40-A419-02F0FCAFC241}"/>
              </a:ext>
            </a:extLst>
          </p:cNvPr>
          <p:cNvGrpSpPr/>
          <p:nvPr/>
        </p:nvGrpSpPr>
        <p:grpSpPr>
          <a:xfrm>
            <a:off x="6745307" y="4381498"/>
            <a:ext cx="1861740" cy="399095"/>
            <a:chOff x="6228184" y="1561356"/>
            <a:chExt cx="2584421" cy="51588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37C5A40-B83E-244B-A5B3-5F961324A20D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1990</a:t>
              </a:r>
              <a:endParaRPr kumimoji="1"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8484C48-D0CE-E646-9A15-5E7A163F980C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6F8BD65-BC25-714D-ADE0-D6FF1E5A3D4A}"/>
              </a:ext>
            </a:extLst>
          </p:cNvPr>
          <p:cNvSpPr txBox="1"/>
          <p:nvPr/>
        </p:nvSpPr>
        <p:spPr>
          <a:xfrm>
            <a:off x="8100392" y="48644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访问位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B3FB72-4940-624F-8F6B-D2E9B5A5FBB0}"/>
              </a:ext>
            </a:extLst>
          </p:cNvPr>
          <p:cNvSpPr txBox="1"/>
          <p:nvPr/>
        </p:nvSpPr>
        <p:spPr>
          <a:xfrm>
            <a:off x="6602740" y="48644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上次使用时间</a:t>
            </a:r>
            <a:endParaRPr kumimoji="1"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BCACA9-8EEE-2C4F-9601-7FEAE2C62A3E}"/>
              </a:ext>
            </a:extLst>
          </p:cNvPr>
          <p:cNvSpPr txBox="1"/>
          <p:nvPr/>
        </p:nvSpPr>
        <p:spPr>
          <a:xfrm>
            <a:off x="6745307" y="2303772"/>
            <a:ext cx="18617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dirty="0"/>
              <a:t>当前时间：</a:t>
            </a:r>
            <a:r>
              <a:rPr kumimoji="1" lang="en-US" altLang="zh-CN" dirty="0"/>
              <a:t>2020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106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进程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r>
              <a:rPr lang="zh-CN" altLang="en-US"/>
              <a:t>进程的诞生和概念 </a:t>
            </a:r>
            <a:r>
              <a:rPr lang="en-US" altLang="zh-CN"/>
              <a:t>–</a:t>
            </a:r>
            <a:r>
              <a:rPr lang="zh-CN" altLang="en-US"/>
              <a:t> 进程的状态 </a:t>
            </a:r>
            <a:r>
              <a:rPr lang="en-US" altLang="zh-CN"/>
              <a:t>–</a:t>
            </a:r>
            <a:r>
              <a:rPr lang="zh-CN" altLang="en-US"/>
              <a:t> 数据结构 </a:t>
            </a:r>
            <a:r>
              <a:rPr lang="en-US" altLang="zh-CN"/>
              <a:t>–</a:t>
            </a:r>
            <a:r>
              <a:rPr lang="zh-CN" altLang="en-US"/>
              <a:t> 基本操作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920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6CD8E-E1BB-0446-BC0D-4ECD1AD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进程：运行中的程序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4A4E6-C5B5-BD46-A3C0-E6C277BCC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进程是计算机程序运行时的抽象</a:t>
            </a:r>
            <a:endParaRPr kumimoji="1" lang="en-US" altLang="zh-CN"/>
          </a:p>
          <a:p>
            <a:pPr lvl="1"/>
            <a:r>
              <a:rPr kumimoji="1" lang="zh-CN" altLang="en-US" sz="2000"/>
              <a:t>静态部分：程序运行需要的代码和数据</a:t>
            </a:r>
            <a:endParaRPr kumimoji="1" lang="en-US" altLang="zh-CN" sz="2000"/>
          </a:p>
          <a:p>
            <a:pPr lvl="1"/>
            <a:r>
              <a:rPr kumimoji="1" lang="zh-CN" altLang="en-US"/>
              <a:t>动态部分：程序运行期间的</a:t>
            </a:r>
            <a:r>
              <a:rPr kumimoji="1" lang="zh-CN" altLang="en-US">
                <a:solidFill>
                  <a:srgbClr val="C00000"/>
                </a:solidFill>
              </a:rPr>
              <a:t>状态</a:t>
            </a:r>
            <a:r>
              <a:rPr kumimoji="1" lang="zh-CN" altLang="en-US"/>
              <a:t>（程序计数器、堆、栈</a:t>
            </a:r>
            <a:r>
              <a:rPr kumimoji="1" lang="en-US" altLang="zh-CN"/>
              <a:t>……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进程具有独立的虚拟地址空间</a:t>
            </a:r>
            <a:endParaRPr kumimoji="1" lang="en-US" altLang="zh-CN"/>
          </a:p>
          <a:p>
            <a:pPr lvl="1"/>
            <a:r>
              <a:rPr kumimoji="1" lang="zh-CN" altLang="en-US"/>
              <a:t>每个进程都具有“独占全部内存”的假象</a:t>
            </a:r>
            <a:endParaRPr kumimoji="1" lang="en-US" altLang="zh-CN"/>
          </a:p>
          <a:p>
            <a:pPr lvl="1"/>
            <a:r>
              <a:rPr kumimoji="1" lang="zh-CN" altLang="en-US"/>
              <a:t>内核中同样包含内核栈和内核代码、数据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A2A54-5333-9146-981D-09D47C9A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0C4DC9-CCF6-3146-9AFC-DC4027131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341" y="2713483"/>
            <a:ext cx="1694742" cy="2970841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DA219C-341D-D64A-9C8B-9B91ED835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896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50B85-4EF8-4243-9A3B-B3C6E6F2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如何表示进程：进程控制块（</a:t>
            </a:r>
            <a:r>
              <a:rPr kumimoji="1" lang="en-US" altLang="zh-CN" dirty="0"/>
              <a:t>PCB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52001E-3A64-F94C-BFAA-337505FE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每个进程都对应一个</a:t>
            </a:r>
            <a:r>
              <a:rPr kumimoji="1" lang="zh-CN" altLang="en-US" dirty="0">
                <a:solidFill>
                  <a:schemeClr val="accent1"/>
                </a:solidFill>
              </a:rPr>
              <a:t>元数据</a:t>
            </a:r>
            <a:r>
              <a:rPr kumimoji="1" lang="zh-CN" altLang="en-US" dirty="0"/>
              <a:t>，称为“进程控制块”</a:t>
            </a:r>
            <a:r>
              <a:rPr kumimoji="1" lang="en-US" altLang="zh-CN" dirty="0"/>
              <a:t>PCB</a:t>
            </a:r>
          </a:p>
          <a:p>
            <a:pPr lvl="1"/>
            <a:r>
              <a:rPr kumimoji="1" lang="zh-CN" altLang="en-US" dirty="0"/>
              <a:t>进程控制块存储在内核态（</a:t>
            </a:r>
            <a:r>
              <a:rPr kumimoji="1" lang="zh-CN" altLang="en-US" dirty="0">
                <a:solidFill>
                  <a:srgbClr val="C00000"/>
                </a:solidFill>
              </a:rPr>
              <a:t>为什么？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想一想：进程控制块里至少应该保存哪些信息？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独立的虚拟地址空间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独立的执行上下文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37B495-2665-4640-B495-6909A1D8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45CB4C-4669-DF4B-9A91-8749C3746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3823196"/>
            <a:ext cx="3779912" cy="137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78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575E4-E948-3E40-ACAE-B982121F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简化模型：单一线程的进程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659F6-9F96-C446-9BE5-E6116976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假设每个进程都只有一个线程</a:t>
            </a:r>
            <a:endParaRPr kumimoji="1" lang="en-US" altLang="zh-CN"/>
          </a:p>
          <a:p>
            <a:pPr lvl="1"/>
            <a:r>
              <a:rPr kumimoji="1" lang="zh-CN" altLang="en-US"/>
              <a:t>历史上确实如此！（如早期的</a:t>
            </a:r>
            <a:r>
              <a:rPr kumimoji="1" lang="en-US" altLang="zh-CN"/>
              <a:t>UNIX</a:t>
            </a:r>
            <a:r>
              <a:rPr kumimoji="1" lang="zh-CN" altLang="en-US"/>
              <a:t>操作系统）</a:t>
            </a:r>
            <a:endParaRPr kumimoji="1" lang="en-US" altLang="zh-CN"/>
          </a:p>
          <a:p>
            <a:pPr marL="457200" lvl="1" indent="0">
              <a:buNone/>
            </a:pPr>
            <a:endParaRPr kumimoji="1" lang="en-US" altLang="zh-CN"/>
          </a:p>
          <a:p>
            <a:r>
              <a:rPr kumimoji="1" lang="zh-CN" altLang="en-US"/>
              <a:t>好处：便于理解操作系统中的各种概念</a:t>
            </a:r>
            <a:endParaRPr kumimoji="1" lang="en-US" altLang="zh-CN"/>
          </a:p>
          <a:p>
            <a:pPr lvl="1"/>
            <a:r>
              <a:rPr kumimoji="1" lang="zh-CN" altLang="en-US"/>
              <a:t>多线程使操作系统的管理更加复杂</a:t>
            </a:r>
            <a:endParaRPr kumimoji="1" lang="en-US" altLang="zh-CN"/>
          </a:p>
          <a:p>
            <a:pPr lvl="1"/>
            <a:r>
              <a:rPr kumimoji="1" lang="zh-CN" altLang="en-US"/>
              <a:t>在单一线程的进程中：线程管理／调度 ≈ 进程管理／调度</a:t>
            </a:r>
            <a:endParaRPr kumimoji="1" lang="en-US" altLang="zh-CN"/>
          </a:p>
          <a:p>
            <a:pPr lvl="1"/>
            <a:r>
              <a:rPr kumimoji="1" lang="zh-CN" altLang="en-US"/>
              <a:t>线程的内容将在后面介绍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8D47F0-6A51-564E-BF26-A63DCD3D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45D819-4063-0F43-BFF3-53E95EA1C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8267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4EFA2-4AA3-B84A-84BA-81CB7640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进程管理：即管理进程的生命周期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959D77-A05A-5E44-9B7F-957D086E7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进程自创建到终止可经历多个过程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称为进程</a:t>
            </a:r>
            <a:r>
              <a:rPr kumimoji="1" lang="zh-CN" altLang="en-US" b="1" dirty="0"/>
              <a:t>状态</a:t>
            </a:r>
            <a:endParaRPr kumimoji="1" lang="en-US" altLang="zh-CN" dirty="0"/>
          </a:p>
          <a:p>
            <a:r>
              <a:rPr kumimoji="1" lang="zh-CN" altLang="en-US" dirty="0"/>
              <a:t>不同的系统调用和事件会影响进程的状态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2EFC2F-99BB-0B40-BB21-637F9EB5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D69932-E70D-2C43-9A5D-D10B5E0C4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896121"/>
            <a:ext cx="6228184" cy="262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66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0C682-BC5A-D345-9F75-39F8CB4C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进程创建：</a:t>
            </a:r>
            <a:r>
              <a:rPr kumimoji="1" lang="en-US" altLang="zh-CN"/>
              <a:t>fork()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B560C6-76A5-2449-8EBC-902ECA85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语义：为调用进程创建一个一模一样的新进程</a:t>
            </a:r>
            <a:endParaRPr kumimoji="1" lang="en-US" altLang="zh-CN"/>
          </a:p>
          <a:p>
            <a:pPr lvl="1"/>
            <a:r>
              <a:rPr kumimoji="1" lang="zh-CN" altLang="en-US"/>
              <a:t>调用进程为</a:t>
            </a:r>
            <a:r>
              <a:rPr kumimoji="1" lang="zh-CN" altLang="en-US" b="1"/>
              <a:t>父进程</a:t>
            </a:r>
            <a:r>
              <a:rPr kumimoji="1" lang="zh-CN" altLang="en-US"/>
              <a:t>，新进程为</a:t>
            </a:r>
            <a:r>
              <a:rPr kumimoji="1" lang="zh-CN" altLang="en-US" b="1"/>
              <a:t>子进程</a:t>
            </a:r>
            <a:endParaRPr kumimoji="1" lang="en-US" altLang="zh-CN" b="1"/>
          </a:p>
          <a:p>
            <a:pPr lvl="1"/>
            <a:r>
              <a:rPr kumimoji="1" lang="zh-CN" altLang="en-US"/>
              <a:t>接口简单，无需任何参数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fork</a:t>
            </a:r>
            <a:r>
              <a:rPr kumimoji="1" lang="zh-CN" altLang="en-US"/>
              <a:t>后的两个进程均为独立进程</a:t>
            </a:r>
            <a:endParaRPr kumimoji="1" lang="en-US" altLang="zh-CN"/>
          </a:p>
          <a:p>
            <a:pPr lvl="1"/>
            <a:r>
              <a:rPr kumimoji="1" lang="zh-CN" altLang="en-US"/>
              <a:t>拥有不同的进程</a:t>
            </a:r>
            <a:r>
              <a:rPr kumimoji="1" lang="en-US" altLang="zh-CN"/>
              <a:t>id</a:t>
            </a:r>
          </a:p>
          <a:p>
            <a:pPr lvl="1"/>
            <a:r>
              <a:rPr kumimoji="1" lang="zh-CN" altLang="en-US"/>
              <a:t>可以并行执行，互不干扰（除非使用特定的接口）</a:t>
            </a:r>
            <a:endParaRPr kumimoji="1" lang="en-US" altLang="zh-CN"/>
          </a:p>
          <a:p>
            <a:pPr lvl="1"/>
            <a:r>
              <a:rPr kumimoji="1" lang="zh-CN" altLang="en-US"/>
              <a:t>父进程和子进程会共享部分数据结构（内存、文件等）</a:t>
            </a:r>
            <a:endParaRPr kumimoji="1" lang="en-US" altLang="zh-CN"/>
          </a:p>
          <a:p>
            <a:pPr lvl="1"/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47B83-6E4B-7D49-86B2-D319DDF7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5B65D-171F-2B44-A426-C59D8DAF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312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27393-7C96-E94D-8CD5-7DFC5FF9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进程树与进程组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F84A1-525B-3540-A799-D97F5A75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/>
              <a:t>fork</a:t>
            </a:r>
            <a:r>
              <a:rPr kumimoji="1" lang="zh-CN" altLang="en-US"/>
              <a:t>为进程之间建立了父进程和子进程的关系</a:t>
            </a:r>
            <a:endParaRPr kumimoji="1" lang="en-US" altLang="zh-CN"/>
          </a:p>
          <a:p>
            <a:pPr lvl="1"/>
            <a:r>
              <a:rPr kumimoji="1" lang="zh-CN" altLang="en-US"/>
              <a:t>进程之间建立了树型结构</a:t>
            </a:r>
            <a:endParaRPr kumimoji="1" lang="en-US" altLang="zh-CN"/>
          </a:p>
          <a:p>
            <a:pPr lvl="1"/>
            <a:r>
              <a:rPr kumimoji="1" lang="en-US" altLang="zh-CN"/>
              <a:t>Linux</a:t>
            </a:r>
            <a:r>
              <a:rPr kumimoji="1" lang="zh-CN" altLang="en-US"/>
              <a:t>可使用</a:t>
            </a:r>
            <a:r>
              <a:rPr kumimoji="1" lang="en-US" altLang="zh-CN"/>
              <a:t>ps</a:t>
            </a:r>
            <a:r>
              <a:rPr kumimoji="1" lang="zh-CN" altLang="en-US"/>
              <a:t>命令查看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多个进程可以属于同一个</a:t>
            </a:r>
            <a:r>
              <a:rPr kumimoji="1" lang="zh-CN" altLang="en-US">
                <a:solidFill>
                  <a:srgbClr val="C00000"/>
                </a:solidFill>
              </a:rPr>
              <a:t>进程组</a:t>
            </a:r>
            <a:endParaRPr kumimoji="1" lang="en-US" altLang="zh-CN"/>
          </a:p>
          <a:p>
            <a:pPr lvl="1"/>
            <a:r>
              <a:rPr kumimoji="1" lang="zh-CN" altLang="en-US"/>
              <a:t>子进程默认与父进程属于同一个进程组</a:t>
            </a:r>
            <a:endParaRPr kumimoji="1" lang="en-US" altLang="zh-CN"/>
          </a:p>
          <a:p>
            <a:pPr lvl="1"/>
            <a:r>
              <a:rPr kumimoji="1" lang="zh-CN" altLang="en-US"/>
              <a:t>可以向同一进程组中的所有进程发送信号</a:t>
            </a:r>
            <a:endParaRPr kumimoji="1" lang="en-US" altLang="zh-CN"/>
          </a:p>
          <a:p>
            <a:pPr lvl="1"/>
            <a:r>
              <a:rPr kumimoji="1" lang="zh-CN" altLang="en-US"/>
              <a:t>主要用于</a:t>
            </a:r>
            <a:r>
              <a:rPr kumimoji="1" lang="en-US" altLang="zh-CN"/>
              <a:t>shell</a:t>
            </a:r>
            <a:r>
              <a:rPr kumimoji="1" lang="zh-CN" altLang="en-US"/>
              <a:t>程序中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4E1A6-70CF-8F4B-B3E1-980467B5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26CBA0-5E92-C642-80C4-01C4F6CB2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370" y="2399640"/>
            <a:ext cx="2515259" cy="2713484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8930F1E9-43A3-5140-822D-9160F1FA63DE}"/>
              </a:ext>
            </a:extLst>
          </p:cNvPr>
          <p:cNvSpPr/>
          <p:nvPr/>
        </p:nvSpPr>
        <p:spPr>
          <a:xfrm rot="13824978">
            <a:off x="7604455" y="4141243"/>
            <a:ext cx="1489855" cy="8841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7197F3-421A-AC48-BE18-4488CD4B8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0605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BC454-D27A-1E49-AA8C-806D0FE2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进程的执行：</a:t>
            </a:r>
            <a:r>
              <a:rPr kumimoji="1" lang="en-US" altLang="zh-CN"/>
              <a:t>exec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233536-85A5-AE42-B933-8A41D93B3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为进程指定可执行文件和参数</a:t>
            </a: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在</a:t>
            </a:r>
            <a:r>
              <a:rPr kumimoji="1" lang="en-US" altLang="zh-CN"/>
              <a:t>fork</a:t>
            </a:r>
            <a:r>
              <a:rPr kumimoji="1" lang="zh-CN" altLang="en-US"/>
              <a:t>之后调用</a:t>
            </a:r>
            <a:endParaRPr kumimoji="1" lang="en-US" altLang="zh-CN"/>
          </a:p>
          <a:p>
            <a:pPr lvl="1"/>
            <a:r>
              <a:rPr kumimoji="1" lang="en-US" altLang="zh-CN"/>
              <a:t>exec</a:t>
            </a:r>
            <a:r>
              <a:rPr kumimoji="1" lang="zh-CN" altLang="en-US"/>
              <a:t>在载入可执行文件后会重置地址空间</a:t>
            </a:r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40474-802F-2748-BCF6-693CD8D4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0BBEF1-34A2-D049-9816-6ABC09E2CDD2}"/>
              </a:ext>
            </a:extLst>
          </p:cNvPr>
          <p:cNvSpPr txBox="1"/>
          <p:nvPr/>
        </p:nvSpPr>
        <p:spPr>
          <a:xfrm>
            <a:off x="826423" y="2572988"/>
            <a:ext cx="7491153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execve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char *pathname, char *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[], 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char *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envp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[]);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B278A2F-059C-3349-AF32-B133E9F6B2D2}"/>
              </a:ext>
            </a:extLst>
          </p:cNvPr>
          <p:cNvCxnSpPr>
            <a:cxnSpLocks/>
          </p:cNvCxnSpPr>
          <p:nvPr/>
        </p:nvCxnSpPr>
        <p:spPr>
          <a:xfrm>
            <a:off x="4355976" y="2381163"/>
            <a:ext cx="0" cy="26031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B80C3BB-ED82-C347-9FBD-B23D898A6BD2}"/>
              </a:ext>
            </a:extLst>
          </p:cNvPr>
          <p:cNvSpPr txBox="1"/>
          <p:nvPr/>
        </p:nvSpPr>
        <p:spPr>
          <a:xfrm>
            <a:off x="3455729" y="201183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941100"/>
                </a:solidFill>
              </a:rPr>
              <a:t>可执行文件位置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47A48777-689E-F24A-9A5B-503B907EDBD2}"/>
              </a:ext>
            </a:extLst>
          </p:cNvPr>
          <p:cNvCxnSpPr>
            <a:cxnSpLocks/>
          </p:cNvCxnSpPr>
          <p:nvPr/>
        </p:nvCxnSpPr>
        <p:spPr>
          <a:xfrm>
            <a:off x="7380312" y="2381163"/>
            <a:ext cx="0" cy="26031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3E024F6-70BD-9F41-B554-7C7BB6483648}"/>
              </a:ext>
            </a:extLst>
          </p:cNvPr>
          <p:cNvSpPr txBox="1"/>
          <p:nvPr/>
        </p:nvSpPr>
        <p:spPr>
          <a:xfrm>
            <a:off x="6445998" y="19923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solidFill>
                <a:srgbClr val="9411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52D968-04BD-6847-92FD-30A91E5AC009}"/>
              </a:ext>
            </a:extLst>
          </p:cNvPr>
          <p:cNvSpPr txBox="1"/>
          <p:nvPr/>
        </p:nvSpPr>
        <p:spPr>
          <a:xfrm>
            <a:off x="6826314" y="202396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941100"/>
                </a:solidFill>
              </a:rPr>
              <a:t>运行参数</a:t>
            </a:r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1F6F0F8E-79F5-E444-A8C7-F88103C0956A}"/>
              </a:ext>
            </a:extLst>
          </p:cNvPr>
          <p:cNvCxnSpPr>
            <a:cxnSpLocks/>
          </p:cNvCxnSpPr>
          <p:nvPr/>
        </p:nvCxnSpPr>
        <p:spPr>
          <a:xfrm>
            <a:off x="4355976" y="3127131"/>
            <a:ext cx="0" cy="26031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50189B9-36C8-7C41-A557-7E066350C2A1}"/>
              </a:ext>
            </a:extLst>
          </p:cNvPr>
          <p:cNvSpPr txBox="1"/>
          <p:nvPr/>
        </p:nvSpPr>
        <p:spPr>
          <a:xfrm>
            <a:off x="3801977" y="33347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941100"/>
                </a:solidFill>
              </a:rPr>
              <a:t>环境变量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47FA63-607A-634A-9E04-C50607D97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6916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3CD8A-366A-AE42-9078-E4D2C484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写时拷贝（</a:t>
            </a:r>
            <a:r>
              <a:rPr kumimoji="1" lang="en-US" altLang="zh-CN"/>
              <a:t>Copy-On-Write</a:t>
            </a:r>
            <a:r>
              <a:rPr kumimoji="1" lang="zh-CN" altLang="en-US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67205D-1711-FC4C-AD4B-022930E55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早期的</a:t>
            </a:r>
            <a:r>
              <a:rPr kumimoji="1" lang="en-US" altLang="zh-CN"/>
              <a:t>fork</a:t>
            </a:r>
            <a:r>
              <a:rPr kumimoji="1" lang="zh-CN" altLang="en-US"/>
              <a:t>实现：将父进程直接拷贝一份</a:t>
            </a:r>
            <a:endParaRPr kumimoji="1" lang="en-US" altLang="zh-CN"/>
          </a:p>
          <a:p>
            <a:pPr lvl="1"/>
            <a:r>
              <a:rPr kumimoji="1" lang="zh-CN" altLang="en-US"/>
              <a:t>性能差：时间随占用内存增加而增加</a:t>
            </a:r>
            <a:endParaRPr kumimoji="1" lang="en-US" altLang="zh-CN"/>
          </a:p>
          <a:p>
            <a:pPr lvl="1"/>
            <a:r>
              <a:rPr kumimoji="1" lang="zh-CN" altLang="en-US"/>
              <a:t>无用功：</a:t>
            </a:r>
            <a:r>
              <a:rPr kumimoji="1" lang="en-US" altLang="zh-CN"/>
              <a:t>fork</a:t>
            </a:r>
            <a:r>
              <a:rPr kumimoji="1" lang="zh-CN" altLang="en-US"/>
              <a:t>之后如果调用</a:t>
            </a:r>
            <a:r>
              <a:rPr kumimoji="1" lang="en-US" altLang="zh-CN"/>
              <a:t>exec</a:t>
            </a:r>
            <a:r>
              <a:rPr kumimoji="1" lang="zh-CN" altLang="en-US"/>
              <a:t>，拷贝的内存就作废了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基本思路：只拷贝内存映射，不拷贝实际内存</a:t>
            </a:r>
            <a:endParaRPr kumimoji="1" lang="en-US" altLang="zh-CN"/>
          </a:p>
          <a:p>
            <a:pPr lvl="1"/>
            <a:r>
              <a:rPr kumimoji="1" lang="zh-CN" altLang="en-US"/>
              <a:t>性能较好：一条映射至少对应一个</a:t>
            </a:r>
            <a:r>
              <a:rPr kumimoji="1" lang="en-US" altLang="zh-CN"/>
              <a:t>4K</a:t>
            </a:r>
            <a:r>
              <a:rPr kumimoji="1" lang="zh-CN" altLang="en-US"/>
              <a:t>的页面</a:t>
            </a:r>
            <a:endParaRPr kumimoji="1" lang="en-US" altLang="zh-CN"/>
          </a:p>
          <a:p>
            <a:pPr lvl="1"/>
            <a:r>
              <a:rPr kumimoji="1" lang="zh-CN" altLang="en-US"/>
              <a:t>调用</a:t>
            </a:r>
            <a:r>
              <a:rPr kumimoji="1" lang="en-US" altLang="zh-CN"/>
              <a:t>exec</a:t>
            </a:r>
            <a:r>
              <a:rPr kumimoji="1" lang="zh-CN" altLang="en-US"/>
              <a:t>的情况里，减少了无用的拷贝</a:t>
            </a:r>
            <a:endParaRPr kumimoji="1" lang="en-US" altLang="zh-CN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24933C-1517-8743-9EBD-99127A61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B54901-397A-CB41-A27B-09672BE13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1499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6A2CB-0543-A945-B019-813C6331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的优缺点分析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5F39A1-D336-3544-989F-5890E225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fork</a:t>
            </a:r>
            <a:r>
              <a:rPr kumimoji="1" lang="zh-CN" altLang="en-US"/>
              <a:t>的优点</a:t>
            </a:r>
            <a:endParaRPr kumimoji="1" lang="en-US" altLang="zh-CN"/>
          </a:p>
          <a:p>
            <a:pPr lvl="1"/>
            <a:r>
              <a:rPr kumimoji="1" lang="zh-CN" altLang="en-US"/>
              <a:t>接口非常简洁</a:t>
            </a:r>
            <a:endParaRPr kumimoji="1" lang="en-US" altLang="zh-CN"/>
          </a:p>
          <a:p>
            <a:pPr lvl="1"/>
            <a:r>
              <a:rPr kumimoji="1" lang="zh-CN" altLang="en-US"/>
              <a:t>将进程“创建”和“执行”（</a:t>
            </a:r>
            <a:r>
              <a:rPr kumimoji="1" lang="en-US" altLang="zh-CN"/>
              <a:t>exec</a:t>
            </a:r>
            <a:r>
              <a:rPr kumimoji="1" lang="zh-CN" altLang="en-US"/>
              <a:t>）解耦，提高了灵活度</a:t>
            </a:r>
            <a:endParaRPr kumimoji="1" lang="en-US" altLang="zh-CN"/>
          </a:p>
          <a:p>
            <a:pPr lvl="1"/>
            <a:r>
              <a:rPr kumimoji="1" lang="zh-CN" altLang="en-US"/>
              <a:t>刻画了进程之间的内在关系（进程树、进程组）</a:t>
            </a:r>
            <a:endParaRPr kumimoji="1" lang="en-US" altLang="zh-CN"/>
          </a:p>
          <a:p>
            <a:r>
              <a:rPr kumimoji="1" lang="en-US" altLang="zh-CN"/>
              <a:t>fork</a:t>
            </a:r>
            <a:r>
              <a:rPr kumimoji="1" lang="zh-CN" altLang="en-US"/>
              <a:t>的缺点</a:t>
            </a:r>
            <a:endParaRPr kumimoji="1" lang="en-US" altLang="zh-CN"/>
          </a:p>
          <a:p>
            <a:pPr lvl="1"/>
            <a:r>
              <a:rPr kumimoji="1" lang="zh-CN" altLang="en-US"/>
              <a:t>完全拷贝过于粗暴（不如</a:t>
            </a:r>
            <a:r>
              <a:rPr kumimoji="1" lang="en-US" altLang="zh-CN"/>
              <a:t>clone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r>
              <a:rPr kumimoji="1" lang="zh-CN" altLang="en-US"/>
              <a:t>性能差、可扩展性差（不如</a:t>
            </a:r>
            <a:r>
              <a:rPr kumimoji="1" lang="en-US" altLang="zh-CN"/>
              <a:t>vfork</a:t>
            </a:r>
            <a:r>
              <a:rPr kumimoji="1" lang="zh-CN" altLang="en-US"/>
              <a:t>和</a:t>
            </a:r>
            <a:r>
              <a:rPr kumimoji="1" lang="en-US" altLang="zh-CN"/>
              <a:t>spawn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r>
              <a:rPr kumimoji="1" lang="zh-CN" altLang="en-US"/>
              <a:t>不可组合性</a:t>
            </a:r>
            <a:r>
              <a:rPr kumimoji="1" lang="en-US" altLang="zh-CN"/>
              <a:t> (</a:t>
            </a:r>
            <a:r>
              <a:rPr kumimoji="1" lang="zh-CN" altLang="en-US"/>
              <a:t>例如：</a:t>
            </a:r>
            <a:r>
              <a:rPr kumimoji="1" lang="en-US" altLang="zh-CN"/>
              <a:t>fork() + pthread())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909AE-72A6-C640-A420-49B8442B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0B6FE4-A0F8-4F48-8C98-4B6AA6E47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2907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C6-A154-764E-B7E1-80A126BD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的替代接口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7DCE4-84F1-5040-B1C9-C62E6C26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dirty="0" err="1"/>
              <a:t>vfork</a:t>
            </a:r>
            <a:r>
              <a:rPr kumimoji="1" lang="zh-CN" altLang="en-US" dirty="0"/>
              <a:t>：类似于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，但让父子进程共享同一地址空间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优点：连映射都不需要拷贝，性能更好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只能用在</a:t>
            </a:r>
            <a:r>
              <a:rPr kumimoji="1" lang="en-US" altLang="zh-CN" sz="1800" dirty="0"/>
              <a:t>”fork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exec”</a:t>
            </a:r>
            <a:r>
              <a:rPr kumimoji="1" lang="zh-CN" altLang="en-US" sz="1800" dirty="0"/>
              <a:t>的场景中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共享地址空间存在安全问题</a:t>
            </a:r>
            <a:endParaRPr kumimoji="1" lang="en-US" altLang="zh-CN" sz="1800" dirty="0"/>
          </a:p>
          <a:p>
            <a:r>
              <a:rPr kumimoji="1" lang="zh-CN" altLang="en-US" dirty="0"/>
              <a:t>轶事：</a:t>
            </a:r>
            <a:r>
              <a:rPr kumimoji="1" lang="en-US" altLang="zh-CN" dirty="0" err="1"/>
              <a:t>vfork</a:t>
            </a:r>
            <a:r>
              <a:rPr kumimoji="1" lang="zh-CN" altLang="en-US" dirty="0"/>
              <a:t>的提出最初就是为了解决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的性能问题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但写时拷贝拯救了</a:t>
            </a:r>
            <a:r>
              <a:rPr kumimoji="1" lang="en-US" altLang="zh-CN" dirty="0"/>
              <a:t>fork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78947-AE6B-F647-B35C-361DF3FE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E06EEE-1640-1F41-B550-9AB6DFE16929}"/>
              </a:ext>
            </a:extLst>
          </p:cNvPr>
          <p:cNvSpPr txBox="1"/>
          <p:nvPr/>
        </p:nvSpPr>
        <p:spPr>
          <a:xfrm>
            <a:off x="970620" y="4448217"/>
            <a:ext cx="712879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Since this function is hard to use correctly from application software, it is recommended to use </a:t>
            </a:r>
            <a:r>
              <a:rPr kumimoji="1" lang="en-US" altLang="zh-CN" dirty="0" err="1">
                <a:solidFill>
                  <a:srgbClr val="C00000"/>
                </a:solidFill>
              </a:rPr>
              <a:t>posix_spawn</a:t>
            </a:r>
            <a:r>
              <a:rPr kumimoji="1" lang="en-US" altLang="zh-CN" dirty="0">
                <a:solidFill>
                  <a:srgbClr val="C00000"/>
                </a:solidFill>
              </a:rPr>
              <a:t>(3) or fork(2) instead.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816078-B69D-9949-852D-E744EC421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7985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77A51-13C5-2A44-9458-42D41F96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的替代接口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331E8A-6826-934E-87D5-15ED043D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posix_spawn:</a:t>
            </a:r>
            <a:r>
              <a:rPr kumimoji="1" lang="zh-CN" altLang="en-US"/>
              <a:t> 相当于</a:t>
            </a:r>
            <a:r>
              <a:rPr kumimoji="1" lang="en-US" altLang="zh-CN"/>
              <a:t>fork</a:t>
            </a:r>
            <a:r>
              <a:rPr kumimoji="1" lang="zh-CN" altLang="en-US"/>
              <a:t> </a:t>
            </a:r>
            <a:r>
              <a:rPr kumimoji="1" lang="en-US" altLang="zh-CN"/>
              <a:t>+</a:t>
            </a:r>
            <a:r>
              <a:rPr kumimoji="1" lang="zh-CN" altLang="en-US"/>
              <a:t> </a:t>
            </a:r>
            <a:r>
              <a:rPr kumimoji="1" lang="en-US" altLang="zh-CN"/>
              <a:t>exec</a:t>
            </a:r>
          </a:p>
          <a:p>
            <a:pPr lvl="1"/>
            <a:r>
              <a:rPr kumimoji="1" lang="zh-CN" altLang="en-US"/>
              <a:t>优点：可扩展性、性能较好</a:t>
            </a:r>
            <a:endParaRPr kumimoji="1" lang="en-US" altLang="zh-CN"/>
          </a:p>
          <a:p>
            <a:pPr lvl="1"/>
            <a:r>
              <a:rPr kumimoji="1" lang="zh-CN" altLang="en-US"/>
              <a:t>缺点：不如</a:t>
            </a:r>
            <a:r>
              <a:rPr kumimoji="1" lang="en-US" altLang="zh-CN"/>
              <a:t>fork</a:t>
            </a:r>
            <a:r>
              <a:rPr kumimoji="1" lang="zh-CN" altLang="en-US"/>
              <a:t>灵活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clone:</a:t>
            </a:r>
            <a:r>
              <a:rPr kumimoji="1" lang="zh-CN" altLang="en-US"/>
              <a:t> </a:t>
            </a:r>
            <a:r>
              <a:rPr kumimoji="1" lang="en-US" altLang="zh-CN"/>
              <a:t>fork</a:t>
            </a:r>
            <a:r>
              <a:rPr kumimoji="1" lang="zh-CN" altLang="en-US"/>
              <a:t>的“进阶版”，可以选择性地不拷贝内存</a:t>
            </a:r>
            <a:endParaRPr kumimoji="1" lang="en-US" altLang="zh-CN"/>
          </a:p>
          <a:p>
            <a:pPr lvl="1"/>
            <a:r>
              <a:rPr kumimoji="1" lang="zh-CN" altLang="en-US"/>
              <a:t>优点：高度可控，可依照需求调整</a:t>
            </a:r>
            <a:endParaRPr kumimoji="1" lang="en-US" altLang="zh-CN"/>
          </a:p>
          <a:p>
            <a:pPr lvl="1"/>
            <a:r>
              <a:rPr kumimoji="1" lang="zh-CN" altLang="en-US"/>
              <a:t>缺点：接口比</a:t>
            </a:r>
            <a:r>
              <a:rPr kumimoji="1" lang="en-US" altLang="zh-CN"/>
              <a:t>fork</a:t>
            </a:r>
            <a:r>
              <a:rPr kumimoji="1" lang="zh-CN" altLang="en-US"/>
              <a:t>复杂，选择性拷贝容易出错</a:t>
            </a:r>
            <a:endParaRPr kumimoji="1" lang="en-US" altLang="zh-CN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5F4C8-ABAF-CE48-8760-EA836A74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051D7-7459-C54D-B438-A99F75FF5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4789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线程的概念 </a:t>
            </a:r>
            <a:r>
              <a:rPr lang="en-US" altLang="zh-CN" dirty="0"/>
              <a:t>- </a:t>
            </a:r>
            <a:r>
              <a:rPr lang="zh-CN" altLang="en-US" dirty="0"/>
              <a:t>线程模型 </a:t>
            </a:r>
            <a:r>
              <a:rPr lang="en-US" altLang="zh-CN" dirty="0"/>
              <a:t>-</a:t>
            </a:r>
            <a:r>
              <a:rPr lang="zh-CN" altLang="en-US" dirty="0"/>
              <a:t> 相关数据结构 </a:t>
            </a:r>
            <a:r>
              <a:rPr lang="en-US" altLang="zh-CN" dirty="0"/>
              <a:t>-</a:t>
            </a:r>
            <a:r>
              <a:rPr lang="zh-CN" altLang="en-US" dirty="0"/>
              <a:t> 基本操作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57333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为什么需要线程？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创建进程的开销较大</a:t>
            </a:r>
            <a:endParaRPr kumimoji="1" lang="en-US" altLang="zh-CN"/>
          </a:p>
          <a:p>
            <a:pPr lvl="1"/>
            <a:r>
              <a:rPr kumimoji="1" lang="zh-CN" altLang="en-US"/>
              <a:t>包括了数据、代码、堆、栈等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进程的隔离性过强</a:t>
            </a:r>
            <a:endParaRPr kumimoji="1" lang="en-US" altLang="zh-CN"/>
          </a:p>
          <a:p>
            <a:pPr lvl="1"/>
            <a:r>
              <a:rPr kumimoji="1" lang="zh-CN" altLang="en-US"/>
              <a:t>进程间交互：可以通过进程间通信（</a:t>
            </a:r>
            <a:r>
              <a:rPr kumimoji="1" lang="en-US" altLang="zh-CN"/>
              <a:t>IPC</a:t>
            </a:r>
            <a:r>
              <a:rPr kumimoji="1" lang="zh-CN" altLang="en-US"/>
              <a:t>），但开销较大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进程内部无法支持并行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06036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77019-50CF-984E-BDDA-FEE34CE3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线程：更加轻量级的运行时抽象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2361D-5EC7-1B4F-8073-291486CE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线程只包含运行时的状态</a:t>
            </a:r>
            <a:endParaRPr kumimoji="1" lang="en-US" altLang="zh-CN"/>
          </a:p>
          <a:p>
            <a:pPr lvl="1"/>
            <a:r>
              <a:rPr kumimoji="1" lang="zh-CN" altLang="en-US"/>
              <a:t>静态部分由</a:t>
            </a:r>
            <a:r>
              <a:rPr kumimoji="1" lang="zh-CN" altLang="en-US" b="1"/>
              <a:t>进程</a:t>
            </a:r>
            <a:r>
              <a:rPr kumimoji="1" lang="zh-CN" altLang="en-US"/>
              <a:t>提供</a:t>
            </a:r>
            <a:endParaRPr kumimoji="1" lang="en-US" altLang="zh-CN"/>
          </a:p>
          <a:p>
            <a:pPr lvl="1"/>
            <a:r>
              <a:rPr kumimoji="1" lang="zh-CN" altLang="en-US"/>
              <a:t>包括了执行所需的</a:t>
            </a:r>
            <a:r>
              <a:rPr kumimoji="1" lang="zh-CN" altLang="en-US" b="1"/>
              <a:t>最小</a:t>
            </a:r>
            <a:r>
              <a:rPr kumimoji="1" lang="zh-CN" altLang="en-US"/>
              <a:t>状态（主要是寄存器和栈）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一个进程可以包含多个线程</a:t>
            </a:r>
            <a:endParaRPr kumimoji="1" lang="en-US" altLang="zh-CN"/>
          </a:p>
          <a:p>
            <a:pPr lvl="1"/>
            <a:r>
              <a:rPr kumimoji="1" lang="zh-CN" altLang="en-US"/>
              <a:t>每个线程共享同一地址空间（方便数据共享和交互）</a:t>
            </a:r>
            <a:endParaRPr kumimoji="1" lang="en-US" altLang="zh-CN"/>
          </a:p>
          <a:p>
            <a:pPr lvl="1"/>
            <a:r>
              <a:rPr kumimoji="1" lang="zh-CN" altLang="en-US"/>
              <a:t>允许进程内并行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853221-E5F7-AD46-972E-5996341F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A144B-524F-714B-91B0-DA64528A6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3450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23F2C-0F29-9B42-83E6-F551C8BE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进阶模型：多线程的进程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24FBA-1355-024A-99FC-CF5DE39BC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一个进程可以包含多个线程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一个进程的多线程可以在不同处理器上同时执行</a:t>
            </a:r>
            <a:endParaRPr kumimoji="1" lang="en-US" altLang="zh-CN"/>
          </a:p>
          <a:p>
            <a:pPr lvl="1"/>
            <a:r>
              <a:rPr kumimoji="1" lang="zh-CN" altLang="en-US"/>
              <a:t>调度的基本单元由进程变为了线程</a:t>
            </a:r>
            <a:endParaRPr kumimoji="1" lang="en-US" altLang="zh-CN"/>
          </a:p>
          <a:p>
            <a:pPr lvl="1"/>
            <a:r>
              <a:rPr kumimoji="1" lang="zh-CN" altLang="en-US"/>
              <a:t>每个线程都有</a:t>
            </a:r>
            <a:r>
              <a:rPr kumimoji="1" lang="zh-CN" altLang="en-US" b="1"/>
              <a:t>状态</a:t>
            </a:r>
            <a:endParaRPr kumimoji="1" lang="en-US" altLang="zh-CN" b="1"/>
          </a:p>
          <a:p>
            <a:pPr lvl="1"/>
            <a:r>
              <a:rPr kumimoji="1" lang="zh-CN" altLang="en-US"/>
              <a:t>上下文切换的单位变为了线程</a:t>
            </a:r>
            <a:endParaRPr kumimoji="1" lang="en-US" altLang="zh-CN"/>
          </a:p>
          <a:p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2771D6-886D-5F46-B5ED-CD61222F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C138B-DF85-414D-8FC6-4D560F29E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0610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A66B5-D2E3-AE4D-9B66-52B22096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多线程进程的地址空间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67B45-FA82-8D4B-A775-11EC1C478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每个线程拥有自己的栈</a:t>
            </a:r>
            <a:endParaRPr kumimoji="1" lang="en-US" altLang="zh-CN"/>
          </a:p>
          <a:p>
            <a:pPr marL="0" indent="0">
              <a:buNone/>
            </a:pPr>
            <a:endParaRPr kumimoji="1" lang="en-US" altLang="zh-CN"/>
          </a:p>
          <a:p>
            <a:r>
              <a:rPr kumimoji="1" lang="zh-CN" altLang="en-US"/>
              <a:t>内核中也有为线程准备的内核栈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其它区域共享</a:t>
            </a:r>
            <a:endParaRPr kumimoji="1" lang="en-US" altLang="zh-CN"/>
          </a:p>
          <a:p>
            <a:pPr lvl="1"/>
            <a:r>
              <a:rPr kumimoji="1" lang="zh-CN" altLang="en-US"/>
              <a:t>数据、代码、堆</a:t>
            </a:r>
            <a:r>
              <a:rPr kumimoji="1" lang="en-US" altLang="zh-CN"/>
              <a:t>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4DF97-1E1B-DD42-AEF3-019FEA31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528B48-95D5-704A-AAA6-4FC492291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544" y="1193461"/>
            <a:ext cx="1654528" cy="4111885"/>
          </a:xfrm>
          <a:prstGeom prst="rect">
            <a:avLst/>
          </a:prstGeom>
        </p:spPr>
      </p:pic>
      <p:sp>
        <p:nvSpPr>
          <p:cNvPr id="11" name="左大括号 10">
            <a:extLst>
              <a:ext uri="{FF2B5EF4-FFF2-40B4-BE49-F238E27FC236}">
                <a16:creationId xmlns:a16="http://schemas.microsoft.com/office/drawing/2014/main" id="{934BE2FB-4E65-674E-8401-818C21E84C7B}"/>
              </a:ext>
            </a:extLst>
          </p:cNvPr>
          <p:cNvSpPr/>
          <p:nvPr/>
        </p:nvSpPr>
        <p:spPr>
          <a:xfrm>
            <a:off x="6941745" y="3844839"/>
            <a:ext cx="155448" cy="126029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3868C-AC6E-3D47-A517-232A4E7729B3}"/>
              </a:ext>
            </a:extLst>
          </p:cNvPr>
          <p:cNvSpPr txBox="1"/>
          <p:nvPr/>
        </p:nvSpPr>
        <p:spPr>
          <a:xfrm>
            <a:off x="6444208" y="432879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941100"/>
                </a:solidFill>
              </a:rPr>
              <a:t>共享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BA641-4493-D64D-8F9D-56B8446E6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00706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7FD24-D892-394D-A070-183EE591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用户态线程与内核态线程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4856F-0482-5A48-8BA5-EB620E8C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/>
              <a:t>根据线程是否受内核管理，可以将线程分为两类</a:t>
            </a:r>
            <a:endParaRPr kumimoji="1" lang="en-US" altLang="zh-CN"/>
          </a:p>
          <a:p>
            <a:pPr lvl="1"/>
            <a:r>
              <a:rPr kumimoji="1" lang="zh-CN" altLang="en-US"/>
              <a:t>内核态线程：内核可见，受内核管理</a:t>
            </a:r>
            <a:endParaRPr kumimoji="1" lang="en-US" altLang="zh-CN"/>
          </a:p>
          <a:p>
            <a:pPr lvl="1"/>
            <a:r>
              <a:rPr kumimoji="1" lang="zh-CN" altLang="en-US"/>
              <a:t>用户态线程：内核不可见，不受内核直接管理</a:t>
            </a:r>
            <a:endParaRPr kumimoji="1" lang="en-US" altLang="zh-CN"/>
          </a:p>
          <a:p>
            <a:r>
              <a:rPr kumimoji="1" lang="zh-CN" altLang="en-US"/>
              <a:t>内核态线程</a:t>
            </a:r>
            <a:endParaRPr kumimoji="1" lang="en-US" altLang="zh-CN"/>
          </a:p>
          <a:p>
            <a:pPr lvl="1"/>
            <a:r>
              <a:rPr kumimoji="1" lang="zh-CN" altLang="en-US"/>
              <a:t>由内核创建，线程相关信息存放在内核中</a:t>
            </a:r>
            <a:endParaRPr kumimoji="1" lang="en-US" altLang="zh-CN"/>
          </a:p>
          <a:p>
            <a:r>
              <a:rPr kumimoji="1" lang="zh-CN" altLang="en-US"/>
              <a:t>用户态线程（纤程）</a:t>
            </a:r>
            <a:endParaRPr kumimoji="1" lang="en-US" altLang="zh-CN"/>
          </a:p>
          <a:p>
            <a:pPr lvl="1"/>
            <a:r>
              <a:rPr kumimoji="1" lang="zh-CN" altLang="en-US"/>
              <a:t>在应用态创建，线程相关信息主要存放在应用数据中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CE240D-CA7C-9F49-822A-AC6D61B9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8FF3E3-2515-7C41-A3BA-C92A0719C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5028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2217E-65C4-964A-A771-B9B5FD117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DF1FC0-FD19-A540-B1A9-19F9E2E76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线程模型表示了用户态线程与内核态线程之间的联系</a:t>
            </a:r>
            <a:endParaRPr kumimoji="1" lang="en-US" altLang="zh-CN"/>
          </a:p>
          <a:p>
            <a:pPr lvl="1"/>
            <a:r>
              <a:rPr kumimoji="1" lang="zh-CN" altLang="en-US"/>
              <a:t>多对一模型：多个用户态线程对应一个内核态线程</a:t>
            </a:r>
            <a:endParaRPr kumimoji="1" lang="en-US" altLang="zh-CN"/>
          </a:p>
          <a:p>
            <a:pPr lvl="1"/>
            <a:r>
              <a:rPr kumimoji="1" lang="zh-CN" altLang="en-US"/>
              <a:t>一对一模型：一个用户态线程对应一个内核态线程</a:t>
            </a:r>
            <a:endParaRPr kumimoji="1" lang="en-US" altLang="zh-CN"/>
          </a:p>
          <a:p>
            <a:pPr lvl="1"/>
            <a:r>
              <a:rPr kumimoji="1" lang="zh-CN" altLang="en-US"/>
              <a:t>多对多模型：多个用户态线程对应多个内核态线程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9ED67-289E-1341-8236-42A9192A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CC2C68-0CDE-7341-BBA2-F3BEDCC78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32" y="3222062"/>
            <a:ext cx="2808312" cy="17200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966BBA-BAA1-4B43-B783-2D98CFEF0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46" y="3217540"/>
            <a:ext cx="2809469" cy="1720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AD1650A-2159-6F4E-AEFC-CF9722736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615" y="3217540"/>
            <a:ext cx="2809469" cy="17208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04AC268-EEA5-CC48-9AB2-91E32A7E97FB}"/>
              </a:ext>
            </a:extLst>
          </p:cNvPr>
          <p:cNvSpPr txBox="1"/>
          <p:nvPr/>
        </p:nvSpPr>
        <p:spPr>
          <a:xfrm>
            <a:off x="1144940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一对一模型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6EEEC5-26FE-DE4D-B49A-1778041AD23E}"/>
              </a:ext>
            </a:extLst>
          </p:cNvPr>
          <p:cNvSpPr txBox="1"/>
          <p:nvPr/>
        </p:nvSpPr>
        <p:spPr>
          <a:xfrm>
            <a:off x="3977024" y="485811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多对一模型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5D131E-08CD-5248-B5EB-65B6EC0DB1F4}"/>
              </a:ext>
            </a:extLst>
          </p:cNvPr>
          <p:cNvSpPr txBox="1"/>
          <p:nvPr/>
        </p:nvSpPr>
        <p:spPr>
          <a:xfrm>
            <a:off x="6809108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多对多模型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34FCE-97CA-CC4E-9F2C-B2CA10D96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11757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BB36A-7CDD-3A4F-A6C3-C9595CC8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多对一模型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F595FC-B432-1346-9683-889F376CE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将多个用户态线程映射给单一的内核线程</a:t>
            </a:r>
            <a:endParaRPr kumimoji="1" lang="en-US" altLang="zh-CN"/>
          </a:p>
          <a:p>
            <a:pPr lvl="1"/>
            <a:r>
              <a:rPr kumimoji="1" lang="zh-CN" altLang="en-US"/>
              <a:t>优点：内核管理简单</a:t>
            </a:r>
            <a:endParaRPr kumimoji="1" lang="en-US" altLang="zh-CN"/>
          </a:p>
          <a:p>
            <a:pPr lvl="1"/>
            <a:r>
              <a:rPr kumimoji="1" lang="zh-CN" altLang="en-US"/>
              <a:t>缺点：可扩展性差，无法适应多核机器的发展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在主流操作系统中被弃用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用于各种用户态线程库中</a:t>
            </a:r>
            <a:endParaRPr kumimoji="1" lang="zh-CN" altLang="en-US" dirty="0">
              <a:solidFill>
                <a:schemeClr val="accent1"/>
              </a:solidFill>
              <a:latin typeface="+mj-lt"/>
              <a:ea typeface="+mj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C13C6-7FA4-9842-B14F-503F6A00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4D509F-58BD-7446-B772-3292F303C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31" y="3577580"/>
            <a:ext cx="2809469" cy="1720800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10F133-D248-2941-A9E4-1526B6AED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79998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B859B-4980-0A44-8A0B-3CD24345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一对一模型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2DD8A7-8E2D-754D-8F27-4C194336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每个用户线程映射单独的内核线程</a:t>
            </a:r>
            <a:endParaRPr kumimoji="1" lang="en-US" altLang="zh-CN"/>
          </a:p>
          <a:p>
            <a:pPr lvl="1"/>
            <a:r>
              <a:rPr kumimoji="1" lang="zh-CN" altLang="en-US"/>
              <a:t>优点：解决了多对一模型中的可扩展性问题</a:t>
            </a:r>
            <a:endParaRPr kumimoji="1" lang="en-US" altLang="zh-CN"/>
          </a:p>
          <a:p>
            <a:pPr lvl="1"/>
            <a:r>
              <a:rPr kumimoji="1" lang="zh-CN" altLang="en-US"/>
              <a:t>缺点：内核线程数量大，开销大</a:t>
            </a:r>
            <a:endParaRPr kumimoji="1" lang="en-US" altLang="zh-CN"/>
          </a:p>
          <a:p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主流操作系统都采用一对一模型</a:t>
            </a:r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pPr lvl="1"/>
            <a:r>
              <a:rPr kumimoji="1" lang="en-US" altLang="zh-CN"/>
              <a:t>Windows</a:t>
            </a:r>
            <a:r>
              <a:rPr kumimoji="1" lang="zh-CN" altLang="en-US"/>
              <a:t>、</a:t>
            </a:r>
            <a:r>
              <a:rPr kumimoji="1" lang="en-US" altLang="zh-CN"/>
              <a:t>Linux</a:t>
            </a:r>
            <a:r>
              <a:rPr kumimoji="1" lang="zh-CN" altLang="en-US"/>
              <a:t>、</a:t>
            </a:r>
            <a:r>
              <a:rPr kumimoji="1" lang="en-US" altLang="zh-CN"/>
              <a:t>OS</a:t>
            </a:r>
            <a:r>
              <a:rPr kumimoji="1" lang="zh-CN" altLang="en-US"/>
              <a:t> </a:t>
            </a:r>
            <a:r>
              <a:rPr kumimoji="1" lang="en-US" altLang="zh-CN"/>
              <a:t>X……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E6A175-99E6-B446-A034-0C6871EB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8B5DC3-3DC4-524B-A4CE-6EA58CC5E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844" y="3576871"/>
            <a:ext cx="2808312" cy="1720091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958213-51A0-4140-82E8-2C94FFCBE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29615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29FAD-B33C-804B-9950-ED0C7DE2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/>
              <a:t>多对多模型（又叫</a:t>
            </a:r>
            <a:r>
              <a:rPr kumimoji="1" lang="en-US" altLang="zh-CN"/>
              <a:t>Scheduler</a:t>
            </a:r>
            <a:r>
              <a:rPr kumimoji="1" lang="zh-CN" altLang="en-US"/>
              <a:t> </a:t>
            </a:r>
            <a:r>
              <a:rPr kumimoji="1" lang="en-US" altLang="zh-CN"/>
              <a:t>Activation</a:t>
            </a:r>
            <a:r>
              <a:rPr kumimoji="1" lang="zh-CN" altLang="en-US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5EB2F-16F2-0F4C-B58D-BC30366D9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/>
              <a:t>N</a:t>
            </a:r>
            <a:r>
              <a:rPr kumimoji="1" lang="zh-CN" altLang="en-US"/>
              <a:t>个用户态线程映射到</a:t>
            </a:r>
            <a:r>
              <a:rPr kumimoji="1" lang="en-US" altLang="zh-CN"/>
              <a:t>M</a:t>
            </a:r>
            <a:r>
              <a:rPr kumimoji="1" lang="zh-CN" altLang="en-US"/>
              <a:t>个内核态线程（</a:t>
            </a:r>
            <a:r>
              <a:rPr kumimoji="1" lang="en-US" altLang="zh-CN"/>
              <a:t>N &gt; M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r>
              <a:rPr kumimoji="1" lang="zh-CN" altLang="en-US"/>
              <a:t>优点：解决了可扩展性问题（多对一）和线程过多问题（一对一）</a:t>
            </a:r>
            <a:endParaRPr kumimoji="1" lang="en-US" altLang="zh-CN"/>
          </a:p>
          <a:p>
            <a:pPr lvl="1"/>
            <a:r>
              <a:rPr kumimoji="1" lang="zh-CN" altLang="en-US"/>
              <a:t>缺点：管理更为复杂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Solaris</a:t>
            </a:r>
            <a:r>
              <a:rPr kumimoji="1" lang="zh-CN" altLang="en-US"/>
              <a:t>在</a:t>
            </a:r>
            <a:r>
              <a:rPr kumimoji="1" lang="en-US" altLang="zh-CN"/>
              <a:t>9</a:t>
            </a:r>
            <a:r>
              <a:rPr kumimoji="1" lang="zh-CN" altLang="en-US"/>
              <a:t>之前使用该模型</a:t>
            </a:r>
            <a:endParaRPr kumimoji="1" lang="en-US" altLang="zh-CN"/>
          </a:p>
          <a:p>
            <a:pPr lvl="1"/>
            <a:r>
              <a:rPr kumimoji="1" lang="en-US" altLang="zh-CN"/>
              <a:t>9</a:t>
            </a:r>
            <a:r>
              <a:rPr kumimoji="1" lang="zh-CN" altLang="en-US"/>
              <a:t>之后改为一对一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在虚拟化中得到了广泛应用</a:t>
            </a:r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28FC66-B3CB-324D-ADD3-56AF8BE8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FBB533-67FB-6F43-BCC6-343F81115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576162"/>
            <a:ext cx="2809469" cy="1720800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7802DC-5E0E-8D42-8A4B-7A1F5CE99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52227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812C8-487B-3C42-AE73-73449B0F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线程的相关数据结构：</a:t>
            </a:r>
            <a:r>
              <a:rPr kumimoji="1" lang="en-US" altLang="zh-CN"/>
              <a:t>TCB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29688-87D8-1845-8428-6B4F69037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/>
              <a:t>一对一模型的</a:t>
            </a:r>
            <a:r>
              <a:rPr kumimoji="1" lang="en-US" altLang="zh-CN"/>
              <a:t>TCB</a:t>
            </a:r>
            <a:r>
              <a:rPr kumimoji="1" lang="zh-CN" altLang="en-US"/>
              <a:t>可以分为两部分</a:t>
            </a:r>
            <a:endParaRPr kumimoji="1" lang="en-US" altLang="zh-CN"/>
          </a:p>
          <a:p>
            <a:r>
              <a:rPr kumimoji="1" lang="zh-CN" altLang="en-US"/>
              <a:t>内核态：与</a:t>
            </a:r>
            <a:r>
              <a:rPr kumimoji="1" lang="en-US" altLang="zh-CN"/>
              <a:t>PCB</a:t>
            </a:r>
            <a:r>
              <a:rPr kumimoji="1" lang="zh-CN" altLang="en-US"/>
              <a:t>结构类似</a:t>
            </a:r>
            <a:endParaRPr kumimoji="1" lang="en-US" altLang="zh-CN"/>
          </a:p>
          <a:p>
            <a:pPr lvl="1"/>
            <a:r>
              <a:rPr kumimoji="1" lang="en-US" altLang="zh-CN"/>
              <a:t>Linux</a:t>
            </a:r>
            <a:r>
              <a:rPr kumimoji="1" lang="zh-CN" altLang="en-US"/>
              <a:t>中进程与线程使用的是同一种数据结构（</a:t>
            </a:r>
            <a:r>
              <a:rPr kumimoji="1" lang="en-US" altLang="zh-CN"/>
              <a:t>task_struct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r>
              <a:rPr kumimoji="1" lang="zh-CN" altLang="en-US"/>
              <a:t>上下文切换中会使用</a:t>
            </a:r>
            <a:endParaRPr kumimoji="1" lang="en-US" altLang="zh-CN"/>
          </a:p>
          <a:p>
            <a:r>
              <a:rPr kumimoji="1" lang="zh-CN" altLang="en-US"/>
              <a:t>应用态：可以由线程库定义</a:t>
            </a:r>
            <a:endParaRPr kumimoji="1" lang="en-US" altLang="zh-CN"/>
          </a:p>
          <a:p>
            <a:pPr lvl="1"/>
            <a:r>
              <a:rPr kumimoji="1" lang="en-US" altLang="zh-CN"/>
              <a:t>Linux</a:t>
            </a:r>
            <a:r>
              <a:rPr kumimoji="1" lang="zh-CN" altLang="en-US"/>
              <a:t>：</a:t>
            </a:r>
            <a:r>
              <a:rPr kumimoji="1" lang="en-US" altLang="zh-CN"/>
              <a:t>pthread</a:t>
            </a:r>
            <a:r>
              <a:rPr kumimoji="1" lang="zh-CN" altLang="en-US"/>
              <a:t>结构体</a:t>
            </a:r>
            <a:endParaRPr kumimoji="1" lang="en-US" altLang="zh-CN"/>
          </a:p>
          <a:p>
            <a:pPr lvl="1"/>
            <a:r>
              <a:rPr kumimoji="1" lang="en-US" altLang="zh-CN"/>
              <a:t>Windows</a:t>
            </a:r>
            <a:r>
              <a:rPr kumimoji="1" lang="zh-CN" altLang="en-US"/>
              <a:t>：</a:t>
            </a:r>
            <a:r>
              <a:rPr kumimoji="1" lang="en-US" altLang="zh-CN"/>
              <a:t>TIB</a:t>
            </a:r>
            <a:r>
              <a:rPr kumimoji="1" lang="zh-CN" altLang="en-US"/>
              <a:t>（</a:t>
            </a:r>
            <a:r>
              <a:rPr kumimoji="1" lang="en-US" altLang="zh-CN"/>
              <a:t>Thread</a:t>
            </a:r>
            <a:r>
              <a:rPr kumimoji="1" lang="zh-CN" altLang="en-US"/>
              <a:t> </a:t>
            </a:r>
            <a:r>
              <a:rPr kumimoji="1" lang="en-US" altLang="zh-CN"/>
              <a:t>Information</a:t>
            </a:r>
            <a:r>
              <a:rPr kumimoji="1" lang="zh-CN" altLang="en-US"/>
              <a:t> </a:t>
            </a:r>
            <a:r>
              <a:rPr kumimoji="1" lang="en-US" altLang="zh-CN"/>
              <a:t>Block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r>
              <a:rPr kumimoji="1" lang="zh-CN" altLang="en-US"/>
              <a:t>可以认为是内核</a:t>
            </a:r>
            <a:r>
              <a:rPr kumimoji="1" lang="en-US" altLang="zh-CN"/>
              <a:t>TCB</a:t>
            </a:r>
            <a:r>
              <a:rPr kumimoji="1" lang="zh-CN" altLang="en-US"/>
              <a:t>的扩展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E06E1-8460-5C44-9CC2-CDC50B1E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9C2E3-90A6-1E49-BEA2-48E2760C7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7949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98F68-6D1E-F245-89A6-8BB6CE61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线程本地存储（</a:t>
            </a:r>
            <a:r>
              <a:rPr kumimoji="1" lang="en-US" altLang="zh-CN"/>
              <a:t>TLS</a:t>
            </a:r>
            <a:r>
              <a:rPr kumimoji="1" lang="zh-CN" altLang="en-US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539516-BB36-5D4A-93F4-8AB9265B0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/>
              <a:t>不同线程可能会执行相同的代码 </a:t>
            </a:r>
            <a:endParaRPr kumimoji="1" lang="en-US" altLang="zh-CN"/>
          </a:p>
          <a:p>
            <a:pPr lvl="1"/>
            <a:r>
              <a:rPr kumimoji="1" lang="zh-CN" altLang="en-US"/>
              <a:t>线程不具有独立的地址空间，多线程共享代码段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问题：对于全局变量，不同线程可能需要不同的拷贝</a:t>
            </a:r>
            <a:endParaRPr kumimoji="1" lang="en-US" altLang="zh-CN"/>
          </a:p>
          <a:p>
            <a:pPr lvl="1"/>
            <a:r>
              <a:rPr kumimoji="1" lang="zh-CN" altLang="en-US"/>
              <a:t>举例：用于标明系统调用错误的</a:t>
            </a:r>
            <a:r>
              <a:rPr kumimoji="1" lang="en-US" altLang="zh-CN"/>
              <a:t>errno</a:t>
            </a:r>
          </a:p>
          <a:p>
            <a:pPr lvl="1"/>
            <a:endParaRPr kumimoji="1" lang="en-US" altLang="zh-CN"/>
          </a:p>
          <a:p>
            <a:r>
              <a:rPr kumimoji="1" lang="zh-CN" altLang="en-US"/>
              <a:t>解决方案：线程本地存储（</a:t>
            </a:r>
            <a:r>
              <a:rPr kumimoji="1" lang="en-US" altLang="zh-CN"/>
              <a:t>Thread</a:t>
            </a:r>
            <a:r>
              <a:rPr kumimoji="1" lang="zh-CN" altLang="en-US"/>
              <a:t> </a:t>
            </a:r>
            <a:r>
              <a:rPr kumimoji="1" lang="en-US" altLang="zh-CN"/>
              <a:t>Local</a:t>
            </a:r>
            <a:r>
              <a:rPr kumimoji="1" lang="zh-CN" altLang="en-US"/>
              <a:t> </a:t>
            </a:r>
            <a:r>
              <a:rPr kumimoji="1" lang="en-US" altLang="zh-CN"/>
              <a:t>Storage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6A5ADA-C557-584A-820B-76407DB2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C4EA84-95F3-8C43-BBB4-10F5FFDBD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46683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E18C3-4B32-A14A-BC57-BFE0500C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线程本地存储（</a:t>
            </a:r>
            <a:r>
              <a:rPr kumimoji="1" lang="en-US" altLang="zh-CN"/>
              <a:t>TLS</a:t>
            </a:r>
            <a:r>
              <a:rPr kumimoji="1" lang="zh-CN" altLang="en-US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CA0032-3350-544F-BE22-8F825A79C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/>
              <a:t>线程库允许定义每个线程独有的数据</a:t>
            </a:r>
            <a:endParaRPr kumimoji="1" lang="en-US" altLang="zh-CN"/>
          </a:p>
          <a:p>
            <a:pPr lvl="1"/>
            <a:r>
              <a:rPr kumimoji="1"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__thread</a:t>
            </a:r>
            <a:r>
              <a:rPr kumimoji="1"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id;</a:t>
            </a:r>
            <a:r>
              <a:rPr kumimoji="1"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会为每个线程定义一个独有的</a:t>
            </a:r>
            <a:r>
              <a:rPr kumimoji="1" lang="en-US" altLang="zh-CN">
                <a:latin typeface="+mn-ea"/>
                <a:ea typeface="+mn-ea"/>
                <a:cs typeface="Courier New" panose="02070309020205020404" pitchFamily="49" charset="0"/>
              </a:rPr>
              <a:t>id</a:t>
            </a:r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变量</a:t>
            </a:r>
            <a:endParaRPr kumimoji="1" lang="en-US" altLang="zh-CN">
              <a:latin typeface="+mn-ea"/>
              <a:ea typeface="+mn-ea"/>
              <a:cs typeface="Courier New" panose="02070309020205020404" pitchFamily="49" charset="0"/>
            </a:endParaRPr>
          </a:p>
          <a:p>
            <a:endParaRPr kumimoji="1" lang="en-US" altLang="zh-CN">
              <a:latin typeface="+mn-ea"/>
              <a:ea typeface="+mn-ea"/>
              <a:cs typeface="Courier New" panose="02070309020205020404" pitchFamily="49" charset="0"/>
            </a:endParaRPr>
          </a:p>
          <a:p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每个线程的</a:t>
            </a:r>
            <a:r>
              <a:rPr kumimoji="1" lang="en-US" altLang="zh-CN">
                <a:latin typeface="+mn-ea"/>
                <a:ea typeface="+mn-ea"/>
                <a:cs typeface="Courier New" panose="02070309020205020404" pitchFamily="49" charset="0"/>
              </a:rPr>
              <a:t>TLS</a:t>
            </a:r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结构相似</a:t>
            </a:r>
            <a:endParaRPr kumimoji="1" lang="en-US" altLang="zh-CN">
              <a:latin typeface="+mn-ea"/>
              <a:ea typeface="+mn-ea"/>
              <a:cs typeface="Courier New" panose="02070309020205020404" pitchFamily="49" charset="0"/>
            </a:endParaRPr>
          </a:p>
          <a:p>
            <a:pPr lvl="1"/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可通过</a:t>
            </a:r>
            <a:r>
              <a:rPr kumimoji="1" lang="en-US" altLang="zh-CN">
                <a:latin typeface="+mn-ea"/>
                <a:ea typeface="+mn-ea"/>
                <a:cs typeface="Courier New" panose="02070309020205020404" pitchFamily="49" charset="0"/>
              </a:rPr>
              <a:t>TCB</a:t>
            </a:r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索引</a:t>
            </a:r>
            <a:endParaRPr kumimoji="1" lang="en-US" altLang="zh-CN">
              <a:latin typeface="+mn-ea"/>
              <a:ea typeface="+mn-ea"/>
              <a:cs typeface="Courier New" panose="02070309020205020404" pitchFamily="49" charset="0"/>
            </a:endParaRPr>
          </a:p>
          <a:p>
            <a:pPr lvl="1"/>
            <a:endParaRPr kumimoji="1" lang="en-US" altLang="zh-CN">
              <a:latin typeface="+mn-ea"/>
              <a:ea typeface="+mn-ea"/>
              <a:cs typeface="Courier New" panose="02070309020205020404" pitchFamily="49" charset="0"/>
            </a:endParaRPr>
          </a:p>
          <a:p>
            <a:r>
              <a:rPr kumimoji="1" lang="en-US" altLang="zh-CN">
                <a:latin typeface="+mn-ea"/>
                <a:ea typeface="+mn-ea"/>
                <a:cs typeface="Courier New" panose="02070309020205020404" pitchFamily="49" charset="0"/>
              </a:rPr>
              <a:t>TLS</a:t>
            </a:r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寻址模式：基地址＋偏移量</a:t>
            </a:r>
            <a:endParaRPr kumimoji="1" lang="en-US" altLang="zh-CN">
              <a:latin typeface="+mn-ea"/>
              <a:ea typeface="+mn-ea"/>
              <a:cs typeface="Courier New" panose="02070309020205020404" pitchFamily="49" charset="0"/>
            </a:endParaRPr>
          </a:p>
          <a:p>
            <a:pPr lvl="1"/>
            <a:r>
              <a:rPr kumimoji="1" lang="en-US" altLang="zh-CN">
                <a:latin typeface="+mn-ea"/>
                <a:ea typeface="+mn-ea"/>
                <a:cs typeface="Courier New" panose="02070309020205020404" pitchFamily="49" charset="0"/>
              </a:rPr>
              <a:t>X86:</a:t>
            </a:r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 段页式 </a:t>
            </a:r>
            <a:r>
              <a:rPr kumimoji="1" lang="en-US" altLang="zh-CN">
                <a:latin typeface="+mn-ea"/>
                <a:ea typeface="+mn-ea"/>
                <a:cs typeface="Courier New" panose="02070309020205020404" pitchFamily="49" charset="0"/>
              </a:rPr>
              <a:t>(fs</a:t>
            </a:r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寄存器</a:t>
            </a:r>
            <a:r>
              <a:rPr kumimoji="1" lang="en-US" altLang="zh-CN">
                <a:latin typeface="+mn-ea"/>
                <a:ea typeface="+mn-ea"/>
                <a:cs typeface="Courier New" panose="02070309020205020404" pitchFamily="49" charset="0"/>
              </a:rPr>
              <a:t>)	</a:t>
            </a:r>
          </a:p>
          <a:p>
            <a:pPr lvl="1"/>
            <a:r>
              <a:rPr kumimoji="1" lang="en-US" altLang="zh-CN">
                <a:latin typeface="+mn-ea"/>
                <a:ea typeface="+mn-ea"/>
                <a:cs typeface="Courier New" panose="02070309020205020404" pitchFamily="49" charset="0"/>
              </a:rPr>
              <a:t>AArch64:</a:t>
            </a:r>
            <a:r>
              <a:rPr kumimoji="1" lang="zh-CN" altLang="en-US">
                <a:latin typeface="+mn-ea"/>
                <a:ea typeface="+mn-ea"/>
                <a:cs typeface="Courier New" panose="02070309020205020404" pitchFamily="49" charset="0"/>
              </a:rPr>
              <a:t> 特殊寄存器</a:t>
            </a:r>
            <a:r>
              <a:rPr kumimoji="1" lang="en-US" altLang="zh-CN">
                <a:latin typeface="+mn-ea"/>
                <a:ea typeface="+mn-ea"/>
                <a:cs typeface="Courier New" panose="02070309020205020404" pitchFamily="49" charset="0"/>
              </a:rPr>
              <a:t>tpidr_el0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AFD2E-C353-A14F-9738-24A15D77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CE42AE8-6956-474B-AAF2-D0F567E27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857500"/>
            <a:ext cx="3816424" cy="2520280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3A5CA-71F8-A24B-B70B-B03BBAF20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30986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A64F0-5085-374C-A434-E9A7891B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线程的基本操作：以</a:t>
            </a:r>
            <a:r>
              <a:rPr kumimoji="1" lang="en-US" altLang="zh-CN" i="1"/>
              <a:t>pthreads</a:t>
            </a:r>
            <a:r>
              <a:rPr kumimoji="1" lang="zh-CN" altLang="en-US"/>
              <a:t>为例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5C7D4-F1B9-8147-9FCD-167DA2AD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创建：</a:t>
            </a:r>
            <a:r>
              <a:rPr kumimoji="1" lang="en-US" altLang="zh-CN"/>
              <a:t>pthread_create</a:t>
            </a:r>
          </a:p>
          <a:p>
            <a:pPr lvl="1"/>
            <a:r>
              <a:rPr kumimoji="1" lang="zh-CN" altLang="en-US"/>
              <a:t>内核态：创建相应的内核态线程及内核栈</a:t>
            </a:r>
            <a:endParaRPr kumimoji="1" lang="en-US" altLang="zh-CN"/>
          </a:p>
          <a:p>
            <a:pPr lvl="1"/>
            <a:r>
              <a:rPr kumimoji="1" lang="zh-CN" altLang="en-US"/>
              <a:t>应用态：创建</a:t>
            </a:r>
            <a:r>
              <a:rPr kumimoji="1" lang="en-US" altLang="zh-CN"/>
              <a:t>TCB</a:t>
            </a:r>
            <a:r>
              <a:rPr kumimoji="1" lang="zh-CN" altLang="en-US"/>
              <a:t>、应用栈和</a:t>
            </a:r>
            <a:r>
              <a:rPr kumimoji="1" lang="en-US" altLang="zh-CN"/>
              <a:t>TLS</a:t>
            </a:r>
          </a:p>
          <a:p>
            <a:pPr lvl="1"/>
            <a:endParaRPr kumimoji="1" lang="en-US" altLang="zh-CN"/>
          </a:p>
          <a:p>
            <a:r>
              <a:rPr kumimoji="1" lang="zh-CN" altLang="en-US"/>
              <a:t>合并：</a:t>
            </a:r>
            <a:r>
              <a:rPr kumimoji="1" lang="en-US" altLang="zh-CN"/>
              <a:t>pthread_join</a:t>
            </a:r>
          </a:p>
          <a:p>
            <a:pPr lvl="1"/>
            <a:r>
              <a:rPr kumimoji="1" lang="zh-CN" altLang="en-US"/>
              <a:t>等待另一线程执行完成，并获取其执行结果</a:t>
            </a:r>
            <a:endParaRPr kumimoji="1" lang="en-US" altLang="zh-CN"/>
          </a:p>
          <a:p>
            <a:pPr lvl="1"/>
            <a:r>
              <a:rPr kumimoji="1" lang="zh-CN" altLang="en-US"/>
              <a:t>可以认为是</a:t>
            </a:r>
            <a:r>
              <a:rPr kumimoji="1" lang="en-US" altLang="zh-CN"/>
              <a:t>fork</a:t>
            </a:r>
            <a:r>
              <a:rPr kumimoji="1" lang="zh-CN" altLang="en-US"/>
              <a:t>的“逆向操作”</a:t>
            </a: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E4516-5E31-C04A-8C13-0EC28D42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F47C72-4DBD-7E46-8966-E08338F96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515330"/>
            <a:ext cx="1612900" cy="2794000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A566CB-D8C4-1043-B59B-09DD5A0A8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89587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A64F0-5085-374C-A434-E9A7891B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线程的基本操作：以</a:t>
            </a:r>
            <a:r>
              <a:rPr kumimoji="1" lang="en-US" altLang="zh-CN" i="1"/>
              <a:t>pthreads</a:t>
            </a:r>
            <a:r>
              <a:rPr kumimoji="1" lang="zh-CN" altLang="en-US"/>
              <a:t>为例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5C7D4-F1B9-8147-9FCD-167DA2AD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退出：</a:t>
            </a:r>
            <a:r>
              <a:rPr kumimoji="1" lang="en-US" altLang="zh-CN"/>
              <a:t>pthread_exit</a:t>
            </a:r>
          </a:p>
          <a:p>
            <a:pPr lvl="1"/>
            <a:r>
              <a:rPr kumimoji="1" lang="zh-CN" altLang="en-US"/>
              <a:t>可设置返回值（会被</a:t>
            </a:r>
            <a:r>
              <a:rPr kumimoji="1" lang="en-US" altLang="zh-CN"/>
              <a:t>pthread_join</a:t>
            </a:r>
            <a:r>
              <a:rPr kumimoji="1" lang="zh-CN" altLang="en-US"/>
              <a:t>获取）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暂停：</a:t>
            </a:r>
            <a:r>
              <a:rPr kumimoji="1" lang="en-US" altLang="zh-CN"/>
              <a:t>pthread_yield</a:t>
            </a:r>
          </a:p>
          <a:p>
            <a:pPr lvl="1"/>
            <a:r>
              <a:rPr kumimoji="1" lang="zh-CN" altLang="en-US"/>
              <a:t>立即暂停执行，出让</a:t>
            </a:r>
            <a:r>
              <a:rPr kumimoji="1" lang="en-US" altLang="zh-CN"/>
              <a:t>CPU</a:t>
            </a:r>
            <a:r>
              <a:rPr kumimoji="1" lang="zh-CN" altLang="en-US"/>
              <a:t>资源给其它线程</a:t>
            </a:r>
            <a:endParaRPr kumimoji="1" lang="en-US" altLang="zh-CN"/>
          </a:p>
          <a:p>
            <a:pPr lvl="1"/>
            <a:r>
              <a:rPr kumimoji="1" lang="zh-CN" altLang="en-US"/>
              <a:t>好处：可以帮助调度器做出更优的决策</a:t>
            </a: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E4516-5E31-C04A-8C13-0EC28D42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BC7051-2CEE-ED4A-9FA7-CD926DF7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94823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上下文切换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上下文组成 </a:t>
            </a:r>
            <a:r>
              <a:rPr lang="en-US" altLang="zh-CN" dirty="0"/>
              <a:t>–</a:t>
            </a:r>
            <a:r>
              <a:rPr lang="zh-CN" altLang="en-US" dirty="0"/>
              <a:t> 上下文切换 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3505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F855E-930D-1144-B0E5-CF502859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如何实现上下文切换？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D4796-C8D8-724B-BD50-79BA11838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进程怎样切换到内核中执行？如何切换回用户态？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B6E533-E4D9-394A-9079-3B9D679B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BB01C1-B3FA-194F-B919-BFFF21CD2602}"/>
              </a:ext>
            </a:extLst>
          </p:cNvPr>
          <p:cNvSpPr txBox="1"/>
          <p:nvPr/>
        </p:nvSpPr>
        <p:spPr>
          <a:xfrm>
            <a:off x="6481153" y="35775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E5F54EF1-FB4F-C44C-8A70-8F2B8C38D6A5}"/>
              </a:ext>
            </a:extLst>
          </p:cNvPr>
          <p:cNvCxnSpPr/>
          <p:nvPr/>
        </p:nvCxnSpPr>
        <p:spPr>
          <a:xfrm>
            <a:off x="1259632" y="4340461"/>
            <a:ext cx="6336704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08289DC-9D3F-B84F-8ABB-EF8B1FE25BBF}"/>
              </a:ext>
            </a:extLst>
          </p:cNvPr>
          <p:cNvSpPr txBox="1"/>
          <p:nvPr/>
        </p:nvSpPr>
        <p:spPr>
          <a:xfrm>
            <a:off x="6481152" y="4556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3D1910-0C26-A048-8B47-DB711C2FD6F4}"/>
              </a:ext>
            </a:extLst>
          </p:cNvPr>
          <p:cNvSpPr/>
          <p:nvPr/>
        </p:nvSpPr>
        <p:spPr>
          <a:xfrm>
            <a:off x="2543239" y="3762032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B6F2B4-1C75-CD4B-99FF-C737CFDD31D6}"/>
              </a:ext>
            </a:extLst>
          </p:cNvPr>
          <p:cNvSpPr txBox="1"/>
          <p:nvPr/>
        </p:nvSpPr>
        <p:spPr>
          <a:xfrm>
            <a:off x="2563498" y="3796084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shell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ACBEA6-37D8-314E-B942-252A38EFBD50}"/>
              </a:ext>
            </a:extLst>
          </p:cNvPr>
          <p:cNvSpPr/>
          <p:nvPr/>
        </p:nvSpPr>
        <p:spPr>
          <a:xfrm>
            <a:off x="4819528" y="3764248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F69ABF-AF5F-2B49-9E30-BEFE0466153E}"/>
              </a:ext>
            </a:extLst>
          </p:cNvPr>
          <p:cNvSpPr txBox="1"/>
          <p:nvPr/>
        </p:nvSpPr>
        <p:spPr>
          <a:xfrm>
            <a:off x="5016926" y="3796084"/>
            <a:ext cx="436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ls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444755BD-B06B-AE43-AA14-C230615AC8A8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903279" y="4194080"/>
            <a:ext cx="0" cy="5536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95C6F9A-DAB2-C340-95D8-9E3B07615B29}"/>
              </a:ext>
            </a:extLst>
          </p:cNvPr>
          <p:cNvSpPr txBox="1"/>
          <p:nvPr/>
        </p:nvSpPr>
        <p:spPr>
          <a:xfrm>
            <a:off x="1577837" y="437842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进入内核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1DA7AF4-1618-F14C-89E6-C5A41E879430}"/>
              </a:ext>
            </a:extLst>
          </p:cNvPr>
          <p:cNvCxnSpPr>
            <a:cxnSpLocks/>
          </p:cNvCxnSpPr>
          <p:nvPr/>
        </p:nvCxnSpPr>
        <p:spPr>
          <a:xfrm>
            <a:off x="2903279" y="4747757"/>
            <a:ext cx="290520" cy="378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03FD798-4306-A545-B3CE-403BBECD8EB5}"/>
              </a:ext>
            </a:extLst>
          </p:cNvPr>
          <p:cNvSpPr/>
          <p:nvPr/>
        </p:nvSpPr>
        <p:spPr>
          <a:xfrm>
            <a:off x="2903279" y="5152464"/>
            <a:ext cx="579005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0E8446-0E8E-CD48-884B-368249CDFCFA}"/>
              </a:ext>
            </a:extLst>
          </p:cNvPr>
          <p:cNvSpPr txBox="1"/>
          <p:nvPr/>
        </p:nvSpPr>
        <p:spPr>
          <a:xfrm>
            <a:off x="2886447" y="515246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andara" panose="020E0502030303020204" pitchFamily="34" charset="0"/>
              </a:rPr>
              <a:t>cxt0</a:t>
            </a:r>
            <a:endParaRPr kumimoji="1" lang="zh-CN" altLang="en-US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2FDDE8-C782-1849-BD88-F80280BFE4CE}"/>
              </a:ext>
            </a:extLst>
          </p:cNvPr>
          <p:cNvSpPr txBox="1"/>
          <p:nvPr/>
        </p:nvSpPr>
        <p:spPr>
          <a:xfrm>
            <a:off x="1349649" y="4791075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保存上下文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F3DE2BD-EA20-DE44-81DA-3D54AFEE1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5173341"/>
            <a:ext cx="337320" cy="334949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0E26A9A-B386-4D4E-80A8-600C369E5F16}"/>
              </a:ext>
            </a:extLst>
          </p:cNvPr>
          <p:cNvSpPr/>
          <p:nvPr/>
        </p:nvSpPr>
        <p:spPr>
          <a:xfrm>
            <a:off x="4415318" y="5138958"/>
            <a:ext cx="579005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5C354E-0703-674B-8D08-898D081EEFC0}"/>
              </a:ext>
            </a:extLst>
          </p:cNvPr>
          <p:cNvSpPr txBox="1"/>
          <p:nvPr/>
        </p:nvSpPr>
        <p:spPr>
          <a:xfrm>
            <a:off x="4398486" y="5138958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andara" panose="020E0502030303020204" pitchFamily="34" charset="0"/>
              </a:rPr>
              <a:t>cxt1</a:t>
            </a:r>
            <a:endParaRPr kumimoji="1" lang="zh-CN" altLang="en-US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5ACE704D-640B-C641-876F-39E5BDBD29B6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499115" y="5337130"/>
            <a:ext cx="280797" cy="36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6A5EED61-A40B-9F43-8726-92F78CE76D79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4117232" y="5323624"/>
            <a:ext cx="281254" cy="171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02AA6F8-A83F-B946-A31A-D80CB565922D}"/>
              </a:ext>
            </a:extLst>
          </p:cNvPr>
          <p:cNvSpPr txBox="1"/>
          <p:nvPr/>
        </p:nvSpPr>
        <p:spPr>
          <a:xfrm>
            <a:off x="3482284" y="479213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3.</a:t>
            </a:r>
            <a:r>
              <a:rPr kumimoji="1" lang="zh-CN" altLang="en-US" dirty="0"/>
              <a:t>切换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F7E27C15-F99A-2246-BA05-E81A69692B4C}"/>
              </a:ext>
            </a:extLst>
          </p:cNvPr>
          <p:cNvCxnSpPr>
            <a:cxnSpLocks/>
          </p:cNvCxnSpPr>
          <p:nvPr/>
        </p:nvCxnSpPr>
        <p:spPr>
          <a:xfrm>
            <a:off x="5178615" y="4194080"/>
            <a:ext cx="0" cy="553677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35E0D9B7-010F-D444-98F9-B23F88B45E27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4681577" y="4716217"/>
            <a:ext cx="481620" cy="42274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C3A7618-3CB3-9546-BB06-119B80760E2C}"/>
              </a:ext>
            </a:extLst>
          </p:cNvPr>
          <p:cNvSpPr txBox="1"/>
          <p:nvPr/>
        </p:nvSpPr>
        <p:spPr>
          <a:xfrm>
            <a:off x="4981499" y="4789840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恢复上下文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A3DC49-3A0A-F64E-9D58-03621BE875C9}"/>
              </a:ext>
            </a:extLst>
          </p:cNvPr>
          <p:cNvSpPr txBox="1"/>
          <p:nvPr/>
        </p:nvSpPr>
        <p:spPr>
          <a:xfrm>
            <a:off x="5163197" y="437944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离开内核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2AEC2A-E26C-DF42-83B9-0938C8E6B8AD}"/>
              </a:ext>
            </a:extLst>
          </p:cNvPr>
          <p:cNvSpPr/>
          <p:nvPr/>
        </p:nvSpPr>
        <p:spPr>
          <a:xfrm>
            <a:off x="1069541" y="3520810"/>
            <a:ext cx="6724810" cy="763319"/>
          </a:xfrm>
          <a:prstGeom prst="rect">
            <a:avLst/>
          </a:prstGeom>
          <a:solidFill>
            <a:schemeClr val="bg1">
              <a:alpha val="794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BA5098-68C6-8B4E-8272-B91B4179AA02}"/>
              </a:ext>
            </a:extLst>
          </p:cNvPr>
          <p:cNvSpPr/>
          <p:nvPr/>
        </p:nvSpPr>
        <p:spPr>
          <a:xfrm>
            <a:off x="1052913" y="4821380"/>
            <a:ext cx="5500286" cy="739354"/>
          </a:xfrm>
          <a:prstGeom prst="rect">
            <a:avLst/>
          </a:prstGeom>
          <a:solidFill>
            <a:schemeClr val="bg1">
              <a:alpha val="794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·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18360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F855E-930D-1144-B0E5-CF502859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如何实现上下文切换？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D4796-C8D8-724B-BD50-79BA11838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进程怎样切换到内核中执行？如何切换回用户态？</a:t>
            </a:r>
            <a:endParaRPr kumimoji="1" lang="en-US" altLang="zh-CN" dirty="0"/>
          </a:p>
          <a:p>
            <a:r>
              <a:rPr kumimoji="1" lang="zh-CN" altLang="en-US" dirty="0"/>
              <a:t>如何对上下文进行保存和恢复？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B6E533-E4D9-394A-9079-3B9D679B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BB01C1-B3FA-194F-B919-BFFF21CD2602}"/>
              </a:ext>
            </a:extLst>
          </p:cNvPr>
          <p:cNvSpPr txBox="1"/>
          <p:nvPr/>
        </p:nvSpPr>
        <p:spPr>
          <a:xfrm>
            <a:off x="6481153" y="35775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E5F54EF1-FB4F-C44C-8A70-8F2B8C38D6A5}"/>
              </a:ext>
            </a:extLst>
          </p:cNvPr>
          <p:cNvCxnSpPr/>
          <p:nvPr/>
        </p:nvCxnSpPr>
        <p:spPr>
          <a:xfrm>
            <a:off x="1259632" y="4340461"/>
            <a:ext cx="6336704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08289DC-9D3F-B84F-8ABB-EF8B1FE25BBF}"/>
              </a:ext>
            </a:extLst>
          </p:cNvPr>
          <p:cNvSpPr txBox="1"/>
          <p:nvPr/>
        </p:nvSpPr>
        <p:spPr>
          <a:xfrm>
            <a:off x="6481152" y="4556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3D1910-0C26-A048-8B47-DB711C2FD6F4}"/>
              </a:ext>
            </a:extLst>
          </p:cNvPr>
          <p:cNvSpPr/>
          <p:nvPr/>
        </p:nvSpPr>
        <p:spPr>
          <a:xfrm>
            <a:off x="2543239" y="3762032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B6F2B4-1C75-CD4B-99FF-C737CFDD31D6}"/>
              </a:ext>
            </a:extLst>
          </p:cNvPr>
          <p:cNvSpPr txBox="1"/>
          <p:nvPr/>
        </p:nvSpPr>
        <p:spPr>
          <a:xfrm>
            <a:off x="2563498" y="3796084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shell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ACBEA6-37D8-314E-B942-252A38EFBD50}"/>
              </a:ext>
            </a:extLst>
          </p:cNvPr>
          <p:cNvSpPr/>
          <p:nvPr/>
        </p:nvSpPr>
        <p:spPr>
          <a:xfrm>
            <a:off x="4819528" y="3764248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F69ABF-AF5F-2B49-9E30-BEFE0466153E}"/>
              </a:ext>
            </a:extLst>
          </p:cNvPr>
          <p:cNvSpPr txBox="1"/>
          <p:nvPr/>
        </p:nvSpPr>
        <p:spPr>
          <a:xfrm>
            <a:off x="5016926" y="3796084"/>
            <a:ext cx="436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ls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444755BD-B06B-AE43-AA14-C230615AC8A8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903279" y="4194080"/>
            <a:ext cx="0" cy="5536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95C6F9A-DAB2-C340-95D8-9E3B07615B29}"/>
              </a:ext>
            </a:extLst>
          </p:cNvPr>
          <p:cNvSpPr txBox="1"/>
          <p:nvPr/>
        </p:nvSpPr>
        <p:spPr>
          <a:xfrm>
            <a:off x="1577837" y="437842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进入内核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1DA7AF4-1618-F14C-89E6-C5A41E879430}"/>
              </a:ext>
            </a:extLst>
          </p:cNvPr>
          <p:cNvCxnSpPr>
            <a:cxnSpLocks/>
          </p:cNvCxnSpPr>
          <p:nvPr/>
        </p:nvCxnSpPr>
        <p:spPr>
          <a:xfrm>
            <a:off x="2903279" y="4747757"/>
            <a:ext cx="290520" cy="378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03FD798-4306-A545-B3CE-403BBECD8EB5}"/>
              </a:ext>
            </a:extLst>
          </p:cNvPr>
          <p:cNvSpPr/>
          <p:nvPr/>
        </p:nvSpPr>
        <p:spPr>
          <a:xfrm>
            <a:off x="2903279" y="5152464"/>
            <a:ext cx="579005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0E8446-0E8E-CD48-884B-368249CDFCFA}"/>
              </a:ext>
            </a:extLst>
          </p:cNvPr>
          <p:cNvSpPr txBox="1"/>
          <p:nvPr/>
        </p:nvSpPr>
        <p:spPr>
          <a:xfrm>
            <a:off x="2886447" y="515246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andara" panose="020E0502030303020204" pitchFamily="34" charset="0"/>
              </a:rPr>
              <a:t>cxt0</a:t>
            </a:r>
            <a:endParaRPr kumimoji="1" lang="zh-CN" altLang="en-US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2FDDE8-C782-1849-BD88-F80280BFE4CE}"/>
              </a:ext>
            </a:extLst>
          </p:cNvPr>
          <p:cNvSpPr txBox="1"/>
          <p:nvPr/>
        </p:nvSpPr>
        <p:spPr>
          <a:xfrm>
            <a:off x="1349649" y="4791075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保存上下文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F3DE2BD-EA20-DE44-81DA-3D54AFEE1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5173341"/>
            <a:ext cx="337320" cy="334949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0E26A9A-B386-4D4E-80A8-600C369E5F16}"/>
              </a:ext>
            </a:extLst>
          </p:cNvPr>
          <p:cNvSpPr/>
          <p:nvPr/>
        </p:nvSpPr>
        <p:spPr>
          <a:xfrm>
            <a:off x="4415318" y="5138958"/>
            <a:ext cx="579005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5C354E-0703-674B-8D08-898D081EEFC0}"/>
              </a:ext>
            </a:extLst>
          </p:cNvPr>
          <p:cNvSpPr txBox="1"/>
          <p:nvPr/>
        </p:nvSpPr>
        <p:spPr>
          <a:xfrm>
            <a:off x="4398486" y="5138958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andara" panose="020E0502030303020204" pitchFamily="34" charset="0"/>
              </a:rPr>
              <a:t>cxt1</a:t>
            </a:r>
            <a:endParaRPr kumimoji="1" lang="zh-CN" altLang="en-US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5ACE704D-640B-C641-876F-39E5BDBD29B6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499115" y="5337130"/>
            <a:ext cx="280797" cy="36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6A5EED61-A40B-9F43-8726-92F78CE76D79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4117232" y="5323624"/>
            <a:ext cx="281254" cy="171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02AA6F8-A83F-B946-A31A-D80CB565922D}"/>
              </a:ext>
            </a:extLst>
          </p:cNvPr>
          <p:cNvSpPr txBox="1"/>
          <p:nvPr/>
        </p:nvSpPr>
        <p:spPr>
          <a:xfrm>
            <a:off x="3482284" y="479213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3.</a:t>
            </a:r>
            <a:r>
              <a:rPr kumimoji="1" lang="zh-CN" altLang="en-US" dirty="0"/>
              <a:t>切换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F7E27C15-F99A-2246-BA05-E81A69692B4C}"/>
              </a:ext>
            </a:extLst>
          </p:cNvPr>
          <p:cNvCxnSpPr>
            <a:cxnSpLocks/>
          </p:cNvCxnSpPr>
          <p:nvPr/>
        </p:nvCxnSpPr>
        <p:spPr>
          <a:xfrm>
            <a:off x="5178615" y="4194080"/>
            <a:ext cx="0" cy="553677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35E0D9B7-010F-D444-98F9-B23F88B45E27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4681577" y="4716217"/>
            <a:ext cx="481620" cy="42274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C3A7618-3CB3-9546-BB06-119B80760E2C}"/>
              </a:ext>
            </a:extLst>
          </p:cNvPr>
          <p:cNvSpPr txBox="1"/>
          <p:nvPr/>
        </p:nvSpPr>
        <p:spPr>
          <a:xfrm>
            <a:off x="4981499" y="4789840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恢复上下文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A3DC49-3A0A-F64E-9D58-03621BE875C9}"/>
              </a:ext>
            </a:extLst>
          </p:cNvPr>
          <p:cNvSpPr txBox="1"/>
          <p:nvPr/>
        </p:nvSpPr>
        <p:spPr>
          <a:xfrm>
            <a:off x="5163197" y="437944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离开内核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2AEC2A-E26C-DF42-83B9-0938C8E6B8AD}"/>
              </a:ext>
            </a:extLst>
          </p:cNvPr>
          <p:cNvSpPr/>
          <p:nvPr/>
        </p:nvSpPr>
        <p:spPr>
          <a:xfrm>
            <a:off x="1069541" y="3520810"/>
            <a:ext cx="6724810" cy="763319"/>
          </a:xfrm>
          <a:prstGeom prst="rect">
            <a:avLst/>
          </a:prstGeom>
          <a:solidFill>
            <a:schemeClr val="bg1">
              <a:alpha val="794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BA5098-68C6-8B4E-8272-B91B4179AA02}"/>
              </a:ext>
            </a:extLst>
          </p:cNvPr>
          <p:cNvSpPr/>
          <p:nvPr/>
        </p:nvSpPr>
        <p:spPr>
          <a:xfrm>
            <a:off x="1259631" y="4379209"/>
            <a:ext cx="5293569" cy="424137"/>
          </a:xfrm>
          <a:prstGeom prst="rect">
            <a:avLst/>
          </a:prstGeom>
          <a:solidFill>
            <a:schemeClr val="bg1">
              <a:alpha val="794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·</a:t>
            </a:r>
            <a:endParaRPr kumimoji="1"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A79B901-FABF-184C-B01A-EE1A78570409}"/>
              </a:ext>
            </a:extLst>
          </p:cNvPr>
          <p:cNvSpPr/>
          <p:nvPr/>
        </p:nvSpPr>
        <p:spPr>
          <a:xfrm>
            <a:off x="3554401" y="4842094"/>
            <a:ext cx="783406" cy="700758"/>
          </a:xfrm>
          <a:prstGeom prst="rect">
            <a:avLst/>
          </a:prstGeom>
          <a:solidFill>
            <a:schemeClr val="bg1">
              <a:alpha val="794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·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0223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F855E-930D-1144-B0E5-CF502859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如何实现上下文切换？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B6E533-E4D9-394A-9079-3B9D679B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BB01C1-B3FA-194F-B919-BFFF21CD2602}"/>
              </a:ext>
            </a:extLst>
          </p:cNvPr>
          <p:cNvSpPr txBox="1"/>
          <p:nvPr/>
        </p:nvSpPr>
        <p:spPr>
          <a:xfrm>
            <a:off x="6481153" y="35775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E5F54EF1-FB4F-C44C-8A70-8F2B8C38D6A5}"/>
              </a:ext>
            </a:extLst>
          </p:cNvPr>
          <p:cNvCxnSpPr/>
          <p:nvPr/>
        </p:nvCxnSpPr>
        <p:spPr>
          <a:xfrm>
            <a:off x="1259632" y="4340461"/>
            <a:ext cx="6336704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08289DC-9D3F-B84F-8ABB-EF8B1FE25BBF}"/>
              </a:ext>
            </a:extLst>
          </p:cNvPr>
          <p:cNvSpPr txBox="1"/>
          <p:nvPr/>
        </p:nvSpPr>
        <p:spPr>
          <a:xfrm>
            <a:off x="6481152" y="4556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3D1910-0C26-A048-8B47-DB711C2FD6F4}"/>
              </a:ext>
            </a:extLst>
          </p:cNvPr>
          <p:cNvSpPr/>
          <p:nvPr/>
        </p:nvSpPr>
        <p:spPr>
          <a:xfrm>
            <a:off x="2543239" y="3762032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B6F2B4-1C75-CD4B-99FF-C737CFDD31D6}"/>
              </a:ext>
            </a:extLst>
          </p:cNvPr>
          <p:cNvSpPr txBox="1"/>
          <p:nvPr/>
        </p:nvSpPr>
        <p:spPr>
          <a:xfrm>
            <a:off x="2563498" y="3796084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shell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ACBEA6-37D8-314E-B942-252A38EFBD50}"/>
              </a:ext>
            </a:extLst>
          </p:cNvPr>
          <p:cNvSpPr/>
          <p:nvPr/>
        </p:nvSpPr>
        <p:spPr>
          <a:xfrm>
            <a:off x="4819528" y="3764248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F69ABF-AF5F-2B49-9E30-BEFE0466153E}"/>
              </a:ext>
            </a:extLst>
          </p:cNvPr>
          <p:cNvSpPr txBox="1"/>
          <p:nvPr/>
        </p:nvSpPr>
        <p:spPr>
          <a:xfrm>
            <a:off x="5016926" y="3796084"/>
            <a:ext cx="436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ls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444755BD-B06B-AE43-AA14-C230615AC8A8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903279" y="4194080"/>
            <a:ext cx="0" cy="5536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95C6F9A-DAB2-C340-95D8-9E3B07615B29}"/>
              </a:ext>
            </a:extLst>
          </p:cNvPr>
          <p:cNvSpPr txBox="1"/>
          <p:nvPr/>
        </p:nvSpPr>
        <p:spPr>
          <a:xfrm>
            <a:off x="1577837" y="437842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进入内核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1DA7AF4-1618-F14C-89E6-C5A41E879430}"/>
              </a:ext>
            </a:extLst>
          </p:cNvPr>
          <p:cNvCxnSpPr>
            <a:cxnSpLocks/>
          </p:cNvCxnSpPr>
          <p:nvPr/>
        </p:nvCxnSpPr>
        <p:spPr>
          <a:xfrm>
            <a:off x="2903279" y="4747757"/>
            <a:ext cx="290520" cy="378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03FD798-4306-A545-B3CE-403BBECD8EB5}"/>
              </a:ext>
            </a:extLst>
          </p:cNvPr>
          <p:cNvSpPr/>
          <p:nvPr/>
        </p:nvSpPr>
        <p:spPr>
          <a:xfrm>
            <a:off x="2903279" y="5152464"/>
            <a:ext cx="579005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0E8446-0E8E-CD48-884B-368249CDFCFA}"/>
              </a:ext>
            </a:extLst>
          </p:cNvPr>
          <p:cNvSpPr txBox="1"/>
          <p:nvPr/>
        </p:nvSpPr>
        <p:spPr>
          <a:xfrm>
            <a:off x="2886447" y="515246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andara" panose="020E0502030303020204" pitchFamily="34" charset="0"/>
              </a:rPr>
              <a:t>cxt0</a:t>
            </a:r>
            <a:endParaRPr kumimoji="1" lang="zh-CN" altLang="en-US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2FDDE8-C782-1849-BD88-F80280BFE4CE}"/>
              </a:ext>
            </a:extLst>
          </p:cNvPr>
          <p:cNvSpPr txBox="1"/>
          <p:nvPr/>
        </p:nvSpPr>
        <p:spPr>
          <a:xfrm>
            <a:off x="1349649" y="4791075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保存上下文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F3DE2BD-EA20-DE44-81DA-3D54AFEE1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5173341"/>
            <a:ext cx="337320" cy="334949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0E26A9A-B386-4D4E-80A8-600C369E5F16}"/>
              </a:ext>
            </a:extLst>
          </p:cNvPr>
          <p:cNvSpPr/>
          <p:nvPr/>
        </p:nvSpPr>
        <p:spPr>
          <a:xfrm>
            <a:off x="4415318" y="5138958"/>
            <a:ext cx="579005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5C354E-0703-674B-8D08-898D081EEFC0}"/>
              </a:ext>
            </a:extLst>
          </p:cNvPr>
          <p:cNvSpPr txBox="1"/>
          <p:nvPr/>
        </p:nvSpPr>
        <p:spPr>
          <a:xfrm>
            <a:off x="4398486" y="5138958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andara" panose="020E0502030303020204" pitchFamily="34" charset="0"/>
              </a:rPr>
              <a:t>cxt1</a:t>
            </a:r>
            <a:endParaRPr kumimoji="1" lang="zh-CN" altLang="en-US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5ACE704D-640B-C641-876F-39E5BDBD29B6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499115" y="5337130"/>
            <a:ext cx="280797" cy="36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6A5EED61-A40B-9F43-8726-92F78CE76D79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4117232" y="5323624"/>
            <a:ext cx="281254" cy="171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F7E27C15-F99A-2246-BA05-E81A69692B4C}"/>
              </a:ext>
            </a:extLst>
          </p:cNvPr>
          <p:cNvCxnSpPr>
            <a:cxnSpLocks/>
          </p:cNvCxnSpPr>
          <p:nvPr/>
        </p:nvCxnSpPr>
        <p:spPr>
          <a:xfrm>
            <a:off x="5178615" y="4194080"/>
            <a:ext cx="0" cy="553677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35E0D9B7-010F-D444-98F9-B23F88B45E27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4681577" y="4716217"/>
            <a:ext cx="481620" cy="42274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C3A7618-3CB3-9546-BB06-119B80760E2C}"/>
              </a:ext>
            </a:extLst>
          </p:cNvPr>
          <p:cNvSpPr txBox="1"/>
          <p:nvPr/>
        </p:nvSpPr>
        <p:spPr>
          <a:xfrm>
            <a:off x="4981499" y="4789840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恢复上下文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A3DC49-3A0A-F64E-9D58-03621BE875C9}"/>
              </a:ext>
            </a:extLst>
          </p:cNvPr>
          <p:cNvSpPr txBox="1"/>
          <p:nvPr/>
        </p:nvSpPr>
        <p:spPr>
          <a:xfrm>
            <a:off x="5163197" y="437944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离开内核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2AEC2A-E26C-DF42-83B9-0938C8E6B8AD}"/>
              </a:ext>
            </a:extLst>
          </p:cNvPr>
          <p:cNvSpPr/>
          <p:nvPr/>
        </p:nvSpPr>
        <p:spPr>
          <a:xfrm>
            <a:off x="1069541" y="3520810"/>
            <a:ext cx="6724810" cy="1595172"/>
          </a:xfrm>
          <a:prstGeom prst="rect">
            <a:avLst/>
          </a:prstGeom>
          <a:solidFill>
            <a:schemeClr val="bg1">
              <a:alpha val="794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D4796-C8D8-724B-BD50-79BA11838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进程怎样切换到内核中执行？如何切换回用户态？</a:t>
            </a:r>
            <a:endParaRPr kumimoji="1" lang="en-US" altLang="zh-CN" dirty="0"/>
          </a:p>
          <a:p>
            <a:r>
              <a:rPr kumimoji="1" lang="zh-CN" altLang="en-US" dirty="0"/>
              <a:t>如何对上下文进行保存和恢复？</a:t>
            </a:r>
            <a:endParaRPr kumimoji="1" lang="en-US" altLang="zh-CN" dirty="0"/>
          </a:p>
          <a:p>
            <a:r>
              <a:rPr kumimoji="1" lang="zh-CN" altLang="en-US" dirty="0"/>
              <a:t>如何实现关键的切换步骤？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2AA6F8-A83F-B946-A31A-D80CB565922D}"/>
              </a:ext>
            </a:extLst>
          </p:cNvPr>
          <p:cNvSpPr txBox="1"/>
          <p:nvPr/>
        </p:nvSpPr>
        <p:spPr>
          <a:xfrm>
            <a:off x="3482284" y="479213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3.</a:t>
            </a:r>
            <a:r>
              <a:rPr kumimoji="1" lang="zh-CN" altLang="en-US" dirty="0"/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3517374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DA733CD-3AEB-4B46-94A6-5A589E4A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进程上下文的组成（</a:t>
            </a:r>
            <a:r>
              <a:rPr lang="en-US" altLang="zh-CN" dirty="0"/>
              <a:t>AArch64</a:t>
            </a:r>
            <a:r>
              <a:rPr lang="zh-CN" altLang="en-US" dirty="0"/>
              <a:t>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AD042E-2DF9-604E-A9F5-C0AB7E932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进程上下文需要包含哪些内容？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常规寄存器：</a:t>
            </a:r>
            <a:r>
              <a:rPr kumimoji="1" lang="en-US" altLang="zh-CN" dirty="0"/>
              <a:t>X0-X30</a:t>
            </a:r>
          </a:p>
          <a:p>
            <a:pPr lvl="1"/>
            <a:r>
              <a:rPr kumimoji="1" lang="zh-CN" altLang="en-US" dirty="0"/>
              <a:t>程序计数器（</a:t>
            </a:r>
            <a:r>
              <a:rPr kumimoji="1" lang="en-US" altLang="zh-CN" dirty="0"/>
              <a:t>PC</a:t>
            </a:r>
            <a:r>
              <a:rPr kumimoji="1" lang="zh-CN" altLang="en-US" dirty="0"/>
              <a:t>）：</a:t>
            </a:r>
            <a:r>
              <a:rPr kumimoji="1" lang="en-US" altLang="zh-CN" dirty="0"/>
              <a:t> </a:t>
            </a:r>
            <a:r>
              <a:rPr kumimoji="1" lang="zh-CN" altLang="en-US" dirty="0"/>
              <a:t>保存在</a:t>
            </a:r>
            <a:r>
              <a:rPr kumimoji="1" lang="en-US" altLang="zh-CN" dirty="0"/>
              <a:t>ELR_EL1 </a:t>
            </a:r>
          </a:p>
          <a:p>
            <a:pPr lvl="1"/>
            <a:r>
              <a:rPr kumimoji="1" lang="zh-CN" altLang="en-US" dirty="0"/>
              <a:t>栈指针：</a:t>
            </a:r>
            <a:r>
              <a:rPr kumimoji="1" lang="en-US" altLang="zh-CN" dirty="0"/>
              <a:t>SP_EL0</a:t>
            </a:r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状态（如条件码）：保存在</a:t>
            </a:r>
            <a:r>
              <a:rPr kumimoji="1" lang="en-US" altLang="zh-CN" dirty="0"/>
              <a:t>SPSR_EL1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思考：为什么进程上下文只需要保存寄存器信息，而不用保存内存？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51F79D-4E08-6F4F-BFDE-C7D0E3D8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997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30CA0-44A1-0841-9540-E2BAA96B5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进程的内核态执行：切换到内核态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08B4F4-9676-2F42-9643-C2D04123C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提供了硬件支持，使进程切换到内核态执行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5E82AA-DDD9-9841-A8C9-6AB36634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C2B2AE-DEEE-F54A-A4FC-6EEA7D3F79B7}"/>
              </a:ext>
            </a:extLst>
          </p:cNvPr>
          <p:cNvSpPr txBox="1"/>
          <p:nvPr/>
        </p:nvSpPr>
        <p:spPr>
          <a:xfrm>
            <a:off x="6481153" y="35775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3D6C2366-C54A-1147-A28C-EB66F4A2924B}"/>
              </a:ext>
            </a:extLst>
          </p:cNvPr>
          <p:cNvCxnSpPr/>
          <p:nvPr/>
        </p:nvCxnSpPr>
        <p:spPr>
          <a:xfrm>
            <a:off x="1259632" y="4340461"/>
            <a:ext cx="6336704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219D463-2618-344A-9625-6A6422765D8E}"/>
              </a:ext>
            </a:extLst>
          </p:cNvPr>
          <p:cNvSpPr/>
          <p:nvPr/>
        </p:nvSpPr>
        <p:spPr>
          <a:xfrm>
            <a:off x="3775451" y="3762032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67A74F-F588-1347-8139-D52C265DA32D}"/>
              </a:ext>
            </a:extLst>
          </p:cNvPr>
          <p:cNvSpPr txBox="1"/>
          <p:nvPr/>
        </p:nvSpPr>
        <p:spPr>
          <a:xfrm>
            <a:off x="3819201" y="380487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shell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D103F8D-FC26-D14B-A600-6EBE0B41EA71}"/>
              </a:ext>
            </a:extLst>
          </p:cNvPr>
          <p:cNvSpPr txBox="1"/>
          <p:nvPr/>
        </p:nvSpPr>
        <p:spPr>
          <a:xfrm>
            <a:off x="6481152" y="4556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EDE119-67EA-2746-BB76-B96D3C8B5562}"/>
              </a:ext>
            </a:extLst>
          </p:cNvPr>
          <p:cNvSpPr/>
          <p:nvPr/>
        </p:nvSpPr>
        <p:spPr>
          <a:xfrm>
            <a:off x="2440934" y="3240456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E31B0E-423C-B244-A5C5-D039F78D4D61}"/>
              </a:ext>
            </a:extLst>
          </p:cNvPr>
          <p:cNvSpPr/>
          <p:nvPr/>
        </p:nvSpPr>
        <p:spPr>
          <a:xfrm>
            <a:off x="2440934" y="3846778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8D888E-1083-1041-B3F8-69A7DF7C98C2}"/>
              </a:ext>
            </a:extLst>
          </p:cNvPr>
          <p:cNvSpPr/>
          <p:nvPr/>
        </p:nvSpPr>
        <p:spPr>
          <a:xfrm>
            <a:off x="2440650" y="3413216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E621D34-5BD4-A34E-BCB3-47CCFCFB1191}"/>
              </a:ext>
            </a:extLst>
          </p:cNvPr>
          <p:cNvSpPr/>
          <p:nvPr/>
        </p:nvSpPr>
        <p:spPr>
          <a:xfrm>
            <a:off x="2440650" y="4500225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B629F8F-A40D-5D4B-A39E-47F49D7E2023}"/>
              </a:ext>
            </a:extLst>
          </p:cNvPr>
          <p:cNvSpPr/>
          <p:nvPr/>
        </p:nvSpPr>
        <p:spPr>
          <a:xfrm>
            <a:off x="2440650" y="5106547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4339B0C-BBA4-054A-91F2-8A6BD772AB4E}"/>
              </a:ext>
            </a:extLst>
          </p:cNvPr>
          <p:cNvSpPr/>
          <p:nvPr/>
        </p:nvSpPr>
        <p:spPr>
          <a:xfrm>
            <a:off x="2440366" y="4672985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4D87F8B-41D8-6E42-ADEC-E68A47258845}"/>
              </a:ext>
            </a:extLst>
          </p:cNvPr>
          <p:cNvSpPr txBox="1"/>
          <p:nvPr/>
        </p:nvSpPr>
        <p:spPr>
          <a:xfrm>
            <a:off x="1332796" y="362353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用户地址空间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B8B8CF1-D7F3-334C-895D-3186C478476F}"/>
              </a:ext>
            </a:extLst>
          </p:cNvPr>
          <p:cNvSpPr txBox="1"/>
          <p:nvPr/>
        </p:nvSpPr>
        <p:spPr>
          <a:xfrm>
            <a:off x="1326721" y="486848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09DD5892-C8AE-794E-855F-0269DA2D801A}"/>
              </a:ext>
            </a:extLst>
          </p:cNvPr>
          <p:cNvCxnSpPr>
            <a:cxnSpLocks/>
          </p:cNvCxnSpPr>
          <p:nvPr/>
        </p:nvCxnSpPr>
        <p:spPr>
          <a:xfrm flipH="1">
            <a:off x="2872414" y="3973914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76DA9395-711D-CF4D-B5CD-A5C36DC596D7}"/>
              </a:ext>
            </a:extLst>
          </p:cNvPr>
          <p:cNvSpPr txBox="1"/>
          <p:nvPr/>
        </p:nvSpPr>
        <p:spPr>
          <a:xfrm>
            <a:off x="2937895" y="3866192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DAFC2A83-14D9-4D46-8FA9-7197168DB351}"/>
              </a:ext>
            </a:extLst>
          </p:cNvPr>
          <p:cNvCxnSpPr>
            <a:cxnSpLocks/>
          </p:cNvCxnSpPr>
          <p:nvPr/>
        </p:nvCxnSpPr>
        <p:spPr>
          <a:xfrm flipH="1">
            <a:off x="2872414" y="3553614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20B9B495-29A4-6346-A99E-5852624ECA6C}"/>
              </a:ext>
            </a:extLst>
          </p:cNvPr>
          <p:cNvSpPr txBox="1"/>
          <p:nvPr/>
        </p:nvSpPr>
        <p:spPr>
          <a:xfrm>
            <a:off x="2937895" y="3445892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131D8ECC-0773-1944-8E30-4DAE10504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269" y="3980750"/>
            <a:ext cx="432048" cy="432651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4B92BC11-0A15-364A-A7F2-1B28D619EA56}"/>
              </a:ext>
            </a:extLst>
          </p:cNvPr>
          <p:cNvSpPr txBox="1"/>
          <p:nvPr/>
        </p:nvSpPr>
        <p:spPr>
          <a:xfrm>
            <a:off x="4476085" y="362777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571F4AA-E7FE-CE4D-9535-E60B2892DDD5}"/>
              </a:ext>
            </a:extLst>
          </p:cNvPr>
          <p:cNvSpPr/>
          <p:nvPr/>
        </p:nvSpPr>
        <p:spPr>
          <a:xfrm>
            <a:off x="1259631" y="4424992"/>
            <a:ext cx="6530757" cy="1176240"/>
          </a:xfrm>
          <a:prstGeom prst="rect">
            <a:avLst/>
          </a:prstGeom>
          <a:solidFill>
            <a:schemeClr val="bg1">
              <a:alpha val="794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039EF3D-04F0-9C44-8F79-4155C03D8C08}"/>
              </a:ext>
            </a:extLst>
          </p:cNvPr>
          <p:cNvSpPr txBox="1"/>
          <p:nvPr/>
        </p:nvSpPr>
        <p:spPr>
          <a:xfrm>
            <a:off x="4961294" y="4082299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/>
              <a:t>EL0</a:t>
            </a:r>
            <a:endParaRPr kumimoji="1"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0128130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30CA0-44A1-0841-9540-E2BAA96B5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进程的内核态执行：切换到内核态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08B4F4-9676-2F42-9643-C2D04123C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提供了硬件支持，使进程切换到内核态执行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状态（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）写入</a:t>
            </a:r>
            <a:r>
              <a:rPr kumimoji="1" lang="en-US" altLang="zh-CN" dirty="0"/>
              <a:t>SPSR_EL1</a:t>
            </a:r>
          </a:p>
          <a:p>
            <a:pPr lvl="1"/>
            <a:r>
              <a:rPr kumimoji="1" lang="zh-CN" altLang="en-US" dirty="0"/>
              <a:t>栈指针寄存器切换到</a:t>
            </a:r>
            <a:r>
              <a:rPr kumimoji="1" lang="en-US" altLang="zh-CN" dirty="0"/>
              <a:t>SP_EL1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PC</a:t>
            </a:r>
            <a:r>
              <a:rPr kumimoji="1" lang="zh-CN" altLang="en-US" dirty="0"/>
              <a:t>移动到内核异常向量表中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5E82AA-DDD9-9841-A8C9-6AB36634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C2B2AE-DEEE-F54A-A4FC-6EEA7D3F79B7}"/>
              </a:ext>
            </a:extLst>
          </p:cNvPr>
          <p:cNvSpPr txBox="1"/>
          <p:nvPr/>
        </p:nvSpPr>
        <p:spPr>
          <a:xfrm>
            <a:off x="6481153" y="35775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3D6C2366-C54A-1147-A28C-EB66F4A2924B}"/>
              </a:ext>
            </a:extLst>
          </p:cNvPr>
          <p:cNvCxnSpPr/>
          <p:nvPr/>
        </p:nvCxnSpPr>
        <p:spPr>
          <a:xfrm>
            <a:off x="1259632" y="4340461"/>
            <a:ext cx="6336704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219D463-2618-344A-9625-6A6422765D8E}"/>
              </a:ext>
            </a:extLst>
          </p:cNvPr>
          <p:cNvSpPr/>
          <p:nvPr/>
        </p:nvSpPr>
        <p:spPr>
          <a:xfrm>
            <a:off x="3775451" y="3762032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67A74F-F588-1347-8139-D52C265DA32D}"/>
              </a:ext>
            </a:extLst>
          </p:cNvPr>
          <p:cNvSpPr txBox="1"/>
          <p:nvPr/>
        </p:nvSpPr>
        <p:spPr>
          <a:xfrm>
            <a:off x="3819201" y="380487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shell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D103F8D-FC26-D14B-A600-6EBE0B41EA71}"/>
              </a:ext>
            </a:extLst>
          </p:cNvPr>
          <p:cNvSpPr txBox="1"/>
          <p:nvPr/>
        </p:nvSpPr>
        <p:spPr>
          <a:xfrm>
            <a:off x="6481152" y="4556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EDE119-67EA-2746-BB76-B96D3C8B5562}"/>
              </a:ext>
            </a:extLst>
          </p:cNvPr>
          <p:cNvSpPr/>
          <p:nvPr/>
        </p:nvSpPr>
        <p:spPr>
          <a:xfrm>
            <a:off x="2440934" y="3240456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E31B0E-423C-B244-A5C5-D039F78D4D61}"/>
              </a:ext>
            </a:extLst>
          </p:cNvPr>
          <p:cNvSpPr/>
          <p:nvPr/>
        </p:nvSpPr>
        <p:spPr>
          <a:xfrm>
            <a:off x="2440934" y="3846778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8D888E-1083-1041-B3F8-69A7DF7C98C2}"/>
              </a:ext>
            </a:extLst>
          </p:cNvPr>
          <p:cNvSpPr/>
          <p:nvPr/>
        </p:nvSpPr>
        <p:spPr>
          <a:xfrm>
            <a:off x="2440650" y="3413216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E621D34-5BD4-A34E-BCB3-47CCFCFB1191}"/>
              </a:ext>
            </a:extLst>
          </p:cNvPr>
          <p:cNvSpPr/>
          <p:nvPr/>
        </p:nvSpPr>
        <p:spPr>
          <a:xfrm>
            <a:off x="2440650" y="4500225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B629F8F-A40D-5D4B-A39E-47F49D7E2023}"/>
              </a:ext>
            </a:extLst>
          </p:cNvPr>
          <p:cNvSpPr/>
          <p:nvPr/>
        </p:nvSpPr>
        <p:spPr>
          <a:xfrm>
            <a:off x="2440650" y="5106547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4339B0C-BBA4-054A-91F2-8A6BD772AB4E}"/>
              </a:ext>
            </a:extLst>
          </p:cNvPr>
          <p:cNvSpPr/>
          <p:nvPr/>
        </p:nvSpPr>
        <p:spPr>
          <a:xfrm>
            <a:off x="2440366" y="4672985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4D87F8B-41D8-6E42-ADEC-E68A47258845}"/>
              </a:ext>
            </a:extLst>
          </p:cNvPr>
          <p:cNvSpPr txBox="1"/>
          <p:nvPr/>
        </p:nvSpPr>
        <p:spPr>
          <a:xfrm>
            <a:off x="1332796" y="362353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用户地址空间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B8B8CF1-D7F3-334C-895D-3186C478476F}"/>
              </a:ext>
            </a:extLst>
          </p:cNvPr>
          <p:cNvSpPr txBox="1"/>
          <p:nvPr/>
        </p:nvSpPr>
        <p:spPr>
          <a:xfrm>
            <a:off x="1326721" y="486848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内核地址空间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131D8ECC-0773-1944-8E30-4DAE10504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269" y="3980750"/>
            <a:ext cx="432048" cy="432651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4B92BC11-0A15-364A-A7F2-1B28D619EA56}"/>
              </a:ext>
            </a:extLst>
          </p:cNvPr>
          <p:cNvSpPr txBox="1"/>
          <p:nvPr/>
        </p:nvSpPr>
        <p:spPr>
          <a:xfrm>
            <a:off x="4476085" y="362777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211CEFE-C2F8-EF4E-AA54-505C6AC2DA44}"/>
              </a:ext>
            </a:extLst>
          </p:cNvPr>
          <p:cNvSpPr txBox="1"/>
          <p:nvPr/>
        </p:nvSpPr>
        <p:spPr>
          <a:xfrm>
            <a:off x="4961294" y="4082299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C00000"/>
                </a:solidFill>
              </a:rPr>
              <a:t>EL1</a:t>
            </a:r>
            <a:endParaRPr kumimoji="1" lang="zh-CN" altLang="en-US" sz="1200" b="1" dirty="0">
              <a:solidFill>
                <a:srgbClr val="C00000"/>
              </a:solidFill>
            </a:endParaRPr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29CAEA8C-9CDF-1647-B2DB-36F6D570922B}"/>
              </a:ext>
            </a:extLst>
          </p:cNvPr>
          <p:cNvSpPr txBox="1">
            <a:spLocks/>
          </p:cNvSpPr>
          <p:nvPr/>
        </p:nvSpPr>
        <p:spPr>
          <a:xfrm>
            <a:off x="4767336" y="1345332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CN" dirty="0"/>
          </a:p>
          <a:p>
            <a:pPr lvl="1"/>
            <a:r>
              <a:rPr kumimoji="1" lang="zh-CN" altLang="en-US" dirty="0"/>
              <a:t>原</a:t>
            </a:r>
            <a:r>
              <a:rPr kumimoji="1" lang="en-US" altLang="zh-CN" dirty="0"/>
              <a:t>PC</a:t>
            </a:r>
            <a:r>
              <a:rPr kumimoji="1" lang="zh-CN" altLang="en-US" dirty="0"/>
              <a:t>值写入</a:t>
            </a:r>
            <a:r>
              <a:rPr kumimoji="1" lang="en-US" altLang="zh-CN" dirty="0"/>
              <a:t>ELR_EL1</a:t>
            </a:r>
          </a:p>
          <a:p>
            <a:pPr lvl="1"/>
            <a:r>
              <a:rPr kumimoji="1" lang="zh-CN" altLang="en-US" dirty="0"/>
              <a:t>运行状态切换到内核态</a:t>
            </a:r>
            <a:r>
              <a:rPr kumimoji="1" lang="en-US" altLang="zh-CN" dirty="0"/>
              <a:t>EL1</a:t>
            </a:r>
          </a:p>
          <a:p>
            <a:pPr lvl="1"/>
            <a:endParaRPr kumimoji="1" lang="zh-CN" altLang="en-US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49C14C14-0D68-E448-ADC4-10BF3AC4170B}"/>
              </a:ext>
            </a:extLst>
          </p:cNvPr>
          <p:cNvCxnSpPr>
            <a:cxnSpLocks/>
          </p:cNvCxnSpPr>
          <p:nvPr/>
        </p:nvCxnSpPr>
        <p:spPr>
          <a:xfrm flipH="1">
            <a:off x="2876546" y="5189240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6E4172F3-7909-F647-8C0A-CBE2D02C3FC8}"/>
              </a:ext>
            </a:extLst>
          </p:cNvPr>
          <p:cNvSpPr txBox="1"/>
          <p:nvPr/>
        </p:nvSpPr>
        <p:spPr>
          <a:xfrm>
            <a:off x="2942027" y="5081518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8E4F2EB8-55C6-E240-B573-3BDD2B496D71}"/>
              </a:ext>
            </a:extLst>
          </p:cNvPr>
          <p:cNvCxnSpPr>
            <a:cxnSpLocks/>
          </p:cNvCxnSpPr>
          <p:nvPr/>
        </p:nvCxnSpPr>
        <p:spPr>
          <a:xfrm flipH="1">
            <a:off x="2872414" y="4816910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413F0832-7F69-4944-BEE7-9169EA6B7F56}"/>
              </a:ext>
            </a:extLst>
          </p:cNvPr>
          <p:cNvSpPr txBox="1"/>
          <p:nvPr/>
        </p:nvSpPr>
        <p:spPr>
          <a:xfrm>
            <a:off x="2937895" y="4709188"/>
            <a:ext cx="10823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SP_EL1</a:t>
            </a:r>
            <a:r>
              <a:rPr kumimoji="1" lang="zh-CN" altLang="en-US" sz="800" b="1" dirty="0">
                <a:solidFill>
                  <a:srgbClr val="C00000"/>
                </a:solidFill>
              </a:rPr>
              <a:t>（内核栈）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3217B79-C891-F848-8ACF-BDFFD45D830B}"/>
              </a:ext>
            </a:extLst>
          </p:cNvPr>
          <p:cNvSpPr txBox="1"/>
          <p:nvPr/>
        </p:nvSpPr>
        <p:spPr>
          <a:xfrm>
            <a:off x="4883466" y="4550934"/>
            <a:ext cx="14253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r>
              <a:rPr kumimoji="1" lang="zh-CN" altLang="en-US" sz="800" b="1" dirty="0">
                <a:solidFill>
                  <a:srgbClr val="C00000"/>
                </a:solidFill>
              </a:rPr>
              <a:t>（原</a:t>
            </a:r>
            <a:r>
              <a:rPr kumimoji="1" lang="en-US" altLang="zh-CN" sz="800" b="1" dirty="0">
                <a:solidFill>
                  <a:srgbClr val="C00000"/>
                </a:solidFill>
              </a:rPr>
              <a:t>PSTATE</a:t>
            </a:r>
            <a:r>
              <a:rPr kumimoji="1" lang="zh-CN" altLang="en-US" sz="800" b="1" dirty="0">
                <a:solidFill>
                  <a:srgbClr val="C00000"/>
                </a:solidFill>
              </a:rPr>
              <a:t>）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66F9D9E3-ABDA-C644-9F91-9DAB9F85D3CB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>
            <a:off x="4794293" y="4413401"/>
            <a:ext cx="801868" cy="137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CB46B9D0-D33A-0F45-849A-25427E78F7FD}"/>
              </a:ext>
            </a:extLst>
          </p:cNvPr>
          <p:cNvSpPr txBox="1"/>
          <p:nvPr/>
        </p:nvSpPr>
        <p:spPr>
          <a:xfrm>
            <a:off x="3288306" y="4443212"/>
            <a:ext cx="10871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r>
              <a:rPr kumimoji="1" lang="zh-CN" altLang="en-US" sz="800" b="1" dirty="0">
                <a:solidFill>
                  <a:srgbClr val="C00000"/>
                </a:solidFill>
              </a:rPr>
              <a:t>（原</a:t>
            </a:r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r>
              <a:rPr kumimoji="1" lang="zh-CN" altLang="en-US" sz="800" b="1" dirty="0">
                <a:solidFill>
                  <a:srgbClr val="C0000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824983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CDD97-F5AD-C14C-A6E8-3ED46F92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进程的内核态执行：内核栈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539B3-3392-9F48-983D-14A2AB5E8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为什么需要“又一个栈”（内核栈）？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进程在内核中依然执行代码，有读写临时数据的需求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进程在用户态和内核态的数据应该相互隔离，增强安全性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AArch64</a:t>
            </a:r>
            <a:r>
              <a:rPr kumimoji="1" lang="zh-CN" altLang="en-US" dirty="0"/>
              <a:t>实现：两个栈指针寄存器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SP_EL1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SP_EL0</a:t>
            </a:r>
          </a:p>
          <a:p>
            <a:pPr lvl="1"/>
            <a:r>
              <a:rPr kumimoji="1" lang="en-US" altLang="zh-CN" dirty="0"/>
              <a:t>x86</a:t>
            </a:r>
            <a:r>
              <a:rPr kumimoji="1" lang="zh-CN" altLang="en-US" dirty="0"/>
              <a:t>只有一个栈寄存器，需要保存恢复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202850-4830-144D-8A12-7D990224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3A3D08-9B1F-CC4E-8F4E-1BED00AB4592}"/>
              </a:ext>
            </a:extLst>
          </p:cNvPr>
          <p:cNvSpPr/>
          <p:nvPr/>
        </p:nvSpPr>
        <p:spPr>
          <a:xfrm>
            <a:off x="6917200" y="2925668"/>
            <a:ext cx="1224136" cy="1083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用态</a:t>
            </a:r>
          </a:p>
        </p:txBody>
      </p:sp>
      <p:sp>
        <p:nvSpPr>
          <p:cNvPr id="7" name="弧 6">
            <a:extLst>
              <a:ext uri="{FF2B5EF4-FFF2-40B4-BE49-F238E27FC236}">
                <a16:creationId xmlns:a16="http://schemas.microsoft.com/office/drawing/2014/main" id="{2EC8A5DA-6F8E-A645-B29F-8505952AD460}"/>
              </a:ext>
            </a:extLst>
          </p:cNvPr>
          <p:cNvSpPr/>
          <p:nvPr/>
        </p:nvSpPr>
        <p:spPr>
          <a:xfrm>
            <a:off x="7683122" y="3139847"/>
            <a:ext cx="914400" cy="1877893"/>
          </a:xfrm>
          <a:prstGeom prst="arc">
            <a:avLst>
              <a:gd name="adj1" fmla="val 16176727"/>
              <a:gd name="adj2" fmla="val 5380434"/>
            </a:avLst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103BD31-9700-C94D-865E-4F911A50387C}"/>
              </a:ext>
            </a:extLst>
          </p:cNvPr>
          <p:cNvCxnSpPr>
            <a:cxnSpLocks/>
          </p:cNvCxnSpPr>
          <p:nvPr/>
        </p:nvCxnSpPr>
        <p:spPr>
          <a:xfrm>
            <a:off x="6700196" y="4209834"/>
            <a:ext cx="1728192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701B5420-8106-2D47-89B0-0FCD33322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588" y="4051774"/>
            <a:ext cx="157868" cy="15806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66E3D8E-22A5-1A44-8D70-0DDFFA90B243}"/>
              </a:ext>
            </a:extLst>
          </p:cNvPr>
          <p:cNvSpPr txBox="1"/>
          <p:nvPr/>
        </p:nvSpPr>
        <p:spPr>
          <a:xfrm>
            <a:off x="6039023" y="32536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0D580A-DAAE-D54D-BEBA-2975AFCD952E}"/>
              </a:ext>
            </a:extLst>
          </p:cNvPr>
          <p:cNvSpPr txBox="1"/>
          <p:nvPr/>
        </p:nvSpPr>
        <p:spPr>
          <a:xfrm>
            <a:off x="6039023" y="47260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0B4B6A-5EF9-D84D-B057-0DF36A45AAE4}"/>
              </a:ext>
            </a:extLst>
          </p:cNvPr>
          <p:cNvSpPr/>
          <p:nvPr/>
        </p:nvSpPr>
        <p:spPr>
          <a:xfrm>
            <a:off x="6916186" y="3747773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0x456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F79DE1-BCDE-A248-8F3B-9EF07ED196E6}"/>
              </a:ext>
            </a:extLst>
          </p:cNvPr>
          <p:cNvSpPr/>
          <p:nvPr/>
        </p:nvSpPr>
        <p:spPr>
          <a:xfrm>
            <a:off x="6916186" y="3475717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0x7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FE2513-1C07-0646-B474-B92D8635520E}"/>
              </a:ext>
            </a:extLst>
          </p:cNvPr>
          <p:cNvSpPr/>
          <p:nvPr/>
        </p:nvSpPr>
        <p:spPr>
          <a:xfrm>
            <a:off x="6916186" y="3204571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0x1234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230052-6D81-3649-AEAC-F57F7A42AFC7}"/>
              </a:ext>
            </a:extLst>
          </p:cNvPr>
          <p:cNvSpPr/>
          <p:nvPr/>
        </p:nvSpPr>
        <p:spPr>
          <a:xfrm>
            <a:off x="6916186" y="2925668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0x22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EDD24F-A6B4-0B4E-9236-E07D1B79A3F8}"/>
              </a:ext>
            </a:extLst>
          </p:cNvPr>
          <p:cNvSpPr/>
          <p:nvPr/>
        </p:nvSpPr>
        <p:spPr>
          <a:xfrm>
            <a:off x="6917200" y="4395841"/>
            <a:ext cx="1224136" cy="1083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用户态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3A63E5-C575-8745-B0D5-20E2B3F2875B}"/>
              </a:ext>
            </a:extLst>
          </p:cNvPr>
          <p:cNvSpPr/>
          <p:nvPr/>
        </p:nvSpPr>
        <p:spPr>
          <a:xfrm>
            <a:off x="6916186" y="5217946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411076-5470-7843-A828-45009747A533}"/>
              </a:ext>
            </a:extLst>
          </p:cNvPr>
          <p:cNvSpPr/>
          <p:nvPr/>
        </p:nvSpPr>
        <p:spPr>
          <a:xfrm>
            <a:off x="6916186" y="4945890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0x589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1B3946-FD65-4F40-9FFB-8698AADF6F8E}"/>
              </a:ext>
            </a:extLst>
          </p:cNvPr>
          <p:cNvSpPr/>
          <p:nvPr/>
        </p:nvSpPr>
        <p:spPr>
          <a:xfrm>
            <a:off x="6916186" y="4674744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0x890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1D857-BA72-8842-BFA3-F3A528FD539E}"/>
              </a:ext>
            </a:extLst>
          </p:cNvPr>
          <p:cNvSpPr/>
          <p:nvPr/>
        </p:nvSpPr>
        <p:spPr>
          <a:xfrm>
            <a:off x="6916186" y="4395841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0x1200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886FB2B-12E7-C146-8212-ABEC34A04E69}"/>
              </a:ext>
            </a:extLst>
          </p:cNvPr>
          <p:cNvSpPr txBox="1"/>
          <p:nvPr/>
        </p:nvSpPr>
        <p:spPr>
          <a:xfrm>
            <a:off x="7097468" y="5334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1EAFC6-4966-0A45-A176-A5A194AF6570}"/>
              </a:ext>
            </a:extLst>
          </p:cNvPr>
          <p:cNvSpPr/>
          <p:nvPr/>
        </p:nvSpPr>
        <p:spPr>
          <a:xfrm>
            <a:off x="6916186" y="5216126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D148D7AD-D5B4-EA46-99B2-E7D880574A9A}"/>
              </a:ext>
            </a:extLst>
          </p:cNvPr>
          <p:cNvCxnSpPr/>
          <p:nvPr/>
        </p:nvCxnSpPr>
        <p:spPr>
          <a:xfrm>
            <a:off x="6663178" y="4009628"/>
            <a:ext cx="2530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5C2F032-035A-D94D-ADD0-1263C8035C8E}"/>
              </a:ext>
            </a:extLst>
          </p:cNvPr>
          <p:cNvSpPr txBox="1"/>
          <p:nvPr/>
        </p:nvSpPr>
        <p:spPr>
          <a:xfrm>
            <a:off x="6107168" y="386217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Candara" panose="020E0502030303020204" pitchFamily="34" charset="0"/>
              </a:rPr>
              <a:t>SP_EL1</a:t>
            </a:r>
            <a:endParaRPr kumimoji="1" lang="zh-CN" altLang="en-US" sz="1200" b="1" dirty="0">
              <a:latin typeface="Candara" panose="020E0502030303020204" pitchFamily="34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9C6F0D6-6A57-E44C-B6B6-62D788A51D04}"/>
              </a:ext>
            </a:extLst>
          </p:cNvPr>
          <p:cNvCxnSpPr/>
          <p:nvPr/>
        </p:nvCxnSpPr>
        <p:spPr>
          <a:xfrm>
            <a:off x="6643124" y="5478417"/>
            <a:ext cx="2530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0F22C-0A32-DC44-BB30-DAB664CCE31D}"/>
              </a:ext>
            </a:extLst>
          </p:cNvPr>
          <p:cNvSpPr txBox="1"/>
          <p:nvPr/>
        </p:nvSpPr>
        <p:spPr>
          <a:xfrm>
            <a:off x="6072586" y="5330961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Candara" panose="020E0502030303020204" pitchFamily="34" charset="0"/>
              </a:rPr>
              <a:t>SP_EL0</a:t>
            </a:r>
            <a:endParaRPr kumimoji="1" lang="zh-CN" altLang="en-US" sz="12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2155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CD7B6-0870-7F47-B36F-69B102894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进程的内核态执行：返回用户态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8F0FE-AB80-4243-90DE-72E64B83C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进入内核态的“逆过程”，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同样提供了硬件支持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8F9BF1-6C96-0F43-AAB2-87B33420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9BD2AA-A268-924E-A128-68551FE7748C}"/>
              </a:ext>
            </a:extLst>
          </p:cNvPr>
          <p:cNvSpPr txBox="1"/>
          <p:nvPr/>
        </p:nvSpPr>
        <p:spPr>
          <a:xfrm>
            <a:off x="6481153" y="35775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695EBD51-5A81-4A44-BC24-8F2F8DA000D4}"/>
              </a:ext>
            </a:extLst>
          </p:cNvPr>
          <p:cNvCxnSpPr/>
          <p:nvPr/>
        </p:nvCxnSpPr>
        <p:spPr>
          <a:xfrm>
            <a:off x="1259632" y="4340461"/>
            <a:ext cx="6336704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AFEB6A2-31BC-F440-961F-A312B89079C1}"/>
              </a:ext>
            </a:extLst>
          </p:cNvPr>
          <p:cNvSpPr/>
          <p:nvPr/>
        </p:nvSpPr>
        <p:spPr>
          <a:xfrm>
            <a:off x="3775451" y="3762032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04DE28-239A-A045-9A2C-587891446BD9}"/>
              </a:ext>
            </a:extLst>
          </p:cNvPr>
          <p:cNvSpPr txBox="1"/>
          <p:nvPr/>
        </p:nvSpPr>
        <p:spPr>
          <a:xfrm>
            <a:off x="3819201" y="380487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shell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B2E2E8-0986-A24B-AAB5-4F5975C1B201}"/>
              </a:ext>
            </a:extLst>
          </p:cNvPr>
          <p:cNvSpPr txBox="1"/>
          <p:nvPr/>
        </p:nvSpPr>
        <p:spPr>
          <a:xfrm>
            <a:off x="6481152" y="4556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F6DAC2-132A-2443-93DC-D86BFFCA34E5}"/>
              </a:ext>
            </a:extLst>
          </p:cNvPr>
          <p:cNvSpPr/>
          <p:nvPr/>
        </p:nvSpPr>
        <p:spPr>
          <a:xfrm>
            <a:off x="2440934" y="3240456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5EA8D1-AC68-9C45-A2B5-562DB58EC74C}"/>
              </a:ext>
            </a:extLst>
          </p:cNvPr>
          <p:cNvSpPr/>
          <p:nvPr/>
        </p:nvSpPr>
        <p:spPr>
          <a:xfrm>
            <a:off x="2440934" y="3846778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AF99BC-CBE2-874C-B508-51A3674C8817}"/>
              </a:ext>
            </a:extLst>
          </p:cNvPr>
          <p:cNvSpPr/>
          <p:nvPr/>
        </p:nvSpPr>
        <p:spPr>
          <a:xfrm>
            <a:off x="2440650" y="3413216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4208E6-4EB9-7342-89EF-51BCF3111278}"/>
              </a:ext>
            </a:extLst>
          </p:cNvPr>
          <p:cNvSpPr/>
          <p:nvPr/>
        </p:nvSpPr>
        <p:spPr>
          <a:xfrm>
            <a:off x="2440650" y="4500225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F41911-4337-B14A-9E3A-E4B1860B26A5}"/>
              </a:ext>
            </a:extLst>
          </p:cNvPr>
          <p:cNvSpPr/>
          <p:nvPr/>
        </p:nvSpPr>
        <p:spPr>
          <a:xfrm>
            <a:off x="2440650" y="5106547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F25844-D3FA-0746-A00D-1F81132CD1A9}"/>
              </a:ext>
            </a:extLst>
          </p:cNvPr>
          <p:cNvSpPr/>
          <p:nvPr/>
        </p:nvSpPr>
        <p:spPr>
          <a:xfrm>
            <a:off x="2440366" y="4672985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EFCD27-4F1F-0F48-96EF-5C1DD6E26E43}"/>
              </a:ext>
            </a:extLst>
          </p:cNvPr>
          <p:cNvSpPr txBox="1"/>
          <p:nvPr/>
        </p:nvSpPr>
        <p:spPr>
          <a:xfrm>
            <a:off x="1332796" y="362353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用户地址空间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6C572F1-C63F-BD4A-ADE1-952218DFCD50}"/>
              </a:ext>
            </a:extLst>
          </p:cNvPr>
          <p:cNvSpPr txBox="1"/>
          <p:nvPr/>
        </p:nvSpPr>
        <p:spPr>
          <a:xfrm>
            <a:off x="1326721" y="486848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内核地址空间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EAD6587-1722-DB4F-BE7E-8B3740D9F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269" y="3980750"/>
            <a:ext cx="432048" cy="432651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ED432B1-7F97-C344-B221-8D8F92B974B9}"/>
              </a:ext>
            </a:extLst>
          </p:cNvPr>
          <p:cNvSpPr txBox="1"/>
          <p:nvPr/>
        </p:nvSpPr>
        <p:spPr>
          <a:xfrm>
            <a:off x="4476085" y="362777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4B7315D-FF86-4A4F-ABD3-294AE1A01935}"/>
              </a:ext>
            </a:extLst>
          </p:cNvPr>
          <p:cNvSpPr txBox="1"/>
          <p:nvPr/>
        </p:nvSpPr>
        <p:spPr>
          <a:xfrm>
            <a:off x="4961294" y="4082299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/>
              <a:t>EL1</a:t>
            </a:r>
            <a:endParaRPr kumimoji="1" lang="zh-CN" altLang="en-US" sz="1200" b="1" dirty="0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2883550B-3EE6-7846-9A5B-5168D7F60850}"/>
              </a:ext>
            </a:extLst>
          </p:cNvPr>
          <p:cNvCxnSpPr>
            <a:cxnSpLocks/>
          </p:cNvCxnSpPr>
          <p:nvPr/>
        </p:nvCxnSpPr>
        <p:spPr>
          <a:xfrm flipH="1">
            <a:off x="2876546" y="5189240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84BD2A1-9BA7-6C49-B492-262F405B7990}"/>
              </a:ext>
            </a:extLst>
          </p:cNvPr>
          <p:cNvSpPr txBox="1"/>
          <p:nvPr/>
        </p:nvSpPr>
        <p:spPr>
          <a:xfrm>
            <a:off x="2942027" y="5081518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DE3F7C57-E53B-EB45-A123-2248C3E92602}"/>
              </a:ext>
            </a:extLst>
          </p:cNvPr>
          <p:cNvCxnSpPr>
            <a:cxnSpLocks/>
          </p:cNvCxnSpPr>
          <p:nvPr/>
        </p:nvCxnSpPr>
        <p:spPr>
          <a:xfrm flipH="1">
            <a:off x="2872414" y="4816910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8B738BD-BA3E-704B-8399-445236BA9576}"/>
              </a:ext>
            </a:extLst>
          </p:cNvPr>
          <p:cNvSpPr txBox="1"/>
          <p:nvPr/>
        </p:nvSpPr>
        <p:spPr>
          <a:xfrm>
            <a:off x="2937895" y="4709188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SP_EL1</a:t>
            </a:r>
            <a:endParaRPr kumimoji="1" lang="zh-CN" altLang="en-US" sz="800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210C9B0-C00D-514C-BD10-9CB4E636FA49}"/>
              </a:ext>
            </a:extLst>
          </p:cNvPr>
          <p:cNvSpPr txBox="1"/>
          <p:nvPr/>
        </p:nvSpPr>
        <p:spPr>
          <a:xfrm>
            <a:off x="3288306" y="4443212"/>
            <a:ext cx="10871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ELR_EL1</a:t>
            </a:r>
            <a:r>
              <a:rPr kumimoji="1" lang="zh-CN" altLang="en-US" sz="800" b="1" dirty="0"/>
              <a:t>（原</a:t>
            </a:r>
            <a:r>
              <a:rPr kumimoji="1" lang="en-US" altLang="zh-CN" sz="800" b="1" dirty="0"/>
              <a:t>PC</a:t>
            </a:r>
            <a:r>
              <a:rPr kumimoji="1" lang="zh-CN" altLang="en-US" sz="800" b="1" dirty="0"/>
              <a:t>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5E2591-C0FA-BD46-AD3A-F0DB9E75C310}"/>
              </a:ext>
            </a:extLst>
          </p:cNvPr>
          <p:cNvSpPr txBox="1"/>
          <p:nvPr/>
        </p:nvSpPr>
        <p:spPr>
          <a:xfrm>
            <a:off x="4883466" y="4550934"/>
            <a:ext cx="14253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SPSR_EL1</a:t>
            </a:r>
            <a:r>
              <a:rPr kumimoji="1" lang="zh-CN" altLang="en-US" sz="800" b="1" dirty="0"/>
              <a:t>（原</a:t>
            </a:r>
            <a:r>
              <a:rPr kumimoji="1" lang="en-US" altLang="zh-CN" sz="800" b="1" dirty="0"/>
              <a:t>PSTATE</a:t>
            </a:r>
            <a:r>
              <a:rPr kumimoji="1" lang="zh-CN" altLang="en-US" sz="800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822839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CD7B6-0870-7F47-B36F-69B102894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进程的内核态执行：返回用户态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8F0FE-AB80-4243-90DE-72E64B83C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/>
          <a:lstStyle/>
          <a:p>
            <a:r>
              <a:rPr kumimoji="1" lang="zh-CN" altLang="en-US" dirty="0"/>
              <a:t>进入内核态的“逆过程”，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同样提供了硬件支持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SPSR_EL1</a:t>
            </a:r>
            <a:r>
              <a:rPr kumimoji="1" lang="zh-CN" altLang="en-US" dirty="0"/>
              <a:t>重设到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PSTATE</a:t>
            </a:r>
          </a:p>
          <a:p>
            <a:pPr lvl="1"/>
            <a:r>
              <a:rPr kumimoji="1" lang="zh-CN" altLang="en-US" dirty="0"/>
              <a:t>栈指针寄存器切换到</a:t>
            </a:r>
            <a:r>
              <a:rPr kumimoji="1" lang="en-US" altLang="zh-CN" dirty="0"/>
              <a:t>SP_EL0</a:t>
            </a:r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（为什么少了一步？）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8F9BF1-6C96-0F43-AAB2-87B33420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7659DD6-762A-AE4F-8934-B8EBF58172CE}"/>
              </a:ext>
            </a:extLst>
          </p:cNvPr>
          <p:cNvSpPr txBox="1">
            <a:spLocks/>
          </p:cNvSpPr>
          <p:nvPr/>
        </p:nvSpPr>
        <p:spPr>
          <a:xfrm>
            <a:off x="4551312" y="1321133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CN" dirty="0"/>
          </a:p>
          <a:p>
            <a:pPr lvl="1"/>
            <a:r>
              <a:rPr kumimoji="1" lang="en-US" altLang="zh-CN" dirty="0"/>
              <a:t>ELR_EL1</a:t>
            </a:r>
            <a:r>
              <a:rPr kumimoji="1" lang="zh-CN" altLang="en-US" dirty="0"/>
              <a:t>重设到</a:t>
            </a:r>
            <a:r>
              <a:rPr kumimoji="1" lang="en-US" altLang="zh-CN" dirty="0"/>
              <a:t>PC</a:t>
            </a:r>
            <a:r>
              <a:rPr kumimoji="1" lang="zh-CN" altLang="en-US" dirty="0"/>
              <a:t>寄存器中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运行状态切换到用户态</a:t>
            </a:r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9BD2AA-A268-924E-A128-68551FE7748C}"/>
              </a:ext>
            </a:extLst>
          </p:cNvPr>
          <p:cNvSpPr txBox="1"/>
          <p:nvPr/>
        </p:nvSpPr>
        <p:spPr>
          <a:xfrm>
            <a:off x="6481153" y="35775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695EBD51-5A81-4A44-BC24-8F2F8DA000D4}"/>
              </a:ext>
            </a:extLst>
          </p:cNvPr>
          <p:cNvCxnSpPr/>
          <p:nvPr/>
        </p:nvCxnSpPr>
        <p:spPr>
          <a:xfrm>
            <a:off x="1259632" y="4340461"/>
            <a:ext cx="6336704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AFEB6A2-31BC-F440-961F-A312B89079C1}"/>
              </a:ext>
            </a:extLst>
          </p:cNvPr>
          <p:cNvSpPr/>
          <p:nvPr/>
        </p:nvSpPr>
        <p:spPr>
          <a:xfrm>
            <a:off x="3775451" y="3762032"/>
            <a:ext cx="720080" cy="43204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04DE28-239A-A045-9A2C-587891446BD9}"/>
              </a:ext>
            </a:extLst>
          </p:cNvPr>
          <p:cNvSpPr txBox="1"/>
          <p:nvPr/>
        </p:nvSpPr>
        <p:spPr>
          <a:xfrm>
            <a:off x="3819201" y="380487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ndara" panose="020E0502030303020204" pitchFamily="34" charset="0"/>
              </a:rPr>
              <a:t>shell</a:t>
            </a:r>
            <a:endParaRPr kumimoji="1" lang="zh-CN" altLang="en-US" dirty="0">
              <a:latin typeface="Candara" panose="020E0502030303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B2E2E8-0986-A24B-AAB5-4F5975C1B201}"/>
              </a:ext>
            </a:extLst>
          </p:cNvPr>
          <p:cNvSpPr txBox="1"/>
          <p:nvPr/>
        </p:nvSpPr>
        <p:spPr>
          <a:xfrm>
            <a:off x="6481152" y="4556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F6DAC2-132A-2443-93DC-D86BFFCA34E5}"/>
              </a:ext>
            </a:extLst>
          </p:cNvPr>
          <p:cNvSpPr/>
          <p:nvPr/>
        </p:nvSpPr>
        <p:spPr>
          <a:xfrm>
            <a:off x="2440934" y="3240456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5EA8D1-AC68-9C45-A2B5-562DB58EC74C}"/>
              </a:ext>
            </a:extLst>
          </p:cNvPr>
          <p:cNvSpPr/>
          <p:nvPr/>
        </p:nvSpPr>
        <p:spPr>
          <a:xfrm>
            <a:off x="2440934" y="3846778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AF99BC-CBE2-874C-B508-51A3674C8817}"/>
              </a:ext>
            </a:extLst>
          </p:cNvPr>
          <p:cNvSpPr/>
          <p:nvPr/>
        </p:nvSpPr>
        <p:spPr>
          <a:xfrm>
            <a:off x="2440650" y="3413216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4208E6-4EB9-7342-89EF-51BCF3111278}"/>
              </a:ext>
            </a:extLst>
          </p:cNvPr>
          <p:cNvSpPr/>
          <p:nvPr/>
        </p:nvSpPr>
        <p:spPr>
          <a:xfrm>
            <a:off x="2440650" y="4500225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F41911-4337-B14A-9E3A-E4B1860B26A5}"/>
              </a:ext>
            </a:extLst>
          </p:cNvPr>
          <p:cNvSpPr/>
          <p:nvPr/>
        </p:nvSpPr>
        <p:spPr>
          <a:xfrm>
            <a:off x="2440650" y="5106547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F25844-D3FA-0746-A00D-1F81132CD1A9}"/>
              </a:ext>
            </a:extLst>
          </p:cNvPr>
          <p:cNvSpPr/>
          <p:nvPr/>
        </p:nvSpPr>
        <p:spPr>
          <a:xfrm>
            <a:off x="2440366" y="4672985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EFCD27-4F1F-0F48-96EF-5C1DD6E26E43}"/>
              </a:ext>
            </a:extLst>
          </p:cNvPr>
          <p:cNvSpPr txBox="1"/>
          <p:nvPr/>
        </p:nvSpPr>
        <p:spPr>
          <a:xfrm>
            <a:off x="1332796" y="362353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用户地址空间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6C572F1-C63F-BD4A-ADE1-952218DFCD50}"/>
              </a:ext>
            </a:extLst>
          </p:cNvPr>
          <p:cNvSpPr txBox="1"/>
          <p:nvPr/>
        </p:nvSpPr>
        <p:spPr>
          <a:xfrm>
            <a:off x="1326721" y="486848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C22525A-0ED8-644F-A222-BC39DB5C4519}"/>
              </a:ext>
            </a:extLst>
          </p:cNvPr>
          <p:cNvCxnSpPr>
            <a:cxnSpLocks/>
          </p:cNvCxnSpPr>
          <p:nvPr/>
        </p:nvCxnSpPr>
        <p:spPr>
          <a:xfrm flipH="1">
            <a:off x="2872414" y="3973914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27E09B9A-665E-0B4B-B7EA-FFB9D7FF4406}"/>
              </a:ext>
            </a:extLst>
          </p:cNvPr>
          <p:cNvCxnSpPr>
            <a:cxnSpLocks/>
          </p:cNvCxnSpPr>
          <p:nvPr/>
        </p:nvCxnSpPr>
        <p:spPr>
          <a:xfrm flipH="1">
            <a:off x="2872414" y="3553614"/>
            <a:ext cx="138315" cy="0"/>
          </a:xfrm>
          <a:prstGeom prst="straightConnector1">
            <a:avLst/>
          </a:prstGeom>
          <a:ln>
            <a:solidFill>
              <a:srgbClr val="9411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F9D4F57-00F1-0541-9283-21A71C319F68}"/>
              </a:ext>
            </a:extLst>
          </p:cNvPr>
          <p:cNvSpPr txBox="1"/>
          <p:nvPr/>
        </p:nvSpPr>
        <p:spPr>
          <a:xfrm>
            <a:off x="2937895" y="3445892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SP_EL0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EAD6587-1722-DB4F-BE7E-8B3740D9F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269" y="3980750"/>
            <a:ext cx="432048" cy="432651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ED432B1-7F97-C344-B221-8D8F92B974B9}"/>
              </a:ext>
            </a:extLst>
          </p:cNvPr>
          <p:cNvSpPr txBox="1"/>
          <p:nvPr/>
        </p:nvSpPr>
        <p:spPr>
          <a:xfrm>
            <a:off x="4476085" y="362777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4B7315D-FF86-4A4F-ABD3-294AE1A01935}"/>
              </a:ext>
            </a:extLst>
          </p:cNvPr>
          <p:cNvSpPr txBox="1"/>
          <p:nvPr/>
        </p:nvSpPr>
        <p:spPr>
          <a:xfrm>
            <a:off x="4961294" y="4082299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C00000"/>
                </a:solidFill>
              </a:rPr>
              <a:t>EL0</a:t>
            </a:r>
            <a:endParaRPr kumimoji="1" lang="zh-CN" altLang="en-US" sz="1200" b="1" dirty="0">
              <a:solidFill>
                <a:srgbClr val="C0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4DD526C-1A39-2E40-9C45-A1C803E3D2B8}"/>
              </a:ext>
            </a:extLst>
          </p:cNvPr>
          <p:cNvSpPr txBox="1"/>
          <p:nvPr/>
        </p:nvSpPr>
        <p:spPr>
          <a:xfrm>
            <a:off x="2929633" y="3867278"/>
            <a:ext cx="4299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" b="1" dirty="0">
                <a:solidFill>
                  <a:srgbClr val="C00000"/>
                </a:solidFill>
              </a:rPr>
              <a:t>原</a:t>
            </a:r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F9CB953-816E-B549-B8C5-598283DABDD6}"/>
              </a:ext>
            </a:extLst>
          </p:cNvPr>
          <p:cNvSpPr txBox="1"/>
          <p:nvPr/>
        </p:nvSpPr>
        <p:spPr>
          <a:xfrm>
            <a:off x="4883466" y="4550934"/>
            <a:ext cx="14253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r>
              <a:rPr kumimoji="1" lang="zh-CN" altLang="en-US" sz="800" b="1" dirty="0">
                <a:solidFill>
                  <a:srgbClr val="C00000"/>
                </a:solidFill>
              </a:rPr>
              <a:t>（原</a:t>
            </a:r>
            <a:r>
              <a:rPr kumimoji="1" lang="en-US" altLang="zh-CN" sz="800" b="1" dirty="0">
                <a:solidFill>
                  <a:srgbClr val="C00000"/>
                </a:solidFill>
              </a:rPr>
              <a:t>PSTATE</a:t>
            </a:r>
            <a:r>
              <a:rPr kumimoji="1" lang="zh-CN" altLang="en-US" sz="800" b="1" dirty="0">
                <a:solidFill>
                  <a:srgbClr val="C00000"/>
                </a:solidFill>
              </a:rPr>
              <a:t>）</a:t>
            </a: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33AE799F-0A58-184F-BC55-D1CF7E10A064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4961294" y="4393867"/>
            <a:ext cx="634867" cy="157067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831A7F40-3B8A-5145-9DA3-D51150E17B76}"/>
              </a:ext>
            </a:extLst>
          </p:cNvPr>
          <p:cNvSpPr txBox="1"/>
          <p:nvPr/>
        </p:nvSpPr>
        <p:spPr>
          <a:xfrm>
            <a:off x="3288306" y="4443212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BB2BE7C7-A5BF-F44E-8CCD-14DCEC62998D}"/>
              </a:ext>
            </a:extLst>
          </p:cNvPr>
          <p:cNvCxnSpPr>
            <a:cxnSpLocks/>
            <a:stCxn id="31" idx="2"/>
            <a:endCxn id="34" idx="0"/>
          </p:cNvCxnSpPr>
          <p:nvPr/>
        </p:nvCxnSpPr>
        <p:spPr>
          <a:xfrm>
            <a:off x="3144596" y="4082722"/>
            <a:ext cx="462067" cy="36049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3453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DC994-2AEB-5849-A987-D022C74C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内核</a:t>
            </a:r>
            <a:r>
              <a:rPr kumimoji="1" lang="en-US" altLang="zh-CN" dirty="0"/>
              <a:t>/</a:t>
            </a:r>
            <a:r>
              <a:rPr kumimoji="1" lang="zh-CN" altLang="en-US" dirty="0"/>
              <a:t>用户态切换与上下文切换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A0E85-7B6E-7144-AF86-880887D7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通过支持内核</a:t>
            </a:r>
            <a:r>
              <a:rPr kumimoji="1" lang="en-US" altLang="zh-CN" dirty="0"/>
              <a:t>/</a:t>
            </a:r>
            <a:r>
              <a:rPr kumimoji="1" lang="zh-CN" altLang="en-US" dirty="0"/>
              <a:t>用户态切换，可以实现进程进入内核态并返回（比如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9C5EDD-663B-1545-85BD-29619BCA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5B1EF8-ED39-6B4C-AFBA-5D95921FF0E7}"/>
              </a:ext>
            </a:extLst>
          </p:cNvPr>
          <p:cNvSpPr txBox="1"/>
          <p:nvPr/>
        </p:nvSpPr>
        <p:spPr>
          <a:xfrm>
            <a:off x="6770564" y="36455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91E837E7-9A3F-9249-9083-5E92544FA379}"/>
              </a:ext>
            </a:extLst>
          </p:cNvPr>
          <p:cNvCxnSpPr/>
          <p:nvPr/>
        </p:nvCxnSpPr>
        <p:spPr>
          <a:xfrm>
            <a:off x="1259632" y="4408408"/>
            <a:ext cx="6336704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2CF83A9-00FD-B441-A1A9-A4A8EB8DE4EE}"/>
              </a:ext>
            </a:extLst>
          </p:cNvPr>
          <p:cNvSpPr txBox="1"/>
          <p:nvPr/>
        </p:nvSpPr>
        <p:spPr>
          <a:xfrm>
            <a:off x="6770563" y="46244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BA608F-64BD-0F42-8305-71EF080CE040}"/>
              </a:ext>
            </a:extLst>
          </p:cNvPr>
          <p:cNvSpPr/>
          <p:nvPr/>
        </p:nvSpPr>
        <p:spPr>
          <a:xfrm>
            <a:off x="2440934" y="3308403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81EC62-DF14-E24B-B9B4-0C5ABD56E52D}"/>
              </a:ext>
            </a:extLst>
          </p:cNvPr>
          <p:cNvSpPr/>
          <p:nvPr/>
        </p:nvSpPr>
        <p:spPr>
          <a:xfrm>
            <a:off x="2440934" y="3914725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A866B1-BA1C-1443-B4B0-02009DC8770A}"/>
              </a:ext>
            </a:extLst>
          </p:cNvPr>
          <p:cNvSpPr/>
          <p:nvPr/>
        </p:nvSpPr>
        <p:spPr>
          <a:xfrm>
            <a:off x="2440650" y="3481163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34F5E7-7785-5245-A6C8-9941DC7589BD}"/>
              </a:ext>
            </a:extLst>
          </p:cNvPr>
          <p:cNvSpPr/>
          <p:nvPr/>
        </p:nvSpPr>
        <p:spPr>
          <a:xfrm>
            <a:off x="2797680" y="4568172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09A36B-645E-3B40-B672-AB885B49EAA9}"/>
              </a:ext>
            </a:extLst>
          </p:cNvPr>
          <p:cNvSpPr/>
          <p:nvPr/>
        </p:nvSpPr>
        <p:spPr>
          <a:xfrm>
            <a:off x="2797680" y="5174494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EA2501-3066-E84E-8657-B3B4F8D6AD3F}"/>
              </a:ext>
            </a:extLst>
          </p:cNvPr>
          <p:cNvSpPr/>
          <p:nvPr/>
        </p:nvSpPr>
        <p:spPr>
          <a:xfrm>
            <a:off x="2797396" y="4740932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0755A7D-2749-9849-AAE4-AA93C61551DC}"/>
              </a:ext>
            </a:extLst>
          </p:cNvPr>
          <p:cNvSpPr txBox="1"/>
          <p:nvPr/>
        </p:nvSpPr>
        <p:spPr>
          <a:xfrm>
            <a:off x="1332796" y="3691479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用户地址空间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241294-7F5F-1F4C-A904-8A2EDBA5B986}"/>
              </a:ext>
            </a:extLst>
          </p:cNvPr>
          <p:cNvSpPr txBox="1"/>
          <p:nvPr/>
        </p:nvSpPr>
        <p:spPr>
          <a:xfrm>
            <a:off x="1683751" y="493643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42FE0C5-02B8-0B4B-BCFE-A74CD0E3B885}"/>
              </a:ext>
            </a:extLst>
          </p:cNvPr>
          <p:cNvCxnSpPr>
            <a:cxnSpLocks/>
          </p:cNvCxnSpPr>
          <p:nvPr/>
        </p:nvCxnSpPr>
        <p:spPr>
          <a:xfrm flipH="1">
            <a:off x="2872414" y="4041861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BCE1F280-3F69-AE44-9025-73E7A42CED0E}"/>
              </a:ext>
            </a:extLst>
          </p:cNvPr>
          <p:cNvCxnSpPr>
            <a:cxnSpLocks/>
          </p:cNvCxnSpPr>
          <p:nvPr/>
        </p:nvCxnSpPr>
        <p:spPr>
          <a:xfrm flipH="1">
            <a:off x="2872414" y="3621561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CAB383A-0CA8-8B46-BFB4-B2077A9C37ED}"/>
              </a:ext>
            </a:extLst>
          </p:cNvPr>
          <p:cNvSpPr txBox="1"/>
          <p:nvPr/>
        </p:nvSpPr>
        <p:spPr>
          <a:xfrm>
            <a:off x="2937895" y="3513839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19131C4-4F86-BA45-9388-A47C59B02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692" y="4188500"/>
            <a:ext cx="340730" cy="341206"/>
          </a:xfrm>
          <a:prstGeom prst="rect">
            <a:avLst/>
          </a:prstGeom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7D23447E-3CA6-B145-BB6D-B725107DD3F1}"/>
              </a:ext>
            </a:extLst>
          </p:cNvPr>
          <p:cNvCxnSpPr>
            <a:cxnSpLocks/>
          </p:cNvCxnSpPr>
          <p:nvPr/>
        </p:nvCxnSpPr>
        <p:spPr>
          <a:xfrm flipH="1">
            <a:off x="3233576" y="5257187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E8BCC84-0BF8-7F44-8419-F9068D70B69E}"/>
              </a:ext>
            </a:extLst>
          </p:cNvPr>
          <p:cNvSpPr txBox="1"/>
          <p:nvPr/>
        </p:nvSpPr>
        <p:spPr>
          <a:xfrm>
            <a:off x="3299057" y="514946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05B24123-CFF1-7648-897C-C8B058F397DE}"/>
              </a:ext>
            </a:extLst>
          </p:cNvPr>
          <p:cNvCxnSpPr>
            <a:cxnSpLocks/>
          </p:cNvCxnSpPr>
          <p:nvPr/>
        </p:nvCxnSpPr>
        <p:spPr>
          <a:xfrm flipH="1">
            <a:off x="3229444" y="4884857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937F40A-768E-3E42-A578-DAA40EDEA831}"/>
              </a:ext>
            </a:extLst>
          </p:cNvPr>
          <p:cNvSpPr txBox="1"/>
          <p:nvPr/>
        </p:nvSpPr>
        <p:spPr>
          <a:xfrm>
            <a:off x="3294925" y="4777135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512744-23DC-0649-BD72-B1E74211C303}"/>
              </a:ext>
            </a:extLst>
          </p:cNvPr>
          <p:cNvSpPr txBox="1"/>
          <p:nvPr/>
        </p:nvSpPr>
        <p:spPr>
          <a:xfrm>
            <a:off x="2929633" y="393522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DBEB986-7D2A-D041-9937-5735C1BD1862}"/>
              </a:ext>
            </a:extLst>
          </p:cNvPr>
          <p:cNvSpPr txBox="1"/>
          <p:nvPr/>
        </p:nvSpPr>
        <p:spPr>
          <a:xfrm>
            <a:off x="4209353" y="4703646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0666B8BF-D983-A047-B70B-925D13A0DD4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4134057" y="4529706"/>
            <a:ext cx="395601" cy="227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90DDAFE-1AAC-A248-BCDB-D8C2D097E3ED}"/>
              </a:ext>
            </a:extLst>
          </p:cNvPr>
          <p:cNvSpPr txBox="1"/>
          <p:nvPr/>
        </p:nvSpPr>
        <p:spPr>
          <a:xfrm>
            <a:off x="3571943" y="4614559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F16D4AB-1C98-734C-9CBC-8804D5047A8F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3145712" y="4127685"/>
            <a:ext cx="744588" cy="48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6056BB0B-39FD-EE48-B151-8E9BE8915771}"/>
              </a:ext>
            </a:extLst>
          </p:cNvPr>
          <p:cNvSpPr/>
          <p:nvPr/>
        </p:nvSpPr>
        <p:spPr>
          <a:xfrm>
            <a:off x="4788185" y="3294107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FC12908-E403-A047-A0CE-09DA9C87A35B}"/>
              </a:ext>
            </a:extLst>
          </p:cNvPr>
          <p:cNvSpPr/>
          <p:nvPr/>
        </p:nvSpPr>
        <p:spPr>
          <a:xfrm>
            <a:off x="4788185" y="3900429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DCDAC81-F14F-394A-BCB2-ED1175D50832}"/>
              </a:ext>
            </a:extLst>
          </p:cNvPr>
          <p:cNvSpPr/>
          <p:nvPr/>
        </p:nvSpPr>
        <p:spPr>
          <a:xfrm>
            <a:off x="4787901" y="3466867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C0A3914-322C-8F43-B65E-1037026AB1DF}"/>
              </a:ext>
            </a:extLst>
          </p:cNvPr>
          <p:cNvSpPr txBox="1"/>
          <p:nvPr/>
        </p:nvSpPr>
        <p:spPr>
          <a:xfrm>
            <a:off x="5570123" y="366236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用户地址空间</a:t>
            </a:r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85F12420-E340-CB4D-A302-6679F015114C}"/>
              </a:ext>
            </a:extLst>
          </p:cNvPr>
          <p:cNvCxnSpPr>
            <a:cxnSpLocks/>
          </p:cNvCxnSpPr>
          <p:nvPr/>
        </p:nvCxnSpPr>
        <p:spPr>
          <a:xfrm flipH="1">
            <a:off x="5224081" y="3983122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54A11DAE-F035-8542-9B9D-F1FA3F411892}"/>
              </a:ext>
            </a:extLst>
          </p:cNvPr>
          <p:cNvSpPr txBox="1"/>
          <p:nvPr/>
        </p:nvSpPr>
        <p:spPr>
          <a:xfrm>
            <a:off x="5289562" y="3875400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327CF83C-D5FC-A44D-AE2B-6E83C7FBC220}"/>
              </a:ext>
            </a:extLst>
          </p:cNvPr>
          <p:cNvCxnSpPr>
            <a:cxnSpLocks/>
          </p:cNvCxnSpPr>
          <p:nvPr/>
        </p:nvCxnSpPr>
        <p:spPr>
          <a:xfrm flipH="1">
            <a:off x="5219949" y="3610792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BD35BB43-5A85-334F-AA55-6FA85C0EBDBF}"/>
              </a:ext>
            </a:extLst>
          </p:cNvPr>
          <p:cNvSpPr txBox="1"/>
          <p:nvPr/>
        </p:nvSpPr>
        <p:spPr>
          <a:xfrm>
            <a:off x="5285430" y="3503070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EAC48D42-B664-D94C-BC7B-E959A40E9D27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3890300" y="4063947"/>
            <a:ext cx="1602577" cy="55061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图片 71">
            <a:extLst>
              <a:ext uri="{FF2B5EF4-FFF2-40B4-BE49-F238E27FC236}">
                <a16:creationId xmlns:a16="http://schemas.microsoft.com/office/drawing/2014/main" id="{BBF97DAB-88E8-F842-98B2-14623C0E0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115" y="4158672"/>
            <a:ext cx="340730" cy="341206"/>
          </a:xfrm>
          <a:prstGeom prst="rect">
            <a:avLst/>
          </a:prstGeom>
        </p:spPr>
      </p:pic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15F87FDC-869A-2E48-BF97-1E0359010EC1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4465891" y="4499878"/>
            <a:ext cx="971589" cy="265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3973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DC994-2AEB-5849-A987-D022C74C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</a:t>
            </a:r>
            <a:r>
              <a:rPr kumimoji="1" lang="en-US" altLang="zh-CN" dirty="0"/>
              <a:t>/</a:t>
            </a:r>
            <a:r>
              <a:rPr kumimoji="1" lang="zh-CN" altLang="en-US" dirty="0"/>
              <a:t>用户态切换与上下文切换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A0E85-7B6E-7144-AF86-880887D7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但是该机制并不足以实现上下文切换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不同进程地址空间不同，使用的寄存器值也不同（如</a:t>
            </a:r>
            <a:r>
              <a:rPr kumimoji="1" lang="en-US" altLang="zh-CN" dirty="0"/>
              <a:t>PC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9C5EDD-663B-1545-85BD-29619BCA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5B1EF8-ED39-6B4C-AFBA-5D95921FF0E7}"/>
              </a:ext>
            </a:extLst>
          </p:cNvPr>
          <p:cNvSpPr txBox="1"/>
          <p:nvPr/>
        </p:nvSpPr>
        <p:spPr>
          <a:xfrm>
            <a:off x="6935197" y="36455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91E837E7-9A3F-9249-9083-5E92544FA379}"/>
              </a:ext>
            </a:extLst>
          </p:cNvPr>
          <p:cNvCxnSpPr>
            <a:cxnSpLocks/>
          </p:cNvCxnSpPr>
          <p:nvPr/>
        </p:nvCxnSpPr>
        <p:spPr>
          <a:xfrm>
            <a:off x="1259632" y="4408408"/>
            <a:ext cx="6552728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2CF83A9-00FD-B441-A1A9-A4A8EB8DE4EE}"/>
              </a:ext>
            </a:extLst>
          </p:cNvPr>
          <p:cNvSpPr txBox="1"/>
          <p:nvPr/>
        </p:nvSpPr>
        <p:spPr>
          <a:xfrm>
            <a:off x="6935196" y="46244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BA608F-64BD-0F42-8305-71EF080CE040}"/>
              </a:ext>
            </a:extLst>
          </p:cNvPr>
          <p:cNvSpPr/>
          <p:nvPr/>
        </p:nvSpPr>
        <p:spPr>
          <a:xfrm>
            <a:off x="2440934" y="3308403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81EC62-DF14-E24B-B9B4-0C5ABD56E52D}"/>
              </a:ext>
            </a:extLst>
          </p:cNvPr>
          <p:cNvSpPr/>
          <p:nvPr/>
        </p:nvSpPr>
        <p:spPr>
          <a:xfrm>
            <a:off x="2440934" y="3914725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A866B1-BA1C-1443-B4B0-02009DC8770A}"/>
              </a:ext>
            </a:extLst>
          </p:cNvPr>
          <p:cNvSpPr/>
          <p:nvPr/>
        </p:nvSpPr>
        <p:spPr>
          <a:xfrm>
            <a:off x="2440650" y="3481163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34F5E7-7785-5245-A6C8-9941DC7589BD}"/>
              </a:ext>
            </a:extLst>
          </p:cNvPr>
          <p:cNvSpPr/>
          <p:nvPr/>
        </p:nvSpPr>
        <p:spPr>
          <a:xfrm>
            <a:off x="2797680" y="4568172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09A36B-645E-3B40-B672-AB885B49EAA9}"/>
              </a:ext>
            </a:extLst>
          </p:cNvPr>
          <p:cNvSpPr/>
          <p:nvPr/>
        </p:nvSpPr>
        <p:spPr>
          <a:xfrm>
            <a:off x="2797680" y="5174494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EA2501-3066-E84E-8657-B3B4F8D6AD3F}"/>
              </a:ext>
            </a:extLst>
          </p:cNvPr>
          <p:cNvSpPr/>
          <p:nvPr/>
        </p:nvSpPr>
        <p:spPr>
          <a:xfrm>
            <a:off x="2797396" y="4740932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0755A7D-2749-9849-AAE4-AA93C61551DC}"/>
              </a:ext>
            </a:extLst>
          </p:cNvPr>
          <p:cNvSpPr txBox="1"/>
          <p:nvPr/>
        </p:nvSpPr>
        <p:spPr>
          <a:xfrm>
            <a:off x="1204678" y="3691479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241294-7F5F-1F4C-A904-8A2EDBA5B986}"/>
              </a:ext>
            </a:extLst>
          </p:cNvPr>
          <p:cNvSpPr txBox="1"/>
          <p:nvPr/>
        </p:nvSpPr>
        <p:spPr>
          <a:xfrm>
            <a:off x="1554325" y="4936431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42FE0C5-02B8-0B4B-BCFE-A74CD0E3B885}"/>
              </a:ext>
            </a:extLst>
          </p:cNvPr>
          <p:cNvCxnSpPr>
            <a:cxnSpLocks/>
          </p:cNvCxnSpPr>
          <p:nvPr/>
        </p:nvCxnSpPr>
        <p:spPr>
          <a:xfrm flipH="1">
            <a:off x="2872414" y="4041861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BCE1F280-3F69-AE44-9025-73E7A42CED0E}"/>
              </a:ext>
            </a:extLst>
          </p:cNvPr>
          <p:cNvCxnSpPr>
            <a:cxnSpLocks/>
          </p:cNvCxnSpPr>
          <p:nvPr/>
        </p:nvCxnSpPr>
        <p:spPr>
          <a:xfrm flipH="1">
            <a:off x="2872414" y="3621561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CAB383A-0CA8-8B46-BFB4-B2077A9C37ED}"/>
              </a:ext>
            </a:extLst>
          </p:cNvPr>
          <p:cNvSpPr txBox="1"/>
          <p:nvPr/>
        </p:nvSpPr>
        <p:spPr>
          <a:xfrm>
            <a:off x="2937895" y="3513839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19131C4-4F86-BA45-9388-A47C59B02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692" y="4188500"/>
            <a:ext cx="340730" cy="341206"/>
          </a:xfrm>
          <a:prstGeom prst="rect">
            <a:avLst/>
          </a:prstGeom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7D23447E-3CA6-B145-BB6D-B725107DD3F1}"/>
              </a:ext>
            </a:extLst>
          </p:cNvPr>
          <p:cNvCxnSpPr>
            <a:cxnSpLocks/>
          </p:cNvCxnSpPr>
          <p:nvPr/>
        </p:nvCxnSpPr>
        <p:spPr>
          <a:xfrm flipH="1">
            <a:off x="3233576" y="5257187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E8BCC84-0BF8-7F44-8419-F9068D70B69E}"/>
              </a:ext>
            </a:extLst>
          </p:cNvPr>
          <p:cNvSpPr txBox="1"/>
          <p:nvPr/>
        </p:nvSpPr>
        <p:spPr>
          <a:xfrm>
            <a:off x="3299057" y="514946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05B24123-CFF1-7648-897C-C8B058F397DE}"/>
              </a:ext>
            </a:extLst>
          </p:cNvPr>
          <p:cNvCxnSpPr>
            <a:cxnSpLocks/>
          </p:cNvCxnSpPr>
          <p:nvPr/>
        </p:nvCxnSpPr>
        <p:spPr>
          <a:xfrm flipH="1">
            <a:off x="3229444" y="4884857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937F40A-768E-3E42-A578-DAA40EDEA831}"/>
              </a:ext>
            </a:extLst>
          </p:cNvPr>
          <p:cNvSpPr txBox="1"/>
          <p:nvPr/>
        </p:nvSpPr>
        <p:spPr>
          <a:xfrm>
            <a:off x="3294925" y="4777135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512744-23DC-0649-BD72-B1E74211C303}"/>
              </a:ext>
            </a:extLst>
          </p:cNvPr>
          <p:cNvSpPr txBox="1"/>
          <p:nvPr/>
        </p:nvSpPr>
        <p:spPr>
          <a:xfrm>
            <a:off x="2929633" y="393522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DBEB986-7D2A-D041-9937-5735C1BD1862}"/>
              </a:ext>
            </a:extLst>
          </p:cNvPr>
          <p:cNvSpPr txBox="1"/>
          <p:nvPr/>
        </p:nvSpPr>
        <p:spPr>
          <a:xfrm>
            <a:off x="4049827" y="4710524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0666B8BF-D983-A047-B70B-925D13A0DD48}"/>
              </a:ext>
            </a:extLst>
          </p:cNvPr>
          <p:cNvCxnSpPr>
            <a:cxnSpLocks/>
            <a:stCxn id="21" idx="2"/>
            <a:endCxn id="31" idx="0"/>
          </p:cNvCxnSpPr>
          <p:nvPr/>
        </p:nvCxnSpPr>
        <p:spPr>
          <a:xfrm>
            <a:off x="4134057" y="4529706"/>
            <a:ext cx="271797" cy="180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90DDAFE-1AAC-A248-BCDB-D8C2D097E3ED}"/>
              </a:ext>
            </a:extLst>
          </p:cNvPr>
          <p:cNvSpPr txBox="1"/>
          <p:nvPr/>
        </p:nvSpPr>
        <p:spPr>
          <a:xfrm>
            <a:off x="3564012" y="4522721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F16D4AB-1C98-734C-9CBC-8804D5047A8F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3137781" y="4035847"/>
            <a:ext cx="744588" cy="48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6056BB0B-39FD-EE48-B151-8E9BE8915771}"/>
              </a:ext>
            </a:extLst>
          </p:cNvPr>
          <p:cNvSpPr/>
          <p:nvPr/>
        </p:nvSpPr>
        <p:spPr>
          <a:xfrm>
            <a:off x="5857873" y="3294107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FC12908-E403-A047-A0CE-09DA9C87A35B}"/>
              </a:ext>
            </a:extLst>
          </p:cNvPr>
          <p:cNvSpPr/>
          <p:nvPr/>
        </p:nvSpPr>
        <p:spPr>
          <a:xfrm>
            <a:off x="5857873" y="3914725"/>
            <a:ext cx="432048" cy="19347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DCDAC81-F14F-394A-BCB2-ED1175D50832}"/>
              </a:ext>
            </a:extLst>
          </p:cNvPr>
          <p:cNvSpPr/>
          <p:nvPr/>
        </p:nvSpPr>
        <p:spPr>
          <a:xfrm>
            <a:off x="5857589" y="3434399"/>
            <a:ext cx="432000" cy="2232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C0A3914-322C-8F43-B65E-1037026AB1DF}"/>
              </a:ext>
            </a:extLst>
          </p:cNvPr>
          <p:cNvSpPr txBox="1"/>
          <p:nvPr/>
        </p:nvSpPr>
        <p:spPr>
          <a:xfrm>
            <a:off x="4636913" y="3685817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p1</a:t>
            </a:r>
            <a:r>
              <a:rPr kumimoji="1" lang="zh-CN" altLang="en-US" sz="1200" dirty="0"/>
              <a:t>用户地址空间</a:t>
            </a:r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85F12420-E340-CB4D-A302-6679F015114C}"/>
              </a:ext>
            </a:extLst>
          </p:cNvPr>
          <p:cNvCxnSpPr>
            <a:cxnSpLocks/>
          </p:cNvCxnSpPr>
          <p:nvPr/>
        </p:nvCxnSpPr>
        <p:spPr>
          <a:xfrm flipH="1">
            <a:off x="6293769" y="3968331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54A11DAE-F035-8542-9B9D-F1FA3F411892}"/>
              </a:ext>
            </a:extLst>
          </p:cNvPr>
          <p:cNvSpPr txBox="1"/>
          <p:nvPr/>
        </p:nvSpPr>
        <p:spPr>
          <a:xfrm>
            <a:off x="6362926" y="3865612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327CF83C-D5FC-A44D-AE2B-6E83C7FBC220}"/>
              </a:ext>
            </a:extLst>
          </p:cNvPr>
          <p:cNvCxnSpPr>
            <a:cxnSpLocks/>
          </p:cNvCxnSpPr>
          <p:nvPr/>
        </p:nvCxnSpPr>
        <p:spPr>
          <a:xfrm flipH="1">
            <a:off x="6289637" y="3649588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BD35BB43-5A85-334F-AA55-6FA85C0EBDBF}"/>
              </a:ext>
            </a:extLst>
          </p:cNvPr>
          <p:cNvSpPr txBox="1"/>
          <p:nvPr/>
        </p:nvSpPr>
        <p:spPr>
          <a:xfrm>
            <a:off x="6355118" y="3542400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BBF97DAB-88E8-F842-98B2-14623C0E0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03" y="4158672"/>
            <a:ext cx="340730" cy="341206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D993E892-3B3F-1440-9155-0109F65E4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71" y="4727376"/>
            <a:ext cx="384818" cy="382113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D01EA043-7A54-4544-9457-C0B7352094F0}"/>
              </a:ext>
            </a:extLst>
          </p:cNvPr>
          <p:cNvSpPr txBox="1"/>
          <p:nvPr/>
        </p:nvSpPr>
        <p:spPr>
          <a:xfrm>
            <a:off x="4642514" y="460202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rgbClr val="941100"/>
                </a:solidFill>
              </a:rPr>
              <a:t>？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8314FC9-989C-CF4E-944D-3D9BA13DAF1D}"/>
              </a:ext>
            </a:extLst>
          </p:cNvPr>
          <p:cNvSpPr txBox="1"/>
          <p:nvPr/>
        </p:nvSpPr>
        <p:spPr>
          <a:xfrm>
            <a:off x="5156090" y="4715841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3C8E481-66C3-D04A-9607-650709AC8E8C}"/>
              </a:ext>
            </a:extLst>
          </p:cNvPr>
          <p:cNvSpPr txBox="1"/>
          <p:nvPr/>
        </p:nvSpPr>
        <p:spPr>
          <a:xfrm>
            <a:off x="4745106" y="510311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/>
              <a:t>切换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EBED4F5-C8EF-9A4C-B966-1BB09C92E019}"/>
              </a:ext>
            </a:extLst>
          </p:cNvPr>
          <p:cNvSpPr txBox="1"/>
          <p:nvPr/>
        </p:nvSpPr>
        <p:spPr>
          <a:xfrm>
            <a:off x="5050943" y="4518445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F58B0BD9-E6EC-0E4F-8A55-CF91168D4CB1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5369300" y="4029803"/>
            <a:ext cx="1158542" cy="488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0F481ADC-9F14-0542-B81E-EE7DA2C6DAA5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5583451" y="4499878"/>
            <a:ext cx="923717" cy="241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37E3C9A9-44FB-654C-9CBB-C406A0E25DDA}"/>
              </a:ext>
            </a:extLst>
          </p:cNvPr>
          <p:cNvSpPr/>
          <p:nvPr/>
        </p:nvSpPr>
        <p:spPr>
          <a:xfrm>
            <a:off x="3000034" y="3962816"/>
            <a:ext cx="182528" cy="145384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64EC7E0-EF5C-3F4F-B2CE-CDD2D98A7A43}"/>
              </a:ext>
            </a:extLst>
          </p:cNvPr>
          <p:cNvSpPr/>
          <p:nvPr/>
        </p:nvSpPr>
        <p:spPr>
          <a:xfrm>
            <a:off x="6435433" y="3896477"/>
            <a:ext cx="182528" cy="145384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24785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DC994-2AEB-5849-A987-D022C74C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</a:t>
            </a:r>
            <a:r>
              <a:rPr kumimoji="1" lang="en-US" altLang="zh-CN" dirty="0"/>
              <a:t>/</a:t>
            </a:r>
            <a:r>
              <a:rPr kumimoji="1" lang="zh-CN" altLang="en-US" dirty="0"/>
              <a:t>用户态切换与上下文切换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A0E85-7B6E-7144-AF86-880887D7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但是该机制并不足以实现上下文切换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不同进程地址空间不同，使用的寄存器值也不同（如</a:t>
            </a:r>
            <a:r>
              <a:rPr kumimoji="1" lang="en-US" altLang="zh-CN" dirty="0"/>
              <a:t>PC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但是：</a:t>
            </a:r>
            <a:r>
              <a:rPr kumimoji="1" lang="zh-CN" altLang="en-US" b="1" dirty="0"/>
              <a:t>寄存器只有一个！</a:t>
            </a:r>
            <a:r>
              <a:rPr kumimoji="1" lang="zh-CN" altLang="en-US" dirty="0"/>
              <a:t>直接恢复会导致错误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9C5EDD-663B-1545-85BD-29619BCA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42D0ACF-4700-5643-950F-09786494582D}"/>
              </a:ext>
            </a:extLst>
          </p:cNvPr>
          <p:cNvSpPr txBox="1"/>
          <p:nvPr/>
        </p:nvSpPr>
        <p:spPr>
          <a:xfrm>
            <a:off x="6935197" y="3789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1591FBFA-4988-D345-8104-863B731B09CD}"/>
              </a:ext>
            </a:extLst>
          </p:cNvPr>
          <p:cNvCxnSpPr>
            <a:cxnSpLocks/>
          </p:cNvCxnSpPr>
          <p:nvPr/>
        </p:nvCxnSpPr>
        <p:spPr>
          <a:xfrm>
            <a:off x="1259632" y="4552424"/>
            <a:ext cx="6552728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E1932D37-D5F2-414F-BFFA-2681F4B3245B}"/>
              </a:ext>
            </a:extLst>
          </p:cNvPr>
          <p:cNvSpPr txBox="1"/>
          <p:nvPr/>
        </p:nvSpPr>
        <p:spPr>
          <a:xfrm>
            <a:off x="6935196" y="476844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0C04697-0922-0B43-A921-507BD51064C2}"/>
              </a:ext>
            </a:extLst>
          </p:cNvPr>
          <p:cNvSpPr/>
          <p:nvPr/>
        </p:nvSpPr>
        <p:spPr>
          <a:xfrm>
            <a:off x="2440934" y="3452419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AA8D2B0-09B2-F448-A63A-15E648B819AA}"/>
              </a:ext>
            </a:extLst>
          </p:cNvPr>
          <p:cNvSpPr/>
          <p:nvPr/>
        </p:nvSpPr>
        <p:spPr>
          <a:xfrm>
            <a:off x="2440934" y="4058741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16731D7-D861-D64F-B423-62E86DBA5B6B}"/>
              </a:ext>
            </a:extLst>
          </p:cNvPr>
          <p:cNvSpPr/>
          <p:nvPr/>
        </p:nvSpPr>
        <p:spPr>
          <a:xfrm>
            <a:off x="2440650" y="3625179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F062242-6008-234D-9010-C79726B25E01}"/>
              </a:ext>
            </a:extLst>
          </p:cNvPr>
          <p:cNvSpPr/>
          <p:nvPr/>
        </p:nvSpPr>
        <p:spPr>
          <a:xfrm>
            <a:off x="2797680" y="4712188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19C8658-52AC-3843-ACE7-A473F0D21F7F}"/>
              </a:ext>
            </a:extLst>
          </p:cNvPr>
          <p:cNvSpPr/>
          <p:nvPr/>
        </p:nvSpPr>
        <p:spPr>
          <a:xfrm>
            <a:off x="2797680" y="5318510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15AB17A-7D2A-3849-ADB5-F3868FFA9152}"/>
              </a:ext>
            </a:extLst>
          </p:cNvPr>
          <p:cNvSpPr/>
          <p:nvPr/>
        </p:nvSpPr>
        <p:spPr>
          <a:xfrm>
            <a:off x="2797396" y="4884948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7CFBFC7-F969-4849-A457-F247097E0013}"/>
              </a:ext>
            </a:extLst>
          </p:cNvPr>
          <p:cNvSpPr txBox="1"/>
          <p:nvPr/>
        </p:nvSpPr>
        <p:spPr>
          <a:xfrm>
            <a:off x="1204678" y="3835495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49B10A7-73CD-5D40-8844-B95198FE7EBD}"/>
              </a:ext>
            </a:extLst>
          </p:cNvPr>
          <p:cNvSpPr txBox="1"/>
          <p:nvPr/>
        </p:nvSpPr>
        <p:spPr>
          <a:xfrm>
            <a:off x="1554325" y="5080447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D1BB6AE8-6AC8-094E-9EC3-5EE8E1096B0B}"/>
              </a:ext>
            </a:extLst>
          </p:cNvPr>
          <p:cNvCxnSpPr>
            <a:cxnSpLocks/>
          </p:cNvCxnSpPr>
          <p:nvPr/>
        </p:nvCxnSpPr>
        <p:spPr>
          <a:xfrm flipH="1">
            <a:off x="2872414" y="41858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3B2E5111-5D9E-2D4E-BEED-D1CE9D86A4C7}"/>
              </a:ext>
            </a:extLst>
          </p:cNvPr>
          <p:cNvCxnSpPr>
            <a:cxnSpLocks/>
          </p:cNvCxnSpPr>
          <p:nvPr/>
        </p:nvCxnSpPr>
        <p:spPr>
          <a:xfrm flipH="1">
            <a:off x="2872414" y="37655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B84D19F5-C482-6247-8E1A-AEDA5279F3C4}"/>
              </a:ext>
            </a:extLst>
          </p:cNvPr>
          <p:cNvSpPr txBox="1"/>
          <p:nvPr/>
        </p:nvSpPr>
        <p:spPr>
          <a:xfrm>
            <a:off x="2937895" y="3657855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C62B4D3A-23F1-3148-90D5-090F469F8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692" y="4332516"/>
            <a:ext cx="340730" cy="341206"/>
          </a:xfrm>
          <a:prstGeom prst="rect">
            <a:avLst/>
          </a:prstGeom>
        </p:spPr>
      </p:pic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CF1DCD2F-C1A5-AD4A-B3A9-0BE03E70D1BD}"/>
              </a:ext>
            </a:extLst>
          </p:cNvPr>
          <p:cNvCxnSpPr>
            <a:cxnSpLocks/>
          </p:cNvCxnSpPr>
          <p:nvPr/>
        </p:nvCxnSpPr>
        <p:spPr>
          <a:xfrm flipH="1">
            <a:off x="3233576" y="540120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6C0BA358-BCE8-6B44-B3A4-55E2CFCD856A}"/>
              </a:ext>
            </a:extLst>
          </p:cNvPr>
          <p:cNvSpPr txBox="1"/>
          <p:nvPr/>
        </p:nvSpPr>
        <p:spPr>
          <a:xfrm>
            <a:off x="3299057" y="529348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0FB12185-18A6-014D-9B94-C8620A8A94C5}"/>
              </a:ext>
            </a:extLst>
          </p:cNvPr>
          <p:cNvCxnSpPr>
            <a:cxnSpLocks/>
          </p:cNvCxnSpPr>
          <p:nvPr/>
        </p:nvCxnSpPr>
        <p:spPr>
          <a:xfrm flipH="1">
            <a:off x="3229444" y="502887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49BF496F-F9D7-B746-BDD4-D524CD6DA584}"/>
              </a:ext>
            </a:extLst>
          </p:cNvPr>
          <p:cNvSpPr txBox="1"/>
          <p:nvPr/>
        </p:nvSpPr>
        <p:spPr>
          <a:xfrm>
            <a:off x="3294925" y="4921151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48D3FA80-5F54-284F-BE19-27E02A987659}"/>
              </a:ext>
            </a:extLst>
          </p:cNvPr>
          <p:cNvSpPr txBox="1"/>
          <p:nvPr/>
        </p:nvSpPr>
        <p:spPr>
          <a:xfrm>
            <a:off x="2929633" y="407924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2E6602-4DF1-6C47-AAF8-597FEAB0592B}"/>
              </a:ext>
            </a:extLst>
          </p:cNvPr>
          <p:cNvSpPr txBox="1"/>
          <p:nvPr/>
        </p:nvSpPr>
        <p:spPr>
          <a:xfrm>
            <a:off x="4049827" y="4854540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3DEF9BB5-5A47-CD4F-AC8D-26D90682F544}"/>
              </a:ext>
            </a:extLst>
          </p:cNvPr>
          <p:cNvCxnSpPr>
            <a:cxnSpLocks/>
            <a:stCxn id="79" idx="2"/>
            <a:endCxn id="87" idx="0"/>
          </p:cNvCxnSpPr>
          <p:nvPr/>
        </p:nvCxnSpPr>
        <p:spPr>
          <a:xfrm>
            <a:off x="4134057" y="4673722"/>
            <a:ext cx="271797" cy="180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09A6E0E4-30D3-0648-9027-EA13C4A08B72}"/>
              </a:ext>
            </a:extLst>
          </p:cNvPr>
          <p:cNvSpPr txBox="1"/>
          <p:nvPr/>
        </p:nvSpPr>
        <p:spPr>
          <a:xfrm>
            <a:off x="3286770" y="4678238"/>
            <a:ext cx="10935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 (p0 PC</a:t>
            </a:r>
            <a:r>
              <a:rPr kumimoji="1" lang="zh-CN" altLang="en-US" sz="800" b="1" dirty="0">
                <a:solidFill>
                  <a:srgbClr val="C00000"/>
                </a:solidFill>
              </a:rPr>
              <a:t>）</a:t>
            </a:r>
          </a:p>
        </p:txBody>
      </p: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AD5597FE-B328-0F49-83C3-A69A085F3450}"/>
              </a:ext>
            </a:extLst>
          </p:cNvPr>
          <p:cNvCxnSpPr>
            <a:cxnSpLocks/>
            <a:endCxn id="89" idx="0"/>
          </p:cNvCxnSpPr>
          <p:nvPr/>
        </p:nvCxnSpPr>
        <p:spPr>
          <a:xfrm>
            <a:off x="2860539" y="4191364"/>
            <a:ext cx="973016" cy="48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94A1F4AB-E7F9-7F4B-A029-F55578FFF170}"/>
              </a:ext>
            </a:extLst>
          </p:cNvPr>
          <p:cNvSpPr/>
          <p:nvPr/>
        </p:nvSpPr>
        <p:spPr>
          <a:xfrm>
            <a:off x="5857873" y="3438123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234B4E2-565E-404B-ADCA-EE37D7F7DE20}"/>
              </a:ext>
            </a:extLst>
          </p:cNvPr>
          <p:cNvSpPr/>
          <p:nvPr/>
        </p:nvSpPr>
        <p:spPr>
          <a:xfrm>
            <a:off x="5857873" y="4058741"/>
            <a:ext cx="432048" cy="19347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87450D7-DBF7-B14C-9A9B-5E4B588A8046}"/>
              </a:ext>
            </a:extLst>
          </p:cNvPr>
          <p:cNvSpPr/>
          <p:nvPr/>
        </p:nvSpPr>
        <p:spPr>
          <a:xfrm>
            <a:off x="5857589" y="3578415"/>
            <a:ext cx="432000" cy="2232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1A96A437-9384-E94B-A6D9-D202F9701CFE}"/>
              </a:ext>
            </a:extLst>
          </p:cNvPr>
          <p:cNvSpPr txBox="1"/>
          <p:nvPr/>
        </p:nvSpPr>
        <p:spPr>
          <a:xfrm>
            <a:off x="4636913" y="3829833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p1</a:t>
            </a:r>
            <a:r>
              <a:rPr kumimoji="1" lang="zh-CN" altLang="en-US" sz="1200" dirty="0"/>
              <a:t>用户地址空间</a:t>
            </a:r>
          </a:p>
        </p:txBody>
      </p: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B866FDB1-48B5-9F44-AA5E-B94A491EE10F}"/>
              </a:ext>
            </a:extLst>
          </p:cNvPr>
          <p:cNvCxnSpPr>
            <a:cxnSpLocks/>
          </p:cNvCxnSpPr>
          <p:nvPr/>
        </p:nvCxnSpPr>
        <p:spPr>
          <a:xfrm flipH="1">
            <a:off x="6293769" y="411234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F79F750F-7C45-5740-96D5-993459871EE7}"/>
              </a:ext>
            </a:extLst>
          </p:cNvPr>
          <p:cNvSpPr txBox="1"/>
          <p:nvPr/>
        </p:nvSpPr>
        <p:spPr>
          <a:xfrm>
            <a:off x="6362926" y="4009628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65C747F8-7BB8-5A42-91E3-3EF82402695A}"/>
              </a:ext>
            </a:extLst>
          </p:cNvPr>
          <p:cNvCxnSpPr>
            <a:cxnSpLocks/>
          </p:cNvCxnSpPr>
          <p:nvPr/>
        </p:nvCxnSpPr>
        <p:spPr>
          <a:xfrm flipH="1">
            <a:off x="6289637" y="3793604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054C82C8-F1E4-924E-8975-1F068FF05619}"/>
              </a:ext>
            </a:extLst>
          </p:cNvPr>
          <p:cNvSpPr txBox="1"/>
          <p:nvPr/>
        </p:nvSpPr>
        <p:spPr>
          <a:xfrm>
            <a:off x="6355118" y="3686416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99" name="图片 98">
            <a:extLst>
              <a:ext uri="{FF2B5EF4-FFF2-40B4-BE49-F238E27FC236}">
                <a16:creationId xmlns:a16="http://schemas.microsoft.com/office/drawing/2014/main" id="{92D152ED-BDA4-F946-AB6E-325E6EC1C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03" y="4302688"/>
            <a:ext cx="340730" cy="341206"/>
          </a:xfrm>
          <a:prstGeom prst="rect">
            <a:avLst/>
          </a:prstGeom>
        </p:spPr>
      </p:pic>
      <p:sp>
        <p:nvSpPr>
          <p:cNvPr id="102" name="文本框 101">
            <a:extLst>
              <a:ext uri="{FF2B5EF4-FFF2-40B4-BE49-F238E27FC236}">
                <a16:creationId xmlns:a16="http://schemas.microsoft.com/office/drawing/2014/main" id="{178E4CD6-ADA4-184A-AD9E-B0EA5430B5BC}"/>
              </a:ext>
            </a:extLst>
          </p:cNvPr>
          <p:cNvSpPr txBox="1"/>
          <p:nvPr/>
        </p:nvSpPr>
        <p:spPr>
          <a:xfrm>
            <a:off x="5122346" y="4859857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A18B51E-4F3D-4645-969C-B4411A2BB9D8}"/>
              </a:ext>
            </a:extLst>
          </p:cNvPr>
          <p:cNvSpPr txBox="1"/>
          <p:nvPr/>
        </p:nvSpPr>
        <p:spPr>
          <a:xfrm>
            <a:off x="4914038" y="4649154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 (p0 PC)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36D3EEC3-0005-D24E-8FE5-C80B785239DD}"/>
              </a:ext>
            </a:extLst>
          </p:cNvPr>
          <p:cNvCxnSpPr>
            <a:cxnSpLocks/>
            <a:stCxn id="104" idx="0"/>
            <a:endCxn id="108" idx="3"/>
          </p:cNvCxnSpPr>
          <p:nvPr/>
        </p:nvCxnSpPr>
        <p:spPr>
          <a:xfrm flipV="1">
            <a:off x="5426358" y="4199764"/>
            <a:ext cx="1001594" cy="449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B60063B2-EEBC-8C42-AE64-2758DDDD36A9}"/>
              </a:ext>
            </a:extLst>
          </p:cNvPr>
          <p:cNvCxnSpPr>
            <a:cxnSpLocks/>
            <a:endCxn id="99" idx="2"/>
          </p:cNvCxnSpPr>
          <p:nvPr/>
        </p:nvCxnSpPr>
        <p:spPr>
          <a:xfrm flipV="1">
            <a:off x="5583451" y="4643894"/>
            <a:ext cx="923717" cy="241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A8F17326-99DF-5540-8B67-6292C68FBFBB}"/>
              </a:ext>
            </a:extLst>
          </p:cNvPr>
          <p:cNvSpPr/>
          <p:nvPr/>
        </p:nvSpPr>
        <p:spPr>
          <a:xfrm>
            <a:off x="6435433" y="4040493"/>
            <a:ext cx="182528" cy="145384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87AD8422-14DF-1241-BB85-3CCD463F2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958" y="4137691"/>
            <a:ext cx="123994" cy="124145"/>
          </a:xfrm>
          <a:prstGeom prst="rect">
            <a:avLst/>
          </a:prstGeom>
        </p:spPr>
      </p:pic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D5B95E3F-00DC-EA4F-9476-B4B490118172}"/>
              </a:ext>
            </a:extLst>
          </p:cNvPr>
          <p:cNvCxnSpPr>
            <a:cxnSpLocks/>
            <a:endCxn id="104" idx="1"/>
          </p:cNvCxnSpPr>
          <p:nvPr/>
        </p:nvCxnSpPr>
        <p:spPr>
          <a:xfrm flipV="1">
            <a:off x="4304422" y="4756876"/>
            <a:ext cx="609616" cy="115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9687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DC994-2AEB-5849-A987-D022C74C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</a:t>
            </a:r>
            <a:r>
              <a:rPr kumimoji="1" lang="en-US" altLang="zh-CN" dirty="0"/>
              <a:t>/</a:t>
            </a:r>
            <a:r>
              <a:rPr kumimoji="1" lang="zh-CN" altLang="en-US" dirty="0"/>
              <a:t>用户态切换与上下文切换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A0E85-7B6E-7144-AF86-880887D7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但是该机制并不足以实现上下文切换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不同进程地址空间不同，使用的寄存器值也不同（如</a:t>
            </a:r>
            <a:r>
              <a:rPr kumimoji="1" lang="en-US" altLang="zh-CN" dirty="0"/>
              <a:t>PC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但是：</a:t>
            </a:r>
            <a:r>
              <a:rPr kumimoji="1" lang="zh-CN" altLang="en-US" b="1" dirty="0"/>
              <a:t>寄存器只有一个！</a:t>
            </a:r>
            <a:r>
              <a:rPr kumimoji="1" lang="zh-CN" altLang="en-US" dirty="0"/>
              <a:t>直接恢复会导致错误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解决方法：保存</a:t>
            </a:r>
            <a:r>
              <a:rPr kumimoji="1" lang="zh-CN" altLang="en-US" b="1" dirty="0"/>
              <a:t>上下文</a:t>
            </a:r>
            <a:r>
              <a:rPr kumimoji="1" lang="zh-CN" altLang="en-US" dirty="0"/>
              <a:t>（寄存器）到内存，用于之后恢复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9C5EDD-663B-1545-85BD-29619BCA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9E80974-9D28-3147-A523-EB2991C4D75B}"/>
              </a:ext>
            </a:extLst>
          </p:cNvPr>
          <p:cNvSpPr txBox="1"/>
          <p:nvPr/>
        </p:nvSpPr>
        <p:spPr>
          <a:xfrm>
            <a:off x="6935197" y="3789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0B2EFF93-5852-184E-8675-6BC85B0A05FE}"/>
              </a:ext>
            </a:extLst>
          </p:cNvPr>
          <p:cNvCxnSpPr>
            <a:cxnSpLocks/>
          </p:cNvCxnSpPr>
          <p:nvPr/>
        </p:nvCxnSpPr>
        <p:spPr>
          <a:xfrm>
            <a:off x="1259632" y="4552424"/>
            <a:ext cx="6552728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A451183C-2CA8-C847-8058-2AE5BA88B443}"/>
              </a:ext>
            </a:extLst>
          </p:cNvPr>
          <p:cNvSpPr txBox="1"/>
          <p:nvPr/>
        </p:nvSpPr>
        <p:spPr>
          <a:xfrm>
            <a:off x="6935196" y="476844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8FE49BF-2515-DA42-8153-12861B10C5FE}"/>
              </a:ext>
            </a:extLst>
          </p:cNvPr>
          <p:cNvSpPr/>
          <p:nvPr/>
        </p:nvSpPr>
        <p:spPr>
          <a:xfrm>
            <a:off x="2440934" y="3452419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8A2B195-5B1F-9E41-860C-3D293B88D3F9}"/>
              </a:ext>
            </a:extLst>
          </p:cNvPr>
          <p:cNvSpPr/>
          <p:nvPr/>
        </p:nvSpPr>
        <p:spPr>
          <a:xfrm>
            <a:off x="2440934" y="4058741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ABEDEA4-EEC7-5C4F-B9EC-079E037DA8A6}"/>
              </a:ext>
            </a:extLst>
          </p:cNvPr>
          <p:cNvSpPr/>
          <p:nvPr/>
        </p:nvSpPr>
        <p:spPr>
          <a:xfrm>
            <a:off x="2440650" y="3625179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FB7F0AE-8211-5A4D-81A1-FAC227540992}"/>
              </a:ext>
            </a:extLst>
          </p:cNvPr>
          <p:cNvSpPr/>
          <p:nvPr/>
        </p:nvSpPr>
        <p:spPr>
          <a:xfrm>
            <a:off x="2797680" y="4712188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D0BDE67-9888-FF45-A026-F9C11AE5A5A1}"/>
              </a:ext>
            </a:extLst>
          </p:cNvPr>
          <p:cNvSpPr/>
          <p:nvPr/>
        </p:nvSpPr>
        <p:spPr>
          <a:xfrm>
            <a:off x="2797680" y="5318510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639A976-472D-7941-AA50-018546771F07}"/>
              </a:ext>
            </a:extLst>
          </p:cNvPr>
          <p:cNvSpPr/>
          <p:nvPr/>
        </p:nvSpPr>
        <p:spPr>
          <a:xfrm>
            <a:off x="2797396" y="4884948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0C5EE92-3450-4E4C-B335-ED33056D3B46}"/>
              </a:ext>
            </a:extLst>
          </p:cNvPr>
          <p:cNvSpPr txBox="1"/>
          <p:nvPr/>
        </p:nvSpPr>
        <p:spPr>
          <a:xfrm>
            <a:off x="1204678" y="3835495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E79C89B-33D0-0A4B-89EC-D07E93BFCDB7}"/>
              </a:ext>
            </a:extLst>
          </p:cNvPr>
          <p:cNvSpPr txBox="1"/>
          <p:nvPr/>
        </p:nvSpPr>
        <p:spPr>
          <a:xfrm>
            <a:off x="1554325" y="5080447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9A628924-BBE6-EA4D-881D-47FA6DA5E55F}"/>
              </a:ext>
            </a:extLst>
          </p:cNvPr>
          <p:cNvCxnSpPr>
            <a:cxnSpLocks/>
          </p:cNvCxnSpPr>
          <p:nvPr/>
        </p:nvCxnSpPr>
        <p:spPr>
          <a:xfrm flipH="1">
            <a:off x="2872414" y="41858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D764805F-92CF-774A-9656-DD8E203EC18D}"/>
              </a:ext>
            </a:extLst>
          </p:cNvPr>
          <p:cNvCxnSpPr>
            <a:cxnSpLocks/>
          </p:cNvCxnSpPr>
          <p:nvPr/>
        </p:nvCxnSpPr>
        <p:spPr>
          <a:xfrm flipH="1">
            <a:off x="2872414" y="37655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AFBF19F8-F4AC-D946-9913-7DD4F9FF1FD1}"/>
              </a:ext>
            </a:extLst>
          </p:cNvPr>
          <p:cNvSpPr txBox="1"/>
          <p:nvPr/>
        </p:nvSpPr>
        <p:spPr>
          <a:xfrm>
            <a:off x="2937895" y="3657855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2141D2B5-2318-294C-884A-ECFE8E836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692" y="4332516"/>
            <a:ext cx="340730" cy="341206"/>
          </a:xfrm>
          <a:prstGeom prst="rect">
            <a:avLst/>
          </a:prstGeom>
        </p:spPr>
      </p:pic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74B7933C-0F56-FD4A-942E-9E5E404B357C}"/>
              </a:ext>
            </a:extLst>
          </p:cNvPr>
          <p:cNvCxnSpPr>
            <a:cxnSpLocks/>
          </p:cNvCxnSpPr>
          <p:nvPr/>
        </p:nvCxnSpPr>
        <p:spPr>
          <a:xfrm flipH="1">
            <a:off x="3233576" y="540120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9C2E8C1E-56E0-D14A-8196-35B9538DA7D9}"/>
              </a:ext>
            </a:extLst>
          </p:cNvPr>
          <p:cNvSpPr txBox="1"/>
          <p:nvPr/>
        </p:nvSpPr>
        <p:spPr>
          <a:xfrm>
            <a:off x="3299057" y="529348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17040DCC-6F41-664B-B36E-4351BADC9363}"/>
              </a:ext>
            </a:extLst>
          </p:cNvPr>
          <p:cNvCxnSpPr>
            <a:cxnSpLocks/>
          </p:cNvCxnSpPr>
          <p:nvPr/>
        </p:nvCxnSpPr>
        <p:spPr>
          <a:xfrm flipH="1">
            <a:off x="3229444" y="502887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7FD0B4A5-675F-CA4B-8BB2-AD18EF906B83}"/>
              </a:ext>
            </a:extLst>
          </p:cNvPr>
          <p:cNvSpPr txBox="1"/>
          <p:nvPr/>
        </p:nvSpPr>
        <p:spPr>
          <a:xfrm>
            <a:off x="3294925" y="4921151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51A764A-CF2A-4E4F-9626-8D87E01F4A1A}"/>
              </a:ext>
            </a:extLst>
          </p:cNvPr>
          <p:cNvSpPr txBox="1"/>
          <p:nvPr/>
        </p:nvSpPr>
        <p:spPr>
          <a:xfrm>
            <a:off x="2929633" y="407924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0A11F07-4154-794B-9855-A948CB815A2D}"/>
              </a:ext>
            </a:extLst>
          </p:cNvPr>
          <p:cNvSpPr txBox="1"/>
          <p:nvPr/>
        </p:nvSpPr>
        <p:spPr>
          <a:xfrm>
            <a:off x="4049827" y="4854540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9831E860-8FE6-BE42-8816-898FAF163654}"/>
              </a:ext>
            </a:extLst>
          </p:cNvPr>
          <p:cNvCxnSpPr>
            <a:cxnSpLocks/>
            <a:stCxn id="76" idx="2"/>
            <a:endCxn id="84" idx="0"/>
          </p:cNvCxnSpPr>
          <p:nvPr/>
        </p:nvCxnSpPr>
        <p:spPr>
          <a:xfrm>
            <a:off x="4134057" y="4673722"/>
            <a:ext cx="271797" cy="180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8882BC08-B374-8648-96BC-261EC5E00968}"/>
              </a:ext>
            </a:extLst>
          </p:cNvPr>
          <p:cNvSpPr txBox="1"/>
          <p:nvPr/>
        </p:nvSpPr>
        <p:spPr>
          <a:xfrm>
            <a:off x="3564012" y="4666737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34D5F7B9-FF77-5443-A1ED-DAF38520C3AE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3137781" y="4179863"/>
            <a:ext cx="744588" cy="48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528DD5D8-24F2-3445-A9BB-7B6EA5D51F6C}"/>
              </a:ext>
            </a:extLst>
          </p:cNvPr>
          <p:cNvSpPr/>
          <p:nvPr/>
        </p:nvSpPr>
        <p:spPr>
          <a:xfrm>
            <a:off x="5857873" y="3438123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119FCF5-6190-8249-85A0-55971FE586DF}"/>
              </a:ext>
            </a:extLst>
          </p:cNvPr>
          <p:cNvSpPr/>
          <p:nvPr/>
        </p:nvSpPr>
        <p:spPr>
          <a:xfrm>
            <a:off x="5857873" y="4058741"/>
            <a:ext cx="432048" cy="19347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5BF9E07-0983-1140-9E76-E47BDB81365C}"/>
              </a:ext>
            </a:extLst>
          </p:cNvPr>
          <p:cNvSpPr/>
          <p:nvPr/>
        </p:nvSpPr>
        <p:spPr>
          <a:xfrm>
            <a:off x="5857589" y="3578415"/>
            <a:ext cx="432000" cy="2232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E2BE56C-83F8-654F-A713-8826778F3A06}"/>
              </a:ext>
            </a:extLst>
          </p:cNvPr>
          <p:cNvSpPr txBox="1"/>
          <p:nvPr/>
        </p:nvSpPr>
        <p:spPr>
          <a:xfrm>
            <a:off x="4636913" y="3829833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p1</a:t>
            </a:r>
            <a:r>
              <a:rPr kumimoji="1" lang="zh-CN" altLang="en-US" sz="1200" dirty="0"/>
              <a:t>用户地址空间</a:t>
            </a:r>
          </a:p>
        </p:txBody>
      </p: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50C3285B-A05C-594C-BD41-02C6CE800859}"/>
              </a:ext>
            </a:extLst>
          </p:cNvPr>
          <p:cNvCxnSpPr>
            <a:cxnSpLocks/>
          </p:cNvCxnSpPr>
          <p:nvPr/>
        </p:nvCxnSpPr>
        <p:spPr>
          <a:xfrm flipH="1">
            <a:off x="6293769" y="411234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919EEB87-A755-2947-962F-F184D45216B5}"/>
              </a:ext>
            </a:extLst>
          </p:cNvPr>
          <p:cNvSpPr txBox="1"/>
          <p:nvPr/>
        </p:nvSpPr>
        <p:spPr>
          <a:xfrm>
            <a:off x="6362926" y="4009628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47F6B28-E7CF-5448-8601-A0CEE4D659C1}"/>
              </a:ext>
            </a:extLst>
          </p:cNvPr>
          <p:cNvCxnSpPr>
            <a:cxnSpLocks/>
          </p:cNvCxnSpPr>
          <p:nvPr/>
        </p:nvCxnSpPr>
        <p:spPr>
          <a:xfrm flipH="1">
            <a:off x="6289637" y="3793604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A2222AE9-BBDC-CB42-B450-20DD6F744798}"/>
              </a:ext>
            </a:extLst>
          </p:cNvPr>
          <p:cNvSpPr txBox="1"/>
          <p:nvPr/>
        </p:nvSpPr>
        <p:spPr>
          <a:xfrm>
            <a:off x="6355118" y="3686416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2CD15D2D-F7C5-884B-9983-2D54BB1ED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03" y="4302688"/>
            <a:ext cx="340730" cy="341206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33889D2E-F297-D044-A1F9-131AAEE25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71" y="4871392"/>
            <a:ext cx="384818" cy="382113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1E5F692A-1F59-AF4E-800A-1660B03BE759}"/>
              </a:ext>
            </a:extLst>
          </p:cNvPr>
          <p:cNvSpPr txBox="1"/>
          <p:nvPr/>
        </p:nvSpPr>
        <p:spPr>
          <a:xfrm>
            <a:off x="5122346" y="4859857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D4FAD48-9CDD-974D-9B2F-1B438BC1C74A}"/>
              </a:ext>
            </a:extLst>
          </p:cNvPr>
          <p:cNvSpPr txBox="1"/>
          <p:nvPr/>
        </p:nvSpPr>
        <p:spPr>
          <a:xfrm>
            <a:off x="4745106" y="5247133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/>
              <a:t>切换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A19E4B6-0D2D-5A4D-8465-A5812C6CECCA}"/>
              </a:ext>
            </a:extLst>
          </p:cNvPr>
          <p:cNvSpPr txBox="1"/>
          <p:nvPr/>
        </p:nvSpPr>
        <p:spPr>
          <a:xfrm>
            <a:off x="5017199" y="4662461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3BD0B7C-95F9-0242-BB1E-FF775EC26E11}"/>
              </a:ext>
            </a:extLst>
          </p:cNvPr>
          <p:cNvCxnSpPr>
            <a:cxnSpLocks/>
            <a:stCxn id="101" idx="0"/>
          </p:cNvCxnSpPr>
          <p:nvPr/>
        </p:nvCxnSpPr>
        <p:spPr>
          <a:xfrm flipV="1">
            <a:off x="5335556" y="4168557"/>
            <a:ext cx="1179338" cy="493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1018ED63-24F7-724C-8C90-7CA33A49D7A6}"/>
              </a:ext>
            </a:extLst>
          </p:cNvPr>
          <p:cNvCxnSpPr>
            <a:cxnSpLocks/>
            <a:endCxn id="96" idx="2"/>
          </p:cNvCxnSpPr>
          <p:nvPr/>
        </p:nvCxnSpPr>
        <p:spPr>
          <a:xfrm flipV="1">
            <a:off x="5583451" y="4643894"/>
            <a:ext cx="923717" cy="241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7DC484-2455-7648-AFC1-3C6E58904AF6}"/>
              </a:ext>
            </a:extLst>
          </p:cNvPr>
          <p:cNvSpPr/>
          <p:nvPr/>
        </p:nvSpPr>
        <p:spPr>
          <a:xfrm>
            <a:off x="3900316" y="5271150"/>
            <a:ext cx="635680" cy="199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A356150-00C7-8B40-A199-1E469A57BD56}"/>
              </a:ext>
            </a:extLst>
          </p:cNvPr>
          <p:cNvCxnSpPr>
            <a:stCxn id="84" idx="2"/>
            <a:endCxn id="7" idx="0"/>
          </p:cNvCxnSpPr>
          <p:nvPr/>
        </p:nvCxnSpPr>
        <p:spPr>
          <a:xfrm flipH="1">
            <a:off x="4218156" y="5069984"/>
            <a:ext cx="187698" cy="201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08F03CB9-60EA-2F4E-BEB3-E890F232D047}"/>
              </a:ext>
            </a:extLst>
          </p:cNvPr>
          <p:cNvCxnSpPr>
            <a:cxnSpLocks/>
            <a:stCxn id="86" idx="2"/>
            <a:endCxn id="7" idx="0"/>
          </p:cNvCxnSpPr>
          <p:nvPr/>
        </p:nvCxnSpPr>
        <p:spPr>
          <a:xfrm>
            <a:off x="3882369" y="4882181"/>
            <a:ext cx="335787" cy="388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1AA14DA7-4343-DF4E-96F0-A6B0F6E1B6AC}"/>
              </a:ext>
            </a:extLst>
          </p:cNvPr>
          <p:cNvSpPr txBox="1"/>
          <p:nvPr/>
        </p:nvSpPr>
        <p:spPr>
          <a:xfrm>
            <a:off x="3842944" y="5262704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上下文</a:t>
            </a:r>
            <a:r>
              <a:rPr kumimoji="1" lang="en-US" altLang="zh-CN" sz="1000" dirty="0"/>
              <a:t>-p0</a:t>
            </a:r>
            <a:endParaRPr kumimoji="1" lang="zh-CN" altLang="en-US" sz="10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B0507AB-DE5E-2F4D-9047-AA3B35C5F039}"/>
              </a:ext>
            </a:extLst>
          </p:cNvPr>
          <p:cNvSpPr/>
          <p:nvPr/>
        </p:nvSpPr>
        <p:spPr>
          <a:xfrm>
            <a:off x="5392928" y="5268740"/>
            <a:ext cx="635680" cy="199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206B11B-BF64-AE46-97C4-9AFE19ADBDE3}"/>
              </a:ext>
            </a:extLst>
          </p:cNvPr>
          <p:cNvSpPr txBox="1"/>
          <p:nvPr/>
        </p:nvSpPr>
        <p:spPr>
          <a:xfrm>
            <a:off x="5335556" y="5260294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上下文</a:t>
            </a:r>
            <a:r>
              <a:rPr kumimoji="1" lang="en-US" altLang="zh-CN" sz="1000" dirty="0"/>
              <a:t>-p1</a:t>
            </a:r>
            <a:endParaRPr kumimoji="1" lang="zh-CN" altLang="en-US" sz="1000" dirty="0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1A74FE25-3E1E-6242-8268-EAEF426B5D67}"/>
              </a:ext>
            </a:extLst>
          </p:cNvPr>
          <p:cNvCxnSpPr>
            <a:stCxn id="109" idx="0"/>
            <a:endCxn id="99" idx="0"/>
          </p:cNvCxnSpPr>
          <p:nvPr/>
        </p:nvCxnSpPr>
        <p:spPr>
          <a:xfrm flipH="1" flipV="1">
            <a:off x="5478373" y="4859857"/>
            <a:ext cx="234049" cy="400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8501F4A6-D219-1A40-99E4-19A761697709}"/>
              </a:ext>
            </a:extLst>
          </p:cNvPr>
          <p:cNvCxnSpPr>
            <a:stCxn id="109" idx="0"/>
            <a:endCxn id="99" idx="2"/>
          </p:cNvCxnSpPr>
          <p:nvPr/>
        </p:nvCxnSpPr>
        <p:spPr>
          <a:xfrm flipH="1" flipV="1">
            <a:off x="5478373" y="5075301"/>
            <a:ext cx="234049" cy="18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C8019F1C-622B-0B4A-855C-48334DF87DD9}"/>
              </a:ext>
            </a:extLst>
          </p:cNvPr>
          <p:cNvCxnSpPr/>
          <p:nvPr/>
        </p:nvCxnSpPr>
        <p:spPr>
          <a:xfrm>
            <a:off x="4596676" y="5399750"/>
            <a:ext cx="1652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E216C33A-B329-2249-99BE-4CB7659B4C7B}"/>
              </a:ext>
            </a:extLst>
          </p:cNvPr>
          <p:cNvCxnSpPr/>
          <p:nvPr/>
        </p:nvCxnSpPr>
        <p:spPr>
          <a:xfrm>
            <a:off x="5158089" y="5399750"/>
            <a:ext cx="1652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9729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2727E-2A82-494D-9416-B0D15EBF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上下文与其他内核数据结构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416634-799D-A741-85B8-34881ACA0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与进程相关的三种内核数据结构：</a:t>
            </a:r>
            <a:r>
              <a:rPr kumimoji="1" lang="en-US" altLang="zh-CN" dirty="0"/>
              <a:t>PCB</a:t>
            </a:r>
            <a:r>
              <a:rPr kumimoji="1" lang="zh-CN" altLang="en-US" dirty="0"/>
              <a:t>、上下文、内核栈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PCB</a:t>
            </a:r>
            <a:r>
              <a:rPr kumimoji="1" lang="zh-CN" altLang="en-US" dirty="0"/>
              <a:t>保存指向上下文的引用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上下文的位置</a:t>
            </a:r>
            <a:r>
              <a:rPr kumimoji="1" lang="zh-CN" altLang="en-US" dirty="0">
                <a:solidFill>
                  <a:srgbClr val="C00000"/>
                </a:solidFill>
              </a:rPr>
              <a:t>固定</a:t>
            </a:r>
            <a:r>
              <a:rPr kumimoji="1" lang="zh-CN" altLang="en-US" dirty="0"/>
              <a:t>在内核栈底部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65B6D1-4875-EC42-8538-B5F1CABF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87C017-D000-5B45-8848-5CCE2B85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792" y="2071148"/>
            <a:ext cx="3158008" cy="353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635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CBADB0-051A-4F47-88BD-A97366DCC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进入内核后调用</a:t>
            </a:r>
            <a:r>
              <a:rPr kumimoji="1" lang="en-US" altLang="zh-CN" dirty="0" err="1"/>
              <a:t>exception_enter</a:t>
            </a:r>
            <a:r>
              <a:rPr kumimoji="1" lang="zh-CN" altLang="en-US" dirty="0"/>
              <a:t>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将各寄存器逐一放入内核栈中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CD5ADB-70AC-2545-9532-085F2581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E6FDD1-0E05-0A44-BB3F-400BDB938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60" y="2361678"/>
            <a:ext cx="6635080" cy="335332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47B17C6-0D11-AA4D-9A61-A35F70F4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上下文保存（</a:t>
            </a:r>
            <a:r>
              <a:rPr kumimoji="1" lang="en-US" altLang="zh-CN" dirty="0"/>
              <a:t>ChCore</a:t>
            </a:r>
            <a:r>
              <a:rPr kumimoji="1" lang="zh-CN" altLang="en-US" dirty="0"/>
              <a:t>为例）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687BE8-FF8B-644D-B5C2-C7D4199C0593}"/>
              </a:ext>
            </a:extLst>
          </p:cNvPr>
          <p:cNvSpPr/>
          <p:nvPr/>
        </p:nvSpPr>
        <p:spPr>
          <a:xfrm>
            <a:off x="7085218" y="3087072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1DF83A-00E8-9C42-AB5F-71DF6FA0A706}"/>
              </a:ext>
            </a:extLst>
          </p:cNvPr>
          <p:cNvSpPr txBox="1"/>
          <p:nvPr/>
        </p:nvSpPr>
        <p:spPr>
          <a:xfrm>
            <a:off x="7042554" y="303596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SPSR_EL1</a:t>
            </a:r>
            <a:endParaRPr kumimoji="1"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3FDA44-1FA1-8E44-8175-95C4BF7B0362}"/>
              </a:ext>
            </a:extLst>
          </p:cNvPr>
          <p:cNvSpPr/>
          <p:nvPr/>
        </p:nvSpPr>
        <p:spPr>
          <a:xfrm>
            <a:off x="7085218" y="3435281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4F51A0-902A-A443-B7A5-E41CA6362825}"/>
              </a:ext>
            </a:extLst>
          </p:cNvPr>
          <p:cNvSpPr txBox="1"/>
          <p:nvPr/>
        </p:nvSpPr>
        <p:spPr>
          <a:xfrm>
            <a:off x="7307627" y="3384178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X1</a:t>
            </a:r>
            <a:endParaRPr kumimoji="1" lang="zh-CN" altLang="en-US" sz="10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54C676-EECE-ED4B-932A-E8C72176D200}"/>
              </a:ext>
            </a:extLst>
          </p:cNvPr>
          <p:cNvSpPr/>
          <p:nvPr/>
        </p:nvSpPr>
        <p:spPr>
          <a:xfrm>
            <a:off x="7085218" y="3578855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AF2DE4-13BF-7044-A964-155AF4A4FDF6}"/>
              </a:ext>
            </a:extLst>
          </p:cNvPr>
          <p:cNvSpPr txBox="1"/>
          <p:nvPr/>
        </p:nvSpPr>
        <p:spPr>
          <a:xfrm>
            <a:off x="7307627" y="3527752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X0</a:t>
            </a:r>
            <a:endParaRPr kumimoji="1" lang="zh-CN" altLang="en-US" sz="1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B84E7E-C2D7-A949-921B-43EA3D1726A2}"/>
              </a:ext>
            </a:extLst>
          </p:cNvPr>
          <p:cNvSpPr/>
          <p:nvPr/>
        </p:nvSpPr>
        <p:spPr>
          <a:xfrm>
            <a:off x="7085218" y="3231088"/>
            <a:ext cx="743744" cy="2046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49DC8B-4172-C344-A712-5A134312B1E0}"/>
              </a:ext>
            </a:extLst>
          </p:cNvPr>
          <p:cNvSpPr txBox="1"/>
          <p:nvPr/>
        </p:nvSpPr>
        <p:spPr>
          <a:xfrm>
            <a:off x="7287813" y="315907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4BDEF7-537F-6343-BE08-61A166927146}"/>
              </a:ext>
            </a:extLst>
          </p:cNvPr>
          <p:cNvSpPr txBox="1"/>
          <p:nvPr/>
        </p:nvSpPr>
        <p:spPr>
          <a:xfrm>
            <a:off x="6424220" y="3615149"/>
            <a:ext cx="5645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/>
              <a:t>SP_EL1</a:t>
            </a:r>
            <a:endParaRPr kumimoji="1" lang="zh-CN" altLang="en-US" sz="800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6A40D113-F81A-DF41-89BB-DD3D6CB7AB21}"/>
              </a:ext>
            </a:extLst>
          </p:cNvPr>
          <p:cNvCxnSpPr>
            <a:cxnSpLocks/>
          </p:cNvCxnSpPr>
          <p:nvPr/>
        </p:nvCxnSpPr>
        <p:spPr>
          <a:xfrm>
            <a:off x="6904041" y="3722871"/>
            <a:ext cx="171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A7BB324-C9C7-A940-ABC5-C7B9E4C37B22}"/>
              </a:ext>
            </a:extLst>
          </p:cNvPr>
          <p:cNvSpPr txBox="1"/>
          <p:nvPr/>
        </p:nvSpPr>
        <p:spPr>
          <a:xfrm>
            <a:off x="4827683" y="3001516"/>
            <a:ext cx="5645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/>
              <a:t>SP_EL1</a:t>
            </a:r>
            <a:endParaRPr kumimoji="1" lang="zh-CN" altLang="en-US" sz="800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E629D056-675B-874C-8261-A1F512727B32}"/>
              </a:ext>
            </a:extLst>
          </p:cNvPr>
          <p:cNvCxnSpPr>
            <a:cxnSpLocks/>
          </p:cNvCxnSpPr>
          <p:nvPr/>
        </p:nvCxnSpPr>
        <p:spPr>
          <a:xfrm>
            <a:off x="5307504" y="3109238"/>
            <a:ext cx="171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7C2057CF-939D-5B45-A269-64D31B9F3CD2}"/>
              </a:ext>
            </a:extLst>
          </p:cNvPr>
          <p:cNvCxnSpPr/>
          <p:nvPr/>
        </p:nvCxnSpPr>
        <p:spPr>
          <a:xfrm>
            <a:off x="5479481" y="3109238"/>
            <a:ext cx="745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下箭头 30">
            <a:extLst>
              <a:ext uri="{FF2B5EF4-FFF2-40B4-BE49-F238E27FC236}">
                <a16:creationId xmlns:a16="http://schemas.microsoft.com/office/drawing/2014/main" id="{AEEA85D2-54D0-A543-9A67-7FBF224A7BF4}"/>
              </a:ext>
            </a:extLst>
          </p:cNvPr>
          <p:cNvSpPr/>
          <p:nvPr/>
        </p:nvSpPr>
        <p:spPr>
          <a:xfrm rot="16200000">
            <a:off x="6387024" y="3217093"/>
            <a:ext cx="246686" cy="3080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F707245-D55D-BD4C-9DA6-C391D93D70CE}"/>
              </a:ext>
            </a:extLst>
          </p:cNvPr>
          <p:cNvSpPr txBox="1"/>
          <p:nvPr/>
        </p:nvSpPr>
        <p:spPr>
          <a:xfrm>
            <a:off x="5970741" y="268075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内核栈变化</a:t>
            </a:r>
          </a:p>
        </p:txBody>
      </p:sp>
    </p:spTree>
    <p:extLst>
      <p:ext uri="{BB962C8B-B14F-4D97-AF65-F5344CB8AC3E}">
        <p14:creationId xmlns:p14="http://schemas.microsoft.com/office/powerpoint/2010/main" val="1891796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44E56-00BE-4C43-8817-A0030B8E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上下文保存（</a:t>
            </a:r>
            <a:r>
              <a:rPr kumimoji="1" lang="en-US" altLang="zh-CN" dirty="0"/>
              <a:t>ChCore</a:t>
            </a:r>
            <a:r>
              <a:rPr kumimoji="1" lang="zh-CN" altLang="en-US" dirty="0"/>
              <a:t>为例）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6D1A47-22A3-CD48-AB23-9CED0AE68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上下文保存的“逆过程”：调用</a:t>
            </a:r>
            <a:r>
              <a:rPr kumimoji="1" lang="en-US" altLang="zh-CN" dirty="0" err="1"/>
              <a:t>exception_exit</a:t>
            </a:r>
            <a:r>
              <a:rPr kumimoji="1" lang="zh-CN" altLang="en-US" dirty="0"/>
              <a:t>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从内核栈读取出各寄存器，并清空内核栈，最后调用</a:t>
            </a:r>
            <a:r>
              <a:rPr kumimoji="1" lang="en-US" altLang="zh-CN" dirty="0" err="1"/>
              <a:t>eret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659C14-7902-6E4B-A647-3414003B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5364E8-8048-D943-AA7C-DFA352D57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8" y="2418023"/>
            <a:ext cx="7440924" cy="331979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7EAB7D9-3CFC-294A-83F7-D4B01D01DD1E}"/>
              </a:ext>
            </a:extLst>
          </p:cNvPr>
          <p:cNvSpPr/>
          <p:nvPr/>
        </p:nvSpPr>
        <p:spPr>
          <a:xfrm>
            <a:off x="5473081" y="3268643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4DBEB9-4F98-3A4F-AD88-888DC9484FD9}"/>
              </a:ext>
            </a:extLst>
          </p:cNvPr>
          <p:cNvSpPr txBox="1"/>
          <p:nvPr/>
        </p:nvSpPr>
        <p:spPr>
          <a:xfrm>
            <a:off x="5430417" y="3217540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SPSR_EL1</a:t>
            </a:r>
            <a:endParaRPr kumimoji="1"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97A4D2-3CD1-224C-9FD1-2B68B1337D72}"/>
              </a:ext>
            </a:extLst>
          </p:cNvPr>
          <p:cNvSpPr/>
          <p:nvPr/>
        </p:nvSpPr>
        <p:spPr>
          <a:xfrm>
            <a:off x="5473081" y="3616852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7DC66F-ADF3-3C4B-88E8-68AA4DE396F1}"/>
              </a:ext>
            </a:extLst>
          </p:cNvPr>
          <p:cNvSpPr txBox="1"/>
          <p:nvPr/>
        </p:nvSpPr>
        <p:spPr>
          <a:xfrm>
            <a:off x="5695490" y="3565749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X1</a:t>
            </a:r>
            <a:endParaRPr kumimoji="1" lang="zh-CN" altLang="en-US" sz="10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3A05BF-B29F-5E43-AFC7-292F599C8480}"/>
              </a:ext>
            </a:extLst>
          </p:cNvPr>
          <p:cNvSpPr/>
          <p:nvPr/>
        </p:nvSpPr>
        <p:spPr>
          <a:xfrm>
            <a:off x="5473081" y="3760426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D1DD48-0747-ED4C-BE17-FEEF44F1EA2F}"/>
              </a:ext>
            </a:extLst>
          </p:cNvPr>
          <p:cNvSpPr txBox="1"/>
          <p:nvPr/>
        </p:nvSpPr>
        <p:spPr>
          <a:xfrm>
            <a:off x="5695490" y="3709323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X0</a:t>
            </a:r>
            <a:endParaRPr kumimoji="1" lang="zh-CN" altLang="en-US" sz="1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7A39C8-525C-ED40-BC60-945385E9D84A}"/>
              </a:ext>
            </a:extLst>
          </p:cNvPr>
          <p:cNvSpPr/>
          <p:nvPr/>
        </p:nvSpPr>
        <p:spPr>
          <a:xfrm>
            <a:off x="5473081" y="3412659"/>
            <a:ext cx="743744" cy="2046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2A4AEF-C93F-0F4F-AA1F-EF24EE6FD090}"/>
              </a:ext>
            </a:extLst>
          </p:cNvPr>
          <p:cNvSpPr txBox="1"/>
          <p:nvPr/>
        </p:nvSpPr>
        <p:spPr>
          <a:xfrm>
            <a:off x="5675676" y="3340650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B2AFCE-A314-C94F-BAAA-6517118F1B98}"/>
              </a:ext>
            </a:extLst>
          </p:cNvPr>
          <p:cNvSpPr txBox="1"/>
          <p:nvPr/>
        </p:nvSpPr>
        <p:spPr>
          <a:xfrm>
            <a:off x="4812083" y="3796720"/>
            <a:ext cx="5645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/>
              <a:t>SP_EL1</a:t>
            </a:r>
            <a:endParaRPr kumimoji="1" lang="zh-CN" altLang="en-US" sz="800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8190150-1822-9046-B599-7430660719F6}"/>
              </a:ext>
            </a:extLst>
          </p:cNvPr>
          <p:cNvCxnSpPr>
            <a:cxnSpLocks/>
          </p:cNvCxnSpPr>
          <p:nvPr/>
        </p:nvCxnSpPr>
        <p:spPr>
          <a:xfrm>
            <a:off x="5291904" y="3904442"/>
            <a:ext cx="171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3EA2353-FC3A-474F-AC51-B77CF080F51E}"/>
              </a:ext>
            </a:extLst>
          </p:cNvPr>
          <p:cNvSpPr txBox="1"/>
          <p:nvPr/>
        </p:nvSpPr>
        <p:spPr>
          <a:xfrm>
            <a:off x="6700618" y="3178411"/>
            <a:ext cx="5645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/>
              <a:t>SP_EL1</a:t>
            </a:r>
            <a:endParaRPr kumimoji="1" lang="zh-CN" altLang="en-US" sz="800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B05EDC02-6283-1B4F-A0C0-B13AF04D3153}"/>
              </a:ext>
            </a:extLst>
          </p:cNvPr>
          <p:cNvCxnSpPr>
            <a:cxnSpLocks/>
          </p:cNvCxnSpPr>
          <p:nvPr/>
        </p:nvCxnSpPr>
        <p:spPr>
          <a:xfrm>
            <a:off x="7180439" y="3286133"/>
            <a:ext cx="171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1447FC81-E772-5E4B-A006-4406C403F248}"/>
              </a:ext>
            </a:extLst>
          </p:cNvPr>
          <p:cNvCxnSpPr/>
          <p:nvPr/>
        </p:nvCxnSpPr>
        <p:spPr>
          <a:xfrm>
            <a:off x="7352416" y="3286133"/>
            <a:ext cx="745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下箭头 19">
            <a:extLst>
              <a:ext uri="{FF2B5EF4-FFF2-40B4-BE49-F238E27FC236}">
                <a16:creationId xmlns:a16="http://schemas.microsoft.com/office/drawing/2014/main" id="{3D1A4492-1C9B-8247-A9E7-912779293136}"/>
              </a:ext>
            </a:extLst>
          </p:cNvPr>
          <p:cNvSpPr/>
          <p:nvPr/>
        </p:nvSpPr>
        <p:spPr>
          <a:xfrm rot="16200000">
            <a:off x="6387024" y="3217093"/>
            <a:ext cx="246686" cy="3080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A7B538-47BB-B549-BF88-BFD0A6EF5FA0}"/>
              </a:ext>
            </a:extLst>
          </p:cNvPr>
          <p:cNvSpPr txBox="1"/>
          <p:nvPr/>
        </p:nvSpPr>
        <p:spPr>
          <a:xfrm>
            <a:off x="5970741" y="268075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内核栈变化</a:t>
            </a:r>
          </a:p>
        </p:txBody>
      </p:sp>
    </p:spTree>
    <p:extLst>
      <p:ext uri="{BB962C8B-B14F-4D97-AF65-F5344CB8AC3E}">
        <p14:creationId xmlns:p14="http://schemas.microsoft.com/office/powerpoint/2010/main" val="31124556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DC994-2AEB-5849-A987-D022C74C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万事俱备，只欠切换！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A0E85-7B6E-7144-AF86-880887D7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上下文保存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恢复机制为进程间切换奠定了基础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思考：最关键的切换包含哪些步骤呢？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941100"/>
              </a:solidFill>
            </a:endParaRPr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9C5EDD-663B-1545-85BD-29619BCA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9E80974-9D28-3147-A523-EB2991C4D75B}"/>
              </a:ext>
            </a:extLst>
          </p:cNvPr>
          <p:cNvSpPr txBox="1"/>
          <p:nvPr/>
        </p:nvSpPr>
        <p:spPr>
          <a:xfrm>
            <a:off x="6935197" y="3789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0B2EFF93-5852-184E-8675-6BC85B0A05FE}"/>
              </a:ext>
            </a:extLst>
          </p:cNvPr>
          <p:cNvCxnSpPr>
            <a:cxnSpLocks/>
          </p:cNvCxnSpPr>
          <p:nvPr/>
        </p:nvCxnSpPr>
        <p:spPr>
          <a:xfrm>
            <a:off x="1259632" y="4552424"/>
            <a:ext cx="6552728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A451183C-2CA8-C847-8058-2AE5BA88B443}"/>
              </a:ext>
            </a:extLst>
          </p:cNvPr>
          <p:cNvSpPr txBox="1"/>
          <p:nvPr/>
        </p:nvSpPr>
        <p:spPr>
          <a:xfrm>
            <a:off x="6935196" y="476844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8FE49BF-2515-DA42-8153-12861B10C5FE}"/>
              </a:ext>
            </a:extLst>
          </p:cNvPr>
          <p:cNvSpPr/>
          <p:nvPr/>
        </p:nvSpPr>
        <p:spPr>
          <a:xfrm>
            <a:off x="2440934" y="3452419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8A2B195-5B1F-9E41-860C-3D293B88D3F9}"/>
              </a:ext>
            </a:extLst>
          </p:cNvPr>
          <p:cNvSpPr/>
          <p:nvPr/>
        </p:nvSpPr>
        <p:spPr>
          <a:xfrm>
            <a:off x="2440934" y="4058741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ABEDEA4-EEC7-5C4F-B9EC-079E037DA8A6}"/>
              </a:ext>
            </a:extLst>
          </p:cNvPr>
          <p:cNvSpPr/>
          <p:nvPr/>
        </p:nvSpPr>
        <p:spPr>
          <a:xfrm>
            <a:off x="2440650" y="3625179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FB7F0AE-8211-5A4D-81A1-FAC227540992}"/>
              </a:ext>
            </a:extLst>
          </p:cNvPr>
          <p:cNvSpPr/>
          <p:nvPr/>
        </p:nvSpPr>
        <p:spPr>
          <a:xfrm>
            <a:off x="2797680" y="4712188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D0BDE67-9888-FF45-A026-F9C11AE5A5A1}"/>
              </a:ext>
            </a:extLst>
          </p:cNvPr>
          <p:cNvSpPr/>
          <p:nvPr/>
        </p:nvSpPr>
        <p:spPr>
          <a:xfrm>
            <a:off x="2797680" y="5318510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639A976-472D-7941-AA50-018546771F07}"/>
              </a:ext>
            </a:extLst>
          </p:cNvPr>
          <p:cNvSpPr/>
          <p:nvPr/>
        </p:nvSpPr>
        <p:spPr>
          <a:xfrm>
            <a:off x="2797396" y="4884948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0C5EE92-3450-4E4C-B335-ED33056D3B46}"/>
              </a:ext>
            </a:extLst>
          </p:cNvPr>
          <p:cNvSpPr txBox="1"/>
          <p:nvPr/>
        </p:nvSpPr>
        <p:spPr>
          <a:xfrm>
            <a:off x="1204678" y="3835495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E79C89B-33D0-0A4B-89EC-D07E93BFCDB7}"/>
              </a:ext>
            </a:extLst>
          </p:cNvPr>
          <p:cNvSpPr txBox="1"/>
          <p:nvPr/>
        </p:nvSpPr>
        <p:spPr>
          <a:xfrm>
            <a:off x="1554325" y="5080447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9A628924-BBE6-EA4D-881D-47FA6DA5E55F}"/>
              </a:ext>
            </a:extLst>
          </p:cNvPr>
          <p:cNvCxnSpPr>
            <a:cxnSpLocks/>
          </p:cNvCxnSpPr>
          <p:nvPr/>
        </p:nvCxnSpPr>
        <p:spPr>
          <a:xfrm flipH="1">
            <a:off x="2872414" y="41858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D764805F-92CF-774A-9656-DD8E203EC18D}"/>
              </a:ext>
            </a:extLst>
          </p:cNvPr>
          <p:cNvCxnSpPr>
            <a:cxnSpLocks/>
          </p:cNvCxnSpPr>
          <p:nvPr/>
        </p:nvCxnSpPr>
        <p:spPr>
          <a:xfrm flipH="1">
            <a:off x="2872414" y="37655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AFBF19F8-F4AC-D946-9913-7DD4F9FF1FD1}"/>
              </a:ext>
            </a:extLst>
          </p:cNvPr>
          <p:cNvSpPr txBox="1"/>
          <p:nvPr/>
        </p:nvSpPr>
        <p:spPr>
          <a:xfrm>
            <a:off x="2937895" y="3657855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2141D2B5-2318-294C-884A-ECFE8E836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692" y="4332516"/>
            <a:ext cx="340730" cy="341206"/>
          </a:xfrm>
          <a:prstGeom prst="rect">
            <a:avLst/>
          </a:prstGeom>
        </p:spPr>
      </p:pic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74B7933C-0F56-FD4A-942E-9E5E404B357C}"/>
              </a:ext>
            </a:extLst>
          </p:cNvPr>
          <p:cNvCxnSpPr>
            <a:cxnSpLocks/>
          </p:cNvCxnSpPr>
          <p:nvPr/>
        </p:nvCxnSpPr>
        <p:spPr>
          <a:xfrm flipH="1">
            <a:off x="3233576" y="540120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9C2E8C1E-56E0-D14A-8196-35B9538DA7D9}"/>
              </a:ext>
            </a:extLst>
          </p:cNvPr>
          <p:cNvSpPr txBox="1"/>
          <p:nvPr/>
        </p:nvSpPr>
        <p:spPr>
          <a:xfrm>
            <a:off x="3299057" y="529348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17040DCC-6F41-664B-B36E-4351BADC9363}"/>
              </a:ext>
            </a:extLst>
          </p:cNvPr>
          <p:cNvCxnSpPr>
            <a:cxnSpLocks/>
          </p:cNvCxnSpPr>
          <p:nvPr/>
        </p:nvCxnSpPr>
        <p:spPr>
          <a:xfrm flipH="1">
            <a:off x="3229444" y="502887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7FD0B4A5-675F-CA4B-8BB2-AD18EF906B83}"/>
              </a:ext>
            </a:extLst>
          </p:cNvPr>
          <p:cNvSpPr txBox="1"/>
          <p:nvPr/>
        </p:nvSpPr>
        <p:spPr>
          <a:xfrm>
            <a:off x="3294925" y="4921151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51A764A-CF2A-4E4F-9626-8D87E01F4A1A}"/>
              </a:ext>
            </a:extLst>
          </p:cNvPr>
          <p:cNvSpPr txBox="1"/>
          <p:nvPr/>
        </p:nvSpPr>
        <p:spPr>
          <a:xfrm>
            <a:off x="2929633" y="407924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0A11F07-4154-794B-9855-A948CB815A2D}"/>
              </a:ext>
            </a:extLst>
          </p:cNvPr>
          <p:cNvSpPr txBox="1"/>
          <p:nvPr/>
        </p:nvSpPr>
        <p:spPr>
          <a:xfrm>
            <a:off x="4049827" y="4854540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9831E860-8FE6-BE42-8816-898FAF163654}"/>
              </a:ext>
            </a:extLst>
          </p:cNvPr>
          <p:cNvCxnSpPr>
            <a:cxnSpLocks/>
            <a:stCxn id="76" idx="2"/>
            <a:endCxn id="84" idx="0"/>
          </p:cNvCxnSpPr>
          <p:nvPr/>
        </p:nvCxnSpPr>
        <p:spPr>
          <a:xfrm>
            <a:off x="4134057" y="4673722"/>
            <a:ext cx="271797" cy="180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8882BC08-B374-8648-96BC-261EC5E00968}"/>
              </a:ext>
            </a:extLst>
          </p:cNvPr>
          <p:cNvSpPr txBox="1"/>
          <p:nvPr/>
        </p:nvSpPr>
        <p:spPr>
          <a:xfrm>
            <a:off x="3564012" y="4666737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34D5F7B9-FF77-5443-A1ED-DAF38520C3AE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3137781" y="4179863"/>
            <a:ext cx="744588" cy="48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528DD5D8-24F2-3445-A9BB-7B6EA5D51F6C}"/>
              </a:ext>
            </a:extLst>
          </p:cNvPr>
          <p:cNvSpPr/>
          <p:nvPr/>
        </p:nvSpPr>
        <p:spPr>
          <a:xfrm>
            <a:off x="5857873" y="3438123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119FCF5-6190-8249-85A0-55971FE586DF}"/>
              </a:ext>
            </a:extLst>
          </p:cNvPr>
          <p:cNvSpPr/>
          <p:nvPr/>
        </p:nvSpPr>
        <p:spPr>
          <a:xfrm>
            <a:off x="5857873" y="4058741"/>
            <a:ext cx="432048" cy="19347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5BF9E07-0983-1140-9E76-E47BDB81365C}"/>
              </a:ext>
            </a:extLst>
          </p:cNvPr>
          <p:cNvSpPr/>
          <p:nvPr/>
        </p:nvSpPr>
        <p:spPr>
          <a:xfrm>
            <a:off x="5857589" y="3578415"/>
            <a:ext cx="432000" cy="2232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E2BE56C-83F8-654F-A713-8826778F3A06}"/>
              </a:ext>
            </a:extLst>
          </p:cNvPr>
          <p:cNvSpPr txBox="1"/>
          <p:nvPr/>
        </p:nvSpPr>
        <p:spPr>
          <a:xfrm>
            <a:off x="4636913" y="3829833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p1</a:t>
            </a:r>
            <a:r>
              <a:rPr kumimoji="1" lang="zh-CN" altLang="en-US" sz="1200" dirty="0"/>
              <a:t>用户地址空间</a:t>
            </a:r>
          </a:p>
        </p:txBody>
      </p: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50C3285B-A05C-594C-BD41-02C6CE800859}"/>
              </a:ext>
            </a:extLst>
          </p:cNvPr>
          <p:cNvCxnSpPr>
            <a:cxnSpLocks/>
          </p:cNvCxnSpPr>
          <p:nvPr/>
        </p:nvCxnSpPr>
        <p:spPr>
          <a:xfrm flipH="1">
            <a:off x="6293769" y="411234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919EEB87-A755-2947-962F-F184D45216B5}"/>
              </a:ext>
            </a:extLst>
          </p:cNvPr>
          <p:cNvSpPr txBox="1"/>
          <p:nvPr/>
        </p:nvSpPr>
        <p:spPr>
          <a:xfrm>
            <a:off x="6362926" y="4009628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47F6B28-E7CF-5448-8601-A0CEE4D659C1}"/>
              </a:ext>
            </a:extLst>
          </p:cNvPr>
          <p:cNvCxnSpPr>
            <a:cxnSpLocks/>
          </p:cNvCxnSpPr>
          <p:nvPr/>
        </p:nvCxnSpPr>
        <p:spPr>
          <a:xfrm flipH="1">
            <a:off x="6289637" y="3793604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A2222AE9-BBDC-CB42-B450-20DD6F744798}"/>
              </a:ext>
            </a:extLst>
          </p:cNvPr>
          <p:cNvSpPr txBox="1"/>
          <p:nvPr/>
        </p:nvSpPr>
        <p:spPr>
          <a:xfrm>
            <a:off x="6355118" y="3686416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2CD15D2D-F7C5-884B-9983-2D54BB1ED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03" y="4302688"/>
            <a:ext cx="340730" cy="341206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33889D2E-F297-D044-A1F9-131AAEE25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71" y="4871392"/>
            <a:ext cx="384818" cy="382113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1E5F692A-1F59-AF4E-800A-1660B03BE759}"/>
              </a:ext>
            </a:extLst>
          </p:cNvPr>
          <p:cNvSpPr txBox="1"/>
          <p:nvPr/>
        </p:nvSpPr>
        <p:spPr>
          <a:xfrm>
            <a:off x="5122346" y="4859857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D4FAD48-9CDD-974D-9B2F-1B438BC1C74A}"/>
              </a:ext>
            </a:extLst>
          </p:cNvPr>
          <p:cNvSpPr txBox="1"/>
          <p:nvPr/>
        </p:nvSpPr>
        <p:spPr>
          <a:xfrm>
            <a:off x="4745106" y="5247133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/>
              <a:t>切换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A19E4B6-0D2D-5A4D-8465-A5812C6CECCA}"/>
              </a:ext>
            </a:extLst>
          </p:cNvPr>
          <p:cNvSpPr txBox="1"/>
          <p:nvPr/>
        </p:nvSpPr>
        <p:spPr>
          <a:xfrm>
            <a:off x="5017199" y="4662461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3BD0B7C-95F9-0242-BB1E-FF775EC26E11}"/>
              </a:ext>
            </a:extLst>
          </p:cNvPr>
          <p:cNvCxnSpPr>
            <a:cxnSpLocks/>
            <a:stCxn id="101" idx="0"/>
          </p:cNvCxnSpPr>
          <p:nvPr/>
        </p:nvCxnSpPr>
        <p:spPr>
          <a:xfrm flipV="1">
            <a:off x="5335556" y="4168557"/>
            <a:ext cx="1179338" cy="493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1018ED63-24F7-724C-8C90-7CA33A49D7A6}"/>
              </a:ext>
            </a:extLst>
          </p:cNvPr>
          <p:cNvCxnSpPr>
            <a:cxnSpLocks/>
            <a:endCxn id="96" idx="2"/>
          </p:cNvCxnSpPr>
          <p:nvPr/>
        </p:nvCxnSpPr>
        <p:spPr>
          <a:xfrm flipV="1">
            <a:off x="5583451" y="4643894"/>
            <a:ext cx="923717" cy="241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7DC484-2455-7648-AFC1-3C6E58904AF6}"/>
              </a:ext>
            </a:extLst>
          </p:cNvPr>
          <p:cNvSpPr/>
          <p:nvPr/>
        </p:nvSpPr>
        <p:spPr>
          <a:xfrm>
            <a:off x="3900316" y="5271150"/>
            <a:ext cx="635680" cy="199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A356150-00C7-8B40-A199-1E469A57BD56}"/>
              </a:ext>
            </a:extLst>
          </p:cNvPr>
          <p:cNvCxnSpPr>
            <a:stCxn id="84" idx="2"/>
            <a:endCxn id="7" idx="0"/>
          </p:cNvCxnSpPr>
          <p:nvPr/>
        </p:nvCxnSpPr>
        <p:spPr>
          <a:xfrm flipH="1">
            <a:off x="4218156" y="5069984"/>
            <a:ext cx="187698" cy="201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08F03CB9-60EA-2F4E-BEB3-E890F232D047}"/>
              </a:ext>
            </a:extLst>
          </p:cNvPr>
          <p:cNvCxnSpPr>
            <a:cxnSpLocks/>
            <a:stCxn id="86" idx="2"/>
            <a:endCxn id="7" idx="0"/>
          </p:cNvCxnSpPr>
          <p:nvPr/>
        </p:nvCxnSpPr>
        <p:spPr>
          <a:xfrm>
            <a:off x="3882369" y="4882181"/>
            <a:ext cx="335787" cy="388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1AA14DA7-4343-DF4E-96F0-A6B0F6E1B6AC}"/>
              </a:ext>
            </a:extLst>
          </p:cNvPr>
          <p:cNvSpPr txBox="1"/>
          <p:nvPr/>
        </p:nvSpPr>
        <p:spPr>
          <a:xfrm>
            <a:off x="3842944" y="5262704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上下文</a:t>
            </a:r>
            <a:r>
              <a:rPr kumimoji="1" lang="en-US" altLang="zh-CN" sz="1000" dirty="0"/>
              <a:t>-p0</a:t>
            </a:r>
            <a:endParaRPr kumimoji="1" lang="zh-CN" altLang="en-US" sz="10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B0507AB-DE5E-2F4D-9047-AA3B35C5F039}"/>
              </a:ext>
            </a:extLst>
          </p:cNvPr>
          <p:cNvSpPr/>
          <p:nvPr/>
        </p:nvSpPr>
        <p:spPr>
          <a:xfrm>
            <a:off x="5392928" y="5268740"/>
            <a:ext cx="635680" cy="199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206B11B-BF64-AE46-97C4-9AFE19ADBDE3}"/>
              </a:ext>
            </a:extLst>
          </p:cNvPr>
          <p:cNvSpPr txBox="1"/>
          <p:nvPr/>
        </p:nvSpPr>
        <p:spPr>
          <a:xfrm>
            <a:off x="5335556" y="5260294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上下文</a:t>
            </a:r>
            <a:r>
              <a:rPr kumimoji="1" lang="en-US" altLang="zh-CN" sz="1000" dirty="0"/>
              <a:t>-p1</a:t>
            </a:r>
            <a:endParaRPr kumimoji="1" lang="zh-CN" altLang="en-US" sz="1000" dirty="0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1A74FE25-3E1E-6242-8268-EAEF426B5D67}"/>
              </a:ext>
            </a:extLst>
          </p:cNvPr>
          <p:cNvCxnSpPr>
            <a:stCxn id="109" idx="0"/>
            <a:endCxn id="99" idx="0"/>
          </p:cNvCxnSpPr>
          <p:nvPr/>
        </p:nvCxnSpPr>
        <p:spPr>
          <a:xfrm flipH="1" flipV="1">
            <a:off x="5478373" y="4859857"/>
            <a:ext cx="234049" cy="400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8501F4A6-D219-1A40-99E4-19A761697709}"/>
              </a:ext>
            </a:extLst>
          </p:cNvPr>
          <p:cNvCxnSpPr>
            <a:stCxn id="109" idx="0"/>
            <a:endCxn id="99" idx="2"/>
          </p:cNvCxnSpPr>
          <p:nvPr/>
        </p:nvCxnSpPr>
        <p:spPr>
          <a:xfrm flipH="1" flipV="1">
            <a:off x="5478373" y="5075301"/>
            <a:ext cx="234049" cy="18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C8019F1C-622B-0B4A-855C-48334DF87DD9}"/>
              </a:ext>
            </a:extLst>
          </p:cNvPr>
          <p:cNvCxnSpPr/>
          <p:nvPr/>
        </p:nvCxnSpPr>
        <p:spPr>
          <a:xfrm>
            <a:off x="4596676" y="5399750"/>
            <a:ext cx="1652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E216C33A-B329-2249-99BE-4CB7659B4C7B}"/>
              </a:ext>
            </a:extLst>
          </p:cNvPr>
          <p:cNvCxnSpPr/>
          <p:nvPr/>
        </p:nvCxnSpPr>
        <p:spPr>
          <a:xfrm>
            <a:off x="5158089" y="5399750"/>
            <a:ext cx="1652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30A55FC8-0115-2645-9BF1-4D5E221D9CD7}"/>
              </a:ext>
            </a:extLst>
          </p:cNvPr>
          <p:cNvSpPr txBox="1"/>
          <p:nvPr/>
        </p:nvSpPr>
        <p:spPr>
          <a:xfrm>
            <a:off x="4642514" y="474604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rgbClr val="BD3247"/>
                </a:solidFill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953948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DC994-2AEB-5849-A987-D022C74C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万事俱备，只欠切换！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A0E85-7B6E-7144-AF86-880887D7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上下文保存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恢复机制为进程间切换奠定了基础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思考：最关键的切换包含哪些步骤呢？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关键</a:t>
            </a:r>
            <a:r>
              <a:rPr kumimoji="1" lang="en-US" altLang="zh-CN" dirty="0">
                <a:solidFill>
                  <a:srgbClr val="C00000"/>
                </a:solidFill>
              </a:rPr>
              <a:t>1:</a:t>
            </a:r>
            <a:r>
              <a:rPr kumimoji="1" lang="zh-CN" altLang="en-US" dirty="0">
                <a:solidFill>
                  <a:srgbClr val="C00000"/>
                </a:solidFill>
              </a:rPr>
              <a:t>如何切换到</a:t>
            </a:r>
            <a:r>
              <a:rPr kumimoji="1" lang="en-US" altLang="zh-CN" dirty="0">
                <a:solidFill>
                  <a:srgbClr val="C00000"/>
                </a:solidFill>
              </a:rPr>
              <a:t>p1</a:t>
            </a:r>
            <a:r>
              <a:rPr kumimoji="1" lang="zh-CN" altLang="en-US" dirty="0">
                <a:solidFill>
                  <a:srgbClr val="C00000"/>
                </a:solidFill>
              </a:rPr>
              <a:t>的地址空间？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941100"/>
              </a:solidFill>
            </a:endParaRPr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9C5EDD-663B-1545-85BD-29619BCA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9E80974-9D28-3147-A523-EB2991C4D75B}"/>
              </a:ext>
            </a:extLst>
          </p:cNvPr>
          <p:cNvSpPr txBox="1"/>
          <p:nvPr/>
        </p:nvSpPr>
        <p:spPr>
          <a:xfrm>
            <a:off x="6935197" y="3789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0B2EFF93-5852-184E-8675-6BC85B0A05FE}"/>
              </a:ext>
            </a:extLst>
          </p:cNvPr>
          <p:cNvCxnSpPr>
            <a:cxnSpLocks/>
          </p:cNvCxnSpPr>
          <p:nvPr/>
        </p:nvCxnSpPr>
        <p:spPr>
          <a:xfrm>
            <a:off x="1259632" y="4552424"/>
            <a:ext cx="6552728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A451183C-2CA8-C847-8058-2AE5BA88B443}"/>
              </a:ext>
            </a:extLst>
          </p:cNvPr>
          <p:cNvSpPr txBox="1"/>
          <p:nvPr/>
        </p:nvSpPr>
        <p:spPr>
          <a:xfrm>
            <a:off x="6935196" y="476844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8FE49BF-2515-DA42-8153-12861B10C5FE}"/>
              </a:ext>
            </a:extLst>
          </p:cNvPr>
          <p:cNvSpPr/>
          <p:nvPr/>
        </p:nvSpPr>
        <p:spPr>
          <a:xfrm>
            <a:off x="2440934" y="3452419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8A2B195-5B1F-9E41-860C-3D293B88D3F9}"/>
              </a:ext>
            </a:extLst>
          </p:cNvPr>
          <p:cNvSpPr/>
          <p:nvPr/>
        </p:nvSpPr>
        <p:spPr>
          <a:xfrm>
            <a:off x="2440934" y="4058741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ABEDEA4-EEC7-5C4F-B9EC-079E037DA8A6}"/>
              </a:ext>
            </a:extLst>
          </p:cNvPr>
          <p:cNvSpPr/>
          <p:nvPr/>
        </p:nvSpPr>
        <p:spPr>
          <a:xfrm>
            <a:off x="2440650" y="3625179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FB7F0AE-8211-5A4D-81A1-FAC227540992}"/>
              </a:ext>
            </a:extLst>
          </p:cNvPr>
          <p:cNvSpPr/>
          <p:nvPr/>
        </p:nvSpPr>
        <p:spPr>
          <a:xfrm>
            <a:off x="2797680" y="4712188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D0BDE67-9888-FF45-A026-F9C11AE5A5A1}"/>
              </a:ext>
            </a:extLst>
          </p:cNvPr>
          <p:cNvSpPr/>
          <p:nvPr/>
        </p:nvSpPr>
        <p:spPr>
          <a:xfrm>
            <a:off x="2797680" y="5318510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639A976-472D-7941-AA50-018546771F07}"/>
              </a:ext>
            </a:extLst>
          </p:cNvPr>
          <p:cNvSpPr/>
          <p:nvPr/>
        </p:nvSpPr>
        <p:spPr>
          <a:xfrm>
            <a:off x="2797396" y="4884948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0C5EE92-3450-4E4C-B335-ED33056D3B46}"/>
              </a:ext>
            </a:extLst>
          </p:cNvPr>
          <p:cNvSpPr txBox="1"/>
          <p:nvPr/>
        </p:nvSpPr>
        <p:spPr>
          <a:xfrm>
            <a:off x="1204678" y="3835495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E79C89B-33D0-0A4B-89EC-D07E93BFCDB7}"/>
              </a:ext>
            </a:extLst>
          </p:cNvPr>
          <p:cNvSpPr txBox="1"/>
          <p:nvPr/>
        </p:nvSpPr>
        <p:spPr>
          <a:xfrm>
            <a:off x="1554325" y="5080447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9A628924-BBE6-EA4D-881D-47FA6DA5E55F}"/>
              </a:ext>
            </a:extLst>
          </p:cNvPr>
          <p:cNvCxnSpPr>
            <a:cxnSpLocks/>
          </p:cNvCxnSpPr>
          <p:nvPr/>
        </p:nvCxnSpPr>
        <p:spPr>
          <a:xfrm flipH="1">
            <a:off x="2872414" y="41858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D764805F-92CF-774A-9656-DD8E203EC18D}"/>
              </a:ext>
            </a:extLst>
          </p:cNvPr>
          <p:cNvCxnSpPr>
            <a:cxnSpLocks/>
          </p:cNvCxnSpPr>
          <p:nvPr/>
        </p:nvCxnSpPr>
        <p:spPr>
          <a:xfrm flipH="1">
            <a:off x="2872414" y="37655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AFBF19F8-F4AC-D946-9913-7DD4F9FF1FD1}"/>
              </a:ext>
            </a:extLst>
          </p:cNvPr>
          <p:cNvSpPr txBox="1"/>
          <p:nvPr/>
        </p:nvSpPr>
        <p:spPr>
          <a:xfrm>
            <a:off x="2937895" y="3657855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2141D2B5-2318-294C-884A-ECFE8E836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692" y="4332516"/>
            <a:ext cx="340730" cy="341206"/>
          </a:xfrm>
          <a:prstGeom prst="rect">
            <a:avLst/>
          </a:prstGeom>
        </p:spPr>
      </p:pic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74B7933C-0F56-FD4A-942E-9E5E404B357C}"/>
              </a:ext>
            </a:extLst>
          </p:cNvPr>
          <p:cNvCxnSpPr>
            <a:cxnSpLocks/>
          </p:cNvCxnSpPr>
          <p:nvPr/>
        </p:nvCxnSpPr>
        <p:spPr>
          <a:xfrm flipH="1">
            <a:off x="3233576" y="540120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9C2E8C1E-56E0-D14A-8196-35B9538DA7D9}"/>
              </a:ext>
            </a:extLst>
          </p:cNvPr>
          <p:cNvSpPr txBox="1"/>
          <p:nvPr/>
        </p:nvSpPr>
        <p:spPr>
          <a:xfrm>
            <a:off x="3299057" y="529348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17040DCC-6F41-664B-B36E-4351BADC9363}"/>
              </a:ext>
            </a:extLst>
          </p:cNvPr>
          <p:cNvCxnSpPr>
            <a:cxnSpLocks/>
          </p:cNvCxnSpPr>
          <p:nvPr/>
        </p:nvCxnSpPr>
        <p:spPr>
          <a:xfrm flipH="1">
            <a:off x="3229444" y="502887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7FD0B4A5-675F-CA4B-8BB2-AD18EF906B83}"/>
              </a:ext>
            </a:extLst>
          </p:cNvPr>
          <p:cNvSpPr txBox="1"/>
          <p:nvPr/>
        </p:nvSpPr>
        <p:spPr>
          <a:xfrm>
            <a:off x="3294925" y="4921151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51A764A-CF2A-4E4F-9626-8D87E01F4A1A}"/>
              </a:ext>
            </a:extLst>
          </p:cNvPr>
          <p:cNvSpPr txBox="1"/>
          <p:nvPr/>
        </p:nvSpPr>
        <p:spPr>
          <a:xfrm>
            <a:off x="2929633" y="407924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0A11F07-4154-794B-9855-A948CB815A2D}"/>
              </a:ext>
            </a:extLst>
          </p:cNvPr>
          <p:cNvSpPr txBox="1"/>
          <p:nvPr/>
        </p:nvSpPr>
        <p:spPr>
          <a:xfrm>
            <a:off x="4049827" y="4854540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9831E860-8FE6-BE42-8816-898FAF163654}"/>
              </a:ext>
            </a:extLst>
          </p:cNvPr>
          <p:cNvCxnSpPr>
            <a:cxnSpLocks/>
            <a:stCxn id="76" idx="2"/>
            <a:endCxn id="84" idx="0"/>
          </p:cNvCxnSpPr>
          <p:nvPr/>
        </p:nvCxnSpPr>
        <p:spPr>
          <a:xfrm>
            <a:off x="4134057" y="4673722"/>
            <a:ext cx="271797" cy="180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8882BC08-B374-8648-96BC-261EC5E00968}"/>
              </a:ext>
            </a:extLst>
          </p:cNvPr>
          <p:cNvSpPr txBox="1"/>
          <p:nvPr/>
        </p:nvSpPr>
        <p:spPr>
          <a:xfrm>
            <a:off x="3564012" y="4666737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34D5F7B9-FF77-5443-A1ED-DAF38520C3AE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3137781" y="4179863"/>
            <a:ext cx="744588" cy="48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528DD5D8-24F2-3445-A9BB-7B6EA5D51F6C}"/>
              </a:ext>
            </a:extLst>
          </p:cNvPr>
          <p:cNvSpPr/>
          <p:nvPr/>
        </p:nvSpPr>
        <p:spPr>
          <a:xfrm>
            <a:off x="5857873" y="3438123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119FCF5-6190-8249-85A0-55971FE586DF}"/>
              </a:ext>
            </a:extLst>
          </p:cNvPr>
          <p:cNvSpPr/>
          <p:nvPr/>
        </p:nvSpPr>
        <p:spPr>
          <a:xfrm>
            <a:off x="5857873" y="4058741"/>
            <a:ext cx="432048" cy="19347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5BF9E07-0983-1140-9E76-E47BDB81365C}"/>
              </a:ext>
            </a:extLst>
          </p:cNvPr>
          <p:cNvSpPr/>
          <p:nvPr/>
        </p:nvSpPr>
        <p:spPr>
          <a:xfrm>
            <a:off x="5857589" y="3578415"/>
            <a:ext cx="432000" cy="2232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E2BE56C-83F8-654F-A713-8826778F3A06}"/>
              </a:ext>
            </a:extLst>
          </p:cNvPr>
          <p:cNvSpPr txBox="1"/>
          <p:nvPr/>
        </p:nvSpPr>
        <p:spPr>
          <a:xfrm>
            <a:off x="4636913" y="3829833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p1</a:t>
            </a:r>
            <a:r>
              <a:rPr kumimoji="1" lang="zh-CN" altLang="en-US" sz="1200" dirty="0"/>
              <a:t>用户地址空间</a:t>
            </a:r>
          </a:p>
        </p:txBody>
      </p: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50C3285B-A05C-594C-BD41-02C6CE800859}"/>
              </a:ext>
            </a:extLst>
          </p:cNvPr>
          <p:cNvCxnSpPr>
            <a:cxnSpLocks/>
          </p:cNvCxnSpPr>
          <p:nvPr/>
        </p:nvCxnSpPr>
        <p:spPr>
          <a:xfrm flipH="1">
            <a:off x="6293769" y="411234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919EEB87-A755-2947-962F-F184D45216B5}"/>
              </a:ext>
            </a:extLst>
          </p:cNvPr>
          <p:cNvSpPr txBox="1"/>
          <p:nvPr/>
        </p:nvSpPr>
        <p:spPr>
          <a:xfrm>
            <a:off x="6362926" y="4009628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47F6B28-E7CF-5448-8601-A0CEE4D659C1}"/>
              </a:ext>
            </a:extLst>
          </p:cNvPr>
          <p:cNvCxnSpPr>
            <a:cxnSpLocks/>
          </p:cNvCxnSpPr>
          <p:nvPr/>
        </p:nvCxnSpPr>
        <p:spPr>
          <a:xfrm flipH="1">
            <a:off x="6289637" y="3793604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A2222AE9-BBDC-CB42-B450-20DD6F744798}"/>
              </a:ext>
            </a:extLst>
          </p:cNvPr>
          <p:cNvSpPr txBox="1"/>
          <p:nvPr/>
        </p:nvSpPr>
        <p:spPr>
          <a:xfrm>
            <a:off x="6355118" y="3686416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2CD15D2D-F7C5-884B-9983-2D54BB1ED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03" y="4302688"/>
            <a:ext cx="340730" cy="341206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33889D2E-F297-D044-A1F9-131AAEE25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71" y="4871392"/>
            <a:ext cx="384818" cy="382113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1E5F692A-1F59-AF4E-800A-1660B03BE759}"/>
              </a:ext>
            </a:extLst>
          </p:cNvPr>
          <p:cNvSpPr txBox="1"/>
          <p:nvPr/>
        </p:nvSpPr>
        <p:spPr>
          <a:xfrm>
            <a:off x="5122346" y="4859857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D4FAD48-9CDD-974D-9B2F-1B438BC1C74A}"/>
              </a:ext>
            </a:extLst>
          </p:cNvPr>
          <p:cNvSpPr txBox="1"/>
          <p:nvPr/>
        </p:nvSpPr>
        <p:spPr>
          <a:xfrm>
            <a:off x="4745106" y="5247133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/>
              <a:t>切换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A19E4B6-0D2D-5A4D-8465-A5812C6CECCA}"/>
              </a:ext>
            </a:extLst>
          </p:cNvPr>
          <p:cNvSpPr txBox="1"/>
          <p:nvPr/>
        </p:nvSpPr>
        <p:spPr>
          <a:xfrm>
            <a:off x="5017199" y="4662461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3BD0B7C-95F9-0242-BB1E-FF775EC26E11}"/>
              </a:ext>
            </a:extLst>
          </p:cNvPr>
          <p:cNvCxnSpPr>
            <a:cxnSpLocks/>
            <a:stCxn id="101" idx="0"/>
          </p:cNvCxnSpPr>
          <p:nvPr/>
        </p:nvCxnSpPr>
        <p:spPr>
          <a:xfrm flipV="1">
            <a:off x="5335556" y="4168557"/>
            <a:ext cx="1179338" cy="493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1018ED63-24F7-724C-8C90-7CA33A49D7A6}"/>
              </a:ext>
            </a:extLst>
          </p:cNvPr>
          <p:cNvCxnSpPr>
            <a:cxnSpLocks/>
            <a:endCxn id="96" idx="2"/>
          </p:cNvCxnSpPr>
          <p:nvPr/>
        </p:nvCxnSpPr>
        <p:spPr>
          <a:xfrm flipV="1">
            <a:off x="5583451" y="4643894"/>
            <a:ext cx="923717" cy="241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7DC484-2455-7648-AFC1-3C6E58904AF6}"/>
              </a:ext>
            </a:extLst>
          </p:cNvPr>
          <p:cNvSpPr/>
          <p:nvPr/>
        </p:nvSpPr>
        <p:spPr>
          <a:xfrm>
            <a:off x="3900316" y="5271150"/>
            <a:ext cx="635680" cy="199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A356150-00C7-8B40-A199-1E469A57BD56}"/>
              </a:ext>
            </a:extLst>
          </p:cNvPr>
          <p:cNvCxnSpPr>
            <a:stCxn id="84" idx="2"/>
            <a:endCxn id="7" idx="0"/>
          </p:cNvCxnSpPr>
          <p:nvPr/>
        </p:nvCxnSpPr>
        <p:spPr>
          <a:xfrm flipH="1">
            <a:off x="4218156" y="5069984"/>
            <a:ext cx="187698" cy="201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08F03CB9-60EA-2F4E-BEB3-E890F232D047}"/>
              </a:ext>
            </a:extLst>
          </p:cNvPr>
          <p:cNvCxnSpPr>
            <a:cxnSpLocks/>
            <a:stCxn id="86" idx="2"/>
            <a:endCxn id="7" idx="0"/>
          </p:cNvCxnSpPr>
          <p:nvPr/>
        </p:nvCxnSpPr>
        <p:spPr>
          <a:xfrm>
            <a:off x="3882369" y="4882181"/>
            <a:ext cx="335787" cy="388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1AA14DA7-4343-DF4E-96F0-A6B0F6E1B6AC}"/>
              </a:ext>
            </a:extLst>
          </p:cNvPr>
          <p:cNvSpPr txBox="1"/>
          <p:nvPr/>
        </p:nvSpPr>
        <p:spPr>
          <a:xfrm>
            <a:off x="3842944" y="5262704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上下文</a:t>
            </a:r>
            <a:r>
              <a:rPr kumimoji="1" lang="en-US" altLang="zh-CN" sz="1000" dirty="0"/>
              <a:t>-p0</a:t>
            </a:r>
            <a:endParaRPr kumimoji="1" lang="zh-CN" altLang="en-US" sz="10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B0507AB-DE5E-2F4D-9047-AA3B35C5F039}"/>
              </a:ext>
            </a:extLst>
          </p:cNvPr>
          <p:cNvSpPr/>
          <p:nvPr/>
        </p:nvSpPr>
        <p:spPr>
          <a:xfrm>
            <a:off x="5392928" y="5268740"/>
            <a:ext cx="635680" cy="199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206B11B-BF64-AE46-97C4-9AFE19ADBDE3}"/>
              </a:ext>
            </a:extLst>
          </p:cNvPr>
          <p:cNvSpPr txBox="1"/>
          <p:nvPr/>
        </p:nvSpPr>
        <p:spPr>
          <a:xfrm>
            <a:off x="5335556" y="5260294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上下文</a:t>
            </a:r>
            <a:r>
              <a:rPr kumimoji="1" lang="en-US" altLang="zh-CN" sz="1000" dirty="0"/>
              <a:t>-p1</a:t>
            </a:r>
            <a:endParaRPr kumimoji="1" lang="zh-CN" altLang="en-US" sz="1000" dirty="0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1A74FE25-3E1E-6242-8268-EAEF426B5D67}"/>
              </a:ext>
            </a:extLst>
          </p:cNvPr>
          <p:cNvCxnSpPr>
            <a:stCxn id="109" idx="0"/>
            <a:endCxn id="99" idx="0"/>
          </p:cNvCxnSpPr>
          <p:nvPr/>
        </p:nvCxnSpPr>
        <p:spPr>
          <a:xfrm flipH="1" flipV="1">
            <a:off x="5478373" y="4859857"/>
            <a:ext cx="234049" cy="400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8501F4A6-D219-1A40-99E4-19A761697709}"/>
              </a:ext>
            </a:extLst>
          </p:cNvPr>
          <p:cNvCxnSpPr>
            <a:stCxn id="109" idx="0"/>
            <a:endCxn id="99" idx="2"/>
          </p:cNvCxnSpPr>
          <p:nvPr/>
        </p:nvCxnSpPr>
        <p:spPr>
          <a:xfrm flipH="1" flipV="1">
            <a:off x="5478373" y="5075301"/>
            <a:ext cx="234049" cy="18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C8019F1C-622B-0B4A-855C-48334DF87DD9}"/>
              </a:ext>
            </a:extLst>
          </p:cNvPr>
          <p:cNvCxnSpPr/>
          <p:nvPr/>
        </p:nvCxnSpPr>
        <p:spPr>
          <a:xfrm>
            <a:off x="4596676" y="5399750"/>
            <a:ext cx="1652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E216C33A-B329-2249-99BE-4CB7659B4C7B}"/>
              </a:ext>
            </a:extLst>
          </p:cNvPr>
          <p:cNvCxnSpPr/>
          <p:nvPr/>
        </p:nvCxnSpPr>
        <p:spPr>
          <a:xfrm>
            <a:off x="5158089" y="5399750"/>
            <a:ext cx="1652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6780281D-C113-F64C-88DE-431D90F4BCE3}"/>
              </a:ext>
            </a:extLst>
          </p:cNvPr>
          <p:cNvSpPr/>
          <p:nvPr/>
        </p:nvSpPr>
        <p:spPr>
          <a:xfrm>
            <a:off x="1204678" y="4397404"/>
            <a:ext cx="5730518" cy="132835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99769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DC994-2AEB-5849-A987-D022C74C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万事俱备，只欠切换！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A0E85-7B6E-7144-AF86-880887D7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上下文保存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恢复机制为进程间切换奠定了基础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思考：最关键的切换包含哪些步骤呢？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关键</a:t>
            </a:r>
            <a:r>
              <a:rPr kumimoji="1" lang="en-US" altLang="zh-CN" dirty="0">
                <a:solidFill>
                  <a:srgbClr val="C00000"/>
                </a:solidFill>
              </a:rPr>
              <a:t>1:</a:t>
            </a:r>
            <a:r>
              <a:rPr kumimoji="1" lang="zh-CN" altLang="en-US" dirty="0">
                <a:solidFill>
                  <a:srgbClr val="C00000"/>
                </a:solidFill>
              </a:rPr>
              <a:t>如何切换到</a:t>
            </a:r>
            <a:r>
              <a:rPr kumimoji="1" lang="en-US" altLang="zh-CN" dirty="0">
                <a:solidFill>
                  <a:srgbClr val="C00000"/>
                </a:solidFill>
              </a:rPr>
              <a:t>p1</a:t>
            </a:r>
            <a:r>
              <a:rPr kumimoji="1" lang="zh-CN" altLang="en-US" dirty="0">
                <a:solidFill>
                  <a:srgbClr val="C00000"/>
                </a:solidFill>
              </a:rPr>
              <a:t>的地址空间？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关键</a:t>
            </a:r>
            <a:r>
              <a:rPr kumimoji="1" lang="en-US" altLang="zh-CN" dirty="0">
                <a:solidFill>
                  <a:srgbClr val="C00000"/>
                </a:solidFill>
              </a:rPr>
              <a:t>2:</a:t>
            </a:r>
            <a:r>
              <a:rPr kumimoji="1" lang="zh-CN" altLang="en-US" dirty="0">
                <a:solidFill>
                  <a:srgbClr val="C00000"/>
                </a:solidFill>
              </a:rPr>
              <a:t>如何切换到已经存储的</a:t>
            </a:r>
            <a:r>
              <a:rPr kumimoji="1" lang="en-US" altLang="zh-CN" dirty="0">
                <a:solidFill>
                  <a:srgbClr val="C00000"/>
                </a:solidFill>
              </a:rPr>
              <a:t>p1</a:t>
            </a:r>
            <a:r>
              <a:rPr kumimoji="1" lang="zh-CN" altLang="en-US" dirty="0">
                <a:solidFill>
                  <a:srgbClr val="C00000"/>
                </a:solidFill>
              </a:rPr>
              <a:t>上下文并进行恢复？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941100"/>
              </a:solidFill>
            </a:endParaRPr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9C5EDD-663B-1545-85BD-29619BCA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9E80974-9D28-3147-A523-EB2991C4D75B}"/>
              </a:ext>
            </a:extLst>
          </p:cNvPr>
          <p:cNvSpPr txBox="1"/>
          <p:nvPr/>
        </p:nvSpPr>
        <p:spPr>
          <a:xfrm>
            <a:off x="6935197" y="37895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0B2EFF93-5852-184E-8675-6BC85B0A05FE}"/>
              </a:ext>
            </a:extLst>
          </p:cNvPr>
          <p:cNvCxnSpPr>
            <a:cxnSpLocks/>
          </p:cNvCxnSpPr>
          <p:nvPr/>
        </p:nvCxnSpPr>
        <p:spPr>
          <a:xfrm>
            <a:off x="1259632" y="4552424"/>
            <a:ext cx="6552728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A451183C-2CA8-C847-8058-2AE5BA88B443}"/>
              </a:ext>
            </a:extLst>
          </p:cNvPr>
          <p:cNvSpPr txBox="1"/>
          <p:nvPr/>
        </p:nvSpPr>
        <p:spPr>
          <a:xfrm>
            <a:off x="6935196" y="476844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8FE49BF-2515-DA42-8153-12861B10C5FE}"/>
              </a:ext>
            </a:extLst>
          </p:cNvPr>
          <p:cNvSpPr/>
          <p:nvPr/>
        </p:nvSpPr>
        <p:spPr>
          <a:xfrm>
            <a:off x="2440934" y="3452419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8A2B195-5B1F-9E41-860C-3D293B88D3F9}"/>
              </a:ext>
            </a:extLst>
          </p:cNvPr>
          <p:cNvSpPr/>
          <p:nvPr/>
        </p:nvSpPr>
        <p:spPr>
          <a:xfrm>
            <a:off x="2440934" y="4058741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ABEDEA4-EEC7-5C4F-B9EC-079E037DA8A6}"/>
              </a:ext>
            </a:extLst>
          </p:cNvPr>
          <p:cNvSpPr/>
          <p:nvPr/>
        </p:nvSpPr>
        <p:spPr>
          <a:xfrm>
            <a:off x="2440650" y="3625179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FB7F0AE-8211-5A4D-81A1-FAC227540992}"/>
              </a:ext>
            </a:extLst>
          </p:cNvPr>
          <p:cNvSpPr/>
          <p:nvPr/>
        </p:nvSpPr>
        <p:spPr>
          <a:xfrm>
            <a:off x="2797680" y="4712188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D0BDE67-9888-FF45-A026-F9C11AE5A5A1}"/>
              </a:ext>
            </a:extLst>
          </p:cNvPr>
          <p:cNvSpPr/>
          <p:nvPr/>
        </p:nvSpPr>
        <p:spPr>
          <a:xfrm>
            <a:off x="2797680" y="5318510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639A976-472D-7941-AA50-018546771F07}"/>
              </a:ext>
            </a:extLst>
          </p:cNvPr>
          <p:cNvSpPr/>
          <p:nvPr/>
        </p:nvSpPr>
        <p:spPr>
          <a:xfrm>
            <a:off x="2797396" y="4884948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0C5EE92-3450-4E4C-B335-ED33056D3B46}"/>
              </a:ext>
            </a:extLst>
          </p:cNvPr>
          <p:cNvSpPr txBox="1"/>
          <p:nvPr/>
        </p:nvSpPr>
        <p:spPr>
          <a:xfrm>
            <a:off x="1204678" y="3835495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E79C89B-33D0-0A4B-89EC-D07E93BFCDB7}"/>
              </a:ext>
            </a:extLst>
          </p:cNvPr>
          <p:cNvSpPr txBox="1"/>
          <p:nvPr/>
        </p:nvSpPr>
        <p:spPr>
          <a:xfrm>
            <a:off x="1554325" y="5080447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9A628924-BBE6-EA4D-881D-47FA6DA5E55F}"/>
              </a:ext>
            </a:extLst>
          </p:cNvPr>
          <p:cNvCxnSpPr>
            <a:cxnSpLocks/>
          </p:cNvCxnSpPr>
          <p:nvPr/>
        </p:nvCxnSpPr>
        <p:spPr>
          <a:xfrm flipH="1">
            <a:off x="2872414" y="41858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D764805F-92CF-774A-9656-DD8E203EC18D}"/>
              </a:ext>
            </a:extLst>
          </p:cNvPr>
          <p:cNvCxnSpPr>
            <a:cxnSpLocks/>
          </p:cNvCxnSpPr>
          <p:nvPr/>
        </p:nvCxnSpPr>
        <p:spPr>
          <a:xfrm flipH="1">
            <a:off x="2872414" y="376557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AFBF19F8-F4AC-D946-9913-7DD4F9FF1FD1}"/>
              </a:ext>
            </a:extLst>
          </p:cNvPr>
          <p:cNvSpPr txBox="1"/>
          <p:nvPr/>
        </p:nvSpPr>
        <p:spPr>
          <a:xfrm>
            <a:off x="2937895" y="3657855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2141D2B5-2318-294C-884A-ECFE8E836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692" y="4332516"/>
            <a:ext cx="340730" cy="341206"/>
          </a:xfrm>
          <a:prstGeom prst="rect">
            <a:avLst/>
          </a:prstGeom>
        </p:spPr>
      </p:pic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74B7933C-0F56-FD4A-942E-9E5E404B357C}"/>
              </a:ext>
            </a:extLst>
          </p:cNvPr>
          <p:cNvCxnSpPr>
            <a:cxnSpLocks/>
          </p:cNvCxnSpPr>
          <p:nvPr/>
        </p:nvCxnSpPr>
        <p:spPr>
          <a:xfrm flipH="1">
            <a:off x="3233576" y="540120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9C2E8C1E-56E0-D14A-8196-35B9538DA7D9}"/>
              </a:ext>
            </a:extLst>
          </p:cNvPr>
          <p:cNvSpPr txBox="1"/>
          <p:nvPr/>
        </p:nvSpPr>
        <p:spPr>
          <a:xfrm>
            <a:off x="3299057" y="529348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PC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17040DCC-6F41-664B-B36E-4351BADC9363}"/>
              </a:ext>
            </a:extLst>
          </p:cNvPr>
          <p:cNvCxnSpPr>
            <a:cxnSpLocks/>
          </p:cNvCxnSpPr>
          <p:nvPr/>
        </p:nvCxnSpPr>
        <p:spPr>
          <a:xfrm flipH="1">
            <a:off x="3229444" y="5028873"/>
            <a:ext cx="13831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7FD0B4A5-675F-CA4B-8BB2-AD18EF906B83}"/>
              </a:ext>
            </a:extLst>
          </p:cNvPr>
          <p:cNvSpPr txBox="1"/>
          <p:nvPr/>
        </p:nvSpPr>
        <p:spPr>
          <a:xfrm>
            <a:off x="3294925" y="4921151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51A764A-CF2A-4E4F-9626-8D87E01F4A1A}"/>
              </a:ext>
            </a:extLst>
          </p:cNvPr>
          <p:cNvSpPr txBox="1"/>
          <p:nvPr/>
        </p:nvSpPr>
        <p:spPr>
          <a:xfrm>
            <a:off x="2929633" y="407924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0A11F07-4154-794B-9855-A948CB815A2D}"/>
              </a:ext>
            </a:extLst>
          </p:cNvPr>
          <p:cNvSpPr txBox="1"/>
          <p:nvPr/>
        </p:nvSpPr>
        <p:spPr>
          <a:xfrm>
            <a:off x="4049827" y="4854540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9831E860-8FE6-BE42-8816-898FAF163654}"/>
              </a:ext>
            </a:extLst>
          </p:cNvPr>
          <p:cNvCxnSpPr>
            <a:cxnSpLocks/>
            <a:stCxn id="76" idx="2"/>
            <a:endCxn id="84" idx="0"/>
          </p:cNvCxnSpPr>
          <p:nvPr/>
        </p:nvCxnSpPr>
        <p:spPr>
          <a:xfrm>
            <a:off x="4134057" y="4673722"/>
            <a:ext cx="271797" cy="180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8882BC08-B374-8648-96BC-261EC5E00968}"/>
              </a:ext>
            </a:extLst>
          </p:cNvPr>
          <p:cNvSpPr txBox="1"/>
          <p:nvPr/>
        </p:nvSpPr>
        <p:spPr>
          <a:xfrm>
            <a:off x="3564012" y="4666737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34D5F7B9-FF77-5443-A1ED-DAF38520C3AE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3137781" y="4179863"/>
            <a:ext cx="744588" cy="48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528DD5D8-24F2-3445-A9BB-7B6EA5D51F6C}"/>
              </a:ext>
            </a:extLst>
          </p:cNvPr>
          <p:cNvSpPr/>
          <p:nvPr/>
        </p:nvSpPr>
        <p:spPr>
          <a:xfrm>
            <a:off x="5857873" y="3438123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119FCF5-6190-8249-85A0-55971FE586DF}"/>
              </a:ext>
            </a:extLst>
          </p:cNvPr>
          <p:cNvSpPr/>
          <p:nvPr/>
        </p:nvSpPr>
        <p:spPr>
          <a:xfrm>
            <a:off x="5857873" y="4058741"/>
            <a:ext cx="432048" cy="19347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5BF9E07-0983-1140-9E76-E47BDB81365C}"/>
              </a:ext>
            </a:extLst>
          </p:cNvPr>
          <p:cNvSpPr/>
          <p:nvPr/>
        </p:nvSpPr>
        <p:spPr>
          <a:xfrm>
            <a:off x="5857589" y="3578415"/>
            <a:ext cx="432000" cy="2232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E2BE56C-83F8-654F-A713-8826778F3A06}"/>
              </a:ext>
            </a:extLst>
          </p:cNvPr>
          <p:cNvSpPr txBox="1"/>
          <p:nvPr/>
        </p:nvSpPr>
        <p:spPr>
          <a:xfrm>
            <a:off x="4636913" y="3829833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p1</a:t>
            </a:r>
            <a:r>
              <a:rPr kumimoji="1" lang="zh-CN" altLang="en-US" sz="1200" dirty="0"/>
              <a:t>用户地址空间</a:t>
            </a:r>
          </a:p>
        </p:txBody>
      </p: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50C3285B-A05C-594C-BD41-02C6CE800859}"/>
              </a:ext>
            </a:extLst>
          </p:cNvPr>
          <p:cNvCxnSpPr>
            <a:cxnSpLocks/>
          </p:cNvCxnSpPr>
          <p:nvPr/>
        </p:nvCxnSpPr>
        <p:spPr>
          <a:xfrm flipH="1">
            <a:off x="6293769" y="4112347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919EEB87-A755-2947-962F-F184D45216B5}"/>
              </a:ext>
            </a:extLst>
          </p:cNvPr>
          <p:cNvSpPr txBox="1"/>
          <p:nvPr/>
        </p:nvSpPr>
        <p:spPr>
          <a:xfrm>
            <a:off x="6362926" y="4009628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PC</a:t>
            </a:r>
            <a:endParaRPr kumimoji="1" lang="zh-CN" altLang="en-US" sz="800" b="1" dirty="0"/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47F6B28-E7CF-5448-8601-A0CEE4D659C1}"/>
              </a:ext>
            </a:extLst>
          </p:cNvPr>
          <p:cNvCxnSpPr>
            <a:cxnSpLocks/>
          </p:cNvCxnSpPr>
          <p:nvPr/>
        </p:nvCxnSpPr>
        <p:spPr>
          <a:xfrm flipH="1">
            <a:off x="6289637" y="3793604"/>
            <a:ext cx="1383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A2222AE9-BBDC-CB42-B450-20DD6F744798}"/>
              </a:ext>
            </a:extLst>
          </p:cNvPr>
          <p:cNvSpPr txBox="1"/>
          <p:nvPr/>
        </p:nvSpPr>
        <p:spPr>
          <a:xfrm>
            <a:off x="6355118" y="3686416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/>
              <a:t>SP_EL0</a:t>
            </a:r>
            <a:endParaRPr kumimoji="1" lang="zh-CN" altLang="en-US" sz="800" b="1" dirty="0"/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2CD15D2D-F7C5-884B-9983-2D54BB1ED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03" y="4302688"/>
            <a:ext cx="340730" cy="341206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33889D2E-F297-D044-A1F9-131AAEE25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71" y="4871392"/>
            <a:ext cx="384818" cy="382113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1E5F692A-1F59-AF4E-800A-1660B03BE759}"/>
              </a:ext>
            </a:extLst>
          </p:cNvPr>
          <p:cNvSpPr txBox="1"/>
          <p:nvPr/>
        </p:nvSpPr>
        <p:spPr>
          <a:xfrm>
            <a:off x="5122346" y="4859857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SPSR_EL1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D4FAD48-9CDD-974D-9B2F-1B438BC1C74A}"/>
              </a:ext>
            </a:extLst>
          </p:cNvPr>
          <p:cNvSpPr txBox="1"/>
          <p:nvPr/>
        </p:nvSpPr>
        <p:spPr>
          <a:xfrm>
            <a:off x="4745106" y="5247133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/>
              <a:t>切换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A19E4B6-0D2D-5A4D-8465-A5812C6CECCA}"/>
              </a:ext>
            </a:extLst>
          </p:cNvPr>
          <p:cNvSpPr txBox="1"/>
          <p:nvPr/>
        </p:nvSpPr>
        <p:spPr>
          <a:xfrm>
            <a:off x="5017199" y="4662461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solidFill>
                  <a:srgbClr val="C00000"/>
                </a:solidFill>
              </a:rPr>
              <a:t>ELR_EL1</a:t>
            </a:r>
            <a:endParaRPr kumimoji="1" lang="zh-CN" altLang="en-US" sz="800" b="1" dirty="0">
              <a:solidFill>
                <a:srgbClr val="C00000"/>
              </a:solidFill>
            </a:endParaRPr>
          </a:p>
        </p:txBody>
      </p: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3BD0B7C-95F9-0242-BB1E-FF775EC26E11}"/>
              </a:ext>
            </a:extLst>
          </p:cNvPr>
          <p:cNvCxnSpPr>
            <a:cxnSpLocks/>
            <a:stCxn id="101" idx="0"/>
          </p:cNvCxnSpPr>
          <p:nvPr/>
        </p:nvCxnSpPr>
        <p:spPr>
          <a:xfrm flipV="1">
            <a:off x="5335556" y="4168557"/>
            <a:ext cx="1179338" cy="493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1018ED63-24F7-724C-8C90-7CA33A49D7A6}"/>
              </a:ext>
            </a:extLst>
          </p:cNvPr>
          <p:cNvCxnSpPr>
            <a:cxnSpLocks/>
            <a:endCxn id="96" idx="2"/>
          </p:cNvCxnSpPr>
          <p:nvPr/>
        </p:nvCxnSpPr>
        <p:spPr>
          <a:xfrm flipV="1">
            <a:off x="5583451" y="4643894"/>
            <a:ext cx="923717" cy="241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7DC484-2455-7648-AFC1-3C6E58904AF6}"/>
              </a:ext>
            </a:extLst>
          </p:cNvPr>
          <p:cNvSpPr/>
          <p:nvPr/>
        </p:nvSpPr>
        <p:spPr>
          <a:xfrm>
            <a:off x="3900316" y="5271150"/>
            <a:ext cx="635680" cy="199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A356150-00C7-8B40-A199-1E469A57BD56}"/>
              </a:ext>
            </a:extLst>
          </p:cNvPr>
          <p:cNvCxnSpPr>
            <a:stCxn id="84" idx="2"/>
            <a:endCxn id="7" idx="0"/>
          </p:cNvCxnSpPr>
          <p:nvPr/>
        </p:nvCxnSpPr>
        <p:spPr>
          <a:xfrm flipH="1">
            <a:off x="4218156" y="5069984"/>
            <a:ext cx="187698" cy="201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08F03CB9-60EA-2F4E-BEB3-E890F232D047}"/>
              </a:ext>
            </a:extLst>
          </p:cNvPr>
          <p:cNvCxnSpPr>
            <a:cxnSpLocks/>
            <a:stCxn id="86" idx="2"/>
            <a:endCxn id="7" idx="0"/>
          </p:cNvCxnSpPr>
          <p:nvPr/>
        </p:nvCxnSpPr>
        <p:spPr>
          <a:xfrm>
            <a:off x="3882369" y="4882181"/>
            <a:ext cx="335787" cy="388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1AA14DA7-4343-DF4E-96F0-A6B0F6E1B6AC}"/>
              </a:ext>
            </a:extLst>
          </p:cNvPr>
          <p:cNvSpPr txBox="1"/>
          <p:nvPr/>
        </p:nvSpPr>
        <p:spPr>
          <a:xfrm>
            <a:off x="3842944" y="5262704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上下文</a:t>
            </a:r>
            <a:r>
              <a:rPr kumimoji="1" lang="en-US" altLang="zh-CN" sz="1000" dirty="0"/>
              <a:t>-p0</a:t>
            </a:r>
            <a:endParaRPr kumimoji="1" lang="zh-CN" altLang="en-US" sz="10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B0507AB-DE5E-2F4D-9047-AA3B35C5F039}"/>
              </a:ext>
            </a:extLst>
          </p:cNvPr>
          <p:cNvSpPr/>
          <p:nvPr/>
        </p:nvSpPr>
        <p:spPr>
          <a:xfrm>
            <a:off x="5392928" y="5268740"/>
            <a:ext cx="635680" cy="1998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206B11B-BF64-AE46-97C4-9AFE19ADBDE3}"/>
              </a:ext>
            </a:extLst>
          </p:cNvPr>
          <p:cNvSpPr txBox="1"/>
          <p:nvPr/>
        </p:nvSpPr>
        <p:spPr>
          <a:xfrm>
            <a:off x="5335556" y="5260294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上下文</a:t>
            </a:r>
            <a:r>
              <a:rPr kumimoji="1" lang="en-US" altLang="zh-CN" sz="1000" dirty="0"/>
              <a:t>-p1</a:t>
            </a:r>
            <a:endParaRPr kumimoji="1" lang="zh-CN" altLang="en-US" sz="1000" dirty="0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1A74FE25-3E1E-6242-8268-EAEF426B5D67}"/>
              </a:ext>
            </a:extLst>
          </p:cNvPr>
          <p:cNvCxnSpPr>
            <a:stCxn id="109" idx="0"/>
            <a:endCxn id="99" idx="0"/>
          </p:cNvCxnSpPr>
          <p:nvPr/>
        </p:nvCxnSpPr>
        <p:spPr>
          <a:xfrm flipH="1" flipV="1">
            <a:off x="5478373" y="4859857"/>
            <a:ext cx="234049" cy="400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8501F4A6-D219-1A40-99E4-19A761697709}"/>
              </a:ext>
            </a:extLst>
          </p:cNvPr>
          <p:cNvCxnSpPr>
            <a:stCxn id="109" idx="0"/>
            <a:endCxn id="99" idx="2"/>
          </p:cNvCxnSpPr>
          <p:nvPr/>
        </p:nvCxnSpPr>
        <p:spPr>
          <a:xfrm flipH="1" flipV="1">
            <a:off x="5478373" y="5075301"/>
            <a:ext cx="234049" cy="18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C8019F1C-622B-0B4A-855C-48334DF87DD9}"/>
              </a:ext>
            </a:extLst>
          </p:cNvPr>
          <p:cNvCxnSpPr/>
          <p:nvPr/>
        </p:nvCxnSpPr>
        <p:spPr>
          <a:xfrm>
            <a:off x="4596676" y="5399750"/>
            <a:ext cx="1652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E216C33A-B329-2249-99BE-4CB7659B4C7B}"/>
              </a:ext>
            </a:extLst>
          </p:cNvPr>
          <p:cNvCxnSpPr/>
          <p:nvPr/>
        </p:nvCxnSpPr>
        <p:spPr>
          <a:xfrm>
            <a:off x="5158089" y="5399750"/>
            <a:ext cx="1652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0BDF135E-0F82-BC42-A10C-316059D5A778}"/>
              </a:ext>
            </a:extLst>
          </p:cNvPr>
          <p:cNvSpPr/>
          <p:nvPr/>
        </p:nvSpPr>
        <p:spPr>
          <a:xfrm>
            <a:off x="1222533" y="4548683"/>
            <a:ext cx="2421777" cy="116631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835B361-B94D-8B40-9C2E-A851D531A95F}"/>
              </a:ext>
            </a:extLst>
          </p:cNvPr>
          <p:cNvSpPr/>
          <p:nvPr/>
        </p:nvSpPr>
        <p:spPr>
          <a:xfrm>
            <a:off x="1223001" y="3348683"/>
            <a:ext cx="5730518" cy="132835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76853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BCA9F-020F-8846-8EA7-41D44EA0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步骤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：地址空间的切换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1B95F0-B04A-444A-AA18-17D218C35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的地址空间管理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内核与用户态地址空间分开管理（使用两个寄存器）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用户地址空间独有，内核地址空间共享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FAD679-CA1E-4845-9536-C0C445BE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5A062C-ADB6-834E-9602-7D341FDFF812}"/>
              </a:ext>
            </a:extLst>
          </p:cNvPr>
          <p:cNvSpPr/>
          <p:nvPr/>
        </p:nvSpPr>
        <p:spPr>
          <a:xfrm>
            <a:off x="2440934" y="3452419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EB1A6A-6B10-734A-8892-6E19EEDDF3E1}"/>
              </a:ext>
            </a:extLst>
          </p:cNvPr>
          <p:cNvSpPr/>
          <p:nvPr/>
        </p:nvSpPr>
        <p:spPr>
          <a:xfrm>
            <a:off x="2440934" y="4058741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482A47-407D-5147-BB1D-CFB843B14965}"/>
              </a:ext>
            </a:extLst>
          </p:cNvPr>
          <p:cNvSpPr/>
          <p:nvPr/>
        </p:nvSpPr>
        <p:spPr>
          <a:xfrm>
            <a:off x="2440650" y="3625179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E14AF2-52B4-D649-96F9-8C37FE04FD21}"/>
              </a:ext>
            </a:extLst>
          </p:cNvPr>
          <p:cNvSpPr txBox="1"/>
          <p:nvPr/>
        </p:nvSpPr>
        <p:spPr>
          <a:xfrm>
            <a:off x="1204678" y="3835495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E884E8-A183-6C45-9269-FB08AF933FCB}"/>
              </a:ext>
            </a:extLst>
          </p:cNvPr>
          <p:cNvSpPr/>
          <p:nvPr/>
        </p:nvSpPr>
        <p:spPr>
          <a:xfrm>
            <a:off x="4466042" y="3452419"/>
            <a:ext cx="432048" cy="10054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A5AC55-F98C-804E-AA59-9F9CF1E18853}"/>
              </a:ext>
            </a:extLst>
          </p:cNvPr>
          <p:cNvSpPr/>
          <p:nvPr/>
        </p:nvSpPr>
        <p:spPr>
          <a:xfrm>
            <a:off x="4466042" y="4058742"/>
            <a:ext cx="432048" cy="15284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7BD20E-E935-8143-945B-46E4A452B987}"/>
              </a:ext>
            </a:extLst>
          </p:cNvPr>
          <p:cNvSpPr/>
          <p:nvPr/>
        </p:nvSpPr>
        <p:spPr>
          <a:xfrm>
            <a:off x="4465758" y="3625180"/>
            <a:ext cx="432048" cy="15284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1A5DBD-010F-424B-96DE-D9A6681FE49D}"/>
              </a:ext>
            </a:extLst>
          </p:cNvPr>
          <p:cNvSpPr txBox="1"/>
          <p:nvPr/>
        </p:nvSpPr>
        <p:spPr>
          <a:xfrm>
            <a:off x="4912122" y="3835496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p1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7E190C-6012-204A-BCA7-A310F8A8814C}"/>
              </a:ext>
            </a:extLst>
          </p:cNvPr>
          <p:cNvSpPr/>
          <p:nvPr/>
        </p:nvSpPr>
        <p:spPr>
          <a:xfrm>
            <a:off x="3491880" y="4578803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68C16C-86A3-2D46-AFF3-BC6B9B4B8EE2}"/>
              </a:ext>
            </a:extLst>
          </p:cNvPr>
          <p:cNvSpPr/>
          <p:nvPr/>
        </p:nvSpPr>
        <p:spPr>
          <a:xfrm>
            <a:off x="3491880" y="5185125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BF8BFE9-92A0-1F41-8695-C607046F595C}"/>
              </a:ext>
            </a:extLst>
          </p:cNvPr>
          <p:cNvSpPr/>
          <p:nvPr/>
        </p:nvSpPr>
        <p:spPr>
          <a:xfrm>
            <a:off x="3491596" y="4751563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63E064-54FF-E944-80D7-21326A3962C1}"/>
              </a:ext>
            </a:extLst>
          </p:cNvPr>
          <p:cNvSpPr txBox="1"/>
          <p:nvPr/>
        </p:nvSpPr>
        <p:spPr>
          <a:xfrm>
            <a:off x="2440650" y="4903283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内核地址空间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4265392-5345-1346-B974-2ABA65011923}"/>
              </a:ext>
            </a:extLst>
          </p:cNvPr>
          <p:cNvCxnSpPr>
            <a:cxnSpLocks/>
          </p:cNvCxnSpPr>
          <p:nvPr/>
        </p:nvCxnSpPr>
        <p:spPr>
          <a:xfrm>
            <a:off x="1204678" y="3289548"/>
            <a:ext cx="0" cy="1289255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336B8AB2-9A6F-B84B-AC4E-6DAD003563A0}"/>
              </a:ext>
            </a:extLst>
          </p:cNvPr>
          <p:cNvCxnSpPr>
            <a:cxnSpLocks/>
          </p:cNvCxnSpPr>
          <p:nvPr/>
        </p:nvCxnSpPr>
        <p:spPr>
          <a:xfrm>
            <a:off x="2339752" y="4513684"/>
            <a:ext cx="0" cy="1161399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732D30C4-3C90-5E41-9684-FEC2BE577840}"/>
              </a:ext>
            </a:extLst>
          </p:cNvPr>
          <p:cNvCxnSpPr>
            <a:cxnSpLocks/>
          </p:cNvCxnSpPr>
          <p:nvPr/>
        </p:nvCxnSpPr>
        <p:spPr>
          <a:xfrm flipV="1">
            <a:off x="1204678" y="4513684"/>
            <a:ext cx="1135074" cy="65119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489F74F6-B8FB-D64A-92B8-815EB6DC973B}"/>
              </a:ext>
            </a:extLst>
          </p:cNvPr>
          <p:cNvCxnSpPr>
            <a:cxnSpLocks/>
          </p:cNvCxnSpPr>
          <p:nvPr/>
        </p:nvCxnSpPr>
        <p:spPr>
          <a:xfrm>
            <a:off x="2339752" y="5675083"/>
            <a:ext cx="1656184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31DE5BA5-7937-3B48-BB61-2532E1AFFE18}"/>
              </a:ext>
            </a:extLst>
          </p:cNvPr>
          <p:cNvCxnSpPr>
            <a:cxnSpLocks/>
          </p:cNvCxnSpPr>
          <p:nvPr/>
        </p:nvCxnSpPr>
        <p:spPr>
          <a:xfrm>
            <a:off x="3995936" y="4513684"/>
            <a:ext cx="0" cy="1161399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887796D8-A695-3846-A052-F98DD72D1833}"/>
              </a:ext>
            </a:extLst>
          </p:cNvPr>
          <p:cNvCxnSpPr>
            <a:cxnSpLocks/>
          </p:cNvCxnSpPr>
          <p:nvPr/>
        </p:nvCxnSpPr>
        <p:spPr>
          <a:xfrm>
            <a:off x="3995936" y="3289548"/>
            <a:ext cx="0" cy="1224136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01AE59CF-C64D-554A-A24F-42FCCF9FC079}"/>
              </a:ext>
            </a:extLst>
          </p:cNvPr>
          <p:cNvCxnSpPr>
            <a:cxnSpLocks/>
          </p:cNvCxnSpPr>
          <p:nvPr/>
        </p:nvCxnSpPr>
        <p:spPr>
          <a:xfrm>
            <a:off x="1204678" y="3289548"/>
            <a:ext cx="2791258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8F2A8573-805D-B24A-A94A-9D76B4949B1C}"/>
              </a:ext>
            </a:extLst>
          </p:cNvPr>
          <p:cNvCxnSpPr>
            <a:cxnSpLocks/>
          </p:cNvCxnSpPr>
          <p:nvPr/>
        </p:nvCxnSpPr>
        <p:spPr>
          <a:xfrm>
            <a:off x="6205284" y="3289548"/>
            <a:ext cx="0" cy="1224136"/>
          </a:xfrm>
          <a:prstGeom prst="line">
            <a:avLst/>
          </a:prstGeom>
          <a:ln w="254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328B33CE-B7BA-C844-B224-21D9824C2F70}"/>
              </a:ext>
            </a:extLst>
          </p:cNvPr>
          <p:cNvCxnSpPr>
            <a:cxnSpLocks/>
          </p:cNvCxnSpPr>
          <p:nvPr/>
        </p:nvCxnSpPr>
        <p:spPr>
          <a:xfrm>
            <a:off x="6205284" y="4513684"/>
            <a:ext cx="0" cy="1161399"/>
          </a:xfrm>
          <a:prstGeom prst="line">
            <a:avLst/>
          </a:prstGeom>
          <a:ln w="254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D49B43CA-8712-FB4A-ADFA-43581F1BD4DF}"/>
              </a:ext>
            </a:extLst>
          </p:cNvPr>
          <p:cNvCxnSpPr>
            <a:cxnSpLocks/>
          </p:cNvCxnSpPr>
          <p:nvPr/>
        </p:nvCxnSpPr>
        <p:spPr>
          <a:xfrm flipH="1">
            <a:off x="2440650" y="5665812"/>
            <a:ext cx="3764634" cy="9271"/>
          </a:xfrm>
          <a:prstGeom prst="line">
            <a:avLst/>
          </a:prstGeom>
          <a:ln w="254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9058BEB1-2508-A548-AFB8-96676AF4F291}"/>
              </a:ext>
            </a:extLst>
          </p:cNvPr>
          <p:cNvCxnSpPr>
            <a:cxnSpLocks/>
          </p:cNvCxnSpPr>
          <p:nvPr/>
        </p:nvCxnSpPr>
        <p:spPr>
          <a:xfrm>
            <a:off x="2440650" y="4513684"/>
            <a:ext cx="0" cy="1161399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43C6D215-083E-9948-88CC-22F6B49D6E22}"/>
              </a:ext>
            </a:extLst>
          </p:cNvPr>
          <p:cNvCxnSpPr>
            <a:cxnSpLocks/>
          </p:cNvCxnSpPr>
          <p:nvPr/>
        </p:nvCxnSpPr>
        <p:spPr>
          <a:xfrm>
            <a:off x="2440650" y="4513684"/>
            <a:ext cx="1843318" cy="1"/>
          </a:xfrm>
          <a:prstGeom prst="line">
            <a:avLst/>
          </a:prstGeom>
          <a:ln w="254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9CA5A2FB-A7C8-AE43-8940-F9210DAA7931}"/>
              </a:ext>
            </a:extLst>
          </p:cNvPr>
          <p:cNvCxnSpPr>
            <a:cxnSpLocks/>
          </p:cNvCxnSpPr>
          <p:nvPr/>
        </p:nvCxnSpPr>
        <p:spPr>
          <a:xfrm>
            <a:off x="4283968" y="3289548"/>
            <a:ext cx="0" cy="1224136"/>
          </a:xfrm>
          <a:prstGeom prst="line">
            <a:avLst/>
          </a:prstGeom>
          <a:ln w="254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FCD86AF3-DDBE-AF40-9316-3303A848A363}"/>
              </a:ext>
            </a:extLst>
          </p:cNvPr>
          <p:cNvCxnSpPr>
            <a:cxnSpLocks/>
          </p:cNvCxnSpPr>
          <p:nvPr/>
        </p:nvCxnSpPr>
        <p:spPr>
          <a:xfrm>
            <a:off x="4283968" y="3289548"/>
            <a:ext cx="1906068" cy="0"/>
          </a:xfrm>
          <a:prstGeom prst="line">
            <a:avLst/>
          </a:prstGeom>
          <a:ln w="254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6389B732-55FB-784D-BD56-5012DE09376C}"/>
              </a:ext>
            </a:extLst>
          </p:cNvPr>
          <p:cNvSpPr txBox="1"/>
          <p:nvPr/>
        </p:nvSpPr>
        <p:spPr>
          <a:xfrm>
            <a:off x="2394161" y="2891744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p0</a:t>
            </a:r>
            <a:endParaRPr kumimoji="1" lang="zh-CN" altLang="en-US" sz="16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D7F84F2-EEEC-034D-BF79-783EC810E072}"/>
              </a:ext>
            </a:extLst>
          </p:cNvPr>
          <p:cNvSpPr txBox="1"/>
          <p:nvPr/>
        </p:nvSpPr>
        <p:spPr>
          <a:xfrm>
            <a:off x="5030856" y="2891744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p1</a:t>
            </a:r>
            <a:endParaRPr kumimoji="1" lang="zh-CN" altLang="en-US" sz="160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EEFA9F4-6E2C-5E40-AE85-2A7281986D32}"/>
              </a:ext>
            </a:extLst>
          </p:cNvPr>
          <p:cNvSpPr/>
          <p:nvPr/>
        </p:nvSpPr>
        <p:spPr>
          <a:xfrm>
            <a:off x="1475872" y="4252550"/>
            <a:ext cx="8867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dirty="0"/>
              <a:t>TTBR0_EL1</a:t>
            </a:r>
            <a:endParaRPr lang="zh-CN" altLang="en-US" sz="1000" dirty="0"/>
          </a:p>
        </p:txBody>
      </p: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F1352045-B509-BB48-8CC9-B5D9E87D3A16}"/>
              </a:ext>
            </a:extLst>
          </p:cNvPr>
          <p:cNvCxnSpPr>
            <a:cxnSpLocks/>
          </p:cNvCxnSpPr>
          <p:nvPr/>
        </p:nvCxnSpPr>
        <p:spPr>
          <a:xfrm>
            <a:off x="2258861" y="4381499"/>
            <a:ext cx="181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6776F0D0-FA8D-DB4D-869C-82BC47437D62}"/>
              </a:ext>
            </a:extLst>
          </p:cNvPr>
          <p:cNvSpPr/>
          <p:nvPr/>
        </p:nvSpPr>
        <p:spPr>
          <a:xfrm>
            <a:off x="2522733" y="5383957"/>
            <a:ext cx="8867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dirty="0"/>
              <a:t>TTBR1_EL1</a:t>
            </a:r>
            <a:endParaRPr lang="zh-CN" altLang="en-US" sz="1000" dirty="0"/>
          </a:p>
        </p:txBody>
      </p: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5F627CE1-F092-2B4B-A040-76ABAADCE07C}"/>
              </a:ext>
            </a:extLst>
          </p:cNvPr>
          <p:cNvCxnSpPr>
            <a:cxnSpLocks/>
          </p:cNvCxnSpPr>
          <p:nvPr/>
        </p:nvCxnSpPr>
        <p:spPr>
          <a:xfrm>
            <a:off x="3305722" y="5512906"/>
            <a:ext cx="181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9746890B-87E8-C042-A078-04C85D4F185C}"/>
              </a:ext>
            </a:extLst>
          </p:cNvPr>
          <p:cNvSpPr/>
          <p:nvPr/>
        </p:nvSpPr>
        <p:spPr>
          <a:xfrm>
            <a:off x="4981363" y="4331477"/>
            <a:ext cx="8867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dirty="0"/>
              <a:t>TTBR0_EL1</a:t>
            </a:r>
            <a:endParaRPr lang="zh-CN" altLang="en-US" sz="1000" dirty="0"/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D697811A-F64F-BB4C-808A-1630BD0CBE58}"/>
              </a:ext>
            </a:extLst>
          </p:cNvPr>
          <p:cNvCxnSpPr>
            <a:cxnSpLocks/>
          </p:cNvCxnSpPr>
          <p:nvPr/>
        </p:nvCxnSpPr>
        <p:spPr>
          <a:xfrm flipH="1">
            <a:off x="4897094" y="4457836"/>
            <a:ext cx="1789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3516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BCA9F-020F-8846-8EA7-41D44EA0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步骤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：地址空间的切换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1B95F0-B04A-444A-AA18-17D218C35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的地址空间管理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内核与用户态地址空间分开管理（使用两个寄存器）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用户地址空间独有，内核地址空间共享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因此，只需要实现用户地址空间切换即可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FAD679-CA1E-4845-9536-C0C445BE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5A062C-ADB6-834E-9602-7D341FDFF812}"/>
              </a:ext>
            </a:extLst>
          </p:cNvPr>
          <p:cNvSpPr/>
          <p:nvPr/>
        </p:nvSpPr>
        <p:spPr>
          <a:xfrm>
            <a:off x="2440934" y="3452419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EB1A6A-6B10-734A-8892-6E19EEDDF3E1}"/>
              </a:ext>
            </a:extLst>
          </p:cNvPr>
          <p:cNvSpPr/>
          <p:nvPr/>
        </p:nvSpPr>
        <p:spPr>
          <a:xfrm>
            <a:off x="2440934" y="4058741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482A47-407D-5147-BB1D-CFB843B14965}"/>
              </a:ext>
            </a:extLst>
          </p:cNvPr>
          <p:cNvSpPr/>
          <p:nvPr/>
        </p:nvSpPr>
        <p:spPr>
          <a:xfrm>
            <a:off x="2440650" y="3625179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E14AF2-52B4-D649-96F9-8C37FE04FD21}"/>
              </a:ext>
            </a:extLst>
          </p:cNvPr>
          <p:cNvSpPr txBox="1"/>
          <p:nvPr/>
        </p:nvSpPr>
        <p:spPr>
          <a:xfrm>
            <a:off x="1204678" y="3835495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p0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E884E8-A183-6C45-9269-FB08AF933FCB}"/>
              </a:ext>
            </a:extLst>
          </p:cNvPr>
          <p:cNvSpPr/>
          <p:nvPr/>
        </p:nvSpPr>
        <p:spPr>
          <a:xfrm>
            <a:off x="4466042" y="3452419"/>
            <a:ext cx="432048" cy="10054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A5AC55-F98C-804E-AA59-9F9CF1E18853}"/>
              </a:ext>
            </a:extLst>
          </p:cNvPr>
          <p:cNvSpPr/>
          <p:nvPr/>
        </p:nvSpPr>
        <p:spPr>
          <a:xfrm>
            <a:off x="4466042" y="4058742"/>
            <a:ext cx="432048" cy="15284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7BD20E-E935-8143-945B-46E4A452B987}"/>
              </a:ext>
            </a:extLst>
          </p:cNvPr>
          <p:cNvSpPr/>
          <p:nvPr/>
        </p:nvSpPr>
        <p:spPr>
          <a:xfrm>
            <a:off x="4465758" y="3625180"/>
            <a:ext cx="432048" cy="15284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1A5DBD-010F-424B-96DE-D9A6681FE49D}"/>
              </a:ext>
            </a:extLst>
          </p:cNvPr>
          <p:cNvSpPr txBox="1"/>
          <p:nvPr/>
        </p:nvSpPr>
        <p:spPr>
          <a:xfrm>
            <a:off x="4912122" y="3835496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p1</a:t>
            </a:r>
            <a:r>
              <a:rPr kumimoji="1" lang="zh-CN" altLang="en-US" sz="1200" dirty="0"/>
              <a:t>用户地址空间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7E190C-6012-204A-BCA7-A310F8A8814C}"/>
              </a:ext>
            </a:extLst>
          </p:cNvPr>
          <p:cNvSpPr/>
          <p:nvPr/>
        </p:nvSpPr>
        <p:spPr>
          <a:xfrm>
            <a:off x="3491880" y="4578803"/>
            <a:ext cx="432048" cy="953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68C16C-86A3-2D46-AFF3-BC6B9B4B8EE2}"/>
              </a:ext>
            </a:extLst>
          </p:cNvPr>
          <p:cNvSpPr/>
          <p:nvPr/>
        </p:nvSpPr>
        <p:spPr>
          <a:xfrm>
            <a:off x="3491880" y="5185125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BF8BFE9-92A0-1F41-8695-C607046F595C}"/>
              </a:ext>
            </a:extLst>
          </p:cNvPr>
          <p:cNvSpPr/>
          <p:nvPr/>
        </p:nvSpPr>
        <p:spPr>
          <a:xfrm>
            <a:off x="3491596" y="4751563"/>
            <a:ext cx="432048" cy="14497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63E064-54FF-E944-80D7-21326A3962C1}"/>
              </a:ext>
            </a:extLst>
          </p:cNvPr>
          <p:cNvSpPr txBox="1"/>
          <p:nvPr/>
        </p:nvSpPr>
        <p:spPr>
          <a:xfrm>
            <a:off x="2383458" y="486876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dirty="0"/>
              <a:t>内核地址空间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</a:rPr>
              <a:t>（不变）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135F6F2D-CD32-9C4E-8851-48DD6030B3FE}"/>
              </a:ext>
            </a:extLst>
          </p:cNvPr>
          <p:cNvSpPr/>
          <p:nvPr/>
        </p:nvSpPr>
        <p:spPr>
          <a:xfrm>
            <a:off x="3131840" y="3770150"/>
            <a:ext cx="1107996" cy="3423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B037B82-880E-824D-975C-F04595D36452}"/>
              </a:ext>
            </a:extLst>
          </p:cNvPr>
          <p:cNvSpPr/>
          <p:nvPr/>
        </p:nvSpPr>
        <p:spPr>
          <a:xfrm>
            <a:off x="1475872" y="4252550"/>
            <a:ext cx="8867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dirty="0"/>
              <a:t>TTBR0_EL1</a:t>
            </a:r>
            <a:endParaRPr lang="zh-CN" altLang="en-US" sz="1000" dirty="0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250EF36B-9EAC-4B43-A4CF-FE17ED9CCF17}"/>
              </a:ext>
            </a:extLst>
          </p:cNvPr>
          <p:cNvCxnSpPr>
            <a:cxnSpLocks/>
          </p:cNvCxnSpPr>
          <p:nvPr/>
        </p:nvCxnSpPr>
        <p:spPr>
          <a:xfrm>
            <a:off x="2258861" y="4381499"/>
            <a:ext cx="181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41BBFFF8-7E75-2641-9E93-B14884616E56}"/>
              </a:ext>
            </a:extLst>
          </p:cNvPr>
          <p:cNvSpPr/>
          <p:nvPr/>
        </p:nvSpPr>
        <p:spPr>
          <a:xfrm>
            <a:off x="2522733" y="5383957"/>
            <a:ext cx="8867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dirty="0"/>
              <a:t>TTBR1_EL1</a:t>
            </a:r>
            <a:endParaRPr lang="zh-CN" altLang="en-US" sz="1000" dirty="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23389D41-E0D4-224B-89CA-1BB7E0A14BD9}"/>
              </a:ext>
            </a:extLst>
          </p:cNvPr>
          <p:cNvCxnSpPr>
            <a:cxnSpLocks/>
          </p:cNvCxnSpPr>
          <p:nvPr/>
        </p:nvCxnSpPr>
        <p:spPr>
          <a:xfrm>
            <a:off x="3305722" y="5512906"/>
            <a:ext cx="181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C5D988F1-60F9-1C4D-9728-24D442A0BAA5}"/>
              </a:ext>
            </a:extLst>
          </p:cNvPr>
          <p:cNvSpPr/>
          <p:nvPr/>
        </p:nvSpPr>
        <p:spPr>
          <a:xfrm>
            <a:off x="4981363" y="4331477"/>
            <a:ext cx="8867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dirty="0"/>
              <a:t>TTBR0_EL1</a:t>
            </a:r>
            <a:endParaRPr lang="zh-CN" altLang="en-US" sz="1000" dirty="0"/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C20C7A08-B003-C44D-AF3D-C932742D6923}"/>
              </a:ext>
            </a:extLst>
          </p:cNvPr>
          <p:cNvCxnSpPr>
            <a:cxnSpLocks/>
          </p:cNvCxnSpPr>
          <p:nvPr/>
        </p:nvCxnSpPr>
        <p:spPr>
          <a:xfrm flipH="1">
            <a:off x="4897094" y="4457836"/>
            <a:ext cx="1789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2337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B767A-436C-F141-9302-64D6865B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步骤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：地址空间的切换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D03603-2649-8A43-BA64-B854A2504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的实现：</a:t>
            </a:r>
            <a:r>
              <a:rPr kumimoji="1" lang="en-US" altLang="zh-CN" dirty="0" err="1"/>
              <a:t>switch_to_vmspace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获取</a:t>
            </a:r>
            <a:r>
              <a:rPr kumimoji="1" lang="en-US" altLang="zh-CN" dirty="0"/>
              <a:t>p1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PCB</a:t>
            </a:r>
            <a:r>
              <a:rPr kumimoji="1" lang="zh-CN" altLang="en-US" dirty="0"/>
              <a:t>，并获取其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，最后设置</a:t>
            </a:r>
            <a:r>
              <a:rPr kumimoji="1" lang="en-US" altLang="zh-CN" dirty="0"/>
              <a:t>TTBR0_EL1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4D0185-5139-4B4D-A0F1-23A820D1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5C377E-C628-F749-BD22-884D26CFC153}"/>
              </a:ext>
            </a:extLst>
          </p:cNvPr>
          <p:cNvSpPr txBox="1"/>
          <p:nvPr/>
        </p:nvSpPr>
        <p:spPr>
          <a:xfrm>
            <a:off x="2410245" y="2353444"/>
            <a:ext cx="3728906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switch_vmspace_to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(pcb1-&gt;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vmspace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1"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6D89C2B3-E15B-7E49-8074-4AED26D85501}"/>
              </a:ext>
            </a:extLst>
          </p:cNvPr>
          <p:cNvSpPr/>
          <p:nvPr/>
        </p:nvSpPr>
        <p:spPr>
          <a:xfrm>
            <a:off x="4032381" y="2713484"/>
            <a:ext cx="484632" cy="43204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85D504-9AF4-744D-8BE8-CCDD517D000F}"/>
              </a:ext>
            </a:extLst>
          </p:cNvPr>
          <p:cNvSpPr txBox="1"/>
          <p:nvPr/>
        </p:nvSpPr>
        <p:spPr>
          <a:xfrm>
            <a:off x="1604735" y="3207178"/>
            <a:ext cx="5339923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switch_vmspace_to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(struct 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vmspace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vmspace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set_ttbr0_el1(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virt_to_phys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vmspace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pgtbl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3BBF78-0311-1442-BA76-16AEA5F25360}"/>
              </a:ext>
            </a:extLst>
          </p:cNvPr>
          <p:cNvSpPr txBox="1"/>
          <p:nvPr/>
        </p:nvSpPr>
        <p:spPr>
          <a:xfrm>
            <a:off x="2839848" y="4487600"/>
            <a:ext cx="2869696" cy="11695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BEGIN_FUNC(set_ttbr0_el1)</a:t>
            </a:r>
          </a:p>
          <a:p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msr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ttbr0_el1, x0</a:t>
            </a:r>
          </a:p>
          <a:p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tlbi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vmalle1is</a:t>
            </a:r>
          </a:p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 </a:t>
            </a:r>
          </a:p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END_FUNC</a:t>
            </a:r>
            <a:endParaRPr kumimoji="1"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4B4102DE-8B4D-E743-8A82-37B40C9B4976}"/>
              </a:ext>
            </a:extLst>
          </p:cNvPr>
          <p:cNvSpPr/>
          <p:nvPr/>
        </p:nvSpPr>
        <p:spPr>
          <a:xfrm>
            <a:off x="4039739" y="4009628"/>
            <a:ext cx="484632" cy="43204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858B29-A596-8841-90FE-90D7144134EF}"/>
              </a:ext>
            </a:extLst>
          </p:cNvPr>
          <p:cNvSpPr/>
          <p:nvPr/>
        </p:nvSpPr>
        <p:spPr>
          <a:xfrm>
            <a:off x="3563888" y="3462563"/>
            <a:ext cx="1368152" cy="216024"/>
          </a:xfrm>
          <a:prstGeom prst="rect">
            <a:avLst/>
          </a:prstGeom>
          <a:noFill/>
          <a:ln>
            <a:solidFill>
              <a:srgbClr val="BD3247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FA7045-8737-DD49-83F6-7DAF8C4771C1}"/>
              </a:ext>
            </a:extLst>
          </p:cNvPr>
          <p:cNvSpPr txBox="1"/>
          <p:nvPr/>
        </p:nvSpPr>
        <p:spPr>
          <a:xfrm>
            <a:off x="4572000" y="367232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</a:rPr>
              <a:t>转为物理地址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12E08F-5407-404D-8F1C-6DB0CA7B3FDD}"/>
              </a:ext>
            </a:extLst>
          </p:cNvPr>
          <p:cNvSpPr/>
          <p:nvPr/>
        </p:nvSpPr>
        <p:spPr>
          <a:xfrm>
            <a:off x="2913902" y="4964363"/>
            <a:ext cx="1514081" cy="216024"/>
          </a:xfrm>
          <a:prstGeom prst="rect">
            <a:avLst/>
          </a:prstGeom>
          <a:noFill/>
          <a:ln>
            <a:solidFill>
              <a:srgbClr val="BD3247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A4CB23-47E4-CE4A-8DEC-72CB936DC2AB}"/>
              </a:ext>
            </a:extLst>
          </p:cNvPr>
          <p:cNvSpPr txBox="1"/>
          <p:nvPr/>
        </p:nvSpPr>
        <p:spPr>
          <a:xfrm>
            <a:off x="3794395" y="5184065"/>
            <a:ext cx="1949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</a:rPr>
              <a:t>刷新</a:t>
            </a:r>
            <a:r>
              <a:rPr kumimoji="1" lang="en-US" altLang="zh-CN" sz="1400" dirty="0">
                <a:solidFill>
                  <a:srgbClr val="C00000"/>
                </a:solidFill>
              </a:rPr>
              <a:t>TLB</a:t>
            </a:r>
            <a:r>
              <a:rPr kumimoji="1" lang="zh-CN" altLang="en-US" sz="1400" dirty="0">
                <a:solidFill>
                  <a:srgbClr val="C00000"/>
                </a:solidFill>
              </a:rPr>
              <a:t>（为什么？）</a:t>
            </a:r>
          </a:p>
        </p:txBody>
      </p:sp>
    </p:spTree>
    <p:extLst>
      <p:ext uri="{BB962C8B-B14F-4D97-AF65-F5344CB8AC3E}">
        <p14:creationId xmlns:p14="http://schemas.microsoft.com/office/powerpoint/2010/main" val="8880781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F7A0B-7B19-4840-AE13-39AC3E58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步骤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：如何切换到</a:t>
            </a:r>
            <a:r>
              <a:rPr kumimoji="1" lang="en-US" altLang="zh-CN" dirty="0"/>
              <a:t>p1</a:t>
            </a:r>
            <a:r>
              <a:rPr kumimoji="1" lang="zh-CN" altLang="en-US" dirty="0"/>
              <a:t>的上下文？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004564-1F93-3D4F-9D18-E4B3D820D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回顾：当</a:t>
            </a:r>
            <a:r>
              <a:rPr kumimoji="1" lang="en-US" altLang="zh-CN" dirty="0"/>
              <a:t>p1</a:t>
            </a:r>
            <a:r>
              <a:rPr kumimoji="1" lang="zh-CN" altLang="en-US" dirty="0"/>
              <a:t>保存上下文时，其内核栈应该是怎样的？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p0/p1</a:t>
            </a:r>
            <a:r>
              <a:rPr kumimoji="1" lang="zh-CN" altLang="en-US" dirty="0"/>
              <a:t>共享内核地址空间，因此直接切换内核栈指针即可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1B2675-AC17-F440-9119-63DED4DE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52A98C-271A-F947-99AE-B8459513DA95}"/>
              </a:ext>
            </a:extLst>
          </p:cNvPr>
          <p:cNvSpPr/>
          <p:nvPr/>
        </p:nvSpPr>
        <p:spPr>
          <a:xfrm>
            <a:off x="4421831" y="2150968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9E0ED4-6DEE-C742-B5F0-64E13833E8F8}"/>
              </a:ext>
            </a:extLst>
          </p:cNvPr>
          <p:cNvSpPr txBox="1"/>
          <p:nvPr/>
        </p:nvSpPr>
        <p:spPr>
          <a:xfrm>
            <a:off x="4379167" y="2099865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SPSR_EL1</a:t>
            </a:r>
            <a:endParaRPr kumimoji="1" lang="zh-CN" altLang="en-US" sz="1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CEB065-6C57-ED4A-91A4-0207D2FDD31E}"/>
              </a:ext>
            </a:extLst>
          </p:cNvPr>
          <p:cNvSpPr/>
          <p:nvPr/>
        </p:nvSpPr>
        <p:spPr>
          <a:xfrm>
            <a:off x="4421831" y="2499177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F2B4F7-1929-7146-9C08-88EE3BDD1D72}"/>
              </a:ext>
            </a:extLst>
          </p:cNvPr>
          <p:cNvSpPr txBox="1"/>
          <p:nvPr/>
        </p:nvSpPr>
        <p:spPr>
          <a:xfrm>
            <a:off x="4644240" y="2448074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X1</a:t>
            </a:r>
            <a:endParaRPr kumimoji="1"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88E1BB-A494-294F-8273-4BE8314A959D}"/>
              </a:ext>
            </a:extLst>
          </p:cNvPr>
          <p:cNvSpPr/>
          <p:nvPr/>
        </p:nvSpPr>
        <p:spPr>
          <a:xfrm>
            <a:off x="4421831" y="2642751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4D0F97-9461-E74A-BF1D-315A789A42C0}"/>
              </a:ext>
            </a:extLst>
          </p:cNvPr>
          <p:cNvSpPr txBox="1"/>
          <p:nvPr/>
        </p:nvSpPr>
        <p:spPr>
          <a:xfrm>
            <a:off x="4644240" y="2591648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X0</a:t>
            </a:r>
            <a:endParaRPr kumimoji="1" lang="zh-CN" altLang="en-US" sz="10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AA0E4A-D2FB-8440-88C6-0626145C8ED9}"/>
              </a:ext>
            </a:extLst>
          </p:cNvPr>
          <p:cNvSpPr/>
          <p:nvPr/>
        </p:nvSpPr>
        <p:spPr>
          <a:xfrm>
            <a:off x="4421831" y="2294984"/>
            <a:ext cx="743744" cy="2046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734CA5-B5A0-844D-8246-C79B2660AB5A}"/>
              </a:ext>
            </a:extLst>
          </p:cNvPr>
          <p:cNvSpPr txBox="1"/>
          <p:nvPr/>
        </p:nvSpPr>
        <p:spPr>
          <a:xfrm>
            <a:off x="4624426" y="222297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2053E7-6D71-714E-847C-E7C8E5877FF3}"/>
              </a:ext>
            </a:extLst>
          </p:cNvPr>
          <p:cNvSpPr txBox="1"/>
          <p:nvPr/>
        </p:nvSpPr>
        <p:spPr>
          <a:xfrm>
            <a:off x="3760833" y="2679045"/>
            <a:ext cx="5645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/>
              <a:t>SP_EL1</a:t>
            </a:r>
            <a:endParaRPr kumimoji="1" lang="zh-CN" altLang="en-US" sz="800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E898756D-7049-C347-9D06-02B6725490F8}"/>
              </a:ext>
            </a:extLst>
          </p:cNvPr>
          <p:cNvCxnSpPr>
            <a:cxnSpLocks/>
          </p:cNvCxnSpPr>
          <p:nvPr/>
        </p:nvCxnSpPr>
        <p:spPr>
          <a:xfrm>
            <a:off x="4240654" y="2786767"/>
            <a:ext cx="171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DE96CBD-850E-4E40-961C-5D1C8C1C38E3}"/>
              </a:ext>
            </a:extLst>
          </p:cNvPr>
          <p:cNvSpPr txBox="1"/>
          <p:nvPr/>
        </p:nvSpPr>
        <p:spPr>
          <a:xfrm>
            <a:off x="2164296" y="2065412"/>
            <a:ext cx="5645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/>
              <a:t>SP_EL1</a:t>
            </a:r>
            <a:endParaRPr kumimoji="1" lang="zh-CN" altLang="en-US" sz="800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7199F67-A5A6-7F4E-BE26-DFE0F55D9617}"/>
              </a:ext>
            </a:extLst>
          </p:cNvPr>
          <p:cNvCxnSpPr>
            <a:cxnSpLocks/>
          </p:cNvCxnSpPr>
          <p:nvPr/>
        </p:nvCxnSpPr>
        <p:spPr>
          <a:xfrm>
            <a:off x="2644117" y="2173134"/>
            <a:ext cx="171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0EF94EF3-27FF-2745-8784-45B92EBABE5B}"/>
              </a:ext>
            </a:extLst>
          </p:cNvPr>
          <p:cNvCxnSpPr/>
          <p:nvPr/>
        </p:nvCxnSpPr>
        <p:spPr>
          <a:xfrm>
            <a:off x="2816094" y="2173134"/>
            <a:ext cx="745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下箭头 17">
            <a:extLst>
              <a:ext uri="{FF2B5EF4-FFF2-40B4-BE49-F238E27FC236}">
                <a16:creationId xmlns:a16="http://schemas.microsoft.com/office/drawing/2014/main" id="{4677094B-1E24-074E-949A-B00A186BCCF1}"/>
              </a:ext>
            </a:extLst>
          </p:cNvPr>
          <p:cNvSpPr/>
          <p:nvPr/>
        </p:nvSpPr>
        <p:spPr>
          <a:xfrm rot="16200000">
            <a:off x="3723637" y="2280989"/>
            <a:ext cx="246686" cy="3080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543F59-AFD7-EE48-A960-E5B0F2547752}"/>
              </a:ext>
            </a:extLst>
          </p:cNvPr>
          <p:cNvSpPr/>
          <p:nvPr/>
        </p:nvSpPr>
        <p:spPr>
          <a:xfrm>
            <a:off x="6490573" y="4721076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360051-B481-B149-BED9-141CA58B780C}"/>
              </a:ext>
            </a:extLst>
          </p:cNvPr>
          <p:cNvSpPr txBox="1"/>
          <p:nvPr/>
        </p:nvSpPr>
        <p:spPr>
          <a:xfrm>
            <a:off x="6447909" y="4669973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SPSR_EL1</a:t>
            </a:r>
            <a:endParaRPr kumimoji="1" lang="zh-CN" altLang="en-US" sz="1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AD3F3C-EBAF-CB4D-A26F-7EDD869ACE45}"/>
              </a:ext>
            </a:extLst>
          </p:cNvPr>
          <p:cNvSpPr/>
          <p:nvPr/>
        </p:nvSpPr>
        <p:spPr>
          <a:xfrm>
            <a:off x="6490573" y="5069285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D85A21-47BA-E245-8872-5396CCF3815E}"/>
              </a:ext>
            </a:extLst>
          </p:cNvPr>
          <p:cNvSpPr txBox="1"/>
          <p:nvPr/>
        </p:nvSpPr>
        <p:spPr>
          <a:xfrm>
            <a:off x="6712982" y="5018182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X1</a:t>
            </a:r>
            <a:endParaRPr kumimoji="1" lang="zh-CN" altLang="en-US" sz="1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84BF93-43A3-0743-AC43-E40C743F4393}"/>
              </a:ext>
            </a:extLst>
          </p:cNvPr>
          <p:cNvSpPr/>
          <p:nvPr/>
        </p:nvSpPr>
        <p:spPr>
          <a:xfrm>
            <a:off x="6490573" y="5212859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6A03B96-7BD0-5F4D-AEE2-C7F54C8EE368}"/>
              </a:ext>
            </a:extLst>
          </p:cNvPr>
          <p:cNvSpPr txBox="1"/>
          <p:nvPr/>
        </p:nvSpPr>
        <p:spPr>
          <a:xfrm>
            <a:off x="6712982" y="5161756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X0</a:t>
            </a:r>
            <a:endParaRPr kumimoji="1" lang="zh-CN" altLang="en-US" sz="1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BC524A-6D07-1547-ABE8-B9274D92A22C}"/>
              </a:ext>
            </a:extLst>
          </p:cNvPr>
          <p:cNvSpPr/>
          <p:nvPr/>
        </p:nvSpPr>
        <p:spPr>
          <a:xfrm>
            <a:off x="6490573" y="4865092"/>
            <a:ext cx="743744" cy="2046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3C269D-FC72-FF4D-9C3F-2D13E21B850E}"/>
              </a:ext>
            </a:extLst>
          </p:cNvPr>
          <p:cNvSpPr txBox="1"/>
          <p:nvPr/>
        </p:nvSpPr>
        <p:spPr>
          <a:xfrm>
            <a:off x="6693168" y="479308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9CA7E5D-95A2-6B41-9B9C-685233224155}"/>
              </a:ext>
            </a:extLst>
          </p:cNvPr>
          <p:cNvSpPr txBox="1"/>
          <p:nvPr/>
        </p:nvSpPr>
        <p:spPr>
          <a:xfrm>
            <a:off x="5829575" y="5249153"/>
            <a:ext cx="5645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/>
              <a:t>SP_EL1</a:t>
            </a:r>
            <a:endParaRPr kumimoji="1" lang="zh-CN" altLang="en-US" sz="800" dirty="0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01A8322-45A1-B54F-8E30-C46B719F99BD}"/>
              </a:ext>
            </a:extLst>
          </p:cNvPr>
          <p:cNvCxnSpPr>
            <a:cxnSpLocks/>
          </p:cNvCxnSpPr>
          <p:nvPr/>
        </p:nvCxnSpPr>
        <p:spPr>
          <a:xfrm>
            <a:off x="6309396" y="5356875"/>
            <a:ext cx="171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DE05E1FC-E43B-714D-9FC3-5DE3DDFA30C7}"/>
              </a:ext>
            </a:extLst>
          </p:cNvPr>
          <p:cNvSpPr/>
          <p:nvPr/>
        </p:nvSpPr>
        <p:spPr>
          <a:xfrm>
            <a:off x="6490573" y="3914832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FE07F65-FA25-9C46-8E70-2560347FF739}"/>
              </a:ext>
            </a:extLst>
          </p:cNvPr>
          <p:cNvSpPr txBox="1"/>
          <p:nvPr/>
        </p:nvSpPr>
        <p:spPr>
          <a:xfrm>
            <a:off x="6447909" y="386372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SPSR_EL1</a:t>
            </a:r>
            <a:endParaRPr kumimoji="1" lang="zh-CN" altLang="en-US" sz="10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B8CE0FE-F467-9B40-92B6-558821A4F389}"/>
              </a:ext>
            </a:extLst>
          </p:cNvPr>
          <p:cNvSpPr/>
          <p:nvPr/>
        </p:nvSpPr>
        <p:spPr>
          <a:xfrm>
            <a:off x="6490573" y="4263041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53DBE58-EA3E-2548-AF0C-E3680450683A}"/>
              </a:ext>
            </a:extLst>
          </p:cNvPr>
          <p:cNvSpPr txBox="1"/>
          <p:nvPr/>
        </p:nvSpPr>
        <p:spPr>
          <a:xfrm>
            <a:off x="6712982" y="4211938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X1</a:t>
            </a:r>
            <a:endParaRPr kumimoji="1" lang="zh-CN" altLang="en-US" sz="10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953C589-ABE6-8346-9061-C6A130DAF769}"/>
              </a:ext>
            </a:extLst>
          </p:cNvPr>
          <p:cNvSpPr/>
          <p:nvPr/>
        </p:nvSpPr>
        <p:spPr>
          <a:xfrm>
            <a:off x="6490573" y="4406615"/>
            <a:ext cx="743744" cy="1440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283CD09-602D-2848-9B7D-93E5B9AB49F4}"/>
              </a:ext>
            </a:extLst>
          </p:cNvPr>
          <p:cNvSpPr txBox="1"/>
          <p:nvPr/>
        </p:nvSpPr>
        <p:spPr>
          <a:xfrm>
            <a:off x="6712982" y="4355512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X0</a:t>
            </a:r>
            <a:endParaRPr kumimoji="1" lang="zh-CN" altLang="en-US" sz="1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80AFB9-8596-014E-904E-850FE4D0E4C3}"/>
              </a:ext>
            </a:extLst>
          </p:cNvPr>
          <p:cNvSpPr/>
          <p:nvPr/>
        </p:nvSpPr>
        <p:spPr>
          <a:xfrm>
            <a:off x="6490573" y="4058848"/>
            <a:ext cx="743744" cy="2046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911B0C3-24A8-EC49-8A9C-F681AD8654FE}"/>
              </a:ext>
            </a:extLst>
          </p:cNvPr>
          <p:cNvSpPr txBox="1"/>
          <p:nvPr/>
        </p:nvSpPr>
        <p:spPr>
          <a:xfrm>
            <a:off x="6693168" y="398683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ED267B-286D-254D-8A9A-2CAE0FC3D8D6}"/>
              </a:ext>
            </a:extLst>
          </p:cNvPr>
          <p:cNvSpPr/>
          <p:nvPr/>
        </p:nvSpPr>
        <p:spPr>
          <a:xfrm>
            <a:off x="6490573" y="4553344"/>
            <a:ext cx="743744" cy="167373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1FB5BF3-A92F-9E4A-9CFB-C455DA8F85D4}"/>
              </a:ext>
            </a:extLst>
          </p:cNvPr>
          <p:cNvSpPr/>
          <p:nvPr/>
        </p:nvSpPr>
        <p:spPr>
          <a:xfrm>
            <a:off x="6490573" y="5356875"/>
            <a:ext cx="743744" cy="198706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53D951A-70D6-2A46-BF91-1BB33DC282F1}"/>
              </a:ext>
            </a:extLst>
          </p:cNvPr>
          <p:cNvSpPr/>
          <p:nvPr/>
        </p:nvSpPr>
        <p:spPr>
          <a:xfrm>
            <a:off x="6491284" y="3788133"/>
            <a:ext cx="743744" cy="129706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2B873213-77B7-2B41-B6ED-5EBE0708F9F2}"/>
              </a:ext>
            </a:extLst>
          </p:cNvPr>
          <p:cNvCxnSpPr>
            <a:cxnSpLocks/>
          </p:cNvCxnSpPr>
          <p:nvPr/>
        </p:nvCxnSpPr>
        <p:spPr>
          <a:xfrm>
            <a:off x="7242462" y="4720717"/>
            <a:ext cx="77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CF449DCD-588E-154F-BB43-7009FF9A39A0}"/>
              </a:ext>
            </a:extLst>
          </p:cNvPr>
          <p:cNvCxnSpPr>
            <a:cxnSpLocks/>
          </p:cNvCxnSpPr>
          <p:nvPr/>
        </p:nvCxnSpPr>
        <p:spPr>
          <a:xfrm flipH="1">
            <a:off x="7318354" y="4720717"/>
            <a:ext cx="1292" cy="636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CC2830D9-FBE6-8A40-BFDE-F2E1D8946AB0}"/>
              </a:ext>
            </a:extLst>
          </p:cNvPr>
          <p:cNvCxnSpPr>
            <a:cxnSpLocks/>
          </p:cNvCxnSpPr>
          <p:nvPr/>
        </p:nvCxnSpPr>
        <p:spPr>
          <a:xfrm>
            <a:off x="7233212" y="5356875"/>
            <a:ext cx="851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B3CB2F0B-014E-B64B-86ED-D19D26BD3C22}"/>
              </a:ext>
            </a:extLst>
          </p:cNvPr>
          <p:cNvSpPr txBox="1"/>
          <p:nvPr/>
        </p:nvSpPr>
        <p:spPr>
          <a:xfrm>
            <a:off x="7272621" y="4944668"/>
            <a:ext cx="7184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/>
              <a:t>p0</a:t>
            </a:r>
            <a:r>
              <a:rPr kumimoji="1" lang="zh-CN" altLang="en-US" sz="1000" b="1" dirty="0"/>
              <a:t>上下文</a:t>
            </a:r>
          </a:p>
        </p:txBody>
      </p: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97010D40-213B-8543-BA87-242A1940C46D}"/>
              </a:ext>
            </a:extLst>
          </p:cNvPr>
          <p:cNvCxnSpPr>
            <a:cxnSpLocks/>
          </p:cNvCxnSpPr>
          <p:nvPr/>
        </p:nvCxnSpPr>
        <p:spPr>
          <a:xfrm>
            <a:off x="7246216" y="3914473"/>
            <a:ext cx="77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65810844-7DB8-4940-9EAC-BD1BE7BD715A}"/>
              </a:ext>
            </a:extLst>
          </p:cNvPr>
          <p:cNvCxnSpPr>
            <a:cxnSpLocks/>
          </p:cNvCxnSpPr>
          <p:nvPr/>
        </p:nvCxnSpPr>
        <p:spPr>
          <a:xfrm flipH="1">
            <a:off x="7322108" y="3914473"/>
            <a:ext cx="1292" cy="636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5C60ADA7-8FCD-784F-AADF-49259D107777}"/>
              </a:ext>
            </a:extLst>
          </p:cNvPr>
          <p:cNvCxnSpPr>
            <a:cxnSpLocks/>
          </p:cNvCxnSpPr>
          <p:nvPr/>
        </p:nvCxnSpPr>
        <p:spPr>
          <a:xfrm>
            <a:off x="7236966" y="4550631"/>
            <a:ext cx="851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22BDA00E-86DD-8541-85AC-B59FC59CFBC7}"/>
              </a:ext>
            </a:extLst>
          </p:cNvPr>
          <p:cNvSpPr txBox="1"/>
          <p:nvPr/>
        </p:nvSpPr>
        <p:spPr>
          <a:xfrm>
            <a:off x="7276375" y="4138424"/>
            <a:ext cx="7184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/>
              <a:t>p1</a:t>
            </a:r>
            <a:r>
              <a:rPr kumimoji="1" lang="zh-CN" altLang="en-US" sz="1000" b="1" dirty="0"/>
              <a:t>上下文</a:t>
            </a:r>
          </a:p>
        </p:txBody>
      </p: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2ED0D50B-EC8F-2A4D-AABD-3DD88567D071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111864" y="4550631"/>
            <a:ext cx="336044" cy="698522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CA139F4B-356B-EF42-ACEF-430626D6058E}"/>
              </a:ext>
            </a:extLst>
          </p:cNvPr>
          <p:cNvSpPr txBox="1"/>
          <p:nvPr/>
        </p:nvSpPr>
        <p:spPr>
          <a:xfrm>
            <a:off x="5354038" y="259164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SP_EL1</a:t>
            </a:r>
            <a:r>
              <a:rPr kumimoji="1" lang="zh-CN" altLang="en-US" dirty="0">
                <a:solidFill>
                  <a:srgbClr val="C00000"/>
                </a:solidFill>
              </a:rPr>
              <a:t>指向上下文起始地址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EF5BCDD-DB05-5B4F-BC4E-527E21AA0F06}"/>
              </a:ext>
            </a:extLst>
          </p:cNvPr>
          <p:cNvSpPr txBox="1"/>
          <p:nvPr/>
        </p:nvSpPr>
        <p:spPr>
          <a:xfrm>
            <a:off x="983687" y="3732350"/>
            <a:ext cx="3299301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u64 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switch_context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(void) {</a:t>
            </a:r>
          </a:p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pcb1-&gt;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process_ctx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597F47F-CD2B-7C45-9BED-654EF831BEF6}"/>
              </a:ext>
            </a:extLst>
          </p:cNvPr>
          <p:cNvSpPr txBox="1"/>
          <p:nvPr/>
        </p:nvSpPr>
        <p:spPr>
          <a:xfrm>
            <a:off x="1817246" y="5286027"/>
            <a:ext cx="1258678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x0</a:t>
            </a:r>
            <a:endParaRPr kumimoji="1"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下箭头 76">
            <a:extLst>
              <a:ext uri="{FF2B5EF4-FFF2-40B4-BE49-F238E27FC236}">
                <a16:creationId xmlns:a16="http://schemas.microsoft.com/office/drawing/2014/main" id="{FB04876D-4945-2D46-A7D7-C4E45A0B07D7}"/>
              </a:ext>
            </a:extLst>
          </p:cNvPr>
          <p:cNvSpPr/>
          <p:nvPr/>
        </p:nvSpPr>
        <p:spPr>
          <a:xfrm>
            <a:off x="2204269" y="4772261"/>
            <a:ext cx="484632" cy="43204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8CE94D6-46FB-AE44-A8CA-0CEEF52C7D84}"/>
              </a:ext>
            </a:extLst>
          </p:cNvPr>
          <p:cNvSpPr/>
          <p:nvPr/>
        </p:nvSpPr>
        <p:spPr>
          <a:xfrm>
            <a:off x="2728874" y="5337546"/>
            <a:ext cx="258950" cy="215444"/>
          </a:xfrm>
          <a:prstGeom prst="rect">
            <a:avLst/>
          </a:prstGeom>
          <a:noFill/>
          <a:ln w="12700">
            <a:solidFill>
              <a:srgbClr val="BD324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0E64B4B3-7DAE-CA44-AF52-04D5DE35ECDB}"/>
              </a:ext>
            </a:extLst>
          </p:cNvPr>
          <p:cNvCxnSpPr/>
          <p:nvPr/>
        </p:nvCxnSpPr>
        <p:spPr>
          <a:xfrm flipH="1">
            <a:off x="2843808" y="4386053"/>
            <a:ext cx="432048" cy="95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07787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8486AB-A72B-6048-AEB5-4D5578E4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总结：上下文切换栈变化全过程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ECF68C-EC57-E34B-BD1C-7C9E18296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共涉及两次权限等级切换、三次栈切换</a:t>
            </a:r>
            <a:endParaRPr kumimoji="1" lang="en-US" altLang="zh-CN" dirty="0"/>
          </a:p>
          <a:p>
            <a:r>
              <a:rPr kumimoji="1" lang="zh-CN" altLang="en-US" dirty="0"/>
              <a:t>内核栈的切换是线程切换执行的“分界点”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613047-A2C1-4040-B56B-017C72C3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EA1BC54-35F3-6644-AB8E-91BE0CC19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49" y="2641476"/>
            <a:ext cx="8228015" cy="292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1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58357</TotalTime>
  <Words>5872</Words>
  <Application>Microsoft Macintosh PowerPoint</Application>
  <PresentationFormat>全屏显示(16:10)</PresentationFormat>
  <Paragraphs>1000</Paragraphs>
  <Slides>80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87" baseType="lpstr">
      <vt:lpstr>DengXian</vt:lpstr>
      <vt:lpstr>微软雅黑</vt:lpstr>
      <vt:lpstr>Arial</vt:lpstr>
      <vt:lpstr>Calibri</vt:lpstr>
      <vt:lpstr>Candara</vt:lpstr>
      <vt:lpstr>Courier New</vt:lpstr>
      <vt:lpstr>Office 主题​​</vt:lpstr>
      <vt:lpstr>物存、进程和线程</vt:lpstr>
      <vt:lpstr>版权声明</vt:lpstr>
      <vt:lpstr>SLAB/SLUB/SLOB：细粒度内存管理</vt:lpstr>
      <vt:lpstr>Recap: 如何实现内核的malloc（kmalloc）？</vt:lpstr>
      <vt:lpstr>Recap: SLAB-建立在伙伴系统之上的分配器</vt:lpstr>
      <vt:lpstr>SLUB分配器的思路</vt:lpstr>
      <vt:lpstr>SLUB设计</vt:lpstr>
      <vt:lpstr>具体示例</vt:lpstr>
      <vt:lpstr>具体示例</vt:lpstr>
      <vt:lpstr>具体示例</vt:lpstr>
      <vt:lpstr>具体示例</vt:lpstr>
      <vt:lpstr>具体示例</vt:lpstr>
      <vt:lpstr>具体示例</vt:lpstr>
      <vt:lpstr>总体来看SLUB</vt:lpstr>
      <vt:lpstr>SLUB内存分配器小结</vt:lpstr>
      <vt:lpstr>换页策略</vt:lpstr>
      <vt:lpstr>理想的换页策略（OPT策略）</vt:lpstr>
      <vt:lpstr>FIFO策略</vt:lpstr>
      <vt:lpstr>Belady’s Anomaly</vt:lpstr>
      <vt:lpstr>Second Chance策略</vt:lpstr>
      <vt:lpstr>LRU策略</vt:lpstr>
      <vt:lpstr>LRU如何实现呢？</vt:lpstr>
      <vt:lpstr>时钟算法策略</vt:lpstr>
      <vt:lpstr>思考具体实现案例：时钟算法</vt:lpstr>
      <vt:lpstr>页替换策略小结</vt:lpstr>
      <vt:lpstr>Thrashing Problem</vt:lpstr>
      <vt:lpstr>工作集模型（有效避免Thrashing）</vt:lpstr>
      <vt:lpstr>跟踪工作集w(t, x)</vt:lpstr>
      <vt:lpstr>进程</vt:lpstr>
      <vt:lpstr>进程：运行中的程序</vt:lpstr>
      <vt:lpstr>如何表示进程：进程控制块（PCB）</vt:lpstr>
      <vt:lpstr>简化模型：单一线程的进程</vt:lpstr>
      <vt:lpstr>进程管理：即管理进程的生命周期</vt:lpstr>
      <vt:lpstr>进程创建：fork()</vt:lpstr>
      <vt:lpstr>进程树与进程组</vt:lpstr>
      <vt:lpstr>进程的执行：exec</vt:lpstr>
      <vt:lpstr>写时拷贝（Copy-On-Write）</vt:lpstr>
      <vt:lpstr>fork的优缺点分析</vt:lpstr>
      <vt:lpstr>fork的替代接口</vt:lpstr>
      <vt:lpstr>fork的替代接口</vt:lpstr>
      <vt:lpstr>线程</vt:lpstr>
      <vt:lpstr>为什么需要线程？</vt:lpstr>
      <vt:lpstr>线程：更加轻量级的运行时抽象</vt:lpstr>
      <vt:lpstr>进阶模型：多线程的进程</vt:lpstr>
      <vt:lpstr>多线程进程的地址空间</vt:lpstr>
      <vt:lpstr>用户态线程与内核态线程</vt:lpstr>
      <vt:lpstr>线程模型</vt:lpstr>
      <vt:lpstr>多对一模型</vt:lpstr>
      <vt:lpstr>一对一模型</vt:lpstr>
      <vt:lpstr>多对多模型（又叫Scheduler Activation）</vt:lpstr>
      <vt:lpstr>线程的相关数据结构：TCB</vt:lpstr>
      <vt:lpstr>线程本地存储（TLS）</vt:lpstr>
      <vt:lpstr>线程本地存储（TLS）</vt:lpstr>
      <vt:lpstr>线程的基本操作：以pthreads为例</vt:lpstr>
      <vt:lpstr>线程的基本操作：以pthreads为例</vt:lpstr>
      <vt:lpstr>上下文切换</vt:lpstr>
      <vt:lpstr>如何实现上下文切换？</vt:lpstr>
      <vt:lpstr>如何实现上下文切换？</vt:lpstr>
      <vt:lpstr>如何实现上下文切换？</vt:lpstr>
      <vt:lpstr>进程上下文的组成（AArch64）</vt:lpstr>
      <vt:lpstr>进程的内核态执行：切换到内核态</vt:lpstr>
      <vt:lpstr>进程的内核态执行：切换到内核态</vt:lpstr>
      <vt:lpstr>进程的内核态执行：内核栈</vt:lpstr>
      <vt:lpstr>进程的内核态执行：返回用户态</vt:lpstr>
      <vt:lpstr>进程的内核态执行：返回用户态</vt:lpstr>
      <vt:lpstr>内核/用户态切换与上下文切换</vt:lpstr>
      <vt:lpstr>内核/用户态切换与上下文切换</vt:lpstr>
      <vt:lpstr>内核/用户态切换与上下文切换</vt:lpstr>
      <vt:lpstr>内核/用户态切换与上下文切换</vt:lpstr>
      <vt:lpstr>上下文与其他内核数据结构</vt:lpstr>
      <vt:lpstr>上下文保存（ChCore为例）</vt:lpstr>
      <vt:lpstr>上下文保存（ChCore为例）</vt:lpstr>
      <vt:lpstr>万事俱备，只欠切换！</vt:lpstr>
      <vt:lpstr>万事俱备，只欠切换！</vt:lpstr>
      <vt:lpstr>万事俱备，只欠切换！</vt:lpstr>
      <vt:lpstr>步骤1：地址空间的切换</vt:lpstr>
      <vt:lpstr>步骤1：地址空间的切换</vt:lpstr>
      <vt:lpstr>步骤1：地址空间的切换</vt:lpstr>
      <vt:lpstr>步骤2：如何切换到p1的上下文？</vt:lpstr>
      <vt:lpstr>总结：上下文切换栈变化全过程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Haibo Chen</cp:lastModifiedBy>
  <cp:revision>4137</cp:revision>
  <cp:lastPrinted>2016-06-13T07:55:34Z</cp:lastPrinted>
  <dcterms:created xsi:type="dcterms:W3CDTF">2017-11-24T09:35:45Z</dcterms:created>
  <dcterms:modified xsi:type="dcterms:W3CDTF">2022-03-08T00:54:06Z</dcterms:modified>
</cp:coreProperties>
</file>